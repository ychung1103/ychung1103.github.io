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83"/>
  </p:notesMasterIdLst>
  <p:handoutMasterIdLst>
    <p:handoutMasterId r:id="rId84"/>
  </p:handoutMasterIdLst>
  <p:sldIdLst>
    <p:sldId id="331" r:id="rId2"/>
    <p:sldId id="332" r:id="rId3"/>
    <p:sldId id="333" r:id="rId4"/>
    <p:sldId id="334" r:id="rId5"/>
    <p:sldId id="335" r:id="rId6"/>
    <p:sldId id="336" r:id="rId7"/>
    <p:sldId id="401" r:id="rId8"/>
    <p:sldId id="402" r:id="rId9"/>
    <p:sldId id="337" r:id="rId10"/>
    <p:sldId id="338" r:id="rId11"/>
    <p:sldId id="339" r:id="rId12"/>
    <p:sldId id="340" r:id="rId13"/>
    <p:sldId id="341" r:id="rId14"/>
    <p:sldId id="403" r:id="rId15"/>
    <p:sldId id="419" r:id="rId16"/>
    <p:sldId id="421" r:id="rId17"/>
    <p:sldId id="345" r:id="rId18"/>
    <p:sldId id="422" r:id="rId19"/>
    <p:sldId id="424" r:id="rId20"/>
    <p:sldId id="423" r:id="rId21"/>
    <p:sldId id="350" r:id="rId22"/>
    <p:sldId id="351" r:id="rId23"/>
    <p:sldId id="352" r:id="rId24"/>
    <p:sldId id="353" r:id="rId25"/>
    <p:sldId id="348" r:id="rId26"/>
    <p:sldId id="425" r:id="rId27"/>
    <p:sldId id="427" r:id="rId28"/>
    <p:sldId id="426" r:id="rId29"/>
    <p:sldId id="354" r:id="rId30"/>
    <p:sldId id="400" r:id="rId31"/>
    <p:sldId id="356" r:id="rId32"/>
    <p:sldId id="404" r:id="rId33"/>
    <p:sldId id="358" r:id="rId34"/>
    <p:sldId id="359" r:id="rId35"/>
    <p:sldId id="360" r:id="rId36"/>
    <p:sldId id="361" r:id="rId37"/>
    <p:sldId id="362" r:id="rId38"/>
    <p:sldId id="405" r:id="rId39"/>
    <p:sldId id="526" r:id="rId40"/>
    <p:sldId id="365" r:id="rId41"/>
    <p:sldId id="411" r:id="rId42"/>
    <p:sldId id="412" r:id="rId43"/>
    <p:sldId id="413" r:id="rId44"/>
    <p:sldId id="364" r:id="rId45"/>
    <p:sldId id="414" r:id="rId46"/>
    <p:sldId id="363" r:id="rId47"/>
    <p:sldId id="367" r:id="rId48"/>
    <p:sldId id="407" r:id="rId49"/>
    <p:sldId id="408" r:id="rId50"/>
    <p:sldId id="368" r:id="rId51"/>
    <p:sldId id="369" r:id="rId52"/>
    <p:sldId id="371" r:id="rId53"/>
    <p:sldId id="415" r:id="rId54"/>
    <p:sldId id="416" r:id="rId55"/>
    <p:sldId id="374" r:id="rId56"/>
    <p:sldId id="375" r:id="rId57"/>
    <p:sldId id="376" r:id="rId58"/>
    <p:sldId id="377" r:id="rId59"/>
    <p:sldId id="378" r:id="rId60"/>
    <p:sldId id="379" r:id="rId61"/>
    <p:sldId id="410" r:id="rId62"/>
    <p:sldId id="380" r:id="rId63"/>
    <p:sldId id="381" r:id="rId64"/>
    <p:sldId id="382" r:id="rId65"/>
    <p:sldId id="409" r:id="rId66"/>
    <p:sldId id="383" r:id="rId67"/>
    <p:sldId id="384" r:id="rId68"/>
    <p:sldId id="398" r:id="rId69"/>
    <p:sldId id="385" r:id="rId70"/>
    <p:sldId id="386" r:id="rId71"/>
    <p:sldId id="387" r:id="rId72"/>
    <p:sldId id="388" r:id="rId73"/>
    <p:sldId id="389" r:id="rId74"/>
    <p:sldId id="390" r:id="rId75"/>
    <p:sldId id="391" r:id="rId76"/>
    <p:sldId id="392" r:id="rId77"/>
    <p:sldId id="393" r:id="rId78"/>
    <p:sldId id="394" r:id="rId79"/>
    <p:sldId id="395" r:id="rId80"/>
    <p:sldId id="396" r:id="rId81"/>
    <p:sldId id="417" r:id="rId82"/>
  </p:sldIdLst>
  <p:sldSz cx="9144000" cy="6858000" type="screen4x3"/>
  <p:notesSz cx="7086600" cy="93726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85" autoAdjust="0"/>
    <p:restoredTop sz="94635"/>
  </p:normalViewPr>
  <p:slideViewPr>
    <p:cSldViewPr snapToGrid="0">
      <p:cViewPr>
        <p:scale>
          <a:sx n="50" d="100"/>
          <a:sy n="50" d="100"/>
        </p:scale>
        <p:origin x="1596" y="160"/>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8424"/>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handoutMaster" Target="handoutMasters/handout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027A3F3-A935-4BDC-812E-9120B643162F}"/>
              </a:ext>
            </a:extLst>
          </p:cNvPr>
          <p:cNvSpPr>
            <a:spLocks noGrp="1" noChangeArrowheads="1"/>
          </p:cNvSpPr>
          <p:nvPr>
            <p:ph type="hdr" sz="quarter"/>
          </p:nvPr>
        </p:nvSpPr>
        <p:spPr bwMode="auto">
          <a:xfrm>
            <a:off x="0" y="0"/>
            <a:ext cx="3106738"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a16="http://schemas.microsoft.com/office/drawing/2014/main" id="{7271601B-176A-4BB3-AC87-58251574C751}"/>
              </a:ext>
            </a:extLst>
          </p:cNvPr>
          <p:cNvSpPr>
            <a:spLocks noGrp="1" noChangeArrowheads="1"/>
          </p:cNvSpPr>
          <p:nvPr>
            <p:ph type="dt" sz="quarter" idx="1"/>
          </p:nvPr>
        </p:nvSpPr>
        <p:spPr bwMode="auto">
          <a:xfrm>
            <a:off x="3994150" y="0"/>
            <a:ext cx="3105150"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algn="r" defTabSz="890588">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a16="http://schemas.microsoft.com/office/drawing/2014/main" id="{AC7F65B7-06EB-44DB-B452-D2D383181528}"/>
              </a:ext>
            </a:extLst>
          </p:cNvPr>
          <p:cNvSpPr>
            <a:spLocks noGrp="1" noChangeArrowheads="1"/>
          </p:cNvSpPr>
          <p:nvPr>
            <p:ph type="ftr" sz="quarter" idx="2"/>
          </p:nvPr>
        </p:nvSpPr>
        <p:spPr bwMode="auto">
          <a:xfrm>
            <a:off x="0" y="8939213"/>
            <a:ext cx="3106738"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a16="http://schemas.microsoft.com/office/drawing/2014/main" id="{B2508938-9467-485D-A454-F81218F2ADB1}"/>
              </a:ext>
            </a:extLst>
          </p:cNvPr>
          <p:cNvSpPr>
            <a:spLocks noGrp="1" noChangeArrowheads="1"/>
          </p:cNvSpPr>
          <p:nvPr>
            <p:ph type="sldNum" sz="quarter" idx="3"/>
          </p:nvPr>
        </p:nvSpPr>
        <p:spPr bwMode="auto">
          <a:xfrm>
            <a:off x="3994150" y="8939213"/>
            <a:ext cx="3105150"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algn="r" defTabSz="890588">
              <a:defRPr sz="1100">
                <a:latin typeface="Helvetica" charset="0"/>
                <a:ea typeface="MS PGothic" charset="-128"/>
              </a:defRPr>
            </a:lvl1pPr>
          </a:lstStyle>
          <a:p>
            <a:pPr>
              <a:defRPr/>
            </a:pPr>
            <a:fld id="{E0F0762C-192C-43F0-9235-1ED3B30BABF7}" type="slidenum">
              <a:rPr lang="en-US" altLang="x-none"/>
              <a:pPr>
                <a:defRPr/>
              </a:pPr>
              <a:t>‹#›</a:t>
            </a:fld>
            <a:endParaRPr lang="en-US" altLang="x-non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999FA718-A6D5-4F45-AA4A-4BEBC20AD73D}"/>
              </a:ext>
            </a:extLst>
          </p:cNvPr>
          <p:cNvSpPr>
            <a:spLocks noGrp="1" noChangeArrowheads="1"/>
          </p:cNvSpPr>
          <p:nvPr>
            <p:ph type="hdr" sz="quarter"/>
          </p:nvPr>
        </p:nvSpPr>
        <p:spPr bwMode="auto">
          <a:xfrm>
            <a:off x="0"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a16="http://schemas.microsoft.com/office/drawing/2014/main" id="{D00055E3-33CD-4C16-B1E7-137DC8ED0737}"/>
              </a:ext>
            </a:extLst>
          </p:cNvPr>
          <p:cNvSpPr>
            <a:spLocks noGrp="1" noChangeArrowheads="1"/>
          </p:cNvSpPr>
          <p:nvPr>
            <p:ph type="dt" idx="1"/>
          </p:nvPr>
        </p:nvSpPr>
        <p:spPr bwMode="auto">
          <a:xfrm>
            <a:off x="4016375"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algn="r" defTabSz="939800">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a16="http://schemas.microsoft.com/office/drawing/2014/main" id="{4A5BA436-A0A2-4A15-B145-2DD97D7A3078}"/>
              </a:ext>
            </a:extLst>
          </p:cNvPr>
          <p:cNvSpPr>
            <a:spLocks noGrp="1" noRot="1" noChangeAspect="1" noChangeArrowheads="1" noTextEdit="1"/>
          </p:cNvSpPr>
          <p:nvPr>
            <p:ph type="sldImg" idx="2"/>
          </p:nvPr>
        </p:nvSpPr>
        <p:spPr bwMode="auto">
          <a:xfrm>
            <a:off x="1200150" y="704850"/>
            <a:ext cx="4687888" cy="35147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7145563E-578D-4EA3-A924-014C2A79C5AF}"/>
              </a:ext>
            </a:extLst>
          </p:cNvPr>
          <p:cNvSpPr>
            <a:spLocks noGrp="1" noChangeArrowheads="1"/>
          </p:cNvSpPr>
          <p:nvPr>
            <p:ph type="body" sz="quarter" idx="3"/>
          </p:nvPr>
        </p:nvSpPr>
        <p:spPr bwMode="auto">
          <a:xfrm>
            <a:off x="944563" y="4452938"/>
            <a:ext cx="5197475" cy="4214812"/>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1EE489C0-8AB7-4BF4-AFB6-59687BD0D42A}"/>
              </a:ext>
            </a:extLst>
          </p:cNvPr>
          <p:cNvSpPr>
            <a:spLocks noGrp="1" noChangeArrowheads="1"/>
          </p:cNvSpPr>
          <p:nvPr>
            <p:ph type="ftr" sz="quarter" idx="4"/>
          </p:nvPr>
        </p:nvSpPr>
        <p:spPr bwMode="auto">
          <a:xfrm>
            <a:off x="0"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a16="http://schemas.microsoft.com/office/drawing/2014/main" id="{311BAF64-3980-48A7-93B5-275428159D16}"/>
              </a:ext>
            </a:extLst>
          </p:cNvPr>
          <p:cNvSpPr>
            <a:spLocks noGrp="1" noChangeArrowheads="1"/>
          </p:cNvSpPr>
          <p:nvPr>
            <p:ph type="sldNum" sz="quarter" idx="5"/>
          </p:nvPr>
        </p:nvSpPr>
        <p:spPr bwMode="auto">
          <a:xfrm>
            <a:off x="4016375"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algn="r" defTabSz="939800">
              <a:defRPr sz="1200">
                <a:latin typeface="Times New Roman" charset="0"/>
                <a:ea typeface="MS PGothic" charset="-128"/>
              </a:defRPr>
            </a:lvl1pPr>
          </a:lstStyle>
          <a:p>
            <a:pPr>
              <a:defRPr/>
            </a:pPr>
            <a:fld id="{C9F949B7-291A-4420-9D9C-B1ABA67FB313}" type="slidenum">
              <a:rPr lang="en-US" altLang="x-none"/>
              <a:pPr>
                <a:defRPr/>
              </a:pPr>
              <a:t>‹#›</a:t>
            </a:fld>
            <a:endParaRPr lang="en-US" altLang="x-non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5776ACBD-4645-43B7-892F-697D57D495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0CF72FA-BC85-4452-9FD4-6F163D5E4845}"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48A88ED8-0C05-4DF8-A678-F55DA039B324}"/>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374978C2-165A-418A-AF53-B86870696A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07C37DC1-75B0-437C-B558-F7618BEA52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48FB69-0E48-4E9C-AE03-1932E61103CC}"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id="{CBD12CAE-1E33-4966-A4AF-C743EB5F54C9}"/>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F276E0F4-3694-46FB-8A08-BB5ADFDD33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E2CAD129-07DA-4250-9E2C-D5E1201A6200}"/>
              </a:ext>
            </a:extLst>
          </p:cNvPr>
          <p:cNvSpPr>
            <a:spLocks noGrp="1" noRot="1" noChangeAspect="1" noChangeArrowheads="1" noTextEdit="1"/>
          </p:cNvSpPr>
          <p:nvPr>
            <p:ph type="sldImg"/>
          </p:nvPr>
        </p:nvSpPr>
        <p:spPr>
          <a:ln/>
        </p:spPr>
      </p:sp>
      <p:sp>
        <p:nvSpPr>
          <p:cNvPr id="10242" name="Rectangle 3">
            <a:extLst>
              <a:ext uri="{FF2B5EF4-FFF2-40B4-BE49-F238E27FC236}">
                <a16:creationId xmlns:a16="http://schemas.microsoft.com/office/drawing/2014/main" id="{164D522C-9A5F-49C1-BD44-A20CC2476E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405F6187-9AEA-4432-A06C-1C71DC909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A31E14-A3B9-4040-8D31-E2E402615F68}"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92AB0F5E-8A1E-4B4A-A2A0-FE71829D0E73}"/>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9A7828BA-2BF1-4802-82BB-DA5609DDA8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a16="http://schemas.microsoft.com/office/drawing/2014/main" id="{1DCCDE05-0681-4707-90EF-7D1EEA3E3A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F39FF-FF4B-4DB5-A12B-99992D735DF8}" type="slidenum">
              <a:rPr lang="en-US" altLang="en-US" smtClean="0">
                <a:latin typeface="Times New Roman" panose="02020603050405020304" pitchFamily="18" charset="0"/>
              </a:rPr>
              <a:pPr/>
              <a:t>5</a:t>
            </a:fld>
            <a:endParaRPr lang="en-US" altLang="en-US">
              <a:latin typeface="Times New Roman" panose="02020603050405020304" pitchFamily="18" charset="0"/>
            </a:endParaRPr>
          </a:p>
        </p:txBody>
      </p:sp>
      <p:sp>
        <p:nvSpPr>
          <p:cNvPr id="14338" name="Rectangle 2">
            <a:extLst>
              <a:ext uri="{FF2B5EF4-FFF2-40B4-BE49-F238E27FC236}">
                <a16:creationId xmlns:a16="http://schemas.microsoft.com/office/drawing/2014/main" id="{F0E0EA84-2041-4AE8-806B-3AAE9F7A038C}"/>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1DC70842-3A74-4598-A4CA-0474C81F1B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6</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7</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80788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146119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A01F25CF-FF7D-432D-AEB3-6710154153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2593EA-83E9-49DF-9A69-061BE7580B7A}"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18434" name="Rectangle 2">
            <a:extLst>
              <a:ext uri="{FF2B5EF4-FFF2-40B4-BE49-F238E27FC236}">
                <a16:creationId xmlns:a16="http://schemas.microsoft.com/office/drawing/2014/main" id="{7EBD862C-4A3E-4654-8B80-448A34563F74}"/>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25E9679F-2A37-45A8-BEFD-99A5560446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4449CF17-6DE0-42A8-AF6D-65582A8B77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1DD403B-DC2E-496B-BDE4-8AC536A45743}"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20482" name="Rectangle 2">
            <a:extLst>
              <a:ext uri="{FF2B5EF4-FFF2-40B4-BE49-F238E27FC236}">
                <a16:creationId xmlns:a16="http://schemas.microsoft.com/office/drawing/2014/main" id="{51D3904E-C473-48EE-9DE3-D37AD52B1BE1}"/>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26B73BA7-C0AE-4B26-9EE2-89053DF39E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782373FB-7979-43C3-9CD1-428D9B5060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982816C-CEF7-47A7-92DB-2D0700EC55E4}" type="slidenum">
              <a:rPr lang="en-US" altLang="en-US" smtClean="0">
                <a:latin typeface="Times New Roman" panose="02020603050405020304" pitchFamily="18" charset="0"/>
              </a:rPr>
              <a:pPr/>
              <a:t>11</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id="{DD50E9C8-67EF-4556-969A-2795FF144239}"/>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5BF3A816-A617-46B9-9536-0B761391AA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4D8F9928-8869-45F7-BA42-5A488A3E1B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pPr/>
              <a:t>12</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D40412E3-E257-462F-AEEC-27F4A0E78CD6}"/>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1D67F792-BDD9-43A7-AAE4-80F3F09C95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5BA74056-F347-47E7-8F80-E67498FF6C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D2E19D3-36AF-42FB-A3BF-7AE756C80D6F}" type="slidenum">
              <a:rPr lang="en-US" altLang="en-US" smtClean="0">
                <a:latin typeface="Times New Roman" panose="02020603050405020304" pitchFamily="18" charset="0"/>
              </a:rPr>
              <a:pPr/>
              <a:t>13</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EBB136E9-59A5-44E7-9BD0-1637A76BE655}"/>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4EED1A63-8694-46B7-9400-1442886D34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14</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EA2463C4-B80E-4B8C-85AE-C8401A286E77}"/>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57542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4D8F9928-8869-45F7-BA42-5A488A3E1B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pPr/>
              <a:t>15</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D40412E3-E257-462F-AEEC-27F4A0E78CD6}"/>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1D67F792-BDD9-43A7-AAE4-80F3F09C95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208998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7DB04AC4-9FA4-4B81-A2E4-1E6AFD4EE9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1B5580B-1301-4E06-BEA8-C7B0DE30B0A7}" type="slidenum">
              <a:rPr lang="en-US" altLang="en-US" smtClean="0">
                <a:latin typeface="Times New Roman" panose="02020603050405020304" pitchFamily="18" charset="0"/>
              </a:rPr>
              <a:pPr/>
              <a:t>16</a:t>
            </a:fld>
            <a:endParaRPr lang="en-US" altLang="en-US">
              <a:latin typeface="Times New Roman" panose="02020603050405020304" pitchFamily="18" charset="0"/>
            </a:endParaRPr>
          </a:p>
        </p:txBody>
      </p:sp>
      <p:sp>
        <p:nvSpPr>
          <p:cNvPr id="32770" name="Rectangle 2">
            <a:extLst>
              <a:ext uri="{FF2B5EF4-FFF2-40B4-BE49-F238E27FC236}">
                <a16:creationId xmlns:a16="http://schemas.microsoft.com/office/drawing/2014/main" id="{3F57FD02-2058-4DC0-B613-AD0294133A65}"/>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D6CEFB33-83BB-47AD-B7F4-C32DEBB57E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9A34A2FC-C15D-4B2F-88BE-311A926B19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B7BE9DC-710B-4B65-BCCD-8107D53BC9BE}" type="slidenum">
              <a:rPr lang="en-US" altLang="en-US" smtClean="0">
                <a:latin typeface="Times New Roman" panose="02020603050405020304" pitchFamily="18" charset="0"/>
              </a:rPr>
              <a:pPr/>
              <a:t>17</a:t>
            </a:fld>
            <a:endParaRPr lang="en-US" altLang="en-US">
              <a:latin typeface="Times New Roman" panose="02020603050405020304" pitchFamily="18" charset="0"/>
            </a:endParaRPr>
          </a:p>
        </p:txBody>
      </p:sp>
      <p:sp>
        <p:nvSpPr>
          <p:cNvPr id="34818" name="Rectangle 2">
            <a:extLst>
              <a:ext uri="{FF2B5EF4-FFF2-40B4-BE49-F238E27FC236}">
                <a16:creationId xmlns:a16="http://schemas.microsoft.com/office/drawing/2014/main" id="{BE8EDEDD-05A4-4AB1-9D21-B8FD2F4A5551}"/>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5221A250-5591-4686-8986-7D36991F88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89ACFED5-FEE9-4052-81A1-4F4ACC8A40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6F1106F-71C9-45B5-A785-D6B08923631A}" type="slidenum">
              <a:rPr lang="en-US" altLang="en-US" smtClean="0">
                <a:latin typeface="Times New Roman" panose="02020603050405020304" pitchFamily="18" charset="0"/>
              </a:rPr>
              <a:pPr/>
              <a:t>18</a:t>
            </a:fld>
            <a:endParaRPr lang="en-US" altLang="en-US">
              <a:latin typeface="Times New Roman" panose="02020603050405020304" pitchFamily="18" charset="0"/>
            </a:endParaRPr>
          </a:p>
        </p:txBody>
      </p:sp>
      <p:sp>
        <p:nvSpPr>
          <p:cNvPr id="36866" name="Rectangle 2">
            <a:extLst>
              <a:ext uri="{FF2B5EF4-FFF2-40B4-BE49-F238E27FC236}">
                <a16:creationId xmlns:a16="http://schemas.microsoft.com/office/drawing/2014/main" id="{FB4DEBF9-633C-48A9-B2B4-116F70BEBD63}"/>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250F3D6F-9310-4C8C-BB98-4172C6D545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19</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EA2463C4-B80E-4B8C-85AE-C8401A286E77}"/>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832233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4C2245F4-0687-48BF-BF76-797F8BC2AC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99B002-221E-4ACE-82C8-ADA61FD05C07}" type="slidenum">
              <a:rPr lang="en-US" altLang="en-US" smtClean="0">
                <a:latin typeface="Times New Roman" panose="02020603050405020304" pitchFamily="18" charset="0"/>
              </a:rPr>
              <a:pPr/>
              <a:t>20</a:t>
            </a:fld>
            <a:endParaRPr lang="en-US" altLang="en-US">
              <a:latin typeface="Times New Roman" panose="02020603050405020304" pitchFamily="18" charset="0"/>
            </a:endParaRPr>
          </a:p>
        </p:txBody>
      </p:sp>
      <p:sp>
        <p:nvSpPr>
          <p:cNvPr id="38914" name="Rectangle 2">
            <a:extLst>
              <a:ext uri="{FF2B5EF4-FFF2-40B4-BE49-F238E27FC236}">
                <a16:creationId xmlns:a16="http://schemas.microsoft.com/office/drawing/2014/main" id="{2946022D-15EE-4829-ABB0-2302B5FB73E7}"/>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833E1FE6-F684-4288-B04E-1699B856B6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80054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7EFF896D-4723-4270-B5CE-3EAC199293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057CCE-FB24-4DCD-B59A-EF29E3EC48F5}" type="slidenum">
              <a:rPr lang="en-US" altLang="en-US" smtClean="0">
                <a:latin typeface="Times New Roman" panose="02020603050405020304" pitchFamily="18" charset="0"/>
              </a:rPr>
              <a:pPr/>
              <a:t>21</a:t>
            </a:fld>
            <a:endParaRPr lang="en-US" altLang="en-US">
              <a:latin typeface="Times New Roman" panose="02020603050405020304" pitchFamily="18" charset="0"/>
            </a:endParaRPr>
          </a:p>
        </p:txBody>
      </p:sp>
      <p:sp>
        <p:nvSpPr>
          <p:cNvPr id="40962" name="Rectangle 2">
            <a:extLst>
              <a:ext uri="{FF2B5EF4-FFF2-40B4-BE49-F238E27FC236}">
                <a16:creationId xmlns:a16="http://schemas.microsoft.com/office/drawing/2014/main" id="{13E74FC7-08E4-41EE-B8E9-4784734F4560}"/>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ADA6752C-0B00-4DE8-BC1B-ED685E73B9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38BED452-4AFF-4E3B-8BDB-D1CDFE41C8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E953E37-7182-4EB1-8FE4-F2B2E6FF161A}" type="slidenum">
              <a:rPr lang="en-US" altLang="en-US" smtClean="0">
                <a:latin typeface="Times New Roman" panose="02020603050405020304" pitchFamily="18" charset="0"/>
              </a:rPr>
              <a:pPr/>
              <a:t>22</a:t>
            </a:fld>
            <a:endParaRPr lang="en-US" altLang="en-US">
              <a:latin typeface="Times New Roman" panose="02020603050405020304" pitchFamily="18" charset="0"/>
            </a:endParaRPr>
          </a:p>
        </p:txBody>
      </p:sp>
      <p:sp>
        <p:nvSpPr>
          <p:cNvPr id="43010" name="Rectangle 2">
            <a:extLst>
              <a:ext uri="{FF2B5EF4-FFF2-40B4-BE49-F238E27FC236}">
                <a16:creationId xmlns:a16="http://schemas.microsoft.com/office/drawing/2014/main" id="{B321B815-8EF8-44E7-95DE-2501AEDAD0FE}"/>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EE4E2E56-FB91-48A2-96D3-B738321EA95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C1EC5355-B083-4702-ABF4-E2BCA09291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F2CFA1-F1C4-4CAE-A60E-FA4BA9406BF9}" type="slidenum">
              <a:rPr lang="en-US" altLang="en-US" smtClean="0">
                <a:latin typeface="Times New Roman" panose="02020603050405020304" pitchFamily="18" charset="0"/>
              </a:rPr>
              <a:pPr/>
              <a:t>23</a:t>
            </a:fld>
            <a:endParaRPr lang="en-US" altLang="en-US">
              <a:latin typeface="Times New Roman" panose="02020603050405020304" pitchFamily="18" charset="0"/>
            </a:endParaRPr>
          </a:p>
        </p:txBody>
      </p:sp>
      <p:sp>
        <p:nvSpPr>
          <p:cNvPr id="45058" name="Rectangle 2">
            <a:extLst>
              <a:ext uri="{FF2B5EF4-FFF2-40B4-BE49-F238E27FC236}">
                <a16:creationId xmlns:a16="http://schemas.microsoft.com/office/drawing/2014/main" id="{F745C6AB-0ABB-4D15-945B-36AE7232EF99}"/>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C1561A3E-BDF2-4110-B38B-723F414272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C4542300-0CB6-4A29-9D16-61BA981CC9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A7A2607-C363-42A4-A7E7-0B2A0C05B6FD}" type="slidenum">
              <a:rPr lang="en-US" altLang="en-US" smtClean="0">
                <a:latin typeface="Times New Roman" panose="02020603050405020304" pitchFamily="18" charset="0"/>
              </a:rPr>
              <a:pPr/>
              <a:t>24</a:t>
            </a:fld>
            <a:endParaRPr lang="en-US" altLang="en-US">
              <a:latin typeface="Times New Roman" panose="02020603050405020304" pitchFamily="18" charset="0"/>
            </a:endParaRPr>
          </a:p>
        </p:txBody>
      </p:sp>
      <p:sp>
        <p:nvSpPr>
          <p:cNvPr id="47106" name="Rectangle 2">
            <a:extLst>
              <a:ext uri="{FF2B5EF4-FFF2-40B4-BE49-F238E27FC236}">
                <a16:creationId xmlns:a16="http://schemas.microsoft.com/office/drawing/2014/main" id="{86EC9CC8-78B2-4FF3-AAE4-54ADF392848F}"/>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63C3F6B7-CCAA-4E66-935F-A90C69C863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0A17CE6B-6039-43D7-A98A-F4F050EBD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6B59C17-8BC0-4D12-8CAC-4CF08CD54505}" type="slidenum">
              <a:rPr lang="en-US" altLang="en-US" smtClean="0">
                <a:latin typeface="Times New Roman" panose="02020603050405020304" pitchFamily="18" charset="0"/>
              </a:rPr>
              <a:pPr/>
              <a:t>25</a:t>
            </a:fld>
            <a:endParaRPr lang="en-US" altLang="en-US">
              <a:latin typeface="Times New Roman" panose="02020603050405020304" pitchFamily="18" charset="0"/>
            </a:endParaRPr>
          </a:p>
        </p:txBody>
      </p:sp>
      <p:sp>
        <p:nvSpPr>
          <p:cNvPr id="49154" name="Rectangle 2">
            <a:extLst>
              <a:ext uri="{FF2B5EF4-FFF2-40B4-BE49-F238E27FC236}">
                <a16:creationId xmlns:a16="http://schemas.microsoft.com/office/drawing/2014/main" id="{069692E4-A9F9-42A3-BEE3-5D68069DF06C}"/>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F137D665-2B0C-4C02-9EBA-DAA2DE83B2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469870DE-ED07-4369-A35C-886FE9BF9D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753270A-71CB-4C96-9EF2-586D51F6CA41}"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51202" name="Rectangle 2">
            <a:extLst>
              <a:ext uri="{FF2B5EF4-FFF2-40B4-BE49-F238E27FC236}">
                <a16:creationId xmlns:a16="http://schemas.microsoft.com/office/drawing/2014/main" id="{709C325C-9D3C-44A6-8500-BB6A220D2BE0}"/>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940CBAB1-EA8F-4B67-816C-288C9B0978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7EB3323C-06A1-4632-B138-3B73546F03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D9CD47-795C-4CBD-956A-ABB15F37534F}" type="slidenum">
              <a:rPr lang="en-US" altLang="en-US" smtClean="0">
                <a:latin typeface="Times New Roman" panose="02020603050405020304" pitchFamily="18" charset="0"/>
              </a:rPr>
              <a:pPr/>
              <a:t>27</a:t>
            </a:fld>
            <a:endParaRPr lang="en-US" altLang="en-US">
              <a:latin typeface="Times New Roman" panose="02020603050405020304" pitchFamily="18" charset="0"/>
            </a:endParaRPr>
          </a:p>
        </p:txBody>
      </p:sp>
      <p:sp>
        <p:nvSpPr>
          <p:cNvPr id="53250" name="Rectangle 2">
            <a:extLst>
              <a:ext uri="{FF2B5EF4-FFF2-40B4-BE49-F238E27FC236}">
                <a16:creationId xmlns:a16="http://schemas.microsoft.com/office/drawing/2014/main" id="{3544896A-D075-4287-996D-AFC0058592F0}"/>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A3696E72-3E2A-4324-898F-E308110EB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040631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28</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08CE5910-3320-44A3-88ED-D22B8CE02913}"/>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750707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A3BC90D9-5B90-4947-BD85-211E37DDE9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111378-CDE2-4578-A4A0-6AE31376CE67}" type="slidenum">
              <a:rPr lang="en-US" altLang="en-US" smtClean="0">
                <a:latin typeface="Times New Roman" panose="02020603050405020304" pitchFamily="18" charset="0"/>
              </a:rPr>
              <a:pPr/>
              <a:t>29</a:t>
            </a:fld>
            <a:endParaRPr lang="en-US" altLang="en-US">
              <a:latin typeface="Times New Roman" panose="02020603050405020304" pitchFamily="18" charset="0"/>
            </a:endParaRPr>
          </a:p>
        </p:txBody>
      </p:sp>
      <p:sp>
        <p:nvSpPr>
          <p:cNvPr id="55298" name="Rectangle 2">
            <a:extLst>
              <a:ext uri="{FF2B5EF4-FFF2-40B4-BE49-F238E27FC236}">
                <a16:creationId xmlns:a16="http://schemas.microsoft.com/office/drawing/2014/main" id="{1CE51187-1D2B-4F17-B25B-73ADED5E0BBA}"/>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BAD6887A-FF32-4633-84E8-6615571843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31</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08CE5910-3320-44A3-88ED-D22B8CE02913}"/>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4AC5CF01-D722-4A54-87E2-5ACC8F7C95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4E645-70B9-4D60-95A0-CCC1F65E091F}" type="slidenum">
              <a:rPr lang="en-US" altLang="en-US" smtClean="0">
                <a:latin typeface="Times New Roman" panose="02020603050405020304" pitchFamily="18" charset="0"/>
              </a:rPr>
              <a:pPr/>
              <a:t>32</a:t>
            </a:fld>
            <a:endParaRPr lang="en-US" altLang="en-US">
              <a:latin typeface="Times New Roman" panose="02020603050405020304" pitchFamily="18" charset="0"/>
            </a:endParaRPr>
          </a:p>
        </p:txBody>
      </p:sp>
      <p:sp>
        <p:nvSpPr>
          <p:cNvPr id="60418" name="Rectangle 2">
            <a:extLst>
              <a:ext uri="{FF2B5EF4-FFF2-40B4-BE49-F238E27FC236}">
                <a16:creationId xmlns:a16="http://schemas.microsoft.com/office/drawing/2014/main" id="{4260DBA0-67A3-4083-8D43-2641C27B526F}"/>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813C787B-5ED3-489E-A585-F3FD4B97B7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613616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D45BD6AA-AA62-40DB-8F69-01F08437FC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58947FA-5160-4BA9-85D0-928B39E24C9E}" type="slidenum">
              <a:rPr lang="en-US" altLang="en-US" smtClean="0">
                <a:latin typeface="Times New Roman" panose="02020603050405020304" pitchFamily="18" charset="0"/>
              </a:rPr>
              <a:pPr/>
              <a:t>33</a:t>
            </a:fld>
            <a:endParaRPr lang="en-US" altLang="en-US">
              <a:latin typeface="Times New Roman" panose="02020603050405020304" pitchFamily="18" charset="0"/>
            </a:endParaRPr>
          </a:p>
        </p:txBody>
      </p:sp>
      <p:sp>
        <p:nvSpPr>
          <p:cNvPr id="62466" name="Rectangle 2">
            <a:extLst>
              <a:ext uri="{FF2B5EF4-FFF2-40B4-BE49-F238E27FC236}">
                <a16:creationId xmlns:a16="http://schemas.microsoft.com/office/drawing/2014/main" id="{499FCC36-49F5-4AC9-B366-1E5304ED0614}"/>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86675AAA-4A00-4B97-B2FA-3C42BBC865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3ED2E23A-54E6-457E-AF1F-529DC7B628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5FF144-0680-4B5D-ABBA-203C1672455E}" type="slidenum">
              <a:rPr lang="en-US" altLang="en-US" smtClean="0">
                <a:latin typeface="Times New Roman" panose="02020603050405020304" pitchFamily="18" charset="0"/>
              </a:rPr>
              <a:pPr/>
              <a:t>34</a:t>
            </a:fld>
            <a:endParaRPr lang="en-US" altLang="en-US">
              <a:latin typeface="Times New Roman" panose="02020603050405020304" pitchFamily="18" charset="0"/>
            </a:endParaRPr>
          </a:p>
        </p:txBody>
      </p:sp>
      <p:sp>
        <p:nvSpPr>
          <p:cNvPr id="64514" name="Rectangle 2">
            <a:extLst>
              <a:ext uri="{FF2B5EF4-FFF2-40B4-BE49-F238E27FC236}">
                <a16:creationId xmlns:a16="http://schemas.microsoft.com/office/drawing/2014/main" id="{E78DCE38-C266-4CF5-8650-D2917309FFA3}"/>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B27516E4-3894-4B74-9601-291D00893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431EE039-E00A-4E79-B969-E95F79E573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D398207-A734-4802-94DC-3ED3D73DD154}" type="slidenum">
              <a:rPr lang="en-US" altLang="en-US" smtClean="0">
                <a:latin typeface="Times New Roman" panose="02020603050405020304" pitchFamily="18" charset="0"/>
              </a:rPr>
              <a:pPr/>
              <a:t>35</a:t>
            </a:fld>
            <a:endParaRPr lang="en-US" altLang="en-US">
              <a:latin typeface="Times New Roman" panose="02020603050405020304" pitchFamily="18" charset="0"/>
            </a:endParaRPr>
          </a:p>
        </p:txBody>
      </p:sp>
      <p:sp>
        <p:nvSpPr>
          <p:cNvPr id="66562" name="Rectangle 2">
            <a:extLst>
              <a:ext uri="{FF2B5EF4-FFF2-40B4-BE49-F238E27FC236}">
                <a16:creationId xmlns:a16="http://schemas.microsoft.com/office/drawing/2014/main" id="{958347E8-61DA-4DD2-B936-31853F6C51BC}"/>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C0D4C4F4-6151-445D-A5F1-B9DA1EC58D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a:extLst>
              <a:ext uri="{FF2B5EF4-FFF2-40B4-BE49-F238E27FC236}">
                <a16:creationId xmlns:a16="http://schemas.microsoft.com/office/drawing/2014/main" id="{71951C4A-DFE0-4C14-AAD5-1FAFD2912D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F8E2939-6A94-4FF2-9BB4-52EE1B7E0CA7}" type="slidenum">
              <a:rPr lang="en-US" altLang="en-US" smtClean="0">
                <a:latin typeface="Times New Roman" panose="02020603050405020304" pitchFamily="18" charset="0"/>
              </a:rPr>
              <a:pPr/>
              <a:t>36</a:t>
            </a:fld>
            <a:endParaRPr lang="en-US" altLang="en-US">
              <a:latin typeface="Times New Roman" panose="02020603050405020304" pitchFamily="18" charset="0"/>
            </a:endParaRPr>
          </a:p>
        </p:txBody>
      </p:sp>
      <p:sp>
        <p:nvSpPr>
          <p:cNvPr id="68610" name="Rectangle 2">
            <a:extLst>
              <a:ext uri="{FF2B5EF4-FFF2-40B4-BE49-F238E27FC236}">
                <a16:creationId xmlns:a16="http://schemas.microsoft.com/office/drawing/2014/main" id="{121E77BD-EC18-46E4-9DF0-5FABB27B3252}"/>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BA1F8134-D1DD-4392-876F-05A79B0F84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B15668DC-5037-408F-A18B-C49D8F3C40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pPr/>
              <a:t>37</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D01442BD-7C9F-4C09-95EC-24ABEFC4AF51}"/>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542FF4BC-BEAF-4FA5-A3D8-E000D2F815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D6E874EA-6D46-4D5A-A67E-32C6E4712B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DDC88E0-05A8-4892-B21E-9326A8D3E05F}" type="slidenum">
              <a:rPr lang="en-US" altLang="en-US" smtClean="0">
                <a:latin typeface="Times New Roman" panose="02020603050405020304" pitchFamily="18" charset="0"/>
              </a:rPr>
              <a:pPr/>
              <a:t>39</a:t>
            </a:fld>
            <a:endParaRPr lang="en-US" altLang="en-US">
              <a:latin typeface="Times New Roman" panose="02020603050405020304" pitchFamily="18" charset="0"/>
            </a:endParaRPr>
          </a:p>
        </p:txBody>
      </p:sp>
      <p:sp>
        <p:nvSpPr>
          <p:cNvPr id="6147" name="Rectangle 2">
            <a:extLst>
              <a:ext uri="{FF2B5EF4-FFF2-40B4-BE49-F238E27FC236}">
                <a16:creationId xmlns:a16="http://schemas.microsoft.com/office/drawing/2014/main" id="{76CF1BC6-EF44-430B-853A-1916C3A57333}"/>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53BC5144-BC73-40F2-9D46-6DC1B56AC6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613939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E0397353-417D-41B7-9952-5281074BA3CD}"/>
              </a:ext>
            </a:extLst>
          </p:cNvPr>
          <p:cNvSpPr>
            <a:spLocks noGrp="1" noRot="1" noChangeAspect="1" noChangeArrowheads="1" noTextEdit="1"/>
          </p:cNvSpPr>
          <p:nvPr>
            <p:ph type="sldImg"/>
          </p:nvPr>
        </p:nvSpPr>
        <p:spPr>
          <a:ln/>
        </p:spPr>
      </p:sp>
      <p:sp>
        <p:nvSpPr>
          <p:cNvPr id="73730" name="Rectangle 3">
            <a:extLst>
              <a:ext uri="{FF2B5EF4-FFF2-40B4-BE49-F238E27FC236}">
                <a16:creationId xmlns:a16="http://schemas.microsoft.com/office/drawing/2014/main" id="{C82FBBC2-631F-44E5-A9AF-36CCDAF3F1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B15668DC-5037-408F-A18B-C49D8F3C40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pPr/>
              <a:t>41</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D01442BD-7C9F-4C09-95EC-24ABEFC4AF51}"/>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542FF4BC-BEAF-4FA5-A3D8-E000D2F815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094547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601D3384-8B05-485F-A2EF-9587B33F33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389D00-F0DB-4575-A202-8ED00A374984}" type="slidenum">
              <a:rPr lang="en-US" altLang="en-US" smtClean="0">
                <a:latin typeface="Times New Roman" panose="02020603050405020304" pitchFamily="18" charset="0"/>
              </a:rPr>
              <a:pPr/>
              <a:t>44</a:t>
            </a:fld>
            <a:endParaRPr lang="en-US" altLang="en-US">
              <a:latin typeface="Times New Roman" panose="02020603050405020304" pitchFamily="18" charset="0"/>
            </a:endParaRPr>
          </a:p>
        </p:txBody>
      </p:sp>
      <p:sp>
        <p:nvSpPr>
          <p:cNvPr id="79874" name="Rectangle 2">
            <a:extLst>
              <a:ext uri="{FF2B5EF4-FFF2-40B4-BE49-F238E27FC236}">
                <a16:creationId xmlns:a16="http://schemas.microsoft.com/office/drawing/2014/main" id="{7717566B-D582-4B91-9A71-0FBF1749F47A}"/>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7C69C62F-2959-411E-8350-C197A5B2F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9744F318-B901-4759-942A-94AE30C6E7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556A34F-CE26-48DF-BDB6-8512C2015D3A}" type="slidenum">
              <a:rPr lang="en-US" altLang="en-US" smtClean="0">
                <a:latin typeface="Times New Roman" panose="02020603050405020304" pitchFamily="18" charset="0"/>
              </a:rPr>
              <a:pPr/>
              <a:t>45</a:t>
            </a:fld>
            <a:endParaRPr lang="en-US" altLang="en-US">
              <a:latin typeface="Times New Roman" panose="02020603050405020304" pitchFamily="18" charset="0"/>
            </a:endParaRPr>
          </a:p>
        </p:txBody>
      </p:sp>
      <p:sp>
        <p:nvSpPr>
          <p:cNvPr id="81922" name="Rectangle 2">
            <a:extLst>
              <a:ext uri="{FF2B5EF4-FFF2-40B4-BE49-F238E27FC236}">
                <a16:creationId xmlns:a16="http://schemas.microsoft.com/office/drawing/2014/main" id="{5C86FCDC-1A33-4EE6-8446-8BE755FA9381}"/>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2E8154DC-D491-430E-8E74-BCAA616BD2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DE094DDD-260E-455D-8EB0-8BB12FEAE4E8}"/>
              </a:ext>
            </a:extLst>
          </p:cNvPr>
          <p:cNvSpPr>
            <a:spLocks noGrp="1" noRot="1" noChangeAspect="1" noChangeArrowheads="1" noTextEdit="1"/>
          </p:cNvSpPr>
          <p:nvPr>
            <p:ph type="sldImg"/>
          </p:nvPr>
        </p:nvSpPr>
        <p:spPr>
          <a:ln/>
        </p:spPr>
      </p:sp>
      <p:sp>
        <p:nvSpPr>
          <p:cNvPr id="83970" name="Rectangle 3">
            <a:extLst>
              <a:ext uri="{FF2B5EF4-FFF2-40B4-BE49-F238E27FC236}">
                <a16:creationId xmlns:a16="http://schemas.microsoft.com/office/drawing/2014/main" id="{02F1DB9E-007C-446E-AB01-7ED8075C47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05EA5329-089A-4360-AE7B-2DA62D3B762B}"/>
              </a:ext>
            </a:extLst>
          </p:cNvPr>
          <p:cNvSpPr>
            <a:spLocks noGrp="1" noRot="1" noChangeAspect="1" noChangeArrowheads="1" noTextEdit="1"/>
          </p:cNvSpPr>
          <p:nvPr>
            <p:ph type="sldImg"/>
          </p:nvPr>
        </p:nvSpPr>
        <p:spPr>
          <a:ln/>
        </p:spPr>
      </p:sp>
      <p:sp>
        <p:nvSpPr>
          <p:cNvPr id="86018" name="Rectangle 3">
            <a:extLst>
              <a:ext uri="{FF2B5EF4-FFF2-40B4-BE49-F238E27FC236}">
                <a16:creationId xmlns:a16="http://schemas.microsoft.com/office/drawing/2014/main" id="{0CF6B92D-B96A-44DC-95AA-8E6B6A60E5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437A72EC-432C-4C05-AF8F-5EBA2A9EC62C}"/>
              </a:ext>
            </a:extLst>
          </p:cNvPr>
          <p:cNvSpPr>
            <a:spLocks noGrp="1" noRot="1" noChangeAspect="1" noChangeArrowheads="1" noTextEdit="1"/>
          </p:cNvSpPr>
          <p:nvPr>
            <p:ph type="sldImg"/>
          </p:nvPr>
        </p:nvSpPr>
        <p:spPr>
          <a:ln/>
        </p:spPr>
      </p:sp>
      <p:sp>
        <p:nvSpPr>
          <p:cNvPr id="88066" name="Rectangle 3">
            <a:extLst>
              <a:ext uri="{FF2B5EF4-FFF2-40B4-BE49-F238E27FC236}">
                <a16:creationId xmlns:a16="http://schemas.microsoft.com/office/drawing/2014/main" id="{6BA80304-DFCF-44CB-B40E-CE4EDAC07C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E1F706CE-E2FD-455A-913B-ABCDDAF14B6D}"/>
              </a:ext>
            </a:extLst>
          </p:cNvPr>
          <p:cNvSpPr>
            <a:spLocks noGrp="1" noRot="1" noChangeAspect="1" noChangeArrowheads="1" noTextEdit="1"/>
          </p:cNvSpPr>
          <p:nvPr>
            <p:ph type="sldImg"/>
          </p:nvPr>
        </p:nvSpPr>
        <p:spPr>
          <a:ln/>
        </p:spPr>
      </p:sp>
      <p:sp>
        <p:nvSpPr>
          <p:cNvPr id="91138" name="Rectangle 3">
            <a:extLst>
              <a:ext uri="{FF2B5EF4-FFF2-40B4-BE49-F238E27FC236}">
                <a16:creationId xmlns:a16="http://schemas.microsoft.com/office/drawing/2014/main" id="{8C4D5169-BD41-41A8-A7DA-5865D7BE05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1594E555-7502-473E-ADC7-7EEEF1FEF84C}"/>
              </a:ext>
            </a:extLst>
          </p:cNvPr>
          <p:cNvSpPr>
            <a:spLocks noGrp="1" noRot="1" noChangeAspect="1" noChangeArrowheads="1" noTextEdit="1"/>
          </p:cNvSpPr>
          <p:nvPr>
            <p:ph type="sldImg"/>
          </p:nvPr>
        </p:nvSpPr>
        <p:spPr>
          <a:ln/>
        </p:spPr>
      </p:sp>
      <p:sp>
        <p:nvSpPr>
          <p:cNvPr id="93186" name="Rectangle 3">
            <a:extLst>
              <a:ext uri="{FF2B5EF4-FFF2-40B4-BE49-F238E27FC236}">
                <a16:creationId xmlns:a16="http://schemas.microsoft.com/office/drawing/2014/main" id="{9969F21B-0452-4DCB-967A-6DE887A0EE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33CE3CE7-AC06-40D5-9C70-89C27A6093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844920-4587-41BB-A3CA-8E6E52C99E12}" type="slidenum">
              <a:rPr lang="en-US" altLang="en-US" smtClean="0">
                <a:latin typeface="Times New Roman" panose="02020603050405020304" pitchFamily="18" charset="0"/>
              </a:rPr>
              <a:pPr/>
              <a:t>52</a:t>
            </a:fld>
            <a:endParaRPr lang="en-US" altLang="en-US">
              <a:latin typeface="Times New Roman" panose="02020603050405020304" pitchFamily="18" charset="0"/>
            </a:endParaRPr>
          </a:p>
        </p:txBody>
      </p:sp>
      <p:sp>
        <p:nvSpPr>
          <p:cNvPr id="95234" name="Rectangle 2">
            <a:extLst>
              <a:ext uri="{FF2B5EF4-FFF2-40B4-BE49-F238E27FC236}">
                <a16:creationId xmlns:a16="http://schemas.microsoft.com/office/drawing/2014/main" id="{655DDA23-9478-4C39-A9F1-CD239EFF6C62}"/>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8C147644-C431-442F-B8E3-9F9A97EEB4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33CE3CE7-AC06-40D5-9C70-89C27A6093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844920-4587-41BB-A3CA-8E6E52C99E12}" type="slidenum">
              <a:rPr lang="en-US" altLang="en-US" smtClean="0">
                <a:latin typeface="Times New Roman" panose="02020603050405020304" pitchFamily="18" charset="0"/>
              </a:rPr>
              <a:pPr/>
              <a:t>53</a:t>
            </a:fld>
            <a:endParaRPr lang="en-US" altLang="en-US">
              <a:latin typeface="Times New Roman" panose="02020603050405020304" pitchFamily="18" charset="0"/>
            </a:endParaRPr>
          </a:p>
        </p:txBody>
      </p:sp>
      <p:sp>
        <p:nvSpPr>
          <p:cNvPr id="95234" name="Rectangle 2">
            <a:extLst>
              <a:ext uri="{FF2B5EF4-FFF2-40B4-BE49-F238E27FC236}">
                <a16:creationId xmlns:a16="http://schemas.microsoft.com/office/drawing/2014/main" id="{655DDA23-9478-4C39-A9F1-CD239EFF6C62}"/>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8C147644-C431-442F-B8E3-9F9A97EEB4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9314368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7">
            <a:extLst>
              <a:ext uri="{FF2B5EF4-FFF2-40B4-BE49-F238E27FC236}">
                <a16:creationId xmlns:a16="http://schemas.microsoft.com/office/drawing/2014/main" id="{8ABEC3AB-CB2F-422A-96FE-FE682CC7E9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6247B14-7B30-4914-8493-770C5D0217D9}" type="slidenum">
              <a:rPr lang="en-US" altLang="en-US" smtClean="0">
                <a:latin typeface="Times New Roman" panose="02020603050405020304" pitchFamily="18" charset="0"/>
              </a:rPr>
              <a:pPr/>
              <a:t>54</a:t>
            </a:fld>
            <a:endParaRPr lang="en-US" altLang="en-US">
              <a:latin typeface="Times New Roman" panose="02020603050405020304" pitchFamily="18" charset="0"/>
            </a:endParaRPr>
          </a:p>
        </p:txBody>
      </p:sp>
      <p:sp>
        <p:nvSpPr>
          <p:cNvPr id="99330" name="Rectangle 2">
            <a:extLst>
              <a:ext uri="{FF2B5EF4-FFF2-40B4-BE49-F238E27FC236}">
                <a16:creationId xmlns:a16="http://schemas.microsoft.com/office/drawing/2014/main" id="{C8100621-F24D-4E56-8558-0B896D93F8E1}"/>
              </a:ext>
            </a:extLst>
          </p:cNvPr>
          <p:cNvSpPr>
            <a:spLocks noGrp="1" noRot="1" noChangeAspect="1" noChangeArrowheads="1" noTextEdit="1"/>
          </p:cNvSpPr>
          <p:nvPr>
            <p:ph type="sldImg"/>
          </p:nvPr>
        </p:nvSpPr>
        <p:spPr>
          <a:ln/>
        </p:spPr>
      </p:sp>
      <p:sp>
        <p:nvSpPr>
          <p:cNvPr id="99331" name="Rectangle 3">
            <a:extLst>
              <a:ext uri="{FF2B5EF4-FFF2-40B4-BE49-F238E27FC236}">
                <a16:creationId xmlns:a16="http://schemas.microsoft.com/office/drawing/2014/main" id="{E63E4EC3-C621-41A8-B24D-8BB333340A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425442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a:extLst>
              <a:ext uri="{FF2B5EF4-FFF2-40B4-BE49-F238E27FC236}">
                <a16:creationId xmlns:a16="http://schemas.microsoft.com/office/drawing/2014/main" id="{6F281DE9-7498-4090-B348-71231F97FD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A0BAF53-828A-49F4-8077-26BB561564F9}" type="slidenum">
              <a:rPr lang="en-US" altLang="en-US" smtClean="0">
                <a:latin typeface="Times New Roman" panose="02020603050405020304" pitchFamily="18" charset="0"/>
              </a:rPr>
              <a:pPr/>
              <a:t>55</a:t>
            </a:fld>
            <a:endParaRPr lang="en-US" altLang="en-US">
              <a:latin typeface="Times New Roman" panose="02020603050405020304" pitchFamily="18" charset="0"/>
            </a:endParaRPr>
          </a:p>
        </p:txBody>
      </p:sp>
      <p:sp>
        <p:nvSpPr>
          <p:cNvPr id="101378" name="Rectangle 2">
            <a:extLst>
              <a:ext uri="{FF2B5EF4-FFF2-40B4-BE49-F238E27FC236}">
                <a16:creationId xmlns:a16="http://schemas.microsoft.com/office/drawing/2014/main" id="{6B68C51B-7F25-49DC-8F26-B5ECF0C025BA}"/>
              </a:ext>
            </a:extLst>
          </p:cNvPr>
          <p:cNvSpPr>
            <a:spLocks noGrp="1" noRot="1" noChangeAspect="1" noChangeArrowheads="1" noTextEdit="1"/>
          </p:cNvSpPr>
          <p:nvPr>
            <p:ph type="sldImg"/>
          </p:nvPr>
        </p:nvSpPr>
        <p:spPr>
          <a:ln/>
        </p:spPr>
      </p:sp>
      <p:sp>
        <p:nvSpPr>
          <p:cNvPr id="101379" name="Rectangle 3">
            <a:extLst>
              <a:ext uri="{FF2B5EF4-FFF2-40B4-BE49-F238E27FC236}">
                <a16:creationId xmlns:a16="http://schemas.microsoft.com/office/drawing/2014/main" id="{E5863E4C-7BE6-4289-9CB8-26E477DE0E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7">
            <a:extLst>
              <a:ext uri="{FF2B5EF4-FFF2-40B4-BE49-F238E27FC236}">
                <a16:creationId xmlns:a16="http://schemas.microsoft.com/office/drawing/2014/main" id="{D8A4CFDB-1B15-4236-A42E-7505D8A498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6628204-E272-49CF-9F32-BF3F333C9D84}" type="slidenum">
              <a:rPr lang="en-US" altLang="en-US" smtClean="0">
                <a:latin typeface="Times New Roman" panose="02020603050405020304" pitchFamily="18" charset="0"/>
              </a:rPr>
              <a:pPr/>
              <a:t>56</a:t>
            </a:fld>
            <a:endParaRPr lang="en-US" altLang="en-US">
              <a:latin typeface="Times New Roman" panose="02020603050405020304" pitchFamily="18" charset="0"/>
            </a:endParaRPr>
          </a:p>
        </p:txBody>
      </p:sp>
      <p:sp>
        <p:nvSpPr>
          <p:cNvPr id="103426" name="Rectangle 2">
            <a:extLst>
              <a:ext uri="{FF2B5EF4-FFF2-40B4-BE49-F238E27FC236}">
                <a16:creationId xmlns:a16="http://schemas.microsoft.com/office/drawing/2014/main" id="{C0102936-7E09-430D-892F-94CD298AAA3D}"/>
              </a:ext>
            </a:extLst>
          </p:cNvPr>
          <p:cNvSpPr>
            <a:spLocks noGrp="1" noRot="1" noChangeAspect="1" noChangeArrowheads="1" noTextEdit="1"/>
          </p:cNvSpPr>
          <p:nvPr>
            <p:ph type="sldImg"/>
          </p:nvPr>
        </p:nvSpPr>
        <p:spPr>
          <a:ln/>
        </p:spPr>
      </p:sp>
      <p:sp>
        <p:nvSpPr>
          <p:cNvPr id="103427" name="Rectangle 3">
            <a:extLst>
              <a:ext uri="{FF2B5EF4-FFF2-40B4-BE49-F238E27FC236}">
                <a16:creationId xmlns:a16="http://schemas.microsoft.com/office/drawing/2014/main" id="{24DB5797-0DCA-4C75-9E95-296E5A8A24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7">
            <a:extLst>
              <a:ext uri="{FF2B5EF4-FFF2-40B4-BE49-F238E27FC236}">
                <a16:creationId xmlns:a16="http://schemas.microsoft.com/office/drawing/2014/main" id="{374C7EC4-F5B4-44B3-B62A-A28A21B6FE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E3D624F-2319-4971-BD9E-DD1BA8AA2210}" type="slidenum">
              <a:rPr lang="en-US" altLang="en-US" smtClean="0">
                <a:latin typeface="Times New Roman" panose="02020603050405020304" pitchFamily="18" charset="0"/>
              </a:rPr>
              <a:pPr/>
              <a:t>57</a:t>
            </a:fld>
            <a:endParaRPr lang="en-US" altLang="en-US">
              <a:latin typeface="Times New Roman" panose="02020603050405020304" pitchFamily="18" charset="0"/>
            </a:endParaRPr>
          </a:p>
        </p:txBody>
      </p:sp>
      <p:sp>
        <p:nvSpPr>
          <p:cNvPr id="105474" name="Rectangle 2">
            <a:extLst>
              <a:ext uri="{FF2B5EF4-FFF2-40B4-BE49-F238E27FC236}">
                <a16:creationId xmlns:a16="http://schemas.microsoft.com/office/drawing/2014/main" id="{AF7E44E0-A93B-4500-931E-F814DE1DA12D}"/>
              </a:ext>
            </a:extLst>
          </p:cNvPr>
          <p:cNvSpPr>
            <a:spLocks noGrp="1" noRot="1" noChangeAspect="1" noChangeArrowheads="1" noTextEdit="1"/>
          </p:cNvSpPr>
          <p:nvPr>
            <p:ph type="sldImg"/>
          </p:nvPr>
        </p:nvSpPr>
        <p:spPr>
          <a:ln/>
        </p:spPr>
      </p:sp>
      <p:sp>
        <p:nvSpPr>
          <p:cNvPr id="105475" name="Rectangle 3">
            <a:extLst>
              <a:ext uri="{FF2B5EF4-FFF2-40B4-BE49-F238E27FC236}">
                <a16:creationId xmlns:a16="http://schemas.microsoft.com/office/drawing/2014/main" id="{A4368273-6DBC-4628-8DEB-11600A203A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7">
            <a:extLst>
              <a:ext uri="{FF2B5EF4-FFF2-40B4-BE49-F238E27FC236}">
                <a16:creationId xmlns:a16="http://schemas.microsoft.com/office/drawing/2014/main" id="{62FCB5DA-A3EA-4F94-870C-C18A20A4CC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DA7A980-1C06-4A44-B4F7-1A8E4D6C7491}" type="slidenum">
              <a:rPr lang="en-US" altLang="en-US" smtClean="0">
                <a:latin typeface="Times New Roman" panose="02020603050405020304" pitchFamily="18" charset="0"/>
              </a:rPr>
              <a:pPr/>
              <a:t>58</a:t>
            </a:fld>
            <a:endParaRPr lang="en-US" altLang="en-US">
              <a:latin typeface="Times New Roman" panose="02020603050405020304" pitchFamily="18" charset="0"/>
            </a:endParaRPr>
          </a:p>
        </p:txBody>
      </p:sp>
      <p:sp>
        <p:nvSpPr>
          <p:cNvPr id="107522" name="Rectangle 2">
            <a:extLst>
              <a:ext uri="{FF2B5EF4-FFF2-40B4-BE49-F238E27FC236}">
                <a16:creationId xmlns:a16="http://schemas.microsoft.com/office/drawing/2014/main" id="{15C739DA-0C35-42A2-B92D-D03C6D99E8A4}"/>
              </a:ext>
            </a:extLst>
          </p:cNvPr>
          <p:cNvSpPr>
            <a:spLocks noGrp="1" noRot="1" noChangeAspect="1" noChangeArrowheads="1" noTextEdit="1"/>
          </p:cNvSpPr>
          <p:nvPr>
            <p:ph type="sldImg"/>
          </p:nvPr>
        </p:nvSpPr>
        <p:spPr>
          <a:ln/>
        </p:spPr>
      </p:sp>
      <p:sp>
        <p:nvSpPr>
          <p:cNvPr id="107523" name="Rectangle 3">
            <a:extLst>
              <a:ext uri="{FF2B5EF4-FFF2-40B4-BE49-F238E27FC236}">
                <a16:creationId xmlns:a16="http://schemas.microsoft.com/office/drawing/2014/main" id="{97F686E3-9FAA-4D73-BB67-E0221D7B3C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7">
            <a:extLst>
              <a:ext uri="{FF2B5EF4-FFF2-40B4-BE49-F238E27FC236}">
                <a16:creationId xmlns:a16="http://schemas.microsoft.com/office/drawing/2014/main" id="{0ED619BB-69AA-4187-8508-5C6D20F5F3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EC6BA39-A472-4B3B-A7DF-4F396B3C17E7}" type="slidenum">
              <a:rPr lang="en-US" altLang="en-US" smtClean="0">
                <a:latin typeface="Times New Roman" panose="02020603050405020304" pitchFamily="18" charset="0"/>
              </a:rPr>
              <a:pPr/>
              <a:t>59</a:t>
            </a:fld>
            <a:endParaRPr lang="en-US" altLang="en-US">
              <a:latin typeface="Times New Roman" panose="02020603050405020304" pitchFamily="18" charset="0"/>
            </a:endParaRPr>
          </a:p>
        </p:txBody>
      </p:sp>
      <p:sp>
        <p:nvSpPr>
          <p:cNvPr id="109570" name="Rectangle 2">
            <a:extLst>
              <a:ext uri="{FF2B5EF4-FFF2-40B4-BE49-F238E27FC236}">
                <a16:creationId xmlns:a16="http://schemas.microsoft.com/office/drawing/2014/main" id="{F413F31A-C6FC-4BAD-849E-A6DB77768434}"/>
              </a:ext>
            </a:extLst>
          </p:cNvPr>
          <p:cNvSpPr>
            <a:spLocks noGrp="1" noRot="1" noChangeAspect="1" noChangeArrowheads="1" noTextEdit="1"/>
          </p:cNvSpPr>
          <p:nvPr>
            <p:ph type="sldImg"/>
          </p:nvPr>
        </p:nvSpPr>
        <p:spPr>
          <a:ln/>
        </p:spPr>
      </p:sp>
      <p:sp>
        <p:nvSpPr>
          <p:cNvPr id="109571" name="Rectangle 3">
            <a:extLst>
              <a:ext uri="{FF2B5EF4-FFF2-40B4-BE49-F238E27FC236}">
                <a16:creationId xmlns:a16="http://schemas.microsoft.com/office/drawing/2014/main" id="{0D3B88A5-CEE8-40BD-9808-2CDA6AB3D4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7">
            <a:extLst>
              <a:ext uri="{FF2B5EF4-FFF2-40B4-BE49-F238E27FC236}">
                <a16:creationId xmlns:a16="http://schemas.microsoft.com/office/drawing/2014/main" id="{DAC8869F-FF99-4234-BF9F-6981A2322E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8F9C382-E9CB-4121-9295-821692F9295E}" type="slidenum">
              <a:rPr lang="en-US" altLang="en-US" smtClean="0">
                <a:latin typeface="Times New Roman" panose="02020603050405020304" pitchFamily="18" charset="0"/>
              </a:rPr>
              <a:pPr/>
              <a:t>60</a:t>
            </a:fld>
            <a:endParaRPr lang="en-US" altLang="en-US">
              <a:latin typeface="Times New Roman" panose="02020603050405020304" pitchFamily="18" charset="0"/>
            </a:endParaRPr>
          </a:p>
        </p:txBody>
      </p:sp>
      <p:sp>
        <p:nvSpPr>
          <p:cNvPr id="111618" name="Rectangle 2">
            <a:extLst>
              <a:ext uri="{FF2B5EF4-FFF2-40B4-BE49-F238E27FC236}">
                <a16:creationId xmlns:a16="http://schemas.microsoft.com/office/drawing/2014/main" id="{F4B9B201-551A-4715-A46B-58B15F548286}"/>
              </a:ext>
            </a:extLst>
          </p:cNvPr>
          <p:cNvSpPr>
            <a:spLocks noGrp="1" noRot="1" noChangeAspect="1" noChangeArrowheads="1" noTextEdit="1"/>
          </p:cNvSpPr>
          <p:nvPr>
            <p:ph type="sldImg"/>
          </p:nvPr>
        </p:nvSpPr>
        <p:spPr>
          <a:ln/>
        </p:spPr>
      </p:sp>
      <p:sp>
        <p:nvSpPr>
          <p:cNvPr id="111619" name="Rectangle 3">
            <a:extLst>
              <a:ext uri="{FF2B5EF4-FFF2-40B4-BE49-F238E27FC236}">
                <a16:creationId xmlns:a16="http://schemas.microsoft.com/office/drawing/2014/main" id="{425B08B2-27C5-4BFD-AF86-4649346844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7">
            <a:extLst>
              <a:ext uri="{FF2B5EF4-FFF2-40B4-BE49-F238E27FC236}">
                <a16:creationId xmlns:a16="http://schemas.microsoft.com/office/drawing/2014/main" id="{2791A9A1-933F-48E4-A663-A9A44F3842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8144CDA-524B-42CB-B6A8-1F82635CA2A0}" type="slidenum">
              <a:rPr lang="en-US" altLang="en-US" smtClean="0">
                <a:latin typeface="Times New Roman" panose="02020603050405020304" pitchFamily="18" charset="0"/>
              </a:rPr>
              <a:pPr/>
              <a:t>61</a:t>
            </a:fld>
            <a:endParaRPr lang="en-US" altLang="en-US">
              <a:latin typeface="Times New Roman" panose="02020603050405020304" pitchFamily="18" charset="0"/>
            </a:endParaRPr>
          </a:p>
        </p:txBody>
      </p:sp>
      <p:sp>
        <p:nvSpPr>
          <p:cNvPr id="113666" name="Rectangle 2">
            <a:extLst>
              <a:ext uri="{FF2B5EF4-FFF2-40B4-BE49-F238E27FC236}">
                <a16:creationId xmlns:a16="http://schemas.microsoft.com/office/drawing/2014/main" id="{22B584FC-47BF-4329-A73D-AE03445B463A}"/>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0EF88E9A-5692-479E-86D8-D453385FBD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9170022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7">
            <a:extLst>
              <a:ext uri="{FF2B5EF4-FFF2-40B4-BE49-F238E27FC236}">
                <a16:creationId xmlns:a16="http://schemas.microsoft.com/office/drawing/2014/main" id="{2791A9A1-933F-48E4-A663-A9A44F3842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8144CDA-524B-42CB-B6A8-1F82635CA2A0}" type="slidenum">
              <a:rPr lang="en-US" altLang="en-US" smtClean="0">
                <a:latin typeface="Times New Roman" panose="02020603050405020304" pitchFamily="18" charset="0"/>
              </a:rPr>
              <a:pPr/>
              <a:t>62</a:t>
            </a:fld>
            <a:endParaRPr lang="en-US" altLang="en-US">
              <a:latin typeface="Times New Roman" panose="02020603050405020304" pitchFamily="18" charset="0"/>
            </a:endParaRPr>
          </a:p>
        </p:txBody>
      </p:sp>
      <p:sp>
        <p:nvSpPr>
          <p:cNvPr id="113666" name="Rectangle 2">
            <a:extLst>
              <a:ext uri="{FF2B5EF4-FFF2-40B4-BE49-F238E27FC236}">
                <a16:creationId xmlns:a16="http://schemas.microsoft.com/office/drawing/2014/main" id="{22B584FC-47BF-4329-A73D-AE03445B463A}"/>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0EF88E9A-5692-479E-86D8-D453385FBD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7">
            <a:extLst>
              <a:ext uri="{FF2B5EF4-FFF2-40B4-BE49-F238E27FC236}">
                <a16:creationId xmlns:a16="http://schemas.microsoft.com/office/drawing/2014/main" id="{04233C27-8849-4252-91D2-6553BF31EC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033E44-AE0A-43BF-A520-184D3757D382}" type="slidenum">
              <a:rPr lang="en-US" altLang="en-US" smtClean="0">
                <a:latin typeface="Times New Roman" panose="02020603050405020304" pitchFamily="18" charset="0"/>
              </a:rPr>
              <a:pPr/>
              <a:t>63</a:t>
            </a:fld>
            <a:endParaRPr lang="en-US" altLang="en-US">
              <a:latin typeface="Times New Roman" panose="02020603050405020304" pitchFamily="18" charset="0"/>
            </a:endParaRPr>
          </a:p>
        </p:txBody>
      </p:sp>
      <p:sp>
        <p:nvSpPr>
          <p:cNvPr id="115714" name="Rectangle 2">
            <a:extLst>
              <a:ext uri="{FF2B5EF4-FFF2-40B4-BE49-F238E27FC236}">
                <a16:creationId xmlns:a16="http://schemas.microsoft.com/office/drawing/2014/main" id="{A615ED96-D2E9-4926-A603-58BB15867773}"/>
              </a:ext>
            </a:extLst>
          </p:cNvPr>
          <p:cNvSpPr>
            <a:spLocks noGrp="1" noRot="1" noChangeAspect="1" noChangeArrowheads="1" noTextEdit="1"/>
          </p:cNvSpPr>
          <p:nvPr>
            <p:ph type="sldImg"/>
          </p:nvPr>
        </p:nvSpPr>
        <p:spPr>
          <a:ln/>
        </p:spPr>
      </p:sp>
      <p:sp>
        <p:nvSpPr>
          <p:cNvPr id="115715" name="Rectangle 3">
            <a:extLst>
              <a:ext uri="{FF2B5EF4-FFF2-40B4-BE49-F238E27FC236}">
                <a16:creationId xmlns:a16="http://schemas.microsoft.com/office/drawing/2014/main" id="{17D404A4-62DB-49DD-A17D-967D6DD89A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7">
            <a:extLst>
              <a:ext uri="{FF2B5EF4-FFF2-40B4-BE49-F238E27FC236}">
                <a16:creationId xmlns:a16="http://schemas.microsoft.com/office/drawing/2014/main" id="{3F17DCC5-0162-4C65-A6B7-1F3634D871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9309D8D-5C8E-47B5-B76C-995FF4B425D8}" type="slidenum">
              <a:rPr lang="en-US" altLang="en-US" smtClean="0">
                <a:latin typeface="Times New Roman" panose="02020603050405020304" pitchFamily="18" charset="0"/>
              </a:rPr>
              <a:pPr/>
              <a:t>69</a:t>
            </a:fld>
            <a:endParaRPr lang="en-US" altLang="en-US">
              <a:latin typeface="Times New Roman" panose="02020603050405020304" pitchFamily="18" charset="0"/>
            </a:endParaRPr>
          </a:p>
        </p:txBody>
      </p:sp>
      <p:sp>
        <p:nvSpPr>
          <p:cNvPr id="122882" name="Rectangle 2">
            <a:extLst>
              <a:ext uri="{FF2B5EF4-FFF2-40B4-BE49-F238E27FC236}">
                <a16:creationId xmlns:a16="http://schemas.microsoft.com/office/drawing/2014/main" id="{A6EEBBBF-E4B7-44BF-8D3E-4E75A9CF28A7}"/>
              </a:ext>
            </a:extLst>
          </p:cNvPr>
          <p:cNvSpPr>
            <a:spLocks noGrp="1" noRot="1" noChangeAspect="1" noChangeArrowheads="1" noTextEdit="1"/>
          </p:cNvSpPr>
          <p:nvPr>
            <p:ph type="sldImg"/>
          </p:nvPr>
        </p:nvSpPr>
        <p:spPr>
          <a:ln/>
        </p:spPr>
      </p:sp>
      <p:sp>
        <p:nvSpPr>
          <p:cNvPr id="122883" name="Rectangle 3">
            <a:extLst>
              <a:ext uri="{FF2B5EF4-FFF2-40B4-BE49-F238E27FC236}">
                <a16:creationId xmlns:a16="http://schemas.microsoft.com/office/drawing/2014/main" id="{3DF1B668-5AF4-487A-B6A0-0D84D219C7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a:extLst>
              <a:ext uri="{FF2B5EF4-FFF2-40B4-BE49-F238E27FC236}">
                <a16:creationId xmlns:a16="http://schemas.microsoft.com/office/drawing/2014/main" id="{5C5A5839-50F4-45D9-AEAE-5667E21135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74F695C-5F2E-482E-8B6B-62AF14C87ED6}" type="slidenum">
              <a:rPr lang="en-US" altLang="en-US" smtClean="0">
                <a:latin typeface="Times New Roman" panose="02020603050405020304" pitchFamily="18" charset="0"/>
              </a:rPr>
              <a:pPr/>
              <a:t>71</a:t>
            </a:fld>
            <a:endParaRPr lang="en-US" altLang="en-US">
              <a:latin typeface="Times New Roman" panose="02020603050405020304" pitchFamily="18" charset="0"/>
            </a:endParaRPr>
          </a:p>
        </p:txBody>
      </p:sp>
      <p:sp>
        <p:nvSpPr>
          <p:cNvPr id="125954" name="Rectangle 2">
            <a:extLst>
              <a:ext uri="{FF2B5EF4-FFF2-40B4-BE49-F238E27FC236}">
                <a16:creationId xmlns:a16="http://schemas.microsoft.com/office/drawing/2014/main" id="{AFDE3679-E12F-4EC6-AEFF-563863F2D181}"/>
              </a:ext>
            </a:extLst>
          </p:cNvPr>
          <p:cNvSpPr>
            <a:spLocks noGrp="1" noRot="1" noChangeAspect="1" noChangeArrowheads="1" noTextEdit="1"/>
          </p:cNvSpPr>
          <p:nvPr>
            <p:ph type="sldImg"/>
          </p:nvPr>
        </p:nvSpPr>
        <p:spPr>
          <a:ln/>
        </p:spPr>
      </p:sp>
      <p:sp>
        <p:nvSpPr>
          <p:cNvPr id="125955" name="Rectangle 3">
            <a:extLst>
              <a:ext uri="{FF2B5EF4-FFF2-40B4-BE49-F238E27FC236}">
                <a16:creationId xmlns:a16="http://schemas.microsoft.com/office/drawing/2014/main" id="{91F7994F-0D20-4662-93D9-382F127816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a:extLst>
              <a:ext uri="{FF2B5EF4-FFF2-40B4-BE49-F238E27FC236}">
                <a16:creationId xmlns:a16="http://schemas.microsoft.com/office/drawing/2014/main" id="{6D8B87B8-4A4B-41E0-AC9C-6A94DDEE4E78}"/>
              </a:ext>
            </a:extLst>
          </p:cNvPr>
          <p:cNvSpPr>
            <a:spLocks noGrp="1" noRot="1" noChangeAspect="1" noChangeArrowheads="1" noTextEdit="1"/>
          </p:cNvSpPr>
          <p:nvPr>
            <p:ph type="sldImg"/>
          </p:nvPr>
        </p:nvSpPr>
        <p:spPr>
          <a:ln/>
        </p:spPr>
      </p:sp>
      <p:sp>
        <p:nvSpPr>
          <p:cNvPr id="128002" name="Rectangle 3">
            <a:extLst>
              <a:ext uri="{FF2B5EF4-FFF2-40B4-BE49-F238E27FC236}">
                <a16:creationId xmlns:a16="http://schemas.microsoft.com/office/drawing/2014/main" id="{51DE5DE0-7651-48B8-98BA-EBB364F88C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7">
            <a:extLst>
              <a:ext uri="{FF2B5EF4-FFF2-40B4-BE49-F238E27FC236}">
                <a16:creationId xmlns:a16="http://schemas.microsoft.com/office/drawing/2014/main" id="{B4D2F53A-EAE3-418A-BB66-6424E5A129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C970466-3449-4494-8D09-9CEF39776B3E}" type="slidenum">
              <a:rPr lang="en-US" altLang="en-US" smtClean="0">
                <a:latin typeface="Times New Roman" panose="02020603050405020304" pitchFamily="18" charset="0"/>
              </a:rPr>
              <a:pPr/>
              <a:t>74</a:t>
            </a:fld>
            <a:endParaRPr lang="en-US" altLang="en-US">
              <a:latin typeface="Times New Roman" panose="02020603050405020304" pitchFamily="18" charset="0"/>
            </a:endParaRPr>
          </a:p>
        </p:txBody>
      </p:sp>
      <p:sp>
        <p:nvSpPr>
          <p:cNvPr id="131074" name="Rectangle 2">
            <a:extLst>
              <a:ext uri="{FF2B5EF4-FFF2-40B4-BE49-F238E27FC236}">
                <a16:creationId xmlns:a16="http://schemas.microsoft.com/office/drawing/2014/main" id="{B822E183-1692-4D48-BA88-87F0B1822975}"/>
              </a:ext>
            </a:extLst>
          </p:cNvPr>
          <p:cNvSpPr>
            <a:spLocks noGrp="1" noRot="1" noChangeAspect="1" noChangeArrowheads="1" noTextEdit="1"/>
          </p:cNvSpPr>
          <p:nvPr>
            <p:ph type="sldImg"/>
          </p:nvPr>
        </p:nvSpPr>
        <p:spPr>
          <a:ln/>
        </p:spPr>
      </p:sp>
      <p:sp>
        <p:nvSpPr>
          <p:cNvPr id="131075" name="Rectangle 3">
            <a:extLst>
              <a:ext uri="{FF2B5EF4-FFF2-40B4-BE49-F238E27FC236}">
                <a16:creationId xmlns:a16="http://schemas.microsoft.com/office/drawing/2014/main" id="{CA1A4E23-F289-4B51-A9B3-418DE56116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7">
            <a:extLst>
              <a:ext uri="{FF2B5EF4-FFF2-40B4-BE49-F238E27FC236}">
                <a16:creationId xmlns:a16="http://schemas.microsoft.com/office/drawing/2014/main" id="{EDA12628-4C86-479D-9171-1641D98D7B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C541504-7C9A-4526-994E-304A048D608D}" type="slidenum">
              <a:rPr lang="en-US" altLang="en-US" smtClean="0">
                <a:latin typeface="Times New Roman" panose="02020603050405020304" pitchFamily="18" charset="0"/>
              </a:rPr>
              <a:pPr/>
              <a:t>75</a:t>
            </a:fld>
            <a:endParaRPr lang="en-US" altLang="en-US">
              <a:latin typeface="Times New Roman" panose="02020603050405020304" pitchFamily="18" charset="0"/>
            </a:endParaRPr>
          </a:p>
        </p:txBody>
      </p:sp>
      <p:sp>
        <p:nvSpPr>
          <p:cNvPr id="133122" name="Rectangle 2">
            <a:extLst>
              <a:ext uri="{FF2B5EF4-FFF2-40B4-BE49-F238E27FC236}">
                <a16:creationId xmlns:a16="http://schemas.microsoft.com/office/drawing/2014/main" id="{13D5EBB1-DC43-4A05-9978-1A0E671EAC83}"/>
              </a:ext>
            </a:extLst>
          </p:cNvPr>
          <p:cNvSpPr>
            <a:spLocks noGrp="1" noRot="1" noChangeAspect="1" noChangeArrowheads="1" noTextEdit="1"/>
          </p:cNvSpPr>
          <p:nvPr>
            <p:ph type="sldImg"/>
          </p:nvPr>
        </p:nvSpPr>
        <p:spPr>
          <a:ln/>
        </p:spPr>
      </p:sp>
      <p:sp>
        <p:nvSpPr>
          <p:cNvPr id="133123" name="Rectangle 3">
            <a:extLst>
              <a:ext uri="{FF2B5EF4-FFF2-40B4-BE49-F238E27FC236}">
                <a16:creationId xmlns:a16="http://schemas.microsoft.com/office/drawing/2014/main" id="{7653D829-07D7-4B63-8D2E-7CD44E1908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7">
            <a:extLst>
              <a:ext uri="{FF2B5EF4-FFF2-40B4-BE49-F238E27FC236}">
                <a16:creationId xmlns:a16="http://schemas.microsoft.com/office/drawing/2014/main" id="{A350F77D-618E-4516-9F52-3197275158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0EA1C6A-8A64-43BB-91B2-5F5909240046}" type="slidenum">
              <a:rPr lang="en-US" altLang="en-US" smtClean="0">
                <a:latin typeface="Times New Roman" panose="02020603050405020304" pitchFamily="18" charset="0"/>
              </a:rPr>
              <a:pPr/>
              <a:t>79</a:t>
            </a:fld>
            <a:endParaRPr lang="en-US" altLang="en-US">
              <a:latin typeface="Times New Roman" panose="02020603050405020304" pitchFamily="18" charset="0"/>
            </a:endParaRPr>
          </a:p>
        </p:txBody>
      </p:sp>
      <p:sp>
        <p:nvSpPr>
          <p:cNvPr id="138242" name="Rectangle 2">
            <a:extLst>
              <a:ext uri="{FF2B5EF4-FFF2-40B4-BE49-F238E27FC236}">
                <a16:creationId xmlns:a16="http://schemas.microsoft.com/office/drawing/2014/main" id="{6A5F7160-2558-4837-96D7-957DDEA6B04D}"/>
              </a:ext>
            </a:extLst>
          </p:cNvPr>
          <p:cNvSpPr>
            <a:spLocks noGrp="1" noRot="1" noChangeAspect="1" noChangeArrowheads="1" noTextEdit="1"/>
          </p:cNvSpPr>
          <p:nvPr>
            <p:ph type="sldImg"/>
          </p:nvPr>
        </p:nvSpPr>
        <p:spPr>
          <a:ln/>
        </p:spPr>
      </p:sp>
      <p:sp>
        <p:nvSpPr>
          <p:cNvPr id="138243" name="Rectangle 3">
            <a:extLst>
              <a:ext uri="{FF2B5EF4-FFF2-40B4-BE49-F238E27FC236}">
                <a16:creationId xmlns:a16="http://schemas.microsoft.com/office/drawing/2014/main" id="{84B2144B-1F9A-405F-AA84-7C73138F26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a:extLst>
              <a:ext uri="{FF2B5EF4-FFF2-40B4-BE49-F238E27FC236}">
                <a16:creationId xmlns:a16="http://schemas.microsoft.com/office/drawing/2014/main" id="{51B6C076-F21F-4CA5-822D-C9D69050FB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8EB864C-7330-4E1B-A037-7D79409E01F4}" type="slidenum">
              <a:rPr lang="en-US" altLang="en-US" smtClean="0">
                <a:latin typeface="Times New Roman" panose="02020603050405020304" pitchFamily="18" charset="0"/>
              </a:rPr>
              <a:pPr/>
              <a:t>81</a:t>
            </a:fld>
            <a:endParaRPr lang="en-US" altLang="en-US">
              <a:latin typeface="Times New Roman" panose="02020603050405020304" pitchFamily="18" charset="0"/>
            </a:endParaRPr>
          </a:p>
        </p:txBody>
      </p:sp>
      <p:sp>
        <p:nvSpPr>
          <p:cNvPr id="141314" name="Rectangle 2">
            <a:extLst>
              <a:ext uri="{FF2B5EF4-FFF2-40B4-BE49-F238E27FC236}">
                <a16:creationId xmlns:a16="http://schemas.microsoft.com/office/drawing/2014/main" id="{5F4496CA-0A38-4ECE-A790-5883B82226E7}"/>
              </a:ext>
            </a:extLst>
          </p:cNvPr>
          <p:cNvSpPr>
            <a:spLocks noGrp="1" noRot="1" noChangeAspect="1" noChangeArrowheads="1" noTextEdit="1"/>
          </p:cNvSpPr>
          <p:nvPr>
            <p:ph type="sldImg"/>
          </p:nvPr>
        </p:nvSpPr>
        <p:spPr>
          <a:ln/>
        </p:spPr>
      </p:sp>
      <p:sp>
        <p:nvSpPr>
          <p:cNvPr id="141315" name="Rectangle 3">
            <a:extLst>
              <a:ext uri="{FF2B5EF4-FFF2-40B4-BE49-F238E27FC236}">
                <a16:creationId xmlns:a16="http://schemas.microsoft.com/office/drawing/2014/main" id="{9685A671-4583-4556-B3BD-CB96D62C92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F9054E9F-B0F7-4A1B-8874-547788B722C4}"/>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1B0B5327-705F-4338-8684-BE3C6B32B1E1}"/>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a16="http://schemas.microsoft.com/office/drawing/2014/main" id="{F9912C43-735E-4FCD-9C20-4B4E9F5D4C0F}"/>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a16="http://schemas.microsoft.com/office/drawing/2014/main" id="{8B2B38F7-FF3D-4D34-8AF3-C5E2B22472FA}"/>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39D6487E-E59C-4825-A316-F9FD0074A55B}"/>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336699"/>
                </a:solidFill>
                <a:latin typeface="Helvetica" pitchFamily="-84" charset="0"/>
              </a:rPr>
              <a:t>Silberschatz, Galvin and Gagne ©2018</a:t>
            </a:r>
          </a:p>
        </p:txBody>
      </p:sp>
      <p:sp>
        <p:nvSpPr>
          <p:cNvPr id="8" name="Text Box 8">
            <a:extLst>
              <a:ext uri="{FF2B5EF4-FFF2-40B4-BE49-F238E27FC236}">
                <a16:creationId xmlns:a16="http://schemas.microsoft.com/office/drawing/2014/main" id="{0BACFF7A-A989-4729-8688-C6C2FD0049F0}"/>
              </a:ext>
            </a:extLst>
          </p:cNvPr>
          <p:cNvSpPr txBox="1">
            <a:spLocks noChangeArrowheads="1"/>
          </p:cNvSpPr>
          <p:nvPr/>
        </p:nvSpPr>
        <p:spPr bwMode="auto">
          <a:xfrm>
            <a:off x="26988" y="6613525"/>
            <a:ext cx="2730500" cy="246063"/>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336699"/>
                </a:solidFill>
                <a:latin typeface="Helvetica" pitchFamily="-84" charset="0"/>
              </a:rPr>
              <a:t>Operating System Concepts – 10</a:t>
            </a:r>
            <a:r>
              <a:rPr lang="en-US" altLang="en-US" sz="1000" b="1" baseline="30000" dirty="0">
                <a:solidFill>
                  <a:srgbClr val="336699"/>
                </a:solidFill>
                <a:latin typeface="Helvetica" pitchFamily="-84" charset="0"/>
              </a:rPr>
              <a:t>th</a:t>
            </a:r>
            <a:r>
              <a:rPr lang="en-US" altLang="en-US" sz="1000" b="1" dirty="0">
                <a:solidFill>
                  <a:srgbClr val="336699"/>
                </a:solidFill>
                <a:latin typeface="Helvetica" pitchFamily="-84" charset="0"/>
              </a:rPr>
              <a:t> Edition</a:t>
            </a:r>
          </a:p>
        </p:txBody>
      </p:sp>
      <p:pic>
        <p:nvPicPr>
          <p:cNvPr id="9" name="Picture 9" descr="dino_4">
            <a:extLst>
              <a:ext uri="{FF2B5EF4-FFF2-40B4-BE49-F238E27FC236}">
                <a16:creationId xmlns:a16="http://schemas.microsoft.com/office/drawing/2014/main" id="{62320D51-40DC-47DF-B772-6310A5073C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B4F18C78-A1C0-4229-859F-4A1EAA01B0EB}"/>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2848305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2745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23410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163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0134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54588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6302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44700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15702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8947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1278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DB124D09-86E8-40B1-99F0-1209287C139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101563B5-6DEC-40C9-94C1-11A3E355C2E2}"/>
              </a:ext>
            </a:extLst>
          </p:cNvPr>
          <p:cNvSpPr>
            <a:spLocks noGrp="1" noChangeArrowheads="1"/>
          </p:cNvSpPr>
          <p:nvPr>
            <p:ph type="title"/>
          </p:nvPr>
        </p:nvSpPr>
        <p:spPr bwMode="auto">
          <a:xfrm>
            <a:off x="457200" y="23385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97A89EDA-A1F4-4710-BBC1-A142F18D0927}"/>
              </a:ext>
            </a:extLst>
          </p:cNvPr>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7773D04D-003A-405C-9D9C-1709ED056175}"/>
              </a:ext>
            </a:extLst>
          </p:cNvPr>
          <p:cNvSpPr>
            <a:spLocks noChangeArrowheads="1"/>
          </p:cNvSpPr>
          <p:nvPr/>
        </p:nvSpPr>
        <p:spPr bwMode="auto">
          <a:xfrm>
            <a:off x="0" y="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0" name="Line 6">
            <a:extLst>
              <a:ext uri="{FF2B5EF4-FFF2-40B4-BE49-F238E27FC236}">
                <a16:creationId xmlns:a16="http://schemas.microsoft.com/office/drawing/2014/main" id="{7AA57875-966E-44EB-9268-6903F2C1DDAD}"/>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B805250A-2DE9-48CE-9970-F8DC7B1A9953}"/>
              </a:ext>
            </a:extLst>
          </p:cNvPr>
          <p:cNvSpPr>
            <a:spLocks noChangeArrowheads="1"/>
          </p:cNvSpPr>
          <p:nvPr/>
        </p:nvSpPr>
        <p:spPr bwMode="auto">
          <a:xfrm>
            <a:off x="0" y="2286000"/>
            <a:ext cx="228600" cy="2286000"/>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2" name="Rectangle 8">
            <a:extLst>
              <a:ext uri="{FF2B5EF4-FFF2-40B4-BE49-F238E27FC236}">
                <a16:creationId xmlns:a16="http://schemas.microsoft.com/office/drawing/2014/main" id="{5DF010FB-BF4A-4539-85F6-EF017614C474}"/>
              </a:ext>
            </a:extLst>
          </p:cNvPr>
          <p:cNvSpPr>
            <a:spLocks noChangeArrowheads="1"/>
          </p:cNvSpPr>
          <p:nvPr/>
        </p:nvSpPr>
        <p:spPr bwMode="auto">
          <a:xfrm>
            <a:off x="0" y="457200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3" name="Text Box 9">
            <a:extLst>
              <a:ext uri="{FF2B5EF4-FFF2-40B4-BE49-F238E27FC236}">
                <a16:creationId xmlns:a16="http://schemas.microsoft.com/office/drawing/2014/main" id="{F35EB3C6-158A-401E-AF69-45BFE965FB7C}"/>
              </a:ext>
            </a:extLst>
          </p:cNvPr>
          <p:cNvSpPr txBox="1">
            <a:spLocks noChangeArrowheads="1"/>
          </p:cNvSpPr>
          <p:nvPr/>
        </p:nvSpPr>
        <p:spPr bwMode="auto">
          <a:xfrm>
            <a:off x="4256147" y="6613525"/>
            <a:ext cx="447558" cy="246221"/>
          </a:xfrm>
          <a:prstGeom prst="rect">
            <a:avLst/>
          </a:prstGeom>
          <a:noFill/>
          <a:ln>
            <a:noFill/>
          </a:ln>
        </p:spPr>
        <p:txBody>
          <a:bodyPr wrap="none">
            <a:spAutoFit/>
          </a:bodyP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a:spcBef>
                <a:spcPct val="50000"/>
              </a:spcBef>
              <a:defRPr/>
            </a:pPr>
            <a:r>
              <a:rPr lang="en-US" altLang="en-US" sz="1000" b="1" dirty="0">
                <a:solidFill>
                  <a:srgbClr val="006699"/>
                </a:solidFill>
                <a:latin typeface="Helvetica" charset="0"/>
              </a:rPr>
              <a:t>5.</a:t>
            </a:r>
            <a:fld id="{4EB6AB46-21AB-49DC-9DBD-606B37BEB33B}" type="slidenum">
              <a:rPr lang="en-US" altLang="en-US" sz="1000" b="1" smtClean="0">
                <a:solidFill>
                  <a:srgbClr val="006699"/>
                </a:solidFill>
                <a:latin typeface="Helvetica" charset="0"/>
              </a:rPr>
              <a:pPr algn="ctr">
                <a:spcBef>
                  <a:spcPct val="50000"/>
                </a:spcBef>
                <a:defRPr/>
              </a:pPr>
              <a:t>‹#›</a:t>
            </a:fld>
            <a:endParaRPr lang="en-US" altLang="en-US" sz="1000" b="1" dirty="0">
              <a:solidFill>
                <a:srgbClr val="006699"/>
              </a:solidFill>
              <a:latin typeface="Helvetica" charset="0"/>
            </a:endParaRPr>
          </a:p>
        </p:txBody>
      </p:sp>
      <p:sp>
        <p:nvSpPr>
          <p:cNvPr id="1034" name="Text Box 10">
            <a:extLst>
              <a:ext uri="{FF2B5EF4-FFF2-40B4-BE49-F238E27FC236}">
                <a16:creationId xmlns:a16="http://schemas.microsoft.com/office/drawing/2014/main" id="{D78F82E7-FC4D-4DEF-BAC0-15DF6AAD70A5}"/>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006699"/>
                </a:solidFill>
                <a:latin typeface="Helvetica" pitchFamily="-84" charset="0"/>
              </a:rPr>
              <a:t>Silberschatz, Galvin and Gagne ©2018</a:t>
            </a:r>
          </a:p>
        </p:txBody>
      </p:sp>
      <p:sp>
        <p:nvSpPr>
          <p:cNvPr id="1035" name="Text Box 11">
            <a:extLst>
              <a:ext uri="{FF2B5EF4-FFF2-40B4-BE49-F238E27FC236}">
                <a16:creationId xmlns:a16="http://schemas.microsoft.com/office/drawing/2014/main" id="{A47C3AE5-5C42-45F2-A307-C022C640A4BF}"/>
              </a:ext>
            </a:extLst>
          </p:cNvPr>
          <p:cNvSpPr txBox="1">
            <a:spLocks noChangeArrowheads="1"/>
          </p:cNvSpPr>
          <p:nvPr/>
        </p:nvSpPr>
        <p:spPr bwMode="auto">
          <a:xfrm>
            <a:off x="185738" y="6595087"/>
            <a:ext cx="2730500" cy="246062"/>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006699"/>
                </a:solidFill>
                <a:latin typeface="Helvetica" pitchFamily="-84" charset="0"/>
              </a:rPr>
              <a:t>Operating System Concepts – 10</a:t>
            </a:r>
            <a:r>
              <a:rPr lang="en-US" altLang="en-US" sz="1000" b="1" baseline="30000" dirty="0">
                <a:solidFill>
                  <a:srgbClr val="006699"/>
                </a:solidFill>
                <a:latin typeface="Helvetica" pitchFamily="-84" charset="0"/>
              </a:rPr>
              <a:t>th</a:t>
            </a:r>
            <a:r>
              <a:rPr lang="en-US" altLang="en-US" sz="1000" b="1" dirty="0">
                <a:solidFill>
                  <a:srgbClr val="006699"/>
                </a:solidFill>
                <a:latin typeface="Helvetica" pitchFamily="-84" charset="0"/>
              </a:rPr>
              <a:t> Edition</a:t>
            </a:r>
          </a:p>
        </p:txBody>
      </p:sp>
      <p:pic>
        <p:nvPicPr>
          <p:cNvPr id="1036" name="Picture 12" descr="dino_6">
            <a:extLst>
              <a:ext uri="{FF2B5EF4-FFF2-40B4-BE49-F238E27FC236}">
                <a16:creationId xmlns:a16="http://schemas.microsoft.com/office/drawing/2014/main" id="{502C53CD-F3D0-4970-8364-2ED201BCF77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07" r:id="rId1"/>
    <p:sldLayoutId id="2147484097" r:id="rId2"/>
    <p:sldLayoutId id="2147484098" r:id="rId3"/>
    <p:sldLayoutId id="2147484099" r:id="rId4"/>
    <p:sldLayoutId id="2147484100" r:id="rId5"/>
    <p:sldLayoutId id="2147484101" r:id="rId6"/>
    <p:sldLayoutId id="2147484102" r:id="rId7"/>
    <p:sldLayoutId id="2147484103" r:id="rId8"/>
    <p:sldLayoutId id="2147484104" r:id="rId9"/>
    <p:sldLayoutId id="2147484105" r:id="rId10"/>
    <p:sldLayoutId id="2147484106"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3.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218F8D62-A6F5-4F18-9BB3-A18FA6B4E228}"/>
              </a:ext>
            </a:extLst>
          </p:cNvPr>
          <p:cNvSpPr>
            <a:spLocks noGrp="1" noChangeArrowheads="1"/>
          </p:cNvSpPr>
          <p:nvPr>
            <p:ph type="ctrTitle"/>
          </p:nvPr>
        </p:nvSpPr>
        <p:spPr>
          <a:xfrm>
            <a:off x="685800" y="782638"/>
            <a:ext cx="7772400" cy="2127250"/>
          </a:xfrm>
        </p:spPr>
        <p:txBody>
          <a:bodyPr/>
          <a:lstStyle/>
          <a:p>
            <a:pPr eaLnBrk="1" hangingPunct="1"/>
            <a:r>
              <a:rPr lang="en-US" altLang="en-US" dirty="0"/>
              <a:t>Chapter 5:  CPU Scheduling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94B4645F-2E7F-4FF4-B07A-CC49BE5E143C}"/>
              </a:ext>
            </a:extLst>
          </p:cNvPr>
          <p:cNvSpPr>
            <a:spLocks noGrp="1" noChangeArrowheads="1"/>
          </p:cNvSpPr>
          <p:nvPr>
            <p:ph type="title"/>
          </p:nvPr>
        </p:nvSpPr>
        <p:spPr>
          <a:xfrm>
            <a:off x="914400" y="222868"/>
            <a:ext cx="7772400" cy="576262"/>
          </a:xfrm>
        </p:spPr>
        <p:txBody>
          <a:bodyPr/>
          <a:lstStyle/>
          <a:p>
            <a:pPr eaLnBrk="1" hangingPunct="1"/>
            <a:r>
              <a:rPr lang="en-US" altLang="en-US" dirty="0"/>
              <a:t>Outline</a:t>
            </a:r>
          </a:p>
        </p:txBody>
      </p:sp>
      <p:sp>
        <p:nvSpPr>
          <p:cNvPr id="7170" name="Rectangle 3">
            <a:extLst>
              <a:ext uri="{FF2B5EF4-FFF2-40B4-BE49-F238E27FC236}">
                <a16:creationId xmlns:a16="http://schemas.microsoft.com/office/drawing/2014/main" id="{8762292C-9CCE-49EA-9062-F046A880FAC9}"/>
              </a:ext>
            </a:extLst>
          </p:cNvPr>
          <p:cNvSpPr>
            <a:spLocks noGrp="1" noChangeArrowheads="1"/>
          </p:cNvSpPr>
          <p:nvPr>
            <p:ph type="body" idx="1"/>
          </p:nvPr>
        </p:nvSpPr>
        <p:spPr>
          <a:xfrm>
            <a:off x="857250" y="1195388"/>
            <a:ext cx="7335838" cy="3773487"/>
          </a:xfrm>
        </p:spPr>
        <p:txBody>
          <a:bodyPr/>
          <a:lstStyle/>
          <a:p>
            <a:r>
              <a:rPr lang="en-US" altLang="en-US" sz="2000" dirty="0"/>
              <a:t>Basic Concepts</a:t>
            </a:r>
          </a:p>
          <a:p>
            <a:r>
              <a:rPr lang="en-US" altLang="en-US" sz="2000" dirty="0"/>
              <a:t>Scheduling Criteria </a:t>
            </a:r>
          </a:p>
          <a:p>
            <a:r>
              <a:rPr lang="en-US" altLang="en-US" sz="2000" dirty="0"/>
              <a:t>Scheduling Algorithms</a:t>
            </a:r>
          </a:p>
          <a:p>
            <a:r>
              <a:rPr lang="en-US" altLang="en-US" sz="2000" dirty="0"/>
              <a:t>Thread Scheduling</a:t>
            </a:r>
          </a:p>
          <a:p>
            <a:r>
              <a:rPr lang="en-US" altLang="en-US" sz="2000" dirty="0"/>
              <a:t>Multi-Processor Scheduling</a:t>
            </a:r>
          </a:p>
          <a:p>
            <a:r>
              <a:rPr lang="en-US" altLang="en-US" sz="2000" dirty="0"/>
              <a:t>Real-Time CPU Scheduling</a:t>
            </a:r>
          </a:p>
          <a:p>
            <a:r>
              <a:rPr lang="en-US" altLang="en-US" sz="2000" dirty="0"/>
              <a:t>Operating Systems Examples</a:t>
            </a:r>
          </a:p>
          <a:p>
            <a:r>
              <a:rPr lang="en-US" altLang="en-US" sz="2000" dirty="0"/>
              <a:t>Algorithm Evaluation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BA2D33B9-5D6A-48BD-BC85-C1B098FA91BE}"/>
              </a:ext>
            </a:extLst>
          </p:cNvPr>
          <p:cNvSpPr>
            <a:spLocks noGrp="1"/>
          </p:cNvSpPr>
          <p:nvPr>
            <p:ph type="title"/>
          </p:nvPr>
        </p:nvSpPr>
        <p:spPr>
          <a:xfrm>
            <a:off x="457200" y="222868"/>
            <a:ext cx="8229600" cy="576262"/>
          </a:xfrm>
        </p:spPr>
        <p:txBody>
          <a:bodyPr/>
          <a:lstStyle/>
          <a:p>
            <a:pPr eaLnBrk="1" hangingPunct="1"/>
            <a:r>
              <a:rPr lang="en-US" altLang="en-US" dirty="0"/>
              <a:t>Objectives</a:t>
            </a:r>
          </a:p>
        </p:txBody>
      </p:sp>
      <p:sp>
        <p:nvSpPr>
          <p:cNvPr id="9218" name="Content Placeholder 2">
            <a:extLst>
              <a:ext uri="{FF2B5EF4-FFF2-40B4-BE49-F238E27FC236}">
                <a16:creationId xmlns:a16="http://schemas.microsoft.com/office/drawing/2014/main" id="{3DAC903C-4247-4B47-AD8D-48C1A580FDF4}"/>
              </a:ext>
            </a:extLst>
          </p:cNvPr>
          <p:cNvSpPr>
            <a:spLocks noGrp="1"/>
          </p:cNvSpPr>
          <p:nvPr>
            <p:ph idx="1"/>
          </p:nvPr>
        </p:nvSpPr>
        <p:spPr>
          <a:xfrm>
            <a:off x="852840" y="1233489"/>
            <a:ext cx="7833960" cy="4400395"/>
          </a:xfrm>
        </p:spPr>
        <p:txBody>
          <a:bodyPr/>
          <a:lstStyle/>
          <a:p>
            <a:r>
              <a:rPr lang="en-US" altLang="en-US" sz="2000" dirty="0"/>
              <a:t>Describe various CPU scheduling algorithms</a:t>
            </a:r>
          </a:p>
          <a:p>
            <a:r>
              <a:rPr lang="en-US" altLang="en-US" sz="2000" dirty="0"/>
              <a:t>Assess CPU scheduling algorithms based on scheduling criteria</a:t>
            </a:r>
          </a:p>
          <a:p>
            <a:r>
              <a:rPr lang="en-US" altLang="en-US" sz="2000" dirty="0"/>
              <a:t>Explain the issues related to multiprocessor and multicore scheduling</a:t>
            </a:r>
          </a:p>
          <a:p>
            <a:r>
              <a:rPr lang="en-US" altLang="en-US" sz="2000" dirty="0"/>
              <a:t>Describe various real-time scheduling algorithms</a:t>
            </a:r>
          </a:p>
          <a:p>
            <a:r>
              <a:rPr lang="en-US" altLang="en-US" sz="2000" dirty="0"/>
              <a:t>Describe the scheduling algorithms used in the Windows, Linux, and Solaris operating systems</a:t>
            </a:r>
          </a:p>
          <a:p>
            <a:r>
              <a:rPr lang="en-US" altLang="en-US" sz="2000" dirty="0"/>
              <a:t>Apply modeling and simulations to evaluate CPU scheduling algorithms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AC8CABCD-F408-4385-AC6D-CB5E8038C31B}"/>
              </a:ext>
            </a:extLst>
          </p:cNvPr>
          <p:cNvSpPr>
            <a:spLocks noGrp="1" noChangeArrowheads="1"/>
          </p:cNvSpPr>
          <p:nvPr>
            <p:ph type="title"/>
          </p:nvPr>
        </p:nvSpPr>
        <p:spPr>
          <a:xfrm>
            <a:off x="457200" y="223450"/>
            <a:ext cx="8229600" cy="576262"/>
          </a:xfrm>
        </p:spPr>
        <p:txBody>
          <a:bodyPr/>
          <a:lstStyle/>
          <a:p>
            <a:pPr eaLnBrk="1" hangingPunct="1"/>
            <a:r>
              <a:rPr lang="en-US" altLang="en-US" dirty="0"/>
              <a:t>Basic Concepts</a:t>
            </a:r>
          </a:p>
        </p:txBody>
      </p:sp>
      <p:sp>
        <p:nvSpPr>
          <p:cNvPr id="11266" name="Rectangle 3">
            <a:extLst>
              <a:ext uri="{FF2B5EF4-FFF2-40B4-BE49-F238E27FC236}">
                <a16:creationId xmlns:a16="http://schemas.microsoft.com/office/drawing/2014/main" id="{B2D356C4-1B27-4D4C-8A80-D241E2CD7B36}"/>
              </a:ext>
            </a:extLst>
          </p:cNvPr>
          <p:cNvSpPr>
            <a:spLocks noGrp="1" noChangeArrowheads="1"/>
          </p:cNvSpPr>
          <p:nvPr>
            <p:ph type="body" idx="1"/>
          </p:nvPr>
        </p:nvSpPr>
        <p:spPr>
          <a:xfrm>
            <a:off x="457200" y="1579563"/>
            <a:ext cx="5308599" cy="2827337"/>
          </a:xfrm>
        </p:spPr>
        <p:txBody>
          <a:bodyPr/>
          <a:lstStyle/>
          <a:p>
            <a:r>
              <a:rPr lang="en-US" altLang="en-US" sz="2000" dirty="0"/>
              <a:t>Maximum CPU utilization obtained with multiprogramming</a:t>
            </a:r>
          </a:p>
          <a:p>
            <a:r>
              <a:rPr lang="en-US" altLang="en-US" sz="2000" dirty="0"/>
              <a:t>CPU–I/O Burst Cycle – Process execution consists of a </a:t>
            </a:r>
            <a:r>
              <a:rPr lang="en-US" altLang="en-US" sz="2000" b="1" dirty="0">
                <a:solidFill>
                  <a:srgbClr val="006699"/>
                </a:solidFill>
                <a:latin typeface="+mj-lt"/>
              </a:rPr>
              <a:t>cycle</a:t>
            </a:r>
            <a:r>
              <a:rPr lang="en-US" altLang="en-US" sz="2000" dirty="0"/>
              <a:t> of CPU execution and I/O wait</a:t>
            </a:r>
          </a:p>
          <a:p>
            <a:r>
              <a:rPr lang="en-US" altLang="en-US" sz="2000" b="1" dirty="0">
                <a:solidFill>
                  <a:srgbClr val="006699"/>
                </a:solidFill>
                <a:latin typeface="+mj-lt"/>
              </a:rPr>
              <a:t>CPU</a:t>
            </a:r>
            <a:r>
              <a:rPr lang="en-US" altLang="en-US" sz="2000" b="1" dirty="0">
                <a:solidFill>
                  <a:srgbClr val="3366FF"/>
                </a:solidFill>
              </a:rPr>
              <a:t> </a:t>
            </a:r>
            <a:r>
              <a:rPr lang="en-US" altLang="en-US" sz="2000" b="1" dirty="0">
                <a:solidFill>
                  <a:srgbClr val="006699"/>
                </a:solidFill>
                <a:latin typeface="+mj-lt"/>
              </a:rPr>
              <a:t>burst</a:t>
            </a:r>
            <a:r>
              <a:rPr lang="en-US" altLang="en-US" sz="2000" b="1" dirty="0">
                <a:solidFill>
                  <a:srgbClr val="3366FF"/>
                </a:solidFill>
              </a:rPr>
              <a:t> </a:t>
            </a:r>
            <a:r>
              <a:rPr lang="en-US" altLang="en-US" sz="2000" dirty="0"/>
              <a:t>followed by </a:t>
            </a:r>
            <a:r>
              <a:rPr lang="en-US" altLang="en-US" sz="2000" b="1" dirty="0">
                <a:solidFill>
                  <a:srgbClr val="006699"/>
                </a:solidFill>
                <a:latin typeface="+mj-lt"/>
              </a:rPr>
              <a:t>I/O burst</a:t>
            </a:r>
          </a:p>
          <a:p>
            <a:r>
              <a:rPr lang="en-US" altLang="en-US" sz="2000" dirty="0"/>
              <a:t>CPU burst distribution is of main concern</a:t>
            </a:r>
          </a:p>
          <a:p>
            <a:pPr>
              <a:buFont typeface="Monotype Sorts" pitchFamily="-84" charset="2"/>
              <a:buNone/>
            </a:pPr>
            <a:endParaRPr lang="en-US" altLang="en-US" sz="2000" dirty="0"/>
          </a:p>
        </p:txBody>
      </p:sp>
      <p:pic>
        <p:nvPicPr>
          <p:cNvPr id="11267" name="Picture 1">
            <a:extLst>
              <a:ext uri="{FF2B5EF4-FFF2-40B4-BE49-F238E27FC236}">
                <a16:creationId xmlns:a16="http://schemas.microsoft.com/office/drawing/2014/main" id="{42D4194B-20FB-49DE-95E2-D3F1F7D61B9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07088" y="1169988"/>
            <a:ext cx="2603500" cy="484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272FB29C-A265-4A5A-90F0-4EA35A17174F}"/>
              </a:ext>
            </a:extLst>
          </p:cNvPr>
          <p:cNvSpPr>
            <a:spLocks noGrp="1" noChangeArrowheads="1"/>
          </p:cNvSpPr>
          <p:nvPr>
            <p:ph type="title"/>
          </p:nvPr>
        </p:nvSpPr>
        <p:spPr>
          <a:xfrm>
            <a:off x="1066800" y="222868"/>
            <a:ext cx="7620000" cy="576262"/>
          </a:xfrm>
        </p:spPr>
        <p:txBody>
          <a:bodyPr/>
          <a:lstStyle/>
          <a:p>
            <a:pPr eaLnBrk="1" hangingPunct="1"/>
            <a:r>
              <a:rPr lang="en-US" altLang="en-US" dirty="0"/>
              <a:t>Histogram of CPU-burst Times</a:t>
            </a:r>
          </a:p>
        </p:txBody>
      </p:sp>
      <p:sp>
        <p:nvSpPr>
          <p:cNvPr id="13314" name="TextBox 2">
            <a:extLst>
              <a:ext uri="{FF2B5EF4-FFF2-40B4-BE49-F238E27FC236}">
                <a16:creationId xmlns:a16="http://schemas.microsoft.com/office/drawing/2014/main" id="{199A0D9E-EDB0-4B00-B274-814CD65DE927}"/>
              </a:ext>
            </a:extLst>
          </p:cNvPr>
          <p:cNvSpPr txBox="1">
            <a:spLocks noChangeArrowheads="1"/>
          </p:cNvSpPr>
          <p:nvPr/>
        </p:nvSpPr>
        <p:spPr bwMode="auto">
          <a:xfrm>
            <a:off x="1279525" y="1323975"/>
            <a:ext cx="4112023"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2000" dirty="0">
                <a:latin typeface="Verdana" panose="020B0604030504040204" pitchFamily="34" charset="0"/>
              </a:rPr>
              <a:t>Large number of short bursts</a:t>
            </a:r>
          </a:p>
          <a:p>
            <a:pPr>
              <a:spcBef>
                <a:spcPct val="0"/>
              </a:spcBef>
              <a:buClrTx/>
              <a:buSzTx/>
              <a:buFontTx/>
              <a:buNone/>
            </a:pPr>
            <a:endParaRPr kumimoji="0" lang="en-US" altLang="en-US" sz="2000" dirty="0">
              <a:latin typeface="Verdana" panose="020B0604030504040204" pitchFamily="34" charset="0"/>
            </a:endParaRPr>
          </a:p>
          <a:p>
            <a:pPr>
              <a:spcBef>
                <a:spcPct val="0"/>
              </a:spcBef>
              <a:buClrTx/>
              <a:buSzTx/>
              <a:buFontTx/>
              <a:buNone/>
            </a:pPr>
            <a:r>
              <a:rPr kumimoji="0" lang="en-US" altLang="en-US" sz="2000" dirty="0">
                <a:latin typeface="Verdana" panose="020B0604030504040204" pitchFamily="34" charset="0"/>
              </a:rPr>
              <a:t>Small number of longer bursts</a:t>
            </a:r>
          </a:p>
        </p:txBody>
      </p:sp>
      <p:pic>
        <p:nvPicPr>
          <p:cNvPr id="13315" name="Picture 1">
            <a:extLst>
              <a:ext uri="{FF2B5EF4-FFF2-40B4-BE49-F238E27FC236}">
                <a16:creationId xmlns:a16="http://schemas.microsoft.com/office/drawing/2014/main" id="{A278EA04-1701-4441-AB9A-E05347064E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17763" y="2479675"/>
            <a:ext cx="4922837" cy="294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838200" y="229606"/>
            <a:ext cx="7848600" cy="576262"/>
          </a:xfrm>
        </p:spPr>
        <p:txBody>
          <a:bodyPr/>
          <a:lstStyle/>
          <a:p>
            <a:pPr eaLnBrk="1" hangingPunct="1"/>
            <a:r>
              <a:rPr lang="en-US" altLang="en-US" dirty="0"/>
              <a:t>CPU Scheduler</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508000" y="941389"/>
            <a:ext cx="7227276" cy="5408611"/>
          </a:xfrm>
        </p:spPr>
        <p:txBody>
          <a:bodyPr/>
          <a:lstStyle/>
          <a:p>
            <a:pPr>
              <a:defRPr/>
            </a:pPr>
            <a:r>
              <a:rPr lang="en-US" sz="2000" dirty="0">
                <a:ea typeface="ＭＳ Ｐゴシック" charset="0"/>
                <a:cs typeface="ＭＳ Ｐゴシック" charset="0"/>
              </a:rPr>
              <a:t>The</a:t>
            </a:r>
            <a:r>
              <a:rPr lang="en-US" sz="2000" b="1" dirty="0">
                <a:solidFill>
                  <a:srgbClr val="3366FF"/>
                </a:solidFill>
                <a:ea typeface="ＭＳ Ｐゴシック" charset="0"/>
                <a:cs typeface="ＭＳ Ｐゴシック" charset="0"/>
              </a:rPr>
              <a:t> </a:t>
            </a:r>
            <a:r>
              <a:rPr lang="en-US" sz="2000" b="1" dirty="0">
                <a:solidFill>
                  <a:srgbClr val="006699"/>
                </a:solidFill>
                <a:latin typeface="+mj-lt"/>
              </a:rPr>
              <a:t>CPU scheduler </a:t>
            </a:r>
            <a:r>
              <a:rPr lang="en-US" sz="2000" dirty="0">
                <a:ea typeface="ＭＳ Ｐゴシック" charset="-128"/>
                <a:cs typeface="ＭＳ Ｐゴシック" charset="-128"/>
              </a:rPr>
              <a:t>selects from among the processes in ready queue, and allocates a CPU core to one of them</a:t>
            </a:r>
          </a:p>
          <a:p>
            <a:pPr marL="742835" lvl="1">
              <a:defRPr/>
            </a:pPr>
            <a:r>
              <a:rPr lang="en-US" sz="2000" dirty="0">
                <a:ea typeface="ＭＳ Ｐゴシック" charset="-128"/>
              </a:rPr>
              <a:t>Queue may be ordered in various ways</a:t>
            </a:r>
          </a:p>
          <a:p>
            <a:pPr>
              <a:defRPr/>
            </a:pPr>
            <a:r>
              <a:rPr lang="en-US" sz="2000" dirty="0">
                <a:ea typeface="ＭＳ Ｐゴシック" charset="-128"/>
                <a:cs typeface="ＭＳ Ｐゴシック" charset="-128"/>
              </a:rPr>
              <a:t>CPU scheduling decisions may take place when a process:</a:t>
            </a:r>
          </a:p>
          <a:p>
            <a:pPr marL="799900" lvl="1" indent="-342815">
              <a:buFont typeface="Monotype Sorts" pitchFamily="-84" charset="2"/>
              <a:buNone/>
              <a:defRPr/>
            </a:pPr>
            <a:r>
              <a:rPr lang="en-US" sz="2000" dirty="0">
                <a:solidFill>
                  <a:srgbClr val="CC6600"/>
                </a:solidFill>
                <a:ea typeface="ＭＳ Ｐゴシック" charset="-128"/>
              </a:rPr>
              <a:t>1.	</a:t>
            </a:r>
            <a:r>
              <a:rPr lang="en-US" sz="2000" dirty="0">
                <a:ea typeface="ＭＳ Ｐゴシック" charset="-128"/>
              </a:rPr>
              <a:t>Switches from running to waiting state</a:t>
            </a:r>
          </a:p>
          <a:p>
            <a:pPr marL="799900" lvl="1" indent="-342815">
              <a:buFont typeface="Monotype Sorts" pitchFamily="-84" charset="2"/>
              <a:buNone/>
              <a:defRPr/>
            </a:pPr>
            <a:r>
              <a:rPr lang="en-US" sz="2000" dirty="0">
                <a:solidFill>
                  <a:srgbClr val="CC6600"/>
                </a:solidFill>
                <a:ea typeface="ＭＳ Ｐゴシック" charset="-128"/>
              </a:rPr>
              <a:t>2.</a:t>
            </a:r>
            <a:r>
              <a:rPr lang="en-US" sz="2000" dirty="0">
                <a:ea typeface="ＭＳ Ｐゴシック" charset="-128"/>
              </a:rPr>
              <a:t>	Switches from running to ready state</a:t>
            </a:r>
          </a:p>
          <a:p>
            <a:pPr marL="799900" lvl="1" indent="-342815">
              <a:buFont typeface="Monotype Sorts" pitchFamily="-84" charset="2"/>
              <a:buNone/>
              <a:defRPr/>
            </a:pPr>
            <a:r>
              <a:rPr lang="en-US" sz="2000" dirty="0">
                <a:solidFill>
                  <a:srgbClr val="CC6600"/>
                </a:solidFill>
                <a:ea typeface="ＭＳ Ｐゴシック" charset="-128"/>
              </a:rPr>
              <a:t>3.</a:t>
            </a:r>
            <a:r>
              <a:rPr lang="en-US" sz="2000" dirty="0">
                <a:ea typeface="ＭＳ Ｐゴシック" charset="-128"/>
              </a:rPr>
              <a:t>	Switches from waiting to ready</a:t>
            </a:r>
          </a:p>
          <a:p>
            <a:pPr marL="799900" lvl="1" indent="-342815">
              <a:buFont typeface="Monotype Sorts" charset="2"/>
              <a:buAutoNum type="arabicPeriod" startAt="4"/>
              <a:defRPr/>
            </a:pPr>
            <a:r>
              <a:rPr lang="en-US" sz="2000" dirty="0">
                <a:ea typeface="ＭＳ Ｐゴシック" charset="-128"/>
              </a:rPr>
              <a:t>Terminates</a:t>
            </a:r>
          </a:p>
          <a:p>
            <a:pPr>
              <a:defRPr/>
            </a:pPr>
            <a:endParaRPr lang="en-US" sz="2000" dirty="0">
              <a:ea typeface="ＭＳ Ｐゴシック" charset="-128"/>
              <a:cs typeface="ＭＳ Ｐゴシック" charset="-128"/>
            </a:endParaRPr>
          </a:p>
          <a:p>
            <a:pPr>
              <a:defRPr/>
            </a:pPr>
            <a:endParaRPr lang="en-US" sz="2000" dirty="0">
              <a:ea typeface="ＭＳ Ｐゴシック" charset="-128"/>
              <a:cs typeface="ＭＳ Ｐゴシック" charset="-128"/>
            </a:endParaRPr>
          </a:p>
          <a:p>
            <a:pPr>
              <a:defRPr/>
            </a:pPr>
            <a:r>
              <a:rPr lang="en-US" sz="2000" dirty="0">
                <a:ea typeface="ＭＳ Ｐゴシック" charset="-128"/>
                <a:cs typeface="ＭＳ Ｐゴシック" charset="-128"/>
              </a:rPr>
              <a:t>For situations 1 and 4, there is no choice in terms of scheduling. A new process (if one exists in the ready queue) must be selected for execution. </a:t>
            </a:r>
          </a:p>
          <a:p>
            <a:pPr>
              <a:defRPr/>
            </a:pPr>
            <a:r>
              <a:rPr lang="en-US" sz="2000" dirty="0">
                <a:ea typeface="ＭＳ Ｐゴシック" charset="-128"/>
                <a:cs typeface="ＭＳ Ｐゴシック" charset="-128"/>
              </a:rPr>
              <a:t>For situations 2 and 3, however, there is  a choice.</a:t>
            </a:r>
            <a:endParaRPr lang="en-US" sz="2000" b="1" dirty="0">
              <a:solidFill>
                <a:srgbClr val="3366FF"/>
              </a:solidFill>
              <a:ea typeface="ＭＳ Ｐゴシック" charset="0"/>
              <a:cs typeface="ＭＳ Ｐゴシック" charset="0"/>
            </a:endParaRPr>
          </a:p>
        </p:txBody>
      </p:sp>
      <p:pic>
        <p:nvPicPr>
          <p:cNvPr id="2" name="Picture 1">
            <a:extLst>
              <a:ext uri="{FF2B5EF4-FFF2-40B4-BE49-F238E27FC236}">
                <a16:creationId xmlns:a16="http://schemas.microsoft.com/office/drawing/2014/main" id="{36AFA4A8-E13C-A58A-B876-9EB5AD004CB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15857" y="3429000"/>
            <a:ext cx="3701144" cy="1442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1236777" y="167086"/>
            <a:ext cx="7848600" cy="576262"/>
          </a:xfrm>
        </p:spPr>
        <p:txBody>
          <a:bodyPr/>
          <a:lstStyle/>
          <a:p>
            <a:pPr eaLnBrk="1" hangingPunct="1"/>
            <a:r>
              <a:rPr lang="en-US" altLang="en-US" sz="2800" dirty="0"/>
              <a:t>Preemptive and Nonpreemptive Scheduling</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931984" y="1193434"/>
            <a:ext cx="7538915" cy="4707181"/>
          </a:xfrm>
        </p:spPr>
        <p:txBody>
          <a:bodyPr/>
          <a:lstStyle/>
          <a:p>
            <a:pPr>
              <a:defRPr/>
            </a:pPr>
            <a:r>
              <a:rPr lang="en-US" sz="2000" dirty="0">
                <a:ea typeface="ＭＳ Ｐゴシック" charset="0"/>
              </a:rPr>
              <a:t>When scheduling takes place only under circumstances 1 and 4, the scheduling scheme is </a:t>
            </a:r>
            <a:r>
              <a:rPr lang="en-US" sz="2000" b="1" dirty="0">
                <a:solidFill>
                  <a:srgbClr val="006699"/>
                </a:solidFill>
                <a:latin typeface="+mj-lt"/>
              </a:rPr>
              <a:t>nonpreemptive</a:t>
            </a:r>
            <a:r>
              <a:rPr lang="en-US" sz="2000" dirty="0">
                <a:ea typeface="ＭＳ Ｐゴシック" charset="0"/>
              </a:rPr>
              <a:t>.</a:t>
            </a:r>
          </a:p>
          <a:p>
            <a:pPr>
              <a:defRPr/>
            </a:pPr>
            <a:r>
              <a:rPr lang="en-US" sz="2000" dirty="0">
                <a:ea typeface="ＭＳ Ｐゴシック" charset="0"/>
              </a:rPr>
              <a:t>Otherwise, it is </a:t>
            </a:r>
            <a:r>
              <a:rPr lang="en-US" sz="2000" b="1" dirty="0">
                <a:solidFill>
                  <a:srgbClr val="006699"/>
                </a:solidFill>
                <a:latin typeface="+mj-lt"/>
              </a:rPr>
              <a:t>preemptive</a:t>
            </a:r>
            <a:r>
              <a:rPr lang="en-US" sz="2000" dirty="0">
                <a:ea typeface="ＭＳ Ｐゴシック" charset="0"/>
              </a:rPr>
              <a:t>. </a:t>
            </a:r>
          </a:p>
          <a:p>
            <a:pPr>
              <a:defRPr/>
            </a:pPr>
            <a:r>
              <a:rPr lang="en-US" sz="2000" dirty="0">
                <a:ea typeface="ＭＳ Ｐゴシック" charset="0"/>
              </a:rPr>
              <a:t>Under Nonpreemptive scheduling, once the CPU has been allocated to a process, the process keeps the CPU until it releases it either by terminating or by switching to the waiting state. </a:t>
            </a:r>
          </a:p>
          <a:p>
            <a:pPr>
              <a:defRPr/>
            </a:pPr>
            <a:r>
              <a:rPr lang="en-US" sz="2000" dirty="0">
                <a:ea typeface="ＭＳ Ｐゴシック" charset="0"/>
              </a:rPr>
              <a:t>Virtually all modern operating systems including Windows, MacOS, Linux, and UNIX use preemptive scheduling algorithms.</a:t>
            </a:r>
            <a:endParaRPr lang="en-US" sz="2000" dirty="0">
              <a:ea typeface="ＭＳ Ｐゴシック" charset="-128"/>
            </a:endParaRPr>
          </a:p>
        </p:txBody>
      </p:sp>
    </p:spTree>
    <p:extLst>
      <p:ext uri="{BB962C8B-B14F-4D97-AF65-F5344CB8AC3E}">
        <p14:creationId xmlns:p14="http://schemas.microsoft.com/office/powerpoint/2010/main" val="3728729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1236777" y="167086"/>
            <a:ext cx="7848600" cy="576262"/>
          </a:xfrm>
        </p:spPr>
        <p:txBody>
          <a:bodyPr/>
          <a:lstStyle/>
          <a:p>
            <a:pPr eaLnBrk="1" hangingPunct="1"/>
            <a:r>
              <a:rPr lang="en-US" altLang="en-US" sz="2800" dirty="0"/>
              <a:t>Preemptive Scheduling and Race Conditions</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931984" y="1193435"/>
            <a:ext cx="7526215" cy="4621212"/>
          </a:xfrm>
        </p:spPr>
        <p:txBody>
          <a:bodyPr/>
          <a:lstStyle/>
          <a:p>
            <a:pPr>
              <a:defRPr/>
            </a:pPr>
            <a:r>
              <a:rPr lang="en-US" sz="2000" dirty="0">
                <a:ea typeface="ＭＳ Ｐゴシック" charset="0"/>
              </a:rPr>
              <a:t>Preemptive scheduling can result in race conditions when data are shared among several processes.</a:t>
            </a:r>
          </a:p>
          <a:p>
            <a:pPr>
              <a:defRPr/>
            </a:pPr>
            <a:r>
              <a:rPr lang="en-US" sz="2000" dirty="0">
                <a:ea typeface="ＭＳ Ｐゴシック" charset="0"/>
              </a:rPr>
              <a:t>Consider the case of two processes that share data. While one process is updating the data, it is preempted so that the second process can run. The second process then tries to read the data, which are in an inconsistent state. </a:t>
            </a:r>
          </a:p>
          <a:p>
            <a:pPr>
              <a:defRPr/>
            </a:pPr>
            <a:r>
              <a:rPr lang="en-US" sz="2000" dirty="0">
                <a:ea typeface="ＭＳ Ｐゴシック" charset="0"/>
              </a:rPr>
              <a:t>This issue will be explored in detail in Chapter 6.</a:t>
            </a:r>
            <a:endParaRPr lang="en-US" sz="2000" dirty="0">
              <a:ea typeface="ＭＳ Ｐゴシック" charset="-128"/>
            </a:endParaRPr>
          </a:p>
        </p:txBody>
      </p:sp>
    </p:spTree>
    <p:extLst>
      <p:ext uri="{BB962C8B-B14F-4D97-AF65-F5344CB8AC3E}">
        <p14:creationId xmlns:p14="http://schemas.microsoft.com/office/powerpoint/2010/main" val="3046456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C185CC1F-4F14-4AFD-8E13-6930EBB32CE9}"/>
              </a:ext>
            </a:extLst>
          </p:cNvPr>
          <p:cNvSpPr>
            <a:spLocks noGrp="1" noChangeArrowheads="1"/>
          </p:cNvSpPr>
          <p:nvPr>
            <p:ph type="title"/>
          </p:nvPr>
        </p:nvSpPr>
        <p:spPr>
          <a:xfrm>
            <a:off x="457200" y="217329"/>
            <a:ext cx="8229600" cy="576263"/>
          </a:xfrm>
        </p:spPr>
        <p:txBody>
          <a:bodyPr/>
          <a:lstStyle/>
          <a:p>
            <a:pPr eaLnBrk="1" hangingPunct="1"/>
            <a:r>
              <a:rPr lang="en-US" altLang="en-US" dirty="0"/>
              <a:t>Dispatcher</a:t>
            </a:r>
          </a:p>
        </p:txBody>
      </p:sp>
      <p:sp>
        <p:nvSpPr>
          <p:cNvPr id="17410" name="Rectangle 3">
            <a:extLst>
              <a:ext uri="{FF2B5EF4-FFF2-40B4-BE49-F238E27FC236}">
                <a16:creationId xmlns:a16="http://schemas.microsoft.com/office/drawing/2014/main" id="{E113DAE6-D3A7-45EF-87B5-890976FCB8D4}"/>
              </a:ext>
            </a:extLst>
          </p:cNvPr>
          <p:cNvSpPr>
            <a:spLocks noGrp="1" noChangeArrowheads="1"/>
          </p:cNvSpPr>
          <p:nvPr>
            <p:ph type="body" idx="1"/>
          </p:nvPr>
        </p:nvSpPr>
        <p:spPr>
          <a:xfrm>
            <a:off x="849082" y="1119235"/>
            <a:ext cx="4980217" cy="4515661"/>
          </a:xfrm>
        </p:spPr>
        <p:txBody>
          <a:bodyPr/>
          <a:lstStyle/>
          <a:p>
            <a:r>
              <a:rPr lang="en-US" altLang="en-US" sz="2000" dirty="0"/>
              <a:t>Dispatcher module gives control of the CPU to the process selected by the CPU scheduler; this involves:</a:t>
            </a:r>
          </a:p>
          <a:p>
            <a:pPr lvl="1"/>
            <a:r>
              <a:rPr lang="en-US" altLang="en-US" sz="2000" dirty="0"/>
              <a:t>Switching context</a:t>
            </a:r>
          </a:p>
          <a:p>
            <a:pPr lvl="1"/>
            <a:r>
              <a:rPr lang="en-US" altLang="en-US" sz="2000" dirty="0"/>
              <a:t>Switching to user mode</a:t>
            </a:r>
          </a:p>
          <a:p>
            <a:pPr lvl="1"/>
            <a:r>
              <a:rPr lang="en-US" altLang="en-US" sz="2000" dirty="0"/>
              <a:t>Jumping to the proper location in the user program to restart that program</a:t>
            </a:r>
          </a:p>
          <a:p>
            <a:r>
              <a:rPr lang="en-US" altLang="en-US" sz="2000" b="1" dirty="0">
                <a:solidFill>
                  <a:srgbClr val="006699"/>
                </a:solidFill>
                <a:latin typeface="+mj-lt"/>
              </a:rPr>
              <a:t>Dispatch latency </a:t>
            </a:r>
            <a:r>
              <a:rPr lang="en-US" altLang="en-US" sz="2000" dirty="0"/>
              <a:t>– time it takes for the dispatcher to stop one process and start another running</a:t>
            </a:r>
          </a:p>
        </p:txBody>
      </p:sp>
      <p:pic>
        <p:nvPicPr>
          <p:cNvPr id="17411" name="Picture 1">
            <a:extLst>
              <a:ext uri="{FF2B5EF4-FFF2-40B4-BE49-F238E27FC236}">
                <a16:creationId xmlns:a16="http://schemas.microsoft.com/office/drawing/2014/main" id="{4B24D036-ECCD-4EE8-9908-C3EEA54E5CE0}"/>
              </a:ext>
            </a:extLst>
          </p:cNvPr>
          <p:cNvPicPr>
            <a:picLocks noChangeAspect="1"/>
          </p:cNvPicPr>
          <p:nvPr/>
        </p:nvPicPr>
        <p:blipFill rotWithShape="1">
          <a:blip r:embed="rId3">
            <a:extLst>
              <a:ext uri="{28A0092B-C50C-407E-A947-70E740481C1C}">
                <a14:useLocalDpi xmlns:a14="http://schemas.microsoft.com/office/drawing/2010/main" val="0"/>
              </a:ext>
            </a:extLst>
          </a:blip>
          <a:srcRect r="38893"/>
          <a:stretch/>
        </p:blipFill>
        <p:spPr bwMode="auto">
          <a:xfrm>
            <a:off x="5556824" y="1109784"/>
            <a:ext cx="3315033" cy="364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684BC100-CBCD-4FBD-A30F-9EBDD59CA0FB}"/>
              </a:ext>
            </a:extLst>
          </p:cNvPr>
          <p:cNvSpPr>
            <a:spLocks noGrp="1" noChangeArrowheads="1"/>
          </p:cNvSpPr>
          <p:nvPr>
            <p:ph type="title"/>
          </p:nvPr>
        </p:nvSpPr>
        <p:spPr>
          <a:xfrm>
            <a:off x="990600" y="214313"/>
            <a:ext cx="7696200" cy="576262"/>
          </a:xfrm>
        </p:spPr>
        <p:txBody>
          <a:bodyPr/>
          <a:lstStyle/>
          <a:p>
            <a:pPr eaLnBrk="1" hangingPunct="1"/>
            <a:r>
              <a:rPr lang="en-US" altLang="en-US" dirty="0"/>
              <a:t>Scheduling Criteria</a:t>
            </a:r>
          </a:p>
        </p:txBody>
      </p:sp>
      <p:sp>
        <p:nvSpPr>
          <p:cNvPr id="19458" name="Rectangle 3">
            <a:extLst>
              <a:ext uri="{FF2B5EF4-FFF2-40B4-BE49-F238E27FC236}">
                <a16:creationId xmlns:a16="http://schemas.microsoft.com/office/drawing/2014/main" id="{4338C466-115B-47DE-A288-6C7152DF0770}"/>
              </a:ext>
            </a:extLst>
          </p:cNvPr>
          <p:cNvSpPr>
            <a:spLocks noGrp="1" noChangeArrowheads="1"/>
          </p:cNvSpPr>
          <p:nvPr>
            <p:ph type="body" idx="1"/>
          </p:nvPr>
        </p:nvSpPr>
        <p:spPr>
          <a:xfrm>
            <a:off x="849085" y="1246189"/>
            <a:ext cx="7696200" cy="3351211"/>
          </a:xfrm>
        </p:spPr>
        <p:txBody>
          <a:bodyPr/>
          <a:lstStyle/>
          <a:p>
            <a:r>
              <a:rPr lang="en-US" altLang="en-US" sz="2000" b="1" dirty="0"/>
              <a:t>CPU utilization </a:t>
            </a:r>
            <a:r>
              <a:rPr lang="en-US" altLang="en-US" sz="2000" dirty="0"/>
              <a:t>– keep the CPU as busy as possible</a:t>
            </a:r>
          </a:p>
          <a:p>
            <a:r>
              <a:rPr lang="en-US" altLang="en-US" sz="2000" b="1" dirty="0"/>
              <a:t>Throughput</a:t>
            </a:r>
            <a:r>
              <a:rPr lang="en-US" altLang="en-US" sz="2000" dirty="0"/>
              <a:t> – # of processes that complete their execution per time unit</a:t>
            </a:r>
          </a:p>
          <a:p>
            <a:r>
              <a:rPr lang="en-US" altLang="en-US" sz="2000" b="1" dirty="0"/>
              <a:t>Turnaround time </a:t>
            </a:r>
            <a:r>
              <a:rPr lang="en-US" altLang="en-US" sz="2000" dirty="0"/>
              <a:t>– amount of time to execute a particular process</a:t>
            </a:r>
          </a:p>
          <a:p>
            <a:r>
              <a:rPr lang="en-US" altLang="en-US" sz="2000" b="1" dirty="0"/>
              <a:t>Waiting time </a:t>
            </a:r>
            <a:r>
              <a:rPr lang="en-US" altLang="en-US" sz="2000" dirty="0"/>
              <a:t>– amount of time a process has been waiting in the ready queue</a:t>
            </a:r>
          </a:p>
          <a:p>
            <a:r>
              <a:rPr lang="en-US" altLang="en-US" sz="2000" b="1" dirty="0"/>
              <a:t>Response time </a:t>
            </a:r>
            <a:r>
              <a:rPr lang="en-US" altLang="en-US" sz="2000" dirty="0"/>
              <a:t>– amount of time it takes from when a request was submitted until the first response is produced.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A22DB2EC-3AE5-4A50-BF1F-F8FE7B96CE4B}"/>
              </a:ext>
            </a:extLst>
          </p:cNvPr>
          <p:cNvSpPr>
            <a:spLocks noGrp="1" noChangeArrowheads="1"/>
          </p:cNvSpPr>
          <p:nvPr>
            <p:ph type="title"/>
          </p:nvPr>
        </p:nvSpPr>
        <p:spPr>
          <a:xfrm>
            <a:off x="1423450" y="143942"/>
            <a:ext cx="7513637" cy="576262"/>
          </a:xfrm>
        </p:spPr>
        <p:txBody>
          <a:bodyPr/>
          <a:lstStyle/>
          <a:p>
            <a:pPr eaLnBrk="1" hangingPunct="1"/>
            <a:r>
              <a:rPr lang="en-US" altLang="en-US" sz="2800" dirty="0"/>
              <a:t>Scheduling Algorithm Optimization Criteria</a:t>
            </a:r>
          </a:p>
        </p:txBody>
      </p:sp>
      <p:sp>
        <p:nvSpPr>
          <p:cNvPr id="21506" name="Rectangle 3">
            <a:extLst>
              <a:ext uri="{FF2B5EF4-FFF2-40B4-BE49-F238E27FC236}">
                <a16:creationId xmlns:a16="http://schemas.microsoft.com/office/drawing/2014/main" id="{DA102F21-0BD1-4162-8066-37183DF9B945}"/>
              </a:ext>
            </a:extLst>
          </p:cNvPr>
          <p:cNvSpPr>
            <a:spLocks noGrp="1" noChangeArrowheads="1"/>
          </p:cNvSpPr>
          <p:nvPr>
            <p:ph type="body" idx="1"/>
          </p:nvPr>
        </p:nvSpPr>
        <p:spPr>
          <a:xfrm>
            <a:off x="852488" y="1113511"/>
            <a:ext cx="6115050" cy="4483100"/>
          </a:xfrm>
        </p:spPr>
        <p:txBody>
          <a:bodyPr/>
          <a:lstStyle/>
          <a:p>
            <a:r>
              <a:rPr lang="en-US" altLang="en-US" sz="2000" dirty="0"/>
              <a:t>Max CPU utilization</a:t>
            </a:r>
          </a:p>
          <a:p>
            <a:r>
              <a:rPr lang="en-US" altLang="en-US" sz="2000" dirty="0"/>
              <a:t>Max throughput</a:t>
            </a:r>
          </a:p>
          <a:p>
            <a:r>
              <a:rPr lang="en-US" altLang="en-US" sz="2000" dirty="0"/>
              <a:t>Min turnaround time </a:t>
            </a:r>
          </a:p>
          <a:p>
            <a:r>
              <a:rPr lang="en-US" altLang="en-US" sz="2000" dirty="0"/>
              <a:t>Min waiting time </a:t>
            </a:r>
          </a:p>
          <a:p>
            <a:r>
              <a:rPr lang="en-US" altLang="en-US" sz="2000" dirty="0"/>
              <a:t>Min response time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1107396" y="287515"/>
            <a:ext cx="7997825" cy="457200"/>
          </a:xfrm>
        </p:spPr>
        <p:txBody>
          <a:bodyPr/>
          <a:lstStyle/>
          <a:p>
            <a:pPr eaLnBrk="1" hangingPunct="1"/>
            <a:r>
              <a:rPr lang="en-US" altLang="en-US" sz="2800" dirty="0"/>
              <a:t>First- Come, First-Served (FCFS) Scheduling</a:t>
            </a:r>
          </a:p>
        </p:txBody>
      </p:sp>
      <p:sp>
        <p:nvSpPr>
          <p:cNvPr id="23554" name="Rectangle 3">
            <a:extLst>
              <a:ext uri="{FF2B5EF4-FFF2-40B4-BE49-F238E27FC236}">
                <a16:creationId xmlns:a16="http://schemas.microsoft.com/office/drawing/2014/main" id="{00593719-A5A4-4326-8529-37EC324927D6}"/>
              </a:ext>
            </a:extLst>
          </p:cNvPr>
          <p:cNvSpPr>
            <a:spLocks noGrp="1" noChangeArrowheads="1"/>
          </p:cNvSpPr>
          <p:nvPr>
            <p:ph type="body" idx="1"/>
          </p:nvPr>
        </p:nvSpPr>
        <p:spPr>
          <a:xfrm>
            <a:off x="833438" y="1250950"/>
            <a:ext cx="7566025" cy="4114800"/>
          </a:xfrm>
        </p:spPr>
        <p:txBody>
          <a:bodyPr/>
          <a:lstStyle/>
          <a:p>
            <a:pPr>
              <a:lnSpc>
                <a:spcPct val="90000"/>
              </a:lnSpc>
              <a:buFont typeface="Monotype Sorts" pitchFamily="-84" charset="2"/>
              <a:buNone/>
              <a:tabLst>
                <a:tab pos="3028950" algn="ctr"/>
                <a:tab pos="4633913" algn="ctr"/>
              </a:tabLst>
            </a:pPr>
            <a:r>
              <a:rPr lang="en-US" altLang="en-US" sz="1600" dirty="0"/>
              <a:t>		</a:t>
            </a:r>
            <a:r>
              <a:rPr lang="en-US" altLang="en-US" u="sng" dirty="0"/>
              <a:t>Process</a:t>
            </a:r>
            <a:r>
              <a:rPr lang="en-US" altLang="en-US" dirty="0"/>
              <a:t>	</a:t>
            </a:r>
            <a:r>
              <a:rPr lang="en-US" altLang="en-US" u="sng" dirty="0"/>
              <a:t>Burst Time	</a:t>
            </a:r>
          </a:p>
          <a:p>
            <a:pPr>
              <a:lnSpc>
                <a:spcPct val="90000"/>
              </a:lnSpc>
              <a:buFont typeface="Monotype Sorts" pitchFamily="-84" charset="2"/>
              <a:buNone/>
              <a:tabLst>
                <a:tab pos="3028950" algn="ctr"/>
                <a:tab pos="4633913" algn="ctr"/>
              </a:tabLst>
            </a:pPr>
            <a:r>
              <a:rPr lang="en-US" altLang="en-US" dirty="0"/>
              <a:t>		 </a:t>
            </a:r>
            <a:r>
              <a:rPr lang="en-US" altLang="en-US" i="1" dirty="0"/>
              <a:t>P</a:t>
            </a:r>
            <a:r>
              <a:rPr lang="en-US" altLang="en-US" i="1" baseline="-25000" dirty="0"/>
              <a:t>1</a:t>
            </a:r>
            <a:r>
              <a:rPr lang="en-US" altLang="en-US" dirty="0"/>
              <a:t>	24</a:t>
            </a:r>
          </a:p>
          <a:p>
            <a:pPr>
              <a:lnSpc>
                <a:spcPct val="90000"/>
              </a:lnSpc>
              <a:buFont typeface="Monotype Sorts" pitchFamily="-84" charset="2"/>
              <a:buNone/>
              <a:tabLst>
                <a:tab pos="3028950" algn="ctr"/>
                <a:tab pos="4633913" algn="ctr"/>
              </a:tabLst>
            </a:pPr>
            <a:r>
              <a:rPr lang="en-US" altLang="en-US" dirty="0"/>
              <a:t>		 </a:t>
            </a:r>
            <a:r>
              <a:rPr lang="en-US" altLang="en-US" i="1" dirty="0"/>
              <a:t>P</a:t>
            </a:r>
            <a:r>
              <a:rPr lang="en-US" altLang="en-US" i="1" baseline="-25000" dirty="0"/>
              <a:t>2</a:t>
            </a:r>
            <a:r>
              <a:rPr lang="en-US" altLang="en-US" dirty="0"/>
              <a:t> 	3</a:t>
            </a:r>
          </a:p>
          <a:p>
            <a:pPr>
              <a:lnSpc>
                <a:spcPct val="90000"/>
              </a:lnSpc>
              <a:buFont typeface="Monotype Sorts" pitchFamily="-84" charset="2"/>
              <a:buNone/>
              <a:tabLst>
                <a:tab pos="3028950" algn="ctr"/>
                <a:tab pos="4633913" algn="ctr"/>
              </a:tabLst>
            </a:pPr>
            <a:r>
              <a:rPr lang="en-US" altLang="en-US" dirty="0"/>
              <a:t>		 </a:t>
            </a:r>
            <a:r>
              <a:rPr lang="en-US" altLang="en-US" i="1" dirty="0"/>
              <a:t>P</a:t>
            </a:r>
            <a:r>
              <a:rPr lang="en-US" altLang="en-US" i="1" baseline="-25000" dirty="0"/>
              <a:t>3	 </a:t>
            </a:r>
            <a:r>
              <a:rPr lang="en-US" altLang="en-US" dirty="0"/>
              <a:t>3</a:t>
            </a:r>
            <a:r>
              <a:rPr lang="en-US" altLang="en-US" i="1" baseline="-25000" dirty="0"/>
              <a:t> </a:t>
            </a:r>
          </a:p>
          <a:p>
            <a:pPr>
              <a:lnSpc>
                <a:spcPct val="90000"/>
              </a:lnSpc>
              <a:tabLst>
                <a:tab pos="3028950" algn="ctr"/>
                <a:tab pos="4633913" algn="ctr"/>
              </a:tabLst>
            </a:pPr>
            <a:r>
              <a:rPr lang="en-US" altLang="en-US" dirty="0"/>
              <a:t>Suppose that the processes arrive in the order: </a:t>
            </a:r>
            <a:r>
              <a:rPr lang="en-US" altLang="en-US" i="1" dirty="0"/>
              <a:t>P</a:t>
            </a:r>
            <a:r>
              <a:rPr lang="en-US" altLang="en-US" i="1" baseline="-25000" dirty="0"/>
              <a:t>1</a:t>
            </a:r>
            <a:r>
              <a:rPr lang="en-US" altLang="en-US" dirty="0"/>
              <a:t> , </a:t>
            </a:r>
            <a:r>
              <a:rPr lang="en-US" altLang="en-US" i="1" dirty="0"/>
              <a:t>P</a:t>
            </a:r>
            <a:r>
              <a:rPr lang="en-US" altLang="en-US" i="1" baseline="-25000" dirty="0"/>
              <a:t>2</a:t>
            </a:r>
            <a:r>
              <a:rPr lang="en-US" altLang="en-US" dirty="0"/>
              <a:t> , </a:t>
            </a:r>
            <a:r>
              <a:rPr lang="en-US" altLang="en-US" i="1" dirty="0"/>
              <a:t>P</a:t>
            </a:r>
            <a:r>
              <a:rPr lang="en-US" altLang="en-US" i="1" baseline="-25000" dirty="0"/>
              <a:t>3  </a:t>
            </a:r>
            <a:br>
              <a:rPr lang="en-US" altLang="en-US" i="1" baseline="-25000" dirty="0"/>
            </a:br>
            <a:r>
              <a:rPr lang="en-US" altLang="en-US" dirty="0"/>
              <a:t>The Gantt Chart for the schedule is:</a:t>
            </a:r>
            <a:br>
              <a:rPr lang="en-US" altLang="en-US" dirty="0"/>
            </a:br>
            <a:br>
              <a:rPr lang="en-US" altLang="en-US" sz="1600" dirty="0"/>
            </a:br>
            <a:br>
              <a:rPr lang="en-US" altLang="en-US" sz="1600" dirty="0"/>
            </a:br>
            <a:br>
              <a:rPr lang="en-US" altLang="en-US" sz="1600" dirty="0"/>
            </a:br>
            <a:br>
              <a:rPr lang="en-US" altLang="en-US" sz="1600" dirty="0"/>
            </a:br>
            <a:endParaRPr lang="en-US" altLang="en-US" sz="1600" dirty="0"/>
          </a:p>
          <a:p>
            <a:pPr>
              <a:lnSpc>
                <a:spcPct val="90000"/>
              </a:lnSpc>
              <a:buFont typeface="Monotype Sorts" pitchFamily="-84" charset="2"/>
              <a:buNone/>
              <a:tabLst>
                <a:tab pos="3028950" algn="ctr"/>
                <a:tab pos="4633913" algn="ctr"/>
              </a:tabLst>
            </a:pPr>
            <a:endParaRPr lang="en-US" altLang="en-US" sz="1600" dirty="0"/>
          </a:p>
          <a:p>
            <a:pPr>
              <a:lnSpc>
                <a:spcPct val="90000"/>
              </a:lnSpc>
              <a:tabLst>
                <a:tab pos="3028950" algn="ctr"/>
                <a:tab pos="4633913" algn="ctr"/>
              </a:tabLst>
            </a:pPr>
            <a:r>
              <a:rPr lang="en-US" altLang="en-US" dirty="0"/>
              <a:t>Waiting time for </a:t>
            </a:r>
            <a:r>
              <a:rPr lang="en-US" altLang="en-US" i="1" dirty="0"/>
              <a:t>P</a:t>
            </a:r>
            <a:r>
              <a:rPr lang="en-US" altLang="en-US" i="1" baseline="-25000" dirty="0"/>
              <a:t>1</a:t>
            </a:r>
            <a:r>
              <a:rPr lang="en-US" altLang="en-US" dirty="0"/>
              <a:t>  = 0; </a:t>
            </a:r>
            <a:r>
              <a:rPr lang="en-US" altLang="en-US" i="1" dirty="0"/>
              <a:t>P</a:t>
            </a:r>
            <a:r>
              <a:rPr lang="en-US" altLang="en-US" i="1" baseline="-25000" dirty="0"/>
              <a:t>2</a:t>
            </a:r>
            <a:r>
              <a:rPr lang="en-US" altLang="en-US" dirty="0"/>
              <a:t>  = 24; </a:t>
            </a:r>
            <a:r>
              <a:rPr lang="en-US" altLang="en-US" i="1" dirty="0"/>
              <a:t>P</a:t>
            </a:r>
            <a:r>
              <a:rPr lang="en-US" altLang="en-US" i="1" baseline="-25000" dirty="0"/>
              <a:t>3 </a:t>
            </a:r>
            <a:r>
              <a:rPr lang="en-US" altLang="en-US" dirty="0"/>
              <a:t>= 27</a:t>
            </a:r>
          </a:p>
          <a:p>
            <a:pPr>
              <a:lnSpc>
                <a:spcPct val="90000"/>
              </a:lnSpc>
              <a:tabLst>
                <a:tab pos="3028950" algn="ctr"/>
                <a:tab pos="4633913" algn="ctr"/>
              </a:tabLst>
            </a:pPr>
            <a:r>
              <a:rPr lang="en-US" altLang="en-US" dirty="0"/>
              <a:t>Average waiting time:  (0 + 24 + 27)/3 = 17</a:t>
            </a:r>
          </a:p>
        </p:txBody>
      </p:sp>
      <p:pic>
        <p:nvPicPr>
          <p:cNvPr id="23555" name="Picture 1">
            <a:extLst>
              <a:ext uri="{FF2B5EF4-FFF2-40B4-BE49-F238E27FC236}">
                <a16:creationId xmlns:a16="http://schemas.microsoft.com/office/drawing/2014/main" id="{6693C49E-F1BF-40FA-ACEB-79D52B112DB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71575" y="3479800"/>
            <a:ext cx="6954838"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624DA10D-55B3-4B35-A002-F73DC17E003A}"/>
              </a:ext>
            </a:extLst>
          </p:cNvPr>
          <p:cNvSpPr>
            <a:spLocks noGrp="1" noChangeArrowheads="1"/>
          </p:cNvSpPr>
          <p:nvPr>
            <p:ph type="title"/>
          </p:nvPr>
        </p:nvSpPr>
        <p:spPr>
          <a:xfrm>
            <a:off x="982663" y="231158"/>
            <a:ext cx="7704137" cy="576262"/>
          </a:xfrm>
        </p:spPr>
        <p:txBody>
          <a:bodyPr/>
          <a:lstStyle/>
          <a:p>
            <a:pPr eaLnBrk="1" hangingPunct="1"/>
            <a:r>
              <a:rPr lang="en-US" altLang="en-US" dirty="0"/>
              <a:t>FCFS Scheduling (Cont.)</a:t>
            </a:r>
          </a:p>
        </p:txBody>
      </p:sp>
      <p:sp>
        <p:nvSpPr>
          <p:cNvPr id="13315" name="Rectangle 3">
            <a:extLst>
              <a:ext uri="{FF2B5EF4-FFF2-40B4-BE49-F238E27FC236}">
                <a16:creationId xmlns:a16="http://schemas.microsoft.com/office/drawing/2014/main" id="{332EE341-968F-42D6-9F71-9462061509EC}"/>
              </a:ext>
            </a:extLst>
          </p:cNvPr>
          <p:cNvSpPr>
            <a:spLocks noGrp="1" noChangeArrowheads="1"/>
          </p:cNvSpPr>
          <p:nvPr>
            <p:ph type="body" idx="1"/>
          </p:nvPr>
        </p:nvSpPr>
        <p:spPr>
          <a:xfrm>
            <a:off x="855663" y="1233488"/>
            <a:ext cx="7704137" cy="4900612"/>
          </a:xfrm>
        </p:spPr>
        <p:txBody>
          <a:bodyPr/>
          <a:lstStyle/>
          <a:p>
            <a:pPr>
              <a:buFont typeface="Monotype Sorts" pitchFamily="-84" charset="2"/>
              <a:buNone/>
              <a:tabLst>
                <a:tab pos="3649345" algn="ctr"/>
              </a:tabLst>
              <a:defRPr/>
            </a:pPr>
            <a:r>
              <a:rPr lang="en-US" altLang="en-US" sz="2000" dirty="0">
                <a:cs typeface="ＭＳ Ｐゴシック" charset="-128"/>
              </a:rPr>
              <a:t>Suppose that the processes arrive in the order:</a:t>
            </a:r>
          </a:p>
          <a:p>
            <a:pPr>
              <a:buFont typeface="Monotype Sorts" pitchFamily="-84" charset="2"/>
              <a:buNone/>
              <a:tabLst>
                <a:tab pos="3649345" algn="ctr"/>
              </a:tabLst>
              <a:defRPr/>
            </a:pPr>
            <a:r>
              <a:rPr lang="en-US" altLang="en-US" sz="2000" dirty="0">
                <a:cs typeface="ＭＳ Ｐゴシック" charset="-128"/>
              </a:rPr>
              <a:t>		 </a:t>
            </a:r>
            <a:r>
              <a:rPr lang="en-US" altLang="en-US" sz="2000" i="1" dirty="0">
                <a:cs typeface="ＭＳ Ｐゴシック" charset="-128"/>
              </a:rPr>
              <a:t>P</a:t>
            </a:r>
            <a:r>
              <a:rPr lang="en-US" altLang="en-US" sz="2000" i="1" baseline="-25000" dirty="0">
                <a:cs typeface="ＭＳ Ｐゴシック" charset="-128"/>
              </a:rPr>
              <a:t>2</a:t>
            </a:r>
            <a:r>
              <a:rPr lang="en-US" altLang="en-US" sz="2000" dirty="0">
                <a:cs typeface="ＭＳ Ｐゴシック" charset="-128"/>
              </a:rPr>
              <a:t> , </a:t>
            </a:r>
            <a:r>
              <a:rPr lang="en-US" altLang="en-US" sz="2000" i="1" dirty="0">
                <a:cs typeface="ＭＳ Ｐゴシック" charset="-128"/>
              </a:rPr>
              <a:t>P</a:t>
            </a:r>
            <a:r>
              <a:rPr lang="en-US" altLang="en-US" sz="2000" i="1" baseline="-25000" dirty="0">
                <a:cs typeface="ＭＳ Ｐゴシック" charset="-128"/>
              </a:rPr>
              <a:t>3</a:t>
            </a:r>
            <a:r>
              <a:rPr lang="en-US" altLang="en-US" sz="2000" dirty="0">
                <a:cs typeface="ＭＳ Ｐゴシック" charset="-128"/>
              </a:rPr>
              <a:t> , </a:t>
            </a:r>
            <a:r>
              <a:rPr lang="en-US" altLang="en-US" sz="2000" i="1" dirty="0">
                <a:cs typeface="ＭＳ Ｐゴシック" charset="-128"/>
              </a:rPr>
              <a:t>P</a:t>
            </a:r>
            <a:r>
              <a:rPr lang="en-US" altLang="en-US" sz="2000" i="1" baseline="-25000" dirty="0">
                <a:cs typeface="ＭＳ Ｐゴシック" charset="-128"/>
              </a:rPr>
              <a:t>1</a:t>
            </a:r>
            <a:r>
              <a:rPr lang="en-US" altLang="en-US" sz="2000" dirty="0">
                <a:cs typeface="ＭＳ Ｐゴシック" charset="-128"/>
              </a:rPr>
              <a:t> </a:t>
            </a:r>
          </a:p>
          <a:p>
            <a:pPr>
              <a:tabLst>
                <a:tab pos="3649345" algn="ctr"/>
              </a:tabLst>
              <a:defRPr/>
            </a:pPr>
            <a:r>
              <a:rPr lang="en-US" altLang="en-US" sz="2000" dirty="0">
                <a:cs typeface="ＭＳ Ｐゴシック" charset="-128"/>
              </a:rPr>
              <a:t>The Gantt chart for the schedule is:</a:t>
            </a:r>
            <a:br>
              <a:rPr lang="en-US" altLang="en-US" sz="2000" dirty="0">
                <a:cs typeface="ＭＳ Ｐゴシック" charset="-128"/>
              </a:rPr>
            </a:br>
            <a:endParaRPr lang="en-US" altLang="en-US" sz="2000" dirty="0">
              <a:cs typeface="ＭＳ Ｐゴシック" charset="-128"/>
            </a:endParaRPr>
          </a:p>
          <a:p>
            <a:pPr>
              <a:tabLst>
                <a:tab pos="3649345" algn="ctr"/>
              </a:tabLst>
              <a:defRPr/>
            </a:pPr>
            <a:endParaRPr lang="en-US" altLang="en-US" sz="2000" dirty="0">
              <a:cs typeface="ＭＳ Ｐゴシック" charset="-128"/>
            </a:endParaRPr>
          </a:p>
          <a:p>
            <a:pPr marL="0" indent="0">
              <a:buFont typeface="Monotype Sorts" pitchFamily="-84" charset="2"/>
              <a:buNone/>
              <a:tabLst>
                <a:tab pos="3649345" algn="ctr"/>
              </a:tabLst>
              <a:defRPr/>
            </a:pPr>
            <a:endParaRPr lang="en-US" altLang="en-US" sz="2000" dirty="0">
              <a:cs typeface="ＭＳ Ｐゴシック" charset="-128"/>
            </a:endParaRPr>
          </a:p>
          <a:p>
            <a:pPr>
              <a:tabLst>
                <a:tab pos="3649345" algn="ctr"/>
              </a:tabLst>
              <a:defRPr/>
            </a:pPr>
            <a:r>
              <a:rPr lang="en-US" altLang="en-US" sz="2000" dirty="0">
                <a:cs typeface="ＭＳ Ｐゴシック" charset="-128"/>
              </a:rPr>
              <a:t>Waiting time for </a:t>
            </a:r>
            <a:r>
              <a:rPr lang="en-US" altLang="en-US" sz="2000" i="1" dirty="0">
                <a:cs typeface="ＭＳ Ｐゴシック" charset="-128"/>
              </a:rPr>
              <a:t>P</a:t>
            </a:r>
            <a:r>
              <a:rPr lang="en-US" altLang="en-US" sz="2000" i="1" baseline="-25000" dirty="0">
                <a:cs typeface="ＭＳ Ｐゴシック" charset="-128"/>
              </a:rPr>
              <a:t>1 </a:t>
            </a:r>
            <a:r>
              <a:rPr lang="en-US" altLang="en-US" sz="2000" i="1" dirty="0">
                <a:cs typeface="ＭＳ Ｐゴシック" charset="-128"/>
              </a:rPr>
              <a:t>=</a:t>
            </a:r>
            <a:r>
              <a:rPr lang="en-US" altLang="en-US" sz="2000" dirty="0">
                <a:cs typeface="ＭＳ Ｐゴシック" charset="-128"/>
              </a:rPr>
              <a:t> 6</a:t>
            </a:r>
            <a:r>
              <a:rPr lang="en-US" altLang="en-US" sz="2000" i="1" dirty="0">
                <a:cs typeface="ＭＳ Ｐゴシック" charset="-128"/>
              </a:rPr>
              <a:t>;</a:t>
            </a:r>
            <a:r>
              <a:rPr lang="en-US" altLang="en-US" sz="2000" i="1" baseline="-25000" dirty="0">
                <a:cs typeface="ＭＳ Ｐゴシック" charset="-128"/>
              </a:rPr>
              <a:t> </a:t>
            </a:r>
            <a:r>
              <a:rPr lang="en-US" altLang="en-US" sz="2000" i="1" dirty="0">
                <a:cs typeface="ＭＳ Ｐゴシック" charset="-128"/>
              </a:rPr>
              <a:t>P</a:t>
            </a:r>
            <a:r>
              <a:rPr lang="en-US" altLang="en-US" sz="2000" i="1" baseline="-25000" dirty="0">
                <a:cs typeface="ＭＳ Ｐゴシック" charset="-128"/>
              </a:rPr>
              <a:t>2</a:t>
            </a:r>
            <a:r>
              <a:rPr lang="en-US" altLang="en-US" sz="2000" dirty="0">
                <a:cs typeface="ＭＳ Ｐゴシック" charset="-128"/>
              </a:rPr>
              <a:t> = 0</a:t>
            </a:r>
            <a:r>
              <a:rPr lang="en-US" altLang="en-US" sz="2000" i="1" baseline="-25000" dirty="0">
                <a:cs typeface="ＭＳ Ｐゴシック" charset="-128"/>
              </a:rPr>
              <a:t>; </a:t>
            </a:r>
            <a:r>
              <a:rPr lang="en-US" altLang="en-US" sz="2000" i="1" dirty="0">
                <a:cs typeface="ＭＳ Ｐゴシック" charset="-128"/>
              </a:rPr>
              <a:t>P</a:t>
            </a:r>
            <a:r>
              <a:rPr lang="en-US" altLang="en-US" sz="2000" i="1" baseline="-25000" dirty="0">
                <a:cs typeface="ＭＳ Ｐゴシック" charset="-128"/>
              </a:rPr>
              <a:t>3 </a:t>
            </a:r>
            <a:r>
              <a:rPr lang="en-US" altLang="en-US" sz="2000" i="1" dirty="0">
                <a:cs typeface="ＭＳ Ｐゴシック" charset="-128"/>
              </a:rPr>
              <a:t>= </a:t>
            </a:r>
            <a:r>
              <a:rPr lang="en-US" altLang="en-US" sz="2000" dirty="0">
                <a:cs typeface="ＭＳ Ｐゴシック" charset="-128"/>
              </a:rPr>
              <a:t>3</a:t>
            </a:r>
            <a:endParaRPr lang="en-US" altLang="en-US" sz="2000" i="1" dirty="0">
              <a:cs typeface="ＭＳ Ｐゴシック" charset="-128"/>
            </a:endParaRPr>
          </a:p>
          <a:p>
            <a:pPr>
              <a:tabLst>
                <a:tab pos="3649345" algn="ctr"/>
              </a:tabLst>
              <a:defRPr/>
            </a:pPr>
            <a:r>
              <a:rPr lang="en-US" altLang="en-US" sz="2000" dirty="0">
                <a:cs typeface="ＭＳ Ｐゴシック" charset="-128"/>
              </a:rPr>
              <a:t>Average waiting time:   (6 + 0 + 3)/3 = 3</a:t>
            </a:r>
          </a:p>
          <a:p>
            <a:pPr>
              <a:tabLst>
                <a:tab pos="3649345" algn="ctr"/>
              </a:tabLst>
              <a:defRPr/>
            </a:pPr>
            <a:r>
              <a:rPr lang="en-US" altLang="en-US" sz="2000" dirty="0">
                <a:cs typeface="ＭＳ Ｐゴシック" charset="-128"/>
              </a:rPr>
              <a:t>Much better than previous case</a:t>
            </a:r>
          </a:p>
          <a:p>
            <a:pPr>
              <a:tabLst>
                <a:tab pos="3649345" algn="ctr"/>
              </a:tabLst>
              <a:defRPr/>
            </a:pPr>
            <a:r>
              <a:rPr lang="en-US" altLang="en-US" sz="2000" b="1" dirty="0">
                <a:solidFill>
                  <a:srgbClr val="006699"/>
                </a:solidFill>
                <a:latin typeface="+mj-lt"/>
              </a:rPr>
              <a:t>Convoy</a:t>
            </a:r>
            <a:r>
              <a:rPr lang="en-US" altLang="en-US" sz="2000" b="1" dirty="0">
                <a:solidFill>
                  <a:srgbClr val="3366FF"/>
                </a:solidFill>
                <a:cs typeface="ＭＳ Ｐゴシック" charset="-128"/>
              </a:rPr>
              <a:t> </a:t>
            </a:r>
            <a:r>
              <a:rPr lang="en-US" altLang="en-US" sz="2000" b="1" dirty="0">
                <a:solidFill>
                  <a:srgbClr val="006699"/>
                </a:solidFill>
                <a:latin typeface="+mj-lt"/>
              </a:rPr>
              <a:t>effect</a:t>
            </a:r>
            <a:r>
              <a:rPr lang="en-US" altLang="en-US" sz="2000" b="1" dirty="0">
                <a:solidFill>
                  <a:srgbClr val="3366FF"/>
                </a:solidFill>
                <a:cs typeface="ＭＳ Ｐゴシック" charset="-128"/>
              </a:rPr>
              <a:t> </a:t>
            </a:r>
            <a:r>
              <a:rPr lang="en-US" altLang="en-US" sz="2000" dirty="0">
                <a:cs typeface="ＭＳ Ｐゴシック" charset="-128"/>
              </a:rPr>
              <a:t>- short process behind long process</a:t>
            </a:r>
          </a:p>
          <a:p>
            <a:pPr lvl="1">
              <a:tabLst>
                <a:tab pos="3649345" algn="ctr"/>
              </a:tabLst>
              <a:defRPr/>
            </a:pPr>
            <a:r>
              <a:rPr lang="en-US" altLang="en-US" sz="2000" dirty="0"/>
              <a:t>Consider one CPU-bound and many I/O-bound processes</a:t>
            </a:r>
          </a:p>
        </p:txBody>
      </p:sp>
      <p:pic>
        <p:nvPicPr>
          <p:cNvPr id="25603" name="Picture 1">
            <a:extLst>
              <a:ext uri="{FF2B5EF4-FFF2-40B4-BE49-F238E27FC236}">
                <a16:creationId xmlns:a16="http://schemas.microsoft.com/office/drawing/2014/main" id="{AA51E2F7-6758-4662-8420-58D4F08902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70000" y="2632075"/>
            <a:ext cx="7123113"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75370DA6-23EE-4245-8D59-2BE3CA11205A}"/>
              </a:ext>
            </a:extLst>
          </p:cNvPr>
          <p:cNvSpPr>
            <a:spLocks noGrp="1" noChangeArrowheads="1"/>
          </p:cNvSpPr>
          <p:nvPr>
            <p:ph type="title"/>
          </p:nvPr>
        </p:nvSpPr>
        <p:spPr>
          <a:xfrm>
            <a:off x="1108909" y="129252"/>
            <a:ext cx="7704137" cy="576262"/>
          </a:xfrm>
        </p:spPr>
        <p:txBody>
          <a:bodyPr/>
          <a:lstStyle/>
          <a:p>
            <a:pPr eaLnBrk="1" hangingPunct="1"/>
            <a:r>
              <a:rPr lang="en-US" altLang="en-US" dirty="0"/>
              <a:t>Shortest-Job-First (SJF) Scheduling</a:t>
            </a:r>
          </a:p>
        </p:txBody>
      </p:sp>
      <p:sp>
        <p:nvSpPr>
          <p:cNvPr id="27650" name="Rectangle 3">
            <a:extLst>
              <a:ext uri="{FF2B5EF4-FFF2-40B4-BE49-F238E27FC236}">
                <a16:creationId xmlns:a16="http://schemas.microsoft.com/office/drawing/2014/main" id="{823814F7-CEBB-4A55-80A1-4EA7BB1EEA9B}"/>
              </a:ext>
            </a:extLst>
          </p:cNvPr>
          <p:cNvSpPr>
            <a:spLocks noGrp="1" noChangeArrowheads="1"/>
          </p:cNvSpPr>
          <p:nvPr>
            <p:ph type="body" idx="1"/>
          </p:nvPr>
        </p:nvSpPr>
        <p:spPr>
          <a:xfrm>
            <a:off x="508000" y="1233489"/>
            <a:ext cx="8305045" cy="3363912"/>
          </a:xfrm>
        </p:spPr>
        <p:txBody>
          <a:bodyPr/>
          <a:lstStyle/>
          <a:p>
            <a:r>
              <a:rPr lang="en-US" altLang="en-US" sz="2000" dirty="0"/>
              <a:t>Associate with each process the length of its next CPU burst</a:t>
            </a:r>
          </a:p>
          <a:p>
            <a:pPr lvl="1"/>
            <a:r>
              <a:rPr lang="en-US" altLang="en-US" sz="2000" dirty="0"/>
              <a:t>Use these lengths to schedule the process with the shortest time</a:t>
            </a:r>
          </a:p>
          <a:p>
            <a:r>
              <a:rPr lang="en-US" altLang="en-US" sz="2000" dirty="0"/>
              <a:t>SJF is optimal – gives minimum average waiting time for a given set of processes</a:t>
            </a:r>
          </a:p>
          <a:p>
            <a:r>
              <a:rPr lang="en-US" altLang="en-US" sz="2000" dirty="0">
                <a:cs typeface="ＭＳ Ｐゴシック" charset="-128"/>
              </a:rPr>
              <a:t>Preemptive version called </a:t>
            </a:r>
            <a:r>
              <a:rPr lang="en-US" altLang="en-US" sz="2000" b="1" dirty="0">
                <a:solidFill>
                  <a:srgbClr val="006699"/>
                </a:solidFill>
                <a:latin typeface="+mj-lt"/>
              </a:rPr>
              <a:t>shortest-remaining-time-first</a:t>
            </a:r>
          </a:p>
          <a:p>
            <a:r>
              <a:rPr lang="en-US" altLang="en-US" sz="2000" dirty="0"/>
              <a:t>How do we determine the length of the next CPU burst?</a:t>
            </a:r>
          </a:p>
          <a:p>
            <a:pPr lvl="1"/>
            <a:r>
              <a:rPr lang="en-US" altLang="en-US" sz="2000" dirty="0"/>
              <a:t>Could ask the user</a:t>
            </a:r>
          </a:p>
          <a:p>
            <a:pPr lvl="1"/>
            <a:r>
              <a:rPr lang="en-US" altLang="en-US" sz="2000" dirty="0"/>
              <a:t>Estimate</a:t>
            </a:r>
          </a:p>
          <a:p>
            <a:pPr lvl="1"/>
            <a:endParaRPr lang="en-US" altLang="en-US" sz="2000" dirty="0"/>
          </a:p>
        </p:txBody>
      </p:sp>
    </p:spTree>
    <p:extLst>
      <p:ext uri="{BB962C8B-B14F-4D97-AF65-F5344CB8AC3E}">
        <p14:creationId xmlns:p14="http://schemas.microsoft.com/office/powerpoint/2010/main" val="413677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1107396" y="287515"/>
            <a:ext cx="7997825" cy="457200"/>
          </a:xfrm>
        </p:spPr>
        <p:txBody>
          <a:bodyPr/>
          <a:lstStyle/>
          <a:p>
            <a:pPr eaLnBrk="1" hangingPunct="1"/>
            <a:r>
              <a:rPr lang="en-US" altLang="en-US" dirty="0"/>
              <a:t>Example of SJF</a:t>
            </a:r>
          </a:p>
        </p:txBody>
      </p:sp>
      <p:sp>
        <p:nvSpPr>
          <p:cNvPr id="23554" name="Rectangle 3">
            <a:extLst>
              <a:ext uri="{FF2B5EF4-FFF2-40B4-BE49-F238E27FC236}">
                <a16:creationId xmlns:a16="http://schemas.microsoft.com/office/drawing/2014/main" id="{00593719-A5A4-4326-8529-37EC324927D6}"/>
              </a:ext>
            </a:extLst>
          </p:cNvPr>
          <p:cNvSpPr>
            <a:spLocks noGrp="1" noChangeArrowheads="1"/>
          </p:cNvSpPr>
          <p:nvPr>
            <p:ph type="body" idx="1"/>
          </p:nvPr>
        </p:nvSpPr>
        <p:spPr>
          <a:xfrm>
            <a:off x="833438" y="1085849"/>
            <a:ext cx="7788048" cy="4594679"/>
          </a:xfrm>
        </p:spPr>
        <p:txBody>
          <a:bodyPr/>
          <a:lstStyle/>
          <a:p>
            <a:pPr>
              <a:lnSpc>
                <a:spcPct val="90000"/>
              </a:lnSpc>
              <a:buFont typeface="Monotype Sorts" pitchFamily="-84" charset="2"/>
              <a:buNone/>
              <a:tabLst>
                <a:tab pos="3028950" algn="ctr"/>
                <a:tab pos="4633913" algn="ctr"/>
              </a:tabLst>
            </a:pPr>
            <a:r>
              <a:rPr lang="en-US" altLang="en-US" sz="2000" dirty="0"/>
              <a:t>		</a:t>
            </a:r>
            <a:r>
              <a:rPr lang="en-US" altLang="en-US" sz="2000" u="sng" dirty="0"/>
              <a:t>Process</a:t>
            </a:r>
            <a:r>
              <a:rPr lang="en-US" altLang="en-US" sz="2000" dirty="0"/>
              <a:t>	</a:t>
            </a:r>
            <a:r>
              <a:rPr lang="en-US" altLang="en-US" sz="2000" u="sng" dirty="0"/>
              <a:t>Burst Time	</a:t>
            </a:r>
          </a:p>
          <a:p>
            <a:pPr>
              <a:lnSpc>
                <a:spcPct val="90000"/>
              </a:lnSpc>
              <a:buFont typeface="Monotype Sorts" pitchFamily="-84" charset="2"/>
              <a:buNone/>
              <a:tabLst>
                <a:tab pos="3028950" algn="ctr"/>
                <a:tab pos="4633913" algn="ctr"/>
              </a:tabLst>
            </a:pPr>
            <a:r>
              <a:rPr lang="en-US" altLang="en-US" sz="2000" dirty="0"/>
              <a:t>		 </a:t>
            </a:r>
            <a:r>
              <a:rPr lang="en-US" altLang="en-US" sz="2000" i="1" dirty="0"/>
              <a:t>P</a:t>
            </a:r>
            <a:r>
              <a:rPr lang="en-US" altLang="en-US" sz="2000" i="1" baseline="-25000" dirty="0"/>
              <a:t>1</a:t>
            </a:r>
            <a:r>
              <a:rPr lang="en-US" altLang="en-US" sz="2000" dirty="0"/>
              <a:t>	6</a:t>
            </a:r>
          </a:p>
          <a:p>
            <a:pPr>
              <a:lnSpc>
                <a:spcPct val="90000"/>
              </a:lnSpc>
              <a:buFont typeface="Monotype Sorts" pitchFamily="-84" charset="2"/>
              <a:buNone/>
              <a:tabLst>
                <a:tab pos="3028950" algn="ctr"/>
                <a:tab pos="4633913" algn="ctr"/>
              </a:tabLst>
            </a:pPr>
            <a:r>
              <a:rPr lang="en-US" altLang="en-US" sz="2000" dirty="0"/>
              <a:t>		 </a:t>
            </a:r>
            <a:r>
              <a:rPr lang="en-US" altLang="en-US" sz="2000" i="1" dirty="0"/>
              <a:t>P</a:t>
            </a:r>
            <a:r>
              <a:rPr lang="en-US" altLang="en-US" sz="2000" i="1" baseline="-25000" dirty="0"/>
              <a:t>2</a:t>
            </a:r>
            <a:r>
              <a:rPr lang="en-US" altLang="en-US" sz="2000" dirty="0"/>
              <a:t> 	8</a:t>
            </a:r>
          </a:p>
          <a:p>
            <a:pPr>
              <a:lnSpc>
                <a:spcPct val="90000"/>
              </a:lnSpc>
              <a:buFont typeface="Monotype Sorts" pitchFamily="-84" charset="2"/>
              <a:buNone/>
              <a:tabLst>
                <a:tab pos="3028950" algn="ctr"/>
                <a:tab pos="4633913" algn="ctr"/>
              </a:tabLst>
            </a:pPr>
            <a:r>
              <a:rPr lang="en-US" altLang="en-US" sz="2000" dirty="0"/>
              <a:t>		 </a:t>
            </a:r>
            <a:r>
              <a:rPr lang="en-US" altLang="en-US" sz="2000" i="1" dirty="0"/>
              <a:t>P</a:t>
            </a:r>
            <a:r>
              <a:rPr lang="en-US" altLang="en-US" sz="2000" i="1" baseline="-25000" dirty="0"/>
              <a:t>3	 </a:t>
            </a:r>
            <a:r>
              <a:rPr lang="en-US" altLang="en-US" sz="2000" dirty="0"/>
              <a:t>7</a:t>
            </a:r>
          </a:p>
          <a:p>
            <a:pPr>
              <a:lnSpc>
                <a:spcPct val="90000"/>
              </a:lnSpc>
              <a:buFont typeface="Monotype Sorts" pitchFamily="-84" charset="2"/>
              <a:buNone/>
              <a:tabLst>
                <a:tab pos="3028950" algn="ctr"/>
                <a:tab pos="4633913" algn="ctr"/>
              </a:tabLst>
            </a:pPr>
            <a:r>
              <a:rPr lang="en-US" altLang="en-US" sz="2000" i="1" baseline="-25000" dirty="0"/>
              <a:t>                                                                    </a:t>
            </a:r>
            <a:r>
              <a:rPr lang="en-US" altLang="en-US" sz="2000" i="1" dirty="0"/>
              <a:t>P</a:t>
            </a:r>
            <a:r>
              <a:rPr lang="en-US" altLang="en-US" sz="2000" i="1" baseline="-25000" dirty="0"/>
              <a:t>4	 </a:t>
            </a:r>
            <a:r>
              <a:rPr lang="en-US" altLang="en-US" sz="2000" dirty="0"/>
              <a:t>3</a:t>
            </a:r>
          </a:p>
          <a:p>
            <a:pPr>
              <a:lnSpc>
                <a:spcPct val="90000"/>
              </a:lnSpc>
              <a:buFont typeface="Monotype Sorts" pitchFamily="-84" charset="2"/>
              <a:buNone/>
              <a:tabLst>
                <a:tab pos="3028950" algn="ctr"/>
                <a:tab pos="4633913" algn="ctr"/>
              </a:tabLst>
            </a:pPr>
            <a:endParaRPr lang="en-US" altLang="en-US" sz="2000" i="1" baseline="-25000" dirty="0"/>
          </a:p>
          <a:p>
            <a:pPr>
              <a:lnSpc>
                <a:spcPct val="90000"/>
              </a:lnSpc>
              <a:tabLst>
                <a:tab pos="3028950" algn="ctr"/>
                <a:tab pos="4633913" algn="ctr"/>
              </a:tabLst>
            </a:pPr>
            <a:r>
              <a:rPr lang="en-US" altLang="en-US" sz="2000" dirty="0"/>
              <a:t>SJF scheduling chart</a:t>
            </a:r>
            <a:br>
              <a:rPr lang="en-US" altLang="en-US" sz="2000" dirty="0"/>
            </a:br>
            <a:br>
              <a:rPr lang="en-US" altLang="en-US" sz="2000" dirty="0"/>
            </a:br>
            <a:br>
              <a:rPr lang="en-US" altLang="en-US" sz="2000" dirty="0"/>
            </a:br>
            <a:br>
              <a:rPr lang="en-US" altLang="en-US" sz="2000" dirty="0"/>
            </a:br>
            <a:br>
              <a:rPr lang="en-US" altLang="en-US" sz="2000" dirty="0"/>
            </a:br>
            <a:endParaRPr lang="en-US" altLang="en-US" sz="2000" dirty="0"/>
          </a:p>
          <a:p>
            <a:pPr marL="0" indent="0">
              <a:lnSpc>
                <a:spcPct val="90000"/>
              </a:lnSpc>
              <a:buNone/>
              <a:tabLst>
                <a:tab pos="3028950" algn="ctr"/>
                <a:tab pos="4633913" algn="ctr"/>
              </a:tabLst>
            </a:pPr>
            <a:endParaRPr lang="en-US" altLang="en-US" sz="2000" dirty="0"/>
          </a:p>
          <a:p>
            <a:pPr>
              <a:lnSpc>
                <a:spcPct val="90000"/>
              </a:lnSpc>
              <a:tabLst>
                <a:tab pos="3028950" algn="ctr"/>
                <a:tab pos="4633913" algn="ctr"/>
              </a:tabLst>
            </a:pPr>
            <a:r>
              <a:rPr lang="en-US" altLang="en-US" sz="2000" dirty="0"/>
              <a:t>Average waiting time = (3 + 16 + 9 + 0) / 4 = 7</a:t>
            </a:r>
          </a:p>
        </p:txBody>
      </p:sp>
      <p:pic>
        <p:nvPicPr>
          <p:cNvPr id="5" name="Picture 1">
            <a:extLst>
              <a:ext uri="{FF2B5EF4-FFF2-40B4-BE49-F238E27FC236}">
                <a16:creationId xmlns:a16="http://schemas.microsoft.com/office/drawing/2014/main" id="{DADC6AF8-4597-4452-983E-FCBE4FEE15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6952" y="3755574"/>
            <a:ext cx="6093760" cy="827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02201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7A3CFFB8-E2A9-4251-9DDA-A9BF289B2979}"/>
              </a:ext>
            </a:extLst>
          </p:cNvPr>
          <p:cNvSpPr>
            <a:spLocks noGrp="1" noChangeArrowheads="1"/>
          </p:cNvSpPr>
          <p:nvPr>
            <p:ph type="title"/>
          </p:nvPr>
        </p:nvSpPr>
        <p:spPr>
          <a:xfrm>
            <a:off x="987629" y="165918"/>
            <a:ext cx="8249492" cy="611187"/>
          </a:xfrm>
        </p:spPr>
        <p:txBody>
          <a:bodyPr/>
          <a:lstStyle/>
          <a:p>
            <a:pPr eaLnBrk="1" hangingPunct="1"/>
            <a:r>
              <a:rPr lang="en-US" altLang="en-US" dirty="0"/>
              <a:t>Determining Length of Next CPU Burst</a:t>
            </a:r>
          </a:p>
        </p:txBody>
      </p:sp>
      <p:sp>
        <p:nvSpPr>
          <p:cNvPr id="16387" name="Rectangle 3">
            <a:extLst>
              <a:ext uri="{FF2B5EF4-FFF2-40B4-BE49-F238E27FC236}">
                <a16:creationId xmlns:a16="http://schemas.microsoft.com/office/drawing/2014/main" id="{8340EA5D-E641-4F83-8451-8011ACC73F79}"/>
              </a:ext>
            </a:extLst>
          </p:cNvPr>
          <p:cNvSpPr>
            <a:spLocks noGrp="1" noChangeArrowheads="1"/>
          </p:cNvSpPr>
          <p:nvPr>
            <p:ph type="body" idx="1"/>
          </p:nvPr>
        </p:nvSpPr>
        <p:spPr>
          <a:xfrm>
            <a:off x="802433" y="1233488"/>
            <a:ext cx="7681167" cy="4935537"/>
          </a:xfrm>
        </p:spPr>
        <p:txBody>
          <a:bodyPr/>
          <a:lstStyle/>
          <a:p>
            <a:pPr>
              <a:defRPr/>
            </a:pPr>
            <a:r>
              <a:rPr lang="en-US" altLang="en-US" sz="2000" dirty="0">
                <a:cs typeface="ＭＳ Ｐゴシック" charset="-128"/>
              </a:rPr>
              <a:t>Can only estimate the length – should be similar to the previous one</a:t>
            </a:r>
          </a:p>
          <a:p>
            <a:pPr lvl="1">
              <a:defRPr/>
            </a:pPr>
            <a:r>
              <a:rPr lang="en-US" altLang="en-US" sz="2000" dirty="0"/>
              <a:t>Then pick process with shortest predicted next CPU burst</a:t>
            </a:r>
            <a:endParaRPr lang="en-US" altLang="en-US" sz="2000" dirty="0">
              <a:cs typeface="ＭＳ Ｐゴシック" charset="-128"/>
            </a:endParaRPr>
          </a:p>
          <a:p>
            <a:pPr>
              <a:defRPr/>
            </a:pPr>
            <a:r>
              <a:rPr lang="en-US" altLang="en-US" sz="2000" dirty="0">
                <a:cs typeface="ＭＳ Ｐゴシック" charset="-128"/>
              </a:rPr>
              <a:t>Can be done by using the length of previous CPU bursts, using exponential averaging</a:t>
            </a:r>
          </a:p>
          <a:p>
            <a:pPr>
              <a:defRPr/>
            </a:pPr>
            <a:endParaRPr lang="en-US" altLang="en-US" sz="2000" dirty="0">
              <a:cs typeface="ＭＳ Ｐゴシック" charset="-128"/>
            </a:endParaRPr>
          </a:p>
          <a:p>
            <a:pPr>
              <a:defRPr/>
            </a:pPr>
            <a:endParaRPr lang="en-US" altLang="en-US" sz="2000" dirty="0">
              <a:cs typeface="ＭＳ Ｐゴシック" charset="-128"/>
            </a:endParaRPr>
          </a:p>
          <a:p>
            <a:pPr>
              <a:defRPr/>
            </a:pPr>
            <a:endParaRPr lang="en-US" altLang="en-US" sz="2000" dirty="0">
              <a:cs typeface="ＭＳ Ｐゴシック" charset="-128"/>
            </a:endParaRPr>
          </a:p>
          <a:p>
            <a:pPr marL="0" indent="0">
              <a:buFont typeface="Monotype Sorts" pitchFamily="-84" charset="2"/>
              <a:buNone/>
              <a:defRPr/>
            </a:pPr>
            <a:endParaRPr lang="en-US" altLang="en-US" sz="2000" dirty="0">
              <a:cs typeface="ＭＳ Ｐゴシック" charset="-128"/>
            </a:endParaRPr>
          </a:p>
          <a:p>
            <a:pPr marL="0" indent="0">
              <a:buFont typeface="Monotype Sorts" pitchFamily="-84" charset="2"/>
              <a:buNone/>
              <a:defRPr/>
            </a:pPr>
            <a:endParaRPr lang="en-US" altLang="en-US" sz="2000" dirty="0">
              <a:cs typeface="ＭＳ Ｐゴシック" charset="-128"/>
            </a:endParaRPr>
          </a:p>
          <a:p>
            <a:pPr>
              <a:defRPr/>
            </a:pPr>
            <a:r>
              <a:rPr lang="en-US" altLang="en-US" sz="2000" dirty="0">
                <a:cs typeface="ＭＳ Ｐゴシック" charset="-128"/>
              </a:rPr>
              <a:t>Commonly, </a:t>
            </a:r>
            <a:r>
              <a:rPr lang="en-US" altLang="en-US" sz="2000" dirty="0">
                <a:latin typeface="Lucida Grande" pitchFamily="-84" charset="0"/>
                <a:cs typeface="ＭＳ Ｐゴシック" charset="-128"/>
              </a:rPr>
              <a:t>α </a:t>
            </a:r>
            <a:r>
              <a:rPr lang="en-US" altLang="en-US" sz="2000" dirty="0">
                <a:cs typeface="ＭＳ Ｐゴシック" charset="-128"/>
              </a:rPr>
              <a:t>set to ½</a:t>
            </a:r>
          </a:p>
        </p:txBody>
      </p:sp>
      <p:pic>
        <p:nvPicPr>
          <p:cNvPr id="31748" name="Picture 1">
            <a:extLst>
              <a:ext uri="{FF2B5EF4-FFF2-40B4-BE49-F238E27FC236}">
                <a16:creationId xmlns:a16="http://schemas.microsoft.com/office/drawing/2014/main" id="{E328DB97-6C8D-4434-AF77-5C40A02A287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65422" y="4336017"/>
            <a:ext cx="24511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descr="Graphical user interface, text, application&#10;&#10;Description automatically generated">
            <a:extLst>
              <a:ext uri="{FF2B5EF4-FFF2-40B4-BE49-F238E27FC236}">
                <a16:creationId xmlns:a16="http://schemas.microsoft.com/office/drawing/2014/main" id="{427B0884-5EC4-48E6-847A-70815D91C373}"/>
              </a:ext>
            </a:extLst>
          </p:cNvPr>
          <p:cNvPicPr>
            <a:picLocks noChangeAspect="1"/>
          </p:cNvPicPr>
          <p:nvPr/>
        </p:nvPicPr>
        <p:blipFill>
          <a:blip r:embed="rId4"/>
          <a:stretch>
            <a:fillRect/>
          </a:stretch>
        </p:blipFill>
        <p:spPr>
          <a:xfrm>
            <a:off x="1504165" y="3081122"/>
            <a:ext cx="4457700" cy="13716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3ABB015E-7AD3-4A84-AE93-94E9C1B95CA6}"/>
              </a:ext>
            </a:extLst>
          </p:cNvPr>
          <p:cNvSpPr>
            <a:spLocks noGrp="1" noChangeArrowheads="1"/>
          </p:cNvSpPr>
          <p:nvPr>
            <p:ph type="title"/>
          </p:nvPr>
        </p:nvSpPr>
        <p:spPr>
          <a:xfrm>
            <a:off x="810949" y="131828"/>
            <a:ext cx="8223250" cy="677863"/>
          </a:xfrm>
        </p:spPr>
        <p:txBody>
          <a:bodyPr/>
          <a:lstStyle/>
          <a:p>
            <a:pPr eaLnBrk="1" hangingPunct="1"/>
            <a:r>
              <a:rPr lang="en-US" altLang="en-US" sz="2600" dirty="0"/>
              <a:t>Prediction of the Length of the Next CPU Burst</a:t>
            </a:r>
          </a:p>
        </p:txBody>
      </p:sp>
      <p:pic>
        <p:nvPicPr>
          <p:cNvPr id="33794" name="Picture 2">
            <a:extLst>
              <a:ext uri="{FF2B5EF4-FFF2-40B4-BE49-F238E27FC236}">
                <a16:creationId xmlns:a16="http://schemas.microsoft.com/office/drawing/2014/main" id="{13C6E507-3240-4702-A49A-38E2AFA029A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68500" y="1598613"/>
            <a:ext cx="5470525" cy="396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D9F41D91-5CCD-4C10-BD4B-8757760950E9}"/>
              </a:ext>
            </a:extLst>
          </p:cNvPr>
          <p:cNvSpPr>
            <a:spLocks noGrp="1" noChangeArrowheads="1"/>
          </p:cNvSpPr>
          <p:nvPr>
            <p:ph type="title"/>
          </p:nvPr>
        </p:nvSpPr>
        <p:spPr>
          <a:xfrm>
            <a:off x="1175460" y="229606"/>
            <a:ext cx="7451725" cy="576262"/>
          </a:xfrm>
        </p:spPr>
        <p:txBody>
          <a:bodyPr/>
          <a:lstStyle/>
          <a:p>
            <a:pPr eaLnBrk="1" hangingPunct="1"/>
            <a:r>
              <a:rPr lang="en-US" altLang="en-US" dirty="0"/>
              <a:t>Examples of Exponential Averaging</a:t>
            </a:r>
          </a:p>
        </p:txBody>
      </p:sp>
      <p:sp>
        <p:nvSpPr>
          <p:cNvPr id="35842" name="Rectangle 3">
            <a:extLst>
              <a:ext uri="{FF2B5EF4-FFF2-40B4-BE49-F238E27FC236}">
                <a16:creationId xmlns:a16="http://schemas.microsoft.com/office/drawing/2014/main" id="{D651A984-67C5-468C-8F88-230FFA867BD5}"/>
              </a:ext>
            </a:extLst>
          </p:cNvPr>
          <p:cNvSpPr>
            <a:spLocks noGrp="1" noChangeArrowheads="1"/>
          </p:cNvSpPr>
          <p:nvPr>
            <p:ph type="body" idx="1"/>
          </p:nvPr>
        </p:nvSpPr>
        <p:spPr>
          <a:xfrm>
            <a:off x="1041400" y="1233488"/>
            <a:ext cx="7585784" cy="5129212"/>
          </a:xfrm>
        </p:spPr>
        <p:txBody>
          <a:bodyPr/>
          <a:lstStyle/>
          <a:p>
            <a:pPr>
              <a:lnSpc>
                <a:spcPct val="90000"/>
              </a:lnSpc>
            </a:pPr>
            <a:r>
              <a:rPr lang="en-US" altLang="en-US" sz="2000" dirty="0">
                <a:sym typeface="Symbol" panose="05050102010706020507" pitchFamily="18" charset="2"/>
              </a:rPr>
              <a:t> =0</a:t>
            </a:r>
          </a:p>
          <a:p>
            <a:pPr lvl="1">
              <a:lnSpc>
                <a:spcPct val="90000"/>
              </a:lnSpc>
            </a:pPr>
            <a:r>
              <a:rPr lang="en-US" altLang="en-US" sz="2000" dirty="0">
                <a:sym typeface="Symbol" panose="05050102010706020507" pitchFamily="18" charset="2"/>
              </a:rPr>
              <a:t></a:t>
            </a:r>
            <a:r>
              <a:rPr lang="en-US" altLang="en-US" sz="2000" baseline="-25000" dirty="0">
                <a:sym typeface="Symbol" panose="05050102010706020507" pitchFamily="18" charset="2"/>
              </a:rPr>
              <a:t>n+1</a:t>
            </a:r>
            <a:r>
              <a:rPr lang="en-US" altLang="en-US" sz="2000" dirty="0">
                <a:sym typeface="Symbol" panose="05050102010706020507" pitchFamily="18" charset="2"/>
              </a:rPr>
              <a:t> = </a:t>
            </a:r>
            <a:r>
              <a:rPr lang="en-US" altLang="en-US" sz="2000" baseline="-25000" dirty="0">
                <a:sym typeface="Symbol" panose="05050102010706020507" pitchFamily="18" charset="2"/>
              </a:rPr>
              <a:t>n</a:t>
            </a:r>
          </a:p>
          <a:p>
            <a:pPr lvl="1">
              <a:lnSpc>
                <a:spcPct val="90000"/>
              </a:lnSpc>
            </a:pPr>
            <a:r>
              <a:rPr lang="en-US" altLang="en-US" sz="2000" dirty="0">
                <a:sym typeface="Symbol" panose="05050102010706020507" pitchFamily="18" charset="2"/>
              </a:rPr>
              <a:t>Recent history does not count</a:t>
            </a:r>
          </a:p>
          <a:p>
            <a:pPr>
              <a:lnSpc>
                <a:spcPct val="90000"/>
              </a:lnSpc>
            </a:pPr>
            <a:r>
              <a:rPr lang="en-US" altLang="en-US" sz="2000" dirty="0">
                <a:sym typeface="Symbol" panose="05050102010706020507" pitchFamily="18" charset="2"/>
              </a:rPr>
              <a:t> =1</a:t>
            </a:r>
          </a:p>
          <a:p>
            <a:pPr lvl="1">
              <a:lnSpc>
                <a:spcPct val="90000"/>
              </a:lnSpc>
            </a:pPr>
            <a:r>
              <a:rPr lang="en-US" altLang="en-US" sz="2000" dirty="0">
                <a:sym typeface="Symbol" panose="05050102010706020507" pitchFamily="18" charset="2"/>
              </a:rPr>
              <a:t> </a:t>
            </a:r>
            <a:r>
              <a:rPr lang="en-US" altLang="en-US" sz="2000" baseline="-25000" dirty="0">
                <a:sym typeface="Symbol" panose="05050102010706020507" pitchFamily="18" charset="2"/>
              </a:rPr>
              <a:t>n+1</a:t>
            </a:r>
            <a:r>
              <a:rPr lang="en-US" altLang="en-US" sz="2000" dirty="0">
                <a:sym typeface="Symbol" panose="05050102010706020507" pitchFamily="18" charset="2"/>
              </a:rPr>
              <a:t> =  </a:t>
            </a:r>
            <a:r>
              <a:rPr lang="en-US" altLang="en-US" sz="2000" i="1" dirty="0" err="1">
                <a:sym typeface="Symbol" panose="05050102010706020507" pitchFamily="18" charset="2"/>
              </a:rPr>
              <a:t>t</a:t>
            </a:r>
            <a:r>
              <a:rPr lang="en-US" altLang="en-US" sz="2000" baseline="-25000" dirty="0" err="1">
                <a:sym typeface="Symbol" panose="05050102010706020507" pitchFamily="18" charset="2"/>
              </a:rPr>
              <a:t>n</a:t>
            </a:r>
            <a:endParaRPr lang="en-US" altLang="en-US" sz="2000" baseline="-25000" dirty="0">
              <a:sym typeface="Symbol" panose="05050102010706020507" pitchFamily="18" charset="2"/>
            </a:endParaRPr>
          </a:p>
          <a:p>
            <a:pPr lvl="1">
              <a:lnSpc>
                <a:spcPct val="90000"/>
              </a:lnSpc>
            </a:pPr>
            <a:r>
              <a:rPr lang="en-US" altLang="en-US" sz="2000" dirty="0">
                <a:sym typeface="Symbol" panose="05050102010706020507" pitchFamily="18" charset="2"/>
              </a:rPr>
              <a:t>Only the actual last CPU burst counts</a:t>
            </a:r>
          </a:p>
          <a:p>
            <a:pPr>
              <a:lnSpc>
                <a:spcPct val="90000"/>
              </a:lnSpc>
            </a:pPr>
            <a:r>
              <a:rPr lang="en-US" altLang="en-US" sz="2000" dirty="0">
                <a:sym typeface="Symbol" panose="05050102010706020507" pitchFamily="18" charset="2"/>
              </a:rPr>
              <a:t>If we expand the formula, we get:</a:t>
            </a:r>
          </a:p>
          <a:p>
            <a:pPr lvl="2">
              <a:lnSpc>
                <a:spcPct val="90000"/>
              </a:lnSpc>
              <a:buFont typeface="Webdings" panose="05030102010509060703" pitchFamily="18" charset="2"/>
              <a:buNone/>
            </a:pPr>
            <a:r>
              <a:rPr lang="en-US" altLang="en-US" sz="2000" dirty="0">
                <a:sym typeface="Symbol" panose="05050102010706020507" pitchFamily="18" charset="2"/>
              </a:rPr>
              <a:t></a:t>
            </a:r>
            <a:r>
              <a:rPr lang="en-US" altLang="en-US" sz="2000" i="1" baseline="-25000" dirty="0">
                <a:sym typeface="Symbol" panose="05050102010706020507" pitchFamily="18" charset="2"/>
              </a:rPr>
              <a:t>n</a:t>
            </a:r>
            <a:r>
              <a:rPr lang="en-US" altLang="en-US" sz="2000" baseline="-25000" dirty="0">
                <a:sym typeface="Symbol" panose="05050102010706020507" pitchFamily="18" charset="2"/>
              </a:rPr>
              <a:t>+1</a:t>
            </a:r>
            <a:r>
              <a:rPr lang="en-US" altLang="en-US" sz="2000" dirty="0">
                <a:sym typeface="Symbol" panose="05050102010706020507" pitchFamily="18" charset="2"/>
              </a:rPr>
              <a:t> =  </a:t>
            </a:r>
            <a:r>
              <a:rPr lang="en-US" altLang="en-US" sz="2000" dirty="0" err="1">
                <a:sym typeface="Symbol" panose="05050102010706020507" pitchFamily="18" charset="2"/>
              </a:rPr>
              <a:t>t</a:t>
            </a:r>
            <a:r>
              <a:rPr lang="en-US" altLang="en-US" sz="2000" i="1" baseline="-25000" dirty="0" err="1">
                <a:sym typeface="Symbol" panose="05050102010706020507" pitchFamily="18" charset="2"/>
              </a:rPr>
              <a:t>n</a:t>
            </a:r>
            <a:r>
              <a:rPr lang="en-US" altLang="en-US" sz="2000" dirty="0">
                <a:sym typeface="Symbol" panose="05050102010706020507" pitchFamily="18" charset="2"/>
              </a:rPr>
              <a:t>+(1</a:t>
            </a:r>
            <a:r>
              <a:rPr lang="en-US" altLang="en-US" sz="2000" i="1" dirty="0">
                <a:sym typeface="Symbol" panose="05050102010706020507" pitchFamily="18" charset="2"/>
              </a:rPr>
              <a:t> - </a:t>
            </a:r>
            <a:r>
              <a:rPr lang="en-US" altLang="en-US" sz="2000" dirty="0">
                <a:sym typeface="Symbol" panose="05050102010706020507" pitchFamily="18" charset="2"/>
              </a:rPr>
              <a:t></a:t>
            </a:r>
            <a:r>
              <a:rPr lang="en-US" altLang="en-US" sz="2000" i="1" dirty="0">
                <a:sym typeface="Symbol" panose="05050102010706020507" pitchFamily="18" charset="2"/>
              </a:rPr>
              <a:t>)</a:t>
            </a:r>
            <a:r>
              <a:rPr lang="en-US" altLang="en-US" sz="2000" dirty="0">
                <a:sym typeface="Symbol" panose="05050102010706020507" pitchFamily="18" charset="2"/>
              </a:rPr>
              <a:t> </a:t>
            </a:r>
            <a:r>
              <a:rPr lang="en-US" altLang="en-US" sz="2000" i="1" dirty="0" err="1">
                <a:sym typeface="Symbol" panose="05050102010706020507" pitchFamily="18" charset="2"/>
              </a:rPr>
              <a:t>t</a:t>
            </a:r>
            <a:r>
              <a:rPr lang="en-US" altLang="en-US" sz="2000" i="1" baseline="-25000" dirty="0" err="1">
                <a:sym typeface="Symbol" panose="05050102010706020507" pitchFamily="18" charset="2"/>
              </a:rPr>
              <a:t>n</a:t>
            </a:r>
            <a:r>
              <a:rPr lang="en-US" altLang="en-US" sz="2000" i="1" dirty="0">
                <a:sym typeface="Symbol" panose="05050102010706020507" pitchFamily="18" charset="2"/>
              </a:rPr>
              <a:t> </a:t>
            </a:r>
            <a:r>
              <a:rPr lang="en-US" altLang="en-US" sz="2000" baseline="-25000" dirty="0">
                <a:sym typeface="Symbol" panose="05050102010706020507" pitchFamily="18" charset="2"/>
              </a:rPr>
              <a:t>-1</a:t>
            </a:r>
            <a:r>
              <a:rPr lang="en-US" altLang="en-US" sz="2000" i="1" baseline="-25000" dirty="0">
                <a:sym typeface="Symbol" panose="05050102010706020507" pitchFamily="18" charset="2"/>
              </a:rPr>
              <a:t> </a:t>
            </a:r>
            <a:r>
              <a:rPr lang="en-US" altLang="en-US" sz="2000" dirty="0">
                <a:sym typeface="Symbol" panose="05050102010706020507" pitchFamily="18" charset="2"/>
              </a:rPr>
              <a:t>+ …</a:t>
            </a:r>
          </a:p>
          <a:p>
            <a:pPr lvl="2">
              <a:lnSpc>
                <a:spcPct val="90000"/>
              </a:lnSpc>
              <a:buFont typeface="Webdings" panose="05030102010509060703" pitchFamily="18" charset="2"/>
              <a:buNone/>
            </a:pPr>
            <a:r>
              <a:rPr lang="en-US" altLang="en-US" sz="2000" dirty="0">
                <a:sym typeface="Symbol" panose="05050102010706020507" pitchFamily="18" charset="2"/>
              </a:rPr>
              <a:t>            </a:t>
            </a:r>
            <a:r>
              <a:rPr lang="en-US" altLang="en-US" sz="2000" i="1" dirty="0">
                <a:sym typeface="Symbol" panose="05050102010706020507" pitchFamily="18" charset="2"/>
              </a:rPr>
              <a:t>+(</a:t>
            </a:r>
            <a:r>
              <a:rPr lang="en-US" altLang="en-US" sz="2000" dirty="0">
                <a:sym typeface="Symbol" panose="05050102010706020507" pitchFamily="18" charset="2"/>
              </a:rPr>
              <a:t>1 -  </a:t>
            </a:r>
            <a:r>
              <a:rPr lang="en-US" altLang="en-US" sz="2000" i="1" dirty="0">
                <a:sym typeface="Symbol" panose="05050102010706020507" pitchFamily="18" charset="2"/>
              </a:rPr>
              <a:t>)</a:t>
            </a:r>
            <a:r>
              <a:rPr lang="en-US" altLang="en-US" sz="2000" i="1" baseline="30000" dirty="0">
                <a:sym typeface="Symbol" panose="05050102010706020507" pitchFamily="18" charset="2"/>
              </a:rPr>
              <a:t>j</a:t>
            </a:r>
            <a:r>
              <a:rPr lang="en-US" altLang="en-US" sz="2000" baseline="30000" dirty="0">
                <a:sym typeface="Symbol" panose="05050102010706020507" pitchFamily="18" charset="2"/>
              </a:rPr>
              <a:t> </a:t>
            </a:r>
            <a:r>
              <a:rPr lang="en-US" altLang="en-US" sz="2000" dirty="0">
                <a:sym typeface="Symbol" panose="05050102010706020507" pitchFamily="18" charset="2"/>
              </a:rPr>
              <a:t> </a:t>
            </a:r>
            <a:r>
              <a:rPr lang="en-US" altLang="en-US" sz="2000" i="1" dirty="0" err="1">
                <a:sym typeface="Symbol" panose="05050102010706020507" pitchFamily="18" charset="2"/>
              </a:rPr>
              <a:t>t</a:t>
            </a:r>
            <a:r>
              <a:rPr lang="en-US" altLang="en-US" sz="2000" i="1" baseline="-25000" dirty="0" err="1">
                <a:sym typeface="Symbol" panose="05050102010706020507" pitchFamily="18" charset="2"/>
              </a:rPr>
              <a:t>n</a:t>
            </a:r>
            <a:r>
              <a:rPr lang="en-US" altLang="en-US" sz="2000" dirty="0">
                <a:sym typeface="Symbol" panose="05050102010706020507" pitchFamily="18" charset="2"/>
              </a:rPr>
              <a:t> </a:t>
            </a:r>
            <a:r>
              <a:rPr lang="en-US" altLang="en-US" sz="2000" baseline="-25000" dirty="0">
                <a:sym typeface="Symbol" panose="05050102010706020507" pitchFamily="18" charset="2"/>
              </a:rPr>
              <a:t>-</a:t>
            </a:r>
            <a:r>
              <a:rPr lang="en-US" altLang="en-US" sz="2000" i="1" baseline="-25000" dirty="0">
                <a:sym typeface="Symbol" panose="05050102010706020507" pitchFamily="18" charset="2"/>
              </a:rPr>
              <a:t>j</a:t>
            </a:r>
            <a:r>
              <a:rPr lang="en-US" altLang="en-US" sz="2000" i="1" dirty="0">
                <a:sym typeface="Symbol" panose="05050102010706020507" pitchFamily="18" charset="2"/>
              </a:rPr>
              <a:t> </a:t>
            </a:r>
            <a:r>
              <a:rPr lang="en-US" altLang="en-US" sz="2000" dirty="0">
                <a:sym typeface="Symbol" panose="05050102010706020507" pitchFamily="18" charset="2"/>
              </a:rPr>
              <a:t>+ …</a:t>
            </a:r>
          </a:p>
          <a:p>
            <a:pPr lvl="2">
              <a:lnSpc>
                <a:spcPct val="90000"/>
              </a:lnSpc>
              <a:buFont typeface="Webdings" panose="05030102010509060703" pitchFamily="18" charset="2"/>
              <a:buNone/>
            </a:pPr>
            <a:r>
              <a:rPr lang="en-US" altLang="en-US" sz="2000" dirty="0">
                <a:sym typeface="Symbol" panose="05050102010706020507" pitchFamily="18" charset="2"/>
              </a:rPr>
              <a:t>            </a:t>
            </a:r>
            <a:r>
              <a:rPr lang="en-US" altLang="en-US" sz="2000" i="1" dirty="0">
                <a:sym typeface="Symbol" panose="05050102010706020507" pitchFamily="18" charset="2"/>
              </a:rPr>
              <a:t>+(</a:t>
            </a:r>
            <a:r>
              <a:rPr lang="en-US" altLang="en-US" sz="2000" dirty="0">
                <a:sym typeface="Symbol" panose="05050102010706020507" pitchFamily="18" charset="2"/>
              </a:rPr>
              <a:t>1 -  </a:t>
            </a:r>
            <a:r>
              <a:rPr lang="en-US" altLang="en-US" sz="2000" i="1" dirty="0">
                <a:sym typeface="Symbol" panose="05050102010706020507" pitchFamily="18" charset="2"/>
              </a:rPr>
              <a:t>)</a:t>
            </a:r>
            <a:r>
              <a:rPr lang="en-US" altLang="en-US" sz="2000" i="1" baseline="30000" dirty="0">
                <a:sym typeface="Symbol" panose="05050102010706020507" pitchFamily="18" charset="2"/>
              </a:rPr>
              <a:t>n</a:t>
            </a:r>
            <a:r>
              <a:rPr lang="en-US" altLang="en-US" sz="2000" baseline="30000" dirty="0">
                <a:sym typeface="Symbol" panose="05050102010706020507" pitchFamily="18" charset="2"/>
              </a:rPr>
              <a:t> +1 </a:t>
            </a:r>
            <a:r>
              <a:rPr lang="en-US" altLang="en-US" sz="2000" dirty="0">
                <a:sym typeface="Symbol" panose="05050102010706020507" pitchFamily="18" charset="2"/>
              </a:rPr>
              <a:t></a:t>
            </a:r>
            <a:r>
              <a:rPr lang="en-US" altLang="en-US" sz="2000" baseline="-25000" dirty="0">
                <a:sym typeface="Symbol" panose="05050102010706020507" pitchFamily="18" charset="2"/>
              </a:rPr>
              <a:t>0</a:t>
            </a:r>
            <a:br>
              <a:rPr lang="en-US" altLang="en-US" sz="2000" baseline="-25000" dirty="0">
                <a:sym typeface="Symbol" panose="05050102010706020507" pitchFamily="18" charset="2"/>
              </a:rPr>
            </a:br>
            <a:endParaRPr lang="en-US" altLang="en-US" sz="2000" baseline="-25000" dirty="0">
              <a:sym typeface="Symbol" panose="05050102010706020507" pitchFamily="18" charset="2"/>
            </a:endParaRPr>
          </a:p>
          <a:p>
            <a:pPr>
              <a:lnSpc>
                <a:spcPct val="90000"/>
              </a:lnSpc>
            </a:pPr>
            <a:r>
              <a:rPr lang="en-US" altLang="en-US" sz="2000" dirty="0">
                <a:sym typeface="Symbol" panose="05050102010706020507" pitchFamily="18" charset="2"/>
              </a:rPr>
              <a:t>Since both  and (1 - ) are less than or equal to 1, each successor predecessor  term has less weight than its predecessor</a:t>
            </a:r>
          </a:p>
          <a:p>
            <a:pPr>
              <a:lnSpc>
                <a:spcPct val="90000"/>
              </a:lnSpc>
              <a:buFont typeface="Monotype Sorts" pitchFamily="-84" charset="2"/>
              <a:buNone/>
            </a:pPr>
            <a:endParaRPr lang="en-US" altLang="en-US" sz="2000" dirty="0">
              <a:sym typeface="Symbol" panose="05050102010706020507" pitchFamily="18" charset="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75370DA6-23EE-4245-8D59-2BE3CA11205A}"/>
              </a:ext>
            </a:extLst>
          </p:cNvPr>
          <p:cNvSpPr>
            <a:spLocks noGrp="1" noChangeArrowheads="1"/>
          </p:cNvSpPr>
          <p:nvPr>
            <p:ph type="title"/>
          </p:nvPr>
        </p:nvSpPr>
        <p:spPr>
          <a:xfrm>
            <a:off x="1200349" y="129252"/>
            <a:ext cx="7709971" cy="576262"/>
          </a:xfrm>
        </p:spPr>
        <p:txBody>
          <a:bodyPr/>
          <a:lstStyle/>
          <a:p>
            <a:pPr eaLnBrk="1" hangingPunct="1"/>
            <a:r>
              <a:rPr lang="en-US" altLang="en-US" sz="2800" dirty="0"/>
              <a:t>Shortest Remaining Time First Scheduling</a:t>
            </a:r>
          </a:p>
        </p:txBody>
      </p:sp>
      <p:sp>
        <p:nvSpPr>
          <p:cNvPr id="27650" name="Rectangle 3">
            <a:extLst>
              <a:ext uri="{FF2B5EF4-FFF2-40B4-BE49-F238E27FC236}">
                <a16:creationId xmlns:a16="http://schemas.microsoft.com/office/drawing/2014/main" id="{823814F7-CEBB-4A55-80A1-4EA7BB1EEA9B}"/>
              </a:ext>
            </a:extLst>
          </p:cNvPr>
          <p:cNvSpPr>
            <a:spLocks noGrp="1" noChangeArrowheads="1"/>
          </p:cNvSpPr>
          <p:nvPr>
            <p:ph type="body" idx="1"/>
          </p:nvPr>
        </p:nvSpPr>
        <p:spPr>
          <a:xfrm>
            <a:off x="821093" y="1139970"/>
            <a:ext cx="7709971" cy="3149002"/>
          </a:xfrm>
        </p:spPr>
        <p:txBody>
          <a:bodyPr/>
          <a:lstStyle/>
          <a:p>
            <a:r>
              <a:rPr lang="en-US" altLang="en-US" sz="2000" dirty="0">
                <a:cs typeface="ＭＳ Ｐゴシック" charset="-128"/>
              </a:rPr>
              <a:t>Preemptive version of SJ</a:t>
            </a:r>
            <a:r>
              <a:rPr lang="en-US" altLang="zh-CN" sz="2000" dirty="0">
                <a:cs typeface="ＭＳ Ｐゴシック" charset="-128"/>
              </a:rPr>
              <a:t>F</a:t>
            </a:r>
            <a:endParaRPr lang="en-US" altLang="en-US" sz="2000" b="1" dirty="0">
              <a:solidFill>
                <a:srgbClr val="006699"/>
              </a:solidFill>
              <a:latin typeface="+mj-lt"/>
            </a:endParaRPr>
          </a:p>
          <a:p>
            <a:r>
              <a:rPr lang="en-US" altLang="en-US" sz="2000" dirty="0"/>
              <a:t>Whenever a new process arrives in the ready queue, the decision on which process to schedule next is redone using the SJF algorithm.</a:t>
            </a:r>
          </a:p>
          <a:p>
            <a:r>
              <a:rPr lang="en-US" altLang="en-US" sz="2000" dirty="0"/>
              <a:t>Is SRT more “optimal” than SJN in terms of the minimum average waiting time for a given set of processes?</a:t>
            </a:r>
          </a:p>
        </p:txBody>
      </p:sp>
    </p:spTree>
    <p:extLst>
      <p:ext uri="{BB962C8B-B14F-4D97-AF65-F5344CB8AC3E}">
        <p14:creationId xmlns:p14="http://schemas.microsoft.com/office/powerpoint/2010/main" val="24526417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E841C6C2-8CFF-4FDC-A9E1-6B260CB17106}"/>
              </a:ext>
            </a:extLst>
          </p:cNvPr>
          <p:cNvSpPr>
            <a:spLocks noGrp="1" noChangeArrowheads="1"/>
          </p:cNvSpPr>
          <p:nvPr>
            <p:ph type="title"/>
          </p:nvPr>
        </p:nvSpPr>
        <p:spPr>
          <a:xfrm>
            <a:off x="1358420" y="163952"/>
            <a:ext cx="7594600" cy="576262"/>
          </a:xfrm>
        </p:spPr>
        <p:txBody>
          <a:bodyPr/>
          <a:lstStyle/>
          <a:p>
            <a:pPr eaLnBrk="1" hangingPunct="1"/>
            <a:r>
              <a:rPr lang="en-US" altLang="en-US" sz="3000" dirty="0"/>
              <a:t>Example of Shortest-remaining-time-first</a:t>
            </a:r>
          </a:p>
        </p:txBody>
      </p:sp>
      <p:sp>
        <p:nvSpPr>
          <p:cNvPr id="19459" name="Rectangle 36">
            <a:extLst>
              <a:ext uri="{FF2B5EF4-FFF2-40B4-BE49-F238E27FC236}">
                <a16:creationId xmlns:a16="http://schemas.microsoft.com/office/drawing/2014/main" id="{F6B280F4-20CD-4AA5-887B-A75AC06E0F7C}"/>
              </a:ext>
            </a:extLst>
          </p:cNvPr>
          <p:cNvSpPr>
            <a:spLocks noGrp="1" noChangeArrowheads="1"/>
          </p:cNvSpPr>
          <p:nvPr>
            <p:ph type="body" idx="1"/>
          </p:nvPr>
        </p:nvSpPr>
        <p:spPr>
          <a:xfrm>
            <a:off x="802433" y="1017588"/>
            <a:ext cx="7707085" cy="5243512"/>
          </a:xfrm>
        </p:spPr>
        <p:txBody>
          <a:bodyPr/>
          <a:lstStyle/>
          <a:p>
            <a:pPr>
              <a:tabLst>
                <a:tab pos="1601312" algn="ctr"/>
                <a:tab pos="3252629" algn="ctr"/>
                <a:tab pos="5141754" algn="ctr"/>
              </a:tabLst>
              <a:defRPr/>
            </a:pPr>
            <a:r>
              <a:rPr lang="en-US" altLang="en-US" sz="2000" dirty="0">
                <a:cs typeface="ＭＳ Ｐゴシック" charset="-128"/>
              </a:rPr>
              <a:t>Now we add the concepts of varying arrival times and preemption to the analysis</a:t>
            </a:r>
          </a:p>
          <a:p>
            <a:pPr>
              <a:buFont typeface="Monotype Sorts" pitchFamily="-84" charset="2"/>
              <a:buNone/>
              <a:tabLst>
                <a:tab pos="1601312" algn="ctr"/>
                <a:tab pos="3252629" algn="ctr"/>
                <a:tab pos="5141754" algn="ctr"/>
              </a:tabLst>
              <a:defRPr/>
            </a:pPr>
            <a:r>
              <a:rPr lang="en-US" altLang="en-US" sz="2000" dirty="0">
                <a:cs typeface="ＭＳ Ｐゴシック" charset="-128"/>
              </a:rPr>
              <a:t>		               </a:t>
            </a:r>
            <a:r>
              <a:rPr lang="en-US" altLang="en-US" sz="2000" u="sng" dirty="0">
                <a:cs typeface="ＭＳ Ｐゴシック" charset="-128"/>
              </a:rPr>
              <a:t>Process</a:t>
            </a:r>
            <a:r>
              <a:rPr lang="en-US" altLang="en-US" sz="2000" u="sng" dirty="0">
                <a:solidFill>
                  <a:schemeClr val="bg1"/>
                </a:solidFill>
                <a:cs typeface="ＭＳ Ｐゴシック" charset="-128"/>
              </a:rPr>
              <a:t>      </a:t>
            </a:r>
            <a:r>
              <a:rPr lang="en-US" altLang="en-US" sz="2000" u="sng" dirty="0" err="1">
                <a:solidFill>
                  <a:schemeClr val="bg1"/>
                </a:solidFill>
                <a:cs typeface="ＭＳ Ｐゴシック" charset="-128"/>
              </a:rPr>
              <a:t>i</a:t>
            </a:r>
            <a:r>
              <a:rPr lang="en-US" altLang="en-US" sz="2000" u="sng" dirty="0">
                <a:solidFill>
                  <a:schemeClr val="bg1"/>
                </a:solidFill>
                <a:cs typeface="ＭＳ Ｐゴシック" charset="-128"/>
              </a:rPr>
              <a:t> </a:t>
            </a:r>
            <a:r>
              <a:rPr lang="en-US" altLang="en-US" sz="2000" i="1" u="sng" dirty="0">
                <a:cs typeface="ＭＳ Ｐゴシック" charset="-128"/>
              </a:rPr>
              <a:t>Arrival </a:t>
            </a:r>
            <a:r>
              <a:rPr lang="en-US" altLang="en-US" sz="2000" u="sng" dirty="0" err="1">
                <a:cs typeface="ＭＳ Ｐゴシック" charset="-128"/>
              </a:rPr>
              <a:t>Time</a:t>
            </a:r>
            <a:r>
              <a:rPr lang="en-US" altLang="en-US" sz="2000" u="sng" dirty="0" err="1">
                <a:solidFill>
                  <a:schemeClr val="bg1"/>
                </a:solidFill>
                <a:cs typeface="ＭＳ Ｐゴシック" charset="-128"/>
              </a:rPr>
              <a:t>T</a:t>
            </a:r>
            <a:r>
              <a:rPr lang="en-US" altLang="en-US" sz="2000" dirty="0">
                <a:cs typeface="ＭＳ Ｐゴシック" charset="-128"/>
              </a:rPr>
              <a:t>	</a:t>
            </a:r>
            <a:r>
              <a:rPr lang="en-US" altLang="en-US" sz="2000" u="sng" dirty="0">
                <a:cs typeface="ＭＳ Ｐゴシック" charset="-128"/>
              </a:rPr>
              <a:t>Burst Time</a:t>
            </a:r>
            <a:endParaRPr lang="en-US" altLang="en-US" sz="2000" dirty="0">
              <a:cs typeface="ＭＳ Ｐゴシック" charset="-128"/>
            </a:endParaRPr>
          </a:p>
          <a:p>
            <a:pPr>
              <a:buFont typeface="Monotype Sorts" pitchFamily="-84" charset="2"/>
              <a:buNone/>
              <a:tabLst>
                <a:tab pos="1601312" algn="ctr"/>
                <a:tab pos="3252629" algn="ctr"/>
                <a:tab pos="5141754" algn="ctr"/>
              </a:tabLst>
              <a:defRPr/>
            </a:pPr>
            <a:r>
              <a:rPr lang="en-US" altLang="en-US" sz="2000" dirty="0">
                <a:cs typeface="ＭＳ Ｐゴシック" charset="-128"/>
              </a:rPr>
              <a:t>		 </a:t>
            </a:r>
            <a:r>
              <a:rPr lang="en-US" altLang="en-US" sz="2000" i="1" dirty="0">
                <a:cs typeface="ＭＳ Ｐゴシック" charset="-128"/>
              </a:rPr>
              <a:t>P</a:t>
            </a:r>
            <a:r>
              <a:rPr lang="en-US" altLang="en-US" sz="2000" i="1" baseline="-25000" dirty="0">
                <a:cs typeface="ＭＳ Ｐゴシック" charset="-128"/>
              </a:rPr>
              <a:t>1</a:t>
            </a:r>
            <a:r>
              <a:rPr lang="en-US" altLang="en-US" sz="2000" dirty="0">
                <a:cs typeface="ＭＳ Ｐゴシック" charset="-128"/>
              </a:rPr>
              <a:t>	</a:t>
            </a:r>
            <a:r>
              <a:rPr lang="en-US" altLang="en-US" sz="2000" dirty="0">
                <a:solidFill>
                  <a:srgbClr val="000000"/>
                </a:solidFill>
                <a:cs typeface="ＭＳ Ｐゴシック" charset="-128"/>
              </a:rPr>
              <a:t>0</a:t>
            </a:r>
            <a:r>
              <a:rPr lang="en-US" altLang="en-US" sz="2000" dirty="0">
                <a:cs typeface="ＭＳ Ｐゴシック" charset="-128"/>
              </a:rPr>
              <a:t>	8</a:t>
            </a:r>
          </a:p>
          <a:p>
            <a:pPr>
              <a:buFont typeface="Monotype Sorts" pitchFamily="-84" charset="2"/>
              <a:buNone/>
              <a:tabLst>
                <a:tab pos="1601312" algn="ctr"/>
                <a:tab pos="3252629" algn="ctr"/>
                <a:tab pos="5141754" algn="ctr"/>
              </a:tabLst>
              <a:defRPr/>
            </a:pPr>
            <a:r>
              <a:rPr lang="en-US" altLang="en-US" sz="2000" dirty="0">
                <a:cs typeface="ＭＳ Ｐゴシック" charset="-128"/>
              </a:rPr>
              <a:t>		 </a:t>
            </a:r>
            <a:r>
              <a:rPr lang="en-US" altLang="en-US" sz="2000" i="1" dirty="0">
                <a:cs typeface="ＭＳ Ｐゴシック" charset="-128"/>
              </a:rPr>
              <a:t>P</a:t>
            </a:r>
            <a:r>
              <a:rPr lang="en-US" altLang="en-US" sz="2000" i="1" baseline="-25000" dirty="0">
                <a:cs typeface="ＭＳ Ｐゴシック" charset="-128"/>
              </a:rPr>
              <a:t>2 	</a:t>
            </a:r>
            <a:r>
              <a:rPr lang="en-US" altLang="en-US" sz="2000" dirty="0">
                <a:solidFill>
                  <a:srgbClr val="000000"/>
                </a:solidFill>
                <a:cs typeface="ＭＳ Ｐゴシック" charset="-128"/>
              </a:rPr>
              <a:t>1</a:t>
            </a:r>
            <a:r>
              <a:rPr lang="en-US" altLang="en-US" sz="2000" dirty="0">
                <a:cs typeface="ＭＳ Ｐゴシック" charset="-128"/>
              </a:rPr>
              <a:t>	4</a:t>
            </a:r>
          </a:p>
          <a:p>
            <a:pPr>
              <a:buFont typeface="Monotype Sorts" pitchFamily="-84" charset="2"/>
              <a:buNone/>
              <a:tabLst>
                <a:tab pos="1601312" algn="ctr"/>
                <a:tab pos="3252629" algn="ctr"/>
                <a:tab pos="5141754" algn="ctr"/>
              </a:tabLst>
              <a:defRPr/>
            </a:pPr>
            <a:r>
              <a:rPr lang="en-US" altLang="en-US" sz="2000" dirty="0">
                <a:cs typeface="ＭＳ Ｐゴシック" charset="-128"/>
              </a:rPr>
              <a:t>		 </a:t>
            </a:r>
            <a:r>
              <a:rPr lang="en-US" altLang="en-US" sz="2000" i="1" dirty="0">
                <a:cs typeface="ＭＳ Ｐゴシック" charset="-128"/>
              </a:rPr>
              <a:t>P</a:t>
            </a:r>
            <a:r>
              <a:rPr lang="en-US" altLang="en-US" sz="2000" i="1" baseline="-25000" dirty="0">
                <a:cs typeface="ＭＳ Ｐゴシック" charset="-128"/>
              </a:rPr>
              <a:t>3</a:t>
            </a:r>
            <a:r>
              <a:rPr lang="en-US" altLang="en-US" sz="2000" dirty="0">
                <a:cs typeface="ＭＳ Ｐゴシック" charset="-128"/>
              </a:rPr>
              <a:t>	</a:t>
            </a:r>
            <a:r>
              <a:rPr lang="en-US" altLang="en-US" sz="2000" dirty="0">
                <a:solidFill>
                  <a:srgbClr val="000000"/>
                </a:solidFill>
                <a:cs typeface="ＭＳ Ｐゴシック" charset="-128"/>
              </a:rPr>
              <a:t>2</a:t>
            </a:r>
            <a:r>
              <a:rPr lang="en-US" altLang="en-US" sz="2000" dirty="0">
                <a:cs typeface="ＭＳ Ｐゴシック" charset="-128"/>
              </a:rPr>
              <a:t>	9</a:t>
            </a:r>
          </a:p>
          <a:p>
            <a:pPr>
              <a:buFont typeface="Monotype Sorts" pitchFamily="-84" charset="2"/>
              <a:buNone/>
              <a:tabLst>
                <a:tab pos="1601312" algn="ctr"/>
                <a:tab pos="3252629" algn="ctr"/>
                <a:tab pos="5141754" algn="ctr"/>
              </a:tabLst>
              <a:defRPr/>
            </a:pPr>
            <a:r>
              <a:rPr lang="en-US" altLang="en-US" sz="2000" dirty="0">
                <a:cs typeface="ＭＳ Ｐゴシック" charset="-128"/>
              </a:rPr>
              <a:t>		 </a:t>
            </a:r>
            <a:r>
              <a:rPr lang="en-US" altLang="en-US" sz="2000" i="1" dirty="0">
                <a:cs typeface="ＭＳ Ｐゴシック" charset="-128"/>
              </a:rPr>
              <a:t>P</a:t>
            </a:r>
            <a:r>
              <a:rPr lang="en-US" altLang="en-US" sz="2000" i="1" baseline="-25000" dirty="0">
                <a:cs typeface="ＭＳ Ｐゴシック" charset="-128"/>
              </a:rPr>
              <a:t>4</a:t>
            </a:r>
            <a:r>
              <a:rPr lang="en-US" altLang="en-US" sz="2000" dirty="0">
                <a:cs typeface="ＭＳ Ｐゴシック" charset="-128"/>
              </a:rPr>
              <a:t>	</a:t>
            </a:r>
            <a:r>
              <a:rPr lang="en-US" altLang="en-US" sz="2000" dirty="0">
                <a:solidFill>
                  <a:srgbClr val="000000"/>
                </a:solidFill>
                <a:cs typeface="ＭＳ Ｐゴシック" charset="-128"/>
              </a:rPr>
              <a:t>3</a:t>
            </a:r>
            <a:r>
              <a:rPr lang="en-US" altLang="en-US" sz="2000" dirty="0">
                <a:cs typeface="ＭＳ Ｐゴシック" charset="-128"/>
              </a:rPr>
              <a:t>	5</a:t>
            </a:r>
          </a:p>
          <a:p>
            <a:pPr>
              <a:tabLst>
                <a:tab pos="1601312" algn="ctr"/>
                <a:tab pos="3252629" algn="ctr"/>
                <a:tab pos="5141754" algn="ctr"/>
              </a:tabLst>
              <a:defRPr/>
            </a:pPr>
            <a:r>
              <a:rPr lang="en-US" altLang="en-US" sz="2000" i="1" dirty="0">
                <a:cs typeface="ＭＳ Ｐゴシック" charset="-128"/>
              </a:rPr>
              <a:t>Preemptive </a:t>
            </a:r>
            <a:r>
              <a:rPr lang="en-US" altLang="en-US" sz="2000" dirty="0">
                <a:cs typeface="ＭＳ Ｐゴシック" charset="-128"/>
              </a:rPr>
              <a:t>SJF Gantt Chart</a:t>
            </a:r>
          </a:p>
          <a:p>
            <a:pPr>
              <a:tabLst>
                <a:tab pos="1601312" algn="ctr"/>
                <a:tab pos="3252629" algn="ctr"/>
                <a:tab pos="5141754" algn="ctr"/>
              </a:tabLst>
              <a:defRPr/>
            </a:pPr>
            <a:endParaRPr lang="en-US" altLang="en-US" sz="2000" dirty="0">
              <a:cs typeface="ＭＳ Ｐゴシック" charset="-128"/>
            </a:endParaRPr>
          </a:p>
          <a:p>
            <a:pPr>
              <a:tabLst>
                <a:tab pos="1601312" algn="ctr"/>
                <a:tab pos="3252629" algn="ctr"/>
                <a:tab pos="5141754" algn="ctr"/>
              </a:tabLst>
              <a:defRPr/>
            </a:pPr>
            <a:endParaRPr lang="en-US" altLang="en-US" sz="2000" dirty="0">
              <a:cs typeface="ＭＳ Ｐゴシック" charset="-128"/>
            </a:endParaRPr>
          </a:p>
          <a:p>
            <a:pPr marL="0" indent="0">
              <a:buFont typeface="Monotype Sorts" pitchFamily="-84" charset="2"/>
              <a:buNone/>
              <a:tabLst>
                <a:tab pos="1601312" algn="ctr"/>
                <a:tab pos="3252629" algn="ctr"/>
                <a:tab pos="5141754" algn="ctr"/>
              </a:tabLst>
              <a:defRPr/>
            </a:pPr>
            <a:endParaRPr lang="en-US" altLang="en-US" sz="2000" dirty="0">
              <a:cs typeface="ＭＳ Ｐゴシック" charset="-128"/>
            </a:endParaRPr>
          </a:p>
          <a:p>
            <a:pPr>
              <a:tabLst>
                <a:tab pos="1601312" algn="ctr"/>
                <a:tab pos="3252629" algn="ctr"/>
                <a:tab pos="5141754" algn="ctr"/>
              </a:tabLst>
              <a:defRPr/>
            </a:pPr>
            <a:r>
              <a:rPr lang="en-US" altLang="en-US" sz="2000" dirty="0">
                <a:cs typeface="ＭＳ Ｐゴシック" charset="-128"/>
              </a:rPr>
              <a:t>Average waiting time = [(10-1)+(1-1)+(17-2)+(5-3)]/4 = 26/4 = 6.5</a:t>
            </a:r>
          </a:p>
          <a:p>
            <a:pPr>
              <a:tabLst>
                <a:tab pos="1601312" algn="ctr"/>
                <a:tab pos="3252629" algn="ctr"/>
                <a:tab pos="5141754" algn="ctr"/>
              </a:tabLst>
              <a:defRPr/>
            </a:pPr>
            <a:endParaRPr lang="en-US" altLang="en-US" sz="2000" i="1" baseline="-25000" dirty="0">
              <a:cs typeface="ＭＳ Ｐゴシック" charset="-128"/>
            </a:endParaRPr>
          </a:p>
          <a:p>
            <a:pPr>
              <a:buFont typeface="Monotype Sorts" pitchFamily="-84" charset="2"/>
              <a:buNone/>
              <a:tabLst>
                <a:tab pos="1601312" algn="ctr"/>
                <a:tab pos="3252629" algn="ctr"/>
                <a:tab pos="5141754" algn="ctr"/>
              </a:tabLst>
              <a:defRPr/>
            </a:pPr>
            <a:endParaRPr lang="en-US" altLang="en-US" sz="2000" i="1" baseline="-25000" dirty="0">
              <a:cs typeface="ＭＳ Ｐゴシック" charset="-128"/>
            </a:endParaRPr>
          </a:p>
        </p:txBody>
      </p:sp>
      <p:pic>
        <p:nvPicPr>
          <p:cNvPr id="37891" name="Picture 1">
            <a:extLst>
              <a:ext uri="{FF2B5EF4-FFF2-40B4-BE49-F238E27FC236}">
                <a16:creationId xmlns:a16="http://schemas.microsoft.com/office/drawing/2014/main" id="{100802A9-2833-4519-B21E-A1B2D0AF971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46213" y="4284663"/>
            <a:ext cx="6535737"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1837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0C539CA8-5BE8-4B08-A540-B4382F3C2212}"/>
              </a:ext>
            </a:extLst>
          </p:cNvPr>
          <p:cNvSpPr>
            <a:spLocks noGrp="1" noChangeArrowheads="1"/>
          </p:cNvSpPr>
          <p:nvPr>
            <p:ph type="title"/>
          </p:nvPr>
        </p:nvSpPr>
        <p:spPr>
          <a:xfrm>
            <a:off x="457200" y="153418"/>
            <a:ext cx="8229600" cy="576262"/>
          </a:xfrm>
        </p:spPr>
        <p:txBody>
          <a:bodyPr/>
          <a:lstStyle/>
          <a:p>
            <a:pPr eaLnBrk="1" hangingPunct="1"/>
            <a:r>
              <a:rPr lang="en-US" altLang="en-US" dirty="0"/>
              <a:t>Round Robin (RR)</a:t>
            </a:r>
          </a:p>
        </p:txBody>
      </p:sp>
      <p:sp>
        <p:nvSpPr>
          <p:cNvPr id="39938" name="Rectangle 3">
            <a:extLst>
              <a:ext uri="{FF2B5EF4-FFF2-40B4-BE49-F238E27FC236}">
                <a16:creationId xmlns:a16="http://schemas.microsoft.com/office/drawing/2014/main" id="{8A6C6617-67BF-4484-A025-320FA2994436}"/>
              </a:ext>
            </a:extLst>
          </p:cNvPr>
          <p:cNvSpPr>
            <a:spLocks noGrp="1" noChangeArrowheads="1"/>
          </p:cNvSpPr>
          <p:nvPr>
            <p:ph type="body" idx="1"/>
          </p:nvPr>
        </p:nvSpPr>
        <p:spPr>
          <a:xfrm>
            <a:off x="811763" y="1058276"/>
            <a:ext cx="7697237" cy="4859923"/>
          </a:xfrm>
        </p:spPr>
        <p:txBody>
          <a:bodyPr/>
          <a:lstStyle/>
          <a:p>
            <a:r>
              <a:rPr lang="en-US" altLang="en-US" sz="2000" dirty="0"/>
              <a:t>Each process gets a small unit of CPU time (</a:t>
            </a:r>
            <a:r>
              <a:rPr lang="en-US" altLang="en-US" sz="2000" b="1" dirty="0">
                <a:solidFill>
                  <a:srgbClr val="006699"/>
                </a:solidFill>
                <a:latin typeface="+mj-lt"/>
              </a:rPr>
              <a:t>time quantum </a:t>
            </a:r>
            <a:r>
              <a:rPr lang="en-US" altLang="en-US" sz="2000" i="1" dirty="0"/>
              <a:t>q</a:t>
            </a:r>
            <a:r>
              <a:rPr lang="en-US" altLang="en-US" sz="2000" dirty="0"/>
              <a:t>), usually 10-100 milliseconds.  After this time has elapsed, the process is preempted and added to the end of the ready queue.</a:t>
            </a:r>
          </a:p>
          <a:p>
            <a:r>
              <a:rPr lang="en-US" altLang="en-US" sz="2000" dirty="0"/>
              <a:t>If there are </a:t>
            </a:r>
            <a:r>
              <a:rPr lang="en-US" altLang="en-US" sz="2000" i="1" dirty="0"/>
              <a:t>n</a:t>
            </a:r>
            <a:r>
              <a:rPr lang="en-US" altLang="en-US" sz="2000" dirty="0"/>
              <a:t> processes in the ready queue and the time quantum is </a:t>
            </a:r>
            <a:r>
              <a:rPr lang="en-US" altLang="en-US" sz="2000" i="1" dirty="0"/>
              <a:t>q</a:t>
            </a:r>
            <a:r>
              <a:rPr lang="en-US" altLang="en-US" sz="2000" dirty="0"/>
              <a:t>, then each process gets 1/</a:t>
            </a:r>
            <a:r>
              <a:rPr lang="en-US" altLang="en-US" sz="2000" i="1" dirty="0"/>
              <a:t>n</a:t>
            </a:r>
            <a:r>
              <a:rPr lang="en-US" altLang="en-US" sz="2000" dirty="0"/>
              <a:t> of the CPU time in chunks of at most </a:t>
            </a:r>
            <a:r>
              <a:rPr lang="en-US" altLang="en-US" sz="2000" i="1" dirty="0"/>
              <a:t>q</a:t>
            </a:r>
            <a:r>
              <a:rPr lang="en-US" altLang="en-US" sz="2000" dirty="0"/>
              <a:t> time units at once.  No process waits more than (</a:t>
            </a:r>
            <a:r>
              <a:rPr lang="en-US" altLang="en-US" sz="2000" i="1" dirty="0"/>
              <a:t>n</a:t>
            </a:r>
            <a:r>
              <a:rPr lang="en-US" altLang="en-US" sz="2000" dirty="0"/>
              <a:t>-1)</a:t>
            </a:r>
            <a:r>
              <a:rPr lang="en-US" altLang="en-US" sz="2000" i="1" dirty="0"/>
              <a:t>q </a:t>
            </a:r>
            <a:r>
              <a:rPr lang="en-US" altLang="en-US" sz="2000" dirty="0"/>
              <a:t>time units.</a:t>
            </a:r>
          </a:p>
          <a:p>
            <a:r>
              <a:rPr lang="en-US" altLang="en-US" sz="2000" dirty="0"/>
              <a:t>Timer interrupts every quantum to schedule next process</a:t>
            </a:r>
          </a:p>
          <a:p>
            <a:r>
              <a:rPr lang="en-US" altLang="en-US" sz="2000" dirty="0"/>
              <a:t>Performance</a:t>
            </a:r>
          </a:p>
          <a:p>
            <a:pPr lvl="1"/>
            <a:r>
              <a:rPr lang="en-US" altLang="en-US" sz="2000" i="1" dirty="0"/>
              <a:t>q</a:t>
            </a:r>
            <a:r>
              <a:rPr lang="en-US" altLang="en-US" sz="2000" dirty="0"/>
              <a:t> large </a:t>
            </a:r>
            <a:r>
              <a:rPr lang="en-US" altLang="en-US" sz="2000" dirty="0">
                <a:sym typeface="Symbol" panose="05050102010706020507" pitchFamily="18" charset="2"/>
              </a:rPr>
              <a:t> FIFO (FCFS)</a:t>
            </a:r>
          </a:p>
          <a:p>
            <a:pPr lvl="1"/>
            <a:r>
              <a:rPr lang="en-US" altLang="en-US" sz="2000" i="1" dirty="0">
                <a:sym typeface="Symbol" panose="05050102010706020507" pitchFamily="18" charset="2"/>
              </a:rPr>
              <a:t>q </a:t>
            </a:r>
            <a:r>
              <a:rPr lang="en-US" altLang="en-US" sz="2000" dirty="0">
                <a:sym typeface="Symbol" panose="05050102010706020507" pitchFamily="18" charset="2"/>
              </a:rPr>
              <a:t>small  RR</a:t>
            </a:r>
          </a:p>
          <a:p>
            <a:r>
              <a:rPr lang="en-US" altLang="en-US" sz="2000" dirty="0">
                <a:sym typeface="Symbol" panose="05050102010706020507" pitchFamily="18" charset="2"/>
              </a:rPr>
              <a:t>Note that q must be large with respect to context switch, otherwise overhead is too high</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6DF101FA-59C2-4431-9504-FC73D47453BC}"/>
              </a:ext>
            </a:extLst>
          </p:cNvPr>
          <p:cNvSpPr>
            <a:spLocks noGrp="1" noChangeArrowheads="1"/>
          </p:cNvSpPr>
          <p:nvPr>
            <p:ph type="title"/>
          </p:nvPr>
        </p:nvSpPr>
        <p:spPr>
          <a:xfrm>
            <a:off x="979833" y="86668"/>
            <a:ext cx="8418610" cy="647700"/>
          </a:xfrm>
        </p:spPr>
        <p:txBody>
          <a:bodyPr/>
          <a:lstStyle/>
          <a:p>
            <a:pPr eaLnBrk="1" hangingPunct="1"/>
            <a:r>
              <a:rPr lang="en-US" altLang="en-US" dirty="0"/>
              <a:t>Example of RR with Time Quantum = 4</a:t>
            </a:r>
          </a:p>
        </p:txBody>
      </p:sp>
      <p:sp>
        <p:nvSpPr>
          <p:cNvPr id="41986" name="Rectangle 3">
            <a:extLst>
              <a:ext uri="{FF2B5EF4-FFF2-40B4-BE49-F238E27FC236}">
                <a16:creationId xmlns:a16="http://schemas.microsoft.com/office/drawing/2014/main" id="{E17EE130-D776-4D6D-84E6-F464A160ACBF}"/>
              </a:ext>
            </a:extLst>
          </p:cNvPr>
          <p:cNvSpPr>
            <a:spLocks noGrp="1" noChangeArrowheads="1"/>
          </p:cNvSpPr>
          <p:nvPr>
            <p:ph type="body" idx="1"/>
          </p:nvPr>
        </p:nvSpPr>
        <p:spPr>
          <a:xfrm>
            <a:off x="954087" y="1193799"/>
            <a:ext cx="7618413" cy="4902201"/>
          </a:xfrm>
        </p:spPr>
        <p:txBody>
          <a:bodyPr/>
          <a:lstStyle/>
          <a:p>
            <a:pPr>
              <a:lnSpc>
                <a:spcPct val="90000"/>
              </a:lnSpc>
              <a:buFont typeface="Monotype Sorts" pitchFamily="-84" charset="2"/>
              <a:buNone/>
              <a:tabLst>
                <a:tab pos="2219325" algn="ctr"/>
                <a:tab pos="3994150" algn="ctr"/>
              </a:tabLst>
            </a:pPr>
            <a:r>
              <a:rPr lang="en-US" altLang="en-US" sz="2000" dirty="0"/>
              <a:t>		</a:t>
            </a:r>
            <a:r>
              <a:rPr lang="en-US" altLang="en-US" sz="2000" u="sng" dirty="0"/>
              <a:t>Process</a:t>
            </a:r>
            <a:r>
              <a:rPr lang="en-US" altLang="en-US" sz="2000" dirty="0"/>
              <a:t>	</a:t>
            </a:r>
            <a:r>
              <a:rPr lang="en-US" altLang="en-US" sz="2000" u="sng" dirty="0"/>
              <a:t>Burst Time</a:t>
            </a:r>
          </a:p>
          <a:p>
            <a:pPr>
              <a:lnSpc>
                <a:spcPct val="90000"/>
              </a:lnSpc>
              <a:buFont typeface="Monotype Sorts" pitchFamily="-84" charset="2"/>
              <a:buNone/>
              <a:tabLst>
                <a:tab pos="2219325" algn="ctr"/>
                <a:tab pos="3994150" algn="ctr"/>
              </a:tabLst>
            </a:pPr>
            <a:r>
              <a:rPr lang="en-US" altLang="en-US" sz="2000" i="1" dirty="0"/>
              <a:t>		P</a:t>
            </a:r>
            <a:r>
              <a:rPr lang="en-US" altLang="en-US" sz="2000" i="1" baseline="-25000" dirty="0"/>
              <a:t>1	</a:t>
            </a:r>
            <a:r>
              <a:rPr lang="en-US" altLang="en-US" sz="2000" dirty="0"/>
              <a:t>24</a:t>
            </a:r>
          </a:p>
          <a:p>
            <a:pPr>
              <a:lnSpc>
                <a:spcPct val="90000"/>
              </a:lnSpc>
              <a:buFont typeface="Monotype Sorts" pitchFamily="-84" charset="2"/>
              <a:buNone/>
              <a:tabLst>
                <a:tab pos="2219325" algn="ctr"/>
                <a:tab pos="3994150" algn="ctr"/>
              </a:tabLst>
            </a:pPr>
            <a:r>
              <a:rPr lang="en-US" altLang="en-US" sz="2000" dirty="0"/>
              <a:t>		 </a:t>
            </a:r>
            <a:r>
              <a:rPr lang="en-US" altLang="en-US" sz="2000" i="1" dirty="0"/>
              <a:t>P</a:t>
            </a:r>
            <a:r>
              <a:rPr lang="en-US" altLang="en-US" sz="2000" i="1" baseline="-25000" dirty="0"/>
              <a:t>2	 </a:t>
            </a:r>
            <a:r>
              <a:rPr lang="en-US" altLang="en-US" sz="2000" dirty="0"/>
              <a:t>3</a:t>
            </a:r>
          </a:p>
          <a:p>
            <a:pPr>
              <a:lnSpc>
                <a:spcPct val="90000"/>
              </a:lnSpc>
              <a:buFont typeface="Monotype Sorts" pitchFamily="-84" charset="2"/>
              <a:buNone/>
              <a:tabLst>
                <a:tab pos="2219325" algn="ctr"/>
                <a:tab pos="3994150" algn="ctr"/>
              </a:tabLst>
            </a:pPr>
            <a:r>
              <a:rPr lang="en-US" altLang="en-US" sz="2000" dirty="0"/>
              <a:t>		 </a:t>
            </a:r>
            <a:r>
              <a:rPr lang="en-US" altLang="en-US" sz="2000" i="1" dirty="0"/>
              <a:t>P</a:t>
            </a:r>
            <a:r>
              <a:rPr lang="en-US" altLang="en-US" sz="2000" i="1" baseline="-25000" dirty="0"/>
              <a:t>3	</a:t>
            </a:r>
            <a:r>
              <a:rPr lang="en-US" altLang="en-US" sz="2000" dirty="0"/>
              <a:t>3	</a:t>
            </a:r>
          </a:p>
          <a:p>
            <a:pPr>
              <a:lnSpc>
                <a:spcPct val="90000"/>
              </a:lnSpc>
              <a:tabLst>
                <a:tab pos="2219325" algn="ctr"/>
                <a:tab pos="3994150" algn="ctr"/>
              </a:tabLst>
            </a:pPr>
            <a:r>
              <a:rPr lang="en-US" altLang="en-US" sz="2000" dirty="0"/>
              <a:t>The Gantt chart is: </a:t>
            </a:r>
            <a:br>
              <a:rPr lang="en-US" altLang="en-US" sz="2000" dirty="0"/>
            </a:br>
            <a:br>
              <a:rPr lang="en-US" altLang="en-US" sz="2000" dirty="0"/>
            </a:br>
            <a:br>
              <a:rPr lang="en-US" altLang="en-US" sz="2000" dirty="0"/>
            </a:br>
            <a:br>
              <a:rPr lang="en-US" altLang="en-US" sz="2000" dirty="0"/>
            </a:br>
            <a:endParaRPr lang="en-US" altLang="en-US" sz="2000" dirty="0"/>
          </a:p>
          <a:p>
            <a:pPr>
              <a:lnSpc>
                <a:spcPct val="90000"/>
              </a:lnSpc>
              <a:tabLst>
                <a:tab pos="2219325" algn="ctr"/>
                <a:tab pos="3994150" algn="ctr"/>
              </a:tabLst>
            </a:pPr>
            <a:r>
              <a:rPr lang="en-US" altLang="en-US" sz="2000" dirty="0"/>
              <a:t>Typically, higher average turnaround than SJF, but better </a:t>
            </a:r>
            <a:r>
              <a:rPr lang="en-US" altLang="en-US" sz="2000" b="1" i="1" dirty="0"/>
              <a:t>response</a:t>
            </a:r>
          </a:p>
          <a:p>
            <a:pPr>
              <a:lnSpc>
                <a:spcPct val="90000"/>
              </a:lnSpc>
              <a:tabLst>
                <a:tab pos="2219325" algn="ctr"/>
                <a:tab pos="3994150" algn="ctr"/>
              </a:tabLst>
            </a:pPr>
            <a:r>
              <a:rPr lang="en-US" altLang="en-US" sz="2000" dirty="0"/>
              <a:t>q should be large compared to context switch time</a:t>
            </a:r>
          </a:p>
          <a:p>
            <a:pPr lvl="1">
              <a:lnSpc>
                <a:spcPct val="90000"/>
              </a:lnSpc>
              <a:tabLst>
                <a:tab pos="2219325" algn="ctr"/>
                <a:tab pos="3994150" algn="ctr"/>
              </a:tabLst>
            </a:pPr>
            <a:r>
              <a:rPr lang="en-US" altLang="en-US" sz="2000" dirty="0"/>
              <a:t>q usually 10 milliseconds  to 100 milliseconds, </a:t>
            </a:r>
          </a:p>
          <a:p>
            <a:pPr lvl="1">
              <a:lnSpc>
                <a:spcPct val="90000"/>
              </a:lnSpc>
              <a:tabLst>
                <a:tab pos="2219325" algn="ctr"/>
                <a:tab pos="3994150" algn="ctr"/>
              </a:tabLst>
            </a:pPr>
            <a:r>
              <a:rPr lang="en-US" altLang="en-US" sz="2000" dirty="0"/>
              <a:t>Context switch &lt; 10 microseconds</a:t>
            </a:r>
          </a:p>
        </p:txBody>
      </p:sp>
      <p:pic>
        <p:nvPicPr>
          <p:cNvPr id="41987" name="Picture 1">
            <a:extLst>
              <a:ext uri="{FF2B5EF4-FFF2-40B4-BE49-F238E27FC236}">
                <a16:creationId xmlns:a16="http://schemas.microsoft.com/office/drawing/2014/main" id="{0835376E-2FE4-439A-B19A-4C86254AE5E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98588" y="3167742"/>
            <a:ext cx="6770687"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14D05664-D904-4350-AFC8-65EA9CF0431F}"/>
              </a:ext>
            </a:extLst>
          </p:cNvPr>
          <p:cNvSpPr>
            <a:spLocks noGrp="1" noChangeArrowheads="1"/>
          </p:cNvSpPr>
          <p:nvPr>
            <p:ph type="title"/>
          </p:nvPr>
        </p:nvSpPr>
        <p:spPr>
          <a:xfrm>
            <a:off x="1285078" y="183273"/>
            <a:ext cx="7829550" cy="525462"/>
          </a:xfrm>
        </p:spPr>
        <p:txBody>
          <a:bodyPr/>
          <a:lstStyle/>
          <a:p>
            <a:pPr eaLnBrk="1" hangingPunct="1"/>
            <a:r>
              <a:rPr lang="en-US" altLang="en-US" sz="3000" dirty="0"/>
              <a:t>Time Quantum and Context Switch Time</a:t>
            </a:r>
          </a:p>
        </p:txBody>
      </p:sp>
      <p:pic>
        <p:nvPicPr>
          <p:cNvPr id="44034" name="Picture 1">
            <a:extLst>
              <a:ext uri="{FF2B5EF4-FFF2-40B4-BE49-F238E27FC236}">
                <a16:creationId xmlns:a16="http://schemas.microsoft.com/office/drawing/2014/main" id="{3018707B-932C-4506-B190-526E13C4853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68450" y="1890713"/>
            <a:ext cx="6630988" cy="277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A4B4E05D-43D4-46FF-8EED-AA150E4C753C}"/>
              </a:ext>
            </a:extLst>
          </p:cNvPr>
          <p:cNvSpPr>
            <a:spLocks noGrp="1" noChangeArrowheads="1"/>
          </p:cNvSpPr>
          <p:nvPr>
            <p:ph type="title"/>
          </p:nvPr>
        </p:nvSpPr>
        <p:spPr>
          <a:xfrm>
            <a:off x="782711" y="260322"/>
            <a:ext cx="8722438" cy="457200"/>
          </a:xfrm>
        </p:spPr>
        <p:txBody>
          <a:bodyPr/>
          <a:lstStyle/>
          <a:p>
            <a:pPr eaLnBrk="1" hangingPunct="1"/>
            <a:r>
              <a:rPr lang="en-US" altLang="en-US" sz="2600" dirty="0"/>
              <a:t>Turnaround Time Varies With The Time Quantum</a:t>
            </a:r>
          </a:p>
        </p:txBody>
      </p:sp>
      <p:pic>
        <p:nvPicPr>
          <p:cNvPr id="46083" name="Picture 1">
            <a:extLst>
              <a:ext uri="{FF2B5EF4-FFF2-40B4-BE49-F238E27FC236}">
                <a16:creationId xmlns:a16="http://schemas.microsoft.com/office/drawing/2014/main" id="{D2AB9074-3E6B-4C59-9AF1-F5390D98DA0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44588" y="1557338"/>
            <a:ext cx="4684712" cy="389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2" name="TextBox 3">
            <a:extLst>
              <a:ext uri="{FF2B5EF4-FFF2-40B4-BE49-F238E27FC236}">
                <a16:creationId xmlns:a16="http://schemas.microsoft.com/office/drawing/2014/main" id="{39A4C5F4-2866-44DE-AC4E-665A67CEF2FC}"/>
              </a:ext>
            </a:extLst>
          </p:cNvPr>
          <p:cNvSpPr txBox="1">
            <a:spLocks noChangeArrowheads="1"/>
          </p:cNvSpPr>
          <p:nvPr/>
        </p:nvSpPr>
        <p:spPr bwMode="auto">
          <a:xfrm>
            <a:off x="4572000" y="3354388"/>
            <a:ext cx="3908425" cy="584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9" rIns="91417" bIns="45709">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600" dirty="0">
                <a:latin typeface="Verdana" panose="020B0604030504040204" pitchFamily="34" charset="0"/>
              </a:rPr>
              <a:t>80% of CPU bursts should be shorter than q</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97EB9085-4F50-4C0E-A2E6-8B8193DC54B9}"/>
              </a:ext>
            </a:extLst>
          </p:cNvPr>
          <p:cNvSpPr>
            <a:spLocks noGrp="1" noChangeArrowheads="1"/>
          </p:cNvSpPr>
          <p:nvPr>
            <p:ph type="title"/>
          </p:nvPr>
        </p:nvSpPr>
        <p:spPr>
          <a:xfrm>
            <a:off x="963613" y="109861"/>
            <a:ext cx="7723187" cy="576262"/>
          </a:xfrm>
        </p:spPr>
        <p:txBody>
          <a:bodyPr/>
          <a:lstStyle/>
          <a:p>
            <a:pPr eaLnBrk="1" hangingPunct="1"/>
            <a:r>
              <a:rPr lang="en-US" altLang="en-US" dirty="0"/>
              <a:t>Priority Scheduling</a:t>
            </a:r>
          </a:p>
        </p:txBody>
      </p:sp>
      <p:sp>
        <p:nvSpPr>
          <p:cNvPr id="48130" name="Rectangle 3">
            <a:extLst>
              <a:ext uri="{FF2B5EF4-FFF2-40B4-BE49-F238E27FC236}">
                <a16:creationId xmlns:a16="http://schemas.microsoft.com/office/drawing/2014/main" id="{328AB413-1FAE-4AEC-A110-AFD45B9A75C2}"/>
              </a:ext>
            </a:extLst>
          </p:cNvPr>
          <p:cNvSpPr>
            <a:spLocks noGrp="1" noChangeArrowheads="1"/>
          </p:cNvSpPr>
          <p:nvPr>
            <p:ph type="body" idx="1"/>
          </p:nvPr>
        </p:nvSpPr>
        <p:spPr>
          <a:xfrm>
            <a:off x="821094" y="1233488"/>
            <a:ext cx="7723186" cy="4530725"/>
          </a:xfrm>
        </p:spPr>
        <p:txBody>
          <a:bodyPr/>
          <a:lstStyle/>
          <a:p>
            <a:r>
              <a:rPr lang="en-US" altLang="en-US" sz="2000" dirty="0"/>
              <a:t>A priority number (integer) is associated with each process</a:t>
            </a:r>
          </a:p>
          <a:p>
            <a:r>
              <a:rPr lang="en-US" altLang="en-US" sz="2000" dirty="0"/>
              <a:t>The CPU is allocated to the process with the highest priority (smallest integer </a:t>
            </a:r>
            <a:r>
              <a:rPr lang="en-US" altLang="en-US" sz="2000" dirty="0">
                <a:sym typeface="Symbol" panose="05050102010706020507" pitchFamily="18" charset="2"/>
              </a:rPr>
              <a:t> highest priority)</a:t>
            </a:r>
          </a:p>
          <a:p>
            <a:pPr lvl="1"/>
            <a:r>
              <a:rPr lang="en-US" altLang="en-US" sz="2000" dirty="0"/>
              <a:t>Preemptive</a:t>
            </a:r>
          </a:p>
          <a:p>
            <a:pPr lvl="1"/>
            <a:r>
              <a:rPr lang="en-US" altLang="en-US" sz="2000" dirty="0" err="1"/>
              <a:t>Nonpreemptive</a:t>
            </a:r>
            <a:endParaRPr lang="en-US" altLang="en-US" sz="2000" dirty="0"/>
          </a:p>
          <a:p>
            <a:r>
              <a:rPr lang="en-US" altLang="en-US" sz="2000" dirty="0"/>
              <a:t>SJF is priority scheduling where priority is the inverse of predicted next CPU burst time</a:t>
            </a:r>
          </a:p>
          <a:p>
            <a:r>
              <a:rPr lang="en-US" altLang="en-US" sz="2000" dirty="0"/>
              <a:t>Problem </a:t>
            </a:r>
            <a:r>
              <a:rPr lang="en-US" altLang="en-US" sz="2000" dirty="0">
                <a:sym typeface="Symbol" panose="05050102010706020507" pitchFamily="18" charset="2"/>
              </a:rPr>
              <a:t> </a:t>
            </a:r>
            <a:r>
              <a:rPr lang="en-US" altLang="en-US" sz="2000" b="1" dirty="0">
                <a:solidFill>
                  <a:srgbClr val="006699"/>
                </a:solidFill>
                <a:latin typeface="+mj-lt"/>
                <a:sym typeface="Symbol" panose="05050102010706020507" pitchFamily="18" charset="2"/>
              </a:rPr>
              <a:t>Starvation</a:t>
            </a:r>
            <a:r>
              <a:rPr lang="en-US" altLang="en-US" sz="2000" b="1" dirty="0">
                <a:sym typeface="Symbol" panose="05050102010706020507" pitchFamily="18" charset="2"/>
              </a:rPr>
              <a:t> </a:t>
            </a:r>
            <a:r>
              <a:rPr lang="en-US" altLang="en-US" sz="2000" dirty="0">
                <a:sym typeface="Symbol" panose="05050102010706020507" pitchFamily="18" charset="2"/>
              </a:rPr>
              <a:t>– low priority processes may never execute</a:t>
            </a:r>
          </a:p>
          <a:p>
            <a:r>
              <a:rPr lang="en-US" altLang="en-US" sz="2000" dirty="0">
                <a:sym typeface="Symbol" panose="05050102010706020507" pitchFamily="18" charset="2"/>
              </a:rPr>
              <a:t>Solution  </a:t>
            </a:r>
            <a:r>
              <a:rPr lang="en-US" altLang="en-US" sz="2000" b="1" dirty="0">
                <a:solidFill>
                  <a:srgbClr val="006699"/>
                </a:solidFill>
                <a:latin typeface="+mj-lt"/>
                <a:sym typeface="Symbol" panose="05050102010706020507" pitchFamily="18" charset="2"/>
              </a:rPr>
              <a:t>Aging</a:t>
            </a:r>
            <a:r>
              <a:rPr lang="en-US" altLang="en-US" sz="2000" b="1" dirty="0">
                <a:sym typeface="Symbol" panose="05050102010706020507" pitchFamily="18" charset="2"/>
              </a:rPr>
              <a:t> </a:t>
            </a:r>
            <a:r>
              <a:rPr lang="en-US" altLang="en-US" sz="2000" dirty="0">
                <a:sym typeface="Symbol" panose="05050102010706020507" pitchFamily="18" charset="2"/>
              </a:rPr>
              <a:t>– as time progresses increase the priority of the process</a:t>
            </a:r>
          </a:p>
          <a:p>
            <a:pPr>
              <a:buFont typeface="Monotype Sorts" pitchFamily="-84" charset="2"/>
              <a:buNone/>
            </a:pPr>
            <a:endParaRPr lang="en-US" altLang="en-US" sz="2000" b="1" dirty="0">
              <a:solidFill>
                <a:srgbClr val="3366FF"/>
              </a:solidFill>
              <a:sym typeface="Symbol" panose="05050102010706020507" pitchFamily="18" charset="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BD1CE599-A709-401F-8DD0-F7F4CCB2DDF1}"/>
              </a:ext>
            </a:extLst>
          </p:cNvPr>
          <p:cNvSpPr>
            <a:spLocks noGrp="1" noChangeArrowheads="1"/>
          </p:cNvSpPr>
          <p:nvPr>
            <p:ph type="title"/>
          </p:nvPr>
        </p:nvSpPr>
        <p:spPr>
          <a:xfrm>
            <a:off x="1406525" y="136087"/>
            <a:ext cx="7280275" cy="576262"/>
          </a:xfrm>
        </p:spPr>
        <p:txBody>
          <a:bodyPr/>
          <a:lstStyle/>
          <a:p>
            <a:pPr eaLnBrk="1" hangingPunct="1"/>
            <a:r>
              <a:rPr lang="en-US" altLang="en-US" dirty="0"/>
              <a:t>Example of Priority Scheduling</a:t>
            </a:r>
          </a:p>
        </p:txBody>
      </p:sp>
      <p:sp>
        <p:nvSpPr>
          <p:cNvPr id="50178" name="Rectangle 36">
            <a:extLst>
              <a:ext uri="{FF2B5EF4-FFF2-40B4-BE49-F238E27FC236}">
                <a16:creationId xmlns:a16="http://schemas.microsoft.com/office/drawing/2014/main" id="{CDADF2B2-580D-4F09-8A23-D969CD614667}"/>
              </a:ext>
            </a:extLst>
          </p:cNvPr>
          <p:cNvSpPr>
            <a:spLocks noGrp="1" noChangeArrowheads="1"/>
          </p:cNvSpPr>
          <p:nvPr>
            <p:ph type="body" idx="1"/>
          </p:nvPr>
        </p:nvSpPr>
        <p:spPr>
          <a:xfrm>
            <a:off x="806450" y="1093787"/>
            <a:ext cx="7973868" cy="4907539"/>
          </a:xfrm>
          <a:noFill/>
        </p:spPr>
        <p:txBody>
          <a:bodyPr/>
          <a:lstStyle/>
          <a:p>
            <a:pPr>
              <a:buFont typeface="Monotype Sorts" pitchFamily="-84" charset="2"/>
              <a:buNone/>
              <a:tabLst>
                <a:tab pos="1600200" algn="ctr"/>
                <a:tab pos="3251200" algn="ctr"/>
                <a:tab pos="5140325" algn="ctr"/>
              </a:tabLst>
            </a:pPr>
            <a:r>
              <a:rPr lang="en-US" altLang="en-US" sz="2000" dirty="0"/>
              <a:t>		 </a:t>
            </a:r>
            <a:r>
              <a:rPr lang="en-US" altLang="en-US" sz="2000" u="sng" dirty="0"/>
              <a:t>Process</a:t>
            </a:r>
            <a:r>
              <a:rPr lang="en-US" altLang="en-US" sz="2000" u="sng" dirty="0">
                <a:solidFill>
                  <a:schemeClr val="bg1"/>
                </a:solidFill>
              </a:rPr>
              <a:t>	</a:t>
            </a:r>
            <a:r>
              <a:rPr lang="en-US" altLang="en-US" sz="2000" u="sng" dirty="0"/>
              <a:t>Burst Time</a:t>
            </a:r>
            <a:r>
              <a:rPr lang="en-US" altLang="en-US" sz="2000" dirty="0"/>
              <a:t>	</a:t>
            </a:r>
            <a:r>
              <a:rPr lang="en-US" altLang="en-US" sz="2000" u="sng" dirty="0"/>
              <a:t>Priority</a:t>
            </a:r>
            <a:endParaRPr lang="en-US" altLang="en-US" sz="2000" dirty="0"/>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1</a:t>
            </a:r>
            <a:r>
              <a:rPr lang="en-US" altLang="en-US" sz="2000" dirty="0"/>
              <a:t>	1</a:t>
            </a:r>
            <a:r>
              <a:rPr lang="en-US" altLang="en-US" sz="2000" dirty="0">
                <a:solidFill>
                  <a:srgbClr val="000000"/>
                </a:solidFill>
              </a:rPr>
              <a:t>0</a:t>
            </a:r>
            <a:r>
              <a:rPr lang="en-US" altLang="en-US" sz="2000" dirty="0"/>
              <a:t>	3</a:t>
            </a:r>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2 	</a:t>
            </a:r>
            <a:r>
              <a:rPr lang="en-US" altLang="en-US" sz="2000" dirty="0">
                <a:solidFill>
                  <a:srgbClr val="000000"/>
                </a:solidFill>
              </a:rPr>
              <a:t>1</a:t>
            </a:r>
            <a:r>
              <a:rPr lang="en-US" altLang="en-US" sz="2000" dirty="0"/>
              <a:t>	1</a:t>
            </a:r>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3</a:t>
            </a:r>
            <a:r>
              <a:rPr lang="en-US" altLang="en-US" sz="2000" dirty="0"/>
              <a:t>	</a:t>
            </a:r>
            <a:r>
              <a:rPr lang="en-US" altLang="en-US" sz="2000" dirty="0">
                <a:solidFill>
                  <a:srgbClr val="000000"/>
                </a:solidFill>
              </a:rPr>
              <a:t>2</a:t>
            </a:r>
            <a:r>
              <a:rPr lang="en-US" altLang="en-US" sz="2000" dirty="0"/>
              <a:t>	4</a:t>
            </a:r>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4</a:t>
            </a:r>
            <a:r>
              <a:rPr lang="en-US" altLang="en-US" sz="2000" dirty="0"/>
              <a:t>	</a:t>
            </a:r>
            <a:r>
              <a:rPr lang="en-US" altLang="en-US" sz="2000" dirty="0">
                <a:solidFill>
                  <a:srgbClr val="000000"/>
                </a:solidFill>
              </a:rPr>
              <a:t>1</a:t>
            </a:r>
            <a:r>
              <a:rPr lang="en-US" altLang="en-US" sz="2000" dirty="0"/>
              <a:t>	5</a:t>
            </a:r>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5	</a:t>
            </a:r>
            <a:r>
              <a:rPr lang="en-US" altLang="en-US" sz="2000" dirty="0"/>
              <a:t>5	2</a:t>
            </a:r>
          </a:p>
          <a:p>
            <a:pPr>
              <a:buFont typeface="Monotype Sorts" pitchFamily="-84" charset="2"/>
              <a:buNone/>
              <a:tabLst>
                <a:tab pos="1600200" algn="ctr"/>
                <a:tab pos="3251200" algn="ctr"/>
                <a:tab pos="5140325" algn="ctr"/>
              </a:tabLst>
            </a:pPr>
            <a:endParaRPr lang="en-US" altLang="en-US" sz="2000" baseline="-25000" dirty="0"/>
          </a:p>
          <a:p>
            <a:pPr>
              <a:tabLst>
                <a:tab pos="1600200" algn="ctr"/>
                <a:tab pos="3251200" algn="ctr"/>
                <a:tab pos="5140325" algn="ctr"/>
              </a:tabLst>
            </a:pPr>
            <a:r>
              <a:rPr lang="en-US" altLang="en-US" sz="2000" dirty="0"/>
              <a:t>Priority scheduling Gantt Chart</a:t>
            </a:r>
          </a:p>
          <a:p>
            <a:pPr>
              <a:tabLst>
                <a:tab pos="1600200" algn="ctr"/>
                <a:tab pos="3251200" algn="ctr"/>
                <a:tab pos="5140325" algn="ctr"/>
              </a:tabLst>
            </a:pPr>
            <a:endParaRPr lang="en-US" altLang="en-US" sz="2000" dirty="0"/>
          </a:p>
          <a:p>
            <a:pPr>
              <a:tabLst>
                <a:tab pos="1600200" algn="ctr"/>
                <a:tab pos="3251200" algn="ctr"/>
                <a:tab pos="5140325" algn="ctr"/>
              </a:tabLst>
            </a:pPr>
            <a:endParaRPr lang="en-US" altLang="en-US" sz="2000" dirty="0"/>
          </a:p>
          <a:p>
            <a:pPr>
              <a:buFont typeface="Monotype Sorts" pitchFamily="-84" charset="2"/>
              <a:buNone/>
              <a:tabLst>
                <a:tab pos="1600200" algn="ctr"/>
                <a:tab pos="3251200" algn="ctr"/>
                <a:tab pos="5140325" algn="ctr"/>
              </a:tabLst>
            </a:pPr>
            <a:endParaRPr lang="en-US" altLang="en-US" sz="2000" dirty="0"/>
          </a:p>
          <a:p>
            <a:pPr>
              <a:tabLst>
                <a:tab pos="1600200" algn="ctr"/>
                <a:tab pos="3251200" algn="ctr"/>
                <a:tab pos="5140325" algn="ctr"/>
              </a:tabLst>
            </a:pPr>
            <a:r>
              <a:rPr lang="en-US" altLang="en-US" sz="2000" dirty="0"/>
              <a:t>Average waiting time = 8.2</a:t>
            </a:r>
            <a:endParaRPr lang="en-US" altLang="en-US" sz="2000" i="1" baseline="-25000" dirty="0"/>
          </a:p>
        </p:txBody>
      </p:sp>
      <p:pic>
        <p:nvPicPr>
          <p:cNvPr id="50179" name="Picture 1">
            <a:extLst>
              <a:ext uri="{FF2B5EF4-FFF2-40B4-BE49-F238E27FC236}">
                <a16:creationId xmlns:a16="http://schemas.microsoft.com/office/drawing/2014/main" id="{A77EE5E1-F152-4172-9935-567FC2AB99C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7050" y="4400550"/>
            <a:ext cx="646747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CDE24674-CB1D-4389-9B31-B04F87B0ABF8}"/>
              </a:ext>
            </a:extLst>
          </p:cNvPr>
          <p:cNvSpPr>
            <a:spLocks noGrp="1" noChangeArrowheads="1"/>
          </p:cNvSpPr>
          <p:nvPr>
            <p:ph type="title"/>
          </p:nvPr>
        </p:nvSpPr>
        <p:spPr>
          <a:xfrm>
            <a:off x="1452825" y="137006"/>
            <a:ext cx="7280275" cy="576262"/>
          </a:xfrm>
        </p:spPr>
        <p:txBody>
          <a:bodyPr/>
          <a:lstStyle/>
          <a:p>
            <a:pPr eaLnBrk="1" hangingPunct="1"/>
            <a:r>
              <a:rPr lang="en-US" altLang="en-US" dirty="0"/>
              <a:t>Priority Scheduling w/ Round-Robin</a:t>
            </a:r>
          </a:p>
        </p:txBody>
      </p:sp>
      <p:sp>
        <p:nvSpPr>
          <p:cNvPr id="52226" name="Rectangle 36">
            <a:extLst>
              <a:ext uri="{FF2B5EF4-FFF2-40B4-BE49-F238E27FC236}">
                <a16:creationId xmlns:a16="http://schemas.microsoft.com/office/drawing/2014/main" id="{2105BD44-B36B-488F-9B4A-6D230FFCC50A}"/>
              </a:ext>
            </a:extLst>
          </p:cNvPr>
          <p:cNvSpPr>
            <a:spLocks noGrp="1" noChangeArrowheads="1"/>
          </p:cNvSpPr>
          <p:nvPr>
            <p:ph type="body" idx="1"/>
          </p:nvPr>
        </p:nvSpPr>
        <p:spPr>
          <a:xfrm>
            <a:off x="806450" y="938848"/>
            <a:ext cx="7675077" cy="4052252"/>
          </a:xfrm>
          <a:noFill/>
        </p:spPr>
        <p:txBody>
          <a:bodyPr/>
          <a:lstStyle/>
          <a:p>
            <a:pPr>
              <a:tabLst>
                <a:tab pos="1600200" algn="ctr"/>
                <a:tab pos="3251200" algn="ctr"/>
                <a:tab pos="5140325" algn="ctr"/>
              </a:tabLst>
            </a:pPr>
            <a:r>
              <a:rPr lang="en-US" altLang="en-US" sz="2000" dirty="0"/>
              <a:t>Run the process with the highest priority. Processes with the same priority run round-robin</a:t>
            </a:r>
          </a:p>
          <a:p>
            <a:pPr>
              <a:tabLst>
                <a:tab pos="1600200" algn="ctr"/>
                <a:tab pos="3251200" algn="ctr"/>
                <a:tab pos="5140325" algn="ctr"/>
              </a:tabLst>
            </a:pPr>
            <a:r>
              <a:rPr lang="en-US" altLang="en-US" sz="2000" dirty="0"/>
              <a:t>Example:</a:t>
            </a:r>
          </a:p>
          <a:p>
            <a:pPr>
              <a:buFont typeface="Monotype Sorts" pitchFamily="-84" charset="2"/>
              <a:buNone/>
              <a:tabLst>
                <a:tab pos="1600200" algn="ctr"/>
                <a:tab pos="3251200" algn="ctr"/>
                <a:tab pos="5140325" algn="ctr"/>
              </a:tabLst>
            </a:pPr>
            <a:r>
              <a:rPr lang="en-US" altLang="en-US" sz="2000" dirty="0"/>
              <a:t>                     </a:t>
            </a:r>
            <a:r>
              <a:rPr lang="en-US" altLang="en-US" sz="2000" u="sng" dirty="0"/>
              <a:t>Process</a:t>
            </a:r>
            <a:r>
              <a:rPr lang="en-US" altLang="en-US" sz="2000" u="sng" dirty="0">
                <a:solidFill>
                  <a:schemeClr val="bg1"/>
                </a:solidFill>
              </a:rPr>
              <a:t>	a   </a:t>
            </a:r>
            <a:r>
              <a:rPr lang="en-US" altLang="en-US" sz="2000" u="sng" dirty="0"/>
              <a:t>Burst Time</a:t>
            </a:r>
            <a:r>
              <a:rPr lang="en-US" altLang="en-US" sz="2000" dirty="0"/>
              <a:t>	</a:t>
            </a:r>
            <a:r>
              <a:rPr lang="en-US" altLang="en-US" sz="2000" u="sng" dirty="0"/>
              <a:t>Priority</a:t>
            </a:r>
            <a:endParaRPr lang="en-US" altLang="en-US" sz="2000" dirty="0"/>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1</a:t>
            </a:r>
            <a:r>
              <a:rPr lang="en-US" altLang="en-US" sz="2000" dirty="0"/>
              <a:t>	4	3</a:t>
            </a:r>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2 	</a:t>
            </a:r>
            <a:r>
              <a:rPr lang="en-US" altLang="en-US" sz="2000" dirty="0">
                <a:solidFill>
                  <a:srgbClr val="000000"/>
                </a:solidFill>
              </a:rPr>
              <a:t>5</a:t>
            </a:r>
            <a:r>
              <a:rPr lang="en-US" altLang="en-US" sz="2000" dirty="0"/>
              <a:t>	2</a:t>
            </a:r>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3</a:t>
            </a:r>
            <a:r>
              <a:rPr lang="en-US" altLang="en-US" sz="2000" dirty="0"/>
              <a:t>	</a:t>
            </a:r>
            <a:r>
              <a:rPr lang="en-US" altLang="en-US" sz="2000" dirty="0">
                <a:solidFill>
                  <a:srgbClr val="000000"/>
                </a:solidFill>
              </a:rPr>
              <a:t>8</a:t>
            </a:r>
            <a:r>
              <a:rPr lang="en-US" altLang="en-US" sz="2000" dirty="0"/>
              <a:t>	2</a:t>
            </a:r>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4</a:t>
            </a:r>
            <a:r>
              <a:rPr lang="en-US" altLang="en-US" sz="2000" dirty="0"/>
              <a:t>	</a:t>
            </a:r>
            <a:r>
              <a:rPr lang="en-US" altLang="en-US" sz="2000" dirty="0">
                <a:solidFill>
                  <a:srgbClr val="000000"/>
                </a:solidFill>
              </a:rPr>
              <a:t>7</a:t>
            </a:r>
            <a:r>
              <a:rPr lang="en-US" altLang="en-US" sz="2000" dirty="0"/>
              <a:t>	1</a:t>
            </a:r>
          </a:p>
          <a:p>
            <a:pPr>
              <a:buFont typeface="Monotype Sorts" pitchFamily="-84" charset="2"/>
              <a:buNone/>
              <a:tabLst>
                <a:tab pos="1600200" algn="ctr"/>
                <a:tab pos="3251200" algn="ctr"/>
                <a:tab pos="5140325" algn="ctr"/>
              </a:tabLst>
            </a:pPr>
            <a:r>
              <a:rPr lang="en-US" altLang="en-US" sz="2000" dirty="0"/>
              <a:t>		</a:t>
            </a:r>
            <a:r>
              <a:rPr lang="en-US" altLang="en-US" sz="2000" i="1" dirty="0"/>
              <a:t>P</a:t>
            </a:r>
            <a:r>
              <a:rPr lang="en-US" altLang="en-US" sz="2000" i="1" baseline="-25000" dirty="0"/>
              <a:t>5	</a:t>
            </a:r>
            <a:r>
              <a:rPr lang="en-US" altLang="en-US" sz="2000" dirty="0"/>
              <a:t>3	3</a:t>
            </a:r>
            <a:endParaRPr lang="en-US" altLang="en-US" sz="2000" baseline="-25000" dirty="0"/>
          </a:p>
          <a:p>
            <a:pPr>
              <a:tabLst>
                <a:tab pos="1600200" algn="ctr"/>
                <a:tab pos="3251200" algn="ctr"/>
                <a:tab pos="5140325" algn="ctr"/>
              </a:tabLst>
            </a:pPr>
            <a:r>
              <a:rPr lang="en-US" altLang="en-US" sz="2000" dirty="0"/>
              <a:t>Gantt Chart with time quantum = 2</a:t>
            </a:r>
          </a:p>
          <a:p>
            <a:pPr>
              <a:tabLst>
                <a:tab pos="1600200" algn="ctr"/>
                <a:tab pos="3251200" algn="ctr"/>
                <a:tab pos="5140325" algn="ctr"/>
              </a:tabLst>
            </a:pPr>
            <a:endParaRPr lang="en-US" altLang="en-US" sz="2000" dirty="0"/>
          </a:p>
          <a:p>
            <a:pPr marL="0" indent="0">
              <a:buNone/>
              <a:tabLst>
                <a:tab pos="1600200" algn="ctr"/>
                <a:tab pos="3251200" algn="ctr"/>
                <a:tab pos="5140325" algn="ctr"/>
              </a:tabLst>
            </a:pPr>
            <a:endParaRPr lang="en-US" altLang="en-US" sz="2000" dirty="0"/>
          </a:p>
        </p:txBody>
      </p:sp>
      <p:pic>
        <p:nvPicPr>
          <p:cNvPr id="52227" name="Picture 2">
            <a:extLst>
              <a:ext uri="{FF2B5EF4-FFF2-40B4-BE49-F238E27FC236}">
                <a16:creationId xmlns:a16="http://schemas.microsoft.com/office/drawing/2014/main" id="{E776F08C-5E1F-44C8-AB6B-D21CDC72CD1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08480" y="5082540"/>
            <a:ext cx="6200925" cy="724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16952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AF43CD99-B0BB-4EB6-B798-512BB1BA6A01}"/>
              </a:ext>
            </a:extLst>
          </p:cNvPr>
          <p:cNvSpPr>
            <a:spLocks noGrp="1" noChangeArrowheads="1"/>
          </p:cNvSpPr>
          <p:nvPr>
            <p:ph type="title"/>
          </p:nvPr>
        </p:nvSpPr>
        <p:spPr>
          <a:xfrm>
            <a:off x="660400" y="181838"/>
            <a:ext cx="8026400" cy="576262"/>
          </a:xfrm>
        </p:spPr>
        <p:txBody>
          <a:bodyPr/>
          <a:lstStyle/>
          <a:p>
            <a:pPr eaLnBrk="1" hangingPunct="1"/>
            <a:r>
              <a:rPr lang="en-US" altLang="en-US" dirty="0"/>
              <a:t>Multilevel Queue</a:t>
            </a:r>
          </a:p>
        </p:txBody>
      </p:sp>
      <p:sp>
        <p:nvSpPr>
          <p:cNvPr id="57346" name="Rectangle 3">
            <a:extLst>
              <a:ext uri="{FF2B5EF4-FFF2-40B4-BE49-F238E27FC236}">
                <a16:creationId xmlns:a16="http://schemas.microsoft.com/office/drawing/2014/main" id="{ABB3FE17-4C94-4A31-A709-AB137253300C}"/>
              </a:ext>
            </a:extLst>
          </p:cNvPr>
          <p:cNvSpPr>
            <a:spLocks noGrp="1" noChangeArrowheads="1"/>
          </p:cNvSpPr>
          <p:nvPr>
            <p:ph type="body" idx="1"/>
          </p:nvPr>
        </p:nvSpPr>
        <p:spPr>
          <a:xfrm>
            <a:off x="830424" y="1144346"/>
            <a:ext cx="7678576" cy="4456354"/>
          </a:xfrm>
        </p:spPr>
        <p:txBody>
          <a:bodyPr/>
          <a:lstStyle/>
          <a:p>
            <a:r>
              <a:rPr lang="en-US" altLang="en-US" sz="2000" dirty="0"/>
              <a:t>The ready queue consists of multiple queues</a:t>
            </a:r>
          </a:p>
          <a:p>
            <a:r>
              <a:rPr lang="en-US" altLang="en-US" sz="2000" dirty="0"/>
              <a:t>Multilevel queue scheduler defined by the following parameters:</a:t>
            </a:r>
          </a:p>
          <a:p>
            <a:pPr lvl="1"/>
            <a:r>
              <a:rPr lang="en-US" altLang="en-US" sz="2000" dirty="0"/>
              <a:t>Number of queues</a:t>
            </a:r>
          </a:p>
          <a:p>
            <a:pPr lvl="1"/>
            <a:r>
              <a:rPr lang="en-US" altLang="en-US" sz="2000" dirty="0"/>
              <a:t>Scheduling algorithms for each queue</a:t>
            </a:r>
          </a:p>
          <a:p>
            <a:pPr lvl="1"/>
            <a:r>
              <a:rPr lang="en-US" altLang="en-US" sz="2000" dirty="0"/>
              <a:t>Method used to determine which queue a process will enter when that process needs service</a:t>
            </a:r>
          </a:p>
          <a:p>
            <a:pPr lvl="1"/>
            <a:r>
              <a:rPr lang="en-US" altLang="en-US" sz="2000" dirty="0"/>
              <a:t>Scheduling among the queues</a:t>
            </a:r>
          </a:p>
          <a:p>
            <a:endParaRPr lang="en-US" altLang="en-US" sz="2000" dirty="0"/>
          </a:p>
        </p:txBody>
      </p:sp>
    </p:spTree>
    <p:extLst>
      <p:ext uri="{BB962C8B-B14F-4D97-AF65-F5344CB8AC3E}">
        <p14:creationId xmlns:p14="http://schemas.microsoft.com/office/powerpoint/2010/main" val="32068400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1CD96B60-8A48-434B-B0B3-7D137B28C363}"/>
              </a:ext>
            </a:extLst>
          </p:cNvPr>
          <p:cNvSpPr>
            <a:spLocks noGrp="1" noChangeArrowheads="1"/>
          </p:cNvSpPr>
          <p:nvPr>
            <p:ph type="title"/>
          </p:nvPr>
        </p:nvSpPr>
        <p:spPr>
          <a:xfrm>
            <a:off x="973138" y="219305"/>
            <a:ext cx="7713662" cy="576262"/>
          </a:xfrm>
        </p:spPr>
        <p:txBody>
          <a:bodyPr/>
          <a:lstStyle/>
          <a:p>
            <a:pPr eaLnBrk="1" hangingPunct="1"/>
            <a:r>
              <a:rPr lang="en-US" altLang="en-US" dirty="0"/>
              <a:t>Multilevel Queue</a:t>
            </a:r>
          </a:p>
        </p:txBody>
      </p:sp>
      <p:sp>
        <p:nvSpPr>
          <p:cNvPr id="54274" name="Rectangle 3">
            <a:extLst>
              <a:ext uri="{FF2B5EF4-FFF2-40B4-BE49-F238E27FC236}">
                <a16:creationId xmlns:a16="http://schemas.microsoft.com/office/drawing/2014/main" id="{1C367D1A-7DE2-4C9D-8F9F-8D980F3D95B0}"/>
              </a:ext>
            </a:extLst>
          </p:cNvPr>
          <p:cNvSpPr>
            <a:spLocks noGrp="1" noChangeArrowheads="1"/>
          </p:cNvSpPr>
          <p:nvPr>
            <p:ph type="body" idx="1"/>
          </p:nvPr>
        </p:nvSpPr>
        <p:spPr>
          <a:xfrm>
            <a:off x="811763" y="1068389"/>
            <a:ext cx="7713662" cy="900112"/>
          </a:xfrm>
        </p:spPr>
        <p:txBody>
          <a:bodyPr/>
          <a:lstStyle/>
          <a:p>
            <a:r>
              <a:rPr lang="en-US" altLang="en-US" sz="2000" dirty="0"/>
              <a:t>With priority scheduling, have separate queues for each priority.</a:t>
            </a:r>
          </a:p>
          <a:p>
            <a:r>
              <a:rPr lang="en-US" altLang="en-US" sz="2000" dirty="0"/>
              <a:t>Schedule the process in the highest-priority queue!</a:t>
            </a:r>
          </a:p>
        </p:txBody>
      </p:sp>
      <p:pic>
        <p:nvPicPr>
          <p:cNvPr id="54275" name="Picture 1">
            <a:extLst>
              <a:ext uri="{FF2B5EF4-FFF2-40B4-BE49-F238E27FC236}">
                <a16:creationId xmlns:a16="http://schemas.microsoft.com/office/drawing/2014/main" id="{B29FEE3D-3750-4508-92A3-9B9E46FECE1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76575" y="2400300"/>
            <a:ext cx="3073400" cy="339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6F1CB462-9D7D-4499-AF00-7FB8FBEF7A03}"/>
              </a:ext>
            </a:extLst>
          </p:cNvPr>
          <p:cNvSpPr>
            <a:spLocks noGrp="1"/>
          </p:cNvSpPr>
          <p:nvPr>
            <p:ph type="title"/>
          </p:nvPr>
        </p:nvSpPr>
        <p:spPr>
          <a:xfrm>
            <a:off x="890429" y="215191"/>
            <a:ext cx="7880350" cy="576262"/>
          </a:xfrm>
        </p:spPr>
        <p:txBody>
          <a:bodyPr/>
          <a:lstStyle/>
          <a:p>
            <a:r>
              <a:rPr lang="en-US" altLang="en-US" dirty="0"/>
              <a:t>Multilevel Queue</a:t>
            </a:r>
          </a:p>
        </p:txBody>
      </p:sp>
      <p:sp>
        <p:nvSpPr>
          <p:cNvPr id="56322" name="Content Placeholder 2">
            <a:extLst>
              <a:ext uri="{FF2B5EF4-FFF2-40B4-BE49-F238E27FC236}">
                <a16:creationId xmlns:a16="http://schemas.microsoft.com/office/drawing/2014/main" id="{0F152084-C4F7-4F98-AC9A-7299EF5D225F}"/>
              </a:ext>
            </a:extLst>
          </p:cNvPr>
          <p:cNvSpPr>
            <a:spLocks noGrp="1"/>
          </p:cNvSpPr>
          <p:nvPr>
            <p:ph idx="1"/>
          </p:nvPr>
        </p:nvSpPr>
        <p:spPr/>
        <p:txBody>
          <a:bodyPr/>
          <a:lstStyle/>
          <a:p>
            <a:r>
              <a:rPr lang="en-US" altLang="en-US" sz="2000" dirty="0"/>
              <a:t>Prioritization based upon process type</a:t>
            </a:r>
          </a:p>
        </p:txBody>
      </p:sp>
      <p:pic>
        <p:nvPicPr>
          <p:cNvPr id="56323" name="Picture 3">
            <a:extLst>
              <a:ext uri="{FF2B5EF4-FFF2-40B4-BE49-F238E27FC236}">
                <a16:creationId xmlns:a16="http://schemas.microsoft.com/office/drawing/2014/main" id="{E45EDF43-47DE-4E7F-B77E-5ED79D91AC0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20755" y="1879778"/>
            <a:ext cx="6799988" cy="361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AF43CD99-B0BB-4EB6-B798-512BB1BA6A01}"/>
              </a:ext>
            </a:extLst>
          </p:cNvPr>
          <p:cNvSpPr>
            <a:spLocks noGrp="1" noChangeArrowheads="1"/>
          </p:cNvSpPr>
          <p:nvPr>
            <p:ph type="title"/>
          </p:nvPr>
        </p:nvSpPr>
        <p:spPr>
          <a:xfrm>
            <a:off x="660400" y="181838"/>
            <a:ext cx="8026400" cy="576262"/>
          </a:xfrm>
        </p:spPr>
        <p:txBody>
          <a:bodyPr/>
          <a:lstStyle/>
          <a:p>
            <a:pPr eaLnBrk="1" hangingPunct="1"/>
            <a:r>
              <a:rPr lang="en-US" altLang="en-US" dirty="0"/>
              <a:t>Multilevel Feedback Queue</a:t>
            </a:r>
          </a:p>
        </p:txBody>
      </p:sp>
      <p:sp>
        <p:nvSpPr>
          <p:cNvPr id="57346" name="Rectangle 3">
            <a:extLst>
              <a:ext uri="{FF2B5EF4-FFF2-40B4-BE49-F238E27FC236}">
                <a16:creationId xmlns:a16="http://schemas.microsoft.com/office/drawing/2014/main" id="{ABB3FE17-4C94-4A31-A709-AB137253300C}"/>
              </a:ext>
            </a:extLst>
          </p:cNvPr>
          <p:cNvSpPr>
            <a:spLocks noGrp="1" noChangeArrowheads="1"/>
          </p:cNvSpPr>
          <p:nvPr>
            <p:ph type="body" idx="1"/>
          </p:nvPr>
        </p:nvSpPr>
        <p:spPr>
          <a:xfrm>
            <a:off x="830424" y="1144346"/>
            <a:ext cx="7716676" cy="4399927"/>
          </a:xfrm>
        </p:spPr>
        <p:txBody>
          <a:bodyPr/>
          <a:lstStyle/>
          <a:p>
            <a:r>
              <a:rPr lang="en-US" altLang="en-US" sz="2000" dirty="0"/>
              <a:t>A process can move between the various queues.</a:t>
            </a:r>
          </a:p>
          <a:p>
            <a:r>
              <a:rPr lang="en-US" altLang="en-US" sz="2000" dirty="0"/>
              <a:t>Multilevel-feedback-queue scheduler defined by the following parameters:</a:t>
            </a:r>
          </a:p>
          <a:p>
            <a:pPr lvl="1"/>
            <a:r>
              <a:rPr lang="en-US" altLang="en-US" sz="2000" dirty="0"/>
              <a:t>Number of queues</a:t>
            </a:r>
          </a:p>
          <a:p>
            <a:pPr lvl="1"/>
            <a:r>
              <a:rPr lang="en-US" altLang="en-US" sz="2000" dirty="0"/>
              <a:t>Scheduling algorithms for each queue</a:t>
            </a:r>
          </a:p>
          <a:p>
            <a:pPr lvl="1"/>
            <a:r>
              <a:rPr lang="en-US" altLang="en-US" sz="2000" dirty="0"/>
              <a:t>Method used to determine when to upgrade a process</a:t>
            </a:r>
          </a:p>
          <a:p>
            <a:pPr lvl="1"/>
            <a:r>
              <a:rPr lang="en-US" altLang="en-US" sz="2000" dirty="0"/>
              <a:t>Method used to determine when to demote a process</a:t>
            </a:r>
          </a:p>
          <a:p>
            <a:pPr lvl="1"/>
            <a:r>
              <a:rPr lang="en-US" altLang="en-US" sz="2000" dirty="0"/>
              <a:t>Method used to determine which queue a process will enter when that process needs service</a:t>
            </a:r>
          </a:p>
          <a:p>
            <a:r>
              <a:rPr lang="en-US" altLang="en-US" sz="2000" dirty="0"/>
              <a:t>Aging can be implemented using multilevel feedback queue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4CCD566E-DD44-408E-84CD-E9F177C9548D}"/>
              </a:ext>
            </a:extLst>
          </p:cNvPr>
          <p:cNvSpPr>
            <a:spLocks noGrp="1" noChangeArrowheads="1"/>
          </p:cNvSpPr>
          <p:nvPr>
            <p:ph type="title"/>
          </p:nvPr>
        </p:nvSpPr>
        <p:spPr>
          <a:xfrm>
            <a:off x="1238137" y="42179"/>
            <a:ext cx="8186349" cy="679450"/>
          </a:xfrm>
        </p:spPr>
        <p:txBody>
          <a:bodyPr/>
          <a:lstStyle/>
          <a:p>
            <a:pPr eaLnBrk="1" hangingPunct="1"/>
            <a:r>
              <a:rPr lang="en-US" altLang="en-US" dirty="0"/>
              <a:t>Example of Multilevel Feedback Queue</a:t>
            </a:r>
          </a:p>
        </p:txBody>
      </p:sp>
      <p:sp>
        <p:nvSpPr>
          <p:cNvPr id="59394" name="Rectangle 3">
            <a:extLst>
              <a:ext uri="{FF2B5EF4-FFF2-40B4-BE49-F238E27FC236}">
                <a16:creationId xmlns:a16="http://schemas.microsoft.com/office/drawing/2014/main" id="{613E5F61-646B-48FF-83DC-0216A8F01A46}"/>
              </a:ext>
            </a:extLst>
          </p:cNvPr>
          <p:cNvSpPr>
            <a:spLocks noGrp="1" noChangeArrowheads="1"/>
          </p:cNvSpPr>
          <p:nvPr>
            <p:ph type="body" idx="1"/>
          </p:nvPr>
        </p:nvSpPr>
        <p:spPr>
          <a:xfrm>
            <a:off x="806449" y="1101013"/>
            <a:ext cx="4742319" cy="4663180"/>
          </a:xfrm>
        </p:spPr>
        <p:txBody>
          <a:bodyPr/>
          <a:lstStyle/>
          <a:p>
            <a:r>
              <a:rPr lang="en-US" altLang="en-US" sz="1600" dirty="0"/>
              <a:t>Three queues: </a:t>
            </a:r>
          </a:p>
          <a:p>
            <a:pPr lvl="1"/>
            <a:r>
              <a:rPr lang="en-US" altLang="en-US" sz="1600" i="1" dirty="0"/>
              <a:t>Q</a:t>
            </a:r>
            <a:r>
              <a:rPr lang="en-US" altLang="en-US" sz="1600" baseline="-25000" dirty="0"/>
              <a:t>0</a:t>
            </a:r>
            <a:r>
              <a:rPr lang="en-US" altLang="en-US" sz="1600" dirty="0"/>
              <a:t> – RR with time quantum 8 milliseconds</a:t>
            </a:r>
          </a:p>
          <a:p>
            <a:pPr lvl="1"/>
            <a:r>
              <a:rPr lang="en-US" altLang="en-US" sz="1600" i="1" dirty="0"/>
              <a:t>Q</a:t>
            </a:r>
            <a:r>
              <a:rPr lang="en-US" altLang="en-US" sz="1600" baseline="-25000" dirty="0"/>
              <a:t>1</a:t>
            </a:r>
            <a:r>
              <a:rPr lang="en-US" altLang="en-US" sz="1600" dirty="0"/>
              <a:t> – RR time quantum 16 milliseconds</a:t>
            </a:r>
          </a:p>
          <a:p>
            <a:pPr lvl="1"/>
            <a:r>
              <a:rPr lang="en-US" altLang="en-US" sz="1600" i="1" dirty="0"/>
              <a:t>Q</a:t>
            </a:r>
            <a:r>
              <a:rPr lang="en-US" altLang="en-US" sz="1600" baseline="-25000" dirty="0"/>
              <a:t>2</a:t>
            </a:r>
            <a:r>
              <a:rPr lang="en-US" altLang="en-US" sz="1600" dirty="0"/>
              <a:t> – FCFS</a:t>
            </a:r>
          </a:p>
          <a:p>
            <a:r>
              <a:rPr lang="en-US" altLang="en-US" sz="1600" dirty="0"/>
              <a:t>Scheduling</a:t>
            </a:r>
          </a:p>
          <a:p>
            <a:pPr lvl="1"/>
            <a:r>
              <a:rPr lang="en-US" altLang="en-US" sz="1600" dirty="0"/>
              <a:t>A new process enters queue </a:t>
            </a:r>
            <a:r>
              <a:rPr lang="en-US" altLang="en-US" sz="1600" i="1" dirty="0"/>
              <a:t>Q</a:t>
            </a:r>
            <a:r>
              <a:rPr lang="en-US" altLang="en-US" sz="1600" i="1" baseline="-25000" dirty="0"/>
              <a:t>0</a:t>
            </a:r>
            <a:r>
              <a:rPr lang="en-US" altLang="en-US" sz="1600" i="1" dirty="0"/>
              <a:t> </a:t>
            </a:r>
            <a:r>
              <a:rPr lang="en-US" altLang="en-US" sz="1600" dirty="0"/>
              <a:t>which is served</a:t>
            </a:r>
            <a:r>
              <a:rPr lang="en-US" altLang="en-US" sz="1600" i="1" dirty="0"/>
              <a:t> </a:t>
            </a:r>
            <a:r>
              <a:rPr lang="en-US" altLang="en-US" sz="1600" dirty="0"/>
              <a:t>in</a:t>
            </a:r>
            <a:r>
              <a:rPr lang="en-US" altLang="en-US" sz="1600" i="1" dirty="0"/>
              <a:t> </a:t>
            </a:r>
            <a:r>
              <a:rPr lang="en-US" altLang="en-US" sz="1600" dirty="0"/>
              <a:t>RR</a:t>
            </a:r>
          </a:p>
          <a:p>
            <a:pPr lvl="2"/>
            <a:r>
              <a:rPr lang="en-US" altLang="en-US" sz="1600" dirty="0"/>
              <a:t>When it gains CPU, the process receives 8 milliseconds</a:t>
            </a:r>
          </a:p>
          <a:p>
            <a:pPr lvl="2"/>
            <a:r>
              <a:rPr lang="en-US" altLang="en-US" sz="1600" dirty="0"/>
              <a:t>If it does not finish in 8 milliseconds, the process  is moved to queue </a:t>
            </a:r>
            <a:r>
              <a:rPr lang="en-US" altLang="en-US" sz="1600" i="1" dirty="0"/>
              <a:t>Q</a:t>
            </a:r>
            <a:r>
              <a:rPr lang="en-US" altLang="en-US" sz="1600" baseline="-25000" dirty="0"/>
              <a:t>1</a:t>
            </a:r>
            <a:endParaRPr lang="en-US" altLang="en-US" sz="1600" dirty="0"/>
          </a:p>
          <a:p>
            <a:pPr lvl="1"/>
            <a:r>
              <a:rPr lang="en-US" altLang="en-US" sz="1600" dirty="0"/>
              <a:t>At </a:t>
            </a:r>
            <a:r>
              <a:rPr lang="en-US" altLang="en-US" sz="1600" i="1" dirty="0"/>
              <a:t>Q</a:t>
            </a:r>
            <a:r>
              <a:rPr lang="en-US" altLang="en-US" sz="1600" baseline="-25000" dirty="0"/>
              <a:t>1</a:t>
            </a:r>
            <a:r>
              <a:rPr lang="en-US" altLang="en-US" sz="1600" dirty="0"/>
              <a:t> job is again served in RR and receives 16 additional milliseconds</a:t>
            </a:r>
          </a:p>
          <a:p>
            <a:pPr lvl="2"/>
            <a:r>
              <a:rPr lang="en-US" altLang="en-US" sz="1600" dirty="0"/>
              <a:t>If it still does not complete, it is preempted and moved to queue </a:t>
            </a:r>
            <a:r>
              <a:rPr lang="en-US" altLang="en-US" sz="1600" i="1" dirty="0"/>
              <a:t>Q</a:t>
            </a:r>
            <a:r>
              <a:rPr lang="en-US" altLang="en-US" sz="1600" baseline="-25000" dirty="0"/>
              <a:t>2</a:t>
            </a:r>
            <a:endParaRPr lang="en-US" altLang="en-US" sz="1600" dirty="0"/>
          </a:p>
        </p:txBody>
      </p:sp>
      <p:pic>
        <p:nvPicPr>
          <p:cNvPr id="59395" name="Picture 1">
            <a:extLst>
              <a:ext uri="{FF2B5EF4-FFF2-40B4-BE49-F238E27FC236}">
                <a16:creationId xmlns:a16="http://schemas.microsoft.com/office/drawing/2014/main" id="{BE9B9DB7-2D01-4469-B225-66245C9CC07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48769" y="2673752"/>
            <a:ext cx="3344406" cy="2031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26471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5E530708-9C89-4AD9-BB13-73771C0F0AD7}"/>
              </a:ext>
            </a:extLst>
          </p:cNvPr>
          <p:cNvSpPr>
            <a:spLocks noGrp="1" noChangeArrowheads="1"/>
          </p:cNvSpPr>
          <p:nvPr>
            <p:ph type="title"/>
          </p:nvPr>
        </p:nvSpPr>
        <p:spPr>
          <a:xfrm>
            <a:off x="457200" y="111760"/>
            <a:ext cx="8229600" cy="622988"/>
          </a:xfrm>
        </p:spPr>
        <p:txBody>
          <a:bodyPr/>
          <a:lstStyle/>
          <a:p>
            <a:pPr eaLnBrk="1" hangingPunct="1"/>
            <a:r>
              <a:rPr lang="en-US" altLang="en-US" dirty="0"/>
              <a:t>Thread Scheduling</a:t>
            </a:r>
          </a:p>
        </p:txBody>
      </p:sp>
      <p:sp>
        <p:nvSpPr>
          <p:cNvPr id="61442" name="Rectangle 3">
            <a:extLst>
              <a:ext uri="{FF2B5EF4-FFF2-40B4-BE49-F238E27FC236}">
                <a16:creationId xmlns:a16="http://schemas.microsoft.com/office/drawing/2014/main" id="{4EB10D59-818F-4E4B-B4C9-ED90EEB4FFA0}"/>
              </a:ext>
            </a:extLst>
          </p:cNvPr>
          <p:cNvSpPr>
            <a:spLocks noGrp="1" noChangeArrowheads="1"/>
          </p:cNvSpPr>
          <p:nvPr>
            <p:ph type="body" idx="1"/>
          </p:nvPr>
        </p:nvSpPr>
        <p:spPr>
          <a:xfrm>
            <a:off x="844550" y="1087120"/>
            <a:ext cx="7661275" cy="3865879"/>
          </a:xfrm>
        </p:spPr>
        <p:txBody>
          <a:bodyPr/>
          <a:lstStyle/>
          <a:p>
            <a:r>
              <a:rPr lang="en-US" altLang="en-US" sz="2000" dirty="0"/>
              <a:t>Distinction between user-level and kernel-level threads</a:t>
            </a:r>
          </a:p>
          <a:p>
            <a:r>
              <a:rPr lang="en-US" altLang="en-US" sz="2000" dirty="0"/>
              <a:t>When threads supported, threads scheduled, not processes</a:t>
            </a:r>
          </a:p>
          <a:p>
            <a:r>
              <a:rPr lang="en-US" altLang="en-US" sz="2000" dirty="0"/>
              <a:t>Many-to-one and many-to-many models, thread library schedules user-level threads to run on LWP</a:t>
            </a:r>
          </a:p>
          <a:p>
            <a:pPr lvl="1"/>
            <a:r>
              <a:rPr lang="en-US" altLang="en-US" sz="2000" dirty="0"/>
              <a:t>Known as </a:t>
            </a:r>
            <a:r>
              <a:rPr lang="en-US" altLang="en-US" sz="2000" b="1" dirty="0">
                <a:solidFill>
                  <a:srgbClr val="006699"/>
                </a:solidFill>
                <a:latin typeface="+mj-lt"/>
              </a:rPr>
              <a:t>process-contention</a:t>
            </a:r>
            <a:r>
              <a:rPr lang="en-US" altLang="en-US" sz="2000" b="1" dirty="0">
                <a:solidFill>
                  <a:srgbClr val="3366FF"/>
                </a:solidFill>
              </a:rPr>
              <a:t> </a:t>
            </a:r>
            <a:r>
              <a:rPr lang="en-US" altLang="en-US" sz="2000" b="1" dirty="0">
                <a:solidFill>
                  <a:srgbClr val="006699"/>
                </a:solidFill>
                <a:latin typeface="+mj-lt"/>
              </a:rPr>
              <a:t>scope</a:t>
            </a:r>
            <a:r>
              <a:rPr lang="en-US" altLang="en-US" sz="2000" b="1" dirty="0">
                <a:solidFill>
                  <a:srgbClr val="3366FF"/>
                </a:solidFill>
              </a:rPr>
              <a:t> </a:t>
            </a:r>
            <a:r>
              <a:rPr lang="en-US" altLang="en-US" sz="2000" dirty="0"/>
              <a:t>(</a:t>
            </a:r>
            <a:r>
              <a:rPr lang="en-US" altLang="en-US" sz="2000" b="1" dirty="0">
                <a:solidFill>
                  <a:srgbClr val="006699"/>
                </a:solidFill>
                <a:latin typeface="+mj-lt"/>
              </a:rPr>
              <a:t>PCS</a:t>
            </a:r>
            <a:r>
              <a:rPr lang="en-US" altLang="en-US" sz="2000" dirty="0"/>
              <a:t>)</a:t>
            </a:r>
            <a:r>
              <a:rPr lang="en-US" altLang="en-US" sz="2000" b="1" dirty="0"/>
              <a:t> </a:t>
            </a:r>
            <a:r>
              <a:rPr lang="en-US" altLang="en-US" sz="2000" dirty="0"/>
              <a:t>since scheduling competition is within the process</a:t>
            </a:r>
          </a:p>
          <a:p>
            <a:pPr lvl="1"/>
            <a:r>
              <a:rPr lang="en-US" altLang="en-US" sz="2000" dirty="0"/>
              <a:t>Typically done via priority set by programmer</a:t>
            </a:r>
          </a:p>
          <a:p>
            <a:r>
              <a:rPr lang="en-US" altLang="en-US" sz="2000" dirty="0"/>
              <a:t>Kernel thread scheduled onto available CPU is </a:t>
            </a:r>
            <a:r>
              <a:rPr lang="en-US" altLang="en-US" sz="2000" b="1" dirty="0">
                <a:solidFill>
                  <a:srgbClr val="006699"/>
                </a:solidFill>
                <a:latin typeface="+mj-lt"/>
              </a:rPr>
              <a:t>system-contention</a:t>
            </a:r>
            <a:r>
              <a:rPr lang="en-US" altLang="en-US" sz="2000" b="1" dirty="0">
                <a:solidFill>
                  <a:srgbClr val="3366FF"/>
                </a:solidFill>
              </a:rPr>
              <a:t> </a:t>
            </a:r>
            <a:r>
              <a:rPr lang="en-US" altLang="en-US" sz="2000" b="1" dirty="0">
                <a:solidFill>
                  <a:srgbClr val="006699"/>
                </a:solidFill>
                <a:latin typeface="+mj-lt"/>
              </a:rPr>
              <a:t>scope</a:t>
            </a:r>
            <a:r>
              <a:rPr lang="en-US" altLang="en-US" sz="2000" b="1" dirty="0"/>
              <a:t> </a:t>
            </a:r>
            <a:r>
              <a:rPr lang="en-US" altLang="en-US" sz="2000" dirty="0"/>
              <a:t>(</a:t>
            </a:r>
            <a:r>
              <a:rPr lang="en-US" altLang="en-US" sz="2000" b="1" dirty="0">
                <a:solidFill>
                  <a:srgbClr val="006699"/>
                </a:solidFill>
                <a:latin typeface="+mj-lt"/>
              </a:rPr>
              <a:t>SCS</a:t>
            </a:r>
            <a:r>
              <a:rPr lang="en-US" altLang="en-US" sz="2000" dirty="0"/>
              <a:t>) – competition among all threads in system</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103EDDAD-6601-404C-A683-E0A4F4E97AD4}"/>
              </a:ext>
            </a:extLst>
          </p:cNvPr>
          <p:cNvSpPr>
            <a:spLocks noGrp="1" noChangeArrowheads="1"/>
          </p:cNvSpPr>
          <p:nvPr>
            <p:ph type="title"/>
          </p:nvPr>
        </p:nvSpPr>
        <p:spPr>
          <a:xfrm>
            <a:off x="709613" y="175437"/>
            <a:ext cx="7977187" cy="576262"/>
          </a:xfrm>
        </p:spPr>
        <p:txBody>
          <a:bodyPr/>
          <a:lstStyle/>
          <a:p>
            <a:pPr eaLnBrk="1" hangingPunct="1"/>
            <a:r>
              <a:rPr lang="en-US" altLang="en-US" dirty="0"/>
              <a:t>Pthread Scheduling</a:t>
            </a:r>
          </a:p>
        </p:txBody>
      </p:sp>
      <p:sp>
        <p:nvSpPr>
          <p:cNvPr id="63490" name="Rectangle 3">
            <a:extLst>
              <a:ext uri="{FF2B5EF4-FFF2-40B4-BE49-F238E27FC236}">
                <a16:creationId xmlns:a16="http://schemas.microsoft.com/office/drawing/2014/main" id="{05F13962-8C93-49C9-9F65-D56A140A3D17}"/>
              </a:ext>
            </a:extLst>
          </p:cNvPr>
          <p:cNvSpPr>
            <a:spLocks noGrp="1" noChangeArrowheads="1"/>
          </p:cNvSpPr>
          <p:nvPr>
            <p:ph type="body" idx="1"/>
          </p:nvPr>
        </p:nvSpPr>
        <p:spPr>
          <a:xfrm>
            <a:off x="849085" y="1137920"/>
            <a:ext cx="7623109" cy="3521710"/>
          </a:xfrm>
        </p:spPr>
        <p:txBody>
          <a:bodyPr/>
          <a:lstStyle/>
          <a:p>
            <a:r>
              <a:rPr lang="en-US" altLang="en-US" sz="2000" dirty="0"/>
              <a:t>API allows specifying either PCS or SCS during thread creation</a:t>
            </a:r>
          </a:p>
          <a:p>
            <a:pPr lvl="1"/>
            <a:r>
              <a:rPr lang="en-US" altLang="en-US" sz="2000" dirty="0"/>
              <a:t>PTHREAD_SCOPE_PROCESS schedules threads using PCS scheduling</a:t>
            </a:r>
          </a:p>
          <a:p>
            <a:pPr lvl="1"/>
            <a:r>
              <a:rPr lang="en-US" altLang="en-US" sz="2000" dirty="0"/>
              <a:t>PTHREAD_SCOPE_SYSTEM schedules threads using SCS scheduling</a:t>
            </a:r>
          </a:p>
          <a:p>
            <a:r>
              <a:rPr lang="en-US" altLang="en-US" sz="2000" dirty="0"/>
              <a:t>Can be limited by OS – Linux and macOS only allow PTHREAD_SCOPE_SYSTEM</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72B3D0AB-2002-4908-882F-E691F73389A3}"/>
              </a:ext>
            </a:extLst>
          </p:cNvPr>
          <p:cNvSpPr>
            <a:spLocks noGrp="1" noChangeArrowheads="1"/>
          </p:cNvSpPr>
          <p:nvPr>
            <p:ph type="title"/>
          </p:nvPr>
        </p:nvSpPr>
        <p:spPr>
          <a:xfrm>
            <a:off x="783770" y="112762"/>
            <a:ext cx="7903029" cy="576262"/>
          </a:xfrm>
        </p:spPr>
        <p:txBody>
          <a:bodyPr/>
          <a:lstStyle/>
          <a:p>
            <a:pPr eaLnBrk="1" hangingPunct="1"/>
            <a:r>
              <a:rPr lang="en-US" altLang="en-US" dirty="0"/>
              <a:t>Pthread Scheduling API</a:t>
            </a:r>
          </a:p>
        </p:txBody>
      </p:sp>
      <p:sp>
        <p:nvSpPr>
          <p:cNvPr id="65538" name="Rectangle 3">
            <a:extLst>
              <a:ext uri="{FF2B5EF4-FFF2-40B4-BE49-F238E27FC236}">
                <a16:creationId xmlns:a16="http://schemas.microsoft.com/office/drawing/2014/main" id="{B97D95DB-777A-482C-BA27-4C2D3C6CA8AF}"/>
              </a:ext>
            </a:extLst>
          </p:cNvPr>
          <p:cNvSpPr>
            <a:spLocks noGrp="1" noChangeArrowheads="1"/>
          </p:cNvSpPr>
          <p:nvPr>
            <p:ph type="body" idx="1"/>
          </p:nvPr>
        </p:nvSpPr>
        <p:spPr>
          <a:xfrm>
            <a:off x="1538288" y="942975"/>
            <a:ext cx="6818312" cy="5495925"/>
          </a:xfrm>
        </p:spPr>
        <p:txBody>
          <a:bodyPr/>
          <a:lstStyle/>
          <a:p>
            <a:pPr marL="0" indent="0">
              <a:buFont typeface="Monotype Sorts" pitchFamily="-84" charset="2"/>
              <a:buNone/>
            </a:pPr>
            <a:r>
              <a:rPr lang="en-US" altLang="en-US" sz="1400" b="1" dirty="0">
                <a:latin typeface="Courier New" panose="02070309020205020404" pitchFamily="49" charset="0"/>
              </a:rPr>
              <a:t>#include &lt;</a:t>
            </a:r>
            <a:r>
              <a:rPr lang="en-US" altLang="en-US" sz="1400" b="1" dirty="0" err="1">
                <a:latin typeface="Courier New" panose="02070309020205020404" pitchFamily="49" charset="0"/>
              </a:rPr>
              <a:t>pthread.h</a:t>
            </a:r>
            <a:r>
              <a:rPr lang="en-US" altLang="en-US" sz="1400" b="1" dirty="0">
                <a:latin typeface="Courier New" panose="02070309020205020404" pitchFamily="49" charset="0"/>
              </a:rPr>
              <a:t>&gt; </a:t>
            </a:r>
          </a:p>
          <a:p>
            <a:pPr marL="0" indent="0">
              <a:buFont typeface="Monotype Sorts" pitchFamily="-84" charset="2"/>
              <a:buNone/>
            </a:pPr>
            <a:r>
              <a:rPr lang="en-US" altLang="en-US" sz="1400" b="1" dirty="0">
                <a:latin typeface="Courier New" panose="02070309020205020404" pitchFamily="49" charset="0"/>
              </a:rPr>
              <a:t>#include &lt;</a:t>
            </a:r>
            <a:r>
              <a:rPr lang="en-US" altLang="en-US" sz="1400" b="1" dirty="0" err="1">
                <a:latin typeface="Courier New" panose="02070309020205020404" pitchFamily="49" charset="0"/>
              </a:rPr>
              <a:t>stdio.h</a:t>
            </a:r>
            <a:r>
              <a:rPr lang="en-US" altLang="en-US" sz="1400" b="1" dirty="0">
                <a:latin typeface="Courier New" panose="02070309020205020404" pitchFamily="49" charset="0"/>
              </a:rPr>
              <a:t>&gt; </a:t>
            </a:r>
          </a:p>
          <a:p>
            <a:pPr marL="0" indent="0">
              <a:buFont typeface="Monotype Sorts" pitchFamily="-84" charset="2"/>
              <a:buNone/>
            </a:pPr>
            <a:r>
              <a:rPr lang="en-US" altLang="en-US" sz="1400" b="1" dirty="0">
                <a:latin typeface="Courier New" panose="02070309020205020404" pitchFamily="49" charset="0"/>
              </a:rPr>
              <a:t>#define NUM_THREADS 5 </a:t>
            </a:r>
          </a:p>
          <a:p>
            <a:pPr marL="0" indent="0">
              <a:buFont typeface="Monotype Sorts" pitchFamily="-84" charset="2"/>
              <a:buNone/>
            </a:pPr>
            <a:r>
              <a:rPr lang="en-US" altLang="en-US" sz="1400" b="1" dirty="0">
                <a:latin typeface="Courier New" panose="02070309020205020404" pitchFamily="49" charset="0"/>
              </a:rPr>
              <a:t>int main(int </a:t>
            </a:r>
            <a:r>
              <a:rPr lang="en-US" altLang="en-US" sz="1400" b="1" dirty="0" err="1">
                <a:latin typeface="Courier New" panose="02070309020205020404" pitchFamily="49" charset="0"/>
              </a:rPr>
              <a:t>argc</a:t>
            </a:r>
            <a:r>
              <a:rPr lang="en-US" altLang="en-US" sz="1400" b="1" dirty="0">
                <a:latin typeface="Courier New" panose="02070309020205020404" pitchFamily="49" charset="0"/>
              </a:rPr>
              <a:t>, char *</a:t>
            </a:r>
            <a:r>
              <a:rPr lang="en-US" altLang="en-US" sz="1400" b="1" dirty="0" err="1">
                <a:latin typeface="Courier New" panose="02070309020205020404" pitchFamily="49" charset="0"/>
              </a:rPr>
              <a:t>argv</a:t>
            </a:r>
            <a:r>
              <a:rPr lang="en-US" altLang="en-US" sz="1400" b="1" dirty="0">
                <a:latin typeface="Courier New" panose="02070309020205020404" pitchFamily="49" charset="0"/>
              </a:rPr>
              <a:t>[]) { </a:t>
            </a:r>
          </a:p>
          <a:p>
            <a:pPr marL="0" indent="0">
              <a:buFont typeface="Monotype Sorts" pitchFamily="-84" charset="2"/>
              <a:buNone/>
            </a:pPr>
            <a:r>
              <a:rPr lang="en-US" altLang="en-US" sz="1400" b="1" dirty="0">
                <a:latin typeface="Courier New" panose="02070309020205020404" pitchFamily="49" charset="0"/>
              </a:rPr>
              <a:t>   int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scope;</a:t>
            </a:r>
            <a:br>
              <a:rPr lang="en-US" altLang="en-US" sz="1400" b="1" dirty="0">
                <a:latin typeface="Courier New" panose="02070309020205020404" pitchFamily="49" charset="0"/>
              </a:rPr>
            </a:br>
            <a:r>
              <a:rPr lang="en-US" altLang="en-US" sz="1400" b="1" dirty="0">
                <a:latin typeface="Courier New" panose="02070309020205020404" pitchFamily="49" charset="0"/>
              </a:rPr>
              <a:t>   </a:t>
            </a:r>
            <a:r>
              <a:rPr lang="en-US" altLang="en-US" sz="1400" b="1" dirty="0" err="1">
                <a:latin typeface="Courier New" panose="02070309020205020404" pitchFamily="49" charset="0"/>
              </a:rPr>
              <a:t>pthread_t</a:t>
            </a:r>
            <a:r>
              <a:rPr lang="en-US" altLang="en-US" sz="1400" b="1" dirty="0">
                <a:latin typeface="Courier New" panose="02070309020205020404" pitchFamily="49" charset="0"/>
              </a:rPr>
              <a:t> </a:t>
            </a:r>
            <a:r>
              <a:rPr lang="en-US" altLang="en-US" sz="1400" b="1" dirty="0" err="1">
                <a:latin typeface="Courier New" panose="02070309020205020404" pitchFamily="49" charset="0"/>
              </a:rPr>
              <a:t>tid</a:t>
            </a:r>
            <a:r>
              <a:rPr lang="en-US" altLang="en-US" sz="1400" b="1" dirty="0">
                <a:latin typeface="Courier New" panose="02070309020205020404" pitchFamily="49" charset="0"/>
              </a:rPr>
              <a:t>[NUM THREADS]; </a:t>
            </a:r>
          </a:p>
          <a:p>
            <a:pPr marL="0" indent="0">
              <a:buFont typeface="Monotype Sorts" pitchFamily="-84" charset="2"/>
              <a:buNone/>
            </a:pPr>
            <a:r>
              <a:rPr lang="en-US" altLang="en-US" sz="1400" b="1" dirty="0">
                <a:latin typeface="Courier New" panose="02070309020205020404" pitchFamily="49" charset="0"/>
              </a:rPr>
              <a:t>   </a:t>
            </a:r>
            <a:r>
              <a:rPr lang="en-US" altLang="en-US" sz="1400" b="1" dirty="0" err="1">
                <a:latin typeface="Courier New" panose="02070309020205020404" pitchFamily="49" charset="0"/>
              </a:rPr>
              <a:t>pthread_attr_t</a:t>
            </a:r>
            <a:r>
              <a:rPr lang="en-US" altLang="en-US" sz="1400" b="1" dirty="0">
                <a:latin typeface="Courier New" panose="02070309020205020404" pitchFamily="49" charset="0"/>
              </a:rPr>
              <a:t> </a:t>
            </a:r>
            <a:r>
              <a:rPr lang="en-US" altLang="en-US" sz="1400" b="1" dirty="0" err="1">
                <a:latin typeface="Courier New" panose="02070309020205020404" pitchFamily="49" charset="0"/>
              </a:rPr>
              <a:t>attr</a:t>
            </a:r>
            <a:r>
              <a:rPr lang="en-US" altLang="en-US" sz="1400" b="1" dirty="0">
                <a:latin typeface="Courier New" panose="02070309020205020404" pitchFamily="49" charset="0"/>
              </a:rPr>
              <a:t>; </a:t>
            </a:r>
          </a:p>
          <a:p>
            <a:pPr marL="0" indent="0">
              <a:buFont typeface="Monotype Sorts" pitchFamily="-84" charset="2"/>
              <a:buNone/>
            </a:pPr>
            <a:r>
              <a:rPr lang="en-US" altLang="en-US" sz="1400" b="1" dirty="0">
                <a:latin typeface="Courier New" panose="02070309020205020404" pitchFamily="49" charset="0"/>
              </a:rPr>
              <a:t>   /* get the default attributes */ </a:t>
            </a:r>
          </a:p>
          <a:p>
            <a:pPr marL="0" indent="0">
              <a:buFont typeface="Monotype Sorts" pitchFamily="-84" charset="2"/>
              <a:buNone/>
            </a:pPr>
            <a:r>
              <a:rPr lang="en-US" altLang="en-US" sz="1400" b="1" dirty="0">
                <a:latin typeface="Courier New" panose="02070309020205020404" pitchFamily="49" charset="0"/>
              </a:rPr>
              <a:t>   </a:t>
            </a:r>
            <a:r>
              <a:rPr lang="en-US" altLang="en-US" sz="1400" b="1" dirty="0" err="1">
                <a:latin typeface="Courier New" panose="02070309020205020404" pitchFamily="49" charset="0"/>
              </a:rPr>
              <a:t>pthread_attr_init</a:t>
            </a:r>
            <a:r>
              <a:rPr lang="en-US" altLang="en-US" sz="1400" b="1" dirty="0">
                <a:latin typeface="Courier New" panose="02070309020205020404" pitchFamily="49" charset="0"/>
              </a:rPr>
              <a:t>(&amp;</a:t>
            </a:r>
            <a:r>
              <a:rPr lang="en-US" altLang="en-US" sz="1400" b="1" dirty="0" err="1">
                <a:latin typeface="Courier New" panose="02070309020205020404" pitchFamily="49" charset="0"/>
              </a:rPr>
              <a:t>attr</a:t>
            </a:r>
            <a:r>
              <a:rPr lang="en-US" altLang="en-US" sz="1400" b="1" dirty="0">
                <a:latin typeface="Courier New" panose="02070309020205020404" pitchFamily="49" charset="0"/>
              </a:rPr>
              <a:t>); </a:t>
            </a:r>
          </a:p>
          <a:p>
            <a:pPr marL="0" indent="0">
              <a:buFont typeface="Monotype Sorts" pitchFamily="-84" charset="2"/>
              <a:buNone/>
            </a:pPr>
            <a:r>
              <a:rPr lang="en-US" altLang="en-US" sz="1400" b="1" dirty="0">
                <a:latin typeface="Courier New" panose="02070309020205020404" pitchFamily="49" charset="0"/>
              </a:rPr>
              <a:t>   /* first inquire on the current scope */</a:t>
            </a:r>
            <a:br>
              <a:rPr lang="en-US" altLang="en-US" sz="1400" b="1" dirty="0">
                <a:latin typeface="Courier New" panose="02070309020205020404" pitchFamily="49" charset="0"/>
              </a:rPr>
            </a:br>
            <a:r>
              <a:rPr lang="en-US" altLang="en-US" sz="1400" b="1" dirty="0">
                <a:latin typeface="Courier New" panose="02070309020205020404" pitchFamily="49" charset="0"/>
              </a:rPr>
              <a:t>   if (</a:t>
            </a:r>
            <a:r>
              <a:rPr lang="en-US" altLang="en-US" sz="1400" b="1" dirty="0" err="1">
                <a:latin typeface="Courier New" panose="02070309020205020404" pitchFamily="49" charset="0"/>
              </a:rPr>
              <a:t>pthread_attr_getscope</a:t>
            </a:r>
            <a:r>
              <a:rPr lang="en-US" altLang="en-US" sz="1400" b="1" dirty="0">
                <a:latin typeface="Courier New" panose="02070309020205020404" pitchFamily="49" charset="0"/>
              </a:rPr>
              <a:t>(&amp;</a:t>
            </a:r>
            <a:r>
              <a:rPr lang="en-US" altLang="en-US" sz="1400" b="1" dirty="0" err="1">
                <a:latin typeface="Courier New" panose="02070309020205020404" pitchFamily="49" charset="0"/>
              </a:rPr>
              <a:t>attr</a:t>
            </a:r>
            <a:r>
              <a:rPr lang="en-US" altLang="en-US" sz="1400" b="1" dirty="0">
                <a:latin typeface="Courier New" panose="02070309020205020404" pitchFamily="49" charset="0"/>
              </a:rPr>
              <a:t>, &amp;scope) != 0) </a:t>
            </a:r>
          </a:p>
          <a:p>
            <a:pPr marL="0" indent="0">
              <a:buFont typeface="Monotype Sorts" pitchFamily="-84" charset="2"/>
              <a:buNone/>
            </a:pPr>
            <a:r>
              <a:rPr lang="en-US" altLang="en-US" sz="1400" b="1" dirty="0">
                <a:latin typeface="Courier New" panose="02070309020205020404" pitchFamily="49" charset="0"/>
              </a:rPr>
              <a:t>      </a:t>
            </a:r>
            <a:r>
              <a:rPr lang="en-US" altLang="en-US" sz="1400" b="1" dirty="0" err="1">
                <a:latin typeface="Courier New" panose="02070309020205020404" pitchFamily="49" charset="0"/>
              </a:rPr>
              <a:t>fprintf</a:t>
            </a:r>
            <a:r>
              <a:rPr lang="en-US" altLang="en-US" sz="1400" b="1" dirty="0">
                <a:latin typeface="Courier New" panose="02070309020205020404" pitchFamily="49" charset="0"/>
              </a:rPr>
              <a:t>(stderr, "Unable to get scheduling scope\n"); </a:t>
            </a:r>
          </a:p>
          <a:p>
            <a:pPr marL="0" indent="0">
              <a:buFont typeface="Monotype Sorts" pitchFamily="-84" charset="2"/>
              <a:buNone/>
            </a:pPr>
            <a:r>
              <a:rPr lang="en-US" altLang="en-US" sz="1400" b="1" dirty="0">
                <a:latin typeface="Courier New" panose="02070309020205020404" pitchFamily="49" charset="0"/>
              </a:rPr>
              <a:t>   else { </a:t>
            </a:r>
          </a:p>
          <a:p>
            <a:pPr marL="0" indent="0">
              <a:buFont typeface="Monotype Sorts" pitchFamily="-84" charset="2"/>
              <a:buNone/>
            </a:pPr>
            <a:r>
              <a:rPr lang="en-US" altLang="en-US" sz="1400" b="1" dirty="0">
                <a:latin typeface="Courier New" panose="02070309020205020404" pitchFamily="49" charset="0"/>
              </a:rPr>
              <a:t>      if (scope == PTHREAD_SCOPE_PROCESS) </a:t>
            </a:r>
          </a:p>
          <a:p>
            <a:pPr marL="0" indent="0">
              <a:buFont typeface="Monotype Sorts" pitchFamily="-84" charset="2"/>
              <a:buNone/>
            </a:pPr>
            <a:r>
              <a:rPr lang="en-US" altLang="en-US" sz="1400" b="1" dirty="0">
                <a:latin typeface="Courier New" panose="02070309020205020404" pitchFamily="49" charset="0"/>
              </a:rPr>
              <a:t>         </a:t>
            </a:r>
            <a:r>
              <a:rPr lang="en-US" altLang="en-US" sz="1400" b="1" dirty="0" err="1">
                <a:latin typeface="Courier New" panose="02070309020205020404" pitchFamily="49" charset="0"/>
              </a:rPr>
              <a:t>printf</a:t>
            </a:r>
            <a:r>
              <a:rPr lang="en-US" altLang="en-US" sz="1400" b="1" dirty="0">
                <a:latin typeface="Courier New" panose="02070309020205020404" pitchFamily="49" charset="0"/>
              </a:rPr>
              <a:t>("PTHREAD_SCOPE_PROCESS"); </a:t>
            </a:r>
          </a:p>
          <a:p>
            <a:pPr marL="0" indent="0">
              <a:buFont typeface="Monotype Sorts" pitchFamily="-84" charset="2"/>
              <a:buNone/>
            </a:pPr>
            <a:r>
              <a:rPr lang="en-US" altLang="en-US" sz="1400" b="1" dirty="0">
                <a:latin typeface="Courier New" panose="02070309020205020404" pitchFamily="49" charset="0"/>
              </a:rPr>
              <a:t>      else if (scope == PTHREAD_SCOPE_SYSTEM) </a:t>
            </a:r>
          </a:p>
          <a:p>
            <a:pPr marL="0" indent="0">
              <a:buFont typeface="Monotype Sorts" pitchFamily="-84" charset="2"/>
              <a:buNone/>
            </a:pPr>
            <a:r>
              <a:rPr lang="en-US" altLang="en-US" sz="1400" b="1" dirty="0">
                <a:latin typeface="Courier New" panose="02070309020205020404" pitchFamily="49" charset="0"/>
              </a:rPr>
              <a:t>         </a:t>
            </a:r>
            <a:r>
              <a:rPr lang="en-US" altLang="en-US" sz="1400" b="1" dirty="0" err="1">
                <a:latin typeface="Courier New" panose="02070309020205020404" pitchFamily="49" charset="0"/>
              </a:rPr>
              <a:t>printf</a:t>
            </a:r>
            <a:r>
              <a:rPr lang="en-US" altLang="en-US" sz="1400" b="1" dirty="0">
                <a:latin typeface="Courier New" panose="02070309020205020404" pitchFamily="49" charset="0"/>
              </a:rPr>
              <a:t>("PTHREAD_SCOPE_SYSTEM"); </a:t>
            </a:r>
          </a:p>
          <a:p>
            <a:pPr marL="0" indent="0">
              <a:buFont typeface="Monotype Sorts" pitchFamily="-84" charset="2"/>
              <a:buNone/>
            </a:pPr>
            <a:r>
              <a:rPr lang="en-US" altLang="en-US" sz="1400" b="1" dirty="0">
                <a:latin typeface="Courier New" panose="02070309020205020404" pitchFamily="49" charset="0"/>
              </a:rPr>
              <a:t>      else</a:t>
            </a:r>
            <a:br>
              <a:rPr lang="en-US" altLang="en-US" sz="1400" b="1" dirty="0">
                <a:latin typeface="Courier New" panose="02070309020205020404" pitchFamily="49" charset="0"/>
              </a:rPr>
            </a:br>
            <a:r>
              <a:rPr lang="en-US" altLang="en-US" sz="1400" b="1" dirty="0">
                <a:latin typeface="Courier New" panose="02070309020205020404" pitchFamily="49" charset="0"/>
              </a:rPr>
              <a:t>         </a:t>
            </a:r>
            <a:r>
              <a:rPr lang="en-US" altLang="en-US" sz="1400" b="1" dirty="0" err="1">
                <a:latin typeface="Courier New" panose="02070309020205020404" pitchFamily="49" charset="0"/>
              </a:rPr>
              <a:t>fprintf</a:t>
            </a:r>
            <a:r>
              <a:rPr lang="en-US" altLang="en-US" sz="1400" b="1" dirty="0">
                <a:latin typeface="Courier New" panose="02070309020205020404" pitchFamily="49" charset="0"/>
              </a:rPr>
              <a:t>(stderr, "Illegal scope value.\n"); </a:t>
            </a:r>
          </a:p>
          <a:p>
            <a:pPr marL="0" indent="0">
              <a:buFont typeface="Monotype Sorts" pitchFamily="-84" charset="2"/>
              <a:buNone/>
            </a:pPr>
            <a:r>
              <a:rPr lang="en-US" altLang="en-US" sz="1400" b="1" dirty="0">
                <a:latin typeface="Courier New" panose="02070309020205020404" pitchFamily="49" charset="0"/>
              </a:rPr>
              <a:t>   }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1393D9C5-7295-4A4A-95B0-13D4147B56B9}"/>
              </a:ext>
            </a:extLst>
          </p:cNvPr>
          <p:cNvSpPr>
            <a:spLocks noGrp="1" noChangeArrowheads="1"/>
          </p:cNvSpPr>
          <p:nvPr>
            <p:ph type="title"/>
          </p:nvPr>
        </p:nvSpPr>
        <p:spPr>
          <a:xfrm>
            <a:off x="821094" y="139718"/>
            <a:ext cx="7837714" cy="576262"/>
          </a:xfrm>
        </p:spPr>
        <p:txBody>
          <a:bodyPr/>
          <a:lstStyle/>
          <a:p>
            <a:pPr eaLnBrk="1" hangingPunct="1"/>
            <a:r>
              <a:rPr lang="en-US" altLang="en-US" dirty="0"/>
              <a:t>Pthread Scheduling API</a:t>
            </a:r>
          </a:p>
        </p:txBody>
      </p:sp>
      <p:sp>
        <p:nvSpPr>
          <p:cNvPr id="67586" name="Rectangle 3">
            <a:extLst>
              <a:ext uri="{FF2B5EF4-FFF2-40B4-BE49-F238E27FC236}">
                <a16:creationId xmlns:a16="http://schemas.microsoft.com/office/drawing/2014/main" id="{DE0BE125-B65D-4233-99FB-D540D5E26A70}"/>
              </a:ext>
            </a:extLst>
          </p:cNvPr>
          <p:cNvSpPr>
            <a:spLocks noGrp="1" noChangeArrowheads="1"/>
          </p:cNvSpPr>
          <p:nvPr>
            <p:ph type="body" idx="1"/>
          </p:nvPr>
        </p:nvSpPr>
        <p:spPr>
          <a:xfrm>
            <a:off x="973138" y="1193800"/>
            <a:ext cx="7321550" cy="4765675"/>
          </a:xfrm>
        </p:spPr>
        <p:txBody>
          <a:bodyPr/>
          <a:lstStyle/>
          <a:p>
            <a:pPr marL="0" indent="0">
              <a:buFont typeface="Monotype Sorts" pitchFamily="-84" charset="2"/>
              <a:buNone/>
            </a:pPr>
            <a:r>
              <a:rPr lang="en-US" altLang="en-US" sz="1700" b="1" dirty="0">
                <a:latin typeface="Courier New" panose="02070309020205020404" pitchFamily="49" charset="0"/>
              </a:rPr>
              <a:t>   /* set the scheduling algorithm to PCS or SCS */ </a:t>
            </a:r>
          </a:p>
          <a:p>
            <a:pPr marL="0" indent="0">
              <a:buFont typeface="Monotype Sorts" pitchFamily="-84" charset="2"/>
              <a:buNone/>
            </a:pPr>
            <a:r>
              <a:rPr lang="en-US" altLang="en-US" sz="1700" b="1" dirty="0">
                <a:latin typeface="Courier New" panose="02070309020205020404" pitchFamily="49" charset="0"/>
              </a:rPr>
              <a:t>   </a:t>
            </a:r>
            <a:r>
              <a:rPr lang="en-US" altLang="en-US" sz="1700" b="1" dirty="0" err="1">
                <a:latin typeface="Courier New" panose="02070309020205020404" pitchFamily="49" charset="0"/>
              </a:rPr>
              <a:t>pthread_attr_setscope</a:t>
            </a:r>
            <a:r>
              <a:rPr lang="en-US" altLang="en-US" sz="1700" b="1" dirty="0">
                <a:latin typeface="Courier New" panose="02070309020205020404" pitchFamily="49" charset="0"/>
              </a:rPr>
              <a:t>(&amp;</a:t>
            </a:r>
            <a:r>
              <a:rPr lang="en-US" altLang="en-US" sz="1700" b="1" dirty="0" err="1">
                <a:latin typeface="Courier New" panose="02070309020205020404" pitchFamily="49" charset="0"/>
              </a:rPr>
              <a:t>attr</a:t>
            </a:r>
            <a:r>
              <a:rPr lang="en-US" altLang="en-US" sz="1700" b="1" dirty="0">
                <a:latin typeface="Courier New" panose="02070309020205020404" pitchFamily="49" charset="0"/>
              </a:rPr>
              <a:t>, PTHREAD_SCOPE_SYSTEM); </a:t>
            </a:r>
          </a:p>
          <a:p>
            <a:pPr marL="0" indent="0">
              <a:buFont typeface="Monotype Sorts" pitchFamily="-84" charset="2"/>
              <a:buNone/>
            </a:pPr>
            <a:r>
              <a:rPr lang="en-US" altLang="en-US" sz="1700" b="1" dirty="0">
                <a:latin typeface="Courier New" panose="02070309020205020404" pitchFamily="49" charset="0"/>
              </a:rPr>
              <a:t>   /* create the threads */</a:t>
            </a:r>
            <a:br>
              <a:rPr lang="en-US" altLang="en-US" sz="1700" b="1" dirty="0">
                <a:latin typeface="Courier New" panose="02070309020205020404" pitchFamily="49" charset="0"/>
              </a:rPr>
            </a:br>
            <a:r>
              <a:rPr lang="en-US" altLang="en-US" sz="1700" b="1" dirty="0">
                <a:latin typeface="Courier New" panose="02070309020205020404" pitchFamily="49" charset="0"/>
              </a:rPr>
              <a:t>   for (</a:t>
            </a:r>
            <a:r>
              <a:rPr lang="en-US" altLang="en-US" sz="1700" b="1" dirty="0" err="1">
                <a:latin typeface="Courier New" panose="02070309020205020404" pitchFamily="49" charset="0"/>
              </a:rPr>
              <a:t>i</a:t>
            </a:r>
            <a:r>
              <a:rPr lang="en-US" altLang="en-US" sz="1700" b="1" dirty="0">
                <a:latin typeface="Courier New" panose="02070309020205020404" pitchFamily="49" charset="0"/>
              </a:rPr>
              <a:t> = 0; </a:t>
            </a:r>
            <a:r>
              <a:rPr lang="en-US" altLang="en-US" sz="1700" b="1" dirty="0" err="1">
                <a:latin typeface="Courier New" panose="02070309020205020404" pitchFamily="49" charset="0"/>
              </a:rPr>
              <a:t>i</a:t>
            </a:r>
            <a:r>
              <a:rPr lang="en-US" altLang="en-US" sz="1700" b="1" dirty="0">
                <a:latin typeface="Courier New" panose="02070309020205020404" pitchFamily="49" charset="0"/>
              </a:rPr>
              <a:t> &lt; NUM_THREADS; </a:t>
            </a:r>
            <a:r>
              <a:rPr lang="en-US" altLang="en-US" sz="1700" b="1" dirty="0" err="1">
                <a:latin typeface="Courier New" panose="02070309020205020404" pitchFamily="49" charset="0"/>
              </a:rPr>
              <a:t>i</a:t>
            </a:r>
            <a:r>
              <a:rPr lang="en-US" altLang="en-US" sz="1700" b="1" dirty="0">
                <a:latin typeface="Courier New" panose="02070309020205020404" pitchFamily="49" charset="0"/>
              </a:rPr>
              <a:t>++) </a:t>
            </a:r>
          </a:p>
          <a:p>
            <a:pPr marL="0" indent="0">
              <a:buFont typeface="Monotype Sorts" pitchFamily="-84" charset="2"/>
              <a:buNone/>
            </a:pPr>
            <a:r>
              <a:rPr lang="en-US" altLang="en-US" sz="1700" b="1" dirty="0">
                <a:latin typeface="Courier New" panose="02070309020205020404" pitchFamily="49" charset="0"/>
              </a:rPr>
              <a:t>      </a:t>
            </a:r>
            <a:r>
              <a:rPr lang="en-US" altLang="en-US" sz="1700" b="1" dirty="0" err="1">
                <a:latin typeface="Courier New" panose="02070309020205020404" pitchFamily="49" charset="0"/>
              </a:rPr>
              <a:t>pthread_create</a:t>
            </a:r>
            <a:r>
              <a:rPr lang="en-US" altLang="en-US" sz="1700" b="1" dirty="0">
                <a:latin typeface="Courier New" panose="02070309020205020404" pitchFamily="49" charset="0"/>
              </a:rPr>
              <a:t>(&amp;</a:t>
            </a:r>
            <a:r>
              <a:rPr lang="en-US" altLang="en-US" sz="1700" b="1" dirty="0" err="1">
                <a:latin typeface="Courier New" panose="02070309020205020404" pitchFamily="49" charset="0"/>
              </a:rPr>
              <a:t>tid</a:t>
            </a:r>
            <a:r>
              <a:rPr lang="en-US" altLang="en-US" sz="1700" b="1" dirty="0">
                <a:latin typeface="Courier New" panose="02070309020205020404" pitchFamily="49" charset="0"/>
              </a:rPr>
              <a:t>[</a:t>
            </a:r>
            <a:r>
              <a:rPr lang="en-US" altLang="en-US" sz="1700" b="1" dirty="0" err="1">
                <a:latin typeface="Courier New" panose="02070309020205020404" pitchFamily="49" charset="0"/>
              </a:rPr>
              <a:t>i</a:t>
            </a:r>
            <a:r>
              <a:rPr lang="en-US" altLang="en-US" sz="1700" b="1" dirty="0">
                <a:latin typeface="Courier New" panose="02070309020205020404" pitchFamily="49" charset="0"/>
              </a:rPr>
              <a:t>],&amp;</a:t>
            </a:r>
            <a:r>
              <a:rPr lang="en-US" altLang="en-US" sz="1700" b="1" dirty="0" err="1">
                <a:latin typeface="Courier New" panose="02070309020205020404" pitchFamily="49" charset="0"/>
              </a:rPr>
              <a:t>attr,runner,NULL</a:t>
            </a:r>
            <a:r>
              <a:rPr lang="en-US" altLang="en-US" sz="1700" b="1" dirty="0">
                <a:latin typeface="Courier New" panose="02070309020205020404" pitchFamily="49" charset="0"/>
              </a:rPr>
              <a:t>); </a:t>
            </a:r>
          </a:p>
          <a:p>
            <a:pPr marL="0" indent="0">
              <a:buFont typeface="Monotype Sorts" pitchFamily="-84" charset="2"/>
              <a:buNone/>
            </a:pPr>
            <a:r>
              <a:rPr lang="en-US" altLang="en-US" sz="1700" b="1" dirty="0">
                <a:latin typeface="Courier New" panose="02070309020205020404" pitchFamily="49" charset="0"/>
              </a:rPr>
              <a:t>   /* now join on each thread */</a:t>
            </a:r>
            <a:br>
              <a:rPr lang="en-US" altLang="en-US" sz="1700" b="1" dirty="0">
                <a:latin typeface="Courier New" panose="02070309020205020404" pitchFamily="49" charset="0"/>
              </a:rPr>
            </a:br>
            <a:r>
              <a:rPr lang="en-US" altLang="en-US" sz="1700" b="1" dirty="0">
                <a:latin typeface="Courier New" panose="02070309020205020404" pitchFamily="49" charset="0"/>
              </a:rPr>
              <a:t>   for (</a:t>
            </a:r>
            <a:r>
              <a:rPr lang="en-US" altLang="en-US" sz="1700" b="1" dirty="0" err="1">
                <a:latin typeface="Courier New" panose="02070309020205020404" pitchFamily="49" charset="0"/>
              </a:rPr>
              <a:t>i</a:t>
            </a:r>
            <a:r>
              <a:rPr lang="en-US" altLang="en-US" sz="1700" b="1" dirty="0">
                <a:latin typeface="Courier New" panose="02070309020205020404" pitchFamily="49" charset="0"/>
              </a:rPr>
              <a:t> = 0; </a:t>
            </a:r>
            <a:r>
              <a:rPr lang="en-US" altLang="en-US" sz="1700" b="1" dirty="0" err="1">
                <a:latin typeface="Courier New" panose="02070309020205020404" pitchFamily="49" charset="0"/>
              </a:rPr>
              <a:t>i</a:t>
            </a:r>
            <a:r>
              <a:rPr lang="en-US" altLang="en-US" sz="1700" b="1" dirty="0">
                <a:latin typeface="Courier New" panose="02070309020205020404" pitchFamily="49" charset="0"/>
              </a:rPr>
              <a:t> &lt; NUM_THREADS; </a:t>
            </a:r>
            <a:r>
              <a:rPr lang="en-US" altLang="en-US" sz="1700" b="1" dirty="0" err="1">
                <a:latin typeface="Courier New" panose="02070309020205020404" pitchFamily="49" charset="0"/>
              </a:rPr>
              <a:t>i</a:t>
            </a:r>
            <a:r>
              <a:rPr lang="en-US" altLang="en-US" sz="1700" b="1" dirty="0">
                <a:latin typeface="Courier New" panose="02070309020205020404" pitchFamily="49" charset="0"/>
              </a:rPr>
              <a:t>++) </a:t>
            </a:r>
          </a:p>
          <a:p>
            <a:pPr marL="0" indent="0">
              <a:buFont typeface="Monotype Sorts" pitchFamily="-84" charset="2"/>
              <a:buNone/>
            </a:pPr>
            <a:r>
              <a:rPr lang="en-US" altLang="en-US" sz="1700" b="1" dirty="0">
                <a:latin typeface="Courier New" panose="02070309020205020404" pitchFamily="49" charset="0"/>
              </a:rPr>
              <a:t>      </a:t>
            </a:r>
            <a:r>
              <a:rPr lang="en-US" altLang="en-US" sz="1700" b="1" dirty="0" err="1">
                <a:latin typeface="Courier New" panose="02070309020205020404" pitchFamily="49" charset="0"/>
              </a:rPr>
              <a:t>pthread_join</a:t>
            </a:r>
            <a:r>
              <a:rPr lang="en-US" altLang="en-US" sz="1700" b="1" dirty="0">
                <a:latin typeface="Courier New" panose="02070309020205020404" pitchFamily="49" charset="0"/>
              </a:rPr>
              <a:t>(</a:t>
            </a:r>
            <a:r>
              <a:rPr lang="en-US" altLang="en-US" sz="1700" b="1" dirty="0" err="1">
                <a:latin typeface="Courier New" panose="02070309020205020404" pitchFamily="49" charset="0"/>
              </a:rPr>
              <a:t>tid</a:t>
            </a:r>
            <a:r>
              <a:rPr lang="en-US" altLang="en-US" sz="1700" b="1" dirty="0">
                <a:latin typeface="Courier New" panose="02070309020205020404" pitchFamily="49" charset="0"/>
              </a:rPr>
              <a:t>[</a:t>
            </a:r>
            <a:r>
              <a:rPr lang="en-US" altLang="en-US" sz="1700" b="1" dirty="0" err="1">
                <a:latin typeface="Courier New" panose="02070309020205020404" pitchFamily="49" charset="0"/>
              </a:rPr>
              <a:t>i</a:t>
            </a:r>
            <a:r>
              <a:rPr lang="en-US" altLang="en-US" sz="1700" b="1" dirty="0">
                <a:latin typeface="Courier New" panose="02070309020205020404" pitchFamily="49" charset="0"/>
              </a:rPr>
              <a:t>], NULL); </a:t>
            </a:r>
          </a:p>
          <a:p>
            <a:pPr marL="0" indent="0">
              <a:buFont typeface="Monotype Sorts" pitchFamily="-84" charset="2"/>
              <a:buNone/>
            </a:pPr>
            <a:r>
              <a:rPr lang="en-US" altLang="en-US" sz="1700" b="1" dirty="0">
                <a:latin typeface="Courier New" panose="02070309020205020404" pitchFamily="49" charset="0"/>
              </a:rPr>
              <a:t>} </a:t>
            </a:r>
          </a:p>
          <a:p>
            <a:pPr marL="0" indent="0">
              <a:buFont typeface="Monotype Sorts" pitchFamily="-84" charset="2"/>
              <a:buNone/>
            </a:pPr>
            <a:r>
              <a:rPr lang="en-US" altLang="en-US" sz="1700" b="1" dirty="0">
                <a:latin typeface="Courier New" panose="02070309020205020404" pitchFamily="49" charset="0"/>
              </a:rPr>
              <a:t>/* Each thread will begin control in this function */ </a:t>
            </a:r>
          </a:p>
          <a:p>
            <a:pPr marL="0" indent="0">
              <a:buFont typeface="Monotype Sorts" pitchFamily="-84" charset="2"/>
              <a:buNone/>
            </a:pPr>
            <a:r>
              <a:rPr lang="en-US" altLang="en-US" sz="1700" b="1" dirty="0">
                <a:latin typeface="Courier New" panose="02070309020205020404" pitchFamily="49" charset="0"/>
              </a:rPr>
              <a:t>void *runner(void *param)</a:t>
            </a:r>
            <a:br>
              <a:rPr lang="en-US" altLang="en-US" sz="1700" b="1" dirty="0">
                <a:latin typeface="Courier New" panose="02070309020205020404" pitchFamily="49" charset="0"/>
              </a:rPr>
            </a:br>
            <a:r>
              <a:rPr lang="en-US" altLang="en-US" sz="1700" b="1" dirty="0">
                <a:latin typeface="Courier New" panose="02070309020205020404" pitchFamily="49" charset="0"/>
              </a:rPr>
              <a:t>{ </a:t>
            </a:r>
          </a:p>
          <a:p>
            <a:pPr marL="0" indent="0">
              <a:buFont typeface="Monotype Sorts" pitchFamily="-84" charset="2"/>
              <a:buNone/>
            </a:pPr>
            <a:r>
              <a:rPr lang="en-US" altLang="en-US" sz="1700" b="1" dirty="0">
                <a:latin typeface="Courier New" panose="02070309020205020404" pitchFamily="49" charset="0"/>
              </a:rPr>
              <a:t>   /* do some work ... */ </a:t>
            </a:r>
          </a:p>
          <a:p>
            <a:pPr marL="0" indent="0">
              <a:buFont typeface="Monotype Sorts" pitchFamily="-84" charset="2"/>
              <a:buNone/>
            </a:pPr>
            <a:r>
              <a:rPr lang="en-US" altLang="en-US" sz="1700" b="1" dirty="0">
                <a:latin typeface="Courier New" panose="02070309020205020404" pitchFamily="49" charset="0"/>
              </a:rPr>
              <a:t>   </a:t>
            </a:r>
            <a:r>
              <a:rPr lang="en-US" altLang="en-US" sz="1700" b="1" dirty="0" err="1">
                <a:latin typeface="Courier New" panose="02070309020205020404" pitchFamily="49" charset="0"/>
              </a:rPr>
              <a:t>pthread_exit</a:t>
            </a:r>
            <a:r>
              <a:rPr lang="en-US" altLang="en-US" sz="1700" b="1" dirty="0">
                <a:latin typeface="Courier New" panose="02070309020205020404" pitchFamily="49" charset="0"/>
              </a:rPr>
              <a:t>(0); </a:t>
            </a:r>
          </a:p>
          <a:p>
            <a:pPr marL="0" indent="0">
              <a:buFont typeface="Monotype Sorts" pitchFamily="-84" charset="2"/>
              <a:buNone/>
            </a:pPr>
            <a:r>
              <a:rPr lang="en-US" altLang="en-US" sz="1700" b="1" dirty="0">
                <a:latin typeface="Courier New" panose="02070309020205020404" pitchFamily="49" charset="0"/>
              </a:rPr>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BF0D8640-FCB0-4988-9C40-1D8E1028F211}"/>
              </a:ext>
            </a:extLst>
          </p:cNvPr>
          <p:cNvSpPr>
            <a:spLocks noGrp="1" noChangeArrowheads="1"/>
          </p:cNvSpPr>
          <p:nvPr>
            <p:ph type="title"/>
          </p:nvPr>
        </p:nvSpPr>
        <p:spPr>
          <a:xfrm>
            <a:off x="963613" y="121920"/>
            <a:ext cx="7723187" cy="601892"/>
          </a:xfrm>
        </p:spPr>
        <p:txBody>
          <a:bodyPr/>
          <a:lstStyle/>
          <a:p>
            <a:pPr eaLnBrk="1" hangingPunct="1"/>
            <a:r>
              <a:rPr lang="en-US" altLang="en-US" dirty="0"/>
              <a:t>Multiple-Processor Scheduling</a:t>
            </a:r>
          </a:p>
        </p:txBody>
      </p:sp>
      <p:sp>
        <p:nvSpPr>
          <p:cNvPr id="69634" name="Rectangle 3">
            <a:extLst>
              <a:ext uri="{FF2B5EF4-FFF2-40B4-BE49-F238E27FC236}">
                <a16:creationId xmlns:a16="http://schemas.microsoft.com/office/drawing/2014/main" id="{2B71E613-2379-4021-8ED5-E283592561A9}"/>
              </a:ext>
            </a:extLst>
          </p:cNvPr>
          <p:cNvSpPr>
            <a:spLocks noGrp="1" noChangeArrowheads="1"/>
          </p:cNvSpPr>
          <p:nvPr>
            <p:ph type="body" idx="1"/>
          </p:nvPr>
        </p:nvSpPr>
        <p:spPr>
          <a:xfrm>
            <a:off x="774441" y="1122363"/>
            <a:ext cx="7912359" cy="2586037"/>
          </a:xfrm>
        </p:spPr>
        <p:txBody>
          <a:bodyPr/>
          <a:lstStyle/>
          <a:p>
            <a:r>
              <a:rPr lang="en-US" altLang="en-US" sz="2000" dirty="0"/>
              <a:t>CPU scheduling more complex when multiple CPUs are available</a:t>
            </a:r>
          </a:p>
          <a:p>
            <a:r>
              <a:rPr lang="en-US" altLang="en-US" sz="2000" dirty="0" err="1"/>
              <a:t>Multiprocess</a:t>
            </a:r>
            <a:r>
              <a:rPr lang="en-US" altLang="en-US" sz="2000" dirty="0"/>
              <a:t> may be any one of the following architectures:</a:t>
            </a:r>
          </a:p>
          <a:p>
            <a:pPr lvl="1"/>
            <a:r>
              <a:rPr lang="en-US" altLang="en-US" sz="2000" dirty="0"/>
              <a:t>Multicore CPUs</a:t>
            </a:r>
          </a:p>
          <a:p>
            <a:pPr lvl="1"/>
            <a:r>
              <a:rPr lang="en-US" altLang="en-US" sz="2000" dirty="0"/>
              <a:t>Multithreaded cores</a:t>
            </a:r>
          </a:p>
          <a:p>
            <a:pPr lvl="1"/>
            <a:r>
              <a:rPr lang="en-US" altLang="en-US" sz="2000" dirty="0"/>
              <a:t>NUMA systems</a:t>
            </a:r>
          </a:p>
          <a:p>
            <a:pPr lvl="1"/>
            <a:r>
              <a:rPr lang="en-US" altLang="en-US" sz="2000" dirty="0"/>
              <a:t>Heterogeneous multiprocessing</a:t>
            </a:r>
          </a:p>
          <a:p>
            <a:pPr lvl="1"/>
            <a:endParaRPr lang="en-US" altLang="en-US" sz="2000" b="1" dirty="0">
              <a:solidFill>
                <a:srgbClr val="3366FF"/>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a:extLst>
              <a:ext uri="{FF2B5EF4-FFF2-40B4-BE49-F238E27FC236}">
                <a16:creationId xmlns:a16="http://schemas.microsoft.com/office/drawing/2014/main" id="{C7F1E55F-983C-47F8-ADBE-54E15FEFD9AB}"/>
              </a:ext>
            </a:extLst>
          </p:cNvPr>
          <p:cNvSpPr>
            <a:spLocks noGrp="1"/>
          </p:cNvSpPr>
          <p:nvPr>
            <p:ph type="title"/>
          </p:nvPr>
        </p:nvSpPr>
        <p:spPr>
          <a:xfrm>
            <a:off x="894080" y="173722"/>
            <a:ext cx="8229600" cy="576262"/>
          </a:xfrm>
        </p:spPr>
        <p:txBody>
          <a:bodyPr/>
          <a:lstStyle/>
          <a:p>
            <a:r>
              <a:rPr lang="en-US" altLang="en-US" dirty="0"/>
              <a:t>Multiple-Processor Scheduling</a:t>
            </a:r>
          </a:p>
        </p:txBody>
      </p:sp>
      <p:sp>
        <p:nvSpPr>
          <p:cNvPr id="71682" name="Content Placeholder 2">
            <a:extLst>
              <a:ext uri="{FF2B5EF4-FFF2-40B4-BE49-F238E27FC236}">
                <a16:creationId xmlns:a16="http://schemas.microsoft.com/office/drawing/2014/main" id="{7A08C823-220F-4189-B103-BC03391E7F6B}"/>
              </a:ext>
            </a:extLst>
          </p:cNvPr>
          <p:cNvSpPr>
            <a:spLocks noGrp="1"/>
          </p:cNvSpPr>
          <p:nvPr>
            <p:ph idx="1"/>
          </p:nvPr>
        </p:nvSpPr>
        <p:spPr>
          <a:xfrm>
            <a:off x="806450" y="1016001"/>
            <a:ext cx="7727950" cy="1600200"/>
          </a:xfrm>
        </p:spPr>
        <p:txBody>
          <a:bodyPr/>
          <a:lstStyle/>
          <a:p>
            <a:r>
              <a:rPr lang="en-US" altLang="en-US" sz="2000" dirty="0"/>
              <a:t>Symmetric multiprocessing (SMP) is where each processor is self scheduling.</a:t>
            </a:r>
          </a:p>
          <a:p>
            <a:r>
              <a:rPr lang="en-US" altLang="en-US" sz="2000" dirty="0"/>
              <a:t>All threads may be in a common ready queue (a)</a:t>
            </a:r>
          </a:p>
          <a:p>
            <a:r>
              <a:rPr lang="en-US" altLang="en-US" sz="2000" dirty="0"/>
              <a:t>Each processor may have its own private queue of threads (b)</a:t>
            </a:r>
          </a:p>
        </p:txBody>
      </p:sp>
      <p:pic>
        <p:nvPicPr>
          <p:cNvPr id="71683" name="Picture 3">
            <a:extLst>
              <a:ext uri="{FF2B5EF4-FFF2-40B4-BE49-F238E27FC236}">
                <a16:creationId xmlns:a16="http://schemas.microsoft.com/office/drawing/2014/main" id="{4F31D85D-3236-4616-BD79-8F32A1CE24E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82775" y="2901950"/>
            <a:ext cx="5381625" cy="27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5EF40B-8258-1C50-595A-6227E7D87B09}"/>
              </a:ext>
            </a:extLst>
          </p:cNvPr>
          <p:cNvSpPr>
            <a:spLocks noGrp="1"/>
          </p:cNvSpPr>
          <p:nvPr>
            <p:ph type="ctrTitle"/>
          </p:nvPr>
        </p:nvSpPr>
        <p:spPr/>
        <p:txBody>
          <a:bodyPr/>
          <a:lstStyle/>
          <a:p>
            <a:r>
              <a:rPr lang="en-US" altLang="zh-CN" dirty="0"/>
              <a:t>Take a Break</a:t>
            </a:r>
            <a:endParaRPr lang="zh-CN" altLang="en-US" dirty="0"/>
          </a:p>
        </p:txBody>
      </p:sp>
    </p:spTree>
    <p:extLst>
      <p:ext uri="{BB962C8B-B14F-4D97-AF65-F5344CB8AC3E}">
        <p14:creationId xmlns:p14="http://schemas.microsoft.com/office/powerpoint/2010/main" val="11058670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a:extLst>
              <a:ext uri="{FF2B5EF4-FFF2-40B4-BE49-F238E27FC236}">
                <a16:creationId xmlns:a16="http://schemas.microsoft.com/office/drawing/2014/main" id="{4EE83DAD-0182-4281-9CC2-965A55B66551}"/>
              </a:ext>
            </a:extLst>
          </p:cNvPr>
          <p:cNvSpPr>
            <a:spLocks noGrp="1"/>
          </p:cNvSpPr>
          <p:nvPr>
            <p:ph type="title"/>
          </p:nvPr>
        </p:nvSpPr>
        <p:spPr>
          <a:xfrm>
            <a:off x="865188" y="121920"/>
            <a:ext cx="7821612" cy="575610"/>
          </a:xfrm>
        </p:spPr>
        <p:txBody>
          <a:bodyPr/>
          <a:lstStyle/>
          <a:p>
            <a:pPr eaLnBrk="1" hangingPunct="1"/>
            <a:r>
              <a:rPr lang="en-US" altLang="en-US" dirty="0"/>
              <a:t>Multicore Processors</a:t>
            </a:r>
          </a:p>
        </p:txBody>
      </p:sp>
      <p:sp>
        <p:nvSpPr>
          <p:cNvPr id="72706" name="Content Placeholder 2">
            <a:extLst>
              <a:ext uri="{FF2B5EF4-FFF2-40B4-BE49-F238E27FC236}">
                <a16:creationId xmlns:a16="http://schemas.microsoft.com/office/drawing/2014/main" id="{AEEE112F-E1F9-4A4D-91F5-E4A039580C88}"/>
              </a:ext>
            </a:extLst>
          </p:cNvPr>
          <p:cNvSpPr>
            <a:spLocks noGrp="1"/>
          </p:cNvSpPr>
          <p:nvPr>
            <p:ph idx="1"/>
          </p:nvPr>
        </p:nvSpPr>
        <p:spPr>
          <a:xfrm>
            <a:off x="802434" y="1020128"/>
            <a:ext cx="7669762" cy="4530725"/>
          </a:xfrm>
        </p:spPr>
        <p:txBody>
          <a:bodyPr/>
          <a:lstStyle/>
          <a:p>
            <a:r>
              <a:rPr lang="en-US" altLang="en-US" sz="2000" dirty="0"/>
              <a:t>Recent trend to place multiple processor cores on same physical chip</a:t>
            </a:r>
          </a:p>
          <a:p>
            <a:r>
              <a:rPr lang="en-US" altLang="en-US" sz="2000" dirty="0"/>
              <a:t>Faster and consumes less power</a:t>
            </a:r>
          </a:p>
          <a:p>
            <a:r>
              <a:rPr lang="en-US" altLang="en-US" sz="2000" dirty="0"/>
              <a:t>Multiple threads per core also growing</a:t>
            </a:r>
          </a:p>
          <a:p>
            <a:pPr lvl="1"/>
            <a:r>
              <a:rPr lang="en-US" altLang="en-US" sz="2000" dirty="0"/>
              <a:t>Takes advantage of memory stall to make progress on another thread while memory retrieve happens</a:t>
            </a:r>
          </a:p>
          <a:p>
            <a:r>
              <a:rPr lang="en-US" altLang="en-US" sz="2000" dirty="0"/>
              <a:t>Figure</a:t>
            </a:r>
          </a:p>
          <a:p>
            <a:pPr lvl="1"/>
            <a:endParaRPr lang="en-US" altLang="en-US" sz="2000" dirty="0"/>
          </a:p>
          <a:p>
            <a:pPr lvl="1">
              <a:buFont typeface="Monotype Sorts" pitchFamily="-84" charset="2"/>
              <a:buNone/>
            </a:pPr>
            <a:r>
              <a:rPr lang="en-US" altLang="en-US" sz="2000" dirty="0"/>
              <a:t> </a:t>
            </a:r>
          </a:p>
        </p:txBody>
      </p:sp>
      <p:pic>
        <p:nvPicPr>
          <p:cNvPr id="72707" name="Picture 1">
            <a:extLst>
              <a:ext uri="{FF2B5EF4-FFF2-40B4-BE49-F238E27FC236}">
                <a16:creationId xmlns:a16="http://schemas.microsoft.com/office/drawing/2014/main" id="{0F6CBE17-826B-42D1-8128-EDC6A8A7083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74737" y="3896360"/>
            <a:ext cx="5733565" cy="1408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BF0D8640-FCB0-4988-9C40-1D8E1028F211}"/>
              </a:ext>
            </a:extLst>
          </p:cNvPr>
          <p:cNvSpPr>
            <a:spLocks noGrp="1" noChangeArrowheads="1"/>
          </p:cNvSpPr>
          <p:nvPr>
            <p:ph type="title"/>
          </p:nvPr>
        </p:nvSpPr>
        <p:spPr>
          <a:xfrm>
            <a:off x="963613" y="121920"/>
            <a:ext cx="7723187" cy="601892"/>
          </a:xfrm>
        </p:spPr>
        <p:txBody>
          <a:bodyPr/>
          <a:lstStyle/>
          <a:p>
            <a:pPr eaLnBrk="1" hangingPunct="1"/>
            <a:r>
              <a:rPr lang="en-US" altLang="en-US" dirty="0"/>
              <a:t>Multithreaded Multicore System</a:t>
            </a:r>
          </a:p>
        </p:txBody>
      </p:sp>
      <p:sp>
        <p:nvSpPr>
          <p:cNvPr id="69634" name="Rectangle 3">
            <a:extLst>
              <a:ext uri="{FF2B5EF4-FFF2-40B4-BE49-F238E27FC236}">
                <a16:creationId xmlns:a16="http://schemas.microsoft.com/office/drawing/2014/main" id="{2B71E613-2379-4021-8ED5-E283592561A9}"/>
              </a:ext>
            </a:extLst>
          </p:cNvPr>
          <p:cNvSpPr>
            <a:spLocks noGrp="1" noChangeArrowheads="1"/>
          </p:cNvSpPr>
          <p:nvPr>
            <p:ph type="body" idx="1"/>
          </p:nvPr>
        </p:nvSpPr>
        <p:spPr>
          <a:xfrm>
            <a:off x="774441" y="1122363"/>
            <a:ext cx="7788501" cy="1354137"/>
          </a:xfrm>
        </p:spPr>
        <p:txBody>
          <a:bodyPr/>
          <a:lstStyle/>
          <a:p>
            <a:r>
              <a:rPr kumimoji="0" lang="en-US" altLang="en-US" sz="2000" dirty="0"/>
              <a:t>Each core has &gt; 1 hardware threads. </a:t>
            </a:r>
          </a:p>
          <a:p>
            <a:r>
              <a:rPr kumimoji="0" lang="en-US" altLang="en-US" sz="2000" dirty="0"/>
              <a:t>If one thread has a memory stall, switch to another thread!</a:t>
            </a:r>
          </a:p>
          <a:p>
            <a:r>
              <a:rPr kumimoji="0" lang="en-US" altLang="en-US" sz="2000" dirty="0"/>
              <a:t>Figure</a:t>
            </a:r>
          </a:p>
          <a:p>
            <a:endParaRPr kumimoji="0" lang="en-US" altLang="en-US" sz="2000" dirty="0"/>
          </a:p>
          <a:p>
            <a:endParaRPr kumimoji="0" lang="en-US" altLang="en-US" sz="2000" dirty="0"/>
          </a:p>
          <a:p>
            <a:pPr>
              <a:spcBef>
                <a:spcPct val="0"/>
              </a:spcBef>
              <a:buClrTx/>
              <a:buSzTx/>
              <a:buFontTx/>
              <a:buNone/>
            </a:pPr>
            <a:endParaRPr kumimoji="0" lang="en-US" altLang="en-US" sz="2000" dirty="0"/>
          </a:p>
          <a:p>
            <a:endParaRPr lang="en-US" altLang="en-US" sz="2000" dirty="0"/>
          </a:p>
        </p:txBody>
      </p:sp>
      <p:pic>
        <p:nvPicPr>
          <p:cNvPr id="4" name="Picture 2">
            <a:extLst>
              <a:ext uri="{FF2B5EF4-FFF2-40B4-BE49-F238E27FC236}">
                <a16:creationId xmlns:a16="http://schemas.microsoft.com/office/drawing/2014/main" id="{5E06ED42-4179-4AE5-A555-4A87568625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2080" y="2573159"/>
            <a:ext cx="5927090" cy="1447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68285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2">
            <a:extLst>
              <a:ext uri="{FF2B5EF4-FFF2-40B4-BE49-F238E27FC236}">
                <a16:creationId xmlns:a16="http://schemas.microsoft.com/office/drawing/2014/main" id="{A98C968A-AF4F-450D-BAED-792FA6118868}"/>
              </a:ext>
            </a:extLst>
          </p:cNvPr>
          <p:cNvSpPr>
            <a:spLocks noGrp="1"/>
          </p:cNvSpPr>
          <p:nvPr>
            <p:ph idx="1"/>
          </p:nvPr>
        </p:nvSpPr>
        <p:spPr>
          <a:xfrm>
            <a:off x="736600" y="1306195"/>
            <a:ext cx="4019550" cy="4524693"/>
          </a:xfrm>
        </p:spPr>
        <p:txBody>
          <a:bodyPr/>
          <a:lstStyle/>
          <a:p>
            <a:r>
              <a:rPr lang="en-US" altLang="en-US" sz="2000" b="1" dirty="0"/>
              <a:t>Chip-multithreading</a:t>
            </a:r>
            <a:r>
              <a:rPr lang="en-US" altLang="en-US" sz="2000" dirty="0"/>
              <a:t> (CMT) assigns each core multiple hardware threads. (Intel refers to this as </a:t>
            </a:r>
            <a:r>
              <a:rPr lang="en-US" altLang="en-US" sz="2000" b="1" dirty="0"/>
              <a:t>hyperthreading</a:t>
            </a:r>
            <a:r>
              <a:rPr lang="en-US" altLang="en-US" sz="2000" dirty="0"/>
              <a:t>.)</a:t>
            </a:r>
            <a:br>
              <a:rPr lang="en-US" altLang="en-US" sz="2000" dirty="0"/>
            </a:br>
            <a:endParaRPr lang="en-US" altLang="en-US" sz="2000" dirty="0"/>
          </a:p>
          <a:p>
            <a:r>
              <a:rPr lang="en-US" altLang="en-US" sz="2000" dirty="0"/>
              <a:t>On a quad-core system with 2 hardware threads per core, the operating system sees 8 logical processors.</a:t>
            </a:r>
          </a:p>
          <a:p>
            <a:endParaRPr lang="en-US" altLang="en-US" sz="2000" dirty="0"/>
          </a:p>
        </p:txBody>
      </p:sp>
      <p:pic>
        <p:nvPicPr>
          <p:cNvPr id="76803" name="Picture 3">
            <a:extLst>
              <a:ext uri="{FF2B5EF4-FFF2-40B4-BE49-F238E27FC236}">
                <a16:creationId xmlns:a16="http://schemas.microsoft.com/office/drawing/2014/main" id="{DF01EFD5-3757-4F74-AA03-D72BD641811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22863" y="1229360"/>
            <a:ext cx="3284537" cy="4753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a:extLst>
              <a:ext uri="{FF2B5EF4-FFF2-40B4-BE49-F238E27FC236}">
                <a16:creationId xmlns:a16="http://schemas.microsoft.com/office/drawing/2014/main" id="{4B1BCE2B-FB82-4DE4-8AC5-8A0BF114B3D4}"/>
              </a:ext>
            </a:extLst>
          </p:cNvPr>
          <p:cNvSpPr>
            <a:spLocks noGrp="1"/>
          </p:cNvSpPr>
          <p:nvPr>
            <p:ph type="title"/>
          </p:nvPr>
        </p:nvSpPr>
        <p:spPr>
          <a:xfrm>
            <a:off x="1166328" y="123751"/>
            <a:ext cx="7557796" cy="576262"/>
          </a:xfrm>
        </p:spPr>
        <p:txBody>
          <a:bodyPr/>
          <a:lstStyle/>
          <a:p>
            <a:pPr eaLnBrk="1" hangingPunct="1"/>
            <a:r>
              <a:rPr lang="en-US" altLang="en-US" dirty="0"/>
              <a:t>Multithreaded Multicore System</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a:extLst>
              <a:ext uri="{FF2B5EF4-FFF2-40B4-BE49-F238E27FC236}">
                <a16:creationId xmlns:a16="http://schemas.microsoft.com/office/drawing/2014/main" id="{72A2F406-D6BE-4B79-BE65-E498FF964134}"/>
              </a:ext>
            </a:extLst>
          </p:cNvPr>
          <p:cNvSpPr>
            <a:spLocks noGrp="1"/>
          </p:cNvSpPr>
          <p:nvPr>
            <p:ph type="title"/>
          </p:nvPr>
        </p:nvSpPr>
        <p:spPr>
          <a:xfrm>
            <a:off x="1045032" y="123751"/>
            <a:ext cx="7809722" cy="576262"/>
          </a:xfrm>
        </p:spPr>
        <p:txBody>
          <a:bodyPr/>
          <a:lstStyle/>
          <a:p>
            <a:r>
              <a:rPr lang="en-US" altLang="en-US" dirty="0"/>
              <a:t>Multithreaded Multicore System</a:t>
            </a:r>
          </a:p>
        </p:txBody>
      </p:sp>
      <p:sp>
        <p:nvSpPr>
          <p:cNvPr id="77826" name="Content Placeholder 2">
            <a:extLst>
              <a:ext uri="{FF2B5EF4-FFF2-40B4-BE49-F238E27FC236}">
                <a16:creationId xmlns:a16="http://schemas.microsoft.com/office/drawing/2014/main" id="{1282DD5F-B7F7-4A28-B908-F260F89F83FA}"/>
              </a:ext>
            </a:extLst>
          </p:cNvPr>
          <p:cNvSpPr>
            <a:spLocks noGrp="1"/>
          </p:cNvSpPr>
          <p:nvPr>
            <p:ph idx="1"/>
          </p:nvPr>
        </p:nvSpPr>
        <p:spPr>
          <a:xfrm>
            <a:off x="493455" y="1298575"/>
            <a:ext cx="3454658" cy="4530725"/>
          </a:xfrm>
        </p:spPr>
        <p:txBody>
          <a:bodyPr/>
          <a:lstStyle/>
          <a:p>
            <a:r>
              <a:rPr lang="en-US" altLang="en-US" sz="2000" dirty="0"/>
              <a:t>Two levels of scheduling:</a:t>
            </a:r>
            <a:br>
              <a:rPr lang="en-US" altLang="en-US" sz="2000" dirty="0"/>
            </a:br>
            <a:endParaRPr lang="en-US" altLang="en-US" sz="2000" dirty="0"/>
          </a:p>
          <a:p>
            <a:pPr lvl="1">
              <a:buFont typeface="Arial" panose="020B0604020202020204" pitchFamily="34" charset="0"/>
              <a:buAutoNum type="arabicPeriod"/>
            </a:pPr>
            <a:r>
              <a:rPr lang="en-US" altLang="en-US" sz="2000" dirty="0"/>
              <a:t>The operating system deciding which software thread to run on a logical CPU</a:t>
            </a:r>
            <a:br>
              <a:rPr lang="en-US" altLang="en-US" sz="2000" dirty="0"/>
            </a:br>
            <a:br>
              <a:rPr lang="en-US" altLang="en-US" sz="2000" dirty="0"/>
            </a:br>
            <a:endParaRPr lang="en-US" altLang="en-US" sz="2000" dirty="0"/>
          </a:p>
          <a:p>
            <a:pPr lvl="1">
              <a:buFont typeface="Arial" panose="020B0604020202020204" pitchFamily="34" charset="0"/>
              <a:buAutoNum type="arabicPeriod"/>
            </a:pPr>
            <a:r>
              <a:rPr lang="en-US" altLang="en-US" sz="2000" dirty="0"/>
              <a:t>How each core decides which hardware thread to run on the physical core.</a:t>
            </a:r>
            <a:br>
              <a:rPr lang="en-US" altLang="en-US" sz="2000" dirty="0"/>
            </a:br>
            <a:br>
              <a:rPr lang="en-US" altLang="en-US" sz="2000" dirty="0"/>
            </a:br>
            <a:br>
              <a:rPr lang="en-US" altLang="en-US" sz="2000" dirty="0"/>
            </a:br>
            <a:endParaRPr lang="en-US" altLang="en-US" sz="2000" dirty="0"/>
          </a:p>
        </p:txBody>
      </p:sp>
      <p:pic>
        <p:nvPicPr>
          <p:cNvPr id="77827" name="Picture 4">
            <a:extLst>
              <a:ext uri="{FF2B5EF4-FFF2-40B4-BE49-F238E27FC236}">
                <a16:creationId xmlns:a16="http://schemas.microsoft.com/office/drawing/2014/main" id="{CDFC70F4-8A1C-480B-820D-DE1F116FFD4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48113" y="1190625"/>
            <a:ext cx="5087937" cy="395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54839094-C3D3-496D-831C-D61F7F14A2B2}"/>
              </a:ext>
            </a:extLst>
          </p:cNvPr>
          <p:cNvSpPr>
            <a:spLocks noGrp="1" noChangeArrowheads="1"/>
          </p:cNvSpPr>
          <p:nvPr>
            <p:ph type="title"/>
          </p:nvPr>
        </p:nvSpPr>
        <p:spPr>
          <a:xfrm>
            <a:off x="1075512" y="121920"/>
            <a:ext cx="7917024" cy="566312"/>
          </a:xfrm>
        </p:spPr>
        <p:txBody>
          <a:bodyPr/>
          <a:lstStyle/>
          <a:p>
            <a:pPr eaLnBrk="1" hangingPunct="1"/>
            <a:r>
              <a:rPr lang="en-US" altLang="en-US" sz="2400" dirty="0"/>
              <a:t>Multiple-Processor Scheduling – Load Balancing</a:t>
            </a:r>
          </a:p>
        </p:txBody>
      </p:sp>
      <p:sp>
        <p:nvSpPr>
          <p:cNvPr id="78850" name="Rectangle 3">
            <a:extLst>
              <a:ext uri="{FF2B5EF4-FFF2-40B4-BE49-F238E27FC236}">
                <a16:creationId xmlns:a16="http://schemas.microsoft.com/office/drawing/2014/main" id="{820781A6-111F-4348-AA18-D0475B89840C}"/>
              </a:ext>
            </a:extLst>
          </p:cNvPr>
          <p:cNvSpPr>
            <a:spLocks noGrp="1" noChangeArrowheads="1"/>
          </p:cNvSpPr>
          <p:nvPr>
            <p:ph type="body" idx="1"/>
          </p:nvPr>
        </p:nvSpPr>
        <p:spPr>
          <a:xfrm>
            <a:off x="765109" y="1030289"/>
            <a:ext cx="7693091" cy="4699952"/>
          </a:xfrm>
        </p:spPr>
        <p:txBody>
          <a:bodyPr/>
          <a:lstStyle/>
          <a:p>
            <a:r>
              <a:rPr lang="en-US" altLang="en-US" sz="2000" dirty="0"/>
              <a:t>If SMP, need to keep all CPUs loaded for efficiency</a:t>
            </a:r>
          </a:p>
          <a:p>
            <a:r>
              <a:rPr lang="en-US" altLang="en-US" sz="2000" b="1" dirty="0">
                <a:solidFill>
                  <a:srgbClr val="006699"/>
                </a:solidFill>
                <a:latin typeface="+mj-lt"/>
              </a:rPr>
              <a:t>Load</a:t>
            </a:r>
            <a:r>
              <a:rPr lang="en-US" altLang="en-US" sz="2000" b="1" dirty="0">
                <a:solidFill>
                  <a:srgbClr val="3366FF"/>
                </a:solidFill>
              </a:rPr>
              <a:t> </a:t>
            </a:r>
            <a:r>
              <a:rPr lang="en-US" altLang="en-US" sz="2000" b="1" dirty="0">
                <a:solidFill>
                  <a:srgbClr val="006699"/>
                </a:solidFill>
                <a:latin typeface="+mj-lt"/>
              </a:rPr>
              <a:t>balancing</a:t>
            </a:r>
            <a:r>
              <a:rPr lang="en-US" altLang="en-US" sz="2000" b="1" dirty="0">
                <a:solidFill>
                  <a:srgbClr val="3366FF"/>
                </a:solidFill>
              </a:rPr>
              <a:t> </a:t>
            </a:r>
            <a:r>
              <a:rPr lang="en-US" altLang="en-US" sz="2000" dirty="0"/>
              <a:t>attempts to keep workload evenly distributed</a:t>
            </a:r>
          </a:p>
          <a:p>
            <a:r>
              <a:rPr lang="en-US" altLang="en-US" sz="2000" b="1" dirty="0">
                <a:solidFill>
                  <a:srgbClr val="006699"/>
                </a:solidFill>
                <a:latin typeface="+mj-lt"/>
              </a:rPr>
              <a:t>Push</a:t>
            </a:r>
            <a:r>
              <a:rPr lang="en-US" altLang="en-US" sz="2000" b="1" dirty="0">
                <a:solidFill>
                  <a:srgbClr val="3366FF"/>
                </a:solidFill>
              </a:rPr>
              <a:t> </a:t>
            </a:r>
            <a:r>
              <a:rPr lang="en-US" altLang="en-US" sz="2000" b="1" dirty="0">
                <a:solidFill>
                  <a:srgbClr val="006699"/>
                </a:solidFill>
                <a:latin typeface="+mj-lt"/>
              </a:rPr>
              <a:t>migration</a:t>
            </a:r>
            <a:r>
              <a:rPr lang="en-US" altLang="en-US" sz="2000" b="1" dirty="0">
                <a:solidFill>
                  <a:srgbClr val="3366FF"/>
                </a:solidFill>
              </a:rPr>
              <a:t> </a:t>
            </a:r>
            <a:r>
              <a:rPr lang="en-US" altLang="en-US" sz="2000" dirty="0"/>
              <a:t>– periodic task checks load on each processor, and if found pushes task from overloaded CPU to other CPUs</a:t>
            </a:r>
            <a:endParaRPr lang="en-US" altLang="en-US" sz="2000" b="1" dirty="0">
              <a:solidFill>
                <a:srgbClr val="3366FF"/>
              </a:solidFill>
            </a:endParaRPr>
          </a:p>
          <a:p>
            <a:r>
              <a:rPr lang="en-US" altLang="en-US" sz="2000" b="1" dirty="0">
                <a:solidFill>
                  <a:srgbClr val="006699"/>
                </a:solidFill>
                <a:latin typeface="+mj-lt"/>
              </a:rPr>
              <a:t>Pull</a:t>
            </a:r>
            <a:r>
              <a:rPr lang="en-US" altLang="en-US" sz="2000" b="1" dirty="0">
                <a:solidFill>
                  <a:srgbClr val="3366FF"/>
                </a:solidFill>
              </a:rPr>
              <a:t> </a:t>
            </a:r>
            <a:r>
              <a:rPr lang="en-US" altLang="en-US" sz="2000" b="1" dirty="0">
                <a:solidFill>
                  <a:srgbClr val="006699"/>
                </a:solidFill>
                <a:latin typeface="+mj-lt"/>
              </a:rPr>
              <a:t>migration</a:t>
            </a:r>
            <a:r>
              <a:rPr lang="en-US" altLang="en-US" sz="2000" b="1" dirty="0">
                <a:solidFill>
                  <a:srgbClr val="3366FF"/>
                </a:solidFill>
              </a:rPr>
              <a:t> </a:t>
            </a:r>
            <a:r>
              <a:rPr lang="en-US" altLang="en-US" sz="2000" dirty="0"/>
              <a:t>– idle processors pulls waiting task from busy processor</a:t>
            </a:r>
          </a:p>
          <a:p>
            <a:endParaRPr lang="en-US" altLang="en-US" sz="2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4A39CD83-8114-4F93-99FA-773F54549A49}"/>
              </a:ext>
            </a:extLst>
          </p:cNvPr>
          <p:cNvSpPr>
            <a:spLocks noGrp="1" noChangeArrowheads="1"/>
          </p:cNvSpPr>
          <p:nvPr>
            <p:ph type="title"/>
          </p:nvPr>
        </p:nvSpPr>
        <p:spPr>
          <a:xfrm>
            <a:off x="982028" y="142240"/>
            <a:ext cx="8253411" cy="535832"/>
          </a:xfrm>
        </p:spPr>
        <p:txBody>
          <a:bodyPr/>
          <a:lstStyle/>
          <a:p>
            <a:pPr eaLnBrk="1" hangingPunct="1"/>
            <a:r>
              <a:rPr lang="en-US" altLang="en-US" sz="2400" dirty="0"/>
              <a:t>Multiple-Processor Scheduling – Processor Affinity</a:t>
            </a:r>
          </a:p>
        </p:txBody>
      </p:sp>
      <p:sp>
        <p:nvSpPr>
          <p:cNvPr id="80898" name="Rectangle 3">
            <a:extLst>
              <a:ext uri="{FF2B5EF4-FFF2-40B4-BE49-F238E27FC236}">
                <a16:creationId xmlns:a16="http://schemas.microsoft.com/office/drawing/2014/main" id="{94EFBBBE-DEF2-46B3-983A-153F37FA81BA}"/>
              </a:ext>
            </a:extLst>
          </p:cNvPr>
          <p:cNvSpPr>
            <a:spLocks noGrp="1" noChangeArrowheads="1"/>
          </p:cNvSpPr>
          <p:nvPr>
            <p:ph type="body" idx="1"/>
          </p:nvPr>
        </p:nvSpPr>
        <p:spPr>
          <a:xfrm>
            <a:off x="774441" y="1070928"/>
            <a:ext cx="7763069" cy="4808537"/>
          </a:xfrm>
        </p:spPr>
        <p:txBody>
          <a:bodyPr/>
          <a:lstStyle/>
          <a:p>
            <a:r>
              <a:rPr lang="en-US" altLang="en-US" sz="2000" dirty="0"/>
              <a:t>When a thread has been running on one processor, the cache contents of that processor stores the memory accesses by that thread.</a:t>
            </a:r>
          </a:p>
          <a:p>
            <a:r>
              <a:rPr lang="en-US" altLang="en-US" sz="2000" dirty="0"/>
              <a:t>We refer to this as a thread having affinity for a processor (i.e., “processor affinity”)</a:t>
            </a:r>
          </a:p>
          <a:p>
            <a:r>
              <a:rPr lang="en-US" altLang="en-US" sz="2000" dirty="0"/>
              <a:t>Load balancing may affect processor affinity as a thread may be moved from one processor to another to balance loads, yet that thread loses the contents of what it had in the cache of the processor it was moved off of.</a:t>
            </a:r>
          </a:p>
          <a:p>
            <a:r>
              <a:rPr lang="en-US" altLang="en-US" sz="2000" b="1" dirty="0"/>
              <a:t>Soft affinity </a:t>
            </a:r>
            <a:r>
              <a:rPr lang="en-US" altLang="en-US" sz="2000" dirty="0"/>
              <a:t>– the operating system attempts to keep a thread running on the same processor, but no guarantees.</a:t>
            </a:r>
          </a:p>
          <a:p>
            <a:r>
              <a:rPr lang="en-US" altLang="en-US" sz="2000" b="1" dirty="0"/>
              <a:t>Hard affinity </a:t>
            </a:r>
            <a:r>
              <a:rPr lang="en-US" altLang="en-US" sz="2000" dirty="0"/>
              <a:t>– allows a process to specify a set of processors it may run on.</a:t>
            </a:r>
          </a:p>
          <a:p>
            <a:endParaRPr lang="en-US" altLang="en-US" sz="2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1">
            <a:extLst>
              <a:ext uri="{FF2B5EF4-FFF2-40B4-BE49-F238E27FC236}">
                <a16:creationId xmlns:a16="http://schemas.microsoft.com/office/drawing/2014/main" id="{FF506B49-8507-4B53-82D1-3323C7D17F8E}"/>
              </a:ext>
            </a:extLst>
          </p:cNvPr>
          <p:cNvSpPr>
            <a:spLocks noGrp="1"/>
          </p:cNvSpPr>
          <p:nvPr>
            <p:ph type="title"/>
          </p:nvPr>
        </p:nvSpPr>
        <p:spPr>
          <a:xfrm>
            <a:off x="1119188" y="91440"/>
            <a:ext cx="7567612" cy="653468"/>
          </a:xfrm>
        </p:spPr>
        <p:txBody>
          <a:bodyPr/>
          <a:lstStyle/>
          <a:p>
            <a:pPr eaLnBrk="1" hangingPunct="1"/>
            <a:r>
              <a:rPr lang="en-US" altLang="en-US" dirty="0"/>
              <a:t>NUMA and CPU Scheduling</a:t>
            </a:r>
          </a:p>
        </p:txBody>
      </p:sp>
      <p:pic>
        <p:nvPicPr>
          <p:cNvPr id="82946" name="Picture 1" descr="6_09.pdf">
            <a:extLst>
              <a:ext uri="{FF2B5EF4-FFF2-40B4-BE49-F238E27FC236}">
                <a16:creationId xmlns:a16="http://schemas.microsoft.com/office/drawing/2014/main" id="{980E063E-45DD-4BA6-BC11-815B31E3F0B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18012" y="1869440"/>
            <a:ext cx="6021063" cy="366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7" name="TextBox 1">
            <a:extLst>
              <a:ext uri="{FF2B5EF4-FFF2-40B4-BE49-F238E27FC236}">
                <a16:creationId xmlns:a16="http://schemas.microsoft.com/office/drawing/2014/main" id="{D8060294-AB44-4240-A269-8D0E3CF3A7C3}"/>
              </a:ext>
            </a:extLst>
          </p:cNvPr>
          <p:cNvSpPr txBox="1">
            <a:spLocks noChangeArrowheads="1"/>
          </p:cNvSpPr>
          <p:nvPr/>
        </p:nvSpPr>
        <p:spPr bwMode="auto">
          <a:xfrm>
            <a:off x="1119187" y="1049973"/>
            <a:ext cx="72783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dirty="0">
                <a:latin typeface="+mn-lt"/>
              </a:rPr>
              <a:t>If the operating system is </a:t>
            </a:r>
            <a:r>
              <a:rPr kumimoji="0" lang="en-US" altLang="en-US" b="1" dirty="0">
                <a:latin typeface="+mn-lt"/>
              </a:rPr>
              <a:t>NUMA-aware</a:t>
            </a:r>
            <a:r>
              <a:rPr kumimoji="0" lang="en-US" altLang="en-US" dirty="0">
                <a:latin typeface="+mn-lt"/>
              </a:rPr>
              <a:t>, it will assign memory closes to the CPU the thread is running on.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1">
            <a:extLst>
              <a:ext uri="{FF2B5EF4-FFF2-40B4-BE49-F238E27FC236}">
                <a16:creationId xmlns:a16="http://schemas.microsoft.com/office/drawing/2014/main" id="{B42CDA91-CA75-4216-8ED6-3B418AAF9D59}"/>
              </a:ext>
            </a:extLst>
          </p:cNvPr>
          <p:cNvSpPr>
            <a:spLocks noGrp="1"/>
          </p:cNvSpPr>
          <p:nvPr>
            <p:ph type="title"/>
          </p:nvPr>
        </p:nvSpPr>
        <p:spPr>
          <a:xfrm>
            <a:off x="865188" y="140547"/>
            <a:ext cx="7821612" cy="576262"/>
          </a:xfrm>
        </p:spPr>
        <p:txBody>
          <a:bodyPr/>
          <a:lstStyle/>
          <a:p>
            <a:pPr eaLnBrk="1" hangingPunct="1"/>
            <a:r>
              <a:rPr lang="en-US" altLang="en-US" dirty="0"/>
              <a:t>Real-Time CPU Scheduling</a:t>
            </a:r>
          </a:p>
        </p:txBody>
      </p:sp>
      <p:sp>
        <p:nvSpPr>
          <p:cNvPr id="84994" name="Content Placeholder 2">
            <a:extLst>
              <a:ext uri="{FF2B5EF4-FFF2-40B4-BE49-F238E27FC236}">
                <a16:creationId xmlns:a16="http://schemas.microsoft.com/office/drawing/2014/main" id="{6D35042C-FEBC-4B02-841F-FAC1FF000AE9}"/>
              </a:ext>
            </a:extLst>
          </p:cNvPr>
          <p:cNvSpPr>
            <a:spLocks noGrp="1"/>
          </p:cNvSpPr>
          <p:nvPr>
            <p:ph idx="1"/>
          </p:nvPr>
        </p:nvSpPr>
        <p:spPr>
          <a:xfrm>
            <a:off x="806450" y="1005840"/>
            <a:ext cx="7740391" cy="4575493"/>
          </a:xfrm>
        </p:spPr>
        <p:txBody>
          <a:bodyPr/>
          <a:lstStyle/>
          <a:p>
            <a:r>
              <a:rPr lang="en-US" altLang="en-US" sz="2000" dirty="0"/>
              <a:t>Can present obvious challenges</a:t>
            </a:r>
          </a:p>
          <a:p>
            <a:r>
              <a:rPr lang="en-US" altLang="en-US" sz="2000" b="1" dirty="0">
                <a:solidFill>
                  <a:srgbClr val="006699"/>
                </a:solidFill>
                <a:latin typeface="+mj-lt"/>
              </a:rPr>
              <a:t>Soft real-time systems </a:t>
            </a:r>
            <a:r>
              <a:rPr lang="en-US" altLang="en-US" sz="2000" dirty="0"/>
              <a:t>– Critical real-time tasks have the highest priority, but no guarantee as to when tasks will be scheduled</a:t>
            </a:r>
          </a:p>
          <a:p>
            <a:r>
              <a:rPr lang="en-US" altLang="en-US" sz="2000" b="1" dirty="0">
                <a:solidFill>
                  <a:srgbClr val="006699"/>
                </a:solidFill>
                <a:latin typeface="+mj-lt"/>
              </a:rPr>
              <a:t>Hard real-time systems – task must be serviced by its deadline</a:t>
            </a:r>
          </a:p>
          <a:p>
            <a:pPr lvl="1">
              <a:buFont typeface="Monotype Sorts" pitchFamily="-84" charset="2"/>
              <a:buNone/>
            </a:pPr>
            <a:r>
              <a:rPr lang="en-US" altLang="en-US" sz="2000" b="1" dirty="0">
                <a:solidFill>
                  <a:srgbClr val="006699"/>
                </a:solidFill>
                <a:latin typeface="+mj-lt"/>
              </a:rPr>
              <a:t>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
            <a:extLst>
              <a:ext uri="{FF2B5EF4-FFF2-40B4-BE49-F238E27FC236}">
                <a16:creationId xmlns:a16="http://schemas.microsoft.com/office/drawing/2014/main" id="{5465B525-CEEC-49C9-B033-5A403A5B5548}"/>
              </a:ext>
            </a:extLst>
          </p:cNvPr>
          <p:cNvSpPr>
            <a:spLocks noGrp="1"/>
          </p:cNvSpPr>
          <p:nvPr>
            <p:ph type="title"/>
          </p:nvPr>
        </p:nvSpPr>
        <p:spPr>
          <a:xfrm>
            <a:off x="865188" y="120227"/>
            <a:ext cx="7821612" cy="576262"/>
          </a:xfrm>
        </p:spPr>
        <p:txBody>
          <a:bodyPr/>
          <a:lstStyle/>
          <a:p>
            <a:pPr eaLnBrk="1" hangingPunct="1"/>
            <a:r>
              <a:rPr lang="en-US" altLang="en-US" dirty="0"/>
              <a:t>Real-Time CPU Scheduling</a:t>
            </a:r>
          </a:p>
        </p:txBody>
      </p:sp>
      <p:sp>
        <p:nvSpPr>
          <p:cNvPr id="87042" name="Content Placeholder 2">
            <a:extLst>
              <a:ext uri="{FF2B5EF4-FFF2-40B4-BE49-F238E27FC236}">
                <a16:creationId xmlns:a16="http://schemas.microsoft.com/office/drawing/2014/main" id="{F36B9134-1F9A-43F2-AE53-CEC7281025B7}"/>
              </a:ext>
            </a:extLst>
          </p:cNvPr>
          <p:cNvSpPr>
            <a:spLocks noGrp="1"/>
          </p:cNvSpPr>
          <p:nvPr>
            <p:ph idx="1"/>
          </p:nvPr>
        </p:nvSpPr>
        <p:spPr>
          <a:xfrm>
            <a:off x="806450" y="1097280"/>
            <a:ext cx="4044950" cy="4585653"/>
          </a:xfrm>
        </p:spPr>
        <p:txBody>
          <a:bodyPr/>
          <a:lstStyle/>
          <a:p>
            <a:r>
              <a:rPr lang="en-US" altLang="en-US" sz="2000" dirty="0"/>
              <a:t>Event latency – the amount of time that elapses from when an event occurs to when it is serviced.</a:t>
            </a:r>
          </a:p>
          <a:p>
            <a:r>
              <a:rPr lang="en-US" altLang="en-US" sz="2000" dirty="0"/>
              <a:t>Two types of latencies affect performance</a:t>
            </a:r>
          </a:p>
          <a:p>
            <a:pPr lvl="1">
              <a:buFont typeface="Arial" panose="020B0604020202020204" pitchFamily="34" charset="0"/>
              <a:buAutoNum type="arabicPeriod"/>
            </a:pPr>
            <a:r>
              <a:rPr lang="en-US" altLang="en-US" sz="2000" dirty="0"/>
              <a:t> </a:t>
            </a:r>
            <a:r>
              <a:rPr lang="en-US" altLang="en-US" sz="2000" b="1" dirty="0"/>
              <a:t>Interrupt latency </a:t>
            </a:r>
            <a:r>
              <a:rPr lang="en-US" altLang="en-US" sz="2000" dirty="0"/>
              <a:t>– time from arrival of interrupt to start of routine that services interrupt</a:t>
            </a:r>
          </a:p>
          <a:p>
            <a:pPr lvl="1">
              <a:buFont typeface="Arial" panose="020B0604020202020204" pitchFamily="34" charset="0"/>
              <a:buAutoNum type="arabicPeriod"/>
            </a:pPr>
            <a:r>
              <a:rPr lang="en-US" altLang="en-US" sz="2000" dirty="0"/>
              <a:t> </a:t>
            </a:r>
            <a:r>
              <a:rPr lang="en-US" altLang="en-US" sz="2000" b="1" dirty="0"/>
              <a:t>Dispatch latency </a:t>
            </a:r>
            <a:r>
              <a:rPr lang="en-US" altLang="en-US" sz="2000" dirty="0"/>
              <a:t>– time for schedule to take current process off CPU and switch to another</a:t>
            </a:r>
          </a:p>
          <a:p>
            <a:endParaRPr lang="en-US" altLang="en-US" sz="2000" dirty="0"/>
          </a:p>
          <a:p>
            <a:pPr lvl="1">
              <a:buFont typeface="Monotype Sorts" pitchFamily="-84" charset="2"/>
              <a:buNone/>
            </a:pPr>
            <a:r>
              <a:rPr lang="en-US" altLang="en-US" sz="2000" dirty="0"/>
              <a:t> </a:t>
            </a:r>
          </a:p>
        </p:txBody>
      </p:sp>
      <p:pic>
        <p:nvPicPr>
          <p:cNvPr id="87043" name="Picture 1">
            <a:extLst>
              <a:ext uri="{FF2B5EF4-FFF2-40B4-BE49-F238E27FC236}">
                <a16:creationId xmlns:a16="http://schemas.microsoft.com/office/drawing/2014/main" id="{A386168D-0ECB-4C78-B843-BF56135FA5F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91100" y="2084705"/>
            <a:ext cx="3581400" cy="238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1">
            <a:extLst>
              <a:ext uri="{FF2B5EF4-FFF2-40B4-BE49-F238E27FC236}">
                <a16:creationId xmlns:a16="http://schemas.microsoft.com/office/drawing/2014/main" id="{34CD1F8D-2BA1-4930-8ADE-493EC0B780E9}"/>
              </a:ext>
            </a:extLst>
          </p:cNvPr>
          <p:cNvSpPr>
            <a:spLocks noGrp="1"/>
          </p:cNvSpPr>
          <p:nvPr>
            <p:ph type="title"/>
          </p:nvPr>
        </p:nvSpPr>
        <p:spPr>
          <a:xfrm>
            <a:off x="412750" y="147991"/>
            <a:ext cx="8229600" cy="576262"/>
          </a:xfrm>
        </p:spPr>
        <p:txBody>
          <a:bodyPr/>
          <a:lstStyle/>
          <a:p>
            <a:br>
              <a:rPr lang="en-US" altLang="en-US" dirty="0"/>
            </a:br>
            <a:r>
              <a:rPr lang="en-US" altLang="en-US" dirty="0"/>
              <a:t>Interrupt Latency</a:t>
            </a:r>
          </a:p>
        </p:txBody>
      </p:sp>
      <p:pic>
        <p:nvPicPr>
          <p:cNvPr id="89090" name="Picture 2">
            <a:extLst>
              <a:ext uri="{FF2B5EF4-FFF2-40B4-BE49-F238E27FC236}">
                <a16:creationId xmlns:a16="http://schemas.microsoft.com/office/drawing/2014/main" id="{09F5D776-FF63-4BAD-8786-299294C2A98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01800" y="995680"/>
            <a:ext cx="5759030" cy="5437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a:extLst>
              <a:ext uri="{FF2B5EF4-FFF2-40B4-BE49-F238E27FC236}">
                <a16:creationId xmlns:a16="http://schemas.microsoft.com/office/drawing/2014/main" id="{AF98D939-2EF6-4D46-8A76-119BAF4701CB}"/>
              </a:ext>
            </a:extLst>
          </p:cNvPr>
          <p:cNvSpPr>
            <a:spLocks noGrp="1"/>
          </p:cNvSpPr>
          <p:nvPr>
            <p:ph type="title"/>
          </p:nvPr>
        </p:nvSpPr>
        <p:spPr>
          <a:xfrm>
            <a:off x="806450" y="104987"/>
            <a:ext cx="7821613" cy="576263"/>
          </a:xfrm>
        </p:spPr>
        <p:txBody>
          <a:bodyPr/>
          <a:lstStyle/>
          <a:p>
            <a:pPr eaLnBrk="1" hangingPunct="1"/>
            <a:br>
              <a:rPr lang="en-US" altLang="en-US" dirty="0"/>
            </a:br>
            <a:r>
              <a:rPr lang="en-US" altLang="en-US" dirty="0"/>
              <a:t>Dispatch Latency</a:t>
            </a:r>
          </a:p>
        </p:txBody>
      </p:sp>
      <p:sp>
        <p:nvSpPr>
          <p:cNvPr id="90114" name="Content Placeholder 2">
            <a:extLst>
              <a:ext uri="{FF2B5EF4-FFF2-40B4-BE49-F238E27FC236}">
                <a16:creationId xmlns:a16="http://schemas.microsoft.com/office/drawing/2014/main" id="{A58C332A-91EF-45CE-B06A-911A62BC7AF8}"/>
              </a:ext>
            </a:extLst>
          </p:cNvPr>
          <p:cNvSpPr>
            <a:spLocks noGrp="1"/>
          </p:cNvSpPr>
          <p:nvPr>
            <p:ph idx="1"/>
          </p:nvPr>
        </p:nvSpPr>
        <p:spPr>
          <a:xfrm>
            <a:off x="561975" y="964247"/>
            <a:ext cx="8020050" cy="1690053"/>
          </a:xfrm>
        </p:spPr>
        <p:txBody>
          <a:bodyPr/>
          <a:lstStyle/>
          <a:p>
            <a:r>
              <a:rPr lang="en-US" altLang="en-US" sz="2000" dirty="0"/>
              <a:t>Conflict phase of dispatch latency:</a:t>
            </a:r>
          </a:p>
          <a:p>
            <a:pPr lvl="1">
              <a:buFont typeface="Arial" panose="020B0604020202020204" pitchFamily="34" charset="0"/>
              <a:buAutoNum type="arabicPeriod"/>
            </a:pPr>
            <a:r>
              <a:rPr lang="en-US" altLang="en-US" sz="2000" dirty="0"/>
              <a:t>Preemption of any process running in kernel mode</a:t>
            </a:r>
          </a:p>
          <a:p>
            <a:pPr lvl="1">
              <a:buFont typeface="Arial" panose="020B0604020202020204" pitchFamily="34" charset="0"/>
              <a:buAutoNum type="arabicPeriod"/>
            </a:pPr>
            <a:r>
              <a:rPr lang="en-US" altLang="en-US" sz="2000" dirty="0"/>
              <a:t>Release by low-priority process of resources needed by high-priority processes</a:t>
            </a:r>
          </a:p>
          <a:p>
            <a:endParaRPr lang="en-US" altLang="en-US" sz="2000" dirty="0"/>
          </a:p>
          <a:p>
            <a:pPr lvl="1">
              <a:buFont typeface="Monotype Sorts" pitchFamily="-84" charset="2"/>
              <a:buNone/>
            </a:pPr>
            <a:r>
              <a:rPr lang="en-US" altLang="en-US" sz="2000" dirty="0"/>
              <a:t> </a:t>
            </a:r>
          </a:p>
        </p:txBody>
      </p:sp>
      <p:pic>
        <p:nvPicPr>
          <p:cNvPr id="90115" name="Picture 1">
            <a:extLst>
              <a:ext uri="{FF2B5EF4-FFF2-40B4-BE49-F238E27FC236}">
                <a16:creationId xmlns:a16="http://schemas.microsoft.com/office/drawing/2014/main" id="{3801CEAC-B75F-4F94-8E21-EDC032D4C0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40768" y="2564606"/>
            <a:ext cx="4997307" cy="3671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a:extLst>
              <a:ext uri="{FF2B5EF4-FFF2-40B4-BE49-F238E27FC236}">
                <a16:creationId xmlns:a16="http://schemas.microsoft.com/office/drawing/2014/main" id="{A8DF052A-4F64-4782-BAE2-89E732E5E749}"/>
              </a:ext>
            </a:extLst>
          </p:cNvPr>
          <p:cNvSpPr>
            <a:spLocks noGrp="1"/>
          </p:cNvSpPr>
          <p:nvPr>
            <p:ph type="title"/>
          </p:nvPr>
        </p:nvSpPr>
        <p:spPr>
          <a:xfrm>
            <a:off x="865188" y="221827"/>
            <a:ext cx="7821612" cy="576262"/>
          </a:xfrm>
        </p:spPr>
        <p:txBody>
          <a:bodyPr/>
          <a:lstStyle/>
          <a:p>
            <a:pPr eaLnBrk="1" hangingPunct="1"/>
            <a:r>
              <a:rPr lang="en-US" altLang="en-US" dirty="0"/>
              <a:t>Priority-based Scheduling</a:t>
            </a:r>
          </a:p>
        </p:txBody>
      </p:sp>
      <p:sp>
        <p:nvSpPr>
          <p:cNvPr id="92162" name="Content Placeholder 2">
            <a:extLst>
              <a:ext uri="{FF2B5EF4-FFF2-40B4-BE49-F238E27FC236}">
                <a16:creationId xmlns:a16="http://schemas.microsoft.com/office/drawing/2014/main" id="{F943F0CE-8844-419F-8310-ED97D4361784}"/>
              </a:ext>
            </a:extLst>
          </p:cNvPr>
          <p:cNvSpPr>
            <a:spLocks noGrp="1"/>
          </p:cNvSpPr>
          <p:nvPr>
            <p:ph idx="1"/>
          </p:nvPr>
        </p:nvSpPr>
        <p:spPr>
          <a:xfrm>
            <a:off x="865188" y="1028701"/>
            <a:ext cx="7727950" cy="3568700"/>
          </a:xfrm>
        </p:spPr>
        <p:txBody>
          <a:bodyPr/>
          <a:lstStyle/>
          <a:p>
            <a:r>
              <a:rPr lang="en-US" altLang="en-US" sz="2000" dirty="0"/>
              <a:t>For real-time scheduling, scheduler must support preemptive, priority-based scheduling</a:t>
            </a:r>
          </a:p>
          <a:p>
            <a:pPr lvl="1"/>
            <a:r>
              <a:rPr lang="en-US" altLang="en-US" sz="2000" dirty="0"/>
              <a:t>But only guarantees soft real-time</a:t>
            </a:r>
          </a:p>
          <a:p>
            <a:r>
              <a:rPr lang="en-US" altLang="en-US" sz="2000" dirty="0"/>
              <a:t>For hard real-time must also provide ability to meet deadlines</a:t>
            </a:r>
          </a:p>
          <a:p>
            <a:r>
              <a:rPr lang="en-US" altLang="en-US" sz="2000" dirty="0"/>
              <a:t>Processes have new characteristics: </a:t>
            </a:r>
            <a:r>
              <a:rPr lang="en-US" altLang="en-US" sz="2000" b="1" dirty="0">
                <a:solidFill>
                  <a:srgbClr val="006699"/>
                </a:solidFill>
                <a:latin typeface="+mj-lt"/>
              </a:rPr>
              <a:t>periodic</a:t>
            </a:r>
            <a:r>
              <a:rPr lang="en-US" altLang="en-US" sz="2000" dirty="0"/>
              <a:t> ones require CPU at constant intervals</a:t>
            </a:r>
          </a:p>
          <a:p>
            <a:pPr lvl="1"/>
            <a:r>
              <a:rPr lang="en-US" altLang="en-US" sz="2000" dirty="0"/>
              <a:t>Has processing time </a:t>
            </a:r>
            <a:r>
              <a:rPr lang="en-US" altLang="en-US" sz="2000" i="1" dirty="0"/>
              <a:t>t</a:t>
            </a:r>
            <a:r>
              <a:rPr lang="en-US" altLang="en-US" sz="2000" dirty="0"/>
              <a:t>, deadline </a:t>
            </a:r>
            <a:r>
              <a:rPr lang="en-US" altLang="en-US" sz="2000" i="1" dirty="0"/>
              <a:t>d, </a:t>
            </a:r>
            <a:r>
              <a:rPr lang="en-US" altLang="en-US" sz="2000" dirty="0"/>
              <a:t>period </a:t>
            </a:r>
            <a:r>
              <a:rPr lang="en-US" altLang="en-US" sz="2000" i="1" dirty="0"/>
              <a:t>p</a:t>
            </a:r>
          </a:p>
          <a:p>
            <a:pPr lvl="1"/>
            <a:r>
              <a:rPr lang="en-US" altLang="en-US" sz="2000" dirty="0"/>
              <a:t>0 ≤ </a:t>
            </a:r>
            <a:r>
              <a:rPr lang="en-US" altLang="en-US" sz="2000" i="1" dirty="0"/>
              <a:t>t</a:t>
            </a:r>
            <a:r>
              <a:rPr lang="en-US" altLang="en-US" sz="2000" dirty="0"/>
              <a:t> ≤ </a:t>
            </a:r>
            <a:r>
              <a:rPr lang="en-US" altLang="en-US" sz="2000" i="1" dirty="0"/>
              <a:t>d</a:t>
            </a:r>
            <a:r>
              <a:rPr lang="en-US" altLang="en-US" sz="2000" dirty="0"/>
              <a:t> ≤ </a:t>
            </a:r>
            <a:r>
              <a:rPr lang="en-US" altLang="en-US" sz="2000" i="1" dirty="0"/>
              <a:t>p</a:t>
            </a:r>
          </a:p>
          <a:p>
            <a:pPr lvl="1"/>
            <a:r>
              <a:rPr lang="en-US" altLang="en-US" sz="2000" b="1" dirty="0">
                <a:solidFill>
                  <a:srgbClr val="006699"/>
                </a:solidFill>
                <a:latin typeface="+mj-lt"/>
              </a:rPr>
              <a:t>Rate</a:t>
            </a:r>
            <a:r>
              <a:rPr lang="en-US" altLang="en-US" sz="2000" dirty="0"/>
              <a:t> of periodic task is 1/</a:t>
            </a:r>
            <a:r>
              <a:rPr lang="en-US" altLang="en-US" sz="2000" i="1" dirty="0"/>
              <a:t>p</a:t>
            </a:r>
            <a:endParaRPr lang="en-US" altLang="en-US" sz="2000" dirty="0"/>
          </a:p>
          <a:p>
            <a:endParaRPr lang="en-US" altLang="en-US" sz="2000" dirty="0"/>
          </a:p>
          <a:p>
            <a:pPr lvl="1">
              <a:buFont typeface="Monotype Sorts" pitchFamily="-84" charset="2"/>
              <a:buNone/>
            </a:pPr>
            <a:r>
              <a:rPr lang="en-US" altLang="en-US" sz="2000" dirty="0"/>
              <a:t> </a:t>
            </a:r>
          </a:p>
        </p:txBody>
      </p:sp>
      <p:pic>
        <p:nvPicPr>
          <p:cNvPr id="92163" name="Picture 1">
            <a:extLst>
              <a:ext uri="{FF2B5EF4-FFF2-40B4-BE49-F238E27FC236}">
                <a16:creationId xmlns:a16="http://schemas.microsoft.com/office/drawing/2014/main" id="{BE1F619D-A9E1-4A25-B1A3-6488B907BCA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16137" y="4666797"/>
            <a:ext cx="5319713" cy="158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42531119-5041-4309-A1D2-A61710EC9D6D}"/>
              </a:ext>
            </a:extLst>
          </p:cNvPr>
          <p:cNvSpPr>
            <a:spLocks noGrp="1" noChangeArrowheads="1"/>
          </p:cNvSpPr>
          <p:nvPr>
            <p:ph type="title"/>
          </p:nvPr>
        </p:nvSpPr>
        <p:spPr>
          <a:xfrm>
            <a:off x="876300" y="139718"/>
            <a:ext cx="7810500" cy="576262"/>
          </a:xfrm>
        </p:spPr>
        <p:txBody>
          <a:bodyPr/>
          <a:lstStyle/>
          <a:p>
            <a:pPr eaLnBrk="1" hangingPunct="1"/>
            <a:r>
              <a:rPr lang="en-US" altLang="en-US" dirty="0"/>
              <a:t>Rate Monotonic Scheduling</a:t>
            </a:r>
          </a:p>
        </p:txBody>
      </p:sp>
      <p:sp>
        <p:nvSpPr>
          <p:cNvPr id="94210" name="Rectangle 4">
            <a:extLst>
              <a:ext uri="{FF2B5EF4-FFF2-40B4-BE49-F238E27FC236}">
                <a16:creationId xmlns:a16="http://schemas.microsoft.com/office/drawing/2014/main" id="{86CCC493-A11A-48CA-92C7-3F09C4E1E540}"/>
              </a:ext>
            </a:extLst>
          </p:cNvPr>
          <p:cNvSpPr>
            <a:spLocks noGrp="1" noChangeArrowheads="1"/>
          </p:cNvSpPr>
          <p:nvPr>
            <p:ph type="body" idx="1"/>
          </p:nvPr>
        </p:nvSpPr>
        <p:spPr>
          <a:xfrm>
            <a:off x="806450" y="1064895"/>
            <a:ext cx="7351713" cy="1729358"/>
          </a:xfrm>
        </p:spPr>
        <p:txBody>
          <a:bodyPr/>
          <a:lstStyle/>
          <a:p>
            <a:r>
              <a:rPr lang="en-US" altLang="en-US" sz="2000" dirty="0"/>
              <a:t>A priority is assigned based on the inverse of its period</a:t>
            </a:r>
          </a:p>
          <a:p>
            <a:r>
              <a:rPr lang="en-US" altLang="en-US" sz="2000" dirty="0"/>
              <a:t>Shorter periods = higher priority;</a:t>
            </a:r>
          </a:p>
          <a:p>
            <a:r>
              <a:rPr lang="en-US" altLang="en-US" sz="2000" dirty="0"/>
              <a:t>Longer periods = lower priority</a:t>
            </a:r>
          </a:p>
          <a:p>
            <a:r>
              <a:rPr lang="en-US" altLang="en-US" sz="2000" dirty="0"/>
              <a:t>P</a:t>
            </a:r>
            <a:r>
              <a:rPr lang="en-US" altLang="en-US" sz="2000" baseline="-25000" dirty="0"/>
              <a:t>1</a:t>
            </a:r>
            <a:r>
              <a:rPr lang="en-US" altLang="en-US" sz="2000" dirty="0"/>
              <a:t> is assigned a higher priority than P</a:t>
            </a:r>
            <a:r>
              <a:rPr lang="en-US" altLang="en-US" sz="2000" baseline="-25000" dirty="0"/>
              <a:t>2</a:t>
            </a:r>
            <a:r>
              <a:rPr lang="en-US" altLang="en-US" sz="2000" dirty="0"/>
              <a:t>.</a:t>
            </a:r>
            <a:br>
              <a:rPr lang="en-US" altLang="en-US" sz="2000" dirty="0"/>
            </a:br>
            <a:endParaRPr lang="en-US" altLang="en-US" sz="2000" dirty="0"/>
          </a:p>
        </p:txBody>
      </p:sp>
      <p:pic>
        <p:nvPicPr>
          <p:cNvPr id="94211" name="Picture 1">
            <a:extLst>
              <a:ext uri="{FF2B5EF4-FFF2-40B4-BE49-F238E27FC236}">
                <a16:creationId xmlns:a16="http://schemas.microsoft.com/office/drawing/2014/main" id="{C1D55E96-A69C-400E-95E2-E0087F3D2D8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88720" y="3099053"/>
            <a:ext cx="6791325" cy="1024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42531119-5041-4309-A1D2-A61710EC9D6D}"/>
              </a:ext>
            </a:extLst>
          </p:cNvPr>
          <p:cNvSpPr>
            <a:spLocks noGrp="1" noChangeArrowheads="1"/>
          </p:cNvSpPr>
          <p:nvPr>
            <p:ph type="title"/>
          </p:nvPr>
        </p:nvSpPr>
        <p:spPr>
          <a:xfrm>
            <a:off x="1272540" y="99078"/>
            <a:ext cx="7810500" cy="576262"/>
          </a:xfrm>
        </p:spPr>
        <p:txBody>
          <a:bodyPr/>
          <a:lstStyle/>
          <a:p>
            <a:pPr eaLnBrk="1" hangingPunct="1"/>
            <a:r>
              <a:rPr lang="en-US" altLang="en-US" sz="2400" dirty="0"/>
              <a:t>Missed Deadlines with Rate Monotonic Scheduling</a:t>
            </a:r>
          </a:p>
        </p:txBody>
      </p:sp>
      <p:sp>
        <p:nvSpPr>
          <p:cNvPr id="94210" name="Rectangle 4">
            <a:extLst>
              <a:ext uri="{FF2B5EF4-FFF2-40B4-BE49-F238E27FC236}">
                <a16:creationId xmlns:a16="http://schemas.microsoft.com/office/drawing/2014/main" id="{86CCC493-A11A-48CA-92C7-3F09C4E1E540}"/>
              </a:ext>
            </a:extLst>
          </p:cNvPr>
          <p:cNvSpPr>
            <a:spLocks noGrp="1" noChangeArrowheads="1"/>
          </p:cNvSpPr>
          <p:nvPr>
            <p:ph type="body" idx="1"/>
          </p:nvPr>
        </p:nvSpPr>
        <p:spPr>
          <a:xfrm>
            <a:off x="806450" y="1064895"/>
            <a:ext cx="7351713" cy="789305"/>
          </a:xfrm>
        </p:spPr>
        <p:txBody>
          <a:bodyPr/>
          <a:lstStyle/>
          <a:p>
            <a:r>
              <a:rPr kumimoji="0" lang="en-US" altLang="en-US" sz="2000" dirty="0"/>
              <a:t>Process </a:t>
            </a:r>
            <a:r>
              <a:rPr lang="en-US" altLang="en-US" sz="2000" dirty="0"/>
              <a:t>P</a:t>
            </a:r>
            <a:r>
              <a:rPr lang="en-US" altLang="en-US" sz="2000" baseline="-25000" dirty="0"/>
              <a:t>2</a:t>
            </a:r>
            <a:r>
              <a:rPr kumimoji="0" lang="en-US" altLang="en-US" sz="2000" dirty="0"/>
              <a:t> misses finishing its deadline at time 80</a:t>
            </a:r>
          </a:p>
          <a:p>
            <a:r>
              <a:rPr lang="en-US" altLang="en-US" sz="2000" dirty="0"/>
              <a:t>Figure</a:t>
            </a:r>
          </a:p>
        </p:txBody>
      </p:sp>
      <p:pic>
        <p:nvPicPr>
          <p:cNvPr id="5" name="Picture 1">
            <a:extLst>
              <a:ext uri="{FF2B5EF4-FFF2-40B4-BE49-F238E27FC236}">
                <a16:creationId xmlns:a16="http://schemas.microsoft.com/office/drawing/2014/main" id="{BB83E708-2FC4-46A5-9C6F-2E91ECBADAD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72540" y="1998587"/>
            <a:ext cx="6997383" cy="1070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05580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7E974B58-615E-4568-9359-DE0D3DA7044C}"/>
              </a:ext>
            </a:extLst>
          </p:cNvPr>
          <p:cNvSpPr>
            <a:spLocks noGrp="1" noChangeArrowheads="1"/>
          </p:cNvSpPr>
          <p:nvPr>
            <p:ph type="title"/>
          </p:nvPr>
        </p:nvSpPr>
        <p:spPr>
          <a:xfrm>
            <a:off x="1391920" y="121920"/>
            <a:ext cx="7729220" cy="571412"/>
          </a:xfrm>
        </p:spPr>
        <p:txBody>
          <a:bodyPr/>
          <a:lstStyle/>
          <a:p>
            <a:pPr eaLnBrk="1" hangingPunct="1"/>
            <a:r>
              <a:rPr lang="en-US" altLang="en-US" sz="2800" dirty="0"/>
              <a:t>Earliest Deadline First Scheduling (EDF)</a:t>
            </a:r>
          </a:p>
        </p:txBody>
      </p:sp>
      <p:sp>
        <p:nvSpPr>
          <p:cNvPr id="98306" name="Rectangle 3">
            <a:extLst>
              <a:ext uri="{FF2B5EF4-FFF2-40B4-BE49-F238E27FC236}">
                <a16:creationId xmlns:a16="http://schemas.microsoft.com/office/drawing/2014/main" id="{1E9806D4-0F94-4F7D-8594-2BE3A814EC48}"/>
              </a:ext>
            </a:extLst>
          </p:cNvPr>
          <p:cNvSpPr>
            <a:spLocks noGrp="1" noChangeArrowheads="1"/>
          </p:cNvSpPr>
          <p:nvPr>
            <p:ph type="body" idx="1"/>
          </p:nvPr>
        </p:nvSpPr>
        <p:spPr>
          <a:xfrm>
            <a:off x="811763" y="1143000"/>
            <a:ext cx="7432125" cy="4483100"/>
          </a:xfrm>
        </p:spPr>
        <p:txBody>
          <a:bodyPr/>
          <a:lstStyle/>
          <a:p>
            <a:r>
              <a:rPr lang="en-US" altLang="en-US" sz="2000" dirty="0"/>
              <a:t>Priorities are assigned according to deadlines:</a:t>
            </a:r>
          </a:p>
          <a:p>
            <a:pPr lvl="1"/>
            <a:r>
              <a:rPr lang="en-US" altLang="en-US" sz="2000" dirty="0"/>
              <a:t>The earlier the deadline, the higher the priority</a:t>
            </a:r>
          </a:p>
          <a:p>
            <a:pPr lvl="1"/>
            <a:r>
              <a:rPr lang="en-US" altLang="en-US" sz="2000" dirty="0"/>
              <a:t>The later the deadline, the lower the priority</a:t>
            </a:r>
          </a:p>
          <a:p>
            <a:r>
              <a:rPr lang="en-US" altLang="en-US" sz="2000" dirty="0"/>
              <a:t>Figure</a:t>
            </a:r>
          </a:p>
        </p:txBody>
      </p:sp>
      <p:pic>
        <p:nvPicPr>
          <p:cNvPr id="98307" name="Picture 2">
            <a:extLst>
              <a:ext uri="{FF2B5EF4-FFF2-40B4-BE49-F238E27FC236}">
                <a16:creationId xmlns:a16="http://schemas.microsoft.com/office/drawing/2014/main" id="{AC134B2A-CFA7-4D4D-BCAE-C2564AE300F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2926080"/>
            <a:ext cx="6499543" cy="1010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97860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a:extLst>
              <a:ext uri="{FF2B5EF4-FFF2-40B4-BE49-F238E27FC236}">
                <a16:creationId xmlns:a16="http://schemas.microsoft.com/office/drawing/2014/main" id="{459B5F4F-799A-48B7-A0B7-53ED0A70A794}"/>
              </a:ext>
            </a:extLst>
          </p:cNvPr>
          <p:cNvSpPr>
            <a:spLocks noGrp="1" noChangeArrowheads="1"/>
          </p:cNvSpPr>
          <p:nvPr>
            <p:ph type="title"/>
          </p:nvPr>
        </p:nvSpPr>
        <p:spPr>
          <a:xfrm>
            <a:off x="935038" y="128006"/>
            <a:ext cx="7751762" cy="576262"/>
          </a:xfrm>
        </p:spPr>
        <p:txBody>
          <a:bodyPr/>
          <a:lstStyle/>
          <a:p>
            <a:pPr eaLnBrk="1" hangingPunct="1"/>
            <a:r>
              <a:rPr lang="en-US" altLang="en-US" dirty="0"/>
              <a:t>Proportional Share Scheduling</a:t>
            </a:r>
          </a:p>
        </p:txBody>
      </p:sp>
      <p:sp>
        <p:nvSpPr>
          <p:cNvPr id="100354" name="Rectangle 3">
            <a:extLst>
              <a:ext uri="{FF2B5EF4-FFF2-40B4-BE49-F238E27FC236}">
                <a16:creationId xmlns:a16="http://schemas.microsoft.com/office/drawing/2014/main" id="{8CF6342D-B4EF-40C5-AE28-E1BC86249E94}"/>
              </a:ext>
            </a:extLst>
          </p:cNvPr>
          <p:cNvSpPr>
            <a:spLocks noGrp="1" noChangeArrowheads="1"/>
          </p:cNvSpPr>
          <p:nvPr>
            <p:ph type="body" idx="1"/>
          </p:nvPr>
        </p:nvSpPr>
        <p:spPr>
          <a:xfrm>
            <a:off x="811763" y="1125855"/>
            <a:ext cx="7751762" cy="4441825"/>
          </a:xfrm>
        </p:spPr>
        <p:txBody>
          <a:bodyPr/>
          <a:lstStyle/>
          <a:p>
            <a:r>
              <a:rPr lang="en-US" altLang="en-US" sz="2000" i="1" dirty="0"/>
              <a:t>T</a:t>
            </a:r>
            <a:r>
              <a:rPr lang="en-US" altLang="en-US" sz="2000" dirty="0"/>
              <a:t> shares are allocated among all processes in the system</a:t>
            </a:r>
          </a:p>
          <a:p>
            <a:r>
              <a:rPr lang="en-US" altLang="en-US" sz="2000" dirty="0"/>
              <a:t>An application receives </a:t>
            </a:r>
            <a:r>
              <a:rPr lang="en-US" altLang="en-US" sz="2000" i="1" dirty="0"/>
              <a:t>N</a:t>
            </a:r>
            <a:r>
              <a:rPr lang="en-US" altLang="en-US" sz="2000" dirty="0"/>
              <a:t> shares where </a:t>
            </a:r>
            <a:r>
              <a:rPr lang="en-US" altLang="en-US" sz="2000" i="1" dirty="0"/>
              <a:t>N &lt; T</a:t>
            </a:r>
            <a:endParaRPr lang="en-US" altLang="en-US" sz="2000" dirty="0"/>
          </a:p>
          <a:p>
            <a:r>
              <a:rPr lang="en-US" altLang="en-US" sz="2000" dirty="0"/>
              <a:t>This ensures each application will receive </a:t>
            </a:r>
            <a:r>
              <a:rPr lang="en-US" altLang="en-US" sz="2000" b="1" i="1" dirty="0"/>
              <a:t>N</a:t>
            </a:r>
            <a:r>
              <a:rPr lang="en-US" altLang="en-US" sz="2000" i="1" dirty="0"/>
              <a:t> / T</a:t>
            </a:r>
            <a:r>
              <a:rPr lang="en-US" altLang="en-US" sz="2000" dirty="0"/>
              <a:t> of the total processor time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a:extLst>
              <a:ext uri="{FF2B5EF4-FFF2-40B4-BE49-F238E27FC236}">
                <a16:creationId xmlns:a16="http://schemas.microsoft.com/office/drawing/2014/main" id="{12676C37-E63F-44FF-91CF-ECA19EFBA290}"/>
              </a:ext>
            </a:extLst>
          </p:cNvPr>
          <p:cNvSpPr>
            <a:spLocks noGrp="1" noChangeArrowheads="1"/>
          </p:cNvSpPr>
          <p:nvPr>
            <p:ph type="title"/>
          </p:nvPr>
        </p:nvSpPr>
        <p:spPr>
          <a:xfrm>
            <a:off x="533400" y="71120"/>
            <a:ext cx="8229600" cy="661035"/>
          </a:xfrm>
        </p:spPr>
        <p:txBody>
          <a:bodyPr/>
          <a:lstStyle/>
          <a:p>
            <a:pPr eaLnBrk="1" hangingPunct="1"/>
            <a:r>
              <a:rPr lang="en-US" altLang="en-US" dirty="0"/>
              <a:t>POSIX Real-Time Scheduling</a:t>
            </a:r>
          </a:p>
        </p:txBody>
      </p:sp>
      <p:sp>
        <p:nvSpPr>
          <p:cNvPr id="56323" name="Rectangle 3">
            <a:extLst>
              <a:ext uri="{FF2B5EF4-FFF2-40B4-BE49-F238E27FC236}">
                <a16:creationId xmlns:a16="http://schemas.microsoft.com/office/drawing/2014/main" id="{C9DDF1F7-83DC-4186-8D07-64F7BA9D5BED}"/>
              </a:ext>
            </a:extLst>
          </p:cNvPr>
          <p:cNvSpPr>
            <a:spLocks noGrp="1" noChangeArrowheads="1"/>
          </p:cNvSpPr>
          <p:nvPr>
            <p:ph type="body" idx="1"/>
          </p:nvPr>
        </p:nvSpPr>
        <p:spPr>
          <a:xfrm>
            <a:off x="774441" y="1001394"/>
            <a:ext cx="7753739" cy="5132705"/>
          </a:xfrm>
        </p:spPr>
        <p:txBody>
          <a:bodyPr/>
          <a:lstStyle/>
          <a:p>
            <a:pPr marL="344488" indent="-344488"/>
            <a:r>
              <a:rPr lang="en-US" altLang="en-US" sz="2000" dirty="0"/>
              <a:t>The POSIX.1b standard</a:t>
            </a:r>
          </a:p>
          <a:p>
            <a:pPr marL="344488" indent="-344488"/>
            <a:r>
              <a:rPr lang="en-US" altLang="en-US" sz="2000" dirty="0"/>
              <a:t>API provides functions for managing real-time threads</a:t>
            </a:r>
          </a:p>
          <a:p>
            <a:pPr marL="344488" indent="-344488"/>
            <a:r>
              <a:rPr lang="en-US" altLang="en-US" sz="2000" dirty="0"/>
              <a:t>Defines two scheduling classes for real-time threads:</a:t>
            </a:r>
          </a:p>
          <a:p>
            <a:pPr marL="744538" lvl="1" indent="-344488">
              <a:buFont typeface="Arial" panose="020B0604020202020204" pitchFamily="34" charset="0"/>
              <a:buAutoNum type="arabicPeriod"/>
            </a:pPr>
            <a:r>
              <a:rPr lang="en-US" altLang="en-US" sz="2000" dirty="0"/>
              <a:t>SCHED_FIFO - threads are scheduled using a FCFS strategy with a FIFO queue. There is no time-slicing for threads of equal priority</a:t>
            </a:r>
          </a:p>
          <a:p>
            <a:pPr marL="744538" lvl="1" indent="-344488">
              <a:buFont typeface="Arial" panose="020B0604020202020204" pitchFamily="34" charset="0"/>
              <a:buAutoNum type="arabicPeriod"/>
            </a:pPr>
            <a:r>
              <a:rPr lang="en-US" altLang="en-US" sz="2000" dirty="0"/>
              <a:t>SCHED_RR - similar to SCHED_FIFO except time-slicing occurs for threads of equal priority</a:t>
            </a:r>
          </a:p>
          <a:p>
            <a:pPr marL="344488" indent="-344488"/>
            <a:r>
              <a:rPr lang="en-US" altLang="en-US" sz="2000" dirty="0"/>
              <a:t>Defines two functions for getting and setting scheduling policy:</a:t>
            </a:r>
          </a:p>
          <a:p>
            <a:pPr marL="744538" lvl="1" indent="-344488">
              <a:buFont typeface="Arial" panose="020B0604020202020204" pitchFamily="34" charset="0"/>
              <a:buAutoNum type="arabicPeriod"/>
            </a:pPr>
            <a:r>
              <a:rPr lang="en-US" altLang="en-US" sz="2000" dirty="0">
                <a:cs typeface="Courier New" panose="02070309020205020404" pitchFamily="49" charset="0"/>
              </a:rPr>
              <a:t> </a:t>
            </a:r>
            <a:r>
              <a:rPr lang="en-US" altLang="en-US" sz="2000" b="1" dirty="0" err="1">
                <a:latin typeface="Courier New" panose="02070309020205020404" pitchFamily="49" charset="0"/>
                <a:cs typeface="Courier New" panose="02070309020205020404" pitchFamily="49" charset="0"/>
              </a:rPr>
              <a:t>pthread_attr_getsched_policy</a:t>
            </a:r>
            <a:r>
              <a:rPr lang="en-US" altLang="en-US" sz="2000" b="1" dirty="0">
                <a:latin typeface="Courier New" panose="02070309020205020404" pitchFamily="49" charset="0"/>
                <a:cs typeface="Courier New" panose="02070309020205020404" pitchFamily="49" charset="0"/>
              </a:rPr>
              <a:t>(</a:t>
            </a:r>
            <a:r>
              <a:rPr lang="en-US" altLang="en-US" sz="2000" b="1" dirty="0" err="1">
                <a:latin typeface="Courier New" panose="02070309020205020404" pitchFamily="49" charset="0"/>
                <a:cs typeface="Courier New" panose="02070309020205020404" pitchFamily="49" charset="0"/>
              </a:rPr>
              <a:t>pthread_attr_t</a:t>
            </a:r>
            <a:r>
              <a:rPr lang="en-US" altLang="en-US" sz="2000" b="1" dirty="0">
                <a:latin typeface="Courier New" panose="02070309020205020404" pitchFamily="49" charset="0"/>
                <a:cs typeface="Courier New" panose="02070309020205020404" pitchFamily="49" charset="0"/>
              </a:rPr>
              <a:t> *</a:t>
            </a:r>
            <a:r>
              <a:rPr lang="en-US" altLang="en-US" sz="2000" b="1" dirty="0" err="1">
                <a:latin typeface="Courier New" panose="02070309020205020404" pitchFamily="49" charset="0"/>
                <a:cs typeface="Courier New" panose="02070309020205020404" pitchFamily="49" charset="0"/>
              </a:rPr>
              <a:t>attr</a:t>
            </a:r>
            <a:r>
              <a:rPr lang="en-US" altLang="en-US" sz="2000" b="1" dirty="0">
                <a:latin typeface="Courier New" panose="02070309020205020404" pitchFamily="49" charset="0"/>
                <a:cs typeface="Courier New" panose="02070309020205020404" pitchFamily="49" charset="0"/>
              </a:rPr>
              <a:t>, int *policy) </a:t>
            </a:r>
          </a:p>
          <a:p>
            <a:pPr marL="744538" lvl="1" indent="-344488">
              <a:buFont typeface="Arial" panose="020B0604020202020204" pitchFamily="34" charset="0"/>
              <a:buAutoNum type="arabicPeriod"/>
            </a:pPr>
            <a:r>
              <a:rPr lang="en-US" altLang="en-US" sz="2000" dirty="0">
                <a:cs typeface="Courier New" panose="02070309020205020404" pitchFamily="49" charset="0"/>
              </a:rPr>
              <a:t> </a:t>
            </a:r>
            <a:r>
              <a:rPr lang="en-US" altLang="en-US" sz="2000" b="1" dirty="0" err="1">
                <a:latin typeface="Courier New" panose="02070309020205020404" pitchFamily="49" charset="0"/>
                <a:cs typeface="Courier New" panose="02070309020205020404" pitchFamily="49" charset="0"/>
              </a:rPr>
              <a:t>pthread_attr_setsched_policy</a:t>
            </a:r>
            <a:r>
              <a:rPr lang="en-US" altLang="en-US" sz="2000" b="1" dirty="0">
                <a:latin typeface="Courier New" panose="02070309020205020404" pitchFamily="49" charset="0"/>
                <a:cs typeface="Courier New" panose="02070309020205020404" pitchFamily="49" charset="0"/>
              </a:rPr>
              <a:t>(</a:t>
            </a:r>
            <a:r>
              <a:rPr lang="en-US" altLang="en-US" sz="2000" b="1" dirty="0" err="1">
                <a:latin typeface="Courier New" panose="02070309020205020404" pitchFamily="49" charset="0"/>
                <a:cs typeface="Courier New" panose="02070309020205020404" pitchFamily="49" charset="0"/>
              </a:rPr>
              <a:t>pthread_attr_t</a:t>
            </a:r>
            <a:r>
              <a:rPr lang="en-US" altLang="en-US" sz="2000" b="1" dirty="0">
                <a:latin typeface="Courier New" panose="02070309020205020404" pitchFamily="49" charset="0"/>
                <a:cs typeface="Courier New" panose="02070309020205020404" pitchFamily="49" charset="0"/>
              </a:rPr>
              <a:t> *</a:t>
            </a:r>
            <a:r>
              <a:rPr lang="en-US" altLang="en-US" sz="2000" b="1" dirty="0" err="1">
                <a:latin typeface="Courier New" panose="02070309020205020404" pitchFamily="49" charset="0"/>
                <a:cs typeface="Courier New" panose="02070309020205020404" pitchFamily="49" charset="0"/>
              </a:rPr>
              <a:t>attr</a:t>
            </a:r>
            <a:r>
              <a:rPr lang="en-US" altLang="en-US" sz="2000" b="1" dirty="0">
                <a:latin typeface="Courier New" panose="02070309020205020404" pitchFamily="49" charset="0"/>
                <a:cs typeface="Courier New" panose="02070309020205020404" pitchFamily="49" charset="0"/>
              </a:rPr>
              <a:t>, int policy)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a:extLst>
              <a:ext uri="{FF2B5EF4-FFF2-40B4-BE49-F238E27FC236}">
                <a16:creationId xmlns:a16="http://schemas.microsoft.com/office/drawing/2014/main" id="{B7D51925-D583-4FC2-9CB5-E5599A1B8B86}"/>
              </a:ext>
            </a:extLst>
          </p:cNvPr>
          <p:cNvSpPr>
            <a:spLocks noGrp="1" noChangeArrowheads="1"/>
          </p:cNvSpPr>
          <p:nvPr>
            <p:ph type="title"/>
          </p:nvPr>
        </p:nvSpPr>
        <p:spPr>
          <a:xfrm>
            <a:off x="941388" y="171027"/>
            <a:ext cx="7745412" cy="576262"/>
          </a:xfrm>
        </p:spPr>
        <p:txBody>
          <a:bodyPr/>
          <a:lstStyle/>
          <a:p>
            <a:pPr eaLnBrk="1" hangingPunct="1"/>
            <a:r>
              <a:rPr lang="en-US" altLang="en-US" dirty="0"/>
              <a:t>POSIX Real-Time Scheduling API</a:t>
            </a:r>
          </a:p>
        </p:txBody>
      </p:sp>
      <p:sp>
        <p:nvSpPr>
          <p:cNvPr id="104450" name="Rectangle 3">
            <a:extLst>
              <a:ext uri="{FF2B5EF4-FFF2-40B4-BE49-F238E27FC236}">
                <a16:creationId xmlns:a16="http://schemas.microsoft.com/office/drawing/2014/main" id="{9965A94C-BC3D-4A28-8EC9-9D5F7E2964D7}"/>
              </a:ext>
            </a:extLst>
          </p:cNvPr>
          <p:cNvSpPr>
            <a:spLocks noGrp="1" noChangeArrowheads="1"/>
          </p:cNvSpPr>
          <p:nvPr>
            <p:ph type="body" idx="1"/>
          </p:nvPr>
        </p:nvSpPr>
        <p:spPr>
          <a:xfrm>
            <a:off x="806450" y="1066799"/>
            <a:ext cx="7702550" cy="5359401"/>
          </a:xfrm>
        </p:spPr>
        <p:txBody>
          <a:bodyPr/>
          <a:lstStyle/>
          <a:p>
            <a:pPr marL="0" indent="0">
              <a:buFont typeface="Monotype Sorts" pitchFamily="-84" charset="2"/>
              <a:buNone/>
            </a:pPr>
            <a:r>
              <a:rPr lang="en-US" altLang="en-US" sz="1500" b="1" dirty="0">
                <a:latin typeface="黑体" panose="02010609060101010101" pitchFamily="49" charset="-122"/>
                <a:ea typeface="黑体" panose="02010609060101010101" pitchFamily="49" charset="-122"/>
              </a:rPr>
              <a:t>#include &lt;</a:t>
            </a:r>
            <a:r>
              <a:rPr lang="en-US" altLang="en-US" sz="1500" b="1" dirty="0" err="1">
                <a:latin typeface="黑体" panose="02010609060101010101" pitchFamily="49" charset="-122"/>
                <a:ea typeface="黑体" panose="02010609060101010101" pitchFamily="49" charset="-122"/>
              </a:rPr>
              <a:t>pthread.h</a:t>
            </a:r>
            <a:r>
              <a:rPr lang="en-US" altLang="en-US" sz="1500" b="1" dirty="0">
                <a:latin typeface="黑体" panose="02010609060101010101" pitchFamily="49" charset="-122"/>
                <a:ea typeface="黑体" panose="02010609060101010101" pitchFamily="49" charset="-122"/>
              </a:rPr>
              <a:t>&gt; </a:t>
            </a:r>
          </a:p>
          <a:p>
            <a:pPr marL="0" indent="0">
              <a:buFont typeface="Monotype Sorts" pitchFamily="-84" charset="2"/>
              <a:buNone/>
            </a:pPr>
            <a:r>
              <a:rPr lang="en-US" altLang="en-US" sz="1500" b="1" dirty="0">
                <a:latin typeface="黑体" panose="02010609060101010101" pitchFamily="49" charset="-122"/>
                <a:ea typeface="黑体" panose="02010609060101010101" pitchFamily="49" charset="-122"/>
              </a:rPr>
              <a:t>#include &lt;</a:t>
            </a:r>
            <a:r>
              <a:rPr lang="en-US" altLang="en-US" sz="1500" b="1" dirty="0" err="1">
                <a:latin typeface="黑体" panose="02010609060101010101" pitchFamily="49" charset="-122"/>
                <a:ea typeface="黑体" panose="02010609060101010101" pitchFamily="49" charset="-122"/>
              </a:rPr>
              <a:t>stdio.h</a:t>
            </a:r>
            <a:r>
              <a:rPr lang="en-US" altLang="en-US" sz="1500" b="1" dirty="0">
                <a:latin typeface="黑体" panose="02010609060101010101" pitchFamily="49" charset="-122"/>
                <a:ea typeface="黑体" panose="02010609060101010101" pitchFamily="49" charset="-122"/>
              </a:rPr>
              <a:t>&gt; </a:t>
            </a:r>
          </a:p>
          <a:p>
            <a:pPr marL="0" indent="0">
              <a:buFont typeface="Monotype Sorts" pitchFamily="-84" charset="2"/>
              <a:buNone/>
            </a:pPr>
            <a:r>
              <a:rPr lang="en-US" altLang="en-US" sz="1500" b="1" dirty="0">
                <a:latin typeface="黑体" panose="02010609060101010101" pitchFamily="49" charset="-122"/>
                <a:ea typeface="黑体" panose="02010609060101010101" pitchFamily="49" charset="-122"/>
              </a:rPr>
              <a:t>#define NUM_THREADS 5 </a:t>
            </a:r>
          </a:p>
          <a:p>
            <a:pPr marL="0" indent="0">
              <a:buFont typeface="Monotype Sorts" pitchFamily="-84" charset="2"/>
              <a:buNone/>
            </a:pPr>
            <a:r>
              <a:rPr lang="en-US" altLang="en-US" sz="1500" b="1" dirty="0">
                <a:latin typeface="黑体" panose="02010609060101010101" pitchFamily="49" charset="-122"/>
                <a:ea typeface="黑体" panose="02010609060101010101" pitchFamily="49" charset="-122"/>
              </a:rPr>
              <a:t>int main(int </a:t>
            </a:r>
            <a:r>
              <a:rPr lang="en-US" altLang="en-US" sz="1500" b="1" dirty="0" err="1">
                <a:latin typeface="黑体" panose="02010609060101010101" pitchFamily="49" charset="-122"/>
                <a:ea typeface="黑体" panose="02010609060101010101" pitchFamily="49" charset="-122"/>
              </a:rPr>
              <a:t>argc</a:t>
            </a:r>
            <a:r>
              <a:rPr lang="en-US" altLang="en-US" sz="1500" b="1" dirty="0">
                <a:latin typeface="黑体" panose="02010609060101010101" pitchFamily="49" charset="-122"/>
                <a:ea typeface="黑体" panose="02010609060101010101" pitchFamily="49" charset="-122"/>
              </a:rPr>
              <a:t>, char *</a:t>
            </a:r>
            <a:r>
              <a:rPr lang="en-US" altLang="en-US" sz="1500" b="1" dirty="0" err="1">
                <a:latin typeface="黑体" panose="02010609060101010101" pitchFamily="49" charset="-122"/>
                <a:ea typeface="黑体" panose="02010609060101010101" pitchFamily="49" charset="-122"/>
              </a:rPr>
              <a:t>argv</a:t>
            </a:r>
            <a:r>
              <a:rPr lang="en-US" altLang="en-US" sz="1500" b="1" dirty="0">
                <a:latin typeface="黑体" panose="02010609060101010101" pitchFamily="49" charset="-122"/>
                <a:ea typeface="黑体" panose="02010609060101010101" pitchFamily="49" charset="-122"/>
              </a:rPr>
              <a:t>[]) </a:t>
            </a:r>
          </a:p>
          <a:p>
            <a:pPr marL="0" indent="0">
              <a:buFont typeface="Monotype Sorts" pitchFamily="-84" charset="2"/>
              <a:buNone/>
            </a:pPr>
            <a:r>
              <a:rPr lang="en-US" altLang="en-US" sz="1500" b="1" dirty="0">
                <a:latin typeface="黑体" panose="02010609060101010101" pitchFamily="49" charset="-122"/>
                <a:ea typeface="黑体" panose="02010609060101010101" pitchFamily="49" charset="-122"/>
              </a:rPr>
              <a:t>{ </a:t>
            </a:r>
          </a:p>
          <a:p>
            <a:pPr marL="0" indent="0">
              <a:buFont typeface="Monotype Sorts" pitchFamily="-84" charset="2"/>
              <a:buNone/>
            </a:pPr>
            <a:r>
              <a:rPr lang="en-US" altLang="en-US" sz="1500" b="1" dirty="0">
                <a:latin typeface="黑体" panose="02010609060101010101" pitchFamily="49" charset="-122"/>
                <a:ea typeface="黑体" panose="02010609060101010101" pitchFamily="49" charset="-122"/>
              </a:rPr>
              <a:t>   int </a:t>
            </a:r>
            <a:r>
              <a:rPr lang="en-US" altLang="en-US" sz="1500" b="1" dirty="0" err="1">
                <a:latin typeface="黑体" panose="02010609060101010101" pitchFamily="49" charset="-122"/>
                <a:ea typeface="黑体" panose="02010609060101010101" pitchFamily="49" charset="-122"/>
              </a:rPr>
              <a:t>i</a:t>
            </a:r>
            <a:r>
              <a:rPr lang="en-US" altLang="en-US" sz="1500" b="1" dirty="0">
                <a:latin typeface="黑体" panose="02010609060101010101" pitchFamily="49" charset="-122"/>
                <a:ea typeface="黑体" panose="02010609060101010101" pitchFamily="49" charset="-122"/>
              </a:rPr>
              <a:t>, policy;</a:t>
            </a:r>
            <a:br>
              <a:rPr lang="en-US" altLang="en-US" sz="1500" b="1" dirty="0">
                <a:latin typeface="黑体" panose="02010609060101010101" pitchFamily="49" charset="-122"/>
                <a:ea typeface="黑体" panose="02010609060101010101" pitchFamily="49" charset="-122"/>
              </a:rPr>
            </a:br>
            <a:r>
              <a:rPr lang="en-US" altLang="en-US" sz="1500" b="1" dirty="0">
                <a:latin typeface="黑体" panose="02010609060101010101" pitchFamily="49" charset="-122"/>
                <a:ea typeface="黑体" panose="02010609060101010101" pitchFamily="49" charset="-122"/>
              </a:rPr>
              <a:t>   </a:t>
            </a:r>
            <a:r>
              <a:rPr lang="en-US" altLang="en-US" sz="1500" b="1" dirty="0" err="1">
                <a:latin typeface="黑体" panose="02010609060101010101" pitchFamily="49" charset="-122"/>
                <a:ea typeface="黑体" panose="02010609060101010101" pitchFamily="49" charset="-122"/>
              </a:rPr>
              <a:t>pthread_t_tid</a:t>
            </a:r>
            <a:r>
              <a:rPr lang="en-US" altLang="en-US" sz="1500" b="1" dirty="0">
                <a:latin typeface="黑体" panose="02010609060101010101" pitchFamily="49" charset="-122"/>
                <a:ea typeface="黑体" panose="02010609060101010101" pitchFamily="49" charset="-122"/>
              </a:rPr>
              <a:t>[NUM_THREADS]; </a:t>
            </a:r>
          </a:p>
          <a:p>
            <a:pPr marL="0" indent="0">
              <a:buFont typeface="Monotype Sorts" pitchFamily="-84" charset="2"/>
              <a:buNone/>
            </a:pPr>
            <a:r>
              <a:rPr lang="en-US" altLang="en-US" sz="1500" b="1" dirty="0">
                <a:latin typeface="黑体" panose="02010609060101010101" pitchFamily="49" charset="-122"/>
                <a:ea typeface="黑体" panose="02010609060101010101" pitchFamily="49" charset="-122"/>
              </a:rPr>
              <a:t>   </a:t>
            </a:r>
            <a:r>
              <a:rPr lang="en-US" altLang="en-US" sz="1500" b="1" dirty="0" err="1">
                <a:latin typeface="黑体" panose="02010609060101010101" pitchFamily="49" charset="-122"/>
                <a:ea typeface="黑体" panose="02010609060101010101" pitchFamily="49" charset="-122"/>
              </a:rPr>
              <a:t>pthread_attr_t</a:t>
            </a:r>
            <a:r>
              <a:rPr lang="en-US" altLang="en-US" sz="1500" b="1" dirty="0">
                <a:latin typeface="黑体" panose="02010609060101010101" pitchFamily="49" charset="-122"/>
                <a:ea typeface="黑体" panose="02010609060101010101" pitchFamily="49" charset="-122"/>
              </a:rPr>
              <a:t> </a:t>
            </a:r>
            <a:r>
              <a:rPr lang="en-US" altLang="en-US" sz="1500" b="1" dirty="0" err="1">
                <a:latin typeface="黑体" panose="02010609060101010101" pitchFamily="49" charset="-122"/>
                <a:ea typeface="黑体" panose="02010609060101010101" pitchFamily="49" charset="-122"/>
              </a:rPr>
              <a:t>attr</a:t>
            </a:r>
            <a:r>
              <a:rPr lang="en-US" altLang="en-US" sz="1500" b="1" dirty="0">
                <a:latin typeface="黑体" panose="02010609060101010101" pitchFamily="49" charset="-122"/>
                <a:ea typeface="黑体" panose="02010609060101010101" pitchFamily="49" charset="-122"/>
              </a:rPr>
              <a:t>; </a:t>
            </a:r>
          </a:p>
          <a:p>
            <a:pPr marL="0" indent="0">
              <a:buFont typeface="Monotype Sorts" pitchFamily="-84" charset="2"/>
              <a:buNone/>
            </a:pPr>
            <a:r>
              <a:rPr lang="en-US" altLang="en-US" sz="1500" b="1" dirty="0">
                <a:latin typeface="黑体" panose="02010609060101010101" pitchFamily="49" charset="-122"/>
                <a:ea typeface="黑体" panose="02010609060101010101" pitchFamily="49" charset="-122"/>
              </a:rPr>
              <a:t>   /* get the default attributes */ </a:t>
            </a:r>
          </a:p>
          <a:p>
            <a:pPr marL="0" indent="0">
              <a:buFont typeface="Monotype Sorts" pitchFamily="-84" charset="2"/>
              <a:buNone/>
            </a:pPr>
            <a:r>
              <a:rPr lang="en-US" altLang="en-US" sz="1500" b="1" dirty="0">
                <a:latin typeface="黑体" panose="02010609060101010101" pitchFamily="49" charset="-122"/>
                <a:ea typeface="黑体" panose="02010609060101010101" pitchFamily="49" charset="-122"/>
              </a:rPr>
              <a:t>   </a:t>
            </a:r>
            <a:r>
              <a:rPr lang="en-US" altLang="en-US" sz="1500" b="1" dirty="0" err="1">
                <a:latin typeface="黑体" panose="02010609060101010101" pitchFamily="49" charset="-122"/>
                <a:ea typeface="黑体" panose="02010609060101010101" pitchFamily="49" charset="-122"/>
              </a:rPr>
              <a:t>pthread_attr_init</a:t>
            </a:r>
            <a:r>
              <a:rPr lang="en-US" altLang="en-US" sz="1500" b="1" dirty="0">
                <a:latin typeface="黑体" panose="02010609060101010101" pitchFamily="49" charset="-122"/>
                <a:ea typeface="黑体" panose="02010609060101010101" pitchFamily="49" charset="-122"/>
              </a:rPr>
              <a:t>(&amp;</a:t>
            </a:r>
            <a:r>
              <a:rPr lang="en-US" altLang="en-US" sz="1500" b="1" dirty="0" err="1">
                <a:latin typeface="黑体" panose="02010609060101010101" pitchFamily="49" charset="-122"/>
                <a:ea typeface="黑体" panose="02010609060101010101" pitchFamily="49" charset="-122"/>
              </a:rPr>
              <a:t>attr</a:t>
            </a:r>
            <a:r>
              <a:rPr lang="en-US" altLang="en-US" sz="1500" b="1" dirty="0">
                <a:latin typeface="黑体" panose="02010609060101010101" pitchFamily="49" charset="-122"/>
                <a:ea typeface="黑体" panose="02010609060101010101" pitchFamily="49" charset="-122"/>
              </a:rPr>
              <a:t>); </a:t>
            </a:r>
          </a:p>
          <a:p>
            <a:pPr marL="0" indent="0">
              <a:buFont typeface="Monotype Sorts" pitchFamily="-84" charset="2"/>
              <a:buNone/>
            </a:pPr>
            <a:r>
              <a:rPr lang="en-US" altLang="en-US" sz="1500" b="1" dirty="0">
                <a:latin typeface="黑体" panose="02010609060101010101" pitchFamily="49" charset="-122"/>
                <a:ea typeface="黑体" panose="02010609060101010101" pitchFamily="49" charset="-122"/>
              </a:rPr>
              <a:t>   /* get the current scheduling policy */</a:t>
            </a:r>
            <a:br>
              <a:rPr lang="en-US" altLang="en-US" sz="1500" b="1" dirty="0">
                <a:latin typeface="黑体" panose="02010609060101010101" pitchFamily="49" charset="-122"/>
                <a:ea typeface="黑体" panose="02010609060101010101" pitchFamily="49" charset="-122"/>
              </a:rPr>
            </a:br>
            <a:r>
              <a:rPr lang="en-US" altLang="en-US" sz="1500" b="1" dirty="0">
                <a:latin typeface="黑体" panose="02010609060101010101" pitchFamily="49" charset="-122"/>
                <a:ea typeface="黑体" panose="02010609060101010101" pitchFamily="49" charset="-122"/>
              </a:rPr>
              <a:t>   if (</a:t>
            </a:r>
            <a:r>
              <a:rPr lang="en-US" altLang="en-US" sz="1500" b="1" dirty="0" err="1">
                <a:latin typeface="黑体" panose="02010609060101010101" pitchFamily="49" charset="-122"/>
                <a:ea typeface="黑体" panose="02010609060101010101" pitchFamily="49" charset="-122"/>
              </a:rPr>
              <a:t>pthread_attr_getschedpolicy</a:t>
            </a:r>
            <a:r>
              <a:rPr lang="en-US" altLang="en-US" sz="1500" b="1" dirty="0">
                <a:latin typeface="黑体" panose="02010609060101010101" pitchFamily="49" charset="-122"/>
                <a:ea typeface="黑体" panose="02010609060101010101" pitchFamily="49" charset="-122"/>
              </a:rPr>
              <a:t>(&amp;</a:t>
            </a:r>
            <a:r>
              <a:rPr lang="en-US" altLang="en-US" sz="1500" b="1" dirty="0" err="1">
                <a:latin typeface="黑体" panose="02010609060101010101" pitchFamily="49" charset="-122"/>
                <a:ea typeface="黑体" panose="02010609060101010101" pitchFamily="49" charset="-122"/>
              </a:rPr>
              <a:t>attr</a:t>
            </a:r>
            <a:r>
              <a:rPr lang="en-US" altLang="en-US" sz="1500" b="1" dirty="0">
                <a:latin typeface="黑体" panose="02010609060101010101" pitchFamily="49" charset="-122"/>
                <a:ea typeface="黑体" panose="02010609060101010101" pitchFamily="49" charset="-122"/>
              </a:rPr>
              <a:t>, &amp;policy) != 0) </a:t>
            </a:r>
          </a:p>
          <a:p>
            <a:pPr marL="0" indent="0">
              <a:buFont typeface="Monotype Sorts" pitchFamily="-84" charset="2"/>
              <a:buNone/>
            </a:pPr>
            <a:r>
              <a:rPr lang="en-US" altLang="en-US" sz="1500" b="1" dirty="0">
                <a:latin typeface="黑体" panose="02010609060101010101" pitchFamily="49" charset="-122"/>
                <a:ea typeface="黑体" panose="02010609060101010101" pitchFamily="49" charset="-122"/>
              </a:rPr>
              <a:t>      </a:t>
            </a:r>
            <a:r>
              <a:rPr lang="en-US" altLang="en-US" sz="1500" b="1" dirty="0" err="1">
                <a:latin typeface="黑体" panose="02010609060101010101" pitchFamily="49" charset="-122"/>
                <a:ea typeface="黑体" panose="02010609060101010101" pitchFamily="49" charset="-122"/>
              </a:rPr>
              <a:t>fprintf</a:t>
            </a:r>
            <a:r>
              <a:rPr lang="en-US" altLang="en-US" sz="1500" b="1" dirty="0">
                <a:latin typeface="黑体" panose="02010609060101010101" pitchFamily="49" charset="-122"/>
                <a:ea typeface="黑体" panose="02010609060101010101" pitchFamily="49" charset="-122"/>
              </a:rPr>
              <a:t>(stderr, "Unable to get policy.\n"); </a:t>
            </a:r>
          </a:p>
          <a:p>
            <a:pPr marL="0" indent="0">
              <a:buFont typeface="Monotype Sorts" pitchFamily="-84" charset="2"/>
              <a:buNone/>
            </a:pPr>
            <a:r>
              <a:rPr lang="en-US" altLang="en-US" sz="1500" b="1" dirty="0">
                <a:latin typeface="黑体" panose="02010609060101010101" pitchFamily="49" charset="-122"/>
                <a:ea typeface="黑体" panose="02010609060101010101" pitchFamily="49" charset="-122"/>
              </a:rPr>
              <a:t>   else { </a:t>
            </a:r>
          </a:p>
          <a:p>
            <a:pPr marL="0" indent="0">
              <a:buFont typeface="Monotype Sorts" pitchFamily="-84" charset="2"/>
              <a:buNone/>
            </a:pPr>
            <a:r>
              <a:rPr lang="en-US" altLang="en-US" sz="1500" b="1" dirty="0">
                <a:latin typeface="黑体" panose="02010609060101010101" pitchFamily="49" charset="-122"/>
                <a:ea typeface="黑体" panose="02010609060101010101" pitchFamily="49" charset="-122"/>
              </a:rPr>
              <a:t>      if (policy == SCHED_OTHER) </a:t>
            </a:r>
            <a:r>
              <a:rPr lang="en-US" altLang="en-US" sz="1500" b="1" dirty="0" err="1">
                <a:latin typeface="黑体" panose="02010609060101010101" pitchFamily="49" charset="-122"/>
                <a:ea typeface="黑体" panose="02010609060101010101" pitchFamily="49" charset="-122"/>
              </a:rPr>
              <a:t>printf</a:t>
            </a:r>
            <a:r>
              <a:rPr lang="en-US" altLang="en-US" sz="1500" b="1" dirty="0">
                <a:latin typeface="黑体" panose="02010609060101010101" pitchFamily="49" charset="-122"/>
                <a:ea typeface="黑体" panose="02010609060101010101" pitchFamily="49" charset="-122"/>
              </a:rPr>
              <a:t>("SCHED_OTHER\n"); </a:t>
            </a:r>
          </a:p>
          <a:p>
            <a:pPr marL="0" indent="0">
              <a:buFont typeface="Monotype Sorts" pitchFamily="-84" charset="2"/>
              <a:buNone/>
            </a:pPr>
            <a:r>
              <a:rPr lang="en-US" altLang="en-US" sz="1500" b="1" dirty="0">
                <a:latin typeface="黑体" panose="02010609060101010101" pitchFamily="49" charset="-122"/>
                <a:ea typeface="黑体" panose="02010609060101010101" pitchFamily="49" charset="-122"/>
              </a:rPr>
              <a:t>      else if (policy == SCHED_RR) </a:t>
            </a:r>
            <a:r>
              <a:rPr lang="en-US" altLang="en-US" sz="1500" b="1" dirty="0" err="1">
                <a:latin typeface="黑体" panose="02010609060101010101" pitchFamily="49" charset="-122"/>
                <a:ea typeface="黑体" panose="02010609060101010101" pitchFamily="49" charset="-122"/>
              </a:rPr>
              <a:t>printf</a:t>
            </a:r>
            <a:r>
              <a:rPr lang="en-US" altLang="en-US" sz="1500" b="1" dirty="0">
                <a:latin typeface="黑体" panose="02010609060101010101" pitchFamily="49" charset="-122"/>
                <a:ea typeface="黑体" panose="02010609060101010101" pitchFamily="49" charset="-122"/>
              </a:rPr>
              <a:t>("SCHED_RR\n"); </a:t>
            </a:r>
          </a:p>
          <a:p>
            <a:pPr marL="0" indent="0">
              <a:buFont typeface="Monotype Sorts" pitchFamily="-84" charset="2"/>
              <a:buNone/>
            </a:pPr>
            <a:r>
              <a:rPr lang="en-US" altLang="en-US" sz="1500" b="1" dirty="0">
                <a:latin typeface="黑体" panose="02010609060101010101" pitchFamily="49" charset="-122"/>
                <a:ea typeface="黑体" panose="02010609060101010101" pitchFamily="49" charset="-122"/>
              </a:rPr>
              <a:t>      else if (policy == SCHED_FIFO) </a:t>
            </a:r>
            <a:r>
              <a:rPr lang="en-US" altLang="en-US" sz="1500" b="1" dirty="0" err="1">
                <a:latin typeface="黑体" panose="02010609060101010101" pitchFamily="49" charset="-122"/>
                <a:ea typeface="黑体" panose="02010609060101010101" pitchFamily="49" charset="-122"/>
              </a:rPr>
              <a:t>printf</a:t>
            </a:r>
            <a:r>
              <a:rPr lang="en-US" altLang="en-US" sz="1500" b="1" dirty="0">
                <a:latin typeface="黑体" panose="02010609060101010101" pitchFamily="49" charset="-122"/>
                <a:ea typeface="黑体" panose="02010609060101010101" pitchFamily="49" charset="-122"/>
              </a:rPr>
              <a:t>("SCHED_FIFO\n"); </a:t>
            </a:r>
          </a:p>
          <a:p>
            <a:pPr marL="0" indent="0">
              <a:buFont typeface="Monotype Sorts" pitchFamily="-84" charset="2"/>
              <a:buNone/>
            </a:pPr>
            <a:r>
              <a:rPr lang="en-US" altLang="en-US" sz="1500" b="1" dirty="0">
                <a:latin typeface="黑体" panose="02010609060101010101" pitchFamily="49" charset="-122"/>
                <a:ea typeface="黑体" panose="02010609060101010101" pitchFamily="49" charset="-122"/>
              </a:rPr>
              <a:t>   }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3">
            <a:extLst>
              <a:ext uri="{FF2B5EF4-FFF2-40B4-BE49-F238E27FC236}">
                <a16:creationId xmlns:a16="http://schemas.microsoft.com/office/drawing/2014/main" id="{2E06EF5B-FE80-44B3-BB02-57C4BE650B77}"/>
              </a:ext>
            </a:extLst>
          </p:cNvPr>
          <p:cNvSpPr>
            <a:spLocks noGrp="1" noChangeArrowheads="1"/>
          </p:cNvSpPr>
          <p:nvPr>
            <p:ph type="body" idx="1"/>
          </p:nvPr>
        </p:nvSpPr>
        <p:spPr>
          <a:xfrm>
            <a:off x="1048968" y="1298574"/>
            <a:ext cx="7460031" cy="5153025"/>
          </a:xfrm>
        </p:spPr>
        <p:txBody>
          <a:bodyPr/>
          <a:lstStyle/>
          <a:p>
            <a:pPr marL="0" indent="0">
              <a:buFont typeface="Monotype Sorts" pitchFamily="-84" charset="2"/>
              <a:buNone/>
            </a:pPr>
            <a:r>
              <a:rPr lang="en-US" altLang="en-US" sz="1500" b="1" dirty="0">
                <a:latin typeface="黑体" panose="02010609060101010101" pitchFamily="49" charset="-122"/>
                <a:ea typeface="黑体" panose="02010609060101010101" pitchFamily="49" charset="-122"/>
              </a:rPr>
              <a:t>   /* set the scheduling policy - FIFO, RR, or OTHER */ </a:t>
            </a:r>
            <a:br>
              <a:rPr lang="en-US" altLang="en-US" sz="1500" b="1" dirty="0">
                <a:latin typeface="黑体" panose="02010609060101010101" pitchFamily="49" charset="-122"/>
                <a:ea typeface="黑体" panose="02010609060101010101" pitchFamily="49" charset="-122"/>
              </a:rPr>
            </a:br>
            <a:r>
              <a:rPr lang="en-US" altLang="en-US" sz="1500" b="1" dirty="0">
                <a:latin typeface="黑体" panose="02010609060101010101" pitchFamily="49" charset="-122"/>
                <a:ea typeface="黑体" panose="02010609060101010101" pitchFamily="49" charset="-122"/>
              </a:rPr>
              <a:t>   if (</a:t>
            </a:r>
            <a:r>
              <a:rPr lang="en-US" altLang="en-US" sz="1500" b="1" dirty="0" err="1">
                <a:latin typeface="黑体" panose="02010609060101010101" pitchFamily="49" charset="-122"/>
                <a:ea typeface="黑体" panose="02010609060101010101" pitchFamily="49" charset="-122"/>
              </a:rPr>
              <a:t>pthread_attr_setschedpolicy</a:t>
            </a:r>
            <a:r>
              <a:rPr lang="en-US" altLang="en-US" sz="1500" b="1" dirty="0">
                <a:latin typeface="黑体" panose="02010609060101010101" pitchFamily="49" charset="-122"/>
                <a:ea typeface="黑体" panose="02010609060101010101" pitchFamily="49" charset="-122"/>
              </a:rPr>
              <a:t>(&amp;</a:t>
            </a:r>
            <a:r>
              <a:rPr lang="en-US" altLang="en-US" sz="1500" b="1" dirty="0" err="1">
                <a:latin typeface="黑体" panose="02010609060101010101" pitchFamily="49" charset="-122"/>
                <a:ea typeface="黑体" panose="02010609060101010101" pitchFamily="49" charset="-122"/>
              </a:rPr>
              <a:t>attr</a:t>
            </a:r>
            <a:r>
              <a:rPr lang="en-US" altLang="en-US" sz="1500" b="1" dirty="0">
                <a:latin typeface="黑体" panose="02010609060101010101" pitchFamily="49" charset="-122"/>
                <a:ea typeface="黑体" panose="02010609060101010101" pitchFamily="49" charset="-122"/>
              </a:rPr>
              <a:t>, SCHED_FIFO) != 0) </a:t>
            </a:r>
          </a:p>
          <a:p>
            <a:pPr marL="0" indent="0">
              <a:buFont typeface="Monotype Sorts" pitchFamily="-84" charset="2"/>
              <a:buNone/>
            </a:pPr>
            <a:r>
              <a:rPr lang="en-US" altLang="en-US" sz="1500" b="1" dirty="0">
                <a:latin typeface="黑体" panose="02010609060101010101" pitchFamily="49" charset="-122"/>
                <a:ea typeface="黑体" panose="02010609060101010101" pitchFamily="49" charset="-122"/>
              </a:rPr>
              <a:t>      </a:t>
            </a:r>
            <a:r>
              <a:rPr lang="en-US" altLang="en-US" sz="1500" b="1" dirty="0" err="1">
                <a:latin typeface="黑体" panose="02010609060101010101" pitchFamily="49" charset="-122"/>
                <a:ea typeface="黑体" panose="02010609060101010101" pitchFamily="49" charset="-122"/>
              </a:rPr>
              <a:t>fprintf</a:t>
            </a:r>
            <a:r>
              <a:rPr lang="en-US" altLang="en-US" sz="1500" b="1" dirty="0">
                <a:latin typeface="黑体" panose="02010609060101010101" pitchFamily="49" charset="-122"/>
                <a:ea typeface="黑体" panose="02010609060101010101" pitchFamily="49" charset="-122"/>
              </a:rPr>
              <a:t>(stderr, "Unable to set policy.\n"); </a:t>
            </a:r>
          </a:p>
          <a:p>
            <a:pPr marL="0" indent="0">
              <a:buFont typeface="Monotype Sorts" pitchFamily="-84" charset="2"/>
              <a:buNone/>
            </a:pPr>
            <a:r>
              <a:rPr lang="en-US" altLang="en-US" sz="1500" b="1" dirty="0">
                <a:latin typeface="黑体" panose="02010609060101010101" pitchFamily="49" charset="-122"/>
                <a:ea typeface="黑体" panose="02010609060101010101" pitchFamily="49" charset="-122"/>
              </a:rPr>
              <a:t>   /* create the threads */</a:t>
            </a:r>
            <a:br>
              <a:rPr lang="en-US" altLang="en-US" sz="1500" b="1" dirty="0">
                <a:latin typeface="黑体" panose="02010609060101010101" pitchFamily="49" charset="-122"/>
                <a:ea typeface="黑体" panose="02010609060101010101" pitchFamily="49" charset="-122"/>
              </a:rPr>
            </a:br>
            <a:r>
              <a:rPr lang="en-US" altLang="en-US" sz="1500" b="1" dirty="0">
                <a:latin typeface="黑体" panose="02010609060101010101" pitchFamily="49" charset="-122"/>
                <a:ea typeface="黑体" panose="02010609060101010101" pitchFamily="49" charset="-122"/>
              </a:rPr>
              <a:t>   for (</a:t>
            </a:r>
            <a:r>
              <a:rPr lang="en-US" altLang="en-US" sz="1500" b="1" dirty="0" err="1">
                <a:latin typeface="黑体" panose="02010609060101010101" pitchFamily="49" charset="-122"/>
                <a:ea typeface="黑体" panose="02010609060101010101" pitchFamily="49" charset="-122"/>
              </a:rPr>
              <a:t>i</a:t>
            </a:r>
            <a:r>
              <a:rPr lang="en-US" altLang="en-US" sz="1500" b="1" dirty="0">
                <a:latin typeface="黑体" panose="02010609060101010101" pitchFamily="49" charset="-122"/>
                <a:ea typeface="黑体" panose="02010609060101010101" pitchFamily="49" charset="-122"/>
              </a:rPr>
              <a:t> = 0; </a:t>
            </a:r>
            <a:r>
              <a:rPr lang="en-US" altLang="en-US" sz="1500" b="1" dirty="0" err="1">
                <a:latin typeface="黑体" panose="02010609060101010101" pitchFamily="49" charset="-122"/>
                <a:ea typeface="黑体" panose="02010609060101010101" pitchFamily="49" charset="-122"/>
              </a:rPr>
              <a:t>i</a:t>
            </a:r>
            <a:r>
              <a:rPr lang="en-US" altLang="en-US" sz="1500" b="1" dirty="0">
                <a:latin typeface="黑体" panose="02010609060101010101" pitchFamily="49" charset="-122"/>
                <a:ea typeface="黑体" panose="02010609060101010101" pitchFamily="49" charset="-122"/>
              </a:rPr>
              <a:t> &lt; NUM_THREADS; </a:t>
            </a:r>
            <a:r>
              <a:rPr lang="en-US" altLang="en-US" sz="1500" b="1" dirty="0" err="1">
                <a:latin typeface="黑体" panose="02010609060101010101" pitchFamily="49" charset="-122"/>
                <a:ea typeface="黑体" panose="02010609060101010101" pitchFamily="49" charset="-122"/>
              </a:rPr>
              <a:t>i</a:t>
            </a:r>
            <a:r>
              <a:rPr lang="en-US" altLang="en-US" sz="1500" b="1" dirty="0">
                <a:latin typeface="黑体" panose="02010609060101010101" pitchFamily="49" charset="-122"/>
                <a:ea typeface="黑体" panose="02010609060101010101" pitchFamily="49" charset="-122"/>
              </a:rPr>
              <a:t>++) </a:t>
            </a:r>
          </a:p>
          <a:p>
            <a:pPr marL="0" indent="0">
              <a:buFont typeface="Monotype Sorts" pitchFamily="-84" charset="2"/>
              <a:buNone/>
            </a:pPr>
            <a:r>
              <a:rPr lang="en-US" altLang="en-US" sz="1500" b="1" dirty="0">
                <a:latin typeface="黑体" panose="02010609060101010101" pitchFamily="49" charset="-122"/>
                <a:ea typeface="黑体" panose="02010609060101010101" pitchFamily="49" charset="-122"/>
              </a:rPr>
              <a:t>      </a:t>
            </a:r>
            <a:r>
              <a:rPr lang="en-US" altLang="en-US" sz="1500" b="1" dirty="0" err="1">
                <a:latin typeface="黑体" panose="02010609060101010101" pitchFamily="49" charset="-122"/>
                <a:ea typeface="黑体" panose="02010609060101010101" pitchFamily="49" charset="-122"/>
              </a:rPr>
              <a:t>pthread_create</a:t>
            </a:r>
            <a:r>
              <a:rPr lang="en-US" altLang="en-US" sz="1500" b="1" dirty="0">
                <a:latin typeface="黑体" panose="02010609060101010101" pitchFamily="49" charset="-122"/>
                <a:ea typeface="黑体" panose="02010609060101010101" pitchFamily="49" charset="-122"/>
              </a:rPr>
              <a:t>(&amp;</a:t>
            </a:r>
            <a:r>
              <a:rPr lang="en-US" altLang="en-US" sz="1500" b="1" dirty="0" err="1">
                <a:latin typeface="黑体" panose="02010609060101010101" pitchFamily="49" charset="-122"/>
                <a:ea typeface="黑体" panose="02010609060101010101" pitchFamily="49" charset="-122"/>
              </a:rPr>
              <a:t>tid</a:t>
            </a:r>
            <a:r>
              <a:rPr lang="en-US" altLang="en-US" sz="1500" b="1" dirty="0">
                <a:latin typeface="黑体" panose="02010609060101010101" pitchFamily="49" charset="-122"/>
                <a:ea typeface="黑体" panose="02010609060101010101" pitchFamily="49" charset="-122"/>
              </a:rPr>
              <a:t>[</a:t>
            </a:r>
            <a:r>
              <a:rPr lang="en-US" altLang="en-US" sz="1500" b="1" dirty="0" err="1">
                <a:latin typeface="黑体" panose="02010609060101010101" pitchFamily="49" charset="-122"/>
                <a:ea typeface="黑体" panose="02010609060101010101" pitchFamily="49" charset="-122"/>
              </a:rPr>
              <a:t>i</a:t>
            </a:r>
            <a:r>
              <a:rPr lang="en-US" altLang="en-US" sz="1500" b="1" dirty="0">
                <a:latin typeface="黑体" panose="02010609060101010101" pitchFamily="49" charset="-122"/>
                <a:ea typeface="黑体" panose="02010609060101010101" pitchFamily="49" charset="-122"/>
              </a:rPr>
              <a:t>],&amp;</a:t>
            </a:r>
            <a:r>
              <a:rPr lang="en-US" altLang="en-US" sz="1500" b="1" dirty="0" err="1">
                <a:latin typeface="黑体" panose="02010609060101010101" pitchFamily="49" charset="-122"/>
                <a:ea typeface="黑体" panose="02010609060101010101" pitchFamily="49" charset="-122"/>
              </a:rPr>
              <a:t>attr,runner,NULL</a:t>
            </a:r>
            <a:r>
              <a:rPr lang="en-US" altLang="en-US" sz="1500" b="1" dirty="0">
                <a:latin typeface="黑体" panose="02010609060101010101" pitchFamily="49" charset="-122"/>
                <a:ea typeface="黑体" panose="02010609060101010101" pitchFamily="49" charset="-122"/>
              </a:rPr>
              <a:t>); </a:t>
            </a:r>
          </a:p>
          <a:p>
            <a:pPr marL="0" indent="0">
              <a:buFont typeface="Monotype Sorts" pitchFamily="-84" charset="2"/>
              <a:buNone/>
            </a:pPr>
            <a:r>
              <a:rPr lang="en-US" altLang="en-US" sz="1500" b="1" dirty="0">
                <a:latin typeface="黑体" panose="02010609060101010101" pitchFamily="49" charset="-122"/>
                <a:ea typeface="黑体" panose="02010609060101010101" pitchFamily="49" charset="-122"/>
              </a:rPr>
              <a:t>   /* now join on each thread */</a:t>
            </a:r>
            <a:br>
              <a:rPr lang="en-US" altLang="en-US" sz="1500" b="1" dirty="0">
                <a:latin typeface="黑体" panose="02010609060101010101" pitchFamily="49" charset="-122"/>
                <a:ea typeface="黑体" panose="02010609060101010101" pitchFamily="49" charset="-122"/>
              </a:rPr>
            </a:br>
            <a:r>
              <a:rPr lang="en-US" altLang="en-US" sz="1500" b="1" dirty="0">
                <a:latin typeface="黑体" panose="02010609060101010101" pitchFamily="49" charset="-122"/>
                <a:ea typeface="黑体" panose="02010609060101010101" pitchFamily="49" charset="-122"/>
              </a:rPr>
              <a:t>   for (</a:t>
            </a:r>
            <a:r>
              <a:rPr lang="en-US" altLang="en-US" sz="1500" b="1" dirty="0" err="1">
                <a:latin typeface="黑体" panose="02010609060101010101" pitchFamily="49" charset="-122"/>
                <a:ea typeface="黑体" panose="02010609060101010101" pitchFamily="49" charset="-122"/>
              </a:rPr>
              <a:t>i</a:t>
            </a:r>
            <a:r>
              <a:rPr lang="en-US" altLang="en-US" sz="1500" b="1" dirty="0">
                <a:latin typeface="黑体" panose="02010609060101010101" pitchFamily="49" charset="-122"/>
                <a:ea typeface="黑体" panose="02010609060101010101" pitchFamily="49" charset="-122"/>
              </a:rPr>
              <a:t> = 0; </a:t>
            </a:r>
            <a:r>
              <a:rPr lang="en-US" altLang="en-US" sz="1500" b="1" dirty="0" err="1">
                <a:latin typeface="黑体" panose="02010609060101010101" pitchFamily="49" charset="-122"/>
                <a:ea typeface="黑体" panose="02010609060101010101" pitchFamily="49" charset="-122"/>
              </a:rPr>
              <a:t>i</a:t>
            </a:r>
            <a:r>
              <a:rPr lang="en-US" altLang="en-US" sz="1500" b="1" dirty="0">
                <a:latin typeface="黑体" panose="02010609060101010101" pitchFamily="49" charset="-122"/>
                <a:ea typeface="黑体" panose="02010609060101010101" pitchFamily="49" charset="-122"/>
              </a:rPr>
              <a:t> &lt; NUM_THREADS; </a:t>
            </a:r>
            <a:r>
              <a:rPr lang="en-US" altLang="en-US" sz="1500" b="1" dirty="0" err="1">
                <a:latin typeface="黑体" panose="02010609060101010101" pitchFamily="49" charset="-122"/>
                <a:ea typeface="黑体" panose="02010609060101010101" pitchFamily="49" charset="-122"/>
              </a:rPr>
              <a:t>i</a:t>
            </a:r>
            <a:r>
              <a:rPr lang="en-US" altLang="en-US" sz="1500" b="1" dirty="0">
                <a:latin typeface="黑体" panose="02010609060101010101" pitchFamily="49" charset="-122"/>
                <a:ea typeface="黑体" panose="02010609060101010101" pitchFamily="49" charset="-122"/>
              </a:rPr>
              <a:t>++) </a:t>
            </a:r>
          </a:p>
          <a:p>
            <a:pPr marL="0" indent="0">
              <a:buFont typeface="Monotype Sorts" pitchFamily="-84" charset="2"/>
              <a:buNone/>
            </a:pPr>
            <a:r>
              <a:rPr lang="en-US" altLang="en-US" sz="1500" b="1" dirty="0">
                <a:latin typeface="黑体" panose="02010609060101010101" pitchFamily="49" charset="-122"/>
                <a:ea typeface="黑体" panose="02010609060101010101" pitchFamily="49" charset="-122"/>
              </a:rPr>
              <a:t>      </a:t>
            </a:r>
            <a:r>
              <a:rPr lang="en-US" altLang="en-US" sz="1500" b="1" dirty="0" err="1">
                <a:latin typeface="黑体" panose="02010609060101010101" pitchFamily="49" charset="-122"/>
                <a:ea typeface="黑体" panose="02010609060101010101" pitchFamily="49" charset="-122"/>
              </a:rPr>
              <a:t>pthread_join</a:t>
            </a:r>
            <a:r>
              <a:rPr lang="en-US" altLang="en-US" sz="1500" b="1" dirty="0">
                <a:latin typeface="黑体" panose="02010609060101010101" pitchFamily="49" charset="-122"/>
                <a:ea typeface="黑体" panose="02010609060101010101" pitchFamily="49" charset="-122"/>
              </a:rPr>
              <a:t>(</a:t>
            </a:r>
            <a:r>
              <a:rPr lang="en-US" altLang="en-US" sz="1500" b="1" dirty="0" err="1">
                <a:latin typeface="黑体" panose="02010609060101010101" pitchFamily="49" charset="-122"/>
                <a:ea typeface="黑体" panose="02010609060101010101" pitchFamily="49" charset="-122"/>
              </a:rPr>
              <a:t>tid</a:t>
            </a:r>
            <a:r>
              <a:rPr lang="en-US" altLang="en-US" sz="1500" b="1" dirty="0">
                <a:latin typeface="黑体" panose="02010609060101010101" pitchFamily="49" charset="-122"/>
                <a:ea typeface="黑体" panose="02010609060101010101" pitchFamily="49" charset="-122"/>
              </a:rPr>
              <a:t>[</a:t>
            </a:r>
            <a:r>
              <a:rPr lang="en-US" altLang="en-US" sz="1500" b="1" dirty="0" err="1">
                <a:latin typeface="黑体" panose="02010609060101010101" pitchFamily="49" charset="-122"/>
                <a:ea typeface="黑体" panose="02010609060101010101" pitchFamily="49" charset="-122"/>
              </a:rPr>
              <a:t>i</a:t>
            </a:r>
            <a:r>
              <a:rPr lang="en-US" altLang="en-US" sz="1500" b="1" dirty="0">
                <a:latin typeface="黑体" panose="02010609060101010101" pitchFamily="49" charset="-122"/>
                <a:ea typeface="黑体" panose="02010609060101010101" pitchFamily="49" charset="-122"/>
              </a:rPr>
              <a:t>], NULL); </a:t>
            </a:r>
          </a:p>
          <a:p>
            <a:pPr marL="0" indent="0">
              <a:buFont typeface="Monotype Sorts" pitchFamily="-84" charset="2"/>
              <a:buNone/>
            </a:pPr>
            <a:r>
              <a:rPr lang="en-US" altLang="en-US" sz="1500" b="1" dirty="0">
                <a:latin typeface="黑体" panose="02010609060101010101" pitchFamily="49" charset="-122"/>
                <a:ea typeface="黑体" panose="02010609060101010101" pitchFamily="49" charset="-122"/>
              </a:rPr>
              <a:t>}</a:t>
            </a:r>
          </a:p>
          <a:p>
            <a:pPr marL="0" indent="0">
              <a:buFont typeface="Monotype Sorts" pitchFamily="-84" charset="2"/>
              <a:buNone/>
            </a:pPr>
            <a:r>
              <a:rPr lang="en-US" altLang="en-US" sz="1500" b="1" dirty="0">
                <a:latin typeface="黑体" panose="02010609060101010101" pitchFamily="49" charset="-122"/>
                <a:ea typeface="黑体" panose="02010609060101010101" pitchFamily="49" charset="-122"/>
              </a:rPr>
              <a:t> </a:t>
            </a:r>
          </a:p>
          <a:p>
            <a:pPr marL="0" indent="0">
              <a:buFont typeface="Monotype Sorts" pitchFamily="-84" charset="2"/>
              <a:buNone/>
            </a:pPr>
            <a:r>
              <a:rPr lang="en-US" altLang="en-US" sz="1500" b="1" dirty="0">
                <a:latin typeface="黑体" panose="02010609060101010101" pitchFamily="49" charset="-122"/>
                <a:ea typeface="黑体" panose="02010609060101010101" pitchFamily="49" charset="-122"/>
              </a:rPr>
              <a:t>/* Each thread will begin control in this function */ </a:t>
            </a:r>
          </a:p>
          <a:p>
            <a:pPr marL="0" indent="0">
              <a:buFont typeface="Monotype Sorts" pitchFamily="-84" charset="2"/>
              <a:buNone/>
            </a:pPr>
            <a:r>
              <a:rPr lang="en-US" altLang="en-US" sz="1500" b="1" dirty="0">
                <a:latin typeface="黑体" panose="02010609060101010101" pitchFamily="49" charset="-122"/>
                <a:ea typeface="黑体" panose="02010609060101010101" pitchFamily="49" charset="-122"/>
              </a:rPr>
              <a:t>void *runner(void *param)</a:t>
            </a:r>
            <a:br>
              <a:rPr lang="en-US" altLang="en-US" sz="1500" b="1" dirty="0">
                <a:latin typeface="黑体" panose="02010609060101010101" pitchFamily="49" charset="-122"/>
                <a:ea typeface="黑体" panose="02010609060101010101" pitchFamily="49" charset="-122"/>
              </a:rPr>
            </a:br>
            <a:r>
              <a:rPr lang="en-US" altLang="en-US" sz="1500" b="1" dirty="0">
                <a:latin typeface="黑体" panose="02010609060101010101" pitchFamily="49" charset="-122"/>
                <a:ea typeface="黑体" panose="02010609060101010101" pitchFamily="49" charset="-122"/>
              </a:rPr>
              <a:t>{ </a:t>
            </a:r>
          </a:p>
          <a:p>
            <a:pPr marL="0" indent="0">
              <a:buFont typeface="Monotype Sorts" pitchFamily="-84" charset="2"/>
              <a:buNone/>
            </a:pPr>
            <a:r>
              <a:rPr lang="en-US" altLang="en-US" sz="1500" b="1" dirty="0">
                <a:latin typeface="黑体" panose="02010609060101010101" pitchFamily="49" charset="-122"/>
                <a:ea typeface="黑体" panose="02010609060101010101" pitchFamily="49" charset="-122"/>
              </a:rPr>
              <a:t>   /* do some work ... */ </a:t>
            </a:r>
          </a:p>
          <a:p>
            <a:pPr marL="0" indent="0">
              <a:buFont typeface="Monotype Sorts" pitchFamily="-84" charset="2"/>
              <a:buNone/>
            </a:pPr>
            <a:r>
              <a:rPr lang="en-US" altLang="en-US" sz="1500" b="1" dirty="0">
                <a:latin typeface="黑体" panose="02010609060101010101" pitchFamily="49" charset="-122"/>
                <a:ea typeface="黑体" panose="02010609060101010101" pitchFamily="49" charset="-122"/>
              </a:rPr>
              <a:t>   </a:t>
            </a:r>
            <a:r>
              <a:rPr lang="en-US" altLang="en-US" sz="1500" b="1" dirty="0" err="1">
                <a:latin typeface="黑体" panose="02010609060101010101" pitchFamily="49" charset="-122"/>
                <a:ea typeface="黑体" panose="02010609060101010101" pitchFamily="49" charset="-122"/>
              </a:rPr>
              <a:t>pthread_exit</a:t>
            </a:r>
            <a:r>
              <a:rPr lang="en-US" altLang="en-US" sz="1500" b="1" dirty="0">
                <a:latin typeface="黑体" panose="02010609060101010101" pitchFamily="49" charset="-122"/>
                <a:ea typeface="黑体" panose="02010609060101010101" pitchFamily="49" charset="-122"/>
              </a:rPr>
              <a:t>(0); </a:t>
            </a:r>
          </a:p>
          <a:p>
            <a:pPr marL="0" indent="0">
              <a:buFont typeface="Monotype Sorts" pitchFamily="-84" charset="2"/>
              <a:buNone/>
            </a:pPr>
            <a:r>
              <a:rPr lang="en-US" altLang="en-US" sz="1500" b="1" dirty="0">
                <a:latin typeface="黑体" panose="02010609060101010101" pitchFamily="49" charset="-122"/>
                <a:ea typeface="黑体" panose="02010609060101010101" pitchFamily="49" charset="-122"/>
              </a:rPr>
              <a:t>} </a:t>
            </a:r>
          </a:p>
        </p:txBody>
      </p:sp>
      <p:sp>
        <p:nvSpPr>
          <p:cNvPr id="6" name="Rectangle 2">
            <a:extLst>
              <a:ext uri="{FF2B5EF4-FFF2-40B4-BE49-F238E27FC236}">
                <a16:creationId xmlns:a16="http://schemas.microsoft.com/office/drawing/2014/main" id="{29CFE5C5-C5D0-4CA7-B035-CEFFD0E53F44}"/>
              </a:ext>
            </a:extLst>
          </p:cNvPr>
          <p:cNvSpPr>
            <a:spLocks noGrp="1" noChangeArrowheads="1"/>
          </p:cNvSpPr>
          <p:nvPr>
            <p:ph type="title"/>
          </p:nvPr>
        </p:nvSpPr>
        <p:spPr>
          <a:xfrm>
            <a:off x="1048969" y="122093"/>
            <a:ext cx="7996335" cy="576262"/>
          </a:xfrm>
        </p:spPr>
        <p:txBody>
          <a:bodyPr/>
          <a:lstStyle/>
          <a:p>
            <a:pPr eaLnBrk="1" hangingPunct="1"/>
            <a:r>
              <a:rPr lang="en-US" altLang="en-US" sz="2800" dirty="0"/>
              <a:t>POSIX Real-Time Scheduling API (Cont.)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a:extLst>
              <a:ext uri="{FF2B5EF4-FFF2-40B4-BE49-F238E27FC236}">
                <a16:creationId xmlns:a16="http://schemas.microsoft.com/office/drawing/2014/main" id="{E181A9CF-D82A-47BC-AB9C-DC9AFB414DC6}"/>
              </a:ext>
            </a:extLst>
          </p:cNvPr>
          <p:cNvSpPr>
            <a:spLocks noGrp="1" noChangeArrowheads="1"/>
          </p:cNvSpPr>
          <p:nvPr>
            <p:ph type="title"/>
          </p:nvPr>
        </p:nvSpPr>
        <p:spPr>
          <a:xfrm>
            <a:off x="1138238" y="142417"/>
            <a:ext cx="7548562" cy="576262"/>
          </a:xfrm>
        </p:spPr>
        <p:txBody>
          <a:bodyPr/>
          <a:lstStyle/>
          <a:p>
            <a:pPr eaLnBrk="1" hangingPunct="1"/>
            <a:r>
              <a:rPr lang="en-US" altLang="en-US" dirty="0"/>
              <a:t>Operating System Examples</a:t>
            </a:r>
          </a:p>
        </p:txBody>
      </p:sp>
      <p:sp>
        <p:nvSpPr>
          <p:cNvPr id="108546" name="Rectangle 3">
            <a:extLst>
              <a:ext uri="{FF2B5EF4-FFF2-40B4-BE49-F238E27FC236}">
                <a16:creationId xmlns:a16="http://schemas.microsoft.com/office/drawing/2014/main" id="{70A19F9C-142A-4E79-B8AA-6FCF25AA622F}"/>
              </a:ext>
            </a:extLst>
          </p:cNvPr>
          <p:cNvSpPr>
            <a:spLocks noGrp="1" noChangeArrowheads="1"/>
          </p:cNvSpPr>
          <p:nvPr>
            <p:ph type="body" idx="1"/>
          </p:nvPr>
        </p:nvSpPr>
        <p:spPr>
          <a:xfrm>
            <a:off x="1138238" y="1109663"/>
            <a:ext cx="6461125" cy="3508375"/>
          </a:xfrm>
        </p:spPr>
        <p:txBody>
          <a:bodyPr/>
          <a:lstStyle/>
          <a:p>
            <a:r>
              <a:rPr lang="en-US" altLang="en-US" sz="2000" dirty="0"/>
              <a:t>Linux scheduling</a:t>
            </a:r>
          </a:p>
          <a:p>
            <a:r>
              <a:rPr lang="en-US" altLang="en-US" sz="2000" dirty="0"/>
              <a:t>Windows scheduling</a:t>
            </a:r>
          </a:p>
          <a:p>
            <a:r>
              <a:rPr lang="en-US" altLang="en-US" sz="2000" dirty="0"/>
              <a:t>Solaris scheduling</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a:extLst>
              <a:ext uri="{FF2B5EF4-FFF2-40B4-BE49-F238E27FC236}">
                <a16:creationId xmlns:a16="http://schemas.microsoft.com/office/drawing/2014/main" id="{8169387F-9479-4DF2-BB9E-7943E278796F}"/>
              </a:ext>
            </a:extLst>
          </p:cNvPr>
          <p:cNvSpPr>
            <a:spLocks noGrp="1" noChangeArrowheads="1"/>
          </p:cNvSpPr>
          <p:nvPr>
            <p:ph type="title"/>
          </p:nvPr>
        </p:nvSpPr>
        <p:spPr>
          <a:xfrm>
            <a:off x="1011283" y="129823"/>
            <a:ext cx="7848600" cy="576262"/>
          </a:xfrm>
        </p:spPr>
        <p:txBody>
          <a:bodyPr/>
          <a:lstStyle/>
          <a:p>
            <a:pPr eaLnBrk="1" hangingPunct="1"/>
            <a:r>
              <a:rPr lang="en-US" altLang="en-US" sz="2800" dirty="0"/>
              <a:t>Linux Scheduling Through Version 2.5</a:t>
            </a:r>
          </a:p>
        </p:txBody>
      </p:sp>
      <p:sp>
        <p:nvSpPr>
          <p:cNvPr id="110594" name="Rectangle 3">
            <a:extLst>
              <a:ext uri="{FF2B5EF4-FFF2-40B4-BE49-F238E27FC236}">
                <a16:creationId xmlns:a16="http://schemas.microsoft.com/office/drawing/2014/main" id="{1C80CB74-75D9-44E9-B5BE-5FA82CDE499B}"/>
              </a:ext>
            </a:extLst>
          </p:cNvPr>
          <p:cNvSpPr>
            <a:spLocks noGrp="1" noChangeArrowheads="1"/>
          </p:cNvSpPr>
          <p:nvPr>
            <p:ph type="body" idx="1"/>
          </p:nvPr>
        </p:nvSpPr>
        <p:spPr>
          <a:xfrm>
            <a:off x="802433" y="1057262"/>
            <a:ext cx="7650687" cy="5064138"/>
          </a:xfrm>
        </p:spPr>
        <p:txBody>
          <a:bodyPr/>
          <a:lstStyle/>
          <a:p>
            <a:pPr>
              <a:lnSpc>
                <a:spcPct val="90000"/>
              </a:lnSpc>
            </a:pPr>
            <a:r>
              <a:rPr lang="en-US" altLang="en-US" sz="2000" dirty="0"/>
              <a:t>Prior to kernel version 2.5, ran variation of standard UNIX scheduling algorithm</a:t>
            </a:r>
          </a:p>
          <a:p>
            <a:pPr>
              <a:lnSpc>
                <a:spcPct val="90000"/>
              </a:lnSpc>
            </a:pPr>
            <a:r>
              <a:rPr lang="en-US" altLang="en-US" sz="2000" dirty="0"/>
              <a:t>Version 2.5 moved to constant order </a:t>
            </a:r>
            <a:r>
              <a:rPr lang="en-US" altLang="en-US" sz="2000" i="1" dirty="0"/>
              <a:t>O</a:t>
            </a:r>
            <a:r>
              <a:rPr lang="en-US" altLang="en-US" sz="2000" dirty="0"/>
              <a:t>(1) scheduling time</a:t>
            </a:r>
          </a:p>
          <a:p>
            <a:pPr lvl="1">
              <a:lnSpc>
                <a:spcPct val="90000"/>
              </a:lnSpc>
            </a:pPr>
            <a:r>
              <a:rPr lang="en-US" altLang="en-US" sz="1600" dirty="0"/>
              <a:t>Preemptive, priority based</a:t>
            </a:r>
          </a:p>
          <a:p>
            <a:pPr lvl="1">
              <a:lnSpc>
                <a:spcPct val="90000"/>
              </a:lnSpc>
            </a:pPr>
            <a:r>
              <a:rPr lang="en-US" altLang="en-US" sz="1600" dirty="0"/>
              <a:t>Two priority ranges: time-sharing and real-time</a:t>
            </a:r>
          </a:p>
          <a:p>
            <a:pPr lvl="1">
              <a:lnSpc>
                <a:spcPct val="90000"/>
              </a:lnSpc>
            </a:pPr>
            <a:r>
              <a:rPr lang="en-US" altLang="en-US" sz="1600" b="1" dirty="0"/>
              <a:t>Real-time </a:t>
            </a:r>
            <a:r>
              <a:rPr lang="en-US" altLang="en-US" sz="1600" dirty="0"/>
              <a:t>range from 0 to 99 and </a:t>
            </a:r>
            <a:r>
              <a:rPr lang="en-US" altLang="en-US" sz="1600" b="1" dirty="0"/>
              <a:t>nice </a:t>
            </a:r>
            <a:r>
              <a:rPr lang="en-US" altLang="en-US" sz="1600" dirty="0"/>
              <a:t>value from 100 to 140</a:t>
            </a:r>
          </a:p>
          <a:p>
            <a:pPr lvl="1">
              <a:lnSpc>
                <a:spcPct val="90000"/>
              </a:lnSpc>
            </a:pPr>
            <a:r>
              <a:rPr lang="en-US" altLang="en-US" sz="1600" dirty="0"/>
              <a:t>Map into  global priority with numerically lower values indicating higher priority</a:t>
            </a:r>
          </a:p>
          <a:p>
            <a:pPr lvl="1">
              <a:lnSpc>
                <a:spcPct val="90000"/>
              </a:lnSpc>
            </a:pPr>
            <a:r>
              <a:rPr lang="en-US" altLang="en-US" sz="1600" dirty="0"/>
              <a:t>Higher priority gets larger q</a:t>
            </a:r>
          </a:p>
          <a:p>
            <a:pPr lvl="1">
              <a:lnSpc>
                <a:spcPct val="90000"/>
              </a:lnSpc>
            </a:pPr>
            <a:r>
              <a:rPr lang="en-US" altLang="en-US" sz="1600" dirty="0"/>
              <a:t>Task run-able as long as time left in time slice (</a:t>
            </a:r>
            <a:r>
              <a:rPr lang="en-US" altLang="en-US" sz="1600" b="1" dirty="0">
                <a:solidFill>
                  <a:srgbClr val="006699"/>
                </a:solidFill>
                <a:latin typeface="+mj-lt"/>
              </a:rPr>
              <a:t>active</a:t>
            </a:r>
            <a:r>
              <a:rPr lang="en-US" altLang="en-US" sz="1600" dirty="0"/>
              <a:t>)</a:t>
            </a:r>
          </a:p>
          <a:p>
            <a:pPr lvl="1">
              <a:lnSpc>
                <a:spcPct val="90000"/>
              </a:lnSpc>
            </a:pPr>
            <a:r>
              <a:rPr lang="en-US" altLang="en-US" sz="1600" dirty="0"/>
              <a:t>If no time left (</a:t>
            </a:r>
            <a:r>
              <a:rPr lang="en-US" altLang="en-US" sz="1600" b="1" dirty="0">
                <a:solidFill>
                  <a:srgbClr val="006699"/>
                </a:solidFill>
                <a:latin typeface="+mj-lt"/>
              </a:rPr>
              <a:t>expired</a:t>
            </a:r>
            <a:r>
              <a:rPr lang="en-US" altLang="en-US" sz="1600" dirty="0"/>
              <a:t>), not run-able until all other tasks use their slices</a:t>
            </a:r>
          </a:p>
          <a:p>
            <a:pPr lvl="1">
              <a:lnSpc>
                <a:spcPct val="90000"/>
              </a:lnSpc>
            </a:pPr>
            <a:r>
              <a:rPr lang="en-US" altLang="en-US" sz="1600" dirty="0"/>
              <a:t>All run-able tasks tracked in per-CPU </a:t>
            </a:r>
            <a:r>
              <a:rPr lang="en-US" altLang="en-US" sz="1600" b="1" dirty="0" err="1">
                <a:solidFill>
                  <a:srgbClr val="006699"/>
                </a:solidFill>
                <a:latin typeface="+mj-lt"/>
              </a:rPr>
              <a:t>runqueue</a:t>
            </a:r>
            <a:r>
              <a:rPr lang="en-US" altLang="en-US" sz="1600" b="1" dirty="0">
                <a:solidFill>
                  <a:srgbClr val="3366FF"/>
                </a:solidFill>
              </a:rPr>
              <a:t> </a:t>
            </a:r>
            <a:r>
              <a:rPr lang="en-US" altLang="en-US" sz="1600" dirty="0"/>
              <a:t>data structure</a:t>
            </a:r>
          </a:p>
          <a:p>
            <a:pPr lvl="2">
              <a:lnSpc>
                <a:spcPct val="90000"/>
              </a:lnSpc>
            </a:pPr>
            <a:r>
              <a:rPr lang="en-US" altLang="en-US" sz="1600" dirty="0"/>
              <a:t>Two priority arrays (active, expired)</a:t>
            </a:r>
          </a:p>
          <a:p>
            <a:pPr lvl="2">
              <a:lnSpc>
                <a:spcPct val="90000"/>
              </a:lnSpc>
            </a:pPr>
            <a:r>
              <a:rPr lang="en-US" altLang="en-US" sz="1600" dirty="0"/>
              <a:t>Tasks indexed by priority</a:t>
            </a:r>
          </a:p>
          <a:p>
            <a:pPr lvl="2">
              <a:lnSpc>
                <a:spcPct val="90000"/>
              </a:lnSpc>
            </a:pPr>
            <a:r>
              <a:rPr lang="en-US" altLang="en-US" sz="1600" dirty="0"/>
              <a:t>When no more active, arrays are exchanged</a:t>
            </a:r>
          </a:p>
          <a:p>
            <a:pPr lvl="1">
              <a:lnSpc>
                <a:spcPct val="90000"/>
              </a:lnSpc>
            </a:pPr>
            <a:r>
              <a:rPr lang="en-US" altLang="en-US" sz="1600" dirty="0"/>
              <a:t>Worked well, but poor response times for interactive processes</a:t>
            </a:r>
          </a:p>
          <a:p>
            <a:pPr>
              <a:lnSpc>
                <a:spcPct val="90000"/>
              </a:lnSpc>
              <a:buFont typeface="Monotype Sorts" pitchFamily="-84" charset="2"/>
              <a:buNone/>
            </a:pPr>
            <a:endParaRPr lang="en-US" altLang="en-US" sz="2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a:extLst>
              <a:ext uri="{FF2B5EF4-FFF2-40B4-BE49-F238E27FC236}">
                <a16:creationId xmlns:a16="http://schemas.microsoft.com/office/drawing/2014/main" id="{72308EB8-7072-4BEA-AF27-9B27AEE14DED}"/>
              </a:ext>
            </a:extLst>
          </p:cNvPr>
          <p:cNvSpPr>
            <a:spLocks noGrp="1" noChangeArrowheads="1"/>
          </p:cNvSpPr>
          <p:nvPr>
            <p:ph type="title"/>
          </p:nvPr>
        </p:nvSpPr>
        <p:spPr>
          <a:xfrm>
            <a:off x="1423952" y="161908"/>
            <a:ext cx="7594600" cy="576262"/>
          </a:xfrm>
        </p:spPr>
        <p:txBody>
          <a:bodyPr/>
          <a:lstStyle/>
          <a:p>
            <a:pPr eaLnBrk="1" hangingPunct="1"/>
            <a:r>
              <a:rPr lang="en-US" altLang="en-US" dirty="0"/>
              <a:t>Linux Scheduling in Version 2.6.23 +</a:t>
            </a:r>
          </a:p>
        </p:txBody>
      </p:sp>
      <p:sp>
        <p:nvSpPr>
          <p:cNvPr id="112642" name="Rectangle 3">
            <a:extLst>
              <a:ext uri="{FF2B5EF4-FFF2-40B4-BE49-F238E27FC236}">
                <a16:creationId xmlns:a16="http://schemas.microsoft.com/office/drawing/2014/main" id="{2B145118-E234-40BA-B90B-2874CDDAE191}"/>
              </a:ext>
            </a:extLst>
          </p:cNvPr>
          <p:cNvSpPr>
            <a:spLocks noGrp="1" noChangeArrowheads="1"/>
          </p:cNvSpPr>
          <p:nvPr>
            <p:ph type="body" idx="1"/>
          </p:nvPr>
        </p:nvSpPr>
        <p:spPr>
          <a:xfrm>
            <a:off x="783773" y="1063481"/>
            <a:ext cx="7865703" cy="5071253"/>
          </a:xfrm>
        </p:spPr>
        <p:txBody>
          <a:bodyPr/>
          <a:lstStyle/>
          <a:p>
            <a:pPr>
              <a:lnSpc>
                <a:spcPct val="90000"/>
              </a:lnSpc>
            </a:pPr>
            <a:r>
              <a:rPr lang="en-US" altLang="en-US" sz="2000" b="1" dirty="0">
                <a:solidFill>
                  <a:srgbClr val="006699"/>
                </a:solidFill>
                <a:latin typeface="+mj-lt"/>
              </a:rPr>
              <a:t>Completely Fair Scheduler (CFS)</a:t>
            </a:r>
          </a:p>
          <a:p>
            <a:pPr>
              <a:lnSpc>
                <a:spcPct val="90000"/>
              </a:lnSpc>
            </a:pPr>
            <a:r>
              <a:rPr lang="en-US" altLang="en-US" sz="2000" b="1" dirty="0">
                <a:latin typeface="+mj-lt"/>
              </a:rPr>
              <a:t>Scheduling classes</a:t>
            </a:r>
          </a:p>
          <a:p>
            <a:pPr lvl="1">
              <a:lnSpc>
                <a:spcPct val="90000"/>
              </a:lnSpc>
            </a:pPr>
            <a:r>
              <a:rPr lang="en-US" altLang="en-US" sz="2000" dirty="0"/>
              <a:t>Each has specific priority</a:t>
            </a:r>
          </a:p>
          <a:p>
            <a:pPr lvl="1">
              <a:lnSpc>
                <a:spcPct val="90000"/>
              </a:lnSpc>
            </a:pPr>
            <a:r>
              <a:rPr lang="en-US" altLang="en-US" sz="2000" dirty="0"/>
              <a:t>Scheduler picks highest priority task in highest scheduling class</a:t>
            </a:r>
          </a:p>
          <a:p>
            <a:pPr lvl="1">
              <a:lnSpc>
                <a:spcPct val="90000"/>
              </a:lnSpc>
            </a:pPr>
            <a:r>
              <a:rPr lang="en-US" altLang="en-US" sz="2000" dirty="0"/>
              <a:t>Rather than quantum based on fixed time allotments, based on proportion of CPU time</a:t>
            </a:r>
          </a:p>
          <a:p>
            <a:pPr lvl="1">
              <a:lnSpc>
                <a:spcPct val="90000"/>
              </a:lnSpc>
            </a:pPr>
            <a:r>
              <a:rPr lang="en-US" altLang="en-US" sz="2000" dirty="0"/>
              <a:t>Two scheduling classes included, others can be added</a:t>
            </a:r>
          </a:p>
          <a:p>
            <a:pPr marL="1095375" lvl="2" indent="-239713">
              <a:lnSpc>
                <a:spcPct val="90000"/>
              </a:lnSpc>
              <a:buFont typeface="Arial" panose="020B0604020202020204" pitchFamily="34" charset="0"/>
              <a:buAutoNum type="arabicPeriod"/>
            </a:pPr>
            <a:r>
              <a:rPr lang="en-US" altLang="en-US" sz="2000" dirty="0"/>
              <a:t>default</a:t>
            </a:r>
          </a:p>
          <a:p>
            <a:pPr marL="1095375" lvl="2" indent="-239713">
              <a:lnSpc>
                <a:spcPct val="90000"/>
              </a:lnSpc>
              <a:buFont typeface="Arial" panose="020B0604020202020204" pitchFamily="34" charset="0"/>
              <a:buAutoNum type="arabicPeriod"/>
            </a:pPr>
            <a:r>
              <a:rPr lang="en-US" altLang="en-US" sz="2000" dirty="0"/>
              <a:t>real-time</a:t>
            </a:r>
          </a:p>
          <a:p>
            <a:pPr marL="457200" lvl="1" indent="0">
              <a:lnSpc>
                <a:spcPct val="90000"/>
              </a:lnSpc>
              <a:buNone/>
            </a:pPr>
            <a:endParaRPr lang="en-US" altLang="en-US" sz="2000" dirty="0"/>
          </a:p>
        </p:txBody>
      </p:sp>
    </p:spTree>
    <p:extLst>
      <p:ext uri="{BB962C8B-B14F-4D97-AF65-F5344CB8AC3E}">
        <p14:creationId xmlns:p14="http://schemas.microsoft.com/office/powerpoint/2010/main" val="124089464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a:extLst>
              <a:ext uri="{FF2B5EF4-FFF2-40B4-BE49-F238E27FC236}">
                <a16:creationId xmlns:a16="http://schemas.microsoft.com/office/drawing/2014/main" id="{72308EB8-7072-4BEA-AF27-9B27AEE14DED}"/>
              </a:ext>
            </a:extLst>
          </p:cNvPr>
          <p:cNvSpPr>
            <a:spLocks noGrp="1" noChangeArrowheads="1"/>
          </p:cNvSpPr>
          <p:nvPr>
            <p:ph type="title"/>
          </p:nvPr>
        </p:nvSpPr>
        <p:spPr>
          <a:xfrm>
            <a:off x="1332512" y="69396"/>
            <a:ext cx="7594600" cy="576262"/>
          </a:xfrm>
        </p:spPr>
        <p:txBody>
          <a:bodyPr/>
          <a:lstStyle/>
          <a:p>
            <a:pPr eaLnBrk="1" hangingPunct="1"/>
            <a:r>
              <a:rPr lang="en-US" altLang="en-US" sz="2400" dirty="0"/>
              <a:t>Linux Scheduling in Version 2.6.23 + (Cont.)</a:t>
            </a:r>
          </a:p>
        </p:txBody>
      </p:sp>
      <p:sp>
        <p:nvSpPr>
          <p:cNvPr id="112642" name="Rectangle 3">
            <a:extLst>
              <a:ext uri="{FF2B5EF4-FFF2-40B4-BE49-F238E27FC236}">
                <a16:creationId xmlns:a16="http://schemas.microsoft.com/office/drawing/2014/main" id="{2B145118-E234-40BA-B90B-2874CDDAE191}"/>
              </a:ext>
            </a:extLst>
          </p:cNvPr>
          <p:cNvSpPr>
            <a:spLocks noGrp="1" noChangeArrowheads="1"/>
          </p:cNvSpPr>
          <p:nvPr>
            <p:ph type="body" idx="1"/>
          </p:nvPr>
        </p:nvSpPr>
        <p:spPr>
          <a:xfrm>
            <a:off x="783773" y="951721"/>
            <a:ext cx="7699827" cy="4943753"/>
          </a:xfrm>
        </p:spPr>
        <p:txBody>
          <a:bodyPr/>
          <a:lstStyle/>
          <a:p>
            <a:pPr>
              <a:lnSpc>
                <a:spcPct val="90000"/>
              </a:lnSpc>
            </a:pPr>
            <a:r>
              <a:rPr lang="en-US" altLang="en-US" sz="2000" dirty="0"/>
              <a:t>Quantum calculated based on </a:t>
            </a:r>
            <a:r>
              <a:rPr lang="en-US" altLang="en-US" sz="2000" b="1" dirty="0">
                <a:solidFill>
                  <a:srgbClr val="006699"/>
                </a:solidFill>
                <a:latin typeface="+mj-lt"/>
              </a:rPr>
              <a:t>nice value </a:t>
            </a:r>
            <a:r>
              <a:rPr lang="en-US" altLang="en-US" sz="2000" dirty="0"/>
              <a:t>from -20 to +19</a:t>
            </a:r>
          </a:p>
          <a:p>
            <a:pPr lvl="1">
              <a:lnSpc>
                <a:spcPct val="90000"/>
              </a:lnSpc>
            </a:pPr>
            <a:r>
              <a:rPr lang="en-US" altLang="en-US" sz="2000" dirty="0"/>
              <a:t>Lower value is higher priority</a:t>
            </a:r>
          </a:p>
          <a:p>
            <a:pPr lvl="1">
              <a:lnSpc>
                <a:spcPct val="90000"/>
              </a:lnSpc>
            </a:pPr>
            <a:r>
              <a:rPr lang="en-US" altLang="en-US" sz="2000" dirty="0"/>
              <a:t>Calculates </a:t>
            </a:r>
            <a:r>
              <a:rPr lang="en-US" altLang="en-US" sz="2000" b="1" dirty="0">
                <a:solidFill>
                  <a:srgbClr val="006699"/>
                </a:solidFill>
                <a:latin typeface="+mj-lt"/>
              </a:rPr>
              <a:t>target latency </a:t>
            </a:r>
            <a:r>
              <a:rPr lang="en-US" altLang="en-US" sz="2000" dirty="0"/>
              <a:t>– interval of time during which task should run at least once</a:t>
            </a:r>
          </a:p>
          <a:p>
            <a:pPr lvl="1">
              <a:lnSpc>
                <a:spcPct val="90000"/>
              </a:lnSpc>
            </a:pPr>
            <a:r>
              <a:rPr lang="en-US" altLang="en-US" sz="2000" dirty="0"/>
              <a:t>Target latency can increase if say number of active tasks increases</a:t>
            </a:r>
          </a:p>
          <a:p>
            <a:pPr>
              <a:lnSpc>
                <a:spcPct val="90000"/>
              </a:lnSpc>
            </a:pPr>
            <a:r>
              <a:rPr lang="en-US" altLang="en-US" sz="2000" dirty="0"/>
              <a:t>CFS scheduler maintains per task </a:t>
            </a:r>
            <a:r>
              <a:rPr lang="en-US" altLang="en-US" sz="2000" b="1" dirty="0">
                <a:solidFill>
                  <a:srgbClr val="006699"/>
                </a:solidFill>
                <a:latin typeface="+mj-lt"/>
              </a:rPr>
              <a:t>virtual run time </a:t>
            </a:r>
            <a:r>
              <a:rPr lang="en-US" altLang="en-US" sz="2000" dirty="0"/>
              <a:t>in variable </a:t>
            </a:r>
            <a:r>
              <a:rPr lang="en-US" altLang="en-US" sz="2000" b="1" dirty="0" err="1">
                <a:latin typeface="Courier New" panose="02070309020205020404" pitchFamily="49" charset="0"/>
              </a:rPr>
              <a:t>vruntime</a:t>
            </a:r>
            <a:endParaRPr lang="en-US" altLang="en-US" sz="2000" b="1" dirty="0">
              <a:latin typeface="Courier New" panose="02070309020205020404" pitchFamily="49" charset="0"/>
            </a:endParaRPr>
          </a:p>
          <a:p>
            <a:pPr lvl="1">
              <a:lnSpc>
                <a:spcPct val="90000"/>
              </a:lnSpc>
            </a:pPr>
            <a:r>
              <a:rPr lang="en-US" altLang="en-US" sz="2000" dirty="0"/>
              <a:t>Associated with decay factor based on priority of task – lower priority is higher decay rate</a:t>
            </a:r>
          </a:p>
          <a:p>
            <a:pPr lvl="1">
              <a:lnSpc>
                <a:spcPct val="90000"/>
              </a:lnSpc>
            </a:pPr>
            <a:r>
              <a:rPr lang="en-US" altLang="en-US" sz="2000" dirty="0"/>
              <a:t>Normal default priority yields virtual run time = actual run time</a:t>
            </a:r>
          </a:p>
          <a:p>
            <a:pPr>
              <a:lnSpc>
                <a:spcPct val="90000"/>
              </a:lnSpc>
            </a:pPr>
            <a:r>
              <a:rPr lang="en-US" altLang="en-US" sz="2000" dirty="0"/>
              <a:t>To decide next task to run, scheduler picks task with lowest virtual run time</a:t>
            </a:r>
          </a:p>
          <a:p>
            <a:pPr lvl="1">
              <a:lnSpc>
                <a:spcPct val="90000"/>
              </a:lnSpc>
            </a:pPr>
            <a:endParaRPr lang="en-US" altLang="en-US" sz="2000" dirty="0"/>
          </a:p>
          <a:p>
            <a:pPr marL="1095375" lvl="2" indent="-239713">
              <a:lnSpc>
                <a:spcPct val="90000"/>
              </a:lnSpc>
            </a:pPr>
            <a:endParaRPr lang="en-US" altLang="en-US" sz="2000" dirty="0"/>
          </a:p>
          <a:p>
            <a:pPr lvl="1">
              <a:lnSpc>
                <a:spcPct val="90000"/>
              </a:lnSpc>
            </a:pPr>
            <a:endParaRPr lang="en-US" altLang="en-US" sz="2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a:extLst>
              <a:ext uri="{FF2B5EF4-FFF2-40B4-BE49-F238E27FC236}">
                <a16:creationId xmlns:a16="http://schemas.microsoft.com/office/drawing/2014/main" id="{0051E590-6092-4C16-A466-20459637CDD0}"/>
              </a:ext>
            </a:extLst>
          </p:cNvPr>
          <p:cNvSpPr>
            <a:spLocks noGrp="1" noChangeArrowheads="1"/>
          </p:cNvSpPr>
          <p:nvPr>
            <p:ph type="title"/>
          </p:nvPr>
        </p:nvSpPr>
        <p:spPr>
          <a:xfrm>
            <a:off x="827088" y="130652"/>
            <a:ext cx="7859712" cy="576262"/>
          </a:xfrm>
        </p:spPr>
        <p:txBody>
          <a:bodyPr/>
          <a:lstStyle/>
          <a:p>
            <a:pPr eaLnBrk="1" hangingPunct="1"/>
            <a:r>
              <a:rPr lang="en-US" altLang="en-US" dirty="0"/>
              <a:t>CFS Performance</a:t>
            </a:r>
          </a:p>
        </p:txBody>
      </p:sp>
      <p:pic>
        <p:nvPicPr>
          <p:cNvPr id="114690" name="Picture 4" descr="Screen Shot 2012-12-17 at 9.25.06 PM.png">
            <a:extLst>
              <a:ext uri="{FF2B5EF4-FFF2-40B4-BE49-F238E27FC236}">
                <a16:creationId xmlns:a16="http://schemas.microsoft.com/office/drawing/2014/main" id="{E26FC3A4-5035-4C42-831C-EFBC4362953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76513" y="1077913"/>
            <a:ext cx="4389437" cy="537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itle 1">
            <a:extLst>
              <a:ext uri="{FF2B5EF4-FFF2-40B4-BE49-F238E27FC236}">
                <a16:creationId xmlns:a16="http://schemas.microsoft.com/office/drawing/2014/main" id="{77CC9487-DADE-43D0-8ECA-52F4E44EB927}"/>
              </a:ext>
            </a:extLst>
          </p:cNvPr>
          <p:cNvSpPr>
            <a:spLocks noGrp="1"/>
          </p:cNvSpPr>
          <p:nvPr>
            <p:ph type="title"/>
          </p:nvPr>
        </p:nvSpPr>
        <p:spPr>
          <a:xfrm>
            <a:off x="457200" y="137390"/>
            <a:ext cx="8229600" cy="576262"/>
          </a:xfrm>
        </p:spPr>
        <p:txBody>
          <a:bodyPr/>
          <a:lstStyle/>
          <a:p>
            <a:r>
              <a:rPr lang="en-US" altLang="en-US" dirty="0"/>
              <a:t>Linux Scheduling (Cont.)</a:t>
            </a:r>
          </a:p>
        </p:txBody>
      </p:sp>
      <p:sp>
        <p:nvSpPr>
          <p:cNvPr id="116738" name="Content Placeholder 2">
            <a:extLst>
              <a:ext uri="{FF2B5EF4-FFF2-40B4-BE49-F238E27FC236}">
                <a16:creationId xmlns:a16="http://schemas.microsoft.com/office/drawing/2014/main" id="{E02DB423-4929-4748-A706-EFB4B1D0D838}"/>
              </a:ext>
            </a:extLst>
          </p:cNvPr>
          <p:cNvSpPr>
            <a:spLocks noGrp="1"/>
          </p:cNvSpPr>
          <p:nvPr>
            <p:ph idx="1"/>
          </p:nvPr>
        </p:nvSpPr>
        <p:spPr>
          <a:xfrm>
            <a:off x="882650" y="1022668"/>
            <a:ext cx="7791450" cy="4530725"/>
          </a:xfrm>
        </p:spPr>
        <p:txBody>
          <a:bodyPr/>
          <a:lstStyle/>
          <a:p>
            <a:r>
              <a:rPr lang="en-US" altLang="en-US" sz="2000" dirty="0"/>
              <a:t>Real-time scheduling according to POSIX.1b</a:t>
            </a:r>
          </a:p>
          <a:p>
            <a:pPr lvl="1"/>
            <a:r>
              <a:rPr lang="en-US" altLang="en-US" sz="2000" dirty="0"/>
              <a:t>Real-time tasks have static priorities</a:t>
            </a:r>
          </a:p>
          <a:p>
            <a:r>
              <a:rPr lang="en-US" altLang="en-US" sz="2000" dirty="0"/>
              <a:t>Real-time plus normal map into global priority scheme</a:t>
            </a:r>
          </a:p>
          <a:p>
            <a:r>
              <a:rPr lang="en-US" altLang="en-US" sz="2000" dirty="0"/>
              <a:t>Nice value of -20 maps to global priority 100</a:t>
            </a:r>
          </a:p>
          <a:p>
            <a:r>
              <a:rPr lang="en-US" altLang="en-US" sz="2000" dirty="0"/>
              <a:t>Nice value of +19 maps to priority 139</a:t>
            </a:r>
          </a:p>
          <a:p>
            <a:endParaRPr lang="en-US" altLang="en-US" sz="2000" dirty="0"/>
          </a:p>
        </p:txBody>
      </p:sp>
      <p:pic>
        <p:nvPicPr>
          <p:cNvPr id="116739" name="Picture 1" descr="Screen Shot 2012-12-17 at 9.28.34 PM.png">
            <a:extLst>
              <a:ext uri="{FF2B5EF4-FFF2-40B4-BE49-F238E27FC236}">
                <a16:creationId xmlns:a16="http://schemas.microsoft.com/office/drawing/2014/main" id="{962147AC-858B-4382-8168-1FA988CFB04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66240" y="3081004"/>
            <a:ext cx="5522913" cy="1546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Title 1">
            <a:extLst>
              <a:ext uri="{FF2B5EF4-FFF2-40B4-BE49-F238E27FC236}">
                <a16:creationId xmlns:a16="http://schemas.microsoft.com/office/drawing/2014/main" id="{15E5355E-AE48-4BA0-9903-BD07675EB4FA}"/>
              </a:ext>
            </a:extLst>
          </p:cNvPr>
          <p:cNvSpPr>
            <a:spLocks noGrp="1"/>
          </p:cNvSpPr>
          <p:nvPr>
            <p:ph type="title"/>
          </p:nvPr>
        </p:nvSpPr>
        <p:spPr>
          <a:xfrm>
            <a:off x="457200" y="228830"/>
            <a:ext cx="8229600" cy="576262"/>
          </a:xfrm>
        </p:spPr>
        <p:txBody>
          <a:bodyPr/>
          <a:lstStyle/>
          <a:p>
            <a:r>
              <a:rPr lang="en-US" altLang="en-US" dirty="0"/>
              <a:t>Linux Scheduling (Cont.)</a:t>
            </a:r>
          </a:p>
        </p:txBody>
      </p:sp>
      <p:sp>
        <p:nvSpPr>
          <p:cNvPr id="117762" name="Content Placeholder 2">
            <a:extLst>
              <a:ext uri="{FF2B5EF4-FFF2-40B4-BE49-F238E27FC236}">
                <a16:creationId xmlns:a16="http://schemas.microsoft.com/office/drawing/2014/main" id="{A42B57D8-264F-4D4F-9A5A-A9E3DC09C54C}"/>
              </a:ext>
            </a:extLst>
          </p:cNvPr>
          <p:cNvSpPr>
            <a:spLocks noGrp="1"/>
          </p:cNvSpPr>
          <p:nvPr>
            <p:ph idx="1"/>
          </p:nvPr>
        </p:nvSpPr>
        <p:spPr>
          <a:xfrm>
            <a:off x="882650" y="1055688"/>
            <a:ext cx="7791450" cy="4530725"/>
          </a:xfrm>
        </p:spPr>
        <p:txBody>
          <a:bodyPr/>
          <a:lstStyle/>
          <a:p>
            <a:r>
              <a:rPr lang="en-US" altLang="en-US" sz="2000" dirty="0"/>
              <a:t>Linux supports load balancing, but is also NUMA-aware.</a:t>
            </a:r>
          </a:p>
          <a:p>
            <a:r>
              <a:rPr lang="en-US" altLang="en-US" sz="2000" b="1" dirty="0"/>
              <a:t>Scheduling domain </a:t>
            </a:r>
            <a:r>
              <a:rPr lang="en-US" altLang="en-US" sz="2000" dirty="0"/>
              <a:t>is a set of CPU cores that can be balanced against one another. </a:t>
            </a:r>
          </a:p>
          <a:p>
            <a:r>
              <a:rPr lang="en-US" altLang="en-US" sz="2000" dirty="0"/>
              <a:t>Domains are organized by what they share (i.e., cache memory.) Goal is to keep threads from migrating between domains.</a:t>
            </a:r>
          </a:p>
        </p:txBody>
      </p:sp>
      <p:pic>
        <p:nvPicPr>
          <p:cNvPr id="117763" name="Picture 1">
            <a:extLst>
              <a:ext uri="{FF2B5EF4-FFF2-40B4-BE49-F238E27FC236}">
                <a16:creationId xmlns:a16="http://schemas.microsoft.com/office/drawing/2014/main" id="{419DDE73-3A6B-402B-AD36-41FFBDF50EA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11450" y="3271838"/>
            <a:ext cx="3981450" cy="262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Title 1">
            <a:extLst>
              <a:ext uri="{FF2B5EF4-FFF2-40B4-BE49-F238E27FC236}">
                <a16:creationId xmlns:a16="http://schemas.microsoft.com/office/drawing/2014/main" id="{57846D64-B929-4C0F-B0F2-2317AECF5035}"/>
              </a:ext>
            </a:extLst>
          </p:cNvPr>
          <p:cNvSpPr>
            <a:spLocks noGrp="1"/>
          </p:cNvSpPr>
          <p:nvPr>
            <p:ph type="title"/>
          </p:nvPr>
        </p:nvSpPr>
        <p:spPr>
          <a:xfrm>
            <a:off x="457200" y="114477"/>
            <a:ext cx="8229600" cy="576262"/>
          </a:xfrm>
        </p:spPr>
        <p:txBody>
          <a:bodyPr/>
          <a:lstStyle/>
          <a:p>
            <a:r>
              <a:rPr lang="en-US" altLang="en-US" dirty="0"/>
              <a:t>Windows Scheduling</a:t>
            </a:r>
          </a:p>
        </p:txBody>
      </p:sp>
      <p:sp>
        <p:nvSpPr>
          <p:cNvPr id="118786" name="Content Placeholder 2">
            <a:extLst>
              <a:ext uri="{FF2B5EF4-FFF2-40B4-BE49-F238E27FC236}">
                <a16:creationId xmlns:a16="http://schemas.microsoft.com/office/drawing/2014/main" id="{0F277E99-A9C4-42A6-8C98-C4958ADB5423}"/>
              </a:ext>
            </a:extLst>
          </p:cNvPr>
          <p:cNvSpPr>
            <a:spLocks noGrp="1"/>
          </p:cNvSpPr>
          <p:nvPr>
            <p:ph idx="1"/>
          </p:nvPr>
        </p:nvSpPr>
        <p:spPr>
          <a:xfrm>
            <a:off x="913905" y="1024414"/>
            <a:ext cx="7607795" cy="4341812"/>
          </a:xfrm>
        </p:spPr>
        <p:txBody>
          <a:bodyPr/>
          <a:lstStyle/>
          <a:p>
            <a:r>
              <a:rPr lang="en-US" altLang="en-US" sz="2000" dirty="0"/>
              <a:t>Windows uses priority-based preemptive scheduling</a:t>
            </a:r>
          </a:p>
          <a:p>
            <a:r>
              <a:rPr lang="en-US" altLang="en-US" sz="2000" dirty="0"/>
              <a:t>Highest-priority thread runs next</a:t>
            </a:r>
          </a:p>
          <a:p>
            <a:r>
              <a:rPr lang="en-US" altLang="en-US" sz="2000" b="1" dirty="0">
                <a:solidFill>
                  <a:srgbClr val="006699"/>
                </a:solidFill>
                <a:latin typeface="+mj-lt"/>
              </a:rPr>
              <a:t>Dispatcher</a:t>
            </a:r>
            <a:r>
              <a:rPr lang="en-US" altLang="en-US" sz="2000" i="1" dirty="0"/>
              <a:t> </a:t>
            </a:r>
            <a:r>
              <a:rPr lang="en-US" altLang="en-US" sz="2000" dirty="0"/>
              <a:t>is scheduler</a:t>
            </a:r>
          </a:p>
          <a:p>
            <a:r>
              <a:rPr lang="en-US" altLang="en-US" sz="2000" dirty="0"/>
              <a:t>Thread runs until (1) blocks, (2) uses time slice, (3) preempted by higher-priority thread</a:t>
            </a:r>
          </a:p>
          <a:p>
            <a:r>
              <a:rPr lang="en-US" altLang="en-US" sz="2000" dirty="0"/>
              <a:t>Real-time threads can preempt non-real-time</a:t>
            </a:r>
          </a:p>
          <a:p>
            <a:r>
              <a:rPr lang="en-US" altLang="en-US" sz="2000" dirty="0"/>
              <a:t>32-level priority scheme</a:t>
            </a:r>
          </a:p>
          <a:p>
            <a:r>
              <a:rPr lang="en-US" altLang="en-US" sz="2000" b="1" dirty="0">
                <a:solidFill>
                  <a:srgbClr val="006699"/>
                </a:solidFill>
                <a:latin typeface="+mj-lt"/>
              </a:rPr>
              <a:t>Variable</a:t>
            </a:r>
            <a:r>
              <a:rPr lang="en-US" altLang="en-US" sz="2000" b="1" dirty="0">
                <a:solidFill>
                  <a:srgbClr val="3366FF"/>
                </a:solidFill>
              </a:rPr>
              <a:t> </a:t>
            </a:r>
            <a:r>
              <a:rPr lang="en-US" altLang="en-US" sz="2000" b="1" dirty="0">
                <a:solidFill>
                  <a:srgbClr val="006699"/>
                </a:solidFill>
                <a:latin typeface="+mj-lt"/>
              </a:rPr>
              <a:t>class</a:t>
            </a:r>
            <a:r>
              <a:rPr lang="en-US" altLang="en-US" sz="2000" b="1" dirty="0">
                <a:solidFill>
                  <a:srgbClr val="3366FF"/>
                </a:solidFill>
              </a:rPr>
              <a:t> </a:t>
            </a:r>
            <a:r>
              <a:rPr lang="en-US" altLang="en-US" sz="2000" dirty="0"/>
              <a:t>is 1-15, </a:t>
            </a:r>
            <a:r>
              <a:rPr lang="en-US" altLang="en-US" sz="2000" b="1" dirty="0">
                <a:solidFill>
                  <a:srgbClr val="006699"/>
                </a:solidFill>
                <a:latin typeface="+mj-lt"/>
              </a:rPr>
              <a:t>real-time</a:t>
            </a:r>
            <a:r>
              <a:rPr lang="en-US" altLang="en-US" sz="2000" b="1" dirty="0">
                <a:solidFill>
                  <a:srgbClr val="3366FF"/>
                </a:solidFill>
              </a:rPr>
              <a:t> </a:t>
            </a:r>
            <a:r>
              <a:rPr lang="en-US" altLang="en-US" sz="2000" b="1" dirty="0">
                <a:solidFill>
                  <a:srgbClr val="006699"/>
                </a:solidFill>
                <a:latin typeface="+mj-lt"/>
              </a:rPr>
              <a:t>class</a:t>
            </a:r>
            <a:r>
              <a:rPr lang="en-US" altLang="en-US" sz="2000" b="1" dirty="0">
                <a:solidFill>
                  <a:srgbClr val="3366FF"/>
                </a:solidFill>
              </a:rPr>
              <a:t> </a:t>
            </a:r>
            <a:r>
              <a:rPr lang="en-US" altLang="en-US" sz="2000" dirty="0"/>
              <a:t>is</a:t>
            </a:r>
            <a:r>
              <a:rPr lang="en-US" altLang="en-US" sz="2000" b="1" dirty="0">
                <a:solidFill>
                  <a:srgbClr val="3366FF"/>
                </a:solidFill>
              </a:rPr>
              <a:t> </a:t>
            </a:r>
            <a:r>
              <a:rPr lang="en-US" altLang="en-US" sz="2000" dirty="0"/>
              <a:t>16-31</a:t>
            </a:r>
          </a:p>
          <a:p>
            <a:r>
              <a:rPr lang="en-US" altLang="en-US" sz="2000" dirty="0"/>
              <a:t>Priority 0 is memory-management thread</a:t>
            </a:r>
          </a:p>
          <a:p>
            <a:r>
              <a:rPr lang="en-US" altLang="en-US" sz="2000" dirty="0"/>
              <a:t>Queue for each priority</a:t>
            </a:r>
          </a:p>
          <a:p>
            <a:r>
              <a:rPr lang="en-US" altLang="en-US" sz="2000" dirty="0"/>
              <a:t>If no run-able thread, runs </a:t>
            </a:r>
            <a:r>
              <a:rPr lang="en-US" altLang="en-US" sz="2000" b="1" dirty="0">
                <a:solidFill>
                  <a:srgbClr val="006699"/>
                </a:solidFill>
                <a:latin typeface="+mj-lt"/>
              </a:rPr>
              <a:t>idle</a:t>
            </a:r>
            <a:r>
              <a:rPr lang="en-US" altLang="en-US" sz="2000" b="1" dirty="0">
                <a:solidFill>
                  <a:srgbClr val="3366FF"/>
                </a:solidFill>
              </a:rPr>
              <a:t> </a:t>
            </a:r>
            <a:r>
              <a:rPr lang="en-US" altLang="en-US" sz="2000" b="1" dirty="0">
                <a:solidFill>
                  <a:srgbClr val="006699"/>
                </a:solidFill>
                <a:latin typeface="+mj-lt"/>
              </a:rPr>
              <a:t>thread</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Title 1">
            <a:extLst>
              <a:ext uri="{FF2B5EF4-FFF2-40B4-BE49-F238E27FC236}">
                <a16:creationId xmlns:a16="http://schemas.microsoft.com/office/drawing/2014/main" id="{214258E6-EE47-481F-8719-5DE0EA27B5B0}"/>
              </a:ext>
            </a:extLst>
          </p:cNvPr>
          <p:cNvSpPr>
            <a:spLocks noGrp="1"/>
          </p:cNvSpPr>
          <p:nvPr>
            <p:ph type="title"/>
          </p:nvPr>
        </p:nvSpPr>
        <p:spPr>
          <a:xfrm>
            <a:off x="457200" y="173673"/>
            <a:ext cx="8229600" cy="576262"/>
          </a:xfrm>
        </p:spPr>
        <p:txBody>
          <a:bodyPr/>
          <a:lstStyle/>
          <a:p>
            <a:r>
              <a:rPr lang="en-US" altLang="en-US" dirty="0"/>
              <a:t>Windows Priority Classes</a:t>
            </a:r>
          </a:p>
        </p:txBody>
      </p:sp>
      <p:sp>
        <p:nvSpPr>
          <p:cNvPr id="119810" name="Content Placeholder 2">
            <a:extLst>
              <a:ext uri="{FF2B5EF4-FFF2-40B4-BE49-F238E27FC236}">
                <a16:creationId xmlns:a16="http://schemas.microsoft.com/office/drawing/2014/main" id="{5EE62716-21CA-4281-A3FF-131F55341FBF}"/>
              </a:ext>
            </a:extLst>
          </p:cNvPr>
          <p:cNvSpPr>
            <a:spLocks noGrp="1"/>
          </p:cNvSpPr>
          <p:nvPr>
            <p:ph idx="1"/>
          </p:nvPr>
        </p:nvSpPr>
        <p:spPr>
          <a:xfrm>
            <a:off x="636428" y="1060768"/>
            <a:ext cx="7897971" cy="5111432"/>
          </a:xfrm>
        </p:spPr>
        <p:txBody>
          <a:bodyPr/>
          <a:lstStyle/>
          <a:p>
            <a:r>
              <a:rPr lang="en-US" altLang="en-US" sz="2000" dirty="0"/>
              <a:t>Win32 API identifies several priority classes to which a process can belong</a:t>
            </a:r>
          </a:p>
          <a:p>
            <a:pPr lvl="1"/>
            <a:r>
              <a:rPr lang="en-US" altLang="en-US" sz="2000" dirty="0"/>
              <a:t>REALTIME_PRIORITY_CLASS, HIGH_PRIORITY_CLASS, ABOVE_NORMAL_PRIORITY_CLASS,NORMAL_PRIORITY_CLASS, BELOW_NORMAL_PRIORITY_CLASS, IDLE_PRIORITY_CLASS</a:t>
            </a:r>
            <a:endParaRPr lang="en-US" altLang="en-US" sz="2000" b="1" dirty="0">
              <a:solidFill>
                <a:srgbClr val="3366FF"/>
              </a:solidFill>
            </a:endParaRPr>
          </a:p>
          <a:p>
            <a:pPr lvl="1"/>
            <a:r>
              <a:rPr lang="en-US" altLang="en-US" sz="2000" dirty="0"/>
              <a:t>All are variable except REALTIME</a:t>
            </a:r>
          </a:p>
          <a:p>
            <a:r>
              <a:rPr lang="en-US" altLang="en-US" sz="2000" dirty="0"/>
              <a:t>A thread within a given priority class has a relative priority</a:t>
            </a:r>
          </a:p>
          <a:p>
            <a:pPr lvl="1"/>
            <a:r>
              <a:rPr lang="en-US" altLang="en-US" sz="2000" dirty="0"/>
              <a:t>TIME_CRITICAL, HIGHEST, ABOVE_NORMAL, NORMAL, BELOW_NORMAL, LOWEST, IDLE</a:t>
            </a:r>
          </a:p>
          <a:p>
            <a:r>
              <a:rPr lang="en-US" altLang="en-US" sz="2000" dirty="0"/>
              <a:t>Priority class and relative priority combine to give numeric priority</a:t>
            </a:r>
          </a:p>
          <a:p>
            <a:r>
              <a:rPr lang="en-US" altLang="en-US" sz="2000" dirty="0"/>
              <a:t>Base priority is NORMAL within the class</a:t>
            </a:r>
          </a:p>
          <a:p>
            <a:r>
              <a:rPr lang="en-US" altLang="en-US" sz="2000" dirty="0"/>
              <a:t>If quantum expires, priority lowered, but never below base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itle 1">
            <a:extLst>
              <a:ext uri="{FF2B5EF4-FFF2-40B4-BE49-F238E27FC236}">
                <a16:creationId xmlns:a16="http://schemas.microsoft.com/office/drawing/2014/main" id="{48F43CB8-283D-472C-AF85-1D6014DBBFB7}"/>
              </a:ext>
            </a:extLst>
          </p:cNvPr>
          <p:cNvSpPr>
            <a:spLocks noGrp="1"/>
          </p:cNvSpPr>
          <p:nvPr>
            <p:ph type="title"/>
          </p:nvPr>
        </p:nvSpPr>
        <p:spPr>
          <a:xfrm>
            <a:off x="881694" y="101600"/>
            <a:ext cx="8229600" cy="618842"/>
          </a:xfrm>
        </p:spPr>
        <p:txBody>
          <a:bodyPr/>
          <a:lstStyle/>
          <a:p>
            <a:r>
              <a:rPr lang="en-US" altLang="en-US" dirty="0"/>
              <a:t>Windows Priority Classes (Cont.)</a:t>
            </a:r>
          </a:p>
        </p:txBody>
      </p:sp>
      <p:sp>
        <p:nvSpPr>
          <p:cNvPr id="120834" name="Content Placeholder 2">
            <a:extLst>
              <a:ext uri="{FF2B5EF4-FFF2-40B4-BE49-F238E27FC236}">
                <a16:creationId xmlns:a16="http://schemas.microsoft.com/office/drawing/2014/main" id="{257CB95D-3C4B-410B-A126-05623DC45CA4}"/>
              </a:ext>
            </a:extLst>
          </p:cNvPr>
          <p:cNvSpPr>
            <a:spLocks noGrp="1"/>
          </p:cNvSpPr>
          <p:nvPr>
            <p:ph idx="1"/>
          </p:nvPr>
        </p:nvSpPr>
        <p:spPr>
          <a:xfrm>
            <a:off x="890429" y="1114109"/>
            <a:ext cx="7818438" cy="3191192"/>
          </a:xfrm>
        </p:spPr>
        <p:txBody>
          <a:bodyPr/>
          <a:lstStyle/>
          <a:p>
            <a:r>
              <a:rPr lang="en-US" altLang="en-US" sz="2000" dirty="0"/>
              <a:t>If wait occurs, priority boosted depending on what was waited for</a:t>
            </a:r>
          </a:p>
          <a:p>
            <a:r>
              <a:rPr lang="en-US" altLang="en-US" sz="2000" dirty="0"/>
              <a:t>Foreground window given 3x priority boost</a:t>
            </a:r>
          </a:p>
          <a:p>
            <a:r>
              <a:rPr lang="en-US" altLang="en-US" sz="2000" dirty="0"/>
              <a:t>Windows 7 added </a:t>
            </a:r>
            <a:r>
              <a:rPr lang="en-US" altLang="en-US" sz="2000" b="1" dirty="0">
                <a:solidFill>
                  <a:srgbClr val="006699"/>
                </a:solidFill>
                <a:latin typeface="+mj-lt"/>
              </a:rPr>
              <a:t>user-mode</a:t>
            </a:r>
            <a:r>
              <a:rPr lang="en-US" altLang="en-US" sz="2000" b="1" dirty="0">
                <a:solidFill>
                  <a:srgbClr val="3366FF"/>
                </a:solidFill>
              </a:rPr>
              <a:t> </a:t>
            </a:r>
            <a:r>
              <a:rPr lang="en-US" altLang="en-US" sz="2000" b="1" dirty="0">
                <a:solidFill>
                  <a:srgbClr val="006699"/>
                </a:solidFill>
                <a:latin typeface="+mj-lt"/>
              </a:rPr>
              <a:t>scheduling</a:t>
            </a:r>
            <a:r>
              <a:rPr lang="en-US" altLang="en-US" sz="2000" b="1" dirty="0">
                <a:solidFill>
                  <a:srgbClr val="3366FF"/>
                </a:solidFill>
              </a:rPr>
              <a:t> </a:t>
            </a:r>
            <a:r>
              <a:rPr lang="en-US" altLang="en-US" sz="2000" dirty="0"/>
              <a:t>(</a:t>
            </a:r>
            <a:r>
              <a:rPr lang="en-US" altLang="en-US" sz="2000" b="1" dirty="0">
                <a:solidFill>
                  <a:srgbClr val="006699"/>
                </a:solidFill>
                <a:latin typeface="+mj-lt"/>
              </a:rPr>
              <a:t>UMS</a:t>
            </a:r>
            <a:r>
              <a:rPr lang="en-US" altLang="en-US" sz="2000" dirty="0"/>
              <a:t>) </a:t>
            </a:r>
          </a:p>
          <a:p>
            <a:pPr lvl="1"/>
            <a:r>
              <a:rPr lang="en-US" altLang="en-US" sz="2000" dirty="0"/>
              <a:t>Applications create and manage threads independent of kernel</a:t>
            </a:r>
          </a:p>
          <a:p>
            <a:pPr lvl="1"/>
            <a:r>
              <a:rPr lang="en-US" altLang="en-US" sz="2000" dirty="0"/>
              <a:t>For large number of threads, much more efficient</a:t>
            </a:r>
          </a:p>
          <a:p>
            <a:pPr lvl="1"/>
            <a:r>
              <a:rPr lang="en-US" altLang="en-US" sz="2000" dirty="0"/>
              <a:t>UMS schedulers come from programming language libraries like C++ </a:t>
            </a:r>
            <a:r>
              <a:rPr lang="en-US" altLang="en-US" sz="2000" b="1" dirty="0">
                <a:solidFill>
                  <a:srgbClr val="006699"/>
                </a:solidFill>
                <a:latin typeface="+mj-lt"/>
              </a:rPr>
              <a:t>Concurrent Runtime </a:t>
            </a:r>
            <a:r>
              <a:rPr lang="en-US" altLang="en-US" sz="2000" dirty="0"/>
              <a:t>(</a:t>
            </a:r>
            <a:r>
              <a:rPr lang="en-US" altLang="en-US" sz="2000" dirty="0" err="1"/>
              <a:t>ConcRT</a:t>
            </a:r>
            <a:r>
              <a:rPr lang="en-US" altLang="en-US" sz="2000" dirty="0"/>
              <a:t>) framework</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a:extLst>
              <a:ext uri="{FF2B5EF4-FFF2-40B4-BE49-F238E27FC236}">
                <a16:creationId xmlns:a16="http://schemas.microsoft.com/office/drawing/2014/main" id="{F3C715D7-99EA-40E4-A265-7365C35A3E12}"/>
              </a:ext>
            </a:extLst>
          </p:cNvPr>
          <p:cNvSpPr>
            <a:spLocks noGrp="1" noChangeArrowheads="1"/>
          </p:cNvSpPr>
          <p:nvPr>
            <p:ph type="title"/>
          </p:nvPr>
        </p:nvSpPr>
        <p:spPr>
          <a:xfrm>
            <a:off x="885825" y="111108"/>
            <a:ext cx="7800975" cy="576262"/>
          </a:xfrm>
        </p:spPr>
        <p:txBody>
          <a:bodyPr/>
          <a:lstStyle/>
          <a:p>
            <a:pPr eaLnBrk="1" hangingPunct="1"/>
            <a:r>
              <a:rPr lang="en-US" altLang="en-US" dirty="0"/>
              <a:t>Windows Priorities</a:t>
            </a:r>
          </a:p>
        </p:txBody>
      </p:sp>
      <p:pic>
        <p:nvPicPr>
          <p:cNvPr id="121858" name="Picture 1">
            <a:extLst>
              <a:ext uri="{FF2B5EF4-FFF2-40B4-BE49-F238E27FC236}">
                <a16:creationId xmlns:a16="http://schemas.microsoft.com/office/drawing/2014/main" id="{13B7C937-29C4-4257-9403-EC1858659CB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41615" y="1618078"/>
            <a:ext cx="7860769" cy="3182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Title 1">
            <a:extLst>
              <a:ext uri="{FF2B5EF4-FFF2-40B4-BE49-F238E27FC236}">
                <a16:creationId xmlns:a16="http://schemas.microsoft.com/office/drawing/2014/main" id="{8AB69425-24AD-45D8-8836-826ED249B451}"/>
              </a:ext>
            </a:extLst>
          </p:cNvPr>
          <p:cNvSpPr>
            <a:spLocks noGrp="1"/>
          </p:cNvSpPr>
          <p:nvPr>
            <p:ph type="title"/>
          </p:nvPr>
        </p:nvSpPr>
        <p:spPr>
          <a:xfrm>
            <a:off x="457200" y="130652"/>
            <a:ext cx="8229600" cy="576262"/>
          </a:xfrm>
        </p:spPr>
        <p:txBody>
          <a:bodyPr/>
          <a:lstStyle/>
          <a:p>
            <a:r>
              <a:rPr lang="en-US" altLang="en-US" dirty="0"/>
              <a:t>Solaris</a:t>
            </a:r>
          </a:p>
        </p:txBody>
      </p:sp>
      <p:sp>
        <p:nvSpPr>
          <p:cNvPr id="123906" name="Content Placeholder 2">
            <a:extLst>
              <a:ext uri="{FF2B5EF4-FFF2-40B4-BE49-F238E27FC236}">
                <a16:creationId xmlns:a16="http://schemas.microsoft.com/office/drawing/2014/main" id="{9E96F03D-671D-4EDD-9F10-F7195DEFBC5A}"/>
              </a:ext>
            </a:extLst>
          </p:cNvPr>
          <p:cNvSpPr>
            <a:spLocks noGrp="1"/>
          </p:cNvSpPr>
          <p:nvPr>
            <p:ph idx="1"/>
          </p:nvPr>
        </p:nvSpPr>
        <p:spPr>
          <a:xfrm>
            <a:off x="933450" y="1081088"/>
            <a:ext cx="7181850" cy="5027612"/>
          </a:xfrm>
        </p:spPr>
        <p:txBody>
          <a:bodyPr/>
          <a:lstStyle/>
          <a:p>
            <a:r>
              <a:rPr lang="en-US" altLang="en-US" sz="2000" dirty="0"/>
              <a:t>Priority-based scheduling</a:t>
            </a:r>
          </a:p>
          <a:p>
            <a:r>
              <a:rPr lang="en-US" altLang="en-US" sz="2000" dirty="0"/>
              <a:t>Six classes available</a:t>
            </a:r>
          </a:p>
          <a:p>
            <a:pPr lvl="1"/>
            <a:r>
              <a:rPr lang="en-US" altLang="en-US" sz="2000" dirty="0"/>
              <a:t>Time sharing (default) (TS)</a:t>
            </a:r>
          </a:p>
          <a:p>
            <a:pPr lvl="1"/>
            <a:r>
              <a:rPr lang="en-US" altLang="en-US" sz="2000" dirty="0"/>
              <a:t>Interactive (IA)</a:t>
            </a:r>
          </a:p>
          <a:p>
            <a:pPr lvl="1"/>
            <a:r>
              <a:rPr lang="en-US" altLang="en-US" sz="2000" dirty="0"/>
              <a:t>Real time (RT)</a:t>
            </a:r>
          </a:p>
          <a:p>
            <a:pPr lvl="1"/>
            <a:r>
              <a:rPr lang="en-US" altLang="en-US" sz="2000" dirty="0"/>
              <a:t>System (SYS)</a:t>
            </a:r>
          </a:p>
          <a:p>
            <a:pPr lvl="1"/>
            <a:r>
              <a:rPr lang="en-US" altLang="en-US" sz="2000" dirty="0"/>
              <a:t>Fair Share (FSS)</a:t>
            </a:r>
          </a:p>
          <a:p>
            <a:pPr lvl="1"/>
            <a:r>
              <a:rPr lang="en-US" altLang="en-US" sz="2000" dirty="0"/>
              <a:t>Fixed priority (FP)</a:t>
            </a:r>
          </a:p>
          <a:p>
            <a:r>
              <a:rPr lang="en-US" altLang="en-US" sz="2000" dirty="0"/>
              <a:t>Given thread can be in one class at a time</a:t>
            </a:r>
          </a:p>
          <a:p>
            <a:r>
              <a:rPr lang="en-US" altLang="en-US" sz="2000" dirty="0"/>
              <a:t>Each class has its own scheduling algorithm</a:t>
            </a:r>
          </a:p>
          <a:p>
            <a:r>
              <a:rPr lang="en-US" altLang="en-US" sz="2000" dirty="0"/>
              <a:t>Time sharing is multi-level feedback queue</a:t>
            </a:r>
          </a:p>
          <a:p>
            <a:pPr lvl="1"/>
            <a:r>
              <a:rPr lang="en-US" altLang="en-US" sz="2000" dirty="0"/>
              <a:t>Loadable table configurable by sysadmin</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a:extLst>
              <a:ext uri="{FF2B5EF4-FFF2-40B4-BE49-F238E27FC236}">
                <a16:creationId xmlns:a16="http://schemas.microsoft.com/office/drawing/2014/main" id="{0D62A802-7E18-499C-A146-A07CCE8557A7}"/>
              </a:ext>
            </a:extLst>
          </p:cNvPr>
          <p:cNvSpPr>
            <a:spLocks noGrp="1" noChangeArrowheads="1"/>
          </p:cNvSpPr>
          <p:nvPr>
            <p:ph type="title"/>
          </p:nvPr>
        </p:nvSpPr>
        <p:spPr>
          <a:xfrm>
            <a:off x="827088" y="111760"/>
            <a:ext cx="7859712" cy="632372"/>
          </a:xfrm>
        </p:spPr>
        <p:txBody>
          <a:bodyPr/>
          <a:lstStyle/>
          <a:p>
            <a:pPr eaLnBrk="1" hangingPunct="1"/>
            <a:r>
              <a:rPr lang="en-US" altLang="en-US" dirty="0"/>
              <a:t>Solaris Dispatch Table </a:t>
            </a:r>
          </a:p>
        </p:txBody>
      </p:sp>
      <p:pic>
        <p:nvPicPr>
          <p:cNvPr id="124930" name="Picture 1">
            <a:extLst>
              <a:ext uri="{FF2B5EF4-FFF2-40B4-BE49-F238E27FC236}">
                <a16:creationId xmlns:a16="http://schemas.microsoft.com/office/drawing/2014/main" id="{7160601A-B1BF-48C6-9397-33A5E4EDAFA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63700" y="957025"/>
            <a:ext cx="5994400" cy="5427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Title 1">
            <a:extLst>
              <a:ext uri="{FF2B5EF4-FFF2-40B4-BE49-F238E27FC236}">
                <a16:creationId xmlns:a16="http://schemas.microsoft.com/office/drawing/2014/main" id="{276C3EB7-7E70-4D36-896B-C046F89421FE}"/>
              </a:ext>
            </a:extLst>
          </p:cNvPr>
          <p:cNvSpPr>
            <a:spLocks noGrp="1"/>
          </p:cNvSpPr>
          <p:nvPr>
            <p:ph type="title"/>
          </p:nvPr>
        </p:nvSpPr>
        <p:spPr>
          <a:xfrm>
            <a:off x="457200" y="168646"/>
            <a:ext cx="8229600" cy="576262"/>
          </a:xfrm>
        </p:spPr>
        <p:txBody>
          <a:bodyPr/>
          <a:lstStyle/>
          <a:p>
            <a:pPr eaLnBrk="1" hangingPunct="1"/>
            <a:r>
              <a:rPr lang="en-US" altLang="en-US" dirty="0"/>
              <a:t>Solaris Scheduling</a:t>
            </a:r>
          </a:p>
        </p:txBody>
      </p:sp>
      <p:pic>
        <p:nvPicPr>
          <p:cNvPr id="126978" name="Picture 1">
            <a:extLst>
              <a:ext uri="{FF2B5EF4-FFF2-40B4-BE49-F238E27FC236}">
                <a16:creationId xmlns:a16="http://schemas.microsoft.com/office/drawing/2014/main" id="{54EE688C-E0C5-4D9D-8FA8-535F608F7A2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98799" y="1053463"/>
            <a:ext cx="3267075" cy="5067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Title 1">
            <a:extLst>
              <a:ext uri="{FF2B5EF4-FFF2-40B4-BE49-F238E27FC236}">
                <a16:creationId xmlns:a16="http://schemas.microsoft.com/office/drawing/2014/main" id="{413EBEC1-908A-4F6D-8816-4377406CA1EA}"/>
              </a:ext>
            </a:extLst>
          </p:cNvPr>
          <p:cNvSpPr>
            <a:spLocks noGrp="1"/>
          </p:cNvSpPr>
          <p:nvPr>
            <p:ph type="title"/>
          </p:nvPr>
        </p:nvSpPr>
        <p:spPr>
          <a:xfrm>
            <a:off x="731520" y="143193"/>
            <a:ext cx="8229600" cy="576262"/>
          </a:xfrm>
        </p:spPr>
        <p:txBody>
          <a:bodyPr/>
          <a:lstStyle/>
          <a:p>
            <a:r>
              <a:rPr lang="en-US" altLang="en-US" dirty="0"/>
              <a:t>Solaris Scheduling (Cont.)</a:t>
            </a:r>
          </a:p>
        </p:txBody>
      </p:sp>
      <p:sp>
        <p:nvSpPr>
          <p:cNvPr id="129026" name="Content Placeholder 2">
            <a:extLst>
              <a:ext uri="{FF2B5EF4-FFF2-40B4-BE49-F238E27FC236}">
                <a16:creationId xmlns:a16="http://schemas.microsoft.com/office/drawing/2014/main" id="{A4FDB664-01BF-4BD6-9938-4E94F386DB4D}"/>
              </a:ext>
            </a:extLst>
          </p:cNvPr>
          <p:cNvSpPr>
            <a:spLocks noGrp="1"/>
          </p:cNvSpPr>
          <p:nvPr>
            <p:ph idx="1"/>
          </p:nvPr>
        </p:nvSpPr>
        <p:spPr>
          <a:xfrm>
            <a:off x="787400" y="1103949"/>
            <a:ext cx="7015480" cy="4484052"/>
          </a:xfrm>
        </p:spPr>
        <p:txBody>
          <a:bodyPr/>
          <a:lstStyle/>
          <a:p>
            <a:r>
              <a:rPr lang="en-US" altLang="en-US" sz="2000" dirty="0"/>
              <a:t>Scheduler converts class-specific priorities into a per-thread global priority</a:t>
            </a:r>
          </a:p>
          <a:p>
            <a:pPr lvl="1"/>
            <a:r>
              <a:rPr lang="en-US" altLang="en-US" sz="2000" dirty="0"/>
              <a:t>Thread with highest priority runs next</a:t>
            </a:r>
          </a:p>
          <a:p>
            <a:pPr lvl="1"/>
            <a:r>
              <a:rPr lang="en-US" altLang="en-US" sz="2000" dirty="0"/>
              <a:t>Runs until (1) blocks, (2) uses time slice, (3) preempted by higher-priority thread</a:t>
            </a:r>
          </a:p>
          <a:p>
            <a:pPr lvl="1"/>
            <a:r>
              <a:rPr lang="en-US" altLang="en-US" sz="2000" dirty="0"/>
              <a:t>Multiple threads at same priority selected via RR</a:t>
            </a:r>
          </a:p>
          <a:p>
            <a:pPr lvl="1">
              <a:buFont typeface="Monotype Sorts" pitchFamily="-84" charset="2"/>
              <a:buNone/>
            </a:pPr>
            <a:endParaRPr lang="en-US" altLang="en-US" sz="2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2">
            <a:extLst>
              <a:ext uri="{FF2B5EF4-FFF2-40B4-BE49-F238E27FC236}">
                <a16:creationId xmlns:a16="http://schemas.microsoft.com/office/drawing/2014/main" id="{E3E49DFF-D595-4F44-93F4-CD017991939A}"/>
              </a:ext>
            </a:extLst>
          </p:cNvPr>
          <p:cNvSpPr>
            <a:spLocks noGrp="1" noChangeArrowheads="1"/>
          </p:cNvSpPr>
          <p:nvPr>
            <p:ph type="title"/>
          </p:nvPr>
        </p:nvSpPr>
        <p:spPr>
          <a:xfrm>
            <a:off x="1069975" y="97526"/>
            <a:ext cx="7616825" cy="576262"/>
          </a:xfrm>
        </p:spPr>
        <p:txBody>
          <a:bodyPr/>
          <a:lstStyle/>
          <a:p>
            <a:pPr eaLnBrk="1" hangingPunct="1"/>
            <a:r>
              <a:rPr lang="en-US" altLang="en-US" dirty="0"/>
              <a:t>Algorithm Evaluation</a:t>
            </a:r>
          </a:p>
        </p:txBody>
      </p:sp>
      <p:sp>
        <p:nvSpPr>
          <p:cNvPr id="130050" name="Rectangle 3">
            <a:extLst>
              <a:ext uri="{FF2B5EF4-FFF2-40B4-BE49-F238E27FC236}">
                <a16:creationId xmlns:a16="http://schemas.microsoft.com/office/drawing/2014/main" id="{91026CB7-CF57-408F-913C-6C7B82EF621E}"/>
              </a:ext>
            </a:extLst>
          </p:cNvPr>
          <p:cNvSpPr>
            <a:spLocks noGrp="1" noChangeArrowheads="1"/>
          </p:cNvSpPr>
          <p:nvPr>
            <p:ph type="body" idx="1"/>
          </p:nvPr>
        </p:nvSpPr>
        <p:spPr>
          <a:xfrm>
            <a:off x="825271" y="965201"/>
            <a:ext cx="6774409" cy="3139387"/>
          </a:xfrm>
        </p:spPr>
        <p:txBody>
          <a:bodyPr/>
          <a:lstStyle/>
          <a:p>
            <a:r>
              <a:rPr lang="en-US" altLang="en-US" sz="2000" dirty="0"/>
              <a:t>How to select CPU-scheduling algorithm for an OS?</a:t>
            </a:r>
          </a:p>
          <a:p>
            <a:r>
              <a:rPr lang="en-US" altLang="en-US" sz="2000" dirty="0"/>
              <a:t>Determine criteria, then evaluate algorithms</a:t>
            </a:r>
          </a:p>
          <a:p>
            <a:r>
              <a:rPr lang="en-US" altLang="en-US" sz="2000" b="1" dirty="0">
                <a:solidFill>
                  <a:srgbClr val="006699"/>
                </a:solidFill>
                <a:latin typeface="+mj-lt"/>
              </a:rPr>
              <a:t>Deterministic modeling</a:t>
            </a:r>
          </a:p>
          <a:p>
            <a:pPr lvl="1"/>
            <a:r>
              <a:rPr lang="en-US" altLang="en-US" sz="2000" dirty="0"/>
              <a:t>Type of </a:t>
            </a:r>
            <a:r>
              <a:rPr lang="en-US" altLang="en-US" sz="2000" b="1" dirty="0">
                <a:solidFill>
                  <a:srgbClr val="006699"/>
                </a:solidFill>
                <a:latin typeface="+mj-lt"/>
              </a:rPr>
              <a:t>analytic evaluation</a:t>
            </a:r>
          </a:p>
          <a:p>
            <a:pPr lvl="1"/>
            <a:r>
              <a:rPr lang="en-US" altLang="en-US" sz="2000" dirty="0"/>
              <a:t>Takes a particular predetermined workload and defines the performance of each algorithm  for that workload</a:t>
            </a:r>
          </a:p>
          <a:p>
            <a:r>
              <a:rPr lang="en-US" altLang="en-US" sz="2000" dirty="0"/>
              <a:t>Consider 5 processes arriving at time 0:</a:t>
            </a:r>
          </a:p>
        </p:txBody>
      </p:sp>
      <p:pic>
        <p:nvPicPr>
          <p:cNvPr id="130051" name="Picture 1" descr="Screen Shot 2012-12-17 at 9.44.14 PM.png">
            <a:extLst>
              <a:ext uri="{FF2B5EF4-FFF2-40B4-BE49-F238E27FC236}">
                <a16:creationId xmlns:a16="http://schemas.microsoft.com/office/drawing/2014/main" id="{1186B308-DDF2-452D-A47E-6EF7019C0B3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81325" y="4104588"/>
            <a:ext cx="1897062" cy="177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
            <a:extLst>
              <a:ext uri="{FF2B5EF4-FFF2-40B4-BE49-F238E27FC236}">
                <a16:creationId xmlns:a16="http://schemas.microsoft.com/office/drawing/2014/main" id="{0C6E6845-850D-4810-9EA5-1EB2B3843012}"/>
              </a:ext>
            </a:extLst>
          </p:cNvPr>
          <p:cNvSpPr>
            <a:spLocks noGrp="1" noChangeArrowheads="1"/>
          </p:cNvSpPr>
          <p:nvPr>
            <p:ph type="title"/>
          </p:nvPr>
        </p:nvSpPr>
        <p:spPr>
          <a:xfrm>
            <a:off x="1069975" y="204047"/>
            <a:ext cx="7616825" cy="576262"/>
          </a:xfrm>
        </p:spPr>
        <p:txBody>
          <a:bodyPr/>
          <a:lstStyle/>
          <a:p>
            <a:pPr eaLnBrk="1" hangingPunct="1"/>
            <a:r>
              <a:rPr lang="en-US" altLang="en-US" dirty="0"/>
              <a:t>Deterministic Evaluation</a:t>
            </a:r>
          </a:p>
        </p:txBody>
      </p:sp>
      <p:sp>
        <p:nvSpPr>
          <p:cNvPr id="101378" name="Rectangle 3">
            <a:extLst>
              <a:ext uri="{FF2B5EF4-FFF2-40B4-BE49-F238E27FC236}">
                <a16:creationId xmlns:a16="http://schemas.microsoft.com/office/drawing/2014/main" id="{42D64333-B7E5-4612-A296-895B3529B10E}"/>
              </a:ext>
            </a:extLst>
          </p:cNvPr>
          <p:cNvSpPr>
            <a:spLocks noGrp="1" noChangeArrowheads="1"/>
          </p:cNvSpPr>
          <p:nvPr>
            <p:ph type="body" idx="1"/>
          </p:nvPr>
        </p:nvSpPr>
        <p:spPr>
          <a:xfrm>
            <a:off x="827088" y="1097280"/>
            <a:ext cx="7478711" cy="4249420"/>
          </a:xfrm>
        </p:spPr>
        <p:txBody>
          <a:bodyPr/>
          <a:lstStyle/>
          <a:p>
            <a:pPr marL="341313" indent="-341313"/>
            <a:r>
              <a:rPr lang="en-US" altLang="en-US" sz="2000" dirty="0"/>
              <a:t>For each algorithm, calculate minimum average waiting time</a:t>
            </a:r>
          </a:p>
          <a:p>
            <a:pPr marL="341313" indent="-341313"/>
            <a:r>
              <a:rPr lang="en-US" altLang="en-US" sz="2000" dirty="0"/>
              <a:t>Simple and fast, but requires exact numbers for input, applies only to those inputs</a:t>
            </a:r>
          </a:p>
          <a:p>
            <a:pPr marL="741363" lvl="1" indent="-284163"/>
            <a:r>
              <a:rPr lang="en-US" altLang="en-US" sz="2000" dirty="0"/>
              <a:t>FCS is 28ms:</a:t>
            </a:r>
          </a:p>
          <a:p>
            <a:pPr marL="341313" indent="-341313"/>
            <a:endParaRPr lang="en-US" altLang="en-US" sz="2000" dirty="0"/>
          </a:p>
          <a:p>
            <a:pPr marL="341313" indent="-341313">
              <a:buFont typeface="Monotype Sorts" pitchFamily="-84" charset="2"/>
              <a:buNone/>
            </a:pPr>
            <a:endParaRPr lang="en-US" altLang="en-US" sz="2000" dirty="0"/>
          </a:p>
          <a:p>
            <a:pPr marL="741363" lvl="1" indent="-284163">
              <a:spcBef>
                <a:spcPts val="1800"/>
              </a:spcBef>
            </a:pPr>
            <a:r>
              <a:rPr lang="en-US" altLang="en-US" sz="2000" dirty="0"/>
              <a:t>Non-preemptive SFJ is 13ms:</a:t>
            </a:r>
          </a:p>
          <a:p>
            <a:pPr marL="341313" indent="-341313"/>
            <a:endParaRPr lang="en-US" altLang="en-US" sz="2000" dirty="0"/>
          </a:p>
          <a:p>
            <a:pPr marL="341313" indent="-341313">
              <a:buFont typeface="Monotype Sorts" pitchFamily="-84" charset="2"/>
              <a:buNone/>
            </a:pPr>
            <a:endParaRPr lang="en-US" altLang="en-US" sz="2000" dirty="0"/>
          </a:p>
          <a:p>
            <a:pPr marL="741363" lvl="1" indent="-284163">
              <a:spcBef>
                <a:spcPts val="1200"/>
              </a:spcBef>
            </a:pPr>
            <a:r>
              <a:rPr lang="en-US" altLang="en-US" sz="2000" dirty="0"/>
              <a:t>RR is 23ms:</a:t>
            </a:r>
          </a:p>
          <a:p>
            <a:pPr marL="341313" indent="-341313">
              <a:buFont typeface="Monotype Sorts" pitchFamily="-84" charset="2"/>
              <a:buNone/>
            </a:pPr>
            <a:endParaRPr lang="en-US" altLang="en-US" sz="2000" dirty="0"/>
          </a:p>
        </p:txBody>
      </p:sp>
      <p:pic>
        <p:nvPicPr>
          <p:cNvPr id="132099" name="Picture 2" descr="Screen Shot 2012-12-17 at 9.47.12 PM.png">
            <a:extLst>
              <a:ext uri="{FF2B5EF4-FFF2-40B4-BE49-F238E27FC236}">
                <a16:creationId xmlns:a16="http://schemas.microsoft.com/office/drawing/2014/main" id="{72B613C9-9DEE-4CD7-ABD1-8B5F8F52BBA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35163" y="2606675"/>
            <a:ext cx="4445000"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00" name="Picture 3" descr="Screen Shot 2012-12-17 at 9.47.18 PM.png">
            <a:extLst>
              <a:ext uri="{FF2B5EF4-FFF2-40B4-BE49-F238E27FC236}">
                <a16:creationId xmlns:a16="http://schemas.microsoft.com/office/drawing/2014/main" id="{F75A4BF0-7381-4B89-90CE-E8DC92F8F29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93888" y="3966759"/>
            <a:ext cx="4529137" cy="773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01" name="Picture 4" descr="Screen Shot 2012-12-17 at 9.47.24 PM.png">
            <a:extLst>
              <a:ext uri="{FF2B5EF4-FFF2-40B4-BE49-F238E27FC236}">
                <a16:creationId xmlns:a16="http://schemas.microsoft.com/office/drawing/2014/main" id="{00B7072B-4655-4652-80B5-B7ADAFC32C8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898650" y="5240021"/>
            <a:ext cx="4445000"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Title 1">
            <a:extLst>
              <a:ext uri="{FF2B5EF4-FFF2-40B4-BE49-F238E27FC236}">
                <a16:creationId xmlns:a16="http://schemas.microsoft.com/office/drawing/2014/main" id="{4D59D635-40DB-4181-BA9E-36E3809C0F54}"/>
              </a:ext>
            </a:extLst>
          </p:cNvPr>
          <p:cNvSpPr>
            <a:spLocks noGrp="1"/>
          </p:cNvSpPr>
          <p:nvPr>
            <p:ph type="title"/>
          </p:nvPr>
        </p:nvSpPr>
        <p:spPr>
          <a:xfrm>
            <a:off x="457200" y="144071"/>
            <a:ext cx="8229600" cy="576262"/>
          </a:xfrm>
        </p:spPr>
        <p:txBody>
          <a:bodyPr/>
          <a:lstStyle/>
          <a:p>
            <a:r>
              <a:rPr lang="en-US" altLang="en-US" dirty="0"/>
              <a:t>Queueing Models</a:t>
            </a:r>
          </a:p>
        </p:txBody>
      </p:sp>
      <p:sp>
        <p:nvSpPr>
          <p:cNvPr id="134146" name="Content Placeholder 2">
            <a:extLst>
              <a:ext uri="{FF2B5EF4-FFF2-40B4-BE49-F238E27FC236}">
                <a16:creationId xmlns:a16="http://schemas.microsoft.com/office/drawing/2014/main" id="{51085166-B3B1-42A3-B00E-DD980BA90BA0}"/>
              </a:ext>
            </a:extLst>
          </p:cNvPr>
          <p:cNvSpPr>
            <a:spLocks noGrp="1"/>
          </p:cNvSpPr>
          <p:nvPr>
            <p:ph idx="1"/>
          </p:nvPr>
        </p:nvSpPr>
        <p:spPr>
          <a:xfrm>
            <a:off x="833402" y="1050609"/>
            <a:ext cx="7713698" cy="4517072"/>
          </a:xfrm>
        </p:spPr>
        <p:txBody>
          <a:bodyPr/>
          <a:lstStyle/>
          <a:p>
            <a:r>
              <a:rPr lang="en-US" altLang="en-US" sz="2000" dirty="0"/>
              <a:t>Describes the arrival of processes, and CPU and I/O bursts probabilistically</a:t>
            </a:r>
          </a:p>
          <a:p>
            <a:pPr lvl="1"/>
            <a:r>
              <a:rPr lang="en-US" altLang="en-US" sz="2000" dirty="0"/>
              <a:t>Commonly exponential, and described by mean</a:t>
            </a:r>
          </a:p>
          <a:p>
            <a:pPr lvl="1"/>
            <a:r>
              <a:rPr lang="en-US" altLang="en-US" sz="2000" dirty="0"/>
              <a:t>Computes average throughput, utilization, waiting time, etc.</a:t>
            </a:r>
          </a:p>
          <a:p>
            <a:r>
              <a:rPr lang="en-US" altLang="en-US" sz="2000" dirty="0"/>
              <a:t>Computer system described as network of servers, each with queue of waiting processes</a:t>
            </a:r>
          </a:p>
          <a:p>
            <a:pPr lvl="1"/>
            <a:r>
              <a:rPr lang="en-US" altLang="en-US" sz="2000" dirty="0"/>
              <a:t>Knowing arrival rates and service rates</a:t>
            </a:r>
          </a:p>
          <a:p>
            <a:pPr lvl="1"/>
            <a:r>
              <a:rPr lang="en-US" altLang="en-US" sz="2000" dirty="0"/>
              <a:t>Computes utilization, average queue length, average wait time, etc.</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Title 1">
            <a:extLst>
              <a:ext uri="{FF2B5EF4-FFF2-40B4-BE49-F238E27FC236}">
                <a16:creationId xmlns:a16="http://schemas.microsoft.com/office/drawing/2014/main" id="{88836614-251E-456A-8F63-CF63948BE84F}"/>
              </a:ext>
            </a:extLst>
          </p:cNvPr>
          <p:cNvSpPr>
            <a:spLocks noGrp="1"/>
          </p:cNvSpPr>
          <p:nvPr>
            <p:ph type="title"/>
          </p:nvPr>
        </p:nvSpPr>
        <p:spPr>
          <a:xfrm>
            <a:off x="457200" y="113591"/>
            <a:ext cx="8229600" cy="576262"/>
          </a:xfrm>
        </p:spPr>
        <p:txBody>
          <a:bodyPr/>
          <a:lstStyle/>
          <a:p>
            <a:r>
              <a:rPr lang="en-US" altLang="en-US" dirty="0"/>
              <a:t>Little</a:t>
            </a:r>
            <a:r>
              <a:rPr lang="ja-JP" altLang="en-US" dirty="0"/>
              <a:t>’</a:t>
            </a:r>
            <a:r>
              <a:rPr lang="en-US" altLang="ja-JP" dirty="0"/>
              <a:t>s Formula</a:t>
            </a:r>
            <a:endParaRPr lang="en-US" altLang="en-US" dirty="0"/>
          </a:p>
        </p:txBody>
      </p:sp>
      <p:sp>
        <p:nvSpPr>
          <p:cNvPr id="135170" name="Content Placeholder 2">
            <a:extLst>
              <a:ext uri="{FF2B5EF4-FFF2-40B4-BE49-F238E27FC236}">
                <a16:creationId xmlns:a16="http://schemas.microsoft.com/office/drawing/2014/main" id="{0FB86F5A-AC04-4507-85EB-409F60BB9661}"/>
              </a:ext>
            </a:extLst>
          </p:cNvPr>
          <p:cNvSpPr>
            <a:spLocks noGrp="1"/>
          </p:cNvSpPr>
          <p:nvPr>
            <p:ph idx="1"/>
          </p:nvPr>
        </p:nvSpPr>
        <p:spPr>
          <a:xfrm>
            <a:off x="858026" y="1016001"/>
            <a:ext cx="7625574" cy="4551680"/>
          </a:xfrm>
        </p:spPr>
        <p:txBody>
          <a:bodyPr/>
          <a:lstStyle/>
          <a:p>
            <a:r>
              <a:rPr lang="en-US" altLang="en-US" sz="2000" i="1" dirty="0"/>
              <a:t>n</a:t>
            </a:r>
            <a:r>
              <a:rPr lang="en-US" altLang="en-US" sz="2000" dirty="0"/>
              <a:t> = average queue length</a:t>
            </a:r>
          </a:p>
          <a:p>
            <a:r>
              <a:rPr lang="en-US" altLang="en-US" sz="2000" i="1" dirty="0"/>
              <a:t>W</a:t>
            </a:r>
            <a:r>
              <a:rPr lang="en-US" altLang="en-US" sz="2000" dirty="0"/>
              <a:t> = average waiting time in queue</a:t>
            </a:r>
          </a:p>
          <a:p>
            <a:r>
              <a:rPr lang="en-US" altLang="en-US" sz="2000" i="1" dirty="0"/>
              <a:t>λ</a:t>
            </a:r>
            <a:r>
              <a:rPr lang="en-US" altLang="en-US" sz="2000" dirty="0"/>
              <a:t> = average arrival rate into queue</a:t>
            </a:r>
          </a:p>
          <a:p>
            <a:r>
              <a:rPr lang="en-US" altLang="en-US" sz="2000" dirty="0"/>
              <a:t>Little</a:t>
            </a:r>
            <a:r>
              <a:rPr lang="ja-JP" altLang="en-US" sz="2000" dirty="0"/>
              <a:t>’</a:t>
            </a:r>
            <a:r>
              <a:rPr lang="en-US" altLang="ja-JP" sz="2000" dirty="0"/>
              <a:t>s law – in steady state, processes leaving queue must equal processes arriving, thus:</a:t>
            </a:r>
            <a:br>
              <a:rPr lang="en-US" altLang="ja-JP" sz="2000" dirty="0"/>
            </a:br>
            <a:r>
              <a:rPr lang="en-US" altLang="ja-JP" sz="2000" dirty="0"/>
              <a:t>      </a:t>
            </a:r>
            <a:r>
              <a:rPr lang="en-US" altLang="ja-JP" sz="2000" i="1" dirty="0"/>
              <a:t>n </a:t>
            </a:r>
            <a:r>
              <a:rPr lang="en-US" altLang="ja-JP" sz="2000" dirty="0"/>
              <a:t>= </a:t>
            </a:r>
            <a:r>
              <a:rPr lang="en-US" altLang="ja-JP" sz="2000" i="1" dirty="0"/>
              <a:t>λ </a:t>
            </a:r>
            <a:r>
              <a:rPr lang="en-US" altLang="ja-JP" sz="2000" dirty="0"/>
              <a:t>x</a:t>
            </a:r>
            <a:r>
              <a:rPr lang="en-US" altLang="ja-JP" sz="2000" i="1" dirty="0"/>
              <a:t> W</a:t>
            </a:r>
          </a:p>
          <a:p>
            <a:pPr lvl="1"/>
            <a:r>
              <a:rPr lang="en-US" altLang="en-US" sz="2000" dirty="0"/>
              <a:t>Valid for any scheduling algorithm and arrival distribution</a:t>
            </a:r>
          </a:p>
          <a:p>
            <a:r>
              <a:rPr lang="en-US" altLang="en-US" sz="2000" dirty="0"/>
              <a:t>For example, if on average 7 processes arrive per second, and normally 14 processes in queue, then average wait time per process = 2 seconds</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Title 1">
            <a:extLst>
              <a:ext uri="{FF2B5EF4-FFF2-40B4-BE49-F238E27FC236}">
                <a16:creationId xmlns:a16="http://schemas.microsoft.com/office/drawing/2014/main" id="{3F4B6F1F-014D-4B12-B2C5-CED652555A6A}"/>
              </a:ext>
            </a:extLst>
          </p:cNvPr>
          <p:cNvSpPr>
            <a:spLocks noGrp="1"/>
          </p:cNvSpPr>
          <p:nvPr>
            <p:ph type="title"/>
          </p:nvPr>
        </p:nvSpPr>
        <p:spPr>
          <a:xfrm>
            <a:off x="457200" y="122922"/>
            <a:ext cx="8229600" cy="576262"/>
          </a:xfrm>
        </p:spPr>
        <p:txBody>
          <a:bodyPr/>
          <a:lstStyle/>
          <a:p>
            <a:r>
              <a:rPr lang="en-US" altLang="en-US" dirty="0"/>
              <a:t>Simulations</a:t>
            </a:r>
          </a:p>
        </p:txBody>
      </p:sp>
      <p:sp>
        <p:nvSpPr>
          <p:cNvPr id="136194" name="Content Placeholder 2">
            <a:extLst>
              <a:ext uri="{FF2B5EF4-FFF2-40B4-BE49-F238E27FC236}">
                <a16:creationId xmlns:a16="http://schemas.microsoft.com/office/drawing/2014/main" id="{31DCE5BD-01E8-435B-870B-5EBAC0600C01}"/>
              </a:ext>
            </a:extLst>
          </p:cNvPr>
          <p:cNvSpPr>
            <a:spLocks noGrp="1"/>
          </p:cNvSpPr>
          <p:nvPr>
            <p:ph idx="1"/>
          </p:nvPr>
        </p:nvSpPr>
        <p:spPr>
          <a:xfrm>
            <a:off x="834443" y="1060768"/>
            <a:ext cx="7727950" cy="4530725"/>
          </a:xfrm>
        </p:spPr>
        <p:txBody>
          <a:bodyPr/>
          <a:lstStyle/>
          <a:p>
            <a:r>
              <a:rPr lang="en-US" altLang="en-US" sz="2000" dirty="0"/>
              <a:t>Queueing models limited</a:t>
            </a:r>
          </a:p>
          <a:p>
            <a:r>
              <a:rPr lang="en-US" altLang="en-US" sz="2000" b="1" dirty="0">
                <a:solidFill>
                  <a:srgbClr val="006699"/>
                </a:solidFill>
                <a:latin typeface="+mj-lt"/>
              </a:rPr>
              <a:t>Simulations</a:t>
            </a:r>
            <a:r>
              <a:rPr lang="en-US" altLang="en-US" sz="2000" b="1" dirty="0"/>
              <a:t> </a:t>
            </a:r>
            <a:r>
              <a:rPr lang="en-US" altLang="en-US" sz="2000" dirty="0"/>
              <a:t>more accurate</a:t>
            </a:r>
          </a:p>
          <a:p>
            <a:pPr lvl="1"/>
            <a:r>
              <a:rPr lang="en-US" altLang="en-US" sz="2000" dirty="0"/>
              <a:t>Programmed model of computer system</a:t>
            </a:r>
          </a:p>
          <a:p>
            <a:pPr lvl="1"/>
            <a:r>
              <a:rPr lang="en-US" altLang="en-US" sz="2000" dirty="0"/>
              <a:t>Clock is a variable</a:t>
            </a:r>
          </a:p>
          <a:p>
            <a:pPr lvl="1"/>
            <a:r>
              <a:rPr lang="en-US" altLang="en-US" sz="2000" dirty="0"/>
              <a:t>Gather statistics  indicating algorithm performance</a:t>
            </a:r>
          </a:p>
          <a:p>
            <a:pPr lvl="1"/>
            <a:r>
              <a:rPr lang="en-US" altLang="en-US" sz="2000" dirty="0"/>
              <a:t>Data to drive simulation gathered via</a:t>
            </a:r>
          </a:p>
          <a:p>
            <a:pPr lvl="2"/>
            <a:r>
              <a:rPr lang="en-US" altLang="en-US" sz="2000" dirty="0"/>
              <a:t>Random number generator according to probabilities</a:t>
            </a:r>
          </a:p>
          <a:p>
            <a:pPr lvl="2"/>
            <a:r>
              <a:rPr lang="en-US" altLang="en-US" sz="2000" dirty="0"/>
              <a:t>Distributions defined mathematically or empirically</a:t>
            </a:r>
          </a:p>
          <a:p>
            <a:pPr lvl="2"/>
            <a:r>
              <a:rPr lang="en-US" altLang="en-US" sz="2000" dirty="0"/>
              <a:t>Trace tapes record sequences of real events in real systems</a:t>
            </a:r>
          </a:p>
          <a:p>
            <a:pPr lvl="2"/>
            <a:endParaRPr lang="en-US" altLang="en-US" sz="2000" dirty="0"/>
          </a:p>
          <a:p>
            <a:pPr lvl="1"/>
            <a:endParaRPr lang="en-US" altLang="en-US" sz="2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2">
            <a:extLst>
              <a:ext uri="{FF2B5EF4-FFF2-40B4-BE49-F238E27FC236}">
                <a16:creationId xmlns:a16="http://schemas.microsoft.com/office/drawing/2014/main" id="{E376DC34-4892-46A6-9D5E-C8B743E88B4A}"/>
              </a:ext>
            </a:extLst>
          </p:cNvPr>
          <p:cNvSpPr>
            <a:spLocks noGrp="1" noChangeArrowheads="1"/>
          </p:cNvSpPr>
          <p:nvPr>
            <p:ph type="title"/>
          </p:nvPr>
        </p:nvSpPr>
        <p:spPr>
          <a:xfrm>
            <a:off x="1287537" y="100754"/>
            <a:ext cx="7850187" cy="576262"/>
          </a:xfrm>
        </p:spPr>
        <p:txBody>
          <a:bodyPr/>
          <a:lstStyle/>
          <a:p>
            <a:pPr eaLnBrk="1" hangingPunct="1"/>
            <a:r>
              <a:rPr lang="en-US" altLang="en-US" sz="2800" dirty="0"/>
              <a:t>Evaluation of CPU Schedulers by Simulation</a:t>
            </a:r>
          </a:p>
        </p:txBody>
      </p:sp>
      <p:pic>
        <p:nvPicPr>
          <p:cNvPr id="137218" name="Picture 1">
            <a:extLst>
              <a:ext uri="{FF2B5EF4-FFF2-40B4-BE49-F238E27FC236}">
                <a16:creationId xmlns:a16="http://schemas.microsoft.com/office/drawing/2014/main" id="{AD0A361C-0911-4B85-9766-5E4140F2E09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57689" y="1150938"/>
            <a:ext cx="7608893" cy="474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Title 1">
            <a:extLst>
              <a:ext uri="{FF2B5EF4-FFF2-40B4-BE49-F238E27FC236}">
                <a16:creationId xmlns:a16="http://schemas.microsoft.com/office/drawing/2014/main" id="{2B258A3D-0DCD-4490-A722-4FB661159D96}"/>
              </a:ext>
            </a:extLst>
          </p:cNvPr>
          <p:cNvSpPr>
            <a:spLocks noGrp="1"/>
          </p:cNvSpPr>
          <p:nvPr>
            <p:ph type="title" idx="4294967295"/>
          </p:nvPr>
        </p:nvSpPr>
        <p:spPr>
          <a:xfrm>
            <a:off x="1404938" y="124637"/>
            <a:ext cx="6824662" cy="576262"/>
          </a:xfrm>
        </p:spPr>
        <p:txBody>
          <a:bodyPr/>
          <a:lstStyle/>
          <a:p>
            <a:r>
              <a:rPr lang="en-US" altLang="en-US" dirty="0"/>
              <a:t>Implementation</a:t>
            </a:r>
          </a:p>
        </p:txBody>
      </p:sp>
      <p:sp>
        <p:nvSpPr>
          <p:cNvPr id="139266" name="Content Placeholder 2">
            <a:extLst>
              <a:ext uri="{FF2B5EF4-FFF2-40B4-BE49-F238E27FC236}">
                <a16:creationId xmlns:a16="http://schemas.microsoft.com/office/drawing/2014/main" id="{3D12B624-FA4C-4339-BD1B-8776B542F48E}"/>
              </a:ext>
            </a:extLst>
          </p:cNvPr>
          <p:cNvSpPr txBox="1">
            <a:spLocks/>
          </p:cNvSpPr>
          <p:nvPr/>
        </p:nvSpPr>
        <p:spPr bwMode="auto">
          <a:xfrm>
            <a:off x="850900" y="1055688"/>
            <a:ext cx="78740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7" tIns="45709" rIns="91417" bIns="45709"/>
          <a:lstStyle>
            <a:lvl1pPr marL="488950" indent="-488950" defTabSz="1304925">
              <a:defRPr>
                <a:solidFill>
                  <a:schemeClr val="tx1"/>
                </a:solidFill>
                <a:latin typeface="Verdana" panose="020B0604030504040204" pitchFamily="34" charset="0"/>
                <a:ea typeface="MS PGothic" panose="020B0600070205080204" pitchFamily="34" charset="-128"/>
              </a:defRPr>
            </a:lvl1pPr>
            <a:lvl2pPr marL="1141413" indent="-488950" defTabSz="1304925">
              <a:defRPr>
                <a:solidFill>
                  <a:schemeClr val="tx1"/>
                </a:solidFill>
                <a:latin typeface="Verdana" panose="020B0604030504040204" pitchFamily="34" charset="0"/>
                <a:ea typeface="MS PGothic" panose="020B0600070205080204" pitchFamily="34" charset="-128"/>
              </a:defRPr>
            </a:lvl2pPr>
            <a:lvl3pPr marL="1550988" indent="-325438" defTabSz="1304925">
              <a:defRPr>
                <a:solidFill>
                  <a:schemeClr val="tx1"/>
                </a:solidFill>
                <a:latin typeface="Verdana" panose="020B0604030504040204" pitchFamily="34" charset="0"/>
                <a:ea typeface="MS PGothic" panose="020B0600070205080204" pitchFamily="34" charset="-128"/>
              </a:defRPr>
            </a:lvl3pPr>
            <a:lvl4pPr marL="1600200" indent="-228600" defTabSz="1304925">
              <a:defRPr>
                <a:solidFill>
                  <a:schemeClr val="tx1"/>
                </a:solidFill>
                <a:latin typeface="Verdana" panose="020B0604030504040204" pitchFamily="34" charset="0"/>
                <a:ea typeface="MS PGothic" panose="020B0600070205080204" pitchFamily="34" charset="-128"/>
              </a:defRPr>
            </a:lvl4pPr>
            <a:lvl5pPr marL="2057400" indent="-228600" defTabSz="1304925">
              <a:defRPr>
                <a:solidFill>
                  <a:schemeClr val="tx1"/>
                </a:solidFill>
                <a:latin typeface="Verdana" panose="020B0604030504040204" pitchFamily="34" charset="0"/>
                <a:ea typeface="MS PGothic" panose="020B0600070205080204" pitchFamily="34" charset="-128"/>
              </a:defRPr>
            </a:lvl5pPr>
            <a:lvl6pPr marL="2514600" indent="-228600" defTabSz="1304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1304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1304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1304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35000"/>
              </a:spcBef>
              <a:buClr>
                <a:srgbClr val="993300"/>
              </a:buClr>
              <a:buSzPct val="110000"/>
              <a:buFont typeface="Wingdings" panose="05000000000000000000" pitchFamily="2" charset="2"/>
              <a:buChar char="§"/>
            </a:pPr>
            <a:r>
              <a:rPr kumimoji="1" lang="en-US" altLang="en-US" sz="2000" dirty="0">
                <a:latin typeface="Helvetica" panose="020B0604020202020204" pitchFamily="34" charset="0"/>
              </a:rPr>
              <a:t>Even simulations have limited accuracy</a:t>
            </a:r>
          </a:p>
          <a:p>
            <a:pPr>
              <a:spcBef>
                <a:spcPct val="35000"/>
              </a:spcBef>
              <a:buClr>
                <a:srgbClr val="993300"/>
              </a:buClr>
              <a:buSzPct val="110000"/>
              <a:buFont typeface="Wingdings" panose="05000000000000000000" pitchFamily="2" charset="2"/>
              <a:buChar char="§"/>
            </a:pPr>
            <a:r>
              <a:rPr kumimoji="1" lang="en-US" altLang="en-US" sz="2000" dirty="0">
                <a:latin typeface="Helvetica" panose="020B0604020202020204" pitchFamily="34" charset="0"/>
              </a:rPr>
              <a:t>Just implement new scheduler and test in real systems</a:t>
            </a:r>
          </a:p>
          <a:p>
            <a:pPr lvl="1">
              <a:spcBef>
                <a:spcPct val="35000"/>
              </a:spcBef>
              <a:buClr>
                <a:srgbClr val="993300"/>
              </a:buClr>
              <a:buSzPct val="110000"/>
              <a:buFont typeface="Arial" panose="020B0604020202020204" pitchFamily="34" charset="0"/>
              <a:buChar char="•"/>
            </a:pPr>
            <a:r>
              <a:rPr kumimoji="1" lang="en-US" altLang="en-US" sz="2000" dirty="0">
                <a:latin typeface="Helvetica" panose="020B0604020202020204" pitchFamily="34" charset="0"/>
              </a:rPr>
              <a:t>High cost, high risk</a:t>
            </a:r>
          </a:p>
          <a:p>
            <a:pPr lvl="1">
              <a:spcBef>
                <a:spcPct val="35000"/>
              </a:spcBef>
              <a:buClr>
                <a:srgbClr val="993300"/>
              </a:buClr>
              <a:buSzPct val="110000"/>
              <a:buFont typeface="Arial" panose="020B0604020202020204" pitchFamily="34" charset="0"/>
              <a:buChar char="•"/>
            </a:pPr>
            <a:r>
              <a:rPr kumimoji="1" lang="en-US" altLang="en-US" sz="2000" dirty="0">
                <a:latin typeface="Helvetica" panose="020B0604020202020204" pitchFamily="34" charset="0"/>
              </a:rPr>
              <a:t>Environments vary</a:t>
            </a:r>
          </a:p>
          <a:p>
            <a:pPr>
              <a:spcBef>
                <a:spcPct val="35000"/>
              </a:spcBef>
              <a:buClr>
                <a:srgbClr val="993300"/>
              </a:buClr>
              <a:buSzPct val="110000"/>
              <a:buFont typeface="Wingdings" panose="05000000000000000000" pitchFamily="2" charset="2"/>
              <a:buChar char="§"/>
            </a:pPr>
            <a:r>
              <a:rPr kumimoji="1" lang="en-US" altLang="en-US" sz="2000" dirty="0">
                <a:latin typeface="Helvetica" panose="020B0604020202020204" pitchFamily="34" charset="0"/>
              </a:rPr>
              <a:t>Most flexible schedulers can be modified per-site or per-system</a:t>
            </a:r>
          </a:p>
          <a:p>
            <a:pPr>
              <a:spcBef>
                <a:spcPct val="35000"/>
              </a:spcBef>
              <a:buClr>
                <a:srgbClr val="993300"/>
              </a:buClr>
              <a:buSzPct val="110000"/>
              <a:buFont typeface="Wingdings" panose="05000000000000000000" pitchFamily="2" charset="2"/>
              <a:buChar char="§"/>
            </a:pPr>
            <a:r>
              <a:rPr kumimoji="1" lang="en-US" altLang="en-US" sz="2000" dirty="0">
                <a:latin typeface="Helvetica" panose="020B0604020202020204" pitchFamily="34" charset="0"/>
              </a:rPr>
              <a:t>Or APIs to modify priorities</a:t>
            </a:r>
          </a:p>
          <a:p>
            <a:pPr>
              <a:spcBef>
                <a:spcPct val="35000"/>
              </a:spcBef>
              <a:buClr>
                <a:srgbClr val="993300"/>
              </a:buClr>
              <a:buSzPct val="110000"/>
              <a:buFont typeface="Wingdings" panose="05000000000000000000" pitchFamily="2" charset="2"/>
              <a:buChar char="§"/>
            </a:pPr>
            <a:r>
              <a:rPr kumimoji="1" lang="en-US" altLang="en-US" sz="2000" dirty="0">
                <a:latin typeface="Helvetica" panose="020B0604020202020204" pitchFamily="34" charset="0"/>
              </a:rPr>
              <a:t>But again environments vary</a:t>
            </a:r>
          </a:p>
          <a:p>
            <a:pPr>
              <a:spcBef>
                <a:spcPct val="35000"/>
              </a:spcBef>
              <a:buClr>
                <a:srgbClr val="993300"/>
              </a:buClr>
              <a:buSzPct val="90000"/>
              <a:buFont typeface="Monotype Sorts" pitchFamily="-84" charset="2"/>
              <a:buChar char="n"/>
            </a:pPr>
            <a:endParaRPr kumimoji="1" lang="en-US" altLang="en-US" sz="2000" dirty="0">
              <a:latin typeface="Helvetica" panose="020B0604020202020204" pitchFamily="34" charset="0"/>
            </a:endParaRPr>
          </a:p>
          <a:p>
            <a:pPr lvl="2">
              <a:spcBef>
                <a:spcPct val="35000"/>
              </a:spcBef>
              <a:buClr>
                <a:srgbClr val="009900"/>
              </a:buClr>
              <a:buSzPct val="75000"/>
              <a:buFont typeface="Webdings" panose="05030102010509060703" pitchFamily="18" charset="2"/>
              <a:buChar char="4"/>
            </a:pPr>
            <a:endParaRPr kumimoji="1" lang="en-US" altLang="en-US" sz="2000" dirty="0">
              <a:latin typeface="Helvetica" panose="020B0604020202020204" pitchFamily="34" charset="0"/>
            </a:endParaRPr>
          </a:p>
          <a:p>
            <a:pPr lvl="1">
              <a:spcBef>
                <a:spcPct val="35000"/>
              </a:spcBef>
              <a:buClr>
                <a:srgbClr val="CC6600"/>
              </a:buClr>
              <a:buSzPct val="80000"/>
              <a:buFont typeface="Monotype Sorts" pitchFamily="-84" charset="2"/>
              <a:buChar char="l"/>
            </a:pPr>
            <a:endParaRPr kumimoji="1" lang="en-US" altLang="en-US" sz="2000" dirty="0">
              <a:latin typeface="Helvetica" panose="020B0604020202020204" pitchFamily="34"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a:extLst>
              <a:ext uri="{FF2B5EF4-FFF2-40B4-BE49-F238E27FC236}">
                <a16:creationId xmlns:a16="http://schemas.microsoft.com/office/drawing/2014/main" id="{F2E0C1D0-A1A4-4022-95CF-B15DED9ADA75}"/>
              </a:ext>
            </a:extLst>
          </p:cNvPr>
          <p:cNvSpPr>
            <a:spLocks noGrp="1" noChangeArrowheads="1"/>
          </p:cNvSpPr>
          <p:nvPr>
            <p:ph type="ctrTitle"/>
          </p:nvPr>
        </p:nvSpPr>
        <p:spPr/>
        <p:txBody>
          <a:bodyPr/>
          <a:lstStyle/>
          <a:p>
            <a:pPr eaLnBrk="1" hangingPunct="1"/>
            <a:r>
              <a:rPr lang="en-US" altLang="en-US" dirty="0"/>
              <a:t>End of Chapter 5</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13413</TotalTime>
  <Words>4637</Words>
  <Application>Microsoft Office PowerPoint</Application>
  <PresentationFormat>全屏显示(4:3)</PresentationFormat>
  <Paragraphs>607</Paragraphs>
  <Slides>81</Slides>
  <Notes>65</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81</vt:i4>
      </vt:variant>
    </vt:vector>
  </HeadingPairs>
  <TitlesOfParts>
    <vt:vector size="94" baseType="lpstr">
      <vt:lpstr>Lucida Grande</vt:lpstr>
      <vt:lpstr>Monotype Sorts</vt:lpstr>
      <vt:lpstr>ＭＳ Ｐゴシック</vt:lpstr>
      <vt:lpstr>黑体</vt:lpstr>
      <vt:lpstr>Arial</vt:lpstr>
      <vt:lpstr>Courier New</vt:lpstr>
      <vt:lpstr>Helvetica</vt:lpstr>
      <vt:lpstr>Symbol</vt:lpstr>
      <vt:lpstr>Times New Roman</vt:lpstr>
      <vt:lpstr>Verdana</vt:lpstr>
      <vt:lpstr>Webdings</vt:lpstr>
      <vt:lpstr>Wingdings</vt:lpstr>
      <vt:lpstr>os-8</vt:lpstr>
      <vt:lpstr>Chapter 5:  CPU Scheduling</vt:lpstr>
      <vt:lpstr>Outline</vt:lpstr>
      <vt:lpstr>Objectives</vt:lpstr>
      <vt:lpstr>Basic Concepts</vt:lpstr>
      <vt:lpstr>Histogram of CPU-burst Times</vt:lpstr>
      <vt:lpstr>CPU Scheduler</vt:lpstr>
      <vt:lpstr>Preemptive and Nonpreemptive Scheduling</vt:lpstr>
      <vt:lpstr>Preemptive Scheduling and Race Conditions</vt:lpstr>
      <vt:lpstr>Dispatcher</vt:lpstr>
      <vt:lpstr>Scheduling Criteria</vt:lpstr>
      <vt:lpstr>Scheduling Algorithm Optimization Criteria</vt:lpstr>
      <vt:lpstr>First- Come, First-Served (FCFS) Scheduling</vt:lpstr>
      <vt:lpstr>FCFS Scheduling (Cont.)</vt:lpstr>
      <vt:lpstr>Shortest-Job-First (SJF) Scheduling</vt:lpstr>
      <vt:lpstr>Example of SJF</vt:lpstr>
      <vt:lpstr>Determining Length of Next CPU Burst</vt:lpstr>
      <vt:lpstr>Prediction of the Length of the Next CPU Burst</vt:lpstr>
      <vt:lpstr>Examples of Exponential Averaging</vt:lpstr>
      <vt:lpstr>Shortest Remaining Time First Scheduling</vt:lpstr>
      <vt:lpstr>Example of Shortest-remaining-time-first</vt:lpstr>
      <vt:lpstr>Round Robin (RR)</vt:lpstr>
      <vt:lpstr>Example of RR with Time Quantum = 4</vt:lpstr>
      <vt:lpstr>Time Quantum and Context Switch Time</vt:lpstr>
      <vt:lpstr>Turnaround Time Varies With The Time Quantum</vt:lpstr>
      <vt:lpstr>Priority Scheduling</vt:lpstr>
      <vt:lpstr>Example of Priority Scheduling</vt:lpstr>
      <vt:lpstr>Priority Scheduling w/ Round-Robin</vt:lpstr>
      <vt:lpstr>Multilevel Queue</vt:lpstr>
      <vt:lpstr>Multilevel Queue</vt:lpstr>
      <vt:lpstr>Multilevel Queue</vt:lpstr>
      <vt:lpstr>Multilevel Feedback Queue</vt:lpstr>
      <vt:lpstr>Example of Multilevel Feedback Queue</vt:lpstr>
      <vt:lpstr>Thread Scheduling</vt:lpstr>
      <vt:lpstr>Pthread Scheduling</vt:lpstr>
      <vt:lpstr>Pthread Scheduling API</vt:lpstr>
      <vt:lpstr>Pthread Scheduling API</vt:lpstr>
      <vt:lpstr>Multiple-Processor Scheduling</vt:lpstr>
      <vt:lpstr>Multiple-Processor Scheduling</vt:lpstr>
      <vt:lpstr>Take a Break</vt:lpstr>
      <vt:lpstr>Multicore Processors</vt:lpstr>
      <vt:lpstr>Multithreaded Multicore System</vt:lpstr>
      <vt:lpstr>Multithreaded Multicore System</vt:lpstr>
      <vt:lpstr>Multithreaded Multicore System</vt:lpstr>
      <vt:lpstr>Multiple-Processor Scheduling – Load Balancing</vt:lpstr>
      <vt:lpstr>Multiple-Processor Scheduling – Processor Affinity</vt:lpstr>
      <vt:lpstr>NUMA and CPU Scheduling</vt:lpstr>
      <vt:lpstr>Real-Time CPU Scheduling</vt:lpstr>
      <vt:lpstr>Real-Time CPU Scheduling</vt:lpstr>
      <vt:lpstr> Interrupt Latency</vt:lpstr>
      <vt:lpstr> Dispatch Latency</vt:lpstr>
      <vt:lpstr>Priority-based Scheduling</vt:lpstr>
      <vt:lpstr>Rate Monotonic Scheduling</vt:lpstr>
      <vt:lpstr>Missed Deadlines with Rate Monotonic Scheduling</vt:lpstr>
      <vt:lpstr>Earliest Deadline First Scheduling (EDF)</vt:lpstr>
      <vt:lpstr>Proportional Share Scheduling</vt:lpstr>
      <vt:lpstr>POSIX Real-Time Scheduling</vt:lpstr>
      <vt:lpstr>POSIX Real-Time Scheduling API</vt:lpstr>
      <vt:lpstr>POSIX Real-Time Scheduling API (Cont.)</vt:lpstr>
      <vt:lpstr>Operating System Examples</vt:lpstr>
      <vt:lpstr>Linux Scheduling Through Version 2.5</vt:lpstr>
      <vt:lpstr>Linux Scheduling in Version 2.6.23 +</vt:lpstr>
      <vt:lpstr>Linux Scheduling in Version 2.6.23 + (Cont.)</vt:lpstr>
      <vt:lpstr>CFS Performance</vt:lpstr>
      <vt:lpstr>Linux Scheduling (Cont.)</vt:lpstr>
      <vt:lpstr>Linux Scheduling (Cont.)</vt:lpstr>
      <vt:lpstr>Windows Scheduling</vt:lpstr>
      <vt:lpstr>Windows Priority Classes</vt:lpstr>
      <vt:lpstr>Windows Priority Classes (Cont.)</vt:lpstr>
      <vt:lpstr>Windows Priorities</vt:lpstr>
      <vt:lpstr>Solaris</vt:lpstr>
      <vt:lpstr>Solaris Dispatch Table </vt:lpstr>
      <vt:lpstr>Solaris Scheduling</vt:lpstr>
      <vt:lpstr>Solaris Scheduling (Cont.)</vt:lpstr>
      <vt:lpstr>Algorithm Evaluation</vt:lpstr>
      <vt:lpstr>Deterministic Evaluation</vt:lpstr>
      <vt:lpstr>Queueing Models</vt:lpstr>
      <vt:lpstr>Little’s Formula</vt:lpstr>
      <vt:lpstr>Simulations</vt:lpstr>
      <vt:lpstr>Evaluation of CPU Schedulers by Simulation</vt:lpstr>
      <vt:lpstr>Implementation</vt:lpstr>
      <vt:lpstr>End of Chapter 5</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Yeh-Ching Chung</cp:lastModifiedBy>
  <cp:revision>272</cp:revision>
  <cp:lastPrinted>2013-09-10T17:57:57Z</cp:lastPrinted>
  <dcterms:created xsi:type="dcterms:W3CDTF">2011-01-13T23:43:38Z</dcterms:created>
  <dcterms:modified xsi:type="dcterms:W3CDTF">2025-09-03T02:05:48Z</dcterms:modified>
</cp:coreProperties>
</file>