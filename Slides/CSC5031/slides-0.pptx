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52" r:id="rId3"/>
    <p:sldId id="353" r:id="rId4"/>
    <p:sldId id="354" r:id="rId5"/>
    <p:sldId id="356" r:id="rId6"/>
    <p:sldId id="357" r:id="rId7"/>
    <p:sldId id="358" r:id="rId8"/>
    <p:sldId id="359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2026/1/5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b.cuhk.edu.cn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y.cuhk.edu.cn/en/page/30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5031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900" y="857440"/>
            <a:ext cx="7992790" cy="350482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Instructor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Dr. Yeh-Ching Chung (ychung@cuhk.edu.hk)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Course T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马浩天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: haotianma@link.cuhk.edu.cn</a:t>
            </a:r>
            <a:endParaRPr lang="en-US" altLang="zh-CN" dirty="0"/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汪梁森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: liangsenwang@link.cuhk.edu.cn</a:t>
            </a:r>
            <a:endParaRPr lang="en-US" altLang="zh-CN" dirty="0"/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Lectures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Tuesday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	10:30am – 11: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0am	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T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xC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101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Thursday	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10:30am – 11:50am	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TxC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101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Online Platform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Blackboard 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hlinkClick r:id="rId2"/>
              </a:rPr>
              <a:t>https://bb.cuhk.edu.cn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Website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http://www.cs.nthu.edu.tw/~ychung/Syllabus/CSC5031-2026-Spring.htm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Reference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E7B392-61B3-FA29-3056-3DC07CA34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971" y="822251"/>
            <a:ext cx="7571931" cy="343950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Textbooks</a:t>
            </a:r>
          </a:p>
          <a:p>
            <a:pPr lvl="1"/>
            <a:r>
              <a:rPr lang="en-US" altLang="zh-CN" sz="2200" b="0" i="0" dirty="0">
                <a:effectLst/>
              </a:rPr>
              <a:t>William Stallings - Operating Systems Internals and Design Principles, Pearson, 9th Edition, 2018</a:t>
            </a:r>
            <a:endParaRPr lang="en-US" sz="2200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altLang="zh-CN" sz="2400" dirty="0">
                <a:ea typeface="楷体" panose="02010609060101010101" pitchFamily="49" charset="-122"/>
                <a:cs typeface="Calibri" panose="020F0502020204030204" pitchFamily="34" charset="0"/>
              </a:rPr>
              <a:t>References</a:t>
            </a:r>
          </a:p>
          <a:p>
            <a:pPr lvl="1"/>
            <a:r>
              <a:rPr lang="en-US" altLang="zh-CN" sz="2200" b="0" i="0" dirty="0">
                <a:effectLst/>
              </a:rPr>
              <a:t>Maarten Van Steen and Andrew S. Tanenbaum, Distributed Systems, 3rd Edition, Pearson Education, Inc., 2020</a:t>
            </a:r>
          </a:p>
          <a:p>
            <a:pPr lvl="1"/>
            <a:r>
              <a:rPr lang="en-US" altLang="zh-CN" sz="2200" dirty="0"/>
              <a:t>Abraham, Peter Baer Galvin, and Greg Gagne, Operating System Concepts,10th Edition, Wiley, 2018</a:t>
            </a:r>
            <a:endParaRPr lang="en-US" altLang="zh-CN" sz="2200" b="0" i="0" dirty="0">
              <a:effectLst/>
            </a:endParaRPr>
          </a:p>
          <a:p>
            <a:pPr lvl="1"/>
            <a:r>
              <a:rPr lang="en-US" altLang="zh-CN" sz="2200" dirty="0">
                <a:solidFill>
                  <a:schemeClr val="bg2">
                    <a:lumMod val="10000"/>
                  </a:schemeClr>
                </a:solidFill>
                <a:cs typeface="Calibri" panose="020F0502020204030204" pitchFamily="34" charset="0"/>
              </a:rPr>
              <a:t>Papers</a:t>
            </a:r>
          </a:p>
        </p:txBody>
      </p:sp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8609" y="825913"/>
            <a:ext cx="5446348" cy="3707394"/>
          </a:xfrm>
        </p:spPr>
        <p:txBody>
          <a:bodyPr/>
          <a:lstStyle/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Course Outline 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Computer System Overview 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</a:rPr>
              <a:t>  </a:t>
            </a:r>
            <a:r>
              <a:rPr lang="en-US" altLang="zh-CN" sz="1800" i="0" dirty="0">
                <a:effectLst/>
                <a:latin typeface="Times New Roman" panose="02020603050405020304" pitchFamily="18" charset="0"/>
              </a:rPr>
              <a:t>Operating System Overview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Process Creation and Control </a:t>
            </a:r>
            <a:endParaRPr lang="en-US" altLang="zh-CN" sz="18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</a:rPr>
              <a:t>  </a:t>
            </a:r>
            <a:r>
              <a:rPr lang="en-US" altLang="zh-CN" sz="1800" i="0" dirty="0">
                <a:effectLst/>
                <a:latin typeface="Times New Roman" panose="02020603050405020304" pitchFamily="18" charset="0"/>
              </a:rPr>
              <a:t>Threads 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altLang="zh-CN" sz="1800" dirty="0">
                <a:effectLst/>
                <a:latin typeface="Times New Roman" panose="02020603050405020304" pitchFamily="18" charset="0"/>
              </a:rPr>
              <a:t>Concurrency: Mutual Exclusion and Synchronization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</a:rPr>
              <a:t>  </a:t>
            </a:r>
            <a:r>
              <a:rPr lang="en-US" altLang="zh-CN" sz="1800" dirty="0">
                <a:effectLst/>
                <a:latin typeface="Times New Roman" panose="02020603050405020304" pitchFamily="18" charset="0"/>
              </a:rPr>
              <a:t>Concurrency: Deadlock and Starvation  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Memory Management</a:t>
            </a:r>
            <a:endParaRPr lang="en-US" altLang="zh-CN" sz="18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</a:rPr>
              <a:t>  </a:t>
            </a:r>
            <a:r>
              <a:rPr lang="en-US" altLang="zh-CN" sz="1800" i="0" dirty="0">
                <a:effectLst/>
                <a:latin typeface="Times New Roman" panose="02020603050405020304" pitchFamily="18" charset="0"/>
              </a:rPr>
              <a:t>Virtual Memory</a:t>
            </a:r>
            <a:endParaRPr lang="en-US" altLang="zh-CN" sz="18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</a:rPr>
              <a:t>Uniprocess</a:t>
            </a:r>
            <a:r>
              <a:rPr lang="en-US" altLang="zh-CN" sz="1800" dirty="0">
                <a:effectLst/>
                <a:latin typeface="Times New Roman" panose="02020603050405020304" pitchFamily="18" charset="0"/>
              </a:rPr>
              <a:t> Scheduling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</a:rPr>
              <a:t>  </a:t>
            </a:r>
            <a:r>
              <a:rPr lang="en-US" altLang="zh-CN" sz="1800" i="0" dirty="0">
                <a:effectLst/>
                <a:latin typeface="Times New Roman" panose="02020603050405020304" pitchFamily="18" charset="0"/>
              </a:rPr>
              <a:t>I/O Management and Disk Scheduling</a:t>
            </a:r>
            <a:endParaRPr lang="en-US" altLang="zh-CN" sz="18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File Management</a:t>
            </a:r>
            <a:endParaRPr lang="en-US" altLang="zh-CN" sz="18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–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</a:rPr>
              <a:t>  </a:t>
            </a:r>
            <a:r>
              <a:rPr lang="en-US" altLang="zh-CN" sz="1800" i="0" dirty="0">
                <a:effectLst/>
                <a:latin typeface="Times New Roman" panose="02020603050405020304" pitchFamily="18" charset="0"/>
              </a:rPr>
              <a:t>Virtual Machine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980" y="822959"/>
            <a:ext cx="7208520" cy="3032761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participation</a:t>
            </a:r>
            <a:r>
              <a:rPr lang="en-US" sz="2000" dirty="0"/>
              <a:t> (25%)</a:t>
            </a:r>
          </a:p>
          <a:p>
            <a:r>
              <a:rPr lang="en-US" altLang="zh-CN" sz="2000" dirty="0"/>
              <a:t>Term</a:t>
            </a:r>
            <a:r>
              <a:rPr lang="en-US" sz="2000" dirty="0"/>
              <a:t> </a:t>
            </a:r>
            <a:r>
              <a:rPr lang="en-US" sz="2000"/>
              <a:t>Projects (50</a:t>
            </a:r>
            <a:r>
              <a:rPr lang="en-US" sz="2000" dirty="0"/>
              <a:t>%)</a:t>
            </a:r>
          </a:p>
          <a:p>
            <a:r>
              <a:rPr lang="en-US" altLang="zh-CN" sz="2000" dirty="0"/>
              <a:t>Report </a:t>
            </a:r>
            <a:r>
              <a:rPr lang="en-US" sz="2000" dirty="0"/>
              <a:t>(25%)</a:t>
            </a:r>
          </a:p>
          <a:p>
            <a:r>
              <a:rPr lang="en-US" sz="2000" dirty="0"/>
              <a:t>If you need to apply for a leave for final exam, send email to me with supporting document beforehand.</a:t>
            </a:r>
          </a:p>
          <a:p>
            <a:r>
              <a:rPr lang="en-US" sz="2000" dirty="0"/>
              <a:t>If you are ill, obtain a medical note and email it to me as soon as possible and no later than a week after your absence.</a:t>
            </a:r>
          </a:p>
          <a:p>
            <a:r>
              <a:rPr lang="en-US" sz="2000" dirty="0"/>
              <a:t>Students are responsible to keep track on their marks.</a:t>
            </a:r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42" y="108349"/>
            <a:ext cx="7734548" cy="519113"/>
          </a:xfrm>
        </p:spPr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142" y="845821"/>
            <a:ext cx="7223144" cy="326493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completing this course, students will be able 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Operating Systems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practical part of Process Management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practical part of Memory Management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practical part of File Management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practical part of I/O Management</a:t>
            </a:r>
          </a:p>
          <a:p>
            <a:pPr lvl="1">
              <a:spcBef>
                <a:spcPts val="0"/>
              </a:spcBef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8" y="844153"/>
            <a:ext cx="7443302" cy="36718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Zero Tolerance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Plagiarism, cheating, misconduct in test/exam will be reported to the School for handing.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Consequences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University Policy to Academic Honesty</a:t>
            </a:r>
          </a:p>
          <a:p>
            <a:pPr marL="457189" lvl="1" indent="0"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https://registry.cuhk.edu.cn/en/page/30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CSC5031 WeChat Group QR Code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 descr="QR 代码">
            <a:extLst>
              <a:ext uri="{FF2B5EF4-FFF2-40B4-BE49-F238E27FC236}">
                <a16:creationId xmlns:a16="http://schemas.microsoft.com/office/drawing/2014/main" id="{887F4D80-49F9-EA14-35C6-1F43F52CD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9" t="36342" r="11979" b="18977"/>
          <a:stretch/>
        </p:blipFill>
        <p:spPr>
          <a:xfrm>
            <a:off x="2840305" y="960401"/>
            <a:ext cx="3641416" cy="354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34521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2555</TotalTime>
  <Words>432</Words>
  <Application>Microsoft Office PowerPoint</Application>
  <PresentationFormat>全屏显示(16:9)</PresentationFormat>
  <Paragraphs>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MS Sans Serif</vt:lpstr>
      <vt:lpstr>楷体</vt:lpstr>
      <vt:lpstr>Arial</vt:lpstr>
      <vt:lpstr>Calibri</vt:lpstr>
      <vt:lpstr>Times New Roman</vt:lpstr>
      <vt:lpstr>Wingdings</vt:lpstr>
      <vt:lpstr>NTHU UniCloud</vt:lpstr>
      <vt:lpstr>CSC5031 – Operating Systems</vt:lpstr>
      <vt:lpstr>PowerPoint 演示文稿</vt:lpstr>
      <vt:lpstr>Textbooks &amp; Reference</vt:lpstr>
      <vt:lpstr>Course Syllabus</vt:lpstr>
      <vt:lpstr>Course Assessment</vt:lpstr>
      <vt:lpstr>Learning Outcome</vt:lpstr>
      <vt:lpstr>Academic Honesty</vt:lpstr>
      <vt:lpstr>CSC5031 WeChat Group QR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(SDS)</cp:lastModifiedBy>
  <cp:revision>301</cp:revision>
  <dcterms:created xsi:type="dcterms:W3CDTF">2015-06-05T07:23:35Z</dcterms:created>
  <dcterms:modified xsi:type="dcterms:W3CDTF">2026-01-05T09:52:49Z</dcterms:modified>
</cp:coreProperties>
</file>