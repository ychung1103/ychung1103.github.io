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64" r:id="rId2"/>
  </p:sldMasterIdLst>
  <p:notesMasterIdLst>
    <p:notesMasterId r:id="rId65"/>
  </p:notesMasterIdLst>
  <p:handoutMasterIdLst>
    <p:handoutMasterId r:id="rId66"/>
  </p:handoutMasterIdLst>
  <p:sldIdLst>
    <p:sldId id="256" r:id="rId3"/>
    <p:sldId id="258" r:id="rId4"/>
    <p:sldId id="260" r:id="rId5"/>
    <p:sldId id="262" r:id="rId6"/>
    <p:sldId id="263" r:id="rId7"/>
    <p:sldId id="264" r:id="rId8"/>
    <p:sldId id="266" r:id="rId9"/>
    <p:sldId id="314" r:id="rId10"/>
    <p:sldId id="315" r:id="rId11"/>
    <p:sldId id="269" r:id="rId12"/>
    <p:sldId id="270" r:id="rId13"/>
    <p:sldId id="271" r:id="rId14"/>
    <p:sldId id="272" r:id="rId15"/>
    <p:sldId id="318" r:id="rId16"/>
    <p:sldId id="319" r:id="rId17"/>
    <p:sldId id="344" r:id="rId18"/>
    <p:sldId id="277" r:id="rId19"/>
    <p:sldId id="345" r:id="rId20"/>
    <p:sldId id="279" r:id="rId21"/>
    <p:sldId id="281" r:id="rId22"/>
    <p:sldId id="282" r:id="rId23"/>
    <p:sldId id="283" r:id="rId24"/>
    <p:sldId id="346" r:id="rId25"/>
    <p:sldId id="284" r:id="rId26"/>
    <p:sldId id="285" r:id="rId27"/>
    <p:sldId id="321" r:id="rId28"/>
    <p:sldId id="287" r:id="rId29"/>
    <p:sldId id="288" r:id="rId30"/>
    <p:sldId id="289" r:id="rId31"/>
    <p:sldId id="290" r:id="rId32"/>
    <p:sldId id="347" r:id="rId33"/>
    <p:sldId id="348" r:id="rId34"/>
    <p:sldId id="349" r:id="rId35"/>
    <p:sldId id="323" r:id="rId36"/>
    <p:sldId id="359" r:id="rId37"/>
    <p:sldId id="324" r:id="rId38"/>
    <p:sldId id="297" r:id="rId39"/>
    <p:sldId id="298" r:id="rId40"/>
    <p:sldId id="351" r:id="rId41"/>
    <p:sldId id="325" r:id="rId42"/>
    <p:sldId id="326" r:id="rId43"/>
    <p:sldId id="352" r:id="rId44"/>
    <p:sldId id="327" r:id="rId45"/>
    <p:sldId id="299" r:id="rId46"/>
    <p:sldId id="353" r:id="rId47"/>
    <p:sldId id="300" r:id="rId48"/>
    <p:sldId id="330" r:id="rId49"/>
    <p:sldId id="354" r:id="rId50"/>
    <p:sldId id="355" r:id="rId51"/>
    <p:sldId id="360" r:id="rId52"/>
    <p:sldId id="303" r:id="rId53"/>
    <p:sldId id="307" r:id="rId54"/>
    <p:sldId id="305" r:id="rId55"/>
    <p:sldId id="338" r:id="rId56"/>
    <p:sldId id="311" r:id="rId57"/>
    <p:sldId id="312" r:id="rId58"/>
    <p:sldId id="339" r:id="rId59"/>
    <p:sldId id="356" r:id="rId60"/>
    <p:sldId id="357" r:id="rId61"/>
    <p:sldId id="340" r:id="rId62"/>
    <p:sldId id="342" r:id="rId63"/>
    <p:sldId id="358" r:id="rId6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FEFF"/>
    <a:srgbClr val="B9E7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001" autoAdjust="0"/>
    <p:restoredTop sz="93438" autoAdjust="0"/>
  </p:normalViewPr>
  <p:slideViewPr>
    <p:cSldViewPr>
      <p:cViewPr varScale="1">
        <p:scale>
          <a:sx n="60" d="100"/>
          <a:sy n="60" d="100"/>
        </p:scale>
        <p:origin x="1564" y="4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2574"/>
    </p:cViewPr>
  </p:sorterViewPr>
  <p:notesViewPr>
    <p:cSldViewPr>
      <p:cViewPr varScale="1">
        <p:scale>
          <a:sx n="57" d="100"/>
          <a:sy n="57" d="100"/>
        </p:scale>
        <p:origin x="-2604"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handoutMaster" Target="handoutMasters/handout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3173BC7-E7D4-3D4B-A8E0-A2D2AE5A8C00}"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066387EC-BFC0-784A-B648-8AE5B566BF75}">
      <dgm:prSet phldrT="[Text]"/>
      <dgm:spPr/>
      <dgm:t>
        <a:bodyPr/>
        <a:lstStyle/>
        <a:p>
          <a:r>
            <a:rPr lang="en-US" dirty="0"/>
            <a:t>Program code</a:t>
          </a:r>
        </a:p>
      </dgm:t>
    </dgm:pt>
    <dgm:pt modelId="{8787F659-B991-3343-9042-4C07199010AD}" type="parTrans" cxnId="{0309AC7A-4A12-3546-A4CF-B8EE1185DD5B}">
      <dgm:prSet/>
      <dgm:spPr/>
      <dgm:t>
        <a:bodyPr/>
        <a:lstStyle/>
        <a:p>
          <a:endParaRPr lang="en-US"/>
        </a:p>
      </dgm:t>
    </dgm:pt>
    <dgm:pt modelId="{C24B30AF-9314-634E-A8EF-5EE315A026AF}" type="sibTrans" cxnId="{0309AC7A-4A12-3546-A4CF-B8EE1185DD5B}">
      <dgm:prSet/>
      <dgm:spPr/>
      <dgm:t>
        <a:bodyPr/>
        <a:lstStyle/>
        <a:p>
          <a:endParaRPr lang="en-US"/>
        </a:p>
      </dgm:t>
    </dgm:pt>
    <dgm:pt modelId="{7D1E28BB-E7D4-6240-9C26-9492ABCCB82C}">
      <dgm:prSet custT="1"/>
      <dgm:spPr/>
      <dgm:t>
        <a:bodyPr/>
        <a:lstStyle/>
        <a:p>
          <a:pPr marL="282575" indent="-282575" algn="l" defTabSz="914400" rtl="0" eaLnBrk="1" latinLnBrk="0" hangingPunct="1">
            <a:lnSpc>
              <a:spcPct val="90000"/>
            </a:lnSpc>
            <a:spcBef>
              <a:spcPts val="1800"/>
            </a:spcBef>
            <a:buClr>
              <a:schemeClr val="accent1"/>
            </a:buClr>
            <a:buSzPct val="75000"/>
            <a:buFont typeface="Wingdings" pitchFamily="2" charset="2"/>
            <a:buChar char="n"/>
          </a:pPr>
          <a:r>
            <a:rPr lang="en-US" sz="2200" kern="1200" dirty="0">
              <a:solidFill>
                <a:schemeClr val="tx1">
                  <a:lumMod val="85000"/>
                  <a:lumOff val="15000"/>
                </a:schemeClr>
              </a:solidFill>
              <a:latin typeface="+mn-lt"/>
              <a:ea typeface="+mn-ea"/>
              <a:cs typeface="+mn-cs"/>
            </a:rPr>
            <a:t>which may be shared with other processes that are executing the same program</a:t>
          </a:r>
        </a:p>
      </dgm:t>
    </dgm:pt>
    <dgm:pt modelId="{E79FF0B8-9CA9-2C4D-A4D7-8AE87CFD65C0}" type="parTrans" cxnId="{55DF68C8-0BBD-BB45-A1B2-BFDD60500307}">
      <dgm:prSet/>
      <dgm:spPr/>
      <dgm:t>
        <a:bodyPr/>
        <a:lstStyle/>
        <a:p>
          <a:endParaRPr lang="en-US"/>
        </a:p>
      </dgm:t>
    </dgm:pt>
    <dgm:pt modelId="{D407455B-387C-4349-9E47-3EA34DB4736F}" type="sibTrans" cxnId="{55DF68C8-0BBD-BB45-A1B2-BFDD60500307}">
      <dgm:prSet/>
      <dgm:spPr/>
      <dgm:t>
        <a:bodyPr/>
        <a:lstStyle/>
        <a:p>
          <a:endParaRPr lang="en-US"/>
        </a:p>
      </dgm:t>
    </dgm:pt>
    <dgm:pt modelId="{5E037D5A-EDDE-E440-8CF3-C810A1D6E576}">
      <dgm:prSet/>
      <dgm:spPr/>
      <dgm:t>
        <a:bodyPr/>
        <a:lstStyle/>
        <a:p>
          <a:r>
            <a:rPr lang="en-US" dirty="0"/>
            <a:t>A set of data associated with that code</a:t>
          </a:r>
        </a:p>
      </dgm:t>
    </dgm:pt>
    <dgm:pt modelId="{12C2C1F2-ECCF-3841-8696-D8982B8C130C}" type="parTrans" cxnId="{1450A142-4100-B541-8A77-632087F1ABC1}">
      <dgm:prSet/>
      <dgm:spPr/>
      <dgm:t>
        <a:bodyPr/>
        <a:lstStyle/>
        <a:p>
          <a:endParaRPr lang="en-US"/>
        </a:p>
      </dgm:t>
    </dgm:pt>
    <dgm:pt modelId="{7127CD71-1958-8045-9D0B-EE0EE248AD3A}" type="sibTrans" cxnId="{1450A142-4100-B541-8A77-632087F1ABC1}">
      <dgm:prSet/>
      <dgm:spPr/>
      <dgm:t>
        <a:bodyPr/>
        <a:lstStyle/>
        <a:p>
          <a:endParaRPr lang="en-US"/>
        </a:p>
      </dgm:t>
    </dgm:pt>
    <dgm:pt modelId="{D388D580-87DE-AD47-A378-76DA43B1B04A}" type="pres">
      <dgm:prSet presAssocID="{53173BC7-E7D4-3D4B-A8E0-A2D2AE5A8C00}" presName="linear" presStyleCnt="0">
        <dgm:presLayoutVars>
          <dgm:animLvl val="lvl"/>
          <dgm:resizeHandles val="exact"/>
        </dgm:presLayoutVars>
      </dgm:prSet>
      <dgm:spPr/>
    </dgm:pt>
    <dgm:pt modelId="{F500F2E7-5140-0B44-A47F-00138E696C9A}" type="pres">
      <dgm:prSet presAssocID="{066387EC-BFC0-784A-B648-8AE5B566BF75}" presName="parentText" presStyleLbl="node1" presStyleIdx="0" presStyleCnt="2">
        <dgm:presLayoutVars>
          <dgm:chMax val="0"/>
          <dgm:bulletEnabled val="1"/>
        </dgm:presLayoutVars>
      </dgm:prSet>
      <dgm:spPr/>
    </dgm:pt>
    <dgm:pt modelId="{4A1A3D03-DB08-6D4A-9013-6A326781C6BD}" type="pres">
      <dgm:prSet presAssocID="{066387EC-BFC0-784A-B648-8AE5B566BF75}" presName="childText" presStyleLbl="revTx" presStyleIdx="0" presStyleCnt="1">
        <dgm:presLayoutVars>
          <dgm:bulletEnabled val="1"/>
        </dgm:presLayoutVars>
      </dgm:prSet>
      <dgm:spPr/>
    </dgm:pt>
    <dgm:pt modelId="{02FDE227-3421-A249-B877-4E1ACDF3ED5A}" type="pres">
      <dgm:prSet presAssocID="{5E037D5A-EDDE-E440-8CF3-C810A1D6E576}" presName="parentText" presStyleLbl="node1" presStyleIdx="1" presStyleCnt="2" custLinFactNeighborY="14432">
        <dgm:presLayoutVars>
          <dgm:chMax val="0"/>
          <dgm:bulletEnabled val="1"/>
        </dgm:presLayoutVars>
      </dgm:prSet>
      <dgm:spPr/>
    </dgm:pt>
  </dgm:ptLst>
  <dgm:cxnLst>
    <dgm:cxn modelId="{1450A142-4100-B541-8A77-632087F1ABC1}" srcId="{53173BC7-E7D4-3D4B-A8E0-A2D2AE5A8C00}" destId="{5E037D5A-EDDE-E440-8CF3-C810A1D6E576}" srcOrd="1" destOrd="0" parTransId="{12C2C1F2-ECCF-3841-8696-D8982B8C130C}" sibTransId="{7127CD71-1958-8045-9D0B-EE0EE248AD3A}"/>
    <dgm:cxn modelId="{39EE7865-4F07-7E41-A337-CEB0999157BE}" type="presOf" srcId="{7D1E28BB-E7D4-6240-9C26-9492ABCCB82C}" destId="{4A1A3D03-DB08-6D4A-9013-6A326781C6BD}" srcOrd="0" destOrd="0" presId="urn:microsoft.com/office/officeart/2005/8/layout/vList2"/>
    <dgm:cxn modelId="{0309AC7A-4A12-3546-A4CF-B8EE1185DD5B}" srcId="{53173BC7-E7D4-3D4B-A8E0-A2D2AE5A8C00}" destId="{066387EC-BFC0-784A-B648-8AE5B566BF75}" srcOrd="0" destOrd="0" parTransId="{8787F659-B991-3343-9042-4C07199010AD}" sibTransId="{C24B30AF-9314-634E-A8EF-5EE315A026AF}"/>
    <dgm:cxn modelId="{BF79C07A-E053-954F-AD24-836E50D6ADD0}" type="presOf" srcId="{53173BC7-E7D4-3D4B-A8E0-A2D2AE5A8C00}" destId="{D388D580-87DE-AD47-A378-76DA43B1B04A}" srcOrd="0" destOrd="0" presId="urn:microsoft.com/office/officeart/2005/8/layout/vList2"/>
    <dgm:cxn modelId="{51FE397B-0AB3-B747-9DD3-7C50ABDF0ACA}" type="presOf" srcId="{066387EC-BFC0-784A-B648-8AE5B566BF75}" destId="{F500F2E7-5140-0B44-A47F-00138E696C9A}" srcOrd="0" destOrd="0" presId="urn:microsoft.com/office/officeart/2005/8/layout/vList2"/>
    <dgm:cxn modelId="{9C1C8ABE-B4DC-574F-A3FC-D4125EB8F64D}" type="presOf" srcId="{5E037D5A-EDDE-E440-8CF3-C810A1D6E576}" destId="{02FDE227-3421-A249-B877-4E1ACDF3ED5A}" srcOrd="0" destOrd="0" presId="urn:microsoft.com/office/officeart/2005/8/layout/vList2"/>
    <dgm:cxn modelId="{55DF68C8-0BBD-BB45-A1B2-BFDD60500307}" srcId="{066387EC-BFC0-784A-B648-8AE5B566BF75}" destId="{7D1E28BB-E7D4-6240-9C26-9492ABCCB82C}" srcOrd="0" destOrd="0" parTransId="{E79FF0B8-9CA9-2C4D-A4D7-8AE87CFD65C0}" sibTransId="{D407455B-387C-4349-9E47-3EA34DB4736F}"/>
    <dgm:cxn modelId="{956CBE23-0154-2B41-B8B9-8818A3FB17B6}" type="presParOf" srcId="{D388D580-87DE-AD47-A378-76DA43B1B04A}" destId="{F500F2E7-5140-0B44-A47F-00138E696C9A}" srcOrd="0" destOrd="0" presId="urn:microsoft.com/office/officeart/2005/8/layout/vList2"/>
    <dgm:cxn modelId="{B9E659D2-1523-AE4A-919B-F2248458EC8B}" type="presParOf" srcId="{D388D580-87DE-AD47-A378-76DA43B1B04A}" destId="{4A1A3D03-DB08-6D4A-9013-6A326781C6BD}" srcOrd="1" destOrd="0" presId="urn:microsoft.com/office/officeart/2005/8/layout/vList2"/>
    <dgm:cxn modelId="{1B2E5445-7173-5B4C-A802-BC463BCEAD3F}" type="presParOf" srcId="{D388D580-87DE-AD47-A378-76DA43B1B04A}" destId="{02FDE227-3421-A249-B877-4E1ACDF3ED5A}"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CDBB81C-2E50-BF48-A4AE-72E7EA7AEDEB}" type="doc">
      <dgm:prSet loTypeId="urn:microsoft.com/office/officeart/2005/8/layout/default#1" loCatId="list" qsTypeId="urn:microsoft.com/office/officeart/2005/8/quickstyle/simple4" qsCatId="simple" csTypeId="urn:microsoft.com/office/officeart/2005/8/colors/accent1_2" csCatId="accent1" phldr="1"/>
      <dgm:spPr/>
      <dgm:t>
        <a:bodyPr/>
        <a:lstStyle/>
        <a:p>
          <a:endParaRPr lang="en-US"/>
        </a:p>
      </dgm:t>
    </dgm:pt>
    <dgm:pt modelId="{94BCFAB0-9BDD-6A4C-BDA3-38544E1BA07C}">
      <dgm:prSet phldrT="[Text]"/>
      <dgm:spPr>
        <a:solidFill>
          <a:schemeClr val="accent6"/>
        </a:solidFill>
      </dgm:spPr>
      <dgm:t>
        <a:bodyPr/>
        <a:lstStyle/>
        <a:p>
          <a:r>
            <a:rPr lang="en-US" dirty="0"/>
            <a:t>Identifier</a:t>
          </a:r>
        </a:p>
      </dgm:t>
    </dgm:pt>
    <dgm:pt modelId="{181B9A04-3E97-AC4B-B0D3-45D2CFCF36F3}" type="parTrans" cxnId="{94B777FE-C758-B041-BF04-66700F503577}">
      <dgm:prSet/>
      <dgm:spPr/>
      <dgm:t>
        <a:bodyPr/>
        <a:lstStyle/>
        <a:p>
          <a:endParaRPr lang="en-US"/>
        </a:p>
      </dgm:t>
    </dgm:pt>
    <dgm:pt modelId="{1F5FEA36-125C-C546-BF17-E399976F0522}" type="sibTrans" cxnId="{94B777FE-C758-B041-BF04-66700F503577}">
      <dgm:prSet/>
      <dgm:spPr/>
      <dgm:t>
        <a:bodyPr/>
        <a:lstStyle/>
        <a:p>
          <a:endParaRPr lang="en-US"/>
        </a:p>
      </dgm:t>
    </dgm:pt>
    <dgm:pt modelId="{A22EA74F-013B-934F-81B5-A61D7773663C}">
      <dgm:prSet/>
      <dgm:spPr>
        <a:solidFill>
          <a:schemeClr val="accent3">
            <a:lumMod val="75000"/>
          </a:schemeClr>
        </a:solidFill>
      </dgm:spPr>
      <dgm:t>
        <a:bodyPr/>
        <a:lstStyle/>
        <a:p>
          <a:r>
            <a:rPr lang="en-US" dirty="0"/>
            <a:t>State</a:t>
          </a:r>
        </a:p>
      </dgm:t>
    </dgm:pt>
    <dgm:pt modelId="{11A75EB7-B46C-0F46-B791-946256687DF5}" type="parTrans" cxnId="{7B5E7862-2FCC-C04C-A1F7-1B7B624286CB}">
      <dgm:prSet/>
      <dgm:spPr/>
      <dgm:t>
        <a:bodyPr/>
        <a:lstStyle/>
        <a:p>
          <a:endParaRPr lang="en-US"/>
        </a:p>
      </dgm:t>
    </dgm:pt>
    <dgm:pt modelId="{D7C600B0-36F9-1942-89B4-6165C2B30ADA}" type="sibTrans" cxnId="{7B5E7862-2FCC-C04C-A1F7-1B7B624286CB}">
      <dgm:prSet/>
      <dgm:spPr/>
      <dgm:t>
        <a:bodyPr/>
        <a:lstStyle/>
        <a:p>
          <a:endParaRPr lang="en-US"/>
        </a:p>
      </dgm:t>
    </dgm:pt>
    <dgm:pt modelId="{E90F924F-9396-2442-BDA3-BF3934D5AB60}">
      <dgm:prSet/>
      <dgm:spPr/>
      <dgm:t>
        <a:bodyPr/>
        <a:lstStyle/>
        <a:p>
          <a:r>
            <a:rPr lang="en-US" dirty="0"/>
            <a:t>Priority</a:t>
          </a:r>
        </a:p>
      </dgm:t>
    </dgm:pt>
    <dgm:pt modelId="{8C88B6AE-623E-C34E-BC73-D913467AE923}" type="parTrans" cxnId="{D11826D9-C42F-604B-A5FB-49F75F15EF21}">
      <dgm:prSet/>
      <dgm:spPr/>
      <dgm:t>
        <a:bodyPr/>
        <a:lstStyle/>
        <a:p>
          <a:endParaRPr lang="en-US"/>
        </a:p>
      </dgm:t>
    </dgm:pt>
    <dgm:pt modelId="{60E8B68D-DBEE-FC42-B8FF-A51F1633897F}" type="sibTrans" cxnId="{D11826D9-C42F-604B-A5FB-49F75F15EF21}">
      <dgm:prSet/>
      <dgm:spPr/>
      <dgm:t>
        <a:bodyPr/>
        <a:lstStyle/>
        <a:p>
          <a:endParaRPr lang="en-US"/>
        </a:p>
      </dgm:t>
    </dgm:pt>
    <dgm:pt modelId="{715CFDD4-B3DA-BE4A-9A9E-CD0BCBFEBF8C}">
      <dgm:prSet/>
      <dgm:spPr>
        <a:solidFill>
          <a:schemeClr val="accent2">
            <a:lumMod val="75000"/>
          </a:schemeClr>
        </a:solidFill>
      </dgm:spPr>
      <dgm:t>
        <a:bodyPr/>
        <a:lstStyle/>
        <a:p>
          <a:r>
            <a:rPr lang="en-US" dirty="0"/>
            <a:t>Program counter</a:t>
          </a:r>
        </a:p>
      </dgm:t>
    </dgm:pt>
    <dgm:pt modelId="{6AF81781-7F0F-8049-A28E-7FEA6AB1332B}" type="parTrans" cxnId="{B62CBCC7-E483-3247-A54D-0B9E0E859E94}">
      <dgm:prSet/>
      <dgm:spPr/>
      <dgm:t>
        <a:bodyPr/>
        <a:lstStyle/>
        <a:p>
          <a:endParaRPr lang="en-US"/>
        </a:p>
      </dgm:t>
    </dgm:pt>
    <dgm:pt modelId="{3E9D0AA6-A96B-184D-B5F1-76679BE3EBAC}" type="sibTrans" cxnId="{B62CBCC7-E483-3247-A54D-0B9E0E859E94}">
      <dgm:prSet/>
      <dgm:spPr/>
      <dgm:t>
        <a:bodyPr/>
        <a:lstStyle/>
        <a:p>
          <a:endParaRPr lang="en-US"/>
        </a:p>
      </dgm:t>
    </dgm:pt>
    <dgm:pt modelId="{19C7F067-6540-364F-AF6B-A3236C627A2B}">
      <dgm:prSet/>
      <dgm:spPr>
        <a:solidFill>
          <a:srgbClr val="660066"/>
        </a:solidFill>
      </dgm:spPr>
      <dgm:t>
        <a:bodyPr/>
        <a:lstStyle/>
        <a:p>
          <a:r>
            <a:rPr lang="en-US" dirty="0"/>
            <a:t>Memory pointers</a:t>
          </a:r>
        </a:p>
      </dgm:t>
    </dgm:pt>
    <dgm:pt modelId="{29284481-9978-CA4D-B013-AA4E7E29BA25}" type="parTrans" cxnId="{D3680B97-74C3-1E42-BC94-A82A050499ED}">
      <dgm:prSet/>
      <dgm:spPr/>
      <dgm:t>
        <a:bodyPr/>
        <a:lstStyle/>
        <a:p>
          <a:endParaRPr lang="en-US"/>
        </a:p>
      </dgm:t>
    </dgm:pt>
    <dgm:pt modelId="{A080CD70-E361-284F-9C78-74B99DD4BCB6}" type="sibTrans" cxnId="{D3680B97-74C3-1E42-BC94-A82A050499ED}">
      <dgm:prSet/>
      <dgm:spPr/>
      <dgm:t>
        <a:bodyPr/>
        <a:lstStyle/>
        <a:p>
          <a:endParaRPr lang="en-US"/>
        </a:p>
      </dgm:t>
    </dgm:pt>
    <dgm:pt modelId="{0C8479D2-2CDE-6B40-A71B-1E3405C8F018}">
      <dgm:prSet/>
      <dgm:spPr>
        <a:solidFill>
          <a:schemeClr val="tx1"/>
        </a:solidFill>
      </dgm:spPr>
      <dgm:t>
        <a:bodyPr/>
        <a:lstStyle/>
        <a:p>
          <a:r>
            <a:rPr lang="en-US" dirty="0"/>
            <a:t>Context data</a:t>
          </a:r>
        </a:p>
      </dgm:t>
    </dgm:pt>
    <dgm:pt modelId="{B60EBA34-062E-F04E-BA3F-648E9A095B91}" type="parTrans" cxnId="{E94B71F2-E47D-5F42-8026-568B259FB73D}">
      <dgm:prSet/>
      <dgm:spPr/>
      <dgm:t>
        <a:bodyPr/>
        <a:lstStyle/>
        <a:p>
          <a:endParaRPr lang="en-US"/>
        </a:p>
      </dgm:t>
    </dgm:pt>
    <dgm:pt modelId="{BEFD6BE7-F3CB-CE4C-AC80-0CD3E62D3C67}" type="sibTrans" cxnId="{E94B71F2-E47D-5F42-8026-568B259FB73D}">
      <dgm:prSet/>
      <dgm:spPr/>
      <dgm:t>
        <a:bodyPr/>
        <a:lstStyle/>
        <a:p>
          <a:endParaRPr lang="en-US"/>
        </a:p>
      </dgm:t>
    </dgm:pt>
    <dgm:pt modelId="{582286A7-690C-4840-B35D-D2575D0CA780}">
      <dgm:prSet/>
      <dgm:spPr>
        <a:solidFill>
          <a:schemeClr val="tx2"/>
        </a:solidFill>
      </dgm:spPr>
      <dgm:t>
        <a:bodyPr/>
        <a:lstStyle/>
        <a:p>
          <a:r>
            <a:rPr lang="en-US" dirty="0"/>
            <a:t>I/O status information</a:t>
          </a:r>
        </a:p>
      </dgm:t>
    </dgm:pt>
    <dgm:pt modelId="{AB572F8D-D126-E24C-AF7D-C56801B4CDF1}" type="parTrans" cxnId="{32451E63-39E0-6746-A222-CACC7AF9EF8D}">
      <dgm:prSet/>
      <dgm:spPr/>
      <dgm:t>
        <a:bodyPr/>
        <a:lstStyle/>
        <a:p>
          <a:endParaRPr lang="en-US"/>
        </a:p>
      </dgm:t>
    </dgm:pt>
    <dgm:pt modelId="{0D8A5698-71EC-0B40-AA18-B8D55498C836}" type="sibTrans" cxnId="{32451E63-39E0-6746-A222-CACC7AF9EF8D}">
      <dgm:prSet/>
      <dgm:spPr/>
      <dgm:t>
        <a:bodyPr/>
        <a:lstStyle/>
        <a:p>
          <a:endParaRPr lang="en-US"/>
        </a:p>
      </dgm:t>
    </dgm:pt>
    <dgm:pt modelId="{B6242E29-052A-3A41-8102-2545FCCE8336}">
      <dgm:prSet/>
      <dgm:spPr>
        <a:solidFill>
          <a:schemeClr val="accent4">
            <a:lumMod val="75000"/>
          </a:schemeClr>
        </a:solidFill>
      </dgm:spPr>
      <dgm:t>
        <a:bodyPr/>
        <a:lstStyle/>
        <a:p>
          <a:r>
            <a:rPr lang="en-US" dirty="0"/>
            <a:t>Accounting information</a:t>
          </a:r>
        </a:p>
      </dgm:t>
    </dgm:pt>
    <dgm:pt modelId="{FE2AE043-DA28-CF42-AC1E-77698602D003}" type="parTrans" cxnId="{5E9E2A84-9A7D-A44C-9465-DB3354B56A81}">
      <dgm:prSet/>
      <dgm:spPr/>
      <dgm:t>
        <a:bodyPr/>
        <a:lstStyle/>
        <a:p>
          <a:endParaRPr lang="en-US"/>
        </a:p>
      </dgm:t>
    </dgm:pt>
    <dgm:pt modelId="{4E7ADB18-FE2B-6146-A7BB-7D528526954C}" type="sibTrans" cxnId="{5E9E2A84-9A7D-A44C-9465-DB3354B56A81}">
      <dgm:prSet/>
      <dgm:spPr/>
      <dgm:t>
        <a:bodyPr/>
        <a:lstStyle/>
        <a:p>
          <a:endParaRPr lang="en-US"/>
        </a:p>
      </dgm:t>
    </dgm:pt>
    <dgm:pt modelId="{685CC5D3-5A33-4348-9730-FBED9A117716}" type="pres">
      <dgm:prSet presAssocID="{ECDBB81C-2E50-BF48-A4AE-72E7EA7AEDEB}" presName="diagram" presStyleCnt="0">
        <dgm:presLayoutVars>
          <dgm:dir/>
          <dgm:resizeHandles val="exact"/>
        </dgm:presLayoutVars>
      </dgm:prSet>
      <dgm:spPr/>
    </dgm:pt>
    <dgm:pt modelId="{843458A4-26D2-2C44-B9FB-71A1610693F2}" type="pres">
      <dgm:prSet presAssocID="{94BCFAB0-9BDD-6A4C-BDA3-38544E1BA07C}" presName="node" presStyleLbl="node1" presStyleIdx="0" presStyleCnt="8" custScaleY="85911" custLinFactX="83129" custLinFactNeighborX="100000" custLinFactNeighborY="-27780">
        <dgm:presLayoutVars>
          <dgm:bulletEnabled val="1"/>
        </dgm:presLayoutVars>
      </dgm:prSet>
      <dgm:spPr/>
    </dgm:pt>
    <dgm:pt modelId="{505486F8-265A-344C-997A-20E64C179B1B}" type="pres">
      <dgm:prSet presAssocID="{1F5FEA36-125C-C546-BF17-E399976F0522}" presName="sibTrans" presStyleCnt="0"/>
      <dgm:spPr/>
    </dgm:pt>
    <dgm:pt modelId="{FFB3EB76-2E6C-B649-857A-BF94DBD248C3}" type="pres">
      <dgm:prSet presAssocID="{A22EA74F-013B-934F-81B5-A61D7773663C}" presName="node" presStyleLbl="node1" presStyleIdx="1" presStyleCnt="8" custLinFactNeighborX="-26466" custLinFactNeighborY="65175">
        <dgm:presLayoutVars>
          <dgm:bulletEnabled val="1"/>
        </dgm:presLayoutVars>
      </dgm:prSet>
      <dgm:spPr/>
    </dgm:pt>
    <dgm:pt modelId="{3B3A30A3-E8E2-1740-9022-E95420533982}" type="pres">
      <dgm:prSet presAssocID="{D7C600B0-36F9-1942-89B4-6165C2B30ADA}" presName="sibTrans" presStyleCnt="0"/>
      <dgm:spPr/>
    </dgm:pt>
    <dgm:pt modelId="{F9C2771E-E09D-7E4B-8BC7-2EACC928AB9D}" type="pres">
      <dgm:prSet presAssocID="{E90F924F-9396-2442-BDA3-BF3934D5AB60}" presName="node" presStyleLbl="node1" presStyleIdx="2" presStyleCnt="8" custLinFactNeighborX="-36870" custLinFactNeighborY="65175">
        <dgm:presLayoutVars>
          <dgm:bulletEnabled val="1"/>
        </dgm:presLayoutVars>
      </dgm:prSet>
      <dgm:spPr/>
    </dgm:pt>
    <dgm:pt modelId="{6C4059F1-FE40-9F4A-8D0D-A07772629B23}" type="pres">
      <dgm:prSet presAssocID="{60E8B68D-DBEE-FC42-B8FF-A51F1633897F}" presName="sibTrans" presStyleCnt="0"/>
      <dgm:spPr/>
    </dgm:pt>
    <dgm:pt modelId="{B373FAC3-5061-AF49-B501-530831A6C23F}" type="pres">
      <dgm:prSet presAssocID="{715CFDD4-B3DA-BE4A-9A9E-CD0BCBFEBF8C}" presName="node" presStyleLbl="node1" presStyleIdx="3" presStyleCnt="8" custLinFactNeighborX="-47275" custLinFactNeighborY="65175">
        <dgm:presLayoutVars>
          <dgm:bulletEnabled val="1"/>
        </dgm:presLayoutVars>
      </dgm:prSet>
      <dgm:spPr/>
    </dgm:pt>
    <dgm:pt modelId="{16357438-5BB6-2941-8CAF-C76EAF764FBD}" type="pres">
      <dgm:prSet presAssocID="{3E9D0AA6-A96B-184D-B5F1-76679BE3EBAC}" presName="sibTrans" presStyleCnt="0"/>
      <dgm:spPr/>
    </dgm:pt>
    <dgm:pt modelId="{C89EF9B4-EDC8-C84D-A659-29B518ACADDB}" type="pres">
      <dgm:prSet presAssocID="{19C7F067-6540-364F-AF6B-A3236C627A2B}" presName="node" presStyleLbl="node1" presStyleIdx="4" presStyleCnt="8" custLinFactNeighborX="27761" custLinFactNeighborY="48104">
        <dgm:presLayoutVars>
          <dgm:bulletEnabled val="1"/>
        </dgm:presLayoutVars>
      </dgm:prSet>
      <dgm:spPr/>
    </dgm:pt>
    <dgm:pt modelId="{DC75E8E5-983A-6348-83ED-A5DE3C2B5ADF}" type="pres">
      <dgm:prSet presAssocID="{A080CD70-E361-284F-9C78-74B99DD4BCB6}" presName="sibTrans" presStyleCnt="0"/>
      <dgm:spPr/>
    </dgm:pt>
    <dgm:pt modelId="{5787ADE3-2B9F-7944-82CB-CE71DF883FF9}" type="pres">
      <dgm:prSet presAssocID="{0C8479D2-2CDE-6B40-A71B-1E3405C8F018}" presName="node" presStyleLbl="node1" presStyleIdx="5" presStyleCnt="8" custLinFactNeighborX="17356" custLinFactNeighborY="48104">
        <dgm:presLayoutVars>
          <dgm:bulletEnabled val="1"/>
        </dgm:presLayoutVars>
      </dgm:prSet>
      <dgm:spPr/>
    </dgm:pt>
    <dgm:pt modelId="{019EA49A-43C9-6648-932D-ADF84E4B4D6F}" type="pres">
      <dgm:prSet presAssocID="{BEFD6BE7-F3CB-CE4C-AC80-0CD3E62D3C67}" presName="sibTrans" presStyleCnt="0"/>
      <dgm:spPr/>
    </dgm:pt>
    <dgm:pt modelId="{F5765459-F0DD-B04E-8F83-90F8421A8211}" type="pres">
      <dgm:prSet presAssocID="{582286A7-690C-4840-B35D-D2575D0CA780}" presName="node" presStyleLbl="node1" presStyleIdx="6" presStyleCnt="8" custLinFactNeighborX="6951" custLinFactNeighborY="48104">
        <dgm:presLayoutVars>
          <dgm:bulletEnabled val="1"/>
        </dgm:presLayoutVars>
      </dgm:prSet>
      <dgm:spPr/>
    </dgm:pt>
    <dgm:pt modelId="{7DCAB91D-9C5C-6D4E-B913-58A90D09C08A}" type="pres">
      <dgm:prSet presAssocID="{0D8A5698-71EC-0B40-AA18-B8D55498C836}" presName="sibTrans" presStyleCnt="0"/>
      <dgm:spPr/>
    </dgm:pt>
    <dgm:pt modelId="{4B2744D8-5219-FE41-ACC6-C2EE72C25ABB}" type="pres">
      <dgm:prSet presAssocID="{B6242E29-052A-3A41-8102-2545FCCE8336}" presName="node" presStyleLbl="node1" presStyleIdx="7" presStyleCnt="8" custLinFactNeighborX="-3453" custLinFactNeighborY="48104">
        <dgm:presLayoutVars>
          <dgm:bulletEnabled val="1"/>
        </dgm:presLayoutVars>
      </dgm:prSet>
      <dgm:spPr/>
    </dgm:pt>
  </dgm:ptLst>
  <dgm:cxnLst>
    <dgm:cxn modelId="{E0357F0D-F7AF-934D-9A06-E5A754B0559D}" type="presOf" srcId="{0C8479D2-2CDE-6B40-A71B-1E3405C8F018}" destId="{5787ADE3-2B9F-7944-82CB-CE71DF883FF9}" srcOrd="0" destOrd="0" presId="urn:microsoft.com/office/officeart/2005/8/layout/default#1"/>
    <dgm:cxn modelId="{9C298117-6321-6245-94ED-4369A1AD1112}" type="presOf" srcId="{ECDBB81C-2E50-BF48-A4AE-72E7EA7AEDEB}" destId="{685CC5D3-5A33-4348-9730-FBED9A117716}" srcOrd="0" destOrd="0" presId="urn:microsoft.com/office/officeart/2005/8/layout/default#1"/>
    <dgm:cxn modelId="{7B5E7862-2FCC-C04C-A1F7-1B7B624286CB}" srcId="{ECDBB81C-2E50-BF48-A4AE-72E7EA7AEDEB}" destId="{A22EA74F-013B-934F-81B5-A61D7773663C}" srcOrd="1" destOrd="0" parTransId="{11A75EB7-B46C-0F46-B791-946256687DF5}" sibTransId="{D7C600B0-36F9-1942-89B4-6165C2B30ADA}"/>
    <dgm:cxn modelId="{32451E63-39E0-6746-A222-CACC7AF9EF8D}" srcId="{ECDBB81C-2E50-BF48-A4AE-72E7EA7AEDEB}" destId="{582286A7-690C-4840-B35D-D2575D0CA780}" srcOrd="6" destOrd="0" parTransId="{AB572F8D-D126-E24C-AF7D-C56801B4CDF1}" sibTransId="{0D8A5698-71EC-0B40-AA18-B8D55498C836}"/>
    <dgm:cxn modelId="{76ED1D46-3EBB-E043-BA49-C5A49027C917}" type="presOf" srcId="{715CFDD4-B3DA-BE4A-9A9E-CD0BCBFEBF8C}" destId="{B373FAC3-5061-AF49-B501-530831A6C23F}" srcOrd="0" destOrd="0" presId="urn:microsoft.com/office/officeart/2005/8/layout/default#1"/>
    <dgm:cxn modelId="{658A2C7B-F7A7-BA4C-A820-AFD02D6412B1}" type="presOf" srcId="{B6242E29-052A-3A41-8102-2545FCCE8336}" destId="{4B2744D8-5219-FE41-ACC6-C2EE72C25ABB}" srcOrd="0" destOrd="0" presId="urn:microsoft.com/office/officeart/2005/8/layout/default#1"/>
    <dgm:cxn modelId="{5E9E2A84-9A7D-A44C-9465-DB3354B56A81}" srcId="{ECDBB81C-2E50-BF48-A4AE-72E7EA7AEDEB}" destId="{B6242E29-052A-3A41-8102-2545FCCE8336}" srcOrd="7" destOrd="0" parTransId="{FE2AE043-DA28-CF42-AC1E-77698602D003}" sibTransId="{4E7ADB18-FE2B-6146-A7BB-7D528526954C}"/>
    <dgm:cxn modelId="{DA718B85-FAFC-6A4B-90FA-02073F22134E}" type="presOf" srcId="{582286A7-690C-4840-B35D-D2575D0CA780}" destId="{F5765459-F0DD-B04E-8F83-90F8421A8211}" srcOrd="0" destOrd="0" presId="urn:microsoft.com/office/officeart/2005/8/layout/default#1"/>
    <dgm:cxn modelId="{D3680B97-74C3-1E42-BC94-A82A050499ED}" srcId="{ECDBB81C-2E50-BF48-A4AE-72E7EA7AEDEB}" destId="{19C7F067-6540-364F-AF6B-A3236C627A2B}" srcOrd="4" destOrd="0" parTransId="{29284481-9978-CA4D-B013-AA4E7E29BA25}" sibTransId="{A080CD70-E361-284F-9C78-74B99DD4BCB6}"/>
    <dgm:cxn modelId="{5C6184B1-C248-0244-9D3B-CB3286EE82C6}" type="presOf" srcId="{94BCFAB0-9BDD-6A4C-BDA3-38544E1BA07C}" destId="{843458A4-26D2-2C44-B9FB-71A1610693F2}" srcOrd="0" destOrd="0" presId="urn:microsoft.com/office/officeart/2005/8/layout/default#1"/>
    <dgm:cxn modelId="{F8A8FCB9-EDE4-E14C-AA60-BC652F5FDC92}" type="presOf" srcId="{19C7F067-6540-364F-AF6B-A3236C627A2B}" destId="{C89EF9B4-EDC8-C84D-A659-29B518ACADDB}" srcOrd="0" destOrd="0" presId="urn:microsoft.com/office/officeart/2005/8/layout/default#1"/>
    <dgm:cxn modelId="{B87879C1-41F8-2244-B440-5AF0A67260B3}" type="presOf" srcId="{A22EA74F-013B-934F-81B5-A61D7773663C}" destId="{FFB3EB76-2E6C-B649-857A-BF94DBD248C3}" srcOrd="0" destOrd="0" presId="urn:microsoft.com/office/officeart/2005/8/layout/default#1"/>
    <dgm:cxn modelId="{8D7692C7-16D8-A34F-9BEC-C0CC13E47028}" type="presOf" srcId="{E90F924F-9396-2442-BDA3-BF3934D5AB60}" destId="{F9C2771E-E09D-7E4B-8BC7-2EACC928AB9D}" srcOrd="0" destOrd="0" presId="urn:microsoft.com/office/officeart/2005/8/layout/default#1"/>
    <dgm:cxn modelId="{B62CBCC7-E483-3247-A54D-0B9E0E859E94}" srcId="{ECDBB81C-2E50-BF48-A4AE-72E7EA7AEDEB}" destId="{715CFDD4-B3DA-BE4A-9A9E-CD0BCBFEBF8C}" srcOrd="3" destOrd="0" parTransId="{6AF81781-7F0F-8049-A28E-7FEA6AB1332B}" sibTransId="{3E9D0AA6-A96B-184D-B5F1-76679BE3EBAC}"/>
    <dgm:cxn modelId="{D11826D9-C42F-604B-A5FB-49F75F15EF21}" srcId="{ECDBB81C-2E50-BF48-A4AE-72E7EA7AEDEB}" destId="{E90F924F-9396-2442-BDA3-BF3934D5AB60}" srcOrd="2" destOrd="0" parTransId="{8C88B6AE-623E-C34E-BC73-D913467AE923}" sibTransId="{60E8B68D-DBEE-FC42-B8FF-A51F1633897F}"/>
    <dgm:cxn modelId="{E94B71F2-E47D-5F42-8026-568B259FB73D}" srcId="{ECDBB81C-2E50-BF48-A4AE-72E7EA7AEDEB}" destId="{0C8479D2-2CDE-6B40-A71B-1E3405C8F018}" srcOrd="5" destOrd="0" parTransId="{B60EBA34-062E-F04E-BA3F-648E9A095B91}" sibTransId="{BEFD6BE7-F3CB-CE4C-AC80-0CD3E62D3C67}"/>
    <dgm:cxn modelId="{94B777FE-C758-B041-BF04-66700F503577}" srcId="{ECDBB81C-2E50-BF48-A4AE-72E7EA7AEDEB}" destId="{94BCFAB0-9BDD-6A4C-BDA3-38544E1BA07C}" srcOrd="0" destOrd="0" parTransId="{181B9A04-3E97-AC4B-B0D3-45D2CFCF36F3}" sibTransId="{1F5FEA36-125C-C546-BF17-E399976F0522}"/>
    <dgm:cxn modelId="{7EF2C9DA-85EF-7442-A4A9-7B581D60E7B8}" type="presParOf" srcId="{685CC5D3-5A33-4348-9730-FBED9A117716}" destId="{843458A4-26D2-2C44-B9FB-71A1610693F2}" srcOrd="0" destOrd="0" presId="urn:microsoft.com/office/officeart/2005/8/layout/default#1"/>
    <dgm:cxn modelId="{5C8F52C9-B5CF-6449-8A4D-9A70028BC589}" type="presParOf" srcId="{685CC5D3-5A33-4348-9730-FBED9A117716}" destId="{505486F8-265A-344C-997A-20E64C179B1B}" srcOrd="1" destOrd="0" presId="urn:microsoft.com/office/officeart/2005/8/layout/default#1"/>
    <dgm:cxn modelId="{16931890-2685-4E49-88CE-620FF1BBCE6F}" type="presParOf" srcId="{685CC5D3-5A33-4348-9730-FBED9A117716}" destId="{FFB3EB76-2E6C-B649-857A-BF94DBD248C3}" srcOrd="2" destOrd="0" presId="urn:microsoft.com/office/officeart/2005/8/layout/default#1"/>
    <dgm:cxn modelId="{0B00EBED-7E94-2246-9226-DF4649402497}" type="presParOf" srcId="{685CC5D3-5A33-4348-9730-FBED9A117716}" destId="{3B3A30A3-E8E2-1740-9022-E95420533982}" srcOrd="3" destOrd="0" presId="urn:microsoft.com/office/officeart/2005/8/layout/default#1"/>
    <dgm:cxn modelId="{732A31AB-B05F-804C-81F1-BA6EBBB76D96}" type="presParOf" srcId="{685CC5D3-5A33-4348-9730-FBED9A117716}" destId="{F9C2771E-E09D-7E4B-8BC7-2EACC928AB9D}" srcOrd="4" destOrd="0" presId="urn:microsoft.com/office/officeart/2005/8/layout/default#1"/>
    <dgm:cxn modelId="{7672E6C8-EB69-DE42-B633-4A052796C174}" type="presParOf" srcId="{685CC5D3-5A33-4348-9730-FBED9A117716}" destId="{6C4059F1-FE40-9F4A-8D0D-A07772629B23}" srcOrd="5" destOrd="0" presId="urn:microsoft.com/office/officeart/2005/8/layout/default#1"/>
    <dgm:cxn modelId="{7C237E49-7C18-D242-8569-2D312C0F0547}" type="presParOf" srcId="{685CC5D3-5A33-4348-9730-FBED9A117716}" destId="{B373FAC3-5061-AF49-B501-530831A6C23F}" srcOrd="6" destOrd="0" presId="urn:microsoft.com/office/officeart/2005/8/layout/default#1"/>
    <dgm:cxn modelId="{10526CC4-8B66-4A42-88E5-E90ED268E972}" type="presParOf" srcId="{685CC5D3-5A33-4348-9730-FBED9A117716}" destId="{16357438-5BB6-2941-8CAF-C76EAF764FBD}" srcOrd="7" destOrd="0" presId="urn:microsoft.com/office/officeart/2005/8/layout/default#1"/>
    <dgm:cxn modelId="{55AB9F21-3FA3-1D43-9052-DC0B95C5AE6C}" type="presParOf" srcId="{685CC5D3-5A33-4348-9730-FBED9A117716}" destId="{C89EF9B4-EDC8-C84D-A659-29B518ACADDB}" srcOrd="8" destOrd="0" presId="urn:microsoft.com/office/officeart/2005/8/layout/default#1"/>
    <dgm:cxn modelId="{11261CBA-B301-A946-97BE-9449D17B4C05}" type="presParOf" srcId="{685CC5D3-5A33-4348-9730-FBED9A117716}" destId="{DC75E8E5-983A-6348-83ED-A5DE3C2B5ADF}" srcOrd="9" destOrd="0" presId="urn:microsoft.com/office/officeart/2005/8/layout/default#1"/>
    <dgm:cxn modelId="{1BC9729C-2CF8-E140-AB9C-278D0A638EEB}" type="presParOf" srcId="{685CC5D3-5A33-4348-9730-FBED9A117716}" destId="{5787ADE3-2B9F-7944-82CB-CE71DF883FF9}" srcOrd="10" destOrd="0" presId="urn:microsoft.com/office/officeart/2005/8/layout/default#1"/>
    <dgm:cxn modelId="{0CB81EF3-D786-A94F-B3FA-9A14F577EC74}" type="presParOf" srcId="{685CC5D3-5A33-4348-9730-FBED9A117716}" destId="{019EA49A-43C9-6648-932D-ADF84E4B4D6F}" srcOrd="11" destOrd="0" presId="urn:microsoft.com/office/officeart/2005/8/layout/default#1"/>
    <dgm:cxn modelId="{5B9413BC-C58A-9D47-BA77-99E98E16DB29}" type="presParOf" srcId="{685CC5D3-5A33-4348-9730-FBED9A117716}" destId="{F5765459-F0DD-B04E-8F83-90F8421A8211}" srcOrd="12" destOrd="0" presId="urn:microsoft.com/office/officeart/2005/8/layout/default#1"/>
    <dgm:cxn modelId="{4877862B-8475-D047-8BC3-FB8987FB0CF4}" type="presParOf" srcId="{685CC5D3-5A33-4348-9730-FBED9A117716}" destId="{7DCAB91D-9C5C-6D4E-B913-58A90D09C08A}" srcOrd="13" destOrd="0" presId="urn:microsoft.com/office/officeart/2005/8/layout/default#1"/>
    <dgm:cxn modelId="{DA7E1A16-06A0-C944-BFD7-757C56DB1565}" type="presParOf" srcId="{685CC5D3-5A33-4348-9730-FBED9A117716}" destId="{4B2744D8-5219-FE41-ACC6-C2EE72C25ABB}" srcOrd="14"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FD46B0E-E9C9-1E4B-961E-80132A5C983C}" type="doc">
      <dgm:prSet loTypeId="urn:microsoft.com/office/officeart/2005/8/layout/hierarchy3" loCatId="hierarchy" qsTypeId="urn:microsoft.com/office/officeart/2005/8/quickstyle/simple4" qsCatId="simple" csTypeId="urn:microsoft.com/office/officeart/2005/8/colors/accent1_2" csCatId="accent1" phldr="1"/>
      <dgm:spPr/>
      <dgm:t>
        <a:bodyPr/>
        <a:lstStyle/>
        <a:p>
          <a:endParaRPr lang="en-US"/>
        </a:p>
      </dgm:t>
    </dgm:pt>
    <dgm:pt modelId="{8CF7DABB-E685-7649-9193-5973EE04A11C}">
      <dgm:prSet custT="1"/>
      <dgm:spPr/>
      <dgm:t>
        <a:bodyPr/>
        <a:lstStyle/>
        <a:p>
          <a:pPr rtl="0"/>
          <a:r>
            <a:rPr lang="en-US" sz="2000" b="1" i="1" dirty="0"/>
            <a:t>Trace</a:t>
          </a:r>
          <a:endParaRPr lang="en-US" sz="2000" dirty="0"/>
        </a:p>
      </dgm:t>
    </dgm:pt>
    <dgm:pt modelId="{B05171EE-A301-B946-AF2D-C1134378C886}" type="parTrans" cxnId="{3A67151F-A3ED-0947-AD44-8AA57D78E09C}">
      <dgm:prSet/>
      <dgm:spPr/>
      <dgm:t>
        <a:bodyPr/>
        <a:lstStyle/>
        <a:p>
          <a:endParaRPr lang="en-US"/>
        </a:p>
      </dgm:t>
    </dgm:pt>
    <dgm:pt modelId="{BFC2FD4B-EF10-344C-8158-7BC835E26BE2}" type="sibTrans" cxnId="{3A67151F-A3ED-0947-AD44-8AA57D78E09C}">
      <dgm:prSet/>
      <dgm:spPr/>
      <dgm:t>
        <a:bodyPr/>
        <a:lstStyle/>
        <a:p>
          <a:endParaRPr lang="en-US"/>
        </a:p>
      </dgm:t>
    </dgm:pt>
    <dgm:pt modelId="{86AD88F0-314B-6444-BD87-F3C84F11651F}">
      <dgm:prSet custT="1"/>
      <dgm:spPr/>
      <dgm:t>
        <a:bodyPr/>
        <a:lstStyle/>
        <a:p>
          <a:pPr rtl="0"/>
          <a:r>
            <a:rPr lang="en-US" sz="1600" dirty="0"/>
            <a:t>The </a:t>
          </a:r>
          <a:r>
            <a:rPr lang="en-US" sz="1600" dirty="0">
              <a:solidFill>
                <a:srgbClr val="FF0000"/>
              </a:solidFill>
            </a:rPr>
            <a:t>behavior</a:t>
          </a:r>
          <a:r>
            <a:rPr lang="en-US" sz="1600" dirty="0"/>
            <a:t> of an individual process by listing the </a:t>
          </a:r>
          <a:r>
            <a:rPr lang="en-US" sz="1600" dirty="0">
              <a:solidFill>
                <a:srgbClr val="FF0000"/>
              </a:solidFill>
            </a:rPr>
            <a:t>sequence of instructions </a:t>
          </a:r>
          <a:r>
            <a:rPr lang="en-US" sz="1600" dirty="0"/>
            <a:t>that execute for that process</a:t>
          </a:r>
        </a:p>
      </dgm:t>
    </dgm:pt>
    <dgm:pt modelId="{F288BA89-D432-F942-BEAB-3302AF39D024}" type="parTrans" cxnId="{B5D49045-C2B8-7640-B3EB-E850E0166C92}">
      <dgm:prSet/>
      <dgm:spPr/>
      <dgm:t>
        <a:bodyPr/>
        <a:lstStyle/>
        <a:p>
          <a:endParaRPr lang="en-US"/>
        </a:p>
      </dgm:t>
    </dgm:pt>
    <dgm:pt modelId="{E0D5325A-DCC1-0348-8125-8FD7298F8CBB}" type="sibTrans" cxnId="{B5D49045-C2B8-7640-B3EB-E850E0166C92}">
      <dgm:prSet/>
      <dgm:spPr/>
      <dgm:t>
        <a:bodyPr/>
        <a:lstStyle/>
        <a:p>
          <a:endParaRPr lang="en-US"/>
        </a:p>
      </dgm:t>
    </dgm:pt>
    <dgm:pt modelId="{233F7DFA-202E-F74C-AB9D-53EFC686B345}">
      <dgm:prSet custT="1"/>
      <dgm:spPr/>
      <dgm:t>
        <a:bodyPr/>
        <a:lstStyle/>
        <a:p>
          <a:pPr rtl="0"/>
          <a:r>
            <a:rPr lang="en-US" sz="1600" dirty="0"/>
            <a:t>The </a:t>
          </a:r>
          <a:r>
            <a:rPr lang="en-US" sz="1600" dirty="0">
              <a:solidFill>
                <a:srgbClr val="FF0000"/>
              </a:solidFill>
            </a:rPr>
            <a:t>behavior</a:t>
          </a:r>
          <a:r>
            <a:rPr lang="en-US" sz="1600" dirty="0"/>
            <a:t> of the processor can be characterized by </a:t>
          </a:r>
          <a:r>
            <a:rPr lang="en-US" sz="1600" dirty="0">
              <a:solidFill>
                <a:srgbClr val="FF0000"/>
              </a:solidFill>
            </a:rPr>
            <a:t>showing how the traces of the various processes are interleaved</a:t>
          </a:r>
        </a:p>
      </dgm:t>
    </dgm:pt>
    <dgm:pt modelId="{ADE4F796-F389-964A-9F92-660666F3A636}" type="parTrans" cxnId="{E6E58F73-83F1-AA4A-A218-B2606996B3BD}">
      <dgm:prSet/>
      <dgm:spPr/>
      <dgm:t>
        <a:bodyPr/>
        <a:lstStyle/>
        <a:p>
          <a:endParaRPr lang="en-US"/>
        </a:p>
      </dgm:t>
    </dgm:pt>
    <dgm:pt modelId="{12D910F3-F055-9744-BF38-A4A20095BB98}" type="sibTrans" cxnId="{E6E58F73-83F1-AA4A-A218-B2606996B3BD}">
      <dgm:prSet/>
      <dgm:spPr/>
      <dgm:t>
        <a:bodyPr/>
        <a:lstStyle/>
        <a:p>
          <a:endParaRPr lang="en-US"/>
        </a:p>
      </dgm:t>
    </dgm:pt>
    <dgm:pt modelId="{25188C39-687A-BD45-A96D-0C6C99BD8253}">
      <dgm:prSet custT="1"/>
      <dgm:spPr/>
      <dgm:t>
        <a:bodyPr/>
        <a:lstStyle/>
        <a:p>
          <a:pPr rtl="0"/>
          <a:r>
            <a:rPr lang="en-US" sz="2000" b="1" i="1" dirty="0"/>
            <a:t>Dispatcher</a:t>
          </a:r>
          <a:r>
            <a:rPr lang="en-US" sz="1600" dirty="0"/>
            <a:t>  </a:t>
          </a:r>
        </a:p>
      </dgm:t>
    </dgm:pt>
    <dgm:pt modelId="{21E03498-996B-8641-ADF2-00A3977EA0CE}" type="parTrans" cxnId="{4E99B867-4321-3046-9A1C-9ABD13AC20FD}">
      <dgm:prSet/>
      <dgm:spPr/>
      <dgm:t>
        <a:bodyPr/>
        <a:lstStyle/>
        <a:p>
          <a:endParaRPr lang="en-US"/>
        </a:p>
      </dgm:t>
    </dgm:pt>
    <dgm:pt modelId="{27331D9B-4E43-CB40-B1C2-645F4FCA45F4}" type="sibTrans" cxnId="{4E99B867-4321-3046-9A1C-9ABD13AC20FD}">
      <dgm:prSet/>
      <dgm:spPr/>
      <dgm:t>
        <a:bodyPr/>
        <a:lstStyle/>
        <a:p>
          <a:endParaRPr lang="en-US"/>
        </a:p>
      </dgm:t>
    </dgm:pt>
    <dgm:pt modelId="{693DF3AA-9269-2545-9150-1B3192513936}">
      <dgm:prSet custT="1"/>
      <dgm:spPr/>
      <dgm:t>
        <a:bodyPr/>
        <a:lstStyle/>
        <a:p>
          <a:pPr rtl="0"/>
          <a:r>
            <a:rPr lang="en-US" sz="1600" dirty="0"/>
            <a:t>Small program that </a:t>
          </a:r>
          <a:r>
            <a:rPr lang="en-US" sz="1600" b="1" dirty="0">
              <a:solidFill>
                <a:srgbClr val="FF0000"/>
              </a:solidFill>
            </a:rPr>
            <a:t>switches the processor from one process to another</a:t>
          </a:r>
        </a:p>
      </dgm:t>
    </dgm:pt>
    <dgm:pt modelId="{755F770C-EEB9-0B4A-8B8E-7A4E15984F6D}" type="parTrans" cxnId="{1C88A854-BB97-244A-BF34-F58C72863022}">
      <dgm:prSet/>
      <dgm:spPr/>
      <dgm:t>
        <a:bodyPr/>
        <a:lstStyle/>
        <a:p>
          <a:endParaRPr lang="en-US"/>
        </a:p>
      </dgm:t>
    </dgm:pt>
    <dgm:pt modelId="{9E02C22E-4AA3-1944-BC1B-4DD2E2711460}" type="sibTrans" cxnId="{1C88A854-BB97-244A-BF34-F58C72863022}">
      <dgm:prSet/>
      <dgm:spPr/>
      <dgm:t>
        <a:bodyPr/>
        <a:lstStyle/>
        <a:p>
          <a:endParaRPr lang="en-US"/>
        </a:p>
      </dgm:t>
    </dgm:pt>
    <dgm:pt modelId="{AA843FC4-97DC-3649-9F16-C3801798B452}" type="pres">
      <dgm:prSet presAssocID="{2FD46B0E-E9C9-1E4B-961E-80132A5C983C}" presName="diagram" presStyleCnt="0">
        <dgm:presLayoutVars>
          <dgm:chPref val="1"/>
          <dgm:dir/>
          <dgm:animOne val="branch"/>
          <dgm:animLvl val="lvl"/>
          <dgm:resizeHandles/>
        </dgm:presLayoutVars>
      </dgm:prSet>
      <dgm:spPr/>
    </dgm:pt>
    <dgm:pt modelId="{80EA5A8F-1803-784A-AFE3-3DD0EA8F50BD}" type="pres">
      <dgm:prSet presAssocID="{8CF7DABB-E685-7649-9193-5973EE04A11C}" presName="root" presStyleCnt="0"/>
      <dgm:spPr/>
    </dgm:pt>
    <dgm:pt modelId="{2771C28D-ABBE-A741-8A65-D460C7EB471D}" type="pres">
      <dgm:prSet presAssocID="{8CF7DABB-E685-7649-9193-5973EE04A11C}" presName="rootComposite" presStyleCnt="0"/>
      <dgm:spPr/>
    </dgm:pt>
    <dgm:pt modelId="{94F28402-8223-1345-8F86-B41D09DF4999}" type="pres">
      <dgm:prSet presAssocID="{8CF7DABB-E685-7649-9193-5973EE04A11C}" presName="rootText" presStyleLbl="node1" presStyleIdx="0" presStyleCnt="2" custLinFactX="-16615" custLinFactNeighborX="-100000" custLinFactNeighborY="-107"/>
      <dgm:spPr/>
    </dgm:pt>
    <dgm:pt modelId="{EE3338E7-0BBE-D244-8A2E-15290019B04C}" type="pres">
      <dgm:prSet presAssocID="{8CF7DABB-E685-7649-9193-5973EE04A11C}" presName="rootConnector" presStyleLbl="node1" presStyleIdx="0" presStyleCnt="2"/>
      <dgm:spPr/>
    </dgm:pt>
    <dgm:pt modelId="{98535523-42D4-4043-95B6-AD340DA8CDAC}" type="pres">
      <dgm:prSet presAssocID="{8CF7DABB-E685-7649-9193-5973EE04A11C}" presName="childShape" presStyleCnt="0"/>
      <dgm:spPr/>
    </dgm:pt>
    <dgm:pt modelId="{6792DD43-5CA5-8E48-AF98-B37112383575}" type="pres">
      <dgm:prSet presAssocID="{F288BA89-D432-F942-BEAB-3302AF39D024}" presName="Name13" presStyleLbl="parChTrans1D2" presStyleIdx="0" presStyleCnt="3"/>
      <dgm:spPr/>
    </dgm:pt>
    <dgm:pt modelId="{08D83BD6-2A2F-574C-9D5C-736CF5FE7520}" type="pres">
      <dgm:prSet presAssocID="{86AD88F0-314B-6444-BD87-F3C84F11651F}" presName="childText" presStyleLbl="bgAcc1" presStyleIdx="0" presStyleCnt="3" custScaleX="158157" custScaleY="229768" custLinFactNeighborX="-10391" custLinFactNeighborY="-53259">
        <dgm:presLayoutVars>
          <dgm:bulletEnabled val="1"/>
        </dgm:presLayoutVars>
      </dgm:prSet>
      <dgm:spPr/>
    </dgm:pt>
    <dgm:pt modelId="{1C89C9B8-759F-944F-AA18-FE790C10A65E}" type="pres">
      <dgm:prSet presAssocID="{ADE4F796-F389-964A-9F92-660666F3A636}" presName="Name13" presStyleLbl="parChTrans1D2" presStyleIdx="1" presStyleCnt="3"/>
      <dgm:spPr/>
    </dgm:pt>
    <dgm:pt modelId="{1C076669-4CFF-0B4F-8B31-76E9F2CCEE9B}" type="pres">
      <dgm:prSet presAssocID="{233F7DFA-202E-F74C-AB9D-53EFC686B345}" presName="childText" presStyleLbl="bgAcc1" presStyleIdx="1" presStyleCnt="3" custScaleX="225593" custScaleY="205072" custLinFactNeighborX="34514" custLinFactNeighborY="-30895">
        <dgm:presLayoutVars>
          <dgm:bulletEnabled val="1"/>
        </dgm:presLayoutVars>
      </dgm:prSet>
      <dgm:spPr/>
    </dgm:pt>
    <dgm:pt modelId="{2565A228-6B6E-0144-A2BB-59C59BF41707}" type="pres">
      <dgm:prSet presAssocID="{25188C39-687A-BD45-A96D-0C6C99BD8253}" presName="root" presStyleCnt="0"/>
      <dgm:spPr/>
    </dgm:pt>
    <dgm:pt modelId="{95C64F64-3E0F-7B42-AB4F-CE0F60855F36}" type="pres">
      <dgm:prSet presAssocID="{25188C39-687A-BD45-A96D-0C6C99BD8253}" presName="rootComposite" presStyleCnt="0"/>
      <dgm:spPr/>
    </dgm:pt>
    <dgm:pt modelId="{64F1C8D8-40A2-DF44-AC72-3FFC719959BB}" type="pres">
      <dgm:prSet presAssocID="{25188C39-687A-BD45-A96D-0C6C99BD8253}" presName="rootText" presStyleLbl="node1" presStyleIdx="1" presStyleCnt="2" custLinFactNeighborX="70576" custLinFactNeighborY="-107"/>
      <dgm:spPr/>
    </dgm:pt>
    <dgm:pt modelId="{3B32751B-D091-AF40-91E4-684216B0B821}" type="pres">
      <dgm:prSet presAssocID="{25188C39-687A-BD45-A96D-0C6C99BD8253}" presName="rootConnector" presStyleLbl="node1" presStyleIdx="1" presStyleCnt="2"/>
      <dgm:spPr/>
    </dgm:pt>
    <dgm:pt modelId="{2B930B0D-6B56-2741-AC9D-724F5E3525F8}" type="pres">
      <dgm:prSet presAssocID="{25188C39-687A-BD45-A96D-0C6C99BD8253}" presName="childShape" presStyleCnt="0"/>
      <dgm:spPr/>
    </dgm:pt>
    <dgm:pt modelId="{4F8FA6E2-0E58-0840-912D-8E16EF91B389}" type="pres">
      <dgm:prSet presAssocID="{755F770C-EEB9-0B4A-8B8E-7A4E15984F6D}" presName="Name13" presStyleLbl="parChTrans1D2" presStyleIdx="2" presStyleCnt="3"/>
      <dgm:spPr/>
    </dgm:pt>
    <dgm:pt modelId="{7AF818EE-1FFA-0148-A0A6-03F1AC28E0C7}" type="pres">
      <dgm:prSet presAssocID="{693DF3AA-9269-2545-9150-1B3192513936}" presName="childText" presStyleLbl="bgAcc1" presStyleIdx="2" presStyleCnt="3" custScaleX="135564" custScaleY="214434" custLinFactX="40201" custLinFactNeighborX="100000" custLinFactNeighborY="8326">
        <dgm:presLayoutVars>
          <dgm:bulletEnabled val="1"/>
        </dgm:presLayoutVars>
      </dgm:prSet>
      <dgm:spPr/>
    </dgm:pt>
  </dgm:ptLst>
  <dgm:cxnLst>
    <dgm:cxn modelId="{73495400-CCAD-D34F-9A47-9A822F7EFE0B}" type="presOf" srcId="{86AD88F0-314B-6444-BD87-F3C84F11651F}" destId="{08D83BD6-2A2F-574C-9D5C-736CF5FE7520}" srcOrd="0" destOrd="0" presId="urn:microsoft.com/office/officeart/2005/8/layout/hierarchy3"/>
    <dgm:cxn modelId="{5DEB4402-D2F8-7A41-A689-8571B7D568B0}" type="presOf" srcId="{8CF7DABB-E685-7649-9193-5973EE04A11C}" destId="{EE3338E7-0BBE-D244-8A2E-15290019B04C}" srcOrd="1" destOrd="0" presId="urn:microsoft.com/office/officeart/2005/8/layout/hierarchy3"/>
    <dgm:cxn modelId="{366A8C1C-3C85-BA42-B4C3-A42B0ACBA409}" type="presOf" srcId="{2FD46B0E-E9C9-1E4B-961E-80132A5C983C}" destId="{AA843FC4-97DC-3649-9F16-C3801798B452}" srcOrd="0" destOrd="0" presId="urn:microsoft.com/office/officeart/2005/8/layout/hierarchy3"/>
    <dgm:cxn modelId="{3A67151F-A3ED-0947-AD44-8AA57D78E09C}" srcId="{2FD46B0E-E9C9-1E4B-961E-80132A5C983C}" destId="{8CF7DABB-E685-7649-9193-5973EE04A11C}" srcOrd="0" destOrd="0" parTransId="{B05171EE-A301-B946-AF2D-C1134378C886}" sibTransId="{BFC2FD4B-EF10-344C-8158-7BC835E26BE2}"/>
    <dgm:cxn modelId="{1AF6C524-D51F-0A49-A292-7EA76152F327}" type="presOf" srcId="{F288BA89-D432-F942-BEAB-3302AF39D024}" destId="{6792DD43-5CA5-8E48-AF98-B37112383575}" srcOrd="0" destOrd="0" presId="urn:microsoft.com/office/officeart/2005/8/layout/hierarchy3"/>
    <dgm:cxn modelId="{B5D49045-C2B8-7640-B3EB-E850E0166C92}" srcId="{8CF7DABB-E685-7649-9193-5973EE04A11C}" destId="{86AD88F0-314B-6444-BD87-F3C84F11651F}" srcOrd="0" destOrd="0" parTransId="{F288BA89-D432-F942-BEAB-3302AF39D024}" sibTransId="{E0D5325A-DCC1-0348-8125-8FD7298F8CBB}"/>
    <dgm:cxn modelId="{4E99B867-4321-3046-9A1C-9ABD13AC20FD}" srcId="{2FD46B0E-E9C9-1E4B-961E-80132A5C983C}" destId="{25188C39-687A-BD45-A96D-0C6C99BD8253}" srcOrd="1" destOrd="0" parTransId="{21E03498-996B-8641-ADF2-00A3977EA0CE}" sibTransId="{27331D9B-4E43-CB40-B1C2-645F4FCA45F4}"/>
    <dgm:cxn modelId="{E6E58F73-83F1-AA4A-A218-B2606996B3BD}" srcId="{8CF7DABB-E685-7649-9193-5973EE04A11C}" destId="{233F7DFA-202E-F74C-AB9D-53EFC686B345}" srcOrd="1" destOrd="0" parTransId="{ADE4F796-F389-964A-9F92-660666F3A636}" sibTransId="{12D910F3-F055-9744-BF38-A4A20095BB98}"/>
    <dgm:cxn modelId="{1C88A854-BB97-244A-BF34-F58C72863022}" srcId="{25188C39-687A-BD45-A96D-0C6C99BD8253}" destId="{693DF3AA-9269-2545-9150-1B3192513936}" srcOrd="0" destOrd="0" parTransId="{755F770C-EEB9-0B4A-8B8E-7A4E15984F6D}" sibTransId="{9E02C22E-4AA3-1944-BC1B-4DD2E2711460}"/>
    <dgm:cxn modelId="{8F9E5F55-5D67-504E-9AC8-F12824A019E2}" type="presOf" srcId="{755F770C-EEB9-0B4A-8B8E-7A4E15984F6D}" destId="{4F8FA6E2-0E58-0840-912D-8E16EF91B389}" srcOrd="0" destOrd="0" presId="urn:microsoft.com/office/officeart/2005/8/layout/hierarchy3"/>
    <dgm:cxn modelId="{EE56C57B-2A06-374C-A8F8-3FB988CDD7AB}" type="presOf" srcId="{ADE4F796-F389-964A-9F92-660666F3A636}" destId="{1C89C9B8-759F-944F-AA18-FE790C10A65E}" srcOrd="0" destOrd="0" presId="urn:microsoft.com/office/officeart/2005/8/layout/hierarchy3"/>
    <dgm:cxn modelId="{8105C386-F06C-5049-98BB-F9AB71911C30}" type="presOf" srcId="{8CF7DABB-E685-7649-9193-5973EE04A11C}" destId="{94F28402-8223-1345-8F86-B41D09DF4999}" srcOrd="0" destOrd="0" presId="urn:microsoft.com/office/officeart/2005/8/layout/hierarchy3"/>
    <dgm:cxn modelId="{18D9798F-9885-7C46-80DA-D61E687A0D8E}" type="presOf" srcId="{25188C39-687A-BD45-A96D-0C6C99BD8253}" destId="{64F1C8D8-40A2-DF44-AC72-3FFC719959BB}" srcOrd="0" destOrd="0" presId="urn:microsoft.com/office/officeart/2005/8/layout/hierarchy3"/>
    <dgm:cxn modelId="{D91D57CC-8629-E642-9ACF-C7315A20A12C}" type="presOf" srcId="{693DF3AA-9269-2545-9150-1B3192513936}" destId="{7AF818EE-1FFA-0148-A0A6-03F1AC28E0C7}" srcOrd="0" destOrd="0" presId="urn:microsoft.com/office/officeart/2005/8/layout/hierarchy3"/>
    <dgm:cxn modelId="{22AF5FE7-CFD3-3146-8A46-893BB111FA4A}" type="presOf" srcId="{233F7DFA-202E-F74C-AB9D-53EFC686B345}" destId="{1C076669-4CFF-0B4F-8B31-76E9F2CCEE9B}" srcOrd="0" destOrd="0" presId="urn:microsoft.com/office/officeart/2005/8/layout/hierarchy3"/>
    <dgm:cxn modelId="{297D2BEB-69E6-F04A-A648-52FFF1BA8123}" type="presOf" srcId="{25188C39-687A-BD45-A96D-0C6C99BD8253}" destId="{3B32751B-D091-AF40-91E4-684216B0B821}" srcOrd="1" destOrd="0" presId="urn:microsoft.com/office/officeart/2005/8/layout/hierarchy3"/>
    <dgm:cxn modelId="{D5475560-8DC9-F94B-87C6-B67C3D108539}" type="presParOf" srcId="{AA843FC4-97DC-3649-9F16-C3801798B452}" destId="{80EA5A8F-1803-784A-AFE3-3DD0EA8F50BD}" srcOrd="0" destOrd="0" presId="urn:microsoft.com/office/officeart/2005/8/layout/hierarchy3"/>
    <dgm:cxn modelId="{35443F45-3F2F-0845-AF9D-E36C14CF45D6}" type="presParOf" srcId="{80EA5A8F-1803-784A-AFE3-3DD0EA8F50BD}" destId="{2771C28D-ABBE-A741-8A65-D460C7EB471D}" srcOrd="0" destOrd="0" presId="urn:microsoft.com/office/officeart/2005/8/layout/hierarchy3"/>
    <dgm:cxn modelId="{75D8D6BC-BE0B-5845-A740-E2C04C08BB89}" type="presParOf" srcId="{2771C28D-ABBE-A741-8A65-D460C7EB471D}" destId="{94F28402-8223-1345-8F86-B41D09DF4999}" srcOrd="0" destOrd="0" presId="urn:microsoft.com/office/officeart/2005/8/layout/hierarchy3"/>
    <dgm:cxn modelId="{FD653EC9-91FD-9845-BE97-3343A93DB900}" type="presParOf" srcId="{2771C28D-ABBE-A741-8A65-D460C7EB471D}" destId="{EE3338E7-0BBE-D244-8A2E-15290019B04C}" srcOrd="1" destOrd="0" presId="urn:microsoft.com/office/officeart/2005/8/layout/hierarchy3"/>
    <dgm:cxn modelId="{D7144A97-9E7B-804C-90E4-6AFDC71D3919}" type="presParOf" srcId="{80EA5A8F-1803-784A-AFE3-3DD0EA8F50BD}" destId="{98535523-42D4-4043-95B6-AD340DA8CDAC}" srcOrd="1" destOrd="0" presId="urn:microsoft.com/office/officeart/2005/8/layout/hierarchy3"/>
    <dgm:cxn modelId="{E8080F2C-E890-674C-A742-CBC0768205F6}" type="presParOf" srcId="{98535523-42D4-4043-95B6-AD340DA8CDAC}" destId="{6792DD43-5CA5-8E48-AF98-B37112383575}" srcOrd="0" destOrd="0" presId="urn:microsoft.com/office/officeart/2005/8/layout/hierarchy3"/>
    <dgm:cxn modelId="{37F77D49-48F2-F043-80E6-4A783D48805D}" type="presParOf" srcId="{98535523-42D4-4043-95B6-AD340DA8CDAC}" destId="{08D83BD6-2A2F-574C-9D5C-736CF5FE7520}" srcOrd="1" destOrd="0" presId="urn:microsoft.com/office/officeart/2005/8/layout/hierarchy3"/>
    <dgm:cxn modelId="{3FADDE88-FE5D-EB42-A56C-7E771F0180E3}" type="presParOf" srcId="{98535523-42D4-4043-95B6-AD340DA8CDAC}" destId="{1C89C9B8-759F-944F-AA18-FE790C10A65E}" srcOrd="2" destOrd="0" presId="urn:microsoft.com/office/officeart/2005/8/layout/hierarchy3"/>
    <dgm:cxn modelId="{D617B790-CF3A-1D48-8D46-F22C4F1001FF}" type="presParOf" srcId="{98535523-42D4-4043-95B6-AD340DA8CDAC}" destId="{1C076669-4CFF-0B4F-8B31-76E9F2CCEE9B}" srcOrd="3" destOrd="0" presId="urn:microsoft.com/office/officeart/2005/8/layout/hierarchy3"/>
    <dgm:cxn modelId="{1A42E3F0-7469-7949-AF0A-BA7EED10ED20}" type="presParOf" srcId="{AA843FC4-97DC-3649-9F16-C3801798B452}" destId="{2565A228-6B6E-0144-A2BB-59C59BF41707}" srcOrd="1" destOrd="0" presId="urn:microsoft.com/office/officeart/2005/8/layout/hierarchy3"/>
    <dgm:cxn modelId="{E353CFF9-1237-1E40-910A-E41DE3ECF1B2}" type="presParOf" srcId="{2565A228-6B6E-0144-A2BB-59C59BF41707}" destId="{95C64F64-3E0F-7B42-AB4F-CE0F60855F36}" srcOrd="0" destOrd="0" presId="urn:microsoft.com/office/officeart/2005/8/layout/hierarchy3"/>
    <dgm:cxn modelId="{13C914FE-C29E-C241-8EFB-990CD6D8EFB5}" type="presParOf" srcId="{95C64F64-3E0F-7B42-AB4F-CE0F60855F36}" destId="{64F1C8D8-40A2-DF44-AC72-3FFC719959BB}" srcOrd="0" destOrd="0" presId="urn:microsoft.com/office/officeart/2005/8/layout/hierarchy3"/>
    <dgm:cxn modelId="{D8C9936E-EF38-9341-8CF0-CC128AC65913}" type="presParOf" srcId="{95C64F64-3E0F-7B42-AB4F-CE0F60855F36}" destId="{3B32751B-D091-AF40-91E4-684216B0B821}" srcOrd="1" destOrd="0" presId="urn:microsoft.com/office/officeart/2005/8/layout/hierarchy3"/>
    <dgm:cxn modelId="{68A2DBED-7B41-1D45-8B16-7E6BF1CC3CC4}" type="presParOf" srcId="{2565A228-6B6E-0144-A2BB-59C59BF41707}" destId="{2B930B0D-6B56-2741-AC9D-724F5E3525F8}" srcOrd="1" destOrd="0" presId="urn:microsoft.com/office/officeart/2005/8/layout/hierarchy3"/>
    <dgm:cxn modelId="{1491018A-849F-FC43-9236-3F557D0E4523}" type="presParOf" srcId="{2B930B0D-6B56-2741-AC9D-724F5E3525F8}" destId="{4F8FA6E2-0E58-0840-912D-8E16EF91B389}" srcOrd="0" destOrd="0" presId="urn:microsoft.com/office/officeart/2005/8/layout/hierarchy3"/>
    <dgm:cxn modelId="{2418BA6B-01E5-8B4D-8D69-B3034BB76A7F}" type="presParOf" srcId="{2B930B0D-6B56-2741-AC9D-724F5E3525F8}" destId="{7AF818EE-1FFA-0148-A0A6-03F1AC28E0C7}"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731C334-AF11-3542-8C59-02AACA818E6A}"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9D1E7E1C-1A61-644F-80B9-C9E770F86FC9}">
      <dgm:prSet/>
      <dgm:spPr/>
      <dgm:t>
        <a:bodyPr/>
        <a:lstStyle/>
        <a:p>
          <a:pPr rtl="0"/>
          <a:r>
            <a:rPr lang="en-US" b="1" i="1" dirty="0"/>
            <a:t>Process spawning</a:t>
          </a:r>
          <a:endParaRPr lang="en-US" dirty="0"/>
        </a:p>
      </dgm:t>
    </dgm:pt>
    <dgm:pt modelId="{6A3405C7-2E36-2E4D-AF8C-9D4AE8F645B0}" type="parTrans" cxnId="{AF843B3F-6031-A747-A9BE-5F055E43CA33}">
      <dgm:prSet/>
      <dgm:spPr/>
      <dgm:t>
        <a:bodyPr/>
        <a:lstStyle/>
        <a:p>
          <a:endParaRPr lang="en-US"/>
        </a:p>
      </dgm:t>
    </dgm:pt>
    <dgm:pt modelId="{90E8D42C-57D6-4F41-A553-0CEB155CE500}" type="sibTrans" cxnId="{AF843B3F-6031-A747-A9BE-5F055E43CA33}">
      <dgm:prSet/>
      <dgm:spPr/>
      <dgm:t>
        <a:bodyPr/>
        <a:lstStyle/>
        <a:p>
          <a:endParaRPr lang="en-US"/>
        </a:p>
      </dgm:t>
    </dgm:pt>
    <dgm:pt modelId="{1C2237B4-0F8E-2941-A3BA-092D9D2BD042}">
      <dgm:prSet/>
      <dgm:spPr>
        <a:solidFill>
          <a:schemeClr val="bg1"/>
        </a:solidFill>
        <a:ln>
          <a:noFill/>
        </a:ln>
      </dgm:spPr>
      <dgm:t>
        <a:bodyPr/>
        <a:lstStyle/>
        <a:p>
          <a:pPr rtl="0"/>
          <a:r>
            <a:rPr lang="en-NZ" dirty="0"/>
            <a:t>When the OS creates a process at </a:t>
          </a:r>
          <a:r>
            <a:rPr lang="en-NZ" dirty="0">
              <a:solidFill>
                <a:srgbClr val="FF0000"/>
              </a:solidFill>
            </a:rPr>
            <a:t>the explicit request of another process</a:t>
          </a:r>
          <a:r>
            <a:rPr lang="en-NZ" dirty="0"/>
            <a:t>. (P</a:t>
          </a:r>
          <a:r>
            <a:rPr lang="en-US" baseline="0" dirty="0" err="1">
              <a:solidFill>
                <a:schemeClr val="tx1"/>
              </a:solidFill>
              <a:latin typeface="+mn-lt"/>
              <a:ea typeface="+mn-ea"/>
              <a:cs typeface="+mn-cs"/>
            </a:rPr>
            <a:t>rint</a:t>
          </a:r>
          <a:r>
            <a:rPr lang="en-US" baseline="0" dirty="0">
              <a:solidFill>
                <a:schemeClr val="tx1"/>
              </a:solidFill>
              <a:latin typeface="+mn-lt"/>
              <a:ea typeface="+mn-ea"/>
              <a:cs typeface="+mn-cs"/>
            </a:rPr>
            <a:t> server or file server may generate a new process for each request that it handles</a:t>
          </a:r>
          <a:r>
            <a:rPr lang="en-NZ" dirty="0"/>
            <a:t>)</a:t>
          </a:r>
          <a:endParaRPr lang="en-NZ" b="1" i="1" dirty="0"/>
        </a:p>
      </dgm:t>
    </dgm:pt>
    <dgm:pt modelId="{C08496CE-D553-E440-80BB-72B3C7632A65}" type="parTrans" cxnId="{A4EAA01F-4E9E-C746-879A-CEAB74D1B356}">
      <dgm:prSet/>
      <dgm:spPr/>
      <dgm:t>
        <a:bodyPr/>
        <a:lstStyle/>
        <a:p>
          <a:endParaRPr lang="en-US"/>
        </a:p>
      </dgm:t>
    </dgm:pt>
    <dgm:pt modelId="{660E20E5-A02C-0F47-BBC0-CED7556C02D8}" type="sibTrans" cxnId="{A4EAA01F-4E9E-C746-879A-CEAB74D1B356}">
      <dgm:prSet/>
      <dgm:spPr/>
      <dgm:t>
        <a:bodyPr/>
        <a:lstStyle/>
        <a:p>
          <a:endParaRPr lang="en-US"/>
        </a:p>
      </dgm:t>
    </dgm:pt>
    <dgm:pt modelId="{92B932D3-E2E3-3E4F-B639-04EAC8B67265}">
      <dgm:prSet/>
      <dgm:spPr/>
      <dgm:t>
        <a:bodyPr/>
        <a:lstStyle/>
        <a:p>
          <a:pPr rtl="0"/>
          <a:r>
            <a:rPr lang="en-US" b="1" i="1" dirty="0"/>
            <a:t>Parent process</a:t>
          </a:r>
          <a:endParaRPr lang="en-US" dirty="0"/>
        </a:p>
      </dgm:t>
    </dgm:pt>
    <dgm:pt modelId="{653244E0-F4CD-724F-A7EA-A3BB8C8D3358}" type="parTrans" cxnId="{703C341B-DDFD-1941-8C04-EC63E722421B}">
      <dgm:prSet/>
      <dgm:spPr/>
      <dgm:t>
        <a:bodyPr/>
        <a:lstStyle/>
        <a:p>
          <a:endParaRPr lang="en-US"/>
        </a:p>
      </dgm:t>
    </dgm:pt>
    <dgm:pt modelId="{D3A17F77-0C2B-EE4F-8F09-4E7D9F8AA8C6}" type="sibTrans" cxnId="{703C341B-DDFD-1941-8C04-EC63E722421B}">
      <dgm:prSet/>
      <dgm:spPr/>
      <dgm:t>
        <a:bodyPr/>
        <a:lstStyle/>
        <a:p>
          <a:endParaRPr lang="en-US"/>
        </a:p>
      </dgm:t>
    </dgm:pt>
    <dgm:pt modelId="{3B113823-13D8-0248-9A31-CA30A16088AA}">
      <dgm:prSet/>
      <dgm:spPr>
        <a:solidFill>
          <a:schemeClr val="bg1"/>
        </a:solidFill>
        <a:ln>
          <a:noFill/>
        </a:ln>
      </dgm:spPr>
      <dgm:t>
        <a:bodyPr/>
        <a:lstStyle/>
        <a:p>
          <a:pPr rtl="0"/>
          <a:r>
            <a:rPr lang="en-US" dirty="0"/>
            <a:t>Is the original, creating, process</a:t>
          </a:r>
        </a:p>
      </dgm:t>
    </dgm:pt>
    <dgm:pt modelId="{51D43687-5E0F-BA48-AE6F-F654B76895B8}" type="parTrans" cxnId="{C949E86E-05FE-3D4F-A8B5-661370EB1B73}">
      <dgm:prSet/>
      <dgm:spPr/>
      <dgm:t>
        <a:bodyPr/>
        <a:lstStyle/>
        <a:p>
          <a:endParaRPr lang="en-US"/>
        </a:p>
      </dgm:t>
    </dgm:pt>
    <dgm:pt modelId="{5AF1763B-4594-BC47-A83F-C2C2ACA61A5C}" type="sibTrans" cxnId="{C949E86E-05FE-3D4F-A8B5-661370EB1B73}">
      <dgm:prSet/>
      <dgm:spPr/>
      <dgm:t>
        <a:bodyPr/>
        <a:lstStyle/>
        <a:p>
          <a:endParaRPr lang="en-US"/>
        </a:p>
      </dgm:t>
    </dgm:pt>
    <dgm:pt modelId="{ED327EA9-617D-874F-AE2D-F1A810D41DF1}">
      <dgm:prSet/>
      <dgm:spPr/>
      <dgm:t>
        <a:bodyPr/>
        <a:lstStyle/>
        <a:p>
          <a:pPr rtl="0"/>
          <a:r>
            <a:rPr lang="en-US" b="1" i="1" dirty="0"/>
            <a:t>Child process </a:t>
          </a:r>
          <a:endParaRPr lang="en-US" dirty="0"/>
        </a:p>
      </dgm:t>
    </dgm:pt>
    <dgm:pt modelId="{CFFD1146-1D74-744E-9489-D7E3933DB7B2}" type="parTrans" cxnId="{2913DAFB-5020-3143-A403-52DCDDBFBD97}">
      <dgm:prSet/>
      <dgm:spPr/>
      <dgm:t>
        <a:bodyPr/>
        <a:lstStyle/>
        <a:p>
          <a:endParaRPr lang="en-US"/>
        </a:p>
      </dgm:t>
    </dgm:pt>
    <dgm:pt modelId="{84657F64-6C09-DF49-8D5B-A12A22A9E488}" type="sibTrans" cxnId="{2913DAFB-5020-3143-A403-52DCDDBFBD97}">
      <dgm:prSet/>
      <dgm:spPr/>
      <dgm:t>
        <a:bodyPr/>
        <a:lstStyle/>
        <a:p>
          <a:endParaRPr lang="en-US"/>
        </a:p>
      </dgm:t>
    </dgm:pt>
    <dgm:pt modelId="{797AA155-809C-5C4E-815A-79B6CDA5DC6A}">
      <dgm:prSet/>
      <dgm:spPr>
        <a:solidFill>
          <a:schemeClr val="bg1"/>
        </a:solidFill>
        <a:ln>
          <a:noFill/>
        </a:ln>
      </dgm:spPr>
      <dgm:t>
        <a:bodyPr/>
        <a:lstStyle/>
        <a:p>
          <a:pPr rtl="0"/>
          <a:r>
            <a:rPr lang="en-US" dirty="0"/>
            <a:t>Is the new process</a:t>
          </a:r>
        </a:p>
      </dgm:t>
    </dgm:pt>
    <dgm:pt modelId="{5361A0B3-E234-A041-8161-DD3C19FBF858}" type="parTrans" cxnId="{30BA5E2A-5D1E-4248-8710-822407BCD2E5}">
      <dgm:prSet/>
      <dgm:spPr/>
      <dgm:t>
        <a:bodyPr/>
        <a:lstStyle/>
        <a:p>
          <a:endParaRPr lang="en-US"/>
        </a:p>
      </dgm:t>
    </dgm:pt>
    <dgm:pt modelId="{14DEFE90-1527-4940-A7A6-1430E624F954}" type="sibTrans" cxnId="{30BA5E2A-5D1E-4248-8710-822407BCD2E5}">
      <dgm:prSet/>
      <dgm:spPr/>
      <dgm:t>
        <a:bodyPr/>
        <a:lstStyle/>
        <a:p>
          <a:endParaRPr lang="en-US"/>
        </a:p>
      </dgm:t>
    </dgm:pt>
    <dgm:pt modelId="{F3C9979B-06C3-7E45-BD10-6207B7A1BBF5}">
      <dgm:prSet/>
      <dgm:spPr>
        <a:solidFill>
          <a:schemeClr val="bg1"/>
        </a:solidFill>
        <a:ln>
          <a:noFill/>
        </a:ln>
      </dgm:spPr>
      <dgm:t>
        <a:bodyPr/>
        <a:lstStyle/>
        <a:p>
          <a:pPr rtl="0"/>
          <a:endParaRPr lang="en-NZ" dirty="0"/>
        </a:p>
      </dgm:t>
    </dgm:pt>
    <dgm:pt modelId="{BA78826C-F616-EA47-A677-9118C5D360C6}" type="parTrans" cxnId="{6DCEF32D-CA4D-3645-9DA0-A1B77CA73BD4}">
      <dgm:prSet/>
      <dgm:spPr/>
      <dgm:t>
        <a:bodyPr/>
        <a:lstStyle/>
        <a:p>
          <a:endParaRPr lang="en-US"/>
        </a:p>
      </dgm:t>
    </dgm:pt>
    <dgm:pt modelId="{DB87B744-1CA6-5C40-86F9-2A00A7756880}" type="sibTrans" cxnId="{6DCEF32D-CA4D-3645-9DA0-A1B77CA73BD4}">
      <dgm:prSet/>
      <dgm:spPr/>
      <dgm:t>
        <a:bodyPr/>
        <a:lstStyle/>
        <a:p>
          <a:endParaRPr lang="en-US"/>
        </a:p>
      </dgm:t>
    </dgm:pt>
    <dgm:pt modelId="{F5D36B78-1F81-EE4A-A629-A47EF8A594F4}" type="pres">
      <dgm:prSet presAssocID="{6731C334-AF11-3542-8C59-02AACA818E6A}" presName="Name0" presStyleCnt="0">
        <dgm:presLayoutVars>
          <dgm:dir/>
          <dgm:animLvl val="lvl"/>
          <dgm:resizeHandles val="exact"/>
        </dgm:presLayoutVars>
      </dgm:prSet>
      <dgm:spPr/>
    </dgm:pt>
    <dgm:pt modelId="{A74C8154-08E7-4447-BD1E-1681AA752A13}" type="pres">
      <dgm:prSet presAssocID="{9D1E7E1C-1A61-644F-80B9-C9E770F86FC9}" presName="composite" presStyleCnt="0"/>
      <dgm:spPr/>
    </dgm:pt>
    <dgm:pt modelId="{7012A570-2292-6042-8F87-375482494525}" type="pres">
      <dgm:prSet presAssocID="{9D1E7E1C-1A61-644F-80B9-C9E770F86FC9}" presName="parTx" presStyleLbl="alignNode1" presStyleIdx="0" presStyleCnt="3" custLinFactNeighborX="3023" custLinFactNeighborY="-1489">
        <dgm:presLayoutVars>
          <dgm:chMax val="0"/>
          <dgm:chPref val="0"/>
          <dgm:bulletEnabled val="1"/>
        </dgm:presLayoutVars>
      </dgm:prSet>
      <dgm:spPr/>
    </dgm:pt>
    <dgm:pt modelId="{6E5587B0-CB6B-5F49-99BC-8512D84E1718}" type="pres">
      <dgm:prSet presAssocID="{9D1E7E1C-1A61-644F-80B9-C9E770F86FC9}" presName="desTx" presStyleLbl="alignAccFollowNode1" presStyleIdx="0" presStyleCnt="3" custLinFactNeighborX="3023" custLinFactNeighborY="244">
        <dgm:presLayoutVars>
          <dgm:bulletEnabled val="1"/>
        </dgm:presLayoutVars>
      </dgm:prSet>
      <dgm:spPr/>
    </dgm:pt>
    <dgm:pt modelId="{83FDB912-E463-BB43-A426-495E5C1B9F59}" type="pres">
      <dgm:prSet presAssocID="{90E8D42C-57D6-4F41-A553-0CEB155CE500}" presName="space" presStyleCnt="0"/>
      <dgm:spPr/>
    </dgm:pt>
    <dgm:pt modelId="{06FA7E0C-365E-3049-8EF9-25EB43125646}" type="pres">
      <dgm:prSet presAssocID="{92B932D3-E2E3-3E4F-B639-04EAC8B67265}" presName="composite" presStyleCnt="0"/>
      <dgm:spPr/>
    </dgm:pt>
    <dgm:pt modelId="{3B7AAAD3-B4B2-894D-BD62-FBDCA5DB86E5}" type="pres">
      <dgm:prSet presAssocID="{92B932D3-E2E3-3E4F-B639-04EAC8B67265}" presName="parTx" presStyleLbl="alignNode1" presStyleIdx="1" presStyleCnt="3">
        <dgm:presLayoutVars>
          <dgm:chMax val="0"/>
          <dgm:chPref val="0"/>
          <dgm:bulletEnabled val="1"/>
        </dgm:presLayoutVars>
      </dgm:prSet>
      <dgm:spPr/>
    </dgm:pt>
    <dgm:pt modelId="{094610A3-C2C3-B640-879C-283BC4C4886A}" type="pres">
      <dgm:prSet presAssocID="{92B932D3-E2E3-3E4F-B639-04EAC8B67265}" presName="desTx" presStyleLbl="alignAccFollowNode1" presStyleIdx="1" presStyleCnt="3">
        <dgm:presLayoutVars>
          <dgm:bulletEnabled val="1"/>
        </dgm:presLayoutVars>
      </dgm:prSet>
      <dgm:spPr/>
    </dgm:pt>
    <dgm:pt modelId="{CC752E20-1E1D-EE4F-94ED-EDF611B1745D}" type="pres">
      <dgm:prSet presAssocID="{D3A17F77-0C2B-EE4F-8F09-4E7D9F8AA8C6}" presName="space" presStyleCnt="0"/>
      <dgm:spPr/>
    </dgm:pt>
    <dgm:pt modelId="{C9D5DCC4-6884-7847-A551-EB55BE19C0CA}" type="pres">
      <dgm:prSet presAssocID="{ED327EA9-617D-874F-AE2D-F1A810D41DF1}" presName="composite" presStyleCnt="0"/>
      <dgm:spPr/>
    </dgm:pt>
    <dgm:pt modelId="{B5437CEF-732C-D940-ADAA-BDDAA09C9E8D}" type="pres">
      <dgm:prSet presAssocID="{ED327EA9-617D-874F-AE2D-F1A810D41DF1}" presName="parTx" presStyleLbl="alignNode1" presStyleIdx="2" presStyleCnt="3">
        <dgm:presLayoutVars>
          <dgm:chMax val="0"/>
          <dgm:chPref val="0"/>
          <dgm:bulletEnabled val="1"/>
        </dgm:presLayoutVars>
      </dgm:prSet>
      <dgm:spPr/>
    </dgm:pt>
    <dgm:pt modelId="{B830ED57-4DAF-3040-BF6C-9CF6B5560015}" type="pres">
      <dgm:prSet presAssocID="{ED327EA9-617D-874F-AE2D-F1A810D41DF1}" presName="desTx" presStyleLbl="alignAccFollowNode1" presStyleIdx="2" presStyleCnt="3">
        <dgm:presLayoutVars>
          <dgm:bulletEnabled val="1"/>
        </dgm:presLayoutVars>
      </dgm:prSet>
      <dgm:spPr/>
    </dgm:pt>
  </dgm:ptLst>
  <dgm:cxnLst>
    <dgm:cxn modelId="{703C341B-DDFD-1941-8C04-EC63E722421B}" srcId="{6731C334-AF11-3542-8C59-02AACA818E6A}" destId="{92B932D3-E2E3-3E4F-B639-04EAC8B67265}" srcOrd="1" destOrd="0" parTransId="{653244E0-F4CD-724F-A7EA-A3BB8C8D3358}" sibTransId="{D3A17F77-0C2B-EE4F-8F09-4E7D9F8AA8C6}"/>
    <dgm:cxn modelId="{A4EAA01F-4E9E-C746-879A-CEAB74D1B356}" srcId="{9D1E7E1C-1A61-644F-80B9-C9E770F86FC9}" destId="{1C2237B4-0F8E-2941-A3BA-092D9D2BD042}" srcOrd="0" destOrd="0" parTransId="{C08496CE-D553-E440-80BB-72B3C7632A65}" sibTransId="{660E20E5-A02C-0F47-BBC0-CED7556C02D8}"/>
    <dgm:cxn modelId="{30BA5E2A-5D1E-4248-8710-822407BCD2E5}" srcId="{ED327EA9-617D-874F-AE2D-F1A810D41DF1}" destId="{797AA155-809C-5C4E-815A-79B6CDA5DC6A}" srcOrd="0" destOrd="0" parTransId="{5361A0B3-E234-A041-8161-DD3C19FBF858}" sibTransId="{14DEFE90-1527-4940-A7A6-1430E624F954}"/>
    <dgm:cxn modelId="{6DCEF32D-CA4D-3645-9DA0-A1B77CA73BD4}" srcId="{ED327EA9-617D-874F-AE2D-F1A810D41DF1}" destId="{F3C9979B-06C3-7E45-BD10-6207B7A1BBF5}" srcOrd="1" destOrd="0" parTransId="{BA78826C-F616-EA47-A677-9118C5D360C6}" sibTransId="{DB87B744-1CA6-5C40-86F9-2A00A7756880}"/>
    <dgm:cxn modelId="{AF843B3F-6031-A747-A9BE-5F055E43CA33}" srcId="{6731C334-AF11-3542-8C59-02AACA818E6A}" destId="{9D1E7E1C-1A61-644F-80B9-C9E770F86FC9}" srcOrd="0" destOrd="0" parTransId="{6A3405C7-2E36-2E4D-AF8C-9D4AE8F645B0}" sibTransId="{90E8D42C-57D6-4F41-A553-0CEB155CE500}"/>
    <dgm:cxn modelId="{C949E86E-05FE-3D4F-A8B5-661370EB1B73}" srcId="{92B932D3-E2E3-3E4F-B639-04EAC8B67265}" destId="{3B113823-13D8-0248-9A31-CA30A16088AA}" srcOrd="0" destOrd="0" parTransId="{51D43687-5E0F-BA48-AE6F-F654B76895B8}" sibTransId="{5AF1763B-4594-BC47-A83F-C2C2ACA61A5C}"/>
    <dgm:cxn modelId="{598F4250-89B9-EF4D-A94E-E432766E65F5}" type="presOf" srcId="{ED327EA9-617D-874F-AE2D-F1A810D41DF1}" destId="{B5437CEF-732C-D940-ADAA-BDDAA09C9E8D}" srcOrd="0" destOrd="0" presId="urn:microsoft.com/office/officeart/2005/8/layout/hList1"/>
    <dgm:cxn modelId="{CC07F658-8313-2342-9875-CF984D3F2483}" type="presOf" srcId="{3B113823-13D8-0248-9A31-CA30A16088AA}" destId="{094610A3-C2C3-B640-879C-283BC4C4886A}" srcOrd="0" destOrd="0" presId="urn:microsoft.com/office/officeart/2005/8/layout/hList1"/>
    <dgm:cxn modelId="{71AD5493-7BCF-1643-A412-C1F9EB4D0372}" type="presOf" srcId="{9D1E7E1C-1A61-644F-80B9-C9E770F86FC9}" destId="{7012A570-2292-6042-8F87-375482494525}" srcOrd="0" destOrd="0" presId="urn:microsoft.com/office/officeart/2005/8/layout/hList1"/>
    <dgm:cxn modelId="{FA1EA2BC-9197-E047-8BD8-F52C5CF89C6E}" type="presOf" srcId="{797AA155-809C-5C4E-815A-79B6CDA5DC6A}" destId="{B830ED57-4DAF-3040-BF6C-9CF6B5560015}" srcOrd="0" destOrd="0" presId="urn:microsoft.com/office/officeart/2005/8/layout/hList1"/>
    <dgm:cxn modelId="{E3D3B6C1-E269-344E-BB98-4E64A8111C89}" type="presOf" srcId="{F3C9979B-06C3-7E45-BD10-6207B7A1BBF5}" destId="{B830ED57-4DAF-3040-BF6C-9CF6B5560015}" srcOrd="0" destOrd="1" presId="urn:microsoft.com/office/officeart/2005/8/layout/hList1"/>
    <dgm:cxn modelId="{0889CCD0-0301-DD4F-A06E-15832D815033}" type="presOf" srcId="{92B932D3-E2E3-3E4F-B639-04EAC8B67265}" destId="{3B7AAAD3-B4B2-894D-BD62-FBDCA5DB86E5}" srcOrd="0" destOrd="0" presId="urn:microsoft.com/office/officeart/2005/8/layout/hList1"/>
    <dgm:cxn modelId="{B221ABD5-DB13-BF45-A463-6C41EC0D4CDF}" type="presOf" srcId="{6731C334-AF11-3542-8C59-02AACA818E6A}" destId="{F5D36B78-1F81-EE4A-A629-A47EF8A594F4}" srcOrd="0" destOrd="0" presId="urn:microsoft.com/office/officeart/2005/8/layout/hList1"/>
    <dgm:cxn modelId="{82B0EDF7-4578-574E-BAF3-ADD2C8398058}" type="presOf" srcId="{1C2237B4-0F8E-2941-A3BA-092D9D2BD042}" destId="{6E5587B0-CB6B-5F49-99BC-8512D84E1718}" srcOrd="0" destOrd="0" presId="urn:microsoft.com/office/officeart/2005/8/layout/hList1"/>
    <dgm:cxn modelId="{2913DAFB-5020-3143-A403-52DCDDBFBD97}" srcId="{6731C334-AF11-3542-8C59-02AACA818E6A}" destId="{ED327EA9-617D-874F-AE2D-F1A810D41DF1}" srcOrd="2" destOrd="0" parTransId="{CFFD1146-1D74-744E-9489-D7E3933DB7B2}" sibTransId="{84657F64-6C09-DF49-8D5B-A12A22A9E488}"/>
    <dgm:cxn modelId="{32C6298E-0907-0840-BF39-2F4437FA5480}" type="presParOf" srcId="{F5D36B78-1F81-EE4A-A629-A47EF8A594F4}" destId="{A74C8154-08E7-4447-BD1E-1681AA752A13}" srcOrd="0" destOrd="0" presId="urn:microsoft.com/office/officeart/2005/8/layout/hList1"/>
    <dgm:cxn modelId="{A01EED05-70F6-A241-AF12-737D2CB88AF4}" type="presParOf" srcId="{A74C8154-08E7-4447-BD1E-1681AA752A13}" destId="{7012A570-2292-6042-8F87-375482494525}" srcOrd="0" destOrd="0" presId="urn:microsoft.com/office/officeart/2005/8/layout/hList1"/>
    <dgm:cxn modelId="{7A9D1DB5-6219-834E-8BC4-94E46D2BBAD7}" type="presParOf" srcId="{A74C8154-08E7-4447-BD1E-1681AA752A13}" destId="{6E5587B0-CB6B-5F49-99BC-8512D84E1718}" srcOrd="1" destOrd="0" presId="urn:microsoft.com/office/officeart/2005/8/layout/hList1"/>
    <dgm:cxn modelId="{A0779B66-451A-F74E-B364-CA34421FCA39}" type="presParOf" srcId="{F5D36B78-1F81-EE4A-A629-A47EF8A594F4}" destId="{83FDB912-E463-BB43-A426-495E5C1B9F59}" srcOrd="1" destOrd="0" presId="urn:microsoft.com/office/officeart/2005/8/layout/hList1"/>
    <dgm:cxn modelId="{276C280C-899C-8649-BA67-DC925DF5E9D4}" type="presParOf" srcId="{F5D36B78-1F81-EE4A-A629-A47EF8A594F4}" destId="{06FA7E0C-365E-3049-8EF9-25EB43125646}" srcOrd="2" destOrd="0" presId="urn:microsoft.com/office/officeart/2005/8/layout/hList1"/>
    <dgm:cxn modelId="{F07F5D9E-898B-F542-BF05-E2043F69FACF}" type="presParOf" srcId="{06FA7E0C-365E-3049-8EF9-25EB43125646}" destId="{3B7AAAD3-B4B2-894D-BD62-FBDCA5DB86E5}" srcOrd="0" destOrd="0" presId="urn:microsoft.com/office/officeart/2005/8/layout/hList1"/>
    <dgm:cxn modelId="{E84F5A4C-A972-C840-8C55-CEAA20F19598}" type="presParOf" srcId="{06FA7E0C-365E-3049-8EF9-25EB43125646}" destId="{094610A3-C2C3-B640-879C-283BC4C4886A}" srcOrd="1" destOrd="0" presId="urn:microsoft.com/office/officeart/2005/8/layout/hList1"/>
    <dgm:cxn modelId="{B4C78625-FB5E-A24D-B44E-8A0D308D951E}" type="presParOf" srcId="{F5D36B78-1F81-EE4A-A629-A47EF8A594F4}" destId="{CC752E20-1E1D-EE4F-94ED-EDF611B1745D}" srcOrd="3" destOrd="0" presId="urn:microsoft.com/office/officeart/2005/8/layout/hList1"/>
    <dgm:cxn modelId="{67CE2A38-73E5-AF44-A08D-71B88808FB5C}" type="presParOf" srcId="{F5D36B78-1F81-EE4A-A629-A47EF8A594F4}" destId="{C9D5DCC4-6884-7847-A551-EB55BE19C0CA}" srcOrd="4" destOrd="0" presId="urn:microsoft.com/office/officeart/2005/8/layout/hList1"/>
    <dgm:cxn modelId="{7C0BDF64-F0B1-1941-8D1B-7F6E04B65F1D}" type="presParOf" srcId="{C9D5DCC4-6884-7847-A551-EB55BE19C0CA}" destId="{B5437CEF-732C-D940-ADAA-BDDAA09C9E8D}" srcOrd="0" destOrd="0" presId="urn:microsoft.com/office/officeart/2005/8/layout/hList1"/>
    <dgm:cxn modelId="{8B502041-55E6-D247-8A7D-6DAB86AD7993}" type="presParOf" srcId="{C9D5DCC4-6884-7847-A551-EB55BE19C0CA}" destId="{B830ED57-4DAF-3040-BF6C-9CF6B5560015}"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0DDD483-834C-6B45-9317-4D3FA2A47CCF}" type="doc">
      <dgm:prSet loTypeId="urn:microsoft.com/office/officeart/2005/8/layout/lProcess2" loCatId="list" qsTypeId="urn:microsoft.com/office/officeart/2005/8/quickstyle/3D5" qsCatId="3D" csTypeId="urn:microsoft.com/office/officeart/2005/8/colors/accent1_2" csCatId="accent1" phldr="1"/>
      <dgm:spPr/>
      <dgm:t>
        <a:bodyPr/>
        <a:lstStyle/>
        <a:p>
          <a:endParaRPr lang="en-US"/>
        </a:p>
      </dgm:t>
    </dgm:pt>
    <dgm:pt modelId="{C18DE2C0-57AC-C24A-A682-F6EFBC9B2887}">
      <dgm:prSet phldrT="[Text]"/>
      <dgm:spPr/>
      <dgm:t>
        <a:bodyPr/>
        <a:lstStyle/>
        <a:p>
          <a:r>
            <a:rPr lang="en-NZ" dirty="0"/>
            <a:t>Must include:</a:t>
          </a:r>
          <a:endParaRPr lang="en-US" dirty="0"/>
        </a:p>
      </dgm:t>
    </dgm:pt>
    <dgm:pt modelId="{9B4DF7D3-AD5B-4C47-8EA0-628D4A801C17}" type="parTrans" cxnId="{C39A26FF-432F-AF4F-A9AC-8EA5B01529C5}">
      <dgm:prSet/>
      <dgm:spPr/>
      <dgm:t>
        <a:bodyPr/>
        <a:lstStyle/>
        <a:p>
          <a:endParaRPr lang="en-US"/>
        </a:p>
      </dgm:t>
    </dgm:pt>
    <dgm:pt modelId="{F26836F4-DFF2-6842-95F8-A3E36A2B5C95}" type="sibTrans" cxnId="{C39A26FF-432F-AF4F-A9AC-8EA5B01529C5}">
      <dgm:prSet/>
      <dgm:spPr/>
      <dgm:t>
        <a:bodyPr/>
        <a:lstStyle/>
        <a:p>
          <a:endParaRPr lang="en-US"/>
        </a:p>
      </dgm:t>
    </dgm:pt>
    <dgm:pt modelId="{B6E55F43-8492-474D-8EBF-DD2FB1FD8E8A}">
      <dgm:prSet/>
      <dgm:spPr/>
      <dgm:t>
        <a:bodyPr/>
        <a:lstStyle/>
        <a:p>
          <a:r>
            <a:rPr lang="en-US" dirty="0"/>
            <a:t>Allocation of main memory to processes</a:t>
          </a:r>
        </a:p>
      </dgm:t>
    </dgm:pt>
    <dgm:pt modelId="{6F549DEC-FF27-7C41-8C41-F725EDB9BB47}" type="parTrans" cxnId="{C37DF469-4FB2-5C4F-A3CF-AE0C7251DF0A}">
      <dgm:prSet/>
      <dgm:spPr/>
      <dgm:t>
        <a:bodyPr/>
        <a:lstStyle/>
        <a:p>
          <a:endParaRPr lang="en-US"/>
        </a:p>
      </dgm:t>
    </dgm:pt>
    <dgm:pt modelId="{DC60DCC1-F39C-2B47-94FC-E552E2A41D42}" type="sibTrans" cxnId="{C37DF469-4FB2-5C4F-A3CF-AE0C7251DF0A}">
      <dgm:prSet/>
      <dgm:spPr/>
      <dgm:t>
        <a:bodyPr/>
        <a:lstStyle/>
        <a:p>
          <a:endParaRPr lang="en-US"/>
        </a:p>
      </dgm:t>
    </dgm:pt>
    <dgm:pt modelId="{116B2C4A-2069-D747-A70A-9E640B09BCAF}">
      <dgm:prSet/>
      <dgm:spPr/>
      <dgm:t>
        <a:bodyPr/>
        <a:lstStyle/>
        <a:p>
          <a:r>
            <a:rPr lang="en-US" dirty="0"/>
            <a:t>Allocation of secondary memory to processes</a:t>
          </a:r>
        </a:p>
      </dgm:t>
    </dgm:pt>
    <dgm:pt modelId="{C2585A7A-4A99-C24B-8BF3-D95648DD3C2D}" type="parTrans" cxnId="{C1432E81-7EAC-E746-9A7F-1242DFAC14DF}">
      <dgm:prSet/>
      <dgm:spPr/>
      <dgm:t>
        <a:bodyPr/>
        <a:lstStyle/>
        <a:p>
          <a:endParaRPr lang="en-US"/>
        </a:p>
      </dgm:t>
    </dgm:pt>
    <dgm:pt modelId="{0FBA759E-E194-8242-AA20-39F52600209E}" type="sibTrans" cxnId="{C1432E81-7EAC-E746-9A7F-1242DFAC14DF}">
      <dgm:prSet/>
      <dgm:spPr/>
      <dgm:t>
        <a:bodyPr/>
        <a:lstStyle/>
        <a:p>
          <a:endParaRPr lang="en-US"/>
        </a:p>
      </dgm:t>
    </dgm:pt>
    <dgm:pt modelId="{49B92907-6763-2044-A264-7C79E0F550FE}">
      <dgm:prSet/>
      <dgm:spPr/>
      <dgm:t>
        <a:bodyPr/>
        <a:lstStyle/>
        <a:p>
          <a:r>
            <a:rPr lang="en-US" dirty="0"/>
            <a:t>Protection attributes of blocks of main or virtual memory</a:t>
          </a:r>
        </a:p>
      </dgm:t>
    </dgm:pt>
    <dgm:pt modelId="{A074C286-12EE-B945-9FCF-EAC486F6B47F}" type="parTrans" cxnId="{68CB977A-1AED-F84B-8B83-DCC985FA9EE5}">
      <dgm:prSet/>
      <dgm:spPr/>
      <dgm:t>
        <a:bodyPr/>
        <a:lstStyle/>
        <a:p>
          <a:endParaRPr lang="en-US"/>
        </a:p>
      </dgm:t>
    </dgm:pt>
    <dgm:pt modelId="{71347EC9-E3C5-C64B-950D-73CDD413622F}" type="sibTrans" cxnId="{68CB977A-1AED-F84B-8B83-DCC985FA9EE5}">
      <dgm:prSet/>
      <dgm:spPr/>
      <dgm:t>
        <a:bodyPr/>
        <a:lstStyle/>
        <a:p>
          <a:endParaRPr lang="en-US"/>
        </a:p>
      </dgm:t>
    </dgm:pt>
    <dgm:pt modelId="{5D795706-AAC7-C043-9259-A6977A593597}">
      <dgm:prSet/>
      <dgm:spPr/>
      <dgm:t>
        <a:bodyPr/>
        <a:lstStyle/>
        <a:p>
          <a:r>
            <a:rPr lang="en-US" dirty="0"/>
            <a:t>Information needed to manage virtual memory</a:t>
          </a:r>
        </a:p>
      </dgm:t>
    </dgm:pt>
    <dgm:pt modelId="{29E2475E-3133-CD4D-BE38-58FE8AA952AF}" type="parTrans" cxnId="{9EE9BDB0-FEC4-5B43-A1DE-28570A7E3321}">
      <dgm:prSet/>
      <dgm:spPr/>
      <dgm:t>
        <a:bodyPr/>
        <a:lstStyle/>
        <a:p>
          <a:endParaRPr lang="en-US"/>
        </a:p>
      </dgm:t>
    </dgm:pt>
    <dgm:pt modelId="{353DEF32-C308-5940-AF45-32394E3B7CF9}" type="sibTrans" cxnId="{9EE9BDB0-FEC4-5B43-A1DE-28570A7E3321}">
      <dgm:prSet/>
      <dgm:spPr/>
      <dgm:t>
        <a:bodyPr/>
        <a:lstStyle/>
        <a:p>
          <a:endParaRPr lang="en-US"/>
        </a:p>
      </dgm:t>
    </dgm:pt>
    <dgm:pt modelId="{7DBF07C2-8AEA-4B43-8016-96309FCE5136}" type="pres">
      <dgm:prSet presAssocID="{F0DDD483-834C-6B45-9317-4D3FA2A47CCF}" presName="theList" presStyleCnt="0">
        <dgm:presLayoutVars>
          <dgm:dir/>
          <dgm:animLvl val="lvl"/>
          <dgm:resizeHandles val="exact"/>
        </dgm:presLayoutVars>
      </dgm:prSet>
      <dgm:spPr/>
    </dgm:pt>
    <dgm:pt modelId="{10B58EBF-1B34-054A-B2DF-CC6F90AB9F87}" type="pres">
      <dgm:prSet presAssocID="{C18DE2C0-57AC-C24A-A682-F6EFBC9B2887}" presName="compNode" presStyleCnt="0"/>
      <dgm:spPr/>
    </dgm:pt>
    <dgm:pt modelId="{3F849D56-9230-E249-B48B-5D647FAAD6A7}" type="pres">
      <dgm:prSet presAssocID="{C18DE2C0-57AC-C24A-A682-F6EFBC9B2887}" presName="aNode" presStyleLbl="bgShp" presStyleIdx="0" presStyleCnt="1"/>
      <dgm:spPr/>
    </dgm:pt>
    <dgm:pt modelId="{B4A9D584-B98C-D142-9197-2E0A1BA55CBC}" type="pres">
      <dgm:prSet presAssocID="{C18DE2C0-57AC-C24A-A682-F6EFBC9B2887}" presName="textNode" presStyleLbl="bgShp" presStyleIdx="0" presStyleCnt="1"/>
      <dgm:spPr/>
    </dgm:pt>
    <dgm:pt modelId="{FD903F66-DEC8-E943-A8AE-50C398C4E770}" type="pres">
      <dgm:prSet presAssocID="{C18DE2C0-57AC-C24A-A682-F6EFBC9B2887}" presName="compChildNode" presStyleCnt="0"/>
      <dgm:spPr/>
    </dgm:pt>
    <dgm:pt modelId="{FE42A3A4-5A25-EA40-9BAF-51294332E30B}" type="pres">
      <dgm:prSet presAssocID="{C18DE2C0-57AC-C24A-A682-F6EFBC9B2887}" presName="theInnerList" presStyleCnt="0"/>
      <dgm:spPr/>
    </dgm:pt>
    <dgm:pt modelId="{D71126B5-4D28-F041-996A-21406ACAE784}" type="pres">
      <dgm:prSet presAssocID="{B6E55F43-8492-474D-8EBF-DD2FB1FD8E8A}" presName="childNode" presStyleLbl="node1" presStyleIdx="0" presStyleCnt="4">
        <dgm:presLayoutVars>
          <dgm:bulletEnabled val="1"/>
        </dgm:presLayoutVars>
      </dgm:prSet>
      <dgm:spPr/>
    </dgm:pt>
    <dgm:pt modelId="{6774FBC6-A207-E64E-9ED5-5016D145CD8C}" type="pres">
      <dgm:prSet presAssocID="{B6E55F43-8492-474D-8EBF-DD2FB1FD8E8A}" presName="aSpace2" presStyleCnt="0"/>
      <dgm:spPr/>
    </dgm:pt>
    <dgm:pt modelId="{AF8A08C6-7BE2-BC4F-8FA2-F9315956443D}" type="pres">
      <dgm:prSet presAssocID="{116B2C4A-2069-D747-A70A-9E640B09BCAF}" presName="childNode" presStyleLbl="node1" presStyleIdx="1" presStyleCnt="4">
        <dgm:presLayoutVars>
          <dgm:bulletEnabled val="1"/>
        </dgm:presLayoutVars>
      </dgm:prSet>
      <dgm:spPr/>
    </dgm:pt>
    <dgm:pt modelId="{AA01FD29-A85B-BA4F-95AE-2814957984D4}" type="pres">
      <dgm:prSet presAssocID="{116B2C4A-2069-D747-A70A-9E640B09BCAF}" presName="aSpace2" presStyleCnt="0"/>
      <dgm:spPr/>
    </dgm:pt>
    <dgm:pt modelId="{9FC495F8-4083-D14A-B895-6F3B982FE006}" type="pres">
      <dgm:prSet presAssocID="{49B92907-6763-2044-A264-7C79E0F550FE}" presName="childNode" presStyleLbl="node1" presStyleIdx="2" presStyleCnt="4">
        <dgm:presLayoutVars>
          <dgm:bulletEnabled val="1"/>
        </dgm:presLayoutVars>
      </dgm:prSet>
      <dgm:spPr/>
    </dgm:pt>
    <dgm:pt modelId="{B217475B-5669-E34B-90BF-F6A9422DEC8A}" type="pres">
      <dgm:prSet presAssocID="{49B92907-6763-2044-A264-7C79E0F550FE}" presName="aSpace2" presStyleCnt="0"/>
      <dgm:spPr/>
    </dgm:pt>
    <dgm:pt modelId="{C594826F-7934-0F40-874A-C158939AC62E}" type="pres">
      <dgm:prSet presAssocID="{5D795706-AAC7-C043-9259-A6977A593597}" presName="childNode" presStyleLbl="node1" presStyleIdx="3" presStyleCnt="4">
        <dgm:presLayoutVars>
          <dgm:bulletEnabled val="1"/>
        </dgm:presLayoutVars>
      </dgm:prSet>
      <dgm:spPr/>
    </dgm:pt>
  </dgm:ptLst>
  <dgm:cxnLst>
    <dgm:cxn modelId="{74EBEE1E-42E4-054B-80D3-FD371EBC2641}" type="presOf" srcId="{C18DE2C0-57AC-C24A-A682-F6EFBC9B2887}" destId="{B4A9D584-B98C-D142-9197-2E0A1BA55CBC}" srcOrd="1" destOrd="0" presId="urn:microsoft.com/office/officeart/2005/8/layout/lProcess2"/>
    <dgm:cxn modelId="{E5361620-0E96-F14B-A1A2-0DA786E9EDFA}" type="presOf" srcId="{5D795706-AAC7-C043-9259-A6977A593597}" destId="{C594826F-7934-0F40-874A-C158939AC62E}" srcOrd="0" destOrd="0" presId="urn:microsoft.com/office/officeart/2005/8/layout/lProcess2"/>
    <dgm:cxn modelId="{6A249129-8DF1-4F48-906D-A149717E21D0}" type="presOf" srcId="{49B92907-6763-2044-A264-7C79E0F550FE}" destId="{9FC495F8-4083-D14A-B895-6F3B982FE006}" srcOrd="0" destOrd="0" presId="urn:microsoft.com/office/officeart/2005/8/layout/lProcess2"/>
    <dgm:cxn modelId="{C37DF469-4FB2-5C4F-A3CF-AE0C7251DF0A}" srcId="{C18DE2C0-57AC-C24A-A682-F6EFBC9B2887}" destId="{B6E55F43-8492-474D-8EBF-DD2FB1FD8E8A}" srcOrd="0" destOrd="0" parTransId="{6F549DEC-FF27-7C41-8C41-F725EDB9BB47}" sibTransId="{DC60DCC1-F39C-2B47-94FC-E552E2A41D42}"/>
    <dgm:cxn modelId="{1C4AAE4B-4CE4-0749-A53D-3E55ED01184D}" type="presOf" srcId="{B6E55F43-8492-474D-8EBF-DD2FB1FD8E8A}" destId="{D71126B5-4D28-F041-996A-21406ACAE784}" srcOrd="0" destOrd="0" presId="urn:microsoft.com/office/officeart/2005/8/layout/lProcess2"/>
    <dgm:cxn modelId="{2974F56F-5B97-0046-A4D9-167F16D10744}" type="presOf" srcId="{C18DE2C0-57AC-C24A-A682-F6EFBC9B2887}" destId="{3F849D56-9230-E249-B48B-5D647FAAD6A7}" srcOrd="0" destOrd="0" presId="urn:microsoft.com/office/officeart/2005/8/layout/lProcess2"/>
    <dgm:cxn modelId="{68CB977A-1AED-F84B-8B83-DCC985FA9EE5}" srcId="{C18DE2C0-57AC-C24A-A682-F6EFBC9B2887}" destId="{49B92907-6763-2044-A264-7C79E0F550FE}" srcOrd="2" destOrd="0" parTransId="{A074C286-12EE-B945-9FCF-EAC486F6B47F}" sibTransId="{71347EC9-E3C5-C64B-950D-73CDD413622F}"/>
    <dgm:cxn modelId="{C1432E81-7EAC-E746-9A7F-1242DFAC14DF}" srcId="{C18DE2C0-57AC-C24A-A682-F6EFBC9B2887}" destId="{116B2C4A-2069-D747-A70A-9E640B09BCAF}" srcOrd="1" destOrd="0" parTransId="{C2585A7A-4A99-C24B-8BF3-D95648DD3C2D}" sibTransId="{0FBA759E-E194-8242-AA20-39F52600209E}"/>
    <dgm:cxn modelId="{091EB68C-F9AF-7B4B-85A0-E397EFBBBD77}" type="presOf" srcId="{F0DDD483-834C-6B45-9317-4D3FA2A47CCF}" destId="{7DBF07C2-8AEA-4B43-8016-96309FCE5136}" srcOrd="0" destOrd="0" presId="urn:microsoft.com/office/officeart/2005/8/layout/lProcess2"/>
    <dgm:cxn modelId="{9EE9BDB0-FEC4-5B43-A1DE-28570A7E3321}" srcId="{C18DE2C0-57AC-C24A-A682-F6EFBC9B2887}" destId="{5D795706-AAC7-C043-9259-A6977A593597}" srcOrd="3" destOrd="0" parTransId="{29E2475E-3133-CD4D-BE38-58FE8AA952AF}" sibTransId="{353DEF32-C308-5940-AF45-32394E3B7CF9}"/>
    <dgm:cxn modelId="{907984CD-9CD1-3D48-9EF2-270BB065DEAB}" type="presOf" srcId="{116B2C4A-2069-D747-A70A-9E640B09BCAF}" destId="{AF8A08C6-7BE2-BC4F-8FA2-F9315956443D}" srcOrd="0" destOrd="0" presId="urn:microsoft.com/office/officeart/2005/8/layout/lProcess2"/>
    <dgm:cxn modelId="{C39A26FF-432F-AF4F-A9AC-8EA5B01529C5}" srcId="{F0DDD483-834C-6B45-9317-4D3FA2A47CCF}" destId="{C18DE2C0-57AC-C24A-A682-F6EFBC9B2887}" srcOrd="0" destOrd="0" parTransId="{9B4DF7D3-AD5B-4C47-8EA0-628D4A801C17}" sibTransId="{F26836F4-DFF2-6842-95F8-A3E36A2B5C95}"/>
    <dgm:cxn modelId="{F064FCE5-E486-244B-A2EE-F002887EF12D}" type="presParOf" srcId="{7DBF07C2-8AEA-4B43-8016-96309FCE5136}" destId="{10B58EBF-1B34-054A-B2DF-CC6F90AB9F87}" srcOrd="0" destOrd="0" presId="urn:microsoft.com/office/officeart/2005/8/layout/lProcess2"/>
    <dgm:cxn modelId="{DC769CDD-46FE-D647-A72F-1CF30352EE1E}" type="presParOf" srcId="{10B58EBF-1B34-054A-B2DF-CC6F90AB9F87}" destId="{3F849D56-9230-E249-B48B-5D647FAAD6A7}" srcOrd="0" destOrd="0" presId="urn:microsoft.com/office/officeart/2005/8/layout/lProcess2"/>
    <dgm:cxn modelId="{3422635E-C124-C743-92FD-B29BE698F7D8}" type="presParOf" srcId="{10B58EBF-1B34-054A-B2DF-CC6F90AB9F87}" destId="{B4A9D584-B98C-D142-9197-2E0A1BA55CBC}" srcOrd="1" destOrd="0" presId="urn:microsoft.com/office/officeart/2005/8/layout/lProcess2"/>
    <dgm:cxn modelId="{F954DDD2-F1AE-2047-A039-F512A610C5C8}" type="presParOf" srcId="{10B58EBF-1B34-054A-B2DF-CC6F90AB9F87}" destId="{FD903F66-DEC8-E943-A8AE-50C398C4E770}" srcOrd="2" destOrd="0" presId="urn:microsoft.com/office/officeart/2005/8/layout/lProcess2"/>
    <dgm:cxn modelId="{95271493-43D7-EF43-8375-3F73A1FE9ABF}" type="presParOf" srcId="{FD903F66-DEC8-E943-A8AE-50C398C4E770}" destId="{FE42A3A4-5A25-EA40-9BAF-51294332E30B}" srcOrd="0" destOrd="0" presId="urn:microsoft.com/office/officeart/2005/8/layout/lProcess2"/>
    <dgm:cxn modelId="{07EFBF39-5853-3243-AB55-4120B6E14939}" type="presParOf" srcId="{FE42A3A4-5A25-EA40-9BAF-51294332E30B}" destId="{D71126B5-4D28-F041-996A-21406ACAE784}" srcOrd="0" destOrd="0" presId="urn:microsoft.com/office/officeart/2005/8/layout/lProcess2"/>
    <dgm:cxn modelId="{AD5B8144-AE8B-204B-97AC-FC50754CD070}" type="presParOf" srcId="{FE42A3A4-5A25-EA40-9BAF-51294332E30B}" destId="{6774FBC6-A207-E64E-9ED5-5016D145CD8C}" srcOrd="1" destOrd="0" presId="urn:microsoft.com/office/officeart/2005/8/layout/lProcess2"/>
    <dgm:cxn modelId="{D0A54DBB-4B81-D641-AC96-34B0BE347A7A}" type="presParOf" srcId="{FE42A3A4-5A25-EA40-9BAF-51294332E30B}" destId="{AF8A08C6-7BE2-BC4F-8FA2-F9315956443D}" srcOrd="2" destOrd="0" presId="urn:microsoft.com/office/officeart/2005/8/layout/lProcess2"/>
    <dgm:cxn modelId="{9AF296D8-E7A0-BE41-A057-3C7CCCA8F435}" type="presParOf" srcId="{FE42A3A4-5A25-EA40-9BAF-51294332E30B}" destId="{AA01FD29-A85B-BA4F-95AE-2814957984D4}" srcOrd="3" destOrd="0" presId="urn:microsoft.com/office/officeart/2005/8/layout/lProcess2"/>
    <dgm:cxn modelId="{EB548A2D-E117-4646-B1FF-C8A017EAF2E0}" type="presParOf" srcId="{FE42A3A4-5A25-EA40-9BAF-51294332E30B}" destId="{9FC495F8-4083-D14A-B895-6F3B982FE006}" srcOrd="4" destOrd="0" presId="urn:microsoft.com/office/officeart/2005/8/layout/lProcess2"/>
    <dgm:cxn modelId="{1E4ABC2C-C76F-5E48-BA79-5DD1F4492239}" type="presParOf" srcId="{FE42A3A4-5A25-EA40-9BAF-51294332E30B}" destId="{B217475B-5669-E34B-90BF-F6A9422DEC8A}" srcOrd="5" destOrd="0" presId="urn:microsoft.com/office/officeart/2005/8/layout/lProcess2"/>
    <dgm:cxn modelId="{77C346EB-7ACA-4B44-8EF9-7DFD501280B9}" type="presParOf" srcId="{FE42A3A4-5A25-EA40-9BAF-51294332E30B}" destId="{C594826F-7934-0F40-874A-C158939AC62E}" srcOrd="6"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8483AC0-93EA-E841-B4FA-277AE639765E}" type="doc">
      <dgm:prSet loTypeId="urn:microsoft.com/office/officeart/2005/8/layout/hList6" loCatId="list" qsTypeId="urn:microsoft.com/office/officeart/2005/8/quickstyle/3D9" qsCatId="3D" csTypeId="urn:microsoft.com/office/officeart/2005/8/colors/accent1_2" csCatId="accent1" phldr="1"/>
      <dgm:spPr>
        <a:scene3d>
          <a:camera prst="orthographicFront"/>
          <a:lightRig rig="soft" dir="t"/>
          <a:backdrop>
            <a:anchor x="0" y="0" z="-210000"/>
            <a:norm dx="0" dy="0" dz="914400"/>
            <a:up dx="0" dy="914400" dz="0"/>
          </a:backdrop>
        </a:scene3d>
      </dgm:spPr>
      <dgm:t>
        <a:bodyPr/>
        <a:lstStyle/>
        <a:p>
          <a:endParaRPr lang="en-US"/>
        </a:p>
      </dgm:t>
    </dgm:pt>
    <dgm:pt modelId="{A040FA2E-38A2-084A-8008-52541E336715}">
      <dgm:prSet phldrT="[Text]"/>
      <dgm:spPr>
        <a:solidFill>
          <a:schemeClr val="accent6"/>
        </a:solidFill>
      </dgm:spPr>
      <dgm:t>
        <a:bodyPr>
          <a:sp3d extrusionH="28000" prstMaterial="matte"/>
        </a:bodyPr>
        <a:lstStyle/>
        <a:p>
          <a:r>
            <a:rPr lang="en-US" dirty="0"/>
            <a:t>If an I/O operation is in progress, the OS needs to know:</a:t>
          </a:r>
        </a:p>
      </dgm:t>
    </dgm:pt>
    <dgm:pt modelId="{CA2E03F6-329A-C542-9B4E-09F9B07AD746}" type="parTrans" cxnId="{1A1B3A03-26E9-A649-928B-D54348BD7142}">
      <dgm:prSet/>
      <dgm:spPr/>
      <dgm:t>
        <a:bodyPr/>
        <a:lstStyle/>
        <a:p>
          <a:endParaRPr lang="en-US"/>
        </a:p>
      </dgm:t>
    </dgm:pt>
    <dgm:pt modelId="{E5096948-CBD6-9642-A0A6-D063E1E6DF9E}" type="sibTrans" cxnId="{1A1B3A03-26E9-A649-928B-D54348BD7142}">
      <dgm:prSet/>
      <dgm:spPr/>
      <dgm:t>
        <a:bodyPr/>
        <a:lstStyle/>
        <a:p>
          <a:endParaRPr lang="en-US"/>
        </a:p>
      </dgm:t>
    </dgm:pt>
    <dgm:pt modelId="{0A07CD90-140F-7941-85A9-03DEFAE8EDBA}">
      <dgm:prSet/>
      <dgm:spPr>
        <a:solidFill>
          <a:schemeClr val="accent6"/>
        </a:solidFill>
      </dgm:spPr>
      <dgm:t>
        <a:bodyPr>
          <a:sp3d extrusionH="28000" prstMaterial="matte"/>
        </a:bodyPr>
        <a:lstStyle/>
        <a:p>
          <a:r>
            <a:rPr lang="en-US" dirty="0"/>
            <a:t>The status of the I/O operation</a:t>
          </a:r>
        </a:p>
      </dgm:t>
    </dgm:pt>
    <dgm:pt modelId="{DAD4FEC6-4078-F348-8661-DC1CBC9C5EB7}" type="parTrans" cxnId="{875EBE26-92DA-8E4B-BD92-7955EDFBB187}">
      <dgm:prSet/>
      <dgm:spPr/>
      <dgm:t>
        <a:bodyPr/>
        <a:lstStyle/>
        <a:p>
          <a:endParaRPr lang="en-US"/>
        </a:p>
      </dgm:t>
    </dgm:pt>
    <dgm:pt modelId="{A96E2C35-B43C-284A-8F6C-EC255CEB46E2}" type="sibTrans" cxnId="{875EBE26-92DA-8E4B-BD92-7955EDFBB187}">
      <dgm:prSet/>
      <dgm:spPr/>
      <dgm:t>
        <a:bodyPr/>
        <a:lstStyle/>
        <a:p>
          <a:endParaRPr lang="en-US"/>
        </a:p>
      </dgm:t>
    </dgm:pt>
    <dgm:pt modelId="{A452C825-FC81-9A4C-AA41-A8075B54C907}">
      <dgm:prSet/>
      <dgm:spPr>
        <a:solidFill>
          <a:schemeClr val="accent6"/>
        </a:solidFill>
      </dgm:spPr>
      <dgm:t>
        <a:bodyPr>
          <a:sp3d extrusionH="28000" prstMaterial="matte"/>
        </a:bodyPr>
        <a:lstStyle/>
        <a:p>
          <a:r>
            <a:rPr lang="en-US" dirty="0"/>
            <a:t>The location in main memory being used as the source or destination of the I/O transfer</a:t>
          </a:r>
        </a:p>
      </dgm:t>
    </dgm:pt>
    <dgm:pt modelId="{E1846D62-E179-AC46-B3A2-565133559C19}" type="parTrans" cxnId="{66E3E055-BE84-8A4B-AA56-3B28D1FE623F}">
      <dgm:prSet/>
      <dgm:spPr/>
      <dgm:t>
        <a:bodyPr/>
        <a:lstStyle/>
        <a:p>
          <a:endParaRPr lang="en-US"/>
        </a:p>
      </dgm:t>
    </dgm:pt>
    <dgm:pt modelId="{CA980892-163F-984A-8353-259B373E2547}" type="sibTrans" cxnId="{66E3E055-BE84-8A4B-AA56-3B28D1FE623F}">
      <dgm:prSet/>
      <dgm:spPr/>
      <dgm:t>
        <a:bodyPr/>
        <a:lstStyle/>
        <a:p>
          <a:endParaRPr lang="en-US"/>
        </a:p>
      </dgm:t>
    </dgm:pt>
    <dgm:pt modelId="{9CDB328D-A836-A442-A1ED-9E5CA29EB382}" type="pres">
      <dgm:prSet presAssocID="{F8483AC0-93EA-E841-B4FA-277AE639765E}" presName="Name0" presStyleCnt="0">
        <dgm:presLayoutVars>
          <dgm:dir/>
          <dgm:resizeHandles val="exact"/>
        </dgm:presLayoutVars>
      </dgm:prSet>
      <dgm:spPr/>
    </dgm:pt>
    <dgm:pt modelId="{D12A3F9C-77AE-CD4E-A6A3-593211C3CA4E}" type="pres">
      <dgm:prSet presAssocID="{A040FA2E-38A2-084A-8008-52541E336715}" presName="node" presStyleLbl="node1" presStyleIdx="0" presStyleCnt="1">
        <dgm:presLayoutVars>
          <dgm:bulletEnabled val="1"/>
        </dgm:presLayoutVars>
      </dgm:prSet>
      <dgm:spPr/>
    </dgm:pt>
  </dgm:ptLst>
  <dgm:cxnLst>
    <dgm:cxn modelId="{1A1B3A03-26E9-A649-928B-D54348BD7142}" srcId="{F8483AC0-93EA-E841-B4FA-277AE639765E}" destId="{A040FA2E-38A2-084A-8008-52541E336715}" srcOrd="0" destOrd="0" parTransId="{CA2E03F6-329A-C542-9B4E-09F9B07AD746}" sibTransId="{E5096948-CBD6-9642-A0A6-D063E1E6DF9E}"/>
    <dgm:cxn modelId="{875EBE26-92DA-8E4B-BD92-7955EDFBB187}" srcId="{A040FA2E-38A2-084A-8008-52541E336715}" destId="{0A07CD90-140F-7941-85A9-03DEFAE8EDBA}" srcOrd="0" destOrd="0" parTransId="{DAD4FEC6-4078-F348-8661-DC1CBC9C5EB7}" sibTransId="{A96E2C35-B43C-284A-8F6C-EC255CEB46E2}"/>
    <dgm:cxn modelId="{66E3E055-BE84-8A4B-AA56-3B28D1FE623F}" srcId="{A040FA2E-38A2-084A-8008-52541E336715}" destId="{A452C825-FC81-9A4C-AA41-A8075B54C907}" srcOrd="1" destOrd="0" parTransId="{E1846D62-E179-AC46-B3A2-565133559C19}" sibTransId="{CA980892-163F-984A-8353-259B373E2547}"/>
    <dgm:cxn modelId="{456AF656-D457-5740-B7BE-B61B04954A89}" type="presOf" srcId="{A452C825-FC81-9A4C-AA41-A8075B54C907}" destId="{D12A3F9C-77AE-CD4E-A6A3-593211C3CA4E}" srcOrd="0" destOrd="2" presId="urn:microsoft.com/office/officeart/2005/8/layout/hList6"/>
    <dgm:cxn modelId="{2095857F-CB22-0343-B40D-3534E0AC2E99}" type="presOf" srcId="{0A07CD90-140F-7941-85A9-03DEFAE8EDBA}" destId="{D12A3F9C-77AE-CD4E-A6A3-593211C3CA4E}" srcOrd="0" destOrd="1" presId="urn:microsoft.com/office/officeart/2005/8/layout/hList6"/>
    <dgm:cxn modelId="{1B587AB5-F901-9044-971E-2A732E782BB8}" type="presOf" srcId="{A040FA2E-38A2-084A-8008-52541E336715}" destId="{D12A3F9C-77AE-CD4E-A6A3-593211C3CA4E}" srcOrd="0" destOrd="0" presId="urn:microsoft.com/office/officeart/2005/8/layout/hList6"/>
    <dgm:cxn modelId="{B89B44FF-D191-9D45-BCAC-1438F6C124B9}" type="presOf" srcId="{F8483AC0-93EA-E841-B4FA-277AE639765E}" destId="{9CDB328D-A836-A442-A1ED-9E5CA29EB382}" srcOrd="0" destOrd="0" presId="urn:microsoft.com/office/officeart/2005/8/layout/hList6"/>
    <dgm:cxn modelId="{845B37DC-5FC8-5E46-9842-6606571DCBFB}" type="presParOf" srcId="{9CDB328D-A836-A442-A1ED-9E5CA29EB382}" destId="{D12A3F9C-77AE-CD4E-A6A3-593211C3CA4E}" srcOrd="0" destOrd="0" presId="urn:microsoft.com/office/officeart/2005/8/layout/hList6"/>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C8DE37B-A3E7-3A44-84B8-18447E67AA42}"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0187175F-5EEB-A649-917F-B8E746E12A5B}">
      <dgm:prSet phldrT="[Text]"/>
      <dgm:spPr/>
      <dgm:t>
        <a:bodyPr/>
        <a:lstStyle/>
        <a:p>
          <a:r>
            <a:rPr lang="en-NZ" dirty="0"/>
            <a:t>These tables provide information about:</a:t>
          </a:r>
          <a:endParaRPr lang="en-US" dirty="0"/>
        </a:p>
      </dgm:t>
    </dgm:pt>
    <dgm:pt modelId="{7C194169-9A67-084C-9DDA-F6F91D1F548A}" type="parTrans" cxnId="{3F6CA88F-2837-2E40-89BC-32290E93EFBD}">
      <dgm:prSet/>
      <dgm:spPr/>
      <dgm:t>
        <a:bodyPr/>
        <a:lstStyle/>
        <a:p>
          <a:endParaRPr lang="en-US"/>
        </a:p>
      </dgm:t>
    </dgm:pt>
    <dgm:pt modelId="{462978F6-1F9F-6049-8646-188F819CD73F}" type="sibTrans" cxnId="{3F6CA88F-2837-2E40-89BC-32290E93EFBD}">
      <dgm:prSet/>
      <dgm:spPr/>
      <dgm:t>
        <a:bodyPr/>
        <a:lstStyle/>
        <a:p>
          <a:endParaRPr lang="en-US"/>
        </a:p>
      </dgm:t>
    </dgm:pt>
    <dgm:pt modelId="{8F2CF82E-89BA-BA4F-AF4C-4E4D23C137A8}">
      <dgm:prSet/>
      <dgm:spPr/>
      <dgm:t>
        <a:bodyPr/>
        <a:lstStyle/>
        <a:p>
          <a:r>
            <a:rPr lang="en-US" dirty="0"/>
            <a:t>Existence of files</a:t>
          </a:r>
        </a:p>
      </dgm:t>
    </dgm:pt>
    <dgm:pt modelId="{A9DF3DCD-649B-6942-BCA8-145CB4B439A7}" type="parTrans" cxnId="{0076936E-2D7A-D041-B242-499BE0E971AB}">
      <dgm:prSet/>
      <dgm:spPr/>
      <dgm:t>
        <a:bodyPr/>
        <a:lstStyle/>
        <a:p>
          <a:endParaRPr lang="en-US"/>
        </a:p>
      </dgm:t>
    </dgm:pt>
    <dgm:pt modelId="{910212EA-EC89-B540-A529-E8CC91E665AF}" type="sibTrans" cxnId="{0076936E-2D7A-D041-B242-499BE0E971AB}">
      <dgm:prSet/>
      <dgm:spPr/>
      <dgm:t>
        <a:bodyPr/>
        <a:lstStyle/>
        <a:p>
          <a:endParaRPr lang="en-US"/>
        </a:p>
      </dgm:t>
    </dgm:pt>
    <dgm:pt modelId="{9E57F95E-88E2-7A49-8636-5CA2098542D3}">
      <dgm:prSet/>
      <dgm:spPr/>
      <dgm:t>
        <a:bodyPr/>
        <a:lstStyle/>
        <a:p>
          <a:r>
            <a:rPr lang="en-US" dirty="0"/>
            <a:t>Location on secondary memory</a:t>
          </a:r>
        </a:p>
      </dgm:t>
    </dgm:pt>
    <dgm:pt modelId="{DFE4B9AA-B9AD-F543-9DDA-1E7953DBD416}" type="parTrans" cxnId="{6CECE787-395D-2D40-A0A2-05B1D5F30620}">
      <dgm:prSet/>
      <dgm:spPr/>
      <dgm:t>
        <a:bodyPr/>
        <a:lstStyle/>
        <a:p>
          <a:endParaRPr lang="en-US"/>
        </a:p>
      </dgm:t>
    </dgm:pt>
    <dgm:pt modelId="{BEACEA7A-3B4A-4340-84A2-4416D9266CC4}" type="sibTrans" cxnId="{6CECE787-395D-2D40-A0A2-05B1D5F30620}">
      <dgm:prSet/>
      <dgm:spPr/>
      <dgm:t>
        <a:bodyPr/>
        <a:lstStyle/>
        <a:p>
          <a:endParaRPr lang="en-US"/>
        </a:p>
      </dgm:t>
    </dgm:pt>
    <dgm:pt modelId="{2B0937E0-5474-0B44-948E-E277F5754624}">
      <dgm:prSet/>
      <dgm:spPr/>
      <dgm:t>
        <a:bodyPr/>
        <a:lstStyle/>
        <a:p>
          <a:r>
            <a:rPr lang="en-US" dirty="0"/>
            <a:t>Current status</a:t>
          </a:r>
        </a:p>
      </dgm:t>
    </dgm:pt>
    <dgm:pt modelId="{7D82712C-7A35-364F-9B3B-284F0E9F19CA}" type="parTrans" cxnId="{D1BC6A98-A9B0-D44F-84CA-D28E458D25EE}">
      <dgm:prSet/>
      <dgm:spPr/>
      <dgm:t>
        <a:bodyPr/>
        <a:lstStyle/>
        <a:p>
          <a:endParaRPr lang="en-US"/>
        </a:p>
      </dgm:t>
    </dgm:pt>
    <dgm:pt modelId="{0716F3C2-7F3B-8745-B871-B9CAD70D0855}" type="sibTrans" cxnId="{D1BC6A98-A9B0-D44F-84CA-D28E458D25EE}">
      <dgm:prSet/>
      <dgm:spPr/>
      <dgm:t>
        <a:bodyPr/>
        <a:lstStyle/>
        <a:p>
          <a:endParaRPr lang="en-US"/>
        </a:p>
      </dgm:t>
    </dgm:pt>
    <dgm:pt modelId="{2AB9EC0E-0C5D-6D46-9B5D-76DDEC4AD3D5}">
      <dgm:prSet/>
      <dgm:spPr/>
      <dgm:t>
        <a:bodyPr/>
        <a:lstStyle/>
        <a:p>
          <a:r>
            <a:rPr lang="en-NZ" dirty="0"/>
            <a:t>Other attributes</a:t>
          </a:r>
          <a:endParaRPr lang="en-US" dirty="0"/>
        </a:p>
      </dgm:t>
    </dgm:pt>
    <dgm:pt modelId="{ABB936FE-3E30-C745-84D5-50F64B3DEC10}" type="parTrans" cxnId="{B167301A-E8CF-1A4A-A358-521905DD1047}">
      <dgm:prSet/>
      <dgm:spPr/>
      <dgm:t>
        <a:bodyPr/>
        <a:lstStyle/>
        <a:p>
          <a:endParaRPr lang="en-US"/>
        </a:p>
      </dgm:t>
    </dgm:pt>
    <dgm:pt modelId="{F70E35F4-F3A7-DC4F-A801-E90C22E24073}" type="sibTrans" cxnId="{B167301A-E8CF-1A4A-A358-521905DD1047}">
      <dgm:prSet/>
      <dgm:spPr/>
      <dgm:t>
        <a:bodyPr/>
        <a:lstStyle/>
        <a:p>
          <a:endParaRPr lang="en-US"/>
        </a:p>
      </dgm:t>
    </dgm:pt>
    <dgm:pt modelId="{A738D775-1FD4-BE4D-A346-D7A5A7E8D368}" type="pres">
      <dgm:prSet presAssocID="{EC8DE37B-A3E7-3A44-84B8-18447E67AA42}" presName="linear" presStyleCnt="0">
        <dgm:presLayoutVars>
          <dgm:dir/>
          <dgm:animLvl val="lvl"/>
          <dgm:resizeHandles val="exact"/>
        </dgm:presLayoutVars>
      </dgm:prSet>
      <dgm:spPr/>
    </dgm:pt>
    <dgm:pt modelId="{F1CF573D-EF45-F742-8B9F-5840A5DE5ACA}" type="pres">
      <dgm:prSet presAssocID="{0187175F-5EEB-A649-917F-B8E746E12A5B}" presName="parentLin" presStyleCnt="0"/>
      <dgm:spPr/>
    </dgm:pt>
    <dgm:pt modelId="{7371FC89-F36C-3D49-832F-E59D73C74E10}" type="pres">
      <dgm:prSet presAssocID="{0187175F-5EEB-A649-917F-B8E746E12A5B}" presName="parentLeftMargin" presStyleLbl="node1" presStyleIdx="0" presStyleCnt="1"/>
      <dgm:spPr/>
    </dgm:pt>
    <dgm:pt modelId="{0CEFEDA6-C6BD-4242-A36C-ADC20C2F1CA7}" type="pres">
      <dgm:prSet presAssocID="{0187175F-5EEB-A649-917F-B8E746E12A5B}" presName="parentText" presStyleLbl="node1" presStyleIdx="0" presStyleCnt="1">
        <dgm:presLayoutVars>
          <dgm:chMax val="0"/>
          <dgm:bulletEnabled val="1"/>
        </dgm:presLayoutVars>
      </dgm:prSet>
      <dgm:spPr/>
    </dgm:pt>
    <dgm:pt modelId="{4B3E280C-E243-5343-B27A-FB049E6110FE}" type="pres">
      <dgm:prSet presAssocID="{0187175F-5EEB-A649-917F-B8E746E12A5B}" presName="negativeSpace" presStyleCnt="0"/>
      <dgm:spPr/>
    </dgm:pt>
    <dgm:pt modelId="{B65E8AE7-B8C6-0241-9480-2CDA1CF97203}" type="pres">
      <dgm:prSet presAssocID="{0187175F-5EEB-A649-917F-B8E746E12A5B}" presName="childText" presStyleLbl="conFgAcc1" presStyleIdx="0" presStyleCnt="1">
        <dgm:presLayoutVars>
          <dgm:bulletEnabled val="1"/>
        </dgm:presLayoutVars>
      </dgm:prSet>
      <dgm:spPr/>
    </dgm:pt>
  </dgm:ptLst>
  <dgm:cxnLst>
    <dgm:cxn modelId="{B167301A-E8CF-1A4A-A358-521905DD1047}" srcId="{0187175F-5EEB-A649-917F-B8E746E12A5B}" destId="{2AB9EC0E-0C5D-6D46-9B5D-76DDEC4AD3D5}" srcOrd="3" destOrd="0" parTransId="{ABB936FE-3E30-C745-84D5-50F64B3DEC10}" sibTransId="{F70E35F4-F3A7-DC4F-A801-E90C22E24073}"/>
    <dgm:cxn modelId="{1B24F423-BF5C-5A4D-9F28-A21761E6A60D}" type="presOf" srcId="{EC8DE37B-A3E7-3A44-84B8-18447E67AA42}" destId="{A738D775-1FD4-BE4D-A346-D7A5A7E8D368}" srcOrd="0" destOrd="0" presId="urn:microsoft.com/office/officeart/2005/8/layout/list1"/>
    <dgm:cxn modelId="{1C362A31-9138-504D-B438-FCDA4C71901D}" type="presOf" srcId="{0187175F-5EEB-A649-917F-B8E746E12A5B}" destId="{7371FC89-F36C-3D49-832F-E59D73C74E10}" srcOrd="0" destOrd="0" presId="urn:microsoft.com/office/officeart/2005/8/layout/list1"/>
    <dgm:cxn modelId="{A3B98843-D995-AB40-8B43-73D1197A9B9A}" type="presOf" srcId="{8F2CF82E-89BA-BA4F-AF4C-4E4D23C137A8}" destId="{B65E8AE7-B8C6-0241-9480-2CDA1CF97203}" srcOrd="0" destOrd="0" presId="urn:microsoft.com/office/officeart/2005/8/layout/list1"/>
    <dgm:cxn modelId="{0076936E-2D7A-D041-B242-499BE0E971AB}" srcId="{0187175F-5EEB-A649-917F-B8E746E12A5B}" destId="{8F2CF82E-89BA-BA4F-AF4C-4E4D23C137A8}" srcOrd="0" destOrd="0" parTransId="{A9DF3DCD-649B-6942-BCA8-145CB4B439A7}" sibTransId="{910212EA-EC89-B540-A529-E8CC91E665AF}"/>
    <dgm:cxn modelId="{6CECE787-395D-2D40-A0A2-05B1D5F30620}" srcId="{0187175F-5EEB-A649-917F-B8E746E12A5B}" destId="{9E57F95E-88E2-7A49-8636-5CA2098542D3}" srcOrd="1" destOrd="0" parTransId="{DFE4B9AA-B9AD-F543-9DDA-1E7953DBD416}" sibTransId="{BEACEA7A-3B4A-4340-84A2-4416D9266CC4}"/>
    <dgm:cxn modelId="{3F6CA88F-2837-2E40-89BC-32290E93EFBD}" srcId="{EC8DE37B-A3E7-3A44-84B8-18447E67AA42}" destId="{0187175F-5EEB-A649-917F-B8E746E12A5B}" srcOrd="0" destOrd="0" parTransId="{7C194169-9A67-084C-9DDA-F6F91D1F548A}" sibTransId="{462978F6-1F9F-6049-8646-188F819CD73F}"/>
    <dgm:cxn modelId="{3B9A0E96-6CA8-D140-AE6E-B5975FF4FBDD}" type="presOf" srcId="{0187175F-5EEB-A649-917F-B8E746E12A5B}" destId="{0CEFEDA6-C6BD-4242-A36C-ADC20C2F1CA7}" srcOrd="1" destOrd="0" presId="urn:microsoft.com/office/officeart/2005/8/layout/list1"/>
    <dgm:cxn modelId="{D1BC6A98-A9B0-D44F-84CA-D28E458D25EE}" srcId="{0187175F-5EEB-A649-917F-B8E746E12A5B}" destId="{2B0937E0-5474-0B44-948E-E277F5754624}" srcOrd="2" destOrd="0" parTransId="{7D82712C-7A35-364F-9B3B-284F0E9F19CA}" sibTransId="{0716F3C2-7F3B-8745-B871-B9CAD70D0855}"/>
    <dgm:cxn modelId="{E4C2429A-AD9C-8049-B4A2-4C68171D179D}" type="presOf" srcId="{9E57F95E-88E2-7A49-8636-5CA2098542D3}" destId="{B65E8AE7-B8C6-0241-9480-2CDA1CF97203}" srcOrd="0" destOrd="1" presId="urn:microsoft.com/office/officeart/2005/8/layout/list1"/>
    <dgm:cxn modelId="{004DB39D-5932-CE45-9E18-7ED0A3E89BCE}" type="presOf" srcId="{2B0937E0-5474-0B44-948E-E277F5754624}" destId="{B65E8AE7-B8C6-0241-9480-2CDA1CF97203}" srcOrd="0" destOrd="2" presId="urn:microsoft.com/office/officeart/2005/8/layout/list1"/>
    <dgm:cxn modelId="{3750D8EE-1F16-7A4D-9612-FF7A0AEAC11F}" type="presOf" srcId="{2AB9EC0E-0C5D-6D46-9B5D-76DDEC4AD3D5}" destId="{B65E8AE7-B8C6-0241-9480-2CDA1CF97203}" srcOrd="0" destOrd="3" presId="urn:microsoft.com/office/officeart/2005/8/layout/list1"/>
    <dgm:cxn modelId="{B3E73C5E-DA33-6845-A8D9-2F786B400C8A}" type="presParOf" srcId="{A738D775-1FD4-BE4D-A346-D7A5A7E8D368}" destId="{F1CF573D-EF45-F742-8B9F-5840A5DE5ACA}" srcOrd="0" destOrd="0" presId="urn:microsoft.com/office/officeart/2005/8/layout/list1"/>
    <dgm:cxn modelId="{34162EE4-35AE-6F42-A932-4430311272E7}" type="presParOf" srcId="{F1CF573D-EF45-F742-8B9F-5840A5DE5ACA}" destId="{7371FC89-F36C-3D49-832F-E59D73C74E10}" srcOrd="0" destOrd="0" presId="urn:microsoft.com/office/officeart/2005/8/layout/list1"/>
    <dgm:cxn modelId="{68763359-A7DE-7045-94E1-BE521884106E}" type="presParOf" srcId="{F1CF573D-EF45-F742-8B9F-5840A5DE5ACA}" destId="{0CEFEDA6-C6BD-4242-A36C-ADC20C2F1CA7}" srcOrd="1" destOrd="0" presId="urn:microsoft.com/office/officeart/2005/8/layout/list1"/>
    <dgm:cxn modelId="{A4F72647-E674-BD43-B24E-9963244BB20D}" type="presParOf" srcId="{A738D775-1FD4-BE4D-A346-D7A5A7E8D368}" destId="{4B3E280C-E243-5343-B27A-FB049E6110FE}" srcOrd="1" destOrd="0" presId="urn:microsoft.com/office/officeart/2005/8/layout/list1"/>
    <dgm:cxn modelId="{90A3924C-087A-6A46-A00B-547972CB63A3}" type="presParOf" srcId="{A738D775-1FD4-BE4D-A346-D7A5A7E8D368}" destId="{B65E8AE7-B8C6-0241-9480-2CDA1CF97203}"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0BBE418-ADD4-D949-84CA-7AC3A75DC2A5}" type="doc">
      <dgm:prSet loTypeId="urn:microsoft.com/office/officeart/2005/8/layout/vList6" loCatId="process" qsTypeId="urn:microsoft.com/office/officeart/2005/8/quickstyle/simple4" qsCatId="simple" csTypeId="urn:microsoft.com/office/officeart/2005/8/colors/accent1_2" csCatId="accent1" phldr="1"/>
      <dgm:spPr/>
      <dgm:t>
        <a:bodyPr/>
        <a:lstStyle/>
        <a:p>
          <a:endParaRPr lang="en-US"/>
        </a:p>
      </dgm:t>
    </dgm:pt>
    <dgm:pt modelId="{66819343-F3D7-DF41-8F49-5D548F1D3CF5}">
      <dgm:prSet phldrT="[Text]"/>
      <dgm:spPr>
        <a:solidFill>
          <a:schemeClr val="accent6"/>
        </a:solidFill>
      </dgm:spPr>
      <dgm:t>
        <a:bodyPr/>
        <a:lstStyle/>
        <a:p>
          <a:r>
            <a:rPr lang="en-US" dirty="0"/>
            <a:t>To manage and control a process the OS must know:</a:t>
          </a:r>
        </a:p>
      </dgm:t>
    </dgm:pt>
    <dgm:pt modelId="{827372AA-4ACC-1042-8DEE-9246C4DD0873}" type="parTrans" cxnId="{EC8629B5-C266-0940-AE4C-B7520F5CF6A0}">
      <dgm:prSet/>
      <dgm:spPr/>
      <dgm:t>
        <a:bodyPr/>
        <a:lstStyle/>
        <a:p>
          <a:endParaRPr lang="en-US"/>
        </a:p>
      </dgm:t>
    </dgm:pt>
    <dgm:pt modelId="{C927A0E6-4DCE-DE4D-827E-6F4964624835}" type="sibTrans" cxnId="{EC8629B5-C266-0940-AE4C-B7520F5CF6A0}">
      <dgm:prSet/>
      <dgm:spPr/>
      <dgm:t>
        <a:bodyPr/>
        <a:lstStyle/>
        <a:p>
          <a:endParaRPr lang="en-US"/>
        </a:p>
      </dgm:t>
    </dgm:pt>
    <dgm:pt modelId="{871B42AC-8470-FF4E-BEC0-53B3579113D7}">
      <dgm:prSet/>
      <dgm:spPr>
        <a:solidFill>
          <a:schemeClr val="accent2"/>
        </a:solidFill>
        <a:ln>
          <a:solidFill>
            <a:schemeClr val="accent1">
              <a:lumMod val="75000"/>
            </a:schemeClr>
          </a:solidFill>
        </a:ln>
      </dgm:spPr>
      <dgm:t>
        <a:bodyPr/>
        <a:lstStyle/>
        <a:p>
          <a:r>
            <a:rPr lang="en-US" dirty="0"/>
            <a:t>Where the process is located</a:t>
          </a:r>
        </a:p>
      </dgm:t>
    </dgm:pt>
    <dgm:pt modelId="{F897EE57-C814-2246-B2C4-FABFB79714A7}" type="parTrans" cxnId="{9D7C1A31-9DCF-FA4C-A300-7393923830E6}">
      <dgm:prSet/>
      <dgm:spPr/>
      <dgm:t>
        <a:bodyPr/>
        <a:lstStyle/>
        <a:p>
          <a:endParaRPr lang="en-US"/>
        </a:p>
      </dgm:t>
    </dgm:pt>
    <dgm:pt modelId="{C169AE27-A056-F248-8D2D-0DD9382CC185}" type="sibTrans" cxnId="{9D7C1A31-9DCF-FA4C-A300-7393923830E6}">
      <dgm:prSet/>
      <dgm:spPr/>
      <dgm:t>
        <a:bodyPr/>
        <a:lstStyle/>
        <a:p>
          <a:endParaRPr lang="en-US"/>
        </a:p>
      </dgm:t>
    </dgm:pt>
    <dgm:pt modelId="{1CD70AB2-3EDE-C94F-9DF9-922D6B5FC88B}">
      <dgm:prSet/>
      <dgm:spPr>
        <a:solidFill>
          <a:schemeClr val="accent2"/>
        </a:solidFill>
        <a:ln>
          <a:solidFill>
            <a:schemeClr val="accent1">
              <a:lumMod val="75000"/>
            </a:schemeClr>
          </a:solidFill>
        </a:ln>
      </dgm:spPr>
      <dgm:t>
        <a:bodyPr/>
        <a:lstStyle/>
        <a:p>
          <a:r>
            <a:rPr lang="en-US" dirty="0"/>
            <a:t>The attributes of the process that are necessary for its management</a:t>
          </a:r>
        </a:p>
      </dgm:t>
    </dgm:pt>
    <dgm:pt modelId="{56FE4BE3-C832-D749-849A-E5B9E272A411}" type="parTrans" cxnId="{563CC5BA-3E56-5344-BBAC-360C7C442AD6}">
      <dgm:prSet/>
      <dgm:spPr/>
      <dgm:t>
        <a:bodyPr/>
        <a:lstStyle/>
        <a:p>
          <a:endParaRPr lang="en-US"/>
        </a:p>
      </dgm:t>
    </dgm:pt>
    <dgm:pt modelId="{2C72B771-19F4-A843-9100-AE396A5A5608}" type="sibTrans" cxnId="{563CC5BA-3E56-5344-BBAC-360C7C442AD6}">
      <dgm:prSet/>
      <dgm:spPr/>
      <dgm:t>
        <a:bodyPr/>
        <a:lstStyle/>
        <a:p>
          <a:endParaRPr lang="en-US"/>
        </a:p>
      </dgm:t>
    </dgm:pt>
    <dgm:pt modelId="{44FCB1B8-3A80-BD42-97D8-DDBC3F17992A}" type="pres">
      <dgm:prSet presAssocID="{C0BBE418-ADD4-D949-84CA-7AC3A75DC2A5}" presName="Name0" presStyleCnt="0">
        <dgm:presLayoutVars>
          <dgm:dir/>
          <dgm:animLvl val="lvl"/>
          <dgm:resizeHandles/>
        </dgm:presLayoutVars>
      </dgm:prSet>
      <dgm:spPr/>
    </dgm:pt>
    <dgm:pt modelId="{8BA68693-627A-904C-84FE-265B9ADA1F48}" type="pres">
      <dgm:prSet presAssocID="{66819343-F3D7-DF41-8F49-5D548F1D3CF5}" presName="linNode" presStyleCnt="0"/>
      <dgm:spPr/>
    </dgm:pt>
    <dgm:pt modelId="{124922B8-514C-784B-AB7F-197C6AA9DFC8}" type="pres">
      <dgm:prSet presAssocID="{66819343-F3D7-DF41-8F49-5D548F1D3CF5}" presName="parentShp" presStyleLbl="node1" presStyleIdx="0" presStyleCnt="1">
        <dgm:presLayoutVars>
          <dgm:bulletEnabled val="1"/>
        </dgm:presLayoutVars>
      </dgm:prSet>
      <dgm:spPr/>
    </dgm:pt>
    <dgm:pt modelId="{FC5F1453-A84B-C04C-A3D7-88BA22B5CF02}" type="pres">
      <dgm:prSet presAssocID="{66819343-F3D7-DF41-8F49-5D548F1D3CF5}" presName="childShp" presStyleLbl="bgAccFollowNode1" presStyleIdx="0" presStyleCnt="1">
        <dgm:presLayoutVars>
          <dgm:bulletEnabled val="1"/>
        </dgm:presLayoutVars>
      </dgm:prSet>
      <dgm:spPr/>
    </dgm:pt>
  </dgm:ptLst>
  <dgm:cxnLst>
    <dgm:cxn modelId="{9D7C1A31-9DCF-FA4C-A300-7393923830E6}" srcId="{66819343-F3D7-DF41-8F49-5D548F1D3CF5}" destId="{871B42AC-8470-FF4E-BEC0-53B3579113D7}" srcOrd="0" destOrd="0" parTransId="{F897EE57-C814-2246-B2C4-FABFB79714A7}" sibTransId="{C169AE27-A056-F248-8D2D-0DD9382CC185}"/>
    <dgm:cxn modelId="{2CF55D96-B46E-034B-A553-1C2AC1F0E546}" type="presOf" srcId="{871B42AC-8470-FF4E-BEC0-53B3579113D7}" destId="{FC5F1453-A84B-C04C-A3D7-88BA22B5CF02}" srcOrd="0" destOrd="0" presId="urn:microsoft.com/office/officeart/2005/8/layout/vList6"/>
    <dgm:cxn modelId="{26D225B4-B696-0E40-9D4E-B40C96219E4A}" type="presOf" srcId="{1CD70AB2-3EDE-C94F-9DF9-922D6B5FC88B}" destId="{FC5F1453-A84B-C04C-A3D7-88BA22B5CF02}" srcOrd="0" destOrd="1" presId="urn:microsoft.com/office/officeart/2005/8/layout/vList6"/>
    <dgm:cxn modelId="{EC8629B5-C266-0940-AE4C-B7520F5CF6A0}" srcId="{C0BBE418-ADD4-D949-84CA-7AC3A75DC2A5}" destId="{66819343-F3D7-DF41-8F49-5D548F1D3CF5}" srcOrd="0" destOrd="0" parTransId="{827372AA-4ACC-1042-8DEE-9246C4DD0873}" sibTransId="{C927A0E6-4DCE-DE4D-827E-6F4964624835}"/>
    <dgm:cxn modelId="{2A4FE2B6-33C9-794D-97A9-09746A8A2EDD}" type="presOf" srcId="{66819343-F3D7-DF41-8F49-5D548F1D3CF5}" destId="{124922B8-514C-784B-AB7F-197C6AA9DFC8}" srcOrd="0" destOrd="0" presId="urn:microsoft.com/office/officeart/2005/8/layout/vList6"/>
    <dgm:cxn modelId="{563CC5BA-3E56-5344-BBAC-360C7C442AD6}" srcId="{66819343-F3D7-DF41-8F49-5D548F1D3CF5}" destId="{1CD70AB2-3EDE-C94F-9DF9-922D6B5FC88B}" srcOrd="1" destOrd="0" parTransId="{56FE4BE3-C832-D749-849A-E5B9E272A411}" sibTransId="{2C72B771-19F4-A843-9100-AE396A5A5608}"/>
    <dgm:cxn modelId="{52275CBE-DBC6-D641-8504-E9381185D325}" type="presOf" srcId="{C0BBE418-ADD4-D949-84CA-7AC3A75DC2A5}" destId="{44FCB1B8-3A80-BD42-97D8-DDBC3F17992A}" srcOrd="0" destOrd="0" presId="urn:microsoft.com/office/officeart/2005/8/layout/vList6"/>
    <dgm:cxn modelId="{463C4629-5954-8143-99E7-93894E8CAFAF}" type="presParOf" srcId="{44FCB1B8-3A80-BD42-97D8-DDBC3F17992A}" destId="{8BA68693-627A-904C-84FE-265B9ADA1F48}" srcOrd="0" destOrd="0" presId="urn:microsoft.com/office/officeart/2005/8/layout/vList6"/>
    <dgm:cxn modelId="{FD76F2BF-D4F5-D046-9182-8589FA5B22B1}" type="presParOf" srcId="{8BA68693-627A-904C-84FE-265B9ADA1F48}" destId="{124922B8-514C-784B-AB7F-197C6AA9DFC8}" srcOrd="0" destOrd="0" presId="urn:microsoft.com/office/officeart/2005/8/layout/vList6"/>
    <dgm:cxn modelId="{C105813D-31FC-F64C-89E4-E8097B6EBB2B}" type="presParOf" srcId="{8BA68693-627A-904C-84FE-265B9ADA1F48}" destId="{FC5F1453-A84B-C04C-A3D7-88BA22B5CF02}" srcOrd="1" destOrd="0" presId="urn:microsoft.com/office/officeart/2005/8/layout/v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5CC2E59-4DA7-E74F-9953-307B4CE48149}" type="doc">
      <dgm:prSet loTypeId="urn:microsoft.com/office/officeart/2005/8/layout/vList5" loCatId="list" qsTypeId="urn:microsoft.com/office/officeart/2005/8/quickstyle/simple4" qsCatId="simple" csTypeId="urn:microsoft.com/office/officeart/2005/8/colors/accent1_2" csCatId="accent1" phldr="1"/>
      <dgm:spPr/>
      <dgm:t>
        <a:bodyPr/>
        <a:lstStyle/>
        <a:p>
          <a:endParaRPr lang="en-US"/>
        </a:p>
      </dgm:t>
    </dgm:pt>
    <dgm:pt modelId="{0E6368D5-B059-024E-91DF-DD3FD8F3EF0D}">
      <dgm:prSet/>
      <dgm:spPr>
        <a:solidFill>
          <a:schemeClr val="accent1">
            <a:alpha val="90000"/>
          </a:schemeClr>
        </a:solidFill>
      </dgm:spPr>
      <dgm:t>
        <a:bodyPr/>
        <a:lstStyle/>
        <a:p>
          <a:pPr rtl="0"/>
          <a:r>
            <a:rPr lang="en-US" b="1" i="0" dirty="0">
              <a:solidFill>
                <a:schemeClr val="bg1"/>
              </a:solidFill>
            </a:rPr>
            <a:t>Program status word (PSW)</a:t>
          </a:r>
        </a:p>
      </dgm:t>
    </dgm:pt>
    <dgm:pt modelId="{408E0F17-1ACC-1841-8F3E-800664CB2DEC}" type="parTrans" cxnId="{29E1CBE4-BBC8-8B4B-9BA3-AB74CCFA8F19}">
      <dgm:prSet/>
      <dgm:spPr/>
      <dgm:t>
        <a:bodyPr/>
        <a:lstStyle/>
        <a:p>
          <a:endParaRPr lang="en-US"/>
        </a:p>
      </dgm:t>
    </dgm:pt>
    <dgm:pt modelId="{B1CE820A-D885-E247-82AF-6545FEA2BA75}" type="sibTrans" cxnId="{29E1CBE4-BBC8-8B4B-9BA3-AB74CCFA8F19}">
      <dgm:prSet/>
      <dgm:spPr/>
      <dgm:t>
        <a:bodyPr/>
        <a:lstStyle/>
        <a:p>
          <a:endParaRPr lang="en-US"/>
        </a:p>
      </dgm:t>
    </dgm:pt>
    <dgm:pt modelId="{584FF4AF-EC06-B34A-B20D-98E41B443601}">
      <dgm:prSet/>
      <dgm:spPr>
        <a:solidFill>
          <a:schemeClr val="bg1"/>
        </a:solidFill>
        <a:ln>
          <a:solidFill>
            <a:schemeClr val="accent2"/>
          </a:solidFill>
        </a:ln>
      </dgm:spPr>
      <dgm:t>
        <a:bodyPr/>
        <a:lstStyle/>
        <a:p>
          <a:r>
            <a:rPr lang="en-US" dirty="0"/>
            <a:t>Contains condition codes plus other status information</a:t>
          </a:r>
        </a:p>
      </dgm:t>
    </dgm:pt>
    <dgm:pt modelId="{40A8DCF4-4288-2C4A-8B6E-ACDF403FD1DC}" type="parTrans" cxnId="{4A323747-23F1-864D-BA7E-5145ED0F6E33}">
      <dgm:prSet/>
      <dgm:spPr/>
      <dgm:t>
        <a:bodyPr/>
        <a:lstStyle/>
        <a:p>
          <a:endParaRPr lang="en-US"/>
        </a:p>
      </dgm:t>
    </dgm:pt>
    <dgm:pt modelId="{0BC49143-D86F-0346-8FEF-2E8054AC5E1C}" type="sibTrans" cxnId="{4A323747-23F1-864D-BA7E-5145ED0F6E33}">
      <dgm:prSet/>
      <dgm:spPr/>
      <dgm:t>
        <a:bodyPr/>
        <a:lstStyle/>
        <a:p>
          <a:endParaRPr lang="en-US"/>
        </a:p>
      </dgm:t>
    </dgm:pt>
    <dgm:pt modelId="{8EE38AA4-188A-5745-8218-FC1C3E49E1C9}">
      <dgm:prSet/>
      <dgm:spPr>
        <a:solidFill>
          <a:schemeClr val="bg1"/>
        </a:solidFill>
        <a:ln>
          <a:solidFill>
            <a:schemeClr val="accent2"/>
          </a:solidFill>
        </a:ln>
      </dgm:spPr>
      <dgm:t>
        <a:bodyPr/>
        <a:lstStyle/>
        <a:p>
          <a:r>
            <a:rPr lang="en-US" dirty="0"/>
            <a:t>EFLAGS register is an example of a PSW used by any OS running on an x86 processor</a:t>
          </a:r>
        </a:p>
      </dgm:t>
    </dgm:pt>
    <dgm:pt modelId="{6787A359-E722-AE41-A329-F6AFA8CA13D8}" type="parTrans" cxnId="{FEE14523-BB8F-F343-A36F-4A8438D035CD}">
      <dgm:prSet/>
      <dgm:spPr/>
      <dgm:t>
        <a:bodyPr/>
        <a:lstStyle/>
        <a:p>
          <a:endParaRPr lang="en-US"/>
        </a:p>
      </dgm:t>
    </dgm:pt>
    <dgm:pt modelId="{2A6D4AC1-87FE-7B49-975E-4FDAB85F7C74}" type="sibTrans" cxnId="{FEE14523-BB8F-F343-A36F-4A8438D035CD}">
      <dgm:prSet/>
      <dgm:spPr/>
      <dgm:t>
        <a:bodyPr/>
        <a:lstStyle/>
        <a:p>
          <a:endParaRPr lang="en-US"/>
        </a:p>
      </dgm:t>
    </dgm:pt>
    <dgm:pt modelId="{47DAB3F8-149F-4545-B6B6-19BA8D4D2964}" type="pres">
      <dgm:prSet presAssocID="{25CC2E59-4DA7-E74F-9953-307B4CE48149}" presName="Name0" presStyleCnt="0">
        <dgm:presLayoutVars>
          <dgm:dir/>
          <dgm:animLvl val="lvl"/>
          <dgm:resizeHandles val="exact"/>
        </dgm:presLayoutVars>
      </dgm:prSet>
      <dgm:spPr/>
    </dgm:pt>
    <dgm:pt modelId="{533560A8-2585-0E46-809B-2EE6CB369D28}" type="pres">
      <dgm:prSet presAssocID="{0E6368D5-B059-024E-91DF-DD3FD8F3EF0D}" presName="linNode" presStyleCnt="0"/>
      <dgm:spPr/>
    </dgm:pt>
    <dgm:pt modelId="{69F1C722-FAD8-804A-8667-3D295CAE9EBB}" type="pres">
      <dgm:prSet presAssocID="{0E6368D5-B059-024E-91DF-DD3FD8F3EF0D}" presName="parentText" presStyleLbl="node1" presStyleIdx="0" presStyleCnt="1">
        <dgm:presLayoutVars>
          <dgm:chMax val="1"/>
          <dgm:bulletEnabled val="1"/>
        </dgm:presLayoutVars>
      </dgm:prSet>
      <dgm:spPr/>
    </dgm:pt>
    <dgm:pt modelId="{DE70A5E9-3A8A-7747-AFD3-153EC024C451}" type="pres">
      <dgm:prSet presAssocID="{0E6368D5-B059-024E-91DF-DD3FD8F3EF0D}" presName="descendantText" presStyleLbl="alignAccFollowNode1" presStyleIdx="0" presStyleCnt="1">
        <dgm:presLayoutVars>
          <dgm:bulletEnabled val="1"/>
        </dgm:presLayoutVars>
      </dgm:prSet>
      <dgm:spPr/>
    </dgm:pt>
  </dgm:ptLst>
  <dgm:cxnLst>
    <dgm:cxn modelId="{FEE14523-BB8F-F343-A36F-4A8438D035CD}" srcId="{0E6368D5-B059-024E-91DF-DD3FD8F3EF0D}" destId="{8EE38AA4-188A-5745-8218-FC1C3E49E1C9}" srcOrd="1" destOrd="0" parTransId="{6787A359-E722-AE41-A329-F6AFA8CA13D8}" sibTransId="{2A6D4AC1-87FE-7B49-975E-4FDAB85F7C74}"/>
    <dgm:cxn modelId="{AAB41742-FB9C-744C-82CB-10C060266578}" type="presOf" srcId="{584FF4AF-EC06-B34A-B20D-98E41B443601}" destId="{DE70A5E9-3A8A-7747-AFD3-153EC024C451}" srcOrd="0" destOrd="0" presId="urn:microsoft.com/office/officeart/2005/8/layout/vList5"/>
    <dgm:cxn modelId="{4A323747-23F1-864D-BA7E-5145ED0F6E33}" srcId="{0E6368D5-B059-024E-91DF-DD3FD8F3EF0D}" destId="{584FF4AF-EC06-B34A-B20D-98E41B443601}" srcOrd="0" destOrd="0" parTransId="{40A8DCF4-4288-2C4A-8B6E-ACDF403FD1DC}" sibTransId="{0BC49143-D86F-0346-8FEF-2E8054AC5E1C}"/>
    <dgm:cxn modelId="{04F34B51-024A-7345-B5B6-E4B2FD9A1915}" type="presOf" srcId="{8EE38AA4-188A-5745-8218-FC1C3E49E1C9}" destId="{DE70A5E9-3A8A-7747-AFD3-153EC024C451}" srcOrd="0" destOrd="1" presId="urn:microsoft.com/office/officeart/2005/8/layout/vList5"/>
    <dgm:cxn modelId="{29E1CBE4-BBC8-8B4B-9BA3-AB74CCFA8F19}" srcId="{25CC2E59-4DA7-E74F-9953-307B4CE48149}" destId="{0E6368D5-B059-024E-91DF-DD3FD8F3EF0D}" srcOrd="0" destOrd="0" parTransId="{408E0F17-1ACC-1841-8F3E-800664CB2DEC}" sibTransId="{B1CE820A-D885-E247-82AF-6545FEA2BA75}"/>
    <dgm:cxn modelId="{C9D011EE-738F-204C-97B0-5612C0983F68}" type="presOf" srcId="{0E6368D5-B059-024E-91DF-DD3FD8F3EF0D}" destId="{69F1C722-FAD8-804A-8667-3D295CAE9EBB}" srcOrd="0" destOrd="0" presId="urn:microsoft.com/office/officeart/2005/8/layout/vList5"/>
    <dgm:cxn modelId="{29AB4CF9-49A6-0C46-A7EC-FEF4D0BA28A2}" type="presOf" srcId="{25CC2E59-4DA7-E74F-9953-307B4CE48149}" destId="{47DAB3F8-149F-4545-B6B6-19BA8D4D2964}" srcOrd="0" destOrd="0" presId="urn:microsoft.com/office/officeart/2005/8/layout/vList5"/>
    <dgm:cxn modelId="{2E31F9A0-494F-CB42-A572-24781A3C417C}" type="presParOf" srcId="{47DAB3F8-149F-4545-B6B6-19BA8D4D2964}" destId="{533560A8-2585-0E46-809B-2EE6CB369D28}" srcOrd="0" destOrd="0" presId="urn:microsoft.com/office/officeart/2005/8/layout/vList5"/>
    <dgm:cxn modelId="{B5EF0C3B-4196-9345-9B98-F06F52122789}" type="presParOf" srcId="{533560A8-2585-0E46-809B-2EE6CB369D28}" destId="{69F1C722-FAD8-804A-8667-3D295CAE9EBB}" srcOrd="0" destOrd="0" presId="urn:microsoft.com/office/officeart/2005/8/layout/vList5"/>
    <dgm:cxn modelId="{FE7F1D22-68C0-E747-9B59-5F792115E707}" type="presParOf" srcId="{533560A8-2585-0E46-809B-2EE6CB369D28}" destId="{DE70A5E9-3A8A-7747-AFD3-153EC024C451}"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A72B3D4-CB3C-1845-8D1C-5411446726EB}" type="doc">
      <dgm:prSet loTypeId="urn:microsoft.com/office/officeart/2005/8/layout/vList5" loCatId="list" qsTypeId="urn:microsoft.com/office/officeart/2005/8/quickstyle/simple4" qsCatId="simple" csTypeId="urn:microsoft.com/office/officeart/2005/8/colors/accent1_2" csCatId="accent1" phldr="1"/>
      <dgm:spPr/>
      <dgm:t>
        <a:bodyPr/>
        <a:lstStyle/>
        <a:p>
          <a:endParaRPr lang="en-US"/>
        </a:p>
      </dgm:t>
    </dgm:pt>
    <dgm:pt modelId="{02FD26FC-8EFC-2345-85D2-7F02A2BB8E9E}">
      <dgm:prSet phldrT="[Text]"/>
      <dgm:spPr>
        <a:solidFill>
          <a:schemeClr val="accent6"/>
        </a:solidFill>
      </dgm:spPr>
      <dgm:t>
        <a:bodyPr/>
        <a:lstStyle/>
        <a:p>
          <a:r>
            <a:rPr lang="en-NZ" dirty="0"/>
            <a:t>Consists of the contents of processor registers </a:t>
          </a:r>
          <a:endParaRPr lang="en-US" dirty="0"/>
        </a:p>
      </dgm:t>
    </dgm:pt>
    <dgm:pt modelId="{7F3795F6-2CE2-FC44-9C0A-320DDEDED4B2}" type="parTrans" cxnId="{459CAD6B-959A-6C46-A9EE-50FC78A327E2}">
      <dgm:prSet/>
      <dgm:spPr/>
      <dgm:t>
        <a:bodyPr/>
        <a:lstStyle/>
        <a:p>
          <a:endParaRPr lang="en-US"/>
        </a:p>
      </dgm:t>
    </dgm:pt>
    <dgm:pt modelId="{C081CC81-830F-2541-8FD8-11FA7AC7D488}" type="sibTrans" cxnId="{459CAD6B-959A-6C46-A9EE-50FC78A327E2}">
      <dgm:prSet/>
      <dgm:spPr/>
      <dgm:t>
        <a:bodyPr/>
        <a:lstStyle/>
        <a:p>
          <a:endParaRPr lang="en-US"/>
        </a:p>
      </dgm:t>
    </dgm:pt>
    <dgm:pt modelId="{38BECD78-1D96-A749-A941-F937761EF154}">
      <dgm:prSet/>
      <dgm:spPr>
        <a:solidFill>
          <a:schemeClr val="bg1"/>
        </a:solidFill>
        <a:ln>
          <a:solidFill>
            <a:schemeClr val="accent1"/>
          </a:solidFill>
        </a:ln>
      </dgm:spPr>
      <dgm:t>
        <a:bodyPr/>
        <a:lstStyle/>
        <a:p>
          <a:r>
            <a:rPr lang="en-US" dirty="0"/>
            <a:t>User-visible registers</a:t>
          </a:r>
        </a:p>
      </dgm:t>
    </dgm:pt>
    <dgm:pt modelId="{1039D069-70AC-D540-A155-987BFE1E5273}" type="parTrans" cxnId="{ED023474-F77D-2B4B-BE06-382DA812B303}">
      <dgm:prSet/>
      <dgm:spPr/>
      <dgm:t>
        <a:bodyPr/>
        <a:lstStyle/>
        <a:p>
          <a:endParaRPr lang="en-US"/>
        </a:p>
      </dgm:t>
    </dgm:pt>
    <dgm:pt modelId="{CF67D3C7-5D35-9445-A8A2-C5199D26823E}" type="sibTrans" cxnId="{ED023474-F77D-2B4B-BE06-382DA812B303}">
      <dgm:prSet/>
      <dgm:spPr/>
      <dgm:t>
        <a:bodyPr/>
        <a:lstStyle/>
        <a:p>
          <a:endParaRPr lang="en-US"/>
        </a:p>
      </dgm:t>
    </dgm:pt>
    <dgm:pt modelId="{DC03DB23-0EEC-8C45-A752-F6B2433060FB}">
      <dgm:prSet/>
      <dgm:spPr>
        <a:solidFill>
          <a:schemeClr val="bg1"/>
        </a:solidFill>
        <a:ln>
          <a:solidFill>
            <a:schemeClr val="accent1"/>
          </a:solidFill>
        </a:ln>
      </dgm:spPr>
      <dgm:t>
        <a:bodyPr/>
        <a:lstStyle/>
        <a:p>
          <a:r>
            <a:rPr lang="en-US" dirty="0"/>
            <a:t>Control and status registers</a:t>
          </a:r>
        </a:p>
      </dgm:t>
    </dgm:pt>
    <dgm:pt modelId="{829A22DC-99D2-C14F-BDBB-4171D695F1EC}" type="parTrans" cxnId="{5DA54D59-A7CF-1E4C-BD36-ED0328218B43}">
      <dgm:prSet/>
      <dgm:spPr/>
      <dgm:t>
        <a:bodyPr/>
        <a:lstStyle/>
        <a:p>
          <a:endParaRPr lang="en-US"/>
        </a:p>
      </dgm:t>
    </dgm:pt>
    <dgm:pt modelId="{93F7DA8A-5C2F-AC41-9E21-46A586BFCC5A}" type="sibTrans" cxnId="{5DA54D59-A7CF-1E4C-BD36-ED0328218B43}">
      <dgm:prSet/>
      <dgm:spPr/>
      <dgm:t>
        <a:bodyPr/>
        <a:lstStyle/>
        <a:p>
          <a:endParaRPr lang="en-US"/>
        </a:p>
      </dgm:t>
    </dgm:pt>
    <dgm:pt modelId="{E0D11923-14A0-7A49-AA75-FC4A1652AAD0}">
      <dgm:prSet/>
      <dgm:spPr>
        <a:solidFill>
          <a:schemeClr val="bg1"/>
        </a:solidFill>
        <a:ln>
          <a:solidFill>
            <a:schemeClr val="accent1"/>
          </a:solidFill>
        </a:ln>
      </dgm:spPr>
      <dgm:t>
        <a:bodyPr/>
        <a:lstStyle/>
        <a:p>
          <a:r>
            <a:rPr lang="en-US" dirty="0"/>
            <a:t>Stack pointers</a:t>
          </a:r>
        </a:p>
      </dgm:t>
    </dgm:pt>
    <dgm:pt modelId="{219832B6-C78B-3546-87F0-8A62C04B2916}" type="parTrans" cxnId="{FD64DB40-4CC7-2449-B8C8-5D2C06D4988D}">
      <dgm:prSet/>
      <dgm:spPr/>
      <dgm:t>
        <a:bodyPr/>
        <a:lstStyle/>
        <a:p>
          <a:endParaRPr lang="en-US"/>
        </a:p>
      </dgm:t>
    </dgm:pt>
    <dgm:pt modelId="{1A8C65E5-25C5-F24E-8E47-4A77BC4DD79D}" type="sibTrans" cxnId="{FD64DB40-4CC7-2449-B8C8-5D2C06D4988D}">
      <dgm:prSet/>
      <dgm:spPr/>
      <dgm:t>
        <a:bodyPr/>
        <a:lstStyle/>
        <a:p>
          <a:endParaRPr lang="en-US"/>
        </a:p>
      </dgm:t>
    </dgm:pt>
    <dgm:pt modelId="{A1CC2E96-AD6F-8F4D-B597-E36F40D3C708}" type="pres">
      <dgm:prSet presAssocID="{3A72B3D4-CB3C-1845-8D1C-5411446726EB}" presName="Name0" presStyleCnt="0">
        <dgm:presLayoutVars>
          <dgm:dir/>
          <dgm:animLvl val="lvl"/>
          <dgm:resizeHandles val="exact"/>
        </dgm:presLayoutVars>
      </dgm:prSet>
      <dgm:spPr/>
    </dgm:pt>
    <dgm:pt modelId="{8FF5BF5A-7344-FB47-8772-DDF13642B342}" type="pres">
      <dgm:prSet presAssocID="{02FD26FC-8EFC-2345-85D2-7F02A2BB8E9E}" presName="linNode" presStyleCnt="0"/>
      <dgm:spPr/>
    </dgm:pt>
    <dgm:pt modelId="{B5B16719-90E3-EA42-8665-4817FE208C9E}" type="pres">
      <dgm:prSet presAssocID="{02FD26FC-8EFC-2345-85D2-7F02A2BB8E9E}" presName="parentText" presStyleLbl="node1" presStyleIdx="0" presStyleCnt="1">
        <dgm:presLayoutVars>
          <dgm:chMax val="1"/>
          <dgm:bulletEnabled val="1"/>
        </dgm:presLayoutVars>
      </dgm:prSet>
      <dgm:spPr/>
    </dgm:pt>
    <dgm:pt modelId="{8446DE25-FB72-FE49-B24C-17CD28F7E514}" type="pres">
      <dgm:prSet presAssocID="{02FD26FC-8EFC-2345-85D2-7F02A2BB8E9E}" presName="descendantText" presStyleLbl="alignAccFollowNode1" presStyleIdx="0" presStyleCnt="1">
        <dgm:presLayoutVars>
          <dgm:bulletEnabled val="1"/>
        </dgm:presLayoutVars>
      </dgm:prSet>
      <dgm:spPr/>
    </dgm:pt>
  </dgm:ptLst>
  <dgm:cxnLst>
    <dgm:cxn modelId="{5DB11A02-8700-4147-AE53-ECB8C763774C}" type="presOf" srcId="{38BECD78-1D96-A749-A941-F937761EF154}" destId="{8446DE25-FB72-FE49-B24C-17CD28F7E514}" srcOrd="0" destOrd="0" presId="urn:microsoft.com/office/officeart/2005/8/layout/vList5"/>
    <dgm:cxn modelId="{C0406C3C-EC13-8A44-AF8F-630B9D4D3523}" type="presOf" srcId="{02FD26FC-8EFC-2345-85D2-7F02A2BB8E9E}" destId="{B5B16719-90E3-EA42-8665-4817FE208C9E}" srcOrd="0" destOrd="0" presId="urn:microsoft.com/office/officeart/2005/8/layout/vList5"/>
    <dgm:cxn modelId="{FD64DB40-4CC7-2449-B8C8-5D2C06D4988D}" srcId="{02FD26FC-8EFC-2345-85D2-7F02A2BB8E9E}" destId="{E0D11923-14A0-7A49-AA75-FC4A1652AAD0}" srcOrd="2" destOrd="0" parTransId="{219832B6-C78B-3546-87F0-8A62C04B2916}" sibTransId="{1A8C65E5-25C5-F24E-8E47-4A77BC4DD79D}"/>
    <dgm:cxn modelId="{459CAD6B-959A-6C46-A9EE-50FC78A327E2}" srcId="{3A72B3D4-CB3C-1845-8D1C-5411446726EB}" destId="{02FD26FC-8EFC-2345-85D2-7F02A2BB8E9E}" srcOrd="0" destOrd="0" parTransId="{7F3795F6-2CE2-FC44-9C0A-320DDEDED4B2}" sibTransId="{C081CC81-830F-2541-8FD8-11FA7AC7D488}"/>
    <dgm:cxn modelId="{ED023474-F77D-2B4B-BE06-382DA812B303}" srcId="{02FD26FC-8EFC-2345-85D2-7F02A2BB8E9E}" destId="{38BECD78-1D96-A749-A941-F937761EF154}" srcOrd="0" destOrd="0" parTransId="{1039D069-70AC-D540-A155-987BFE1E5273}" sibTransId="{CF67D3C7-5D35-9445-A8A2-C5199D26823E}"/>
    <dgm:cxn modelId="{5DA54D59-A7CF-1E4C-BD36-ED0328218B43}" srcId="{02FD26FC-8EFC-2345-85D2-7F02A2BB8E9E}" destId="{DC03DB23-0EEC-8C45-A752-F6B2433060FB}" srcOrd="1" destOrd="0" parTransId="{829A22DC-99D2-C14F-BDBB-4171D695F1EC}" sibTransId="{93F7DA8A-5C2F-AC41-9E21-46A586BFCC5A}"/>
    <dgm:cxn modelId="{3DC2A08B-729D-AA4B-B2E9-3F87CE22F2BC}" type="presOf" srcId="{3A72B3D4-CB3C-1845-8D1C-5411446726EB}" destId="{A1CC2E96-AD6F-8F4D-B597-E36F40D3C708}" srcOrd="0" destOrd="0" presId="urn:microsoft.com/office/officeart/2005/8/layout/vList5"/>
    <dgm:cxn modelId="{9C6C2DD5-0583-3642-A4B8-8B3062025776}" type="presOf" srcId="{E0D11923-14A0-7A49-AA75-FC4A1652AAD0}" destId="{8446DE25-FB72-FE49-B24C-17CD28F7E514}" srcOrd="0" destOrd="2" presId="urn:microsoft.com/office/officeart/2005/8/layout/vList5"/>
    <dgm:cxn modelId="{0B2969F5-D02D-4A43-91A6-D8FC17120A31}" type="presOf" srcId="{DC03DB23-0EEC-8C45-A752-F6B2433060FB}" destId="{8446DE25-FB72-FE49-B24C-17CD28F7E514}" srcOrd="0" destOrd="1" presId="urn:microsoft.com/office/officeart/2005/8/layout/vList5"/>
    <dgm:cxn modelId="{B700B78B-843B-0A47-B568-4389D60A6FBF}" type="presParOf" srcId="{A1CC2E96-AD6F-8F4D-B597-E36F40D3C708}" destId="{8FF5BF5A-7344-FB47-8772-DDF13642B342}" srcOrd="0" destOrd="0" presId="urn:microsoft.com/office/officeart/2005/8/layout/vList5"/>
    <dgm:cxn modelId="{DFE6320F-344C-BD41-BAF3-E126943C9074}" type="presParOf" srcId="{8FF5BF5A-7344-FB47-8772-DDF13642B342}" destId="{B5B16719-90E3-EA42-8665-4817FE208C9E}" srcOrd="0" destOrd="0" presId="urn:microsoft.com/office/officeart/2005/8/layout/vList5"/>
    <dgm:cxn modelId="{6EBE4095-1891-0F46-94A4-6E995A231B72}" type="presParOf" srcId="{8FF5BF5A-7344-FB47-8772-DDF13642B342}" destId="{8446DE25-FB72-FE49-B24C-17CD28F7E514}" srcOrd="1" destOrd="0" presId="urn:microsoft.com/office/officeart/2005/8/layout/vList5"/>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B5311E6-CDD7-2543-8CC3-293FFCF03437}" type="doc">
      <dgm:prSet loTypeId="urn:microsoft.com/office/officeart/2005/8/layout/vProcess5" loCatId="process" qsTypeId="urn:microsoft.com/office/officeart/2005/8/quickstyle/simple4" qsCatId="simple" csTypeId="urn:microsoft.com/office/officeart/2005/8/colors/accent1_2" csCatId="accent1" phldr="1"/>
      <dgm:spPr/>
      <dgm:t>
        <a:bodyPr/>
        <a:lstStyle/>
        <a:p>
          <a:endParaRPr lang="en-US"/>
        </a:p>
      </dgm:t>
    </dgm:pt>
    <dgm:pt modelId="{8391F018-FF0E-CB4C-88F4-88ED9142CAD7}">
      <dgm:prSet phldrT="[Text]"/>
      <dgm:spPr>
        <a:solidFill>
          <a:schemeClr val="accent6"/>
        </a:solidFill>
      </dgm:spPr>
      <dgm:t>
        <a:bodyPr/>
        <a:lstStyle/>
        <a:p>
          <a:r>
            <a:rPr lang="en-US" dirty="0"/>
            <a:t>Assigns a unique process identifier to the new process</a:t>
          </a:r>
        </a:p>
      </dgm:t>
    </dgm:pt>
    <dgm:pt modelId="{1ECFC509-95F7-7745-851E-93B1C4579473}" type="parTrans" cxnId="{2558DFB9-F6B6-7042-B411-B76CA879DB08}">
      <dgm:prSet/>
      <dgm:spPr/>
      <dgm:t>
        <a:bodyPr/>
        <a:lstStyle/>
        <a:p>
          <a:endParaRPr lang="en-US"/>
        </a:p>
      </dgm:t>
    </dgm:pt>
    <dgm:pt modelId="{9AB9A415-9AF0-DE45-A19E-A3D608A27A8C}" type="sibTrans" cxnId="{2558DFB9-F6B6-7042-B411-B76CA879DB08}">
      <dgm:prSet/>
      <dgm:spPr>
        <a:solidFill>
          <a:schemeClr val="accent2"/>
        </a:solidFill>
        <a:ln>
          <a:solidFill>
            <a:schemeClr val="tx1"/>
          </a:solidFill>
        </a:ln>
      </dgm:spPr>
      <dgm:t>
        <a:bodyPr/>
        <a:lstStyle/>
        <a:p>
          <a:endParaRPr lang="en-US"/>
        </a:p>
      </dgm:t>
    </dgm:pt>
    <dgm:pt modelId="{6E44C28E-1BEC-E343-9C9F-C344338D5C42}">
      <dgm:prSet/>
      <dgm:spPr>
        <a:solidFill>
          <a:schemeClr val="accent6"/>
        </a:solidFill>
      </dgm:spPr>
      <dgm:t>
        <a:bodyPr/>
        <a:lstStyle/>
        <a:p>
          <a:r>
            <a:rPr lang="en-US" dirty="0"/>
            <a:t>Allocates space for the process</a:t>
          </a:r>
        </a:p>
      </dgm:t>
    </dgm:pt>
    <dgm:pt modelId="{CC6EF307-D0A1-994A-9C4C-CAA050961182}" type="parTrans" cxnId="{B422356A-E09E-E04F-B88A-010F4955454C}">
      <dgm:prSet/>
      <dgm:spPr/>
      <dgm:t>
        <a:bodyPr/>
        <a:lstStyle/>
        <a:p>
          <a:endParaRPr lang="en-US"/>
        </a:p>
      </dgm:t>
    </dgm:pt>
    <dgm:pt modelId="{8D0CD505-0D70-9640-9AC5-D3C99B8D172A}" type="sibTrans" cxnId="{B422356A-E09E-E04F-B88A-010F4955454C}">
      <dgm:prSet/>
      <dgm:spPr>
        <a:solidFill>
          <a:schemeClr val="accent2"/>
        </a:solidFill>
        <a:ln>
          <a:solidFill>
            <a:schemeClr val="tx1"/>
          </a:solidFill>
        </a:ln>
      </dgm:spPr>
      <dgm:t>
        <a:bodyPr/>
        <a:lstStyle/>
        <a:p>
          <a:endParaRPr lang="en-US"/>
        </a:p>
      </dgm:t>
    </dgm:pt>
    <dgm:pt modelId="{04169B80-E7BC-5D4B-A2E7-F320A0E04342}">
      <dgm:prSet/>
      <dgm:spPr>
        <a:solidFill>
          <a:schemeClr val="accent6"/>
        </a:solidFill>
      </dgm:spPr>
      <dgm:t>
        <a:bodyPr/>
        <a:lstStyle/>
        <a:p>
          <a:r>
            <a:rPr lang="en-US" dirty="0"/>
            <a:t>Initializes the process control block</a:t>
          </a:r>
        </a:p>
      </dgm:t>
    </dgm:pt>
    <dgm:pt modelId="{B6904F3A-4710-F243-969B-02EA176D7338}" type="parTrans" cxnId="{156C2F54-D7F3-2346-B05D-A0B7B3DC83DD}">
      <dgm:prSet/>
      <dgm:spPr/>
      <dgm:t>
        <a:bodyPr/>
        <a:lstStyle/>
        <a:p>
          <a:endParaRPr lang="en-US"/>
        </a:p>
      </dgm:t>
    </dgm:pt>
    <dgm:pt modelId="{841C71FB-6F6A-5746-AF62-1B717A71962C}" type="sibTrans" cxnId="{156C2F54-D7F3-2346-B05D-A0B7B3DC83DD}">
      <dgm:prSet/>
      <dgm:spPr>
        <a:solidFill>
          <a:schemeClr val="accent2"/>
        </a:solidFill>
        <a:ln>
          <a:solidFill>
            <a:schemeClr val="tx1"/>
          </a:solidFill>
        </a:ln>
      </dgm:spPr>
      <dgm:t>
        <a:bodyPr/>
        <a:lstStyle/>
        <a:p>
          <a:endParaRPr lang="en-US"/>
        </a:p>
      </dgm:t>
    </dgm:pt>
    <dgm:pt modelId="{A9F38DA8-36BA-6B4A-9528-485ABFBA88A9}">
      <dgm:prSet/>
      <dgm:spPr>
        <a:solidFill>
          <a:schemeClr val="accent6"/>
        </a:solidFill>
      </dgm:spPr>
      <dgm:t>
        <a:bodyPr/>
        <a:lstStyle/>
        <a:p>
          <a:r>
            <a:rPr lang="en-US" dirty="0"/>
            <a:t>Sets the appropriate linkages</a:t>
          </a:r>
        </a:p>
      </dgm:t>
    </dgm:pt>
    <dgm:pt modelId="{081429CD-FFEB-CC42-AA08-4602D4BB165D}" type="parTrans" cxnId="{6632F6FA-0592-F34D-AE69-D91AA2D931CD}">
      <dgm:prSet/>
      <dgm:spPr/>
      <dgm:t>
        <a:bodyPr/>
        <a:lstStyle/>
        <a:p>
          <a:endParaRPr lang="en-US"/>
        </a:p>
      </dgm:t>
    </dgm:pt>
    <dgm:pt modelId="{3E04904E-3154-A04B-9E8B-D17416EB5CF3}" type="sibTrans" cxnId="{6632F6FA-0592-F34D-AE69-D91AA2D931CD}">
      <dgm:prSet/>
      <dgm:spPr>
        <a:solidFill>
          <a:schemeClr val="accent2"/>
        </a:solidFill>
        <a:ln>
          <a:solidFill>
            <a:schemeClr val="tx1"/>
          </a:solidFill>
        </a:ln>
      </dgm:spPr>
      <dgm:t>
        <a:bodyPr/>
        <a:lstStyle/>
        <a:p>
          <a:endParaRPr lang="en-US"/>
        </a:p>
      </dgm:t>
    </dgm:pt>
    <dgm:pt modelId="{FCF63CD2-91B4-904C-8BB8-EE3ABDE1A294}">
      <dgm:prSet/>
      <dgm:spPr>
        <a:solidFill>
          <a:schemeClr val="accent6"/>
        </a:solidFill>
      </dgm:spPr>
      <dgm:t>
        <a:bodyPr/>
        <a:lstStyle/>
        <a:p>
          <a:r>
            <a:rPr lang="en-US" dirty="0"/>
            <a:t>Creates or expands other data structures</a:t>
          </a:r>
        </a:p>
      </dgm:t>
    </dgm:pt>
    <dgm:pt modelId="{3EC06BA4-90C4-914A-9D96-B473447DE344}" type="parTrans" cxnId="{A2EF8852-1AEE-CE45-BD7F-69FA8E403B98}">
      <dgm:prSet/>
      <dgm:spPr/>
      <dgm:t>
        <a:bodyPr/>
        <a:lstStyle/>
        <a:p>
          <a:endParaRPr lang="en-US"/>
        </a:p>
      </dgm:t>
    </dgm:pt>
    <dgm:pt modelId="{27B59B21-52CA-6B40-AF4A-44789D041A1F}" type="sibTrans" cxnId="{A2EF8852-1AEE-CE45-BD7F-69FA8E403B98}">
      <dgm:prSet/>
      <dgm:spPr/>
      <dgm:t>
        <a:bodyPr/>
        <a:lstStyle/>
        <a:p>
          <a:endParaRPr lang="en-US"/>
        </a:p>
      </dgm:t>
    </dgm:pt>
    <dgm:pt modelId="{B030A845-3B6F-EB47-A903-3C872099F50D}" type="pres">
      <dgm:prSet presAssocID="{3B5311E6-CDD7-2543-8CC3-293FFCF03437}" presName="outerComposite" presStyleCnt="0">
        <dgm:presLayoutVars>
          <dgm:chMax val="5"/>
          <dgm:dir/>
          <dgm:resizeHandles val="exact"/>
        </dgm:presLayoutVars>
      </dgm:prSet>
      <dgm:spPr/>
    </dgm:pt>
    <dgm:pt modelId="{CDAA31E5-020B-A641-A211-A9CB97EDA779}" type="pres">
      <dgm:prSet presAssocID="{3B5311E6-CDD7-2543-8CC3-293FFCF03437}" presName="dummyMaxCanvas" presStyleCnt="0">
        <dgm:presLayoutVars/>
      </dgm:prSet>
      <dgm:spPr/>
    </dgm:pt>
    <dgm:pt modelId="{787F2B9F-EC41-2140-8EC1-5E16AF2C7855}" type="pres">
      <dgm:prSet presAssocID="{3B5311E6-CDD7-2543-8CC3-293FFCF03437}" presName="FiveNodes_1" presStyleLbl="node1" presStyleIdx="0" presStyleCnt="5">
        <dgm:presLayoutVars>
          <dgm:bulletEnabled val="1"/>
        </dgm:presLayoutVars>
      </dgm:prSet>
      <dgm:spPr/>
    </dgm:pt>
    <dgm:pt modelId="{5B5D711A-1B3F-D448-9482-44A847364F32}" type="pres">
      <dgm:prSet presAssocID="{3B5311E6-CDD7-2543-8CC3-293FFCF03437}" presName="FiveNodes_2" presStyleLbl="node1" presStyleIdx="1" presStyleCnt="5">
        <dgm:presLayoutVars>
          <dgm:bulletEnabled val="1"/>
        </dgm:presLayoutVars>
      </dgm:prSet>
      <dgm:spPr/>
    </dgm:pt>
    <dgm:pt modelId="{E6CD32AC-3E96-AB44-A760-F359511BBE11}" type="pres">
      <dgm:prSet presAssocID="{3B5311E6-CDD7-2543-8CC3-293FFCF03437}" presName="FiveNodes_3" presStyleLbl="node1" presStyleIdx="2" presStyleCnt="5">
        <dgm:presLayoutVars>
          <dgm:bulletEnabled val="1"/>
        </dgm:presLayoutVars>
      </dgm:prSet>
      <dgm:spPr/>
    </dgm:pt>
    <dgm:pt modelId="{AC35228F-21E7-5E47-83A7-D0492D254D58}" type="pres">
      <dgm:prSet presAssocID="{3B5311E6-CDD7-2543-8CC3-293FFCF03437}" presName="FiveNodes_4" presStyleLbl="node1" presStyleIdx="3" presStyleCnt="5">
        <dgm:presLayoutVars>
          <dgm:bulletEnabled val="1"/>
        </dgm:presLayoutVars>
      </dgm:prSet>
      <dgm:spPr/>
    </dgm:pt>
    <dgm:pt modelId="{6DAEB0AD-3B63-8740-A6E5-6B3AE3531A2D}" type="pres">
      <dgm:prSet presAssocID="{3B5311E6-CDD7-2543-8CC3-293FFCF03437}" presName="FiveNodes_5" presStyleLbl="node1" presStyleIdx="4" presStyleCnt="5">
        <dgm:presLayoutVars>
          <dgm:bulletEnabled val="1"/>
        </dgm:presLayoutVars>
      </dgm:prSet>
      <dgm:spPr/>
    </dgm:pt>
    <dgm:pt modelId="{109E467C-1E73-8C45-B39E-5EC0C5B03450}" type="pres">
      <dgm:prSet presAssocID="{3B5311E6-CDD7-2543-8CC3-293FFCF03437}" presName="FiveConn_1-2" presStyleLbl="fgAccFollowNode1" presStyleIdx="0" presStyleCnt="4">
        <dgm:presLayoutVars>
          <dgm:bulletEnabled val="1"/>
        </dgm:presLayoutVars>
      </dgm:prSet>
      <dgm:spPr/>
    </dgm:pt>
    <dgm:pt modelId="{2BDB5B10-9839-7244-804C-B97A8A38670F}" type="pres">
      <dgm:prSet presAssocID="{3B5311E6-CDD7-2543-8CC3-293FFCF03437}" presName="FiveConn_2-3" presStyleLbl="fgAccFollowNode1" presStyleIdx="1" presStyleCnt="4">
        <dgm:presLayoutVars>
          <dgm:bulletEnabled val="1"/>
        </dgm:presLayoutVars>
      </dgm:prSet>
      <dgm:spPr/>
    </dgm:pt>
    <dgm:pt modelId="{B61A2D92-3241-AB4E-9449-C71D8D3EE5B6}" type="pres">
      <dgm:prSet presAssocID="{3B5311E6-CDD7-2543-8CC3-293FFCF03437}" presName="FiveConn_3-4" presStyleLbl="fgAccFollowNode1" presStyleIdx="2" presStyleCnt="4">
        <dgm:presLayoutVars>
          <dgm:bulletEnabled val="1"/>
        </dgm:presLayoutVars>
      </dgm:prSet>
      <dgm:spPr/>
    </dgm:pt>
    <dgm:pt modelId="{77EDA281-184C-FE4B-B762-E3375FFA90A8}" type="pres">
      <dgm:prSet presAssocID="{3B5311E6-CDD7-2543-8CC3-293FFCF03437}" presName="FiveConn_4-5" presStyleLbl="fgAccFollowNode1" presStyleIdx="3" presStyleCnt="4">
        <dgm:presLayoutVars>
          <dgm:bulletEnabled val="1"/>
        </dgm:presLayoutVars>
      </dgm:prSet>
      <dgm:spPr/>
    </dgm:pt>
    <dgm:pt modelId="{3C60B572-E184-9348-9ABC-6519A3024FB3}" type="pres">
      <dgm:prSet presAssocID="{3B5311E6-CDD7-2543-8CC3-293FFCF03437}" presName="FiveNodes_1_text" presStyleLbl="node1" presStyleIdx="4" presStyleCnt="5">
        <dgm:presLayoutVars>
          <dgm:bulletEnabled val="1"/>
        </dgm:presLayoutVars>
      </dgm:prSet>
      <dgm:spPr/>
    </dgm:pt>
    <dgm:pt modelId="{23D7EB47-3806-D044-970D-2F9185354114}" type="pres">
      <dgm:prSet presAssocID="{3B5311E6-CDD7-2543-8CC3-293FFCF03437}" presName="FiveNodes_2_text" presStyleLbl="node1" presStyleIdx="4" presStyleCnt="5">
        <dgm:presLayoutVars>
          <dgm:bulletEnabled val="1"/>
        </dgm:presLayoutVars>
      </dgm:prSet>
      <dgm:spPr/>
    </dgm:pt>
    <dgm:pt modelId="{A5FF0D84-C137-7C40-BB21-2FA1407FE4FA}" type="pres">
      <dgm:prSet presAssocID="{3B5311E6-CDD7-2543-8CC3-293FFCF03437}" presName="FiveNodes_3_text" presStyleLbl="node1" presStyleIdx="4" presStyleCnt="5">
        <dgm:presLayoutVars>
          <dgm:bulletEnabled val="1"/>
        </dgm:presLayoutVars>
      </dgm:prSet>
      <dgm:spPr/>
    </dgm:pt>
    <dgm:pt modelId="{1210F950-727A-CE44-8D71-D2AB558DAFC4}" type="pres">
      <dgm:prSet presAssocID="{3B5311E6-CDD7-2543-8CC3-293FFCF03437}" presName="FiveNodes_4_text" presStyleLbl="node1" presStyleIdx="4" presStyleCnt="5">
        <dgm:presLayoutVars>
          <dgm:bulletEnabled val="1"/>
        </dgm:presLayoutVars>
      </dgm:prSet>
      <dgm:spPr/>
    </dgm:pt>
    <dgm:pt modelId="{DB502D11-E4CC-3948-B959-5716669E42D7}" type="pres">
      <dgm:prSet presAssocID="{3B5311E6-CDD7-2543-8CC3-293FFCF03437}" presName="FiveNodes_5_text" presStyleLbl="node1" presStyleIdx="4" presStyleCnt="5">
        <dgm:presLayoutVars>
          <dgm:bulletEnabled val="1"/>
        </dgm:presLayoutVars>
      </dgm:prSet>
      <dgm:spPr/>
    </dgm:pt>
  </dgm:ptLst>
  <dgm:cxnLst>
    <dgm:cxn modelId="{7A58781C-ABBA-4545-A8A9-124FD7F4EC42}" type="presOf" srcId="{04169B80-E7BC-5D4B-A2E7-F320A0E04342}" destId="{E6CD32AC-3E96-AB44-A760-F359511BBE11}" srcOrd="0" destOrd="0" presId="urn:microsoft.com/office/officeart/2005/8/layout/vProcess5"/>
    <dgm:cxn modelId="{13DCFB40-AFEB-0B47-BCA4-42AA652674D8}" type="presOf" srcId="{A9F38DA8-36BA-6B4A-9528-485ABFBA88A9}" destId="{1210F950-727A-CE44-8D71-D2AB558DAFC4}" srcOrd="1" destOrd="0" presId="urn:microsoft.com/office/officeart/2005/8/layout/vProcess5"/>
    <dgm:cxn modelId="{D3D25D5D-E09A-9145-99A2-D445CC5D0FEE}" type="presOf" srcId="{A9F38DA8-36BA-6B4A-9528-485ABFBA88A9}" destId="{AC35228F-21E7-5E47-83A7-D0492D254D58}" srcOrd="0" destOrd="0" presId="urn:microsoft.com/office/officeart/2005/8/layout/vProcess5"/>
    <dgm:cxn modelId="{DD483F60-D585-A54A-9273-3960FD89C452}" type="presOf" srcId="{9AB9A415-9AF0-DE45-A19E-A3D608A27A8C}" destId="{109E467C-1E73-8C45-B39E-5EC0C5B03450}" srcOrd="0" destOrd="0" presId="urn:microsoft.com/office/officeart/2005/8/layout/vProcess5"/>
    <dgm:cxn modelId="{53E8BB69-1CDF-BC49-811A-D57FE1A911F3}" type="presOf" srcId="{6E44C28E-1BEC-E343-9C9F-C344338D5C42}" destId="{5B5D711A-1B3F-D448-9482-44A847364F32}" srcOrd="0" destOrd="0" presId="urn:microsoft.com/office/officeart/2005/8/layout/vProcess5"/>
    <dgm:cxn modelId="{B422356A-E09E-E04F-B88A-010F4955454C}" srcId="{3B5311E6-CDD7-2543-8CC3-293FFCF03437}" destId="{6E44C28E-1BEC-E343-9C9F-C344338D5C42}" srcOrd="1" destOrd="0" parTransId="{CC6EF307-D0A1-994A-9C4C-CAA050961182}" sibTransId="{8D0CD505-0D70-9640-9AC5-D3C99B8D172A}"/>
    <dgm:cxn modelId="{59C4584A-A4A2-0D4C-8BE0-E7EA2F44819F}" type="presOf" srcId="{8391F018-FF0E-CB4C-88F4-88ED9142CAD7}" destId="{3C60B572-E184-9348-9ABC-6519A3024FB3}" srcOrd="1" destOrd="0" presId="urn:microsoft.com/office/officeart/2005/8/layout/vProcess5"/>
    <dgm:cxn modelId="{A2EF8852-1AEE-CE45-BD7F-69FA8E403B98}" srcId="{3B5311E6-CDD7-2543-8CC3-293FFCF03437}" destId="{FCF63CD2-91B4-904C-8BB8-EE3ABDE1A294}" srcOrd="4" destOrd="0" parTransId="{3EC06BA4-90C4-914A-9D96-B473447DE344}" sibTransId="{27B59B21-52CA-6B40-AF4A-44789D041A1F}"/>
    <dgm:cxn modelId="{59F71653-B594-7C4F-963B-F257746840BD}" type="presOf" srcId="{8D0CD505-0D70-9640-9AC5-D3C99B8D172A}" destId="{2BDB5B10-9839-7244-804C-B97A8A38670F}" srcOrd="0" destOrd="0" presId="urn:microsoft.com/office/officeart/2005/8/layout/vProcess5"/>
    <dgm:cxn modelId="{156C2F54-D7F3-2346-B05D-A0B7B3DC83DD}" srcId="{3B5311E6-CDD7-2543-8CC3-293FFCF03437}" destId="{04169B80-E7BC-5D4B-A2E7-F320A0E04342}" srcOrd="2" destOrd="0" parTransId="{B6904F3A-4710-F243-969B-02EA176D7338}" sibTransId="{841C71FB-6F6A-5746-AF62-1B717A71962C}"/>
    <dgm:cxn modelId="{D74D7A7B-4C44-4B45-B415-4592333636AD}" type="presOf" srcId="{FCF63CD2-91B4-904C-8BB8-EE3ABDE1A294}" destId="{6DAEB0AD-3B63-8740-A6E5-6B3AE3531A2D}" srcOrd="0" destOrd="0" presId="urn:microsoft.com/office/officeart/2005/8/layout/vProcess5"/>
    <dgm:cxn modelId="{86BB4692-A9CF-3249-9831-8A4C41AD44DA}" type="presOf" srcId="{3B5311E6-CDD7-2543-8CC3-293FFCF03437}" destId="{B030A845-3B6F-EB47-A903-3C872099F50D}" srcOrd="0" destOrd="0" presId="urn:microsoft.com/office/officeart/2005/8/layout/vProcess5"/>
    <dgm:cxn modelId="{E4269AA3-C8B5-A442-AE7E-21A2414A91F5}" type="presOf" srcId="{3E04904E-3154-A04B-9E8B-D17416EB5CF3}" destId="{77EDA281-184C-FE4B-B762-E3375FFA90A8}" srcOrd="0" destOrd="0" presId="urn:microsoft.com/office/officeart/2005/8/layout/vProcess5"/>
    <dgm:cxn modelId="{83DE39A9-D525-DB4F-AB75-9DEC9A2EDF89}" type="presOf" srcId="{FCF63CD2-91B4-904C-8BB8-EE3ABDE1A294}" destId="{DB502D11-E4CC-3948-B959-5716669E42D7}" srcOrd="1" destOrd="0" presId="urn:microsoft.com/office/officeart/2005/8/layout/vProcess5"/>
    <dgm:cxn modelId="{6B023FB5-BCED-364A-B6FF-D669C89CF823}" type="presOf" srcId="{6E44C28E-1BEC-E343-9C9F-C344338D5C42}" destId="{23D7EB47-3806-D044-970D-2F9185354114}" srcOrd="1" destOrd="0" presId="urn:microsoft.com/office/officeart/2005/8/layout/vProcess5"/>
    <dgm:cxn modelId="{2558DFB9-F6B6-7042-B411-B76CA879DB08}" srcId="{3B5311E6-CDD7-2543-8CC3-293FFCF03437}" destId="{8391F018-FF0E-CB4C-88F4-88ED9142CAD7}" srcOrd="0" destOrd="0" parTransId="{1ECFC509-95F7-7745-851E-93B1C4579473}" sibTransId="{9AB9A415-9AF0-DE45-A19E-A3D608A27A8C}"/>
    <dgm:cxn modelId="{C711CABE-6306-9C47-B3CD-954643BEFAA7}" type="presOf" srcId="{841C71FB-6F6A-5746-AF62-1B717A71962C}" destId="{B61A2D92-3241-AB4E-9449-C71D8D3EE5B6}" srcOrd="0" destOrd="0" presId="urn:microsoft.com/office/officeart/2005/8/layout/vProcess5"/>
    <dgm:cxn modelId="{F81451DB-57BC-8040-AA8B-F256D3BC769C}" type="presOf" srcId="{04169B80-E7BC-5D4B-A2E7-F320A0E04342}" destId="{A5FF0D84-C137-7C40-BB21-2FA1407FE4FA}" srcOrd="1" destOrd="0" presId="urn:microsoft.com/office/officeart/2005/8/layout/vProcess5"/>
    <dgm:cxn modelId="{1DDF32DC-EE10-FC4A-82AF-0262611973FA}" type="presOf" srcId="{8391F018-FF0E-CB4C-88F4-88ED9142CAD7}" destId="{787F2B9F-EC41-2140-8EC1-5E16AF2C7855}" srcOrd="0" destOrd="0" presId="urn:microsoft.com/office/officeart/2005/8/layout/vProcess5"/>
    <dgm:cxn modelId="{6632F6FA-0592-F34D-AE69-D91AA2D931CD}" srcId="{3B5311E6-CDD7-2543-8CC3-293FFCF03437}" destId="{A9F38DA8-36BA-6B4A-9528-485ABFBA88A9}" srcOrd="3" destOrd="0" parTransId="{081429CD-FFEB-CC42-AA08-4602D4BB165D}" sibTransId="{3E04904E-3154-A04B-9E8B-D17416EB5CF3}"/>
    <dgm:cxn modelId="{3150FEE9-0DD2-E645-ADCA-126030C03F7B}" type="presParOf" srcId="{B030A845-3B6F-EB47-A903-3C872099F50D}" destId="{CDAA31E5-020B-A641-A211-A9CB97EDA779}" srcOrd="0" destOrd="0" presId="urn:microsoft.com/office/officeart/2005/8/layout/vProcess5"/>
    <dgm:cxn modelId="{86326C1E-B50B-5A45-A58F-30939B9AB36F}" type="presParOf" srcId="{B030A845-3B6F-EB47-A903-3C872099F50D}" destId="{787F2B9F-EC41-2140-8EC1-5E16AF2C7855}" srcOrd="1" destOrd="0" presId="urn:microsoft.com/office/officeart/2005/8/layout/vProcess5"/>
    <dgm:cxn modelId="{2F7394B7-44D4-B445-8816-D05AEB564034}" type="presParOf" srcId="{B030A845-3B6F-EB47-A903-3C872099F50D}" destId="{5B5D711A-1B3F-D448-9482-44A847364F32}" srcOrd="2" destOrd="0" presId="urn:microsoft.com/office/officeart/2005/8/layout/vProcess5"/>
    <dgm:cxn modelId="{4B9C2DB6-6432-3B41-9633-46E45C44959C}" type="presParOf" srcId="{B030A845-3B6F-EB47-A903-3C872099F50D}" destId="{E6CD32AC-3E96-AB44-A760-F359511BBE11}" srcOrd="3" destOrd="0" presId="urn:microsoft.com/office/officeart/2005/8/layout/vProcess5"/>
    <dgm:cxn modelId="{F9F82B3A-5FBA-4942-AB46-68C47BF2B0FE}" type="presParOf" srcId="{B030A845-3B6F-EB47-A903-3C872099F50D}" destId="{AC35228F-21E7-5E47-83A7-D0492D254D58}" srcOrd="4" destOrd="0" presId="urn:microsoft.com/office/officeart/2005/8/layout/vProcess5"/>
    <dgm:cxn modelId="{CCAF3063-65F7-BB49-92F8-84F938F6C0F2}" type="presParOf" srcId="{B030A845-3B6F-EB47-A903-3C872099F50D}" destId="{6DAEB0AD-3B63-8740-A6E5-6B3AE3531A2D}" srcOrd="5" destOrd="0" presId="urn:microsoft.com/office/officeart/2005/8/layout/vProcess5"/>
    <dgm:cxn modelId="{D79CAA91-A166-884E-BA92-32BAD8E0C003}" type="presParOf" srcId="{B030A845-3B6F-EB47-A903-3C872099F50D}" destId="{109E467C-1E73-8C45-B39E-5EC0C5B03450}" srcOrd="6" destOrd="0" presId="urn:microsoft.com/office/officeart/2005/8/layout/vProcess5"/>
    <dgm:cxn modelId="{3F9C7D3E-B015-9E45-BD65-B908138BF444}" type="presParOf" srcId="{B030A845-3B6F-EB47-A903-3C872099F50D}" destId="{2BDB5B10-9839-7244-804C-B97A8A38670F}" srcOrd="7" destOrd="0" presId="urn:microsoft.com/office/officeart/2005/8/layout/vProcess5"/>
    <dgm:cxn modelId="{E4023664-557C-8C42-866C-740C9C99A319}" type="presParOf" srcId="{B030A845-3B6F-EB47-A903-3C872099F50D}" destId="{B61A2D92-3241-AB4E-9449-C71D8D3EE5B6}" srcOrd="8" destOrd="0" presId="urn:microsoft.com/office/officeart/2005/8/layout/vProcess5"/>
    <dgm:cxn modelId="{3FA57237-76B8-B34D-9887-ECCE9AEE8996}" type="presParOf" srcId="{B030A845-3B6F-EB47-A903-3C872099F50D}" destId="{77EDA281-184C-FE4B-B762-E3375FFA90A8}" srcOrd="9" destOrd="0" presId="urn:microsoft.com/office/officeart/2005/8/layout/vProcess5"/>
    <dgm:cxn modelId="{ADB1C823-02ED-3B47-91DC-7DD5CCB02612}" type="presParOf" srcId="{B030A845-3B6F-EB47-A903-3C872099F50D}" destId="{3C60B572-E184-9348-9ABC-6519A3024FB3}" srcOrd="10" destOrd="0" presId="urn:microsoft.com/office/officeart/2005/8/layout/vProcess5"/>
    <dgm:cxn modelId="{36A459C6-A7E3-3344-8EFC-30EAD8861043}" type="presParOf" srcId="{B030A845-3B6F-EB47-A903-3C872099F50D}" destId="{23D7EB47-3806-D044-970D-2F9185354114}" srcOrd="11" destOrd="0" presId="urn:microsoft.com/office/officeart/2005/8/layout/vProcess5"/>
    <dgm:cxn modelId="{2717FADD-AABA-AA4E-A885-F94341129492}" type="presParOf" srcId="{B030A845-3B6F-EB47-A903-3C872099F50D}" destId="{A5FF0D84-C137-7C40-BB21-2FA1407FE4FA}" srcOrd="12" destOrd="0" presId="urn:microsoft.com/office/officeart/2005/8/layout/vProcess5"/>
    <dgm:cxn modelId="{9F9F4386-EB02-374A-B03D-33914B4E29C8}" type="presParOf" srcId="{B030A845-3B6F-EB47-A903-3C872099F50D}" destId="{1210F950-727A-CE44-8D71-D2AB558DAFC4}" srcOrd="13" destOrd="0" presId="urn:microsoft.com/office/officeart/2005/8/layout/vProcess5"/>
    <dgm:cxn modelId="{A0A1A994-53FD-8240-8983-B1A91BBB966E}" type="presParOf" srcId="{B030A845-3B6F-EB47-A903-3C872099F50D}" destId="{DB502D11-E4CC-3948-B959-5716669E42D7}"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555B3221-A1AA-EE4A-9287-51CB00EF629B}" type="doc">
      <dgm:prSet loTypeId="urn:microsoft.com/office/officeart/2005/8/layout/lProcess1" loCatId="process" qsTypeId="urn:microsoft.com/office/officeart/2005/8/quickstyle/simple4" qsCatId="simple" csTypeId="urn:microsoft.com/office/officeart/2005/8/colors/accent1_2" csCatId="accent1" phldr="1"/>
      <dgm:spPr/>
      <dgm:t>
        <a:bodyPr/>
        <a:lstStyle/>
        <a:p>
          <a:endParaRPr lang="en-US"/>
        </a:p>
      </dgm:t>
    </dgm:pt>
    <dgm:pt modelId="{C95C6D39-A917-7C44-8CDF-AD78D7D13A9E}">
      <dgm:prSet/>
      <dgm:spPr>
        <a:solidFill>
          <a:schemeClr val="accent6"/>
        </a:solidFill>
      </dgm:spPr>
      <dgm:t>
        <a:bodyPr/>
        <a:lstStyle/>
        <a:p>
          <a:pPr rtl="0"/>
          <a:r>
            <a:rPr lang="en-US" dirty="0"/>
            <a:t>If no interrupts are pending the processor:</a:t>
          </a:r>
        </a:p>
      </dgm:t>
    </dgm:pt>
    <dgm:pt modelId="{0ED547F4-4078-A740-8798-719C7616667E}" type="parTrans" cxnId="{6D8447D9-98FA-4043-AF6D-71A67C15970E}">
      <dgm:prSet/>
      <dgm:spPr/>
      <dgm:t>
        <a:bodyPr/>
        <a:lstStyle/>
        <a:p>
          <a:endParaRPr lang="en-US"/>
        </a:p>
      </dgm:t>
    </dgm:pt>
    <dgm:pt modelId="{54902DE5-EA1F-9143-8EB2-D11FC402CDE5}" type="sibTrans" cxnId="{6D8447D9-98FA-4043-AF6D-71A67C15970E}">
      <dgm:prSet/>
      <dgm:spPr/>
      <dgm:t>
        <a:bodyPr/>
        <a:lstStyle/>
        <a:p>
          <a:endParaRPr lang="en-US"/>
        </a:p>
      </dgm:t>
    </dgm:pt>
    <dgm:pt modelId="{679BC3F0-BCA5-BB48-9ABC-54DB1CB51F90}">
      <dgm:prSet/>
      <dgm:spPr>
        <a:solidFill>
          <a:schemeClr val="accent2"/>
        </a:solidFill>
        <a:ln>
          <a:solidFill>
            <a:schemeClr val="bg2">
              <a:lumMod val="25000"/>
            </a:schemeClr>
          </a:solidFill>
        </a:ln>
      </dgm:spPr>
      <dgm:t>
        <a:bodyPr/>
        <a:lstStyle/>
        <a:p>
          <a:pPr rtl="0"/>
          <a:r>
            <a:rPr lang="en-US" b="1" dirty="0"/>
            <a:t>Proceeds to the fetch stage and fetches the next instruction of the current program in the current process</a:t>
          </a:r>
        </a:p>
      </dgm:t>
    </dgm:pt>
    <dgm:pt modelId="{BBA68DBE-B48F-4444-97BF-738D21DDA803}" type="parTrans" cxnId="{E71753C8-EA00-1B49-8C69-2965C7C48A77}">
      <dgm:prSet/>
      <dgm:spPr>
        <a:solidFill>
          <a:schemeClr val="accent6"/>
        </a:solidFill>
      </dgm:spPr>
      <dgm:t>
        <a:bodyPr/>
        <a:lstStyle/>
        <a:p>
          <a:endParaRPr lang="en-US"/>
        </a:p>
      </dgm:t>
    </dgm:pt>
    <dgm:pt modelId="{F4A814A5-248E-634D-863B-30CBBB67470E}" type="sibTrans" cxnId="{E71753C8-EA00-1B49-8C69-2965C7C48A77}">
      <dgm:prSet/>
      <dgm:spPr/>
      <dgm:t>
        <a:bodyPr/>
        <a:lstStyle/>
        <a:p>
          <a:endParaRPr lang="en-US"/>
        </a:p>
      </dgm:t>
    </dgm:pt>
    <dgm:pt modelId="{F7D7F520-7A7F-0D4C-874A-0C1B1FE2FAA3}">
      <dgm:prSet/>
      <dgm:spPr>
        <a:solidFill>
          <a:schemeClr val="accent6"/>
        </a:solidFill>
      </dgm:spPr>
      <dgm:t>
        <a:bodyPr/>
        <a:lstStyle/>
        <a:p>
          <a:pPr rtl="0"/>
          <a:r>
            <a:rPr lang="en-US" dirty="0"/>
            <a:t>If an interrupt is pending the processor:</a:t>
          </a:r>
        </a:p>
      </dgm:t>
    </dgm:pt>
    <dgm:pt modelId="{21D286F1-0176-A64B-AB45-1B7596619535}" type="parTrans" cxnId="{77244754-6C12-1848-AE3B-5053201E3AB5}">
      <dgm:prSet/>
      <dgm:spPr/>
      <dgm:t>
        <a:bodyPr/>
        <a:lstStyle/>
        <a:p>
          <a:endParaRPr lang="en-US"/>
        </a:p>
      </dgm:t>
    </dgm:pt>
    <dgm:pt modelId="{5412560A-7FF0-9F4D-B311-2D980E880CBA}" type="sibTrans" cxnId="{77244754-6C12-1848-AE3B-5053201E3AB5}">
      <dgm:prSet/>
      <dgm:spPr/>
      <dgm:t>
        <a:bodyPr/>
        <a:lstStyle/>
        <a:p>
          <a:endParaRPr lang="en-US"/>
        </a:p>
      </dgm:t>
    </dgm:pt>
    <dgm:pt modelId="{C3B7D2A7-0B5A-2740-BF25-89D1F94497AC}">
      <dgm:prSet/>
      <dgm:spPr>
        <a:solidFill>
          <a:schemeClr val="accent2"/>
        </a:solidFill>
        <a:ln>
          <a:solidFill>
            <a:schemeClr val="bg2">
              <a:lumMod val="25000"/>
            </a:schemeClr>
          </a:solidFill>
        </a:ln>
      </dgm:spPr>
      <dgm:t>
        <a:bodyPr/>
        <a:lstStyle/>
        <a:p>
          <a:pPr rtl="0"/>
          <a:r>
            <a:rPr lang="en-US" b="1" dirty="0"/>
            <a:t>Sets the program counter to the starting address of an interrupt handler program.</a:t>
          </a:r>
        </a:p>
        <a:p>
          <a:pPr rtl="0"/>
          <a:r>
            <a:rPr lang="en-US" b="0" baseline="0" dirty="0">
              <a:solidFill>
                <a:schemeClr val="tx1"/>
              </a:solidFill>
              <a:latin typeface="+mn-lt"/>
              <a:ea typeface="+mn-ea"/>
              <a:cs typeface="+mn-cs"/>
            </a:rPr>
            <a:t>(Processor state information must be saved)</a:t>
          </a:r>
          <a:endParaRPr lang="en-US" b="1" dirty="0"/>
        </a:p>
      </dgm:t>
    </dgm:pt>
    <dgm:pt modelId="{3C9583AA-D3EE-774A-8EAA-7500994291C4}" type="parTrans" cxnId="{D4B8EAFA-C2F1-334F-9D26-8CF4736C2269}">
      <dgm:prSet/>
      <dgm:spPr>
        <a:solidFill>
          <a:schemeClr val="accent6"/>
        </a:solidFill>
      </dgm:spPr>
      <dgm:t>
        <a:bodyPr/>
        <a:lstStyle/>
        <a:p>
          <a:endParaRPr lang="en-US"/>
        </a:p>
      </dgm:t>
    </dgm:pt>
    <dgm:pt modelId="{19950FF9-8470-7747-845F-E9A0881FC9DE}" type="sibTrans" cxnId="{D4B8EAFA-C2F1-334F-9D26-8CF4736C2269}">
      <dgm:prSet/>
      <dgm:spPr>
        <a:solidFill>
          <a:schemeClr val="accent6"/>
        </a:solidFill>
      </dgm:spPr>
      <dgm:t>
        <a:bodyPr/>
        <a:lstStyle/>
        <a:p>
          <a:endParaRPr lang="en-US"/>
        </a:p>
      </dgm:t>
    </dgm:pt>
    <dgm:pt modelId="{B722BA2D-FE3B-4C4B-BDFA-C18A398FA12E}">
      <dgm:prSet/>
      <dgm:spPr>
        <a:solidFill>
          <a:schemeClr val="accent2"/>
        </a:solidFill>
        <a:ln>
          <a:solidFill>
            <a:schemeClr val="bg2">
              <a:lumMod val="25000"/>
            </a:schemeClr>
          </a:solidFill>
        </a:ln>
      </dgm:spPr>
      <dgm:t>
        <a:bodyPr/>
        <a:lstStyle/>
        <a:p>
          <a:pPr rtl="0"/>
          <a:r>
            <a:rPr lang="en-US" b="1" dirty="0">
              <a:solidFill>
                <a:schemeClr val="accent1">
                  <a:lumMod val="60000"/>
                  <a:lumOff val="40000"/>
                </a:schemeClr>
              </a:solidFill>
            </a:rPr>
            <a:t>Switches from user mode to kernel mode </a:t>
          </a:r>
          <a:r>
            <a:rPr lang="en-US" b="1" dirty="0"/>
            <a:t>so that the interrupt processing code may include privileged instructions</a:t>
          </a:r>
        </a:p>
      </dgm:t>
    </dgm:pt>
    <dgm:pt modelId="{E78C2D2E-AC5A-3641-A75F-FE913CF677BA}" type="parTrans" cxnId="{FDD76A37-5C5E-7B45-99CD-DA6A51FF1BCC}">
      <dgm:prSet/>
      <dgm:spPr/>
      <dgm:t>
        <a:bodyPr/>
        <a:lstStyle/>
        <a:p>
          <a:endParaRPr lang="en-US"/>
        </a:p>
      </dgm:t>
    </dgm:pt>
    <dgm:pt modelId="{4840F145-E8BB-FE45-95D0-9E0FF4BC1083}" type="sibTrans" cxnId="{FDD76A37-5C5E-7B45-99CD-DA6A51FF1BCC}">
      <dgm:prSet/>
      <dgm:spPr/>
      <dgm:t>
        <a:bodyPr/>
        <a:lstStyle/>
        <a:p>
          <a:endParaRPr lang="en-US"/>
        </a:p>
      </dgm:t>
    </dgm:pt>
    <dgm:pt modelId="{08FB8707-5968-EB41-8DA8-E1DF65C7E8F2}" type="pres">
      <dgm:prSet presAssocID="{555B3221-A1AA-EE4A-9287-51CB00EF629B}" presName="Name0" presStyleCnt="0">
        <dgm:presLayoutVars>
          <dgm:dir/>
          <dgm:animLvl val="lvl"/>
          <dgm:resizeHandles val="exact"/>
        </dgm:presLayoutVars>
      </dgm:prSet>
      <dgm:spPr/>
    </dgm:pt>
    <dgm:pt modelId="{2532FA87-D769-1D42-AB78-CE1DD73AD7AB}" type="pres">
      <dgm:prSet presAssocID="{C95C6D39-A917-7C44-8CDF-AD78D7D13A9E}" presName="vertFlow" presStyleCnt="0"/>
      <dgm:spPr/>
    </dgm:pt>
    <dgm:pt modelId="{F9F8FE6C-2B05-C445-8F1C-C2D56EC0B341}" type="pres">
      <dgm:prSet presAssocID="{C95C6D39-A917-7C44-8CDF-AD78D7D13A9E}" presName="header" presStyleLbl="node1" presStyleIdx="0" presStyleCnt="2"/>
      <dgm:spPr/>
    </dgm:pt>
    <dgm:pt modelId="{944F2D45-0854-FF4F-9A45-0B5FBB9415E6}" type="pres">
      <dgm:prSet presAssocID="{BBA68DBE-B48F-4444-97BF-738D21DDA803}" presName="parTrans" presStyleLbl="sibTrans2D1" presStyleIdx="0" presStyleCnt="3"/>
      <dgm:spPr/>
    </dgm:pt>
    <dgm:pt modelId="{878E7D38-9573-7A46-8835-570D9ED3C168}" type="pres">
      <dgm:prSet presAssocID="{679BC3F0-BCA5-BB48-9ABC-54DB1CB51F90}" presName="child" presStyleLbl="alignAccFollowNode1" presStyleIdx="0" presStyleCnt="3">
        <dgm:presLayoutVars>
          <dgm:chMax val="0"/>
          <dgm:bulletEnabled val="1"/>
        </dgm:presLayoutVars>
      </dgm:prSet>
      <dgm:spPr/>
    </dgm:pt>
    <dgm:pt modelId="{B75A9732-37E4-1E46-8595-BA1578DDD763}" type="pres">
      <dgm:prSet presAssocID="{C95C6D39-A917-7C44-8CDF-AD78D7D13A9E}" presName="hSp" presStyleCnt="0"/>
      <dgm:spPr/>
    </dgm:pt>
    <dgm:pt modelId="{45974EAB-6CCB-0B45-AC7B-2899D7F8A3EF}" type="pres">
      <dgm:prSet presAssocID="{F7D7F520-7A7F-0D4C-874A-0C1B1FE2FAA3}" presName="vertFlow" presStyleCnt="0"/>
      <dgm:spPr/>
    </dgm:pt>
    <dgm:pt modelId="{DB54DFA3-E01E-B442-9482-07C506B84309}" type="pres">
      <dgm:prSet presAssocID="{F7D7F520-7A7F-0D4C-874A-0C1B1FE2FAA3}" presName="header" presStyleLbl="node1" presStyleIdx="1" presStyleCnt="2"/>
      <dgm:spPr/>
    </dgm:pt>
    <dgm:pt modelId="{A7450743-EE58-D742-9C11-C40E3AA314B2}" type="pres">
      <dgm:prSet presAssocID="{3C9583AA-D3EE-774A-8EAA-7500994291C4}" presName="parTrans" presStyleLbl="sibTrans2D1" presStyleIdx="1" presStyleCnt="3"/>
      <dgm:spPr/>
    </dgm:pt>
    <dgm:pt modelId="{F38B7510-114B-054F-B7FC-E55A1C978F4A}" type="pres">
      <dgm:prSet presAssocID="{C3B7D2A7-0B5A-2740-BF25-89D1F94497AC}" presName="child" presStyleLbl="alignAccFollowNode1" presStyleIdx="1" presStyleCnt="3">
        <dgm:presLayoutVars>
          <dgm:chMax val="0"/>
          <dgm:bulletEnabled val="1"/>
        </dgm:presLayoutVars>
      </dgm:prSet>
      <dgm:spPr/>
    </dgm:pt>
    <dgm:pt modelId="{74BDB899-755B-444E-915E-34234A2F80E2}" type="pres">
      <dgm:prSet presAssocID="{19950FF9-8470-7747-845F-E9A0881FC9DE}" presName="sibTrans" presStyleLbl="sibTrans2D1" presStyleIdx="2" presStyleCnt="3"/>
      <dgm:spPr/>
    </dgm:pt>
    <dgm:pt modelId="{9DCBE4C9-9854-3443-A76A-5007F14AEB74}" type="pres">
      <dgm:prSet presAssocID="{B722BA2D-FE3B-4C4B-BDFA-C18A398FA12E}" presName="child" presStyleLbl="alignAccFollowNode1" presStyleIdx="2" presStyleCnt="3">
        <dgm:presLayoutVars>
          <dgm:chMax val="0"/>
          <dgm:bulletEnabled val="1"/>
        </dgm:presLayoutVars>
      </dgm:prSet>
      <dgm:spPr/>
    </dgm:pt>
  </dgm:ptLst>
  <dgm:cxnLst>
    <dgm:cxn modelId="{6511830C-860C-5B40-B098-4CED100D9DD6}" type="presOf" srcId="{F7D7F520-7A7F-0D4C-874A-0C1B1FE2FAA3}" destId="{DB54DFA3-E01E-B442-9482-07C506B84309}" srcOrd="0" destOrd="0" presId="urn:microsoft.com/office/officeart/2005/8/layout/lProcess1"/>
    <dgm:cxn modelId="{D3B27B23-6018-C644-A7EA-090A2BA8D4CC}" type="presOf" srcId="{3C9583AA-D3EE-774A-8EAA-7500994291C4}" destId="{A7450743-EE58-D742-9C11-C40E3AA314B2}" srcOrd="0" destOrd="0" presId="urn:microsoft.com/office/officeart/2005/8/layout/lProcess1"/>
    <dgm:cxn modelId="{FDD76A37-5C5E-7B45-99CD-DA6A51FF1BCC}" srcId="{F7D7F520-7A7F-0D4C-874A-0C1B1FE2FAA3}" destId="{B722BA2D-FE3B-4C4B-BDFA-C18A398FA12E}" srcOrd="1" destOrd="0" parTransId="{E78C2D2E-AC5A-3641-A75F-FE913CF677BA}" sibTransId="{4840F145-E8BB-FE45-95D0-9E0FF4BC1083}"/>
    <dgm:cxn modelId="{6981A04C-B50E-824D-B26B-8C42781BC6EE}" type="presOf" srcId="{19950FF9-8470-7747-845F-E9A0881FC9DE}" destId="{74BDB899-755B-444E-915E-34234A2F80E2}" srcOrd="0" destOrd="0" presId="urn:microsoft.com/office/officeart/2005/8/layout/lProcess1"/>
    <dgm:cxn modelId="{77244754-6C12-1848-AE3B-5053201E3AB5}" srcId="{555B3221-A1AA-EE4A-9287-51CB00EF629B}" destId="{F7D7F520-7A7F-0D4C-874A-0C1B1FE2FAA3}" srcOrd="1" destOrd="0" parTransId="{21D286F1-0176-A64B-AB45-1B7596619535}" sibTransId="{5412560A-7FF0-9F4D-B311-2D980E880CBA}"/>
    <dgm:cxn modelId="{9EF0B575-3A91-4A45-B157-81D075940939}" type="presOf" srcId="{BBA68DBE-B48F-4444-97BF-738D21DDA803}" destId="{944F2D45-0854-FF4F-9A45-0B5FBB9415E6}" srcOrd="0" destOrd="0" presId="urn:microsoft.com/office/officeart/2005/8/layout/lProcess1"/>
    <dgm:cxn modelId="{1052327B-3E71-9849-81FE-5FEA9561D0E1}" type="presOf" srcId="{C3B7D2A7-0B5A-2740-BF25-89D1F94497AC}" destId="{F38B7510-114B-054F-B7FC-E55A1C978F4A}" srcOrd="0" destOrd="0" presId="urn:microsoft.com/office/officeart/2005/8/layout/lProcess1"/>
    <dgm:cxn modelId="{3B8C6694-CB9B-2E46-9266-935221797F0C}" type="presOf" srcId="{555B3221-A1AA-EE4A-9287-51CB00EF629B}" destId="{08FB8707-5968-EB41-8DA8-E1DF65C7E8F2}" srcOrd="0" destOrd="0" presId="urn:microsoft.com/office/officeart/2005/8/layout/lProcess1"/>
    <dgm:cxn modelId="{C74BF195-579A-D845-BDD1-F37AFDD063C9}" type="presOf" srcId="{C95C6D39-A917-7C44-8CDF-AD78D7D13A9E}" destId="{F9F8FE6C-2B05-C445-8F1C-C2D56EC0B341}" srcOrd="0" destOrd="0" presId="urn:microsoft.com/office/officeart/2005/8/layout/lProcess1"/>
    <dgm:cxn modelId="{2068E29C-2A48-2048-93FF-CDE52DF64EDB}" type="presOf" srcId="{679BC3F0-BCA5-BB48-9ABC-54DB1CB51F90}" destId="{878E7D38-9573-7A46-8835-570D9ED3C168}" srcOrd="0" destOrd="0" presId="urn:microsoft.com/office/officeart/2005/8/layout/lProcess1"/>
    <dgm:cxn modelId="{E71753C8-EA00-1B49-8C69-2965C7C48A77}" srcId="{C95C6D39-A917-7C44-8CDF-AD78D7D13A9E}" destId="{679BC3F0-BCA5-BB48-9ABC-54DB1CB51F90}" srcOrd="0" destOrd="0" parTransId="{BBA68DBE-B48F-4444-97BF-738D21DDA803}" sibTransId="{F4A814A5-248E-634D-863B-30CBBB67470E}"/>
    <dgm:cxn modelId="{6D8447D9-98FA-4043-AF6D-71A67C15970E}" srcId="{555B3221-A1AA-EE4A-9287-51CB00EF629B}" destId="{C95C6D39-A917-7C44-8CDF-AD78D7D13A9E}" srcOrd="0" destOrd="0" parTransId="{0ED547F4-4078-A740-8798-719C7616667E}" sibTransId="{54902DE5-EA1F-9143-8EB2-D11FC402CDE5}"/>
    <dgm:cxn modelId="{87C4A7F7-E286-4541-A0BF-0C0705423A33}" type="presOf" srcId="{B722BA2D-FE3B-4C4B-BDFA-C18A398FA12E}" destId="{9DCBE4C9-9854-3443-A76A-5007F14AEB74}" srcOrd="0" destOrd="0" presId="urn:microsoft.com/office/officeart/2005/8/layout/lProcess1"/>
    <dgm:cxn modelId="{D4B8EAFA-C2F1-334F-9D26-8CF4736C2269}" srcId="{F7D7F520-7A7F-0D4C-874A-0C1B1FE2FAA3}" destId="{C3B7D2A7-0B5A-2740-BF25-89D1F94497AC}" srcOrd="0" destOrd="0" parTransId="{3C9583AA-D3EE-774A-8EAA-7500994291C4}" sibTransId="{19950FF9-8470-7747-845F-E9A0881FC9DE}"/>
    <dgm:cxn modelId="{BB503255-D59E-6046-9865-1EA2B6B087DD}" type="presParOf" srcId="{08FB8707-5968-EB41-8DA8-E1DF65C7E8F2}" destId="{2532FA87-D769-1D42-AB78-CE1DD73AD7AB}" srcOrd="0" destOrd="0" presId="urn:microsoft.com/office/officeart/2005/8/layout/lProcess1"/>
    <dgm:cxn modelId="{A2E67F57-F127-7642-B2A5-B9ACABA0EBE9}" type="presParOf" srcId="{2532FA87-D769-1D42-AB78-CE1DD73AD7AB}" destId="{F9F8FE6C-2B05-C445-8F1C-C2D56EC0B341}" srcOrd="0" destOrd="0" presId="urn:microsoft.com/office/officeart/2005/8/layout/lProcess1"/>
    <dgm:cxn modelId="{859ABE43-90F6-DF48-B4B1-842A0396AE74}" type="presParOf" srcId="{2532FA87-D769-1D42-AB78-CE1DD73AD7AB}" destId="{944F2D45-0854-FF4F-9A45-0B5FBB9415E6}" srcOrd="1" destOrd="0" presId="urn:microsoft.com/office/officeart/2005/8/layout/lProcess1"/>
    <dgm:cxn modelId="{A3F8E45A-99F5-9048-86A5-759A78F51180}" type="presParOf" srcId="{2532FA87-D769-1D42-AB78-CE1DD73AD7AB}" destId="{878E7D38-9573-7A46-8835-570D9ED3C168}" srcOrd="2" destOrd="0" presId="urn:microsoft.com/office/officeart/2005/8/layout/lProcess1"/>
    <dgm:cxn modelId="{435DA370-BFD9-6049-8112-EDAB9C8A8A44}" type="presParOf" srcId="{08FB8707-5968-EB41-8DA8-E1DF65C7E8F2}" destId="{B75A9732-37E4-1E46-8595-BA1578DDD763}" srcOrd="1" destOrd="0" presId="urn:microsoft.com/office/officeart/2005/8/layout/lProcess1"/>
    <dgm:cxn modelId="{E9278396-0E32-4F4D-8AD2-7C006944F601}" type="presParOf" srcId="{08FB8707-5968-EB41-8DA8-E1DF65C7E8F2}" destId="{45974EAB-6CCB-0B45-AC7B-2899D7F8A3EF}" srcOrd="2" destOrd="0" presId="urn:microsoft.com/office/officeart/2005/8/layout/lProcess1"/>
    <dgm:cxn modelId="{164A4466-A640-444A-B794-19C0D117C1A0}" type="presParOf" srcId="{45974EAB-6CCB-0B45-AC7B-2899D7F8A3EF}" destId="{DB54DFA3-E01E-B442-9482-07C506B84309}" srcOrd="0" destOrd="0" presId="urn:microsoft.com/office/officeart/2005/8/layout/lProcess1"/>
    <dgm:cxn modelId="{4195926F-AFE8-0C40-A906-373EDBC399BA}" type="presParOf" srcId="{45974EAB-6CCB-0B45-AC7B-2899D7F8A3EF}" destId="{A7450743-EE58-D742-9C11-C40E3AA314B2}" srcOrd="1" destOrd="0" presId="urn:microsoft.com/office/officeart/2005/8/layout/lProcess1"/>
    <dgm:cxn modelId="{EC6DCBF1-4FBF-634B-8830-3B56816D3F2C}" type="presParOf" srcId="{45974EAB-6CCB-0B45-AC7B-2899D7F8A3EF}" destId="{F38B7510-114B-054F-B7FC-E55A1C978F4A}" srcOrd="2" destOrd="0" presId="urn:microsoft.com/office/officeart/2005/8/layout/lProcess1"/>
    <dgm:cxn modelId="{6C899DD4-D136-7843-96FB-EBA1110AFF5E}" type="presParOf" srcId="{45974EAB-6CCB-0B45-AC7B-2899D7F8A3EF}" destId="{74BDB899-755B-444E-915E-34234A2F80E2}" srcOrd="3" destOrd="0" presId="urn:microsoft.com/office/officeart/2005/8/layout/lProcess1"/>
    <dgm:cxn modelId="{6A5812DC-E17A-6D4F-AC02-34358F5CD399}" type="presParOf" srcId="{45974EAB-6CCB-0B45-AC7B-2899D7F8A3EF}" destId="{9DCBE4C9-9854-3443-A76A-5007F14AEB74}" srcOrd="4" destOrd="0" presId="urn:microsoft.com/office/officeart/2005/8/layout/l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9E7672C5-E3D7-E94C-9FA6-32B5B5EEB40D}" type="doc">
      <dgm:prSet loTypeId="urn:microsoft.com/office/officeart/2005/8/layout/process5" loCatId="process" qsTypeId="urn:microsoft.com/office/officeart/2005/8/quickstyle/simple4" qsCatId="simple" csTypeId="urn:microsoft.com/office/officeart/2005/8/colors/accent1_2" csCatId="accent1" phldr="1"/>
      <dgm:spPr/>
      <dgm:t>
        <a:bodyPr/>
        <a:lstStyle/>
        <a:p>
          <a:endParaRPr lang="en-US"/>
        </a:p>
      </dgm:t>
    </dgm:pt>
    <dgm:pt modelId="{7236419C-1A5F-DD4C-BAC7-3A75E7BBCDD9}">
      <dgm:prSet phldrT="[Text]" custT="1"/>
      <dgm:spPr>
        <a:solidFill>
          <a:schemeClr val="accent1"/>
        </a:solidFill>
      </dgm:spPr>
      <dgm:t>
        <a:bodyPr/>
        <a:lstStyle/>
        <a:p>
          <a:r>
            <a:rPr lang="en-US" sz="1400" dirty="0"/>
            <a:t>Save the context of the processor</a:t>
          </a:r>
        </a:p>
      </dgm:t>
    </dgm:pt>
    <dgm:pt modelId="{716C1250-83AA-9349-858A-5E116580B781}" type="parTrans" cxnId="{753089A2-F994-E642-A1D6-CC6132C64B6A}">
      <dgm:prSet/>
      <dgm:spPr/>
      <dgm:t>
        <a:bodyPr/>
        <a:lstStyle/>
        <a:p>
          <a:endParaRPr lang="en-US"/>
        </a:p>
      </dgm:t>
    </dgm:pt>
    <dgm:pt modelId="{2099D60C-3BE6-EF4D-9DB4-EFCD854F47B5}" type="sibTrans" cxnId="{753089A2-F994-E642-A1D6-CC6132C64B6A}">
      <dgm:prSet/>
      <dgm:spPr>
        <a:solidFill>
          <a:schemeClr val="accent6"/>
        </a:solidFill>
        <a:ln>
          <a:solidFill>
            <a:schemeClr val="accent3"/>
          </a:solidFill>
        </a:ln>
      </dgm:spPr>
      <dgm:t>
        <a:bodyPr/>
        <a:lstStyle/>
        <a:p>
          <a:endParaRPr lang="en-US"/>
        </a:p>
      </dgm:t>
    </dgm:pt>
    <dgm:pt modelId="{512ECD95-0590-DF48-82AF-9004224EC34D}">
      <dgm:prSet custT="1"/>
      <dgm:spPr/>
      <dgm:t>
        <a:bodyPr/>
        <a:lstStyle/>
        <a:p>
          <a:r>
            <a:rPr lang="en-US" sz="1400" dirty="0"/>
            <a:t>Update the process control block of the process currently in the Running state</a:t>
          </a:r>
        </a:p>
      </dgm:t>
    </dgm:pt>
    <dgm:pt modelId="{68E010A8-7AE3-5B46-BECC-9041E62550A5}" type="parTrans" cxnId="{7C82BA14-E0F8-824A-9142-1FE51D38C079}">
      <dgm:prSet/>
      <dgm:spPr/>
      <dgm:t>
        <a:bodyPr/>
        <a:lstStyle/>
        <a:p>
          <a:endParaRPr lang="en-US"/>
        </a:p>
      </dgm:t>
    </dgm:pt>
    <dgm:pt modelId="{0041A0A6-8C1C-DC49-9BA9-4990AE746A39}" type="sibTrans" cxnId="{7C82BA14-E0F8-824A-9142-1FE51D38C079}">
      <dgm:prSet/>
      <dgm:spPr>
        <a:solidFill>
          <a:schemeClr val="accent6"/>
        </a:solidFill>
      </dgm:spPr>
      <dgm:t>
        <a:bodyPr/>
        <a:lstStyle/>
        <a:p>
          <a:endParaRPr lang="en-US"/>
        </a:p>
      </dgm:t>
    </dgm:pt>
    <dgm:pt modelId="{F48C2693-41E3-F74D-9C08-33448EED6769}">
      <dgm:prSet custT="1"/>
      <dgm:spPr/>
      <dgm:t>
        <a:bodyPr/>
        <a:lstStyle/>
        <a:p>
          <a:r>
            <a:rPr lang="en-US" sz="1400" dirty="0"/>
            <a:t>Move the process control block of this process to the appropriate queue</a:t>
          </a:r>
        </a:p>
      </dgm:t>
    </dgm:pt>
    <dgm:pt modelId="{0A714C79-7C65-E249-91B8-3102722D2652}" type="parTrans" cxnId="{6E3688D8-B567-B147-A69B-C42C1F5B629A}">
      <dgm:prSet/>
      <dgm:spPr/>
      <dgm:t>
        <a:bodyPr/>
        <a:lstStyle/>
        <a:p>
          <a:endParaRPr lang="en-US"/>
        </a:p>
      </dgm:t>
    </dgm:pt>
    <dgm:pt modelId="{D9109AE6-731E-0D4E-BC63-26A0BFB46CD8}" type="sibTrans" cxnId="{6E3688D8-B567-B147-A69B-C42C1F5B629A}">
      <dgm:prSet/>
      <dgm:spPr>
        <a:solidFill>
          <a:schemeClr val="accent6"/>
        </a:solidFill>
      </dgm:spPr>
      <dgm:t>
        <a:bodyPr/>
        <a:lstStyle/>
        <a:p>
          <a:endParaRPr lang="en-US"/>
        </a:p>
      </dgm:t>
    </dgm:pt>
    <dgm:pt modelId="{640FA55A-B11E-0845-B5D2-CB0C9388494F}">
      <dgm:prSet custT="1"/>
      <dgm:spPr/>
      <dgm:t>
        <a:bodyPr/>
        <a:lstStyle/>
        <a:p>
          <a:r>
            <a:rPr lang="en-US" sz="1400" dirty="0"/>
            <a:t>Select another process for execution</a:t>
          </a:r>
        </a:p>
      </dgm:t>
    </dgm:pt>
    <dgm:pt modelId="{BF6D80BC-BF2B-A346-B803-5B6FB9A60B0B}" type="parTrans" cxnId="{98E0B298-EF9D-8C4C-9081-239351BF5DC5}">
      <dgm:prSet/>
      <dgm:spPr/>
      <dgm:t>
        <a:bodyPr/>
        <a:lstStyle/>
        <a:p>
          <a:endParaRPr lang="en-US"/>
        </a:p>
      </dgm:t>
    </dgm:pt>
    <dgm:pt modelId="{51773720-7A67-354A-87D9-2EA907FAEC80}" type="sibTrans" cxnId="{98E0B298-EF9D-8C4C-9081-239351BF5DC5}">
      <dgm:prSet/>
      <dgm:spPr>
        <a:solidFill>
          <a:schemeClr val="accent6"/>
        </a:solidFill>
      </dgm:spPr>
      <dgm:t>
        <a:bodyPr/>
        <a:lstStyle/>
        <a:p>
          <a:endParaRPr lang="en-US"/>
        </a:p>
      </dgm:t>
    </dgm:pt>
    <dgm:pt modelId="{9188BA0A-8472-144C-BD50-669D98E0CDA5}">
      <dgm:prSet custT="1"/>
      <dgm:spPr/>
      <dgm:t>
        <a:bodyPr/>
        <a:lstStyle/>
        <a:p>
          <a:r>
            <a:rPr lang="en-US" sz="1400" dirty="0"/>
            <a:t>Update the process control block of the process selected</a:t>
          </a:r>
        </a:p>
      </dgm:t>
    </dgm:pt>
    <dgm:pt modelId="{6A27F4D7-2E57-A149-BAD5-1FE8A25061F8}" type="parTrans" cxnId="{FD5CFD8F-E47B-AF40-8CC8-3A30DC94A745}">
      <dgm:prSet/>
      <dgm:spPr/>
      <dgm:t>
        <a:bodyPr/>
        <a:lstStyle/>
        <a:p>
          <a:endParaRPr lang="en-US"/>
        </a:p>
      </dgm:t>
    </dgm:pt>
    <dgm:pt modelId="{CAB6DF6B-6736-C14C-937D-693069BB37B7}" type="sibTrans" cxnId="{FD5CFD8F-E47B-AF40-8CC8-3A30DC94A745}">
      <dgm:prSet/>
      <dgm:spPr>
        <a:solidFill>
          <a:schemeClr val="accent6"/>
        </a:solidFill>
      </dgm:spPr>
      <dgm:t>
        <a:bodyPr/>
        <a:lstStyle/>
        <a:p>
          <a:endParaRPr lang="en-US"/>
        </a:p>
      </dgm:t>
    </dgm:pt>
    <dgm:pt modelId="{C7ACAA0F-8428-7D47-B0D7-3099F7B8FCFB}">
      <dgm:prSet custT="1"/>
      <dgm:spPr/>
      <dgm:t>
        <a:bodyPr/>
        <a:lstStyle/>
        <a:p>
          <a:r>
            <a:rPr lang="en-US" sz="1400" dirty="0"/>
            <a:t>Update memory management data structures</a:t>
          </a:r>
        </a:p>
      </dgm:t>
    </dgm:pt>
    <dgm:pt modelId="{F3109578-3B0A-6C48-B17C-57B86EEFBF57}" type="parTrans" cxnId="{6E1C0960-E951-434A-961B-B63123B7DB7B}">
      <dgm:prSet/>
      <dgm:spPr/>
      <dgm:t>
        <a:bodyPr/>
        <a:lstStyle/>
        <a:p>
          <a:endParaRPr lang="en-US"/>
        </a:p>
      </dgm:t>
    </dgm:pt>
    <dgm:pt modelId="{AF6AB856-1A50-9C43-9ADC-A4F06038663D}" type="sibTrans" cxnId="{6E1C0960-E951-434A-961B-B63123B7DB7B}">
      <dgm:prSet/>
      <dgm:spPr>
        <a:solidFill>
          <a:schemeClr val="accent6"/>
        </a:solidFill>
      </dgm:spPr>
      <dgm:t>
        <a:bodyPr/>
        <a:lstStyle/>
        <a:p>
          <a:endParaRPr lang="en-US"/>
        </a:p>
      </dgm:t>
    </dgm:pt>
    <dgm:pt modelId="{F6F247A7-2220-1A40-9750-19741E41E590}">
      <dgm:prSet custT="1"/>
      <dgm:spPr/>
      <dgm:t>
        <a:bodyPr/>
        <a:lstStyle/>
        <a:p>
          <a:r>
            <a:rPr lang="en-US" sz="1400" dirty="0"/>
            <a:t>Restore the context of the processor to that which existed at the time the selected process was last switched out</a:t>
          </a:r>
          <a:endParaRPr lang="en-NZ" sz="1400" dirty="0"/>
        </a:p>
      </dgm:t>
    </dgm:pt>
    <dgm:pt modelId="{F69339D0-ECB8-2347-8E5D-4E5AE6C003C6}" type="parTrans" cxnId="{99F7B742-A072-8C4F-B175-FB8438FF6B78}">
      <dgm:prSet/>
      <dgm:spPr/>
      <dgm:t>
        <a:bodyPr/>
        <a:lstStyle/>
        <a:p>
          <a:endParaRPr lang="en-US"/>
        </a:p>
      </dgm:t>
    </dgm:pt>
    <dgm:pt modelId="{C8B886FF-235B-3F4B-BD08-127D3B528BAB}" type="sibTrans" cxnId="{99F7B742-A072-8C4F-B175-FB8438FF6B78}">
      <dgm:prSet/>
      <dgm:spPr/>
      <dgm:t>
        <a:bodyPr/>
        <a:lstStyle/>
        <a:p>
          <a:endParaRPr lang="en-US"/>
        </a:p>
      </dgm:t>
    </dgm:pt>
    <dgm:pt modelId="{7A55DE4A-BC27-1944-8E77-CBAE34C951B8}" type="pres">
      <dgm:prSet presAssocID="{9E7672C5-E3D7-E94C-9FA6-32B5B5EEB40D}" presName="diagram" presStyleCnt="0">
        <dgm:presLayoutVars>
          <dgm:dir/>
          <dgm:resizeHandles val="exact"/>
        </dgm:presLayoutVars>
      </dgm:prSet>
      <dgm:spPr/>
    </dgm:pt>
    <dgm:pt modelId="{2C3D3BDD-AEEA-5940-BEF7-E4CEB4F3E8D7}" type="pres">
      <dgm:prSet presAssocID="{7236419C-1A5F-DD4C-BAC7-3A75E7BBCDD9}" presName="node" presStyleLbl="node1" presStyleIdx="0" presStyleCnt="7" custLinFactNeighborX="66011" custLinFactNeighborY="-56141">
        <dgm:presLayoutVars>
          <dgm:bulletEnabled val="1"/>
        </dgm:presLayoutVars>
      </dgm:prSet>
      <dgm:spPr/>
    </dgm:pt>
    <dgm:pt modelId="{2006BB91-3B87-DA40-B6AE-2A5108A2EF2F}" type="pres">
      <dgm:prSet presAssocID="{2099D60C-3BE6-EF4D-9DB4-EFCD854F47B5}" presName="sibTrans" presStyleLbl="sibTrans2D1" presStyleIdx="0" presStyleCnt="6"/>
      <dgm:spPr/>
    </dgm:pt>
    <dgm:pt modelId="{004FA4B3-4998-2945-B776-017C90EC168C}" type="pres">
      <dgm:prSet presAssocID="{2099D60C-3BE6-EF4D-9DB4-EFCD854F47B5}" presName="connectorText" presStyleLbl="sibTrans2D1" presStyleIdx="0" presStyleCnt="6"/>
      <dgm:spPr/>
    </dgm:pt>
    <dgm:pt modelId="{BCC1E542-A582-F347-92E2-47FFAB05B4F4}" type="pres">
      <dgm:prSet presAssocID="{512ECD95-0590-DF48-82AF-9004224EC34D}" presName="node" presStyleLbl="node1" presStyleIdx="1" presStyleCnt="7" custScaleX="98345" custScaleY="120343" custLinFactNeighborX="63223" custLinFactNeighborY="-48256">
        <dgm:presLayoutVars>
          <dgm:bulletEnabled val="1"/>
        </dgm:presLayoutVars>
      </dgm:prSet>
      <dgm:spPr/>
    </dgm:pt>
    <dgm:pt modelId="{5C63AE9C-3248-D543-A4CF-FBBF3E8FEF02}" type="pres">
      <dgm:prSet presAssocID="{0041A0A6-8C1C-DC49-9BA9-4990AE746A39}" presName="sibTrans" presStyleLbl="sibTrans2D1" presStyleIdx="1" presStyleCnt="6"/>
      <dgm:spPr/>
    </dgm:pt>
    <dgm:pt modelId="{373AAE06-BB4C-5B45-B86C-ECC2CDC0D6A5}" type="pres">
      <dgm:prSet presAssocID="{0041A0A6-8C1C-DC49-9BA9-4990AE746A39}" presName="connectorText" presStyleLbl="sibTrans2D1" presStyleIdx="1" presStyleCnt="6"/>
      <dgm:spPr/>
    </dgm:pt>
    <dgm:pt modelId="{7A3273C6-06DA-2A4F-9E7A-C786AEC7AEAC}" type="pres">
      <dgm:prSet presAssocID="{F48C2693-41E3-F74D-9C08-33448EED6769}" presName="node" presStyleLbl="node1" presStyleIdx="2" presStyleCnt="7" custLinFactNeighborX="69897" custLinFactNeighborY="-48255">
        <dgm:presLayoutVars>
          <dgm:bulletEnabled val="1"/>
        </dgm:presLayoutVars>
      </dgm:prSet>
      <dgm:spPr/>
    </dgm:pt>
    <dgm:pt modelId="{9D560C38-FF45-9045-A810-1BF24480C61F}" type="pres">
      <dgm:prSet presAssocID="{D9109AE6-731E-0D4E-BC63-26A0BFB46CD8}" presName="sibTrans" presStyleLbl="sibTrans2D1" presStyleIdx="2" presStyleCnt="6"/>
      <dgm:spPr/>
    </dgm:pt>
    <dgm:pt modelId="{A37E27AC-C956-8946-9215-BDF0F1FFEAEC}" type="pres">
      <dgm:prSet presAssocID="{D9109AE6-731E-0D4E-BC63-26A0BFB46CD8}" presName="connectorText" presStyleLbl="sibTrans2D1" presStyleIdx="2" presStyleCnt="6"/>
      <dgm:spPr/>
    </dgm:pt>
    <dgm:pt modelId="{326859DC-81AC-A14D-930E-03D3AB419642}" type="pres">
      <dgm:prSet presAssocID="{640FA55A-B11E-0845-B5D2-CB0C9388494F}" presName="node" presStyleLbl="node1" presStyleIdx="3" presStyleCnt="7" custLinFactY="17345" custLinFactNeighborX="-74834" custLinFactNeighborY="100000">
        <dgm:presLayoutVars>
          <dgm:bulletEnabled val="1"/>
        </dgm:presLayoutVars>
      </dgm:prSet>
      <dgm:spPr/>
    </dgm:pt>
    <dgm:pt modelId="{805C6834-FB35-294F-B4C8-3486D3ACB1FC}" type="pres">
      <dgm:prSet presAssocID="{51773720-7A67-354A-87D9-2EA907FAEC80}" presName="sibTrans" presStyleLbl="sibTrans2D1" presStyleIdx="3" presStyleCnt="6"/>
      <dgm:spPr/>
    </dgm:pt>
    <dgm:pt modelId="{A154FEDF-EF7F-254C-B605-0D3C10E012F1}" type="pres">
      <dgm:prSet presAssocID="{51773720-7A67-354A-87D9-2EA907FAEC80}" presName="connectorText" presStyleLbl="sibTrans2D1" presStyleIdx="3" presStyleCnt="6"/>
      <dgm:spPr/>
    </dgm:pt>
    <dgm:pt modelId="{DDF3FDD6-440B-A94B-BF4E-63FA31DC858B}" type="pres">
      <dgm:prSet presAssocID="{9188BA0A-8472-144C-BD50-669D98E0CDA5}" presName="node" presStyleLbl="node1" presStyleIdx="4" presStyleCnt="7" custLinFactNeighborX="-60640" custLinFactNeighborY="84953">
        <dgm:presLayoutVars>
          <dgm:bulletEnabled val="1"/>
        </dgm:presLayoutVars>
      </dgm:prSet>
      <dgm:spPr/>
    </dgm:pt>
    <dgm:pt modelId="{13239FAD-D619-4A49-8F9B-6ACE90C6968A}" type="pres">
      <dgm:prSet presAssocID="{CAB6DF6B-6736-C14C-937D-693069BB37B7}" presName="sibTrans" presStyleLbl="sibTrans2D1" presStyleIdx="4" presStyleCnt="6"/>
      <dgm:spPr/>
    </dgm:pt>
    <dgm:pt modelId="{7DE86167-FED6-484B-9B39-75818C30BE68}" type="pres">
      <dgm:prSet presAssocID="{CAB6DF6B-6736-C14C-937D-693069BB37B7}" presName="connectorText" presStyleLbl="sibTrans2D1" presStyleIdx="4" presStyleCnt="6"/>
      <dgm:spPr/>
    </dgm:pt>
    <dgm:pt modelId="{345D1EA6-731A-154F-A4B5-AB0B53187FB6}" type="pres">
      <dgm:prSet presAssocID="{C7ACAA0F-8428-7D47-B0D7-3099F7B8FCFB}" presName="node" presStyleLbl="node1" presStyleIdx="5" presStyleCnt="7" custLinFactNeighborX="-57851" custLinFactNeighborY="77067">
        <dgm:presLayoutVars>
          <dgm:bulletEnabled val="1"/>
        </dgm:presLayoutVars>
      </dgm:prSet>
      <dgm:spPr/>
    </dgm:pt>
    <dgm:pt modelId="{51D6E1CA-56DC-124D-8077-6C5DF4D18494}" type="pres">
      <dgm:prSet presAssocID="{AF6AB856-1A50-9C43-9ADC-A4F06038663D}" presName="sibTrans" presStyleLbl="sibTrans2D1" presStyleIdx="5" presStyleCnt="6" custAng="21334575"/>
      <dgm:spPr/>
    </dgm:pt>
    <dgm:pt modelId="{38D5BF3C-9979-B747-9345-3CDBC081EE76}" type="pres">
      <dgm:prSet presAssocID="{AF6AB856-1A50-9C43-9ADC-A4F06038663D}" presName="connectorText" presStyleLbl="sibTrans2D1" presStyleIdx="5" presStyleCnt="6"/>
      <dgm:spPr/>
    </dgm:pt>
    <dgm:pt modelId="{47648A24-091E-A440-9803-7FF254809863}" type="pres">
      <dgm:prSet presAssocID="{F6F247A7-2220-1A40-9750-19741E41E590}" presName="node" presStyleLbl="node1" presStyleIdx="6" presStyleCnt="7" custScaleX="108183" custScaleY="162651" custLinFactNeighborX="-98926" custLinFactNeighborY="53192">
        <dgm:presLayoutVars>
          <dgm:bulletEnabled val="1"/>
        </dgm:presLayoutVars>
      </dgm:prSet>
      <dgm:spPr/>
    </dgm:pt>
  </dgm:ptLst>
  <dgm:cxnLst>
    <dgm:cxn modelId="{082E8508-83EE-A145-BE5E-CFFB5290F37A}" type="presOf" srcId="{D9109AE6-731E-0D4E-BC63-26A0BFB46CD8}" destId="{9D560C38-FF45-9045-A810-1BF24480C61F}" srcOrd="0" destOrd="0" presId="urn:microsoft.com/office/officeart/2005/8/layout/process5"/>
    <dgm:cxn modelId="{7C82BA14-E0F8-824A-9142-1FE51D38C079}" srcId="{9E7672C5-E3D7-E94C-9FA6-32B5B5EEB40D}" destId="{512ECD95-0590-DF48-82AF-9004224EC34D}" srcOrd="1" destOrd="0" parTransId="{68E010A8-7AE3-5B46-BECC-9041E62550A5}" sibTransId="{0041A0A6-8C1C-DC49-9BA9-4990AE746A39}"/>
    <dgm:cxn modelId="{A3955329-6C4F-9B44-ABFF-537F9AC21E9D}" type="presOf" srcId="{51773720-7A67-354A-87D9-2EA907FAEC80}" destId="{A154FEDF-EF7F-254C-B605-0D3C10E012F1}" srcOrd="1" destOrd="0" presId="urn:microsoft.com/office/officeart/2005/8/layout/process5"/>
    <dgm:cxn modelId="{345B843E-B7D7-2841-A421-329FB6697626}" type="presOf" srcId="{F6F247A7-2220-1A40-9750-19741E41E590}" destId="{47648A24-091E-A440-9803-7FF254809863}" srcOrd="0" destOrd="0" presId="urn:microsoft.com/office/officeart/2005/8/layout/process5"/>
    <dgm:cxn modelId="{6E1C0960-E951-434A-961B-B63123B7DB7B}" srcId="{9E7672C5-E3D7-E94C-9FA6-32B5B5EEB40D}" destId="{C7ACAA0F-8428-7D47-B0D7-3099F7B8FCFB}" srcOrd="5" destOrd="0" parTransId="{F3109578-3B0A-6C48-B17C-57B86EEFBF57}" sibTransId="{AF6AB856-1A50-9C43-9ADC-A4F06038663D}"/>
    <dgm:cxn modelId="{99F7B742-A072-8C4F-B175-FB8438FF6B78}" srcId="{9E7672C5-E3D7-E94C-9FA6-32B5B5EEB40D}" destId="{F6F247A7-2220-1A40-9750-19741E41E590}" srcOrd="6" destOrd="0" parTransId="{F69339D0-ECB8-2347-8E5D-4E5AE6C003C6}" sibTransId="{C8B886FF-235B-3F4B-BD08-127D3B528BAB}"/>
    <dgm:cxn modelId="{CC348B65-7C2E-1E4D-95F9-D5B0959DAEB6}" type="presOf" srcId="{D9109AE6-731E-0D4E-BC63-26A0BFB46CD8}" destId="{A37E27AC-C956-8946-9215-BDF0F1FFEAEC}" srcOrd="1" destOrd="0" presId="urn:microsoft.com/office/officeart/2005/8/layout/process5"/>
    <dgm:cxn modelId="{E5AEF946-A7D0-6A44-B943-25F40C9C2809}" type="presOf" srcId="{CAB6DF6B-6736-C14C-937D-693069BB37B7}" destId="{7DE86167-FED6-484B-9B39-75818C30BE68}" srcOrd="1" destOrd="0" presId="urn:microsoft.com/office/officeart/2005/8/layout/process5"/>
    <dgm:cxn modelId="{61B80F49-B501-E34B-B9C3-568ED9436A2E}" type="presOf" srcId="{AF6AB856-1A50-9C43-9ADC-A4F06038663D}" destId="{51D6E1CA-56DC-124D-8077-6C5DF4D18494}" srcOrd="0" destOrd="0" presId="urn:microsoft.com/office/officeart/2005/8/layout/process5"/>
    <dgm:cxn modelId="{478CD44E-ADC4-E64A-9F32-D2618F13DD7A}" type="presOf" srcId="{512ECD95-0590-DF48-82AF-9004224EC34D}" destId="{BCC1E542-A582-F347-92E2-47FFAB05B4F4}" srcOrd="0" destOrd="0" presId="urn:microsoft.com/office/officeart/2005/8/layout/process5"/>
    <dgm:cxn modelId="{96594F58-B2C0-7F48-ACE1-C36C6BEEB8BA}" type="presOf" srcId="{640FA55A-B11E-0845-B5D2-CB0C9388494F}" destId="{326859DC-81AC-A14D-930E-03D3AB419642}" srcOrd="0" destOrd="0" presId="urn:microsoft.com/office/officeart/2005/8/layout/process5"/>
    <dgm:cxn modelId="{ABCC7884-8745-E045-B80E-73FA529D9898}" type="presOf" srcId="{2099D60C-3BE6-EF4D-9DB4-EFCD854F47B5}" destId="{004FA4B3-4998-2945-B776-017C90EC168C}" srcOrd="1" destOrd="0" presId="urn:microsoft.com/office/officeart/2005/8/layout/process5"/>
    <dgm:cxn modelId="{FD5CFD8F-E47B-AF40-8CC8-3A30DC94A745}" srcId="{9E7672C5-E3D7-E94C-9FA6-32B5B5EEB40D}" destId="{9188BA0A-8472-144C-BD50-669D98E0CDA5}" srcOrd="4" destOrd="0" parTransId="{6A27F4D7-2E57-A149-BAD5-1FE8A25061F8}" sibTransId="{CAB6DF6B-6736-C14C-937D-693069BB37B7}"/>
    <dgm:cxn modelId="{98E0B298-EF9D-8C4C-9081-239351BF5DC5}" srcId="{9E7672C5-E3D7-E94C-9FA6-32B5B5EEB40D}" destId="{640FA55A-B11E-0845-B5D2-CB0C9388494F}" srcOrd="3" destOrd="0" parTransId="{BF6D80BC-BF2B-A346-B803-5B6FB9A60B0B}" sibTransId="{51773720-7A67-354A-87D9-2EA907FAEC80}"/>
    <dgm:cxn modelId="{753089A2-F994-E642-A1D6-CC6132C64B6A}" srcId="{9E7672C5-E3D7-E94C-9FA6-32B5B5EEB40D}" destId="{7236419C-1A5F-DD4C-BAC7-3A75E7BBCDD9}" srcOrd="0" destOrd="0" parTransId="{716C1250-83AA-9349-858A-5E116580B781}" sibTransId="{2099D60C-3BE6-EF4D-9DB4-EFCD854F47B5}"/>
    <dgm:cxn modelId="{C9231DA5-355E-134F-871F-734C07D9E774}" type="presOf" srcId="{51773720-7A67-354A-87D9-2EA907FAEC80}" destId="{805C6834-FB35-294F-B4C8-3486D3ACB1FC}" srcOrd="0" destOrd="0" presId="urn:microsoft.com/office/officeart/2005/8/layout/process5"/>
    <dgm:cxn modelId="{563291A8-D997-AF4C-96CC-FD5CE74FCF4A}" type="presOf" srcId="{7236419C-1A5F-DD4C-BAC7-3A75E7BBCDD9}" destId="{2C3D3BDD-AEEA-5940-BEF7-E4CEB4F3E8D7}" srcOrd="0" destOrd="0" presId="urn:microsoft.com/office/officeart/2005/8/layout/process5"/>
    <dgm:cxn modelId="{C91E32B2-CA2D-E045-9F68-99AC87CDC691}" type="presOf" srcId="{2099D60C-3BE6-EF4D-9DB4-EFCD854F47B5}" destId="{2006BB91-3B87-DA40-B6AE-2A5108A2EF2F}" srcOrd="0" destOrd="0" presId="urn:microsoft.com/office/officeart/2005/8/layout/process5"/>
    <dgm:cxn modelId="{852EFEC1-F8A5-E241-997A-CBD765D4073C}" type="presOf" srcId="{AF6AB856-1A50-9C43-9ADC-A4F06038663D}" destId="{38D5BF3C-9979-B747-9345-3CDBC081EE76}" srcOrd="1" destOrd="0" presId="urn:microsoft.com/office/officeart/2005/8/layout/process5"/>
    <dgm:cxn modelId="{7BA2D4C9-05FF-EA45-81F1-C3A005A5EDAA}" type="presOf" srcId="{CAB6DF6B-6736-C14C-937D-693069BB37B7}" destId="{13239FAD-D619-4A49-8F9B-6ACE90C6968A}" srcOrd="0" destOrd="0" presId="urn:microsoft.com/office/officeart/2005/8/layout/process5"/>
    <dgm:cxn modelId="{9270ACCA-3886-C140-96CA-A2E28EEA3771}" type="presOf" srcId="{9188BA0A-8472-144C-BD50-669D98E0CDA5}" destId="{DDF3FDD6-440B-A94B-BF4E-63FA31DC858B}" srcOrd="0" destOrd="0" presId="urn:microsoft.com/office/officeart/2005/8/layout/process5"/>
    <dgm:cxn modelId="{4B06F6CD-6465-8344-8380-C2D462E48554}" type="presOf" srcId="{F48C2693-41E3-F74D-9C08-33448EED6769}" destId="{7A3273C6-06DA-2A4F-9E7A-C786AEC7AEAC}" srcOrd="0" destOrd="0" presId="urn:microsoft.com/office/officeart/2005/8/layout/process5"/>
    <dgm:cxn modelId="{A24901D8-0802-2748-A63A-D008597FC976}" type="presOf" srcId="{0041A0A6-8C1C-DC49-9BA9-4990AE746A39}" destId="{373AAE06-BB4C-5B45-B86C-ECC2CDC0D6A5}" srcOrd="1" destOrd="0" presId="urn:microsoft.com/office/officeart/2005/8/layout/process5"/>
    <dgm:cxn modelId="{6E3688D8-B567-B147-A69B-C42C1F5B629A}" srcId="{9E7672C5-E3D7-E94C-9FA6-32B5B5EEB40D}" destId="{F48C2693-41E3-F74D-9C08-33448EED6769}" srcOrd="2" destOrd="0" parTransId="{0A714C79-7C65-E249-91B8-3102722D2652}" sibTransId="{D9109AE6-731E-0D4E-BC63-26A0BFB46CD8}"/>
    <dgm:cxn modelId="{BCDEB8DC-D86B-4A4E-8518-D40C23FC5C3C}" type="presOf" srcId="{0041A0A6-8C1C-DC49-9BA9-4990AE746A39}" destId="{5C63AE9C-3248-D543-A4CF-FBBF3E8FEF02}" srcOrd="0" destOrd="0" presId="urn:microsoft.com/office/officeart/2005/8/layout/process5"/>
    <dgm:cxn modelId="{8AB57CE2-C40C-AF44-B811-2C4E234A0DF4}" type="presOf" srcId="{9E7672C5-E3D7-E94C-9FA6-32B5B5EEB40D}" destId="{7A55DE4A-BC27-1944-8E77-CBAE34C951B8}" srcOrd="0" destOrd="0" presId="urn:microsoft.com/office/officeart/2005/8/layout/process5"/>
    <dgm:cxn modelId="{D91E88ED-7805-1241-8BA1-FB684656372D}" type="presOf" srcId="{C7ACAA0F-8428-7D47-B0D7-3099F7B8FCFB}" destId="{345D1EA6-731A-154F-A4B5-AB0B53187FB6}" srcOrd="0" destOrd="0" presId="urn:microsoft.com/office/officeart/2005/8/layout/process5"/>
    <dgm:cxn modelId="{20CF8260-6132-AB43-ADF0-F6AD4D76C216}" type="presParOf" srcId="{7A55DE4A-BC27-1944-8E77-CBAE34C951B8}" destId="{2C3D3BDD-AEEA-5940-BEF7-E4CEB4F3E8D7}" srcOrd="0" destOrd="0" presId="urn:microsoft.com/office/officeart/2005/8/layout/process5"/>
    <dgm:cxn modelId="{39F79BC4-BCA5-C64C-9999-5052FC625546}" type="presParOf" srcId="{7A55DE4A-BC27-1944-8E77-CBAE34C951B8}" destId="{2006BB91-3B87-DA40-B6AE-2A5108A2EF2F}" srcOrd="1" destOrd="0" presId="urn:microsoft.com/office/officeart/2005/8/layout/process5"/>
    <dgm:cxn modelId="{5D3B5E07-AF77-1348-A6C4-CE85FBAD502F}" type="presParOf" srcId="{2006BB91-3B87-DA40-B6AE-2A5108A2EF2F}" destId="{004FA4B3-4998-2945-B776-017C90EC168C}" srcOrd="0" destOrd="0" presId="urn:microsoft.com/office/officeart/2005/8/layout/process5"/>
    <dgm:cxn modelId="{32C1262B-B545-9A43-AAA5-16481361F436}" type="presParOf" srcId="{7A55DE4A-BC27-1944-8E77-CBAE34C951B8}" destId="{BCC1E542-A582-F347-92E2-47FFAB05B4F4}" srcOrd="2" destOrd="0" presId="urn:microsoft.com/office/officeart/2005/8/layout/process5"/>
    <dgm:cxn modelId="{3E1A5336-E152-874B-BCAF-0827BE70EFA1}" type="presParOf" srcId="{7A55DE4A-BC27-1944-8E77-CBAE34C951B8}" destId="{5C63AE9C-3248-D543-A4CF-FBBF3E8FEF02}" srcOrd="3" destOrd="0" presId="urn:microsoft.com/office/officeart/2005/8/layout/process5"/>
    <dgm:cxn modelId="{A58063FE-A0CC-864A-B455-301E7F1B41C1}" type="presParOf" srcId="{5C63AE9C-3248-D543-A4CF-FBBF3E8FEF02}" destId="{373AAE06-BB4C-5B45-B86C-ECC2CDC0D6A5}" srcOrd="0" destOrd="0" presId="urn:microsoft.com/office/officeart/2005/8/layout/process5"/>
    <dgm:cxn modelId="{770A4A67-374C-DB4D-9282-FD7B18A4B816}" type="presParOf" srcId="{7A55DE4A-BC27-1944-8E77-CBAE34C951B8}" destId="{7A3273C6-06DA-2A4F-9E7A-C786AEC7AEAC}" srcOrd="4" destOrd="0" presId="urn:microsoft.com/office/officeart/2005/8/layout/process5"/>
    <dgm:cxn modelId="{4D229857-4EB2-8044-9D67-20431D659616}" type="presParOf" srcId="{7A55DE4A-BC27-1944-8E77-CBAE34C951B8}" destId="{9D560C38-FF45-9045-A810-1BF24480C61F}" srcOrd="5" destOrd="0" presId="urn:microsoft.com/office/officeart/2005/8/layout/process5"/>
    <dgm:cxn modelId="{5343BC63-DBD9-E645-804D-0B534575F941}" type="presParOf" srcId="{9D560C38-FF45-9045-A810-1BF24480C61F}" destId="{A37E27AC-C956-8946-9215-BDF0F1FFEAEC}" srcOrd="0" destOrd="0" presId="urn:microsoft.com/office/officeart/2005/8/layout/process5"/>
    <dgm:cxn modelId="{DBA83D1B-074A-6147-B62F-302AF799F91A}" type="presParOf" srcId="{7A55DE4A-BC27-1944-8E77-CBAE34C951B8}" destId="{326859DC-81AC-A14D-930E-03D3AB419642}" srcOrd="6" destOrd="0" presId="urn:microsoft.com/office/officeart/2005/8/layout/process5"/>
    <dgm:cxn modelId="{5AB93D99-7679-B842-B3D4-5B7BDF26A88D}" type="presParOf" srcId="{7A55DE4A-BC27-1944-8E77-CBAE34C951B8}" destId="{805C6834-FB35-294F-B4C8-3486D3ACB1FC}" srcOrd="7" destOrd="0" presId="urn:microsoft.com/office/officeart/2005/8/layout/process5"/>
    <dgm:cxn modelId="{5AFEE842-57B7-C449-A8A2-376EDE7CB34F}" type="presParOf" srcId="{805C6834-FB35-294F-B4C8-3486D3ACB1FC}" destId="{A154FEDF-EF7F-254C-B605-0D3C10E012F1}" srcOrd="0" destOrd="0" presId="urn:microsoft.com/office/officeart/2005/8/layout/process5"/>
    <dgm:cxn modelId="{0CE41917-AEA0-044D-82D7-050AE18D0C43}" type="presParOf" srcId="{7A55DE4A-BC27-1944-8E77-CBAE34C951B8}" destId="{DDF3FDD6-440B-A94B-BF4E-63FA31DC858B}" srcOrd="8" destOrd="0" presId="urn:microsoft.com/office/officeart/2005/8/layout/process5"/>
    <dgm:cxn modelId="{771F435C-997B-DA4A-B269-BE107CF16328}" type="presParOf" srcId="{7A55DE4A-BC27-1944-8E77-CBAE34C951B8}" destId="{13239FAD-D619-4A49-8F9B-6ACE90C6968A}" srcOrd="9" destOrd="0" presId="urn:microsoft.com/office/officeart/2005/8/layout/process5"/>
    <dgm:cxn modelId="{BD9B7530-0078-E84A-A1F4-92D4C463FE1C}" type="presParOf" srcId="{13239FAD-D619-4A49-8F9B-6ACE90C6968A}" destId="{7DE86167-FED6-484B-9B39-75818C30BE68}" srcOrd="0" destOrd="0" presId="urn:microsoft.com/office/officeart/2005/8/layout/process5"/>
    <dgm:cxn modelId="{140DD657-3D09-7445-8F63-2785792809A6}" type="presParOf" srcId="{7A55DE4A-BC27-1944-8E77-CBAE34C951B8}" destId="{345D1EA6-731A-154F-A4B5-AB0B53187FB6}" srcOrd="10" destOrd="0" presId="urn:microsoft.com/office/officeart/2005/8/layout/process5"/>
    <dgm:cxn modelId="{1BFB8E43-4F35-D143-9A74-9C77328AF21B}" type="presParOf" srcId="{7A55DE4A-BC27-1944-8E77-CBAE34C951B8}" destId="{51D6E1CA-56DC-124D-8077-6C5DF4D18494}" srcOrd="11" destOrd="0" presId="urn:microsoft.com/office/officeart/2005/8/layout/process5"/>
    <dgm:cxn modelId="{64B4B99E-2BDC-BC47-A5D6-40C73A6674F1}" type="presParOf" srcId="{51D6E1CA-56DC-124D-8077-6C5DF4D18494}" destId="{38D5BF3C-9979-B747-9345-3CDBC081EE76}" srcOrd="0" destOrd="0" presId="urn:microsoft.com/office/officeart/2005/8/layout/process5"/>
    <dgm:cxn modelId="{7F9B0DFB-0E3A-184A-B385-57458EA836B9}" type="presParOf" srcId="{7A55DE4A-BC27-1944-8E77-CBAE34C951B8}" destId="{47648A24-091E-A440-9803-7FF254809863}" srcOrd="12"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F81AE4C5-B34E-B04C-863C-E46FFAA4324B}" type="doc">
      <dgm:prSet loTypeId="urn:microsoft.com/office/officeart/2005/8/layout/chevron2" loCatId="process" qsTypeId="urn:microsoft.com/office/officeart/2005/8/quickstyle/simple4" qsCatId="simple" csTypeId="urn:microsoft.com/office/officeart/2005/8/colors/accent1_2" csCatId="accent1" phldr="1"/>
      <dgm:spPr/>
      <dgm:t>
        <a:bodyPr/>
        <a:lstStyle/>
        <a:p>
          <a:endParaRPr lang="en-US"/>
        </a:p>
      </dgm:t>
    </dgm:pt>
    <dgm:pt modelId="{5DA3418E-DB4B-FF42-B123-DBBD66736BD7}">
      <dgm:prSet phldrT="[Text]"/>
      <dgm:spPr>
        <a:solidFill>
          <a:schemeClr val="accent6"/>
        </a:solidFill>
        <a:ln>
          <a:solidFill>
            <a:schemeClr val="accent6"/>
          </a:solidFill>
        </a:ln>
        <a:effectLst/>
      </dgm:spPr>
      <dgm:t>
        <a:bodyPr/>
        <a:lstStyle/>
        <a:p>
          <a:r>
            <a:rPr lang="en-US" dirty="0"/>
            <a:t>1</a:t>
          </a:r>
        </a:p>
      </dgm:t>
    </dgm:pt>
    <dgm:pt modelId="{FA04BA07-BCD5-2142-8676-BFEF0E3B71DF}" type="parTrans" cxnId="{3220F3C0-7C7A-7D4B-897B-58B80CBF0F4E}">
      <dgm:prSet/>
      <dgm:spPr/>
      <dgm:t>
        <a:bodyPr/>
        <a:lstStyle/>
        <a:p>
          <a:endParaRPr lang="en-US"/>
        </a:p>
      </dgm:t>
    </dgm:pt>
    <dgm:pt modelId="{D9665C12-212D-C149-95FA-2C2E0D4140CE}" type="sibTrans" cxnId="{3220F3C0-7C7A-7D4B-897B-58B80CBF0F4E}">
      <dgm:prSet/>
      <dgm:spPr/>
      <dgm:t>
        <a:bodyPr/>
        <a:lstStyle/>
        <a:p>
          <a:endParaRPr lang="en-US"/>
        </a:p>
      </dgm:t>
    </dgm:pt>
    <dgm:pt modelId="{3779CFD1-782F-BE4B-89A7-D7DFF565E1C4}">
      <dgm:prSet phldrT="[Text]"/>
      <dgm:spPr>
        <a:ln>
          <a:solidFill>
            <a:schemeClr val="accent6"/>
          </a:solidFill>
        </a:ln>
      </dgm:spPr>
      <dgm:t>
        <a:bodyPr/>
        <a:lstStyle/>
        <a:p>
          <a:r>
            <a:rPr lang="en-NZ" dirty="0"/>
            <a:t>Allocates a slot in the process table for the new process</a:t>
          </a:r>
          <a:endParaRPr lang="en-US" dirty="0"/>
        </a:p>
      </dgm:t>
    </dgm:pt>
    <dgm:pt modelId="{AC9B584D-4AC9-DE4D-993D-55DB9D9AA3F9}" type="parTrans" cxnId="{502562B5-DFA6-2448-9764-FDE97D130820}">
      <dgm:prSet/>
      <dgm:spPr/>
      <dgm:t>
        <a:bodyPr/>
        <a:lstStyle/>
        <a:p>
          <a:endParaRPr lang="en-US"/>
        </a:p>
      </dgm:t>
    </dgm:pt>
    <dgm:pt modelId="{AAB55CD0-3683-EA4D-8725-75A55F4038BD}" type="sibTrans" cxnId="{502562B5-DFA6-2448-9764-FDE97D130820}">
      <dgm:prSet/>
      <dgm:spPr/>
      <dgm:t>
        <a:bodyPr/>
        <a:lstStyle/>
        <a:p>
          <a:endParaRPr lang="en-US"/>
        </a:p>
      </dgm:t>
    </dgm:pt>
    <dgm:pt modelId="{36E0E8A0-9D23-A745-B131-E1443F3FB08C}">
      <dgm:prSet phldrT="[Text]"/>
      <dgm:spPr>
        <a:solidFill>
          <a:schemeClr val="accent6"/>
        </a:solidFill>
        <a:ln>
          <a:solidFill>
            <a:schemeClr val="accent6"/>
          </a:solidFill>
        </a:ln>
      </dgm:spPr>
      <dgm:t>
        <a:bodyPr/>
        <a:lstStyle/>
        <a:p>
          <a:r>
            <a:rPr lang="en-US" dirty="0"/>
            <a:t>2</a:t>
          </a:r>
        </a:p>
      </dgm:t>
    </dgm:pt>
    <dgm:pt modelId="{1404BCD4-0B01-584F-9553-F36FC69B6327}" type="parTrans" cxnId="{DE052205-2EBE-144E-8E21-2D56C3223C00}">
      <dgm:prSet/>
      <dgm:spPr/>
      <dgm:t>
        <a:bodyPr/>
        <a:lstStyle/>
        <a:p>
          <a:endParaRPr lang="en-US"/>
        </a:p>
      </dgm:t>
    </dgm:pt>
    <dgm:pt modelId="{FE4F06C5-7785-0E41-8120-3B4B38D50BAD}" type="sibTrans" cxnId="{DE052205-2EBE-144E-8E21-2D56C3223C00}">
      <dgm:prSet/>
      <dgm:spPr/>
      <dgm:t>
        <a:bodyPr/>
        <a:lstStyle/>
        <a:p>
          <a:endParaRPr lang="en-US"/>
        </a:p>
      </dgm:t>
    </dgm:pt>
    <dgm:pt modelId="{0A02D992-EF2C-9542-88FA-8321DA1BED4B}">
      <dgm:prSet phldrT="[Text]"/>
      <dgm:spPr>
        <a:ln>
          <a:solidFill>
            <a:schemeClr val="accent6"/>
          </a:solidFill>
        </a:ln>
      </dgm:spPr>
      <dgm:t>
        <a:bodyPr/>
        <a:lstStyle/>
        <a:p>
          <a:r>
            <a:rPr lang="en-NZ" dirty="0"/>
            <a:t>Assigns a unique process ID to the child process</a:t>
          </a:r>
          <a:endParaRPr lang="en-US" dirty="0"/>
        </a:p>
      </dgm:t>
    </dgm:pt>
    <dgm:pt modelId="{7DF984F6-AF85-6141-8CAB-501769B62054}" type="parTrans" cxnId="{C29BBD3E-5B2B-2F44-AE08-E09FEC211C43}">
      <dgm:prSet/>
      <dgm:spPr/>
      <dgm:t>
        <a:bodyPr/>
        <a:lstStyle/>
        <a:p>
          <a:endParaRPr lang="en-US"/>
        </a:p>
      </dgm:t>
    </dgm:pt>
    <dgm:pt modelId="{7E8BA9DB-8229-8546-9BFC-4234DBFB60E7}" type="sibTrans" cxnId="{C29BBD3E-5B2B-2F44-AE08-E09FEC211C43}">
      <dgm:prSet/>
      <dgm:spPr/>
      <dgm:t>
        <a:bodyPr/>
        <a:lstStyle/>
        <a:p>
          <a:endParaRPr lang="en-US"/>
        </a:p>
      </dgm:t>
    </dgm:pt>
    <dgm:pt modelId="{8107A9A5-AF29-A94A-93C9-86A17090739D}">
      <dgm:prSet phldrT="[Text]"/>
      <dgm:spPr>
        <a:solidFill>
          <a:schemeClr val="accent6"/>
        </a:solidFill>
        <a:ln>
          <a:solidFill>
            <a:schemeClr val="accent6"/>
          </a:solidFill>
        </a:ln>
      </dgm:spPr>
      <dgm:t>
        <a:bodyPr/>
        <a:lstStyle/>
        <a:p>
          <a:r>
            <a:rPr lang="en-US" dirty="0"/>
            <a:t>3</a:t>
          </a:r>
        </a:p>
      </dgm:t>
    </dgm:pt>
    <dgm:pt modelId="{194D5E64-4DCE-514A-8B6E-DAD267D3A496}" type="parTrans" cxnId="{E7DAFC9A-36D6-9B4C-9BB9-BAE53C685426}">
      <dgm:prSet/>
      <dgm:spPr/>
      <dgm:t>
        <a:bodyPr/>
        <a:lstStyle/>
        <a:p>
          <a:endParaRPr lang="en-US"/>
        </a:p>
      </dgm:t>
    </dgm:pt>
    <dgm:pt modelId="{A9D5C173-FFEC-3A4B-90FC-A22C12164719}" type="sibTrans" cxnId="{E7DAFC9A-36D6-9B4C-9BB9-BAE53C685426}">
      <dgm:prSet/>
      <dgm:spPr/>
      <dgm:t>
        <a:bodyPr/>
        <a:lstStyle/>
        <a:p>
          <a:endParaRPr lang="en-US"/>
        </a:p>
      </dgm:t>
    </dgm:pt>
    <dgm:pt modelId="{DBC54489-8F45-4843-B66E-41358F3602E9}">
      <dgm:prSet phldrT="[Text]"/>
      <dgm:spPr>
        <a:ln>
          <a:solidFill>
            <a:schemeClr val="accent6"/>
          </a:solidFill>
        </a:ln>
      </dgm:spPr>
      <dgm:t>
        <a:bodyPr/>
        <a:lstStyle/>
        <a:p>
          <a:r>
            <a:rPr lang="en-NZ" dirty="0"/>
            <a:t>Makes a copy of the process image of the parent, with the exception of any shared memory</a:t>
          </a:r>
          <a:endParaRPr lang="en-US" dirty="0"/>
        </a:p>
      </dgm:t>
    </dgm:pt>
    <dgm:pt modelId="{3C73E3FD-AE55-094E-B4D4-71BC04766D1C}" type="parTrans" cxnId="{FAC2048F-2FFE-254E-B2B5-33C51D578449}">
      <dgm:prSet/>
      <dgm:spPr/>
      <dgm:t>
        <a:bodyPr/>
        <a:lstStyle/>
        <a:p>
          <a:endParaRPr lang="en-US"/>
        </a:p>
      </dgm:t>
    </dgm:pt>
    <dgm:pt modelId="{C63140C3-E4EA-2D4F-B352-2FF03E8CB2A9}" type="sibTrans" cxnId="{FAC2048F-2FFE-254E-B2B5-33C51D578449}">
      <dgm:prSet/>
      <dgm:spPr/>
      <dgm:t>
        <a:bodyPr/>
        <a:lstStyle/>
        <a:p>
          <a:endParaRPr lang="en-US"/>
        </a:p>
      </dgm:t>
    </dgm:pt>
    <dgm:pt modelId="{1DAC90B7-6707-834B-80BD-1DE5AD7AE15A}">
      <dgm:prSet/>
      <dgm:spPr>
        <a:solidFill>
          <a:schemeClr val="accent6"/>
        </a:solidFill>
        <a:ln>
          <a:solidFill>
            <a:schemeClr val="accent6"/>
          </a:solidFill>
        </a:ln>
      </dgm:spPr>
      <dgm:t>
        <a:bodyPr/>
        <a:lstStyle/>
        <a:p>
          <a:r>
            <a:rPr lang="en-US" dirty="0"/>
            <a:t>4</a:t>
          </a:r>
        </a:p>
      </dgm:t>
    </dgm:pt>
    <dgm:pt modelId="{B9E08E85-D14E-B946-A99B-029A9FEDE95C}" type="parTrans" cxnId="{7FD9EC4D-1085-884E-96A1-96E4A874E814}">
      <dgm:prSet/>
      <dgm:spPr/>
      <dgm:t>
        <a:bodyPr/>
        <a:lstStyle/>
        <a:p>
          <a:endParaRPr lang="en-US"/>
        </a:p>
      </dgm:t>
    </dgm:pt>
    <dgm:pt modelId="{B86CD9FD-DFA4-BB4F-B712-3440552602AD}" type="sibTrans" cxnId="{7FD9EC4D-1085-884E-96A1-96E4A874E814}">
      <dgm:prSet/>
      <dgm:spPr/>
      <dgm:t>
        <a:bodyPr/>
        <a:lstStyle/>
        <a:p>
          <a:endParaRPr lang="en-US"/>
        </a:p>
      </dgm:t>
    </dgm:pt>
    <dgm:pt modelId="{74CDD88A-549F-F944-B90E-DEA6878AEA99}">
      <dgm:prSet/>
      <dgm:spPr>
        <a:solidFill>
          <a:schemeClr val="accent6"/>
        </a:solidFill>
        <a:ln>
          <a:solidFill>
            <a:schemeClr val="accent6"/>
          </a:solidFill>
        </a:ln>
      </dgm:spPr>
      <dgm:t>
        <a:bodyPr/>
        <a:lstStyle/>
        <a:p>
          <a:r>
            <a:rPr lang="en-US" dirty="0"/>
            <a:t>5</a:t>
          </a:r>
        </a:p>
      </dgm:t>
    </dgm:pt>
    <dgm:pt modelId="{DE7AB666-171E-0A4F-A5C0-1133F49195A2}" type="parTrans" cxnId="{E6692BEB-CF2B-E144-9584-8228470EA7CD}">
      <dgm:prSet/>
      <dgm:spPr/>
      <dgm:t>
        <a:bodyPr/>
        <a:lstStyle/>
        <a:p>
          <a:endParaRPr lang="en-US"/>
        </a:p>
      </dgm:t>
    </dgm:pt>
    <dgm:pt modelId="{4A35F8A7-96F2-8D40-8AA4-64E5659F286C}" type="sibTrans" cxnId="{E6692BEB-CF2B-E144-9584-8228470EA7CD}">
      <dgm:prSet/>
      <dgm:spPr/>
      <dgm:t>
        <a:bodyPr/>
        <a:lstStyle/>
        <a:p>
          <a:endParaRPr lang="en-US"/>
        </a:p>
      </dgm:t>
    </dgm:pt>
    <dgm:pt modelId="{F7D1969B-53A1-7645-97E9-91C4D72C24E4}">
      <dgm:prSet/>
      <dgm:spPr>
        <a:solidFill>
          <a:schemeClr val="accent6"/>
        </a:solidFill>
        <a:ln>
          <a:solidFill>
            <a:schemeClr val="accent6"/>
          </a:solidFill>
        </a:ln>
      </dgm:spPr>
      <dgm:t>
        <a:bodyPr/>
        <a:lstStyle/>
        <a:p>
          <a:r>
            <a:rPr lang="en-US" dirty="0"/>
            <a:t>6</a:t>
          </a:r>
        </a:p>
      </dgm:t>
    </dgm:pt>
    <dgm:pt modelId="{33BEEC36-52EB-954C-BCAC-3DF201A8DEF0}" type="parTrans" cxnId="{CC8A9C78-F290-7E42-B54C-262460726544}">
      <dgm:prSet/>
      <dgm:spPr/>
      <dgm:t>
        <a:bodyPr/>
        <a:lstStyle/>
        <a:p>
          <a:endParaRPr lang="en-US"/>
        </a:p>
      </dgm:t>
    </dgm:pt>
    <dgm:pt modelId="{3819723D-8AEF-164A-8996-DE92AC7AB1FC}" type="sibTrans" cxnId="{CC8A9C78-F290-7E42-B54C-262460726544}">
      <dgm:prSet/>
      <dgm:spPr/>
      <dgm:t>
        <a:bodyPr/>
        <a:lstStyle/>
        <a:p>
          <a:endParaRPr lang="en-US"/>
        </a:p>
      </dgm:t>
    </dgm:pt>
    <dgm:pt modelId="{97D8BB99-6DD4-A64D-AD3A-DDED0AB5B805}">
      <dgm:prSet/>
      <dgm:spPr>
        <a:ln>
          <a:solidFill>
            <a:schemeClr val="accent6"/>
          </a:solidFill>
        </a:ln>
      </dgm:spPr>
      <dgm:t>
        <a:bodyPr/>
        <a:lstStyle/>
        <a:p>
          <a:r>
            <a:rPr lang="en-NZ" dirty="0"/>
            <a:t>Increments counters for any files owned by the parent, to reflect that an additional process now also owns those files</a:t>
          </a:r>
          <a:endParaRPr lang="en-US" dirty="0"/>
        </a:p>
      </dgm:t>
    </dgm:pt>
    <dgm:pt modelId="{D4EC0175-2A7B-7846-AEC0-2CED9DC198E0}" type="parTrans" cxnId="{9BC9AB2A-1BBE-4447-9A97-EAB40C96F907}">
      <dgm:prSet/>
      <dgm:spPr/>
      <dgm:t>
        <a:bodyPr/>
        <a:lstStyle/>
        <a:p>
          <a:endParaRPr lang="en-US"/>
        </a:p>
      </dgm:t>
    </dgm:pt>
    <dgm:pt modelId="{58F721F1-21CA-7241-BD54-46B71AC774F5}" type="sibTrans" cxnId="{9BC9AB2A-1BBE-4447-9A97-EAB40C96F907}">
      <dgm:prSet/>
      <dgm:spPr/>
      <dgm:t>
        <a:bodyPr/>
        <a:lstStyle/>
        <a:p>
          <a:endParaRPr lang="en-US"/>
        </a:p>
      </dgm:t>
    </dgm:pt>
    <dgm:pt modelId="{A4CC4A05-ABDB-754F-B02E-95B7654E0EF1}">
      <dgm:prSet/>
      <dgm:spPr>
        <a:ln>
          <a:solidFill>
            <a:schemeClr val="accent6"/>
          </a:solidFill>
        </a:ln>
      </dgm:spPr>
      <dgm:t>
        <a:bodyPr/>
        <a:lstStyle/>
        <a:p>
          <a:r>
            <a:rPr lang="en-NZ" dirty="0"/>
            <a:t>Assigns the child process to the Ready to Run state</a:t>
          </a:r>
          <a:endParaRPr lang="en-US" dirty="0"/>
        </a:p>
      </dgm:t>
    </dgm:pt>
    <dgm:pt modelId="{7EF3CBB4-1032-D043-84EF-69055739C31A}" type="parTrans" cxnId="{F2914AF2-33E1-844F-A905-FEC3A78D4E8B}">
      <dgm:prSet/>
      <dgm:spPr/>
      <dgm:t>
        <a:bodyPr/>
        <a:lstStyle/>
        <a:p>
          <a:endParaRPr lang="en-US"/>
        </a:p>
      </dgm:t>
    </dgm:pt>
    <dgm:pt modelId="{C0E8C3F6-7FE7-F741-886D-D60EF60160E5}" type="sibTrans" cxnId="{F2914AF2-33E1-844F-A905-FEC3A78D4E8B}">
      <dgm:prSet/>
      <dgm:spPr/>
      <dgm:t>
        <a:bodyPr/>
        <a:lstStyle/>
        <a:p>
          <a:endParaRPr lang="en-US"/>
        </a:p>
      </dgm:t>
    </dgm:pt>
    <dgm:pt modelId="{7EF551BC-457B-274E-8D4B-CC6895033FA5}">
      <dgm:prSet/>
      <dgm:spPr>
        <a:ln>
          <a:solidFill>
            <a:schemeClr val="accent6"/>
          </a:solidFill>
        </a:ln>
      </dgm:spPr>
      <dgm:t>
        <a:bodyPr/>
        <a:lstStyle/>
        <a:p>
          <a:r>
            <a:rPr lang="en-NZ" dirty="0"/>
            <a:t>Returns the ID number of the child to the parent process, and a 0 value to the child process</a:t>
          </a:r>
          <a:endParaRPr lang="en-US" dirty="0"/>
        </a:p>
      </dgm:t>
    </dgm:pt>
    <dgm:pt modelId="{DD47EC6E-971E-074C-94DF-2D30AF441B4A}" type="parTrans" cxnId="{BED3D458-34AC-1C44-BB3D-3B9541D29711}">
      <dgm:prSet/>
      <dgm:spPr/>
      <dgm:t>
        <a:bodyPr/>
        <a:lstStyle/>
        <a:p>
          <a:endParaRPr lang="en-US"/>
        </a:p>
      </dgm:t>
    </dgm:pt>
    <dgm:pt modelId="{C151EA55-0B67-C64E-AEB3-7ABF9CB63829}" type="sibTrans" cxnId="{BED3D458-34AC-1C44-BB3D-3B9541D29711}">
      <dgm:prSet/>
      <dgm:spPr/>
      <dgm:t>
        <a:bodyPr/>
        <a:lstStyle/>
        <a:p>
          <a:endParaRPr lang="en-US"/>
        </a:p>
      </dgm:t>
    </dgm:pt>
    <dgm:pt modelId="{8926A2B0-745B-6F4C-91B7-E5319D29BACB}" type="pres">
      <dgm:prSet presAssocID="{F81AE4C5-B34E-B04C-863C-E46FFAA4324B}" presName="linearFlow" presStyleCnt="0">
        <dgm:presLayoutVars>
          <dgm:dir/>
          <dgm:animLvl val="lvl"/>
          <dgm:resizeHandles val="exact"/>
        </dgm:presLayoutVars>
      </dgm:prSet>
      <dgm:spPr/>
    </dgm:pt>
    <dgm:pt modelId="{9622AC7A-165F-A548-B86C-9568FB736BB0}" type="pres">
      <dgm:prSet presAssocID="{5DA3418E-DB4B-FF42-B123-DBBD66736BD7}" presName="composite" presStyleCnt="0"/>
      <dgm:spPr/>
    </dgm:pt>
    <dgm:pt modelId="{3ADE00C8-8936-9E44-9966-B4C9443960E7}" type="pres">
      <dgm:prSet presAssocID="{5DA3418E-DB4B-FF42-B123-DBBD66736BD7}" presName="parentText" presStyleLbl="alignNode1" presStyleIdx="0" presStyleCnt="6">
        <dgm:presLayoutVars>
          <dgm:chMax val="1"/>
          <dgm:bulletEnabled val="1"/>
        </dgm:presLayoutVars>
      </dgm:prSet>
      <dgm:spPr/>
    </dgm:pt>
    <dgm:pt modelId="{DE36E0A4-4385-B342-8B67-3BFD80B681D3}" type="pres">
      <dgm:prSet presAssocID="{5DA3418E-DB4B-FF42-B123-DBBD66736BD7}" presName="descendantText" presStyleLbl="alignAcc1" presStyleIdx="0" presStyleCnt="6">
        <dgm:presLayoutVars>
          <dgm:bulletEnabled val="1"/>
        </dgm:presLayoutVars>
      </dgm:prSet>
      <dgm:spPr/>
    </dgm:pt>
    <dgm:pt modelId="{A61784F3-6A36-E845-B5C4-6329C1ADFDB7}" type="pres">
      <dgm:prSet presAssocID="{D9665C12-212D-C149-95FA-2C2E0D4140CE}" presName="sp" presStyleCnt="0"/>
      <dgm:spPr/>
    </dgm:pt>
    <dgm:pt modelId="{4E32278F-E81C-0D45-A730-0D709D1AA132}" type="pres">
      <dgm:prSet presAssocID="{36E0E8A0-9D23-A745-B131-E1443F3FB08C}" presName="composite" presStyleCnt="0"/>
      <dgm:spPr/>
    </dgm:pt>
    <dgm:pt modelId="{DC049674-6133-A04F-8C71-4C489DF415B8}" type="pres">
      <dgm:prSet presAssocID="{36E0E8A0-9D23-A745-B131-E1443F3FB08C}" presName="parentText" presStyleLbl="alignNode1" presStyleIdx="1" presStyleCnt="6">
        <dgm:presLayoutVars>
          <dgm:chMax val="1"/>
          <dgm:bulletEnabled val="1"/>
        </dgm:presLayoutVars>
      </dgm:prSet>
      <dgm:spPr/>
    </dgm:pt>
    <dgm:pt modelId="{E777551D-665B-EF40-A4AE-19569D80B09F}" type="pres">
      <dgm:prSet presAssocID="{36E0E8A0-9D23-A745-B131-E1443F3FB08C}" presName="descendantText" presStyleLbl="alignAcc1" presStyleIdx="1" presStyleCnt="6">
        <dgm:presLayoutVars>
          <dgm:bulletEnabled val="1"/>
        </dgm:presLayoutVars>
      </dgm:prSet>
      <dgm:spPr/>
    </dgm:pt>
    <dgm:pt modelId="{B88EFC02-6B0C-3545-B8BC-D9C3E1F865A4}" type="pres">
      <dgm:prSet presAssocID="{FE4F06C5-7785-0E41-8120-3B4B38D50BAD}" presName="sp" presStyleCnt="0"/>
      <dgm:spPr/>
    </dgm:pt>
    <dgm:pt modelId="{7BB093BB-1900-D54E-90F3-3DA57DCCBB04}" type="pres">
      <dgm:prSet presAssocID="{8107A9A5-AF29-A94A-93C9-86A17090739D}" presName="composite" presStyleCnt="0"/>
      <dgm:spPr/>
    </dgm:pt>
    <dgm:pt modelId="{60D3C4C0-DB41-9549-A77B-1596F4E9BADE}" type="pres">
      <dgm:prSet presAssocID="{8107A9A5-AF29-A94A-93C9-86A17090739D}" presName="parentText" presStyleLbl="alignNode1" presStyleIdx="2" presStyleCnt="6">
        <dgm:presLayoutVars>
          <dgm:chMax val="1"/>
          <dgm:bulletEnabled val="1"/>
        </dgm:presLayoutVars>
      </dgm:prSet>
      <dgm:spPr/>
    </dgm:pt>
    <dgm:pt modelId="{E9ED7F19-3597-CC45-BF98-95FE334E7847}" type="pres">
      <dgm:prSet presAssocID="{8107A9A5-AF29-A94A-93C9-86A17090739D}" presName="descendantText" presStyleLbl="alignAcc1" presStyleIdx="2" presStyleCnt="6">
        <dgm:presLayoutVars>
          <dgm:bulletEnabled val="1"/>
        </dgm:presLayoutVars>
      </dgm:prSet>
      <dgm:spPr/>
    </dgm:pt>
    <dgm:pt modelId="{E5C1B068-E88D-9E46-80B3-B064E16421EE}" type="pres">
      <dgm:prSet presAssocID="{A9D5C173-FFEC-3A4B-90FC-A22C12164719}" presName="sp" presStyleCnt="0"/>
      <dgm:spPr/>
    </dgm:pt>
    <dgm:pt modelId="{12BFE38E-AA77-9147-9563-5B2E10BB83CC}" type="pres">
      <dgm:prSet presAssocID="{1DAC90B7-6707-834B-80BD-1DE5AD7AE15A}" presName="composite" presStyleCnt="0"/>
      <dgm:spPr/>
    </dgm:pt>
    <dgm:pt modelId="{57F9225C-7463-394C-B866-B20156C2172A}" type="pres">
      <dgm:prSet presAssocID="{1DAC90B7-6707-834B-80BD-1DE5AD7AE15A}" presName="parentText" presStyleLbl="alignNode1" presStyleIdx="3" presStyleCnt="6">
        <dgm:presLayoutVars>
          <dgm:chMax val="1"/>
          <dgm:bulletEnabled val="1"/>
        </dgm:presLayoutVars>
      </dgm:prSet>
      <dgm:spPr/>
    </dgm:pt>
    <dgm:pt modelId="{C8D66159-239C-A947-93EB-FF89054E979D}" type="pres">
      <dgm:prSet presAssocID="{1DAC90B7-6707-834B-80BD-1DE5AD7AE15A}" presName="descendantText" presStyleLbl="alignAcc1" presStyleIdx="3" presStyleCnt="6">
        <dgm:presLayoutVars>
          <dgm:bulletEnabled val="1"/>
        </dgm:presLayoutVars>
      </dgm:prSet>
      <dgm:spPr/>
    </dgm:pt>
    <dgm:pt modelId="{722EDF77-AFD0-BF44-8E94-25003368AAB7}" type="pres">
      <dgm:prSet presAssocID="{B86CD9FD-DFA4-BB4F-B712-3440552602AD}" presName="sp" presStyleCnt="0"/>
      <dgm:spPr/>
    </dgm:pt>
    <dgm:pt modelId="{18E35F9B-2DE8-134E-A715-A6BE059FD35D}" type="pres">
      <dgm:prSet presAssocID="{74CDD88A-549F-F944-B90E-DEA6878AEA99}" presName="composite" presStyleCnt="0"/>
      <dgm:spPr/>
    </dgm:pt>
    <dgm:pt modelId="{44CC2E2D-F2DF-9041-993A-5C0D23E88755}" type="pres">
      <dgm:prSet presAssocID="{74CDD88A-549F-F944-B90E-DEA6878AEA99}" presName="parentText" presStyleLbl="alignNode1" presStyleIdx="4" presStyleCnt="6">
        <dgm:presLayoutVars>
          <dgm:chMax val="1"/>
          <dgm:bulletEnabled val="1"/>
        </dgm:presLayoutVars>
      </dgm:prSet>
      <dgm:spPr/>
    </dgm:pt>
    <dgm:pt modelId="{C3846997-357D-6843-BF65-FD04875FAF4D}" type="pres">
      <dgm:prSet presAssocID="{74CDD88A-549F-F944-B90E-DEA6878AEA99}" presName="descendantText" presStyleLbl="alignAcc1" presStyleIdx="4" presStyleCnt="6">
        <dgm:presLayoutVars>
          <dgm:bulletEnabled val="1"/>
        </dgm:presLayoutVars>
      </dgm:prSet>
      <dgm:spPr/>
    </dgm:pt>
    <dgm:pt modelId="{28A1E4CE-5D83-234A-A715-C9F0EC2D0BD2}" type="pres">
      <dgm:prSet presAssocID="{4A35F8A7-96F2-8D40-8AA4-64E5659F286C}" presName="sp" presStyleCnt="0"/>
      <dgm:spPr/>
    </dgm:pt>
    <dgm:pt modelId="{83C3BB4F-6C14-0340-A036-54A2C4F3EEEA}" type="pres">
      <dgm:prSet presAssocID="{F7D1969B-53A1-7645-97E9-91C4D72C24E4}" presName="composite" presStyleCnt="0"/>
      <dgm:spPr/>
    </dgm:pt>
    <dgm:pt modelId="{A78E5709-1C0A-D648-AB3D-891FA8B66E39}" type="pres">
      <dgm:prSet presAssocID="{F7D1969B-53A1-7645-97E9-91C4D72C24E4}" presName="parentText" presStyleLbl="alignNode1" presStyleIdx="5" presStyleCnt="6">
        <dgm:presLayoutVars>
          <dgm:chMax val="1"/>
          <dgm:bulletEnabled val="1"/>
        </dgm:presLayoutVars>
      </dgm:prSet>
      <dgm:spPr/>
    </dgm:pt>
    <dgm:pt modelId="{4E432B58-784D-554A-BE3D-1448B6DB0C1D}" type="pres">
      <dgm:prSet presAssocID="{F7D1969B-53A1-7645-97E9-91C4D72C24E4}" presName="descendantText" presStyleLbl="alignAcc1" presStyleIdx="5" presStyleCnt="6">
        <dgm:presLayoutVars>
          <dgm:bulletEnabled val="1"/>
        </dgm:presLayoutVars>
      </dgm:prSet>
      <dgm:spPr/>
    </dgm:pt>
  </dgm:ptLst>
  <dgm:cxnLst>
    <dgm:cxn modelId="{DE052205-2EBE-144E-8E21-2D56C3223C00}" srcId="{F81AE4C5-B34E-B04C-863C-E46FFAA4324B}" destId="{36E0E8A0-9D23-A745-B131-E1443F3FB08C}" srcOrd="1" destOrd="0" parTransId="{1404BCD4-0B01-584F-9553-F36FC69B6327}" sibTransId="{FE4F06C5-7785-0E41-8120-3B4B38D50BAD}"/>
    <dgm:cxn modelId="{D9748A12-1647-F046-BCE9-98941FE3BBE6}" type="presOf" srcId="{F7D1969B-53A1-7645-97E9-91C4D72C24E4}" destId="{A78E5709-1C0A-D648-AB3D-891FA8B66E39}" srcOrd="0" destOrd="0" presId="urn:microsoft.com/office/officeart/2005/8/layout/chevron2"/>
    <dgm:cxn modelId="{56BD661F-BF5B-2D41-8F68-496EB1A27E58}" type="presOf" srcId="{5DA3418E-DB4B-FF42-B123-DBBD66736BD7}" destId="{3ADE00C8-8936-9E44-9966-B4C9443960E7}" srcOrd="0" destOrd="0" presId="urn:microsoft.com/office/officeart/2005/8/layout/chevron2"/>
    <dgm:cxn modelId="{51924A22-C7B9-7A44-BA28-72CE943A5896}" type="presOf" srcId="{0A02D992-EF2C-9542-88FA-8321DA1BED4B}" destId="{E777551D-665B-EF40-A4AE-19569D80B09F}" srcOrd="0" destOrd="0" presId="urn:microsoft.com/office/officeart/2005/8/layout/chevron2"/>
    <dgm:cxn modelId="{0907DC28-C18D-874F-8534-C7E7AFFEEBEF}" type="presOf" srcId="{A4CC4A05-ABDB-754F-B02E-95B7654E0EF1}" destId="{C3846997-357D-6843-BF65-FD04875FAF4D}" srcOrd="0" destOrd="0" presId="urn:microsoft.com/office/officeart/2005/8/layout/chevron2"/>
    <dgm:cxn modelId="{9BC9AB2A-1BBE-4447-9A97-EAB40C96F907}" srcId="{1DAC90B7-6707-834B-80BD-1DE5AD7AE15A}" destId="{97D8BB99-6DD4-A64D-AD3A-DDED0AB5B805}" srcOrd="0" destOrd="0" parTransId="{D4EC0175-2A7B-7846-AEC0-2CED9DC198E0}" sibTransId="{58F721F1-21CA-7241-BD54-46B71AC774F5}"/>
    <dgm:cxn modelId="{C29BBD3E-5B2B-2F44-AE08-E09FEC211C43}" srcId="{36E0E8A0-9D23-A745-B131-E1443F3FB08C}" destId="{0A02D992-EF2C-9542-88FA-8321DA1BED4B}" srcOrd="0" destOrd="0" parTransId="{7DF984F6-AF85-6141-8CAB-501769B62054}" sibTransId="{7E8BA9DB-8229-8546-9BFC-4234DBFB60E7}"/>
    <dgm:cxn modelId="{308B7A5C-FAA8-A642-A490-C8DE38CB335D}" type="presOf" srcId="{F81AE4C5-B34E-B04C-863C-E46FFAA4324B}" destId="{8926A2B0-745B-6F4C-91B7-E5319D29BACB}" srcOrd="0" destOrd="0" presId="urn:microsoft.com/office/officeart/2005/8/layout/chevron2"/>
    <dgm:cxn modelId="{7FD9EC4D-1085-884E-96A1-96E4A874E814}" srcId="{F81AE4C5-B34E-B04C-863C-E46FFAA4324B}" destId="{1DAC90B7-6707-834B-80BD-1DE5AD7AE15A}" srcOrd="3" destOrd="0" parTransId="{B9E08E85-D14E-B946-A99B-029A9FEDE95C}" sibTransId="{B86CD9FD-DFA4-BB4F-B712-3440552602AD}"/>
    <dgm:cxn modelId="{CC8A9C78-F290-7E42-B54C-262460726544}" srcId="{F81AE4C5-B34E-B04C-863C-E46FFAA4324B}" destId="{F7D1969B-53A1-7645-97E9-91C4D72C24E4}" srcOrd="5" destOrd="0" parTransId="{33BEEC36-52EB-954C-BCAC-3DF201A8DEF0}" sibTransId="{3819723D-8AEF-164A-8996-DE92AC7AB1FC}"/>
    <dgm:cxn modelId="{BED3D458-34AC-1C44-BB3D-3B9541D29711}" srcId="{F7D1969B-53A1-7645-97E9-91C4D72C24E4}" destId="{7EF551BC-457B-274E-8D4B-CC6895033FA5}" srcOrd="0" destOrd="0" parTransId="{DD47EC6E-971E-074C-94DF-2D30AF441B4A}" sibTransId="{C151EA55-0B67-C64E-AEB3-7ABF9CB63829}"/>
    <dgm:cxn modelId="{2ECB4B7F-8CC5-E641-B13F-7E1B208F0C76}" type="presOf" srcId="{1DAC90B7-6707-834B-80BD-1DE5AD7AE15A}" destId="{57F9225C-7463-394C-B866-B20156C2172A}" srcOrd="0" destOrd="0" presId="urn:microsoft.com/office/officeart/2005/8/layout/chevron2"/>
    <dgm:cxn modelId="{FAC2048F-2FFE-254E-B2B5-33C51D578449}" srcId="{8107A9A5-AF29-A94A-93C9-86A17090739D}" destId="{DBC54489-8F45-4843-B66E-41358F3602E9}" srcOrd="0" destOrd="0" parTransId="{3C73E3FD-AE55-094E-B4D4-71BC04766D1C}" sibTransId="{C63140C3-E4EA-2D4F-B352-2FF03E8CB2A9}"/>
    <dgm:cxn modelId="{D297AB94-C8F4-4646-AB24-F9F845BA51E8}" type="presOf" srcId="{36E0E8A0-9D23-A745-B131-E1443F3FB08C}" destId="{DC049674-6133-A04F-8C71-4C489DF415B8}" srcOrd="0" destOrd="0" presId="urn:microsoft.com/office/officeart/2005/8/layout/chevron2"/>
    <dgm:cxn modelId="{95CF7096-10FB-1C40-84BA-20634384EBFD}" type="presOf" srcId="{74CDD88A-549F-F944-B90E-DEA6878AEA99}" destId="{44CC2E2D-F2DF-9041-993A-5C0D23E88755}" srcOrd="0" destOrd="0" presId="urn:microsoft.com/office/officeart/2005/8/layout/chevron2"/>
    <dgm:cxn modelId="{E7DAFC9A-36D6-9B4C-9BB9-BAE53C685426}" srcId="{F81AE4C5-B34E-B04C-863C-E46FFAA4324B}" destId="{8107A9A5-AF29-A94A-93C9-86A17090739D}" srcOrd="2" destOrd="0" parTransId="{194D5E64-4DCE-514A-8B6E-DAD267D3A496}" sibTransId="{A9D5C173-FFEC-3A4B-90FC-A22C12164719}"/>
    <dgm:cxn modelId="{025A13B2-11DE-9E42-9659-2507EEEFCE5B}" type="presOf" srcId="{3779CFD1-782F-BE4B-89A7-D7DFF565E1C4}" destId="{DE36E0A4-4385-B342-8B67-3BFD80B681D3}" srcOrd="0" destOrd="0" presId="urn:microsoft.com/office/officeart/2005/8/layout/chevron2"/>
    <dgm:cxn modelId="{502562B5-DFA6-2448-9764-FDE97D130820}" srcId="{5DA3418E-DB4B-FF42-B123-DBBD66736BD7}" destId="{3779CFD1-782F-BE4B-89A7-D7DFF565E1C4}" srcOrd="0" destOrd="0" parTransId="{AC9B584D-4AC9-DE4D-993D-55DB9D9AA3F9}" sibTransId="{AAB55CD0-3683-EA4D-8725-75A55F4038BD}"/>
    <dgm:cxn modelId="{3220F3C0-7C7A-7D4B-897B-58B80CBF0F4E}" srcId="{F81AE4C5-B34E-B04C-863C-E46FFAA4324B}" destId="{5DA3418E-DB4B-FF42-B123-DBBD66736BD7}" srcOrd="0" destOrd="0" parTransId="{FA04BA07-BCD5-2142-8676-BFEF0E3B71DF}" sibTransId="{D9665C12-212D-C149-95FA-2C2E0D4140CE}"/>
    <dgm:cxn modelId="{2A9AC3CB-1D20-8D46-BD5A-79F7E563557F}" type="presOf" srcId="{DBC54489-8F45-4843-B66E-41358F3602E9}" destId="{E9ED7F19-3597-CC45-BF98-95FE334E7847}" srcOrd="0" destOrd="0" presId="urn:microsoft.com/office/officeart/2005/8/layout/chevron2"/>
    <dgm:cxn modelId="{809E29D6-60D0-A144-990D-33F310BDDDDD}" type="presOf" srcId="{97D8BB99-6DD4-A64D-AD3A-DDED0AB5B805}" destId="{C8D66159-239C-A947-93EB-FF89054E979D}" srcOrd="0" destOrd="0" presId="urn:microsoft.com/office/officeart/2005/8/layout/chevron2"/>
    <dgm:cxn modelId="{F8E397D9-55E6-6144-A878-244EA0402EDB}" type="presOf" srcId="{7EF551BC-457B-274E-8D4B-CC6895033FA5}" destId="{4E432B58-784D-554A-BE3D-1448B6DB0C1D}" srcOrd="0" destOrd="0" presId="urn:microsoft.com/office/officeart/2005/8/layout/chevron2"/>
    <dgm:cxn modelId="{B198D1DE-67FF-224B-8F04-2ECF07C9ADF2}" type="presOf" srcId="{8107A9A5-AF29-A94A-93C9-86A17090739D}" destId="{60D3C4C0-DB41-9549-A77B-1596F4E9BADE}" srcOrd="0" destOrd="0" presId="urn:microsoft.com/office/officeart/2005/8/layout/chevron2"/>
    <dgm:cxn modelId="{E6692BEB-CF2B-E144-9584-8228470EA7CD}" srcId="{F81AE4C5-B34E-B04C-863C-E46FFAA4324B}" destId="{74CDD88A-549F-F944-B90E-DEA6878AEA99}" srcOrd="4" destOrd="0" parTransId="{DE7AB666-171E-0A4F-A5C0-1133F49195A2}" sibTransId="{4A35F8A7-96F2-8D40-8AA4-64E5659F286C}"/>
    <dgm:cxn modelId="{F2914AF2-33E1-844F-A905-FEC3A78D4E8B}" srcId="{74CDD88A-549F-F944-B90E-DEA6878AEA99}" destId="{A4CC4A05-ABDB-754F-B02E-95B7654E0EF1}" srcOrd="0" destOrd="0" parTransId="{7EF3CBB4-1032-D043-84EF-69055739C31A}" sibTransId="{C0E8C3F6-7FE7-F741-886D-D60EF60160E5}"/>
    <dgm:cxn modelId="{C91BEBE4-76B8-2244-9CD1-A5E5B7F091FF}" type="presParOf" srcId="{8926A2B0-745B-6F4C-91B7-E5319D29BACB}" destId="{9622AC7A-165F-A548-B86C-9568FB736BB0}" srcOrd="0" destOrd="0" presId="urn:microsoft.com/office/officeart/2005/8/layout/chevron2"/>
    <dgm:cxn modelId="{DDF98BF4-689E-B340-B878-8859E5DB62AC}" type="presParOf" srcId="{9622AC7A-165F-A548-B86C-9568FB736BB0}" destId="{3ADE00C8-8936-9E44-9966-B4C9443960E7}" srcOrd="0" destOrd="0" presId="urn:microsoft.com/office/officeart/2005/8/layout/chevron2"/>
    <dgm:cxn modelId="{B6B61029-16D2-9547-81AF-78898BE99178}" type="presParOf" srcId="{9622AC7A-165F-A548-B86C-9568FB736BB0}" destId="{DE36E0A4-4385-B342-8B67-3BFD80B681D3}" srcOrd="1" destOrd="0" presId="urn:microsoft.com/office/officeart/2005/8/layout/chevron2"/>
    <dgm:cxn modelId="{4400681D-BFEE-544A-942B-429EE2CFB127}" type="presParOf" srcId="{8926A2B0-745B-6F4C-91B7-E5319D29BACB}" destId="{A61784F3-6A36-E845-B5C4-6329C1ADFDB7}" srcOrd="1" destOrd="0" presId="urn:microsoft.com/office/officeart/2005/8/layout/chevron2"/>
    <dgm:cxn modelId="{C2D3367C-157A-D643-A44F-9448F3821F99}" type="presParOf" srcId="{8926A2B0-745B-6F4C-91B7-E5319D29BACB}" destId="{4E32278F-E81C-0D45-A730-0D709D1AA132}" srcOrd="2" destOrd="0" presId="urn:microsoft.com/office/officeart/2005/8/layout/chevron2"/>
    <dgm:cxn modelId="{780099F0-4CD9-7647-BB46-6F974A054868}" type="presParOf" srcId="{4E32278F-E81C-0D45-A730-0D709D1AA132}" destId="{DC049674-6133-A04F-8C71-4C489DF415B8}" srcOrd="0" destOrd="0" presId="urn:microsoft.com/office/officeart/2005/8/layout/chevron2"/>
    <dgm:cxn modelId="{FCB07308-2556-6C46-904E-B0A8FB6DD656}" type="presParOf" srcId="{4E32278F-E81C-0D45-A730-0D709D1AA132}" destId="{E777551D-665B-EF40-A4AE-19569D80B09F}" srcOrd="1" destOrd="0" presId="urn:microsoft.com/office/officeart/2005/8/layout/chevron2"/>
    <dgm:cxn modelId="{3AF91996-1BEF-6E4B-A13F-1321E466C000}" type="presParOf" srcId="{8926A2B0-745B-6F4C-91B7-E5319D29BACB}" destId="{B88EFC02-6B0C-3545-B8BC-D9C3E1F865A4}" srcOrd="3" destOrd="0" presId="urn:microsoft.com/office/officeart/2005/8/layout/chevron2"/>
    <dgm:cxn modelId="{DA695AA4-43E1-CF47-B355-60438D9822CF}" type="presParOf" srcId="{8926A2B0-745B-6F4C-91B7-E5319D29BACB}" destId="{7BB093BB-1900-D54E-90F3-3DA57DCCBB04}" srcOrd="4" destOrd="0" presId="urn:microsoft.com/office/officeart/2005/8/layout/chevron2"/>
    <dgm:cxn modelId="{B14FC986-A09E-6346-980E-FDB33860078B}" type="presParOf" srcId="{7BB093BB-1900-D54E-90F3-3DA57DCCBB04}" destId="{60D3C4C0-DB41-9549-A77B-1596F4E9BADE}" srcOrd="0" destOrd="0" presId="urn:microsoft.com/office/officeart/2005/8/layout/chevron2"/>
    <dgm:cxn modelId="{DBD1D671-5248-014B-83E5-5D56E91DC1F7}" type="presParOf" srcId="{7BB093BB-1900-D54E-90F3-3DA57DCCBB04}" destId="{E9ED7F19-3597-CC45-BF98-95FE334E7847}" srcOrd="1" destOrd="0" presId="urn:microsoft.com/office/officeart/2005/8/layout/chevron2"/>
    <dgm:cxn modelId="{875F08A5-40E1-404D-B1B2-84FB59F8F05F}" type="presParOf" srcId="{8926A2B0-745B-6F4C-91B7-E5319D29BACB}" destId="{E5C1B068-E88D-9E46-80B3-B064E16421EE}" srcOrd="5" destOrd="0" presId="urn:microsoft.com/office/officeart/2005/8/layout/chevron2"/>
    <dgm:cxn modelId="{321F94AF-78F7-A74C-B6A6-347E4C83BED4}" type="presParOf" srcId="{8926A2B0-745B-6F4C-91B7-E5319D29BACB}" destId="{12BFE38E-AA77-9147-9563-5B2E10BB83CC}" srcOrd="6" destOrd="0" presId="urn:microsoft.com/office/officeart/2005/8/layout/chevron2"/>
    <dgm:cxn modelId="{3DC343E4-8210-DD40-BEE3-83240CBB134F}" type="presParOf" srcId="{12BFE38E-AA77-9147-9563-5B2E10BB83CC}" destId="{57F9225C-7463-394C-B866-B20156C2172A}" srcOrd="0" destOrd="0" presId="urn:microsoft.com/office/officeart/2005/8/layout/chevron2"/>
    <dgm:cxn modelId="{3C488102-E23E-6942-AD3A-79A537555B6C}" type="presParOf" srcId="{12BFE38E-AA77-9147-9563-5B2E10BB83CC}" destId="{C8D66159-239C-A947-93EB-FF89054E979D}" srcOrd="1" destOrd="0" presId="urn:microsoft.com/office/officeart/2005/8/layout/chevron2"/>
    <dgm:cxn modelId="{BD063446-D0C8-4F4C-B58E-4300EB809310}" type="presParOf" srcId="{8926A2B0-745B-6F4C-91B7-E5319D29BACB}" destId="{722EDF77-AFD0-BF44-8E94-25003368AAB7}" srcOrd="7" destOrd="0" presId="urn:microsoft.com/office/officeart/2005/8/layout/chevron2"/>
    <dgm:cxn modelId="{136CA76D-A9A9-B445-A953-B850B9E0A4F5}" type="presParOf" srcId="{8926A2B0-745B-6F4C-91B7-E5319D29BACB}" destId="{18E35F9B-2DE8-134E-A715-A6BE059FD35D}" srcOrd="8" destOrd="0" presId="urn:microsoft.com/office/officeart/2005/8/layout/chevron2"/>
    <dgm:cxn modelId="{874752BA-AD99-2149-B263-C88E18A7FCFD}" type="presParOf" srcId="{18E35F9B-2DE8-134E-A715-A6BE059FD35D}" destId="{44CC2E2D-F2DF-9041-993A-5C0D23E88755}" srcOrd="0" destOrd="0" presId="urn:microsoft.com/office/officeart/2005/8/layout/chevron2"/>
    <dgm:cxn modelId="{7A527C34-E7FB-7B48-964E-0DC9939E7B7C}" type="presParOf" srcId="{18E35F9B-2DE8-134E-A715-A6BE059FD35D}" destId="{C3846997-357D-6843-BF65-FD04875FAF4D}" srcOrd="1" destOrd="0" presId="urn:microsoft.com/office/officeart/2005/8/layout/chevron2"/>
    <dgm:cxn modelId="{E2DA0EAE-2F98-364E-9ABB-9F83497EAE11}" type="presParOf" srcId="{8926A2B0-745B-6F4C-91B7-E5319D29BACB}" destId="{28A1E4CE-5D83-234A-A715-C9F0EC2D0BD2}" srcOrd="9" destOrd="0" presId="urn:microsoft.com/office/officeart/2005/8/layout/chevron2"/>
    <dgm:cxn modelId="{C7A1F205-065D-5249-8FD5-23C205CE00B9}" type="presParOf" srcId="{8926A2B0-745B-6F4C-91B7-E5319D29BACB}" destId="{83C3BB4F-6C14-0340-A036-54A2C4F3EEEA}" srcOrd="10" destOrd="0" presId="urn:microsoft.com/office/officeart/2005/8/layout/chevron2"/>
    <dgm:cxn modelId="{1DD56D43-FB66-FF4C-8B7B-0C3C53560F3E}" type="presParOf" srcId="{83C3BB4F-6C14-0340-A036-54A2C4F3EEEA}" destId="{A78E5709-1C0A-D648-AB3D-891FA8B66E39}" srcOrd="0" destOrd="0" presId="urn:microsoft.com/office/officeart/2005/8/layout/chevron2"/>
    <dgm:cxn modelId="{BC56CC77-A816-2A44-9502-35D8BFC9E984}" type="presParOf" srcId="{83C3BB4F-6C14-0340-A036-54A2C4F3EEEA}" destId="{4E432B58-784D-554A-BE3D-1448B6DB0C1D}"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00F2E7-5140-0B44-A47F-00138E696C9A}">
      <dsp:nvSpPr>
        <dsp:cNvPr id="0" name=""/>
        <dsp:cNvSpPr/>
      </dsp:nvSpPr>
      <dsp:spPr>
        <a:xfrm>
          <a:off x="0" y="129492"/>
          <a:ext cx="8153400" cy="86580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dirty="0"/>
            <a:t>Program code</a:t>
          </a:r>
        </a:p>
      </dsp:txBody>
      <dsp:txXfrm>
        <a:off x="42265" y="171757"/>
        <a:ext cx="8068870" cy="781270"/>
      </dsp:txXfrm>
    </dsp:sp>
    <dsp:sp modelId="{4A1A3D03-DB08-6D4A-9013-6A326781C6BD}">
      <dsp:nvSpPr>
        <dsp:cNvPr id="0" name=""/>
        <dsp:cNvSpPr/>
      </dsp:nvSpPr>
      <dsp:spPr>
        <a:xfrm>
          <a:off x="0" y="995292"/>
          <a:ext cx="8153400" cy="6510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870" tIns="27940" rIns="156464" bIns="27940" numCol="1" spcCol="1270" anchor="t" anchorCtr="0">
          <a:noAutofit/>
        </a:bodyPr>
        <a:lstStyle/>
        <a:p>
          <a:pPr marL="282575" lvl="1" indent="-282575" algn="l" defTabSz="914400" rtl="0" eaLnBrk="1" latinLnBrk="0" hangingPunct="1">
            <a:lnSpc>
              <a:spcPct val="90000"/>
            </a:lnSpc>
            <a:spcBef>
              <a:spcPts val="1800"/>
            </a:spcBef>
            <a:spcAft>
              <a:spcPct val="20000"/>
            </a:spcAft>
            <a:buClr>
              <a:schemeClr val="accent1"/>
            </a:buClr>
            <a:buSzPct val="75000"/>
            <a:buFont typeface="Wingdings" pitchFamily="2" charset="2"/>
            <a:buChar char="n"/>
          </a:pPr>
          <a:r>
            <a:rPr lang="en-US" sz="2200" kern="1200" dirty="0">
              <a:solidFill>
                <a:schemeClr val="tx1">
                  <a:lumMod val="85000"/>
                  <a:lumOff val="15000"/>
                </a:schemeClr>
              </a:solidFill>
              <a:latin typeface="+mn-lt"/>
              <a:ea typeface="+mn-ea"/>
              <a:cs typeface="+mn-cs"/>
            </a:rPr>
            <a:t>which may be shared with other processes that are executing the same program</a:t>
          </a:r>
        </a:p>
      </dsp:txBody>
      <dsp:txXfrm>
        <a:off x="0" y="995292"/>
        <a:ext cx="8153400" cy="651015"/>
      </dsp:txXfrm>
    </dsp:sp>
    <dsp:sp modelId="{02FDE227-3421-A249-B877-4E1ACDF3ED5A}">
      <dsp:nvSpPr>
        <dsp:cNvPr id="0" name=""/>
        <dsp:cNvSpPr/>
      </dsp:nvSpPr>
      <dsp:spPr>
        <a:xfrm>
          <a:off x="0" y="1740261"/>
          <a:ext cx="8153400" cy="86580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dirty="0"/>
            <a:t>A set of data associated with that code</a:t>
          </a:r>
        </a:p>
      </dsp:txBody>
      <dsp:txXfrm>
        <a:off x="42265" y="1782526"/>
        <a:ext cx="8068870" cy="78127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3458A4-26D2-2C44-B9FB-71A1610693F2}">
      <dsp:nvSpPr>
        <dsp:cNvPr id="0" name=""/>
        <dsp:cNvSpPr/>
      </dsp:nvSpPr>
      <dsp:spPr>
        <a:xfrm>
          <a:off x="3505190" y="309450"/>
          <a:ext cx="1912739" cy="985951"/>
        </a:xfrm>
        <a:prstGeom prst="rect">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Identifier</a:t>
          </a:r>
        </a:p>
      </dsp:txBody>
      <dsp:txXfrm>
        <a:off x="3505190" y="309450"/>
        <a:ext cx="1912739" cy="985951"/>
      </dsp:txXfrm>
    </dsp:sp>
    <dsp:sp modelId="{FFB3EB76-2E6C-B649-857A-BF94DBD248C3}">
      <dsp:nvSpPr>
        <dsp:cNvPr id="0" name=""/>
        <dsp:cNvSpPr/>
      </dsp:nvSpPr>
      <dsp:spPr>
        <a:xfrm>
          <a:off x="1600198" y="1295396"/>
          <a:ext cx="1912739" cy="1147643"/>
        </a:xfrm>
        <a:prstGeom prst="rect">
          <a:avLst/>
        </a:prstGeom>
        <a:solidFill>
          <a:schemeClr val="accent3">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State</a:t>
          </a:r>
        </a:p>
      </dsp:txBody>
      <dsp:txXfrm>
        <a:off x="1600198" y="1295396"/>
        <a:ext cx="1912739" cy="1147643"/>
      </dsp:txXfrm>
    </dsp:sp>
    <dsp:sp modelId="{F9C2771E-E09D-7E4B-8BC7-2EACC928AB9D}">
      <dsp:nvSpPr>
        <dsp:cNvPr id="0" name=""/>
        <dsp:cNvSpPr/>
      </dsp:nvSpPr>
      <dsp:spPr>
        <a:xfrm>
          <a:off x="3505210" y="1295396"/>
          <a:ext cx="1912739" cy="1147643"/>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Priority</a:t>
          </a:r>
        </a:p>
      </dsp:txBody>
      <dsp:txXfrm>
        <a:off x="3505210" y="1295396"/>
        <a:ext cx="1912739" cy="1147643"/>
      </dsp:txXfrm>
    </dsp:sp>
    <dsp:sp modelId="{B373FAC3-5061-AF49-B501-530831A6C23F}">
      <dsp:nvSpPr>
        <dsp:cNvPr id="0" name=""/>
        <dsp:cNvSpPr/>
      </dsp:nvSpPr>
      <dsp:spPr>
        <a:xfrm>
          <a:off x="5410202" y="1295396"/>
          <a:ext cx="1912739" cy="1147643"/>
        </a:xfrm>
        <a:prstGeom prst="rect">
          <a:avLst/>
        </a:prstGeom>
        <a:solidFill>
          <a:schemeClr val="accent2">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Program counter</a:t>
          </a:r>
        </a:p>
      </dsp:txBody>
      <dsp:txXfrm>
        <a:off x="5410202" y="1295396"/>
        <a:ext cx="1912739" cy="1147643"/>
      </dsp:txXfrm>
    </dsp:sp>
    <dsp:sp modelId="{C89EF9B4-EDC8-C84D-A659-29B518ACADDB}">
      <dsp:nvSpPr>
        <dsp:cNvPr id="0" name=""/>
        <dsp:cNvSpPr/>
      </dsp:nvSpPr>
      <dsp:spPr>
        <a:xfrm>
          <a:off x="533406" y="2433756"/>
          <a:ext cx="1912739" cy="1147643"/>
        </a:xfrm>
        <a:prstGeom prst="rect">
          <a:avLst/>
        </a:prstGeom>
        <a:solidFill>
          <a:srgbClr val="66006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Memory pointers</a:t>
          </a:r>
        </a:p>
      </dsp:txBody>
      <dsp:txXfrm>
        <a:off x="533406" y="2433756"/>
        <a:ext cx="1912739" cy="1147643"/>
      </dsp:txXfrm>
    </dsp:sp>
    <dsp:sp modelId="{5787ADE3-2B9F-7944-82CB-CE71DF883FF9}">
      <dsp:nvSpPr>
        <dsp:cNvPr id="0" name=""/>
        <dsp:cNvSpPr/>
      </dsp:nvSpPr>
      <dsp:spPr>
        <a:xfrm>
          <a:off x="2438398" y="2433756"/>
          <a:ext cx="1912739" cy="1147643"/>
        </a:xfrm>
        <a:prstGeom prst="rect">
          <a:avLst/>
        </a:prstGeom>
        <a:solidFill>
          <a:schemeClr val="tx1"/>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Context data</a:t>
          </a:r>
        </a:p>
      </dsp:txBody>
      <dsp:txXfrm>
        <a:off x="2438398" y="2433756"/>
        <a:ext cx="1912739" cy="1147643"/>
      </dsp:txXfrm>
    </dsp:sp>
    <dsp:sp modelId="{F5765459-F0DD-B04E-8F83-90F8421A8211}">
      <dsp:nvSpPr>
        <dsp:cNvPr id="0" name=""/>
        <dsp:cNvSpPr/>
      </dsp:nvSpPr>
      <dsp:spPr>
        <a:xfrm>
          <a:off x="4343391" y="2433756"/>
          <a:ext cx="1912739" cy="1147643"/>
        </a:xfrm>
        <a:prstGeom prst="rect">
          <a:avLst/>
        </a:prstGeom>
        <a:solidFill>
          <a:schemeClr val="tx2"/>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I/O status information</a:t>
          </a:r>
        </a:p>
      </dsp:txBody>
      <dsp:txXfrm>
        <a:off x="4343391" y="2433756"/>
        <a:ext cx="1912739" cy="1147643"/>
      </dsp:txXfrm>
    </dsp:sp>
    <dsp:sp modelId="{4B2744D8-5219-FE41-ACC6-C2EE72C25ABB}">
      <dsp:nvSpPr>
        <dsp:cNvPr id="0" name=""/>
        <dsp:cNvSpPr/>
      </dsp:nvSpPr>
      <dsp:spPr>
        <a:xfrm>
          <a:off x="6248403" y="2433756"/>
          <a:ext cx="1912739" cy="1147643"/>
        </a:xfrm>
        <a:prstGeom prst="rect">
          <a:avLst/>
        </a:prstGeom>
        <a:solidFill>
          <a:schemeClr val="accent4">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Accounting information</a:t>
          </a:r>
        </a:p>
      </dsp:txBody>
      <dsp:txXfrm>
        <a:off x="6248403" y="2433756"/>
        <a:ext cx="1912739" cy="114764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F28402-8223-1345-8F86-B41D09DF4999}">
      <dsp:nvSpPr>
        <dsp:cNvPr id="0" name=""/>
        <dsp:cNvSpPr/>
      </dsp:nvSpPr>
      <dsp:spPr>
        <a:xfrm>
          <a:off x="304794" y="3"/>
          <a:ext cx="1484783" cy="74239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rtl="0">
            <a:lnSpc>
              <a:spcPct val="90000"/>
            </a:lnSpc>
            <a:spcBef>
              <a:spcPct val="0"/>
            </a:spcBef>
            <a:spcAft>
              <a:spcPct val="35000"/>
            </a:spcAft>
            <a:buNone/>
          </a:pPr>
          <a:r>
            <a:rPr lang="en-US" sz="2000" b="1" i="1" kern="1200" dirty="0"/>
            <a:t>Trace</a:t>
          </a:r>
          <a:endParaRPr lang="en-US" sz="2000" kern="1200" dirty="0"/>
        </a:p>
      </dsp:txBody>
      <dsp:txXfrm>
        <a:off x="326538" y="21747"/>
        <a:ext cx="1441295" cy="698903"/>
      </dsp:txXfrm>
    </dsp:sp>
    <dsp:sp modelId="{6792DD43-5CA5-8E48-AF98-B37112383575}">
      <dsp:nvSpPr>
        <dsp:cNvPr id="0" name=""/>
        <dsp:cNvSpPr/>
      </dsp:nvSpPr>
      <dsp:spPr>
        <a:xfrm>
          <a:off x="453272" y="742395"/>
          <a:ext cx="1756531" cy="643891"/>
        </a:xfrm>
        <a:custGeom>
          <a:avLst/>
          <a:gdLst/>
          <a:ahLst/>
          <a:cxnLst/>
          <a:rect l="0" t="0" r="0" b="0"/>
          <a:pathLst>
            <a:path>
              <a:moveTo>
                <a:pt x="0" y="0"/>
              </a:moveTo>
              <a:lnTo>
                <a:pt x="0" y="643891"/>
              </a:lnTo>
              <a:lnTo>
                <a:pt x="1756531" y="643891"/>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8D83BD6-2A2F-574C-9D5C-736CF5FE7520}">
      <dsp:nvSpPr>
        <dsp:cNvPr id="0" name=""/>
        <dsp:cNvSpPr/>
      </dsp:nvSpPr>
      <dsp:spPr>
        <a:xfrm>
          <a:off x="2209804" y="533396"/>
          <a:ext cx="1878631" cy="1705779"/>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rtl="0">
            <a:lnSpc>
              <a:spcPct val="90000"/>
            </a:lnSpc>
            <a:spcBef>
              <a:spcPct val="0"/>
            </a:spcBef>
            <a:spcAft>
              <a:spcPct val="35000"/>
            </a:spcAft>
            <a:buNone/>
          </a:pPr>
          <a:r>
            <a:rPr lang="en-US" sz="1600" kern="1200" dirty="0"/>
            <a:t>The </a:t>
          </a:r>
          <a:r>
            <a:rPr lang="en-US" sz="1600" kern="1200" dirty="0">
              <a:solidFill>
                <a:srgbClr val="FF0000"/>
              </a:solidFill>
            </a:rPr>
            <a:t>behavior</a:t>
          </a:r>
          <a:r>
            <a:rPr lang="en-US" sz="1600" kern="1200" dirty="0"/>
            <a:t> of an individual process by listing the </a:t>
          </a:r>
          <a:r>
            <a:rPr lang="en-US" sz="1600" kern="1200" dirty="0">
              <a:solidFill>
                <a:srgbClr val="FF0000"/>
              </a:solidFill>
            </a:rPr>
            <a:t>sequence of instructions </a:t>
          </a:r>
          <a:r>
            <a:rPr lang="en-US" sz="1600" kern="1200" dirty="0"/>
            <a:t>that execute for that process</a:t>
          </a:r>
        </a:p>
      </dsp:txBody>
      <dsp:txXfrm>
        <a:off x="2259765" y="583357"/>
        <a:ext cx="1778709" cy="1605857"/>
      </dsp:txXfrm>
    </dsp:sp>
    <dsp:sp modelId="{1C89C9B8-759F-944F-AA18-FE790C10A65E}">
      <dsp:nvSpPr>
        <dsp:cNvPr id="0" name=""/>
        <dsp:cNvSpPr/>
      </dsp:nvSpPr>
      <dsp:spPr>
        <a:xfrm>
          <a:off x="453272" y="742395"/>
          <a:ext cx="2289925" cy="2609626"/>
        </a:xfrm>
        <a:custGeom>
          <a:avLst/>
          <a:gdLst/>
          <a:ahLst/>
          <a:cxnLst/>
          <a:rect l="0" t="0" r="0" b="0"/>
          <a:pathLst>
            <a:path>
              <a:moveTo>
                <a:pt x="0" y="0"/>
              </a:moveTo>
              <a:lnTo>
                <a:pt x="0" y="2609626"/>
              </a:lnTo>
              <a:lnTo>
                <a:pt x="2289925" y="2609626"/>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1C076669-4CFF-0B4F-8B31-76E9F2CCEE9B}">
      <dsp:nvSpPr>
        <dsp:cNvPr id="0" name=""/>
        <dsp:cNvSpPr/>
      </dsp:nvSpPr>
      <dsp:spPr>
        <a:xfrm>
          <a:off x="2743198" y="2590802"/>
          <a:ext cx="2679654" cy="1522437"/>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rtl="0">
            <a:lnSpc>
              <a:spcPct val="90000"/>
            </a:lnSpc>
            <a:spcBef>
              <a:spcPct val="0"/>
            </a:spcBef>
            <a:spcAft>
              <a:spcPct val="35000"/>
            </a:spcAft>
            <a:buNone/>
          </a:pPr>
          <a:r>
            <a:rPr lang="en-US" sz="1600" kern="1200" dirty="0"/>
            <a:t>The </a:t>
          </a:r>
          <a:r>
            <a:rPr lang="en-US" sz="1600" kern="1200" dirty="0">
              <a:solidFill>
                <a:srgbClr val="FF0000"/>
              </a:solidFill>
            </a:rPr>
            <a:t>behavior</a:t>
          </a:r>
          <a:r>
            <a:rPr lang="en-US" sz="1600" kern="1200" dirty="0"/>
            <a:t> of the processor can be characterized by </a:t>
          </a:r>
          <a:r>
            <a:rPr lang="en-US" sz="1600" kern="1200" dirty="0">
              <a:solidFill>
                <a:srgbClr val="FF0000"/>
              </a:solidFill>
            </a:rPr>
            <a:t>showing how the traces of the various processes are interleaved</a:t>
          </a:r>
        </a:p>
      </dsp:txBody>
      <dsp:txXfrm>
        <a:off x="2787789" y="2635393"/>
        <a:ext cx="2590472" cy="1433255"/>
      </dsp:txXfrm>
    </dsp:sp>
    <dsp:sp modelId="{64F1C8D8-40A2-DF44-AC72-3FFC719959BB}">
      <dsp:nvSpPr>
        <dsp:cNvPr id="0" name=""/>
        <dsp:cNvSpPr/>
      </dsp:nvSpPr>
      <dsp:spPr>
        <a:xfrm>
          <a:off x="5334003" y="3"/>
          <a:ext cx="1484783" cy="74239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rtl="0">
            <a:lnSpc>
              <a:spcPct val="90000"/>
            </a:lnSpc>
            <a:spcBef>
              <a:spcPct val="0"/>
            </a:spcBef>
            <a:spcAft>
              <a:spcPct val="35000"/>
            </a:spcAft>
            <a:buNone/>
          </a:pPr>
          <a:r>
            <a:rPr lang="en-US" sz="2000" b="1" i="1" kern="1200" dirty="0"/>
            <a:t>Dispatcher</a:t>
          </a:r>
          <a:r>
            <a:rPr lang="en-US" sz="1600" kern="1200" dirty="0"/>
            <a:t>  </a:t>
          </a:r>
        </a:p>
      </dsp:txBody>
      <dsp:txXfrm>
        <a:off x="5355747" y="21747"/>
        <a:ext cx="1441295" cy="698903"/>
      </dsp:txXfrm>
    </dsp:sp>
    <dsp:sp modelId="{4F8FA6E2-0E58-0840-912D-8E16EF91B389}">
      <dsp:nvSpPr>
        <dsp:cNvPr id="0" name=""/>
        <dsp:cNvSpPr/>
      </dsp:nvSpPr>
      <dsp:spPr>
        <a:xfrm>
          <a:off x="5482481" y="742395"/>
          <a:ext cx="765922" cy="1044174"/>
        </a:xfrm>
        <a:custGeom>
          <a:avLst/>
          <a:gdLst/>
          <a:ahLst/>
          <a:cxnLst/>
          <a:rect l="0" t="0" r="0" b="0"/>
          <a:pathLst>
            <a:path>
              <a:moveTo>
                <a:pt x="0" y="0"/>
              </a:moveTo>
              <a:lnTo>
                <a:pt x="0" y="1044174"/>
              </a:lnTo>
              <a:lnTo>
                <a:pt x="765922" y="1044174"/>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AF818EE-1FFA-0148-A0A6-03F1AC28E0C7}">
      <dsp:nvSpPr>
        <dsp:cNvPr id="0" name=""/>
        <dsp:cNvSpPr/>
      </dsp:nvSpPr>
      <dsp:spPr>
        <a:xfrm>
          <a:off x="6248404" y="990599"/>
          <a:ext cx="1610265" cy="159194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rtl="0">
            <a:lnSpc>
              <a:spcPct val="90000"/>
            </a:lnSpc>
            <a:spcBef>
              <a:spcPct val="0"/>
            </a:spcBef>
            <a:spcAft>
              <a:spcPct val="35000"/>
            </a:spcAft>
            <a:buNone/>
          </a:pPr>
          <a:r>
            <a:rPr lang="en-US" sz="1600" kern="1200" dirty="0"/>
            <a:t>Small program that </a:t>
          </a:r>
          <a:r>
            <a:rPr lang="en-US" sz="1600" b="1" kern="1200" dirty="0">
              <a:solidFill>
                <a:srgbClr val="FF0000"/>
              </a:solidFill>
            </a:rPr>
            <a:t>switches the processor from one process to another</a:t>
          </a:r>
        </a:p>
      </dsp:txBody>
      <dsp:txXfrm>
        <a:off x="6295030" y="1037225"/>
        <a:ext cx="1517013" cy="149868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12A570-2292-6042-8F87-375482494525}">
      <dsp:nvSpPr>
        <dsp:cNvPr id="0" name=""/>
        <dsp:cNvSpPr/>
      </dsp:nvSpPr>
      <dsp:spPr>
        <a:xfrm>
          <a:off x="76195" y="32384"/>
          <a:ext cx="2437804" cy="662400"/>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rtl="0">
            <a:lnSpc>
              <a:spcPct val="90000"/>
            </a:lnSpc>
            <a:spcBef>
              <a:spcPct val="0"/>
            </a:spcBef>
            <a:spcAft>
              <a:spcPct val="35000"/>
            </a:spcAft>
            <a:buNone/>
          </a:pPr>
          <a:r>
            <a:rPr lang="en-US" sz="2300" b="1" i="1" kern="1200" dirty="0"/>
            <a:t>Process spawning</a:t>
          </a:r>
          <a:endParaRPr lang="en-US" sz="2300" kern="1200" dirty="0"/>
        </a:p>
      </dsp:txBody>
      <dsp:txXfrm>
        <a:off x="76195" y="32384"/>
        <a:ext cx="2437804" cy="662400"/>
      </dsp:txXfrm>
    </dsp:sp>
    <dsp:sp modelId="{6E5587B0-CB6B-5F49-99BC-8512D84E1718}">
      <dsp:nvSpPr>
        <dsp:cNvPr id="0" name=""/>
        <dsp:cNvSpPr/>
      </dsp:nvSpPr>
      <dsp:spPr>
        <a:xfrm>
          <a:off x="76195" y="714352"/>
          <a:ext cx="2437804" cy="3977504"/>
        </a:xfrm>
        <a:prstGeom prst="rect">
          <a:avLst/>
        </a:prstGeom>
        <a:solidFill>
          <a:schemeClr val="bg1"/>
        </a:solidFill>
        <a:ln w="15875" cap="flat" cmpd="sng" algn="ctr">
          <a:noFill/>
          <a:prstDash val="solid"/>
        </a:ln>
        <a:effectLst/>
      </dsp:spPr>
      <dsp:style>
        <a:lnRef idx="1">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rtl="0">
            <a:lnSpc>
              <a:spcPct val="90000"/>
            </a:lnSpc>
            <a:spcBef>
              <a:spcPct val="0"/>
            </a:spcBef>
            <a:spcAft>
              <a:spcPct val="15000"/>
            </a:spcAft>
            <a:buChar char="•"/>
          </a:pPr>
          <a:r>
            <a:rPr lang="en-NZ" sz="2300" kern="1200" dirty="0"/>
            <a:t>When the OS creates a process at </a:t>
          </a:r>
          <a:r>
            <a:rPr lang="en-NZ" sz="2300" kern="1200" dirty="0">
              <a:solidFill>
                <a:srgbClr val="FF0000"/>
              </a:solidFill>
            </a:rPr>
            <a:t>the explicit request of another process</a:t>
          </a:r>
          <a:r>
            <a:rPr lang="en-NZ" sz="2300" kern="1200" dirty="0"/>
            <a:t>. (P</a:t>
          </a:r>
          <a:r>
            <a:rPr lang="en-US" sz="2300" kern="1200" baseline="0" dirty="0" err="1">
              <a:solidFill>
                <a:schemeClr val="tx1"/>
              </a:solidFill>
              <a:latin typeface="+mn-lt"/>
              <a:ea typeface="+mn-ea"/>
              <a:cs typeface="+mn-cs"/>
            </a:rPr>
            <a:t>rint</a:t>
          </a:r>
          <a:r>
            <a:rPr lang="en-US" sz="2300" kern="1200" baseline="0" dirty="0">
              <a:solidFill>
                <a:schemeClr val="tx1"/>
              </a:solidFill>
              <a:latin typeface="+mn-lt"/>
              <a:ea typeface="+mn-ea"/>
              <a:cs typeface="+mn-cs"/>
            </a:rPr>
            <a:t> server or file server may generate a new process for each request that it handles</a:t>
          </a:r>
          <a:r>
            <a:rPr lang="en-NZ" sz="2300" kern="1200" dirty="0"/>
            <a:t>)</a:t>
          </a:r>
          <a:endParaRPr lang="en-NZ" sz="2300" b="1" i="1" kern="1200" dirty="0"/>
        </a:p>
      </dsp:txBody>
      <dsp:txXfrm>
        <a:off x="76195" y="714352"/>
        <a:ext cx="2437804" cy="3977504"/>
      </dsp:txXfrm>
    </dsp:sp>
    <dsp:sp modelId="{3B7AAAD3-B4B2-894D-BD62-FBDCA5DB86E5}">
      <dsp:nvSpPr>
        <dsp:cNvPr id="0" name=""/>
        <dsp:cNvSpPr/>
      </dsp:nvSpPr>
      <dsp:spPr>
        <a:xfrm>
          <a:off x="2781597" y="42247"/>
          <a:ext cx="2437804" cy="662400"/>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rtl="0">
            <a:lnSpc>
              <a:spcPct val="90000"/>
            </a:lnSpc>
            <a:spcBef>
              <a:spcPct val="0"/>
            </a:spcBef>
            <a:spcAft>
              <a:spcPct val="35000"/>
            </a:spcAft>
            <a:buNone/>
          </a:pPr>
          <a:r>
            <a:rPr lang="en-US" sz="2300" b="1" i="1" kern="1200" dirty="0"/>
            <a:t>Parent process</a:t>
          </a:r>
          <a:endParaRPr lang="en-US" sz="2300" kern="1200" dirty="0"/>
        </a:p>
      </dsp:txBody>
      <dsp:txXfrm>
        <a:off x="2781597" y="42247"/>
        <a:ext cx="2437804" cy="662400"/>
      </dsp:txXfrm>
    </dsp:sp>
    <dsp:sp modelId="{094610A3-C2C3-B640-879C-283BC4C4886A}">
      <dsp:nvSpPr>
        <dsp:cNvPr id="0" name=""/>
        <dsp:cNvSpPr/>
      </dsp:nvSpPr>
      <dsp:spPr>
        <a:xfrm>
          <a:off x="2781597" y="704647"/>
          <a:ext cx="2437804" cy="3977504"/>
        </a:xfrm>
        <a:prstGeom prst="rect">
          <a:avLst/>
        </a:prstGeom>
        <a:solidFill>
          <a:schemeClr val="bg1"/>
        </a:solidFill>
        <a:ln w="15875" cap="flat" cmpd="sng" algn="ctr">
          <a:noFill/>
          <a:prstDash val="solid"/>
        </a:ln>
        <a:effectLst/>
      </dsp:spPr>
      <dsp:style>
        <a:lnRef idx="1">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rtl="0">
            <a:lnSpc>
              <a:spcPct val="90000"/>
            </a:lnSpc>
            <a:spcBef>
              <a:spcPct val="0"/>
            </a:spcBef>
            <a:spcAft>
              <a:spcPct val="15000"/>
            </a:spcAft>
            <a:buChar char="•"/>
          </a:pPr>
          <a:r>
            <a:rPr lang="en-US" sz="2300" kern="1200" dirty="0"/>
            <a:t>Is the original, creating, process</a:t>
          </a:r>
        </a:p>
      </dsp:txBody>
      <dsp:txXfrm>
        <a:off x="2781597" y="704647"/>
        <a:ext cx="2437804" cy="3977504"/>
      </dsp:txXfrm>
    </dsp:sp>
    <dsp:sp modelId="{B5437CEF-732C-D940-ADAA-BDDAA09C9E8D}">
      <dsp:nvSpPr>
        <dsp:cNvPr id="0" name=""/>
        <dsp:cNvSpPr/>
      </dsp:nvSpPr>
      <dsp:spPr>
        <a:xfrm>
          <a:off x="5560695" y="42247"/>
          <a:ext cx="2437804" cy="662400"/>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rtl="0">
            <a:lnSpc>
              <a:spcPct val="90000"/>
            </a:lnSpc>
            <a:spcBef>
              <a:spcPct val="0"/>
            </a:spcBef>
            <a:spcAft>
              <a:spcPct val="35000"/>
            </a:spcAft>
            <a:buNone/>
          </a:pPr>
          <a:r>
            <a:rPr lang="en-US" sz="2300" b="1" i="1" kern="1200" dirty="0"/>
            <a:t>Child process </a:t>
          </a:r>
          <a:endParaRPr lang="en-US" sz="2300" kern="1200" dirty="0"/>
        </a:p>
      </dsp:txBody>
      <dsp:txXfrm>
        <a:off x="5560695" y="42247"/>
        <a:ext cx="2437804" cy="662400"/>
      </dsp:txXfrm>
    </dsp:sp>
    <dsp:sp modelId="{B830ED57-4DAF-3040-BF6C-9CF6B5560015}">
      <dsp:nvSpPr>
        <dsp:cNvPr id="0" name=""/>
        <dsp:cNvSpPr/>
      </dsp:nvSpPr>
      <dsp:spPr>
        <a:xfrm>
          <a:off x="5560695" y="704647"/>
          <a:ext cx="2437804" cy="3977504"/>
        </a:xfrm>
        <a:prstGeom prst="rect">
          <a:avLst/>
        </a:prstGeom>
        <a:solidFill>
          <a:schemeClr val="bg1"/>
        </a:solidFill>
        <a:ln w="15875" cap="flat" cmpd="sng" algn="ctr">
          <a:noFill/>
          <a:prstDash val="solid"/>
        </a:ln>
        <a:effectLst/>
      </dsp:spPr>
      <dsp:style>
        <a:lnRef idx="1">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rtl="0">
            <a:lnSpc>
              <a:spcPct val="90000"/>
            </a:lnSpc>
            <a:spcBef>
              <a:spcPct val="0"/>
            </a:spcBef>
            <a:spcAft>
              <a:spcPct val="15000"/>
            </a:spcAft>
            <a:buChar char="•"/>
          </a:pPr>
          <a:r>
            <a:rPr lang="en-US" sz="2300" kern="1200" dirty="0"/>
            <a:t>Is the new process</a:t>
          </a:r>
        </a:p>
        <a:p>
          <a:pPr marL="228600" lvl="1" indent="-228600" algn="l" defTabSz="1022350" rtl="0">
            <a:lnSpc>
              <a:spcPct val="90000"/>
            </a:lnSpc>
            <a:spcBef>
              <a:spcPct val="0"/>
            </a:spcBef>
            <a:spcAft>
              <a:spcPct val="15000"/>
            </a:spcAft>
            <a:buChar char="•"/>
          </a:pPr>
          <a:endParaRPr lang="en-NZ" sz="2300" kern="1200" dirty="0"/>
        </a:p>
      </dsp:txBody>
      <dsp:txXfrm>
        <a:off x="5560695" y="704647"/>
        <a:ext cx="2437804" cy="397750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849D56-9230-E249-B48B-5D647FAAD6A7}">
      <dsp:nvSpPr>
        <dsp:cNvPr id="0" name=""/>
        <dsp:cNvSpPr/>
      </dsp:nvSpPr>
      <dsp:spPr>
        <a:xfrm>
          <a:off x="0" y="0"/>
          <a:ext cx="4114800" cy="4191000"/>
        </a:xfrm>
        <a:prstGeom prst="roundRect">
          <a:avLst>
            <a:gd name="adj" fmla="val 10000"/>
          </a:avLst>
        </a:prstGeom>
        <a:solidFill>
          <a:schemeClr val="accent1">
            <a:tint val="40000"/>
            <a:hueOff val="0"/>
            <a:satOff val="0"/>
            <a:lumOff val="0"/>
            <a:alphaOff val="0"/>
          </a:schemeClr>
        </a:solidFill>
        <a:ln>
          <a:noFill/>
        </a:ln>
        <a:effectLst/>
        <a:sp3d z="-400500" extrusionH="63500" contourW="12700" prstMaterial="matte">
          <a:contourClr>
            <a:schemeClr val="lt1">
              <a:tint val="50000"/>
            </a:schemeClr>
          </a:contourClr>
        </a:sp3d>
      </dsp:spPr>
      <dsp:style>
        <a:lnRef idx="0">
          <a:scrgbClr r="0" g="0" b="0"/>
        </a:lnRef>
        <a:fillRef idx="1">
          <a:scrgbClr r="0" g="0" b="0"/>
        </a:fillRef>
        <a:effectRef idx="0">
          <a:scrgbClr r="0" g="0" b="0"/>
        </a:effectRef>
        <a:fontRef idx="minor"/>
      </dsp:style>
      <dsp:txBody>
        <a:bodyPr spcFirstLastPara="0" vert="horz" wrap="square" lIns="190500" tIns="190500" rIns="190500" bIns="190500" numCol="1" spcCol="1270" anchor="ctr" anchorCtr="0">
          <a:noAutofit/>
        </a:bodyPr>
        <a:lstStyle/>
        <a:p>
          <a:pPr marL="0" lvl="0" indent="0" algn="ctr" defTabSz="2222500">
            <a:lnSpc>
              <a:spcPct val="90000"/>
            </a:lnSpc>
            <a:spcBef>
              <a:spcPct val="0"/>
            </a:spcBef>
            <a:spcAft>
              <a:spcPct val="35000"/>
            </a:spcAft>
            <a:buNone/>
          </a:pPr>
          <a:r>
            <a:rPr lang="en-NZ" sz="5000" kern="1200" dirty="0"/>
            <a:t>Must include:</a:t>
          </a:r>
          <a:endParaRPr lang="en-US" sz="5000" kern="1200" dirty="0"/>
        </a:p>
      </dsp:txBody>
      <dsp:txXfrm>
        <a:off x="0" y="0"/>
        <a:ext cx="4114800" cy="1257300"/>
      </dsp:txXfrm>
    </dsp:sp>
    <dsp:sp modelId="{D71126B5-4D28-F041-996A-21406ACAE784}">
      <dsp:nvSpPr>
        <dsp:cNvPr id="0" name=""/>
        <dsp:cNvSpPr/>
      </dsp:nvSpPr>
      <dsp:spPr>
        <a:xfrm>
          <a:off x="411480" y="1257402"/>
          <a:ext cx="3291840" cy="610539"/>
        </a:xfrm>
        <a:prstGeom prst="roundRect">
          <a:avLst>
            <a:gd name="adj" fmla="val 10000"/>
          </a:avLst>
        </a:prstGeom>
        <a:solidFill>
          <a:schemeClr val="accent1">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dirty="0"/>
            <a:t>Allocation of main memory to processes</a:t>
          </a:r>
        </a:p>
      </dsp:txBody>
      <dsp:txXfrm>
        <a:off x="429362" y="1275284"/>
        <a:ext cx="3256076" cy="574775"/>
      </dsp:txXfrm>
    </dsp:sp>
    <dsp:sp modelId="{AF8A08C6-7BE2-BC4F-8FA2-F9315956443D}">
      <dsp:nvSpPr>
        <dsp:cNvPr id="0" name=""/>
        <dsp:cNvSpPr/>
      </dsp:nvSpPr>
      <dsp:spPr>
        <a:xfrm>
          <a:off x="411480" y="1961870"/>
          <a:ext cx="3291840" cy="610539"/>
        </a:xfrm>
        <a:prstGeom prst="roundRect">
          <a:avLst>
            <a:gd name="adj" fmla="val 10000"/>
          </a:avLst>
        </a:prstGeom>
        <a:solidFill>
          <a:schemeClr val="accent1">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dirty="0"/>
            <a:t>Allocation of secondary memory to processes</a:t>
          </a:r>
        </a:p>
      </dsp:txBody>
      <dsp:txXfrm>
        <a:off x="429362" y="1979752"/>
        <a:ext cx="3256076" cy="574775"/>
      </dsp:txXfrm>
    </dsp:sp>
    <dsp:sp modelId="{9FC495F8-4083-D14A-B895-6F3B982FE006}">
      <dsp:nvSpPr>
        <dsp:cNvPr id="0" name=""/>
        <dsp:cNvSpPr/>
      </dsp:nvSpPr>
      <dsp:spPr>
        <a:xfrm>
          <a:off x="411480" y="2666339"/>
          <a:ext cx="3291840" cy="610539"/>
        </a:xfrm>
        <a:prstGeom prst="roundRect">
          <a:avLst>
            <a:gd name="adj" fmla="val 10000"/>
          </a:avLst>
        </a:prstGeom>
        <a:solidFill>
          <a:schemeClr val="accent1">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dirty="0"/>
            <a:t>Protection attributes of blocks of main or virtual memory</a:t>
          </a:r>
        </a:p>
      </dsp:txBody>
      <dsp:txXfrm>
        <a:off x="429362" y="2684221"/>
        <a:ext cx="3256076" cy="574775"/>
      </dsp:txXfrm>
    </dsp:sp>
    <dsp:sp modelId="{C594826F-7934-0F40-874A-C158939AC62E}">
      <dsp:nvSpPr>
        <dsp:cNvPr id="0" name=""/>
        <dsp:cNvSpPr/>
      </dsp:nvSpPr>
      <dsp:spPr>
        <a:xfrm>
          <a:off x="411480" y="3370808"/>
          <a:ext cx="3291840" cy="610539"/>
        </a:xfrm>
        <a:prstGeom prst="roundRect">
          <a:avLst>
            <a:gd name="adj" fmla="val 10000"/>
          </a:avLst>
        </a:prstGeom>
        <a:solidFill>
          <a:schemeClr val="accent1">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US" sz="1900" kern="1200" dirty="0"/>
            <a:t>Information needed to manage virtual memory</a:t>
          </a:r>
        </a:p>
      </dsp:txBody>
      <dsp:txXfrm>
        <a:off x="429362" y="3388690"/>
        <a:ext cx="3256076" cy="57477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2A3F9C-77AE-CD4E-A6A3-593211C3CA4E}">
      <dsp:nvSpPr>
        <dsp:cNvPr id="0" name=""/>
        <dsp:cNvSpPr/>
      </dsp:nvSpPr>
      <dsp:spPr>
        <a:xfrm rot="16200000">
          <a:off x="-114299" y="114299"/>
          <a:ext cx="4114800" cy="3886200"/>
        </a:xfrm>
        <a:prstGeom prst="flowChartManualOperation">
          <a:avLst/>
        </a:prstGeom>
        <a:solidFill>
          <a:schemeClr val="accent6"/>
        </a:solidFill>
        <a:ln>
          <a:noFill/>
        </a:ln>
        <a:effectLst/>
        <a:scene3d>
          <a:camera prst="orthographicFront"/>
          <a:lightRig rig="soft" dir="t"/>
          <a:backdrop>
            <a:anchor x="0" y="0" z="-210000"/>
            <a:norm dx="0" dy="0" dz="914400"/>
            <a:up dx="0" dy="914400" dz="0"/>
          </a:backdrop>
        </a:scene3d>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52400" tIns="0" rIns="150813" bIns="0" numCol="1" spcCol="1270" anchor="t" anchorCtr="0">
          <a:noAutofit/>
          <a:sp3d extrusionH="28000" prstMaterial="matte"/>
        </a:bodyPr>
        <a:lstStyle/>
        <a:p>
          <a:pPr marL="0" lvl="0" indent="0" algn="l" defTabSz="1066800">
            <a:lnSpc>
              <a:spcPct val="90000"/>
            </a:lnSpc>
            <a:spcBef>
              <a:spcPct val="0"/>
            </a:spcBef>
            <a:spcAft>
              <a:spcPct val="35000"/>
            </a:spcAft>
            <a:buNone/>
          </a:pPr>
          <a:r>
            <a:rPr lang="en-US" sz="2400" kern="1200" dirty="0"/>
            <a:t>If an I/O operation is in progress, the OS needs to know:</a:t>
          </a:r>
        </a:p>
        <a:p>
          <a:pPr marL="171450" lvl="1" indent="-171450" algn="l" defTabSz="844550">
            <a:lnSpc>
              <a:spcPct val="90000"/>
            </a:lnSpc>
            <a:spcBef>
              <a:spcPct val="0"/>
            </a:spcBef>
            <a:spcAft>
              <a:spcPct val="15000"/>
            </a:spcAft>
            <a:buChar char="•"/>
          </a:pPr>
          <a:r>
            <a:rPr lang="en-US" sz="1900" kern="1200" dirty="0"/>
            <a:t>The status of the I/O operation</a:t>
          </a:r>
        </a:p>
        <a:p>
          <a:pPr marL="171450" lvl="1" indent="-171450" algn="l" defTabSz="844550">
            <a:lnSpc>
              <a:spcPct val="90000"/>
            </a:lnSpc>
            <a:spcBef>
              <a:spcPct val="0"/>
            </a:spcBef>
            <a:spcAft>
              <a:spcPct val="15000"/>
            </a:spcAft>
            <a:buChar char="•"/>
          </a:pPr>
          <a:r>
            <a:rPr lang="en-US" sz="1900" kern="1200" dirty="0"/>
            <a:t>The location in main memory being used as the source or destination of the I/O transfer</a:t>
          </a:r>
        </a:p>
      </dsp:txBody>
      <dsp:txXfrm rot="5400000">
        <a:off x="1" y="822959"/>
        <a:ext cx="3886200" cy="246888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5E8AE7-B8C6-0241-9480-2CDA1CF97203}">
      <dsp:nvSpPr>
        <dsp:cNvPr id="0" name=""/>
        <dsp:cNvSpPr/>
      </dsp:nvSpPr>
      <dsp:spPr>
        <a:xfrm>
          <a:off x="0" y="331019"/>
          <a:ext cx="6096000" cy="16758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73117" tIns="395732" rIns="473117" bIns="135128" numCol="1" spcCol="1270" anchor="t" anchorCtr="0">
          <a:noAutofit/>
        </a:bodyPr>
        <a:lstStyle/>
        <a:p>
          <a:pPr marL="171450" lvl="1" indent="-171450" algn="l" defTabSz="844550">
            <a:lnSpc>
              <a:spcPct val="90000"/>
            </a:lnSpc>
            <a:spcBef>
              <a:spcPct val="0"/>
            </a:spcBef>
            <a:spcAft>
              <a:spcPct val="15000"/>
            </a:spcAft>
            <a:buChar char="•"/>
          </a:pPr>
          <a:r>
            <a:rPr lang="en-US" sz="1900" kern="1200" dirty="0"/>
            <a:t>Existence of files</a:t>
          </a:r>
        </a:p>
        <a:p>
          <a:pPr marL="171450" lvl="1" indent="-171450" algn="l" defTabSz="844550">
            <a:lnSpc>
              <a:spcPct val="90000"/>
            </a:lnSpc>
            <a:spcBef>
              <a:spcPct val="0"/>
            </a:spcBef>
            <a:spcAft>
              <a:spcPct val="15000"/>
            </a:spcAft>
            <a:buChar char="•"/>
          </a:pPr>
          <a:r>
            <a:rPr lang="en-US" sz="1900" kern="1200" dirty="0"/>
            <a:t>Location on secondary memory</a:t>
          </a:r>
        </a:p>
        <a:p>
          <a:pPr marL="171450" lvl="1" indent="-171450" algn="l" defTabSz="844550">
            <a:lnSpc>
              <a:spcPct val="90000"/>
            </a:lnSpc>
            <a:spcBef>
              <a:spcPct val="0"/>
            </a:spcBef>
            <a:spcAft>
              <a:spcPct val="15000"/>
            </a:spcAft>
            <a:buChar char="•"/>
          </a:pPr>
          <a:r>
            <a:rPr lang="en-US" sz="1900" kern="1200" dirty="0"/>
            <a:t>Current status</a:t>
          </a:r>
        </a:p>
        <a:p>
          <a:pPr marL="171450" lvl="1" indent="-171450" algn="l" defTabSz="844550">
            <a:lnSpc>
              <a:spcPct val="90000"/>
            </a:lnSpc>
            <a:spcBef>
              <a:spcPct val="0"/>
            </a:spcBef>
            <a:spcAft>
              <a:spcPct val="15000"/>
            </a:spcAft>
            <a:buChar char="•"/>
          </a:pPr>
          <a:r>
            <a:rPr lang="en-NZ" sz="1900" kern="1200" dirty="0"/>
            <a:t>Other attributes</a:t>
          </a:r>
          <a:endParaRPr lang="en-US" sz="1900" kern="1200" dirty="0"/>
        </a:p>
      </dsp:txBody>
      <dsp:txXfrm>
        <a:off x="0" y="331019"/>
        <a:ext cx="6096000" cy="1675800"/>
      </dsp:txXfrm>
    </dsp:sp>
    <dsp:sp modelId="{0CEFEDA6-C6BD-4242-A36C-ADC20C2F1CA7}">
      <dsp:nvSpPr>
        <dsp:cNvPr id="0" name=""/>
        <dsp:cNvSpPr/>
      </dsp:nvSpPr>
      <dsp:spPr>
        <a:xfrm>
          <a:off x="304800" y="50579"/>
          <a:ext cx="4267200" cy="56088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1290" tIns="0" rIns="161290" bIns="0" numCol="1" spcCol="1270" anchor="ctr" anchorCtr="0">
          <a:noAutofit/>
        </a:bodyPr>
        <a:lstStyle/>
        <a:p>
          <a:pPr marL="0" lvl="0" indent="0" algn="l" defTabSz="844550">
            <a:lnSpc>
              <a:spcPct val="90000"/>
            </a:lnSpc>
            <a:spcBef>
              <a:spcPct val="0"/>
            </a:spcBef>
            <a:spcAft>
              <a:spcPct val="35000"/>
            </a:spcAft>
            <a:buNone/>
          </a:pPr>
          <a:r>
            <a:rPr lang="en-NZ" sz="1900" kern="1200" dirty="0"/>
            <a:t>These tables provide information about:</a:t>
          </a:r>
          <a:endParaRPr lang="en-US" sz="1900" kern="1200" dirty="0"/>
        </a:p>
      </dsp:txBody>
      <dsp:txXfrm>
        <a:off x="332180" y="77959"/>
        <a:ext cx="4212440" cy="50612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5F1453-A84B-C04C-A3D7-88BA22B5CF02}">
      <dsp:nvSpPr>
        <dsp:cNvPr id="0" name=""/>
        <dsp:cNvSpPr/>
      </dsp:nvSpPr>
      <dsp:spPr>
        <a:xfrm>
          <a:off x="2682239" y="0"/>
          <a:ext cx="4023360" cy="3479800"/>
        </a:xfrm>
        <a:prstGeom prst="rightArrow">
          <a:avLst>
            <a:gd name="adj1" fmla="val 75000"/>
            <a:gd name="adj2" fmla="val 50000"/>
          </a:avLst>
        </a:prstGeom>
        <a:solidFill>
          <a:schemeClr val="accent2"/>
        </a:solidFill>
        <a:ln w="15875" cap="flat" cmpd="sng" algn="ctr">
          <a:solidFill>
            <a:schemeClr val="accent1">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145" tIns="17145" rIns="17145" bIns="17145" numCol="1" spcCol="1270" anchor="t" anchorCtr="0">
          <a:noAutofit/>
        </a:bodyPr>
        <a:lstStyle/>
        <a:p>
          <a:pPr marL="228600" lvl="1" indent="-228600" algn="l" defTabSz="1200150">
            <a:lnSpc>
              <a:spcPct val="90000"/>
            </a:lnSpc>
            <a:spcBef>
              <a:spcPct val="0"/>
            </a:spcBef>
            <a:spcAft>
              <a:spcPct val="15000"/>
            </a:spcAft>
            <a:buChar char="•"/>
          </a:pPr>
          <a:r>
            <a:rPr lang="en-US" sz="2700" kern="1200" dirty="0"/>
            <a:t>Where the process is located</a:t>
          </a:r>
        </a:p>
        <a:p>
          <a:pPr marL="228600" lvl="1" indent="-228600" algn="l" defTabSz="1200150">
            <a:lnSpc>
              <a:spcPct val="90000"/>
            </a:lnSpc>
            <a:spcBef>
              <a:spcPct val="0"/>
            </a:spcBef>
            <a:spcAft>
              <a:spcPct val="15000"/>
            </a:spcAft>
            <a:buChar char="•"/>
          </a:pPr>
          <a:r>
            <a:rPr lang="en-US" sz="2700" kern="1200" dirty="0"/>
            <a:t>The attributes of the process that are necessary for its management</a:t>
          </a:r>
        </a:p>
      </dsp:txBody>
      <dsp:txXfrm>
        <a:off x="2682239" y="434975"/>
        <a:ext cx="2718435" cy="2609850"/>
      </dsp:txXfrm>
    </dsp:sp>
    <dsp:sp modelId="{124922B8-514C-784B-AB7F-197C6AA9DFC8}">
      <dsp:nvSpPr>
        <dsp:cNvPr id="0" name=""/>
        <dsp:cNvSpPr/>
      </dsp:nvSpPr>
      <dsp:spPr>
        <a:xfrm>
          <a:off x="0" y="0"/>
          <a:ext cx="2682240" cy="3479800"/>
        </a:xfrm>
        <a:prstGeom prst="roundRect">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r>
            <a:rPr lang="en-US" sz="3600" kern="1200" dirty="0"/>
            <a:t>To manage and control a process the OS must know:</a:t>
          </a:r>
        </a:p>
      </dsp:txBody>
      <dsp:txXfrm>
        <a:off x="130936" y="130936"/>
        <a:ext cx="2420368" cy="321792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70A5E9-3A8A-7747-AFD3-153EC024C451}">
      <dsp:nvSpPr>
        <dsp:cNvPr id="0" name=""/>
        <dsp:cNvSpPr/>
      </dsp:nvSpPr>
      <dsp:spPr>
        <a:xfrm rot="5400000">
          <a:off x="1356360" y="525779"/>
          <a:ext cx="2987040" cy="2682240"/>
        </a:xfrm>
        <a:prstGeom prst="round2SameRect">
          <a:avLst/>
        </a:prstGeom>
        <a:solidFill>
          <a:schemeClr val="bg1"/>
        </a:solidFill>
        <a:ln w="15875" cap="flat" cmpd="sng" algn="ctr">
          <a:solidFill>
            <a:schemeClr val="accent2"/>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40005" rIns="80010" bIns="40005" numCol="1" spcCol="1270" anchor="ctr" anchorCtr="0">
          <a:noAutofit/>
        </a:bodyPr>
        <a:lstStyle/>
        <a:p>
          <a:pPr marL="228600" lvl="1" indent="-228600" algn="l" defTabSz="933450">
            <a:lnSpc>
              <a:spcPct val="90000"/>
            </a:lnSpc>
            <a:spcBef>
              <a:spcPct val="0"/>
            </a:spcBef>
            <a:spcAft>
              <a:spcPct val="15000"/>
            </a:spcAft>
            <a:buChar char="•"/>
          </a:pPr>
          <a:r>
            <a:rPr lang="en-US" sz="2100" kern="1200" dirty="0"/>
            <a:t>Contains condition codes plus other status information</a:t>
          </a:r>
        </a:p>
        <a:p>
          <a:pPr marL="228600" lvl="1" indent="-228600" algn="l" defTabSz="933450">
            <a:lnSpc>
              <a:spcPct val="90000"/>
            </a:lnSpc>
            <a:spcBef>
              <a:spcPct val="0"/>
            </a:spcBef>
            <a:spcAft>
              <a:spcPct val="15000"/>
            </a:spcAft>
            <a:buChar char="•"/>
          </a:pPr>
          <a:r>
            <a:rPr lang="en-US" sz="2100" kern="1200" dirty="0"/>
            <a:t>EFLAGS register is an example of a PSW used by any OS running on an x86 processor</a:t>
          </a:r>
        </a:p>
      </dsp:txBody>
      <dsp:txXfrm rot="-5400000">
        <a:off x="1508760" y="504315"/>
        <a:ext cx="2551304" cy="2725168"/>
      </dsp:txXfrm>
    </dsp:sp>
    <dsp:sp modelId="{69F1C722-FAD8-804A-8667-3D295CAE9EBB}">
      <dsp:nvSpPr>
        <dsp:cNvPr id="0" name=""/>
        <dsp:cNvSpPr/>
      </dsp:nvSpPr>
      <dsp:spPr>
        <a:xfrm>
          <a:off x="0" y="0"/>
          <a:ext cx="1508760" cy="3733800"/>
        </a:xfrm>
        <a:prstGeom prst="roundRect">
          <a:avLst/>
        </a:prstGeom>
        <a:solidFill>
          <a:schemeClr val="accent1">
            <a:alpha val="9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rtl="0">
            <a:lnSpc>
              <a:spcPct val="90000"/>
            </a:lnSpc>
            <a:spcBef>
              <a:spcPct val="0"/>
            </a:spcBef>
            <a:spcAft>
              <a:spcPct val="35000"/>
            </a:spcAft>
            <a:buNone/>
          </a:pPr>
          <a:r>
            <a:rPr lang="en-US" sz="2400" b="1" i="0" kern="1200" dirty="0">
              <a:solidFill>
                <a:schemeClr val="bg1"/>
              </a:solidFill>
            </a:rPr>
            <a:t>Program status word (PSW)</a:t>
          </a:r>
        </a:p>
      </dsp:txBody>
      <dsp:txXfrm>
        <a:off x="73652" y="73652"/>
        <a:ext cx="1361456" cy="358649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46DE25-FB72-FE49-B24C-17CD28F7E514}">
      <dsp:nvSpPr>
        <dsp:cNvPr id="0" name=""/>
        <dsp:cNvSpPr/>
      </dsp:nvSpPr>
      <dsp:spPr>
        <a:xfrm rot="5400000">
          <a:off x="932687" y="772667"/>
          <a:ext cx="3108960" cy="2340864"/>
        </a:xfrm>
        <a:prstGeom prst="round2SameRect">
          <a:avLst/>
        </a:prstGeom>
        <a:solidFill>
          <a:schemeClr val="bg1"/>
        </a:solidFill>
        <a:ln w="15875"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102870" tIns="51435" rIns="102870" bIns="51435" numCol="1" spcCol="1270" anchor="ctr" anchorCtr="0">
          <a:noAutofit/>
        </a:bodyPr>
        <a:lstStyle/>
        <a:p>
          <a:pPr marL="228600" lvl="1" indent="-228600" algn="l" defTabSz="1200150">
            <a:lnSpc>
              <a:spcPct val="90000"/>
            </a:lnSpc>
            <a:spcBef>
              <a:spcPct val="0"/>
            </a:spcBef>
            <a:spcAft>
              <a:spcPct val="15000"/>
            </a:spcAft>
            <a:buChar char="•"/>
          </a:pPr>
          <a:r>
            <a:rPr lang="en-US" sz="2700" kern="1200" dirty="0"/>
            <a:t>User-visible registers</a:t>
          </a:r>
        </a:p>
        <a:p>
          <a:pPr marL="228600" lvl="1" indent="-228600" algn="l" defTabSz="1200150">
            <a:lnSpc>
              <a:spcPct val="90000"/>
            </a:lnSpc>
            <a:spcBef>
              <a:spcPct val="0"/>
            </a:spcBef>
            <a:spcAft>
              <a:spcPct val="15000"/>
            </a:spcAft>
            <a:buChar char="•"/>
          </a:pPr>
          <a:r>
            <a:rPr lang="en-US" sz="2700" kern="1200" dirty="0"/>
            <a:t>Control and status registers</a:t>
          </a:r>
        </a:p>
        <a:p>
          <a:pPr marL="228600" lvl="1" indent="-228600" algn="l" defTabSz="1200150">
            <a:lnSpc>
              <a:spcPct val="90000"/>
            </a:lnSpc>
            <a:spcBef>
              <a:spcPct val="0"/>
            </a:spcBef>
            <a:spcAft>
              <a:spcPct val="15000"/>
            </a:spcAft>
            <a:buChar char="•"/>
          </a:pPr>
          <a:r>
            <a:rPr lang="en-US" sz="2700" kern="1200" dirty="0"/>
            <a:t>Stack pointers</a:t>
          </a:r>
        </a:p>
      </dsp:txBody>
      <dsp:txXfrm rot="-5400000">
        <a:off x="1316735" y="502891"/>
        <a:ext cx="2226592" cy="2880416"/>
      </dsp:txXfrm>
    </dsp:sp>
    <dsp:sp modelId="{B5B16719-90E3-EA42-8665-4817FE208C9E}">
      <dsp:nvSpPr>
        <dsp:cNvPr id="0" name=""/>
        <dsp:cNvSpPr/>
      </dsp:nvSpPr>
      <dsp:spPr>
        <a:xfrm>
          <a:off x="0" y="0"/>
          <a:ext cx="1316736" cy="3886200"/>
        </a:xfrm>
        <a:prstGeom prst="roundRect">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NZ" sz="2000" kern="1200" dirty="0"/>
            <a:t>Consists of the contents of processor registers </a:t>
          </a:r>
          <a:endParaRPr lang="en-US" sz="2000" kern="1200" dirty="0"/>
        </a:p>
      </dsp:txBody>
      <dsp:txXfrm>
        <a:off x="64278" y="64278"/>
        <a:ext cx="1188180" cy="375764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7F2B9F-EC41-2140-8EC1-5E16AF2C7855}">
      <dsp:nvSpPr>
        <dsp:cNvPr id="0" name=""/>
        <dsp:cNvSpPr/>
      </dsp:nvSpPr>
      <dsp:spPr>
        <a:xfrm>
          <a:off x="0" y="0"/>
          <a:ext cx="4693920" cy="731520"/>
        </a:xfrm>
        <a:prstGeom prst="roundRect">
          <a:avLst>
            <a:gd name="adj" fmla="val 1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Assigns a unique process identifier to the new process</a:t>
          </a:r>
        </a:p>
      </dsp:txBody>
      <dsp:txXfrm>
        <a:off x="21425" y="21425"/>
        <a:ext cx="3818966" cy="688670"/>
      </dsp:txXfrm>
    </dsp:sp>
    <dsp:sp modelId="{5B5D711A-1B3F-D448-9482-44A847364F32}">
      <dsp:nvSpPr>
        <dsp:cNvPr id="0" name=""/>
        <dsp:cNvSpPr/>
      </dsp:nvSpPr>
      <dsp:spPr>
        <a:xfrm>
          <a:off x="350520" y="833120"/>
          <a:ext cx="4693920" cy="731520"/>
        </a:xfrm>
        <a:prstGeom prst="roundRect">
          <a:avLst>
            <a:gd name="adj" fmla="val 1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Allocates space for the process</a:t>
          </a:r>
        </a:p>
      </dsp:txBody>
      <dsp:txXfrm>
        <a:off x="371945" y="854545"/>
        <a:ext cx="3825062" cy="688669"/>
      </dsp:txXfrm>
    </dsp:sp>
    <dsp:sp modelId="{E6CD32AC-3E96-AB44-A760-F359511BBE11}">
      <dsp:nvSpPr>
        <dsp:cNvPr id="0" name=""/>
        <dsp:cNvSpPr/>
      </dsp:nvSpPr>
      <dsp:spPr>
        <a:xfrm>
          <a:off x="701039" y="1666240"/>
          <a:ext cx="4693920" cy="731520"/>
        </a:xfrm>
        <a:prstGeom prst="roundRect">
          <a:avLst>
            <a:gd name="adj" fmla="val 1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Initializes the process control block</a:t>
          </a:r>
        </a:p>
      </dsp:txBody>
      <dsp:txXfrm>
        <a:off x="722464" y="1687665"/>
        <a:ext cx="3825062" cy="688669"/>
      </dsp:txXfrm>
    </dsp:sp>
    <dsp:sp modelId="{AC35228F-21E7-5E47-83A7-D0492D254D58}">
      <dsp:nvSpPr>
        <dsp:cNvPr id="0" name=""/>
        <dsp:cNvSpPr/>
      </dsp:nvSpPr>
      <dsp:spPr>
        <a:xfrm>
          <a:off x="1051559" y="2499360"/>
          <a:ext cx="4693920" cy="731520"/>
        </a:xfrm>
        <a:prstGeom prst="roundRect">
          <a:avLst>
            <a:gd name="adj" fmla="val 1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Sets the appropriate linkages</a:t>
          </a:r>
        </a:p>
      </dsp:txBody>
      <dsp:txXfrm>
        <a:off x="1072984" y="2520785"/>
        <a:ext cx="3825062" cy="688669"/>
      </dsp:txXfrm>
    </dsp:sp>
    <dsp:sp modelId="{6DAEB0AD-3B63-8740-A6E5-6B3AE3531A2D}">
      <dsp:nvSpPr>
        <dsp:cNvPr id="0" name=""/>
        <dsp:cNvSpPr/>
      </dsp:nvSpPr>
      <dsp:spPr>
        <a:xfrm>
          <a:off x="1402079" y="3332480"/>
          <a:ext cx="4693920" cy="731520"/>
        </a:xfrm>
        <a:prstGeom prst="roundRect">
          <a:avLst>
            <a:gd name="adj" fmla="val 1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Creates or expands other data structures</a:t>
          </a:r>
        </a:p>
      </dsp:txBody>
      <dsp:txXfrm>
        <a:off x="1423504" y="3353905"/>
        <a:ext cx="3825062" cy="688669"/>
      </dsp:txXfrm>
    </dsp:sp>
    <dsp:sp modelId="{109E467C-1E73-8C45-B39E-5EC0C5B03450}">
      <dsp:nvSpPr>
        <dsp:cNvPr id="0" name=""/>
        <dsp:cNvSpPr/>
      </dsp:nvSpPr>
      <dsp:spPr>
        <a:xfrm>
          <a:off x="4218432" y="534416"/>
          <a:ext cx="475488" cy="475488"/>
        </a:xfrm>
        <a:prstGeom prst="downArrow">
          <a:avLst>
            <a:gd name="adj1" fmla="val 55000"/>
            <a:gd name="adj2" fmla="val 45000"/>
          </a:avLst>
        </a:prstGeom>
        <a:solidFill>
          <a:schemeClr val="accent2"/>
        </a:solidFill>
        <a:ln w="15875" cap="flat" cmpd="sng" algn="ctr">
          <a:solidFill>
            <a:schemeClr val="tx1"/>
          </a:solidFill>
          <a:prstDash val="solid"/>
        </a:ln>
        <a:effectLst/>
      </dsp:spPr>
      <dsp:style>
        <a:lnRef idx="1">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4325417" y="534416"/>
        <a:ext cx="261518" cy="357805"/>
      </dsp:txXfrm>
    </dsp:sp>
    <dsp:sp modelId="{2BDB5B10-9839-7244-804C-B97A8A38670F}">
      <dsp:nvSpPr>
        <dsp:cNvPr id="0" name=""/>
        <dsp:cNvSpPr/>
      </dsp:nvSpPr>
      <dsp:spPr>
        <a:xfrm>
          <a:off x="4568952" y="1367536"/>
          <a:ext cx="475488" cy="475488"/>
        </a:xfrm>
        <a:prstGeom prst="downArrow">
          <a:avLst>
            <a:gd name="adj1" fmla="val 55000"/>
            <a:gd name="adj2" fmla="val 45000"/>
          </a:avLst>
        </a:prstGeom>
        <a:solidFill>
          <a:schemeClr val="accent2"/>
        </a:solidFill>
        <a:ln w="15875" cap="flat" cmpd="sng" algn="ctr">
          <a:solidFill>
            <a:schemeClr val="tx1"/>
          </a:solidFill>
          <a:prstDash val="solid"/>
        </a:ln>
        <a:effectLst/>
      </dsp:spPr>
      <dsp:style>
        <a:lnRef idx="1">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4675937" y="1367536"/>
        <a:ext cx="261518" cy="357805"/>
      </dsp:txXfrm>
    </dsp:sp>
    <dsp:sp modelId="{B61A2D92-3241-AB4E-9449-C71D8D3EE5B6}">
      <dsp:nvSpPr>
        <dsp:cNvPr id="0" name=""/>
        <dsp:cNvSpPr/>
      </dsp:nvSpPr>
      <dsp:spPr>
        <a:xfrm>
          <a:off x="4919472" y="2188464"/>
          <a:ext cx="475488" cy="475488"/>
        </a:xfrm>
        <a:prstGeom prst="downArrow">
          <a:avLst>
            <a:gd name="adj1" fmla="val 55000"/>
            <a:gd name="adj2" fmla="val 45000"/>
          </a:avLst>
        </a:prstGeom>
        <a:solidFill>
          <a:schemeClr val="accent2"/>
        </a:solidFill>
        <a:ln w="15875" cap="flat" cmpd="sng" algn="ctr">
          <a:solidFill>
            <a:schemeClr val="tx1"/>
          </a:solidFill>
          <a:prstDash val="solid"/>
        </a:ln>
        <a:effectLst/>
      </dsp:spPr>
      <dsp:style>
        <a:lnRef idx="1">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5026457" y="2188464"/>
        <a:ext cx="261518" cy="357805"/>
      </dsp:txXfrm>
    </dsp:sp>
    <dsp:sp modelId="{77EDA281-184C-FE4B-B762-E3375FFA90A8}">
      <dsp:nvSpPr>
        <dsp:cNvPr id="0" name=""/>
        <dsp:cNvSpPr/>
      </dsp:nvSpPr>
      <dsp:spPr>
        <a:xfrm>
          <a:off x="5269992" y="3029712"/>
          <a:ext cx="475488" cy="475488"/>
        </a:xfrm>
        <a:prstGeom prst="downArrow">
          <a:avLst>
            <a:gd name="adj1" fmla="val 55000"/>
            <a:gd name="adj2" fmla="val 45000"/>
          </a:avLst>
        </a:prstGeom>
        <a:solidFill>
          <a:schemeClr val="accent2"/>
        </a:solidFill>
        <a:ln w="15875" cap="flat" cmpd="sng" algn="ctr">
          <a:solidFill>
            <a:schemeClr val="tx1"/>
          </a:solidFill>
          <a:prstDash val="solid"/>
        </a:ln>
        <a:effectLst/>
      </dsp:spPr>
      <dsp:style>
        <a:lnRef idx="1">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5376977" y="3029712"/>
        <a:ext cx="261518" cy="357805"/>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F8FE6C-2B05-C445-8F1C-C2D56EC0B341}">
      <dsp:nvSpPr>
        <dsp:cNvPr id="0" name=""/>
        <dsp:cNvSpPr/>
      </dsp:nvSpPr>
      <dsp:spPr>
        <a:xfrm>
          <a:off x="3343" y="286393"/>
          <a:ext cx="3664445" cy="916111"/>
        </a:xfrm>
        <a:prstGeom prst="roundRect">
          <a:avLst>
            <a:gd name="adj" fmla="val 1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rtl="0">
            <a:lnSpc>
              <a:spcPct val="90000"/>
            </a:lnSpc>
            <a:spcBef>
              <a:spcPct val="0"/>
            </a:spcBef>
            <a:spcAft>
              <a:spcPct val="35000"/>
            </a:spcAft>
            <a:buNone/>
          </a:pPr>
          <a:r>
            <a:rPr lang="en-US" sz="2900" kern="1200" dirty="0"/>
            <a:t>If no interrupts are pending the processor:</a:t>
          </a:r>
        </a:p>
      </dsp:txBody>
      <dsp:txXfrm>
        <a:off x="30175" y="313225"/>
        <a:ext cx="3610781" cy="862447"/>
      </dsp:txXfrm>
    </dsp:sp>
    <dsp:sp modelId="{944F2D45-0854-FF4F-9A45-0B5FBB9415E6}">
      <dsp:nvSpPr>
        <dsp:cNvPr id="0" name=""/>
        <dsp:cNvSpPr/>
      </dsp:nvSpPr>
      <dsp:spPr>
        <a:xfrm rot="5400000">
          <a:off x="1755406" y="1282664"/>
          <a:ext cx="160319" cy="160319"/>
        </a:xfrm>
        <a:prstGeom prst="rightArrow">
          <a:avLst>
            <a:gd name="adj1" fmla="val 66700"/>
            <a:gd name="adj2" fmla="val 5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sp>
    <dsp:sp modelId="{878E7D38-9573-7A46-8835-570D9ED3C168}">
      <dsp:nvSpPr>
        <dsp:cNvPr id="0" name=""/>
        <dsp:cNvSpPr/>
      </dsp:nvSpPr>
      <dsp:spPr>
        <a:xfrm>
          <a:off x="3343" y="1523143"/>
          <a:ext cx="3664445" cy="916111"/>
        </a:xfrm>
        <a:prstGeom prst="roundRect">
          <a:avLst>
            <a:gd name="adj" fmla="val 10000"/>
          </a:avLst>
        </a:prstGeom>
        <a:solidFill>
          <a:schemeClr val="accent2"/>
        </a:solidFill>
        <a:ln w="15875" cap="flat" cmpd="sng" algn="ctr">
          <a:solidFill>
            <a:schemeClr val="bg2">
              <a:lumMod val="2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rtl="0">
            <a:lnSpc>
              <a:spcPct val="90000"/>
            </a:lnSpc>
            <a:spcBef>
              <a:spcPct val="0"/>
            </a:spcBef>
            <a:spcAft>
              <a:spcPct val="35000"/>
            </a:spcAft>
            <a:buNone/>
          </a:pPr>
          <a:r>
            <a:rPr lang="en-US" sz="1500" b="1" kern="1200" dirty="0"/>
            <a:t>Proceeds to the fetch stage and fetches the next instruction of the current program in the current process</a:t>
          </a:r>
        </a:p>
      </dsp:txBody>
      <dsp:txXfrm>
        <a:off x="30175" y="1549975"/>
        <a:ext cx="3610781" cy="862447"/>
      </dsp:txXfrm>
    </dsp:sp>
    <dsp:sp modelId="{DB54DFA3-E01E-B442-9482-07C506B84309}">
      <dsp:nvSpPr>
        <dsp:cNvPr id="0" name=""/>
        <dsp:cNvSpPr/>
      </dsp:nvSpPr>
      <dsp:spPr>
        <a:xfrm>
          <a:off x="4180811" y="286393"/>
          <a:ext cx="3664445" cy="916111"/>
        </a:xfrm>
        <a:prstGeom prst="roundRect">
          <a:avLst>
            <a:gd name="adj" fmla="val 1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rtl="0">
            <a:lnSpc>
              <a:spcPct val="90000"/>
            </a:lnSpc>
            <a:spcBef>
              <a:spcPct val="0"/>
            </a:spcBef>
            <a:spcAft>
              <a:spcPct val="35000"/>
            </a:spcAft>
            <a:buNone/>
          </a:pPr>
          <a:r>
            <a:rPr lang="en-US" sz="2900" kern="1200" dirty="0"/>
            <a:t>If an interrupt is pending the processor:</a:t>
          </a:r>
        </a:p>
      </dsp:txBody>
      <dsp:txXfrm>
        <a:off x="4207643" y="313225"/>
        <a:ext cx="3610781" cy="862447"/>
      </dsp:txXfrm>
    </dsp:sp>
    <dsp:sp modelId="{A7450743-EE58-D742-9C11-C40E3AA314B2}">
      <dsp:nvSpPr>
        <dsp:cNvPr id="0" name=""/>
        <dsp:cNvSpPr/>
      </dsp:nvSpPr>
      <dsp:spPr>
        <a:xfrm rot="5400000">
          <a:off x="5932874" y="1282664"/>
          <a:ext cx="160319" cy="160319"/>
        </a:xfrm>
        <a:prstGeom prst="rightArrow">
          <a:avLst>
            <a:gd name="adj1" fmla="val 66700"/>
            <a:gd name="adj2" fmla="val 5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sp>
    <dsp:sp modelId="{F38B7510-114B-054F-B7FC-E55A1C978F4A}">
      <dsp:nvSpPr>
        <dsp:cNvPr id="0" name=""/>
        <dsp:cNvSpPr/>
      </dsp:nvSpPr>
      <dsp:spPr>
        <a:xfrm>
          <a:off x="4180811" y="1523143"/>
          <a:ext cx="3664445" cy="916111"/>
        </a:xfrm>
        <a:prstGeom prst="roundRect">
          <a:avLst>
            <a:gd name="adj" fmla="val 10000"/>
          </a:avLst>
        </a:prstGeom>
        <a:solidFill>
          <a:schemeClr val="accent2"/>
        </a:solidFill>
        <a:ln w="15875" cap="flat" cmpd="sng" algn="ctr">
          <a:solidFill>
            <a:schemeClr val="bg2">
              <a:lumMod val="2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rtl="0">
            <a:lnSpc>
              <a:spcPct val="90000"/>
            </a:lnSpc>
            <a:spcBef>
              <a:spcPct val="0"/>
            </a:spcBef>
            <a:spcAft>
              <a:spcPct val="35000"/>
            </a:spcAft>
            <a:buNone/>
          </a:pPr>
          <a:r>
            <a:rPr lang="en-US" sz="1500" b="1" kern="1200" dirty="0"/>
            <a:t>Sets the program counter to the starting address of an interrupt handler program.</a:t>
          </a:r>
        </a:p>
        <a:p>
          <a:pPr marL="0" lvl="0" indent="0" algn="ctr" defTabSz="666750" rtl="0">
            <a:lnSpc>
              <a:spcPct val="90000"/>
            </a:lnSpc>
            <a:spcBef>
              <a:spcPct val="0"/>
            </a:spcBef>
            <a:spcAft>
              <a:spcPct val="35000"/>
            </a:spcAft>
            <a:buNone/>
          </a:pPr>
          <a:r>
            <a:rPr lang="en-US" sz="1500" b="0" kern="1200" baseline="0" dirty="0">
              <a:solidFill>
                <a:schemeClr val="tx1"/>
              </a:solidFill>
              <a:latin typeface="+mn-lt"/>
              <a:ea typeface="+mn-ea"/>
              <a:cs typeface="+mn-cs"/>
            </a:rPr>
            <a:t>(Processor state information must be saved)</a:t>
          </a:r>
          <a:endParaRPr lang="en-US" sz="1500" b="1" kern="1200" dirty="0"/>
        </a:p>
      </dsp:txBody>
      <dsp:txXfrm>
        <a:off x="4207643" y="1549975"/>
        <a:ext cx="3610781" cy="862447"/>
      </dsp:txXfrm>
    </dsp:sp>
    <dsp:sp modelId="{74BDB899-755B-444E-915E-34234A2F80E2}">
      <dsp:nvSpPr>
        <dsp:cNvPr id="0" name=""/>
        <dsp:cNvSpPr/>
      </dsp:nvSpPr>
      <dsp:spPr>
        <a:xfrm rot="5400000">
          <a:off x="5932874" y="2519414"/>
          <a:ext cx="160319" cy="160319"/>
        </a:xfrm>
        <a:prstGeom prst="rightArrow">
          <a:avLst>
            <a:gd name="adj1" fmla="val 66700"/>
            <a:gd name="adj2" fmla="val 5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sp>
    <dsp:sp modelId="{9DCBE4C9-9854-3443-A76A-5007F14AEB74}">
      <dsp:nvSpPr>
        <dsp:cNvPr id="0" name=""/>
        <dsp:cNvSpPr/>
      </dsp:nvSpPr>
      <dsp:spPr>
        <a:xfrm>
          <a:off x="4180811" y="2759894"/>
          <a:ext cx="3664445" cy="916111"/>
        </a:xfrm>
        <a:prstGeom prst="roundRect">
          <a:avLst>
            <a:gd name="adj" fmla="val 10000"/>
          </a:avLst>
        </a:prstGeom>
        <a:solidFill>
          <a:schemeClr val="accent2"/>
        </a:solidFill>
        <a:ln w="15875" cap="flat" cmpd="sng" algn="ctr">
          <a:solidFill>
            <a:schemeClr val="bg2">
              <a:lumMod val="2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rtl="0">
            <a:lnSpc>
              <a:spcPct val="90000"/>
            </a:lnSpc>
            <a:spcBef>
              <a:spcPct val="0"/>
            </a:spcBef>
            <a:spcAft>
              <a:spcPct val="35000"/>
            </a:spcAft>
            <a:buNone/>
          </a:pPr>
          <a:r>
            <a:rPr lang="en-US" sz="1500" b="1" kern="1200" dirty="0">
              <a:solidFill>
                <a:schemeClr val="accent1">
                  <a:lumMod val="60000"/>
                  <a:lumOff val="40000"/>
                </a:schemeClr>
              </a:solidFill>
            </a:rPr>
            <a:t>Switches from user mode to kernel mode </a:t>
          </a:r>
          <a:r>
            <a:rPr lang="en-US" sz="1500" b="1" kern="1200" dirty="0"/>
            <a:t>so that the interrupt processing code may include privileged instructions</a:t>
          </a:r>
        </a:p>
      </dsp:txBody>
      <dsp:txXfrm>
        <a:off x="4207643" y="2786726"/>
        <a:ext cx="3610781" cy="862447"/>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3D3BDD-AEEA-5940-BEF7-E4CEB4F3E8D7}">
      <dsp:nvSpPr>
        <dsp:cNvPr id="0" name=""/>
        <dsp:cNvSpPr/>
      </dsp:nvSpPr>
      <dsp:spPr>
        <a:xfrm>
          <a:off x="1068263" y="68069"/>
          <a:ext cx="1616645" cy="969987"/>
        </a:xfrm>
        <a:prstGeom prst="roundRect">
          <a:avLst>
            <a:gd name="adj" fmla="val 10000"/>
          </a:avLst>
        </a:prstGeom>
        <a:solidFill>
          <a:schemeClr val="accent1"/>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Save the context of the processor</a:t>
          </a:r>
        </a:p>
      </dsp:txBody>
      <dsp:txXfrm>
        <a:off x="1096673" y="96479"/>
        <a:ext cx="1559825" cy="913167"/>
      </dsp:txXfrm>
    </dsp:sp>
    <dsp:sp modelId="{2006BB91-3B87-DA40-B6AE-2A5108A2EF2F}">
      <dsp:nvSpPr>
        <dsp:cNvPr id="0" name=""/>
        <dsp:cNvSpPr/>
      </dsp:nvSpPr>
      <dsp:spPr>
        <a:xfrm rot="119203">
          <a:off x="2817161" y="390760"/>
          <a:ext cx="319032" cy="400928"/>
        </a:xfrm>
        <a:prstGeom prst="rightArrow">
          <a:avLst>
            <a:gd name="adj1" fmla="val 60000"/>
            <a:gd name="adj2" fmla="val 50000"/>
          </a:avLst>
        </a:prstGeom>
        <a:solidFill>
          <a:schemeClr val="accent6"/>
        </a:solidFill>
        <a:ln>
          <a:solidFill>
            <a:schemeClr val="accent3"/>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2817190" y="469287"/>
        <a:ext cx="223322" cy="240556"/>
      </dsp:txXfrm>
    </dsp:sp>
    <dsp:sp modelId="{BCC1E542-A582-F347-92E2-47FFAB05B4F4}">
      <dsp:nvSpPr>
        <dsp:cNvPr id="0" name=""/>
        <dsp:cNvSpPr/>
      </dsp:nvSpPr>
      <dsp:spPr>
        <a:xfrm>
          <a:off x="3286494" y="45890"/>
          <a:ext cx="1589890" cy="116731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Update the process control block of the process currently in the Running state</a:t>
          </a:r>
        </a:p>
      </dsp:txBody>
      <dsp:txXfrm>
        <a:off x="3320683" y="80079"/>
        <a:ext cx="1521512" cy="1098933"/>
      </dsp:txXfrm>
    </dsp:sp>
    <dsp:sp modelId="{5C63AE9C-3248-D543-A4CF-FBBF3E8FEF02}">
      <dsp:nvSpPr>
        <dsp:cNvPr id="0" name=""/>
        <dsp:cNvSpPr/>
      </dsp:nvSpPr>
      <dsp:spPr>
        <a:xfrm rot="14">
          <a:off x="5042386" y="429087"/>
          <a:ext cx="399913" cy="400928"/>
        </a:xfrm>
        <a:prstGeom prst="rightArrow">
          <a:avLst>
            <a:gd name="adj1" fmla="val 60000"/>
            <a:gd name="adj2" fmla="val 5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5042386" y="509273"/>
        <a:ext cx="279939" cy="240556"/>
      </dsp:txXfrm>
    </dsp:sp>
    <dsp:sp modelId="{7A3273C6-06DA-2A4F-9E7A-C786AEC7AEAC}">
      <dsp:nvSpPr>
        <dsp:cNvPr id="0" name=""/>
        <dsp:cNvSpPr/>
      </dsp:nvSpPr>
      <dsp:spPr>
        <a:xfrm>
          <a:off x="5630938" y="144562"/>
          <a:ext cx="1616645" cy="969987"/>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Move the process control block of this process to the appropriate queue</a:t>
          </a:r>
        </a:p>
      </dsp:txBody>
      <dsp:txXfrm>
        <a:off x="5659348" y="172972"/>
        <a:ext cx="1559825" cy="913167"/>
      </dsp:txXfrm>
    </dsp:sp>
    <dsp:sp modelId="{9D560C38-FF45-9045-A810-1BF24480C61F}">
      <dsp:nvSpPr>
        <dsp:cNvPr id="0" name=""/>
        <dsp:cNvSpPr/>
      </dsp:nvSpPr>
      <dsp:spPr>
        <a:xfrm rot="5563564">
          <a:off x="6232659" y="1222697"/>
          <a:ext cx="337627" cy="400928"/>
        </a:xfrm>
        <a:prstGeom prst="rightArrow">
          <a:avLst>
            <a:gd name="adj1" fmla="val 60000"/>
            <a:gd name="adj2" fmla="val 5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rot="-5400000">
        <a:off x="6283604" y="1254404"/>
        <a:ext cx="240556" cy="236339"/>
      </dsp:txXfrm>
    </dsp:sp>
    <dsp:sp modelId="{326859DC-81AC-A14D-930E-03D3AB419642}">
      <dsp:nvSpPr>
        <dsp:cNvPr id="0" name=""/>
        <dsp:cNvSpPr/>
      </dsp:nvSpPr>
      <dsp:spPr>
        <a:xfrm>
          <a:off x="5554454" y="1750861"/>
          <a:ext cx="1616645" cy="969987"/>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Select another process for execution</a:t>
          </a:r>
        </a:p>
      </dsp:txBody>
      <dsp:txXfrm>
        <a:off x="5582864" y="1779271"/>
        <a:ext cx="1559825" cy="913167"/>
      </dsp:txXfrm>
    </dsp:sp>
    <dsp:sp modelId="{805C6834-FB35-294F-B4C8-3486D3ACB1FC}">
      <dsp:nvSpPr>
        <dsp:cNvPr id="0" name=""/>
        <dsp:cNvSpPr/>
      </dsp:nvSpPr>
      <dsp:spPr>
        <a:xfrm rot="4938424">
          <a:off x="6281157" y="2873835"/>
          <a:ext cx="389752" cy="400928"/>
        </a:xfrm>
        <a:prstGeom prst="rightArrow">
          <a:avLst>
            <a:gd name="adj1" fmla="val 60000"/>
            <a:gd name="adj2" fmla="val 5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5400000">
        <a:off x="6347929" y="2879949"/>
        <a:ext cx="240556" cy="272826"/>
      </dsp:txXfrm>
    </dsp:sp>
    <dsp:sp modelId="{DDF3FDD6-440B-A94B-BF4E-63FA31DC858B}">
      <dsp:nvSpPr>
        <dsp:cNvPr id="0" name=""/>
        <dsp:cNvSpPr/>
      </dsp:nvSpPr>
      <dsp:spPr>
        <a:xfrm>
          <a:off x="5783921" y="3449612"/>
          <a:ext cx="1616645" cy="969987"/>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Update the process control block of the process selected</a:t>
          </a:r>
        </a:p>
      </dsp:txBody>
      <dsp:txXfrm>
        <a:off x="5812331" y="3478022"/>
        <a:ext cx="1559825" cy="913167"/>
      </dsp:txXfrm>
    </dsp:sp>
    <dsp:sp modelId="{13239FAD-D619-4A49-8F9B-6ACE90C6968A}">
      <dsp:nvSpPr>
        <dsp:cNvPr id="0" name=""/>
        <dsp:cNvSpPr/>
      </dsp:nvSpPr>
      <dsp:spPr>
        <a:xfrm rot="10908884">
          <a:off x="5332663" y="3699287"/>
          <a:ext cx="318992" cy="400928"/>
        </a:xfrm>
        <a:prstGeom prst="rightArrow">
          <a:avLst>
            <a:gd name="adj1" fmla="val 60000"/>
            <a:gd name="adj2" fmla="val 5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rot="10800000">
        <a:off x="5428337" y="3780988"/>
        <a:ext cx="223294" cy="240556"/>
      </dsp:txXfrm>
    </dsp:sp>
    <dsp:sp modelId="{345D1EA6-731A-154F-A4B5-AB0B53187FB6}">
      <dsp:nvSpPr>
        <dsp:cNvPr id="0" name=""/>
        <dsp:cNvSpPr/>
      </dsp:nvSpPr>
      <dsp:spPr>
        <a:xfrm>
          <a:off x="3565705" y="3379331"/>
          <a:ext cx="1616645" cy="969987"/>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Update memory management data structures</a:t>
          </a:r>
        </a:p>
      </dsp:txBody>
      <dsp:txXfrm>
        <a:off x="3594115" y="3407741"/>
        <a:ext cx="1559825" cy="913167"/>
      </dsp:txXfrm>
    </dsp:sp>
    <dsp:sp modelId="{51D6E1CA-56DC-124D-8077-6C5DF4D18494}">
      <dsp:nvSpPr>
        <dsp:cNvPr id="0" name=""/>
        <dsp:cNvSpPr/>
      </dsp:nvSpPr>
      <dsp:spPr>
        <a:xfrm rot="10802269">
          <a:off x="2581628" y="3551189"/>
          <a:ext cx="696779" cy="400928"/>
        </a:xfrm>
        <a:prstGeom prst="rightArrow">
          <a:avLst>
            <a:gd name="adj1" fmla="val 60000"/>
            <a:gd name="adj2" fmla="val 5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rot="10800000">
        <a:off x="2701906" y="3631415"/>
        <a:ext cx="576501" cy="240556"/>
      </dsp:txXfrm>
    </dsp:sp>
    <dsp:sp modelId="{47648A24-091E-A440-9803-7FF254809863}">
      <dsp:nvSpPr>
        <dsp:cNvPr id="0" name=""/>
        <dsp:cNvSpPr/>
      </dsp:nvSpPr>
      <dsp:spPr>
        <a:xfrm>
          <a:off x="506074" y="2841905"/>
          <a:ext cx="1748935" cy="1577694"/>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Restore the context of the processor to that which existed at the time the selected process was last switched out</a:t>
          </a:r>
          <a:endParaRPr lang="en-NZ" sz="1400" kern="1200" dirty="0"/>
        </a:p>
      </dsp:txBody>
      <dsp:txXfrm>
        <a:off x="552283" y="2888114"/>
        <a:ext cx="1656517" cy="148527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DE00C8-8936-9E44-9966-B4C9443960E7}">
      <dsp:nvSpPr>
        <dsp:cNvPr id="0" name=""/>
        <dsp:cNvSpPr/>
      </dsp:nvSpPr>
      <dsp:spPr>
        <a:xfrm rot="5400000">
          <a:off x="-119077" y="120268"/>
          <a:ext cx="793849" cy="555694"/>
        </a:xfrm>
        <a:prstGeom prst="chevron">
          <a:avLst/>
        </a:prstGeom>
        <a:solidFill>
          <a:schemeClr val="accent6"/>
        </a:solidFill>
        <a:ln w="15875" cap="flat" cmpd="sng" algn="ctr">
          <a:solidFill>
            <a:schemeClr val="accent6"/>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1</a:t>
          </a:r>
        </a:p>
      </dsp:txBody>
      <dsp:txXfrm rot="-5400000">
        <a:off x="1" y="279037"/>
        <a:ext cx="555694" cy="238155"/>
      </dsp:txXfrm>
    </dsp:sp>
    <dsp:sp modelId="{DE36E0A4-4385-B342-8B67-3BFD80B681D3}">
      <dsp:nvSpPr>
        <dsp:cNvPr id="0" name=""/>
        <dsp:cNvSpPr/>
      </dsp:nvSpPr>
      <dsp:spPr>
        <a:xfrm rot="5400000">
          <a:off x="3067846" y="-2510961"/>
          <a:ext cx="516001" cy="5540305"/>
        </a:xfrm>
        <a:prstGeom prst="round2SameRect">
          <a:avLst/>
        </a:prstGeom>
        <a:solidFill>
          <a:schemeClr val="lt1">
            <a:alpha val="90000"/>
            <a:hueOff val="0"/>
            <a:satOff val="0"/>
            <a:lumOff val="0"/>
            <a:alphaOff val="0"/>
          </a:schemeClr>
        </a:solidFill>
        <a:ln w="15875" cap="flat" cmpd="sng" algn="ctr">
          <a:solidFill>
            <a:schemeClr val="accent6"/>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NZ" sz="1600" kern="1200" dirty="0"/>
            <a:t>Allocates a slot in the process table for the new process</a:t>
          </a:r>
          <a:endParaRPr lang="en-US" sz="1600" kern="1200" dirty="0"/>
        </a:p>
      </dsp:txBody>
      <dsp:txXfrm rot="-5400000">
        <a:off x="555695" y="26379"/>
        <a:ext cx="5515116" cy="465623"/>
      </dsp:txXfrm>
    </dsp:sp>
    <dsp:sp modelId="{DC049674-6133-A04F-8C71-4C489DF415B8}">
      <dsp:nvSpPr>
        <dsp:cNvPr id="0" name=""/>
        <dsp:cNvSpPr/>
      </dsp:nvSpPr>
      <dsp:spPr>
        <a:xfrm rot="5400000">
          <a:off x="-119077" y="814461"/>
          <a:ext cx="793849" cy="555694"/>
        </a:xfrm>
        <a:prstGeom prst="chevron">
          <a:avLst/>
        </a:prstGeom>
        <a:solidFill>
          <a:schemeClr val="accent6"/>
        </a:solidFill>
        <a:ln w="15875" cap="flat" cmpd="sng" algn="ctr">
          <a:solidFill>
            <a:schemeClr val="accent6"/>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2</a:t>
          </a:r>
        </a:p>
      </dsp:txBody>
      <dsp:txXfrm rot="-5400000">
        <a:off x="1" y="973230"/>
        <a:ext cx="555694" cy="238155"/>
      </dsp:txXfrm>
    </dsp:sp>
    <dsp:sp modelId="{E777551D-665B-EF40-A4AE-19569D80B09F}">
      <dsp:nvSpPr>
        <dsp:cNvPr id="0" name=""/>
        <dsp:cNvSpPr/>
      </dsp:nvSpPr>
      <dsp:spPr>
        <a:xfrm rot="5400000">
          <a:off x="3067846" y="-1816767"/>
          <a:ext cx="516001" cy="5540305"/>
        </a:xfrm>
        <a:prstGeom prst="round2SameRect">
          <a:avLst/>
        </a:prstGeom>
        <a:solidFill>
          <a:schemeClr val="lt1">
            <a:alpha val="90000"/>
            <a:hueOff val="0"/>
            <a:satOff val="0"/>
            <a:lumOff val="0"/>
            <a:alphaOff val="0"/>
          </a:schemeClr>
        </a:solidFill>
        <a:ln w="15875" cap="flat" cmpd="sng" algn="ctr">
          <a:solidFill>
            <a:schemeClr val="accent6"/>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NZ" sz="1600" kern="1200" dirty="0"/>
            <a:t>Assigns a unique process ID to the child process</a:t>
          </a:r>
          <a:endParaRPr lang="en-US" sz="1600" kern="1200" dirty="0"/>
        </a:p>
      </dsp:txBody>
      <dsp:txXfrm rot="-5400000">
        <a:off x="555695" y="720573"/>
        <a:ext cx="5515116" cy="465623"/>
      </dsp:txXfrm>
    </dsp:sp>
    <dsp:sp modelId="{60D3C4C0-DB41-9549-A77B-1596F4E9BADE}">
      <dsp:nvSpPr>
        <dsp:cNvPr id="0" name=""/>
        <dsp:cNvSpPr/>
      </dsp:nvSpPr>
      <dsp:spPr>
        <a:xfrm rot="5400000">
          <a:off x="-119077" y="1508655"/>
          <a:ext cx="793849" cy="555694"/>
        </a:xfrm>
        <a:prstGeom prst="chevron">
          <a:avLst/>
        </a:prstGeom>
        <a:solidFill>
          <a:schemeClr val="accent6"/>
        </a:solidFill>
        <a:ln w="15875" cap="flat" cmpd="sng" algn="ctr">
          <a:solidFill>
            <a:schemeClr val="accent6"/>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3</a:t>
          </a:r>
        </a:p>
      </dsp:txBody>
      <dsp:txXfrm rot="-5400000">
        <a:off x="1" y="1667424"/>
        <a:ext cx="555694" cy="238155"/>
      </dsp:txXfrm>
    </dsp:sp>
    <dsp:sp modelId="{E9ED7F19-3597-CC45-BF98-95FE334E7847}">
      <dsp:nvSpPr>
        <dsp:cNvPr id="0" name=""/>
        <dsp:cNvSpPr/>
      </dsp:nvSpPr>
      <dsp:spPr>
        <a:xfrm rot="5400000">
          <a:off x="3067846" y="-1122573"/>
          <a:ext cx="516001" cy="5540305"/>
        </a:xfrm>
        <a:prstGeom prst="round2SameRect">
          <a:avLst/>
        </a:prstGeom>
        <a:solidFill>
          <a:schemeClr val="lt1">
            <a:alpha val="90000"/>
            <a:hueOff val="0"/>
            <a:satOff val="0"/>
            <a:lumOff val="0"/>
            <a:alphaOff val="0"/>
          </a:schemeClr>
        </a:solidFill>
        <a:ln w="15875" cap="flat" cmpd="sng" algn="ctr">
          <a:solidFill>
            <a:schemeClr val="accent6"/>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NZ" sz="1600" kern="1200" dirty="0"/>
            <a:t>Makes a copy of the process image of the parent, with the exception of any shared memory</a:t>
          </a:r>
          <a:endParaRPr lang="en-US" sz="1600" kern="1200" dirty="0"/>
        </a:p>
      </dsp:txBody>
      <dsp:txXfrm rot="-5400000">
        <a:off x="555695" y="1414767"/>
        <a:ext cx="5515116" cy="465623"/>
      </dsp:txXfrm>
    </dsp:sp>
    <dsp:sp modelId="{57F9225C-7463-394C-B866-B20156C2172A}">
      <dsp:nvSpPr>
        <dsp:cNvPr id="0" name=""/>
        <dsp:cNvSpPr/>
      </dsp:nvSpPr>
      <dsp:spPr>
        <a:xfrm rot="5400000">
          <a:off x="-119077" y="2202849"/>
          <a:ext cx="793849" cy="555694"/>
        </a:xfrm>
        <a:prstGeom prst="chevron">
          <a:avLst/>
        </a:prstGeom>
        <a:solidFill>
          <a:schemeClr val="accent6"/>
        </a:solidFill>
        <a:ln w="15875" cap="flat" cmpd="sng" algn="ctr">
          <a:solidFill>
            <a:schemeClr val="accent6"/>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4</a:t>
          </a:r>
        </a:p>
      </dsp:txBody>
      <dsp:txXfrm rot="-5400000">
        <a:off x="1" y="2361618"/>
        <a:ext cx="555694" cy="238155"/>
      </dsp:txXfrm>
    </dsp:sp>
    <dsp:sp modelId="{C8D66159-239C-A947-93EB-FF89054E979D}">
      <dsp:nvSpPr>
        <dsp:cNvPr id="0" name=""/>
        <dsp:cNvSpPr/>
      </dsp:nvSpPr>
      <dsp:spPr>
        <a:xfrm rot="5400000">
          <a:off x="3067846" y="-428379"/>
          <a:ext cx="516001" cy="5540305"/>
        </a:xfrm>
        <a:prstGeom prst="round2SameRect">
          <a:avLst/>
        </a:prstGeom>
        <a:solidFill>
          <a:schemeClr val="lt1">
            <a:alpha val="90000"/>
            <a:hueOff val="0"/>
            <a:satOff val="0"/>
            <a:lumOff val="0"/>
            <a:alphaOff val="0"/>
          </a:schemeClr>
        </a:solidFill>
        <a:ln w="15875" cap="flat" cmpd="sng" algn="ctr">
          <a:solidFill>
            <a:schemeClr val="accent6"/>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NZ" sz="1600" kern="1200" dirty="0"/>
            <a:t>Increments counters for any files owned by the parent, to reflect that an additional process now also owns those files</a:t>
          </a:r>
          <a:endParaRPr lang="en-US" sz="1600" kern="1200" dirty="0"/>
        </a:p>
      </dsp:txBody>
      <dsp:txXfrm rot="-5400000">
        <a:off x="555695" y="2108961"/>
        <a:ext cx="5515116" cy="465623"/>
      </dsp:txXfrm>
    </dsp:sp>
    <dsp:sp modelId="{44CC2E2D-F2DF-9041-993A-5C0D23E88755}">
      <dsp:nvSpPr>
        <dsp:cNvPr id="0" name=""/>
        <dsp:cNvSpPr/>
      </dsp:nvSpPr>
      <dsp:spPr>
        <a:xfrm rot="5400000">
          <a:off x="-119077" y="2897043"/>
          <a:ext cx="793849" cy="555694"/>
        </a:xfrm>
        <a:prstGeom prst="chevron">
          <a:avLst/>
        </a:prstGeom>
        <a:solidFill>
          <a:schemeClr val="accent6"/>
        </a:solidFill>
        <a:ln w="15875" cap="flat" cmpd="sng" algn="ctr">
          <a:solidFill>
            <a:schemeClr val="accent6"/>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5</a:t>
          </a:r>
        </a:p>
      </dsp:txBody>
      <dsp:txXfrm rot="-5400000">
        <a:off x="1" y="3055812"/>
        <a:ext cx="555694" cy="238155"/>
      </dsp:txXfrm>
    </dsp:sp>
    <dsp:sp modelId="{C3846997-357D-6843-BF65-FD04875FAF4D}">
      <dsp:nvSpPr>
        <dsp:cNvPr id="0" name=""/>
        <dsp:cNvSpPr/>
      </dsp:nvSpPr>
      <dsp:spPr>
        <a:xfrm rot="5400000">
          <a:off x="3067846" y="265814"/>
          <a:ext cx="516001" cy="5540305"/>
        </a:xfrm>
        <a:prstGeom prst="round2SameRect">
          <a:avLst/>
        </a:prstGeom>
        <a:solidFill>
          <a:schemeClr val="lt1">
            <a:alpha val="90000"/>
            <a:hueOff val="0"/>
            <a:satOff val="0"/>
            <a:lumOff val="0"/>
            <a:alphaOff val="0"/>
          </a:schemeClr>
        </a:solidFill>
        <a:ln w="15875" cap="flat" cmpd="sng" algn="ctr">
          <a:solidFill>
            <a:schemeClr val="accent6"/>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NZ" sz="1600" kern="1200" dirty="0"/>
            <a:t>Assigns the child process to the Ready to Run state</a:t>
          </a:r>
          <a:endParaRPr lang="en-US" sz="1600" kern="1200" dirty="0"/>
        </a:p>
      </dsp:txBody>
      <dsp:txXfrm rot="-5400000">
        <a:off x="555695" y="2803155"/>
        <a:ext cx="5515116" cy="465623"/>
      </dsp:txXfrm>
    </dsp:sp>
    <dsp:sp modelId="{A78E5709-1C0A-D648-AB3D-891FA8B66E39}">
      <dsp:nvSpPr>
        <dsp:cNvPr id="0" name=""/>
        <dsp:cNvSpPr/>
      </dsp:nvSpPr>
      <dsp:spPr>
        <a:xfrm rot="5400000">
          <a:off x="-119077" y="3591237"/>
          <a:ext cx="793849" cy="555694"/>
        </a:xfrm>
        <a:prstGeom prst="chevron">
          <a:avLst/>
        </a:prstGeom>
        <a:solidFill>
          <a:schemeClr val="accent6"/>
        </a:solidFill>
        <a:ln w="15875" cap="flat" cmpd="sng" algn="ctr">
          <a:solidFill>
            <a:schemeClr val="accent6"/>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6</a:t>
          </a:r>
        </a:p>
      </dsp:txBody>
      <dsp:txXfrm rot="-5400000">
        <a:off x="1" y="3750006"/>
        <a:ext cx="555694" cy="238155"/>
      </dsp:txXfrm>
    </dsp:sp>
    <dsp:sp modelId="{4E432B58-784D-554A-BE3D-1448B6DB0C1D}">
      <dsp:nvSpPr>
        <dsp:cNvPr id="0" name=""/>
        <dsp:cNvSpPr/>
      </dsp:nvSpPr>
      <dsp:spPr>
        <a:xfrm rot="5400000">
          <a:off x="3067846" y="960008"/>
          <a:ext cx="516001" cy="5540305"/>
        </a:xfrm>
        <a:prstGeom prst="round2SameRect">
          <a:avLst/>
        </a:prstGeom>
        <a:solidFill>
          <a:schemeClr val="lt1">
            <a:alpha val="90000"/>
            <a:hueOff val="0"/>
            <a:satOff val="0"/>
            <a:lumOff val="0"/>
            <a:alphaOff val="0"/>
          </a:schemeClr>
        </a:solidFill>
        <a:ln w="15875" cap="flat" cmpd="sng" algn="ctr">
          <a:solidFill>
            <a:schemeClr val="accent6"/>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NZ" sz="1600" kern="1200" dirty="0"/>
            <a:t>Returns the ID number of the child to the parent process, and a 0 value to the child process</a:t>
          </a:r>
          <a:endParaRPr lang="en-US" sz="1600" kern="1200" dirty="0"/>
        </a:p>
      </dsp:txBody>
      <dsp:txXfrm rot="-5400000">
        <a:off x="555695" y="3497349"/>
        <a:ext cx="5515116" cy="46562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2.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5">
  <dgm:title val=""/>
  <dgm:desc val=""/>
  <dgm:catLst>
    <dgm:cat type="3D" pri="11500"/>
  </dgm:catLst>
  <dgm:scene3d>
    <a:camera prst="isometricOffAxis2Left" zoom="95000"/>
    <a:lightRig rig="flat" dir="t"/>
  </dgm:scene3d>
  <dgm:styleLbl name="node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381000" contourW="38100" prstMaterial="matte">
      <a:contourClr>
        <a:schemeClr val="lt1"/>
      </a:contourClr>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z="5715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81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52400" extrusionH="1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z="-38100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381000" prstMaterial="matte"/>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400500" extrusionH="6350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150" extrusionH="12700" prstMaterial="flat">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2700" prstMaterial="flat">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63500" extrusionH="6350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400500" extrusionH="63500" contourW="12700" prstMaterial="matte">
      <a:contourClr>
        <a:schemeClr val="lt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40050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4005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15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9">
  <dgm:title val=""/>
  <dgm:desc val=""/>
  <dgm:catLst>
    <dgm:cat type="3D" pri="11900"/>
  </dgm:catLst>
  <dgm:scene3d>
    <a:camera prst="perspectiveRelaxed">
      <a:rot lat="19149996" lon="20104178" rev="1577324"/>
    </a:camera>
    <a:lightRig rig="soft" dir="t"/>
    <a:backdrop>
      <a:anchor x="0" y="0" z="-210000"/>
      <a:norm dx="0" dy="0" dz="914400"/>
      <a:up dx="0" dy="914400" dz="0"/>
    </a:backdrop>
  </dgm:scene3d>
  <dgm:styleLbl name="node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52250" prstMaterial="matte">
      <a:bevelT w="165100" prst="coolSlant"/>
    </dgm:sp3d>
    <dgm:txPr>
      <a:sp3d extrusionH="28000" prstMaterial="matte"/>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152250" prstMaterial="matte">
      <a:bevelT w="165100" prst="coolSlan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prstMaterial="matte"/>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22735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2D4">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1D1">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prstMaterial="matte"/>
    <dgm:txPr/>
    <dgm:style>
      <a:lnRef idx="0">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a:sp3d extrusionH="28000" prstMaterial="matte"/>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NZ"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0A9BED9-0B80-4399-A458-3ADCCC0057AE}" type="datetimeFigureOut">
              <a:rPr lang="en-US" smtClean="0"/>
              <a:pPr/>
              <a:t>1/30/2026</a:t>
            </a:fld>
            <a:endParaRPr lang="en-NZ"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NZ"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DA649A7-53D2-4D96-9688-A4162C228653}" type="slidenum">
              <a:rPr lang="en-NZ" smtClean="0"/>
              <a:pPr/>
              <a:t>‹#›</a:t>
            </a:fld>
            <a:endParaRPr lang="en-NZ" dirty="0"/>
          </a:p>
        </p:txBody>
      </p:sp>
    </p:spTree>
    <p:extLst>
      <p:ext uri="{BB962C8B-B14F-4D97-AF65-F5344CB8AC3E}">
        <p14:creationId xmlns:p14="http://schemas.microsoft.com/office/powerpoint/2010/main" val="294231121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5C19E2A7-2174-452B-9BED-C410D2434D57}" type="datetimeFigureOut">
              <a:rPr lang="en-US"/>
              <a:pPr>
                <a:defRPr/>
              </a:pPr>
              <a:t>1/30/2026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5FBF5012-E6F5-495C-A541-6B7E71D3D4A6}" type="slidenum">
              <a:rPr lang="en-US"/>
              <a:pPr>
                <a:defRPr/>
              </a:pPr>
              <a:t>‹#›</a:t>
            </a:fld>
            <a:endParaRPr lang="en-US" dirty="0"/>
          </a:p>
        </p:txBody>
      </p:sp>
    </p:spTree>
    <p:extLst>
      <p:ext uri="{BB962C8B-B14F-4D97-AF65-F5344CB8AC3E}">
        <p14:creationId xmlns:p14="http://schemas.microsoft.com/office/powerpoint/2010/main" val="1319519879"/>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06" charset="0"/>
                <a:ea typeface="ＭＳ Ｐゴシック" pitchFamily="-106" charset="-128"/>
                <a:cs typeface="ＭＳ Ｐゴシック" pitchFamily="-106" charset="-128"/>
              </a:rPr>
              <a:t>“</a:t>
            </a:r>
            <a:r>
              <a:rPr kumimoji="1" lang="en-US" dirty="0">
                <a:latin typeface="Times New Roman" pitchFamily="-106" charset="0"/>
                <a:ea typeface="ＭＳ Ｐゴシック" pitchFamily="-106" charset="-128"/>
                <a:cs typeface="ＭＳ Ｐゴシック" pitchFamily="-106" charset="-128"/>
              </a:rPr>
              <a:t>Operating</a:t>
            </a:r>
            <a:r>
              <a:rPr kumimoji="1" lang="en-US" baseline="0" dirty="0">
                <a:latin typeface="Times New Roman" pitchFamily="-106" charset="0"/>
                <a:ea typeface="ＭＳ Ｐゴシック" pitchFamily="-106" charset="-128"/>
                <a:cs typeface="ＭＳ Ｐゴシック" pitchFamily="-106" charset="-128"/>
              </a:rPr>
              <a:t> Systems: Internal and Design Principles</a:t>
            </a:r>
            <a:r>
              <a:rPr lang="en-US" dirty="0">
                <a:latin typeface="Times New Roman" pitchFamily="-106" charset="0"/>
                <a:ea typeface="ＭＳ Ｐゴシック" pitchFamily="-106" charset="-128"/>
                <a:cs typeface="ＭＳ Ｐゴシック" pitchFamily="-106" charset="-128"/>
              </a:rPr>
              <a:t>”, 9/e, by William Stallings, Chapter 3 “</a:t>
            </a:r>
            <a:r>
              <a:rPr kumimoji="1" lang="en-GB" dirty="0">
                <a:latin typeface="Times New Roman" pitchFamily="-106" charset="0"/>
                <a:ea typeface="ＭＳ Ｐゴシック" pitchFamily="-106" charset="-128"/>
                <a:cs typeface="ＭＳ Ｐゴシック" pitchFamily="-106" charset="-128"/>
              </a:rPr>
              <a:t>Process</a:t>
            </a:r>
            <a:r>
              <a:rPr kumimoji="1" lang="en-GB" baseline="0" dirty="0">
                <a:latin typeface="Times New Roman" pitchFamily="-106" charset="0"/>
                <a:ea typeface="ＭＳ Ｐゴシック" pitchFamily="-106" charset="-128"/>
                <a:cs typeface="ＭＳ Ｐゴシック" pitchFamily="-106" charset="-128"/>
              </a:rPr>
              <a:t> Description and Control</a:t>
            </a:r>
            <a:r>
              <a:rPr lang="en-US" dirty="0">
                <a:latin typeface="Times New Roman" pitchFamily="-106" charset="0"/>
                <a:ea typeface="ＭＳ Ｐゴシック" pitchFamily="-106" charset="-128"/>
                <a:cs typeface="ＭＳ Ｐゴシック" pitchFamily="-106" charset="-128"/>
              </a:rPr>
              <a:t>”.</a:t>
            </a:r>
            <a:endParaRPr lang="en-AU" dirty="0">
              <a:latin typeface="Times New Roman" pitchFamily="-106" charset="0"/>
              <a:ea typeface="ＭＳ Ｐゴシック" pitchFamily="-106" charset="-128"/>
              <a:cs typeface="ＭＳ Ｐゴシック" pitchFamily="-106" charset="-128"/>
            </a:endParaRPr>
          </a:p>
          <a:p>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1</a:t>
            </a:fld>
            <a:endParaRPr lang="en-US" dirty="0"/>
          </a:p>
        </p:txBody>
      </p:sp>
    </p:spTree>
    <p:extLst>
      <p:ext uri="{BB962C8B-B14F-4D97-AF65-F5344CB8AC3E}">
        <p14:creationId xmlns:p14="http://schemas.microsoft.com/office/powerpoint/2010/main" val="11611591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sz="1200" b="0" kern="1200" baseline="0" dirty="0">
                <a:solidFill>
                  <a:schemeClr val="tx1"/>
                </a:solidFill>
                <a:latin typeface="+mn-lt"/>
                <a:ea typeface="+mn-ea"/>
                <a:cs typeface="+mn-cs"/>
              </a:rPr>
              <a:t>Before defining the term </a:t>
            </a:r>
            <a:r>
              <a:rPr lang="en-US" sz="1200" b="0" i="1" kern="1200" baseline="0" dirty="0">
                <a:solidFill>
                  <a:schemeClr val="tx1"/>
                </a:solidFill>
                <a:latin typeface="+mn-lt"/>
                <a:ea typeface="+mn-ea"/>
                <a:cs typeface="+mn-cs"/>
              </a:rPr>
              <a:t>process , it is useful to summarize some of the concepts</a:t>
            </a:r>
          </a:p>
          <a:p>
            <a:r>
              <a:rPr lang="en-US" sz="1200" b="0" kern="1200" baseline="0" dirty="0">
                <a:solidFill>
                  <a:schemeClr val="tx1"/>
                </a:solidFill>
                <a:latin typeface="+mn-lt"/>
                <a:ea typeface="+mn-ea"/>
                <a:cs typeface="+mn-cs"/>
              </a:rPr>
              <a:t>introduced in Chapters 1 and 2 :</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1. A computer platform consists of a collection of hardware resources, such as</a:t>
            </a:r>
          </a:p>
          <a:p>
            <a:r>
              <a:rPr lang="en-US" sz="1200" b="0" kern="1200" baseline="0" dirty="0">
                <a:solidFill>
                  <a:schemeClr val="tx1"/>
                </a:solidFill>
                <a:latin typeface="+mn-lt"/>
                <a:ea typeface="+mn-ea"/>
                <a:cs typeface="+mn-cs"/>
              </a:rPr>
              <a:t>the processor, main memory, I/O modules, timers, disk drives, and so on.</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2. Computer applications are developed to perform some task. Typically, they</a:t>
            </a:r>
          </a:p>
          <a:p>
            <a:r>
              <a:rPr lang="en-US" sz="1200" b="0" kern="1200" baseline="0" dirty="0">
                <a:solidFill>
                  <a:schemeClr val="tx1"/>
                </a:solidFill>
                <a:latin typeface="+mn-lt"/>
                <a:ea typeface="+mn-ea"/>
                <a:cs typeface="+mn-cs"/>
              </a:rPr>
              <a:t>accept input from the outside world, perform some processing, and generate</a:t>
            </a:r>
          </a:p>
          <a:p>
            <a:r>
              <a:rPr lang="en-US" sz="1200" b="0" kern="1200" baseline="0" dirty="0">
                <a:solidFill>
                  <a:schemeClr val="tx1"/>
                </a:solidFill>
                <a:latin typeface="+mn-lt"/>
                <a:ea typeface="+mn-ea"/>
                <a:cs typeface="+mn-cs"/>
              </a:rPr>
              <a:t>output.</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3. It is inefficient for applications to be written directly for a given hardware</a:t>
            </a:r>
          </a:p>
          <a:p>
            <a:r>
              <a:rPr lang="en-US" sz="1200" b="0" kern="1200" baseline="0" dirty="0">
                <a:solidFill>
                  <a:schemeClr val="tx1"/>
                </a:solidFill>
                <a:latin typeface="+mn-lt"/>
                <a:ea typeface="+mn-ea"/>
                <a:cs typeface="+mn-cs"/>
              </a:rPr>
              <a:t>platform. The principal reasons for this are as follows: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a. Numerous applications can be developed for the same platform. Thus, it</a:t>
            </a:r>
          </a:p>
          <a:p>
            <a:r>
              <a:rPr lang="en-US" sz="1200" b="0" kern="1200" baseline="0" dirty="0">
                <a:solidFill>
                  <a:schemeClr val="tx1"/>
                </a:solidFill>
                <a:latin typeface="+mn-lt"/>
                <a:ea typeface="+mn-ea"/>
                <a:cs typeface="+mn-cs"/>
              </a:rPr>
              <a:t>makes sense to develop common routines for accessing the computer’s</a:t>
            </a:r>
          </a:p>
          <a:p>
            <a:r>
              <a:rPr lang="en-US" sz="1200" b="0" kern="1200" baseline="0" dirty="0">
                <a:solidFill>
                  <a:schemeClr val="tx1"/>
                </a:solidFill>
                <a:latin typeface="+mn-lt"/>
                <a:ea typeface="+mn-ea"/>
                <a:cs typeface="+mn-cs"/>
              </a:rPr>
              <a:t>resources.</a:t>
            </a:r>
          </a:p>
          <a:p>
            <a:endParaRPr lang="en-US" sz="1200" b="0" kern="1200" baseline="0" dirty="0">
              <a:solidFill>
                <a:schemeClr val="tx1"/>
              </a:solidFill>
              <a:latin typeface="+mn-lt"/>
              <a:ea typeface="+mn-ea"/>
              <a:cs typeface="+mn-cs"/>
            </a:endParaRPr>
          </a:p>
          <a:p>
            <a:r>
              <a:rPr lang="en-US" sz="1200" b="0" kern="1200" baseline="0" dirty="0" err="1">
                <a:solidFill>
                  <a:schemeClr val="tx1"/>
                </a:solidFill>
                <a:latin typeface="+mn-lt"/>
                <a:ea typeface="+mn-ea"/>
                <a:cs typeface="+mn-cs"/>
              </a:rPr>
              <a:t>b</a:t>
            </a:r>
            <a:r>
              <a:rPr lang="en-US" sz="1200" b="0" kern="1200" baseline="0" dirty="0">
                <a:solidFill>
                  <a:schemeClr val="tx1"/>
                </a:solidFill>
                <a:latin typeface="+mn-lt"/>
                <a:ea typeface="+mn-ea"/>
                <a:cs typeface="+mn-cs"/>
              </a:rPr>
              <a:t>. The processor itself provides only limited support for multiprogramming.</a:t>
            </a:r>
          </a:p>
          <a:p>
            <a:r>
              <a:rPr lang="en-US" sz="1200" b="0" kern="1200" baseline="0" dirty="0">
                <a:solidFill>
                  <a:schemeClr val="tx1"/>
                </a:solidFill>
                <a:latin typeface="+mn-lt"/>
                <a:ea typeface="+mn-ea"/>
                <a:cs typeface="+mn-cs"/>
              </a:rPr>
              <a:t>Software is needed to manage the sharing of the processor and other</a:t>
            </a:r>
          </a:p>
          <a:p>
            <a:r>
              <a:rPr lang="en-US" sz="1200" b="0" kern="1200" baseline="0" dirty="0">
                <a:solidFill>
                  <a:schemeClr val="tx1"/>
                </a:solidFill>
                <a:latin typeface="+mn-lt"/>
                <a:ea typeface="+mn-ea"/>
                <a:cs typeface="+mn-cs"/>
              </a:rPr>
              <a:t>resources by multiple applications at the same time.</a:t>
            </a:r>
          </a:p>
          <a:p>
            <a:endParaRPr lang="en-US" sz="1200" b="0" kern="1200" baseline="0" dirty="0">
              <a:solidFill>
                <a:schemeClr val="tx1"/>
              </a:solidFill>
              <a:latin typeface="+mn-lt"/>
              <a:ea typeface="+mn-ea"/>
              <a:cs typeface="+mn-cs"/>
            </a:endParaRPr>
          </a:p>
          <a:p>
            <a:r>
              <a:rPr lang="en-US" sz="1200" b="0" kern="1200" baseline="0" dirty="0" err="1">
                <a:solidFill>
                  <a:schemeClr val="tx1"/>
                </a:solidFill>
                <a:latin typeface="+mn-lt"/>
                <a:ea typeface="+mn-ea"/>
                <a:cs typeface="+mn-cs"/>
              </a:rPr>
              <a:t>c</a:t>
            </a:r>
            <a:r>
              <a:rPr lang="en-US" sz="1200" b="0" kern="1200" baseline="0" dirty="0">
                <a:solidFill>
                  <a:schemeClr val="tx1"/>
                </a:solidFill>
                <a:latin typeface="+mn-lt"/>
                <a:ea typeface="+mn-ea"/>
                <a:cs typeface="+mn-cs"/>
              </a:rPr>
              <a:t>. When multiple applications are active at the same time, it is necessary to</a:t>
            </a:r>
          </a:p>
          <a:p>
            <a:r>
              <a:rPr lang="en-US" sz="1200" b="0" kern="1200" baseline="0" dirty="0">
                <a:solidFill>
                  <a:schemeClr val="tx1"/>
                </a:solidFill>
                <a:latin typeface="+mn-lt"/>
                <a:ea typeface="+mn-ea"/>
                <a:cs typeface="+mn-cs"/>
              </a:rPr>
              <a:t>protect the data, I/O use, and other resource use of each application from</a:t>
            </a:r>
          </a:p>
          <a:p>
            <a:r>
              <a:rPr lang="en-US" sz="1200" b="0" kern="1200" baseline="0" dirty="0">
                <a:solidFill>
                  <a:schemeClr val="tx1"/>
                </a:solidFill>
                <a:latin typeface="+mn-lt"/>
                <a:ea typeface="+mn-ea"/>
                <a:cs typeface="+mn-cs"/>
              </a:rPr>
              <a:t>the others.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4. The OS was developed to provide a convenient, feature-rich, secure, and consistent</a:t>
            </a:r>
          </a:p>
          <a:p>
            <a:r>
              <a:rPr lang="en-US" sz="1200" b="0" kern="1200" baseline="0" dirty="0">
                <a:solidFill>
                  <a:schemeClr val="tx1"/>
                </a:solidFill>
                <a:latin typeface="+mn-lt"/>
                <a:ea typeface="+mn-ea"/>
                <a:cs typeface="+mn-cs"/>
              </a:rPr>
              <a:t>interface for applications to use. The OS is a layer of software between</a:t>
            </a:r>
          </a:p>
          <a:p>
            <a:r>
              <a:rPr lang="en-US" sz="1200" b="0" kern="1200" baseline="0" dirty="0">
                <a:solidFill>
                  <a:schemeClr val="tx1"/>
                </a:solidFill>
                <a:latin typeface="+mn-lt"/>
                <a:ea typeface="+mn-ea"/>
                <a:cs typeface="+mn-cs"/>
              </a:rPr>
              <a:t>the applications and the computer hardware ( Figure 2.1 ) that supports applications</a:t>
            </a:r>
          </a:p>
          <a:p>
            <a:r>
              <a:rPr lang="en-US" sz="1200" b="0" kern="1200" baseline="0" dirty="0">
                <a:solidFill>
                  <a:schemeClr val="tx1"/>
                </a:solidFill>
                <a:latin typeface="+mn-lt"/>
                <a:ea typeface="+mn-ea"/>
                <a:cs typeface="+mn-cs"/>
              </a:rPr>
              <a:t>and utilities.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5. We can think of the OS as providing a uniform, abstract representation of</a:t>
            </a:r>
          </a:p>
          <a:p>
            <a:r>
              <a:rPr lang="en-US" sz="1200" b="0" kern="1200" baseline="0" dirty="0">
                <a:solidFill>
                  <a:schemeClr val="tx1"/>
                </a:solidFill>
                <a:latin typeface="+mn-lt"/>
                <a:ea typeface="+mn-ea"/>
                <a:cs typeface="+mn-cs"/>
              </a:rPr>
              <a:t>resources that can be requested and accessed by applications. Resources</a:t>
            </a:r>
          </a:p>
          <a:p>
            <a:r>
              <a:rPr lang="en-US" sz="1200" b="0" kern="1200" baseline="0" dirty="0">
                <a:solidFill>
                  <a:schemeClr val="tx1"/>
                </a:solidFill>
                <a:latin typeface="+mn-lt"/>
                <a:ea typeface="+mn-ea"/>
                <a:cs typeface="+mn-cs"/>
              </a:rPr>
              <a:t>include main memory, network interfaces, file systems, and so on. Once the</a:t>
            </a:r>
          </a:p>
          <a:p>
            <a:r>
              <a:rPr lang="en-US" sz="1200" b="0" kern="1200" baseline="0" dirty="0">
                <a:solidFill>
                  <a:schemeClr val="tx1"/>
                </a:solidFill>
                <a:latin typeface="+mn-lt"/>
                <a:ea typeface="+mn-ea"/>
                <a:cs typeface="+mn-cs"/>
              </a:rPr>
              <a:t>OS has created these resource abstractions for applications to use, it must</a:t>
            </a:r>
          </a:p>
          <a:p>
            <a:r>
              <a:rPr lang="en-US" sz="1200" b="0" kern="1200" baseline="0" dirty="0">
                <a:solidFill>
                  <a:schemeClr val="tx1"/>
                </a:solidFill>
                <a:latin typeface="+mn-lt"/>
                <a:ea typeface="+mn-ea"/>
                <a:cs typeface="+mn-cs"/>
              </a:rPr>
              <a:t>also manage their use. For example, an OS may permit resource sharing and</a:t>
            </a:r>
          </a:p>
          <a:p>
            <a:r>
              <a:rPr lang="en-US" sz="1200" b="0" kern="1200" baseline="0" dirty="0">
                <a:solidFill>
                  <a:schemeClr val="tx1"/>
                </a:solidFill>
                <a:latin typeface="+mn-lt"/>
                <a:ea typeface="+mn-ea"/>
                <a:cs typeface="+mn-cs"/>
              </a:rPr>
              <a:t>resource protection.</a:t>
            </a:r>
            <a:endParaRPr lang="en-US" b="0"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2</a:t>
            </a:fld>
            <a:endParaRPr lang="en-US" dirty="0"/>
          </a:p>
        </p:txBody>
      </p:sp>
    </p:spTree>
    <p:extLst>
      <p:ext uri="{BB962C8B-B14F-4D97-AF65-F5344CB8AC3E}">
        <p14:creationId xmlns:p14="http://schemas.microsoft.com/office/powerpoint/2010/main" val="21066925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Now that we have the concepts of applications, system software, and resources,</a:t>
            </a:r>
          </a:p>
          <a:p>
            <a:r>
              <a:rPr lang="en-US" sz="1200" kern="1200" baseline="0" dirty="0">
                <a:solidFill>
                  <a:schemeClr val="tx1"/>
                </a:solidFill>
                <a:latin typeface="+mn-lt"/>
                <a:ea typeface="+mn-ea"/>
                <a:cs typeface="+mn-cs"/>
              </a:rPr>
              <a:t>we are in a position to discuss how the OS can, in an orderly fashion, manage the</a:t>
            </a:r>
          </a:p>
          <a:p>
            <a:r>
              <a:rPr lang="en-US" sz="1200" kern="1200" baseline="0" dirty="0">
                <a:solidFill>
                  <a:schemeClr val="tx1"/>
                </a:solidFill>
                <a:latin typeface="+mn-lt"/>
                <a:ea typeface="+mn-ea"/>
                <a:cs typeface="+mn-cs"/>
              </a:rPr>
              <a:t>execution of applications so that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Resources are made available to multiple applications.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physical processor is switched among multiple applications so all will</a:t>
            </a:r>
          </a:p>
          <a:p>
            <a:r>
              <a:rPr lang="en-US" sz="1200" kern="1200" baseline="0" dirty="0">
                <a:solidFill>
                  <a:schemeClr val="tx1"/>
                </a:solidFill>
                <a:latin typeface="+mn-lt"/>
                <a:ea typeface="+mn-ea"/>
                <a:cs typeface="+mn-cs"/>
              </a:rPr>
              <a:t>appear to be progressing.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processor and I/O devices can be used efficiently.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approach taken by all modern operating systems is to rely on a model in</a:t>
            </a:r>
          </a:p>
          <a:p>
            <a:r>
              <a:rPr lang="en-US" sz="1200" kern="1200" baseline="0" dirty="0">
                <a:solidFill>
                  <a:schemeClr val="tx1"/>
                </a:solidFill>
                <a:latin typeface="+mn-lt"/>
                <a:ea typeface="+mn-ea"/>
                <a:cs typeface="+mn-cs"/>
              </a:rPr>
              <a:t>which the execution of an application corresponds to the existence of one or more</a:t>
            </a:r>
          </a:p>
          <a:p>
            <a:r>
              <a:rPr lang="en-US" sz="1200" kern="1200" baseline="0" dirty="0">
                <a:solidFill>
                  <a:schemeClr val="tx1"/>
                </a:solidFill>
                <a:latin typeface="+mn-lt"/>
                <a:ea typeface="+mn-ea"/>
                <a:cs typeface="+mn-cs"/>
              </a:rPr>
              <a:t>processes.</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3</a:t>
            </a:fld>
            <a:endParaRPr lang="en-US" dirty="0"/>
          </a:p>
        </p:txBody>
      </p:sp>
    </p:spTree>
    <p:extLst>
      <p:ext uri="{BB962C8B-B14F-4D97-AF65-F5344CB8AC3E}">
        <p14:creationId xmlns:p14="http://schemas.microsoft.com/office/powerpoint/2010/main" val="32201586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Recall from Chapter 2 that we suggested several definitions of the term </a:t>
            </a:r>
            <a:r>
              <a:rPr lang="en-US" sz="1200" i="1" kern="1200" baseline="0" dirty="0">
                <a:solidFill>
                  <a:schemeClr val="tx1"/>
                </a:solidFill>
                <a:latin typeface="+mn-lt"/>
                <a:ea typeface="+mn-ea"/>
                <a:cs typeface="+mn-cs"/>
              </a:rPr>
              <a:t>process ,</a:t>
            </a:r>
          </a:p>
          <a:p>
            <a:r>
              <a:rPr lang="en-US" sz="1200" kern="1200" baseline="0" dirty="0">
                <a:solidFill>
                  <a:schemeClr val="tx1"/>
                </a:solidFill>
                <a:latin typeface="+mn-lt"/>
                <a:ea typeface="+mn-ea"/>
                <a:cs typeface="+mn-cs"/>
              </a:rPr>
              <a:t>including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 program in execution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An instance of a program running on a computer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entity that can be assigned to and executed on a processor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 unit of activity characterized by the execution of a sequence of instructions,</a:t>
            </a:r>
          </a:p>
          <a:p>
            <a:r>
              <a:rPr lang="en-US" sz="1200" kern="1200" baseline="0" dirty="0">
                <a:solidFill>
                  <a:schemeClr val="tx1"/>
                </a:solidFill>
                <a:latin typeface="+mn-lt"/>
                <a:ea typeface="+mn-ea"/>
                <a:cs typeface="+mn-cs"/>
              </a:rPr>
              <a:t>a current state, and an associated set of system resources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We can also think of a process as an entity that consists of a number of elements.</a:t>
            </a:r>
          </a:p>
          <a:p>
            <a:r>
              <a:rPr lang="en-US" sz="1200" kern="1200" baseline="0" dirty="0">
                <a:solidFill>
                  <a:schemeClr val="tx1"/>
                </a:solidFill>
                <a:latin typeface="+mn-lt"/>
                <a:ea typeface="+mn-ea"/>
                <a:cs typeface="+mn-cs"/>
              </a:rPr>
              <a:t>Two essential elements of a process are </a:t>
            </a:r>
            <a:r>
              <a:rPr lang="en-US" sz="1200" b="1" kern="1200" baseline="0" dirty="0">
                <a:solidFill>
                  <a:schemeClr val="tx1"/>
                </a:solidFill>
                <a:latin typeface="+mn-lt"/>
                <a:ea typeface="+mn-ea"/>
                <a:cs typeface="+mn-cs"/>
              </a:rPr>
              <a:t>program code (which may be shared with</a:t>
            </a:r>
          </a:p>
          <a:p>
            <a:r>
              <a:rPr lang="en-US" sz="1200" kern="1200" baseline="0" dirty="0">
                <a:solidFill>
                  <a:schemeClr val="tx1"/>
                </a:solidFill>
                <a:latin typeface="+mn-lt"/>
                <a:ea typeface="+mn-ea"/>
                <a:cs typeface="+mn-cs"/>
              </a:rPr>
              <a:t>other processes that are executing the same program) and a </a:t>
            </a:r>
            <a:r>
              <a:rPr lang="en-US" sz="1200" b="1" kern="1200" baseline="0" dirty="0">
                <a:solidFill>
                  <a:schemeClr val="tx1"/>
                </a:solidFill>
                <a:latin typeface="+mn-lt"/>
                <a:ea typeface="+mn-ea"/>
                <a:cs typeface="+mn-cs"/>
              </a:rPr>
              <a:t>set of data associated</a:t>
            </a:r>
          </a:p>
          <a:p>
            <a:r>
              <a:rPr lang="en-US" sz="1200" kern="1200" baseline="0" dirty="0">
                <a:solidFill>
                  <a:schemeClr val="tx1"/>
                </a:solidFill>
                <a:latin typeface="+mn-lt"/>
                <a:ea typeface="+mn-ea"/>
                <a:cs typeface="+mn-cs"/>
              </a:rPr>
              <a:t>with that code. Let us suppose that the processor begins to execute this program</a:t>
            </a:r>
          </a:p>
          <a:p>
            <a:r>
              <a:rPr lang="en-US" sz="1200" kern="1200" baseline="0" dirty="0">
                <a:solidFill>
                  <a:schemeClr val="tx1"/>
                </a:solidFill>
                <a:latin typeface="+mn-lt"/>
                <a:ea typeface="+mn-ea"/>
                <a:cs typeface="+mn-cs"/>
              </a:rPr>
              <a:t>code, and we refer to this executing entity as a process.</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4</a:t>
            </a:fld>
            <a:endParaRPr lang="en-US" dirty="0"/>
          </a:p>
        </p:txBody>
      </p:sp>
    </p:spTree>
    <p:extLst>
      <p:ext uri="{BB962C8B-B14F-4D97-AF65-F5344CB8AC3E}">
        <p14:creationId xmlns:p14="http://schemas.microsoft.com/office/powerpoint/2010/main" val="37428004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b="0" kern="1200" baseline="0" dirty="0">
                <a:solidFill>
                  <a:schemeClr val="tx1"/>
                </a:solidFill>
                <a:latin typeface="+mn-lt"/>
                <a:ea typeface="+mn-ea"/>
                <a:cs typeface="+mn-cs"/>
              </a:rPr>
              <a:t>At any given point in time,</a:t>
            </a:r>
          </a:p>
          <a:p>
            <a:r>
              <a:rPr lang="en-US" sz="1200" b="0" i="1" kern="1200" baseline="0" dirty="0">
                <a:solidFill>
                  <a:schemeClr val="tx1"/>
                </a:solidFill>
                <a:latin typeface="+mn-lt"/>
                <a:ea typeface="+mn-ea"/>
                <a:cs typeface="+mn-cs"/>
              </a:rPr>
              <a:t>while the program is executing , this process can be uniquely characterized by a</a:t>
            </a:r>
          </a:p>
          <a:p>
            <a:r>
              <a:rPr lang="en-US" sz="1200" b="0" kern="1200" baseline="0" dirty="0">
                <a:solidFill>
                  <a:schemeClr val="tx1"/>
                </a:solidFill>
                <a:latin typeface="+mn-lt"/>
                <a:ea typeface="+mn-ea"/>
                <a:cs typeface="+mn-cs"/>
              </a:rPr>
              <a:t>number of elements, including the following:</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Identifier: A unique identifier associated with this process, to distinguish it</a:t>
            </a:r>
          </a:p>
          <a:p>
            <a:r>
              <a:rPr lang="en-US" sz="1200" b="0" kern="1200" baseline="0" dirty="0">
                <a:solidFill>
                  <a:schemeClr val="tx1"/>
                </a:solidFill>
                <a:latin typeface="+mn-lt"/>
                <a:ea typeface="+mn-ea"/>
                <a:cs typeface="+mn-cs"/>
              </a:rPr>
              <a:t>from all other processes.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State: If the process is currently executing, it is in the running state.</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Priority: Priority level relative to other processes.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Program counter: The address of the next instruction in the program to be</a:t>
            </a:r>
          </a:p>
          <a:p>
            <a:r>
              <a:rPr lang="en-US" sz="1200" b="0" kern="1200" baseline="0" dirty="0">
                <a:solidFill>
                  <a:schemeClr val="tx1"/>
                </a:solidFill>
                <a:latin typeface="+mn-lt"/>
                <a:ea typeface="+mn-ea"/>
                <a:cs typeface="+mn-cs"/>
              </a:rPr>
              <a:t>executed.</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Memory pointers: Includes pointers to the program code and data associated</a:t>
            </a:r>
          </a:p>
          <a:p>
            <a:r>
              <a:rPr lang="en-US" sz="1200" b="0" kern="1200" baseline="0" dirty="0">
                <a:solidFill>
                  <a:schemeClr val="tx1"/>
                </a:solidFill>
                <a:latin typeface="+mn-lt"/>
                <a:ea typeface="+mn-ea"/>
                <a:cs typeface="+mn-cs"/>
              </a:rPr>
              <a:t>with this process, plus any memory blocks shared with other processes.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Context data: These are data that are present in registers in the processor</a:t>
            </a:r>
          </a:p>
          <a:p>
            <a:r>
              <a:rPr lang="en-US" sz="1200" b="0" kern="1200" baseline="0" dirty="0">
                <a:solidFill>
                  <a:schemeClr val="tx1"/>
                </a:solidFill>
                <a:latin typeface="+mn-lt"/>
                <a:ea typeface="+mn-ea"/>
                <a:cs typeface="+mn-cs"/>
              </a:rPr>
              <a:t>while the process is executing.</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I/O status information: Includes outstanding I/O requests, I/O devices (e.g.,</a:t>
            </a:r>
          </a:p>
          <a:p>
            <a:r>
              <a:rPr lang="en-US" sz="1200" b="0" kern="1200" baseline="0" dirty="0">
                <a:solidFill>
                  <a:schemeClr val="tx1"/>
                </a:solidFill>
                <a:latin typeface="+mn-lt"/>
                <a:ea typeface="+mn-ea"/>
                <a:cs typeface="+mn-cs"/>
              </a:rPr>
              <a:t>disk drives) assigned to this process, a list of files in use by the process, and</a:t>
            </a:r>
          </a:p>
          <a:p>
            <a:r>
              <a:rPr lang="en-US" sz="1200" b="0" kern="1200" baseline="0" dirty="0">
                <a:solidFill>
                  <a:schemeClr val="tx1"/>
                </a:solidFill>
                <a:latin typeface="+mn-lt"/>
                <a:ea typeface="+mn-ea"/>
                <a:cs typeface="+mn-cs"/>
              </a:rPr>
              <a:t>so on.</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Accounting information: May include the amount of processor time and clock</a:t>
            </a:r>
          </a:p>
          <a:p>
            <a:r>
              <a:rPr lang="en-US" sz="1200" b="0" kern="1200" baseline="0" dirty="0">
                <a:solidFill>
                  <a:schemeClr val="tx1"/>
                </a:solidFill>
                <a:latin typeface="+mn-lt"/>
                <a:ea typeface="+mn-ea"/>
                <a:cs typeface="+mn-cs"/>
              </a:rPr>
              <a:t>time used, time limits, account numbers, and so on.</a:t>
            </a:r>
            <a:endParaRPr lang="en-US" b="0"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5</a:t>
            </a:fld>
            <a:endParaRPr lang="en-US" dirty="0"/>
          </a:p>
        </p:txBody>
      </p:sp>
    </p:spTree>
    <p:extLst>
      <p:ext uri="{BB962C8B-B14F-4D97-AF65-F5344CB8AC3E}">
        <p14:creationId xmlns:p14="http://schemas.microsoft.com/office/powerpoint/2010/main" val="4104267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baseline="0" dirty="0">
                <a:solidFill>
                  <a:schemeClr val="tx1"/>
                </a:solidFill>
                <a:latin typeface="+mn-lt"/>
                <a:ea typeface="+mn-ea"/>
                <a:cs typeface="+mn-cs"/>
              </a:rPr>
              <a:t>The information in the preceding list is stored in a data structure, typically</a:t>
            </a:r>
          </a:p>
          <a:p>
            <a:r>
              <a:rPr lang="en-US" sz="1200" b="0" kern="1200" baseline="0" dirty="0">
                <a:solidFill>
                  <a:schemeClr val="tx1"/>
                </a:solidFill>
                <a:latin typeface="+mn-lt"/>
                <a:ea typeface="+mn-ea"/>
                <a:cs typeface="+mn-cs"/>
              </a:rPr>
              <a:t>called a process control block ( Figure 3.1 ), that is created and managed by the OS.</a:t>
            </a:r>
          </a:p>
          <a:p>
            <a:r>
              <a:rPr lang="en-US" sz="1200" b="0" kern="1200" baseline="0" dirty="0">
                <a:solidFill>
                  <a:schemeClr val="tx1"/>
                </a:solidFill>
                <a:latin typeface="+mn-lt"/>
                <a:ea typeface="+mn-ea"/>
                <a:cs typeface="+mn-cs"/>
              </a:rPr>
              <a:t>The significant point about the process control block is that it contains sufficient</a:t>
            </a:r>
          </a:p>
          <a:p>
            <a:r>
              <a:rPr lang="en-US" sz="1200" b="0" kern="1200" baseline="0" dirty="0">
                <a:solidFill>
                  <a:schemeClr val="tx1"/>
                </a:solidFill>
                <a:latin typeface="+mn-lt"/>
                <a:ea typeface="+mn-ea"/>
                <a:cs typeface="+mn-cs"/>
              </a:rPr>
              <a:t>information so that it is possible to interrupt a running process and later resume</a:t>
            </a:r>
          </a:p>
          <a:p>
            <a:r>
              <a:rPr lang="en-US" sz="1200" b="0" kern="1200" baseline="0" dirty="0">
                <a:solidFill>
                  <a:schemeClr val="tx1"/>
                </a:solidFill>
                <a:latin typeface="+mn-lt"/>
                <a:ea typeface="+mn-ea"/>
                <a:cs typeface="+mn-cs"/>
              </a:rPr>
              <a:t>execution as if the interruption had not occurred. The process control block is</a:t>
            </a:r>
          </a:p>
          <a:p>
            <a:r>
              <a:rPr lang="en-US" sz="1200" b="0" kern="1200" baseline="0" dirty="0">
                <a:solidFill>
                  <a:schemeClr val="tx1"/>
                </a:solidFill>
                <a:latin typeface="+mn-lt"/>
                <a:ea typeface="+mn-ea"/>
                <a:cs typeface="+mn-cs"/>
              </a:rPr>
              <a:t>the key tool that enables the OS to support multiple processes and to provide for</a:t>
            </a:r>
          </a:p>
          <a:p>
            <a:r>
              <a:rPr lang="en-US" sz="1200" b="0" kern="1200" baseline="0" dirty="0">
                <a:solidFill>
                  <a:schemeClr val="tx1"/>
                </a:solidFill>
                <a:latin typeface="+mn-lt"/>
                <a:ea typeface="+mn-ea"/>
                <a:cs typeface="+mn-cs"/>
              </a:rPr>
              <a:t>multiprocessing. When </a:t>
            </a:r>
            <a:r>
              <a:rPr lang="en-US" sz="1200" kern="1200" baseline="0" dirty="0">
                <a:solidFill>
                  <a:schemeClr val="tx1"/>
                </a:solidFill>
                <a:latin typeface="+mn-lt"/>
                <a:ea typeface="+mn-ea"/>
                <a:cs typeface="+mn-cs"/>
              </a:rPr>
              <a:t>a process is interrupted, the current values of the program</a:t>
            </a:r>
          </a:p>
          <a:p>
            <a:r>
              <a:rPr lang="en-US" sz="1200" kern="1200" baseline="0" dirty="0">
                <a:solidFill>
                  <a:schemeClr val="tx1"/>
                </a:solidFill>
                <a:latin typeface="+mn-lt"/>
                <a:ea typeface="+mn-ea"/>
                <a:cs typeface="+mn-cs"/>
              </a:rPr>
              <a:t>counter and the processor registers (context data) are saved in the appropriate fields</a:t>
            </a:r>
          </a:p>
          <a:p>
            <a:r>
              <a:rPr lang="en-US" sz="1200" kern="1200" baseline="0" dirty="0">
                <a:solidFill>
                  <a:schemeClr val="tx1"/>
                </a:solidFill>
                <a:latin typeface="+mn-lt"/>
                <a:ea typeface="+mn-ea"/>
                <a:cs typeface="+mn-cs"/>
              </a:rPr>
              <a:t>of the corresponding process control block, and the state of the process is changed</a:t>
            </a:r>
          </a:p>
          <a:p>
            <a:r>
              <a:rPr lang="en-US" sz="1200" kern="1200" baseline="0" dirty="0">
                <a:solidFill>
                  <a:schemeClr val="tx1"/>
                </a:solidFill>
                <a:latin typeface="+mn-lt"/>
                <a:ea typeface="+mn-ea"/>
                <a:cs typeface="+mn-cs"/>
              </a:rPr>
              <a:t>to some other value, such as </a:t>
            </a:r>
            <a:r>
              <a:rPr lang="en-US" sz="1200" i="1" kern="1200" baseline="0" dirty="0">
                <a:solidFill>
                  <a:schemeClr val="tx1"/>
                </a:solidFill>
                <a:latin typeface="+mn-lt"/>
                <a:ea typeface="+mn-ea"/>
                <a:cs typeface="+mn-cs"/>
              </a:rPr>
              <a:t>blocked or ready (described subsequently). The OS is</a:t>
            </a:r>
          </a:p>
          <a:p>
            <a:r>
              <a:rPr lang="en-US" sz="1200" kern="1200" baseline="0" dirty="0">
                <a:solidFill>
                  <a:schemeClr val="tx1"/>
                </a:solidFill>
                <a:latin typeface="+mn-lt"/>
                <a:ea typeface="+mn-ea"/>
                <a:cs typeface="+mn-cs"/>
              </a:rPr>
              <a:t>now free to put some other process in the running state. The program counter and</a:t>
            </a:r>
          </a:p>
          <a:p>
            <a:r>
              <a:rPr lang="en-US" sz="1200" kern="1200" baseline="0" dirty="0">
                <a:solidFill>
                  <a:schemeClr val="tx1"/>
                </a:solidFill>
                <a:latin typeface="+mn-lt"/>
                <a:ea typeface="+mn-ea"/>
                <a:cs typeface="+mn-cs"/>
              </a:rPr>
              <a:t>context data for this process are loaded into the processor registers and this process</a:t>
            </a:r>
          </a:p>
          <a:p>
            <a:r>
              <a:rPr lang="en-US" sz="1200" kern="1200" baseline="0" dirty="0">
                <a:solidFill>
                  <a:schemeClr val="tx1"/>
                </a:solidFill>
                <a:latin typeface="+mn-lt"/>
                <a:ea typeface="+mn-ea"/>
                <a:cs typeface="+mn-cs"/>
              </a:rPr>
              <a:t>now begins to execute.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Thus, we can say that a process consists of program code and associated data</a:t>
            </a:r>
          </a:p>
          <a:p>
            <a:r>
              <a:rPr lang="en-US" sz="1200" kern="1200" baseline="0" dirty="0">
                <a:solidFill>
                  <a:schemeClr val="tx1"/>
                </a:solidFill>
                <a:latin typeface="+mn-lt"/>
                <a:ea typeface="+mn-ea"/>
                <a:cs typeface="+mn-cs"/>
              </a:rPr>
              <a:t>plus a process control block. For a single-processor computer, at any given time, at</a:t>
            </a:r>
          </a:p>
          <a:p>
            <a:r>
              <a:rPr lang="en-US" sz="1200" kern="1200" baseline="0" dirty="0">
                <a:solidFill>
                  <a:schemeClr val="tx1"/>
                </a:solidFill>
                <a:latin typeface="+mn-lt"/>
                <a:ea typeface="+mn-ea"/>
                <a:cs typeface="+mn-cs"/>
              </a:rPr>
              <a:t>most one process is executing and that process is in the </a:t>
            </a:r>
            <a:r>
              <a:rPr lang="en-US" sz="1200" i="1" kern="1200" baseline="0" dirty="0">
                <a:solidFill>
                  <a:schemeClr val="tx1"/>
                </a:solidFill>
                <a:latin typeface="+mn-lt"/>
                <a:ea typeface="+mn-ea"/>
                <a:cs typeface="+mn-cs"/>
              </a:rPr>
              <a:t>running state.</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6</a:t>
            </a:fld>
            <a:endParaRPr lang="en-US" dirty="0"/>
          </a:p>
        </p:txBody>
      </p:sp>
    </p:spTree>
    <p:extLst>
      <p:ext uri="{BB962C8B-B14F-4D97-AF65-F5344CB8AC3E}">
        <p14:creationId xmlns:p14="http://schemas.microsoft.com/office/powerpoint/2010/main" val="42180158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As just discussed, for a program to be executed, a process, or task, is created for</a:t>
            </a:r>
          </a:p>
          <a:p>
            <a:r>
              <a:rPr lang="en-US" sz="1200" kern="1200" baseline="0" dirty="0">
                <a:solidFill>
                  <a:schemeClr val="tx1"/>
                </a:solidFill>
                <a:latin typeface="+mn-lt"/>
                <a:ea typeface="+mn-ea"/>
                <a:cs typeface="+mn-cs"/>
              </a:rPr>
              <a:t>that program. From the processor’s point of view, it executes instructions from its</a:t>
            </a:r>
          </a:p>
          <a:p>
            <a:r>
              <a:rPr lang="en-US" sz="1200" kern="1200" baseline="0" dirty="0">
                <a:solidFill>
                  <a:schemeClr val="tx1"/>
                </a:solidFill>
                <a:latin typeface="+mn-lt"/>
                <a:ea typeface="+mn-ea"/>
                <a:cs typeface="+mn-cs"/>
              </a:rPr>
              <a:t>repertoire in some sequence dictated by the changing values in the program counter</a:t>
            </a:r>
          </a:p>
          <a:p>
            <a:r>
              <a:rPr lang="en-US" sz="1200" kern="1200" baseline="0" dirty="0">
                <a:solidFill>
                  <a:schemeClr val="tx1"/>
                </a:solidFill>
                <a:latin typeface="+mn-lt"/>
                <a:ea typeface="+mn-ea"/>
                <a:cs typeface="+mn-cs"/>
              </a:rPr>
              <a:t>register. Over time, the program counter may refer to code in different programs</a:t>
            </a:r>
          </a:p>
          <a:p>
            <a:r>
              <a:rPr lang="en-US" sz="1200" kern="1200" baseline="0" dirty="0">
                <a:solidFill>
                  <a:schemeClr val="tx1"/>
                </a:solidFill>
                <a:latin typeface="+mn-lt"/>
                <a:ea typeface="+mn-ea"/>
                <a:cs typeface="+mn-cs"/>
              </a:rPr>
              <a:t>that are part of different processes. From the point of view of an individual program,</a:t>
            </a:r>
          </a:p>
          <a:p>
            <a:r>
              <a:rPr lang="en-US" sz="1200" kern="1200" baseline="0" dirty="0">
                <a:solidFill>
                  <a:schemeClr val="tx1"/>
                </a:solidFill>
                <a:latin typeface="+mn-lt"/>
                <a:ea typeface="+mn-ea"/>
                <a:cs typeface="+mn-cs"/>
              </a:rPr>
              <a:t>its execution involves a sequence of instructions within that program.</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We can characterize the behavior of an individual process by listing the</a:t>
            </a:r>
          </a:p>
          <a:p>
            <a:r>
              <a:rPr lang="en-US" sz="1200" kern="1200" baseline="0" dirty="0">
                <a:solidFill>
                  <a:schemeClr val="tx1"/>
                </a:solidFill>
                <a:latin typeface="+mn-lt"/>
                <a:ea typeface="+mn-ea"/>
                <a:cs typeface="+mn-cs"/>
              </a:rPr>
              <a:t>sequence of instructions that execute for that process. Such a listing is referred to</a:t>
            </a:r>
          </a:p>
          <a:p>
            <a:r>
              <a:rPr lang="en-US" sz="1200" kern="1200" baseline="0" dirty="0">
                <a:solidFill>
                  <a:schemeClr val="tx1"/>
                </a:solidFill>
                <a:latin typeface="+mn-lt"/>
                <a:ea typeface="+mn-ea"/>
                <a:cs typeface="+mn-cs"/>
              </a:rPr>
              <a:t>as a </a:t>
            </a:r>
            <a:r>
              <a:rPr lang="en-US" sz="1200" b="1" kern="1200" baseline="0" dirty="0">
                <a:solidFill>
                  <a:schemeClr val="tx1"/>
                </a:solidFill>
                <a:latin typeface="+mn-lt"/>
                <a:ea typeface="+mn-ea"/>
                <a:cs typeface="+mn-cs"/>
              </a:rPr>
              <a:t>trace </a:t>
            </a:r>
            <a:r>
              <a:rPr lang="en-US" sz="1200" b="0" kern="1200" baseline="0" dirty="0">
                <a:solidFill>
                  <a:schemeClr val="tx1"/>
                </a:solidFill>
                <a:latin typeface="+mn-lt"/>
                <a:ea typeface="+mn-ea"/>
                <a:cs typeface="+mn-cs"/>
              </a:rPr>
              <a:t>of the process. We can characterize behavior of the processor by showing</a:t>
            </a:r>
          </a:p>
          <a:p>
            <a:r>
              <a:rPr lang="en-US" sz="1200" kern="1200" baseline="0" dirty="0">
                <a:solidFill>
                  <a:schemeClr val="tx1"/>
                </a:solidFill>
                <a:latin typeface="+mn-lt"/>
                <a:ea typeface="+mn-ea"/>
                <a:cs typeface="+mn-cs"/>
              </a:rPr>
              <a:t>how the traces of the various processes are interleaved.</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7</a:t>
            </a:fld>
            <a:endParaRPr lang="en-US" dirty="0"/>
          </a:p>
        </p:txBody>
      </p:sp>
    </p:spTree>
    <p:extLst>
      <p:ext uri="{BB962C8B-B14F-4D97-AF65-F5344CB8AC3E}">
        <p14:creationId xmlns:p14="http://schemas.microsoft.com/office/powerpoint/2010/main" val="33343340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Let us consider a very simple example. Figure 3.2 shows a memory layout</a:t>
            </a:r>
          </a:p>
          <a:p>
            <a:r>
              <a:rPr lang="en-US" sz="1200" kern="1200" baseline="0" dirty="0">
                <a:solidFill>
                  <a:schemeClr val="tx1"/>
                </a:solidFill>
                <a:latin typeface="+mn-lt"/>
                <a:ea typeface="+mn-ea"/>
                <a:cs typeface="+mn-cs"/>
              </a:rPr>
              <a:t>of three processes. To simplify the discussion, we assume no use of virtual memory;</a:t>
            </a:r>
          </a:p>
          <a:p>
            <a:r>
              <a:rPr lang="en-US" sz="1200" kern="1200" baseline="0" dirty="0">
                <a:solidFill>
                  <a:schemeClr val="tx1"/>
                </a:solidFill>
                <a:latin typeface="+mn-lt"/>
                <a:ea typeface="+mn-ea"/>
                <a:cs typeface="+mn-cs"/>
              </a:rPr>
              <a:t>thus all three processes are represented by programs that are fully loaded</a:t>
            </a:r>
          </a:p>
          <a:p>
            <a:r>
              <a:rPr lang="en-US" sz="1200" kern="1200" baseline="0" dirty="0">
                <a:solidFill>
                  <a:schemeClr val="tx1"/>
                </a:solidFill>
                <a:latin typeface="+mn-lt"/>
                <a:ea typeface="+mn-ea"/>
                <a:cs typeface="+mn-cs"/>
              </a:rPr>
              <a:t>in main memory. In addition, there is a small </a:t>
            </a:r>
            <a:r>
              <a:rPr lang="en-US" sz="1200" b="1" kern="1200" baseline="0" dirty="0">
                <a:solidFill>
                  <a:schemeClr val="tx1"/>
                </a:solidFill>
                <a:latin typeface="+mn-lt"/>
                <a:ea typeface="+mn-ea"/>
                <a:cs typeface="+mn-cs"/>
              </a:rPr>
              <a:t>dispatcher </a:t>
            </a:r>
            <a:r>
              <a:rPr lang="en-US" sz="1200" b="0" kern="1200" baseline="0" dirty="0">
                <a:solidFill>
                  <a:schemeClr val="tx1"/>
                </a:solidFill>
                <a:latin typeface="+mn-lt"/>
                <a:ea typeface="+mn-ea"/>
                <a:cs typeface="+mn-cs"/>
              </a:rPr>
              <a:t>program that switches</a:t>
            </a:r>
          </a:p>
          <a:p>
            <a:r>
              <a:rPr lang="en-US" sz="1200" kern="1200" baseline="0" dirty="0">
                <a:solidFill>
                  <a:schemeClr val="tx1"/>
                </a:solidFill>
                <a:latin typeface="+mn-lt"/>
                <a:ea typeface="+mn-ea"/>
                <a:cs typeface="+mn-cs"/>
              </a:rPr>
              <a:t>the processor from one process to another.</a:t>
            </a:r>
            <a:endParaRPr lang="en-NZ"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8</a:t>
            </a:fld>
            <a:endParaRPr lang="en-US" dirty="0"/>
          </a:p>
        </p:txBody>
      </p:sp>
    </p:spTree>
    <p:extLst>
      <p:ext uri="{BB962C8B-B14F-4D97-AF65-F5344CB8AC3E}">
        <p14:creationId xmlns:p14="http://schemas.microsoft.com/office/powerpoint/2010/main" val="37813864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3.3 shows the traces of each</a:t>
            </a:r>
          </a:p>
          <a:p>
            <a:r>
              <a:rPr lang="en-US" sz="1200" kern="1200" baseline="0" dirty="0">
                <a:solidFill>
                  <a:schemeClr val="tx1"/>
                </a:solidFill>
                <a:latin typeface="+mn-lt"/>
                <a:ea typeface="+mn-ea"/>
                <a:cs typeface="+mn-cs"/>
              </a:rPr>
              <a:t>of the processes during the early part of their execution. The first 12 instructions</a:t>
            </a:r>
          </a:p>
          <a:p>
            <a:r>
              <a:rPr lang="en-US" sz="1200" kern="1200" baseline="0" dirty="0">
                <a:solidFill>
                  <a:schemeClr val="tx1"/>
                </a:solidFill>
                <a:latin typeface="+mn-lt"/>
                <a:ea typeface="+mn-ea"/>
                <a:cs typeface="+mn-cs"/>
              </a:rPr>
              <a:t>executed in processes A and C are shown. Process B executes four instructions,</a:t>
            </a:r>
          </a:p>
          <a:p>
            <a:r>
              <a:rPr lang="en-US" sz="1200" kern="1200" baseline="0" dirty="0">
                <a:solidFill>
                  <a:schemeClr val="tx1"/>
                </a:solidFill>
                <a:latin typeface="+mn-lt"/>
                <a:ea typeface="+mn-ea"/>
                <a:cs typeface="+mn-cs"/>
              </a:rPr>
              <a:t>and we assume that the fourth instruction invokes an I/O operation for which the</a:t>
            </a:r>
          </a:p>
          <a:p>
            <a:r>
              <a:rPr lang="en-US" sz="1200" kern="1200" baseline="0" dirty="0">
                <a:solidFill>
                  <a:schemeClr val="tx1"/>
                </a:solidFill>
                <a:latin typeface="+mn-lt"/>
                <a:ea typeface="+mn-ea"/>
                <a:cs typeface="+mn-cs"/>
              </a:rPr>
              <a:t>process must wait.</a:t>
            </a:r>
            <a:endParaRPr lang="en-NZ" b="0"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9</a:t>
            </a:fld>
            <a:endParaRPr lang="en-US" dirty="0"/>
          </a:p>
        </p:txBody>
      </p:sp>
    </p:spTree>
    <p:extLst>
      <p:ext uri="{BB962C8B-B14F-4D97-AF65-F5344CB8AC3E}">
        <p14:creationId xmlns:p14="http://schemas.microsoft.com/office/powerpoint/2010/main" val="24948086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a:solidFill>
                  <a:schemeClr val="tx1"/>
                </a:solidFill>
                <a:latin typeface="+mn-lt"/>
                <a:ea typeface="+mn-ea"/>
                <a:cs typeface="+mn-cs"/>
              </a:rPr>
              <a:t>Now let us view these traces from the processor’s point of view. Figure 3.4</a:t>
            </a:r>
          </a:p>
          <a:p>
            <a:r>
              <a:rPr lang="en-US" sz="1200" kern="1200" baseline="0" dirty="0">
                <a:solidFill>
                  <a:schemeClr val="tx1"/>
                </a:solidFill>
                <a:latin typeface="+mn-lt"/>
                <a:ea typeface="+mn-ea"/>
                <a:cs typeface="+mn-cs"/>
              </a:rPr>
              <a:t>shows the interleaved traces resulting from the first 52 instruction cycles (for convenience,</a:t>
            </a:r>
          </a:p>
          <a:p>
            <a:r>
              <a:rPr lang="en-US" sz="1200" kern="1200" baseline="0" dirty="0">
                <a:solidFill>
                  <a:schemeClr val="tx1"/>
                </a:solidFill>
                <a:latin typeface="+mn-lt"/>
                <a:ea typeface="+mn-ea"/>
                <a:cs typeface="+mn-cs"/>
              </a:rPr>
              <a:t>the instruction cycles are numbered). In this figure, the shaded areas</a:t>
            </a:r>
          </a:p>
          <a:p>
            <a:r>
              <a:rPr lang="en-US" sz="1200" kern="1200" baseline="0" dirty="0">
                <a:solidFill>
                  <a:schemeClr val="tx1"/>
                </a:solidFill>
                <a:latin typeface="+mn-lt"/>
                <a:ea typeface="+mn-ea"/>
                <a:cs typeface="+mn-cs"/>
              </a:rPr>
              <a:t>represent code executed by the dispatcher. The same sequence of instructions is</a:t>
            </a:r>
          </a:p>
          <a:p>
            <a:r>
              <a:rPr lang="en-US" sz="1200" kern="1200" baseline="0" dirty="0">
                <a:solidFill>
                  <a:schemeClr val="tx1"/>
                </a:solidFill>
                <a:latin typeface="+mn-lt"/>
                <a:ea typeface="+mn-ea"/>
                <a:cs typeface="+mn-cs"/>
              </a:rPr>
              <a:t>executed by the dispatcher in each instance because the same functionality of the</a:t>
            </a:r>
          </a:p>
          <a:p>
            <a:r>
              <a:rPr lang="en-US" sz="1200" kern="1200" baseline="0" dirty="0">
                <a:solidFill>
                  <a:schemeClr val="tx1"/>
                </a:solidFill>
                <a:latin typeface="+mn-lt"/>
                <a:ea typeface="+mn-ea"/>
                <a:cs typeface="+mn-cs"/>
              </a:rPr>
              <a:t>dispatcher is being executed. We assume that the OS only allows a process to continue</a:t>
            </a:r>
          </a:p>
          <a:p>
            <a:r>
              <a:rPr lang="en-US" sz="1200" kern="1200" baseline="0" dirty="0">
                <a:solidFill>
                  <a:schemeClr val="tx1"/>
                </a:solidFill>
                <a:latin typeface="+mn-lt"/>
                <a:ea typeface="+mn-ea"/>
                <a:cs typeface="+mn-cs"/>
              </a:rPr>
              <a:t>execution for a maximum of six instruction cycles, after which it is interrupted;</a:t>
            </a:r>
          </a:p>
          <a:p>
            <a:r>
              <a:rPr lang="en-US" sz="1200" kern="1200" baseline="0" dirty="0">
                <a:solidFill>
                  <a:schemeClr val="tx1"/>
                </a:solidFill>
                <a:latin typeface="+mn-lt"/>
                <a:ea typeface="+mn-ea"/>
                <a:cs typeface="+mn-cs"/>
              </a:rPr>
              <a:t>this prevents any single process from monopolizing processor time. As Figure 3.4</a:t>
            </a:r>
          </a:p>
          <a:p>
            <a:r>
              <a:rPr lang="en-US" sz="1200" kern="1200" baseline="0" dirty="0">
                <a:solidFill>
                  <a:schemeClr val="tx1"/>
                </a:solidFill>
                <a:latin typeface="+mn-lt"/>
                <a:ea typeface="+mn-ea"/>
                <a:cs typeface="+mn-cs"/>
              </a:rPr>
              <a:t>shows, the first six instructions of process A are executed, followed by a time-out</a:t>
            </a:r>
          </a:p>
          <a:p>
            <a:r>
              <a:rPr lang="en-US" sz="1200" kern="1200" baseline="0" dirty="0">
                <a:solidFill>
                  <a:schemeClr val="tx1"/>
                </a:solidFill>
                <a:latin typeface="+mn-lt"/>
                <a:ea typeface="+mn-ea"/>
                <a:cs typeface="+mn-cs"/>
              </a:rPr>
              <a:t>and the execution of some code in the dispatcher, which executes six instructions</a:t>
            </a:r>
          </a:p>
          <a:p>
            <a:r>
              <a:rPr lang="en-US" sz="1200" kern="1200" baseline="0" dirty="0">
                <a:solidFill>
                  <a:schemeClr val="tx1"/>
                </a:solidFill>
                <a:latin typeface="+mn-lt"/>
                <a:ea typeface="+mn-ea"/>
                <a:cs typeface="+mn-cs"/>
              </a:rPr>
              <a:t>before turning control to process B. After four instructions are executed, process</a:t>
            </a:r>
          </a:p>
          <a:p>
            <a:r>
              <a:rPr lang="en-US" sz="1200" kern="1200" baseline="0" dirty="0">
                <a:solidFill>
                  <a:schemeClr val="tx1"/>
                </a:solidFill>
                <a:latin typeface="+mn-lt"/>
                <a:ea typeface="+mn-ea"/>
                <a:cs typeface="+mn-cs"/>
              </a:rPr>
              <a:t>B requests an I/O action for which it must wait. Therefore, the processor stops</a:t>
            </a:r>
          </a:p>
          <a:p>
            <a:r>
              <a:rPr lang="en-US" sz="1200" kern="1200" baseline="0" dirty="0">
                <a:solidFill>
                  <a:schemeClr val="tx1"/>
                </a:solidFill>
                <a:latin typeface="+mn-lt"/>
                <a:ea typeface="+mn-ea"/>
                <a:cs typeface="+mn-cs"/>
              </a:rPr>
              <a:t>executing process B and moves on, via the dispatcher, to process C. After a timeout,</a:t>
            </a:r>
          </a:p>
          <a:p>
            <a:r>
              <a:rPr lang="en-US" sz="1200" kern="1200" baseline="0" dirty="0">
                <a:solidFill>
                  <a:schemeClr val="tx1"/>
                </a:solidFill>
                <a:latin typeface="+mn-lt"/>
                <a:ea typeface="+mn-ea"/>
                <a:cs typeface="+mn-cs"/>
              </a:rPr>
              <a:t>the processor moves back to process A. When this process times out, process</a:t>
            </a:r>
          </a:p>
          <a:p>
            <a:r>
              <a:rPr lang="en-US" sz="1200" kern="1200" baseline="0" dirty="0">
                <a:solidFill>
                  <a:schemeClr val="tx1"/>
                </a:solidFill>
                <a:latin typeface="+mn-lt"/>
                <a:ea typeface="+mn-ea"/>
                <a:cs typeface="+mn-cs"/>
              </a:rPr>
              <a:t>B is still waiting for the I/O operation to complete, so the dispatcher moves on to</a:t>
            </a:r>
          </a:p>
          <a:p>
            <a:r>
              <a:rPr lang="en-US" sz="1200" kern="1200" baseline="0" dirty="0">
                <a:solidFill>
                  <a:schemeClr val="tx1"/>
                </a:solidFill>
                <a:latin typeface="+mn-lt"/>
                <a:ea typeface="+mn-ea"/>
                <a:cs typeface="+mn-cs"/>
              </a:rPr>
              <a:t>process C again.</a:t>
            </a:r>
            <a:endParaRPr lang="en-NZ" sz="1200" b="1"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10</a:t>
            </a:fld>
            <a:endParaRPr lang="en-US" dirty="0"/>
          </a:p>
        </p:txBody>
      </p:sp>
    </p:spTree>
    <p:extLst>
      <p:ext uri="{BB962C8B-B14F-4D97-AF65-F5344CB8AC3E}">
        <p14:creationId xmlns:p14="http://schemas.microsoft.com/office/powerpoint/2010/main" val="24241304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operating system’s principal responsibility is controlling the execution of</a:t>
            </a:r>
          </a:p>
          <a:p>
            <a:r>
              <a:rPr lang="en-US" sz="1200" kern="1200" baseline="0" dirty="0">
                <a:solidFill>
                  <a:schemeClr val="tx1"/>
                </a:solidFill>
                <a:latin typeface="+mn-lt"/>
                <a:ea typeface="+mn-ea"/>
                <a:cs typeface="+mn-cs"/>
              </a:rPr>
              <a:t>processes; this includes determining the interleaving pattern for execution and allocating</a:t>
            </a:r>
          </a:p>
          <a:p>
            <a:r>
              <a:rPr lang="en-US" sz="1200" kern="1200" baseline="0" dirty="0">
                <a:solidFill>
                  <a:schemeClr val="tx1"/>
                </a:solidFill>
                <a:latin typeface="+mn-lt"/>
                <a:ea typeface="+mn-ea"/>
                <a:cs typeface="+mn-cs"/>
              </a:rPr>
              <a:t>resources to processes. The first step in designing an OS to control processes</a:t>
            </a:r>
          </a:p>
          <a:p>
            <a:r>
              <a:rPr lang="en-US" sz="1200" kern="1200" baseline="0" dirty="0">
                <a:solidFill>
                  <a:schemeClr val="tx1"/>
                </a:solidFill>
                <a:latin typeface="+mn-lt"/>
                <a:ea typeface="+mn-ea"/>
                <a:cs typeface="+mn-cs"/>
              </a:rPr>
              <a:t>is to describe the behavior that we would like the processes to exhibit.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We can construct the simplest possible model by observing that, at any time, a</a:t>
            </a:r>
          </a:p>
          <a:p>
            <a:r>
              <a:rPr lang="en-US" sz="1200" kern="1200" baseline="0" dirty="0">
                <a:solidFill>
                  <a:schemeClr val="tx1"/>
                </a:solidFill>
                <a:latin typeface="+mn-lt"/>
                <a:ea typeface="+mn-ea"/>
                <a:cs typeface="+mn-cs"/>
              </a:rPr>
              <a:t>process is either being executed by a processor or not. In this model, a process may</a:t>
            </a:r>
          </a:p>
          <a:p>
            <a:r>
              <a:rPr lang="en-US" sz="1200" kern="1200" baseline="0" dirty="0">
                <a:solidFill>
                  <a:schemeClr val="tx1"/>
                </a:solidFill>
                <a:latin typeface="+mn-lt"/>
                <a:ea typeface="+mn-ea"/>
                <a:cs typeface="+mn-cs"/>
              </a:rPr>
              <a:t>be in one of two states: Running or Not Running, as shown in Figure 3.5a . When</a:t>
            </a:r>
          </a:p>
          <a:p>
            <a:r>
              <a:rPr lang="en-US" sz="1200" kern="1200" baseline="0" dirty="0">
                <a:solidFill>
                  <a:schemeClr val="tx1"/>
                </a:solidFill>
                <a:latin typeface="+mn-lt"/>
                <a:ea typeface="+mn-ea"/>
                <a:cs typeface="+mn-cs"/>
              </a:rPr>
              <a:t>the OS creates a new process, it creates a process control block for the process and</a:t>
            </a:r>
          </a:p>
          <a:p>
            <a:r>
              <a:rPr lang="en-US" sz="1200" kern="1200" baseline="0" dirty="0">
                <a:solidFill>
                  <a:schemeClr val="tx1"/>
                </a:solidFill>
                <a:latin typeface="+mn-lt"/>
                <a:ea typeface="+mn-ea"/>
                <a:cs typeface="+mn-cs"/>
              </a:rPr>
              <a:t>enters that process into the system in the Not Running state. The process exists,</a:t>
            </a:r>
          </a:p>
          <a:p>
            <a:r>
              <a:rPr lang="en-US" sz="1200" kern="1200" baseline="0" dirty="0">
                <a:solidFill>
                  <a:schemeClr val="tx1"/>
                </a:solidFill>
                <a:latin typeface="+mn-lt"/>
                <a:ea typeface="+mn-ea"/>
                <a:cs typeface="+mn-cs"/>
              </a:rPr>
              <a:t>is known to the OS, and is waiting for an opportunity to execute. From time to</a:t>
            </a:r>
          </a:p>
          <a:p>
            <a:r>
              <a:rPr lang="en-US" sz="1200" kern="1200" baseline="0" dirty="0">
                <a:solidFill>
                  <a:schemeClr val="tx1"/>
                </a:solidFill>
                <a:latin typeface="+mn-lt"/>
                <a:ea typeface="+mn-ea"/>
                <a:cs typeface="+mn-cs"/>
              </a:rPr>
              <a:t>time, the currently running process will be interrupted and the dispatcher portion</a:t>
            </a:r>
          </a:p>
          <a:p>
            <a:r>
              <a:rPr lang="en-US" sz="1200" kern="1200" baseline="0" dirty="0">
                <a:solidFill>
                  <a:schemeClr val="tx1"/>
                </a:solidFill>
                <a:latin typeface="+mn-lt"/>
                <a:ea typeface="+mn-ea"/>
                <a:cs typeface="+mn-cs"/>
              </a:rPr>
              <a:t>of the OS will select some other process to run. The former process moves from the</a:t>
            </a:r>
          </a:p>
          <a:p>
            <a:r>
              <a:rPr lang="en-US" sz="1200" kern="1200" baseline="0" dirty="0">
                <a:solidFill>
                  <a:schemeClr val="tx1"/>
                </a:solidFill>
                <a:latin typeface="+mn-lt"/>
                <a:ea typeface="+mn-ea"/>
                <a:cs typeface="+mn-cs"/>
              </a:rPr>
              <a:t>Running state to the Not Running state, and one of the other processes moves to</a:t>
            </a:r>
          </a:p>
          <a:p>
            <a:r>
              <a:rPr lang="en-US" sz="1200" kern="1200" baseline="0" dirty="0">
                <a:solidFill>
                  <a:schemeClr val="tx1"/>
                </a:solidFill>
                <a:latin typeface="+mn-lt"/>
                <a:ea typeface="+mn-ea"/>
                <a:cs typeface="+mn-cs"/>
              </a:rPr>
              <a:t>the Running state.</a:t>
            </a:r>
            <a:endParaRPr lang="en-NZ"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11</a:t>
            </a:fld>
            <a:endParaRPr lang="en-US" dirty="0"/>
          </a:p>
        </p:txBody>
      </p:sp>
    </p:spTree>
    <p:extLst>
      <p:ext uri="{BB962C8B-B14F-4D97-AF65-F5344CB8AC3E}">
        <p14:creationId xmlns:p14="http://schemas.microsoft.com/office/powerpoint/2010/main" val="16434243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From this simple model, we can already begin to appreciate some of the design</a:t>
            </a:r>
          </a:p>
          <a:p>
            <a:r>
              <a:rPr lang="en-US" sz="1200" kern="1200" baseline="0" dirty="0">
                <a:solidFill>
                  <a:schemeClr val="tx1"/>
                </a:solidFill>
                <a:latin typeface="+mn-lt"/>
                <a:ea typeface="+mn-ea"/>
                <a:cs typeface="+mn-cs"/>
              </a:rPr>
              <a:t>elements of the OS. Each process must be represented in some way so that the OS</a:t>
            </a:r>
          </a:p>
          <a:p>
            <a:r>
              <a:rPr lang="en-US" sz="1200" kern="1200" baseline="0" dirty="0">
                <a:solidFill>
                  <a:schemeClr val="tx1"/>
                </a:solidFill>
                <a:latin typeface="+mn-lt"/>
                <a:ea typeface="+mn-ea"/>
                <a:cs typeface="+mn-cs"/>
              </a:rPr>
              <a:t>can keep track of it. That is, there must be some information relating to each process,</a:t>
            </a:r>
          </a:p>
          <a:p>
            <a:r>
              <a:rPr lang="en-US" sz="1200" kern="1200" baseline="0" dirty="0">
                <a:solidFill>
                  <a:schemeClr val="tx1"/>
                </a:solidFill>
                <a:latin typeface="+mn-lt"/>
                <a:ea typeface="+mn-ea"/>
                <a:cs typeface="+mn-cs"/>
              </a:rPr>
              <a:t>including current state and location in memory; this is the process control block.</a:t>
            </a:r>
          </a:p>
          <a:p>
            <a:r>
              <a:rPr lang="en-US" sz="1200" kern="1200" baseline="0" dirty="0">
                <a:solidFill>
                  <a:schemeClr val="tx1"/>
                </a:solidFill>
                <a:latin typeface="+mn-lt"/>
                <a:ea typeface="+mn-ea"/>
                <a:cs typeface="+mn-cs"/>
              </a:rPr>
              <a:t>Processes that are not running must be kept in some sort of queue, waiting their turn</a:t>
            </a:r>
          </a:p>
          <a:p>
            <a:r>
              <a:rPr lang="en-US" sz="1200" kern="1200" baseline="0" dirty="0">
                <a:solidFill>
                  <a:schemeClr val="tx1"/>
                </a:solidFill>
                <a:latin typeface="+mn-lt"/>
                <a:ea typeface="+mn-ea"/>
                <a:cs typeface="+mn-cs"/>
              </a:rPr>
              <a:t>to execute. Figure 3.5b suggests a structure. There is a single queue in which each</a:t>
            </a:r>
          </a:p>
          <a:p>
            <a:r>
              <a:rPr lang="en-US" sz="1200" kern="1200" baseline="0" dirty="0">
                <a:solidFill>
                  <a:schemeClr val="tx1"/>
                </a:solidFill>
                <a:latin typeface="+mn-lt"/>
                <a:ea typeface="+mn-ea"/>
                <a:cs typeface="+mn-cs"/>
              </a:rPr>
              <a:t>entry is a pointer to the process control block of a particular process. Alternatively,</a:t>
            </a:r>
          </a:p>
          <a:p>
            <a:r>
              <a:rPr lang="en-US" sz="1200" kern="1200" baseline="0" dirty="0">
                <a:solidFill>
                  <a:schemeClr val="tx1"/>
                </a:solidFill>
                <a:latin typeface="+mn-lt"/>
                <a:ea typeface="+mn-ea"/>
                <a:cs typeface="+mn-cs"/>
              </a:rPr>
              <a:t>the queue may consist of a linked list of data blocks, in which each block represents</a:t>
            </a:r>
          </a:p>
          <a:p>
            <a:r>
              <a:rPr lang="en-US" sz="1200" kern="1200" baseline="0" dirty="0">
                <a:solidFill>
                  <a:schemeClr val="tx1"/>
                </a:solidFill>
                <a:latin typeface="+mn-lt"/>
                <a:ea typeface="+mn-ea"/>
                <a:cs typeface="+mn-cs"/>
              </a:rPr>
              <a:t>one process; we will explore this latter implementation subsequently.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We can describe the behavior of the dispatcher in terms of this queuing</a:t>
            </a:r>
          </a:p>
          <a:p>
            <a:r>
              <a:rPr lang="en-US" sz="1200" kern="1200" baseline="0" dirty="0">
                <a:solidFill>
                  <a:schemeClr val="tx1"/>
                </a:solidFill>
                <a:latin typeface="+mn-lt"/>
                <a:ea typeface="+mn-ea"/>
                <a:cs typeface="+mn-cs"/>
              </a:rPr>
              <a:t>diagram. A process that is interrupted is transferred to the queue of waiting processes.</a:t>
            </a:r>
          </a:p>
          <a:p>
            <a:r>
              <a:rPr lang="en-US" sz="1200" kern="1200" baseline="0" dirty="0">
                <a:solidFill>
                  <a:schemeClr val="tx1"/>
                </a:solidFill>
                <a:latin typeface="+mn-lt"/>
                <a:ea typeface="+mn-ea"/>
                <a:cs typeface="+mn-cs"/>
              </a:rPr>
              <a:t>Alternatively, if the process has completed or aborted, it is discarded (exits</a:t>
            </a:r>
          </a:p>
          <a:p>
            <a:r>
              <a:rPr lang="en-US" sz="1200" kern="1200" baseline="0" dirty="0">
                <a:solidFill>
                  <a:schemeClr val="tx1"/>
                </a:solidFill>
                <a:latin typeface="+mn-lt"/>
                <a:ea typeface="+mn-ea"/>
                <a:cs typeface="+mn-cs"/>
              </a:rPr>
              <a:t>the system). In either case, the dispatcher takes another process from the queue to</a:t>
            </a:r>
          </a:p>
          <a:p>
            <a:r>
              <a:rPr lang="en-US" sz="1200" kern="1200" baseline="0" dirty="0">
                <a:solidFill>
                  <a:schemeClr val="tx1"/>
                </a:solidFill>
                <a:latin typeface="+mn-lt"/>
                <a:ea typeface="+mn-ea"/>
                <a:cs typeface="+mn-cs"/>
              </a:rPr>
              <a:t>execute.</a:t>
            </a:r>
            <a:endParaRPr lang="en-US" baseline="0"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12</a:t>
            </a:fld>
            <a:endParaRPr lang="en-US" dirty="0"/>
          </a:p>
        </p:txBody>
      </p:sp>
    </p:spTree>
    <p:extLst>
      <p:ext uri="{BB962C8B-B14F-4D97-AF65-F5344CB8AC3E}">
        <p14:creationId xmlns:p14="http://schemas.microsoft.com/office/powerpoint/2010/main" val="27384345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When a new process is to be added to those currently being</a:t>
            </a:r>
          </a:p>
          <a:p>
            <a:r>
              <a:rPr lang="en-US" sz="1200" kern="1200" baseline="0" dirty="0">
                <a:solidFill>
                  <a:schemeClr val="tx1"/>
                </a:solidFill>
                <a:latin typeface="+mn-lt"/>
                <a:ea typeface="+mn-ea"/>
                <a:cs typeface="+mn-cs"/>
              </a:rPr>
              <a:t>managed, the OS builds the data structures that are used to manage the process</a:t>
            </a:r>
          </a:p>
          <a:p>
            <a:r>
              <a:rPr lang="en-US" sz="1200" kern="1200" baseline="0" dirty="0">
                <a:solidFill>
                  <a:schemeClr val="tx1"/>
                </a:solidFill>
                <a:latin typeface="+mn-lt"/>
                <a:ea typeface="+mn-ea"/>
                <a:cs typeface="+mn-cs"/>
              </a:rPr>
              <a:t>and allocates address space in main memory to the process. We describe these data</a:t>
            </a:r>
          </a:p>
          <a:p>
            <a:r>
              <a:rPr lang="en-US" sz="1200" kern="1200" baseline="0" dirty="0">
                <a:solidFill>
                  <a:schemeClr val="tx1"/>
                </a:solidFill>
                <a:latin typeface="+mn-lt"/>
                <a:ea typeface="+mn-ea"/>
                <a:cs typeface="+mn-cs"/>
              </a:rPr>
              <a:t>structures in Section 3.3 . These actions constitute the creation of a new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Four common events lead to the creation of a process, as indicated in Table 3.1 .</a:t>
            </a:r>
          </a:p>
          <a:p>
            <a:r>
              <a:rPr lang="en-US" sz="1200" kern="1200" baseline="0" dirty="0">
                <a:solidFill>
                  <a:schemeClr val="tx1"/>
                </a:solidFill>
                <a:latin typeface="+mn-lt"/>
                <a:ea typeface="+mn-ea"/>
                <a:cs typeface="+mn-cs"/>
              </a:rPr>
              <a:t>In a batch environment, a process is created in response to the submission of a job.</a:t>
            </a:r>
          </a:p>
          <a:p>
            <a:r>
              <a:rPr lang="en-US" sz="1200" kern="1200" baseline="0" dirty="0">
                <a:solidFill>
                  <a:schemeClr val="tx1"/>
                </a:solidFill>
                <a:latin typeface="+mn-lt"/>
                <a:ea typeface="+mn-ea"/>
                <a:cs typeface="+mn-cs"/>
              </a:rPr>
              <a:t>In an interactive environment, a process is created when a new user attempts to</a:t>
            </a:r>
          </a:p>
          <a:p>
            <a:r>
              <a:rPr lang="en-US" sz="1200" kern="1200" baseline="0" dirty="0">
                <a:solidFill>
                  <a:schemeClr val="tx1"/>
                </a:solidFill>
                <a:latin typeface="+mn-lt"/>
                <a:ea typeface="+mn-ea"/>
                <a:cs typeface="+mn-cs"/>
              </a:rPr>
              <a:t>log on. In both cases, the OS is responsible for the creation of the new process.</a:t>
            </a:r>
          </a:p>
          <a:p>
            <a:r>
              <a:rPr lang="en-US" sz="1200" kern="1200" baseline="0" dirty="0">
                <a:solidFill>
                  <a:schemeClr val="tx1"/>
                </a:solidFill>
                <a:latin typeface="+mn-lt"/>
                <a:ea typeface="+mn-ea"/>
                <a:cs typeface="+mn-cs"/>
              </a:rPr>
              <a:t>An OS may also create a process on behalf of an application. For example, if a</a:t>
            </a:r>
          </a:p>
          <a:p>
            <a:r>
              <a:rPr lang="en-US" sz="1200" kern="1200" baseline="0" dirty="0">
                <a:solidFill>
                  <a:schemeClr val="tx1"/>
                </a:solidFill>
                <a:latin typeface="+mn-lt"/>
                <a:ea typeface="+mn-ea"/>
                <a:cs typeface="+mn-cs"/>
              </a:rPr>
              <a:t>user requests that a file be printed, the OS can create a process that will manage</a:t>
            </a:r>
          </a:p>
          <a:p>
            <a:r>
              <a:rPr lang="en-US" sz="1200" kern="1200" baseline="0" dirty="0">
                <a:solidFill>
                  <a:schemeClr val="tx1"/>
                </a:solidFill>
                <a:latin typeface="+mn-lt"/>
                <a:ea typeface="+mn-ea"/>
                <a:cs typeface="+mn-cs"/>
              </a:rPr>
              <a:t>the printing. The requesting process can thus proceed independently of the time</a:t>
            </a:r>
          </a:p>
          <a:p>
            <a:r>
              <a:rPr lang="en-US" sz="1200" kern="1200" baseline="0" dirty="0">
                <a:solidFill>
                  <a:schemeClr val="tx1"/>
                </a:solidFill>
                <a:latin typeface="+mn-lt"/>
                <a:ea typeface="+mn-ea"/>
                <a:cs typeface="+mn-cs"/>
              </a:rPr>
              <a:t>required to complete the printing task.</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Traditionally, the OS created all processes in a way that was transparent to the</a:t>
            </a:r>
          </a:p>
          <a:p>
            <a:r>
              <a:rPr lang="en-US" sz="1200" kern="1200" baseline="0" dirty="0">
                <a:solidFill>
                  <a:schemeClr val="tx1"/>
                </a:solidFill>
                <a:latin typeface="+mn-lt"/>
                <a:ea typeface="+mn-ea"/>
                <a:cs typeface="+mn-cs"/>
              </a:rPr>
              <a:t>user or application program, and this is still commonly found with many contemporary</a:t>
            </a:r>
          </a:p>
          <a:p>
            <a:r>
              <a:rPr lang="en-US" sz="1200" kern="1200" baseline="0" dirty="0">
                <a:solidFill>
                  <a:schemeClr val="tx1"/>
                </a:solidFill>
                <a:latin typeface="+mn-lt"/>
                <a:ea typeface="+mn-ea"/>
                <a:cs typeface="+mn-cs"/>
              </a:rPr>
              <a:t>operating systems. However, it can be useful to allow one process to cause</a:t>
            </a:r>
          </a:p>
          <a:p>
            <a:r>
              <a:rPr lang="en-US" sz="1200" kern="1200" baseline="0" dirty="0">
                <a:solidFill>
                  <a:schemeClr val="tx1"/>
                </a:solidFill>
                <a:latin typeface="+mn-lt"/>
                <a:ea typeface="+mn-ea"/>
                <a:cs typeface="+mn-cs"/>
              </a:rPr>
              <a:t>the creation of another. For example, an application process may generate another</a:t>
            </a:r>
          </a:p>
          <a:p>
            <a:r>
              <a:rPr lang="en-US" sz="1200" kern="1200" baseline="0" dirty="0">
                <a:solidFill>
                  <a:schemeClr val="tx1"/>
                </a:solidFill>
                <a:latin typeface="+mn-lt"/>
                <a:ea typeface="+mn-ea"/>
                <a:cs typeface="+mn-cs"/>
              </a:rPr>
              <a:t>process to receive data that the application is generating and to organize those data</a:t>
            </a:r>
          </a:p>
          <a:p>
            <a:r>
              <a:rPr lang="en-US" sz="1200" kern="1200" baseline="0" dirty="0">
                <a:solidFill>
                  <a:schemeClr val="tx1"/>
                </a:solidFill>
                <a:latin typeface="+mn-lt"/>
                <a:ea typeface="+mn-ea"/>
                <a:cs typeface="+mn-cs"/>
              </a:rPr>
              <a:t>into a form suitable for later analysis. The new process runs in parallel to the original</a:t>
            </a:r>
          </a:p>
          <a:p>
            <a:r>
              <a:rPr lang="en-US" sz="1200" kern="1200" baseline="0" dirty="0">
                <a:solidFill>
                  <a:schemeClr val="tx1"/>
                </a:solidFill>
                <a:latin typeface="+mn-lt"/>
                <a:ea typeface="+mn-ea"/>
                <a:cs typeface="+mn-cs"/>
              </a:rPr>
              <a:t>process and is activated from time to time when new data are available. This</a:t>
            </a:r>
          </a:p>
          <a:p>
            <a:r>
              <a:rPr lang="en-US" sz="1200" kern="1200" baseline="0" dirty="0">
                <a:solidFill>
                  <a:schemeClr val="tx1"/>
                </a:solidFill>
                <a:latin typeface="+mn-lt"/>
                <a:ea typeface="+mn-ea"/>
                <a:cs typeface="+mn-cs"/>
              </a:rPr>
              <a:t>arrangement can be very useful in structuring the application.</a:t>
            </a:r>
            <a:endParaRPr lang="en-US" baseline="0"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13</a:t>
            </a:fld>
            <a:endParaRPr lang="en-US" dirty="0"/>
          </a:p>
        </p:txBody>
      </p:sp>
    </p:spTree>
    <p:extLst>
      <p:ext uri="{BB962C8B-B14F-4D97-AF65-F5344CB8AC3E}">
        <p14:creationId xmlns:p14="http://schemas.microsoft.com/office/powerpoint/2010/main" val="37037411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As another example,</a:t>
            </a:r>
          </a:p>
          <a:p>
            <a:r>
              <a:rPr lang="en-US" sz="1200" kern="1200" baseline="0" dirty="0">
                <a:solidFill>
                  <a:schemeClr val="tx1"/>
                </a:solidFill>
                <a:latin typeface="+mn-lt"/>
                <a:ea typeface="+mn-ea"/>
                <a:cs typeface="+mn-cs"/>
              </a:rPr>
              <a:t>a server process (e.g., print server, file server) may generate a new process for each</a:t>
            </a:r>
          </a:p>
          <a:p>
            <a:r>
              <a:rPr lang="en-US" sz="1200" kern="1200" baseline="0" dirty="0">
                <a:solidFill>
                  <a:schemeClr val="tx1"/>
                </a:solidFill>
                <a:latin typeface="+mn-lt"/>
                <a:ea typeface="+mn-ea"/>
                <a:cs typeface="+mn-cs"/>
              </a:rPr>
              <a:t>request that it handles. When the OS creates a process at the explicit request of</a:t>
            </a:r>
          </a:p>
          <a:p>
            <a:r>
              <a:rPr lang="en-US" sz="1200" kern="1200" baseline="0" dirty="0">
                <a:solidFill>
                  <a:schemeClr val="tx1"/>
                </a:solidFill>
                <a:latin typeface="+mn-lt"/>
                <a:ea typeface="+mn-ea"/>
                <a:cs typeface="+mn-cs"/>
              </a:rPr>
              <a:t>another process, the action is referred to as </a:t>
            </a:r>
            <a:r>
              <a:rPr lang="en-US" sz="1200" b="1" kern="1200" baseline="0" dirty="0">
                <a:solidFill>
                  <a:schemeClr val="tx1"/>
                </a:solidFill>
                <a:latin typeface="+mn-lt"/>
                <a:ea typeface="+mn-ea"/>
                <a:cs typeface="+mn-cs"/>
              </a:rPr>
              <a:t>process spawning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When one process spawns another, the former is referred to as the </a:t>
            </a:r>
            <a:r>
              <a:rPr lang="en-US" sz="1200" b="1" kern="1200" baseline="0" dirty="0">
                <a:solidFill>
                  <a:schemeClr val="tx1"/>
                </a:solidFill>
                <a:latin typeface="+mn-lt"/>
                <a:ea typeface="+mn-ea"/>
                <a:cs typeface="+mn-cs"/>
              </a:rPr>
              <a:t>parent</a:t>
            </a:r>
          </a:p>
          <a:p>
            <a:r>
              <a:rPr lang="en-US" sz="1200" b="1" kern="1200" baseline="0" dirty="0">
                <a:solidFill>
                  <a:schemeClr val="tx1"/>
                </a:solidFill>
                <a:latin typeface="+mn-lt"/>
                <a:ea typeface="+mn-ea"/>
                <a:cs typeface="+mn-cs"/>
              </a:rPr>
              <a:t>process , </a:t>
            </a:r>
            <a:r>
              <a:rPr lang="en-US" sz="1200" b="0" kern="1200" baseline="0" dirty="0">
                <a:solidFill>
                  <a:schemeClr val="tx1"/>
                </a:solidFill>
                <a:latin typeface="+mn-lt"/>
                <a:ea typeface="+mn-ea"/>
                <a:cs typeface="+mn-cs"/>
              </a:rPr>
              <a:t>and the spawned process is referred to as the </a:t>
            </a:r>
            <a:r>
              <a:rPr lang="en-US" sz="1200" b="1" kern="1200" baseline="0" dirty="0">
                <a:solidFill>
                  <a:schemeClr val="tx1"/>
                </a:solidFill>
                <a:latin typeface="+mn-lt"/>
                <a:ea typeface="+mn-ea"/>
                <a:cs typeface="+mn-cs"/>
              </a:rPr>
              <a:t>child process . </a:t>
            </a:r>
            <a:r>
              <a:rPr lang="en-US" sz="1200" b="0" kern="1200" baseline="0" dirty="0">
                <a:solidFill>
                  <a:schemeClr val="tx1"/>
                </a:solidFill>
                <a:latin typeface="+mn-lt"/>
                <a:ea typeface="+mn-ea"/>
                <a:cs typeface="+mn-cs"/>
              </a:rPr>
              <a:t>Typically, the</a:t>
            </a:r>
          </a:p>
          <a:p>
            <a:r>
              <a:rPr lang="en-US" sz="1200" kern="1200" baseline="0" dirty="0">
                <a:solidFill>
                  <a:schemeClr val="tx1"/>
                </a:solidFill>
                <a:latin typeface="+mn-lt"/>
                <a:ea typeface="+mn-ea"/>
                <a:cs typeface="+mn-cs"/>
              </a:rPr>
              <a:t>“related” processes need to communicate and cooperate with each other. Achieving</a:t>
            </a:r>
          </a:p>
          <a:p>
            <a:r>
              <a:rPr lang="en-US" sz="1200" kern="1200" baseline="0" dirty="0">
                <a:solidFill>
                  <a:schemeClr val="tx1"/>
                </a:solidFill>
                <a:latin typeface="+mn-lt"/>
                <a:ea typeface="+mn-ea"/>
                <a:cs typeface="+mn-cs"/>
              </a:rPr>
              <a:t>this cooperation is a difficult task for the programmer; this topic is discussed in</a:t>
            </a:r>
          </a:p>
          <a:p>
            <a:r>
              <a:rPr lang="en-US" sz="1200" kern="1200" baseline="0" dirty="0">
                <a:solidFill>
                  <a:schemeClr val="tx1"/>
                </a:solidFill>
                <a:latin typeface="+mn-lt"/>
                <a:ea typeface="+mn-ea"/>
                <a:cs typeface="+mn-cs"/>
              </a:rPr>
              <a:t>Chapter 5 .</a:t>
            </a:r>
            <a:endParaRPr lang="en-NZ"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14</a:t>
            </a:fld>
            <a:endParaRPr lang="en-US" dirty="0"/>
          </a:p>
        </p:txBody>
      </p:sp>
    </p:spTree>
    <p:extLst>
      <p:ext uri="{BB962C8B-B14F-4D97-AF65-F5344CB8AC3E}">
        <p14:creationId xmlns:p14="http://schemas.microsoft.com/office/powerpoint/2010/main" val="17785029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Any computer system must provide a means for a process to indicate its</a:t>
            </a:r>
          </a:p>
          <a:p>
            <a:r>
              <a:rPr lang="en-US" sz="1200" kern="1200" baseline="0" dirty="0">
                <a:solidFill>
                  <a:schemeClr val="tx1"/>
                </a:solidFill>
                <a:latin typeface="+mn-lt"/>
                <a:ea typeface="+mn-ea"/>
                <a:cs typeface="+mn-cs"/>
              </a:rPr>
              <a:t>completion. A batch job should include a Halt instruction or an explicit OS service</a:t>
            </a:r>
          </a:p>
          <a:p>
            <a:r>
              <a:rPr lang="en-US" sz="1200" kern="1200" baseline="0" dirty="0">
                <a:solidFill>
                  <a:schemeClr val="tx1"/>
                </a:solidFill>
                <a:latin typeface="+mn-lt"/>
                <a:ea typeface="+mn-ea"/>
                <a:cs typeface="+mn-cs"/>
              </a:rPr>
              <a:t>call for termination. In the former case, the Halt instruction will generate an interrupt</a:t>
            </a:r>
          </a:p>
          <a:p>
            <a:r>
              <a:rPr lang="en-US" sz="1200" kern="1200" baseline="0" dirty="0">
                <a:solidFill>
                  <a:schemeClr val="tx1"/>
                </a:solidFill>
                <a:latin typeface="+mn-lt"/>
                <a:ea typeface="+mn-ea"/>
                <a:cs typeface="+mn-cs"/>
              </a:rPr>
              <a:t>to alert the OS that a process has completed. For an interactive application, the action</a:t>
            </a:r>
          </a:p>
          <a:p>
            <a:r>
              <a:rPr lang="en-US" sz="1200" kern="1200" baseline="0" dirty="0">
                <a:solidFill>
                  <a:schemeClr val="tx1"/>
                </a:solidFill>
                <a:latin typeface="+mn-lt"/>
                <a:ea typeface="+mn-ea"/>
                <a:cs typeface="+mn-cs"/>
              </a:rPr>
              <a:t>of the user will indicate when the process is completed. For example, in a time-sharing</a:t>
            </a:r>
          </a:p>
          <a:p>
            <a:r>
              <a:rPr lang="en-US" sz="1200" kern="1200" baseline="0" dirty="0">
                <a:solidFill>
                  <a:schemeClr val="tx1"/>
                </a:solidFill>
                <a:latin typeface="+mn-lt"/>
                <a:ea typeface="+mn-ea"/>
                <a:cs typeface="+mn-cs"/>
              </a:rPr>
              <a:t>system, the process for a particular user is to be terminated when the user logs off or</a:t>
            </a:r>
          </a:p>
          <a:p>
            <a:r>
              <a:rPr lang="en-US" sz="1200" kern="1200" baseline="0" dirty="0">
                <a:solidFill>
                  <a:schemeClr val="tx1"/>
                </a:solidFill>
                <a:latin typeface="+mn-lt"/>
                <a:ea typeface="+mn-ea"/>
                <a:cs typeface="+mn-cs"/>
              </a:rPr>
              <a:t>turns off his or her terminal. On a personal computer or workstation, a user may quit</a:t>
            </a:r>
          </a:p>
          <a:p>
            <a:r>
              <a:rPr lang="en-US" sz="1200" kern="1200" baseline="0" dirty="0">
                <a:solidFill>
                  <a:schemeClr val="tx1"/>
                </a:solidFill>
                <a:latin typeface="+mn-lt"/>
                <a:ea typeface="+mn-ea"/>
                <a:cs typeface="+mn-cs"/>
              </a:rPr>
              <a:t>an application (e.g., word processing or spreadsheet). All of these actions ultimately</a:t>
            </a:r>
          </a:p>
          <a:p>
            <a:r>
              <a:rPr lang="en-US" sz="1200" kern="1200" baseline="0" dirty="0">
                <a:solidFill>
                  <a:schemeClr val="tx1"/>
                </a:solidFill>
                <a:latin typeface="+mn-lt"/>
                <a:ea typeface="+mn-ea"/>
                <a:cs typeface="+mn-cs"/>
              </a:rPr>
              <a:t>result in a service request to the OS to terminate the requesting process.</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15</a:t>
            </a:fld>
            <a:endParaRPr lang="en-US" dirty="0"/>
          </a:p>
        </p:txBody>
      </p:sp>
    </p:spTree>
    <p:extLst>
      <p:ext uri="{BB962C8B-B14F-4D97-AF65-F5344CB8AC3E}">
        <p14:creationId xmlns:p14="http://schemas.microsoft.com/office/powerpoint/2010/main" val="28276827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Additionally, a number of error and fault conditions can lead to the termination</a:t>
            </a:r>
          </a:p>
          <a:p>
            <a:r>
              <a:rPr lang="en-US" sz="1200" kern="1200" baseline="0" dirty="0">
                <a:solidFill>
                  <a:schemeClr val="tx1"/>
                </a:solidFill>
                <a:latin typeface="+mn-lt"/>
                <a:ea typeface="+mn-ea"/>
                <a:cs typeface="+mn-cs"/>
              </a:rPr>
              <a:t>of a process. Table 3.2 lists some of the more commonly recognized conditions.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Finally, in some operating systems, a process may be terminated by the process</a:t>
            </a:r>
          </a:p>
          <a:p>
            <a:r>
              <a:rPr lang="en-US" sz="1200" kern="1200" baseline="0" dirty="0">
                <a:solidFill>
                  <a:schemeClr val="tx1"/>
                </a:solidFill>
                <a:latin typeface="+mn-lt"/>
                <a:ea typeface="+mn-ea"/>
                <a:cs typeface="+mn-cs"/>
              </a:rPr>
              <a:t>that created it or when the parent process is itself terminated.</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16</a:t>
            </a:fld>
            <a:endParaRPr lang="en-US" dirty="0"/>
          </a:p>
        </p:txBody>
      </p:sp>
    </p:spTree>
    <p:extLst>
      <p:ext uri="{BB962C8B-B14F-4D97-AF65-F5344CB8AC3E}">
        <p14:creationId xmlns:p14="http://schemas.microsoft.com/office/powerpoint/2010/main" val="35546143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r>
              <a:rPr lang="en-US" sz="1200" b="0" kern="1200" baseline="0" dirty="0">
                <a:solidFill>
                  <a:schemeClr val="tx1"/>
                </a:solidFill>
                <a:latin typeface="+mn-lt"/>
                <a:ea typeface="+mn-ea"/>
                <a:cs typeface="+mn-cs"/>
              </a:rPr>
              <a:t>If all processes were always ready to execute, then the queuing discipline suggested</a:t>
            </a:r>
          </a:p>
          <a:p>
            <a:r>
              <a:rPr lang="en-US" sz="1200" b="0" kern="1200" baseline="0" dirty="0">
                <a:solidFill>
                  <a:schemeClr val="tx1"/>
                </a:solidFill>
                <a:latin typeface="+mn-lt"/>
                <a:ea typeface="+mn-ea"/>
                <a:cs typeface="+mn-cs"/>
              </a:rPr>
              <a:t>by Figure 3.5b would be effective. The queue is a first-in-first-out list and the processor</a:t>
            </a:r>
          </a:p>
          <a:p>
            <a:r>
              <a:rPr lang="en-US" sz="1200" b="0" kern="1200" baseline="0" dirty="0">
                <a:solidFill>
                  <a:schemeClr val="tx1"/>
                </a:solidFill>
                <a:latin typeface="+mn-lt"/>
                <a:ea typeface="+mn-ea"/>
                <a:cs typeface="+mn-cs"/>
              </a:rPr>
              <a:t>operates in round-robin fashion on the available processes (each process in</a:t>
            </a:r>
          </a:p>
          <a:p>
            <a:r>
              <a:rPr lang="en-US" sz="1200" b="0" kern="1200" baseline="0" dirty="0">
                <a:solidFill>
                  <a:schemeClr val="tx1"/>
                </a:solidFill>
                <a:latin typeface="+mn-lt"/>
                <a:ea typeface="+mn-ea"/>
                <a:cs typeface="+mn-cs"/>
              </a:rPr>
              <a:t>the queue is given a certain amount of time, in turn, to execute and then returned to</a:t>
            </a:r>
          </a:p>
          <a:p>
            <a:r>
              <a:rPr lang="en-US" sz="1200" b="0" kern="1200" baseline="0" dirty="0">
                <a:solidFill>
                  <a:schemeClr val="tx1"/>
                </a:solidFill>
                <a:latin typeface="+mn-lt"/>
                <a:ea typeface="+mn-ea"/>
                <a:cs typeface="+mn-cs"/>
              </a:rPr>
              <a:t>the queue, unless blocked). However, even with the simple example that we have</a:t>
            </a:r>
          </a:p>
          <a:p>
            <a:r>
              <a:rPr lang="en-US" sz="1200" b="0" kern="1200" baseline="0" dirty="0">
                <a:solidFill>
                  <a:schemeClr val="tx1"/>
                </a:solidFill>
                <a:latin typeface="+mn-lt"/>
                <a:ea typeface="+mn-ea"/>
                <a:cs typeface="+mn-cs"/>
              </a:rPr>
              <a:t>described, this implementation is inadequate: Some processes in the Not Running</a:t>
            </a:r>
          </a:p>
          <a:p>
            <a:r>
              <a:rPr lang="en-US" sz="1200" b="0" kern="1200" baseline="0" dirty="0">
                <a:solidFill>
                  <a:schemeClr val="tx1"/>
                </a:solidFill>
                <a:latin typeface="+mn-lt"/>
                <a:ea typeface="+mn-ea"/>
                <a:cs typeface="+mn-cs"/>
              </a:rPr>
              <a:t>state are ready to execute, while others are blocked, waiting for an I/O operation</a:t>
            </a:r>
          </a:p>
          <a:p>
            <a:r>
              <a:rPr lang="en-US" sz="1200" b="0" kern="1200" baseline="0" dirty="0">
                <a:solidFill>
                  <a:schemeClr val="tx1"/>
                </a:solidFill>
                <a:latin typeface="+mn-lt"/>
                <a:ea typeface="+mn-ea"/>
                <a:cs typeface="+mn-cs"/>
              </a:rPr>
              <a:t>to complete. Thus, using a single queue, the dispatcher could not just select the</a:t>
            </a:r>
          </a:p>
          <a:p>
            <a:r>
              <a:rPr lang="en-US" sz="1200" b="0" kern="1200" baseline="0" dirty="0">
                <a:solidFill>
                  <a:schemeClr val="tx1"/>
                </a:solidFill>
                <a:latin typeface="+mn-lt"/>
                <a:ea typeface="+mn-ea"/>
                <a:cs typeface="+mn-cs"/>
              </a:rPr>
              <a:t>process at the oldest end of the queue. Rather, the dispatcher would have to scan</a:t>
            </a:r>
          </a:p>
          <a:p>
            <a:r>
              <a:rPr lang="en-US" sz="1200" b="0" kern="1200" baseline="0" dirty="0">
                <a:solidFill>
                  <a:schemeClr val="tx1"/>
                </a:solidFill>
                <a:latin typeface="+mn-lt"/>
                <a:ea typeface="+mn-ea"/>
                <a:cs typeface="+mn-cs"/>
              </a:rPr>
              <a:t>the list looking for the process that is not blocked and that has been in the queue</a:t>
            </a:r>
          </a:p>
          <a:p>
            <a:r>
              <a:rPr lang="en-US" sz="1200" b="0" kern="1200" baseline="0" dirty="0">
                <a:solidFill>
                  <a:schemeClr val="tx1"/>
                </a:solidFill>
                <a:latin typeface="+mn-lt"/>
                <a:ea typeface="+mn-ea"/>
                <a:cs typeface="+mn-cs"/>
              </a:rPr>
              <a:t>the longest.</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A more natural way to handle this situation is to split the Not Running state</a:t>
            </a:r>
          </a:p>
          <a:p>
            <a:r>
              <a:rPr lang="en-US" sz="1200" b="0" kern="1200" baseline="0" dirty="0">
                <a:solidFill>
                  <a:schemeClr val="tx1"/>
                </a:solidFill>
                <a:latin typeface="+mn-lt"/>
                <a:ea typeface="+mn-ea"/>
                <a:cs typeface="+mn-cs"/>
              </a:rPr>
              <a:t>into two states: Ready and Blocked. This is shown in Figure 3.6 . </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The five states in this new diagram are:</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Running: The process that is currently being executed. For this chapter, we</a:t>
            </a:r>
          </a:p>
          <a:p>
            <a:r>
              <a:rPr lang="en-US" sz="1200" b="0" kern="1200" baseline="0" dirty="0">
                <a:solidFill>
                  <a:schemeClr val="tx1"/>
                </a:solidFill>
                <a:latin typeface="+mn-lt"/>
                <a:ea typeface="+mn-ea"/>
                <a:cs typeface="+mn-cs"/>
              </a:rPr>
              <a:t>will assume a computer with a single processor, so at most one process at a</a:t>
            </a:r>
          </a:p>
          <a:p>
            <a:r>
              <a:rPr lang="en-US" sz="1200" b="0" kern="1200" baseline="0" dirty="0">
                <a:solidFill>
                  <a:schemeClr val="tx1"/>
                </a:solidFill>
                <a:latin typeface="+mn-lt"/>
                <a:ea typeface="+mn-ea"/>
                <a:cs typeface="+mn-cs"/>
              </a:rPr>
              <a:t>time can be in this state.</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Ready: A process that is prepared to execute when given the opportunity.</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Blocked/Waiting:  A process that cannot execute until some event occurs,</a:t>
            </a:r>
          </a:p>
          <a:p>
            <a:r>
              <a:rPr lang="en-US" sz="1200" b="0" kern="1200" baseline="0" dirty="0">
                <a:solidFill>
                  <a:schemeClr val="tx1"/>
                </a:solidFill>
                <a:latin typeface="+mn-lt"/>
                <a:ea typeface="+mn-ea"/>
                <a:cs typeface="+mn-cs"/>
              </a:rPr>
              <a:t>such as the completion of an I/O operation.</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New: A process that has just been created but has not yet been admitted to the</a:t>
            </a:r>
          </a:p>
          <a:p>
            <a:r>
              <a:rPr lang="en-US" sz="1200" b="0" kern="1200" baseline="0" dirty="0">
                <a:solidFill>
                  <a:schemeClr val="tx1"/>
                </a:solidFill>
                <a:latin typeface="+mn-lt"/>
                <a:ea typeface="+mn-ea"/>
                <a:cs typeface="+mn-cs"/>
              </a:rPr>
              <a:t>pool of executable processes by the OS. Typically, a new process has not yet</a:t>
            </a:r>
          </a:p>
          <a:p>
            <a:r>
              <a:rPr lang="en-US" sz="1200" b="0" kern="1200" baseline="0" dirty="0">
                <a:solidFill>
                  <a:schemeClr val="tx1"/>
                </a:solidFill>
                <a:latin typeface="+mn-lt"/>
                <a:ea typeface="+mn-ea"/>
                <a:cs typeface="+mn-cs"/>
              </a:rPr>
              <a:t>been loaded into main memory, although its process control block has been</a:t>
            </a:r>
          </a:p>
          <a:p>
            <a:r>
              <a:rPr lang="en-US" sz="1200" b="0" kern="1200" baseline="0" dirty="0">
                <a:solidFill>
                  <a:schemeClr val="tx1"/>
                </a:solidFill>
                <a:latin typeface="+mn-lt"/>
                <a:ea typeface="+mn-ea"/>
                <a:cs typeface="+mn-cs"/>
              </a:rPr>
              <a:t>created.</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Exit: A process that has been released from the pool of executable processes</a:t>
            </a:r>
          </a:p>
          <a:p>
            <a:r>
              <a:rPr lang="en-US" sz="1200" b="0" kern="1200" baseline="0" dirty="0">
                <a:solidFill>
                  <a:schemeClr val="tx1"/>
                </a:solidFill>
                <a:latin typeface="+mn-lt"/>
                <a:ea typeface="+mn-ea"/>
                <a:cs typeface="+mn-cs"/>
              </a:rPr>
              <a:t>by the OS, either because it halted or because it aborted for some reason.</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Figure 3.6 indicates the types of events that lead to each state transition for a</a:t>
            </a:r>
          </a:p>
          <a:p>
            <a:r>
              <a:rPr lang="en-US" sz="1200" b="0" kern="1200" baseline="0" dirty="0">
                <a:solidFill>
                  <a:schemeClr val="tx1"/>
                </a:solidFill>
                <a:latin typeface="+mn-lt"/>
                <a:ea typeface="+mn-ea"/>
                <a:cs typeface="+mn-cs"/>
              </a:rPr>
              <a:t>process; the possible transitions are as follows: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Null : New: A new process is created to execute a program. This event occurs</a:t>
            </a:r>
          </a:p>
          <a:p>
            <a:r>
              <a:rPr lang="en-US" sz="1200" b="0" kern="1200" baseline="0" dirty="0">
                <a:solidFill>
                  <a:schemeClr val="tx1"/>
                </a:solidFill>
                <a:latin typeface="+mn-lt"/>
                <a:ea typeface="+mn-ea"/>
                <a:cs typeface="+mn-cs"/>
              </a:rPr>
              <a:t>for any of the reasons listed in Table 3.1 .</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New : Ready: The OS will move a process from the New state to the Ready</a:t>
            </a:r>
          </a:p>
          <a:p>
            <a:r>
              <a:rPr lang="en-US" sz="1200" b="0" kern="1200" baseline="0" dirty="0">
                <a:solidFill>
                  <a:schemeClr val="tx1"/>
                </a:solidFill>
                <a:latin typeface="+mn-lt"/>
                <a:ea typeface="+mn-ea"/>
                <a:cs typeface="+mn-cs"/>
              </a:rPr>
              <a:t>state when it is prepared to take on an additional process. Most systems set</a:t>
            </a:r>
          </a:p>
          <a:p>
            <a:r>
              <a:rPr lang="en-US" sz="1200" b="0" kern="1200" baseline="0" dirty="0">
                <a:solidFill>
                  <a:schemeClr val="tx1"/>
                </a:solidFill>
                <a:latin typeface="+mn-lt"/>
                <a:ea typeface="+mn-ea"/>
                <a:cs typeface="+mn-cs"/>
              </a:rPr>
              <a:t>some limit based on the number of existing processes or the amount of virtual</a:t>
            </a:r>
          </a:p>
          <a:p>
            <a:r>
              <a:rPr lang="en-US" sz="1200" b="0" kern="1200" baseline="0" dirty="0">
                <a:solidFill>
                  <a:schemeClr val="tx1"/>
                </a:solidFill>
                <a:latin typeface="+mn-lt"/>
                <a:ea typeface="+mn-ea"/>
                <a:cs typeface="+mn-cs"/>
              </a:rPr>
              <a:t>memory committed to existing processes. This limit assures that there are not</a:t>
            </a:r>
          </a:p>
          <a:p>
            <a:r>
              <a:rPr lang="en-US" sz="1200" b="0" kern="1200" baseline="0" dirty="0">
                <a:solidFill>
                  <a:schemeClr val="tx1"/>
                </a:solidFill>
                <a:latin typeface="+mn-lt"/>
                <a:ea typeface="+mn-ea"/>
                <a:cs typeface="+mn-cs"/>
              </a:rPr>
              <a:t>so many active processes as to degrade performance.</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Ready : Running: When it is time to select a process to run, the OS chooses</a:t>
            </a:r>
          </a:p>
          <a:p>
            <a:r>
              <a:rPr lang="en-US" sz="1200" b="0" kern="1200" baseline="0" dirty="0">
                <a:solidFill>
                  <a:schemeClr val="tx1"/>
                </a:solidFill>
                <a:latin typeface="+mn-lt"/>
                <a:ea typeface="+mn-ea"/>
                <a:cs typeface="+mn-cs"/>
              </a:rPr>
              <a:t>one of the processes in the Ready state. This is the job of the scheduler or</a:t>
            </a:r>
          </a:p>
          <a:p>
            <a:r>
              <a:rPr lang="en-US" sz="1200" b="0" kern="1200" baseline="0" dirty="0">
                <a:solidFill>
                  <a:schemeClr val="tx1"/>
                </a:solidFill>
                <a:latin typeface="+mn-lt"/>
                <a:ea typeface="+mn-ea"/>
                <a:cs typeface="+mn-cs"/>
              </a:rPr>
              <a:t>dispatcher. Scheduling is explored in Part Four.</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Running : Exit: The currently running process is terminated by the OS if the</a:t>
            </a:r>
          </a:p>
          <a:p>
            <a:r>
              <a:rPr lang="en-US" sz="1200" b="0" kern="1200" baseline="0" dirty="0">
                <a:solidFill>
                  <a:schemeClr val="tx1"/>
                </a:solidFill>
                <a:latin typeface="+mn-lt"/>
                <a:ea typeface="+mn-ea"/>
                <a:cs typeface="+mn-cs"/>
              </a:rPr>
              <a:t>process indicates that it has completed, or if it aborts. See Table 3.2 .</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Running : Ready: The most common reason for this transition is that the</a:t>
            </a:r>
          </a:p>
          <a:p>
            <a:r>
              <a:rPr lang="en-US" sz="1200" b="0" kern="1200" baseline="0" dirty="0">
                <a:solidFill>
                  <a:schemeClr val="tx1"/>
                </a:solidFill>
                <a:latin typeface="+mn-lt"/>
                <a:ea typeface="+mn-ea"/>
                <a:cs typeface="+mn-cs"/>
              </a:rPr>
              <a:t>running process has reached the maximum allowable time for uninterrupted</a:t>
            </a:r>
          </a:p>
          <a:p>
            <a:r>
              <a:rPr lang="en-US" sz="1200" b="0" kern="1200" baseline="0" dirty="0">
                <a:solidFill>
                  <a:schemeClr val="tx1"/>
                </a:solidFill>
                <a:latin typeface="+mn-lt"/>
                <a:ea typeface="+mn-ea"/>
                <a:cs typeface="+mn-cs"/>
              </a:rPr>
              <a:t>execution; virtually all multiprogramming operating systems impose this type</a:t>
            </a:r>
          </a:p>
          <a:p>
            <a:r>
              <a:rPr lang="en-US" sz="1200" b="0" kern="1200" baseline="0" dirty="0">
                <a:solidFill>
                  <a:schemeClr val="tx1"/>
                </a:solidFill>
                <a:latin typeface="+mn-lt"/>
                <a:ea typeface="+mn-ea"/>
                <a:cs typeface="+mn-cs"/>
              </a:rPr>
              <a:t>of time discipline. There are several other alternative causes for this transition,</a:t>
            </a:r>
          </a:p>
          <a:p>
            <a:r>
              <a:rPr lang="en-US" sz="1200" b="0" kern="1200" baseline="0" dirty="0">
                <a:solidFill>
                  <a:schemeClr val="tx1"/>
                </a:solidFill>
                <a:latin typeface="+mn-lt"/>
                <a:ea typeface="+mn-ea"/>
                <a:cs typeface="+mn-cs"/>
              </a:rPr>
              <a:t>which are not implemented in all operating systems. Of particular importance</a:t>
            </a:r>
          </a:p>
          <a:p>
            <a:r>
              <a:rPr lang="en-US" sz="1200" b="0" kern="1200" baseline="0" dirty="0">
                <a:solidFill>
                  <a:schemeClr val="tx1"/>
                </a:solidFill>
                <a:latin typeface="+mn-lt"/>
                <a:ea typeface="+mn-ea"/>
                <a:cs typeface="+mn-cs"/>
              </a:rPr>
              <a:t>is the case in which the OS assigns different levels of priority to different</a:t>
            </a:r>
          </a:p>
          <a:p>
            <a:r>
              <a:rPr lang="en-US" sz="1200" b="0" kern="1200" baseline="0" dirty="0">
                <a:solidFill>
                  <a:schemeClr val="tx1"/>
                </a:solidFill>
                <a:latin typeface="+mn-lt"/>
                <a:ea typeface="+mn-ea"/>
                <a:cs typeface="+mn-cs"/>
              </a:rPr>
              <a:t>processes.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Running : Blocked: A process is put in the Blocked state if it requests something</a:t>
            </a:r>
          </a:p>
          <a:p>
            <a:r>
              <a:rPr lang="en-US" sz="1200" b="0" kern="1200" baseline="0" dirty="0">
                <a:solidFill>
                  <a:schemeClr val="tx1"/>
                </a:solidFill>
                <a:latin typeface="+mn-lt"/>
                <a:ea typeface="+mn-ea"/>
                <a:cs typeface="+mn-cs"/>
              </a:rPr>
              <a:t>for which it must wait. A request to the OS is usually in the form of a</a:t>
            </a:r>
          </a:p>
          <a:p>
            <a:r>
              <a:rPr lang="en-US" sz="1200" b="0" kern="1200" baseline="0" dirty="0">
                <a:solidFill>
                  <a:schemeClr val="tx1"/>
                </a:solidFill>
                <a:latin typeface="+mn-lt"/>
                <a:ea typeface="+mn-ea"/>
                <a:cs typeface="+mn-cs"/>
              </a:rPr>
              <a:t>system service call; that is, a call from the running program to a procedure</a:t>
            </a:r>
          </a:p>
          <a:p>
            <a:r>
              <a:rPr lang="en-US" sz="1200" b="0" kern="1200" baseline="0" dirty="0">
                <a:solidFill>
                  <a:schemeClr val="tx1"/>
                </a:solidFill>
                <a:latin typeface="+mn-lt"/>
                <a:ea typeface="+mn-ea"/>
                <a:cs typeface="+mn-cs"/>
              </a:rPr>
              <a:t>that is part of the operating system code. For example, a process may request</a:t>
            </a:r>
          </a:p>
          <a:p>
            <a:r>
              <a:rPr lang="en-US" sz="1200" b="0" kern="1200" baseline="0" dirty="0">
                <a:solidFill>
                  <a:schemeClr val="tx1"/>
                </a:solidFill>
                <a:latin typeface="+mn-lt"/>
                <a:ea typeface="+mn-ea"/>
                <a:cs typeface="+mn-cs"/>
              </a:rPr>
              <a:t>a service from the OS that the OS is not prepared to perform immediately. It</a:t>
            </a:r>
          </a:p>
          <a:p>
            <a:r>
              <a:rPr lang="en-US" sz="1200" b="0" kern="1200" baseline="0" dirty="0">
                <a:solidFill>
                  <a:schemeClr val="tx1"/>
                </a:solidFill>
                <a:latin typeface="+mn-lt"/>
                <a:ea typeface="+mn-ea"/>
                <a:cs typeface="+mn-cs"/>
              </a:rPr>
              <a:t>can request a resource, such as a file or a shared section of virtual memory,</a:t>
            </a:r>
          </a:p>
          <a:p>
            <a:r>
              <a:rPr lang="en-US" sz="1200" b="0" kern="1200" baseline="0" dirty="0">
                <a:solidFill>
                  <a:schemeClr val="tx1"/>
                </a:solidFill>
                <a:latin typeface="+mn-lt"/>
                <a:ea typeface="+mn-ea"/>
                <a:cs typeface="+mn-cs"/>
              </a:rPr>
              <a:t>that is not immediately available. Or the process may initiate an action, such</a:t>
            </a:r>
          </a:p>
          <a:p>
            <a:r>
              <a:rPr lang="en-US" sz="1200" b="0" kern="1200" baseline="0" dirty="0">
                <a:solidFill>
                  <a:schemeClr val="tx1"/>
                </a:solidFill>
                <a:latin typeface="+mn-lt"/>
                <a:ea typeface="+mn-ea"/>
                <a:cs typeface="+mn-cs"/>
              </a:rPr>
              <a:t>as an I/O operation, that must be completed before the process can continue.</a:t>
            </a:r>
          </a:p>
          <a:p>
            <a:r>
              <a:rPr lang="en-US" sz="1200" b="0" kern="1200" baseline="0" dirty="0">
                <a:solidFill>
                  <a:schemeClr val="tx1"/>
                </a:solidFill>
                <a:latin typeface="+mn-lt"/>
                <a:ea typeface="+mn-ea"/>
                <a:cs typeface="+mn-cs"/>
              </a:rPr>
              <a:t>When processes communicate with each other, a process may be blocked</a:t>
            </a:r>
          </a:p>
          <a:p>
            <a:r>
              <a:rPr lang="en-US" sz="1200" b="0" kern="1200" baseline="0" dirty="0">
                <a:solidFill>
                  <a:schemeClr val="tx1"/>
                </a:solidFill>
                <a:latin typeface="+mn-lt"/>
                <a:ea typeface="+mn-ea"/>
                <a:cs typeface="+mn-cs"/>
              </a:rPr>
              <a:t>when it is waiting for another process to provide data or waiting for a message</a:t>
            </a:r>
          </a:p>
          <a:p>
            <a:r>
              <a:rPr lang="en-US" sz="1200" b="0" kern="1200" baseline="0" dirty="0">
                <a:solidFill>
                  <a:schemeClr val="tx1"/>
                </a:solidFill>
                <a:latin typeface="+mn-lt"/>
                <a:ea typeface="+mn-ea"/>
                <a:cs typeface="+mn-cs"/>
              </a:rPr>
              <a:t>from another process.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Blocked : Ready: A process in the Blocked state is moved to the Ready state</a:t>
            </a:r>
          </a:p>
          <a:p>
            <a:r>
              <a:rPr lang="en-US" sz="1200" b="0" kern="1200" baseline="0" dirty="0">
                <a:solidFill>
                  <a:schemeClr val="tx1"/>
                </a:solidFill>
                <a:latin typeface="+mn-lt"/>
                <a:ea typeface="+mn-ea"/>
                <a:cs typeface="+mn-cs"/>
              </a:rPr>
              <a:t>when the event for which it has been waiting occurs.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Ready : Exit: For clarity, this transition is not shown on the state diagram. In</a:t>
            </a:r>
          </a:p>
          <a:p>
            <a:r>
              <a:rPr lang="en-US" sz="1200" b="0" kern="1200" baseline="0" dirty="0">
                <a:solidFill>
                  <a:schemeClr val="tx1"/>
                </a:solidFill>
                <a:latin typeface="+mn-lt"/>
                <a:ea typeface="+mn-ea"/>
                <a:cs typeface="+mn-cs"/>
              </a:rPr>
              <a:t>some systems, a parent may terminate a child’ process at any time. Also, if a parent</a:t>
            </a:r>
          </a:p>
          <a:p>
            <a:r>
              <a:rPr lang="en-US" sz="1200" b="0" kern="1200" baseline="0" dirty="0">
                <a:solidFill>
                  <a:schemeClr val="tx1"/>
                </a:solidFill>
                <a:latin typeface="+mn-lt"/>
                <a:ea typeface="+mn-ea"/>
                <a:cs typeface="+mn-cs"/>
              </a:rPr>
              <a:t>terminates, all child processes associated with that parent may be terminated.</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Blocked : Exit: The comments under the preceding item apply.</a:t>
            </a:r>
          </a:p>
          <a:p>
            <a:endParaRPr lang="en-US" b="0" i="0"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17</a:t>
            </a:fld>
            <a:endParaRPr lang="en-US" dirty="0"/>
          </a:p>
        </p:txBody>
      </p:sp>
    </p:spTree>
    <p:extLst>
      <p:ext uri="{BB962C8B-B14F-4D97-AF65-F5344CB8AC3E}">
        <p14:creationId xmlns:p14="http://schemas.microsoft.com/office/powerpoint/2010/main" val="22341198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Returning to our simple example, Figure 3.7 shows the transition of each process</a:t>
            </a:r>
          </a:p>
          <a:p>
            <a:r>
              <a:rPr lang="en-US" sz="1200" kern="1200" baseline="0" dirty="0">
                <a:solidFill>
                  <a:schemeClr val="tx1"/>
                </a:solidFill>
                <a:latin typeface="+mn-lt"/>
                <a:ea typeface="+mn-ea"/>
                <a:cs typeface="+mn-cs"/>
              </a:rPr>
              <a:t>among the states.</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18</a:t>
            </a:fld>
            <a:endParaRPr lang="en-US" dirty="0"/>
          </a:p>
        </p:txBody>
      </p:sp>
    </p:spTree>
    <p:extLst>
      <p:ext uri="{BB962C8B-B14F-4D97-AF65-F5344CB8AC3E}">
        <p14:creationId xmlns:p14="http://schemas.microsoft.com/office/powerpoint/2010/main" val="27997505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Figure 3.8a suggests the way in which a queuing discipline</a:t>
            </a:r>
          </a:p>
          <a:p>
            <a:r>
              <a:rPr lang="en-US" sz="1200" kern="1200" baseline="0" dirty="0">
                <a:solidFill>
                  <a:schemeClr val="tx1"/>
                </a:solidFill>
                <a:latin typeface="+mn-lt"/>
                <a:ea typeface="+mn-ea"/>
                <a:cs typeface="+mn-cs"/>
              </a:rPr>
              <a:t>might be implemented with two queues: a Ready queue and a Blocked queue. As</a:t>
            </a:r>
          </a:p>
          <a:p>
            <a:r>
              <a:rPr lang="en-US" sz="1200" kern="1200" baseline="0" dirty="0">
                <a:solidFill>
                  <a:schemeClr val="tx1"/>
                </a:solidFill>
                <a:latin typeface="+mn-lt"/>
                <a:ea typeface="+mn-ea"/>
                <a:cs typeface="+mn-cs"/>
              </a:rPr>
              <a:t>each process is admitted to the system, it is placed in the Ready queue. When it is</a:t>
            </a:r>
          </a:p>
          <a:p>
            <a:r>
              <a:rPr lang="en-US" sz="1200" kern="1200" baseline="0" dirty="0">
                <a:solidFill>
                  <a:schemeClr val="tx1"/>
                </a:solidFill>
                <a:latin typeface="+mn-lt"/>
                <a:ea typeface="+mn-ea"/>
                <a:cs typeface="+mn-cs"/>
              </a:rPr>
              <a:t>time for the OS to choose another process to run, it selects one from the Ready</a:t>
            </a:r>
          </a:p>
          <a:p>
            <a:r>
              <a:rPr lang="en-US" sz="1200" kern="1200" baseline="0" dirty="0">
                <a:solidFill>
                  <a:schemeClr val="tx1"/>
                </a:solidFill>
                <a:latin typeface="+mn-lt"/>
                <a:ea typeface="+mn-ea"/>
                <a:cs typeface="+mn-cs"/>
              </a:rPr>
              <a:t>queue. In the absence of any priority scheme, this can be a simple first-in-first-out</a:t>
            </a:r>
          </a:p>
          <a:p>
            <a:r>
              <a:rPr lang="en-US" sz="1200" kern="1200" baseline="0" dirty="0">
                <a:solidFill>
                  <a:schemeClr val="tx1"/>
                </a:solidFill>
                <a:latin typeface="+mn-lt"/>
                <a:ea typeface="+mn-ea"/>
                <a:cs typeface="+mn-cs"/>
              </a:rPr>
              <a:t>queue. When a running process is removed from execution, it is either terminated</a:t>
            </a:r>
          </a:p>
          <a:p>
            <a:r>
              <a:rPr lang="en-US" sz="1200" kern="1200" baseline="0" dirty="0">
                <a:solidFill>
                  <a:schemeClr val="tx1"/>
                </a:solidFill>
                <a:latin typeface="+mn-lt"/>
                <a:ea typeface="+mn-ea"/>
                <a:cs typeface="+mn-cs"/>
              </a:rPr>
              <a:t>or placed in the Ready or Blocked queue, depending on the circumstances. Finally,</a:t>
            </a:r>
          </a:p>
          <a:p>
            <a:r>
              <a:rPr lang="en-US" sz="1200" kern="1200" baseline="0" dirty="0">
                <a:solidFill>
                  <a:schemeClr val="tx1"/>
                </a:solidFill>
                <a:latin typeface="+mn-lt"/>
                <a:ea typeface="+mn-ea"/>
                <a:cs typeface="+mn-cs"/>
              </a:rPr>
              <a:t>when an event occurs, any process in the Blocked queue that has been waiting on</a:t>
            </a:r>
          </a:p>
          <a:p>
            <a:r>
              <a:rPr lang="en-US" sz="1200" kern="1200" baseline="0" dirty="0">
                <a:solidFill>
                  <a:schemeClr val="tx1"/>
                </a:solidFill>
                <a:latin typeface="+mn-lt"/>
                <a:ea typeface="+mn-ea"/>
                <a:cs typeface="+mn-cs"/>
              </a:rPr>
              <a:t>that event only is moved to the Ready queue.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This latter arrangement means that, when an event occurs, the OS must scan</a:t>
            </a:r>
          </a:p>
          <a:p>
            <a:r>
              <a:rPr lang="en-US" sz="1200" kern="1200" baseline="0" dirty="0">
                <a:solidFill>
                  <a:schemeClr val="tx1"/>
                </a:solidFill>
                <a:latin typeface="+mn-lt"/>
                <a:ea typeface="+mn-ea"/>
                <a:cs typeface="+mn-cs"/>
              </a:rPr>
              <a:t>the entire blocked queue, searching for those processes waiting on that event. In a</a:t>
            </a:r>
          </a:p>
          <a:p>
            <a:r>
              <a:rPr lang="en-US" sz="1200" kern="1200" baseline="0" dirty="0">
                <a:solidFill>
                  <a:schemeClr val="tx1"/>
                </a:solidFill>
                <a:latin typeface="+mn-lt"/>
                <a:ea typeface="+mn-ea"/>
                <a:cs typeface="+mn-cs"/>
              </a:rPr>
              <a:t>large OS, there could be hundreds or even thousands of processes in that queue.</a:t>
            </a:r>
          </a:p>
          <a:p>
            <a:r>
              <a:rPr lang="en-US" sz="1200" kern="1200" baseline="0" dirty="0">
                <a:solidFill>
                  <a:schemeClr val="tx1"/>
                </a:solidFill>
                <a:latin typeface="+mn-lt"/>
                <a:ea typeface="+mn-ea"/>
                <a:cs typeface="+mn-cs"/>
              </a:rPr>
              <a:t>Therefore, it would be more efficient to have a number of queues, one for each</a:t>
            </a:r>
          </a:p>
          <a:p>
            <a:r>
              <a:rPr lang="en-US" sz="1200" kern="1200" baseline="0" dirty="0">
                <a:solidFill>
                  <a:schemeClr val="tx1"/>
                </a:solidFill>
                <a:latin typeface="+mn-lt"/>
                <a:ea typeface="+mn-ea"/>
                <a:cs typeface="+mn-cs"/>
              </a:rPr>
              <a:t>event. Then, when the event occurs, the entire list of processes in the appropriate</a:t>
            </a:r>
          </a:p>
          <a:p>
            <a:r>
              <a:rPr lang="en-US" sz="1200" kern="1200" baseline="0" dirty="0">
                <a:solidFill>
                  <a:schemeClr val="tx1"/>
                </a:solidFill>
                <a:latin typeface="+mn-lt"/>
                <a:ea typeface="+mn-ea"/>
                <a:cs typeface="+mn-cs"/>
              </a:rPr>
              <a:t>queue can be moved to the Ready state ( Figure 3.8b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One final refinement: If the dispatching of processes is dictated by a priority</a:t>
            </a:r>
          </a:p>
          <a:p>
            <a:r>
              <a:rPr lang="en-US" sz="1200" kern="1200" baseline="0" dirty="0">
                <a:solidFill>
                  <a:schemeClr val="tx1"/>
                </a:solidFill>
                <a:latin typeface="+mn-lt"/>
                <a:ea typeface="+mn-ea"/>
                <a:cs typeface="+mn-cs"/>
              </a:rPr>
              <a:t>scheme, then it would be convenient to have a number of Ready queues, one for</a:t>
            </a:r>
          </a:p>
          <a:p>
            <a:r>
              <a:rPr lang="en-US" sz="1200" kern="1200" baseline="0" dirty="0">
                <a:solidFill>
                  <a:schemeClr val="tx1"/>
                </a:solidFill>
                <a:latin typeface="+mn-lt"/>
                <a:ea typeface="+mn-ea"/>
                <a:cs typeface="+mn-cs"/>
              </a:rPr>
              <a:t>each priority level. The OS could then readily determine which is the highest-priority</a:t>
            </a:r>
          </a:p>
          <a:p>
            <a:r>
              <a:rPr lang="en-US" sz="1200" kern="1200" baseline="0" dirty="0">
                <a:solidFill>
                  <a:schemeClr val="tx1"/>
                </a:solidFill>
                <a:latin typeface="+mn-lt"/>
                <a:ea typeface="+mn-ea"/>
                <a:cs typeface="+mn-cs"/>
              </a:rPr>
              <a:t>ready process that has been waiting the longest.</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19</a:t>
            </a:fld>
            <a:endParaRPr lang="en-US" dirty="0"/>
          </a:p>
        </p:txBody>
      </p:sp>
    </p:spTree>
    <p:extLst>
      <p:ext uri="{BB962C8B-B14F-4D97-AF65-F5344CB8AC3E}">
        <p14:creationId xmlns:p14="http://schemas.microsoft.com/office/powerpoint/2010/main" val="7654378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kern="1200" baseline="0" dirty="0">
                <a:solidFill>
                  <a:schemeClr val="tx1"/>
                </a:solidFill>
                <a:latin typeface="+mn-lt"/>
                <a:ea typeface="+mn-ea"/>
                <a:cs typeface="+mn-cs"/>
              </a:rPr>
              <a:t>Recall that the reason for all of this elaborate machinery is that I/O activities</a:t>
            </a:r>
          </a:p>
          <a:p>
            <a:r>
              <a:rPr lang="en-US" sz="1200" kern="1200" baseline="0" dirty="0">
                <a:solidFill>
                  <a:schemeClr val="tx1"/>
                </a:solidFill>
                <a:latin typeface="+mn-lt"/>
                <a:ea typeface="+mn-ea"/>
                <a:cs typeface="+mn-cs"/>
              </a:rPr>
              <a:t>are much slower than computation and therefore the processor in a uniprogramming</a:t>
            </a:r>
          </a:p>
          <a:p>
            <a:r>
              <a:rPr lang="en-US" sz="1200" kern="1200" baseline="0" dirty="0">
                <a:solidFill>
                  <a:schemeClr val="tx1"/>
                </a:solidFill>
                <a:latin typeface="+mn-lt"/>
                <a:ea typeface="+mn-ea"/>
                <a:cs typeface="+mn-cs"/>
              </a:rPr>
              <a:t>system is idle most of the time. But the arrangement of Figure 3.8b does not entirely</a:t>
            </a:r>
          </a:p>
          <a:p>
            <a:r>
              <a:rPr lang="en-US" sz="1200" kern="1200" baseline="0" dirty="0">
                <a:solidFill>
                  <a:schemeClr val="tx1"/>
                </a:solidFill>
                <a:latin typeface="+mn-lt"/>
                <a:ea typeface="+mn-ea"/>
                <a:cs typeface="+mn-cs"/>
              </a:rPr>
              <a:t>solve the problem. It is true that, in this case, memory holds multiple processes and</a:t>
            </a:r>
          </a:p>
          <a:p>
            <a:r>
              <a:rPr lang="en-US" sz="1200" kern="1200" baseline="0" dirty="0">
                <a:solidFill>
                  <a:schemeClr val="tx1"/>
                </a:solidFill>
                <a:latin typeface="+mn-lt"/>
                <a:ea typeface="+mn-ea"/>
                <a:cs typeface="+mn-cs"/>
              </a:rPr>
              <a:t>that the processor can move to another process when one process is blocked. But the</a:t>
            </a:r>
          </a:p>
          <a:p>
            <a:r>
              <a:rPr lang="en-US" sz="1200" kern="1200" baseline="0" dirty="0">
                <a:solidFill>
                  <a:schemeClr val="tx1"/>
                </a:solidFill>
                <a:latin typeface="+mn-lt"/>
                <a:ea typeface="+mn-ea"/>
                <a:cs typeface="+mn-cs"/>
              </a:rPr>
              <a:t>processor is so much faster than I/O that it will be common for all of the processes in</a:t>
            </a:r>
          </a:p>
          <a:p>
            <a:r>
              <a:rPr lang="en-US" sz="1200" kern="1200" baseline="0" dirty="0">
                <a:solidFill>
                  <a:schemeClr val="tx1"/>
                </a:solidFill>
                <a:latin typeface="+mn-lt"/>
                <a:ea typeface="+mn-ea"/>
                <a:cs typeface="+mn-cs"/>
              </a:rPr>
              <a:t>memory to be waiting for I/O. Thus, even with multiprogramming, a processor could</a:t>
            </a:r>
          </a:p>
          <a:p>
            <a:r>
              <a:rPr lang="en-US" sz="1200" kern="1200" baseline="0" dirty="0">
                <a:solidFill>
                  <a:schemeClr val="tx1"/>
                </a:solidFill>
                <a:latin typeface="+mn-lt"/>
                <a:ea typeface="+mn-ea"/>
                <a:cs typeface="+mn-cs"/>
              </a:rPr>
              <a:t>be idle most of the time.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What to do? Main memory could be expanded to accommodate more processes.</a:t>
            </a:r>
          </a:p>
          <a:p>
            <a:r>
              <a:rPr lang="en-US" sz="1200" kern="1200" baseline="0" dirty="0">
                <a:solidFill>
                  <a:schemeClr val="tx1"/>
                </a:solidFill>
                <a:latin typeface="+mn-lt"/>
                <a:ea typeface="+mn-ea"/>
                <a:cs typeface="+mn-cs"/>
              </a:rPr>
              <a:t>But there are two flaws in this approach. First, there is a cost associated with</a:t>
            </a:r>
          </a:p>
          <a:p>
            <a:r>
              <a:rPr lang="en-US" sz="1200" kern="1200" baseline="0" dirty="0">
                <a:solidFill>
                  <a:schemeClr val="tx1"/>
                </a:solidFill>
                <a:latin typeface="+mn-lt"/>
                <a:ea typeface="+mn-ea"/>
                <a:cs typeface="+mn-cs"/>
              </a:rPr>
              <a:t>main memory, which, though small on a per-byte basis, begins to add up as we get</a:t>
            </a:r>
          </a:p>
          <a:p>
            <a:r>
              <a:rPr lang="en-US" sz="1200" kern="1200" baseline="0" dirty="0">
                <a:solidFill>
                  <a:schemeClr val="tx1"/>
                </a:solidFill>
                <a:latin typeface="+mn-lt"/>
                <a:ea typeface="+mn-ea"/>
                <a:cs typeface="+mn-cs"/>
              </a:rPr>
              <a:t>into the gigabytes of storage. Second, the appetite of programs for memory has</a:t>
            </a:r>
          </a:p>
          <a:p>
            <a:r>
              <a:rPr lang="en-US" sz="1200" kern="1200" baseline="0" dirty="0">
                <a:solidFill>
                  <a:schemeClr val="tx1"/>
                </a:solidFill>
                <a:latin typeface="+mn-lt"/>
                <a:ea typeface="+mn-ea"/>
                <a:cs typeface="+mn-cs"/>
              </a:rPr>
              <a:t>grown as fast as the cost of memory has dropped. So larger memory results in larger</a:t>
            </a:r>
          </a:p>
          <a:p>
            <a:r>
              <a:rPr lang="en-US" sz="1200" kern="1200" baseline="0" dirty="0">
                <a:solidFill>
                  <a:schemeClr val="tx1"/>
                </a:solidFill>
                <a:latin typeface="+mn-lt"/>
                <a:ea typeface="+mn-ea"/>
                <a:cs typeface="+mn-cs"/>
              </a:rPr>
              <a:t>processes, not more processes.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Another solution is swapping, which involves moving part or all of a process</a:t>
            </a:r>
          </a:p>
          <a:p>
            <a:r>
              <a:rPr lang="en-US" sz="1200" kern="1200" baseline="0" dirty="0">
                <a:solidFill>
                  <a:schemeClr val="tx1"/>
                </a:solidFill>
                <a:latin typeface="+mn-lt"/>
                <a:ea typeface="+mn-ea"/>
                <a:cs typeface="+mn-cs"/>
              </a:rPr>
              <a:t>from main memory to disk. When none of the processes in main memory is in the</a:t>
            </a:r>
          </a:p>
          <a:p>
            <a:r>
              <a:rPr lang="en-US" sz="1200" kern="1200" baseline="0" dirty="0">
                <a:solidFill>
                  <a:schemeClr val="tx1"/>
                </a:solidFill>
                <a:latin typeface="+mn-lt"/>
                <a:ea typeface="+mn-ea"/>
                <a:cs typeface="+mn-cs"/>
              </a:rPr>
              <a:t>Ready state, the OS swaps one of the blocked processes out on to disk into a suspend</a:t>
            </a:r>
          </a:p>
          <a:p>
            <a:r>
              <a:rPr lang="en-US" sz="1200" kern="1200" baseline="0" dirty="0">
                <a:solidFill>
                  <a:schemeClr val="tx1"/>
                </a:solidFill>
                <a:latin typeface="+mn-lt"/>
                <a:ea typeface="+mn-ea"/>
                <a:cs typeface="+mn-cs"/>
              </a:rPr>
              <a:t>queue. This is a queue of existing processes that have been temporarily kicked</a:t>
            </a:r>
          </a:p>
          <a:p>
            <a:r>
              <a:rPr lang="en-US" sz="1200" kern="1200" baseline="0" dirty="0">
                <a:solidFill>
                  <a:schemeClr val="tx1"/>
                </a:solidFill>
                <a:latin typeface="+mn-lt"/>
                <a:ea typeface="+mn-ea"/>
                <a:cs typeface="+mn-cs"/>
              </a:rPr>
              <a:t>out of main memory, or suspended. The OS then brings in another process from the</a:t>
            </a:r>
          </a:p>
          <a:p>
            <a:r>
              <a:rPr lang="en-US" sz="1200" kern="1200" baseline="0" dirty="0">
                <a:solidFill>
                  <a:schemeClr val="tx1"/>
                </a:solidFill>
                <a:latin typeface="+mn-lt"/>
                <a:ea typeface="+mn-ea"/>
                <a:cs typeface="+mn-cs"/>
              </a:rPr>
              <a:t>suspend queue, or it honors a new-process request. Execution then continues with</a:t>
            </a:r>
          </a:p>
          <a:p>
            <a:r>
              <a:rPr lang="en-US" sz="1200" kern="1200" baseline="0" dirty="0">
                <a:solidFill>
                  <a:schemeClr val="tx1"/>
                </a:solidFill>
                <a:latin typeface="+mn-lt"/>
                <a:ea typeface="+mn-ea"/>
                <a:cs typeface="+mn-cs"/>
              </a:rPr>
              <a:t>the newly arrived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Swapping, however, is an I/O operation, and therefore there is the potential</a:t>
            </a:r>
          </a:p>
          <a:p>
            <a:r>
              <a:rPr lang="en-US" sz="1200" kern="1200" baseline="0" dirty="0">
                <a:solidFill>
                  <a:schemeClr val="tx1"/>
                </a:solidFill>
                <a:latin typeface="+mn-lt"/>
                <a:ea typeface="+mn-ea"/>
                <a:cs typeface="+mn-cs"/>
              </a:rPr>
              <a:t>for making the problem worse, not better. But because disk I/O is generally the</a:t>
            </a:r>
          </a:p>
          <a:p>
            <a:r>
              <a:rPr lang="en-US" sz="1200" kern="1200" baseline="0" dirty="0">
                <a:solidFill>
                  <a:schemeClr val="tx1"/>
                </a:solidFill>
                <a:latin typeface="+mn-lt"/>
                <a:ea typeface="+mn-ea"/>
                <a:cs typeface="+mn-cs"/>
              </a:rPr>
              <a:t>fastest I/O on a system (e.g., compared to tape or printer I/O), swapping will usually</a:t>
            </a:r>
          </a:p>
          <a:p>
            <a:r>
              <a:rPr lang="en-US" sz="1200" kern="1200" baseline="0" dirty="0">
                <a:solidFill>
                  <a:schemeClr val="tx1"/>
                </a:solidFill>
                <a:latin typeface="+mn-lt"/>
                <a:ea typeface="+mn-ea"/>
                <a:cs typeface="+mn-cs"/>
              </a:rPr>
              <a:t>enhance performance.</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20</a:t>
            </a:fld>
            <a:endParaRPr lang="en-US" dirty="0"/>
          </a:p>
        </p:txBody>
      </p:sp>
    </p:spTree>
    <p:extLst>
      <p:ext uri="{BB962C8B-B14F-4D97-AF65-F5344CB8AC3E}">
        <p14:creationId xmlns:p14="http://schemas.microsoft.com/office/powerpoint/2010/main" val="13641987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lang="en-US" sz="1200" kern="1200" baseline="0" dirty="0">
                <a:solidFill>
                  <a:schemeClr val="tx1"/>
                </a:solidFill>
                <a:latin typeface="+mn-lt"/>
                <a:ea typeface="+mn-ea"/>
                <a:cs typeface="+mn-cs"/>
              </a:rPr>
              <a:t>With the use of swapping as just described, one other state must be added to</a:t>
            </a:r>
          </a:p>
          <a:p>
            <a:r>
              <a:rPr lang="en-US" sz="1200" kern="1200" baseline="0" dirty="0">
                <a:solidFill>
                  <a:schemeClr val="tx1"/>
                </a:solidFill>
                <a:latin typeface="+mn-lt"/>
                <a:ea typeface="+mn-ea"/>
                <a:cs typeface="+mn-cs"/>
              </a:rPr>
              <a:t>our process behavior model ( Figure 3.9a ): the Suspend state. When all of the processes</a:t>
            </a:r>
          </a:p>
          <a:p>
            <a:r>
              <a:rPr lang="en-US" sz="1200" kern="1200" baseline="0" dirty="0">
                <a:solidFill>
                  <a:schemeClr val="tx1"/>
                </a:solidFill>
                <a:latin typeface="+mn-lt"/>
                <a:ea typeface="+mn-ea"/>
                <a:cs typeface="+mn-cs"/>
              </a:rPr>
              <a:t>in main memory are in the Blocked state, the OS can suspend one process by</a:t>
            </a:r>
          </a:p>
          <a:p>
            <a:r>
              <a:rPr lang="en-US" sz="1200" kern="1200" baseline="0" dirty="0">
                <a:solidFill>
                  <a:schemeClr val="tx1"/>
                </a:solidFill>
                <a:latin typeface="+mn-lt"/>
                <a:ea typeface="+mn-ea"/>
                <a:cs typeface="+mn-cs"/>
              </a:rPr>
              <a:t>putting it in the Suspend state and transferring it to disk. The space that is freed in</a:t>
            </a:r>
          </a:p>
          <a:p>
            <a:r>
              <a:rPr lang="en-US" sz="1200" kern="1200" baseline="0" dirty="0">
                <a:solidFill>
                  <a:schemeClr val="tx1"/>
                </a:solidFill>
                <a:latin typeface="+mn-lt"/>
                <a:ea typeface="+mn-ea"/>
                <a:cs typeface="+mn-cs"/>
              </a:rPr>
              <a:t>main memory can then be used to bring in another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When the OS has performed a swapping-out operation, it has two choices for</a:t>
            </a:r>
          </a:p>
          <a:p>
            <a:r>
              <a:rPr lang="en-US" sz="1200" kern="1200" baseline="0" dirty="0">
                <a:solidFill>
                  <a:schemeClr val="tx1"/>
                </a:solidFill>
                <a:latin typeface="+mn-lt"/>
                <a:ea typeface="+mn-ea"/>
                <a:cs typeface="+mn-cs"/>
              </a:rPr>
              <a:t>selecting a process to bring into main memory: It can admit a newly created process</a:t>
            </a:r>
          </a:p>
          <a:p>
            <a:r>
              <a:rPr lang="en-US" sz="1200" kern="1200" baseline="0" dirty="0">
                <a:solidFill>
                  <a:schemeClr val="tx1"/>
                </a:solidFill>
                <a:latin typeface="+mn-lt"/>
                <a:ea typeface="+mn-ea"/>
                <a:cs typeface="+mn-cs"/>
              </a:rPr>
              <a:t>or it can bring in a previously suspended process. It would appear that the preference</a:t>
            </a:r>
          </a:p>
          <a:p>
            <a:r>
              <a:rPr lang="en-US" sz="1200" kern="1200" baseline="0" dirty="0">
                <a:solidFill>
                  <a:schemeClr val="tx1"/>
                </a:solidFill>
                <a:latin typeface="+mn-lt"/>
                <a:ea typeface="+mn-ea"/>
                <a:cs typeface="+mn-cs"/>
              </a:rPr>
              <a:t>should be to bring in a previously suspended process, to provide it with service</a:t>
            </a:r>
          </a:p>
          <a:p>
            <a:r>
              <a:rPr lang="en-US" sz="1200" kern="1200" baseline="0" dirty="0">
                <a:solidFill>
                  <a:schemeClr val="tx1"/>
                </a:solidFill>
                <a:latin typeface="+mn-lt"/>
                <a:ea typeface="+mn-ea"/>
                <a:cs typeface="+mn-cs"/>
              </a:rPr>
              <a:t>rather than increasing the total load on the system.</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But this line of reasoning presents a difficulty. All of the processes that have</a:t>
            </a:r>
          </a:p>
          <a:p>
            <a:r>
              <a:rPr lang="en-US" sz="1200" kern="1200" baseline="0" dirty="0">
                <a:solidFill>
                  <a:schemeClr val="tx1"/>
                </a:solidFill>
                <a:latin typeface="+mn-lt"/>
                <a:ea typeface="+mn-ea"/>
                <a:cs typeface="+mn-cs"/>
              </a:rPr>
              <a:t>been suspended were in the Blocked state at the time of suspension. It clearly would</a:t>
            </a:r>
          </a:p>
          <a:p>
            <a:r>
              <a:rPr lang="en-US" sz="1200" kern="1200" baseline="0" dirty="0">
                <a:solidFill>
                  <a:schemeClr val="tx1"/>
                </a:solidFill>
                <a:latin typeface="+mn-lt"/>
                <a:ea typeface="+mn-ea"/>
                <a:cs typeface="+mn-cs"/>
              </a:rPr>
              <a:t>not do any good to bring a blocked process back into main memory, because it is</a:t>
            </a:r>
          </a:p>
          <a:p>
            <a:r>
              <a:rPr lang="en-US" sz="1200" kern="1200" baseline="0" dirty="0">
                <a:solidFill>
                  <a:schemeClr val="tx1"/>
                </a:solidFill>
                <a:latin typeface="+mn-lt"/>
                <a:ea typeface="+mn-ea"/>
                <a:cs typeface="+mn-cs"/>
              </a:rPr>
              <a:t>still not ready for execution. Recognize, however, that each process in the Suspend</a:t>
            </a:r>
          </a:p>
          <a:p>
            <a:r>
              <a:rPr lang="en-US" sz="1200" kern="1200" baseline="0" dirty="0">
                <a:solidFill>
                  <a:schemeClr val="tx1"/>
                </a:solidFill>
                <a:latin typeface="+mn-lt"/>
                <a:ea typeface="+mn-ea"/>
                <a:cs typeface="+mn-cs"/>
              </a:rPr>
              <a:t>state was originally blocked on a particular event. When that event occurs, the process</a:t>
            </a:r>
          </a:p>
          <a:p>
            <a:r>
              <a:rPr lang="en-US" sz="1200" kern="1200" baseline="0" dirty="0">
                <a:solidFill>
                  <a:schemeClr val="tx1"/>
                </a:solidFill>
                <a:latin typeface="+mn-lt"/>
                <a:ea typeface="+mn-ea"/>
                <a:cs typeface="+mn-cs"/>
              </a:rPr>
              <a:t>is not blocked and is potentially available for execution.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Therefore, we need to rethink this aspect of the design. There are two independent</a:t>
            </a:r>
          </a:p>
          <a:p>
            <a:r>
              <a:rPr lang="en-US" sz="1200" kern="1200" baseline="0" dirty="0">
                <a:solidFill>
                  <a:schemeClr val="tx1"/>
                </a:solidFill>
                <a:latin typeface="+mn-lt"/>
                <a:ea typeface="+mn-ea"/>
                <a:cs typeface="+mn-cs"/>
              </a:rPr>
              <a:t>concepts here: whether a process is waiting on an event (blocked or not) and</a:t>
            </a:r>
          </a:p>
          <a:p>
            <a:r>
              <a:rPr lang="en-US" sz="1200" kern="1200" baseline="0" dirty="0">
                <a:solidFill>
                  <a:schemeClr val="tx1"/>
                </a:solidFill>
                <a:latin typeface="+mn-lt"/>
                <a:ea typeface="+mn-ea"/>
                <a:cs typeface="+mn-cs"/>
              </a:rPr>
              <a:t>whether a process has been swapped out of main memory (suspended or not). To</a:t>
            </a:r>
          </a:p>
          <a:p>
            <a:r>
              <a:rPr lang="en-US" sz="1200" kern="1200" baseline="0" dirty="0">
                <a:solidFill>
                  <a:schemeClr val="tx1"/>
                </a:solidFill>
                <a:latin typeface="+mn-lt"/>
                <a:ea typeface="+mn-ea"/>
                <a:cs typeface="+mn-cs"/>
              </a:rPr>
              <a:t>accommodate this 2 X 2 combination, we need four states: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Ready:  The process is in main memory and available for execution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Blocked:  The process is in main memory and awaiting an event.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 Blocked/Suspend: The process is in secondary memory and awaiting an event.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 Ready/Suspend: The process is in secondary memory but is available for execution</a:t>
            </a:r>
          </a:p>
          <a:p>
            <a:r>
              <a:rPr lang="en-US" sz="1200" kern="1200" baseline="0" dirty="0">
                <a:solidFill>
                  <a:schemeClr val="tx1"/>
                </a:solidFill>
                <a:latin typeface="+mn-lt"/>
                <a:ea typeface="+mn-ea"/>
                <a:cs typeface="+mn-cs"/>
              </a:rPr>
              <a:t>as soon as it is loaded into main memory.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Before looking at a state transition diagram that encompasses the two new suspend</a:t>
            </a:r>
          </a:p>
          <a:p>
            <a:r>
              <a:rPr lang="en-US" sz="1200" kern="1200" baseline="0" dirty="0">
                <a:solidFill>
                  <a:schemeClr val="tx1"/>
                </a:solidFill>
                <a:latin typeface="+mn-lt"/>
                <a:ea typeface="+mn-ea"/>
                <a:cs typeface="+mn-cs"/>
              </a:rPr>
              <a:t>states, one other point should be mentioned. The discussion so far has assumed</a:t>
            </a:r>
          </a:p>
          <a:p>
            <a:r>
              <a:rPr lang="en-US" sz="1200" kern="1200" baseline="0" dirty="0">
                <a:solidFill>
                  <a:schemeClr val="tx1"/>
                </a:solidFill>
                <a:latin typeface="+mn-lt"/>
                <a:ea typeface="+mn-ea"/>
                <a:cs typeface="+mn-cs"/>
              </a:rPr>
              <a:t>that virtual memory is not in use and that a process is either all in main memory</a:t>
            </a:r>
          </a:p>
          <a:p>
            <a:r>
              <a:rPr lang="en-US" sz="1200" kern="1200" baseline="0" dirty="0">
                <a:solidFill>
                  <a:schemeClr val="tx1"/>
                </a:solidFill>
                <a:latin typeface="+mn-lt"/>
                <a:ea typeface="+mn-ea"/>
                <a:cs typeface="+mn-cs"/>
              </a:rPr>
              <a:t>or all out of main memory. With a virtual memory scheme, it is possible to execute</a:t>
            </a:r>
          </a:p>
          <a:p>
            <a:r>
              <a:rPr lang="en-US" sz="1200" kern="1200" baseline="0" dirty="0">
                <a:solidFill>
                  <a:schemeClr val="tx1"/>
                </a:solidFill>
                <a:latin typeface="+mn-lt"/>
                <a:ea typeface="+mn-ea"/>
                <a:cs typeface="+mn-cs"/>
              </a:rPr>
              <a:t>a process that is only partially in main memory. If reference is made to a process</a:t>
            </a:r>
          </a:p>
          <a:p>
            <a:r>
              <a:rPr lang="en-US" sz="1200" kern="1200" baseline="0" dirty="0">
                <a:solidFill>
                  <a:schemeClr val="tx1"/>
                </a:solidFill>
                <a:latin typeface="+mn-lt"/>
                <a:ea typeface="+mn-ea"/>
                <a:cs typeface="+mn-cs"/>
              </a:rPr>
              <a:t>address that is not in main memory, then the appropriate portion of the process can</a:t>
            </a:r>
          </a:p>
          <a:p>
            <a:r>
              <a:rPr lang="en-US" sz="1200" kern="1200" baseline="0" dirty="0">
                <a:solidFill>
                  <a:schemeClr val="tx1"/>
                </a:solidFill>
                <a:latin typeface="+mn-lt"/>
                <a:ea typeface="+mn-ea"/>
                <a:cs typeface="+mn-cs"/>
              </a:rPr>
              <a:t>be brought in. The use of virtual memory would appear to eliminate the need for</a:t>
            </a:r>
          </a:p>
          <a:p>
            <a:r>
              <a:rPr lang="en-US" sz="1200" kern="1200" baseline="0" dirty="0">
                <a:solidFill>
                  <a:schemeClr val="tx1"/>
                </a:solidFill>
                <a:latin typeface="+mn-lt"/>
                <a:ea typeface="+mn-ea"/>
                <a:cs typeface="+mn-cs"/>
              </a:rPr>
              <a:t>explicit swapping, because any desired address in any desired process can be moved</a:t>
            </a:r>
          </a:p>
          <a:p>
            <a:r>
              <a:rPr lang="en-US" sz="1200" kern="1200" baseline="0" dirty="0">
                <a:solidFill>
                  <a:schemeClr val="tx1"/>
                </a:solidFill>
                <a:latin typeface="+mn-lt"/>
                <a:ea typeface="+mn-ea"/>
                <a:cs typeface="+mn-cs"/>
              </a:rPr>
              <a:t> in or out of main memory by the memory management hardware of the processor.</a:t>
            </a:r>
          </a:p>
          <a:p>
            <a:r>
              <a:rPr lang="en-US" sz="1200" kern="1200" baseline="0" dirty="0">
                <a:solidFill>
                  <a:schemeClr val="tx1"/>
                </a:solidFill>
                <a:latin typeface="+mn-lt"/>
                <a:ea typeface="+mn-ea"/>
                <a:cs typeface="+mn-cs"/>
              </a:rPr>
              <a:t>However, as we shall see in Chapter 8, the performance of a virtual memory system</a:t>
            </a:r>
          </a:p>
          <a:p>
            <a:r>
              <a:rPr lang="en-US" sz="1200" kern="1200" baseline="0" dirty="0">
                <a:solidFill>
                  <a:schemeClr val="tx1"/>
                </a:solidFill>
                <a:latin typeface="+mn-lt"/>
                <a:ea typeface="+mn-ea"/>
                <a:cs typeface="+mn-cs"/>
              </a:rPr>
              <a:t>can collapse if there is a sufficiently large number of active processes, all of which</a:t>
            </a:r>
          </a:p>
          <a:p>
            <a:r>
              <a:rPr lang="en-US" sz="1200" kern="1200" baseline="0" dirty="0">
                <a:solidFill>
                  <a:schemeClr val="tx1"/>
                </a:solidFill>
                <a:latin typeface="+mn-lt"/>
                <a:ea typeface="+mn-ea"/>
                <a:cs typeface="+mn-cs"/>
              </a:rPr>
              <a:t>are partially in main memory. Therefore, even in a virtual memory system, the OS</a:t>
            </a:r>
          </a:p>
          <a:p>
            <a:r>
              <a:rPr lang="en-US" sz="1200" kern="1200" baseline="0" dirty="0">
                <a:solidFill>
                  <a:schemeClr val="tx1"/>
                </a:solidFill>
                <a:latin typeface="+mn-lt"/>
                <a:ea typeface="+mn-ea"/>
                <a:cs typeface="+mn-cs"/>
              </a:rPr>
              <a:t>will need to swap out processes explicitly and completely from time to time in the</a:t>
            </a:r>
          </a:p>
          <a:p>
            <a:r>
              <a:rPr lang="en-US" sz="1200" kern="1200" baseline="0" dirty="0">
                <a:solidFill>
                  <a:schemeClr val="tx1"/>
                </a:solidFill>
                <a:latin typeface="+mn-lt"/>
                <a:ea typeface="+mn-ea"/>
                <a:cs typeface="+mn-cs"/>
              </a:rPr>
              <a:t>interests of performance.</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21</a:t>
            </a:fld>
            <a:endParaRPr lang="en-US" dirty="0"/>
          </a:p>
        </p:txBody>
      </p:sp>
    </p:spTree>
    <p:extLst>
      <p:ext uri="{BB962C8B-B14F-4D97-AF65-F5344CB8AC3E}">
        <p14:creationId xmlns:p14="http://schemas.microsoft.com/office/powerpoint/2010/main" val="27322986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r>
              <a:rPr lang="en-US" sz="1200" b="0" kern="1200" baseline="0" dirty="0">
                <a:solidFill>
                  <a:schemeClr val="tx1"/>
                </a:solidFill>
                <a:latin typeface="+mn-lt"/>
                <a:ea typeface="+mn-ea"/>
                <a:cs typeface="+mn-cs"/>
              </a:rPr>
              <a:t>Let us look now, in Figure 3.9b , at the state transition model that we have</a:t>
            </a:r>
          </a:p>
          <a:p>
            <a:r>
              <a:rPr lang="en-US" sz="1200" b="0" kern="1200" baseline="0" dirty="0">
                <a:solidFill>
                  <a:schemeClr val="tx1"/>
                </a:solidFill>
                <a:latin typeface="+mn-lt"/>
                <a:ea typeface="+mn-ea"/>
                <a:cs typeface="+mn-cs"/>
              </a:rPr>
              <a:t>developed. (The dashed lines in the figure indicate possible but not necessary transitions.)</a:t>
            </a:r>
          </a:p>
          <a:p>
            <a:r>
              <a:rPr lang="en-US" sz="1200" b="0" kern="1200" baseline="0" dirty="0">
                <a:solidFill>
                  <a:schemeClr val="tx1"/>
                </a:solidFill>
                <a:latin typeface="+mn-lt"/>
                <a:ea typeface="+mn-ea"/>
                <a:cs typeface="+mn-cs"/>
              </a:rPr>
              <a:t>Important new transitions are the following:</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Blocked : Blocked/Suspend: If there are no ready processes, then at least</a:t>
            </a:r>
          </a:p>
          <a:p>
            <a:r>
              <a:rPr lang="en-US" sz="1200" b="0" kern="1200" baseline="0" dirty="0">
                <a:solidFill>
                  <a:schemeClr val="tx1"/>
                </a:solidFill>
                <a:latin typeface="+mn-lt"/>
                <a:ea typeface="+mn-ea"/>
                <a:cs typeface="+mn-cs"/>
              </a:rPr>
              <a:t>one blocked process is swapped out to make room for another process that</a:t>
            </a:r>
          </a:p>
          <a:p>
            <a:r>
              <a:rPr lang="en-US" sz="1200" b="0" kern="1200" baseline="0" dirty="0">
                <a:solidFill>
                  <a:schemeClr val="tx1"/>
                </a:solidFill>
                <a:latin typeface="+mn-lt"/>
                <a:ea typeface="+mn-ea"/>
                <a:cs typeface="+mn-cs"/>
              </a:rPr>
              <a:t>is not blocked. This transition can be made even if there are ready processes</a:t>
            </a:r>
          </a:p>
          <a:p>
            <a:r>
              <a:rPr lang="en-US" sz="1200" b="0" kern="1200" baseline="0" dirty="0">
                <a:solidFill>
                  <a:schemeClr val="tx1"/>
                </a:solidFill>
                <a:latin typeface="+mn-lt"/>
                <a:ea typeface="+mn-ea"/>
                <a:cs typeface="+mn-cs"/>
              </a:rPr>
              <a:t>available, if the OS determines that the currently running process or a ready</a:t>
            </a:r>
          </a:p>
          <a:p>
            <a:r>
              <a:rPr lang="en-US" sz="1200" b="0" kern="1200" baseline="0" dirty="0">
                <a:solidFill>
                  <a:schemeClr val="tx1"/>
                </a:solidFill>
                <a:latin typeface="+mn-lt"/>
                <a:ea typeface="+mn-ea"/>
                <a:cs typeface="+mn-cs"/>
              </a:rPr>
              <a:t>process that it would like to dispatch requires more main memory to maintain</a:t>
            </a:r>
          </a:p>
          <a:p>
            <a:r>
              <a:rPr lang="en-US" sz="1200" b="0" kern="1200" baseline="0" dirty="0">
                <a:solidFill>
                  <a:schemeClr val="tx1"/>
                </a:solidFill>
                <a:latin typeface="+mn-lt"/>
                <a:ea typeface="+mn-ea"/>
                <a:cs typeface="+mn-cs"/>
              </a:rPr>
              <a:t>adequate performance.</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Blocked/Suspend : Ready/Suspend: A process in the Blocked/Suspend state</a:t>
            </a:r>
          </a:p>
          <a:p>
            <a:r>
              <a:rPr lang="en-US" sz="1200" b="0" kern="1200" baseline="0" dirty="0">
                <a:solidFill>
                  <a:schemeClr val="tx1"/>
                </a:solidFill>
                <a:latin typeface="+mn-lt"/>
                <a:ea typeface="+mn-ea"/>
                <a:cs typeface="+mn-cs"/>
              </a:rPr>
              <a:t>is moved to the Ready/Suspend state when the event for which it has been</a:t>
            </a:r>
          </a:p>
          <a:p>
            <a:r>
              <a:rPr lang="en-US" sz="1200" b="0" kern="1200" baseline="0" dirty="0">
                <a:solidFill>
                  <a:schemeClr val="tx1"/>
                </a:solidFill>
                <a:latin typeface="+mn-lt"/>
                <a:ea typeface="+mn-ea"/>
                <a:cs typeface="+mn-cs"/>
              </a:rPr>
              <a:t>waiting occurs. Note that this requires that the state information concerning</a:t>
            </a:r>
          </a:p>
          <a:p>
            <a:r>
              <a:rPr lang="en-US" sz="1200" b="0" kern="1200" baseline="0" dirty="0">
                <a:solidFill>
                  <a:schemeClr val="tx1"/>
                </a:solidFill>
                <a:latin typeface="+mn-lt"/>
                <a:ea typeface="+mn-ea"/>
                <a:cs typeface="+mn-cs"/>
              </a:rPr>
              <a:t>suspended processes must be accessible to the OS.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Ready/Suspend : Ready: When there are no ready processes in main memory,</a:t>
            </a:r>
          </a:p>
          <a:p>
            <a:r>
              <a:rPr lang="en-US" sz="1200" b="0" kern="1200" baseline="0" dirty="0">
                <a:solidFill>
                  <a:schemeClr val="tx1"/>
                </a:solidFill>
                <a:latin typeface="+mn-lt"/>
                <a:ea typeface="+mn-ea"/>
                <a:cs typeface="+mn-cs"/>
              </a:rPr>
              <a:t>the OS will need to bring one in to continue execution. In addition, it</a:t>
            </a:r>
          </a:p>
          <a:p>
            <a:r>
              <a:rPr lang="en-US" sz="1200" b="0" kern="1200" baseline="0" dirty="0">
                <a:solidFill>
                  <a:schemeClr val="tx1"/>
                </a:solidFill>
                <a:latin typeface="+mn-lt"/>
                <a:ea typeface="+mn-ea"/>
                <a:cs typeface="+mn-cs"/>
              </a:rPr>
              <a:t>might be the case that a process in the Ready/Suspend state has higher priority</a:t>
            </a:r>
          </a:p>
          <a:p>
            <a:r>
              <a:rPr lang="en-US" sz="1200" b="0" kern="1200" baseline="0" dirty="0">
                <a:solidFill>
                  <a:schemeClr val="tx1"/>
                </a:solidFill>
                <a:latin typeface="+mn-lt"/>
                <a:ea typeface="+mn-ea"/>
                <a:cs typeface="+mn-cs"/>
              </a:rPr>
              <a:t>than any of the processes in the Ready state. In that case, the OS designer may</a:t>
            </a:r>
          </a:p>
          <a:p>
            <a:r>
              <a:rPr lang="en-US" sz="1200" b="0" kern="1200" baseline="0" dirty="0">
                <a:solidFill>
                  <a:schemeClr val="tx1"/>
                </a:solidFill>
                <a:latin typeface="+mn-lt"/>
                <a:ea typeface="+mn-ea"/>
                <a:cs typeface="+mn-cs"/>
              </a:rPr>
              <a:t>dictate that it is more important to get at the higher-priority process than to</a:t>
            </a:r>
          </a:p>
          <a:p>
            <a:r>
              <a:rPr lang="en-US" sz="1200" b="0" kern="1200" baseline="0" dirty="0">
                <a:solidFill>
                  <a:schemeClr val="tx1"/>
                </a:solidFill>
                <a:latin typeface="+mn-lt"/>
                <a:ea typeface="+mn-ea"/>
                <a:cs typeface="+mn-cs"/>
              </a:rPr>
              <a:t>minimize swapping.</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Ready : Ready/Suspend: Normally, the OS would prefer to suspend a</a:t>
            </a:r>
          </a:p>
          <a:p>
            <a:r>
              <a:rPr lang="en-US" sz="1200" b="0" kern="1200" baseline="0" dirty="0">
                <a:solidFill>
                  <a:schemeClr val="tx1"/>
                </a:solidFill>
                <a:latin typeface="+mn-lt"/>
                <a:ea typeface="+mn-ea"/>
                <a:cs typeface="+mn-cs"/>
              </a:rPr>
              <a:t>blocked process rather than a ready one, because the ready process can now</a:t>
            </a:r>
          </a:p>
          <a:p>
            <a:r>
              <a:rPr lang="en-US" sz="1200" b="0" kern="1200" baseline="0" dirty="0">
                <a:solidFill>
                  <a:schemeClr val="tx1"/>
                </a:solidFill>
                <a:latin typeface="+mn-lt"/>
                <a:ea typeface="+mn-ea"/>
                <a:cs typeface="+mn-cs"/>
              </a:rPr>
              <a:t>be executed, whereas the blocked process is taking up main memory space</a:t>
            </a:r>
          </a:p>
          <a:p>
            <a:r>
              <a:rPr lang="en-US" sz="1200" b="0" kern="1200" baseline="0" dirty="0">
                <a:solidFill>
                  <a:schemeClr val="tx1"/>
                </a:solidFill>
                <a:latin typeface="+mn-lt"/>
                <a:ea typeface="+mn-ea"/>
                <a:cs typeface="+mn-cs"/>
              </a:rPr>
              <a:t>and cannot be executed. However, it may be necessary to suspend a ready</a:t>
            </a:r>
          </a:p>
          <a:p>
            <a:r>
              <a:rPr lang="en-US" sz="1200" b="0" kern="1200" baseline="0" dirty="0">
                <a:solidFill>
                  <a:schemeClr val="tx1"/>
                </a:solidFill>
                <a:latin typeface="+mn-lt"/>
                <a:ea typeface="+mn-ea"/>
                <a:cs typeface="+mn-cs"/>
              </a:rPr>
              <a:t>process if that is the only way to free up a sufficiently large block of main</a:t>
            </a:r>
          </a:p>
          <a:p>
            <a:r>
              <a:rPr lang="en-US" sz="1200" b="0" kern="1200" baseline="0" dirty="0">
                <a:solidFill>
                  <a:schemeClr val="tx1"/>
                </a:solidFill>
                <a:latin typeface="+mn-lt"/>
                <a:ea typeface="+mn-ea"/>
                <a:cs typeface="+mn-cs"/>
              </a:rPr>
              <a:t>memory. Also, the OS may choose to suspend a lower–priority ready process</a:t>
            </a:r>
          </a:p>
          <a:p>
            <a:r>
              <a:rPr lang="en-US" sz="1200" b="0" kern="1200" baseline="0" dirty="0">
                <a:solidFill>
                  <a:schemeClr val="tx1"/>
                </a:solidFill>
                <a:latin typeface="+mn-lt"/>
                <a:ea typeface="+mn-ea"/>
                <a:cs typeface="+mn-cs"/>
              </a:rPr>
              <a:t>rather than a higher–priority blocked process if it believes that the blocked</a:t>
            </a:r>
          </a:p>
          <a:p>
            <a:r>
              <a:rPr lang="en-US" sz="1200" b="0" kern="1200" baseline="0" dirty="0">
                <a:solidFill>
                  <a:schemeClr val="tx1"/>
                </a:solidFill>
                <a:latin typeface="+mn-lt"/>
                <a:ea typeface="+mn-ea"/>
                <a:cs typeface="+mn-cs"/>
              </a:rPr>
              <a:t>process will be ready soon.</a:t>
            </a:r>
          </a:p>
          <a:p>
            <a:endParaRPr lang="en-US" sz="1200" b="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Several other transitions that are worth considering are the following:</a:t>
            </a:r>
          </a:p>
          <a:p>
            <a:r>
              <a:rPr lang="en-US" sz="1200" kern="1200" baseline="0" dirty="0">
                <a:solidFill>
                  <a:schemeClr val="tx1"/>
                </a:solidFill>
                <a:latin typeface="+mn-lt"/>
                <a:ea typeface="+mn-ea"/>
                <a:cs typeface="+mn-cs"/>
              </a:rPr>
              <a:t>• New - Ready/Suspend and New - Ready:  When a new process is created, it</a:t>
            </a:r>
          </a:p>
          <a:p>
            <a:r>
              <a:rPr lang="en-US" sz="1200" kern="1200" baseline="0" dirty="0">
                <a:solidFill>
                  <a:schemeClr val="tx1"/>
                </a:solidFill>
                <a:latin typeface="+mn-lt"/>
                <a:ea typeface="+mn-ea"/>
                <a:cs typeface="+mn-cs"/>
              </a:rPr>
              <a:t>can either be added to the Ready queue or the Ready/Suspend queue. In either</a:t>
            </a:r>
          </a:p>
          <a:p>
            <a:r>
              <a:rPr lang="en-US" sz="1200" kern="1200" baseline="0" dirty="0">
                <a:solidFill>
                  <a:schemeClr val="tx1"/>
                </a:solidFill>
                <a:latin typeface="+mn-lt"/>
                <a:ea typeface="+mn-ea"/>
                <a:cs typeface="+mn-cs"/>
              </a:rPr>
              <a:t>case, the OS must create a process control block and allocate an address space</a:t>
            </a:r>
          </a:p>
          <a:p>
            <a:r>
              <a:rPr lang="en-US" sz="1200" kern="1200" baseline="0" dirty="0">
                <a:solidFill>
                  <a:schemeClr val="tx1"/>
                </a:solidFill>
                <a:latin typeface="+mn-lt"/>
                <a:ea typeface="+mn-ea"/>
                <a:cs typeface="+mn-cs"/>
              </a:rPr>
              <a:t>to the process. It might be preferable for the OS to perform these housekeeping</a:t>
            </a:r>
          </a:p>
          <a:p>
            <a:r>
              <a:rPr lang="en-US" sz="1200" kern="1200" baseline="0" dirty="0">
                <a:solidFill>
                  <a:schemeClr val="tx1"/>
                </a:solidFill>
                <a:latin typeface="+mn-lt"/>
                <a:ea typeface="+mn-ea"/>
                <a:cs typeface="+mn-cs"/>
              </a:rPr>
              <a:t>duties at an early time, so that it can maintain a large pool of processes that are</a:t>
            </a:r>
          </a:p>
          <a:p>
            <a:r>
              <a:rPr lang="en-US" sz="1200" kern="1200" baseline="0" dirty="0">
                <a:solidFill>
                  <a:schemeClr val="tx1"/>
                </a:solidFill>
                <a:latin typeface="+mn-lt"/>
                <a:ea typeface="+mn-ea"/>
                <a:cs typeface="+mn-cs"/>
              </a:rPr>
              <a:t>not blocked. With this strategy, there would often be insufficient room in main</a:t>
            </a:r>
          </a:p>
          <a:p>
            <a:r>
              <a:rPr lang="en-US" sz="1200" kern="1200" baseline="0" dirty="0">
                <a:solidFill>
                  <a:schemeClr val="tx1"/>
                </a:solidFill>
                <a:latin typeface="+mn-lt"/>
                <a:ea typeface="+mn-ea"/>
                <a:cs typeface="+mn-cs"/>
              </a:rPr>
              <a:t>memory for a new process; hence the use of the (New S- Ready/Suspend)</a:t>
            </a:r>
          </a:p>
          <a:p>
            <a:r>
              <a:rPr lang="en-US" sz="1200" kern="1200" baseline="0" dirty="0">
                <a:solidFill>
                  <a:schemeClr val="tx1"/>
                </a:solidFill>
                <a:latin typeface="+mn-lt"/>
                <a:ea typeface="+mn-ea"/>
                <a:cs typeface="+mn-cs"/>
              </a:rPr>
              <a:t>transition. On the other hand, we could argue that a just-in-time philosophy of</a:t>
            </a:r>
          </a:p>
          <a:p>
            <a:r>
              <a:rPr lang="en-US" sz="1200" kern="1200" baseline="0" dirty="0">
                <a:solidFill>
                  <a:schemeClr val="tx1"/>
                </a:solidFill>
                <a:latin typeface="+mn-lt"/>
                <a:ea typeface="+mn-ea"/>
                <a:cs typeface="+mn-cs"/>
              </a:rPr>
              <a:t>creating processes as late as possible reduces OS overhead and allows that OS</a:t>
            </a:r>
          </a:p>
          <a:p>
            <a:r>
              <a:rPr lang="en-US" sz="1200" kern="1200" baseline="0" dirty="0">
                <a:solidFill>
                  <a:schemeClr val="tx1"/>
                </a:solidFill>
                <a:latin typeface="+mn-lt"/>
                <a:ea typeface="+mn-ea"/>
                <a:cs typeface="+mn-cs"/>
              </a:rPr>
              <a:t>to perform the process creation duties at a time when the system is clogged with</a:t>
            </a:r>
          </a:p>
          <a:p>
            <a:r>
              <a:rPr lang="en-US" sz="1200" kern="1200" baseline="0" dirty="0">
                <a:solidFill>
                  <a:schemeClr val="tx1"/>
                </a:solidFill>
                <a:latin typeface="+mn-lt"/>
                <a:ea typeface="+mn-ea"/>
                <a:cs typeface="+mn-cs"/>
              </a:rPr>
              <a:t>blocked processes anyway.</a:t>
            </a:r>
          </a:p>
          <a:p>
            <a:endParaRPr lang="en-US" sz="1200" b="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 Blocked/Suspend - Blocked: Inclusion of this transition may seem to be poor</a:t>
            </a:r>
          </a:p>
          <a:p>
            <a:r>
              <a:rPr lang="en-US" sz="1200" kern="1200" baseline="0" dirty="0">
                <a:solidFill>
                  <a:schemeClr val="tx1"/>
                </a:solidFill>
                <a:latin typeface="+mn-lt"/>
                <a:ea typeface="+mn-ea"/>
                <a:cs typeface="+mn-cs"/>
              </a:rPr>
              <a:t>design. After all, if a process is not ready to execute and is not already in main</a:t>
            </a:r>
          </a:p>
          <a:p>
            <a:r>
              <a:rPr lang="en-US" sz="1200" kern="1200" baseline="0" dirty="0">
                <a:solidFill>
                  <a:schemeClr val="tx1"/>
                </a:solidFill>
                <a:latin typeface="+mn-lt"/>
                <a:ea typeface="+mn-ea"/>
                <a:cs typeface="+mn-cs"/>
              </a:rPr>
              <a:t>memory, what is the point of bringing it in? But consider the following scenario:</a:t>
            </a:r>
          </a:p>
          <a:p>
            <a:r>
              <a:rPr lang="en-US" sz="1200" kern="1200" baseline="0" dirty="0">
                <a:solidFill>
                  <a:schemeClr val="tx1"/>
                </a:solidFill>
                <a:latin typeface="+mn-lt"/>
                <a:ea typeface="+mn-ea"/>
                <a:cs typeface="+mn-cs"/>
              </a:rPr>
              <a:t>A process terminates, freeing up some main memory. There is a process in the</a:t>
            </a:r>
          </a:p>
          <a:p>
            <a:r>
              <a:rPr lang="en-US" sz="1200" kern="1200" baseline="0" dirty="0">
                <a:solidFill>
                  <a:schemeClr val="tx1"/>
                </a:solidFill>
                <a:latin typeface="+mn-lt"/>
                <a:ea typeface="+mn-ea"/>
                <a:cs typeface="+mn-cs"/>
              </a:rPr>
              <a:t>(Blocked/Suspend) queue with a higher priority than any of the processes in</a:t>
            </a:r>
          </a:p>
          <a:p>
            <a:r>
              <a:rPr lang="en-US" sz="1200" kern="1200" baseline="0" dirty="0">
                <a:solidFill>
                  <a:schemeClr val="tx1"/>
                </a:solidFill>
                <a:latin typeface="+mn-lt"/>
                <a:ea typeface="+mn-ea"/>
                <a:cs typeface="+mn-cs"/>
              </a:rPr>
              <a:t>the (Ready/Suspend) queue and the OS has reason to believe that the blocking</a:t>
            </a:r>
          </a:p>
          <a:p>
            <a:r>
              <a:rPr lang="en-US" sz="1200" kern="1200" baseline="0" dirty="0">
                <a:solidFill>
                  <a:schemeClr val="tx1"/>
                </a:solidFill>
                <a:latin typeface="+mn-lt"/>
                <a:ea typeface="+mn-ea"/>
                <a:cs typeface="+mn-cs"/>
              </a:rPr>
              <a:t>event for that process will occur soon. Under these circumstances, it would</a:t>
            </a:r>
          </a:p>
          <a:p>
            <a:r>
              <a:rPr lang="en-US" sz="1200" kern="1200" baseline="0" dirty="0">
                <a:solidFill>
                  <a:schemeClr val="tx1"/>
                </a:solidFill>
                <a:latin typeface="+mn-lt"/>
                <a:ea typeface="+mn-ea"/>
                <a:cs typeface="+mn-cs"/>
              </a:rPr>
              <a:t>seem reasonable to bring a blocked process into main memory in preference</a:t>
            </a:r>
          </a:p>
          <a:p>
            <a:r>
              <a:rPr lang="en-US" sz="1200" kern="1200" baseline="0" dirty="0">
                <a:solidFill>
                  <a:schemeClr val="tx1"/>
                </a:solidFill>
                <a:latin typeface="+mn-lt"/>
                <a:ea typeface="+mn-ea"/>
                <a:cs typeface="+mn-cs"/>
              </a:rPr>
              <a:t>to a ready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 Running - Ready/Suspend: Normally, a running process is moved to the</a:t>
            </a:r>
          </a:p>
          <a:p>
            <a:r>
              <a:rPr lang="en-US" sz="1200" kern="1200" baseline="0" dirty="0">
                <a:solidFill>
                  <a:schemeClr val="tx1"/>
                </a:solidFill>
                <a:latin typeface="+mn-lt"/>
                <a:ea typeface="+mn-ea"/>
                <a:cs typeface="+mn-cs"/>
              </a:rPr>
              <a:t>Ready state when its time allocation expires. If, however, the OS is preempting</a:t>
            </a:r>
          </a:p>
          <a:p>
            <a:r>
              <a:rPr lang="en-US" sz="1200" kern="1200" baseline="0" dirty="0">
                <a:solidFill>
                  <a:schemeClr val="tx1"/>
                </a:solidFill>
                <a:latin typeface="+mn-lt"/>
                <a:ea typeface="+mn-ea"/>
                <a:cs typeface="+mn-cs"/>
              </a:rPr>
              <a:t>the process because a higher-priority process on the Blocked/Suspend queue</a:t>
            </a:r>
          </a:p>
          <a:p>
            <a:r>
              <a:rPr lang="en-US" sz="1200" kern="1200" baseline="0" dirty="0">
                <a:solidFill>
                  <a:schemeClr val="tx1"/>
                </a:solidFill>
                <a:latin typeface="+mn-lt"/>
                <a:ea typeface="+mn-ea"/>
                <a:cs typeface="+mn-cs"/>
              </a:rPr>
              <a:t>has just become unblocked, the OS could move the running process directly to</a:t>
            </a:r>
          </a:p>
          <a:p>
            <a:r>
              <a:rPr lang="en-US" sz="1200" kern="1200" baseline="0" dirty="0">
                <a:solidFill>
                  <a:schemeClr val="tx1"/>
                </a:solidFill>
                <a:latin typeface="+mn-lt"/>
                <a:ea typeface="+mn-ea"/>
                <a:cs typeface="+mn-cs"/>
              </a:rPr>
              <a:t>the (Ready/Suspend) queue and free some main memory.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 Any State - Exit: Typically, a process terminates while it is running, either</a:t>
            </a:r>
          </a:p>
          <a:p>
            <a:r>
              <a:rPr lang="en-US" sz="1200" kern="1200" baseline="0" dirty="0">
                <a:solidFill>
                  <a:schemeClr val="tx1"/>
                </a:solidFill>
                <a:latin typeface="+mn-lt"/>
                <a:ea typeface="+mn-ea"/>
                <a:cs typeface="+mn-cs"/>
              </a:rPr>
              <a:t>because it has completed or because of some fatal fault condition. However, in</a:t>
            </a:r>
          </a:p>
          <a:p>
            <a:r>
              <a:rPr lang="en-US" sz="1200" kern="1200" baseline="0" dirty="0">
                <a:solidFill>
                  <a:schemeClr val="tx1"/>
                </a:solidFill>
                <a:latin typeface="+mn-lt"/>
                <a:ea typeface="+mn-ea"/>
                <a:cs typeface="+mn-cs"/>
              </a:rPr>
              <a:t>some operating systems, a process may be terminated by the process that created</a:t>
            </a:r>
          </a:p>
          <a:p>
            <a:r>
              <a:rPr lang="en-US" sz="1200" kern="1200" baseline="0" dirty="0">
                <a:solidFill>
                  <a:schemeClr val="tx1"/>
                </a:solidFill>
                <a:latin typeface="+mn-lt"/>
                <a:ea typeface="+mn-ea"/>
                <a:cs typeface="+mn-cs"/>
              </a:rPr>
              <a:t>it or when the parent process is itself terminated. If this is allowed, then a</a:t>
            </a:r>
          </a:p>
          <a:p>
            <a:r>
              <a:rPr lang="en-US" sz="1200" kern="1200" baseline="0" dirty="0">
                <a:solidFill>
                  <a:schemeClr val="tx1"/>
                </a:solidFill>
                <a:latin typeface="+mn-lt"/>
                <a:ea typeface="+mn-ea"/>
                <a:cs typeface="+mn-cs"/>
              </a:rPr>
              <a:t>process in any state can be moved to the Exit state.</a:t>
            </a:r>
            <a:endParaRPr lang="en-US" b="0"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22</a:t>
            </a:fld>
            <a:endParaRPr lang="en-US" dirty="0"/>
          </a:p>
        </p:txBody>
      </p:sp>
    </p:spTree>
    <p:extLst>
      <p:ext uri="{BB962C8B-B14F-4D97-AF65-F5344CB8AC3E}">
        <p14:creationId xmlns:p14="http://schemas.microsoft.com/office/powerpoint/2010/main" val="32167148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baseline="0" dirty="0">
                <a:solidFill>
                  <a:schemeClr val="tx1"/>
                </a:solidFill>
                <a:latin typeface="+mn-lt"/>
                <a:ea typeface="+mn-ea"/>
                <a:cs typeface="+mn-cs"/>
              </a:rPr>
              <a:t>We can generalize the concept of a suspended process. Let us define a</a:t>
            </a:r>
          </a:p>
          <a:p>
            <a:r>
              <a:rPr lang="en-US" sz="1200" b="0" kern="1200" baseline="0" dirty="0">
                <a:solidFill>
                  <a:schemeClr val="tx1"/>
                </a:solidFill>
                <a:latin typeface="+mn-lt"/>
                <a:ea typeface="+mn-ea"/>
                <a:cs typeface="+mn-cs"/>
              </a:rPr>
              <a:t>suspended process as having the following characteristics: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1. The process is not immediately available for execution.</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2. The process may or may not be waiting on an event. If it is, this blocked condition</a:t>
            </a:r>
          </a:p>
          <a:p>
            <a:r>
              <a:rPr lang="en-US" sz="1200" b="0" kern="1200" baseline="0" dirty="0">
                <a:solidFill>
                  <a:schemeClr val="tx1"/>
                </a:solidFill>
                <a:latin typeface="+mn-lt"/>
                <a:ea typeface="+mn-ea"/>
                <a:cs typeface="+mn-cs"/>
              </a:rPr>
              <a:t>is independent of the suspend condition, and occurrence of the blocking</a:t>
            </a:r>
          </a:p>
          <a:p>
            <a:r>
              <a:rPr lang="en-US" sz="1200" b="0" kern="1200" baseline="0" dirty="0">
                <a:solidFill>
                  <a:schemeClr val="tx1"/>
                </a:solidFill>
                <a:latin typeface="+mn-lt"/>
                <a:ea typeface="+mn-ea"/>
                <a:cs typeface="+mn-cs"/>
              </a:rPr>
              <a:t>event does not enable the process to be executed immediately.</a:t>
            </a:r>
          </a:p>
          <a:p>
            <a:r>
              <a:rPr lang="en-US" sz="1200" b="0" kern="1200" baseline="0" dirty="0">
                <a:solidFill>
                  <a:schemeClr val="tx1"/>
                </a:solidFill>
                <a:latin typeface="+mn-lt"/>
                <a:ea typeface="+mn-ea"/>
                <a:cs typeface="+mn-cs"/>
              </a:rPr>
              <a:t>The process was placed in a suspended state by an agent: either itself, a parent</a:t>
            </a:r>
          </a:p>
          <a:p>
            <a:r>
              <a:rPr lang="en-US" sz="1200" b="0" kern="1200" baseline="0" dirty="0">
                <a:solidFill>
                  <a:schemeClr val="tx1"/>
                </a:solidFill>
                <a:latin typeface="+mn-lt"/>
                <a:ea typeface="+mn-ea"/>
                <a:cs typeface="+mn-cs"/>
              </a:rPr>
              <a:t>process, or the OS, for the purpose of preventing its execution.</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4. The process may not be removed from this state until the agent explicitly</a:t>
            </a:r>
          </a:p>
          <a:p>
            <a:r>
              <a:rPr lang="en-US" sz="1200" b="0" kern="1200" baseline="0" dirty="0">
                <a:solidFill>
                  <a:schemeClr val="tx1"/>
                </a:solidFill>
                <a:latin typeface="+mn-lt"/>
                <a:ea typeface="+mn-ea"/>
                <a:cs typeface="+mn-cs"/>
              </a:rPr>
              <a:t>orders the removal.</a:t>
            </a:r>
            <a:endParaRPr lang="en-US" b="0"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23</a:t>
            </a:fld>
            <a:endParaRPr lang="en-US" dirty="0"/>
          </a:p>
        </p:txBody>
      </p:sp>
    </p:spTree>
    <p:extLst>
      <p:ext uri="{BB962C8B-B14F-4D97-AF65-F5344CB8AC3E}">
        <p14:creationId xmlns:p14="http://schemas.microsoft.com/office/powerpoint/2010/main" val="37933433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sz="1200" kern="1200" baseline="0" dirty="0">
                <a:solidFill>
                  <a:schemeClr val="tx1"/>
                </a:solidFill>
                <a:latin typeface="+mn-lt"/>
                <a:ea typeface="+mn-ea"/>
                <a:cs typeface="+mn-cs"/>
              </a:rPr>
              <a:t>Table 3.3 lists some reasons for the suspension of a process. One reason that</a:t>
            </a:r>
          </a:p>
          <a:p>
            <a:r>
              <a:rPr lang="en-US" sz="1200" kern="1200" baseline="0" dirty="0">
                <a:solidFill>
                  <a:schemeClr val="tx1"/>
                </a:solidFill>
                <a:latin typeface="+mn-lt"/>
                <a:ea typeface="+mn-ea"/>
                <a:cs typeface="+mn-cs"/>
              </a:rPr>
              <a:t>we have discussed is to provide memory space either to bring in a Ready/Suspended</a:t>
            </a:r>
          </a:p>
          <a:p>
            <a:r>
              <a:rPr lang="en-US" sz="1200" kern="1200" baseline="0" dirty="0">
                <a:solidFill>
                  <a:schemeClr val="tx1"/>
                </a:solidFill>
                <a:latin typeface="+mn-lt"/>
                <a:ea typeface="+mn-ea"/>
                <a:cs typeface="+mn-cs"/>
              </a:rPr>
              <a:t>process or to increase the memory allocated to other Ready processes. The OS may</a:t>
            </a:r>
          </a:p>
          <a:p>
            <a:r>
              <a:rPr lang="en-US" sz="1200" kern="1200" baseline="0" dirty="0">
                <a:solidFill>
                  <a:schemeClr val="tx1"/>
                </a:solidFill>
                <a:latin typeface="+mn-lt"/>
                <a:ea typeface="+mn-ea"/>
                <a:cs typeface="+mn-cs"/>
              </a:rPr>
              <a:t>have other motivations for suspending a process. For example, an auditing or tracing</a:t>
            </a:r>
          </a:p>
          <a:p>
            <a:r>
              <a:rPr lang="en-US" sz="1200" kern="1200" baseline="0" dirty="0">
                <a:solidFill>
                  <a:schemeClr val="tx1"/>
                </a:solidFill>
                <a:latin typeface="+mn-lt"/>
                <a:ea typeface="+mn-ea"/>
                <a:cs typeface="+mn-cs"/>
              </a:rPr>
              <a:t>process may be employed to monitor activity on the system; the process may</a:t>
            </a:r>
          </a:p>
          <a:p>
            <a:r>
              <a:rPr lang="en-US" sz="1200" kern="1200" baseline="0" dirty="0">
                <a:solidFill>
                  <a:schemeClr val="tx1"/>
                </a:solidFill>
                <a:latin typeface="+mn-lt"/>
                <a:ea typeface="+mn-ea"/>
                <a:cs typeface="+mn-cs"/>
              </a:rPr>
              <a:t>be used to record the level of utilization of various resources (processor, memory,</a:t>
            </a:r>
          </a:p>
          <a:p>
            <a:r>
              <a:rPr lang="en-US" sz="1200" kern="1200" baseline="0" dirty="0">
                <a:solidFill>
                  <a:schemeClr val="tx1"/>
                </a:solidFill>
                <a:latin typeface="+mn-lt"/>
                <a:ea typeface="+mn-ea"/>
                <a:cs typeface="+mn-cs"/>
              </a:rPr>
              <a:t>channels) and the rate of progress of the user processes in the system. The OS,</a:t>
            </a:r>
          </a:p>
          <a:p>
            <a:r>
              <a:rPr lang="en-US" sz="1200" kern="1200" baseline="0" dirty="0">
                <a:solidFill>
                  <a:schemeClr val="tx1"/>
                </a:solidFill>
                <a:latin typeface="+mn-lt"/>
                <a:ea typeface="+mn-ea"/>
                <a:cs typeface="+mn-cs"/>
              </a:rPr>
              <a:t>under operator control, may turn this process on and off from time to time. If the</a:t>
            </a:r>
          </a:p>
          <a:p>
            <a:r>
              <a:rPr lang="en-US" sz="1200" kern="1200" baseline="0" dirty="0">
                <a:solidFill>
                  <a:schemeClr val="tx1"/>
                </a:solidFill>
                <a:latin typeface="+mn-lt"/>
                <a:ea typeface="+mn-ea"/>
                <a:cs typeface="+mn-cs"/>
              </a:rPr>
              <a:t>OS detects or suspects a problem, it may suspend a process. One example of this</a:t>
            </a:r>
          </a:p>
          <a:p>
            <a:r>
              <a:rPr lang="en-US" sz="1200" kern="1200" baseline="0" dirty="0">
                <a:solidFill>
                  <a:schemeClr val="tx1"/>
                </a:solidFill>
                <a:latin typeface="+mn-lt"/>
                <a:ea typeface="+mn-ea"/>
                <a:cs typeface="+mn-cs"/>
              </a:rPr>
              <a:t>is deadlock, which is discussed in Chapter 6 . As another example, a problem is</a:t>
            </a:r>
          </a:p>
          <a:p>
            <a:r>
              <a:rPr lang="en-US" sz="1200" kern="1200" baseline="0" dirty="0">
                <a:solidFill>
                  <a:schemeClr val="tx1"/>
                </a:solidFill>
                <a:latin typeface="+mn-lt"/>
                <a:ea typeface="+mn-ea"/>
                <a:cs typeface="+mn-cs"/>
              </a:rPr>
              <a:t>detected on a communications line, and the operator has the OS suspend the process</a:t>
            </a:r>
          </a:p>
          <a:p>
            <a:r>
              <a:rPr lang="en-US" sz="1200" kern="1200" baseline="0" dirty="0">
                <a:solidFill>
                  <a:schemeClr val="tx1"/>
                </a:solidFill>
                <a:latin typeface="+mn-lt"/>
                <a:ea typeface="+mn-ea"/>
                <a:cs typeface="+mn-cs"/>
              </a:rPr>
              <a:t>that is using the line while some tests are run.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Another set of reasons concerns the actions of an interactive user. For example, if</a:t>
            </a:r>
          </a:p>
          <a:p>
            <a:r>
              <a:rPr lang="en-US" sz="1200" kern="1200" baseline="0" dirty="0">
                <a:solidFill>
                  <a:schemeClr val="tx1"/>
                </a:solidFill>
                <a:latin typeface="+mn-lt"/>
                <a:ea typeface="+mn-ea"/>
                <a:cs typeface="+mn-cs"/>
              </a:rPr>
              <a:t>a user suspects a bug in the program, he or she may debug the program by suspending</a:t>
            </a:r>
          </a:p>
          <a:p>
            <a:r>
              <a:rPr lang="en-US" sz="1200" kern="1200" baseline="0" dirty="0">
                <a:solidFill>
                  <a:schemeClr val="tx1"/>
                </a:solidFill>
                <a:latin typeface="+mn-lt"/>
                <a:ea typeface="+mn-ea"/>
                <a:cs typeface="+mn-cs"/>
              </a:rPr>
              <a:t>its execution, examining and modifying the program or data, and resuming execution.</a:t>
            </a:r>
          </a:p>
          <a:p>
            <a:r>
              <a:rPr lang="en-US" sz="1200" kern="1200" baseline="0" dirty="0">
                <a:solidFill>
                  <a:schemeClr val="tx1"/>
                </a:solidFill>
                <a:latin typeface="+mn-lt"/>
                <a:ea typeface="+mn-ea"/>
                <a:cs typeface="+mn-cs"/>
              </a:rPr>
              <a:t>Or there may be a background process that is collecting trace or accounting statistics,</a:t>
            </a:r>
          </a:p>
          <a:p>
            <a:r>
              <a:rPr lang="en-US" sz="1200" kern="1200" baseline="0" dirty="0">
                <a:solidFill>
                  <a:schemeClr val="tx1"/>
                </a:solidFill>
                <a:latin typeface="+mn-lt"/>
                <a:ea typeface="+mn-ea"/>
                <a:cs typeface="+mn-cs"/>
              </a:rPr>
              <a:t>which the user may wish to be able to turn on and off.</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Timing considerations may also lead to a swapping decision. For example, if a</a:t>
            </a:r>
          </a:p>
          <a:p>
            <a:r>
              <a:rPr lang="en-US" sz="1200" kern="1200" baseline="0" dirty="0">
                <a:solidFill>
                  <a:schemeClr val="tx1"/>
                </a:solidFill>
                <a:latin typeface="+mn-lt"/>
                <a:ea typeface="+mn-ea"/>
                <a:cs typeface="+mn-cs"/>
              </a:rPr>
              <a:t>process is to be activated periodically but is idle most of the time, then it should be</a:t>
            </a:r>
          </a:p>
          <a:p>
            <a:r>
              <a:rPr lang="en-US" sz="1200" kern="1200" baseline="0" dirty="0">
                <a:solidFill>
                  <a:schemeClr val="tx1"/>
                </a:solidFill>
                <a:latin typeface="+mn-lt"/>
                <a:ea typeface="+mn-ea"/>
                <a:cs typeface="+mn-cs"/>
              </a:rPr>
              <a:t>swapped out between uses. A program that monitors utilization or user activity is</a:t>
            </a:r>
          </a:p>
          <a:p>
            <a:r>
              <a:rPr lang="en-US" sz="1200" kern="1200" baseline="0" dirty="0">
                <a:solidFill>
                  <a:schemeClr val="tx1"/>
                </a:solidFill>
                <a:latin typeface="+mn-lt"/>
                <a:ea typeface="+mn-ea"/>
                <a:cs typeface="+mn-cs"/>
              </a:rPr>
              <a:t>an example.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Finally, a parent process may wish to suspend a descendent process. For example,</a:t>
            </a:r>
          </a:p>
          <a:p>
            <a:r>
              <a:rPr lang="en-US" sz="1200" kern="1200" baseline="0" dirty="0">
                <a:solidFill>
                  <a:schemeClr val="tx1"/>
                </a:solidFill>
                <a:latin typeface="+mn-lt"/>
                <a:ea typeface="+mn-ea"/>
                <a:cs typeface="+mn-cs"/>
              </a:rPr>
              <a:t>process A may spawn process B to perform a file read. Subsequently, process B</a:t>
            </a:r>
          </a:p>
          <a:p>
            <a:r>
              <a:rPr lang="en-US" sz="1200" kern="1200" baseline="0" dirty="0">
                <a:solidFill>
                  <a:schemeClr val="tx1"/>
                </a:solidFill>
                <a:latin typeface="+mn-lt"/>
                <a:ea typeface="+mn-ea"/>
                <a:cs typeface="+mn-cs"/>
              </a:rPr>
              <a:t>encounters an error in the file read procedure and reports this to process A. Process</a:t>
            </a:r>
          </a:p>
          <a:p>
            <a:r>
              <a:rPr lang="en-US" sz="1200" kern="1200" baseline="0" dirty="0">
                <a:solidFill>
                  <a:schemeClr val="tx1"/>
                </a:solidFill>
                <a:latin typeface="+mn-lt"/>
                <a:ea typeface="+mn-ea"/>
                <a:cs typeface="+mn-cs"/>
              </a:rPr>
              <a:t>A suspends process B to investigate the cause.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all of these cases, the activation of a suspended process is requested by the</a:t>
            </a:r>
          </a:p>
          <a:p>
            <a:r>
              <a:rPr lang="en-US" sz="1200" kern="1200" baseline="0" dirty="0">
                <a:solidFill>
                  <a:schemeClr val="tx1"/>
                </a:solidFill>
                <a:latin typeface="+mn-lt"/>
                <a:ea typeface="+mn-ea"/>
                <a:cs typeface="+mn-cs"/>
              </a:rPr>
              <a:t>agent that initially requested the suspension.</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24</a:t>
            </a:fld>
            <a:endParaRPr lang="en-US" dirty="0"/>
          </a:p>
        </p:txBody>
      </p:sp>
    </p:spTree>
    <p:extLst>
      <p:ext uri="{BB962C8B-B14F-4D97-AF65-F5344CB8AC3E}">
        <p14:creationId xmlns:p14="http://schemas.microsoft.com/office/powerpoint/2010/main" val="9293835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OS controls events within the computer system. It schedules and dispatches</a:t>
            </a:r>
          </a:p>
          <a:p>
            <a:r>
              <a:rPr lang="en-US" sz="1200" kern="1200" baseline="0" dirty="0">
                <a:solidFill>
                  <a:schemeClr val="tx1"/>
                </a:solidFill>
                <a:latin typeface="+mn-lt"/>
                <a:ea typeface="+mn-ea"/>
                <a:cs typeface="+mn-cs"/>
              </a:rPr>
              <a:t>processes for execution by the processor, allocates resources to processes, and</a:t>
            </a:r>
          </a:p>
          <a:p>
            <a:r>
              <a:rPr lang="en-US" sz="1200" kern="1200" baseline="0" dirty="0">
                <a:solidFill>
                  <a:schemeClr val="tx1"/>
                </a:solidFill>
                <a:latin typeface="+mn-lt"/>
                <a:ea typeface="+mn-ea"/>
                <a:cs typeface="+mn-cs"/>
              </a:rPr>
              <a:t>responds to requests by user processes for basic services. Fundamentally, we can</a:t>
            </a:r>
          </a:p>
          <a:p>
            <a:r>
              <a:rPr lang="en-US" sz="1200" kern="1200" baseline="0" dirty="0">
                <a:solidFill>
                  <a:schemeClr val="tx1"/>
                </a:solidFill>
                <a:latin typeface="+mn-lt"/>
                <a:ea typeface="+mn-ea"/>
                <a:cs typeface="+mn-cs"/>
              </a:rPr>
              <a:t>think of the OS as that entity that manages the use of system resources by processes.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This concept is illustrated in Figure 3.10 . In a multiprogramming environment,</a:t>
            </a:r>
          </a:p>
          <a:p>
            <a:r>
              <a:rPr lang="en-US" sz="1200" kern="1200" baseline="0" dirty="0">
                <a:solidFill>
                  <a:schemeClr val="tx1"/>
                </a:solidFill>
                <a:latin typeface="+mn-lt"/>
                <a:ea typeface="+mn-ea"/>
                <a:cs typeface="+mn-cs"/>
              </a:rPr>
              <a:t>there are a number of processes (P </a:t>
            </a:r>
            <a:r>
              <a:rPr lang="en-US" sz="1200" kern="1200" baseline="-25000" dirty="0">
                <a:solidFill>
                  <a:schemeClr val="tx1"/>
                </a:solidFill>
                <a:latin typeface="+mn-lt"/>
                <a:ea typeface="+mn-ea"/>
                <a:cs typeface="+mn-cs"/>
              </a:rPr>
              <a:t>1</a:t>
            </a:r>
            <a:r>
              <a:rPr lang="en-US" sz="1200" kern="1200" baseline="0" dirty="0">
                <a:solidFill>
                  <a:schemeClr val="tx1"/>
                </a:solidFill>
                <a:latin typeface="+mn-lt"/>
                <a:ea typeface="+mn-ea"/>
                <a:cs typeface="+mn-cs"/>
              </a:rPr>
              <a:t> ,…, P </a:t>
            </a:r>
            <a:r>
              <a:rPr lang="en-US" sz="1200" kern="1200" baseline="-25000" dirty="0">
                <a:solidFill>
                  <a:schemeClr val="tx1"/>
                </a:solidFill>
                <a:latin typeface="+mn-lt"/>
                <a:ea typeface="+mn-ea"/>
                <a:cs typeface="+mn-cs"/>
              </a:rPr>
              <a:t>n</a:t>
            </a:r>
            <a:r>
              <a:rPr lang="en-US" sz="1200" i="1" kern="1200" baseline="0" dirty="0">
                <a:solidFill>
                  <a:schemeClr val="tx1"/>
                </a:solidFill>
                <a:latin typeface="+mn-lt"/>
                <a:ea typeface="+mn-ea"/>
                <a:cs typeface="+mn-cs"/>
              </a:rPr>
              <a:t> ) that have been created and exist in</a:t>
            </a:r>
          </a:p>
          <a:p>
            <a:r>
              <a:rPr lang="en-US" sz="1200" kern="1200" baseline="0" dirty="0">
                <a:solidFill>
                  <a:schemeClr val="tx1"/>
                </a:solidFill>
                <a:latin typeface="+mn-lt"/>
                <a:ea typeface="+mn-ea"/>
                <a:cs typeface="+mn-cs"/>
              </a:rPr>
              <a:t>virtual memory. Each process, during the course of its execution, needs access to</a:t>
            </a:r>
          </a:p>
          <a:p>
            <a:r>
              <a:rPr lang="en-US" sz="1200" kern="1200" baseline="0" dirty="0">
                <a:solidFill>
                  <a:schemeClr val="tx1"/>
                </a:solidFill>
                <a:latin typeface="+mn-lt"/>
                <a:ea typeface="+mn-ea"/>
                <a:cs typeface="+mn-cs"/>
              </a:rPr>
              <a:t>certain system resources, including the processor, I/O devices, and main memory. In</a:t>
            </a:r>
          </a:p>
          <a:p>
            <a:r>
              <a:rPr lang="en-US" sz="1200" kern="1200" baseline="0" dirty="0">
                <a:solidFill>
                  <a:schemeClr val="tx1"/>
                </a:solidFill>
                <a:latin typeface="+mn-lt"/>
                <a:ea typeface="+mn-ea"/>
                <a:cs typeface="+mn-cs"/>
              </a:rPr>
              <a:t>the figure, process P </a:t>
            </a:r>
            <a:r>
              <a:rPr lang="en-US" sz="1200" kern="1200" baseline="-25000" dirty="0">
                <a:solidFill>
                  <a:schemeClr val="tx1"/>
                </a:solidFill>
                <a:latin typeface="+mn-lt"/>
                <a:ea typeface="+mn-ea"/>
                <a:cs typeface="+mn-cs"/>
              </a:rPr>
              <a:t>1</a:t>
            </a:r>
            <a:r>
              <a:rPr lang="en-US" sz="1200" kern="1200" baseline="0" dirty="0">
                <a:solidFill>
                  <a:schemeClr val="tx1"/>
                </a:solidFill>
                <a:latin typeface="+mn-lt"/>
                <a:ea typeface="+mn-ea"/>
                <a:cs typeface="+mn-cs"/>
              </a:rPr>
              <a:t> is running; at least part of the process is in main memory, and</a:t>
            </a:r>
          </a:p>
          <a:p>
            <a:r>
              <a:rPr lang="en-US" sz="1200" kern="1200" baseline="0" dirty="0">
                <a:solidFill>
                  <a:schemeClr val="tx1"/>
                </a:solidFill>
                <a:latin typeface="+mn-lt"/>
                <a:ea typeface="+mn-ea"/>
                <a:cs typeface="+mn-cs"/>
              </a:rPr>
              <a:t>it has control of two I/O devices. Process P </a:t>
            </a:r>
            <a:r>
              <a:rPr lang="en-US" sz="1200" kern="1200" baseline="-25000" dirty="0">
                <a:solidFill>
                  <a:schemeClr val="tx1"/>
                </a:solidFill>
                <a:latin typeface="+mn-lt"/>
                <a:ea typeface="+mn-ea"/>
                <a:cs typeface="+mn-cs"/>
              </a:rPr>
              <a:t>2</a:t>
            </a:r>
            <a:r>
              <a:rPr lang="en-US" sz="1200" kern="1200" baseline="0" dirty="0">
                <a:solidFill>
                  <a:schemeClr val="tx1"/>
                </a:solidFill>
                <a:latin typeface="+mn-lt"/>
                <a:ea typeface="+mn-ea"/>
                <a:cs typeface="+mn-cs"/>
              </a:rPr>
              <a:t> is also in main memory but is blocked</a:t>
            </a:r>
          </a:p>
          <a:p>
            <a:r>
              <a:rPr lang="en-US" sz="1200" kern="1200" baseline="0" dirty="0">
                <a:solidFill>
                  <a:schemeClr val="tx1"/>
                </a:solidFill>
                <a:latin typeface="+mn-lt"/>
                <a:ea typeface="+mn-ea"/>
                <a:cs typeface="+mn-cs"/>
              </a:rPr>
              <a:t>waiting for an I/O device allocated to P </a:t>
            </a:r>
            <a:r>
              <a:rPr lang="en-US" sz="1200" kern="1200" baseline="-25000" dirty="0">
                <a:solidFill>
                  <a:schemeClr val="tx1"/>
                </a:solidFill>
                <a:latin typeface="+mn-lt"/>
                <a:ea typeface="+mn-ea"/>
                <a:cs typeface="+mn-cs"/>
              </a:rPr>
              <a:t>1</a:t>
            </a:r>
            <a:r>
              <a:rPr lang="en-US" sz="1200" kern="1200" baseline="0" dirty="0">
                <a:solidFill>
                  <a:schemeClr val="tx1"/>
                </a:solidFill>
                <a:latin typeface="+mn-lt"/>
                <a:ea typeface="+mn-ea"/>
                <a:cs typeface="+mn-cs"/>
              </a:rPr>
              <a:t> . Process P </a:t>
            </a:r>
            <a:r>
              <a:rPr lang="en-US" sz="1200" kern="1200" baseline="-25000" dirty="0">
                <a:solidFill>
                  <a:schemeClr val="tx1"/>
                </a:solidFill>
                <a:latin typeface="+mn-lt"/>
                <a:ea typeface="+mn-ea"/>
                <a:cs typeface="+mn-cs"/>
              </a:rPr>
              <a:t>n</a:t>
            </a:r>
            <a:r>
              <a:rPr lang="en-US" sz="1200" i="1" kern="1200" baseline="0" dirty="0">
                <a:solidFill>
                  <a:schemeClr val="tx1"/>
                </a:solidFill>
                <a:latin typeface="+mn-lt"/>
                <a:ea typeface="+mn-ea"/>
                <a:cs typeface="+mn-cs"/>
              </a:rPr>
              <a:t> has been swapped out and is</a:t>
            </a:r>
          </a:p>
          <a:p>
            <a:r>
              <a:rPr lang="en-US" sz="1200" kern="1200" baseline="0" dirty="0">
                <a:solidFill>
                  <a:schemeClr val="tx1"/>
                </a:solidFill>
                <a:latin typeface="+mn-lt"/>
                <a:ea typeface="+mn-ea"/>
                <a:cs typeface="+mn-cs"/>
              </a:rPr>
              <a:t>therefore suspended.</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25</a:t>
            </a:fld>
            <a:endParaRPr lang="en-US" dirty="0"/>
          </a:p>
        </p:txBody>
      </p:sp>
    </p:spTree>
    <p:extLst>
      <p:ext uri="{BB962C8B-B14F-4D97-AF65-F5344CB8AC3E}">
        <p14:creationId xmlns:p14="http://schemas.microsoft.com/office/powerpoint/2010/main" val="30657433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If the OS is to manage processes and resources, it must have information about</a:t>
            </a:r>
          </a:p>
          <a:p>
            <a:r>
              <a:rPr lang="en-US" sz="1200" kern="1200" baseline="0" dirty="0">
                <a:solidFill>
                  <a:schemeClr val="tx1"/>
                </a:solidFill>
                <a:latin typeface="+mn-lt"/>
                <a:ea typeface="+mn-ea"/>
                <a:cs typeface="+mn-cs"/>
              </a:rPr>
              <a:t>the current status of each process and resource. The universal approach to providing</a:t>
            </a:r>
          </a:p>
          <a:p>
            <a:r>
              <a:rPr lang="en-US" sz="1200" kern="1200" baseline="0" dirty="0">
                <a:solidFill>
                  <a:schemeClr val="tx1"/>
                </a:solidFill>
                <a:latin typeface="+mn-lt"/>
                <a:ea typeface="+mn-ea"/>
                <a:cs typeface="+mn-cs"/>
              </a:rPr>
              <a:t>this information is straightforward: The OS constructs and maintains tables of</a:t>
            </a:r>
          </a:p>
          <a:p>
            <a:r>
              <a:rPr lang="en-US" sz="1200" kern="1200" baseline="0" dirty="0">
                <a:solidFill>
                  <a:schemeClr val="tx1"/>
                </a:solidFill>
                <a:latin typeface="+mn-lt"/>
                <a:ea typeface="+mn-ea"/>
                <a:cs typeface="+mn-cs"/>
              </a:rPr>
              <a:t>information about each entity that it is managing. A general idea of the scope of this</a:t>
            </a:r>
          </a:p>
          <a:p>
            <a:r>
              <a:rPr lang="en-US" sz="1200" kern="1200" baseline="0" dirty="0">
                <a:solidFill>
                  <a:schemeClr val="tx1"/>
                </a:solidFill>
                <a:latin typeface="+mn-lt"/>
                <a:ea typeface="+mn-ea"/>
                <a:cs typeface="+mn-cs"/>
              </a:rPr>
              <a:t>effort is indicated in Figure 3.11 , which shows four different types of tables maintained</a:t>
            </a:r>
          </a:p>
          <a:p>
            <a:r>
              <a:rPr lang="en-US" sz="1200" kern="1200" baseline="0" dirty="0">
                <a:solidFill>
                  <a:schemeClr val="tx1"/>
                </a:solidFill>
                <a:latin typeface="+mn-lt"/>
                <a:ea typeface="+mn-ea"/>
                <a:cs typeface="+mn-cs"/>
              </a:rPr>
              <a:t>by the OS: memory, I/O, file, and process. Although the details will differ</a:t>
            </a:r>
          </a:p>
          <a:p>
            <a:r>
              <a:rPr lang="en-US" sz="1200" kern="1200" baseline="0" dirty="0">
                <a:solidFill>
                  <a:schemeClr val="tx1"/>
                </a:solidFill>
                <a:latin typeface="+mn-lt"/>
                <a:ea typeface="+mn-ea"/>
                <a:cs typeface="+mn-cs"/>
              </a:rPr>
              <a:t>from one OS to another, fundamentally, all operating systems maintain information</a:t>
            </a:r>
          </a:p>
          <a:p>
            <a:r>
              <a:rPr lang="en-US" sz="1200" kern="1200" baseline="0" dirty="0">
                <a:solidFill>
                  <a:schemeClr val="tx1"/>
                </a:solidFill>
                <a:latin typeface="+mn-lt"/>
                <a:ea typeface="+mn-ea"/>
                <a:cs typeface="+mn-cs"/>
              </a:rPr>
              <a:t>in these four categories.</a:t>
            </a:r>
          </a:p>
          <a:p>
            <a:endParaRPr lang="en-US" sz="1200" b="1"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26</a:t>
            </a:fld>
            <a:endParaRPr lang="en-US" dirty="0"/>
          </a:p>
        </p:txBody>
      </p:sp>
    </p:spTree>
    <p:extLst>
      <p:ext uri="{BB962C8B-B14F-4D97-AF65-F5344CB8AC3E}">
        <p14:creationId xmlns:p14="http://schemas.microsoft.com/office/powerpoint/2010/main" val="36140667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baseline="0" dirty="0">
                <a:solidFill>
                  <a:schemeClr val="tx1"/>
                </a:solidFill>
                <a:latin typeface="+mn-lt"/>
                <a:ea typeface="+mn-ea"/>
                <a:cs typeface="+mn-cs"/>
              </a:rPr>
              <a:t>Memory tables are used to keep track of both main (real) and secondary</a:t>
            </a:r>
          </a:p>
          <a:p>
            <a:r>
              <a:rPr lang="en-US" sz="1200" b="0" kern="1200" baseline="0" dirty="0">
                <a:solidFill>
                  <a:schemeClr val="tx1"/>
                </a:solidFill>
                <a:latin typeface="+mn-lt"/>
                <a:ea typeface="+mn-ea"/>
                <a:cs typeface="+mn-cs"/>
              </a:rPr>
              <a:t>(virtual) memory. Some of main memory is reserved for use by the OS; the</a:t>
            </a:r>
          </a:p>
          <a:p>
            <a:r>
              <a:rPr lang="en-US" sz="1200" b="0" kern="1200" baseline="0" dirty="0">
                <a:solidFill>
                  <a:schemeClr val="tx1"/>
                </a:solidFill>
                <a:latin typeface="+mn-lt"/>
                <a:ea typeface="+mn-ea"/>
                <a:cs typeface="+mn-cs"/>
              </a:rPr>
              <a:t>remainder is available for use by processes. Processes are maintained on secondary</a:t>
            </a:r>
          </a:p>
          <a:p>
            <a:r>
              <a:rPr lang="en-US" sz="1200" b="0" kern="1200" baseline="0" dirty="0">
                <a:solidFill>
                  <a:schemeClr val="tx1"/>
                </a:solidFill>
                <a:latin typeface="+mn-lt"/>
                <a:ea typeface="+mn-ea"/>
                <a:cs typeface="+mn-cs"/>
              </a:rPr>
              <a:t>memory using some sort of virtual memory or simple swapping mechanism. The</a:t>
            </a:r>
          </a:p>
          <a:p>
            <a:r>
              <a:rPr lang="en-US" sz="1200" b="0" kern="1200" baseline="0" dirty="0">
                <a:solidFill>
                  <a:schemeClr val="tx1"/>
                </a:solidFill>
                <a:latin typeface="+mn-lt"/>
                <a:ea typeface="+mn-ea"/>
                <a:cs typeface="+mn-cs"/>
              </a:rPr>
              <a:t>memory tables must include the following information:</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The allocation of main memory to processes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The allocation of secondary memory to processes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Any protection attributes of blocks of main or virtual memory, such as which</a:t>
            </a:r>
          </a:p>
          <a:p>
            <a:r>
              <a:rPr lang="en-US" sz="1200" b="0" kern="1200" baseline="0" dirty="0">
                <a:solidFill>
                  <a:schemeClr val="tx1"/>
                </a:solidFill>
                <a:latin typeface="+mn-lt"/>
                <a:ea typeface="+mn-ea"/>
                <a:cs typeface="+mn-cs"/>
              </a:rPr>
              <a:t>processes may access certain shared memory regions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Any information needed to manage virtual memory</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We examine the information structures for memory management in detail in Part</a:t>
            </a:r>
          </a:p>
          <a:p>
            <a:r>
              <a:rPr lang="en-US" sz="1200" b="0" kern="1200" baseline="0" dirty="0">
                <a:solidFill>
                  <a:schemeClr val="tx1"/>
                </a:solidFill>
                <a:latin typeface="+mn-lt"/>
                <a:ea typeface="+mn-ea"/>
                <a:cs typeface="+mn-cs"/>
              </a:rPr>
              <a:t>Three.</a:t>
            </a:r>
            <a:endParaRPr lang="en-US" b="0"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27</a:t>
            </a:fld>
            <a:endParaRPr lang="en-US" dirty="0"/>
          </a:p>
        </p:txBody>
      </p:sp>
    </p:spTree>
    <p:extLst>
      <p:ext uri="{BB962C8B-B14F-4D97-AF65-F5344CB8AC3E}">
        <p14:creationId xmlns:p14="http://schemas.microsoft.com/office/powerpoint/2010/main" val="14051565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baseline="0" dirty="0">
                <a:solidFill>
                  <a:schemeClr val="tx1"/>
                </a:solidFill>
                <a:latin typeface="+mn-lt"/>
                <a:ea typeface="+mn-ea"/>
                <a:cs typeface="+mn-cs"/>
              </a:rPr>
              <a:t>I/O tables are used by the OS to manage the I/O devices and channels of the</a:t>
            </a:r>
          </a:p>
          <a:p>
            <a:r>
              <a:rPr lang="en-US" sz="1200" b="0" kern="1200" baseline="0" dirty="0">
                <a:solidFill>
                  <a:schemeClr val="tx1"/>
                </a:solidFill>
                <a:latin typeface="+mn-lt"/>
                <a:ea typeface="+mn-ea"/>
                <a:cs typeface="+mn-cs"/>
              </a:rPr>
              <a:t>computer system. At any given time, an I/O device may be available or assigned to a</a:t>
            </a:r>
          </a:p>
          <a:p>
            <a:r>
              <a:rPr lang="en-US" sz="1200" b="0" kern="1200" baseline="0" dirty="0">
                <a:solidFill>
                  <a:schemeClr val="tx1"/>
                </a:solidFill>
                <a:latin typeface="+mn-lt"/>
                <a:ea typeface="+mn-ea"/>
                <a:cs typeface="+mn-cs"/>
              </a:rPr>
              <a:t>particular process. If an I/O operation is in progress, the OS needs to know the status</a:t>
            </a:r>
          </a:p>
          <a:p>
            <a:r>
              <a:rPr lang="en-US" sz="1200" b="0" kern="1200" baseline="0" dirty="0">
                <a:solidFill>
                  <a:schemeClr val="tx1"/>
                </a:solidFill>
                <a:latin typeface="+mn-lt"/>
                <a:ea typeface="+mn-ea"/>
                <a:cs typeface="+mn-cs"/>
              </a:rPr>
              <a:t>of the I/O operation and the location in main memory being used as the source or</a:t>
            </a:r>
          </a:p>
          <a:p>
            <a:r>
              <a:rPr lang="en-US" sz="1200" b="0" kern="1200" baseline="0" dirty="0">
                <a:solidFill>
                  <a:schemeClr val="tx1"/>
                </a:solidFill>
                <a:latin typeface="+mn-lt"/>
                <a:ea typeface="+mn-ea"/>
                <a:cs typeface="+mn-cs"/>
              </a:rPr>
              <a:t>destination of the I/O transfer. I/O management is examined in Chapter 11 .</a:t>
            </a:r>
            <a:endParaRPr lang="en-NZ" b="0"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28</a:t>
            </a:fld>
            <a:endParaRPr lang="en-US" dirty="0"/>
          </a:p>
        </p:txBody>
      </p:sp>
    </p:spTree>
    <p:extLst>
      <p:ext uri="{BB962C8B-B14F-4D97-AF65-F5344CB8AC3E}">
        <p14:creationId xmlns:p14="http://schemas.microsoft.com/office/powerpoint/2010/main" val="14473045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The OS may also maintain file tables . These tables provide information about</a:t>
            </a:r>
          </a:p>
          <a:p>
            <a:r>
              <a:rPr lang="en-US" sz="1200" kern="1200" baseline="0" dirty="0">
                <a:solidFill>
                  <a:schemeClr val="tx1"/>
                </a:solidFill>
                <a:latin typeface="+mn-lt"/>
                <a:ea typeface="+mn-ea"/>
                <a:cs typeface="+mn-cs"/>
              </a:rPr>
              <a:t>the existence of files, their location on secondary memory, their current status, and</a:t>
            </a:r>
          </a:p>
          <a:p>
            <a:r>
              <a:rPr lang="en-US" sz="1200" kern="1200" baseline="0" dirty="0">
                <a:solidFill>
                  <a:schemeClr val="tx1"/>
                </a:solidFill>
                <a:latin typeface="+mn-lt"/>
                <a:ea typeface="+mn-ea"/>
                <a:cs typeface="+mn-cs"/>
              </a:rPr>
              <a:t> other attributes. Much, if not all, of this information may be maintained and used by</a:t>
            </a:r>
          </a:p>
          <a:p>
            <a:r>
              <a:rPr lang="en-US" sz="1200" kern="1200" baseline="0" dirty="0">
                <a:solidFill>
                  <a:schemeClr val="tx1"/>
                </a:solidFill>
                <a:latin typeface="+mn-lt"/>
                <a:ea typeface="+mn-ea"/>
                <a:cs typeface="+mn-cs"/>
              </a:rPr>
              <a:t>a file management system, in which case the OS has little or no knowledge of files.</a:t>
            </a:r>
          </a:p>
          <a:p>
            <a:r>
              <a:rPr lang="en-US" sz="1200" kern="1200" baseline="0" dirty="0">
                <a:solidFill>
                  <a:schemeClr val="tx1"/>
                </a:solidFill>
                <a:latin typeface="+mn-lt"/>
                <a:ea typeface="+mn-ea"/>
                <a:cs typeface="+mn-cs"/>
              </a:rPr>
              <a:t>In other operating systems, much of the detail of file management is managed by the</a:t>
            </a:r>
          </a:p>
          <a:p>
            <a:r>
              <a:rPr lang="en-US" sz="1200" kern="1200" baseline="0" dirty="0">
                <a:solidFill>
                  <a:schemeClr val="tx1"/>
                </a:solidFill>
                <a:latin typeface="+mn-lt"/>
                <a:ea typeface="+mn-ea"/>
                <a:cs typeface="+mn-cs"/>
              </a:rPr>
              <a:t>OS itself. This topic is explored in Chapter 12.</a:t>
            </a:r>
            <a:endParaRPr lang="en-NZ"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29</a:t>
            </a:fld>
            <a:endParaRPr lang="en-US" dirty="0"/>
          </a:p>
        </p:txBody>
      </p:sp>
    </p:spTree>
    <p:extLst>
      <p:ext uri="{BB962C8B-B14F-4D97-AF65-F5344CB8AC3E}">
        <p14:creationId xmlns:p14="http://schemas.microsoft.com/office/powerpoint/2010/main" val="34705039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a:solidFill>
                  <a:schemeClr val="tx1"/>
                </a:solidFill>
                <a:latin typeface="+mn-lt"/>
                <a:ea typeface="+mn-ea"/>
                <a:cs typeface="+mn-cs"/>
              </a:rPr>
              <a:t>Finally, the OS must maintain </a:t>
            </a:r>
            <a:r>
              <a:rPr lang="en-US" sz="1200" b="1" kern="1200" baseline="0" dirty="0">
                <a:solidFill>
                  <a:schemeClr val="tx1"/>
                </a:solidFill>
                <a:latin typeface="+mn-lt"/>
                <a:ea typeface="+mn-ea"/>
                <a:cs typeface="+mn-cs"/>
              </a:rPr>
              <a:t>process tables </a:t>
            </a:r>
            <a:r>
              <a:rPr lang="en-US" sz="1200" b="0" kern="1200" baseline="0" dirty="0">
                <a:solidFill>
                  <a:schemeClr val="tx1"/>
                </a:solidFill>
                <a:latin typeface="+mn-lt"/>
                <a:ea typeface="+mn-ea"/>
                <a:cs typeface="+mn-cs"/>
              </a:rPr>
              <a:t>to manage processes. The</a:t>
            </a:r>
          </a:p>
          <a:p>
            <a:r>
              <a:rPr lang="en-US" sz="1200" kern="1200" baseline="0" dirty="0">
                <a:solidFill>
                  <a:schemeClr val="tx1"/>
                </a:solidFill>
                <a:latin typeface="+mn-lt"/>
                <a:ea typeface="+mn-ea"/>
                <a:cs typeface="+mn-cs"/>
              </a:rPr>
              <a:t>remainder of this section is devoted to an examination of the required process</a:t>
            </a:r>
          </a:p>
          <a:p>
            <a:r>
              <a:rPr lang="en-US" sz="1200" kern="1200" baseline="0" dirty="0">
                <a:solidFill>
                  <a:schemeClr val="tx1"/>
                </a:solidFill>
                <a:latin typeface="+mn-lt"/>
                <a:ea typeface="+mn-ea"/>
                <a:cs typeface="+mn-cs"/>
              </a:rPr>
              <a:t>tables. Before proceeding to this discussion, two additional points should be made.</a:t>
            </a:r>
          </a:p>
          <a:p>
            <a:r>
              <a:rPr lang="en-US" sz="1200" kern="1200" baseline="0" dirty="0">
                <a:solidFill>
                  <a:schemeClr val="tx1"/>
                </a:solidFill>
                <a:latin typeface="+mn-lt"/>
                <a:ea typeface="+mn-ea"/>
                <a:cs typeface="+mn-cs"/>
              </a:rPr>
              <a:t>First, although Figure 3.11 shows four distinct sets of tables, it should be clear that</a:t>
            </a:r>
          </a:p>
          <a:p>
            <a:r>
              <a:rPr lang="en-US" sz="1200" kern="1200" baseline="0" dirty="0">
                <a:solidFill>
                  <a:schemeClr val="tx1"/>
                </a:solidFill>
                <a:latin typeface="+mn-lt"/>
                <a:ea typeface="+mn-ea"/>
                <a:cs typeface="+mn-cs"/>
              </a:rPr>
              <a:t>these tables must be linked or cross-referenced in some fashion. Memory, I/O, and</a:t>
            </a:r>
          </a:p>
          <a:p>
            <a:r>
              <a:rPr lang="en-US" sz="1200" kern="1200" baseline="0" dirty="0">
                <a:solidFill>
                  <a:schemeClr val="tx1"/>
                </a:solidFill>
                <a:latin typeface="+mn-lt"/>
                <a:ea typeface="+mn-ea"/>
                <a:cs typeface="+mn-cs"/>
              </a:rPr>
              <a:t>files are managed on behalf of processes, so there must be some reference to these</a:t>
            </a:r>
          </a:p>
          <a:p>
            <a:r>
              <a:rPr lang="en-US" sz="1200" kern="1200" baseline="0" dirty="0">
                <a:solidFill>
                  <a:schemeClr val="tx1"/>
                </a:solidFill>
                <a:latin typeface="+mn-lt"/>
                <a:ea typeface="+mn-ea"/>
                <a:cs typeface="+mn-cs"/>
              </a:rPr>
              <a:t>resources, directly or indirectly, in the process tables. The files referred to in the file</a:t>
            </a:r>
          </a:p>
          <a:p>
            <a:r>
              <a:rPr lang="en-US" sz="1200" kern="1200" baseline="0" dirty="0">
                <a:solidFill>
                  <a:schemeClr val="tx1"/>
                </a:solidFill>
                <a:latin typeface="+mn-lt"/>
                <a:ea typeface="+mn-ea"/>
                <a:cs typeface="+mn-cs"/>
              </a:rPr>
              <a:t>tables are accessible via an I/O device and will, at some times, be in main or virtual</a:t>
            </a:r>
          </a:p>
          <a:p>
            <a:r>
              <a:rPr lang="en-US" sz="1200" kern="1200" baseline="0" dirty="0">
                <a:solidFill>
                  <a:schemeClr val="tx1"/>
                </a:solidFill>
                <a:latin typeface="+mn-lt"/>
                <a:ea typeface="+mn-ea"/>
                <a:cs typeface="+mn-cs"/>
              </a:rPr>
              <a:t>memory. The tables themselves must be accessible by the OS and therefore are subject</a:t>
            </a:r>
          </a:p>
          <a:p>
            <a:r>
              <a:rPr lang="en-US" sz="1200" kern="1200" baseline="0" dirty="0">
                <a:solidFill>
                  <a:schemeClr val="tx1"/>
                </a:solidFill>
                <a:latin typeface="+mn-lt"/>
                <a:ea typeface="+mn-ea"/>
                <a:cs typeface="+mn-cs"/>
              </a:rPr>
              <a:t>to memory management.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Second, how does the OS know to create the tables in the first place? Clearly,</a:t>
            </a:r>
          </a:p>
          <a:p>
            <a:r>
              <a:rPr lang="en-US" sz="1200" kern="1200" baseline="0" dirty="0">
                <a:solidFill>
                  <a:schemeClr val="tx1"/>
                </a:solidFill>
                <a:latin typeface="+mn-lt"/>
                <a:ea typeface="+mn-ea"/>
                <a:cs typeface="+mn-cs"/>
              </a:rPr>
              <a:t>the OS must have some knowledge of the basic environment, such as how much main</a:t>
            </a:r>
          </a:p>
          <a:p>
            <a:r>
              <a:rPr lang="en-US" sz="1200" kern="1200" baseline="0" dirty="0">
                <a:solidFill>
                  <a:schemeClr val="tx1"/>
                </a:solidFill>
                <a:latin typeface="+mn-lt"/>
                <a:ea typeface="+mn-ea"/>
                <a:cs typeface="+mn-cs"/>
              </a:rPr>
              <a:t>memory exists, what are the I/O devices and what are their identifiers, and so on. This</a:t>
            </a:r>
          </a:p>
          <a:p>
            <a:r>
              <a:rPr lang="en-US" sz="1200" kern="1200" baseline="0" dirty="0">
                <a:solidFill>
                  <a:schemeClr val="tx1"/>
                </a:solidFill>
                <a:latin typeface="+mn-lt"/>
                <a:ea typeface="+mn-ea"/>
                <a:cs typeface="+mn-cs"/>
              </a:rPr>
              <a:t>is an issue of configuration. That is, when the OS is initialized, it must have access to</a:t>
            </a:r>
          </a:p>
          <a:p>
            <a:r>
              <a:rPr lang="en-US" sz="1200" kern="1200" baseline="0" dirty="0">
                <a:solidFill>
                  <a:schemeClr val="tx1"/>
                </a:solidFill>
                <a:latin typeface="+mn-lt"/>
                <a:ea typeface="+mn-ea"/>
                <a:cs typeface="+mn-cs"/>
              </a:rPr>
              <a:t>some configuration data that define the basic environment, and these data must be</a:t>
            </a:r>
          </a:p>
          <a:p>
            <a:r>
              <a:rPr lang="en-US" sz="1200" kern="1200" baseline="0" dirty="0">
                <a:solidFill>
                  <a:schemeClr val="tx1"/>
                </a:solidFill>
                <a:latin typeface="+mn-lt"/>
                <a:ea typeface="+mn-ea"/>
                <a:cs typeface="+mn-cs"/>
              </a:rPr>
              <a:t>created outside the OS, with human assistance or by some auto configuration software.</a:t>
            </a:r>
            <a:endParaRPr lang="en-NZ"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30</a:t>
            </a:fld>
            <a:endParaRPr lang="en-US" dirty="0"/>
          </a:p>
        </p:txBody>
      </p:sp>
    </p:spTree>
    <p:extLst>
      <p:ext uri="{BB962C8B-B14F-4D97-AF65-F5344CB8AC3E}">
        <p14:creationId xmlns:p14="http://schemas.microsoft.com/office/powerpoint/2010/main" val="31858415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Consider what the OS must know if it is to manage and control a process. First, it</a:t>
            </a:r>
          </a:p>
          <a:p>
            <a:r>
              <a:rPr lang="en-US" sz="1200" kern="1200" baseline="0" dirty="0">
                <a:solidFill>
                  <a:schemeClr val="tx1"/>
                </a:solidFill>
                <a:latin typeface="+mn-lt"/>
                <a:ea typeface="+mn-ea"/>
                <a:cs typeface="+mn-cs"/>
              </a:rPr>
              <a:t>must know where the process is located; second, it must know the attributes of the</a:t>
            </a:r>
          </a:p>
          <a:p>
            <a:r>
              <a:rPr lang="en-US" sz="1200" kern="1200" baseline="0" dirty="0">
                <a:solidFill>
                  <a:schemeClr val="tx1"/>
                </a:solidFill>
                <a:latin typeface="+mn-lt"/>
                <a:ea typeface="+mn-ea"/>
                <a:cs typeface="+mn-cs"/>
              </a:rPr>
              <a:t>process that are necessary for its management (e.g., process ID and process state).</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31</a:t>
            </a:fld>
            <a:endParaRPr lang="en-US" dirty="0"/>
          </a:p>
        </p:txBody>
      </p:sp>
    </p:spTree>
    <p:extLst>
      <p:ext uri="{BB962C8B-B14F-4D97-AF65-F5344CB8AC3E}">
        <p14:creationId xmlns:p14="http://schemas.microsoft.com/office/powerpoint/2010/main" val="35207416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kern="1200" baseline="0" dirty="0">
                <a:solidFill>
                  <a:schemeClr val="tx1"/>
                </a:solidFill>
                <a:latin typeface="+mn-lt"/>
                <a:ea typeface="+mn-ea"/>
                <a:cs typeface="+mn-cs"/>
              </a:rPr>
              <a:t>Before we can deal with the questions of where a process is</a:t>
            </a:r>
          </a:p>
          <a:p>
            <a:r>
              <a:rPr lang="en-US" sz="1200" kern="1200" baseline="0" dirty="0">
                <a:solidFill>
                  <a:schemeClr val="tx1"/>
                </a:solidFill>
                <a:latin typeface="+mn-lt"/>
                <a:ea typeface="+mn-ea"/>
                <a:cs typeface="+mn-cs"/>
              </a:rPr>
              <a:t>located or what its attributes are, we need to address an even more fundamental</a:t>
            </a:r>
          </a:p>
          <a:p>
            <a:r>
              <a:rPr lang="en-US" sz="1200" kern="1200" baseline="0" dirty="0">
                <a:solidFill>
                  <a:schemeClr val="tx1"/>
                </a:solidFill>
                <a:latin typeface="+mn-lt"/>
                <a:ea typeface="+mn-ea"/>
                <a:cs typeface="+mn-cs"/>
              </a:rPr>
              <a:t>question: What is the physical manifestation of a process? At a minimum, a process</a:t>
            </a:r>
          </a:p>
          <a:p>
            <a:r>
              <a:rPr lang="en-US" sz="1200" kern="1200" baseline="0" dirty="0">
                <a:solidFill>
                  <a:schemeClr val="tx1"/>
                </a:solidFill>
                <a:latin typeface="+mn-lt"/>
                <a:ea typeface="+mn-ea"/>
                <a:cs typeface="+mn-cs"/>
              </a:rPr>
              <a:t>must include a program or set of programs to be executed. Associated with these</a:t>
            </a:r>
          </a:p>
          <a:p>
            <a:r>
              <a:rPr lang="en-US" sz="1200" kern="1200" baseline="0" dirty="0">
                <a:solidFill>
                  <a:schemeClr val="tx1"/>
                </a:solidFill>
                <a:latin typeface="+mn-lt"/>
                <a:ea typeface="+mn-ea"/>
                <a:cs typeface="+mn-cs"/>
              </a:rPr>
              <a:t>programs is a set of data locations for local and global variables and any defined</a:t>
            </a:r>
          </a:p>
          <a:p>
            <a:r>
              <a:rPr lang="en-US" sz="1200" kern="1200" baseline="0" dirty="0">
                <a:solidFill>
                  <a:schemeClr val="tx1"/>
                </a:solidFill>
                <a:latin typeface="+mn-lt"/>
                <a:ea typeface="+mn-ea"/>
                <a:cs typeface="+mn-cs"/>
              </a:rPr>
              <a:t>constants. Thus, a process will consist of at least sufficient memory to hold the</a:t>
            </a:r>
          </a:p>
          <a:p>
            <a:r>
              <a:rPr lang="en-US" sz="1200" kern="1200" baseline="0" dirty="0">
                <a:solidFill>
                  <a:schemeClr val="tx1"/>
                </a:solidFill>
                <a:latin typeface="+mn-lt"/>
                <a:ea typeface="+mn-ea"/>
                <a:cs typeface="+mn-cs"/>
              </a:rPr>
              <a:t>programs and data of that process. In addition, the execution of a program typically</a:t>
            </a:r>
          </a:p>
          <a:p>
            <a:r>
              <a:rPr lang="en-US" sz="1200" kern="1200" baseline="0" dirty="0">
                <a:solidFill>
                  <a:schemeClr val="tx1"/>
                </a:solidFill>
                <a:latin typeface="+mn-lt"/>
                <a:ea typeface="+mn-ea"/>
                <a:cs typeface="+mn-cs"/>
              </a:rPr>
              <a:t>involves a stack (see Appendix P) that is used to keep track of procedure calls and</a:t>
            </a:r>
          </a:p>
          <a:p>
            <a:r>
              <a:rPr lang="en-US" sz="1200" kern="1200" baseline="0" dirty="0">
                <a:solidFill>
                  <a:schemeClr val="tx1"/>
                </a:solidFill>
                <a:latin typeface="+mn-lt"/>
                <a:ea typeface="+mn-ea"/>
                <a:cs typeface="+mn-cs"/>
              </a:rPr>
              <a:t>parameter passing between procedures. Finally, each process has associated with it</a:t>
            </a:r>
          </a:p>
          <a:p>
            <a:r>
              <a:rPr lang="en-US" sz="1200" kern="1200" baseline="0" dirty="0">
                <a:solidFill>
                  <a:schemeClr val="tx1"/>
                </a:solidFill>
                <a:latin typeface="+mn-lt"/>
                <a:ea typeface="+mn-ea"/>
                <a:cs typeface="+mn-cs"/>
              </a:rPr>
              <a:t>a number of attributes that are used by the OS for process control. </a:t>
            </a:r>
          </a:p>
          <a:p>
            <a:endParaRPr lang="en-US" sz="1200" b="1"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location of a process image will depend on the memory management</a:t>
            </a:r>
          </a:p>
          <a:p>
            <a:r>
              <a:rPr lang="en-US" sz="1200" kern="1200" baseline="0" dirty="0">
                <a:solidFill>
                  <a:schemeClr val="tx1"/>
                </a:solidFill>
                <a:latin typeface="+mn-lt"/>
                <a:ea typeface="+mn-ea"/>
                <a:cs typeface="+mn-cs"/>
              </a:rPr>
              <a:t>scheme being used. In the simplest case, the process image is maintained as a</a:t>
            </a:r>
          </a:p>
          <a:p>
            <a:r>
              <a:rPr lang="en-US" sz="1200" kern="1200" baseline="0" dirty="0">
                <a:solidFill>
                  <a:schemeClr val="tx1"/>
                </a:solidFill>
                <a:latin typeface="+mn-lt"/>
                <a:ea typeface="+mn-ea"/>
                <a:cs typeface="+mn-cs"/>
              </a:rPr>
              <a:t>contiguous, or continuous, block of memory. This block is maintained in secondary</a:t>
            </a:r>
          </a:p>
          <a:p>
            <a:r>
              <a:rPr lang="en-US" sz="1200" kern="1200" baseline="0" dirty="0">
                <a:solidFill>
                  <a:schemeClr val="tx1"/>
                </a:solidFill>
                <a:latin typeface="+mn-lt"/>
                <a:ea typeface="+mn-ea"/>
                <a:cs typeface="+mn-cs"/>
              </a:rPr>
              <a:t>memory, usually disk. So that the OS can manage the process, at least a small portion</a:t>
            </a:r>
          </a:p>
          <a:p>
            <a:r>
              <a:rPr lang="en-US" sz="1200" kern="1200" baseline="0" dirty="0">
                <a:solidFill>
                  <a:schemeClr val="tx1"/>
                </a:solidFill>
                <a:latin typeface="+mn-lt"/>
                <a:ea typeface="+mn-ea"/>
                <a:cs typeface="+mn-cs"/>
              </a:rPr>
              <a:t>of its image must be maintained in main memory. To execute the process, the entire</a:t>
            </a:r>
          </a:p>
          <a:p>
            <a:r>
              <a:rPr lang="en-US" sz="1200" kern="1200" baseline="0" dirty="0">
                <a:solidFill>
                  <a:schemeClr val="tx1"/>
                </a:solidFill>
                <a:latin typeface="+mn-lt"/>
                <a:ea typeface="+mn-ea"/>
                <a:cs typeface="+mn-cs"/>
              </a:rPr>
              <a:t>process image must be loaded into main memory or at least virtual memory. Thus,</a:t>
            </a:r>
          </a:p>
          <a:p>
            <a:r>
              <a:rPr lang="en-US" sz="1200" kern="1200" baseline="0" dirty="0">
                <a:solidFill>
                  <a:schemeClr val="tx1"/>
                </a:solidFill>
                <a:latin typeface="+mn-lt"/>
                <a:ea typeface="+mn-ea"/>
                <a:cs typeface="+mn-cs"/>
              </a:rPr>
              <a:t>the OS needs to know the location of each process on disk and, for each such process</a:t>
            </a:r>
          </a:p>
          <a:p>
            <a:r>
              <a:rPr lang="en-US" sz="1200" kern="1200" baseline="0" dirty="0">
                <a:solidFill>
                  <a:schemeClr val="tx1"/>
                </a:solidFill>
                <a:latin typeface="+mn-lt"/>
                <a:ea typeface="+mn-ea"/>
                <a:cs typeface="+mn-cs"/>
              </a:rPr>
              <a:t>that is in main memory, the location of that process in main memory. We saw</a:t>
            </a:r>
          </a:p>
          <a:p>
            <a:r>
              <a:rPr lang="en-US" sz="1200" kern="1200" baseline="0" dirty="0">
                <a:solidFill>
                  <a:schemeClr val="tx1"/>
                </a:solidFill>
                <a:latin typeface="+mn-lt"/>
                <a:ea typeface="+mn-ea"/>
                <a:cs typeface="+mn-cs"/>
              </a:rPr>
              <a:t>a slightly more complex variation on this scheme with the CTSS OS, in Chapter 2 .</a:t>
            </a:r>
          </a:p>
          <a:p>
            <a:r>
              <a:rPr lang="en-US" sz="1200" kern="1200" baseline="0" dirty="0">
                <a:solidFill>
                  <a:schemeClr val="tx1"/>
                </a:solidFill>
                <a:latin typeface="+mn-lt"/>
                <a:ea typeface="+mn-ea"/>
                <a:cs typeface="+mn-cs"/>
              </a:rPr>
              <a:t>With CTSS, when a process is swapped out, part of the process image may remain in</a:t>
            </a:r>
          </a:p>
          <a:p>
            <a:r>
              <a:rPr lang="en-US" sz="1200" kern="1200" baseline="0" dirty="0">
                <a:solidFill>
                  <a:schemeClr val="tx1"/>
                </a:solidFill>
                <a:latin typeface="+mn-lt"/>
                <a:ea typeface="+mn-ea"/>
                <a:cs typeface="+mn-cs"/>
              </a:rPr>
              <a:t>main memory. Thus, the OS must keep track of which portions of the image of each</a:t>
            </a:r>
          </a:p>
          <a:p>
            <a:r>
              <a:rPr lang="en-US" sz="1200" kern="1200" baseline="0" dirty="0">
                <a:solidFill>
                  <a:schemeClr val="tx1"/>
                </a:solidFill>
                <a:latin typeface="+mn-lt"/>
                <a:ea typeface="+mn-ea"/>
                <a:cs typeface="+mn-cs"/>
              </a:rPr>
              <a:t>process are still in main memory.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Modern operating systems presume paging hardware that allows noncontiguous</a:t>
            </a:r>
          </a:p>
          <a:p>
            <a:r>
              <a:rPr lang="en-US" sz="1200" kern="1200" baseline="0" dirty="0">
                <a:solidFill>
                  <a:schemeClr val="tx1"/>
                </a:solidFill>
                <a:latin typeface="+mn-lt"/>
                <a:ea typeface="+mn-ea"/>
                <a:cs typeface="+mn-cs"/>
              </a:rPr>
              <a:t>physical memory to support partially resident processes.  At any given time, a</a:t>
            </a:r>
          </a:p>
          <a:p>
            <a:r>
              <a:rPr lang="en-US" sz="1200" kern="1200" baseline="0" dirty="0">
                <a:solidFill>
                  <a:schemeClr val="tx1"/>
                </a:solidFill>
                <a:latin typeface="+mn-lt"/>
                <a:ea typeface="+mn-ea"/>
                <a:cs typeface="+mn-cs"/>
              </a:rPr>
              <a:t>portion of a process image may be in main memory, with the remainder in secondary</a:t>
            </a:r>
          </a:p>
          <a:p>
            <a:r>
              <a:rPr lang="en-US" sz="1200" kern="1200" baseline="0" dirty="0">
                <a:solidFill>
                  <a:schemeClr val="tx1"/>
                </a:solidFill>
                <a:latin typeface="+mn-lt"/>
                <a:ea typeface="+mn-ea"/>
                <a:cs typeface="+mn-cs"/>
              </a:rPr>
              <a:t>memory.  Therefore, process tables maintained by the OS must show the location</a:t>
            </a:r>
          </a:p>
          <a:p>
            <a:r>
              <a:rPr lang="en-US" sz="1200" kern="1200" baseline="0" dirty="0">
                <a:solidFill>
                  <a:schemeClr val="tx1"/>
                </a:solidFill>
                <a:latin typeface="+mn-lt"/>
                <a:ea typeface="+mn-ea"/>
                <a:cs typeface="+mn-cs"/>
              </a:rPr>
              <a:t>of each page of each process image.</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32</a:t>
            </a:fld>
            <a:endParaRPr lang="en-US" dirty="0"/>
          </a:p>
        </p:txBody>
      </p:sp>
    </p:spTree>
    <p:extLst>
      <p:ext uri="{BB962C8B-B14F-4D97-AF65-F5344CB8AC3E}">
        <p14:creationId xmlns:p14="http://schemas.microsoft.com/office/powerpoint/2010/main" val="31813720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Typically, the collection of attributes is referred to as a </a:t>
            </a:r>
            <a:r>
              <a:rPr lang="en-US" sz="1200" i="1" kern="1200" baseline="0" dirty="0">
                <a:solidFill>
                  <a:schemeClr val="tx1"/>
                </a:solidFill>
                <a:latin typeface="+mn-lt"/>
                <a:ea typeface="+mn-ea"/>
                <a:cs typeface="+mn-cs"/>
              </a:rPr>
              <a:t>process control block.  We can refer to this</a:t>
            </a:r>
          </a:p>
          <a:p>
            <a:r>
              <a:rPr lang="en-US" sz="1200" b="0" kern="1200" baseline="0" dirty="0">
                <a:solidFill>
                  <a:schemeClr val="tx1"/>
                </a:solidFill>
                <a:latin typeface="+mn-lt"/>
                <a:ea typeface="+mn-ea"/>
                <a:cs typeface="+mn-cs"/>
              </a:rPr>
              <a:t>collection of program, data, stack, and attributes as the process image ( Table 3.4 ).</a:t>
            </a:r>
            <a:endParaRPr lang="en-US" b="0"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33</a:t>
            </a:fld>
            <a:endParaRPr lang="en-US" dirty="0"/>
          </a:p>
        </p:txBody>
      </p:sp>
    </p:spTree>
    <p:extLst>
      <p:ext uri="{BB962C8B-B14F-4D97-AF65-F5344CB8AC3E}">
        <p14:creationId xmlns:p14="http://schemas.microsoft.com/office/powerpoint/2010/main" val="24926979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a:solidFill>
                  <a:schemeClr val="tx1"/>
                </a:solidFill>
                <a:latin typeface="+mn-lt"/>
                <a:ea typeface="+mn-ea"/>
                <a:cs typeface="+mn-cs"/>
              </a:rPr>
              <a:t>A sophisticated multiprogramming system requires a great</a:t>
            </a:r>
          </a:p>
          <a:p>
            <a:r>
              <a:rPr lang="en-US" sz="1200" kern="1200" baseline="0" dirty="0">
                <a:solidFill>
                  <a:schemeClr val="tx1"/>
                </a:solidFill>
                <a:latin typeface="+mn-lt"/>
                <a:ea typeface="+mn-ea"/>
                <a:cs typeface="+mn-cs"/>
              </a:rPr>
              <a:t>deal of information about each process. As was explained, this information can be</a:t>
            </a:r>
          </a:p>
          <a:p>
            <a:r>
              <a:rPr lang="en-US" sz="1200" kern="1200" baseline="0" dirty="0">
                <a:solidFill>
                  <a:schemeClr val="tx1"/>
                </a:solidFill>
                <a:latin typeface="+mn-lt"/>
                <a:ea typeface="+mn-ea"/>
                <a:cs typeface="+mn-cs"/>
              </a:rPr>
              <a:t>considered to reside in a process control block. Different systems will organize this</a:t>
            </a:r>
          </a:p>
          <a:p>
            <a:r>
              <a:rPr lang="en-US" sz="1200" kern="1200" baseline="0" dirty="0">
                <a:solidFill>
                  <a:schemeClr val="tx1"/>
                </a:solidFill>
                <a:latin typeface="+mn-lt"/>
                <a:ea typeface="+mn-ea"/>
                <a:cs typeface="+mn-cs"/>
              </a:rPr>
              <a:t>information in different ways, and several examples of this appear at the end of this</a:t>
            </a:r>
          </a:p>
          <a:p>
            <a:r>
              <a:rPr lang="en-US" sz="1200" kern="1200" baseline="0" dirty="0">
                <a:solidFill>
                  <a:schemeClr val="tx1"/>
                </a:solidFill>
                <a:latin typeface="+mn-lt"/>
                <a:ea typeface="+mn-ea"/>
                <a:cs typeface="+mn-cs"/>
              </a:rPr>
              <a:t>chapter and the next. For now, let us simply explore the type of information that</a:t>
            </a:r>
          </a:p>
          <a:p>
            <a:r>
              <a:rPr lang="en-US" sz="1200" kern="1200" baseline="0" dirty="0">
                <a:solidFill>
                  <a:schemeClr val="tx1"/>
                </a:solidFill>
                <a:latin typeface="+mn-lt"/>
                <a:ea typeface="+mn-ea"/>
                <a:cs typeface="+mn-cs"/>
              </a:rPr>
              <a:t>might be of use to an OS without considering in any detail how that information is</a:t>
            </a:r>
          </a:p>
          <a:p>
            <a:r>
              <a:rPr lang="en-US" sz="1200" kern="1200" baseline="0" dirty="0">
                <a:solidFill>
                  <a:schemeClr val="tx1"/>
                </a:solidFill>
                <a:latin typeface="+mn-lt"/>
                <a:ea typeface="+mn-ea"/>
                <a:cs typeface="+mn-cs"/>
              </a:rPr>
              <a:t>organized.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Table 3.5 lists the typical categories of information required by the OS for each</a:t>
            </a:r>
          </a:p>
          <a:p>
            <a:r>
              <a:rPr lang="en-US" sz="1200" kern="1200" baseline="0" dirty="0">
                <a:solidFill>
                  <a:schemeClr val="tx1"/>
                </a:solidFill>
                <a:latin typeface="+mn-lt"/>
                <a:ea typeface="+mn-ea"/>
                <a:cs typeface="+mn-cs"/>
              </a:rPr>
              <a:t>process. You may be somewhat surprised at the quantity of information required.</a:t>
            </a:r>
          </a:p>
          <a:p>
            <a:r>
              <a:rPr lang="en-US" sz="1200" kern="1200" baseline="0" dirty="0">
                <a:solidFill>
                  <a:schemeClr val="tx1"/>
                </a:solidFill>
                <a:latin typeface="+mn-lt"/>
                <a:ea typeface="+mn-ea"/>
                <a:cs typeface="+mn-cs"/>
              </a:rPr>
              <a:t>As you gain a greater appreciation of the responsibilities of the OS, this list should</a:t>
            </a:r>
          </a:p>
          <a:p>
            <a:r>
              <a:rPr lang="en-US" sz="1200" kern="1200" baseline="0" dirty="0">
                <a:solidFill>
                  <a:schemeClr val="tx1"/>
                </a:solidFill>
                <a:latin typeface="+mn-lt"/>
                <a:ea typeface="+mn-ea"/>
                <a:cs typeface="+mn-cs"/>
              </a:rPr>
              <a:t>appear more reasonable.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We can group the process control block information into three general</a:t>
            </a:r>
          </a:p>
          <a:p>
            <a:r>
              <a:rPr lang="en-US" sz="1200" kern="1200" baseline="0" dirty="0">
                <a:solidFill>
                  <a:schemeClr val="tx1"/>
                </a:solidFill>
                <a:latin typeface="+mn-lt"/>
                <a:ea typeface="+mn-ea"/>
                <a:cs typeface="+mn-cs"/>
              </a:rPr>
              <a:t>categories:</a:t>
            </a:r>
          </a:p>
          <a:p>
            <a:r>
              <a:rPr lang="en-US" sz="1200" kern="1200" baseline="0" dirty="0">
                <a:solidFill>
                  <a:schemeClr val="tx1"/>
                </a:solidFill>
                <a:latin typeface="+mn-lt"/>
                <a:ea typeface="+mn-ea"/>
                <a:cs typeface="+mn-cs"/>
              </a:rPr>
              <a:t>• Process identification</a:t>
            </a:r>
          </a:p>
          <a:p>
            <a:r>
              <a:rPr lang="en-US" sz="1200" kern="1200" baseline="0" dirty="0">
                <a:solidFill>
                  <a:schemeClr val="tx1"/>
                </a:solidFill>
                <a:latin typeface="+mn-lt"/>
                <a:ea typeface="+mn-ea"/>
                <a:cs typeface="+mn-cs"/>
              </a:rPr>
              <a:t>• Processor state information</a:t>
            </a:r>
          </a:p>
          <a:p>
            <a:r>
              <a:rPr lang="en-US" sz="1200" kern="1200" baseline="0" dirty="0">
                <a:solidFill>
                  <a:schemeClr val="tx1"/>
                </a:solidFill>
                <a:latin typeface="+mn-lt"/>
                <a:ea typeface="+mn-ea"/>
                <a:cs typeface="+mn-cs"/>
              </a:rPr>
              <a:t>• Process control information</a:t>
            </a:r>
            <a:endParaRPr lang="en-NZ"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34</a:t>
            </a:fld>
            <a:endParaRPr lang="en-US" dirty="0"/>
          </a:p>
        </p:txBody>
      </p:sp>
    </p:spTree>
    <p:extLst>
      <p:ext uri="{BB962C8B-B14F-4D97-AF65-F5344CB8AC3E}">
        <p14:creationId xmlns:p14="http://schemas.microsoft.com/office/powerpoint/2010/main" val="69349760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a:solidFill>
                  <a:schemeClr val="tx1"/>
                </a:solidFill>
                <a:latin typeface="+mn-lt"/>
                <a:ea typeface="+mn-ea"/>
                <a:cs typeface="+mn-cs"/>
              </a:rPr>
              <a:t>A sophisticated multiprogramming system requires a great</a:t>
            </a:r>
          </a:p>
          <a:p>
            <a:r>
              <a:rPr lang="en-US" sz="1200" kern="1200" baseline="0" dirty="0">
                <a:solidFill>
                  <a:schemeClr val="tx1"/>
                </a:solidFill>
                <a:latin typeface="+mn-lt"/>
                <a:ea typeface="+mn-ea"/>
                <a:cs typeface="+mn-cs"/>
              </a:rPr>
              <a:t>deal of information about each process. As was explained, this information can be</a:t>
            </a:r>
          </a:p>
          <a:p>
            <a:r>
              <a:rPr lang="en-US" sz="1200" kern="1200" baseline="0" dirty="0">
                <a:solidFill>
                  <a:schemeClr val="tx1"/>
                </a:solidFill>
                <a:latin typeface="+mn-lt"/>
                <a:ea typeface="+mn-ea"/>
                <a:cs typeface="+mn-cs"/>
              </a:rPr>
              <a:t>considered to reside in a process control block. Different systems will organize this</a:t>
            </a:r>
          </a:p>
          <a:p>
            <a:r>
              <a:rPr lang="en-US" sz="1200" kern="1200" baseline="0" dirty="0">
                <a:solidFill>
                  <a:schemeClr val="tx1"/>
                </a:solidFill>
                <a:latin typeface="+mn-lt"/>
                <a:ea typeface="+mn-ea"/>
                <a:cs typeface="+mn-cs"/>
              </a:rPr>
              <a:t>information in different ways, and several examples of this appear at the end of this</a:t>
            </a:r>
          </a:p>
          <a:p>
            <a:r>
              <a:rPr lang="en-US" sz="1200" kern="1200" baseline="0" dirty="0">
                <a:solidFill>
                  <a:schemeClr val="tx1"/>
                </a:solidFill>
                <a:latin typeface="+mn-lt"/>
                <a:ea typeface="+mn-ea"/>
                <a:cs typeface="+mn-cs"/>
              </a:rPr>
              <a:t>chapter and the next. For now, let us simply explore the type of information that</a:t>
            </a:r>
          </a:p>
          <a:p>
            <a:r>
              <a:rPr lang="en-US" sz="1200" kern="1200" baseline="0" dirty="0">
                <a:solidFill>
                  <a:schemeClr val="tx1"/>
                </a:solidFill>
                <a:latin typeface="+mn-lt"/>
                <a:ea typeface="+mn-ea"/>
                <a:cs typeface="+mn-cs"/>
              </a:rPr>
              <a:t>might be of use to an OS without considering in any detail how that information is</a:t>
            </a:r>
          </a:p>
          <a:p>
            <a:r>
              <a:rPr lang="en-US" sz="1200" kern="1200" baseline="0" dirty="0">
                <a:solidFill>
                  <a:schemeClr val="tx1"/>
                </a:solidFill>
                <a:latin typeface="+mn-lt"/>
                <a:ea typeface="+mn-ea"/>
                <a:cs typeface="+mn-cs"/>
              </a:rPr>
              <a:t>organized.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Table 3.5 lists the typical categories of information required by the OS for each</a:t>
            </a:r>
          </a:p>
          <a:p>
            <a:r>
              <a:rPr lang="en-US" sz="1200" kern="1200" baseline="0" dirty="0">
                <a:solidFill>
                  <a:schemeClr val="tx1"/>
                </a:solidFill>
                <a:latin typeface="+mn-lt"/>
                <a:ea typeface="+mn-ea"/>
                <a:cs typeface="+mn-cs"/>
              </a:rPr>
              <a:t>process. You may be somewhat surprised at the quantity of information required.</a:t>
            </a:r>
          </a:p>
          <a:p>
            <a:r>
              <a:rPr lang="en-US" sz="1200" kern="1200" baseline="0" dirty="0">
                <a:solidFill>
                  <a:schemeClr val="tx1"/>
                </a:solidFill>
                <a:latin typeface="+mn-lt"/>
                <a:ea typeface="+mn-ea"/>
                <a:cs typeface="+mn-cs"/>
              </a:rPr>
              <a:t>As you gain a greater appreciation of the responsibilities of the OS, this list should</a:t>
            </a:r>
          </a:p>
          <a:p>
            <a:r>
              <a:rPr lang="en-US" sz="1200" kern="1200" baseline="0" dirty="0">
                <a:solidFill>
                  <a:schemeClr val="tx1"/>
                </a:solidFill>
                <a:latin typeface="+mn-lt"/>
                <a:ea typeface="+mn-ea"/>
                <a:cs typeface="+mn-cs"/>
              </a:rPr>
              <a:t>appear more reasonable.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We can group the process control block information into three general</a:t>
            </a:r>
          </a:p>
          <a:p>
            <a:r>
              <a:rPr lang="en-US" sz="1200" kern="1200" baseline="0" dirty="0">
                <a:solidFill>
                  <a:schemeClr val="tx1"/>
                </a:solidFill>
                <a:latin typeface="+mn-lt"/>
                <a:ea typeface="+mn-ea"/>
                <a:cs typeface="+mn-cs"/>
              </a:rPr>
              <a:t>categories:</a:t>
            </a:r>
          </a:p>
          <a:p>
            <a:r>
              <a:rPr lang="en-US" sz="1200" kern="1200" baseline="0" dirty="0">
                <a:solidFill>
                  <a:schemeClr val="tx1"/>
                </a:solidFill>
                <a:latin typeface="+mn-lt"/>
                <a:ea typeface="+mn-ea"/>
                <a:cs typeface="+mn-cs"/>
              </a:rPr>
              <a:t>• Process identification</a:t>
            </a:r>
          </a:p>
          <a:p>
            <a:r>
              <a:rPr lang="en-US" sz="1200" kern="1200" baseline="0" dirty="0">
                <a:solidFill>
                  <a:schemeClr val="tx1"/>
                </a:solidFill>
                <a:latin typeface="+mn-lt"/>
                <a:ea typeface="+mn-ea"/>
                <a:cs typeface="+mn-cs"/>
              </a:rPr>
              <a:t>• Processor state information</a:t>
            </a:r>
          </a:p>
          <a:p>
            <a:r>
              <a:rPr lang="en-US" sz="1200" kern="1200" baseline="0" dirty="0">
                <a:solidFill>
                  <a:schemeClr val="tx1"/>
                </a:solidFill>
                <a:latin typeface="+mn-lt"/>
                <a:ea typeface="+mn-ea"/>
                <a:cs typeface="+mn-cs"/>
              </a:rPr>
              <a:t>• Process control information</a:t>
            </a:r>
            <a:endParaRPr lang="en-NZ"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35</a:t>
            </a:fld>
            <a:endParaRPr lang="en-US" dirty="0"/>
          </a:p>
        </p:txBody>
      </p:sp>
    </p:spTree>
    <p:extLst>
      <p:ext uri="{BB962C8B-B14F-4D97-AF65-F5344CB8AC3E}">
        <p14:creationId xmlns:p14="http://schemas.microsoft.com/office/powerpoint/2010/main" val="21098544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With respect to </a:t>
            </a:r>
            <a:r>
              <a:rPr lang="en-US" sz="1200" b="1" kern="1200" baseline="0" dirty="0">
                <a:solidFill>
                  <a:schemeClr val="tx1"/>
                </a:solidFill>
                <a:latin typeface="+mn-lt"/>
                <a:ea typeface="+mn-ea"/>
                <a:cs typeface="+mn-cs"/>
              </a:rPr>
              <a:t>process identification , </a:t>
            </a:r>
            <a:r>
              <a:rPr lang="en-US" sz="1200" b="0" kern="1200" baseline="0" dirty="0">
                <a:solidFill>
                  <a:schemeClr val="tx1"/>
                </a:solidFill>
                <a:latin typeface="+mn-lt"/>
                <a:ea typeface="+mn-ea"/>
                <a:cs typeface="+mn-cs"/>
              </a:rPr>
              <a:t>in virtually all operating systems, each</a:t>
            </a:r>
          </a:p>
          <a:p>
            <a:r>
              <a:rPr lang="en-US" sz="1200" kern="1200" baseline="0" dirty="0">
                <a:solidFill>
                  <a:schemeClr val="tx1"/>
                </a:solidFill>
                <a:latin typeface="+mn-lt"/>
                <a:ea typeface="+mn-ea"/>
                <a:cs typeface="+mn-cs"/>
              </a:rPr>
              <a:t>process is assigned a unique numeric identifier, which may simply be an index into</a:t>
            </a:r>
          </a:p>
          <a:p>
            <a:r>
              <a:rPr lang="en-US" sz="1200" kern="1200" baseline="0" dirty="0">
                <a:solidFill>
                  <a:schemeClr val="tx1"/>
                </a:solidFill>
                <a:latin typeface="+mn-lt"/>
                <a:ea typeface="+mn-ea"/>
                <a:cs typeface="+mn-cs"/>
              </a:rPr>
              <a:t>the primary process table ( Figure 3.11 ); otherwise there must be a mapping that</a:t>
            </a:r>
          </a:p>
          <a:p>
            <a:r>
              <a:rPr lang="en-US" sz="1200" kern="1200" baseline="0" dirty="0">
                <a:solidFill>
                  <a:schemeClr val="tx1"/>
                </a:solidFill>
                <a:latin typeface="+mn-lt"/>
                <a:ea typeface="+mn-ea"/>
                <a:cs typeface="+mn-cs"/>
              </a:rPr>
              <a:t>allows the OS to locate the appropriate tables based on the process identifier. This</a:t>
            </a:r>
          </a:p>
          <a:p>
            <a:r>
              <a:rPr lang="en-US" sz="1200" kern="1200" baseline="0" dirty="0">
                <a:solidFill>
                  <a:schemeClr val="tx1"/>
                </a:solidFill>
                <a:latin typeface="+mn-lt"/>
                <a:ea typeface="+mn-ea"/>
                <a:cs typeface="+mn-cs"/>
              </a:rPr>
              <a:t>identifier is useful in several ways. Many of the other tables controlled by the OS</a:t>
            </a:r>
          </a:p>
          <a:p>
            <a:r>
              <a:rPr lang="en-US" sz="1200" kern="1200" baseline="0" dirty="0">
                <a:solidFill>
                  <a:schemeClr val="tx1"/>
                </a:solidFill>
                <a:latin typeface="+mn-lt"/>
                <a:ea typeface="+mn-ea"/>
                <a:cs typeface="+mn-cs"/>
              </a:rPr>
              <a:t>may use process identifiers to cross-reference process tables. For example, the</a:t>
            </a:r>
          </a:p>
          <a:p>
            <a:r>
              <a:rPr lang="en-US" sz="1200" kern="1200" baseline="0" dirty="0">
                <a:solidFill>
                  <a:schemeClr val="tx1"/>
                </a:solidFill>
                <a:latin typeface="+mn-lt"/>
                <a:ea typeface="+mn-ea"/>
                <a:cs typeface="+mn-cs"/>
              </a:rPr>
              <a:t>memory tables may be organized so as to provide a map of main memory with an</a:t>
            </a:r>
          </a:p>
          <a:p>
            <a:r>
              <a:rPr lang="en-US" sz="1200" kern="1200" baseline="0" dirty="0">
                <a:solidFill>
                  <a:schemeClr val="tx1"/>
                </a:solidFill>
                <a:latin typeface="+mn-lt"/>
                <a:ea typeface="+mn-ea"/>
                <a:cs typeface="+mn-cs"/>
              </a:rPr>
              <a:t>indication of which process is assigned to each region. Similar references will appear</a:t>
            </a:r>
          </a:p>
          <a:p>
            <a:r>
              <a:rPr lang="en-US" sz="1200" kern="1200" baseline="0" dirty="0">
                <a:solidFill>
                  <a:schemeClr val="tx1"/>
                </a:solidFill>
                <a:latin typeface="+mn-lt"/>
                <a:ea typeface="+mn-ea"/>
                <a:cs typeface="+mn-cs"/>
              </a:rPr>
              <a:t>in I/O and file tables. When processes communicate with one another, the process</a:t>
            </a:r>
          </a:p>
          <a:p>
            <a:r>
              <a:rPr lang="en-US" sz="1200" kern="1200" baseline="0" dirty="0">
                <a:solidFill>
                  <a:schemeClr val="tx1"/>
                </a:solidFill>
                <a:latin typeface="+mn-lt"/>
                <a:ea typeface="+mn-ea"/>
                <a:cs typeface="+mn-cs"/>
              </a:rPr>
              <a:t>identifier informs the OS of the destination of a particular communication. When</a:t>
            </a:r>
          </a:p>
          <a:p>
            <a:r>
              <a:rPr lang="en-US" sz="1200" kern="1200" baseline="0" dirty="0">
                <a:solidFill>
                  <a:schemeClr val="tx1"/>
                </a:solidFill>
                <a:latin typeface="+mn-lt"/>
                <a:ea typeface="+mn-ea"/>
                <a:cs typeface="+mn-cs"/>
              </a:rPr>
              <a:t>processes are allowed to create other processes, identifiers indicate the parent and</a:t>
            </a:r>
          </a:p>
          <a:p>
            <a:r>
              <a:rPr lang="en-US" sz="1200" kern="1200" baseline="0" dirty="0">
                <a:solidFill>
                  <a:schemeClr val="tx1"/>
                </a:solidFill>
                <a:latin typeface="+mn-lt"/>
                <a:ea typeface="+mn-ea"/>
                <a:cs typeface="+mn-cs"/>
              </a:rPr>
              <a:t>descendents of each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addition to these process identifiers, a process may be assigned a user identifier</a:t>
            </a:r>
          </a:p>
          <a:p>
            <a:r>
              <a:rPr lang="en-US" sz="1200" kern="1200" baseline="0" dirty="0">
                <a:solidFill>
                  <a:schemeClr val="tx1"/>
                </a:solidFill>
                <a:latin typeface="+mn-lt"/>
                <a:ea typeface="+mn-ea"/>
                <a:cs typeface="+mn-cs"/>
              </a:rPr>
              <a:t>that indicates the user responsible for the job.</a:t>
            </a:r>
            <a:endParaRPr lang="en-NZ"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36</a:t>
            </a:fld>
            <a:endParaRPr lang="en-US" dirty="0"/>
          </a:p>
        </p:txBody>
      </p:sp>
    </p:spTree>
    <p:extLst>
      <p:ext uri="{BB962C8B-B14F-4D97-AF65-F5344CB8AC3E}">
        <p14:creationId xmlns:p14="http://schemas.microsoft.com/office/powerpoint/2010/main" val="8430337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kern="1200" baseline="0" dirty="0">
                <a:solidFill>
                  <a:schemeClr val="tx1"/>
                </a:solidFill>
                <a:latin typeface="+mn-lt"/>
                <a:ea typeface="+mn-ea"/>
                <a:cs typeface="+mn-cs"/>
              </a:rPr>
              <a:t>Processor state information </a:t>
            </a:r>
            <a:r>
              <a:rPr lang="en-US" sz="1200" b="0" kern="1200" baseline="0" dirty="0">
                <a:solidFill>
                  <a:schemeClr val="tx1"/>
                </a:solidFill>
                <a:latin typeface="+mn-lt"/>
                <a:ea typeface="+mn-ea"/>
                <a:cs typeface="+mn-cs"/>
              </a:rPr>
              <a:t>consists of the contents of processor registers.</a:t>
            </a:r>
          </a:p>
          <a:p>
            <a:r>
              <a:rPr lang="en-US" sz="1200" kern="1200" baseline="0" dirty="0">
                <a:solidFill>
                  <a:schemeClr val="tx1"/>
                </a:solidFill>
                <a:latin typeface="+mn-lt"/>
                <a:ea typeface="+mn-ea"/>
                <a:cs typeface="+mn-cs"/>
              </a:rPr>
              <a:t>While a process is running, of course, the information is in the registers. When a</a:t>
            </a:r>
          </a:p>
          <a:p>
            <a:r>
              <a:rPr lang="en-US" sz="1200" kern="1200" baseline="0" dirty="0">
                <a:solidFill>
                  <a:schemeClr val="tx1"/>
                </a:solidFill>
                <a:latin typeface="+mn-lt"/>
                <a:ea typeface="+mn-ea"/>
                <a:cs typeface="+mn-cs"/>
              </a:rPr>
              <a:t>process is interrupted, all of this register information must be saved so that it can</a:t>
            </a:r>
          </a:p>
          <a:p>
            <a:r>
              <a:rPr lang="en-US" sz="1200" kern="1200" baseline="0" dirty="0">
                <a:solidFill>
                  <a:schemeClr val="tx1"/>
                </a:solidFill>
                <a:latin typeface="+mn-lt"/>
                <a:ea typeface="+mn-ea"/>
                <a:cs typeface="+mn-cs"/>
              </a:rPr>
              <a:t>be restored when the process resumes execution. The nature and number of registers</a:t>
            </a:r>
          </a:p>
          <a:p>
            <a:r>
              <a:rPr lang="en-US" sz="1200" kern="1200" baseline="0" dirty="0">
                <a:solidFill>
                  <a:schemeClr val="tx1"/>
                </a:solidFill>
                <a:latin typeface="+mn-lt"/>
                <a:ea typeface="+mn-ea"/>
                <a:cs typeface="+mn-cs"/>
              </a:rPr>
              <a:t>involved depend on the design of the processor. Typically, the register set will</a:t>
            </a:r>
          </a:p>
          <a:p>
            <a:r>
              <a:rPr lang="en-US" sz="1200" kern="1200" baseline="0" dirty="0">
                <a:solidFill>
                  <a:schemeClr val="tx1"/>
                </a:solidFill>
                <a:latin typeface="+mn-lt"/>
                <a:ea typeface="+mn-ea"/>
                <a:cs typeface="+mn-cs"/>
              </a:rPr>
              <a:t>include user-visible registers, control and status registers, and stack pointers. These</a:t>
            </a:r>
          </a:p>
          <a:p>
            <a:r>
              <a:rPr lang="en-US" sz="1200" kern="1200" baseline="0" dirty="0">
                <a:solidFill>
                  <a:schemeClr val="tx1"/>
                </a:solidFill>
                <a:latin typeface="+mn-lt"/>
                <a:ea typeface="+mn-ea"/>
                <a:cs typeface="+mn-cs"/>
              </a:rPr>
              <a:t>are described in Chapter 1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Of particular note, all processor designs include a register or set of registers,</a:t>
            </a:r>
          </a:p>
          <a:p>
            <a:r>
              <a:rPr lang="en-US" sz="1200" kern="1200" baseline="0" dirty="0">
                <a:solidFill>
                  <a:schemeClr val="tx1"/>
                </a:solidFill>
                <a:latin typeface="+mn-lt"/>
                <a:ea typeface="+mn-ea"/>
                <a:cs typeface="+mn-cs"/>
              </a:rPr>
              <a:t>often known as the program status word (PSW), that contains status information.</a:t>
            </a:r>
          </a:p>
          <a:p>
            <a:r>
              <a:rPr lang="en-US" sz="1200" kern="1200" baseline="0" dirty="0">
                <a:solidFill>
                  <a:schemeClr val="tx1"/>
                </a:solidFill>
                <a:latin typeface="+mn-lt"/>
                <a:ea typeface="+mn-ea"/>
                <a:cs typeface="+mn-cs"/>
              </a:rPr>
              <a:t>The PSW typically contain condition codes plus other status information. A good</a:t>
            </a:r>
          </a:p>
          <a:p>
            <a:r>
              <a:rPr lang="en-US" sz="1200" kern="1200" baseline="0" dirty="0">
                <a:solidFill>
                  <a:schemeClr val="tx1"/>
                </a:solidFill>
                <a:latin typeface="+mn-lt"/>
                <a:ea typeface="+mn-ea"/>
                <a:cs typeface="+mn-cs"/>
              </a:rPr>
              <a:t>example of a processor status word is that on Intel x86 processors, referred to as the</a:t>
            </a:r>
          </a:p>
          <a:p>
            <a:r>
              <a:rPr lang="en-US" sz="1200" kern="1200" baseline="0" dirty="0">
                <a:solidFill>
                  <a:schemeClr val="tx1"/>
                </a:solidFill>
                <a:latin typeface="+mn-lt"/>
                <a:ea typeface="+mn-ea"/>
                <a:cs typeface="+mn-cs"/>
              </a:rPr>
              <a:t>EFLAGS register (shown in Figure 3.12 and Table 3.6 ). This structure is used by</a:t>
            </a:r>
          </a:p>
          <a:p>
            <a:r>
              <a:rPr lang="en-US" sz="1200" kern="1200" baseline="0" dirty="0">
                <a:solidFill>
                  <a:schemeClr val="tx1"/>
                </a:solidFill>
                <a:latin typeface="+mn-lt"/>
                <a:ea typeface="+mn-ea"/>
                <a:cs typeface="+mn-cs"/>
              </a:rPr>
              <a:t>any OS (including UNIX and Windows) running on an x86 processor.</a:t>
            </a:r>
            <a:endParaRPr lang="en-NZ"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37</a:t>
            </a:fld>
            <a:endParaRPr lang="en-US" dirty="0"/>
          </a:p>
        </p:txBody>
      </p:sp>
    </p:spTree>
    <p:extLst>
      <p:ext uri="{BB962C8B-B14F-4D97-AF65-F5344CB8AC3E}">
        <p14:creationId xmlns:p14="http://schemas.microsoft.com/office/powerpoint/2010/main" val="25276891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Figure 3.12  x86 EFLAGS register.</a:t>
            </a:r>
          </a:p>
          <a:p>
            <a:endParaRPr lang="en-US" dirty="0"/>
          </a:p>
          <a:p>
            <a:r>
              <a:rPr lang="en-US" dirty="0"/>
              <a:t>(See also Table 3.6)  </a:t>
            </a:r>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38</a:t>
            </a:fld>
            <a:endParaRPr lang="en-US" dirty="0"/>
          </a:p>
        </p:txBody>
      </p:sp>
    </p:spTree>
    <p:extLst>
      <p:ext uri="{BB962C8B-B14F-4D97-AF65-F5344CB8AC3E}">
        <p14:creationId xmlns:p14="http://schemas.microsoft.com/office/powerpoint/2010/main" val="16802845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Table 3.6   Pentium EFLAGS Register Bits</a:t>
            </a:r>
            <a:r>
              <a:rPr lang="en-US" dirty="0"/>
              <a:t> </a:t>
            </a:r>
            <a:endParaRPr lang="en-US" b="1"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39</a:t>
            </a:fld>
            <a:endParaRPr lang="en-US" dirty="0"/>
          </a:p>
        </p:txBody>
      </p:sp>
    </p:spTree>
    <p:extLst>
      <p:ext uri="{BB962C8B-B14F-4D97-AF65-F5344CB8AC3E}">
        <p14:creationId xmlns:p14="http://schemas.microsoft.com/office/powerpoint/2010/main" val="87912140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third major category of information in the process control block can be</a:t>
            </a:r>
          </a:p>
          <a:p>
            <a:r>
              <a:rPr lang="en-US" sz="1200" kern="1200" baseline="0" dirty="0">
                <a:solidFill>
                  <a:schemeClr val="tx1"/>
                </a:solidFill>
                <a:latin typeface="+mn-lt"/>
                <a:ea typeface="+mn-ea"/>
                <a:cs typeface="+mn-cs"/>
              </a:rPr>
              <a:t>called, for want of a better name, </a:t>
            </a:r>
            <a:r>
              <a:rPr lang="en-US" sz="1200" b="1" kern="1200" baseline="0" dirty="0">
                <a:solidFill>
                  <a:schemeClr val="tx1"/>
                </a:solidFill>
                <a:latin typeface="+mn-lt"/>
                <a:ea typeface="+mn-ea"/>
                <a:cs typeface="+mn-cs"/>
              </a:rPr>
              <a:t>process control information . This is the additional</a:t>
            </a:r>
          </a:p>
          <a:p>
            <a:r>
              <a:rPr lang="en-US" sz="1200" kern="1200" baseline="0" dirty="0">
                <a:solidFill>
                  <a:schemeClr val="tx1"/>
                </a:solidFill>
                <a:latin typeface="+mn-lt"/>
                <a:ea typeface="+mn-ea"/>
                <a:cs typeface="+mn-cs"/>
              </a:rPr>
              <a:t>information needed by the OS to control and coordinate the various active</a:t>
            </a:r>
          </a:p>
          <a:p>
            <a:r>
              <a:rPr lang="en-US" sz="1200" kern="1200" baseline="0" dirty="0">
                <a:solidFill>
                  <a:schemeClr val="tx1"/>
                </a:solidFill>
                <a:latin typeface="+mn-lt"/>
                <a:ea typeface="+mn-ea"/>
                <a:cs typeface="+mn-cs"/>
              </a:rPr>
              <a:t>processes. The last part of Table 3.5 indicates the scope of this information. As</a:t>
            </a:r>
          </a:p>
          <a:p>
            <a:r>
              <a:rPr lang="en-US" sz="1200" kern="1200" baseline="0" dirty="0">
                <a:solidFill>
                  <a:schemeClr val="tx1"/>
                </a:solidFill>
                <a:latin typeface="+mn-lt"/>
                <a:ea typeface="+mn-ea"/>
                <a:cs typeface="+mn-cs"/>
              </a:rPr>
              <a:t>we examine the details of operating system functionality in succeeding chapters,</a:t>
            </a:r>
          </a:p>
          <a:p>
            <a:r>
              <a:rPr lang="en-US" sz="1200" kern="1200" baseline="0" dirty="0">
                <a:solidFill>
                  <a:schemeClr val="tx1"/>
                </a:solidFill>
                <a:latin typeface="+mn-lt"/>
                <a:ea typeface="+mn-ea"/>
                <a:cs typeface="+mn-cs"/>
              </a:rPr>
              <a:t>the need for the various items on this list should become clear.</a:t>
            </a:r>
            <a:endParaRPr lang="en-NZ"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40</a:t>
            </a:fld>
            <a:endParaRPr lang="en-US" dirty="0"/>
          </a:p>
        </p:txBody>
      </p:sp>
    </p:spTree>
    <p:extLst>
      <p:ext uri="{BB962C8B-B14F-4D97-AF65-F5344CB8AC3E}">
        <p14:creationId xmlns:p14="http://schemas.microsoft.com/office/powerpoint/2010/main" val="358601096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3.13 suggests the structure of process images in virtual memory. Each</a:t>
            </a:r>
          </a:p>
          <a:p>
            <a:r>
              <a:rPr lang="en-US" sz="1200" kern="1200" baseline="0" dirty="0">
                <a:solidFill>
                  <a:schemeClr val="tx1"/>
                </a:solidFill>
                <a:latin typeface="+mn-lt"/>
                <a:ea typeface="+mn-ea"/>
                <a:cs typeface="+mn-cs"/>
              </a:rPr>
              <a:t>process image consists of a process control block, a user stack, the private address</a:t>
            </a:r>
          </a:p>
          <a:p>
            <a:r>
              <a:rPr lang="en-US" sz="1200" kern="1200" baseline="0" dirty="0">
                <a:solidFill>
                  <a:schemeClr val="tx1"/>
                </a:solidFill>
                <a:latin typeface="+mn-lt"/>
                <a:ea typeface="+mn-ea"/>
                <a:cs typeface="+mn-cs"/>
              </a:rPr>
              <a:t>space of the process, and any other address space that the process shares with</a:t>
            </a:r>
          </a:p>
          <a:p>
            <a:r>
              <a:rPr lang="en-US" sz="1200" kern="1200" baseline="0" dirty="0">
                <a:solidFill>
                  <a:schemeClr val="tx1"/>
                </a:solidFill>
                <a:latin typeface="+mn-lt"/>
                <a:ea typeface="+mn-ea"/>
                <a:cs typeface="+mn-cs"/>
              </a:rPr>
              <a:t>other processes. In the figure, each process image appears as a contiguous range</a:t>
            </a:r>
          </a:p>
          <a:p>
            <a:r>
              <a:rPr lang="en-US" sz="1200" kern="1200" baseline="0" dirty="0">
                <a:solidFill>
                  <a:schemeClr val="tx1"/>
                </a:solidFill>
                <a:latin typeface="+mn-lt"/>
                <a:ea typeface="+mn-ea"/>
                <a:cs typeface="+mn-cs"/>
              </a:rPr>
              <a:t>of addresses. In an actual implementation, this may not be the case; it will depend</a:t>
            </a:r>
          </a:p>
          <a:p>
            <a:r>
              <a:rPr lang="en-US" sz="1200" kern="1200" baseline="0" dirty="0">
                <a:solidFill>
                  <a:schemeClr val="tx1"/>
                </a:solidFill>
                <a:latin typeface="+mn-lt"/>
                <a:ea typeface="+mn-ea"/>
                <a:cs typeface="+mn-cs"/>
              </a:rPr>
              <a:t>on the memory management scheme and the way in which control structures are</a:t>
            </a:r>
          </a:p>
          <a:p>
            <a:r>
              <a:rPr lang="en-US" sz="1200" kern="1200" baseline="0" dirty="0">
                <a:solidFill>
                  <a:schemeClr val="tx1"/>
                </a:solidFill>
                <a:latin typeface="+mn-lt"/>
                <a:ea typeface="+mn-ea"/>
                <a:cs typeface="+mn-cs"/>
              </a:rPr>
              <a:t>organized by the OS.</a:t>
            </a:r>
            <a:endParaRPr lang="en-NZ"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41</a:t>
            </a:fld>
            <a:endParaRPr lang="en-US" dirty="0"/>
          </a:p>
        </p:txBody>
      </p:sp>
    </p:spTree>
    <p:extLst>
      <p:ext uri="{BB962C8B-B14F-4D97-AF65-F5344CB8AC3E}">
        <p14:creationId xmlns:p14="http://schemas.microsoft.com/office/powerpoint/2010/main" val="193113542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As indicated in Table 3.5 , the process control block may contain structuring</a:t>
            </a:r>
          </a:p>
          <a:p>
            <a:r>
              <a:rPr lang="en-US" sz="1200" kern="1200" baseline="0" dirty="0">
                <a:solidFill>
                  <a:schemeClr val="tx1"/>
                </a:solidFill>
                <a:latin typeface="+mn-lt"/>
                <a:ea typeface="+mn-ea"/>
                <a:cs typeface="+mn-cs"/>
              </a:rPr>
              <a:t>information, including pointers that allow the linking of process control blocks.</a:t>
            </a:r>
          </a:p>
          <a:p>
            <a:r>
              <a:rPr lang="en-US" sz="1200" kern="1200" baseline="0" dirty="0">
                <a:solidFill>
                  <a:schemeClr val="tx1"/>
                </a:solidFill>
                <a:latin typeface="+mn-lt"/>
                <a:ea typeface="+mn-ea"/>
                <a:cs typeface="+mn-cs"/>
              </a:rPr>
              <a:t>Thus, the queues that were described in the preceding section could be implemented</a:t>
            </a:r>
          </a:p>
          <a:p>
            <a:r>
              <a:rPr lang="en-US" sz="1200" kern="1200" baseline="0" dirty="0">
                <a:solidFill>
                  <a:schemeClr val="tx1"/>
                </a:solidFill>
                <a:latin typeface="+mn-lt"/>
                <a:ea typeface="+mn-ea"/>
                <a:cs typeface="+mn-cs"/>
              </a:rPr>
              <a:t>as linked lists of process control blocks. For example, the queuing structure</a:t>
            </a:r>
          </a:p>
          <a:p>
            <a:r>
              <a:rPr lang="en-US" sz="1200" kern="1200" baseline="0" dirty="0">
                <a:solidFill>
                  <a:schemeClr val="tx1"/>
                </a:solidFill>
                <a:latin typeface="+mn-lt"/>
                <a:ea typeface="+mn-ea"/>
                <a:cs typeface="+mn-cs"/>
              </a:rPr>
              <a:t>of Figure 3.8a could be implemented as suggested in Figure 3.14 .</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42</a:t>
            </a:fld>
            <a:endParaRPr lang="en-US" dirty="0"/>
          </a:p>
        </p:txBody>
      </p:sp>
    </p:spTree>
    <p:extLst>
      <p:ext uri="{BB962C8B-B14F-4D97-AF65-F5344CB8AC3E}">
        <p14:creationId xmlns:p14="http://schemas.microsoft.com/office/powerpoint/2010/main" val="410190320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a:solidFill>
                  <a:schemeClr val="tx1"/>
                </a:solidFill>
                <a:latin typeface="+mn-lt"/>
                <a:ea typeface="+mn-ea"/>
                <a:cs typeface="+mn-cs"/>
              </a:rPr>
              <a:t>The process control block is the</a:t>
            </a:r>
          </a:p>
          <a:p>
            <a:r>
              <a:rPr lang="en-US" sz="1200" kern="1200" baseline="0" dirty="0">
                <a:solidFill>
                  <a:schemeClr val="tx1"/>
                </a:solidFill>
                <a:latin typeface="+mn-lt"/>
                <a:ea typeface="+mn-ea"/>
                <a:cs typeface="+mn-cs"/>
              </a:rPr>
              <a:t>most important data structure in an OS. Each process control block contains all</a:t>
            </a:r>
          </a:p>
          <a:p>
            <a:r>
              <a:rPr lang="en-US" sz="1200" kern="1200" baseline="0" dirty="0">
                <a:solidFill>
                  <a:schemeClr val="tx1"/>
                </a:solidFill>
                <a:latin typeface="+mn-lt"/>
                <a:ea typeface="+mn-ea"/>
                <a:cs typeface="+mn-cs"/>
              </a:rPr>
              <a:t>of the information about a process that is needed by the OS. The blocks are read</a:t>
            </a:r>
          </a:p>
          <a:p>
            <a:r>
              <a:rPr lang="en-US" sz="1200" kern="1200" baseline="0" dirty="0">
                <a:solidFill>
                  <a:schemeClr val="tx1"/>
                </a:solidFill>
                <a:latin typeface="+mn-lt"/>
                <a:ea typeface="+mn-ea"/>
                <a:cs typeface="+mn-cs"/>
              </a:rPr>
              <a:t>and/or modified by virtually every module in the OS, including those involved with</a:t>
            </a:r>
          </a:p>
          <a:p>
            <a:r>
              <a:rPr lang="en-US" sz="1200" kern="1200" baseline="0" dirty="0">
                <a:solidFill>
                  <a:schemeClr val="tx1"/>
                </a:solidFill>
                <a:latin typeface="+mn-lt"/>
                <a:ea typeface="+mn-ea"/>
                <a:cs typeface="+mn-cs"/>
              </a:rPr>
              <a:t>scheduling, resource allocation, interrupt processing, and performance monitoring</a:t>
            </a:r>
          </a:p>
          <a:p>
            <a:r>
              <a:rPr lang="en-US" sz="1200" kern="1200" baseline="0" dirty="0">
                <a:solidFill>
                  <a:schemeClr val="tx1"/>
                </a:solidFill>
                <a:latin typeface="+mn-lt"/>
                <a:ea typeface="+mn-ea"/>
                <a:cs typeface="+mn-cs"/>
              </a:rPr>
              <a:t>and analysis. One can say that the set of process control blocks defines the state of</a:t>
            </a:r>
          </a:p>
          <a:p>
            <a:r>
              <a:rPr lang="en-US" sz="1200" kern="1200" baseline="0" dirty="0">
                <a:solidFill>
                  <a:schemeClr val="tx1"/>
                </a:solidFill>
                <a:latin typeface="+mn-lt"/>
                <a:ea typeface="+mn-ea"/>
                <a:cs typeface="+mn-cs"/>
              </a:rPr>
              <a:t>the OS.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This brings up an important design issue. A number of routines within the OS</a:t>
            </a:r>
          </a:p>
          <a:p>
            <a:r>
              <a:rPr lang="en-US" sz="1200" kern="1200" baseline="0" dirty="0">
                <a:solidFill>
                  <a:schemeClr val="tx1"/>
                </a:solidFill>
                <a:latin typeface="+mn-lt"/>
                <a:ea typeface="+mn-ea"/>
                <a:cs typeface="+mn-cs"/>
              </a:rPr>
              <a:t>will need access to information in process control blocks. The provision of direct</a:t>
            </a:r>
          </a:p>
          <a:p>
            <a:r>
              <a:rPr lang="en-US" sz="1200" kern="1200" baseline="0" dirty="0">
                <a:solidFill>
                  <a:schemeClr val="tx1"/>
                </a:solidFill>
                <a:latin typeface="+mn-lt"/>
                <a:ea typeface="+mn-ea"/>
                <a:cs typeface="+mn-cs"/>
              </a:rPr>
              <a:t>access to these tables is not difficult. Each process is equipped with a unique ID, and</a:t>
            </a:r>
          </a:p>
          <a:p>
            <a:r>
              <a:rPr lang="en-US" sz="1200" kern="1200" baseline="0" dirty="0">
                <a:solidFill>
                  <a:schemeClr val="tx1"/>
                </a:solidFill>
                <a:latin typeface="+mn-lt"/>
                <a:ea typeface="+mn-ea"/>
                <a:cs typeface="+mn-cs"/>
              </a:rPr>
              <a:t>this can be used as an index into a table of pointers to the process control blocks.</a:t>
            </a:r>
          </a:p>
          <a:p>
            <a:r>
              <a:rPr lang="en-US" sz="1200" kern="1200" baseline="0" dirty="0">
                <a:solidFill>
                  <a:schemeClr val="tx1"/>
                </a:solidFill>
                <a:latin typeface="+mn-lt"/>
                <a:ea typeface="+mn-ea"/>
                <a:cs typeface="+mn-cs"/>
              </a:rPr>
              <a:t>The difficulty is not access but rather protection. Two problems present themselves: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 bug in a single routine, such as an interrupt handler, could damage process</a:t>
            </a:r>
          </a:p>
          <a:p>
            <a:r>
              <a:rPr lang="en-US" sz="1200" kern="1200" baseline="0" dirty="0">
                <a:solidFill>
                  <a:schemeClr val="tx1"/>
                </a:solidFill>
                <a:latin typeface="+mn-lt"/>
                <a:ea typeface="+mn-ea"/>
                <a:cs typeface="+mn-cs"/>
              </a:rPr>
              <a:t>control blocks, which could destroy the system’s ability to manage the affected</a:t>
            </a:r>
          </a:p>
          <a:p>
            <a:r>
              <a:rPr lang="en-US" sz="1200" kern="1200" baseline="0" dirty="0">
                <a:solidFill>
                  <a:schemeClr val="tx1"/>
                </a:solidFill>
                <a:latin typeface="+mn-lt"/>
                <a:ea typeface="+mn-ea"/>
                <a:cs typeface="+mn-cs"/>
              </a:rPr>
              <a:t>processes.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 design change in the structure or semantics of the process control block</a:t>
            </a:r>
          </a:p>
          <a:p>
            <a:r>
              <a:rPr lang="en-US" sz="1200" kern="1200" baseline="0" dirty="0">
                <a:solidFill>
                  <a:schemeClr val="tx1"/>
                </a:solidFill>
                <a:latin typeface="+mn-lt"/>
                <a:ea typeface="+mn-ea"/>
                <a:cs typeface="+mn-cs"/>
              </a:rPr>
              <a:t>could affect a number of modules in the OS.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These problems can be addressed by requiring all routines in the OS to go</a:t>
            </a:r>
          </a:p>
          <a:p>
            <a:r>
              <a:rPr lang="en-US" sz="1200" kern="1200" baseline="0" dirty="0">
                <a:solidFill>
                  <a:schemeClr val="tx1"/>
                </a:solidFill>
                <a:latin typeface="+mn-lt"/>
                <a:ea typeface="+mn-ea"/>
                <a:cs typeface="+mn-cs"/>
              </a:rPr>
              <a:t>through a handler routine, the only job of which is to protect process control blocks,</a:t>
            </a:r>
          </a:p>
          <a:p>
            <a:r>
              <a:rPr lang="en-US" sz="1200" kern="1200" baseline="0" dirty="0">
                <a:solidFill>
                  <a:schemeClr val="tx1"/>
                </a:solidFill>
                <a:latin typeface="+mn-lt"/>
                <a:ea typeface="+mn-ea"/>
                <a:cs typeface="+mn-cs"/>
              </a:rPr>
              <a:t>and which is the sole arbiter for reading and writing these blocks. The trade-off in</a:t>
            </a:r>
          </a:p>
          <a:p>
            <a:r>
              <a:rPr lang="en-US" sz="1200" kern="1200" baseline="0" dirty="0">
                <a:solidFill>
                  <a:schemeClr val="tx1"/>
                </a:solidFill>
                <a:latin typeface="+mn-lt"/>
                <a:ea typeface="+mn-ea"/>
                <a:cs typeface="+mn-cs"/>
              </a:rPr>
              <a:t>the use of such a routine involves performance issues and the degree to which the</a:t>
            </a:r>
          </a:p>
          <a:p>
            <a:r>
              <a:rPr lang="en-US" sz="1200" kern="1200" baseline="0" dirty="0">
                <a:solidFill>
                  <a:schemeClr val="tx1"/>
                </a:solidFill>
                <a:latin typeface="+mn-lt"/>
                <a:ea typeface="+mn-ea"/>
                <a:cs typeface="+mn-cs"/>
              </a:rPr>
              <a:t>remainder of the system software can be trusted to be correct.</a:t>
            </a:r>
            <a:endParaRPr lang="en-NZ"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43</a:t>
            </a:fld>
            <a:endParaRPr lang="en-US" dirty="0"/>
          </a:p>
        </p:txBody>
      </p:sp>
    </p:spTree>
    <p:extLst>
      <p:ext uri="{BB962C8B-B14F-4D97-AF65-F5344CB8AC3E}">
        <p14:creationId xmlns:p14="http://schemas.microsoft.com/office/powerpoint/2010/main" val="244138555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baseline="0" dirty="0">
                <a:solidFill>
                  <a:schemeClr val="tx1"/>
                </a:solidFill>
                <a:latin typeface="+mn-lt"/>
                <a:ea typeface="+mn-ea"/>
                <a:cs typeface="+mn-cs"/>
              </a:rPr>
              <a:t>Before continuing with our discussion of the way in which the OS manages processes,</a:t>
            </a:r>
          </a:p>
          <a:p>
            <a:r>
              <a:rPr lang="en-US" sz="1200" b="0" kern="1200" baseline="0" dirty="0">
                <a:solidFill>
                  <a:schemeClr val="tx1"/>
                </a:solidFill>
                <a:latin typeface="+mn-lt"/>
                <a:ea typeface="+mn-ea"/>
                <a:cs typeface="+mn-cs"/>
              </a:rPr>
              <a:t>we need to distinguish between the mode of processor execution normally</a:t>
            </a:r>
          </a:p>
          <a:p>
            <a:r>
              <a:rPr lang="en-US" sz="1200" b="0" kern="1200" baseline="0" dirty="0">
                <a:solidFill>
                  <a:schemeClr val="tx1"/>
                </a:solidFill>
                <a:latin typeface="+mn-lt"/>
                <a:ea typeface="+mn-ea"/>
                <a:cs typeface="+mn-cs"/>
              </a:rPr>
              <a:t>associated with the OS and that normally associated with user programs. Most</a:t>
            </a:r>
          </a:p>
          <a:p>
            <a:r>
              <a:rPr lang="en-US" sz="1200" b="0" kern="1200" baseline="0" dirty="0">
                <a:solidFill>
                  <a:schemeClr val="tx1"/>
                </a:solidFill>
                <a:latin typeface="+mn-lt"/>
                <a:ea typeface="+mn-ea"/>
                <a:cs typeface="+mn-cs"/>
              </a:rPr>
              <a:t>processors support at least two modes of execution. Certain instructions can only</a:t>
            </a:r>
          </a:p>
          <a:p>
            <a:r>
              <a:rPr lang="en-US" sz="1200" b="0" kern="1200" baseline="0" dirty="0">
                <a:solidFill>
                  <a:schemeClr val="tx1"/>
                </a:solidFill>
                <a:latin typeface="+mn-lt"/>
                <a:ea typeface="+mn-ea"/>
                <a:cs typeface="+mn-cs"/>
              </a:rPr>
              <a:t>be executed in the more-privileged mode. These would include reading or altering</a:t>
            </a:r>
          </a:p>
          <a:p>
            <a:r>
              <a:rPr lang="en-US" sz="1200" b="0" kern="1200" baseline="0" dirty="0">
                <a:solidFill>
                  <a:schemeClr val="tx1"/>
                </a:solidFill>
                <a:latin typeface="+mn-lt"/>
                <a:ea typeface="+mn-ea"/>
                <a:cs typeface="+mn-cs"/>
              </a:rPr>
              <a:t>a control register, such as the program status word; primitive I/O instructions;</a:t>
            </a:r>
          </a:p>
          <a:p>
            <a:r>
              <a:rPr lang="en-US" sz="1200" b="0" kern="1200" baseline="0" dirty="0">
                <a:solidFill>
                  <a:schemeClr val="tx1"/>
                </a:solidFill>
                <a:latin typeface="+mn-lt"/>
                <a:ea typeface="+mn-ea"/>
                <a:cs typeface="+mn-cs"/>
              </a:rPr>
              <a:t>and instructions that relate to memory management. In addition, certain regions of</a:t>
            </a:r>
          </a:p>
          <a:p>
            <a:r>
              <a:rPr lang="en-US" sz="1200" b="0" kern="1200" baseline="0" dirty="0">
                <a:solidFill>
                  <a:schemeClr val="tx1"/>
                </a:solidFill>
                <a:latin typeface="+mn-lt"/>
                <a:ea typeface="+mn-ea"/>
                <a:cs typeface="+mn-cs"/>
              </a:rPr>
              <a:t>memory can only be accessed in the more-privileged mode.</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The less-privileged mode is often referred to as the user mode , because user</a:t>
            </a:r>
          </a:p>
          <a:p>
            <a:r>
              <a:rPr lang="en-US" sz="1200" b="0" kern="1200" baseline="0" dirty="0">
                <a:solidFill>
                  <a:schemeClr val="tx1"/>
                </a:solidFill>
                <a:latin typeface="+mn-lt"/>
                <a:ea typeface="+mn-ea"/>
                <a:cs typeface="+mn-cs"/>
              </a:rPr>
              <a:t>programs typically would execute in this mode. The more-privileged mode is referred</a:t>
            </a:r>
          </a:p>
          <a:p>
            <a:r>
              <a:rPr lang="en-US" sz="1200" b="0" kern="1200" baseline="0" dirty="0">
                <a:solidFill>
                  <a:schemeClr val="tx1"/>
                </a:solidFill>
                <a:latin typeface="+mn-lt"/>
                <a:ea typeface="+mn-ea"/>
                <a:cs typeface="+mn-cs"/>
              </a:rPr>
              <a:t>to as the system mode , control mode , or kernel mode . This last term refers to the</a:t>
            </a:r>
          </a:p>
          <a:p>
            <a:r>
              <a:rPr lang="en-US" sz="1200" b="0" kern="1200" baseline="0" dirty="0">
                <a:solidFill>
                  <a:schemeClr val="tx1"/>
                </a:solidFill>
                <a:latin typeface="+mn-lt"/>
                <a:ea typeface="+mn-ea"/>
                <a:cs typeface="+mn-cs"/>
              </a:rPr>
              <a:t>kernel of the OS, which is that portion of the OS that encompasses the important</a:t>
            </a:r>
          </a:p>
          <a:p>
            <a:r>
              <a:rPr lang="en-US" sz="1200" b="0" kern="1200" baseline="0" dirty="0">
                <a:solidFill>
                  <a:schemeClr val="tx1"/>
                </a:solidFill>
                <a:latin typeface="+mn-lt"/>
                <a:ea typeface="+mn-ea"/>
                <a:cs typeface="+mn-cs"/>
              </a:rPr>
              <a:t>system functions.</a:t>
            </a:r>
          </a:p>
          <a:p>
            <a:endParaRPr lang="en-US" sz="1200" b="0" kern="1200" baseline="0" dirty="0">
              <a:solidFill>
                <a:schemeClr val="tx1"/>
              </a:solidFill>
              <a:latin typeface="+mn-lt"/>
              <a:ea typeface="+mn-ea"/>
              <a:cs typeface="+mn-cs"/>
            </a:endParaRPr>
          </a:p>
          <a:p>
            <a:endParaRPr lang="en-NZ" b="0"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44</a:t>
            </a:fld>
            <a:endParaRPr lang="en-US" dirty="0"/>
          </a:p>
        </p:txBody>
      </p:sp>
    </p:spTree>
    <p:extLst>
      <p:ext uri="{BB962C8B-B14F-4D97-AF65-F5344CB8AC3E}">
        <p14:creationId xmlns:p14="http://schemas.microsoft.com/office/powerpoint/2010/main" val="110638676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Table 3.7 lists the functions typically found in the kernel of an OS.</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45</a:t>
            </a:fld>
            <a:endParaRPr lang="en-US" dirty="0"/>
          </a:p>
        </p:txBody>
      </p:sp>
    </p:spTree>
    <p:extLst>
      <p:ext uri="{BB962C8B-B14F-4D97-AF65-F5344CB8AC3E}">
        <p14:creationId xmlns:p14="http://schemas.microsoft.com/office/powerpoint/2010/main" val="424065953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sz="1200" b="0" kern="1200" baseline="0" dirty="0">
                <a:solidFill>
                  <a:schemeClr val="tx1"/>
                </a:solidFill>
                <a:latin typeface="+mn-lt"/>
                <a:ea typeface="+mn-ea"/>
                <a:cs typeface="+mn-cs"/>
              </a:rPr>
              <a:t>Once the OS decides, for whatever reason ( Table 3.1 ), to create a new process,</a:t>
            </a:r>
          </a:p>
          <a:p>
            <a:r>
              <a:rPr lang="en-US" sz="1200" b="0" kern="1200" baseline="0" dirty="0">
                <a:solidFill>
                  <a:schemeClr val="tx1"/>
                </a:solidFill>
                <a:latin typeface="+mn-lt"/>
                <a:ea typeface="+mn-ea"/>
                <a:cs typeface="+mn-cs"/>
              </a:rPr>
              <a:t>it can proceed as follows: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1. Assign a unique process identifier to the new process. At this time, a new entry</a:t>
            </a:r>
          </a:p>
          <a:p>
            <a:r>
              <a:rPr lang="en-US" sz="1200" b="0" kern="1200" baseline="0" dirty="0">
                <a:solidFill>
                  <a:schemeClr val="tx1"/>
                </a:solidFill>
                <a:latin typeface="+mn-lt"/>
                <a:ea typeface="+mn-ea"/>
                <a:cs typeface="+mn-cs"/>
              </a:rPr>
              <a:t>is added to the primary process table, which contains one entry per process.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2. Allocate space for the process. This includes all elements of the process image.</a:t>
            </a:r>
          </a:p>
          <a:p>
            <a:r>
              <a:rPr lang="en-US" sz="1200" b="0" kern="1200" baseline="0" dirty="0">
                <a:solidFill>
                  <a:schemeClr val="tx1"/>
                </a:solidFill>
                <a:latin typeface="+mn-lt"/>
                <a:ea typeface="+mn-ea"/>
                <a:cs typeface="+mn-cs"/>
              </a:rPr>
              <a:t>Thus, the OS must know how much space is needed for the private user address</a:t>
            </a:r>
          </a:p>
          <a:p>
            <a:r>
              <a:rPr lang="en-US" sz="1200" b="0" kern="1200" baseline="0" dirty="0">
                <a:solidFill>
                  <a:schemeClr val="tx1"/>
                </a:solidFill>
                <a:latin typeface="+mn-lt"/>
                <a:ea typeface="+mn-ea"/>
                <a:cs typeface="+mn-cs"/>
              </a:rPr>
              <a:t>space (programs and data) and the user stack. These values can be assigned by</a:t>
            </a:r>
          </a:p>
          <a:p>
            <a:r>
              <a:rPr lang="en-US" sz="1200" b="0" kern="1200" baseline="0" dirty="0">
                <a:solidFill>
                  <a:schemeClr val="tx1"/>
                </a:solidFill>
                <a:latin typeface="+mn-lt"/>
                <a:ea typeface="+mn-ea"/>
                <a:cs typeface="+mn-cs"/>
              </a:rPr>
              <a:t>default based on the type of process, or they can be set based on user request</a:t>
            </a:r>
          </a:p>
          <a:p>
            <a:r>
              <a:rPr lang="en-US" sz="1200" b="0" kern="1200" baseline="0" dirty="0">
                <a:solidFill>
                  <a:schemeClr val="tx1"/>
                </a:solidFill>
                <a:latin typeface="+mn-lt"/>
                <a:ea typeface="+mn-ea"/>
                <a:cs typeface="+mn-cs"/>
              </a:rPr>
              <a:t>at job creation time. If a process is spawned by another process, the parent</a:t>
            </a:r>
          </a:p>
          <a:p>
            <a:r>
              <a:rPr lang="en-US" sz="1200" b="0" kern="1200" baseline="0" dirty="0">
                <a:solidFill>
                  <a:schemeClr val="tx1"/>
                </a:solidFill>
                <a:latin typeface="+mn-lt"/>
                <a:ea typeface="+mn-ea"/>
                <a:cs typeface="+mn-cs"/>
              </a:rPr>
              <a:t>process can pass the needed values to the OS as part of the process-creation</a:t>
            </a:r>
          </a:p>
          <a:p>
            <a:r>
              <a:rPr lang="en-US" sz="1200" b="0" kern="1200" baseline="0" dirty="0">
                <a:solidFill>
                  <a:schemeClr val="tx1"/>
                </a:solidFill>
                <a:latin typeface="+mn-lt"/>
                <a:ea typeface="+mn-ea"/>
                <a:cs typeface="+mn-cs"/>
              </a:rPr>
              <a:t>request. If any existing address space is to be shared by this new process, the</a:t>
            </a:r>
          </a:p>
          <a:p>
            <a:r>
              <a:rPr lang="en-US" sz="1200" b="0" kern="1200" baseline="0" dirty="0">
                <a:solidFill>
                  <a:schemeClr val="tx1"/>
                </a:solidFill>
                <a:latin typeface="+mn-lt"/>
                <a:ea typeface="+mn-ea"/>
                <a:cs typeface="+mn-cs"/>
              </a:rPr>
              <a:t>appropriate linkages must be set up. Finally, space for a process control block</a:t>
            </a:r>
          </a:p>
          <a:p>
            <a:r>
              <a:rPr lang="en-US" sz="1200" b="0" kern="1200" baseline="0" dirty="0">
                <a:solidFill>
                  <a:schemeClr val="tx1"/>
                </a:solidFill>
                <a:latin typeface="+mn-lt"/>
                <a:ea typeface="+mn-ea"/>
                <a:cs typeface="+mn-cs"/>
              </a:rPr>
              <a:t>must be allocated.</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3. Initialize the process control block. The process identification portion contains</a:t>
            </a:r>
          </a:p>
          <a:p>
            <a:r>
              <a:rPr lang="en-US" sz="1200" b="0" kern="1200" baseline="0" dirty="0">
                <a:solidFill>
                  <a:schemeClr val="tx1"/>
                </a:solidFill>
                <a:latin typeface="+mn-lt"/>
                <a:ea typeface="+mn-ea"/>
                <a:cs typeface="+mn-cs"/>
              </a:rPr>
              <a:t>the ID of this process plus other appropriate IDs, such as that of the parent</a:t>
            </a:r>
          </a:p>
          <a:p>
            <a:r>
              <a:rPr lang="en-US" sz="1200" b="0" kern="1200" baseline="0" dirty="0">
                <a:solidFill>
                  <a:schemeClr val="tx1"/>
                </a:solidFill>
                <a:latin typeface="+mn-lt"/>
                <a:ea typeface="+mn-ea"/>
                <a:cs typeface="+mn-cs"/>
              </a:rPr>
              <a:t>process. The processor state information portion will typically be initialized</a:t>
            </a:r>
          </a:p>
          <a:p>
            <a:r>
              <a:rPr lang="en-US" sz="1200" b="0" kern="1200" baseline="0" dirty="0">
                <a:solidFill>
                  <a:schemeClr val="tx1"/>
                </a:solidFill>
                <a:latin typeface="+mn-lt"/>
                <a:ea typeface="+mn-ea"/>
                <a:cs typeface="+mn-cs"/>
              </a:rPr>
              <a:t>with most entries zero, except for the program counter (set to the program</a:t>
            </a:r>
          </a:p>
          <a:p>
            <a:r>
              <a:rPr lang="en-US" sz="1200" b="0" kern="1200" baseline="0" dirty="0">
                <a:solidFill>
                  <a:schemeClr val="tx1"/>
                </a:solidFill>
                <a:latin typeface="+mn-lt"/>
                <a:ea typeface="+mn-ea"/>
                <a:cs typeface="+mn-cs"/>
              </a:rPr>
              <a:t>entry point) and system stack pointers (set to define the process stack boundaries).</a:t>
            </a:r>
          </a:p>
          <a:p>
            <a:r>
              <a:rPr lang="en-US" sz="1200" b="0" kern="1200" baseline="0" dirty="0">
                <a:solidFill>
                  <a:schemeClr val="tx1"/>
                </a:solidFill>
                <a:latin typeface="+mn-lt"/>
                <a:ea typeface="+mn-ea"/>
                <a:cs typeface="+mn-cs"/>
              </a:rPr>
              <a:t>The process control information portion is initialized based on standard</a:t>
            </a:r>
          </a:p>
          <a:p>
            <a:r>
              <a:rPr lang="en-US" sz="1200" b="0" kern="1200" baseline="0" dirty="0">
                <a:solidFill>
                  <a:schemeClr val="tx1"/>
                </a:solidFill>
                <a:latin typeface="+mn-lt"/>
                <a:ea typeface="+mn-ea"/>
                <a:cs typeface="+mn-cs"/>
              </a:rPr>
              <a:t>default values plus attributes that have been requested for this process. For</a:t>
            </a:r>
          </a:p>
          <a:p>
            <a:r>
              <a:rPr lang="en-US" sz="1200" b="0" kern="1200" baseline="0" dirty="0">
                <a:solidFill>
                  <a:schemeClr val="tx1"/>
                </a:solidFill>
                <a:latin typeface="+mn-lt"/>
                <a:ea typeface="+mn-ea"/>
                <a:cs typeface="+mn-cs"/>
              </a:rPr>
              <a:t>example, the process state would typically be initialized to Ready or Ready/</a:t>
            </a:r>
          </a:p>
          <a:p>
            <a:r>
              <a:rPr lang="en-US" sz="1200" b="0" kern="1200" baseline="0" dirty="0">
                <a:solidFill>
                  <a:schemeClr val="tx1"/>
                </a:solidFill>
                <a:latin typeface="+mn-lt"/>
                <a:ea typeface="+mn-ea"/>
                <a:cs typeface="+mn-cs"/>
              </a:rPr>
              <a:t>Suspend. The priority may be set by default to the lowest priority unless an</a:t>
            </a:r>
          </a:p>
          <a:p>
            <a:r>
              <a:rPr lang="en-US" sz="1200" b="0" kern="1200" baseline="0" dirty="0">
                <a:solidFill>
                  <a:schemeClr val="tx1"/>
                </a:solidFill>
                <a:latin typeface="+mn-lt"/>
                <a:ea typeface="+mn-ea"/>
                <a:cs typeface="+mn-cs"/>
              </a:rPr>
              <a:t>explicit request is made for a higher priority. Initially, the process may own</a:t>
            </a:r>
          </a:p>
          <a:p>
            <a:r>
              <a:rPr lang="en-US" sz="1200" b="0" kern="1200" baseline="0" dirty="0">
                <a:solidFill>
                  <a:schemeClr val="tx1"/>
                </a:solidFill>
                <a:latin typeface="+mn-lt"/>
                <a:ea typeface="+mn-ea"/>
                <a:cs typeface="+mn-cs"/>
              </a:rPr>
              <a:t>no resources (I/O devices, files) unless there is an explicit request for these or</a:t>
            </a:r>
          </a:p>
          <a:p>
            <a:r>
              <a:rPr lang="en-US" sz="1200" b="0" kern="1200" baseline="0" dirty="0">
                <a:solidFill>
                  <a:schemeClr val="tx1"/>
                </a:solidFill>
                <a:latin typeface="+mn-lt"/>
                <a:ea typeface="+mn-ea"/>
                <a:cs typeface="+mn-cs"/>
              </a:rPr>
              <a:t>unless they are inherited from the parent.</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4. Set the appropriate linkages. For example, if the OS maintains each scheduling</a:t>
            </a:r>
          </a:p>
          <a:p>
            <a:r>
              <a:rPr lang="en-US" sz="1200" b="0" kern="1200" baseline="0" dirty="0">
                <a:solidFill>
                  <a:schemeClr val="tx1"/>
                </a:solidFill>
                <a:latin typeface="+mn-lt"/>
                <a:ea typeface="+mn-ea"/>
                <a:cs typeface="+mn-cs"/>
              </a:rPr>
              <a:t>queue as a linked list, then the new process must be put in the Ready or</a:t>
            </a:r>
          </a:p>
          <a:p>
            <a:r>
              <a:rPr lang="en-US" sz="1200" b="0" kern="1200" baseline="0" dirty="0">
                <a:solidFill>
                  <a:schemeClr val="tx1"/>
                </a:solidFill>
                <a:latin typeface="+mn-lt"/>
                <a:ea typeface="+mn-ea"/>
                <a:cs typeface="+mn-cs"/>
              </a:rPr>
              <a:t>Ready/Suspend list.</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5. Create or expand other data structures. For example, the OS may maintain</a:t>
            </a:r>
          </a:p>
          <a:p>
            <a:r>
              <a:rPr lang="en-US" sz="1200" b="0" kern="1200" baseline="0" dirty="0">
                <a:solidFill>
                  <a:schemeClr val="tx1"/>
                </a:solidFill>
                <a:latin typeface="+mn-lt"/>
                <a:ea typeface="+mn-ea"/>
                <a:cs typeface="+mn-cs"/>
              </a:rPr>
              <a:t>an accounting file on each process to be used subsequently for billing and/or</a:t>
            </a:r>
          </a:p>
          <a:p>
            <a:r>
              <a:rPr lang="en-US" sz="1200" b="0" kern="1200" baseline="0" dirty="0">
                <a:solidFill>
                  <a:schemeClr val="tx1"/>
                </a:solidFill>
                <a:latin typeface="+mn-lt"/>
                <a:ea typeface="+mn-ea"/>
                <a:cs typeface="+mn-cs"/>
              </a:rPr>
              <a:t>performance assessment purposes.</a:t>
            </a:r>
            <a:endParaRPr lang="en-US" b="0"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46</a:t>
            </a:fld>
            <a:endParaRPr lang="en-US" dirty="0"/>
          </a:p>
        </p:txBody>
      </p:sp>
    </p:spTree>
    <p:extLst>
      <p:ext uri="{BB962C8B-B14F-4D97-AF65-F5344CB8AC3E}">
        <p14:creationId xmlns:p14="http://schemas.microsoft.com/office/powerpoint/2010/main" val="125517320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 process switch may occur any time that the OS has</a:t>
            </a:r>
          </a:p>
          <a:p>
            <a:r>
              <a:rPr lang="en-US" sz="1200" kern="1200" baseline="0" dirty="0">
                <a:solidFill>
                  <a:schemeClr val="tx1"/>
                </a:solidFill>
                <a:latin typeface="+mn-lt"/>
                <a:ea typeface="+mn-ea"/>
                <a:cs typeface="+mn-cs"/>
              </a:rPr>
              <a:t>gained control from the currently running process. Table 3.8 suggests the possible</a:t>
            </a:r>
          </a:p>
          <a:p>
            <a:r>
              <a:rPr lang="en-US" sz="1200" kern="1200" baseline="0" dirty="0">
                <a:solidFill>
                  <a:schemeClr val="tx1"/>
                </a:solidFill>
                <a:latin typeface="+mn-lt"/>
                <a:ea typeface="+mn-ea"/>
                <a:cs typeface="+mn-cs"/>
              </a:rPr>
              <a:t>events that may give control to the OS.</a:t>
            </a:r>
            <a:endParaRPr lang="en-NZ"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47</a:t>
            </a:fld>
            <a:endParaRPr lang="en-US" dirty="0"/>
          </a:p>
        </p:txBody>
      </p:sp>
    </p:spTree>
    <p:extLst>
      <p:ext uri="{BB962C8B-B14F-4D97-AF65-F5344CB8AC3E}">
        <p14:creationId xmlns:p14="http://schemas.microsoft.com/office/powerpoint/2010/main" val="230596557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sz="1200" b="0" kern="1200" baseline="0" dirty="0">
                <a:solidFill>
                  <a:schemeClr val="tx1"/>
                </a:solidFill>
                <a:latin typeface="+mn-lt"/>
                <a:ea typeface="+mn-ea"/>
                <a:cs typeface="+mn-cs"/>
              </a:rPr>
              <a:t>First, let us consider system interrupts. Actually, we can distinguish, as many</a:t>
            </a:r>
          </a:p>
          <a:p>
            <a:r>
              <a:rPr lang="en-US" sz="1200" b="0" kern="1200" baseline="0" dirty="0">
                <a:solidFill>
                  <a:schemeClr val="tx1"/>
                </a:solidFill>
                <a:latin typeface="+mn-lt"/>
                <a:ea typeface="+mn-ea"/>
                <a:cs typeface="+mn-cs"/>
              </a:rPr>
              <a:t>systems do, two kinds of system interrupts, one of which is simply referred to as an</a:t>
            </a:r>
          </a:p>
          <a:p>
            <a:r>
              <a:rPr lang="en-US" sz="1200" b="0" kern="1200" baseline="0" dirty="0">
                <a:solidFill>
                  <a:schemeClr val="tx1"/>
                </a:solidFill>
                <a:latin typeface="+mn-lt"/>
                <a:ea typeface="+mn-ea"/>
                <a:cs typeface="+mn-cs"/>
              </a:rPr>
              <a:t>interrupt, and the other as a trap. The former is due to some sort of event that is</a:t>
            </a:r>
          </a:p>
          <a:p>
            <a:r>
              <a:rPr lang="en-US" sz="1200" b="0" kern="1200" baseline="0" dirty="0">
                <a:solidFill>
                  <a:schemeClr val="tx1"/>
                </a:solidFill>
                <a:latin typeface="+mn-lt"/>
                <a:ea typeface="+mn-ea"/>
                <a:cs typeface="+mn-cs"/>
              </a:rPr>
              <a:t>external to and independent of the currently running process, such as the completion</a:t>
            </a:r>
          </a:p>
          <a:p>
            <a:r>
              <a:rPr lang="en-US" sz="1200" b="0" kern="1200" baseline="0" dirty="0">
                <a:solidFill>
                  <a:schemeClr val="tx1"/>
                </a:solidFill>
                <a:latin typeface="+mn-lt"/>
                <a:ea typeface="+mn-ea"/>
                <a:cs typeface="+mn-cs"/>
              </a:rPr>
              <a:t>of an I/O operation. The latter relates to an error or exception condition generated</a:t>
            </a:r>
          </a:p>
          <a:p>
            <a:r>
              <a:rPr lang="en-US" sz="1200" b="0" kern="1200" baseline="0" dirty="0">
                <a:solidFill>
                  <a:schemeClr val="tx1"/>
                </a:solidFill>
                <a:latin typeface="+mn-lt"/>
                <a:ea typeface="+mn-ea"/>
                <a:cs typeface="+mn-cs"/>
              </a:rPr>
              <a:t>within the currently running process, such as an illegal file access attempt. With an</a:t>
            </a:r>
          </a:p>
          <a:p>
            <a:r>
              <a:rPr lang="en-US" sz="1200" b="0" kern="1200" baseline="0" dirty="0">
                <a:solidFill>
                  <a:schemeClr val="tx1"/>
                </a:solidFill>
                <a:latin typeface="+mn-lt"/>
                <a:ea typeface="+mn-ea"/>
                <a:cs typeface="+mn-cs"/>
              </a:rPr>
              <a:t>ordinary interrupt , control is first transferred to an interrupt handler, which does</a:t>
            </a:r>
          </a:p>
          <a:p>
            <a:r>
              <a:rPr lang="en-US" sz="1200" b="0" kern="1200" baseline="0" dirty="0">
                <a:solidFill>
                  <a:schemeClr val="tx1"/>
                </a:solidFill>
                <a:latin typeface="+mn-lt"/>
                <a:ea typeface="+mn-ea"/>
                <a:cs typeface="+mn-cs"/>
              </a:rPr>
              <a:t>some basic housekeeping and then branches to an OS routine that is concerned with</a:t>
            </a:r>
          </a:p>
          <a:p>
            <a:r>
              <a:rPr lang="en-US" sz="1200" b="0" kern="1200" baseline="0" dirty="0">
                <a:solidFill>
                  <a:schemeClr val="tx1"/>
                </a:solidFill>
                <a:latin typeface="+mn-lt"/>
                <a:ea typeface="+mn-ea"/>
                <a:cs typeface="+mn-cs"/>
              </a:rPr>
              <a:t>the particular type of interrupt that has occurred. Examples include the following:</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Clock interrupt: The OS determines whether the currently running process</a:t>
            </a:r>
          </a:p>
          <a:p>
            <a:r>
              <a:rPr lang="en-US" sz="1200" b="0" kern="1200" baseline="0" dirty="0">
                <a:solidFill>
                  <a:schemeClr val="tx1"/>
                </a:solidFill>
                <a:latin typeface="+mn-lt"/>
                <a:ea typeface="+mn-ea"/>
                <a:cs typeface="+mn-cs"/>
              </a:rPr>
              <a:t>has been executing for the maximum allowable unit of time, referred to as a</a:t>
            </a:r>
          </a:p>
          <a:p>
            <a:r>
              <a:rPr lang="en-US" sz="1200" b="0" kern="1200" baseline="0" dirty="0">
                <a:solidFill>
                  <a:schemeClr val="tx1"/>
                </a:solidFill>
                <a:latin typeface="+mn-lt"/>
                <a:ea typeface="+mn-ea"/>
                <a:cs typeface="+mn-cs"/>
              </a:rPr>
              <a:t>time slice . That is, a time slice is the maximum amount of time that a process</a:t>
            </a:r>
          </a:p>
          <a:p>
            <a:r>
              <a:rPr lang="en-US" sz="1200" b="0" kern="1200" baseline="0" dirty="0">
                <a:solidFill>
                  <a:schemeClr val="tx1"/>
                </a:solidFill>
                <a:latin typeface="+mn-lt"/>
                <a:ea typeface="+mn-ea"/>
                <a:cs typeface="+mn-cs"/>
              </a:rPr>
              <a:t>can execute before being interrupted. If so, this process must be switched to a</a:t>
            </a:r>
          </a:p>
          <a:p>
            <a:r>
              <a:rPr lang="en-US" sz="1200" b="0" kern="1200" baseline="0" dirty="0">
                <a:solidFill>
                  <a:schemeClr val="tx1"/>
                </a:solidFill>
                <a:latin typeface="+mn-lt"/>
                <a:ea typeface="+mn-ea"/>
                <a:cs typeface="+mn-cs"/>
              </a:rPr>
              <a:t>Ready state and another process dispatched.</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I/O interrupt: The OS determines what I/O action has occurred. If the I/O</a:t>
            </a:r>
          </a:p>
          <a:p>
            <a:r>
              <a:rPr lang="en-US" sz="1200" b="0" kern="1200" baseline="0" dirty="0">
                <a:solidFill>
                  <a:schemeClr val="tx1"/>
                </a:solidFill>
                <a:latin typeface="+mn-lt"/>
                <a:ea typeface="+mn-ea"/>
                <a:cs typeface="+mn-cs"/>
              </a:rPr>
              <a:t>action constitutes an event for which one or more processes are waiting,</a:t>
            </a:r>
          </a:p>
          <a:p>
            <a:r>
              <a:rPr lang="en-US" sz="1200" b="0" kern="1200" baseline="0" dirty="0">
                <a:solidFill>
                  <a:schemeClr val="tx1"/>
                </a:solidFill>
                <a:latin typeface="+mn-lt"/>
                <a:ea typeface="+mn-ea"/>
                <a:cs typeface="+mn-cs"/>
              </a:rPr>
              <a:t>then the OS moves all of the corresponding blocked processes to the Ready</a:t>
            </a:r>
          </a:p>
          <a:p>
            <a:r>
              <a:rPr lang="en-US" sz="1200" b="0" kern="1200" baseline="0" dirty="0">
                <a:solidFill>
                  <a:schemeClr val="tx1"/>
                </a:solidFill>
                <a:latin typeface="+mn-lt"/>
                <a:ea typeface="+mn-ea"/>
                <a:cs typeface="+mn-cs"/>
              </a:rPr>
              <a:t>state (and Blocked/Suspend processes to the Ready/Suspend state). The OS</a:t>
            </a:r>
          </a:p>
          <a:p>
            <a:r>
              <a:rPr lang="en-US" sz="1200" b="0" kern="1200" baseline="0" dirty="0">
                <a:solidFill>
                  <a:schemeClr val="tx1"/>
                </a:solidFill>
                <a:latin typeface="+mn-lt"/>
                <a:ea typeface="+mn-ea"/>
                <a:cs typeface="+mn-cs"/>
              </a:rPr>
              <a:t>must then decide whether to resume execution of the process currently in</a:t>
            </a:r>
          </a:p>
          <a:p>
            <a:r>
              <a:rPr lang="en-US" sz="1200" b="0" kern="1200" baseline="0" dirty="0">
                <a:solidFill>
                  <a:schemeClr val="tx1"/>
                </a:solidFill>
                <a:latin typeface="+mn-lt"/>
                <a:ea typeface="+mn-ea"/>
                <a:cs typeface="+mn-cs"/>
              </a:rPr>
              <a:t>the Running state or to preempt that process for a higher-priority Ready</a:t>
            </a:r>
          </a:p>
          <a:p>
            <a:r>
              <a:rPr lang="en-US" sz="1200" b="0" kern="1200" baseline="0" dirty="0">
                <a:solidFill>
                  <a:schemeClr val="tx1"/>
                </a:solidFill>
                <a:latin typeface="+mn-lt"/>
                <a:ea typeface="+mn-ea"/>
                <a:cs typeface="+mn-cs"/>
              </a:rPr>
              <a:t>process.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Memory fault: The processor encounters a virtual memory address reference</a:t>
            </a:r>
          </a:p>
          <a:p>
            <a:r>
              <a:rPr lang="en-US" sz="1200" b="0" kern="1200" baseline="0" dirty="0">
                <a:solidFill>
                  <a:schemeClr val="tx1"/>
                </a:solidFill>
                <a:latin typeface="+mn-lt"/>
                <a:ea typeface="+mn-ea"/>
                <a:cs typeface="+mn-cs"/>
              </a:rPr>
              <a:t>for a word that is not in main memory. The OS must bring in the block</a:t>
            </a:r>
          </a:p>
          <a:p>
            <a:r>
              <a:rPr lang="en-US" sz="1200" b="0" kern="1200" baseline="0" dirty="0">
                <a:solidFill>
                  <a:schemeClr val="tx1"/>
                </a:solidFill>
                <a:latin typeface="+mn-lt"/>
                <a:ea typeface="+mn-ea"/>
                <a:cs typeface="+mn-cs"/>
              </a:rPr>
              <a:t>(page or segment) of memory containing the reference from secondary memory</a:t>
            </a:r>
          </a:p>
          <a:p>
            <a:r>
              <a:rPr lang="en-US" sz="1200" b="0" kern="1200" baseline="0" dirty="0">
                <a:solidFill>
                  <a:schemeClr val="tx1"/>
                </a:solidFill>
                <a:latin typeface="+mn-lt"/>
                <a:ea typeface="+mn-ea"/>
                <a:cs typeface="+mn-cs"/>
              </a:rPr>
              <a:t>to main memory. After the I/O request is issued to bring in the block of</a:t>
            </a:r>
          </a:p>
          <a:p>
            <a:r>
              <a:rPr lang="en-US" sz="1200" b="0" kern="1200" baseline="0" dirty="0">
                <a:solidFill>
                  <a:schemeClr val="tx1"/>
                </a:solidFill>
                <a:latin typeface="+mn-lt"/>
                <a:ea typeface="+mn-ea"/>
                <a:cs typeface="+mn-cs"/>
              </a:rPr>
              <a:t>memory, the process with the memory fault is placed in a blocked state; the</a:t>
            </a:r>
          </a:p>
          <a:p>
            <a:r>
              <a:rPr lang="en-US" sz="1200" b="0" kern="1200" baseline="0" dirty="0">
                <a:solidFill>
                  <a:schemeClr val="tx1"/>
                </a:solidFill>
                <a:latin typeface="+mn-lt"/>
                <a:ea typeface="+mn-ea"/>
                <a:cs typeface="+mn-cs"/>
              </a:rPr>
              <a:t>OS then performs a process switch to resume execution of another process.</a:t>
            </a:r>
          </a:p>
          <a:p>
            <a:r>
              <a:rPr lang="en-US" sz="1200" b="0" kern="1200" baseline="0" dirty="0">
                <a:solidFill>
                  <a:schemeClr val="tx1"/>
                </a:solidFill>
                <a:latin typeface="+mn-lt"/>
                <a:ea typeface="+mn-ea"/>
                <a:cs typeface="+mn-cs"/>
              </a:rPr>
              <a:t>After the desired block is brought into memory, that process is placed in the</a:t>
            </a:r>
          </a:p>
          <a:p>
            <a:r>
              <a:rPr lang="en-US" sz="1200" b="0" kern="1200" baseline="0" dirty="0">
                <a:solidFill>
                  <a:schemeClr val="tx1"/>
                </a:solidFill>
                <a:latin typeface="+mn-lt"/>
                <a:ea typeface="+mn-ea"/>
                <a:cs typeface="+mn-cs"/>
              </a:rPr>
              <a:t>Ready state.</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With a trap , the OS determines if the error or exception condition is fatal.</a:t>
            </a:r>
          </a:p>
          <a:p>
            <a:r>
              <a:rPr lang="en-US" sz="1200" b="0" kern="1200" baseline="0" dirty="0">
                <a:solidFill>
                  <a:schemeClr val="tx1"/>
                </a:solidFill>
                <a:latin typeface="+mn-lt"/>
                <a:ea typeface="+mn-ea"/>
                <a:cs typeface="+mn-cs"/>
              </a:rPr>
              <a:t>If so, then the currently running process is moved to the Exit state and a process</a:t>
            </a:r>
          </a:p>
          <a:p>
            <a:r>
              <a:rPr lang="en-US" sz="1200" b="0" kern="1200" baseline="0" dirty="0">
                <a:solidFill>
                  <a:schemeClr val="tx1"/>
                </a:solidFill>
                <a:latin typeface="+mn-lt"/>
                <a:ea typeface="+mn-ea"/>
                <a:cs typeface="+mn-cs"/>
              </a:rPr>
              <a:t>switch occurs. If not, then the action of the OS will depend on the nature of</a:t>
            </a:r>
          </a:p>
          <a:p>
            <a:r>
              <a:rPr lang="en-US" sz="1200" b="0" kern="1200" baseline="0" dirty="0">
                <a:solidFill>
                  <a:schemeClr val="tx1"/>
                </a:solidFill>
                <a:latin typeface="+mn-lt"/>
                <a:ea typeface="+mn-ea"/>
                <a:cs typeface="+mn-cs"/>
              </a:rPr>
              <a:t>the error and the design of the OS. It may attempt some recovery procedure or</a:t>
            </a:r>
          </a:p>
          <a:p>
            <a:r>
              <a:rPr lang="en-US" sz="1200" b="0" kern="1200" baseline="0" dirty="0">
                <a:solidFill>
                  <a:schemeClr val="tx1"/>
                </a:solidFill>
                <a:latin typeface="+mn-lt"/>
                <a:ea typeface="+mn-ea"/>
                <a:cs typeface="+mn-cs"/>
              </a:rPr>
              <a:t>simply notify the user. It may do a process switch or resume the currently running</a:t>
            </a:r>
          </a:p>
          <a:p>
            <a:r>
              <a:rPr lang="en-US" sz="1200" b="0" kern="1200" baseline="0" dirty="0">
                <a:solidFill>
                  <a:schemeClr val="tx1"/>
                </a:solidFill>
                <a:latin typeface="+mn-lt"/>
                <a:ea typeface="+mn-ea"/>
                <a:cs typeface="+mn-cs"/>
              </a:rPr>
              <a:t>process.</a:t>
            </a:r>
            <a:endParaRPr lang="en-US" b="0"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48</a:t>
            </a:fld>
            <a:endParaRPr lang="en-US" dirty="0"/>
          </a:p>
        </p:txBody>
      </p:sp>
    </p:spTree>
    <p:extLst>
      <p:ext uri="{BB962C8B-B14F-4D97-AF65-F5344CB8AC3E}">
        <p14:creationId xmlns:p14="http://schemas.microsoft.com/office/powerpoint/2010/main" val="65597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lang="en-US" sz="1200" b="0" kern="1200" baseline="0" dirty="0">
                <a:solidFill>
                  <a:schemeClr val="tx1"/>
                </a:solidFill>
                <a:latin typeface="+mn-lt"/>
                <a:ea typeface="+mn-ea"/>
                <a:cs typeface="+mn-cs"/>
              </a:rPr>
              <a:t>In Chapter 1 , we discussed the inclusion of an interrupt stage as</a:t>
            </a:r>
          </a:p>
          <a:p>
            <a:r>
              <a:rPr lang="en-US" sz="1200" b="0" kern="1200" baseline="0" dirty="0">
                <a:solidFill>
                  <a:schemeClr val="tx1"/>
                </a:solidFill>
                <a:latin typeface="+mn-lt"/>
                <a:ea typeface="+mn-ea"/>
                <a:cs typeface="+mn-cs"/>
              </a:rPr>
              <a:t>part of the instruction cycle. Recall that, in the interrupt stage, the processor checks</a:t>
            </a:r>
          </a:p>
          <a:p>
            <a:r>
              <a:rPr lang="en-US" sz="1200" b="0" kern="1200" baseline="0" dirty="0">
                <a:solidFill>
                  <a:schemeClr val="tx1"/>
                </a:solidFill>
                <a:latin typeface="+mn-lt"/>
                <a:ea typeface="+mn-ea"/>
                <a:cs typeface="+mn-cs"/>
              </a:rPr>
              <a:t>to see if any interrupts are pending, indicated by the presence of an interrupt signal.</a:t>
            </a:r>
          </a:p>
          <a:p>
            <a:r>
              <a:rPr lang="en-US" sz="1200" b="0" kern="1200" baseline="0" dirty="0">
                <a:solidFill>
                  <a:schemeClr val="tx1"/>
                </a:solidFill>
                <a:latin typeface="+mn-lt"/>
                <a:ea typeface="+mn-ea"/>
                <a:cs typeface="+mn-cs"/>
              </a:rPr>
              <a:t>If no interrupts are pending, the processor proceeds to the fetch stage and fetches</a:t>
            </a:r>
          </a:p>
          <a:p>
            <a:r>
              <a:rPr lang="en-US" sz="1200" b="0" kern="1200" baseline="0" dirty="0">
                <a:solidFill>
                  <a:schemeClr val="tx1"/>
                </a:solidFill>
                <a:latin typeface="+mn-lt"/>
                <a:ea typeface="+mn-ea"/>
                <a:cs typeface="+mn-cs"/>
              </a:rPr>
              <a:t>the next instruction of the current program in the current process. If an interrupt is</a:t>
            </a:r>
          </a:p>
          <a:p>
            <a:r>
              <a:rPr lang="en-US" sz="1200" b="0" kern="1200" baseline="0" dirty="0">
                <a:solidFill>
                  <a:schemeClr val="tx1"/>
                </a:solidFill>
                <a:latin typeface="+mn-lt"/>
                <a:ea typeface="+mn-ea"/>
                <a:cs typeface="+mn-cs"/>
              </a:rPr>
              <a:t>pending, the processor does the following:</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1. It sets the program counter to the starting address of an interrupt handler</a:t>
            </a:r>
          </a:p>
          <a:p>
            <a:r>
              <a:rPr lang="en-US" sz="1200" b="0" kern="1200" baseline="0" dirty="0">
                <a:solidFill>
                  <a:schemeClr val="tx1"/>
                </a:solidFill>
                <a:latin typeface="+mn-lt"/>
                <a:ea typeface="+mn-ea"/>
                <a:cs typeface="+mn-cs"/>
              </a:rPr>
              <a:t>program.</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2. It switches from user mode to kernel mode so that the interrupt processing</a:t>
            </a:r>
          </a:p>
          <a:p>
            <a:r>
              <a:rPr lang="en-US" sz="1200" b="0" kern="1200" baseline="0" dirty="0">
                <a:solidFill>
                  <a:schemeClr val="tx1"/>
                </a:solidFill>
                <a:latin typeface="+mn-lt"/>
                <a:ea typeface="+mn-ea"/>
                <a:cs typeface="+mn-cs"/>
              </a:rPr>
              <a:t>code may include privileged instructions.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The processor now proceeds to the fetch stage and fetches the first instruction of</a:t>
            </a:r>
          </a:p>
          <a:p>
            <a:r>
              <a:rPr lang="en-US" sz="1200" b="0" kern="1200" baseline="0" dirty="0">
                <a:solidFill>
                  <a:schemeClr val="tx1"/>
                </a:solidFill>
                <a:latin typeface="+mn-lt"/>
                <a:ea typeface="+mn-ea"/>
                <a:cs typeface="+mn-cs"/>
              </a:rPr>
              <a:t>the interrupt handler program, which will service the interrupt. At this point, typically,</a:t>
            </a:r>
          </a:p>
          <a:p>
            <a:r>
              <a:rPr lang="en-US" sz="1200" b="0" kern="1200" baseline="0" dirty="0">
                <a:solidFill>
                  <a:schemeClr val="tx1"/>
                </a:solidFill>
                <a:latin typeface="+mn-lt"/>
                <a:ea typeface="+mn-ea"/>
                <a:cs typeface="+mn-cs"/>
              </a:rPr>
              <a:t>the context of the process that has been interrupted is saved into that process</a:t>
            </a:r>
          </a:p>
          <a:p>
            <a:r>
              <a:rPr lang="en-US" sz="1200" b="0" kern="1200" baseline="0" dirty="0">
                <a:solidFill>
                  <a:schemeClr val="tx1"/>
                </a:solidFill>
                <a:latin typeface="+mn-lt"/>
                <a:ea typeface="+mn-ea"/>
                <a:cs typeface="+mn-cs"/>
              </a:rPr>
              <a:t>control block of the interrupted program.</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One question that may now occur to you is, What constitutes the context that</a:t>
            </a:r>
          </a:p>
          <a:p>
            <a:r>
              <a:rPr lang="en-US" sz="1200" b="0" kern="1200" baseline="0" dirty="0">
                <a:solidFill>
                  <a:schemeClr val="tx1"/>
                </a:solidFill>
                <a:latin typeface="+mn-lt"/>
                <a:ea typeface="+mn-ea"/>
                <a:cs typeface="+mn-cs"/>
              </a:rPr>
              <a:t>is saved? The answer is that it must include any information that may be altered by</a:t>
            </a:r>
          </a:p>
          <a:p>
            <a:r>
              <a:rPr lang="en-US" sz="1200" b="0" kern="1200" baseline="0" dirty="0">
                <a:solidFill>
                  <a:schemeClr val="tx1"/>
                </a:solidFill>
                <a:latin typeface="+mn-lt"/>
                <a:ea typeface="+mn-ea"/>
                <a:cs typeface="+mn-cs"/>
              </a:rPr>
              <a:t>the execution of the interrupt handler and that will be needed to resume the program</a:t>
            </a:r>
          </a:p>
          <a:p>
            <a:r>
              <a:rPr lang="en-US" sz="1200" b="0" kern="1200" baseline="0" dirty="0">
                <a:solidFill>
                  <a:schemeClr val="tx1"/>
                </a:solidFill>
                <a:latin typeface="+mn-lt"/>
                <a:ea typeface="+mn-ea"/>
                <a:cs typeface="+mn-cs"/>
              </a:rPr>
              <a:t>that was interrupted. Thus, the portion of the process control block that was</a:t>
            </a:r>
          </a:p>
          <a:p>
            <a:r>
              <a:rPr lang="en-US" sz="1200" b="0" kern="1200" baseline="0" dirty="0">
                <a:solidFill>
                  <a:schemeClr val="tx1"/>
                </a:solidFill>
                <a:latin typeface="+mn-lt"/>
                <a:ea typeface="+mn-ea"/>
                <a:cs typeface="+mn-cs"/>
              </a:rPr>
              <a:t>referred to as processor state information must be saved. This includes the program</a:t>
            </a:r>
          </a:p>
          <a:p>
            <a:r>
              <a:rPr lang="en-US" sz="1200" b="0" kern="1200" baseline="0" dirty="0">
                <a:solidFill>
                  <a:schemeClr val="tx1"/>
                </a:solidFill>
                <a:latin typeface="+mn-lt"/>
                <a:ea typeface="+mn-ea"/>
                <a:cs typeface="+mn-cs"/>
              </a:rPr>
              <a:t>counter, other processor registers, and stack information.</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Does anything else need to be done? That depends on what happens next. The</a:t>
            </a:r>
          </a:p>
          <a:p>
            <a:r>
              <a:rPr lang="en-US" sz="1200" b="0" kern="1200" baseline="0" dirty="0">
                <a:solidFill>
                  <a:schemeClr val="tx1"/>
                </a:solidFill>
                <a:latin typeface="+mn-lt"/>
                <a:ea typeface="+mn-ea"/>
                <a:cs typeface="+mn-cs"/>
              </a:rPr>
              <a:t>interrupt handler is typically a short program that performs a few basic tasks related</a:t>
            </a:r>
          </a:p>
          <a:p>
            <a:r>
              <a:rPr lang="en-US" sz="1200" b="0" kern="1200" baseline="0" dirty="0">
                <a:solidFill>
                  <a:schemeClr val="tx1"/>
                </a:solidFill>
                <a:latin typeface="+mn-lt"/>
                <a:ea typeface="+mn-ea"/>
                <a:cs typeface="+mn-cs"/>
              </a:rPr>
              <a:t>to an interrupt. For example, it resets the flag or indicator that signals the presence</a:t>
            </a:r>
          </a:p>
          <a:p>
            <a:r>
              <a:rPr lang="en-US" sz="1200" b="0" kern="1200" baseline="0" dirty="0">
                <a:solidFill>
                  <a:schemeClr val="tx1"/>
                </a:solidFill>
                <a:latin typeface="+mn-lt"/>
                <a:ea typeface="+mn-ea"/>
                <a:cs typeface="+mn-cs"/>
              </a:rPr>
              <a:t>of an interrupt. It may send an acknowledgment to the entity that issued the interrupt,</a:t>
            </a:r>
          </a:p>
          <a:p>
            <a:r>
              <a:rPr lang="en-US" sz="1200" b="0" kern="1200" baseline="0" dirty="0">
                <a:solidFill>
                  <a:schemeClr val="tx1"/>
                </a:solidFill>
                <a:latin typeface="+mn-lt"/>
                <a:ea typeface="+mn-ea"/>
                <a:cs typeface="+mn-cs"/>
              </a:rPr>
              <a:t>such as an I/O module. And it may do some basic housekeeping relating to the</a:t>
            </a:r>
          </a:p>
          <a:p>
            <a:r>
              <a:rPr lang="en-US" sz="1200" b="0" kern="1200" baseline="0" dirty="0">
                <a:solidFill>
                  <a:schemeClr val="tx1"/>
                </a:solidFill>
                <a:latin typeface="+mn-lt"/>
                <a:ea typeface="+mn-ea"/>
                <a:cs typeface="+mn-cs"/>
              </a:rPr>
              <a:t>effects of the event that caused the interrupt. For example, if the interrupt relates</a:t>
            </a:r>
          </a:p>
          <a:p>
            <a:r>
              <a:rPr lang="en-US" sz="1200" b="0" kern="1200" baseline="0" dirty="0">
                <a:solidFill>
                  <a:schemeClr val="tx1"/>
                </a:solidFill>
                <a:latin typeface="+mn-lt"/>
                <a:ea typeface="+mn-ea"/>
                <a:cs typeface="+mn-cs"/>
              </a:rPr>
              <a:t>to an I/O event, the interrupt handler will check for an error condition. If an error</a:t>
            </a:r>
          </a:p>
          <a:p>
            <a:r>
              <a:rPr lang="en-US" sz="1200" b="0" kern="1200" baseline="0" dirty="0">
                <a:solidFill>
                  <a:schemeClr val="tx1"/>
                </a:solidFill>
                <a:latin typeface="+mn-lt"/>
                <a:ea typeface="+mn-ea"/>
                <a:cs typeface="+mn-cs"/>
              </a:rPr>
              <a:t>has occurred, the interrupt handler may send a signal to the process that originally</a:t>
            </a:r>
          </a:p>
          <a:p>
            <a:r>
              <a:rPr lang="en-US" sz="1200" b="0" kern="1200" baseline="0" dirty="0">
                <a:solidFill>
                  <a:schemeClr val="tx1"/>
                </a:solidFill>
                <a:latin typeface="+mn-lt"/>
                <a:ea typeface="+mn-ea"/>
                <a:cs typeface="+mn-cs"/>
              </a:rPr>
              <a:t>requested the I/O operation. If the interrupt is by the clock, then the handler will</a:t>
            </a:r>
          </a:p>
          <a:p>
            <a:r>
              <a:rPr lang="en-US" sz="1200" b="0" kern="1200" baseline="0" dirty="0">
                <a:solidFill>
                  <a:schemeClr val="tx1"/>
                </a:solidFill>
                <a:latin typeface="+mn-lt"/>
                <a:ea typeface="+mn-ea"/>
                <a:cs typeface="+mn-cs"/>
              </a:rPr>
              <a:t>hand control over to the dispatcher, which will want to pass control to another process</a:t>
            </a:r>
          </a:p>
          <a:p>
            <a:r>
              <a:rPr lang="en-US" sz="1200" b="0" kern="1200" baseline="0" dirty="0">
                <a:solidFill>
                  <a:schemeClr val="tx1"/>
                </a:solidFill>
                <a:latin typeface="+mn-lt"/>
                <a:ea typeface="+mn-ea"/>
                <a:cs typeface="+mn-cs"/>
              </a:rPr>
              <a:t>because the time slice allotted to the currently running process has expired.</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What about the other information in the process control block? If this interrupt</a:t>
            </a:r>
          </a:p>
          <a:p>
            <a:r>
              <a:rPr lang="en-US" sz="1200" b="0" kern="1200" baseline="0" dirty="0">
                <a:solidFill>
                  <a:schemeClr val="tx1"/>
                </a:solidFill>
                <a:latin typeface="+mn-lt"/>
                <a:ea typeface="+mn-ea"/>
                <a:cs typeface="+mn-cs"/>
              </a:rPr>
              <a:t>is to be followed by a switch to another process, then some work will need to be</a:t>
            </a:r>
          </a:p>
          <a:p>
            <a:r>
              <a:rPr lang="en-US" sz="1200" b="0" kern="1200" baseline="0" dirty="0">
                <a:solidFill>
                  <a:schemeClr val="tx1"/>
                </a:solidFill>
                <a:latin typeface="+mn-lt"/>
                <a:ea typeface="+mn-ea"/>
                <a:cs typeface="+mn-cs"/>
              </a:rPr>
              <a:t>done. However, in most operating systems, the occurrence of an interrupt does not</a:t>
            </a:r>
          </a:p>
          <a:p>
            <a:r>
              <a:rPr lang="en-US" sz="1200" b="0" kern="1200" baseline="0" dirty="0">
                <a:solidFill>
                  <a:schemeClr val="tx1"/>
                </a:solidFill>
                <a:latin typeface="+mn-lt"/>
                <a:ea typeface="+mn-ea"/>
                <a:cs typeface="+mn-cs"/>
              </a:rPr>
              <a:t>necessarily mean a process switch. It is possible that, after the interrupt handler has</a:t>
            </a:r>
          </a:p>
          <a:p>
            <a:r>
              <a:rPr lang="en-US" sz="1200" b="0" kern="1200" baseline="0" dirty="0">
                <a:solidFill>
                  <a:schemeClr val="tx1"/>
                </a:solidFill>
                <a:latin typeface="+mn-lt"/>
                <a:ea typeface="+mn-ea"/>
                <a:cs typeface="+mn-cs"/>
              </a:rPr>
              <a:t>executed, the currently running process will resume execution. In that case, all that</a:t>
            </a:r>
          </a:p>
          <a:p>
            <a:r>
              <a:rPr lang="en-US" sz="1200" b="0" kern="1200" baseline="0" dirty="0">
                <a:solidFill>
                  <a:schemeClr val="tx1"/>
                </a:solidFill>
                <a:latin typeface="+mn-lt"/>
                <a:ea typeface="+mn-ea"/>
                <a:cs typeface="+mn-cs"/>
              </a:rPr>
              <a:t>is necessary is to save the processor state information when the interrupt occurs and</a:t>
            </a:r>
          </a:p>
          <a:p>
            <a:r>
              <a:rPr lang="en-US" sz="1200" b="0" kern="1200" baseline="0" dirty="0">
                <a:solidFill>
                  <a:schemeClr val="tx1"/>
                </a:solidFill>
                <a:latin typeface="+mn-lt"/>
                <a:ea typeface="+mn-ea"/>
                <a:cs typeface="+mn-cs"/>
              </a:rPr>
              <a:t>restore that information when control is returned to the program that was running.</a:t>
            </a:r>
          </a:p>
          <a:p>
            <a:r>
              <a:rPr lang="en-US" sz="1200" b="0" kern="1200" baseline="0" dirty="0">
                <a:solidFill>
                  <a:schemeClr val="tx1"/>
                </a:solidFill>
                <a:latin typeface="+mn-lt"/>
                <a:ea typeface="+mn-ea"/>
                <a:cs typeface="+mn-cs"/>
              </a:rPr>
              <a:t>Typically, the saving and restoring functions are performed in hardware.</a:t>
            </a:r>
            <a:endParaRPr lang="en-US" b="0"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49</a:t>
            </a:fld>
            <a:endParaRPr lang="en-US" dirty="0"/>
          </a:p>
        </p:txBody>
      </p:sp>
    </p:spTree>
    <p:extLst>
      <p:ext uri="{BB962C8B-B14F-4D97-AF65-F5344CB8AC3E}">
        <p14:creationId xmlns:p14="http://schemas.microsoft.com/office/powerpoint/2010/main" val="163856740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50</a:t>
            </a:fld>
            <a:endParaRPr lang="en-US" dirty="0"/>
          </a:p>
        </p:txBody>
      </p:sp>
    </p:spTree>
    <p:extLst>
      <p:ext uri="{BB962C8B-B14F-4D97-AF65-F5344CB8AC3E}">
        <p14:creationId xmlns:p14="http://schemas.microsoft.com/office/powerpoint/2010/main" val="337457160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sz="1200" b="0" kern="1200" baseline="0" dirty="0">
                <a:solidFill>
                  <a:schemeClr val="tx1"/>
                </a:solidFill>
                <a:latin typeface="+mn-lt"/>
                <a:ea typeface="+mn-ea"/>
                <a:cs typeface="+mn-cs"/>
              </a:rPr>
              <a:t>It is clear, then, that the mode switch is a concept</a:t>
            </a:r>
          </a:p>
          <a:p>
            <a:r>
              <a:rPr lang="en-US" sz="1200" b="0" kern="1200" baseline="0" dirty="0">
                <a:solidFill>
                  <a:schemeClr val="tx1"/>
                </a:solidFill>
                <a:latin typeface="+mn-lt"/>
                <a:ea typeface="+mn-ea"/>
                <a:cs typeface="+mn-cs"/>
              </a:rPr>
              <a:t>distinct from that of the process switch. </a:t>
            </a:r>
            <a:r>
              <a:rPr lang="en-US" sz="800" b="0" kern="1200" baseline="0" dirty="0">
                <a:solidFill>
                  <a:schemeClr val="tx1"/>
                </a:solidFill>
                <a:latin typeface="+mn-lt"/>
                <a:ea typeface="+mn-ea"/>
                <a:cs typeface="+mn-cs"/>
              </a:rPr>
              <a:t> </a:t>
            </a:r>
            <a:r>
              <a:rPr lang="en-US" sz="1200" b="0" kern="1200" baseline="0" dirty="0">
                <a:solidFill>
                  <a:schemeClr val="tx1"/>
                </a:solidFill>
                <a:latin typeface="+mn-lt"/>
                <a:ea typeface="+mn-ea"/>
                <a:cs typeface="+mn-cs"/>
              </a:rPr>
              <a:t>A mode switch may occur without</a:t>
            </a:r>
          </a:p>
          <a:p>
            <a:r>
              <a:rPr lang="en-US" sz="1200" b="0" kern="1200" baseline="0" dirty="0">
                <a:solidFill>
                  <a:schemeClr val="tx1"/>
                </a:solidFill>
                <a:latin typeface="+mn-lt"/>
                <a:ea typeface="+mn-ea"/>
                <a:cs typeface="+mn-cs"/>
              </a:rPr>
              <a:t>changing the state of the process that is currently in the Running state. In that case,</a:t>
            </a:r>
          </a:p>
          <a:p>
            <a:r>
              <a:rPr lang="en-US" sz="1200" b="0" kern="1200" baseline="0" dirty="0">
                <a:solidFill>
                  <a:schemeClr val="tx1"/>
                </a:solidFill>
                <a:latin typeface="+mn-lt"/>
                <a:ea typeface="+mn-ea"/>
                <a:cs typeface="+mn-cs"/>
              </a:rPr>
              <a:t>the context saving and subsequent restoral involve little overhead. However, if the</a:t>
            </a:r>
          </a:p>
          <a:p>
            <a:r>
              <a:rPr lang="en-US" sz="1200" b="0" kern="1200" baseline="0" dirty="0">
                <a:solidFill>
                  <a:schemeClr val="tx1"/>
                </a:solidFill>
                <a:latin typeface="+mn-lt"/>
                <a:ea typeface="+mn-ea"/>
                <a:cs typeface="+mn-cs"/>
              </a:rPr>
              <a:t>currently running process is to be moved to another state (Ready, Blocked, etc.),</a:t>
            </a:r>
          </a:p>
          <a:p>
            <a:r>
              <a:rPr lang="en-US" sz="1200" b="0" kern="1200" baseline="0" dirty="0">
                <a:solidFill>
                  <a:schemeClr val="tx1"/>
                </a:solidFill>
                <a:latin typeface="+mn-lt"/>
                <a:ea typeface="+mn-ea"/>
                <a:cs typeface="+mn-cs"/>
              </a:rPr>
              <a:t>then the OS must make substantial changes in its environment. The steps involved</a:t>
            </a:r>
          </a:p>
          <a:p>
            <a:r>
              <a:rPr lang="en-US" sz="1200" b="0" kern="1200" baseline="0" dirty="0">
                <a:solidFill>
                  <a:schemeClr val="tx1"/>
                </a:solidFill>
                <a:latin typeface="+mn-lt"/>
                <a:ea typeface="+mn-ea"/>
                <a:cs typeface="+mn-cs"/>
              </a:rPr>
              <a:t>in a full process switch are as follows: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1. Save the context of the processor, including program counter and other</a:t>
            </a:r>
          </a:p>
          <a:p>
            <a:r>
              <a:rPr lang="en-US" sz="1200" b="0" kern="1200" baseline="0" dirty="0">
                <a:solidFill>
                  <a:schemeClr val="tx1"/>
                </a:solidFill>
                <a:latin typeface="+mn-lt"/>
                <a:ea typeface="+mn-ea"/>
                <a:cs typeface="+mn-cs"/>
              </a:rPr>
              <a:t>registers.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2. Update the process control block of the process that is currently in the</a:t>
            </a:r>
          </a:p>
          <a:p>
            <a:r>
              <a:rPr lang="en-US" sz="1200" b="0" kern="1200" baseline="0" dirty="0">
                <a:solidFill>
                  <a:schemeClr val="tx1"/>
                </a:solidFill>
                <a:latin typeface="+mn-lt"/>
                <a:ea typeface="+mn-ea"/>
                <a:cs typeface="+mn-cs"/>
              </a:rPr>
              <a:t>Running state. This includes changing the state of the process to one of the</a:t>
            </a:r>
          </a:p>
          <a:p>
            <a:r>
              <a:rPr lang="en-US" sz="1200" b="0" kern="1200" baseline="0" dirty="0">
                <a:solidFill>
                  <a:schemeClr val="tx1"/>
                </a:solidFill>
                <a:latin typeface="+mn-lt"/>
                <a:ea typeface="+mn-ea"/>
                <a:cs typeface="+mn-cs"/>
              </a:rPr>
              <a:t>other states (Ready; Blocked; Ready/Suspend; or Exit). Other relevant fields</a:t>
            </a:r>
          </a:p>
          <a:p>
            <a:r>
              <a:rPr lang="en-US" sz="1200" b="0" kern="1200" baseline="0" dirty="0">
                <a:solidFill>
                  <a:schemeClr val="tx1"/>
                </a:solidFill>
                <a:latin typeface="+mn-lt"/>
                <a:ea typeface="+mn-ea"/>
                <a:cs typeface="+mn-cs"/>
              </a:rPr>
              <a:t>must also be updated, including the reason for leaving the Running state and</a:t>
            </a:r>
          </a:p>
          <a:p>
            <a:r>
              <a:rPr lang="en-US" sz="1200" b="0" kern="1200" baseline="0" dirty="0">
                <a:solidFill>
                  <a:schemeClr val="tx1"/>
                </a:solidFill>
                <a:latin typeface="+mn-lt"/>
                <a:ea typeface="+mn-ea"/>
                <a:cs typeface="+mn-cs"/>
              </a:rPr>
              <a:t>accounting information.</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3. Move the process control block of this process to the appropriate queue</a:t>
            </a:r>
          </a:p>
          <a:p>
            <a:r>
              <a:rPr lang="en-US" sz="1200" b="0" kern="1200" baseline="0" dirty="0">
                <a:solidFill>
                  <a:schemeClr val="tx1"/>
                </a:solidFill>
                <a:latin typeface="+mn-lt"/>
                <a:ea typeface="+mn-ea"/>
                <a:cs typeface="+mn-cs"/>
              </a:rPr>
              <a:t>(Ready; Blocked on Event </a:t>
            </a:r>
            <a:r>
              <a:rPr lang="en-US" sz="1200" b="0" i="1" kern="1200" baseline="0" dirty="0">
                <a:solidFill>
                  <a:schemeClr val="tx1"/>
                </a:solidFill>
                <a:latin typeface="+mn-lt"/>
                <a:ea typeface="+mn-ea"/>
                <a:cs typeface="+mn-cs"/>
              </a:rPr>
              <a:t>i ; Ready/Suspend).</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4. Select another process for execution; this topic is explored in Part Four.</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5. Update the process control block of the process selected. This includes changing</a:t>
            </a:r>
          </a:p>
          <a:p>
            <a:r>
              <a:rPr lang="en-US" sz="1200" b="0" kern="1200" baseline="0" dirty="0">
                <a:solidFill>
                  <a:schemeClr val="tx1"/>
                </a:solidFill>
                <a:latin typeface="+mn-lt"/>
                <a:ea typeface="+mn-ea"/>
                <a:cs typeface="+mn-cs"/>
              </a:rPr>
              <a:t>the state of this process to Running.</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6. Update memory management data structures. This may be required, depending</a:t>
            </a:r>
          </a:p>
          <a:p>
            <a:r>
              <a:rPr lang="en-US" sz="1200" b="0" kern="1200" baseline="0" dirty="0">
                <a:solidFill>
                  <a:schemeClr val="tx1"/>
                </a:solidFill>
                <a:latin typeface="+mn-lt"/>
                <a:ea typeface="+mn-ea"/>
                <a:cs typeface="+mn-cs"/>
              </a:rPr>
              <a:t>on how address translation is managed; this topic is explored in Part Three.</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7. Restore the context of the processor to that which existed at the time the</a:t>
            </a:r>
          </a:p>
          <a:p>
            <a:r>
              <a:rPr lang="en-US" sz="1200" b="0" kern="1200" baseline="0" dirty="0">
                <a:solidFill>
                  <a:schemeClr val="tx1"/>
                </a:solidFill>
                <a:latin typeface="+mn-lt"/>
                <a:ea typeface="+mn-ea"/>
                <a:cs typeface="+mn-cs"/>
              </a:rPr>
              <a:t>selected process was last switched out of the Running state, by loading in the</a:t>
            </a:r>
          </a:p>
          <a:p>
            <a:r>
              <a:rPr lang="en-US" sz="1200" b="0" kern="1200" baseline="0" dirty="0">
                <a:solidFill>
                  <a:schemeClr val="tx1"/>
                </a:solidFill>
                <a:latin typeface="+mn-lt"/>
                <a:ea typeface="+mn-ea"/>
                <a:cs typeface="+mn-cs"/>
              </a:rPr>
              <a:t>previous values of the program counter and other registers.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Thus, the process switch, which involves a state change, requires more effort than a</a:t>
            </a:r>
          </a:p>
          <a:p>
            <a:r>
              <a:rPr lang="en-US" sz="1200" b="0" kern="1200" baseline="0" dirty="0">
                <a:solidFill>
                  <a:schemeClr val="tx1"/>
                </a:solidFill>
                <a:latin typeface="+mn-lt"/>
                <a:ea typeface="+mn-ea"/>
                <a:cs typeface="+mn-cs"/>
              </a:rPr>
              <a:t>mode switch.</a:t>
            </a:r>
            <a:endParaRPr lang="en-NZ" b="0"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51</a:t>
            </a:fld>
            <a:endParaRPr lang="en-US" dirty="0"/>
          </a:p>
        </p:txBody>
      </p:sp>
    </p:spTree>
    <p:extLst>
      <p:ext uri="{BB962C8B-B14F-4D97-AF65-F5344CB8AC3E}">
        <p14:creationId xmlns:p14="http://schemas.microsoft.com/office/powerpoint/2010/main" val="427922647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lang="en-US" sz="1200" kern="1200" baseline="0" dirty="0">
                <a:solidFill>
                  <a:schemeClr val="tx1"/>
                </a:solidFill>
                <a:latin typeface="+mn-lt"/>
                <a:ea typeface="+mn-ea"/>
                <a:cs typeface="+mn-cs"/>
              </a:rPr>
              <a:t>One traditional approach, common on many older operating systems, is to execute</a:t>
            </a:r>
          </a:p>
          <a:p>
            <a:r>
              <a:rPr lang="en-US" sz="1200" kern="1200" baseline="0" dirty="0">
                <a:solidFill>
                  <a:schemeClr val="tx1"/>
                </a:solidFill>
                <a:latin typeface="+mn-lt"/>
                <a:ea typeface="+mn-ea"/>
                <a:cs typeface="+mn-cs"/>
              </a:rPr>
              <a:t>the kernel of the OS outside of any process ( Figure 3.15a ). With this approach,</a:t>
            </a:r>
          </a:p>
          <a:p>
            <a:r>
              <a:rPr lang="en-US" sz="1200" kern="1200" baseline="0" dirty="0">
                <a:solidFill>
                  <a:schemeClr val="tx1"/>
                </a:solidFill>
                <a:latin typeface="+mn-lt"/>
                <a:ea typeface="+mn-ea"/>
                <a:cs typeface="+mn-cs"/>
              </a:rPr>
              <a:t>when the currently running process is interrupted or issues a supervisor call, the</a:t>
            </a:r>
          </a:p>
          <a:p>
            <a:r>
              <a:rPr lang="en-US" sz="1200" kern="1200" baseline="0" dirty="0">
                <a:solidFill>
                  <a:schemeClr val="tx1"/>
                </a:solidFill>
                <a:latin typeface="+mn-lt"/>
                <a:ea typeface="+mn-ea"/>
                <a:cs typeface="+mn-cs"/>
              </a:rPr>
              <a:t>mode context of this process is saved and control is passed to the kernel. The OS has</a:t>
            </a:r>
          </a:p>
          <a:p>
            <a:r>
              <a:rPr lang="en-US" sz="1200" kern="1200" baseline="0" dirty="0">
                <a:solidFill>
                  <a:schemeClr val="tx1"/>
                </a:solidFill>
                <a:latin typeface="+mn-lt"/>
                <a:ea typeface="+mn-ea"/>
                <a:cs typeface="+mn-cs"/>
              </a:rPr>
              <a:t>its own region of memory to use and its own system stack for controlling procedure</a:t>
            </a:r>
          </a:p>
          <a:p>
            <a:r>
              <a:rPr lang="en-US" sz="1200" kern="1200" baseline="0" dirty="0">
                <a:solidFill>
                  <a:schemeClr val="tx1"/>
                </a:solidFill>
                <a:latin typeface="+mn-lt"/>
                <a:ea typeface="+mn-ea"/>
                <a:cs typeface="+mn-cs"/>
              </a:rPr>
              <a:t>calls and returns. The OS can perform any desired functions and restore the context</a:t>
            </a:r>
          </a:p>
          <a:p>
            <a:r>
              <a:rPr lang="en-US" sz="1200" kern="1200" baseline="0" dirty="0">
                <a:solidFill>
                  <a:schemeClr val="tx1"/>
                </a:solidFill>
                <a:latin typeface="+mn-lt"/>
                <a:ea typeface="+mn-ea"/>
                <a:cs typeface="+mn-cs"/>
              </a:rPr>
              <a:t>of the interrupted process, which causes execution to resume in the interrupted</a:t>
            </a:r>
          </a:p>
          <a:p>
            <a:r>
              <a:rPr lang="en-US" sz="1200" kern="1200" baseline="0" dirty="0">
                <a:solidFill>
                  <a:schemeClr val="tx1"/>
                </a:solidFill>
                <a:latin typeface="+mn-lt"/>
                <a:ea typeface="+mn-ea"/>
                <a:cs typeface="+mn-cs"/>
              </a:rPr>
              <a:t>user process. Alternatively, the OS can complete the function of saving the environment</a:t>
            </a:r>
          </a:p>
          <a:p>
            <a:r>
              <a:rPr lang="en-US" sz="1200" kern="1200" baseline="0" dirty="0">
                <a:solidFill>
                  <a:schemeClr val="tx1"/>
                </a:solidFill>
                <a:latin typeface="+mn-lt"/>
                <a:ea typeface="+mn-ea"/>
                <a:cs typeface="+mn-cs"/>
              </a:rPr>
              <a:t>of the process and proceed to schedule and dispatch another process. Whether</a:t>
            </a:r>
          </a:p>
          <a:p>
            <a:r>
              <a:rPr lang="en-US" sz="1200" kern="1200" baseline="0" dirty="0">
                <a:solidFill>
                  <a:schemeClr val="tx1"/>
                </a:solidFill>
                <a:latin typeface="+mn-lt"/>
                <a:ea typeface="+mn-ea"/>
                <a:cs typeface="+mn-cs"/>
              </a:rPr>
              <a:t>this happens depends on the reason for the interruption and the circumstances at</a:t>
            </a:r>
          </a:p>
          <a:p>
            <a:r>
              <a:rPr lang="en-US" sz="1200" kern="1200" baseline="0" dirty="0">
                <a:solidFill>
                  <a:schemeClr val="tx1"/>
                </a:solidFill>
                <a:latin typeface="+mn-lt"/>
                <a:ea typeface="+mn-ea"/>
                <a:cs typeface="+mn-cs"/>
              </a:rPr>
              <a:t>the time.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any case, the key point here is that the concept of process is considered to</a:t>
            </a:r>
          </a:p>
          <a:p>
            <a:r>
              <a:rPr lang="en-US" sz="1200" kern="1200" baseline="0" dirty="0">
                <a:solidFill>
                  <a:schemeClr val="tx1"/>
                </a:solidFill>
                <a:latin typeface="+mn-lt"/>
                <a:ea typeface="+mn-ea"/>
                <a:cs typeface="+mn-cs"/>
              </a:rPr>
              <a:t>apply only to user programs. The operating system code is executed as a separate</a:t>
            </a:r>
          </a:p>
          <a:p>
            <a:r>
              <a:rPr lang="en-US" sz="1200" kern="1200" baseline="0" dirty="0">
                <a:solidFill>
                  <a:schemeClr val="tx1"/>
                </a:solidFill>
                <a:latin typeface="+mn-lt"/>
                <a:ea typeface="+mn-ea"/>
                <a:cs typeface="+mn-cs"/>
              </a:rPr>
              <a:t>entity that operates in privileged mode.</a:t>
            </a:r>
          </a:p>
          <a:p>
            <a:endParaRPr lang="en-US" sz="1200"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Execution within User Processes</a:t>
            </a:r>
          </a:p>
          <a:p>
            <a:endParaRPr lang="en-US" sz="1200" b="1"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An alternative that is common with operating systems on smaller computers (PCs,</a:t>
            </a:r>
          </a:p>
          <a:p>
            <a:r>
              <a:rPr lang="en-US" sz="1200" kern="1200" baseline="0" dirty="0">
                <a:solidFill>
                  <a:schemeClr val="tx1"/>
                </a:solidFill>
                <a:latin typeface="+mn-lt"/>
                <a:ea typeface="+mn-ea"/>
                <a:cs typeface="+mn-cs"/>
              </a:rPr>
              <a:t>workstations) is to execute virtually all OS software in the context of a user process.</a:t>
            </a:r>
          </a:p>
          <a:p>
            <a:r>
              <a:rPr lang="en-US" sz="1200" kern="1200" baseline="0" dirty="0">
                <a:solidFill>
                  <a:schemeClr val="tx1"/>
                </a:solidFill>
                <a:latin typeface="+mn-lt"/>
                <a:ea typeface="+mn-ea"/>
                <a:cs typeface="+mn-cs"/>
              </a:rPr>
              <a:t>The view is that the OS is primarily a collection of routines that the user calls to</a:t>
            </a:r>
          </a:p>
          <a:p>
            <a:r>
              <a:rPr lang="en-US" sz="1200" kern="1200" baseline="0" dirty="0">
                <a:solidFill>
                  <a:schemeClr val="tx1"/>
                </a:solidFill>
                <a:latin typeface="+mn-lt"/>
                <a:ea typeface="+mn-ea"/>
                <a:cs typeface="+mn-cs"/>
              </a:rPr>
              <a:t>perform various functions, executed within the environment of the user’s process.</a:t>
            </a:r>
          </a:p>
          <a:p>
            <a:r>
              <a:rPr lang="en-US" sz="1200" kern="1200" baseline="0" dirty="0">
                <a:solidFill>
                  <a:schemeClr val="tx1"/>
                </a:solidFill>
                <a:latin typeface="+mn-lt"/>
                <a:ea typeface="+mn-ea"/>
                <a:cs typeface="+mn-cs"/>
              </a:rPr>
              <a:t>This is illustrated in Figure 3.15b . At any given point, the OS is managing </a:t>
            </a:r>
            <a:r>
              <a:rPr lang="en-US" sz="1200" i="1" kern="1200" baseline="0" dirty="0">
                <a:solidFill>
                  <a:schemeClr val="tx1"/>
                </a:solidFill>
                <a:latin typeface="+mn-lt"/>
                <a:ea typeface="+mn-ea"/>
                <a:cs typeface="+mn-cs"/>
              </a:rPr>
              <a:t>n process</a:t>
            </a:r>
          </a:p>
          <a:p>
            <a:r>
              <a:rPr lang="en-US" sz="1200" kern="1200" baseline="0" dirty="0">
                <a:solidFill>
                  <a:schemeClr val="tx1"/>
                </a:solidFill>
                <a:latin typeface="+mn-lt"/>
                <a:ea typeface="+mn-ea"/>
                <a:cs typeface="+mn-cs"/>
              </a:rPr>
              <a:t>images. Each image includes not only the regions illustrated in Figure 3.13 , but also</a:t>
            </a:r>
          </a:p>
          <a:p>
            <a:r>
              <a:rPr lang="en-US" sz="1200" kern="1200" baseline="0" dirty="0">
                <a:solidFill>
                  <a:schemeClr val="tx1"/>
                </a:solidFill>
                <a:latin typeface="+mn-lt"/>
                <a:ea typeface="+mn-ea"/>
                <a:cs typeface="+mn-cs"/>
              </a:rPr>
              <a:t>program, data, and stack areas for kernel programs.</a:t>
            </a:r>
          </a:p>
          <a:p>
            <a:endParaRPr lang="en-US" sz="1200"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Process-Based Operating System</a:t>
            </a:r>
          </a:p>
          <a:p>
            <a:endParaRPr lang="en-US" sz="1200" b="1"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Another alternative, illustrated in Figure 3.15c , is to implement the OS as a collection</a:t>
            </a:r>
          </a:p>
          <a:p>
            <a:r>
              <a:rPr lang="en-US" sz="1200" kern="1200" baseline="0" dirty="0">
                <a:solidFill>
                  <a:schemeClr val="tx1"/>
                </a:solidFill>
                <a:latin typeface="+mn-lt"/>
                <a:ea typeface="+mn-ea"/>
                <a:cs typeface="+mn-cs"/>
              </a:rPr>
              <a:t>of system processes. As in the other options, the software that is part of the</a:t>
            </a:r>
          </a:p>
          <a:p>
            <a:r>
              <a:rPr lang="en-US" sz="1200" kern="1200" baseline="0" dirty="0">
                <a:solidFill>
                  <a:schemeClr val="tx1"/>
                </a:solidFill>
                <a:latin typeface="+mn-lt"/>
                <a:ea typeface="+mn-ea"/>
                <a:cs typeface="+mn-cs"/>
              </a:rPr>
              <a:t>kernel executes in a kernel mode. In this case, however, major kernel functions are</a:t>
            </a:r>
          </a:p>
          <a:p>
            <a:r>
              <a:rPr lang="en-US" sz="1200" kern="1200" baseline="0" dirty="0">
                <a:solidFill>
                  <a:schemeClr val="tx1"/>
                </a:solidFill>
                <a:latin typeface="+mn-lt"/>
                <a:ea typeface="+mn-ea"/>
                <a:cs typeface="+mn-cs"/>
              </a:rPr>
              <a:t>organized as separate processes. Again, there may be a small amount of process switching</a:t>
            </a:r>
          </a:p>
          <a:p>
            <a:r>
              <a:rPr lang="en-US" sz="1200" kern="1200" baseline="0" dirty="0">
                <a:solidFill>
                  <a:schemeClr val="tx1"/>
                </a:solidFill>
                <a:latin typeface="+mn-lt"/>
                <a:ea typeface="+mn-ea"/>
                <a:cs typeface="+mn-cs"/>
              </a:rPr>
              <a:t>code that is executed outside of any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This approach has several advantages. It imposes a program design discipline</a:t>
            </a:r>
          </a:p>
          <a:p>
            <a:r>
              <a:rPr lang="en-US" sz="1200" kern="1200" baseline="0" dirty="0">
                <a:solidFill>
                  <a:schemeClr val="tx1"/>
                </a:solidFill>
                <a:latin typeface="+mn-lt"/>
                <a:ea typeface="+mn-ea"/>
                <a:cs typeface="+mn-cs"/>
              </a:rPr>
              <a:t>that encourages the use of a modular OS with minimal, clean interfaces between the</a:t>
            </a:r>
          </a:p>
          <a:p>
            <a:r>
              <a:rPr lang="en-US" sz="1200" kern="1200" baseline="0" dirty="0">
                <a:solidFill>
                  <a:schemeClr val="tx1"/>
                </a:solidFill>
                <a:latin typeface="+mn-lt"/>
                <a:ea typeface="+mn-ea"/>
                <a:cs typeface="+mn-cs"/>
              </a:rPr>
              <a:t>modules. In addition, some noncritical operating system functions are conveniently</a:t>
            </a:r>
          </a:p>
          <a:p>
            <a:r>
              <a:rPr lang="en-US" sz="1200" kern="1200" baseline="0" dirty="0">
                <a:solidFill>
                  <a:schemeClr val="tx1"/>
                </a:solidFill>
                <a:latin typeface="+mn-lt"/>
                <a:ea typeface="+mn-ea"/>
                <a:cs typeface="+mn-cs"/>
              </a:rPr>
              <a:t>implemented as separate processes. For example, we mentioned earlier a monitor</a:t>
            </a:r>
          </a:p>
          <a:p>
            <a:r>
              <a:rPr lang="en-US" sz="1200" kern="1200" baseline="0" dirty="0">
                <a:solidFill>
                  <a:schemeClr val="tx1"/>
                </a:solidFill>
                <a:latin typeface="+mn-lt"/>
                <a:ea typeface="+mn-ea"/>
                <a:cs typeface="+mn-cs"/>
              </a:rPr>
              <a:t>program that records the level of utilization of various resources (processor, memory,</a:t>
            </a:r>
          </a:p>
          <a:p>
            <a:r>
              <a:rPr lang="en-US" sz="1200" kern="1200" baseline="0" dirty="0">
                <a:solidFill>
                  <a:schemeClr val="tx1"/>
                </a:solidFill>
                <a:latin typeface="+mn-lt"/>
                <a:ea typeface="+mn-ea"/>
                <a:cs typeface="+mn-cs"/>
              </a:rPr>
              <a:t>channels) and the rate of progress of the user processes in the system. Because</a:t>
            </a:r>
          </a:p>
          <a:p>
            <a:r>
              <a:rPr lang="en-US" sz="1200" kern="1200" baseline="0" dirty="0">
                <a:solidFill>
                  <a:schemeClr val="tx1"/>
                </a:solidFill>
                <a:latin typeface="+mn-lt"/>
                <a:ea typeface="+mn-ea"/>
                <a:cs typeface="+mn-cs"/>
              </a:rPr>
              <a:t>this program does not provide a particular service to any active process, it can only</a:t>
            </a:r>
          </a:p>
          <a:p>
            <a:r>
              <a:rPr lang="en-US" sz="1200" kern="1200" baseline="0" dirty="0">
                <a:solidFill>
                  <a:schemeClr val="tx1"/>
                </a:solidFill>
                <a:latin typeface="+mn-lt"/>
                <a:ea typeface="+mn-ea"/>
                <a:cs typeface="+mn-cs"/>
              </a:rPr>
              <a:t>be invoked by the OS. As a process, the function can run at an assigned priority</a:t>
            </a:r>
          </a:p>
          <a:p>
            <a:r>
              <a:rPr lang="en-US" sz="1200" kern="1200" baseline="0" dirty="0">
                <a:solidFill>
                  <a:schemeClr val="tx1"/>
                </a:solidFill>
                <a:latin typeface="+mn-lt"/>
                <a:ea typeface="+mn-ea"/>
                <a:cs typeface="+mn-cs"/>
              </a:rPr>
              <a:t>level and be interleaved with other processes under dispatcher control. Finally,</a:t>
            </a:r>
          </a:p>
          <a:p>
            <a:r>
              <a:rPr lang="en-US" sz="1200" kern="1200" baseline="0" dirty="0">
                <a:solidFill>
                  <a:schemeClr val="tx1"/>
                </a:solidFill>
                <a:latin typeface="+mn-lt"/>
                <a:ea typeface="+mn-ea"/>
                <a:cs typeface="+mn-cs"/>
              </a:rPr>
              <a:t>implementing the OS as a set of processes is useful in a multiprocessor or multicomputer</a:t>
            </a:r>
          </a:p>
          <a:p>
            <a:r>
              <a:rPr lang="en-US" sz="1200" kern="1200" baseline="0" dirty="0">
                <a:solidFill>
                  <a:schemeClr val="tx1"/>
                </a:solidFill>
                <a:latin typeface="+mn-lt"/>
                <a:ea typeface="+mn-ea"/>
                <a:cs typeface="+mn-cs"/>
              </a:rPr>
              <a:t>environment, in which some of the operating system services can be shipped</a:t>
            </a:r>
          </a:p>
          <a:p>
            <a:r>
              <a:rPr lang="en-US" sz="1200" kern="1200" baseline="0" dirty="0">
                <a:solidFill>
                  <a:schemeClr val="tx1"/>
                </a:solidFill>
                <a:latin typeface="+mn-lt"/>
                <a:ea typeface="+mn-ea"/>
                <a:cs typeface="+mn-cs"/>
              </a:rPr>
              <a:t>out to dedicated processors, improving performance.</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52</a:t>
            </a:fld>
            <a:endParaRPr lang="en-US" dirty="0"/>
          </a:p>
        </p:txBody>
      </p:sp>
    </p:spTree>
    <p:extLst>
      <p:ext uri="{BB962C8B-B14F-4D97-AF65-F5344CB8AC3E}">
        <p14:creationId xmlns:p14="http://schemas.microsoft.com/office/powerpoint/2010/main" val="24601406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sz="1200" kern="1200" baseline="0" dirty="0">
                <a:solidFill>
                  <a:schemeClr val="tx1"/>
                </a:solidFill>
                <a:latin typeface="+mn-lt"/>
                <a:ea typeface="+mn-ea"/>
                <a:cs typeface="+mn-cs"/>
              </a:rPr>
              <a:t>Figure 3.16 suggests a typical process image structure for this strategy. A separate</a:t>
            </a:r>
          </a:p>
          <a:p>
            <a:r>
              <a:rPr lang="en-US" sz="1200" kern="1200" baseline="0" dirty="0">
                <a:solidFill>
                  <a:schemeClr val="tx1"/>
                </a:solidFill>
                <a:latin typeface="+mn-lt"/>
                <a:ea typeface="+mn-ea"/>
                <a:cs typeface="+mn-cs"/>
              </a:rPr>
              <a:t>kernel stack is used to manage calls/returns while the process is in kernel mode.</a:t>
            </a:r>
          </a:p>
          <a:p>
            <a:r>
              <a:rPr lang="en-US" sz="1200" kern="1200" baseline="0" dirty="0">
                <a:solidFill>
                  <a:schemeClr val="tx1"/>
                </a:solidFill>
                <a:latin typeface="+mn-lt"/>
                <a:ea typeface="+mn-ea"/>
                <a:cs typeface="+mn-cs"/>
              </a:rPr>
              <a:t>Operating system code and data are in the shared address space and are shared by</a:t>
            </a:r>
          </a:p>
          <a:p>
            <a:r>
              <a:rPr lang="en-US" sz="1200" kern="1200" baseline="0" dirty="0">
                <a:solidFill>
                  <a:schemeClr val="tx1"/>
                </a:solidFill>
                <a:latin typeface="+mn-lt"/>
                <a:ea typeface="+mn-ea"/>
                <a:cs typeface="+mn-cs"/>
              </a:rPr>
              <a:t>all user processes.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When an interrupt, trap, or supervisor call occurs, the processor is placed in</a:t>
            </a:r>
          </a:p>
          <a:p>
            <a:r>
              <a:rPr lang="en-US" sz="1200" kern="1200" baseline="0" dirty="0">
                <a:solidFill>
                  <a:schemeClr val="tx1"/>
                </a:solidFill>
                <a:latin typeface="+mn-lt"/>
                <a:ea typeface="+mn-ea"/>
                <a:cs typeface="+mn-cs"/>
              </a:rPr>
              <a:t>kernel mode and control is passed to the OS. To pass control from a user program</a:t>
            </a:r>
          </a:p>
          <a:p>
            <a:r>
              <a:rPr lang="en-US" sz="1200" kern="1200" baseline="0" dirty="0">
                <a:solidFill>
                  <a:schemeClr val="tx1"/>
                </a:solidFill>
                <a:latin typeface="+mn-lt"/>
                <a:ea typeface="+mn-ea"/>
                <a:cs typeface="+mn-cs"/>
              </a:rPr>
              <a:t>to the OS, the mode context is saved and a mode switch takes place to an operating</a:t>
            </a:r>
          </a:p>
          <a:p>
            <a:r>
              <a:rPr lang="en-US" sz="1200" kern="1200" baseline="0" dirty="0">
                <a:solidFill>
                  <a:schemeClr val="tx1"/>
                </a:solidFill>
                <a:latin typeface="+mn-lt"/>
                <a:ea typeface="+mn-ea"/>
                <a:cs typeface="+mn-cs"/>
              </a:rPr>
              <a:t>system routine. However, execution continues within the current user process. Thus,</a:t>
            </a:r>
          </a:p>
          <a:p>
            <a:r>
              <a:rPr lang="en-US" sz="1200" kern="1200" baseline="0" dirty="0">
                <a:solidFill>
                  <a:schemeClr val="tx1"/>
                </a:solidFill>
                <a:latin typeface="+mn-lt"/>
                <a:ea typeface="+mn-ea"/>
                <a:cs typeface="+mn-cs"/>
              </a:rPr>
              <a:t>a process switch is not performed, just a mode switch within the same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If the OS, upon completion of its work, determines that the current process</a:t>
            </a:r>
          </a:p>
          <a:p>
            <a:r>
              <a:rPr lang="en-US" sz="1200" kern="1200" baseline="0" dirty="0">
                <a:solidFill>
                  <a:schemeClr val="tx1"/>
                </a:solidFill>
                <a:latin typeface="+mn-lt"/>
                <a:ea typeface="+mn-ea"/>
                <a:cs typeface="+mn-cs"/>
              </a:rPr>
              <a:t>should continue to run, then a mode switch resumes the interrupted program within</a:t>
            </a:r>
          </a:p>
          <a:p>
            <a:r>
              <a:rPr lang="en-US" sz="1200" kern="1200" baseline="0" dirty="0">
                <a:solidFill>
                  <a:schemeClr val="tx1"/>
                </a:solidFill>
                <a:latin typeface="+mn-lt"/>
                <a:ea typeface="+mn-ea"/>
                <a:cs typeface="+mn-cs"/>
              </a:rPr>
              <a:t>the current process. This is one of the key advantages of this approach: A user</a:t>
            </a:r>
          </a:p>
          <a:p>
            <a:r>
              <a:rPr lang="en-US" sz="1200" kern="1200" baseline="0" dirty="0">
                <a:solidFill>
                  <a:schemeClr val="tx1"/>
                </a:solidFill>
                <a:latin typeface="+mn-lt"/>
                <a:ea typeface="+mn-ea"/>
                <a:cs typeface="+mn-cs"/>
              </a:rPr>
              <a:t>program has been interrupted to employ some operating system routine, and then</a:t>
            </a:r>
          </a:p>
          <a:p>
            <a:r>
              <a:rPr lang="en-US" sz="1200" kern="1200" baseline="0" dirty="0">
                <a:solidFill>
                  <a:schemeClr val="tx1"/>
                </a:solidFill>
                <a:latin typeface="+mn-lt"/>
                <a:ea typeface="+mn-ea"/>
                <a:cs typeface="+mn-cs"/>
              </a:rPr>
              <a:t>resumed, and all of this has occurred without incurring the penalty of two process</a:t>
            </a:r>
          </a:p>
          <a:p>
            <a:r>
              <a:rPr lang="en-US" sz="1200" kern="1200" baseline="0" dirty="0">
                <a:solidFill>
                  <a:schemeClr val="tx1"/>
                </a:solidFill>
                <a:latin typeface="+mn-lt"/>
                <a:ea typeface="+mn-ea"/>
                <a:cs typeface="+mn-cs"/>
              </a:rPr>
              <a:t>switches. If, however, it is determined that a process switch is to occur rather than</a:t>
            </a:r>
          </a:p>
          <a:p>
            <a:r>
              <a:rPr lang="en-US" sz="1200" kern="1200" baseline="0" dirty="0">
                <a:solidFill>
                  <a:schemeClr val="tx1"/>
                </a:solidFill>
                <a:latin typeface="+mn-lt"/>
                <a:ea typeface="+mn-ea"/>
                <a:cs typeface="+mn-cs"/>
              </a:rPr>
              <a:t>returning to the previously executing program, then control is passed to a process-</a:t>
            </a:r>
          </a:p>
          <a:p>
            <a:r>
              <a:rPr lang="en-US" sz="1200" kern="1200" baseline="0" dirty="0">
                <a:solidFill>
                  <a:schemeClr val="tx1"/>
                </a:solidFill>
                <a:latin typeface="+mn-lt"/>
                <a:ea typeface="+mn-ea"/>
                <a:cs typeface="+mn-cs"/>
              </a:rPr>
              <a:t>switching routine. This routine may or may not execute in the current process,</a:t>
            </a:r>
          </a:p>
          <a:p>
            <a:r>
              <a:rPr lang="en-US" sz="1200" kern="1200" baseline="0" dirty="0">
                <a:solidFill>
                  <a:schemeClr val="tx1"/>
                </a:solidFill>
                <a:latin typeface="+mn-lt"/>
                <a:ea typeface="+mn-ea"/>
                <a:cs typeface="+mn-cs"/>
              </a:rPr>
              <a:t>depending on system design. At some point, however, the current process has to be</a:t>
            </a:r>
          </a:p>
          <a:p>
            <a:r>
              <a:rPr lang="en-US" sz="1200" kern="1200" baseline="0" dirty="0">
                <a:solidFill>
                  <a:schemeClr val="tx1"/>
                </a:solidFill>
                <a:latin typeface="+mn-lt"/>
                <a:ea typeface="+mn-ea"/>
                <a:cs typeface="+mn-cs"/>
              </a:rPr>
              <a:t>placed in a nonrunning state and another process designated as the running process.</a:t>
            </a:r>
          </a:p>
          <a:p>
            <a:r>
              <a:rPr lang="en-US" sz="1200" kern="1200" baseline="0" dirty="0">
                <a:solidFill>
                  <a:schemeClr val="tx1"/>
                </a:solidFill>
                <a:latin typeface="+mn-lt"/>
                <a:ea typeface="+mn-ea"/>
                <a:cs typeface="+mn-cs"/>
              </a:rPr>
              <a:t>During this phase, it is logically most convenient to view execution as taking place</a:t>
            </a:r>
          </a:p>
          <a:p>
            <a:r>
              <a:rPr lang="en-US" sz="1200" kern="1200" baseline="0" dirty="0">
                <a:solidFill>
                  <a:schemeClr val="tx1"/>
                </a:solidFill>
                <a:latin typeface="+mn-lt"/>
                <a:ea typeface="+mn-ea"/>
                <a:cs typeface="+mn-cs"/>
              </a:rPr>
              <a:t>outside of all processes.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a way, this view of the OS is remarkable. Simply put, at certain points in</a:t>
            </a:r>
          </a:p>
          <a:p>
            <a:r>
              <a:rPr lang="en-US" sz="1200" kern="1200" baseline="0" dirty="0">
                <a:solidFill>
                  <a:schemeClr val="tx1"/>
                </a:solidFill>
                <a:latin typeface="+mn-lt"/>
                <a:ea typeface="+mn-ea"/>
                <a:cs typeface="+mn-cs"/>
              </a:rPr>
              <a:t>time, a process will save its state information, choose another process to run from</a:t>
            </a:r>
          </a:p>
          <a:p>
            <a:r>
              <a:rPr lang="en-US" sz="1200" kern="1200" baseline="0" dirty="0">
                <a:solidFill>
                  <a:schemeClr val="tx1"/>
                </a:solidFill>
                <a:latin typeface="+mn-lt"/>
                <a:ea typeface="+mn-ea"/>
                <a:cs typeface="+mn-cs"/>
              </a:rPr>
              <a:t>among those that are ready, and relinquish control to that process. The reason this</a:t>
            </a:r>
          </a:p>
          <a:p>
            <a:r>
              <a:rPr lang="en-US" sz="1200" kern="1200" baseline="0" dirty="0">
                <a:solidFill>
                  <a:schemeClr val="tx1"/>
                </a:solidFill>
                <a:latin typeface="+mn-lt"/>
                <a:ea typeface="+mn-ea"/>
                <a:cs typeface="+mn-cs"/>
              </a:rPr>
              <a:t>is not an arbitrary and indeed chaotic situation is that during the critical time, the</a:t>
            </a:r>
          </a:p>
          <a:p>
            <a:r>
              <a:rPr lang="en-US" sz="1200" kern="1200" baseline="0" dirty="0">
                <a:solidFill>
                  <a:schemeClr val="tx1"/>
                </a:solidFill>
                <a:latin typeface="+mn-lt"/>
                <a:ea typeface="+mn-ea"/>
                <a:cs typeface="+mn-cs"/>
              </a:rPr>
              <a:t>code that is executed in the user process is shared operating system code and not</a:t>
            </a:r>
          </a:p>
          <a:p>
            <a:r>
              <a:rPr lang="en-US" sz="1200" kern="1200" baseline="0" dirty="0">
                <a:solidFill>
                  <a:schemeClr val="tx1"/>
                </a:solidFill>
                <a:latin typeface="+mn-lt"/>
                <a:ea typeface="+mn-ea"/>
                <a:cs typeface="+mn-cs"/>
              </a:rPr>
              <a:t>user code. Because of the concept of user mode and kernel mode, the user cannot</a:t>
            </a:r>
          </a:p>
          <a:p>
            <a:r>
              <a:rPr lang="en-US" sz="1200" kern="1200" baseline="0" dirty="0">
                <a:solidFill>
                  <a:schemeClr val="tx1"/>
                </a:solidFill>
                <a:latin typeface="+mn-lt"/>
                <a:ea typeface="+mn-ea"/>
                <a:cs typeface="+mn-cs"/>
              </a:rPr>
              <a:t>tamper with or interfere with the operating system routines, even though they are</a:t>
            </a:r>
          </a:p>
          <a:p>
            <a:r>
              <a:rPr lang="en-US" sz="1200" kern="1200" baseline="0" dirty="0">
                <a:solidFill>
                  <a:schemeClr val="tx1"/>
                </a:solidFill>
                <a:latin typeface="+mn-lt"/>
                <a:ea typeface="+mn-ea"/>
                <a:cs typeface="+mn-cs"/>
              </a:rPr>
              <a:t>executing in the user’s process environment. This further reminds us that there is</a:t>
            </a:r>
          </a:p>
          <a:p>
            <a:r>
              <a:rPr lang="en-US" sz="1200" kern="1200" baseline="0" dirty="0">
                <a:solidFill>
                  <a:schemeClr val="tx1"/>
                </a:solidFill>
                <a:latin typeface="+mn-lt"/>
                <a:ea typeface="+mn-ea"/>
                <a:cs typeface="+mn-cs"/>
              </a:rPr>
              <a:t>a distinction between the concepts of process and program and that the relationship</a:t>
            </a:r>
          </a:p>
          <a:p>
            <a:r>
              <a:rPr lang="en-US" sz="1200" kern="1200" baseline="0" dirty="0">
                <a:solidFill>
                  <a:schemeClr val="tx1"/>
                </a:solidFill>
                <a:latin typeface="+mn-lt"/>
                <a:ea typeface="+mn-ea"/>
                <a:cs typeface="+mn-cs"/>
              </a:rPr>
              <a:t>between the two is not one to one. Within a process, both a user program and</a:t>
            </a:r>
          </a:p>
          <a:p>
            <a:r>
              <a:rPr lang="en-US" sz="1200" kern="1200" baseline="0" dirty="0">
                <a:solidFill>
                  <a:schemeClr val="tx1"/>
                </a:solidFill>
                <a:latin typeface="+mn-lt"/>
                <a:ea typeface="+mn-ea"/>
                <a:cs typeface="+mn-cs"/>
              </a:rPr>
              <a:t>operating system programs may execute, and the operating system programs that</a:t>
            </a:r>
          </a:p>
          <a:p>
            <a:r>
              <a:rPr lang="en-US" sz="1200" kern="1200" baseline="0" dirty="0">
                <a:solidFill>
                  <a:schemeClr val="tx1"/>
                </a:solidFill>
                <a:latin typeface="+mn-lt"/>
                <a:ea typeface="+mn-ea"/>
                <a:cs typeface="+mn-cs"/>
              </a:rPr>
              <a:t>execute in the various user processes are identical.</a:t>
            </a:r>
            <a:endParaRPr lang="en-NZ"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53</a:t>
            </a:fld>
            <a:endParaRPr lang="en-US" dirty="0"/>
          </a:p>
        </p:txBody>
      </p:sp>
    </p:spTree>
    <p:extLst>
      <p:ext uri="{BB962C8B-B14F-4D97-AF65-F5344CB8AC3E}">
        <p14:creationId xmlns:p14="http://schemas.microsoft.com/office/powerpoint/2010/main" val="406804358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UNIX System V makes use of a simple but powerful process facility that is highly</a:t>
            </a:r>
          </a:p>
          <a:p>
            <a:r>
              <a:rPr lang="en-US" sz="1200" kern="1200" baseline="0" dirty="0">
                <a:solidFill>
                  <a:schemeClr val="tx1"/>
                </a:solidFill>
                <a:latin typeface="+mn-lt"/>
                <a:ea typeface="+mn-ea"/>
                <a:cs typeface="+mn-cs"/>
              </a:rPr>
              <a:t>visible to the user. UNIX follows the model of Figure 3.15b , in which most of the OS</a:t>
            </a:r>
          </a:p>
          <a:p>
            <a:r>
              <a:rPr lang="en-US" sz="1200" kern="1200" baseline="0" dirty="0">
                <a:solidFill>
                  <a:schemeClr val="tx1"/>
                </a:solidFill>
                <a:latin typeface="+mn-lt"/>
                <a:ea typeface="+mn-ea"/>
                <a:cs typeface="+mn-cs"/>
              </a:rPr>
              <a:t>executes within the environment of a user process. UNIX uses two categories of processes:</a:t>
            </a:r>
          </a:p>
          <a:p>
            <a:r>
              <a:rPr lang="en-US" sz="1200" kern="1200" baseline="0" dirty="0">
                <a:solidFill>
                  <a:schemeClr val="tx1"/>
                </a:solidFill>
                <a:latin typeface="+mn-lt"/>
                <a:ea typeface="+mn-ea"/>
                <a:cs typeface="+mn-cs"/>
              </a:rPr>
              <a:t>system processes and user processes. System processes run in kernel mode and</a:t>
            </a:r>
          </a:p>
          <a:p>
            <a:r>
              <a:rPr lang="en-US" sz="1200" kern="1200" baseline="0" dirty="0">
                <a:solidFill>
                  <a:schemeClr val="tx1"/>
                </a:solidFill>
                <a:latin typeface="+mn-lt"/>
                <a:ea typeface="+mn-ea"/>
                <a:cs typeface="+mn-cs"/>
              </a:rPr>
              <a:t>execute operating system code to perform administrative and housekeeping functions,</a:t>
            </a:r>
          </a:p>
          <a:p>
            <a:r>
              <a:rPr lang="en-US" sz="1200" kern="1200" baseline="0" dirty="0">
                <a:solidFill>
                  <a:schemeClr val="tx1"/>
                </a:solidFill>
                <a:latin typeface="+mn-lt"/>
                <a:ea typeface="+mn-ea"/>
                <a:cs typeface="+mn-cs"/>
              </a:rPr>
              <a:t>such as allocation of memory and process swapping. User processes operate</a:t>
            </a:r>
          </a:p>
          <a:p>
            <a:r>
              <a:rPr lang="en-US" sz="1200" kern="1200" baseline="0" dirty="0">
                <a:solidFill>
                  <a:schemeClr val="tx1"/>
                </a:solidFill>
                <a:latin typeface="+mn-lt"/>
                <a:ea typeface="+mn-ea"/>
                <a:cs typeface="+mn-cs"/>
              </a:rPr>
              <a:t>in user mode to execute user programs and utilities and in kernel mode to execute</a:t>
            </a:r>
          </a:p>
          <a:p>
            <a:r>
              <a:rPr lang="en-US" sz="1200" kern="1200" baseline="0" dirty="0">
                <a:solidFill>
                  <a:schemeClr val="tx1"/>
                </a:solidFill>
                <a:latin typeface="+mn-lt"/>
                <a:ea typeface="+mn-ea"/>
                <a:cs typeface="+mn-cs"/>
              </a:rPr>
              <a:t>instructions that belong to the kernel. A user process enters kernel mode by issuing a</a:t>
            </a:r>
          </a:p>
          <a:p>
            <a:r>
              <a:rPr lang="en-US" sz="1200" kern="1200" baseline="0" dirty="0">
                <a:solidFill>
                  <a:schemeClr val="tx1"/>
                </a:solidFill>
                <a:latin typeface="+mn-lt"/>
                <a:ea typeface="+mn-ea"/>
                <a:cs typeface="+mn-cs"/>
              </a:rPr>
              <a:t>system call, when an exception (fault) is generated, or when an interrupt occurs.</a:t>
            </a:r>
            <a:endParaRPr lang="en-NZ"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54</a:t>
            </a:fld>
            <a:endParaRPr lang="en-US" dirty="0"/>
          </a:p>
        </p:txBody>
      </p:sp>
    </p:spTree>
    <p:extLst>
      <p:ext uri="{BB962C8B-B14F-4D97-AF65-F5344CB8AC3E}">
        <p14:creationId xmlns:p14="http://schemas.microsoft.com/office/powerpoint/2010/main" val="169844964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 total of nine process states are recognized by the UNIX SVR4 operating system;</a:t>
            </a:r>
          </a:p>
          <a:p>
            <a:r>
              <a:rPr lang="en-US" sz="1200" kern="1200" baseline="0" dirty="0">
                <a:solidFill>
                  <a:schemeClr val="tx1"/>
                </a:solidFill>
                <a:latin typeface="+mn-lt"/>
                <a:ea typeface="+mn-ea"/>
                <a:cs typeface="+mn-cs"/>
              </a:rPr>
              <a:t>these are listed in Table 3.9</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55</a:t>
            </a:fld>
            <a:endParaRPr lang="en-US" dirty="0"/>
          </a:p>
        </p:txBody>
      </p:sp>
    </p:spTree>
    <p:extLst>
      <p:ext uri="{BB962C8B-B14F-4D97-AF65-F5344CB8AC3E}">
        <p14:creationId xmlns:p14="http://schemas.microsoft.com/office/powerpoint/2010/main" val="261177074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sz="1200" kern="1200" baseline="0" dirty="0">
                <a:solidFill>
                  <a:schemeClr val="tx1"/>
                </a:solidFill>
                <a:latin typeface="+mn-lt"/>
                <a:ea typeface="+mn-ea"/>
                <a:cs typeface="+mn-cs"/>
              </a:rPr>
              <a:t>UNIX Process State Transition Diagram</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This figure is similar to Figure 3.9b , with the two</a:t>
            </a:r>
          </a:p>
          <a:p>
            <a:r>
              <a:rPr lang="en-US" sz="1200" kern="1200" baseline="0" dirty="0">
                <a:solidFill>
                  <a:schemeClr val="tx1"/>
                </a:solidFill>
                <a:latin typeface="+mn-lt"/>
                <a:ea typeface="+mn-ea"/>
                <a:cs typeface="+mn-cs"/>
              </a:rPr>
              <a:t>UNIX sleeping states corresponding to the two blocked states. The differences are</a:t>
            </a:r>
          </a:p>
          <a:p>
            <a:r>
              <a:rPr lang="en-US" sz="1200" kern="1200" baseline="0" dirty="0">
                <a:solidFill>
                  <a:schemeClr val="tx1"/>
                </a:solidFill>
                <a:latin typeface="+mn-lt"/>
                <a:ea typeface="+mn-ea"/>
                <a:cs typeface="+mn-cs"/>
              </a:rPr>
              <a:t>as follows: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UNIX employs two Running states to indicate whether the process is executing</a:t>
            </a:r>
          </a:p>
          <a:p>
            <a:r>
              <a:rPr lang="en-US" sz="1200" kern="1200" baseline="0" dirty="0">
                <a:solidFill>
                  <a:schemeClr val="tx1"/>
                </a:solidFill>
                <a:latin typeface="+mn-lt"/>
                <a:ea typeface="+mn-ea"/>
                <a:cs typeface="+mn-cs"/>
              </a:rPr>
              <a:t>in user mode or kernel mode.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 distinction is made between the two states: (Ready to Run, in Memory) and</a:t>
            </a:r>
          </a:p>
          <a:p>
            <a:r>
              <a:rPr lang="en-US" sz="1200" kern="1200" baseline="0" dirty="0">
                <a:solidFill>
                  <a:schemeClr val="tx1"/>
                </a:solidFill>
                <a:latin typeface="+mn-lt"/>
                <a:ea typeface="+mn-ea"/>
                <a:cs typeface="+mn-cs"/>
              </a:rPr>
              <a:t>(Preempted). These are essentially the same state, as indicated by the dotted</a:t>
            </a:r>
          </a:p>
          <a:p>
            <a:r>
              <a:rPr lang="en-US" sz="1200" kern="1200" baseline="0" dirty="0">
                <a:solidFill>
                  <a:schemeClr val="tx1"/>
                </a:solidFill>
                <a:latin typeface="+mn-lt"/>
                <a:ea typeface="+mn-ea"/>
                <a:cs typeface="+mn-cs"/>
              </a:rPr>
              <a:t>line joining them. The distinction is made to emphasize the way in which the</a:t>
            </a:r>
          </a:p>
          <a:p>
            <a:r>
              <a:rPr lang="en-US" sz="1200" kern="1200" baseline="0" dirty="0">
                <a:solidFill>
                  <a:schemeClr val="tx1"/>
                </a:solidFill>
                <a:latin typeface="+mn-lt"/>
                <a:ea typeface="+mn-ea"/>
                <a:cs typeface="+mn-cs"/>
              </a:rPr>
              <a:t>preempted state is entered. When a process is running in kernel mode (as a</a:t>
            </a:r>
          </a:p>
          <a:p>
            <a:r>
              <a:rPr lang="en-US" sz="1200" kern="1200" baseline="0" dirty="0">
                <a:solidFill>
                  <a:schemeClr val="tx1"/>
                </a:solidFill>
                <a:latin typeface="+mn-lt"/>
                <a:ea typeface="+mn-ea"/>
                <a:cs typeface="+mn-cs"/>
              </a:rPr>
              <a:t>result of a supervisor call, clock interrupt, or I/O interrupt), there will come</a:t>
            </a:r>
          </a:p>
          <a:p>
            <a:r>
              <a:rPr lang="en-US" sz="1200" kern="1200" baseline="0" dirty="0">
                <a:solidFill>
                  <a:schemeClr val="tx1"/>
                </a:solidFill>
                <a:latin typeface="+mn-lt"/>
                <a:ea typeface="+mn-ea"/>
                <a:cs typeface="+mn-cs"/>
              </a:rPr>
              <a:t>a time when the kernel has completed its work and is ready to return control</a:t>
            </a:r>
          </a:p>
          <a:p>
            <a:r>
              <a:rPr lang="en-US" sz="1200" kern="1200" baseline="0" dirty="0">
                <a:solidFill>
                  <a:schemeClr val="tx1"/>
                </a:solidFill>
                <a:latin typeface="+mn-lt"/>
                <a:ea typeface="+mn-ea"/>
                <a:cs typeface="+mn-cs"/>
              </a:rPr>
              <a:t>to the user program. At this point, the kernel may decide to preempt the current</a:t>
            </a:r>
          </a:p>
          <a:p>
            <a:r>
              <a:rPr lang="en-US" sz="1200" kern="1200" baseline="0" dirty="0">
                <a:solidFill>
                  <a:schemeClr val="tx1"/>
                </a:solidFill>
                <a:latin typeface="+mn-lt"/>
                <a:ea typeface="+mn-ea"/>
                <a:cs typeface="+mn-cs"/>
              </a:rPr>
              <a:t>process in favor of one that is ready and of higher priority. In that case,</a:t>
            </a:r>
          </a:p>
          <a:p>
            <a:r>
              <a:rPr lang="en-US" sz="1200" kern="1200" baseline="0" dirty="0">
                <a:solidFill>
                  <a:schemeClr val="tx1"/>
                </a:solidFill>
                <a:latin typeface="+mn-lt"/>
                <a:ea typeface="+mn-ea"/>
                <a:cs typeface="+mn-cs"/>
              </a:rPr>
              <a:t>the current process moves to the preempted state. However, for purposes of</a:t>
            </a:r>
          </a:p>
          <a:p>
            <a:r>
              <a:rPr lang="en-US" sz="1200" kern="1200" baseline="0" dirty="0">
                <a:solidFill>
                  <a:schemeClr val="tx1"/>
                </a:solidFill>
                <a:latin typeface="+mn-lt"/>
                <a:ea typeface="+mn-ea"/>
                <a:cs typeface="+mn-cs"/>
              </a:rPr>
              <a:t>dispatching, those processes in the Preempted state and those in the (Ready to</a:t>
            </a:r>
          </a:p>
          <a:p>
            <a:r>
              <a:rPr lang="en-US" sz="1200" kern="1200" baseline="0" dirty="0">
                <a:solidFill>
                  <a:schemeClr val="tx1"/>
                </a:solidFill>
                <a:latin typeface="+mn-lt"/>
                <a:ea typeface="+mn-ea"/>
                <a:cs typeface="+mn-cs"/>
              </a:rPr>
              <a:t>Run, in Memory) state form one queue.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Preemption can only occur when a process is about to move from kernel mode</a:t>
            </a:r>
          </a:p>
          <a:p>
            <a:r>
              <a:rPr lang="en-US" sz="1200" kern="1200" baseline="0" dirty="0">
                <a:solidFill>
                  <a:schemeClr val="tx1"/>
                </a:solidFill>
                <a:latin typeface="+mn-lt"/>
                <a:ea typeface="+mn-ea"/>
                <a:cs typeface="+mn-cs"/>
              </a:rPr>
              <a:t>to user mode. While a process is running in kernel mode, it may not be preempted.</a:t>
            </a:r>
          </a:p>
          <a:p>
            <a:r>
              <a:rPr lang="en-US" sz="1200" kern="1200" baseline="0" dirty="0">
                <a:solidFill>
                  <a:schemeClr val="tx1"/>
                </a:solidFill>
                <a:latin typeface="+mn-lt"/>
                <a:ea typeface="+mn-ea"/>
                <a:cs typeface="+mn-cs"/>
              </a:rPr>
              <a:t>This makes UNIX unsuitable for real-time processing. Chapter 10 discusses the</a:t>
            </a:r>
          </a:p>
          <a:p>
            <a:r>
              <a:rPr lang="en-US" sz="1200" kern="1200" baseline="0" dirty="0">
                <a:solidFill>
                  <a:schemeClr val="tx1"/>
                </a:solidFill>
                <a:latin typeface="+mn-lt"/>
                <a:ea typeface="+mn-ea"/>
                <a:cs typeface="+mn-cs"/>
              </a:rPr>
              <a:t>requirements for real-time processing.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Two processes are unique in UNIX. Process 0 is a special process that is created</a:t>
            </a:r>
          </a:p>
          <a:p>
            <a:r>
              <a:rPr lang="en-US" sz="1200" kern="1200" baseline="0" dirty="0">
                <a:solidFill>
                  <a:schemeClr val="tx1"/>
                </a:solidFill>
                <a:latin typeface="+mn-lt"/>
                <a:ea typeface="+mn-ea"/>
                <a:cs typeface="+mn-cs"/>
              </a:rPr>
              <a:t>when the system boots; in effect, it is predefined as a data structure loaded</a:t>
            </a:r>
          </a:p>
          <a:p>
            <a:r>
              <a:rPr lang="en-US" sz="1200" kern="1200" baseline="0" dirty="0">
                <a:solidFill>
                  <a:schemeClr val="tx1"/>
                </a:solidFill>
                <a:latin typeface="+mn-lt"/>
                <a:ea typeface="+mn-ea"/>
                <a:cs typeface="+mn-cs"/>
              </a:rPr>
              <a:t>at boot time. It is the swapper process. In addition, process 0 spawns process 1,</a:t>
            </a:r>
          </a:p>
          <a:p>
            <a:r>
              <a:rPr lang="en-US" sz="1200" kern="1200" baseline="0" dirty="0">
                <a:solidFill>
                  <a:schemeClr val="tx1"/>
                </a:solidFill>
                <a:latin typeface="+mn-lt"/>
                <a:ea typeface="+mn-ea"/>
                <a:cs typeface="+mn-cs"/>
              </a:rPr>
              <a:t>referred to as the init process; all other processes in the system have process 1 as</a:t>
            </a:r>
          </a:p>
          <a:p>
            <a:r>
              <a:rPr lang="en-US" sz="1200" kern="1200" baseline="0" dirty="0">
                <a:solidFill>
                  <a:schemeClr val="tx1"/>
                </a:solidFill>
                <a:latin typeface="+mn-lt"/>
                <a:ea typeface="+mn-ea"/>
                <a:cs typeface="+mn-cs"/>
              </a:rPr>
              <a:t>an ancestor. When a new interactive user logs on to the system, it is process 1 that</a:t>
            </a:r>
          </a:p>
          <a:p>
            <a:r>
              <a:rPr lang="en-US" sz="1200" kern="1200" baseline="0" dirty="0">
                <a:solidFill>
                  <a:schemeClr val="tx1"/>
                </a:solidFill>
                <a:latin typeface="+mn-lt"/>
                <a:ea typeface="+mn-ea"/>
                <a:cs typeface="+mn-cs"/>
              </a:rPr>
              <a:t>creates a user process for that user. Subsequently, the user process can create child</a:t>
            </a:r>
          </a:p>
          <a:p>
            <a:r>
              <a:rPr lang="en-US" sz="1200" kern="1200" baseline="0" dirty="0">
                <a:solidFill>
                  <a:schemeClr val="tx1"/>
                </a:solidFill>
                <a:latin typeface="+mn-lt"/>
                <a:ea typeface="+mn-ea"/>
                <a:cs typeface="+mn-cs"/>
              </a:rPr>
              <a:t>processes in a branching tree, so that any particular application can consist of a</a:t>
            </a:r>
          </a:p>
          <a:p>
            <a:r>
              <a:rPr lang="en-US" sz="1200" kern="1200" baseline="0" dirty="0">
                <a:solidFill>
                  <a:schemeClr val="tx1"/>
                </a:solidFill>
                <a:latin typeface="+mn-lt"/>
                <a:ea typeface="+mn-ea"/>
                <a:cs typeface="+mn-cs"/>
              </a:rPr>
              <a:t>number of related processes.</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56</a:t>
            </a:fld>
            <a:endParaRPr lang="en-US" dirty="0"/>
          </a:p>
        </p:txBody>
      </p:sp>
    </p:spTree>
    <p:extLst>
      <p:ext uri="{BB962C8B-B14F-4D97-AF65-F5344CB8AC3E}">
        <p14:creationId xmlns:p14="http://schemas.microsoft.com/office/powerpoint/2010/main" val="124380374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lang="en-US" sz="1200" kern="1200" baseline="0" dirty="0">
                <a:solidFill>
                  <a:schemeClr val="tx1"/>
                </a:solidFill>
                <a:latin typeface="+mn-lt"/>
                <a:ea typeface="+mn-ea"/>
                <a:cs typeface="+mn-cs"/>
              </a:rPr>
              <a:t>A process in UNIX is a rather complex set of data structures that provide the OS</a:t>
            </a:r>
          </a:p>
          <a:p>
            <a:r>
              <a:rPr lang="en-US" sz="1200" kern="1200" baseline="0" dirty="0">
                <a:solidFill>
                  <a:schemeClr val="tx1"/>
                </a:solidFill>
                <a:latin typeface="+mn-lt"/>
                <a:ea typeface="+mn-ea"/>
                <a:cs typeface="+mn-cs"/>
              </a:rPr>
              <a:t>with all of the information necessary to manage and dispatch processes. Table 3.10</a:t>
            </a:r>
          </a:p>
          <a:p>
            <a:r>
              <a:rPr lang="en-US" sz="1200" kern="1200" baseline="0" dirty="0">
                <a:solidFill>
                  <a:schemeClr val="tx1"/>
                </a:solidFill>
                <a:latin typeface="+mn-lt"/>
                <a:ea typeface="+mn-ea"/>
                <a:cs typeface="+mn-cs"/>
              </a:rPr>
              <a:t>summarizes the elements of the process image, which are organized into three parts:</a:t>
            </a:r>
          </a:p>
          <a:p>
            <a:r>
              <a:rPr lang="en-US" sz="1200" kern="1200" baseline="0" dirty="0">
                <a:solidFill>
                  <a:schemeClr val="tx1"/>
                </a:solidFill>
                <a:latin typeface="+mn-lt"/>
                <a:ea typeface="+mn-ea"/>
                <a:cs typeface="+mn-cs"/>
              </a:rPr>
              <a:t>user-level context, register context, and system-level context.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a:t>
            </a:r>
            <a:r>
              <a:rPr lang="en-US" sz="1200" b="1" kern="1200" baseline="0" dirty="0">
                <a:solidFill>
                  <a:schemeClr val="tx1"/>
                </a:solidFill>
                <a:latin typeface="+mn-lt"/>
                <a:ea typeface="+mn-ea"/>
                <a:cs typeface="+mn-cs"/>
              </a:rPr>
              <a:t>user-level context contains the basic elements of a user’s program and</a:t>
            </a:r>
          </a:p>
          <a:p>
            <a:r>
              <a:rPr lang="en-US" sz="1200" kern="1200" baseline="0" dirty="0">
                <a:solidFill>
                  <a:schemeClr val="tx1"/>
                </a:solidFill>
                <a:latin typeface="+mn-lt"/>
                <a:ea typeface="+mn-ea"/>
                <a:cs typeface="+mn-cs"/>
              </a:rPr>
              <a:t>can be generated directly from a compiled object file. The user’s program is separated</a:t>
            </a:r>
          </a:p>
          <a:p>
            <a:r>
              <a:rPr lang="en-US" sz="1200" kern="1200" baseline="0" dirty="0">
                <a:solidFill>
                  <a:schemeClr val="tx1"/>
                </a:solidFill>
                <a:latin typeface="+mn-lt"/>
                <a:ea typeface="+mn-ea"/>
                <a:cs typeface="+mn-cs"/>
              </a:rPr>
              <a:t>into text and data areas; the text area is read-only and is intended to hold</a:t>
            </a:r>
          </a:p>
          <a:p>
            <a:r>
              <a:rPr lang="en-US" sz="1200" kern="1200" baseline="0" dirty="0">
                <a:solidFill>
                  <a:schemeClr val="tx1"/>
                </a:solidFill>
                <a:latin typeface="+mn-lt"/>
                <a:ea typeface="+mn-ea"/>
                <a:cs typeface="+mn-cs"/>
              </a:rPr>
              <a:t>the program’s instructions. While the process is executing, the processor uses the</a:t>
            </a:r>
          </a:p>
          <a:p>
            <a:r>
              <a:rPr lang="en-US" sz="1200" kern="1200" baseline="0" dirty="0">
                <a:solidFill>
                  <a:schemeClr val="tx1"/>
                </a:solidFill>
                <a:latin typeface="+mn-lt"/>
                <a:ea typeface="+mn-ea"/>
                <a:cs typeface="+mn-cs"/>
              </a:rPr>
              <a:t>user stack area for procedure calls and returns and parameter passing. The shared</a:t>
            </a:r>
          </a:p>
          <a:p>
            <a:r>
              <a:rPr lang="en-US" sz="1200" kern="1200" baseline="0" dirty="0">
                <a:solidFill>
                  <a:schemeClr val="tx1"/>
                </a:solidFill>
                <a:latin typeface="+mn-lt"/>
                <a:ea typeface="+mn-ea"/>
                <a:cs typeface="+mn-cs"/>
              </a:rPr>
              <a:t>memory area is a data area that is shared with other processes. There is only one</a:t>
            </a:r>
          </a:p>
          <a:p>
            <a:r>
              <a:rPr lang="en-US" sz="1200" kern="1200" baseline="0" dirty="0">
                <a:solidFill>
                  <a:schemeClr val="tx1"/>
                </a:solidFill>
                <a:latin typeface="+mn-lt"/>
                <a:ea typeface="+mn-ea"/>
                <a:cs typeface="+mn-cs"/>
              </a:rPr>
              <a:t>physical copy of a shared memory area, but, by the use of virtual memory, it appears</a:t>
            </a:r>
          </a:p>
          <a:p>
            <a:r>
              <a:rPr lang="en-US" sz="1200" kern="1200" baseline="0" dirty="0">
                <a:solidFill>
                  <a:schemeClr val="tx1"/>
                </a:solidFill>
                <a:latin typeface="+mn-lt"/>
                <a:ea typeface="+mn-ea"/>
                <a:cs typeface="+mn-cs"/>
              </a:rPr>
              <a:t>to each sharing process that the shared memory region is in its address space. When</a:t>
            </a:r>
          </a:p>
          <a:p>
            <a:r>
              <a:rPr lang="en-US" sz="1200" kern="1200" baseline="0" dirty="0">
                <a:solidFill>
                  <a:schemeClr val="tx1"/>
                </a:solidFill>
                <a:latin typeface="+mn-lt"/>
                <a:ea typeface="+mn-ea"/>
                <a:cs typeface="+mn-cs"/>
              </a:rPr>
              <a:t>a process is not running, the processor status information is stored in the </a:t>
            </a:r>
            <a:r>
              <a:rPr lang="en-US" sz="1200" b="1" kern="1200" baseline="0" dirty="0">
                <a:solidFill>
                  <a:schemeClr val="tx1"/>
                </a:solidFill>
                <a:latin typeface="+mn-lt"/>
                <a:ea typeface="+mn-ea"/>
                <a:cs typeface="+mn-cs"/>
              </a:rPr>
              <a:t>register</a:t>
            </a:r>
          </a:p>
          <a:p>
            <a:r>
              <a:rPr lang="en-US" sz="1200" b="1" kern="1200" baseline="0" dirty="0">
                <a:solidFill>
                  <a:schemeClr val="tx1"/>
                </a:solidFill>
                <a:latin typeface="+mn-lt"/>
                <a:ea typeface="+mn-ea"/>
                <a:cs typeface="+mn-cs"/>
              </a:rPr>
              <a:t>context area.</a:t>
            </a:r>
          </a:p>
          <a:p>
            <a:endParaRPr lang="en-US" sz="1200" b="1"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a:t>
            </a:r>
            <a:r>
              <a:rPr lang="en-US" sz="1200" b="1" kern="1200" baseline="0" dirty="0">
                <a:solidFill>
                  <a:schemeClr val="tx1"/>
                </a:solidFill>
                <a:latin typeface="+mn-lt"/>
                <a:ea typeface="+mn-ea"/>
                <a:cs typeface="+mn-cs"/>
              </a:rPr>
              <a:t>system-level context contains the remaining information that the OS</a:t>
            </a:r>
          </a:p>
          <a:p>
            <a:r>
              <a:rPr lang="en-US" sz="1200" kern="1200" baseline="0" dirty="0">
                <a:solidFill>
                  <a:schemeClr val="tx1"/>
                </a:solidFill>
                <a:latin typeface="+mn-lt"/>
                <a:ea typeface="+mn-ea"/>
                <a:cs typeface="+mn-cs"/>
              </a:rPr>
              <a:t>needs to manage the process. It consists of a static part, which is fixed in size and</a:t>
            </a:r>
          </a:p>
          <a:p>
            <a:r>
              <a:rPr lang="en-US" sz="1200" kern="1200" baseline="0" dirty="0">
                <a:solidFill>
                  <a:schemeClr val="tx1"/>
                </a:solidFill>
                <a:latin typeface="+mn-lt"/>
                <a:ea typeface="+mn-ea"/>
                <a:cs typeface="+mn-cs"/>
              </a:rPr>
              <a:t>stays with a process throughout its lifetime, and a dynamic part, which varies in</a:t>
            </a:r>
          </a:p>
          <a:p>
            <a:r>
              <a:rPr lang="en-US" sz="1200" kern="1200" baseline="0" dirty="0">
                <a:solidFill>
                  <a:schemeClr val="tx1"/>
                </a:solidFill>
                <a:latin typeface="+mn-lt"/>
                <a:ea typeface="+mn-ea"/>
                <a:cs typeface="+mn-cs"/>
              </a:rPr>
              <a:t>size through the life of the process. One element of the static part is the process</a:t>
            </a:r>
          </a:p>
          <a:p>
            <a:r>
              <a:rPr lang="en-US" sz="1200" kern="1200" baseline="0" dirty="0">
                <a:solidFill>
                  <a:schemeClr val="tx1"/>
                </a:solidFill>
                <a:latin typeface="+mn-lt"/>
                <a:ea typeface="+mn-ea"/>
                <a:cs typeface="+mn-cs"/>
              </a:rPr>
              <a:t>table entry. This is actually part of the process table maintained by the OS, with</a:t>
            </a:r>
          </a:p>
          <a:p>
            <a:r>
              <a:rPr lang="en-US" sz="1200" kern="1200" baseline="0" dirty="0">
                <a:solidFill>
                  <a:schemeClr val="tx1"/>
                </a:solidFill>
                <a:latin typeface="+mn-lt"/>
                <a:ea typeface="+mn-ea"/>
                <a:cs typeface="+mn-cs"/>
              </a:rPr>
              <a:t>one entry per process. The process table entry contains process control information</a:t>
            </a:r>
          </a:p>
          <a:p>
            <a:r>
              <a:rPr lang="en-US" sz="1200" kern="1200" baseline="0" dirty="0">
                <a:solidFill>
                  <a:schemeClr val="tx1"/>
                </a:solidFill>
                <a:latin typeface="+mn-lt"/>
                <a:ea typeface="+mn-ea"/>
                <a:cs typeface="+mn-cs"/>
              </a:rPr>
              <a:t>that is accessible to the kernel at all times; hence, in a virtual memory system, all</a:t>
            </a:r>
          </a:p>
          <a:p>
            <a:r>
              <a:rPr lang="en-US" sz="1200" kern="1200" baseline="0" dirty="0">
                <a:solidFill>
                  <a:schemeClr val="tx1"/>
                </a:solidFill>
                <a:latin typeface="+mn-lt"/>
                <a:ea typeface="+mn-ea"/>
                <a:cs typeface="+mn-cs"/>
              </a:rPr>
              <a:t>process table entries are maintained in main memory. Table 3.11 lists the contents</a:t>
            </a:r>
          </a:p>
          <a:p>
            <a:r>
              <a:rPr lang="en-US" sz="1200" kern="1200" baseline="0" dirty="0">
                <a:solidFill>
                  <a:schemeClr val="tx1"/>
                </a:solidFill>
                <a:latin typeface="+mn-lt"/>
                <a:ea typeface="+mn-ea"/>
                <a:cs typeface="+mn-cs"/>
              </a:rPr>
              <a:t>of a process table entry. The user area, or U area, contains additional process control</a:t>
            </a:r>
          </a:p>
          <a:p>
            <a:r>
              <a:rPr lang="en-US" sz="1200" kern="1200" baseline="0" dirty="0">
                <a:solidFill>
                  <a:schemeClr val="tx1"/>
                </a:solidFill>
                <a:latin typeface="+mn-lt"/>
                <a:ea typeface="+mn-ea"/>
                <a:cs typeface="+mn-cs"/>
              </a:rPr>
              <a:t>information that is needed by the kernel when it is executing in the context of</a:t>
            </a:r>
          </a:p>
          <a:p>
            <a:r>
              <a:rPr lang="en-US" sz="1200" kern="1200" baseline="0" dirty="0">
                <a:solidFill>
                  <a:schemeClr val="tx1"/>
                </a:solidFill>
                <a:latin typeface="+mn-lt"/>
                <a:ea typeface="+mn-ea"/>
                <a:cs typeface="+mn-cs"/>
              </a:rPr>
              <a:t>this process; it is also used when paging processes to and from memory. Table 3.12</a:t>
            </a:r>
          </a:p>
          <a:p>
            <a:r>
              <a:rPr lang="en-US" sz="1200" kern="1200" baseline="0" dirty="0">
                <a:solidFill>
                  <a:schemeClr val="tx1"/>
                </a:solidFill>
                <a:latin typeface="+mn-lt"/>
                <a:ea typeface="+mn-ea"/>
                <a:cs typeface="+mn-cs"/>
              </a:rPr>
              <a:t>shows the contents of this table.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distinction between the process table entry and the U area reflects the</a:t>
            </a:r>
          </a:p>
          <a:p>
            <a:r>
              <a:rPr lang="en-US" sz="1200" kern="1200" baseline="0" dirty="0">
                <a:solidFill>
                  <a:schemeClr val="tx1"/>
                </a:solidFill>
                <a:latin typeface="+mn-lt"/>
                <a:ea typeface="+mn-ea"/>
                <a:cs typeface="+mn-cs"/>
              </a:rPr>
              <a:t>fact that the UNIX kernel always executes in the context of some process. Much</a:t>
            </a:r>
          </a:p>
          <a:p>
            <a:r>
              <a:rPr lang="en-US" sz="1200" kern="1200" baseline="0" dirty="0">
                <a:solidFill>
                  <a:schemeClr val="tx1"/>
                </a:solidFill>
                <a:latin typeface="+mn-lt"/>
                <a:ea typeface="+mn-ea"/>
                <a:cs typeface="+mn-cs"/>
              </a:rPr>
              <a:t>of the time, the kernel will be dealing with the concerns of that process. However,</a:t>
            </a:r>
          </a:p>
          <a:p>
            <a:r>
              <a:rPr lang="en-US" sz="1200" kern="1200" baseline="0" dirty="0">
                <a:solidFill>
                  <a:schemeClr val="tx1"/>
                </a:solidFill>
                <a:latin typeface="+mn-lt"/>
                <a:ea typeface="+mn-ea"/>
                <a:cs typeface="+mn-cs"/>
              </a:rPr>
              <a:t>some of the time, such as when the kernel is performing a scheduling algorithm</a:t>
            </a:r>
          </a:p>
          <a:p>
            <a:r>
              <a:rPr lang="en-US" sz="1200" kern="1200" baseline="0" dirty="0">
                <a:solidFill>
                  <a:schemeClr val="tx1"/>
                </a:solidFill>
                <a:latin typeface="+mn-lt"/>
                <a:ea typeface="+mn-ea"/>
                <a:cs typeface="+mn-cs"/>
              </a:rPr>
              <a:t>preparatory to dispatching another process, it will need access to information about</a:t>
            </a:r>
          </a:p>
          <a:p>
            <a:r>
              <a:rPr lang="en-US" sz="1200" kern="1200" baseline="0" dirty="0">
                <a:solidFill>
                  <a:schemeClr val="tx1"/>
                </a:solidFill>
                <a:latin typeface="+mn-lt"/>
                <a:ea typeface="+mn-ea"/>
                <a:cs typeface="+mn-cs"/>
              </a:rPr>
              <a:t>other processes. The information in a process table can be accessed when the given</a:t>
            </a:r>
          </a:p>
          <a:p>
            <a:r>
              <a:rPr lang="en-US" sz="1200" kern="1200" baseline="0" dirty="0">
                <a:solidFill>
                  <a:schemeClr val="tx1"/>
                </a:solidFill>
                <a:latin typeface="+mn-lt"/>
                <a:ea typeface="+mn-ea"/>
                <a:cs typeface="+mn-cs"/>
              </a:rPr>
              <a:t>process is not the current one.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third static portion of the system-level context is the per process region</a:t>
            </a:r>
          </a:p>
          <a:p>
            <a:r>
              <a:rPr lang="en-US" sz="1200" kern="1200" baseline="0" dirty="0">
                <a:solidFill>
                  <a:schemeClr val="tx1"/>
                </a:solidFill>
                <a:latin typeface="+mn-lt"/>
                <a:ea typeface="+mn-ea"/>
                <a:cs typeface="+mn-cs"/>
              </a:rPr>
              <a:t>table, which is used by the memory management system. Finally, the kernel stack is</a:t>
            </a:r>
          </a:p>
          <a:p>
            <a:r>
              <a:rPr lang="en-US" sz="1200" kern="1200" baseline="0" dirty="0">
                <a:solidFill>
                  <a:schemeClr val="tx1"/>
                </a:solidFill>
                <a:latin typeface="+mn-lt"/>
                <a:ea typeface="+mn-ea"/>
                <a:cs typeface="+mn-cs"/>
              </a:rPr>
              <a:t>the dynamic portion of the system-level context. This stack is used when the process</a:t>
            </a:r>
          </a:p>
          <a:p>
            <a:r>
              <a:rPr lang="en-US" sz="1200" kern="1200" baseline="0" dirty="0">
                <a:solidFill>
                  <a:schemeClr val="tx1"/>
                </a:solidFill>
                <a:latin typeface="+mn-lt"/>
                <a:ea typeface="+mn-ea"/>
                <a:cs typeface="+mn-cs"/>
              </a:rPr>
              <a:t>is executing in kernel mode and contains the information that must be saved and</a:t>
            </a:r>
          </a:p>
          <a:p>
            <a:r>
              <a:rPr lang="en-US" sz="1200" kern="1200" baseline="0" dirty="0">
                <a:solidFill>
                  <a:schemeClr val="tx1"/>
                </a:solidFill>
                <a:latin typeface="+mn-lt"/>
                <a:ea typeface="+mn-ea"/>
                <a:cs typeface="+mn-cs"/>
              </a:rPr>
              <a:t>restored as procedure calls and interrupts occur.</a:t>
            </a:r>
            <a:endParaRPr lang="en-NZ"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57</a:t>
            </a:fld>
            <a:endParaRPr lang="en-US" dirty="0"/>
          </a:p>
        </p:txBody>
      </p:sp>
    </p:spTree>
    <p:extLst>
      <p:ext uri="{BB962C8B-B14F-4D97-AF65-F5344CB8AC3E}">
        <p14:creationId xmlns:p14="http://schemas.microsoft.com/office/powerpoint/2010/main" val="37258898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Table 3.11 lists the contents</a:t>
            </a:r>
          </a:p>
          <a:p>
            <a:r>
              <a:rPr lang="en-US" sz="1200" kern="1200" baseline="0" dirty="0">
                <a:solidFill>
                  <a:schemeClr val="tx1"/>
                </a:solidFill>
                <a:latin typeface="+mn-lt"/>
                <a:ea typeface="+mn-ea"/>
                <a:cs typeface="+mn-cs"/>
              </a:rPr>
              <a:t>of a process table entry. The user area, or U area, contains additional process control</a:t>
            </a:r>
          </a:p>
          <a:p>
            <a:r>
              <a:rPr lang="en-US" sz="1200" kern="1200" baseline="0" dirty="0">
                <a:solidFill>
                  <a:schemeClr val="tx1"/>
                </a:solidFill>
                <a:latin typeface="+mn-lt"/>
                <a:ea typeface="+mn-ea"/>
                <a:cs typeface="+mn-cs"/>
              </a:rPr>
              <a:t>information that is needed by the kernel when it is executing in the context of</a:t>
            </a:r>
          </a:p>
          <a:p>
            <a:r>
              <a:rPr lang="en-US" sz="1200" kern="1200" baseline="0" dirty="0">
                <a:solidFill>
                  <a:schemeClr val="tx1"/>
                </a:solidFill>
                <a:latin typeface="+mn-lt"/>
                <a:ea typeface="+mn-ea"/>
                <a:cs typeface="+mn-cs"/>
              </a:rPr>
              <a:t>this process; it is also used when paging processes to and from memory.</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58</a:t>
            </a:fld>
            <a:endParaRPr lang="en-US" dirty="0"/>
          </a:p>
        </p:txBody>
      </p:sp>
    </p:spTree>
    <p:extLst>
      <p:ext uri="{BB962C8B-B14F-4D97-AF65-F5344CB8AC3E}">
        <p14:creationId xmlns:p14="http://schemas.microsoft.com/office/powerpoint/2010/main" val="124195047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user area, or U area, contains additional process control</a:t>
            </a:r>
          </a:p>
          <a:p>
            <a:r>
              <a:rPr lang="en-US" sz="1200" kern="1200" baseline="0" dirty="0">
                <a:solidFill>
                  <a:schemeClr val="tx1"/>
                </a:solidFill>
                <a:latin typeface="+mn-lt"/>
                <a:ea typeface="+mn-ea"/>
                <a:cs typeface="+mn-cs"/>
              </a:rPr>
              <a:t>information that is needed by the kernel when it is executing in the context of</a:t>
            </a:r>
          </a:p>
          <a:p>
            <a:r>
              <a:rPr lang="en-US" sz="1200" kern="1200" baseline="0" dirty="0">
                <a:solidFill>
                  <a:schemeClr val="tx1"/>
                </a:solidFill>
                <a:latin typeface="+mn-lt"/>
                <a:ea typeface="+mn-ea"/>
                <a:cs typeface="+mn-cs"/>
              </a:rPr>
              <a:t>this process; it is also used when paging processes to and from memory. Table 3.12</a:t>
            </a:r>
          </a:p>
          <a:p>
            <a:r>
              <a:rPr lang="en-US" sz="1200" kern="1200" baseline="0" dirty="0">
                <a:solidFill>
                  <a:schemeClr val="tx1"/>
                </a:solidFill>
                <a:latin typeface="+mn-lt"/>
                <a:ea typeface="+mn-ea"/>
                <a:cs typeface="+mn-cs"/>
              </a:rPr>
              <a:t>shows the contents of this table.</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59</a:t>
            </a:fld>
            <a:endParaRPr lang="en-US" dirty="0"/>
          </a:p>
        </p:txBody>
      </p:sp>
    </p:spTree>
    <p:extLst>
      <p:ext uri="{BB962C8B-B14F-4D97-AF65-F5344CB8AC3E}">
        <p14:creationId xmlns:p14="http://schemas.microsoft.com/office/powerpoint/2010/main" val="220655965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baseline="0" dirty="0">
                <a:solidFill>
                  <a:schemeClr val="tx1"/>
                </a:solidFill>
                <a:latin typeface="+mn-lt"/>
                <a:ea typeface="+mn-ea"/>
                <a:cs typeface="+mn-cs"/>
              </a:rPr>
              <a:t>Process creation in UNIX is made by means of the kernel system call, fork( ). When</a:t>
            </a:r>
          </a:p>
          <a:p>
            <a:r>
              <a:rPr lang="en-US" sz="1200" b="0" kern="1200" baseline="0" dirty="0">
                <a:solidFill>
                  <a:schemeClr val="tx1"/>
                </a:solidFill>
                <a:latin typeface="+mn-lt"/>
                <a:ea typeface="+mn-ea"/>
                <a:cs typeface="+mn-cs"/>
              </a:rPr>
              <a:t>a process issues a fork request, the OS performs the following functions [BACH86]:</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1. It allocates a slot in the process table for the new process.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2. It assigns a unique process ID to the child process.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3. It makes a copy of the process image of the parent, with the exception of any</a:t>
            </a:r>
          </a:p>
          <a:p>
            <a:r>
              <a:rPr lang="en-US" sz="1200" b="0" kern="1200" baseline="0" dirty="0">
                <a:solidFill>
                  <a:schemeClr val="tx1"/>
                </a:solidFill>
                <a:latin typeface="+mn-lt"/>
                <a:ea typeface="+mn-ea"/>
                <a:cs typeface="+mn-cs"/>
              </a:rPr>
              <a:t>shared memory.</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4. It increments counters for any files owned by the parent, to reflect that an</a:t>
            </a:r>
          </a:p>
          <a:p>
            <a:r>
              <a:rPr lang="en-US" sz="1200" b="0" kern="1200" baseline="0" dirty="0">
                <a:solidFill>
                  <a:schemeClr val="tx1"/>
                </a:solidFill>
                <a:latin typeface="+mn-lt"/>
                <a:ea typeface="+mn-ea"/>
                <a:cs typeface="+mn-cs"/>
              </a:rPr>
              <a:t>additional process now also owns those files.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5. It assigns the child process to the Ready to Run state.</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6. It returns the ID number of the child to the parent process, and a 0 value to</a:t>
            </a:r>
          </a:p>
          <a:p>
            <a:r>
              <a:rPr lang="en-US" sz="1200" b="0" kern="1200" baseline="0" dirty="0">
                <a:solidFill>
                  <a:schemeClr val="tx1"/>
                </a:solidFill>
                <a:latin typeface="+mn-lt"/>
                <a:ea typeface="+mn-ea"/>
                <a:cs typeface="+mn-cs"/>
              </a:rPr>
              <a:t>the child process.</a:t>
            </a:r>
            <a:endParaRPr lang="en-NZ" b="0"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60</a:t>
            </a:fld>
            <a:endParaRPr lang="en-US" dirty="0"/>
          </a:p>
        </p:txBody>
      </p:sp>
    </p:spTree>
    <p:extLst>
      <p:ext uri="{BB962C8B-B14F-4D97-AF65-F5344CB8AC3E}">
        <p14:creationId xmlns:p14="http://schemas.microsoft.com/office/powerpoint/2010/main" val="347134987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When the kernel has completed these functions it can do one of the following, as part of</a:t>
            </a:r>
          </a:p>
          <a:p>
            <a:r>
              <a:rPr lang="en-NZ" dirty="0"/>
              <a:t>the dispatcher routine:</a:t>
            </a:r>
          </a:p>
          <a:p>
            <a:pPr lvl="1"/>
            <a:r>
              <a:rPr lang="en-NZ" dirty="0"/>
              <a:t>• Stay in the parent process. Control returns to user mode at the point of the fork call of the parent.</a:t>
            </a:r>
          </a:p>
          <a:p>
            <a:pPr lvl="1"/>
            <a:r>
              <a:rPr lang="en-NZ" dirty="0"/>
              <a:t>• Transfer control to the child process. The child process begins executing at the same point in the code as the parent, namely at the return from the fork call.</a:t>
            </a:r>
          </a:p>
          <a:p>
            <a:pPr lvl="1"/>
            <a:r>
              <a:rPr lang="en-NZ" dirty="0"/>
              <a:t>• Transfer control to another process. Both parent and child are left in the Ready to Run state.</a:t>
            </a:r>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61</a:t>
            </a:fld>
            <a:endParaRPr lang="en-US" dirty="0"/>
          </a:p>
        </p:txBody>
      </p:sp>
    </p:spTree>
    <p:extLst>
      <p:ext uri="{BB962C8B-B14F-4D97-AF65-F5344CB8AC3E}">
        <p14:creationId xmlns:p14="http://schemas.microsoft.com/office/powerpoint/2010/main" val="420251651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Chapter </a:t>
            </a:r>
            <a:r>
              <a:rPr lang="en-US"/>
              <a:t>3 Summary</a:t>
            </a:r>
            <a:endParaRPr lang="en-US" dirty="0"/>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62</a:t>
            </a:fld>
            <a:endParaRPr lang="en-US" dirty="0"/>
          </a:p>
        </p:txBody>
      </p:sp>
    </p:spTree>
    <p:extLst>
      <p:ext uri="{BB962C8B-B14F-4D97-AF65-F5344CB8AC3E}">
        <p14:creationId xmlns:p14="http://schemas.microsoft.com/office/powerpoint/2010/main" val="13304234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61F07387-0957-7347-B399-B33F38AE960C}" type="datetime1">
              <a:rPr lang="en-US" smtClean="0"/>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858EC8E-1171-46D3-BB9C-E76E2EDA8E3F}" type="slidenum">
              <a:rPr lang="en-US"/>
              <a:pPr>
                <a:defRPr/>
              </a:pPr>
              <a:t>‹#›</a:t>
            </a:fld>
            <a:endParaRPr lang="en-US"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0CB7A9B-C338-F845-AB4B-7938CC3D4652}" type="datetime1">
              <a:rPr lang="en-US" smtClean="0"/>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9B218911-2E00-4AF1-A4F5-64BB56B771CA}" type="slidenum">
              <a:rPr lang="en-US"/>
              <a:pPr>
                <a:defRPr/>
              </a:pPr>
              <a:t>‹#›</a:t>
            </a:fld>
            <a:endParaRPr 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7CE1013F-EA10-AD41-BA10-AD4128D63B5E}" type="datetime1">
              <a:rPr lang="en-US" smtClean="0"/>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E6735068-BD0A-4769-B0ED-BC9178C28D4E}" type="slidenum">
              <a:rPr lang="en-US"/>
              <a:pPr>
                <a:defRPr/>
              </a:pPr>
              <a:t>‹#›</a:t>
            </a:fld>
            <a:endParaRPr lang="en-US" dirty="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116E8DD5-D188-A643-B5CF-33CC25CA25BA}" type="datetime1">
              <a:rPr lang="en-US" smtClean="0"/>
              <a:t>1/30/2026</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0412D202-9CB7-4AA3-8392-91713E932CE9}" type="slidenum">
              <a:rPr lang="en-US"/>
              <a:pPr>
                <a:defRPr/>
              </a:pPr>
              <a:t>‹#›</a:t>
            </a:fld>
            <a:endParaRPr lang="en-US"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2AB02BD5-6A5C-F641-AB68-8798E06261C7}" type="datetime1">
              <a:rPr lang="en-US" smtClean="0"/>
              <a:t>1/30/2026</a:t>
            </a:fld>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FDFBEC64-3B96-40E2-BB51-2BFA4C732427}" type="slidenum">
              <a:rPr lang="en-US"/>
              <a:pPr>
                <a:defRPr/>
              </a:pPr>
              <a:t>‹#›</a:t>
            </a:fld>
            <a:endParaRPr 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AB9DB7A2-28F5-3346-8041-01E14120BE5B}" type="datetime1">
              <a:rPr lang="en-US" smtClean="0"/>
              <a:t>1/30/2026</a:t>
            </a:fld>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E86A33BB-380D-4808-B45C-DF9583064DAA}" type="slidenum">
              <a:rPr lang="en-US"/>
              <a:pPr>
                <a:defRPr/>
              </a:pPr>
              <a:t>‹#›</a:t>
            </a:fld>
            <a:endParaRPr 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F4FB56C5-44BF-9C4A-ADCA-78D5C19BC311}" type="datetime1">
              <a:rPr lang="en-US" smtClean="0"/>
              <a:t>1/30/2026</a:t>
            </a:fld>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FDC68AA-9F9C-4D36-A856-C77A640380DA}" type="slidenum">
              <a:rPr lang="en-US"/>
              <a:pPr>
                <a:defRPr/>
              </a:pPr>
              <a:t>‹#›</a:t>
            </a:fld>
            <a:endParaRPr lang="en-US" dirty="0"/>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355D9B8A-0AC1-A942-B607-D508CCF788EA}" type="datetime1">
              <a:rPr lang="en-US" smtClean="0"/>
              <a:t>1/30/2026</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E414CD6E-A0B3-4429-9019-071CBE34D641}" type="slidenum">
              <a:rPr lang="en-US"/>
              <a:pPr>
                <a:defRPr/>
              </a:pPr>
              <a:t>‹#›</a:t>
            </a:fld>
            <a:endParaRPr lang="en-US"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34469C09-4C2E-FC4C-A333-02610641EEC3}" type="datetime1">
              <a:rPr lang="en-US" smtClean="0"/>
              <a:t>1/30/2026</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B093133-C805-422B-9705-D56F310862ED}" type="slidenum">
              <a:rPr lang="en-US"/>
              <a:pPr>
                <a:defRPr/>
              </a:pPr>
              <a:t>‹#›</a:t>
            </a:fld>
            <a:endParaRPr 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2E4721B-8A5A-784D-A05A-B3B3DBE1B80D}" type="datetime1">
              <a:rPr lang="en-US" smtClean="0"/>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47609671-C39D-4B40-9BE0-D936833A2F8D}" type="slidenum">
              <a:rPr lang="en-US"/>
              <a:pPr>
                <a:defRPr/>
              </a:pPr>
              <a:t>‹#›</a:t>
            </a:fld>
            <a:endParaRPr lang="en-US" dirty="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0654EAA-41B9-2C41-9CF3-776198A24123}" type="datetime1">
              <a:rPr lang="en-US" smtClean="0"/>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66307808-BABC-4730-BF31-D5862FFC7FB8}" type="slidenum">
              <a:rPr lang="en-US"/>
              <a:pPr>
                <a:defRPr/>
              </a:pPr>
              <a:t>‹#›</a:t>
            </a:fld>
            <a:endParaRPr lang="en-US" dirty="0"/>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useBgFill="1">
        <p:nvSpPr>
          <p:cNvPr id="12" name="Rectangle 11"/>
          <p:cNvSpPr/>
          <p:nvPr/>
        </p:nvSpPr>
        <p:spPr>
          <a:xfrm>
            <a:off x="341086" y="928914"/>
            <a:ext cx="8432800" cy="17707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685707" y="968189"/>
            <a:ext cx="7799387" cy="1237130"/>
          </a:xfrm>
        </p:spPr>
        <p:txBody>
          <a:bodyPr anchor="b" anchorCtr="0"/>
          <a:lstStyle>
            <a:lvl1pPr algn="r">
              <a:lnSpc>
                <a:spcPts val="5000"/>
              </a:lnSpc>
              <a:defRPr sz="4600">
                <a:solidFill>
                  <a:schemeClr val="accent1"/>
                </a:solidFill>
                <a:effectLst/>
              </a:defRPr>
            </a:lvl1pPr>
          </a:lstStyle>
          <a:p>
            <a:r>
              <a:rPr lang="en-US"/>
              <a:t>Click to edit Master title style</a:t>
            </a:r>
            <a:endParaRPr/>
          </a:p>
        </p:txBody>
      </p:sp>
      <p:sp>
        <p:nvSpPr>
          <p:cNvPr id="3" name="Subtitle 2"/>
          <p:cNvSpPr>
            <a:spLocks noGrp="1"/>
          </p:cNvSpPr>
          <p:nvPr>
            <p:ph type="subTitle" idx="1"/>
          </p:nvPr>
        </p:nvSpPr>
        <p:spPr>
          <a:xfrm>
            <a:off x="685707" y="2209799"/>
            <a:ext cx="7799387" cy="466165"/>
          </a:xfrm>
        </p:spPr>
        <p:txBody>
          <a:bodyPr/>
          <a:lstStyle>
            <a:lvl1pPr marL="0" indent="0" algn="r">
              <a:lnSpc>
                <a:spcPct val="100000"/>
              </a:lnSpc>
              <a:spcBef>
                <a:spcPts val="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pPr>
              <a:defRPr/>
            </a:pPr>
            <a:fld id="{17FA7F0B-F8AC-A74D-9E1B-19A924C700A0}" type="datetime1">
              <a:rPr lang="en-US" smtClean="0"/>
              <a:t>1/30/2026</a:t>
            </a:fld>
            <a:endParaRPr lang="en-US" dirty="0"/>
          </a:p>
        </p:txBody>
      </p:sp>
      <p:sp>
        <p:nvSpPr>
          <p:cNvPr id="6" name="Slide Number Placeholder 5"/>
          <p:cNvSpPr>
            <a:spLocks noGrp="1"/>
          </p:cNvSpPr>
          <p:nvPr>
            <p:ph type="sldNum" sz="quarter" idx="12"/>
          </p:nvPr>
        </p:nvSpPr>
        <p:spPr>
          <a:xfrm>
            <a:off x="4305300" y="6492875"/>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D0884869-B25C-4578-8BC2-8D4E9232F63C}"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57200" y="816802"/>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TitleSlideTop.jpg"/>
          <p:cNvPicPr>
            <a:picLocks noChangeAspect="1"/>
          </p:cNvPicPr>
          <p:nvPr/>
        </p:nvPicPr>
        <p:blipFill>
          <a:blip r:embed="rId2"/>
          <a:stretch>
            <a:fillRect/>
          </a:stretch>
        </p:blipFill>
        <p:spPr>
          <a:xfrm>
            <a:off x="457200" y="457200"/>
            <a:ext cx="8229600" cy="356646"/>
          </a:xfrm>
          <a:prstGeom prst="rect">
            <a:avLst/>
          </a:prstGeom>
        </p:spPr>
      </p:pic>
      <p:pic>
        <p:nvPicPr>
          <p:cNvPr id="10" name="Picture 9" descr="TitleSlideBottom.jpg"/>
          <p:cNvPicPr>
            <a:picLocks noChangeAspect="1"/>
          </p:cNvPicPr>
          <p:nvPr/>
        </p:nvPicPr>
        <p:blipFill>
          <a:blip r:embed="rId3"/>
          <a:stretch>
            <a:fillRect/>
          </a:stretch>
        </p:blipFill>
        <p:spPr>
          <a:xfrm>
            <a:off x="457200" y="2700601"/>
            <a:ext cx="8229600" cy="3700199"/>
          </a:xfrm>
          <a:prstGeom prst="rect">
            <a:avLst/>
          </a:prstGeom>
        </p:spPr>
      </p:pic>
      <p:sp>
        <p:nvSpPr>
          <p:cNvPr id="11"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r>
              <a:rPr lang="en-US"/>
              <a:t>© 2017 Pearson Education, Inc., Hoboken, NJ. All rights reserved.</a:t>
            </a:r>
            <a:endParaRPr lang="en-US" dirty="0"/>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D8864D4A-814C-CD41-8C4D-D2A31D8C580B}" type="datetime1">
              <a:rPr lang="en-US" smtClean="0"/>
              <a:t>1/30/2026</a:t>
            </a:fld>
            <a:endParaRPr/>
          </a:p>
        </p:txBody>
      </p:sp>
      <p:sp>
        <p:nvSpPr>
          <p:cNvPr id="5" name="Footer Placeholder 4"/>
          <p:cNvSpPr>
            <a:spLocks noGrp="1"/>
          </p:cNvSpPr>
          <p:nvPr>
            <p:ph type="ftr" sz="quarter" idx="11"/>
          </p:nvPr>
        </p:nvSpPr>
        <p:spPr/>
        <p:txBody>
          <a:bodyPr/>
          <a:lstStyle/>
          <a:p>
            <a:r>
              <a:rPr lang="en-US"/>
              <a:t>© 2017 Pearson Education, Inc., Hoboken, NJ. All rights reserved.</a:t>
            </a:r>
            <a:endParaRPr/>
          </a:p>
        </p:txBody>
      </p:sp>
      <p:sp>
        <p:nvSpPr>
          <p:cNvPr id="6" name="Slide Number Placeholder 5"/>
          <p:cNvSpPr>
            <a:spLocks noGrp="1"/>
          </p:cNvSpPr>
          <p:nvPr>
            <p:ph type="sldNum" sz="quarter" idx="12"/>
          </p:nvPr>
        </p:nvSpPr>
        <p:spPr/>
        <p:txBody>
          <a:bodyPr/>
          <a:lstStyle/>
          <a:p>
            <a:fld id="{3FFF1679-83E0-4571-98D7-4BB535B5F505}" type="slidenum">
              <a:rPr/>
              <a:pPr/>
              <a:t>‹#›</a:t>
            </a:fld>
            <a:endParaRPr/>
          </a:p>
        </p:txBody>
      </p:sp>
      <p:pic>
        <p:nvPicPr>
          <p:cNvPr id="7" name="Picture 6" descr="green.gif"/>
          <p:cNvPicPr>
            <a:picLocks noChangeAspect="1"/>
          </p:cNvPicPr>
          <p:nvPr userDrawn="1"/>
        </p:nvPicPr>
        <p:blipFill>
          <a:blip r:embed="rId2"/>
          <a:srcRect/>
          <a:stretch>
            <a:fillRect/>
          </a:stretch>
        </p:blipFill>
        <p:spPr bwMode="auto">
          <a:xfrm>
            <a:off x="8429625" y="5562600"/>
            <a:ext cx="714375" cy="838200"/>
          </a:xfrm>
          <a:prstGeom prst="rect">
            <a:avLst/>
          </a:prstGeom>
          <a:noFill/>
          <a:ln w="9525">
            <a:noFill/>
            <a:miter lim="800000"/>
            <a:headEnd/>
            <a:tailEnd/>
          </a:ln>
        </p:spPr>
      </p:pic>
      <p:pic>
        <p:nvPicPr>
          <p:cNvPr id="8" name="Picture 7" descr="hand.gif"/>
          <p:cNvPicPr>
            <a:picLocks noChangeAspect="1"/>
          </p:cNvPicPr>
          <p:nvPr userDrawn="1"/>
        </p:nvPicPr>
        <p:blipFill>
          <a:blip r:embed="rId3"/>
          <a:srcRect/>
          <a:stretch>
            <a:fillRect/>
          </a:stretch>
        </p:blipFill>
        <p:spPr bwMode="auto">
          <a:xfrm>
            <a:off x="0" y="6115050"/>
            <a:ext cx="1190625" cy="742950"/>
          </a:xfrm>
          <a:prstGeom prst="rect">
            <a:avLst/>
          </a:prstGeom>
          <a:noFill/>
          <a:ln w="9525">
            <a:noFill/>
            <a:miter lim="800000"/>
            <a:headEnd/>
            <a:tailEnd/>
          </a:ln>
        </p:spPr>
      </p:pic>
      <p:sp>
        <p:nvSpPr>
          <p:cNvPr id="9" name="Freeform 8"/>
          <p:cNvSpPr/>
          <p:nvPr userDrawn="1"/>
        </p:nvSpPr>
        <p:spPr>
          <a:xfrm>
            <a:off x="1171575" y="6124575"/>
            <a:ext cx="7286625" cy="219075"/>
          </a:xfrm>
          <a:custGeom>
            <a:avLst/>
            <a:gdLst>
              <a:gd name="connsiteX0" fmla="*/ 0 w 7286625"/>
              <a:gd name="connsiteY0" fmla="*/ 219075 h 219075"/>
              <a:gd name="connsiteX1" fmla="*/ 190500 w 7286625"/>
              <a:gd name="connsiteY1" fmla="*/ 180975 h 219075"/>
              <a:gd name="connsiteX2" fmla="*/ 2790825 w 7286625"/>
              <a:gd name="connsiteY2" fmla="*/ 171450 h 219075"/>
              <a:gd name="connsiteX3" fmla="*/ 2924175 w 7286625"/>
              <a:gd name="connsiteY3" fmla="*/ 152400 h 219075"/>
              <a:gd name="connsiteX4" fmla="*/ 3267075 w 7286625"/>
              <a:gd name="connsiteY4" fmla="*/ 133350 h 219075"/>
              <a:gd name="connsiteX5" fmla="*/ 3390900 w 7286625"/>
              <a:gd name="connsiteY5" fmla="*/ 123825 h 219075"/>
              <a:gd name="connsiteX6" fmla="*/ 3667125 w 7286625"/>
              <a:gd name="connsiteY6" fmla="*/ 85725 h 219075"/>
              <a:gd name="connsiteX7" fmla="*/ 3838575 w 7286625"/>
              <a:gd name="connsiteY7" fmla="*/ 76200 h 219075"/>
              <a:gd name="connsiteX8" fmla="*/ 4381500 w 7286625"/>
              <a:gd name="connsiteY8" fmla="*/ 47625 h 219075"/>
              <a:gd name="connsiteX9" fmla="*/ 4552950 w 7286625"/>
              <a:gd name="connsiteY9" fmla="*/ 38100 h 219075"/>
              <a:gd name="connsiteX10" fmla="*/ 4686300 w 7286625"/>
              <a:gd name="connsiteY10" fmla="*/ 28575 h 219075"/>
              <a:gd name="connsiteX11" fmla="*/ 5562600 w 7286625"/>
              <a:gd name="connsiteY11" fmla="*/ 0 h 219075"/>
              <a:gd name="connsiteX12" fmla="*/ 6486525 w 7286625"/>
              <a:gd name="connsiteY12" fmla="*/ 9525 h 219075"/>
              <a:gd name="connsiteX13" fmla="*/ 6581775 w 7286625"/>
              <a:gd name="connsiteY13" fmla="*/ 19050 h 219075"/>
              <a:gd name="connsiteX14" fmla="*/ 6715125 w 7286625"/>
              <a:gd name="connsiteY14" fmla="*/ 47625 h 219075"/>
              <a:gd name="connsiteX15" fmla="*/ 7210425 w 7286625"/>
              <a:gd name="connsiteY15" fmla="*/ 66675 h 219075"/>
              <a:gd name="connsiteX16" fmla="*/ 7286625 w 7286625"/>
              <a:gd name="connsiteY16" fmla="*/ 7620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86625" h="219075">
                <a:moveTo>
                  <a:pt x="0" y="219075"/>
                </a:moveTo>
                <a:cubicBezTo>
                  <a:pt x="67827" y="173857"/>
                  <a:pt x="45538" y="182475"/>
                  <a:pt x="190500" y="180975"/>
                </a:cubicBezTo>
                <a:lnTo>
                  <a:pt x="2790825" y="171450"/>
                </a:lnTo>
                <a:cubicBezTo>
                  <a:pt x="2835275" y="165100"/>
                  <a:pt x="2879529" y="157183"/>
                  <a:pt x="2924175" y="152400"/>
                </a:cubicBezTo>
                <a:cubicBezTo>
                  <a:pt x="3020054" y="142127"/>
                  <a:pt x="3181234" y="138255"/>
                  <a:pt x="3267075" y="133350"/>
                </a:cubicBezTo>
                <a:cubicBezTo>
                  <a:pt x="3308405" y="130988"/>
                  <a:pt x="3349625" y="127000"/>
                  <a:pt x="3390900" y="123825"/>
                </a:cubicBezTo>
                <a:cubicBezTo>
                  <a:pt x="3496096" y="104698"/>
                  <a:pt x="3551356" y="92157"/>
                  <a:pt x="3667125" y="85725"/>
                </a:cubicBezTo>
                <a:lnTo>
                  <a:pt x="3838575" y="76200"/>
                </a:lnTo>
                <a:cubicBezTo>
                  <a:pt x="4421283" y="38197"/>
                  <a:pt x="3784538" y="73028"/>
                  <a:pt x="4381500" y="47625"/>
                </a:cubicBezTo>
                <a:cubicBezTo>
                  <a:pt x="4438686" y="45192"/>
                  <a:pt x="4495823" y="41670"/>
                  <a:pt x="4552950" y="38100"/>
                </a:cubicBezTo>
                <a:cubicBezTo>
                  <a:pt x="4597426" y="35320"/>
                  <a:pt x="4641768" y="30255"/>
                  <a:pt x="4686300" y="28575"/>
                </a:cubicBezTo>
                <a:lnTo>
                  <a:pt x="5562600" y="0"/>
                </a:lnTo>
                <a:lnTo>
                  <a:pt x="6486525" y="9525"/>
                </a:lnTo>
                <a:cubicBezTo>
                  <a:pt x="6518428" y="10121"/>
                  <a:pt x="6550352" y="13505"/>
                  <a:pt x="6581775" y="19050"/>
                </a:cubicBezTo>
                <a:cubicBezTo>
                  <a:pt x="6696351" y="39269"/>
                  <a:pt x="6600009" y="39686"/>
                  <a:pt x="6715125" y="47625"/>
                </a:cubicBezTo>
                <a:cubicBezTo>
                  <a:pt x="6818795" y="54775"/>
                  <a:pt x="7128867" y="63956"/>
                  <a:pt x="7210425" y="66675"/>
                </a:cubicBezTo>
                <a:cubicBezTo>
                  <a:pt x="7254060" y="81220"/>
                  <a:pt x="7228960" y="76200"/>
                  <a:pt x="7286625" y="762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pic>
        <p:nvPicPr>
          <p:cNvPr id="10" name="Picture 9" descr="top.gif"/>
          <p:cNvPicPr>
            <a:picLocks noChangeAspect="1"/>
          </p:cNvPicPr>
          <p:nvPr userDrawn="1"/>
        </p:nvPicPr>
        <p:blipFill>
          <a:blip r:embed="rId4"/>
          <a:srcRect/>
          <a:stretch>
            <a:fillRect/>
          </a:stretch>
        </p:blipFill>
        <p:spPr bwMode="auto">
          <a:xfrm rot="18850181">
            <a:off x="-155575" y="330200"/>
            <a:ext cx="2000250" cy="1047750"/>
          </a:xfrm>
          <a:prstGeom prst="rect">
            <a:avLst/>
          </a:prstGeom>
          <a:noFill/>
          <a:ln w="9525">
            <a:noFill/>
            <a:miter lim="800000"/>
            <a:headEnd/>
            <a:tailEnd/>
          </a:ln>
        </p:spPr>
      </p:pic>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10" name="Rectangle 9"/>
          <p:cNvSpPr/>
          <p:nvPr/>
        </p:nvSpPr>
        <p:spPr>
          <a:xfrm>
            <a:off x="326571" y="362857"/>
            <a:ext cx="8440058" cy="25182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098041" y="3575712"/>
            <a:ext cx="5396671" cy="1340467"/>
          </a:xfrm>
        </p:spPr>
        <p:txBody>
          <a:bodyPr tIns="0" bIns="0" anchor="b" anchorCtr="0"/>
          <a:lstStyle>
            <a:lvl1pPr algn="r">
              <a:defRPr sz="4600" b="0" cap="none" baseline="0">
                <a:solidFill>
                  <a:schemeClr val="accent1"/>
                </a:solidFill>
                <a:effectLst/>
              </a:defRPr>
            </a:lvl1pPr>
          </a:lstStyle>
          <a:p>
            <a:r>
              <a:rPr lang="en-US"/>
              <a:t>Click to edit Master title style</a:t>
            </a:r>
            <a:endParaRPr/>
          </a:p>
        </p:txBody>
      </p:sp>
      <p:sp>
        <p:nvSpPr>
          <p:cNvPr id="3" name="Text Placeholder 2"/>
          <p:cNvSpPr>
            <a:spLocks noGrp="1"/>
          </p:cNvSpPr>
          <p:nvPr>
            <p:ph type="body" idx="1"/>
          </p:nvPr>
        </p:nvSpPr>
        <p:spPr>
          <a:xfrm>
            <a:off x="3098041" y="4980297"/>
            <a:ext cx="5396671" cy="810904"/>
          </a:xfrm>
        </p:spPr>
        <p:txBody>
          <a:bodyPr tIns="0" bIns="0" anchor="t" anchorCtr="0">
            <a:normAutofit/>
          </a:bodyPr>
          <a:lstStyle>
            <a:lvl1pPr marL="0" indent="0" algn="r">
              <a:spcBef>
                <a:spcPts val="300"/>
              </a:spcBef>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59BC9075-9B98-A446-BA24-3961C574D15C}" type="datetime1">
              <a:rPr lang="en-US" smtClean="0"/>
              <a:t>1/30/2026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a:xfrm>
            <a:off x="4306824" y="6492240"/>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13FF1C51-8566-4549-A1BC-4215581B4BEE}" type="slidenum">
              <a:rPr lang="en-US" smtClean="0"/>
              <a:pPr>
                <a:defRPr/>
              </a:pPr>
              <a:t>‹#›</a:t>
            </a:fld>
            <a:endParaRPr lang="en-US" dirty="0"/>
          </a:p>
        </p:txBody>
      </p:sp>
      <p:pic>
        <p:nvPicPr>
          <p:cNvPr id="7" name="Picture 6" descr="SectionHeaderLeft.jpg"/>
          <p:cNvPicPr>
            <a:picLocks noChangeAspect="1"/>
          </p:cNvPicPr>
          <p:nvPr/>
        </p:nvPicPr>
        <p:blipFill>
          <a:blip r:embed="rId2"/>
          <a:stretch>
            <a:fillRect/>
          </a:stretch>
        </p:blipFill>
        <p:spPr>
          <a:xfrm>
            <a:off x="470647" y="457200"/>
            <a:ext cx="2216561" cy="5943600"/>
          </a:xfrm>
          <a:prstGeom prst="rect">
            <a:avLst/>
          </a:prstGeom>
        </p:spPr>
      </p:pic>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222366"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58904"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831308" y="2286000"/>
            <a:ext cx="3657600" cy="3840163"/>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BAAF3A4C-A291-2A44-AFA5-9FA77CE62BBE}"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05B382D0-6287-4D06-8660-66459861A2E9}" type="slidenum">
              <a:rPr lang="en-US" smtClean="0"/>
              <a:pPr>
                <a:defRPr/>
              </a:pPr>
              <a:t>‹#›</a:t>
            </a:fld>
            <a:endParaRPr lang="en-US" dirty="0"/>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663388"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63388"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828032"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28032"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pPr>
              <a:defRPr/>
            </a:pPr>
            <a:fld id="{3FB203D4-3058-0D46-83D5-59D6FCF7B3CA}" type="datetime1">
              <a:rPr lang="en-US" smtClean="0"/>
              <a:t>1/30/2026</a:t>
            </a:fld>
            <a:endParaRPr lang="en-US" dirty="0"/>
          </a:p>
        </p:txBody>
      </p:sp>
      <p:sp>
        <p:nvSpPr>
          <p:cNvPr id="8" name="Footer Placeholder 7"/>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9" name="Slide Number Placeholder 8"/>
          <p:cNvSpPr>
            <a:spLocks noGrp="1"/>
          </p:cNvSpPr>
          <p:nvPr>
            <p:ph type="sldNum" sz="quarter" idx="12"/>
          </p:nvPr>
        </p:nvSpPr>
        <p:spPr/>
        <p:txBody>
          <a:bodyPr/>
          <a:lstStyle/>
          <a:p>
            <a:pPr>
              <a:defRPr/>
            </a:pPr>
            <a:fld id="{13C966AC-1F3B-4B3D-973B-B23837B04496}" type="slidenum">
              <a:rPr lang="en-US" smtClean="0"/>
              <a:pPr>
                <a:defRPr/>
              </a:pPr>
              <a:t>‹#›</a:t>
            </a:fld>
            <a:endParaRPr lang="en-US" dirty="0"/>
          </a:p>
        </p:txBody>
      </p:sp>
      <p:cxnSp>
        <p:nvCxnSpPr>
          <p:cNvPr id="11" name="Straight Connector 10"/>
          <p:cNvCxnSpPr/>
          <p:nvPr/>
        </p:nvCxnSpPr>
        <p:spPr>
          <a:xfrm rot="5400000">
            <a:off x="2884488" y="4484687"/>
            <a:ext cx="3375025" cy="1588"/>
          </a:xfrm>
          <a:prstGeom prst="line">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54050" y="2286001"/>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8F513816-15EE-DB4F-8FAE-E15B8F356325}"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FDF6211F-5278-4B8E-96CF-461F9E543AC9}" type="slidenum">
              <a:rPr lang="en-US" smtClean="0"/>
              <a:pPr>
                <a:defRPr/>
              </a:pPr>
              <a:t>‹#›</a:t>
            </a:fld>
            <a:endParaRPr lang="en-US" dirty="0"/>
          </a:p>
        </p:txBody>
      </p:sp>
      <p:sp>
        <p:nvSpPr>
          <p:cNvPr id="9" name="Content Placeholder 2"/>
          <p:cNvSpPr>
            <a:spLocks noGrp="1"/>
          </p:cNvSpPr>
          <p:nvPr>
            <p:ph sz="half" idx="13"/>
          </p:nvPr>
        </p:nvSpPr>
        <p:spPr>
          <a:xfrm>
            <a:off x="654050" y="4302966"/>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D2E41BB1-DA7F-B241-832E-5A4ED82018E9}"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FDF6211F-5278-4B8E-96CF-461F9E543AC9}" type="slidenum">
              <a:rPr lang="en-US" smtClean="0"/>
              <a:pPr>
                <a:defRPr/>
              </a:pPr>
              <a:t>‹#›</a:t>
            </a:fld>
            <a:endParaRPr lang="en-US" dirty="0"/>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Content Placeholder 2"/>
          <p:cNvSpPr>
            <a:spLocks noGrp="1"/>
          </p:cNvSpPr>
          <p:nvPr>
            <p:ph sz="half" idx="14"/>
          </p:nvPr>
        </p:nvSpPr>
        <p:spPr>
          <a:xfrm>
            <a:off x="654085"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C7A3A69B-799A-C445-B6E0-B863B6BBDC72}"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FDF6211F-5278-4B8E-96CF-461F9E543AC9}" type="slidenum">
              <a:rPr lang="en-US" smtClean="0"/>
              <a:pPr>
                <a:defRPr/>
              </a:pPr>
              <a:t>‹#›</a:t>
            </a:fld>
            <a:endParaRPr lang="en-US" dirty="0"/>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658906"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658906"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pPr>
              <a:defRPr/>
            </a:pPr>
            <a:fld id="{1D407518-8780-4440-AE62-06D43CC61D12}" type="datetime1">
              <a:rPr lang="en-US" smtClean="0"/>
              <a:t>1/30/2026</a:t>
            </a:fld>
            <a:endParaRPr lang="en-US" dirty="0"/>
          </a:p>
        </p:txBody>
      </p:sp>
      <p:sp>
        <p:nvSpPr>
          <p:cNvPr id="4" name="Footer Placeholder 3"/>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5" name="Slide Number Placeholder 4"/>
          <p:cNvSpPr>
            <a:spLocks noGrp="1"/>
          </p:cNvSpPr>
          <p:nvPr>
            <p:ph type="sldNum" sz="quarter" idx="12"/>
          </p:nvPr>
        </p:nvSpPr>
        <p:spPr/>
        <p:txBody>
          <a:bodyPr/>
          <a:lstStyle/>
          <a:p>
            <a:pPr>
              <a:defRPr/>
            </a:pPr>
            <a:fld id="{83341592-6554-482E-89C6-70009B565581}" type="slidenum">
              <a:rPr lang="en-US" smtClean="0"/>
              <a:pPr>
                <a:defRPr/>
              </a:pPr>
              <a:t>‹#›</a:t>
            </a:fld>
            <a:endParaRPr lang="en-US" dirty="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7" name="Rectangle 6"/>
          <p:cNvSpPr/>
          <p:nvPr/>
        </p:nvSpPr>
        <p:spPr>
          <a:xfrm>
            <a:off x="355600" y="566057"/>
            <a:ext cx="8396514" cy="2598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Rectangle 4"/>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Rectangle 5"/>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pPr>
              <a:defRPr/>
            </a:pPr>
            <a:fld id="{9AE05566-1A28-D244-A4AA-E34813AAA333}" type="datetime1">
              <a:rPr lang="en-US" smtClean="0"/>
              <a:t>1/30/2026</a:t>
            </a:fld>
            <a:endParaRPr lang="en-US" dirty="0"/>
          </a:p>
        </p:txBody>
      </p:sp>
      <p:sp>
        <p:nvSpPr>
          <p:cNvPr id="3" name="Footer Placeholder 2"/>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4" name="Slide Number Placeholder 3"/>
          <p:cNvSpPr>
            <a:spLocks noGrp="1"/>
          </p:cNvSpPr>
          <p:nvPr>
            <p:ph type="sldNum" sz="quarter" idx="12"/>
          </p:nvPr>
        </p:nvSpPr>
        <p:spPr/>
        <p:txBody>
          <a:bodyPr/>
          <a:lstStyle/>
          <a:p>
            <a:pPr>
              <a:defRPr/>
            </a:pPr>
            <a:fld id="{0691A038-A212-40E3-97EA-B3C2AAB29878}" type="slidenum">
              <a:rPr lang="en-US" smtClean="0"/>
              <a:pPr>
                <a:defRPr/>
              </a:pPr>
              <a:t>‹#›</a:t>
            </a:fld>
            <a:endParaRPr lang="en-US" dirty="0"/>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10" name="Rectangle 9"/>
          <p:cNvSpPr/>
          <p:nvPr/>
        </p:nvSpPr>
        <p:spPr>
          <a:xfrm>
            <a:off x="333828" y="566057"/>
            <a:ext cx="8454571" cy="21335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3" name="Content Placeholder 2"/>
          <p:cNvSpPr>
            <a:spLocks noGrp="1"/>
          </p:cNvSpPr>
          <p:nvPr>
            <p:ph idx="1"/>
          </p:nvPr>
        </p:nvSpPr>
        <p:spPr>
          <a:xfrm>
            <a:off x="4828032" y="654268"/>
            <a:ext cx="3657600" cy="5486400"/>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4A2F4A21-2939-B941-AF00-D2884FB2823F}"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8DFFDD09-5401-43DD-9D21-39E6F6F5F899}" type="slidenum">
              <a:rPr lang="en-US" smtClean="0"/>
              <a:pPr>
                <a:defRPr/>
              </a:pPr>
              <a:t>‹#›</a:t>
            </a:fld>
            <a:endParaRPr lang="en-US" dirty="0"/>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useBgFill="1">
        <p:nvSpPr>
          <p:cNvPr id="10" name="Rectangle 9"/>
          <p:cNvSpPr/>
          <p:nvPr/>
        </p:nvSpPr>
        <p:spPr>
          <a:xfrm>
            <a:off x="355600" y="348343"/>
            <a:ext cx="8432800" cy="23513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5598058" y="3310469"/>
            <a:ext cx="5943600" cy="237061"/>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A693A053-5F02-9841-BF42-8BDD7A07DDA9}"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2A50F2F0-C1E0-4407-97E8-C859ED725D26}" type="slidenum">
              <a:rPr lang="en-US" smtClean="0"/>
              <a:pPr>
                <a:defRPr/>
              </a:pPr>
              <a:t>‹#›</a:t>
            </a:fld>
            <a:endParaRPr lang="en-US" dirty="0"/>
          </a:p>
        </p:txBody>
      </p:sp>
      <p:sp>
        <p:nvSpPr>
          <p:cNvPr id="11" name="Picture Placeholder 10"/>
          <p:cNvSpPr>
            <a:spLocks noGrp="1"/>
          </p:cNvSpPr>
          <p:nvPr>
            <p:ph type="pic" sz="quarter" idx="13"/>
          </p:nvPr>
        </p:nvSpPr>
        <p:spPr>
          <a:xfrm>
            <a:off x="4828032" y="457200"/>
            <a:ext cx="3621024" cy="5943600"/>
          </a:xfrm>
        </p:spPr>
        <p:txBody>
          <a:bodyPr/>
          <a:lstStyle>
            <a:lvl1pPr>
              <a:buNone/>
              <a:defRPr/>
            </a:lvl1pPr>
          </a:lstStyle>
          <a:p>
            <a:r>
              <a:rPr lang="en-US" dirty="0"/>
              <a:t>Click icon to add picture</a:t>
            </a:r>
            <a:endParaRPr dirty="0"/>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609600" y="2286000"/>
            <a:ext cx="7874000" cy="3840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40AFCB45-A166-F249-AC26-46B0CD809BC0}" type="datetime1">
              <a:rPr lang="en-US" smtClean="0"/>
              <a:t>1/30/2026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p>
            <a:pPr>
              <a:defRPr/>
            </a:pPr>
            <a:fld id="{6D320D82-ADCE-4DF0-BB8C-D438A455B46F}" type="slidenum">
              <a:rPr lang="en-US" smtClean="0"/>
              <a:pPr>
                <a:defRPr/>
              </a:pPr>
              <a:t>‹#›</a:t>
            </a:fld>
            <a:endParaRPr lang="en-US" dirty="0"/>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1" name="Rectangle 10"/>
          <p:cNvSpPr/>
          <p:nvPr/>
        </p:nvSpPr>
        <p:spPr>
          <a:xfrm>
            <a:off x="348342" y="362857"/>
            <a:ext cx="8440057" cy="2336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VerticalRight.jpg"/>
          <p:cNvPicPr>
            <a:picLocks noChangeAspect="1"/>
          </p:cNvPicPr>
          <p:nvPr/>
        </p:nvPicPr>
        <p:blipFill>
          <a:blip r:embed="rId2"/>
          <a:stretch>
            <a:fillRect/>
          </a:stretch>
        </p:blipFill>
        <p:spPr>
          <a:xfrm>
            <a:off x="7111668" y="457200"/>
            <a:ext cx="1546230" cy="5943600"/>
          </a:xfrm>
          <a:prstGeom prst="rect">
            <a:avLst/>
          </a:prstGeom>
        </p:spPr>
      </p:pic>
      <p:sp>
        <p:nvSpPr>
          <p:cNvPr id="10" name="Rectangle 9"/>
          <p:cNvSpPr/>
          <p:nvPr/>
        </p:nvSpPr>
        <p:spPr>
          <a:xfrm rot="5400000">
            <a:off x="4074414"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119582" y="693738"/>
            <a:ext cx="1491018" cy="5432425"/>
          </a:xfrm>
        </p:spPr>
        <p:txBody>
          <a:bodyPr vert="eaVert" tIns="45720" bIns="45720"/>
          <a:lstStyle>
            <a:lvl1pPr algn="l">
              <a:defRPr/>
            </a:lvl1pPr>
          </a:lstStyle>
          <a:p>
            <a:r>
              <a:rPr lang="en-US"/>
              <a:t>Click to edit Master title style</a:t>
            </a:r>
            <a:endParaRPr/>
          </a:p>
        </p:txBody>
      </p:sp>
      <p:sp>
        <p:nvSpPr>
          <p:cNvPr id="3" name="Vertical Text Placeholder 2"/>
          <p:cNvSpPr>
            <a:spLocks noGrp="1"/>
          </p:cNvSpPr>
          <p:nvPr>
            <p:ph type="body" orient="vert" idx="1"/>
          </p:nvPr>
        </p:nvSpPr>
        <p:spPr>
          <a:xfrm>
            <a:off x="457200" y="693738"/>
            <a:ext cx="6019800" cy="54324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B0F69907-EFAA-384D-A564-BC502E086D39}" type="datetime1">
              <a:rPr lang="en-US" smtClean="0"/>
              <a:t>1/30/2026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p>
            <a:pPr>
              <a:defRPr/>
            </a:pPr>
            <a:fld id="{2DDC7F0D-6920-4708-9B29-4BBAA354F139}"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image" Target="../media/image2.jpeg"/><Relationship Id="rId2" Type="http://schemas.openxmlformats.org/officeDocument/2006/relationships/slideLayout" Target="../slideLayouts/slideLayout13.xml"/><Relationship Id="rId16" Type="http://schemas.openxmlformats.org/officeDocument/2006/relationships/image" Target="../media/image1.jpe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62584268-DA5B-7045-BFDC-1B5737A63DD5}" type="datetime1">
              <a:rPr lang="en-US" smtClean="0"/>
              <a:t>1/30/2026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FEBEA4FE-042C-4C31-965A-79D3153CB5D2}"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Lst>
  <p:transition/>
  <p:hf sldNum="0"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srcRect/>
          <a:tile tx="0" ty="0" sx="100000" sy="100000" flip="none" algn="tl"/>
        </a:blipFill>
        <a:effectLst/>
      </p:bgPr>
    </p:bg>
    <p:spTree>
      <p:nvGrpSpPr>
        <p:cNvPr id="1" name=""/>
        <p:cNvGrpSpPr/>
        <p:nvPr/>
      </p:nvGrpSpPr>
      <p:grpSpPr>
        <a:xfrm>
          <a:off x="0" y="0"/>
          <a:ext cx="0" cy="0"/>
          <a:chOff x="0" y="0"/>
          <a:chExt cx="0" cy="0"/>
        </a:xfrm>
      </p:grpSpPr>
      <p:pic>
        <p:nvPicPr>
          <p:cNvPr id="11" name="Picture 10" descr="RunningTop-R.jpg"/>
          <p:cNvPicPr>
            <a:picLocks noChangeAspect="1"/>
          </p:cNvPicPr>
          <p:nvPr/>
        </p:nvPicPr>
        <p:blipFill>
          <a:blip r:embed="rId17"/>
          <a:stretch>
            <a:fillRect/>
          </a:stretch>
        </p:blipFill>
        <p:spPr>
          <a:xfrm>
            <a:off x="457200" y="457200"/>
            <a:ext cx="8229600" cy="1382002"/>
          </a:xfrm>
          <a:prstGeom prst="rect">
            <a:avLst/>
          </a:prstGeom>
        </p:spPr>
      </p:pic>
      <p:sp>
        <p:nvSpPr>
          <p:cNvPr id="2" name="Title Placeholder 1"/>
          <p:cNvSpPr>
            <a:spLocks noGrp="1"/>
          </p:cNvSpPr>
          <p:nvPr>
            <p:ph type="title"/>
          </p:nvPr>
        </p:nvSpPr>
        <p:spPr>
          <a:xfrm>
            <a:off x="658813" y="456252"/>
            <a:ext cx="7824788" cy="1323041"/>
          </a:xfrm>
          <a:prstGeom prst="rect">
            <a:avLst/>
          </a:prstGeom>
          <a:effectLst/>
        </p:spPr>
        <p:txBody>
          <a:bodyPr vert="horz" lIns="91440" tIns="0" rIns="91440" bIns="0" rtlCol="0" anchor="b" anchorCtr="0">
            <a:noAutofit/>
          </a:bodyPr>
          <a:lstStyle/>
          <a:p>
            <a:r>
              <a:rPr lang="en-US"/>
              <a:t>Click to edit Master title style</a:t>
            </a:r>
            <a:endParaRPr/>
          </a:p>
        </p:txBody>
      </p:sp>
      <p:sp>
        <p:nvSpPr>
          <p:cNvPr id="3" name="Text Placeholder 2"/>
          <p:cNvSpPr>
            <a:spLocks noGrp="1"/>
          </p:cNvSpPr>
          <p:nvPr>
            <p:ph type="body" idx="1"/>
          </p:nvPr>
        </p:nvSpPr>
        <p:spPr>
          <a:xfrm>
            <a:off x="2286000" y="2286000"/>
            <a:ext cx="6197600" cy="3840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690360" y="6492875"/>
            <a:ext cx="2133600" cy="365125"/>
          </a:xfrm>
          <a:prstGeom prst="rect">
            <a:avLst/>
          </a:prstGeom>
        </p:spPr>
        <p:txBody>
          <a:bodyPr vert="horz" lIns="91440" tIns="45720" rIns="91440" bIns="45720" rtlCol="0" anchor="ctr"/>
          <a:lstStyle>
            <a:lvl1pPr algn="r">
              <a:defRPr sz="1100" b="1">
                <a:solidFill>
                  <a:schemeClr val="bg1">
                    <a:lumMod val="65000"/>
                  </a:schemeClr>
                </a:solidFill>
                <a:latin typeface="Calibri" pitchFamily="34" charset="0"/>
              </a:defRPr>
            </a:lvl1pPr>
          </a:lstStyle>
          <a:p>
            <a:pPr>
              <a:defRPr/>
            </a:pPr>
            <a:fld id="{3B41AE3D-EC6B-B04C-92EC-C3B287712F3A}" type="datetime1">
              <a:rPr lang="en-US" smtClean="0"/>
              <a:t>1/30/2026</a:t>
            </a:fld>
            <a:endParaRPr lang="en-US" dirty="0"/>
          </a:p>
        </p:txBody>
      </p:sp>
      <p:sp>
        <p:nvSpPr>
          <p:cNvPr id="5"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4"/>
          </p:nvPr>
        </p:nvSpPr>
        <p:spPr>
          <a:xfrm>
            <a:off x="378666" y="6149788"/>
            <a:ext cx="533400" cy="365125"/>
          </a:xfrm>
          <a:prstGeom prst="rect">
            <a:avLst/>
          </a:prstGeom>
        </p:spPr>
        <p:txBody>
          <a:bodyPr vert="horz" lIns="91440" tIns="91440" rIns="91440" bIns="91440" rtlCol="0" anchor="ctr"/>
          <a:lstStyle>
            <a:lvl1pPr algn="l">
              <a:defRPr sz="1800" b="0">
                <a:solidFill>
                  <a:schemeClr val="accent1"/>
                </a:solidFill>
                <a:latin typeface="Calibri" pitchFamily="34" charset="0"/>
              </a:defRPr>
            </a:lvl1pPr>
          </a:lstStyle>
          <a:p>
            <a:pPr>
              <a:defRPr/>
            </a:pPr>
            <a:fld id="{FDF6211F-5278-4B8E-96CF-461F9E543AC9}"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57200" y="184096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 id="2147483777" r:id="rId13"/>
    <p:sldLayoutId id="2147483778" r:id="rId14"/>
  </p:sldLayoutIdLst>
  <p:transition/>
  <p:hf sldNum="0" hdr="0" dt="0"/>
  <p:txStyles>
    <p:titleStyle>
      <a:lvl1pPr algn="r" defTabSz="914400" rtl="0" eaLnBrk="1" latinLnBrk="0" hangingPunct="1">
        <a:lnSpc>
          <a:spcPts val="5400"/>
        </a:lnSpc>
        <a:spcBef>
          <a:spcPct val="0"/>
        </a:spcBef>
        <a:buNone/>
        <a:defRPr sz="5200" kern="1200">
          <a:solidFill>
            <a:schemeClr val="bg1"/>
          </a:solidFill>
          <a:effectLst>
            <a:outerShdw blurRad="50800" dist="38100" dir="2700000" algn="tl" rotWithShape="0">
              <a:prstClr val="black">
                <a:alpha val="40000"/>
              </a:prstClr>
            </a:outerShdw>
          </a:effectLst>
          <a:latin typeface="+mj-lt"/>
          <a:ea typeface="+mj-ea"/>
          <a:cs typeface="+mj-cs"/>
        </a:defRPr>
      </a:lvl1pPr>
    </p:titleStyle>
    <p:bodyStyle>
      <a:lvl1pPr marL="282575" indent="-282575" algn="l" defTabSz="914400" rtl="0" eaLnBrk="1" latinLnBrk="0" hangingPunct="1">
        <a:spcBef>
          <a:spcPts val="1800"/>
        </a:spcBef>
        <a:buClr>
          <a:schemeClr val="accent1"/>
        </a:buClr>
        <a:buSzPct val="75000"/>
        <a:buFont typeface="Wingdings" pitchFamily="2" charset="2"/>
        <a:buChar char="n"/>
        <a:defRPr sz="2000" kern="1200">
          <a:solidFill>
            <a:schemeClr val="tx1">
              <a:lumMod val="85000"/>
              <a:lumOff val="15000"/>
            </a:schemeClr>
          </a:solidFill>
          <a:latin typeface="+mn-lt"/>
          <a:ea typeface="+mn-ea"/>
          <a:cs typeface="+mn-cs"/>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20.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notesSlide" Target="../notesSlides/notesSlide13.xml"/><Relationship Id="rId1" Type="http://schemas.openxmlformats.org/officeDocument/2006/relationships/slideLayout" Target="../slideLayouts/slideLayout22.xml"/><Relationship Id="rId4" Type="http://schemas.openxmlformats.org/officeDocument/2006/relationships/image" Target="../media/image16.emf"/></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4.xml"/><Relationship Id="rId1" Type="http://schemas.openxmlformats.org/officeDocument/2006/relationships/slideLayout" Target="../slideLayouts/slideLayout21.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7.xml"/><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9.xml"/><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21.xml"/><Relationship Id="rId1" Type="http://schemas.openxmlformats.org/officeDocument/2006/relationships/slideLayout" Target="../slideLayouts/slideLayout21.xml"/><Relationship Id="rId4" Type="http://schemas.openxmlformats.org/officeDocument/2006/relationships/image" Target="../media/image23.emf"/></Relationships>
</file>

<file path=ppt/slides/_rels/slide22.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22.xml"/><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3" Type="http://schemas.openxmlformats.org/officeDocument/2006/relationships/package" Target="../embeddings/Microsoft_Word_Document1.docx"/><Relationship Id="rId2" Type="http://schemas.openxmlformats.org/officeDocument/2006/relationships/notesSlide" Target="../notesSlides/notesSlide24.xml"/><Relationship Id="rId1" Type="http://schemas.openxmlformats.org/officeDocument/2006/relationships/slideLayout" Target="../slideLayouts/slideLayout22.xml"/><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25.xml"/><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26.xml"/><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7.xml"/><Relationship Id="rId1" Type="http://schemas.openxmlformats.org/officeDocument/2006/relationships/slideLayout" Target="../slideLayouts/slideLayout15.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8.xml"/><Relationship Id="rId1" Type="http://schemas.openxmlformats.org/officeDocument/2006/relationships/slideLayout" Target="../slideLayouts/slideLayout15.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9.xml"/><Relationship Id="rId1" Type="http://schemas.openxmlformats.org/officeDocument/2006/relationships/slideLayout" Target="../slideLayouts/slideLayout15.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31.xml"/><Relationship Id="rId1" Type="http://schemas.openxmlformats.org/officeDocument/2006/relationships/slideLayout" Target="../slideLayouts/slideLayout15.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33.xml"/><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34.xml"/><Relationship Id="rId1" Type="http://schemas.openxmlformats.org/officeDocument/2006/relationships/slideLayout" Target="../slideLayouts/slideLayout21.xml"/></Relationships>
</file>

<file path=ppt/slides/_rels/slide35.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35.xml"/><Relationship Id="rId1" Type="http://schemas.openxmlformats.org/officeDocument/2006/relationships/slideLayout" Target="../slideLayouts/slideLayout2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8" Type="http://schemas.openxmlformats.org/officeDocument/2006/relationships/diagramData" Target="../diagrams/data10.xml"/><Relationship Id="rId3" Type="http://schemas.openxmlformats.org/officeDocument/2006/relationships/diagramData" Target="../diagrams/data9.xml"/><Relationship Id="rId7" Type="http://schemas.microsoft.com/office/2007/relationships/diagramDrawing" Target="../diagrams/drawing9.xml"/><Relationship Id="rId12" Type="http://schemas.microsoft.com/office/2007/relationships/diagramDrawing" Target="../diagrams/drawing10.xml"/><Relationship Id="rId2" Type="http://schemas.openxmlformats.org/officeDocument/2006/relationships/notesSlide" Target="../notesSlides/notesSlide37.xml"/><Relationship Id="rId1" Type="http://schemas.openxmlformats.org/officeDocument/2006/relationships/slideLayout" Target="../slideLayouts/slideLayout15.xml"/><Relationship Id="rId6" Type="http://schemas.openxmlformats.org/officeDocument/2006/relationships/diagramColors" Target="../diagrams/colors9.xml"/><Relationship Id="rId11" Type="http://schemas.openxmlformats.org/officeDocument/2006/relationships/diagramColors" Target="../diagrams/colors10.xml"/><Relationship Id="rId5" Type="http://schemas.openxmlformats.org/officeDocument/2006/relationships/diagramQuickStyle" Target="../diagrams/quickStyle9.xml"/><Relationship Id="rId10" Type="http://schemas.openxmlformats.org/officeDocument/2006/relationships/diagramQuickStyle" Target="../diagrams/quickStyle10.xml"/><Relationship Id="rId4" Type="http://schemas.openxmlformats.org/officeDocument/2006/relationships/diagramLayout" Target="../diagrams/layout9.xml"/><Relationship Id="rId9" Type="http://schemas.openxmlformats.org/officeDocument/2006/relationships/diagramLayout" Target="../diagrams/layout10.xml"/></Relationships>
</file>

<file path=ppt/slides/_rels/slide38.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38.xml"/><Relationship Id="rId1" Type="http://schemas.openxmlformats.org/officeDocument/2006/relationships/slideLayout" Target="../slideLayouts/slideLayout21.xml"/></Relationships>
</file>

<file path=ppt/slides/_rels/slide39.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39.xml"/><Relationship Id="rId1" Type="http://schemas.openxmlformats.org/officeDocument/2006/relationships/slideLayout" Target="../slideLayouts/slideLayout2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41.xml"/><Relationship Id="rId1" Type="http://schemas.openxmlformats.org/officeDocument/2006/relationships/slideLayout" Target="../slideLayouts/slideLayout22.xml"/></Relationships>
</file>

<file path=ppt/slides/_rels/slide42.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42.xml"/><Relationship Id="rId1" Type="http://schemas.openxmlformats.org/officeDocument/2006/relationships/slideLayout" Target="../slideLayouts/slideLayout2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6.xml"/></Relationships>
</file>

<file path=ppt/slides/_rels/slide4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5.xml"/><Relationship Id="rId1" Type="http://schemas.openxmlformats.org/officeDocument/2006/relationships/slideLayout" Target="../slideLayouts/slideLayout21.xml"/><Relationship Id="rId4" Type="http://schemas.openxmlformats.org/officeDocument/2006/relationships/image" Target="../media/image35.emf"/></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46.xml"/><Relationship Id="rId1" Type="http://schemas.openxmlformats.org/officeDocument/2006/relationships/slideLayout" Target="../slideLayouts/slideLayout17.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47.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47.xml"/><Relationship Id="rId1" Type="http://schemas.openxmlformats.org/officeDocument/2006/relationships/slideLayout" Target="../slideLayouts/slideLayout2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49.xml"/><Relationship Id="rId1" Type="http://schemas.openxmlformats.org/officeDocument/2006/relationships/slideLayout" Target="../slideLayouts/slideLayout17.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51.xml"/><Relationship Id="rId1" Type="http://schemas.openxmlformats.org/officeDocument/2006/relationships/slideLayout" Target="../slideLayouts/slideLayout20.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52.xml"/><Relationship Id="rId1" Type="http://schemas.openxmlformats.org/officeDocument/2006/relationships/slideLayout" Target="../slideLayouts/slideLayout21.xml"/></Relationships>
</file>

<file path=ppt/slides/_rels/slide53.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53.xml"/><Relationship Id="rId1" Type="http://schemas.openxmlformats.org/officeDocument/2006/relationships/slideLayout" Target="../slideLayouts/slideLayout2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0.xml"/></Relationships>
</file>

<file path=ppt/slides/_rels/slide5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5.xml"/><Relationship Id="rId1" Type="http://schemas.openxmlformats.org/officeDocument/2006/relationships/slideLayout" Target="../slideLayouts/slideLayout22.xml"/></Relationships>
</file>

<file path=ppt/slides/_rels/slide56.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56.xml"/><Relationship Id="rId1" Type="http://schemas.openxmlformats.org/officeDocument/2006/relationships/slideLayout" Target="../slideLayouts/slideLayout22.xml"/></Relationships>
</file>

<file path=ppt/slides/_rels/slide57.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57.xml"/><Relationship Id="rId1" Type="http://schemas.openxmlformats.org/officeDocument/2006/relationships/slideLayout" Target="../slideLayouts/slideLayout22.xml"/></Relationships>
</file>

<file path=ppt/slides/_rels/slide5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8.xml"/><Relationship Id="rId1" Type="http://schemas.openxmlformats.org/officeDocument/2006/relationships/slideLayout" Target="../slideLayouts/slideLayout22.xml"/><Relationship Id="rId4" Type="http://schemas.openxmlformats.org/officeDocument/2006/relationships/image" Target="../media/image42.emf"/></Relationships>
</file>

<file path=ppt/slides/_rels/slide59.xml.rels><?xml version="1.0" encoding="UTF-8" standalone="yes"?>
<Relationships xmlns="http://schemas.openxmlformats.org/package/2006/relationships"><Relationship Id="rId3" Type="http://schemas.openxmlformats.org/officeDocument/2006/relationships/package" Target="../embeddings/Microsoft_Word_Document2.docx"/><Relationship Id="rId2" Type="http://schemas.openxmlformats.org/officeDocument/2006/relationships/notesSlide" Target="../notesSlides/notesSlide59.xml"/><Relationship Id="rId1" Type="http://schemas.openxmlformats.org/officeDocument/2006/relationships/slideLayout" Target="../slideLayouts/slideLayout22.xml"/><Relationship Id="rId5" Type="http://schemas.openxmlformats.org/officeDocument/2006/relationships/image" Target="../media/image1.jpeg"/><Relationship Id="rId4" Type="http://schemas.openxmlformats.org/officeDocument/2006/relationships/image" Target="../media/image43.png"/></Relationships>
</file>

<file path=ppt/slides/_rels/slide60.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60.xml"/><Relationship Id="rId1" Type="http://schemas.openxmlformats.org/officeDocument/2006/relationships/slideLayout" Target="../slideLayouts/slideLayout20.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0.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le 1"/>
          <p:cNvSpPr>
            <a:spLocks noGrp="1"/>
          </p:cNvSpPr>
          <p:nvPr>
            <p:ph type="title"/>
          </p:nvPr>
        </p:nvSpPr>
        <p:spPr/>
        <p:txBody>
          <a:bodyPr/>
          <a:lstStyle/>
          <a:p>
            <a:pPr eaLnBrk="1" hangingPunct="1"/>
            <a:r>
              <a:rPr lang="en-US" dirty="0"/>
              <a:t>Chapter 3</a:t>
            </a:r>
            <a:br>
              <a:rPr lang="en-US" dirty="0"/>
            </a:br>
            <a:r>
              <a:rPr lang="en-US" dirty="0"/>
              <a:t>Process Description and Control</a:t>
            </a:r>
          </a:p>
        </p:txBody>
      </p:sp>
      <p:sp>
        <p:nvSpPr>
          <p:cNvPr id="6" name="Text Placeholder 5"/>
          <p:cNvSpPr>
            <a:spLocks noGrp="1"/>
          </p:cNvSpPr>
          <p:nvPr>
            <p:ph type="body" idx="1"/>
          </p:nvPr>
        </p:nvSpPr>
        <p:spPr/>
        <p:txBody>
          <a:bodyPr/>
          <a:lstStyle/>
          <a:p>
            <a:r>
              <a:rPr lang="en-US" dirty="0"/>
              <a:t>Ninth Edition</a:t>
            </a:r>
          </a:p>
          <a:p>
            <a:r>
              <a:rPr lang="en-US" dirty="0"/>
              <a:t>By William Stallings</a:t>
            </a:r>
          </a:p>
          <a:p>
            <a:endParaRPr lang="en-US" dirty="0"/>
          </a:p>
        </p:txBody>
      </p:sp>
      <p:sp>
        <p:nvSpPr>
          <p:cNvPr id="7" name="TextBox 6"/>
          <p:cNvSpPr txBox="1"/>
          <p:nvPr/>
        </p:nvSpPr>
        <p:spPr>
          <a:xfrm>
            <a:off x="457200" y="1676400"/>
            <a:ext cx="2209800" cy="2886944"/>
          </a:xfrm>
          <a:prstGeom prst="rect">
            <a:avLst/>
          </a:prstGeom>
          <a:noFill/>
        </p:spPr>
        <p:txBody>
          <a:bodyPr wrap="square" rtlCol="0">
            <a:spAutoFit/>
          </a:bodyPr>
          <a:lstStyle/>
          <a:p>
            <a:pPr algn="ctr" fontAlgn="auto">
              <a:spcBef>
                <a:spcPct val="20000"/>
              </a:spcBef>
              <a:spcAft>
                <a:spcPts val="0"/>
              </a:spcAft>
              <a:defRPr/>
            </a:pPr>
            <a:r>
              <a:rPr lang="en-US" sz="3200" i="1" dirty="0">
                <a:solidFill>
                  <a:schemeClr val="bg2">
                    <a:lumMod val="25000"/>
                  </a:schemeClr>
                </a:solidFill>
                <a:latin typeface="+mn-lt"/>
              </a:rPr>
              <a:t>Operating Systems:</a:t>
            </a:r>
            <a:br>
              <a:rPr lang="en-US" sz="3200" i="1" dirty="0">
                <a:solidFill>
                  <a:schemeClr val="bg2">
                    <a:lumMod val="25000"/>
                  </a:schemeClr>
                </a:solidFill>
                <a:latin typeface="+mn-lt"/>
              </a:rPr>
            </a:br>
            <a:r>
              <a:rPr lang="en-US" sz="3200" i="1" dirty="0">
                <a:solidFill>
                  <a:schemeClr val="bg2">
                    <a:lumMod val="25000"/>
                  </a:schemeClr>
                </a:solidFill>
                <a:latin typeface="+mn-lt"/>
              </a:rPr>
              <a:t>Internals and Design Principles</a:t>
            </a:r>
          </a:p>
          <a:p>
            <a:endParaRPr lang="en-US" dirty="0"/>
          </a:p>
        </p:txBody>
      </p:sp>
      <p:sp>
        <p:nvSpPr>
          <p:cNvPr id="5" name="Footer Placeholder 4"/>
          <p:cNvSpPr>
            <a:spLocks noGrp="1"/>
          </p:cNvSpPr>
          <p:nvPr>
            <p:ph type="ftr" sz="quarter" idx="11"/>
          </p:nvPr>
        </p:nvSpPr>
        <p:spPr>
          <a:xfrm>
            <a:off x="318246" y="6492875"/>
            <a:ext cx="6082553" cy="365125"/>
          </a:xfrm>
        </p:spPr>
        <p:txBody>
          <a:bodyPr/>
          <a:lstStyle/>
          <a:p>
            <a:pPr>
              <a:defRPr/>
            </a:pPr>
            <a:r>
              <a:rPr lang="en-US" dirty="0"/>
              <a:t>© 2017 Pearson Education, Inc., Hoboken, NJ. All rights reserved.</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Summary of Earlier Concepts</a:t>
            </a:r>
          </a:p>
        </p:txBody>
      </p:sp>
      <p:sp>
        <p:nvSpPr>
          <p:cNvPr id="6147" name="Content Placeholder 2"/>
          <p:cNvSpPr>
            <a:spLocks noGrp="1"/>
          </p:cNvSpPr>
          <p:nvPr>
            <p:ph sz="half" idx="1"/>
          </p:nvPr>
        </p:nvSpPr>
        <p:spPr>
          <a:xfrm>
            <a:off x="658904" y="2057400"/>
            <a:ext cx="3657600" cy="4068763"/>
          </a:xfrm>
        </p:spPr>
        <p:txBody>
          <a:bodyPr/>
          <a:lstStyle/>
          <a:p>
            <a:pPr>
              <a:lnSpc>
                <a:spcPct val="80000"/>
              </a:lnSpc>
              <a:buNone/>
            </a:pPr>
            <a:endParaRPr lang="en-US" dirty="0"/>
          </a:p>
          <a:p>
            <a:pPr lvl="1">
              <a:lnSpc>
                <a:spcPct val="80000"/>
              </a:lnSpc>
            </a:pPr>
            <a:r>
              <a:rPr lang="en-US" sz="2200" dirty="0"/>
              <a:t>A computer platform consists of a collection of </a:t>
            </a:r>
            <a:r>
              <a:rPr lang="en-US" sz="2200" dirty="0">
                <a:solidFill>
                  <a:srgbClr val="FF0000"/>
                </a:solidFill>
              </a:rPr>
              <a:t>hardware resources</a:t>
            </a:r>
          </a:p>
          <a:p>
            <a:pPr lvl="1">
              <a:lnSpc>
                <a:spcPct val="80000"/>
              </a:lnSpc>
            </a:pPr>
            <a:endParaRPr lang="en-US" sz="2200" dirty="0"/>
          </a:p>
          <a:p>
            <a:pPr lvl="1">
              <a:lnSpc>
                <a:spcPct val="80000"/>
              </a:lnSpc>
            </a:pPr>
            <a:r>
              <a:rPr lang="en-US" sz="2200" dirty="0"/>
              <a:t>Computer </a:t>
            </a:r>
            <a:r>
              <a:rPr lang="en-US" sz="2200" dirty="0">
                <a:solidFill>
                  <a:srgbClr val="FF0000"/>
                </a:solidFill>
              </a:rPr>
              <a:t>applications</a:t>
            </a:r>
            <a:r>
              <a:rPr lang="en-US" sz="2200" dirty="0"/>
              <a:t> are developed to perform some task</a:t>
            </a:r>
          </a:p>
          <a:p>
            <a:pPr lvl="1">
              <a:lnSpc>
                <a:spcPct val="80000"/>
              </a:lnSpc>
            </a:pPr>
            <a:endParaRPr lang="en-US" sz="2200" dirty="0"/>
          </a:p>
          <a:p>
            <a:pPr lvl="1">
              <a:lnSpc>
                <a:spcPct val="80000"/>
              </a:lnSpc>
            </a:pPr>
            <a:r>
              <a:rPr lang="en-US" sz="2200" dirty="0"/>
              <a:t>It is </a:t>
            </a:r>
            <a:r>
              <a:rPr lang="en-US" sz="2200" dirty="0">
                <a:solidFill>
                  <a:srgbClr val="FF0000"/>
                </a:solidFill>
              </a:rPr>
              <a:t>inefficient for applications </a:t>
            </a:r>
            <a:r>
              <a:rPr lang="en-US" sz="2200" dirty="0"/>
              <a:t>to be written directly for a given hardware platform</a:t>
            </a:r>
          </a:p>
          <a:p>
            <a:pPr lvl="1">
              <a:lnSpc>
                <a:spcPct val="80000"/>
              </a:lnSpc>
            </a:pPr>
            <a:endParaRPr lang="en-US" dirty="0"/>
          </a:p>
          <a:p>
            <a:endParaRPr lang="en-US" dirty="0"/>
          </a:p>
        </p:txBody>
      </p:sp>
      <p:sp>
        <p:nvSpPr>
          <p:cNvPr id="4" name="Content Placeholder 3"/>
          <p:cNvSpPr>
            <a:spLocks noGrp="1"/>
          </p:cNvSpPr>
          <p:nvPr>
            <p:ph sz="half" idx="2"/>
          </p:nvPr>
        </p:nvSpPr>
        <p:spPr>
          <a:xfrm>
            <a:off x="4831308" y="2286000"/>
            <a:ext cx="3657600" cy="4038600"/>
          </a:xfrm>
        </p:spPr>
        <p:txBody>
          <a:bodyPr>
            <a:noAutofit/>
          </a:bodyPr>
          <a:lstStyle/>
          <a:p>
            <a:r>
              <a:rPr lang="en-US" sz="2200" dirty="0"/>
              <a:t>The OS was developed to provide a </a:t>
            </a:r>
            <a:r>
              <a:rPr lang="en-US" sz="2200" dirty="0">
                <a:solidFill>
                  <a:srgbClr val="FF0000"/>
                </a:solidFill>
              </a:rPr>
              <a:t>convenient, feature-rich, secure, and consistent interface for applications </a:t>
            </a:r>
            <a:r>
              <a:rPr lang="en-US" sz="2200" dirty="0"/>
              <a:t>to use</a:t>
            </a:r>
          </a:p>
          <a:p>
            <a:r>
              <a:rPr lang="en-US" sz="2200" dirty="0"/>
              <a:t>We can think of the OS as </a:t>
            </a:r>
            <a:r>
              <a:rPr lang="en-US" sz="2200" dirty="0">
                <a:solidFill>
                  <a:srgbClr val="FF0000"/>
                </a:solidFill>
              </a:rPr>
              <a:t>providing a uniform, abstract representation of resources </a:t>
            </a:r>
            <a:r>
              <a:rPr lang="en-US" sz="2200" dirty="0"/>
              <a:t>that can be requested and accessed by applications</a:t>
            </a:r>
          </a:p>
        </p:txBody>
      </p:sp>
      <p:sp>
        <p:nvSpPr>
          <p:cNvPr id="5" name="Footer Placeholder 4"/>
          <p:cNvSpPr>
            <a:spLocks noGrp="1"/>
          </p:cNvSpPr>
          <p:nvPr>
            <p:ph type="ftr" sz="quarter" idx="11"/>
          </p:nvPr>
        </p:nvSpPr>
        <p:spPr>
          <a:xfrm>
            <a:off x="318246" y="6492875"/>
            <a:ext cx="6082553" cy="365125"/>
          </a:xfrm>
        </p:spPr>
        <p:txBody>
          <a:bodyPr/>
          <a:lstStyle/>
          <a:p>
            <a:pPr>
              <a:defRPr/>
            </a:pPr>
            <a:r>
              <a:rPr lang="en-US" dirty="0"/>
              <a:t>© 2017 Pearson Education, Inc., Hoboken, NJ. All rights reserved.</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algn="ctr"/>
            <a:r>
              <a:rPr lang="en-US" dirty="0">
                <a:solidFill>
                  <a:schemeClr val="accent1">
                    <a:lumMod val="50000"/>
                  </a:schemeClr>
                </a:solidFill>
              </a:rPr>
              <a:t>OS Management of Application Execution</a:t>
            </a:r>
          </a:p>
        </p:txBody>
      </p:sp>
      <p:sp>
        <p:nvSpPr>
          <p:cNvPr id="8195" name="Content Placeholder 2"/>
          <p:cNvSpPr>
            <a:spLocks noGrp="1"/>
          </p:cNvSpPr>
          <p:nvPr>
            <p:ph sz="half" idx="1"/>
          </p:nvPr>
        </p:nvSpPr>
        <p:spPr>
          <a:xfrm>
            <a:off x="609600" y="2286000"/>
            <a:ext cx="7848600" cy="3809999"/>
          </a:xfrm>
        </p:spPr>
        <p:txBody>
          <a:bodyPr>
            <a:normAutofit lnSpcReduction="10000"/>
          </a:bodyPr>
          <a:lstStyle/>
          <a:p>
            <a:r>
              <a:rPr lang="en-US" sz="3200" dirty="0"/>
              <a:t>Resources are made available to </a:t>
            </a:r>
            <a:r>
              <a:rPr lang="en-US" sz="3200" dirty="0">
                <a:solidFill>
                  <a:srgbClr val="FF0000"/>
                </a:solidFill>
              </a:rPr>
              <a:t>multiple application</a:t>
            </a:r>
            <a:r>
              <a:rPr lang="en-US" sz="3200" dirty="0"/>
              <a:t>s</a:t>
            </a:r>
          </a:p>
          <a:p>
            <a:r>
              <a:rPr lang="en-US" sz="3200" dirty="0">
                <a:solidFill>
                  <a:srgbClr val="FF0000"/>
                </a:solidFill>
              </a:rPr>
              <a:t>The processor is switched </a:t>
            </a:r>
            <a:r>
              <a:rPr lang="en-US" sz="3200" dirty="0"/>
              <a:t>among multiple applications so all will appear to be progressing</a:t>
            </a:r>
          </a:p>
          <a:p>
            <a:r>
              <a:rPr lang="en-US" sz="3200" dirty="0"/>
              <a:t>The processor and I/O devices can be used efficiently</a:t>
            </a:r>
          </a:p>
          <a:p>
            <a:endParaRPr lang="en-US" dirty="0"/>
          </a:p>
        </p:txBody>
      </p:sp>
      <p:sp>
        <p:nvSpPr>
          <p:cNvPr id="4" name="Footer Placeholder 3"/>
          <p:cNvSpPr>
            <a:spLocks noGrp="1"/>
          </p:cNvSpPr>
          <p:nvPr>
            <p:ph type="ftr" sz="quarter" idx="11"/>
          </p:nvPr>
        </p:nvSpPr>
        <p:spPr>
          <a:xfrm>
            <a:off x="318246" y="6492875"/>
            <a:ext cx="4634753" cy="365125"/>
          </a:xfrm>
        </p:spPr>
        <p:txBody>
          <a:bodyPr/>
          <a:lstStyle/>
          <a:p>
            <a:pPr>
              <a:defRPr/>
            </a:pPr>
            <a:r>
              <a:rPr lang="en-US" dirty="0"/>
              <a:t>© 2017 Pearson Education, Inc., Hoboken, NJ. All rights reserved.</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658813" y="456252"/>
            <a:ext cx="7824788" cy="1143947"/>
          </a:xfrm>
        </p:spPr>
        <p:txBody>
          <a:bodyPr/>
          <a:lstStyle/>
          <a:p>
            <a:pPr algn="ctr"/>
            <a:r>
              <a:rPr lang="en-US" b="1" dirty="0">
                <a:ln w="1905"/>
                <a:solidFill>
                  <a:schemeClr val="accent1">
                    <a:lumMod val="75000"/>
                  </a:schemeClr>
                </a:solidFill>
                <a:effectLst>
                  <a:innerShdw blurRad="69850" dist="43180" dir="5400000">
                    <a:srgbClr val="000000">
                      <a:alpha val="65000"/>
                    </a:srgbClr>
                  </a:innerShdw>
                </a:effectLst>
              </a:rPr>
              <a:t>Process Elements</a:t>
            </a:r>
          </a:p>
        </p:txBody>
      </p:sp>
      <p:sp>
        <p:nvSpPr>
          <p:cNvPr id="10243" name="Content Placeholder 2"/>
          <p:cNvSpPr>
            <a:spLocks noGrp="1"/>
          </p:cNvSpPr>
          <p:nvPr>
            <p:ph sz="half" idx="1"/>
          </p:nvPr>
        </p:nvSpPr>
        <p:spPr>
          <a:xfrm>
            <a:off x="609600" y="2133600"/>
            <a:ext cx="7799296" cy="4191000"/>
          </a:xfrm>
        </p:spPr>
        <p:txBody>
          <a:bodyPr>
            <a:normAutofit/>
          </a:bodyPr>
          <a:lstStyle/>
          <a:p>
            <a:pPr>
              <a:lnSpc>
                <a:spcPct val="90000"/>
              </a:lnSpc>
            </a:pPr>
            <a:r>
              <a:rPr lang="en-US" sz="2200" dirty="0"/>
              <a:t>Two essential elements of a process are:</a:t>
            </a:r>
          </a:p>
          <a:p>
            <a:pPr marL="282575" lvl="2">
              <a:spcBef>
                <a:spcPts val="1800"/>
              </a:spcBef>
            </a:pPr>
            <a:endParaRPr lang="en-US" sz="2200" dirty="0"/>
          </a:p>
          <a:p>
            <a:pPr marL="282575" lvl="2">
              <a:spcBef>
                <a:spcPts val="1800"/>
              </a:spcBef>
            </a:pPr>
            <a:endParaRPr lang="en-US" sz="2200" dirty="0"/>
          </a:p>
          <a:p>
            <a:pPr marL="282575" lvl="2">
              <a:spcBef>
                <a:spcPts val="1800"/>
              </a:spcBef>
            </a:pPr>
            <a:endParaRPr lang="en-US" sz="2200" dirty="0"/>
          </a:p>
          <a:p>
            <a:pPr marL="282575" lvl="2">
              <a:spcBef>
                <a:spcPts val="1800"/>
              </a:spcBef>
              <a:buNone/>
            </a:pPr>
            <a:endParaRPr lang="en-US" sz="2200" dirty="0"/>
          </a:p>
          <a:p>
            <a:pPr marL="282575" lvl="2">
              <a:spcBef>
                <a:spcPts val="1800"/>
              </a:spcBef>
              <a:buNone/>
            </a:pPr>
            <a:endParaRPr lang="en-US" sz="2200" dirty="0"/>
          </a:p>
          <a:p>
            <a:pPr marL="282575" lvl="2">
              <a:spcBef>
                <a:spcPts val="1800"/>
              </a:spcBef>
              <a:buSzPct val="25000"/>
            </a:pPr>
            <a:r>
              <a:rPr lang="en-US" sz="2000" dirty="0"/>
              <a:t>when the processor begins to execute the program code, we refer to this executing entity as a </a:t>
            </a:r>
            <a:r>
              <a:rPr lang="en-US" sz="2200" b="1" i="1" dirty="0">
                <a:solidFill>
                  <a:schemeClr val="accent1"/>
                </a:solidFill>
              </a:rPr>
              <a:t>process</a:t>
            </a:r>
          </a:p>
        </p:txBody>
      </p:sp>
      <p:graphicFrame>
        <p:nvGraphicFramePr>
          <p:cNvPr id="4" name="Diagram 3"/>
          <p:cNvGraphicFramePr/>
          <p:nvPr/>
        </p:nvGraphicFramePr>
        <p:xfrm>
          <a:off x="533400" y="2743200"/>
          <a:ext cx="8153400" cy="2641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318246" y="6492875"/>
            <a:ext cx="6615953" cy="365125"/>
          </a:xfrm>
        </p:spPr>
        <p:txBody>
          <a:bodyPr/>
          <a:lstStyle/>
          <a:p>
            <a:pPr>
              <a:defRPr/>
            </a:pPr>
            <a:r>
              <a:rPr lang="en-US" dirty="0"/>
              <a:t>© 2017 Pearson Education, Inc., Hoboken, NJ. All rights reserved.</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658813" y="456253"/>
            <a:ext cx="7824788" cy="1143947"/>
          </a:xfrm>
        </p:spPr>
        <p:txBody>
          <a:bodyPr/>
          <a:lstStyle/>
          <a:p>
            <a:pPr algn="l"/>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Process Elements</a:t>
            </a:r>
          </a:p>
        </p:txBody>
      </p:sp>
      <p:sp>
        <p:nvSpPr>
          <p:cNvPr id="11267" name="Content Placeholder 2"/>
          <p:cNvSpPr>
            <a:spLocks noGrp="1"/>
          </p:cNvSpPr>
          <p:nvPr>
            <p:ph idx="4294967295"/>
          </p:nvPr>
        </p:nvSpPr>
        <p:spPr>
          <a:xfrm>
            <a:off x="533400" y="2286000"/>
            <a:ext cx="8026400" cy="3840163"/>
          </a:xfrm>
        </p:spPr>
        <p:txBody>
          <a:bodyPr/>
          <a:lstStyle/>
          <a:p>
            <a:pPr>
              <a:lnSpc>
                <a:spcPct val="90000"/>
              </a:lnSpc>
            </a:pPr>
            <a:r>
              <a:rPr lang="en-US" dirty="0"/>
              <a:t>While the program is executing, this process can be uniquely characterized by a number of elements, including:</a:t>
            </a:r>
          </a:p>
        </p:txBody>
      </p:sp>
      <p:graphicFrame>
        <p:nvGraphicFramePr>
          <p:cNvPr id="5" name="Diagram 4"/>
          <p:cNvGraphicFramePr/>
          <p:nvPr/>
        </p:nvGraphicFramePr>
        <p:xfrm>
          <a:off x="228600" y="2895600"/>
          <a:ext cx="8229600" cy="3581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Footer Placeholder 5"/>
          <p:cNvSpPr>
            <a:spLocks noGrp="1"/>
          </p:cNvSpPr>
          <p:nvPr>
            <p:ph type="ftr" sz="quarter" idx="11"/>
          </p:nvPr>
        </p:nvSpPr>
        <p:spPr>
          <a:xfrm>
            <a:off x="318246" y="6492875"/>
            <a:ext cx="5168153" cy="365125"/>
          </a:xfrm>
        </p:spPr>
        <p:txBody>
          <a:bodyPr/>
          <a:lstStyle/>
          <a:p>
            <a:pPr>
              <a:defRPr/>
            </a:pPr>
            <a:r>
              <a:rPr lang="en-US" dirty="0"/>
              <a:t>© 2017 Pearson Education, Inc., Hoboken, NJ. All rights reserved.</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609600" y="1371600"/>
            <a:ext cx="3657600" cy="1098332"/>
          </a:xfrm>
        </p:spPr>
        <p:txBody>
          <a:bodyPr/>
          <a:lstStyle/>
          <a:p>
            <a:r>
              <a:rPr lang="en-US" dirty="0"/>
              <a:t>Process Control Block</a:t>
            </a:r>
          </a:p>
        </p:txBody>
      </p:sp>
      <p:sp>
        <p:nvSpPr>
          <p:cNvPr id="5" name="Text Placeholder 4"/>
          <p:cNvSpPr>
            <a:spLocks noGrp="1"/>
          </p:cNvSpPr>
          <p:nvPr>
            <p:ph type="body" sz="half" idx="2"/>
          </p:nvPr>
        </p:nvSpPr>
        <p:spPr>
          <a:xfrm>
            <a:off x="533400" y="2819400"/>
            <a:ext cx="3886200" cy="3854669"/>
          </a:xfrm>
        </p:spPr>
        <p:txBody>
          <a:bodyPr>
            <a:normAutofit/>
          </a:bodyPr>
          <a:lstStyle/>
          <a:p>
            <a:pPr>
              <a:buSzPct val="106000"/>
              <a:buFont typeface="Wingdings" charset="2"/>
              <a:buChar char="§"/>
            </a:pPr>
            <a:r>
              <a:rPr lang="en-US" dirty="0"/>
              <a:t>Contains </a:t>
            </a:r>
            <a:r>
              <a:rPr lang="en-US" dirty="0">
                <a:solidFill>
                  <a:srgbClr val="FF0000"/>
                </a:solidFill>
              </a:rPr>
              <a:t>the process elements</a:t>
            </a:r>
          </a:p>
          <a:p>
            <a:pPr>
              <a:buSzPct val="106000"/>
              <a:buFont typeface="Wingdings" charset="2"/>
              <a:buChar char="§"/>
            </a:pPr>
            <a:r>
              <a:rPr lang="en-US" dirty="0"/>
              <a:t>It is possible to </a:t>
            </a:r>
            <a:r>
              <a:rPr lang="en-US" dirty="0">
                <a:solidFill>
                  <a:srgbClr val="FF0000"/>
                </a:solidFill>
              </a:rPr>
              <a:t>interrupt a running process</a:t>
            </a:r>
            <a:r>
              <a:rPr lang="en-US" dirty="0"/>
              <a:t> and later </a:t>
            </a:r>
            <a:r>
              <a:rPr lang="en-US" dirty="0">
                <a:solidFill>
                  <a:srgbClr val="FF0000"/>
                </a:solidFill>
              </a:rPr>
              <a:t>resume execu</a:t>
            </a:r>
            <a:r>
              <a:rPr lang="en-US" dirty="0"/>
              <a:t>tion as if the interruption had not occurred</a:t>
            </a:r>
          </a:p>
          <a:p>
            <a:pPr>
              <a:buSzPct val="106000"/>
              <a:buFont typeface="Wingdings" charset="2"/>
              <a:buChar char="§"/>
            </a:pPr>
            <a:r>
              <a:rPr lang="en-US" dirty="0"/>
              <a:t>Created and managed by the operating system</a:t>
            </a:r>
          </a:p>
          <a:p>
            <a:pPr>
              <a:buSzPct val="106000"/>
              <a:buFont typeface="Wingdings" charset="2"/>
              <a:buChar char="§"/>
            </a:pPr>
            <a:r>
              <a:rPr lang="en-US" dirty="0"/>
              <a:t>Key tool that allows support for multiple processes</a:t>
            </a:r>
          </a:p>
          <a:p>
            <a:endParaRPr lang="en-US" dirty="0"/>
          </a:p>
        </p:txBody>
      </p:sp>
      <p:pic>
        <p:nvPicPr>
          <p:cNvPr id="6" name="Picture 5" descr="f1.pdf"/>
          <p:cNvPicPr>
            <a:picLocks noChangeAspect="1"/>
          </p:cNvPicPr>
          <p:nvPr/>
        </p:nvPicPr>
        <p:blipFill>
          <a:blip r:embed="rId3"/>
          <a:srcRect l="20000" t="12727" r="20000" b="6364"/>
          <a:stretch>
            <a:fillRect/>
          </a:stretch>
        </p:blipFill>
        <p:spPr>
          <a:xfrm>
            <a:off x="4953000" y="568149"/>
            <a:ext cx="3560600" cy="6213651"/>
          </a:xfrm>
          <a:prstGeom prst="rect">
            <a:avLst/>
          </a:prstGeom>
        </p:spPr>
      </p:pic>
      <p:sp>
        <p:nvSpPr>
          <p:cNvPr id="7" name="Footer Placeholder 6"/>
          <p:cNvSpPr>
            <a:spLocks noGrp="1"/>
          </p:cNvSpPr>
          <p:nvPr>
            <p:ph type="ftr" sz="quarter" idx="11"/>
          </p:nvPr>
        </p:nvSpPr>
        <p:spPr>
          <a:xfrm>
            <a:off x="318246" y="6492875"/>
            <a:ext cx="57015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mv="urn:schemas-microsoft-com:mac:vml"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58813" y="456253"/>
            <a:ext cx="7824788" cy="1143948"/>
          </a:xfrm>
        </p:spPr>
        <p:txBody>
          <a:bodyPr/>
          <a:lstStyle/>
          <a:p>
            <a:pPr algn="l"/>
            <a:r>
              <a:rPr lang="en-US" b="1" dirty="0">
                <a:ln w="1905"/>
                <a:solidFill>
                  <a:schemeClr val="accent1">
                    <a:lumMod val="50000"/>
                  </a:schemeClr>
                </a:solidFill>
                <a:effectLst>
                  <a:innerShdw blurRad="69850" dist="43180" dir="5400000">
                    <a:srgbClr val="000000">
                      <a:alpha val="65000"/>
                    </a:srgbClr>
                  </a:innerShdw>
                </a:effectLst>
              </a:rPr>
              <a:t>Process States</a:t>
            </a:r>
          </a:p>
        </p:txBody>
      </p:sp>
      <p:graphicFrame>
        <p:nvGraphicFramePr>
          <p:cNvPr id="5" name="Content Placeholder 4"/>
          <p:cNvGraphicFramePr>
            <a:graphicFrameLocks noGrp="1"/>
          </p:cNvGraphicFramePr>
          <p:nvPr>
            <p:ph idx="4294967295"/>
            <p:extLst>
              <p:ext uri="{D42A27DB-BD31-4B8C-83A1-F6EECF244321}">
                <p14:modId xmlns:p14="http://schemas.microsoft.com/office/powerpoint/2010/main" val="3592687196"/>
              </p:ext>
            </p:extLst>
          </p:nvPr>
        </p:nvGraphicFramePr>
        <p:xfrm>
          <a:off x="533400" y="2133600"/>
          <a:ext cx="8229600" cy="4343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Footer Placeholder 5"/>
          <p:cNvSpPr>
            <a:spLocks noGrp="1"/>
          </p:cNvSpPr>
          <p:nvPr>
            <p:ph type="ftr" sz="quarter" idx="11"/>
          </p:nvPr>
        </p:nvSpPr>
        <p:spPr>
          <a:xfrm>
            <a:off x="318246" y="6492875"/>
            <a:ext cx="5244353" cy="365125"/>
          </a:xfrm>
        </p:spPr>
        <p:txBody>
          <a:bodyPr/>
          <a:lstStyle/>
          <a:p>
            <a:pPr>
              <a:defRPr/>
            </a:pPr>
            <a:r>
              <a:rPr lang="en-US" dirty="0"/>
              <a:t>© 2017 Pearson Education, Inc., Hoboken, NJ. All rights reserved.</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609600" y="1981200"/>
            <a:ext cx="3657600" cy="1098550"/>
          </a:xfrm>
        </p:spPr>
        <p:txBody>
          <a:bodyPr/>
          <a:lstStyle/>
          <a:p>
            <a:pPr algn="l"/>
            <a:r>
              <a:rPr lang="en-NZ" dirty="0">
                <a:solidFill>
                  <a:schemeClr val="accent1">
                    <a:lumMod val="75000"/>
                  </a:schemeClr>
                </a:solidFill>
              </a:rPr>
              <a:t>Process Execution</a:t>
            </a:r>
          </a:p>
        </p:txBody>
      </p:sp>
      <p:pic>
        <p:nvPicPr>
          <p:cNvPr id="5" name="Picture 4" descr="f2.pdf"/>
          <p:cNvPicPr>
            <a:picLocks noChangeAspect="1"/>
          </p:cNvPicPr>
          <p:nvPr/>
        </p:nvPicPr>
        <p:blipFill>
          <a:blip r:embed="rId3"/>
          <a:srcRect l="4706" r="12941" b="10000"/>
          <a:stretch>
            <a:fillRect/>
          </a:stretch>
        </p:blipFill>
        <p:spPr>
          <a:xfrm>
            <a:off x="4094058" y="-228600"/>
            <a:ext cx="4849006" cy="6858000"/>
          </a:xfrm>
          <a:prstGeom prst="rect">
            <a:avLst/>
          </a:prstGeom>
        </p:spPr>
      </p:pic>
      <p:sp>
        <p:nvSpPr>
          <p:cNvPr id="6" name="Footer Placeholder 5"/>
          <p:cNvSpPr>
            <a:spLocks noGrp="1"/>
          </p:cNvSpPr>
          <p:nvPr>
            <p:ph type="ftr" sz="quarter" idx="11"/>
          </p:nvPr>
        </p:nvSpPr>
        <p:spPr>
          <a:xfrm>
            <a:off x="318246" y="6492875"/>
            <a:ext cx="49395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mv="urn:schemas-microsoft-com:mac:vml" xmlns="">
      <p:transition spd="slow">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533400" y="838200"/>
            <a:ext cx="8156633" cy="5631148"/>
          </a:xfrm>
          <a:prstGeom prst="rect">
            <a:avLst/>
          </a:prstGeom>
        </p:spPr>
      </p:pic>
      <p:sp>
        <p:nvSpPr>
          <p:cNvPr id="3" name="Footer Placeholder 2"/>
          <p:cNvSpPr>
            <a:spLocks noGrp="1"/>
          </p:cNvSpPr>
          <p:nvPr>
            <p:ph type="ftr" sz="quarter" idx="11"/>
          </p:nvPr>
        </p:nvSpPr>
        <p:spPr>
          <a:xfrm>
            <a:off x="318246" y="6492875"/>
            <a:ext cx="50157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rcRect l="-16290" r="-9774"/>
          <a:stretch>
            <a:fillRect/>
          </a:stretch>
        </p:blipFill>
        <p:spPr>
          <a:xfrm>
            <a:off x="318246" y="304800"/>
            <a:ext cx="8507508" cy="6370637"/>
          </a:xfrm>
          <a:prstGeom prst="rect">
            <a:avLst/>
          </a:prstGeom>
          <a:solidFill>
            <a:schemeClr val="bg1"/>
          </a:solidFill>
        </p:spPr>
      </p:pic>
      <p:sp>
        <p:nvSpPr>
          <p:cNvPr id="3" name="Footer Placeholder 2"/>
          <p:cNvSpPr>
            <a:spLocks noGrp="1"/>
          </p:cNvSpPr>
          <p:nvPr>
            <p:ph type="ftr" sz="quarter" idx="11"/>
          </p:nvPr>
        </p:nvSpPr>
        <p:spPr>
          <a:xfrm>
            <a:off x="318246" y="6492875"/>
            <a:ext cx="5091953" cy="365125"/>
          </a:xfrm>
        </p:spPr>
        <p:txBody>
          <a:bodyPr/>
          <a:lstStyle/>
          <a:p>
            <a:pPr>
              <a:defRPr/>
            </a:pPr>
            <a:r>
              <a:rPr lang="en-US" dirty="0"/>
              <a:t>© 2017 Pearson Education, Inc., Hoboken, NJ. All rights reserved.</a:t>
            </a:r>
          </a:p>
        </p:txBody>
      </p:sp>
      <p:sp>
        <p:nvSpPr>
          <p:cNvPr id="2" name="Speech Bubble: Rectangle 1">
            <a:extLst>
              <a:ext uri="{FF2B5EF4-FFF2-40B4-BE49-F238E27FC236}">
                <a16:creationId xmlns:a16="http://schemas.microsoft.com/office/drawing/2014/main" id="{CEC4D3A5-B222-4864-B8BE-7F97C9A34B0F}"/>
              </a:ext>
            </a:extLst>
          </p:cNvPr>
          <p:cNvSpPr/>
          <p:nvPr/>
        </p:nvSpPr>
        <p:spPr>
          <a:xfrm>
            <a:off x="685800" y="2057400"/>
            <a:ext cx="1295400" cy="612648"/>
          </a:xfrm>
          <a:prstGeom prst="wedgeRectCallout">
            <a:avLst>
              <a:gd name="adj1" fmla="val 66376"/>
              <a:gd name="adj2" fmla="val -91960"/>
            </a:avLst>
          </a:prstGeom>
          <a:solidFill>
            <a:schemeClr val="accent5">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Dispatcher</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mv="urn:schemas-microsoft-com:mac:vml"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658813" y="456253"/>
            <a:ext cx="7824788" cy="1143948"/>
          </a:xfrm>
        </p:spPr>
        <p:txBody>
          <a:bodyPr/>
          <a:lstStyle/>
          <a:p>
            <a:pPr algn="ctr"/>
            <a:r>
              <a:rPr lang="en-US" b="1" dirty="0">
                <a:ln w="1905"/>
                <a:solidFill>
                  <a:schemeClr val="accent1">
                    <a:lumMod val="75000"/>
                  </a:schemeClr>
                </a:solidFill>
                <a:effectLst>
                  <a:innerShdw blurRad="69850" dist="43180" dir="5400000">
                    <a:srgbClr val="000000">
                      <a:alpha val="65000"/>
                    </a:srgbClr>
                  </a:innerShdw>
                </a:effectLst>
              </a:rPr>
              <a:t>Two-State Process Model</a:t>
            </a:r>
          </a:p>
        </p:txBody>
      </p:sp>
      <p:pic>
        <p:nvPicPr>
          <p:cNvPr id="5" name="Picture 4" descr="f5.pdf"/>
          <p:cNvPicPr>
            <a:picLocks noChangeAspect="1"/>
          </p:cNvPicPr>
          <p:nvPr/>
        </p:nvPicPr>
        <p:blipFill>
          <a:blip r:embed="rId3"/>
          <a:srcRect l="14545" t="5882" r="15455" b="57647"/>
          <a:stretch>
            <a:fillRect/>
          </a:stretch>
        </p:blipFill>
        <p:spPr>
          <a:xfrm>
            <a:off x="346605" y="2514600"/>
            <a:ext cx="8797395" cy="3541920"/>
          </a:xfrm>
          <a:prstGeom prst="rect">
            <a:avLst/>
          </a:prstGeom>
        </p:spPr>
      </p:pic>
      <p:sp>
        <p:nvSpPr>
          <p:cNvPr id="4" name="Footer Placeholder 3"/>
          <p:cNvSpPr>
            <a:spLocks noGrp="1"/>
          </p:cNvSpPr>
          <p:nvPr>
            <p:ph type="ftr" sz="quarter" idx="11"/>
          </p:nvPr>
        </p:nvSpPr>
        <p:spPr>
          <a:xfrm>
            <a:off x="318246" y="6492875"/>
            <a:ext cx="4863353" cy="365125"/>
          </a:xfrm>
        </p:spPr>
        <p:txBody>
          <a:bodyPr/>
          <a:lstStyle/>
          <a:p>
            <a:pPr>
              <a:defRPr/>
            </a:pPr>
            <a:r>
              <a:rPr lang="en-US" dirty="0"/>
              <a:t>© 2017 Pearson Education, Inc., Hoboken, NJ. All rights reserved.</a:t>
            </a:r>
          </a:p>
        </p:txBody>
      </p:sp>
      <p:sp>
        <p:nvSpPr>
          <p:cNvPr id="2" name="Rectangle 1">
            <a:extLst>
              <a:ext uri="{FF2B5EF4-FFF2-40B4-BE49-F238E27FC236}">
                <a16:creationId xmlns:a16="http://schemas.microsoft.com/office/drawing/2014/main" id="{AE253BA8-3EC6-49C9-BA64-B708AE47C85E}"/>
              </a:ext>
            </a:extLst>
          </p:cNvPr>
          <p:cNvSpPr/>
          <p:nvPr/>
        </p:nvSpPr>
        <p:spPr>
          <a:xfrm>
            <a:off x="642864" y="2078245"/>
            <a:ext cx="7721601" cy="646331"/>
          </a:xfrm>
          <a:prstGeom prst="rect">
            <a:avLst/>
          </a:prstGeom>
        </p:spPr>
        <p:txBody>
          <a:bodyPr wrap="square">
            <a:spAutoFit/>
          </a:bodyPr>
          <a:lstStyle/>
          <a:p>
            <a:r>
              <a:rPr lang="en-US" dirty="0"/>
              <a:t>The simplest possible model by observing that, at any time, a process is either being executed by a processor or not</a:t>
            </a:r>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mv="urn:schemas-microsoft-com:mac:vml"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descr="f5.pdf"/>
          <p:cNvPicPr>
            <a:picLocks noChangeAspect="1"/>
          </p:cNvPicPr>
          <p:nvPr/>
        </p:nvPicPr>
        <p:blipFill>
          <a:blip r:embed="rId3"/>
          <a:srcRect l="14545" t="45882" r="19091" b="7059"/>
          <a:stretch>
            <a:fillRect/>
          </a:stretch>
        </p:blipFill>
        <p:spPr>
          <a:xfrm>
            <a:off x="228600" y="1143000"/>
            <a:ext cx="8572988" cy="4697439"/>
          </a:xfrm>
          <a:prstGeom prst="rect">
            <a:avLst/>
          </a:prstGeom>
        </p:spPr>
      </p:pic>
      <p:sp>
        <p:nvSpPr>
          <p:cNvPr id="3" name="Footer Placeholder 2"/>
          <p:cNvSpPr>
            <a:spLocks noGrp="1"/>
          </p:cNvSpPr>
          <p:nvPr>
            <p:ph type="ftr" sz="quarter" idx="11"/>
          </p:nvPr>
        </p:nvSpPr>
        <p:spPr>
          <a:xfrm>
            <a:off x="318246" y="6492875"/>
            <a:ext cx="5168153" cy="365125"/>
          </a:xfrm>
        </p:spPr>
        <p:txBody>
          <a:bodyPr/>
          <a:lstStyle/>
          <a:p>
            <a:pPr>
              <a:defRPr/>
            </a:pPr>
            <a:r>
              <a:rPr lang="en-US" dirty="0"/>
              <a:t>© 2017 Pearson Education, Inc., Hoboken, NJ. All rights reserved.</a:t>
            </a:r>
          </a:p>
        </p:txBody>
      </p:sp>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442" name="Object 2"/>
          <p:cNvGraphicFramePr>
            <a:graphicFrameLocks noChangeAspect="1"/>
          </p:cNvGraphicFramePr>
          <p:nvPr>
            <p:extLst>
              <p:ext uri="{D42A27DB-BD31-4B8C-83A1-F6EECF244321}">
                <p14:modId xmlns:p14="http://schemas.microsoft.com/office/powerpoint/2010/main" val="1037326519"/>
              </p:ext>
            </p:extLst>
          </p:nvPr>
        </p:nvGraphicFramePr>
        <p:xfrm>
          <a:off x="644525" y="2438400"/>
          <a:ext cx="7854950" cy="3786188"/>
        </p:xfrm>
        <a:graphic>
          <a:graphicData uri="http://schemas.openxmlformats.org/presentationml/2006/ole">
            <mc:AlternateContent xmlns:mc="http://schemas.openxmlformats.org/markup-compatibility/2006">
              <mc:Choice xmlns:v="urn:schemas-microsoft-com:vml" Requires="v">
                <p:oleObj name="Document" r:id="rId3" imgW="11806384" imgH="5695599" progId="Word.Document.12">
                  <p:embed/>
                </p:oleObj>
              </mc:Choice>
              <mc:Fallback>
                <p:oleObj name="Document" r:id="rId3" imgW="11806384" imgH="5695599" progId="Word.Document.12">
                  <p:embed/>
                  <p:pic>
                    <p:nvPicPr>
                      <p:cNvPr id="0" name="Picture 8"/>
                      <p:cNvPicPr>
                        <a:picLocks noChangeAspect="1" noChangeArrowheads="1"/>
                      </p:cNvPicPr>
                      <p:nvPr/>
                    </p:nvPicPr>
                    <p:blipFill>
                      <a:blip r:embed="rId4"/>
                      <a:srcRect/>
                      <a:stretch>
                        <a:fillRect/>
                      </a:stretch>
                    </p:blipFill>
                    <p:spPr bwMode="auto">
                      <a:xfrm>
                        <a:off x="644525" y="2438400"/>
                        <a:ext cx="7854950" cy="3786188"/>
                      </a:xfrm>
                      <a:prstGeom prst="rect">
                        <a:avLst/>
                      </a:prstGeom>
                      <a:noFill/>
                      <a:ln>
                        <a:noFill/>
                      </a:ln>
                    </p:spPr>
                  </p:pic>
                </p:oleObj>
              </mc:Fallback>
            </mc:AlternateContent>
          </a:graphicData>
        </a:graphic>
      </p:graphicFrame>
      <p:sp>
        <p:nvSpPr>
          <p:cNvPr id="13" name="Title 12"/>
          <p:cNvSpPr>
            <a:spLocks noGrp="1"/>
          </p:cNvSpPr>
          <p:nvPr>
            <p:ph type="title"/>
          </p:nvPr>
        </p:nvSpPr>
        <p:spPr>
          <a:xfrm>
            <a:off x="457200" y="685800"/>
            <a:ext cx="8077200" cy="1371600"/>
          </a:xfrm>
        </p:spPr>
        <p:txBody>
          <a:bodyPr/>
          <a:lstStyle/>
          <a:p>
            <a:pPr algn="ctr"/>
            <a:r>
              <a:rPr lang="en-US" b="1" dirty="0">
                <a:solidFill>
                  <a:schemeClr val="accent1">
                    <a:lumMod val="75000"/>
                  </a:schemeClr>
                </a:solidFill>
              </a:rPr>
              <a:t>Table 3.1   Reasons for Process Creation</a:t>
            </a:r>
          </a:p>
        </p:txBody>
      </p:sp>
      <p:sp>
        <p:nvSpPr>
          <p:cNvPr id="4" name="Footer Placeholder 3"/>
          <p:cNvSpPr>
            <a:spLocks noGrp="1"/>
          </p:cNvSpPr>
          <p:nvPr>
            <p:ph type="ftr" sz="quarter" idx="11"/>
          </p:nvPr>
        </p:nvSpPr>
        <p:spPr>
          <a:xfrm>
            <a:off x="318246" y="6492875"/>
            <a:ext cx="53967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04800" y="457200"/>
            <a:ext cx="8534400" cy="1220787"/>
          </a:xfrm>
        </p:spPr>
        <p:txBody>
          <a:bodyPr/>
          <a:lstStyle/>
          <a:p>
            <a:pPr algn="ctr"/>
            <a:r>
              <a:rPr lang="en-NZ" b="1" dirty="0">
                <a:ln w="1905"/>
                <a:solidFill>
                  <a:schemeClr val="accent1">
                    <a:lumMod val="75000"/>
                  </a:schemeClr>
                </a:solidFill>
                <a:effectLst>
                  <a:innerShdw blurRad="69850" dist="43180" dir="5400000">
                    <a:srgbClr val="000000">
                      <a:alpha val="65000"/>
                    </a:srgbClr>
                  </a:innerShdw>
                </a:effectLst>
              </a:rPr>
              <a:t>Process Creation</a:t>
            </a:r>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608982490"/>
              </p:ext>
            </p:extLst>
          </p:nvPr>
        </p:nvGraphicFramePr>
        <p:xfrm>
          <a:off x="533400" y="1981200"/>
          <a:ext cx="8001000" cy="4724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318246" y="6492875"/>
            <a:ext cx="5396753" cy="365125"/>
          </a:xfrm>
        </p:spPr>
        <p:txBody>
          <a:bodyPr/>
          <a:lstStyle/>
          <a:p>
            <a:pPr>
              <a:defRPr/>
            </a:pPr>
            <a:r>
              <a:rPr lang="en-US" dirty="0"/>
              <a:t>© 2017 Pearson Education, Inc., Hoboken, NJ. All rights reserved.</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pPr algn="ctr"/>
            <a:r>
              <a:rPr lang="en-NZ" b="1" dirty="0">
                <a:solidFill>
                  <a:schemeClr val="accent1">
                    <a:lumMod val="75000"/>
                  </a:schemeClr>
                </a:solidFill>
              </a:rPr>
              <a:t>Process Termination</a:t>
            </a:r>
          </a:p>
        </p:txBody>
      </p:sp>
      <p:sp>
        <p:nvSpPr>
          <p:cNvPr id="3" name="Content Placeholder 2"/>
          <p:cNvSpPr>
            <a:spLocks noGrp="1"/>
          </p:cNvSpPr>
          <p:nvPr>
            <p:ph sz="half" idx="1"/>
          </p:nvPr>
        </p:nvSpPr>
        <p:spPr>
          <a:xfrm>
            <a:off x="658904" y="2286000"/>
            <a:ext cx="7723096" cy="3840163"/>
          </a:xfrm>
        </p:spPr>
        <p:txBody>
          <a:bodyPr>
            <a:normAutofit/>
          </a:bodyPr>
          <a:lstStyle/>
          <a:p>
            <a:r>
              <a:rPr lang="en-NZ" sz="2400" dirty="0"/>
              <a:t>There must be a means for a process to indicate its completion</a:t>
            </a:r>
          </a:p>
          <a:p>
            <a:r>
              <a:rPr lang="en-NZ" sz="2400" dirty="0"/>
              <a:t>A batch job should include a HALT instruction or an explicit OS service call for termination</a:t>
            </a:r>
          </a:p>
          <a:p>
            <a:r>
              <a:rPr lang="en-NZ" sz="2400" dirty="0"/>
              <a:t>For an interactive application, the action of the user will indicate when the process is completed  (e.g. log off, quitting an application)</a:t>
            </a:r>
          </a:p>
        </p:txBody>
      </p:sp>
      <p:sp>
        <p:nvSpPr>
          <p:cNvPr id="5" name="Footer Placeholder 4"/>
          <p:cNvSpPr>
            <a:spLocks noGrp="1"/>
          </p:cNvSpPr>
          <p:nvPr>
            <p:ph type="ftr" sz="quarter" idx="11"/>
          </p:nvPr>
        </p:nvSpPr>
        <p:spPr>
          <a:xfrm>
            <a:off x="318246" y="6492875"/>
            <a:ext cx="4558553" cy="365125"/>
          </a:xfrm>
        </p:spPr>
        <p:txBody>
          <a:bodyPr/>
          <a:lstStyle/>
          <a:p>
            <a:pPr>
              <a:defRPr/>
            </a:pPr>
            <a:r>
              <a:rPr lang="en-US" dirty="0"/>
              <a:t>© 2017 Pearson Education, Inc., Hoboken, NJ. All rights reserved.</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57200" y="838200"/>
            <a:ext cx="2057400" cy="923330"/>
          </a:xfrm>
          <a:prstGeom prst="rect">
            <a:avLst/>
          </a:prstGeom>
          <a:noFill/>
        </p:spPr>
        <p:txBody>
          <a:bodyPr wrap="square" rtlCol="0">
            <a:spAutoFit/>
          </a:bodyPr>
          <a:lstStyle/>
          <a:p>
            <a:r>
              <a:rPr lang="en-US" sz="3600" b="1" dirty="0">
                <a:solidFill>
                  <a:schemeClr val="accent1">
                    <a:lumMod val="75000"/>
                  </a:schemeClr>
                </a:solidFill>
                <a:latin typeface="+mn-lt"/>
                <a:ea typeface="+mj-ea"/>
                <a:cs typeface="+mj-cs"/>
              </a:rPr>
              <a:t>Table</a:t>
            </a:r>
            <a:r>
              <a:rPr lang="en-US" b="1" dirty="0">
                <a:latin typeface="+mn-lt"/>
              </a:rPr>
              <a:t> </a:t>
            </a:r>
            <a:r>
              <a:rPr lang="en-US" sz="3600" b="1" dirty="0">
                <a:solidFill>
                  <a:schemeClr val="accent1">
                    <a:lumMod val="75000"/>
                  </a:schemeClr>
                </a:solidFill>
                <a:latin typeface="+mn-lt"/>
                <a:ea typeface="+mj-ea"/>
                <a:cs typeface="+mj-cs"/>
              </a:rPr>
              <a:t>3.2</a:t>
            </a:r>
          </a:p>
          <a:p>
            <a:endParaRPr lang="en-US" dirty="0"/>
          </a:p>
        </p:txBody>
      </p:sp>
      <p:sp>
        <p:nvSpPr>
          <p:cNvPr id="7" name="TextBox 6"/>
          <p:cNvSpPr txBox="1"/>
          <p:nvPr/>
        </p:nvSpPr>
        <p:spPr>
          <a:xfrm>
            <a:off x="533400" y="1752600"/>
            <a:ext cx="1981200" cy="1246495"/>
          </a:xfrm>
          <a:prstGeom prst="rect">
            <a:avLst/>
          </a:prstGeom>
          <a:noFill/>
        </p:spPr>
        <p:txBody>
          <a:bodyPr wrap="square" rtlCol="0">
            <a:spAutoFit/>
          </a:bodyPr>
          <a:lstStyle/>
          <a:p>
            <a:pPr algn="ctr"/>
            <a:r>
              <a:rPr lang="en-US" sz="2500" b="1" dirty="0">
                <a:solidFill>
                  <a:schemeClr val="accent1">
                    <a:lumMod val="75000"/>
                  </a:schemeClr>
                </a:solidFill>
                <a:latin typeface="+mn-lt"/>
              </a:rPr>
              <a:t>Reasons for Process Termination</a:t>
            </a:r>
            <a:endParaRPr lang="en-US" sz="2500" dirty="0">
              <a:latin typeface="+mn-lt"/>
            </a:endParaRPr>
          </a:p>
        </p:txBody>
      </p:sp>
      <p:pic>
        <p:nvPicPr>
          <p:cNvPr id="9" name="Picture 8"/>
          <p:cNvPicPr>
            <a:picLocks noChangeAspect="1"/>
          </p:cNvPicPr>
          <p:nvPr/>
        </p:nvPicPr>
        <p:blipFill>
          <a:blip r:embed="rId3"/>
          <a:stretch>
            <a:fillRect/>
          </a:stretch>
        </p:blipFill>
        <p:spPr>
          <a:xfrm>
            <a:off x="3124200" y="609600"/>
            <a:ext cx="5562600" cy="5867721"/>
          </a:xfrm>
          <a:prstGeom prst="rect">
            <a:avLst/>
          </a:prstGeom>
        </p:spPr>
      </p:pic>
      <p:sp>
        <p:nvSpPr>
          <p:cNvPr id="10" name="TextBox 9"/>
          <p:cNvSpPr txBox="1"/>
          <p:nvPr/>
        </p:nvSpPr>
        <p:spPr>
          <a:xfrm>
            <a:off x="304800" y="6096000"/>
            <a:ext cx="1910774" cy="707886"/>
          </a:xfrm>
          <a:prstGeom prst="rect">
            <a:avLst/>
          </a:prstGeom>
          <a:noFill/>
        </p:spPr>
        <p:txBody>
          <a:bodyPr wrap="square" rtlCol="0">
            <a:spAutoFit/>
          </a:bodyPr>
          <a:lstStyle/>
          <a:p>
            <a:r>
              <a:rPr lang="en-US" sz="1100" dirty="0">
                <a:latin typeface="+mn-lt"/>
              </a:rPr>
              <a:t>(Table is located on page 111</a:t>
            </a:r>
          </a:p>
          <a:p>
            <a:r>
              <a:rPr lang="en-US" sz="1100" dirty="0">
                <a:latin typeface="+mn-lt"/>
              </a:rPr>
              <a:t> in the textbook)</a:t>
            </a:r>
          </a:p>
          <a:p>
            <a:endParaRPr lang="en-US" dirty="0"/>
          </a:p>
        </p:txBody>
      </p:sp>
      <p:sp>
        <p:nvSpPr>
          <p:cNvPr id="11" name="Footer Placeholder 10"/>
          <p:cNvSpPr>
            <a:spLocks noGrp="1"/>
          </p:cNvSpPr>
          <p:nvPr>
            <p:ph type="ftr" sz="quarter" idx="11"/>
          </p:nvPr>
        </p:nvSpPr>
        <p:spPr>
          <a:xfrm>
            <a:off x="318246" y="6492875"/>
            <a:ext cx="5015753" cy="365125"/>
          </a:xfrm>
        </p:spPr>
        <p:txBody>
          <a:bodyPr/>
          <a:lstStyle/>
          <a:p>
            <a:pPr>
              <a:defRPr/>
            </a:pPr>
            <a:r>
              <a:rPr lang="en-US" dirty="0"/>
              <a:t>© 2017 Pearson Education, Inc., Hoboken, NJ. All rights reserved.</a:t>
            </a:r>
          </a:p>
        </p:txBody>
      </p:sp>
      <p:cxnSp>
        <p:nvCxnSpPr>
          <p:cNvPr id="13" name="Straight Connector 12"/>
          <p:cNvCxnSpPr/>
          <p:nvPr/>
        </p:nvCxnSpPr>
        <p:spPr>
          <a:xfrm rot="5400000">
            <a:off x="1714500" y="3543300"/>
            <a:ext cx="58674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3200400" y="6097588"/>
            <a:ext cx="54102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3200400" y="2895600"/>
            <a:ext cx="54102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3200400" y="2438400"/>
            <a:ext cx="54102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3200400" y="2209800"/>
            <a:ext cx="54102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p:nvCxnSpPr>
        <p:spPr>
          <a:xfrm>
            <a:off x="3200400" y="1905000"/>
            <a:ext cx="54102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p:nvCxnSpPr>
        <p:spPr>
          <a:xfrm>
            <a:off x="3200400" y="1066800"/>
            <a:ext cx="54102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Connector 26"/>
          <p:cNvCxnSpPr>
            <a:cxnSpLocks/>
          </p:cNvCxnSpPr>
          <p:nvPr/>
        </p:nvCxnSpPr>
        <p:spPr>
          <a:xfrm>
            <a:off x="3200400" y="3276600"/>
            <a:ext cx="54102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p:nvCxnSpPr>
        <p:spPr>
          <a:xfrm>
            <a:off x="3200400" y="3657600"/>
            <a:ext cx="54102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3200400" y="5715000"/>
            <a:ext cx="54102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p:nvCxnSpPr>
        <p:spPr>
          <a:xfrm>
            <a:off x="3200400" y="5334000"/>
            <a:ext cx="54102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p:nvCxnSpPr>
        <p:spPr>
          <a:xfrm>
            <a:off x="3200400" y="5029200"/>
            <a:ext cx="54102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a:off x="3200400" y="4724400"/>
            <a:ext cx="54102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p:nvCxnSpPr>
        <p:spPr>
          <a:xfrm>
            <a:off x="3200400" y="4343400"/>
            <a:ext cx="5410200" cy="1588"/>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transition spd="slow">
    <p:randomBar dir="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457200" y="762000"/>
            <a:ext cx="8153400" cy="762000"/>
          </a:xfrm>
        </p:spPr>
        <p:txBody>
          <a:bodyPr/>
          <a:lstStyle/>
          <a:p>
            <a:pPr algn="ctr"/>
            <a:r>
              <a:rPr lang="en-US" sz="5400" b="1" dirty="0">
                <a:effectLst>
                  <a:outerShdw blurRad="38100" dist="38100" dir="2700000" algn="tl">
                    <a:srgbClr val="000000">
                      <a:alpha val="43137"/>
                    </a:srgbClr>
                  </a:outerShdw>
                </a:effectLst>
              </a:rPr>
              <a:t>Five-State Process Model</a:t>
            </a:r>
          </a:p>
        </p:txBody>
      </p:sp>
      <p:pic>
        <p:nvPicPr>
          <p:cNvPr id="5" name="Picture 4" descr="f6.pdf"/>
          <p:cNvPicPr>
            <a:picLocks noChangeAspect="1"/>
          </p:cNvPicPr>
          <p:nvPr/>
        </p:nvPicPr>
        <p:blipFill>
          <a:blip r:embed="rId3"/>
          <a:srcRect l="6364" t="24706" r="8182" b="16471"/>
          <a:stretch>
            <a:fillRect/>
          </a:stretch>
        </p:blipFill>
        <p:spPr>
          <a:xfrm>
            <a:off x="457201" y="1447800"/>
            <a:ext cx="6095999" cy="5257800"/>
          </a:xfrm>
          <a:prstGeom prst="rect">
            <a:avLst/>
          </a:prstGeom>
        </p:spPr>
      </p:pic>
      <p:sp>
        <p:nvSpPr>
          <p:cNvPr id="4" name="Footer Placeholder 3"/>
          <p:cNvSpPr>
            <a:spLocks noGrp="1"/>
          </p:cNvSpPr>
          <p:nvPr>
            <p:ph type="ftr" sz="quarter" idx="11"/>
          </p:nvPr>
        </p:nvSpPr>
        <p:spPr>
          <a:xfrm>
            <a:off x="318246" y="6492875"/>
            <a:ext cx="4863353" cy="365125"/>
          </a:xfrm>
        </p:spPr>
        <p:txBody>
          <a:bodyPr/>
          <a:lstStyle/>
          <a:p>
            <a:pPr>
              <a:defRPr/>
            </a:pPr>
            <a:r>
              <a:rPr lang="en-US" dirty="0"/>
              <a:t>© 2017 Pearson Education, Inc., Hoboken, NJ. All rights reserved.</a:t>
            </a:r>
          </a:p>
        </p:txBody>
      </p:sp>
      <p:sp>
        <p:nvSpPr>
          <p:cNvPr id="2" name="Rectangle 1"/>
          <p:cNvSpPr/>
          <p:nvPr/>
        </p:nvSpPr>
        <p:spPr>
          <a:xfrm>
            <a:off x="4267200" y="2667000"/>
            <a:ext cx="5029200" cy="3877985"/>
          </a:xfrm>
          <a:prstGeom prst="rect">
            <a:avLst/>
          </a:prstGeom>
        </p:spPr>
        <p:txBody>
          <a:bodyPr wrap="square">
            <a:spAutoFit/>
          </a:bodyPr>
          <a:lstStyle/>
          <a:p>
            <a:r>
              <a:rPr lang="en-US" sz="1200" dirty="0"/>
              <a:t>• </a:t>
            </a:r>
            <a:r>
              <a:rPr lang="en-US" sz="1200" b="1" dirty="0"/>
              <a:t>Running</a:t>
            </a:r>
            <a:r>
              <a:rPr lang="en-US" sz="1200" dirty="0"/>
              <a:t>: The process that is currently being executed. For this chapter, we will assume a computer with a single processor, so at most one process at a time can be in this state.</a:t>
            </a:r>
          </a:p>
          <a:p>
            <a:endParaRPr lang="en-US" sz="1200" dirty="0"/>
          </a:p>
          <a:p>
            <a:r>
              <a:rPr lang="en-US" sz="1200" dirty="0"/>
              <a:t>• </a:t>
            </a:r>
            <a:r>
              <a:rPr lang="en-US" sz="1200" b="1" dirty="0"/>
              <a:t>Ready</a:t>
            </a:r>
            <a:r>
              <a:rPr lang="en-US" sz="1200" dirty="0"/>
              <a:t>: A process that is prepared to execute when given the opportunity.</a:t>
            </a:r>
          </a:p>
          <a:p>
            <a:endParaRPr lang="en-US" sz="1200" dirty="0"/>
          </a:p>
          <a:p>
            <a:r>
              <a:rPr lang="en-US" sz="1200" dirty="0"/>
              <a:t>• </a:t>
            </a:r>
            <a:r>
              <a:rPr lang="en-US" sz="1200" b="1" dirty="0"/>
              <a:t>Blocked/Waiting</a:t>
            </a:r>
            <a:r>
              <a:rPr lang="en-US" sz="1200" dirty="0"/>
              <a:t>:  A process that </a:t>
            </a:r>
            <a:r>
              <a:rPr lang="en-US" sz="1200" dirty="0">
                <a:solidFill>
                  <a:srgbClr val="FF0000"/>
                </a:solidFill>
              </a:rPr>
              <a:t>cannot execute until some event occurs</a:t>
            </a:r>
            <a:r>
              <a:rPr lang="en-US" sz="1200" dirty="0"/>
              <a:t>, such as the completion of </a:t>
            </a:r>
            <a:r>
              <a:rPr lang="en-US" sz="1200" dirty="0">
                <a:solidFill>
                  <a:srgbClr val="FF0000"/>
                </a:solidFill>
              </a:rPr>
              <a:t>an I/O operation</a:t>
            </a:r>
            <a:r>
              <a:rPr lang="en-US" sz="1200" dirty="0"/>
              <a:t>.</a:t>
            </a:r>
          </a:p>
          <a:p>
            <a:endParaRPr lang="en-US" sz="1200" dirty="0"/>
          </a:p>
          <a:p>
            <a:r>
              <a:rPr lang="en-US" sz="1200" dirty="0"/>
              <a:t>• </a:t>
            </a:r>
            <a:r>
              <a:rPr lang="en-US" sz="1200" b="1" dirty="0"/>
              <a:t>New</a:t>
            </a:r>
            <a:r>
              <a:rPr lang="en-US" sz="1200" dirty="0"/>
              <a:t>: A process that has just been created but has not yet been admitted to the pool of executable processes by the OS. Typically, a new process has not yet been loaded into main memory, although its process control block has been</a:t>
            </a:r>
          </a:p>
          <a:p>
            <a:r>
              <a:rPr lang="en-US" sz="1200" dirty="0"/>
              <a:t>created.</a:t>
            </a:r>
          </a:p>
          <a:p>
            <a:endParaRPr lang="en-US" sz="1200" dirty="0"/>
          </a:p>
          <a:p>
            <a:r>
              <a:rPr lang="en-US" sz="1200" dirty="0"/>
              <a:t>• </a:t>
            </a:r>
            <a:r>
              <a:rPr lang="en-US" sz="1200" b="1" dirty="0"/>
              <a:t>Exit</a:t>
            </a:r>
            <a:r>
              <a:rPr lang="en-US" sz="1200" dirty="0"/>
              <a:t>: A process that has been released from the pool of executable processes by the OS, either because it halted or because it aborted for some reason.</a:t>
            </a:r>
          </a:p>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mv="urn:schemas-microsoft-com:mac:vml"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f7.pdf"/>
          <p:cNvPicPr>
            <a:picLocks noChangeAspect="1"/>
          </p:cNvPicPr>
          <p:nvPr/>
        </p:nvPicPr>
        <p:blipFill>
          <a:blip r:embed="rId3"/>
          <a:stretch>
            <a:fillRect/>
          </a:stretch>
        </p:blipFill>
        <p:spPr>
          <a:xfrm>
            <a:off x="152400" y="609600"/>
            <a:ext cx="8875059" cy="6858000"/>
          </a:xfrm>
          <a:prstGeom prst="rect">
            <a:avLst/>
          </a:prstGeom>
        </p:spPr>
      </p:pic>
      <p:sp>
        <p:nvSpPr>
          <p:cNvPr id="3" name="Footer Placeholder 2"/>
          <p:cNvSpPr>
            <a:spLocks noGrp="1"/>
          </p:cNvSpPr>
          <p:nvPr>
            <p:ph type="ftr" sz="quarter" idx="11"/>
          </p:nvPr>
        </p:nvSpPr>
        <p:spPr>
          <a:xfrm>
            <a:off x="318246" y="6492875"/>
            <a:ext cx="56253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mv="urn:schemas-microsoft-com:mac:vml"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8.pdf"/>
          <p:cNvPicPr>
            <a:picLocks noChangeAspect="1"/>
          </p:cNvPicPr>
          <p:nvPr/>
        </p:nvPicPr>
        <p:blipFill>
          <a:blip r:embed="rId3"/>
          <a:stretch>
            <a:fillRect/>
          </a:stretch>
        </p:blipFill>
        <p:spPr>
          <a:xfrm>
            <a:off x="243981" y="241526"/>
            <a:ext cx="5088082" cy="6584576"/>
          </a:xfrm>
          <a:prstGeom prst="rect">
            <a:avLst/>
          </a:prstGeom>
        </p:spPr>
      </p:pic>
      <p:sp>
        <p:nvSpPr>
          <p:cNvPr id="3" name="Footer Placeholder 2"/>
          <p:cNvSpPr>
            <a:spLocks noGrp="1"/>
          </p:cNvSpPr>
          <p:nvPr>
            <p:ph type="ftr" sz="quarter" idx="11"/>
          </p:nvPr>
        </p:nvSpPr>
        <p:spPr>
          <a:xfrm>
            <a:off x="318246" y="6492875"/>
            <a:ext cx="4939553" cy="365125"/>
          </a:xfrm>
        </p:spPr>
        <p:txBody>
          <a:bodyPr/>
          <a:lstStyle/>
          <a:p>
            <a:pPr>
              <a:defRPr/>
            </a:pPr>
            <a:r>
              <a:rPr lang="en-US" dirty="0"/>
              <a:t>© 2017 Pearson Education, Inc., Hoboken, NJ. All rights reserved.</a:t>
            </a:r>
          </a:p>
        </p:txBody>
      </p:sp>
      <p:sp>
        <p:nvSpPr>
          <p:cNvPr id="2" name="Rectangle 1"/>
          <p:cNvSpPr/>
          <p:nvPr/>
        </p:nvSpPr>
        <p:spPr>
          <a:xfrm>
            <a:off x="5029200" y="914400"/>
            <a:ext cx="3886200" cy="1477328"/>
          </a:xfrm>
          <a:prstGeom prst="rect">
            <a:avLst/>
          </a:prstGeom>
        </p:spPr>
        <p:txBody>
          <a:bodyPr wrap="square">
            <a:spAutoFit/>
          </a:bodyPr>
          <a:lstStyle/>
          <a:p>
            <a:r>
              <a:rPr lang="en-US" dirty="0"/>
              <a:t>a queuing discipline</a:t>
            </a:r>
          </a:p>
          <a:p>
            <a:r>
              <a:rPr lang="en-US" dirty="0"/>
              <a:t>might be implemented with two queues: </a:t>
            </a:r>
          </a:p>
          <a:p>
            <a:r>
              <a:rPr lang="en-US" dirty="0"/>
              <a:t>a </a:t>
            </a:r>
            <a:r>
              <a:rPr lang="en-US" dirty="0">
                <a:solidFill>
                  <a:srgbClr val="FF0000"/>
                </a:solidFill>
              </a:rPr>
              <a:t>Ready queue </a:t>
            </a:r>
            <a:r>
              <a:rPr lang="en-US" dirty="0"/>
              <a:t>and a </a:t>
            </a:r>
            <a:r>
              <a:rPr lang="en-US" dirty="0">
                <a:solidFill>
                  <a:srgbClr val="FF0000"/>
                </a:solidFill>
              </a:rPr>
              <a:t>Blocked queue. </a:t>
            </a:r>
            <a:endParaRPr lang="tr-TR" dirty="0">
              <a:solidFill>
                <a:srgbClr val="FF0000"/>
              </a:solidFill>
            </a:endParaRPr>
          </a:p>
        </p:txBody>
      </p:sp>
      <p:sp>
        <p:nvSpPr>
          <p:cNvPr id="5" name="Rectangle 4"/>
          <p:cNvSpPr/>
          <p:nvPr/>
        </p:nvSpPr>
        <p:spPr>
          <a:xfrm>
            <a:off x="5029200" y="2844932"/>
            <a:ext cx="3581400" cy="3693319"/>
          </a:xfrm>
          <a:prstGeom prst="rect">
            <a:avLst/>
          </a:prstGeom>
        </p:spPr>
        <p:txBody>
          <a:bodyPr wrap="square">
            <a:spAutoFit/>
          </a:bodyPr>
          <a:lstStyle/>
          <a:p>
            <a:r>
              <a:rPr lang="en-US" dirty="0"/>
              <a:t>This latter arrangement means that, when an event occurs, the OS must scan</a:t>
            </a:r>
          </a:p>
          <a:p>
            <a:r>
              <a:rPr lang="en-US" dirty="0"/>
              <a:t>the entire blocked queue, </a:t>
            </a:r>
            <a:r>
              <a:rPr lang="en-US" dirty="0">
                <a:solidFill>
                  <a:srgbClr val="FF0000"/>
                </a:solidFill>
              </a:rPr>
              <a:t>searching for those processes waiting on that event</a:t>
            </a:r>
            <a:r>
              <a:rPr lang="en-US" dirty="0"/>
              <a:t>. In a</a:t>
            </a:r>
          </a:p>
          <a:p>
            <a:r>
              <a:rPr lang="en-US" dirty="0"/>
              <a:t>large OS, there could be hundreds or even thousands of processes in that queue.</a:t>
            </a:r>
          </a:p>
          <a:p>
            <a:r>
              <a:rPr lang="en-US" dirty="0"/>
              <a:t>Therefore, it would be more efficient to </a:t>
            </a:r>
            <a:r>
              <a:rPr lang="en-US" dirty="0">
                <a:solidFill>
                  <a:srgbClr val="FF0000"/>
                </a:solidFill>
              </a:rPr>
              <a:t>have a number of queues, one for each</a:t>
            </a:r>
          </a:p>
          <a:p>
            <a:r>
              <a:rPr lang="en-US" dirty="0">
                <a:solidFill>
                  <a:srgbClr val="FF0000"/>
                </a:solidFill>
              </a:rPr>
              <a:t>event.</a:t>
            </a:r>
            <a:endParaRPr lang="tr-TR" dirty="0">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658813" y="456253"/>
            <a:ext cx="7824788" cy="1220148"/>
          </a:xfrm>
        </p:spPr>
        <p:txBody>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Suspended Processes</a:t>
            </a:r>
          </a:p>
        </p:txBody>
      </p:sp>
      <p:sp>
        <p:nvSpPr>
          <p:cNvPr id="29699" name="Content Placeholder 2"/>
          <p:cNvSpPr>
            <a:spLocks noGrp="1"/>
          </p:cNvSpPr>
          <p:nvPr>
            <p:ph sz="half" idx="1"/>
          </p:nvPr>
        </p:nvSpPr>
        <p:spPr>
          <a:xfrm>
            <a:off x="609600" y="2133600"/>
            <a:ext cx="7848600" cy="4495800"/>
          </a:xfrm>
        </p:spPr>
        <p:txBody>
          <a:bodyPr>
            <a:normAutofit lnSpcReduction="10000"/>
          </a:bodyPr>
          <a:lstStyle/>
          <a:p>
            <a:pPr marL="282575" lvl="1" indent="-282575">
              <a:lnSpc>
                <a:spcPct val="90000"/>
              </a:lnSpc>
              <a:spcBef>
                <a:spcPts val="1800"/>
              </a:spcBef>
            </a:pPr>
            <a:r>
              <a:rPr lang="en-US" sz="2800" dirty="0"/>
              <a:t>Swapping</a:t>
            </a:r>
          </a:p>
          <a:p>
            <a:pPr marL="565150" lvl="2">
              <a:lnSpc>
                <a:spcPct val="90000"/>
              </a:lnSpc>
              <a:spcBef>
                <a:spcPts val="1800"/>
              </a:spcBef>
            </a:pPr>
            <a:r>
              <a:rPr lang="en-US" dirty="0"/>
              <a:t>Involves </a:t>
            </a:r>
            <a:r>
              <a:rPr lang="en-US" dirty="0">
                <a:solidFill>
                  <a:schemeClr val="accent1">
                    <a:lumMod val="60000"/>
                    <a:lumOff val="40000"/>
                  </a:schemeClr>
                </a:solidFill>
              </a:rPr>
              <a:t>moving part of all of a process from main memory to disk</a:t>
            </a:r>
          </a:p>
          <a:p>
            <a:pPr marL="565150" lvl="2">
              <a:lnSpc>
                <a:spcPct val="90000"/>
              </a:lnSpc>
              <a:spcBef>
                <a:spcPts val="1800"/>
              </a:spcBef>
            </a:pPr>
            <a:r>
              <a:rPr lang="en-US" dirty="0"/>
              <a:t>When none of the processes in main memory is in the Ready state, the OS swaps one of the blocked processes out on to disk into a suspend queue</a:t>
            </a:r>
          </a:p>
          <a:p>
            <a:pPr marL="1130300" lvl="4">
              <a:lnSpc>
                <a:spcPct val="90000"/>
              </a:lnSpc>
            </a:pPr>
            <a:r>
              <a:rPr lang="en-US" dirty="0"/>
              <a:t>This </a:t>
            </a:r>
            <a:r>
              <a:rPr lang="en-US" dirty="0">
                <a:solidFill>
                  <a:schemeClr val="accent1">
                    <a:lumMod val="60000"/>
                    <a:lumOff val="40000"/>
                  </a:schemeClr>
                </a:solidFill>
              </a:rPr>
              <a:t>is a queue of existing processes that have been temporarily kicked out of main memory</a:t>
            </a:r>
            <a:r>
              <a:rPr lang="en-US" dirty="0"/>
              <a:t>, or suspended</a:t>
            </a:r>
          </a:p>
          <a:p>
            <a:pPr marL="1130300" lvl="4">
              <a:lnSpc>
                <a:spcPct val="90000"/>
              </a:lnSpc>
            </a:pPr>
            <a:r>
              <a:rPr lang="en-US" dirty="0"/>
              <a:t>The OS then brings in another process from the suspend queue or it honors a new-process request</a:t>
            </a:r>
          </a:p>
          <a:p>
            <a:pPr marL="1130300" lvl="4">
              <a:lnSpc>
                <a:spcPct val="90000"/>
              </a:lnSpc>
            </a:pPr>
            <a:r>
              <a:rPr lang="en-US" dirty="0"/>
              <a:t>Execution then continues with the newly arrived process</a:t>
            </a:r>
          </a:p>
          <a:p>
            <a:pPr marL="565150" lvl="2">
              <a:spcBef>
                <a:spcPts val="1800"/>
              </a:spcBef>
            </a:pPr>
            <a:r>
              <a:rPr lang="en-US" dirty="0"/>
              <a:t>Swapping, however, is an I/O operation and therefore there is the potential for making the problem worse, not better. Because disk I/O is generally the fastest I/O on a system </a:t>
            </a:r>
            <a:r>
              <a:rPr lang="en-US" dirty="0">
                <a:solidFill>
                  <a:schemeClr val="tx1"/>
                </a:solidFill>
              </a:rPr>
              <a:t>(e.g., compared to tape or printer I/O)</a:t>
            </a:r>
            <a:r>
              <a:rPr lang="en-US" dirty="0"/>
              <a:t>, swapping will usually enhance performance</a:t>
            </a:r>
          </a:p>
        </p:txBody>
      </p:sp>
      <p:pic>
        <p:nvPicPr>
          <p:cNvPr id="6" name="Picture 5"/>
          <p:cNvPicPr>
            <a:picLocks noChangeAspect="1"/>
          </p:cNvPicPr>
          <p:nvPr/>
        </p:nvPicPr>
        <p:blipFill>
          <a:blip r:embed="rId3"/>
          <a:stretch>
            <a:fillRect/>
          </a:stretch>
        </p:blipFill>
        <p:spPr>
          <a:xfrm rot="2409488">
            <a:off x="965948" y="544582"/>
            <a:ext cx="952107" cy="1216839"/>
          </a:xfrm>
          <a:prstGeom prst="rect">
            <a:avLst/>
          </a:prstGeom>
        </p:spPr>
      </p:pic>
      <p:sp>
        <p:nvSpPr>
          <p:cNvPr id="8" name="Footer Placeholder 7"/>
          <p:cNvSpPr>
            <a:spLocks noGrp="1"/>
          </p:cNvSpPr>
          <p:nvPr>
            <p:ph type="ftr" sz="quarter" idx="11"/>
          </p:nvPr>
        </p:nvSpPr>
        <p:spPr>
          <a:xfrm>
            <a:off x="318246" y="6492875"/>
            <a:ext cx="5320553" cy="365125"/>
          </a:xfrm>
        </p:spPr>
        <p:txBody>
          <a:bodyPr/>
          <a:lstStyle/>
          <a:p>
            <a:pPr>
              <a:defRPr/>
            </a:pPr>
            <a:r>
              <a:rPr lang="en-US" dirty="0"/>
              <a:t>© 2017 Pearson Education, Inc., Hoboken, NJ. All rights reserved.</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9.pdf"/>
          <p:cNvPicPr>
            <a:picLocks noChangeAspect="1"/>
          </p:cNvPicPr>
          <p:nvPr/>
        </p:nvPicPr>
        <p:blipFill>
          <a:blip r:embed="rId3"/>
          <a:srcRect t="4545" b="65455"/>
          <a:stretch>
            <a:fillRect/>
          </a:stretch>
        </p:blipFill>
        <p:spPr>
          <a:xfrm>
            <a:off x="267401" y="1219200"/>
            <a:ext cx="9028999" cy="3505200"/>
          </a:xfrm>
          <a:prstGeom prst="rect">
            <a:avLst/>
          </a:prstGeom>
        </p:spPr>
      </p:pic>
      <p:pic>
        <p:nvPicPr>
          <p:cNvPr id="7" name="Picture 6" descr="f9.pdf"/>
          <p:cNvPicPr>
            <a:picLocks noChangeAspect="1"/>
          </p:cNvPicPr>
          <p:nvPr/>
        </p:nvPicPr>
        <p:blipFill>
          <a:blip r:embed="rId4"/>
          <a:srcRect t="81818" b="11818"/>
          <a:stretch>
            <a:fillRect/>
          </a:stretch>
        </p:blipFill>
        <p:spPr>
          <a:xfrm>
            <a:off x="457200" y="5486400"/>
            <a:ext cx="8354717" cy="688084"/>
          </a:xfrm>
          <a:prstGeom prst="rect">
            <a:avLst/>
          </a:prstGeom>
        </p:spPr>
      </p:pic>
      <p:sp>
        <p:nvSpPr>
          <p:cNvPr id="5" name="Footer Placeholder 4"/>
          <p:cNvSpPr>
            <a:spLocks noGrp="1"/>
          </p:cNvSpPr>
          <p:nvPr>
            <p:ph type="ftr" sz="quarter" idx="11"/>
          </p:nvPr>
        </p:nvSpPr>
        <p:spPr>
          <a:xfrm>
            <a:off x="318246" y="6492875"/>
            <a:ext cx="5701553" cy="365125"/>
          </a:xfrm>
        </p:spPr>
        <p:txBody>
          <a:bodyPr/>
          <a:lstStyle/>
          <a:p>
            <a:pPr>
              <a:defRPr/>
            </a:pPr>
            <a:r>
              <a:rPr lang="en-US" dirty="0"/>
              <a:t>© 2017 Pearson Education, Inc., Hoboken, NJ. All rights reserved.</a:t>
            </a:r>
          </a:p>
        </p:txBody>
      </p:sp>
      <p:sp>
        <p:nvSpPr>
          <p:cNvPr id="2" name="Rectangle 1"/>
          <p:cNvSpPr/>
          <p:nvPr/>
        </p:nvSpPr>
        <p:spPr>
          <a:xfrm>
            <a:off x="5715000" y="2438400"/>
            <a:ext cx="3276600" cy="2862322"/>
          </a:xfrm>
          <a:prstGeom prst="rect">
            <a:avLst/>
          </a:prstGeom>
        </p:spPr>
        <p:txBody>
          <a:bodyPr wrap="square">
            <a:spAutoFit/>
          </a:bodyPr>
          <a:lstStyle/>
          <a:p>
            <a:r>
              <a:rPr lang="en-US" dirty="0"/>
              <a:t> • Blocked/Suspend: The process is </a:t>
            </a:r>
            <a:r>
              <a:rPr lang="en-US" dirty="0">
                <a:solidFill>
                  <a:schemeClr val="accent1">
                    <a:lumMod val="60000"/>
                    <a:lumOff val="40000"/>
                  </a:schemeClr>
                </a:solidFill>
              </a:rPr>
              <a:t>in secondary memory</a:t>
            </a:r>
            <a:r>
              <a:rPr lang="en-US" dirty="0"/>
              <a:t> and awaiting an event.</a:t>
            </a:r>
          </a:p>
          <a:p>
            <a:endParaRPr lang="en-US" dirty="0"/>
          </a:p>
          <a:p>
            <a:r>
              <a:rPr lang="en-US" dirty="0"/>
              <a:t> • Ready/Suspend: The process is </a:t>
            </a:r>
            <a:r>
              <a:rPr lang="en-US" dirty="0">
                <a:solidFill>
                  <a:schemeClr val="accent1">
                    <a:lumMod val="60000"/>
                    <a:lumOff val="40000"/>
                  </a:schemeClr>
                </a:solidFill>
              </a:rPr>
              <a:t>in secondary memory but is available for execution </a:t>
            </a:r>
            <a:r>
              <a:rPr lang="en-US" dirty="0"/>
              <a:t>as soon as it is loaded into main memory.</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mv="urn:schemas-microsoft-com:mac:vml"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9.pdf"/>
          <p:cNvPicPr>
            <a:picLocks noChangeAspect="1"/>
          </p:cNvPicPr>
          <p:nvPr/>
        </p:nvPicPr>
        <p:blipFill>
          <a:blip r:embed="rId3"/>
          <a:srcRect t="34545" b="12727"/>
          <a:stretch>
            <a:fillRect/>
          </a:stretch>
        </p:blipFill>
        <p:spPr>
          <a:xfrm>
            <a:off x="350780" y="381000"/>
            <a:ext cx="8793220" cy="6000034"/>
          </a:xfrm>
          <a:prstGeom prst="rect">
            <a:avLst/>
          </a:prstGeom>
        </p:spPr>
      </p:pic>
      <p:sp>
        <p:nvSpPr>
          <p:cNvPr id="3" name="Footer Placeholder 2"/>
          <p:cNvSpPr>
            <a:spLocks noGrp="1"/>
          </p:cNvSpPr>
          <p:nvPr>
            <p:ph type="ftr" sz="quarter" idx="11"/>
          </p:nvPr>
        </p:nvSpPr>
        <p:spPr>
          <a:xfrm>
            <a:off x="318246" y="6492875"/>
            <a:ext cx="5625353" cy="365125"/>
          </a:xfrm>
        </p:spPr>
        <p:txBody>
          <a:bodyPr/>
          <a:lstStyle/>
          <a:p>
            <a:pPr>
              <a:defRPr/>
            </a:pPr>
            <a:r>
              <a:rPr lang="en-US" dirty="0"/>
              <a:t>© 2017 Pearson Education, Inc., Hoboken, NJ. All rights reserved.</a:t>
            </a:r>
          </a:p>
        </p:txBody>
      </p:sp>
    </p:spTree>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Characteristics of a Suspended Process</a:t>
            </a:r>
          </a:p>
        </p:txBody>
      </p:sp>
      <p:sp>
        <p:nvSpPr>
          <p:cNvPr id="3" name="Content Placeholder 2"/>
          <p:cNvSpPr>
            <a:spLocks noGrp="1"/>
          </p:cNvSpPr>
          <p:nvPr>
            <p:ph sz="half" idx="1"/>
          </p:nvPr>
        </p:nvSpPr>
        <p:spPr/>
        <p:txBody>
          <a:bodyPr>
            <a:normAutofit/>
          </a:bodyPr>
          <a:lstStyle/>
          <a:p>
            <a:r>
              <a:rPr lang="en-US" sz="2400" dirty="0"/>
              <a:t>The process </a:t>
            </a:r>
            <a:r>
              <a:rPr lang="en-US" sz="2400" dirty="0">
                <a:solidFill>
                  <a:srgbClr val="FF0000"/>
                </a:solidFill>
              </a:rPr>
              <a:t>may or may not be waiting on an event</a:t>
            </a:r>
          </a:p>
        </p:txBody>
      </p:sp>
      <p:sp>
        <p:nvSpPr>
          <p:cNvPr id="4" name="Content Placeholder 3"/>
          <p:cNvSpPr>
            <a:spLocks noGrp="1"/>
          </p:cNvSpPr>
          <p:nvPr>
            <p:ph sz="half" idx="13"/>
          </p:nvPr>
        </p:nvSpPr>
        <p:spPr>
          <a:xfrm>
            <a:off x="4828032" y="4038600"/>
            <a:ext cx="3657600" cy="2093166"/>
          </a:xfrm>
        </p:spPr>
        <p:txBody>
          <a:bodyPr>
            <a:normAutofit/>
          </a:bodyPr>
          <a:lstStyle/>
          <a:p>
            <a:r>
              <a:rPr lang="en-US" sz="2400" dirty="0"/>
              <a:t>The process may not be removed from this state until the agent explicitly orders the removal</a:t>
            </a:r>
          </a:p>
        </p:txBody>
      </p:sp>
      <p:sp>
        <p:nvSpPr>
          <p:cNvPr id="5" name="Content Placeholder 4"/>
          <p:cNvSpPr>
            <a:spLocks noGrp="1"/>
          </p:cNvSpPr>
          <p:nvPr>
            <p:ph sz="half" idx="14"/>
          </p:nvPr>
        </p:nvSpPr>
        <p:spPr/>
        <p:txBody>
          <a:bodyPr>
            <a:normAutofit/>
          </a:bodyPr>
          <a:lstStyle/>
          <a:p>
            <a:r>
              <a:rPr lang="en-US" sz="2400" dirty="0"/>
              <a:t>The process is </a:t>
            </a:r>
            <a:r>
              <a:rPr lang="en-US" sz="2400" dirty="0">
                <a:solidFill>
                  <a:srgbClr val="FF0000"/>
                </a:solidFill>
              </a:rPr>
              <a:t>not immediately available for execution</a:t>
            </a:r>
          </a:p>
        </p:txBody>
      </p:sp>
      <p:sp>
        <p:nvSpPr>
          <p:cNvPr id="6" name="Content Placeholder 5"/>
          <p:cNvSpPr>
            <a:spLocks noGrp="1"/>
          </p:cNvSpPr>
          <p:nvPr>
            <p:ph sz="half" idx="15"/>
          </p:nvPr>
        </p:nvSpPr>
        <p:spPr>
          <a:xfrm>
            <a:off x="609600" y="3886200"/>
            <a:ext cx="3657600" cy="2667000"/>
          </a:xfrm>
        </p:spPr>
        <p:txBody>
          <a:bodyPr>
            <a:noAutofit/>
          </a:bodyPr>
          <a:lstStyle/>
          <a:p>
            <a:r>
              <a:rPr lang="en-US" sz="2400" dirty="0"/>
              <a:t>The process was placed in a suspended state by an agent: either itself, a parent process, or the OS, for the purpose of preventing its execution</a:t>
            </a:r>
          </a:p>
        </p:txBody>
      </p:sp>
      <p:sp>
        <p:nvSpPr>
          <p:cNvPr id="7" name="Footer Placeholder 6"/>
          <p:cNvSpPr>
            <a:spLocks noGrp="1"/>
          </p:cNvSpPr>
          <p:nvPr>
            <p:ph type="ftr" sz="quarter" idx="11"/>
          </p:nvPr>
        </p:nvSpPr>
        <p:spPr>
          <a:xfrm>
            <a:off x="318246" y="6492875"/>
            <a:ext cx="6234953" cy="365125"/>
          </a:xfrm>
        </p:spPr>
        <p:txBody>
          <a:bodyPr/>
          <a:lstStyle/>
          <a:p>
            <a:pPr>
              <a:defRPr/>
            </a:pPr>
            <a:r>
              <a:rPr lang="en-US" dirty="0"/>
              <a:t>© 2017 Pearson Education, Inc., Hoboken, NJ. All rights reserved.</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81000" y="685800"/>
            <a:ext cx="8382000" cy="609600"/>
          </a:xfrm>
        </p:spPr>
        <p:txBody>
          <a:bodyPr/>
          <a:lstStyle/>
          <a:p>
            <a:pPr algn="ctr"/>
            <a:r>
              <a:rPr lang="en-US" sz="3200" dirty="0">
                <a:effectLst>
                  <a:outerShdw blurRad="38100" dist="38100" dir="2700000" algn="tl">
                    <a:srgbClr val="000000">
                      <a:alpha val="43137"/>
                    </a:srgbClr>
                  </a:outerShdw>
                </a:effectLst>
              </a:rPr>
              <a:t>Table 3.3    Reasons for Process Suspension </a:t>
            </a:r>
          </a:p>
        </p:txBody>
      </p:sp>
      <p:graphicFrame>
        <p:nvGraphicFramePr>
          <p:cNvPr id="78850" name="Object 2"/>
          <p:cNvGraphicFramePr>
            <a:graphicFrameLocks noChangeAspect="1"/>
          </p:cNvGraphicFramePr>
          <p:nvPr/>
        </p:nvGraphicFramePr>
        <p:xfrm>
          <a:off x="838200" y="1371600"/>
          <a:ext cx="7620000" cy="5114794"/>
        </p:xfrm>
        <a:graphic>
          <a:graphicData uri="http://schemas.openxmlformats.org/presentationml/2006/ole">
            <mc:AlternateContent xmlns:mc="http://schemas.openxmlformats.org/markup-compatibility/2006">
              <mc:Choice xmlns:v="urn:schemas-microsoft-com:vml" Requires="v">
                <p:oleObj name="Document" r:id="rId3" imgW="22247619" imgH="14933333" progId="Word.Document.12">
                  <p:embed/>
                </p:oleObj>
              </mc:Choice>
              <mc:Fallback>
                <p:oleObj name="Document" r:id="rId3" imgW="22247619" imgH="14933333" progId="Word.Document.12">
                  <p:embed/>
                  <p:pic>
                    <p:nvPicPr>
                      <p:cNvPr id="0"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371600"/>
                        <a:ext cx="7620000" cy="51147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 name="Footer Placeholder 3"/>
          <p:cNvSpPr>
            <a:spLocks noGrp="1"/>
          </p:cNvSpPr>
          <p:nvPr>
            <p:ph type="ftr" sz="quarter" idx="11"/>
          </p:nvPr>
        </p:nvSpPr>
        <p:spPr>
          <a:xfrm>
            <a:off x="318246" y="6492875"/>
            <a:ext cx="4863353" cy="365125"/>
          </a:xfrm>
        </p:spPr>
        <p:txBody>
          <a:bodyPr/>
          <a:lstStyle/>
          <a:p>
            <a:pPr>
              <a:defRPr/>
            </a:pPr>
            <a:r>
              <a:rPr lang="en-US" dirty="0"/>
              <a:t>© 2017 Pearson Education, Inc., Hoboken, NJ. All rights reserved.</a:t>
            </a:r>
          </a:p>
        </p:txBody>
      </p:sp>
      <p:cxnSp>
        <p:nvCxnSpPr>
          <p:cNvPr id="6" name="Straight Connector 5"/>
          <p:cNvCxnSpPr/>
          <p:nvPr/>
        </p:nvCxnSpPr>
        <p:spPr>
          <a:xfrm rot="5400000">
            <a:off x="1257300" y="3924300"/>
            <a:ext cx="4953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914400" y="5334000"/>
            <a:ext cx="74676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a:off x="914400" y="4191000"/>
            <a:ext cx="74676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a:off x="914400" y="3200400"/>
            <a:ext cx="74676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a:off x="914400" y="2209800"/>
            <a:ext cx="7467600" cy="1588"/>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mv="urn:schemas-microsoft-com:mac:vml" xmlns="">
      <p:transition spd="slow">
        <p:split orient="ver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10.pdf"/>
          <p:cNvPicPr>
            <a:picLocks noChangeAspect="1"/>
          </p:cNvPicPr>
          <p:nvPr/>
        </p:nvPicPr>
        <p:blipFill>
          <a:blip r:embed="rId3"/>
          <a:stretch>
            <a:fillRect/>
          </a:stretch>
        </p:blipFill>
        <p:spPr>
          <a:xfrm>
            <a:off x="134470" y="76200"/>
            <a:ext cx="8875059" cy="4648200"/>
          </a:xfrm>
          <a:prstGeom prst="rect">
            <a:avLst/>
          </a:prstGeom>
        </p:spPr>
      </p:pic>
      <p:sp>
        <p:nvSpPr>
          <p:cNvPr id="3" name="Footer Placeholder 2"/>
          <p:cNvSpPr>
            <a:spLocks noGrp="1"/>
          </p:cNvSpPr>
          <p:nvPr>
            <p:ph type="ftr" sz="quarter" idx="11"/>
          </p:nvPr>
        </p:nvSpPr>
        <p:spPr>
          <a:xfrm>
            <a:off x="318246" y="6492875"/>
            <a:ext cx="5930153" cy="365125"/>
          </a:xfrm>
        </p:spPr>
        <p:txBody>
          <a:bodyPr/>
          <a:lstStyle/>
          <a:p>
            <a:pPr>
              <a:defRPr/>
            </a:pPr>
            <a:r>
              <a:rPr lang="en-US" dirty="0"/>
              <a:t>© 2017 Pearson Education, Inc., Hoboken, NJ. All rights reserved.</a:t>
            </a:r>
          </a:p>
        </p:txBody>
      </p:sp>
      <p:sp>
        <p:nvSpPr>
          <p:cNvPr id="2" name="Rectangle 1"/>
          <p:cNvSpPr/>
          <p:nvPr/>
        </p:nvSpPr>
        <p:spPr>
          <a:xfrm>
            <a:off x="4114800" y="3886200"/>
            <a:ext cx="4572000" cy="2308324"/>
          </a:xfrm>
          <a:prstGeom prst="rect">
            <a:avLst/>
          </a:prstGeom>
        </p:spPr>
        <p:txBody>
          <a:bodyPr>
            <a:spAutoFit/>
          </a:bodyPr>
          <a:lstStyle/>
          <a:p>
            <a:r>
              <a:rPr lang="en-US" dirty="0"/>
              <a:t>In the figure, process P </a:t>
            </a:r>
            <a:r>
              <a:rPr lang="en-US" baseline="-25000" dirty="0"/>
              <a:t>1</a:t>
            </a:r>
            <a:r>
              <a:rPr lang="en-US" dirty="0"/>
              <a:t> is running; at least part of the process is in main memory, and it has control of two I/O devices. Process P </a:t>
            </a:r>
            <a:r>
              <a:rPr lang="en-US" baseline="-25000" dirty="0"/>
              <a:t>2</a:t>
            </a:r>
            <a:r>
              <a:rPr lang="en-US" dirty="0"/>
              <a:t> is also in main memory but is blocked waiting for an I/O device allocated to P </a:t>
            </a:r>
            <a:r>
              <a:rPr lang="en-US" baseline="-25000" dirty="0"/>
              <a:t>1</a:t>
            </a:r>
            <a:r>
              <a:rPr lang="en-US" dirty="0"/>
              <a:t> . Process P </a:t>
            </a:r>
            <a:r>
              <a:rPr lang="en-US" baseline="-25000" dirty="0"/>
              <a:t>n</a:t>
            </a:r>
            <a:r>
              <a:rPr lang="en-US" i="1" dirty="0"/>
              <a:t> has been swapped out and is</a:t>
            </a:r>
          </a:p>
          <a:p>
            <a:r>
              <a:rPr lang="en-US" dirty="0"/>
              <a:t>therefore suspended.</a:t>
            </a:r>
          </a:p>
        </p:txBody>
      </p:sp>
      <p:sp>
        <p:nvSpPr>
          <p:cNvPr id="5" name="Rectangle 4"/>
          <p:cNvSpPr/>
          <p:nvPr/>
        </p:nvSpPr>
        <p:spPr>
          <a:xfrm>
            <a:off x="345955" y="3886200"/>
            <a:ext cx="3540245" cy="2031325"/>
          </a:xfrm>
          <a:prstGeom prst="rect">
            <a:avLst/>
          </a:prstGeom>
        </p:spPr>
        <p:txBody>
          <a:bodyPr wrap="square">
            <a:spAutoFit/>
          </a:bodyPr>
          <a:lstStyle/>
          <a:p>
            <a:r>
              <a:rPr lang="en-US" sz="1400" dirty="0"/>
              <a:t>The OS controls events within the computer system. It schedules and dispatches processes for execution by the processor, allocates resources to processes, and responds to requests by user processes for basic services. Fundamentally, we can think of the OS as that entity that manages the use of system resources by processes.</a:t>
            </a: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mv="urn:schemas-microsoft-com:mac:vml" xmlns="">
      <p:transition spd="slow">
        <p:circl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11.pdf"/>
          <p:cNvPicPr>
            <a:picLocks noChangeAspect="1"/>
          </p:cNvPicPr>
          <p:nvPr/>
        </p:nvPicPr>
        <p:blipFill>
          <a:blip r:embed="rId3"/>
          <a:srcRect l="10909" t="4706" r="12727" b="4706"/>
          <a:stretch>
            <a:fillRect/>
          </a:stretch>
        </p:blipFill>
        <p:spPr>
          <a:xfrm>
            <a:off x="1295400" y="609600"/>
            <a:ext cx="6517350" cy="5974104"/>
          </a:xfrm>
          <a:prstGeom prst="rect">
            <a:avLst/>
          </a:prstGeom>
        </p:spPr>
      </p:pic>
      <p:sp>
        <p:nvSpPr>
          <p:cNvPr id="3" name="Footer Placeholder 2"/>
          <p:cNvSpPr>
            <a:spLocks noGrp="1"/>
          </p:cNvSpPr>
          <p:nvPr>
            <p:ph type="ftr" sz="quarter" idx="11"/>
          </p:nvPr>
        </p:nvSpPr>
        <p:spPr>
          <a:xfrm>
            <a:off x="318246" y="6492875"/>
            <a:ext cx="6082553" cy="365125"/>
          </a:xfrm>
        </p:spPr>
        <p:txBody>
          <a:bodyPr/>
          <a:lstStyle/>
          <a:p>
            <a:pPr>
              <a:defRPr/>
            </a:pPr>
            <a:r>
              <a:rPr lang="en-US" dirty="0"/>
              <a:t>© 2017 Pearson Education, Inc., Hoboken, NJ. All rights reserved.</a:t>
            </a:r>
          </a:p>
        </p:txBody>
      </p:sp>
      <p:sp>
        <p:nvSpPr>
          <p:cNvPr id="2" name="Rectangle 1"/>
          <p:cNvSpPr/>
          <p:nvPr/>
        </p:nvSpPr>
        <p:spPr>
          <a:xfrm>
            <a:off x="457200" y="2815159"/>
            <a:ext cx="2362200" cy="2677656"/>
          </a:xfrm>
          <a:prstGeom prst="rect">
            <a:avLst/>
          </a:prstGeom>
        </p:spPr>
        <p:txBody>
          <a:bodyPr wrap="square">
            <a:spAutoFit/>
          </a:bodyPr>
          <a:lstStyle/>
          <a:p>
            <a:r>
              <a:rPr lang="en-US" sz="1400" dirty="0"/>
              <a:t>If the OS is to manage processes and resources, it must have information about the current status of each process and </a:t>
            </a:r>
            <a:r>
              <a:rPr lang="en-US" sz="1400" dirty="0" err="1"/>
              <a:t>esource</a:t>
            </a:r>
            <a:r>
              <a:rPr lang="en-US" sz="1400" dirty="0"/>
              <a:t>. The universal approach to providing this information is straightforward: The OS constructs and </a:t>
            </a:r>
            <a:r>
              <a:rPr lang="en-US" sz="1400" dirty="0">
                <a:solidFill>
                  <a:schemeClr val="accent1">
                    <a:lumMod val="60000"/>
                    <a:lumOff val="40000"/>
                  </a:schemeClr>
                </a:solidFill>
              </a:rPr>
              <a:t>maintains tables of information about each entity that it is managing</a:t>
            </a:r>
            <a:r>
              <a:rPr lang="en-US" sz="1400" dirty="0"/>
              <a:t>. </a:t>
            </a:r>
            <a:endParaRPr lang="tr-TR" sz="14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658813" y="456252"/>
            <a:ext cx="7824788" cy="1220147"/>
          </a:xfrm>
        </p:spPr>
        <p:txBody>
          <a:bodyPr/>
          <a:lstStyle/>
          <a:p>
            <a:pPr algn="l"/>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Memory Tables</a:t>
            </a:r>
          </a:p>
        </p:txBody>
      </p:sp>
      <p:sp>
        <p:nvSpPr>
          <p:cNvPr id="35843" name="Content Placeholder 2"/>
          <p:cNvSpPr>
            <a:spLocks noGrp="1"/>
          </p:cNvSpPr>
          <p:nvPr>
            <p:ph sz="half" idx="1"/>
          </p:nvPr>
        </p:nvSpPr>
        <p:spPr/>
        <p:txBody>
          <a:bodyPr>
            <a:normAutofit/>
          </a:bodyPr>
          <a:lstStyle/>
          <a:p>
            <a:r>
              <a:rPr lang="en-NZ" sz="2200" dirty="0"/>
              <a:t>Used to keep track of both main (real) and secondary (virtual)  memory</a:t>
            </a:r>
          </a:p>
          <a:p>
            <a:r>
              <a:rPr lang="en-NZ" sz="2200" dirty="0"/>
              <a:t>Processes are maintained on secondary memory using some sort of virtual memory or simple swapping mechanism </a:t>
            </a:r>
          </a:p>
        </p:txBody>
      </p:sp>
      <p:graphicFrame>
        <p:nvGraphicFramePr>
          <p:cNvPr id="5" name="Diagram 4"/>
          <p:cNvGraphicFramePr/>
          <p:nvPr>
            <p:extLst>
              <p:ext uri="{D42A27DB-BD31-4B8C-83A1-F6EECF244321}">
                <p14:modId xmlns:p14="http://schemas.microsoft.com/office/powerpoint/2010/main" val="1560866638"/>
              </p:ext>
            </p:extLst>
          </p:nvPr>
        </p:nvGraphicFramePr>
        <p:xfrm>
          <a:off x="4495800" y="2209800"/>
          <a:ext cx="4114800" cy="4191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Footer Placeholder 5"/>
          <p:cNvSpPr>
            <a:spLocks noGrp="1"/>
          </p:cNvSpPr>
          <p:nvPr>
            <p:ph type="ftr" sz="quarter" idx="11"/>
          </p:nvPr>
        </p:nvSpPr>
        <p:spPr>
          <a:xfrm>
            <a:off x="318246" y="6492875"/>
            <a:ext cx="6082553" cy="365125"/>
          </a:xfrm>
        </p:spPr>
        <p:txBody>
          <a:bodyPr/>
          <a:lstStyle/>
          <a:p>
            <a:pPr>
              <a:defRPr/>
            </a:pPr>
            <a:r>
              <a:rPr lang="en-US"/>
              <a:t>© 2017 Pearson Education, Inc., Hoboken, NJ. All rights reserved.</a:t>
            </a:r>
            <a:endParaRPr lang="en-US" dirty="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658813" y="456253"/>
            <a:ext cx="7824788" cy="1143948"/>
          </a:xfrm>
        </p:spPr>
        <p:txBody>
          <a:bodyPr/>
          <a:lstStyle/>
          <a:p>
            <a:pPr algn="l"/>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I/O Tables</a:t>
            </a:r>
          </a:p>
        </p:txBody>
      </p:sp>
      <p:sp>
        <p:nvSpPr>
          <p:cNvPr id="36867" name="Content Placeholder 2"/>
          <p:cNvSpPr>
            <a:spLocks noGrp="1"/>
          </p:cNvSpPr>
          <p:nvPr>
            <p:ph sz="half" idx="1"/>
          </p:nvPr>
        </p:nvSpPr>
        <p:spPr/>
        <p:txBody>
          <a:bodyPr>
            <a:normAutofit/>
          </a:bodyPr>
          <a:lstStyle/>
          <a:p>
            <a:r>
              <a:rPr lang="en-NZ" sz="2200" dirty="0"/>
              <a:t>Used by the OS to manage the I/O devices and channels of the computer system</a:t>
            </a:r>
            <a:endParaRPr lang="en-US" sz="2200" dirty="0"/>
          </a:p>
          <a:p>
            <a:r>
              <a:rPr lang="en-US" sz="2200" dirty="0"/>
              <a:t>At any given time, an I/O device may be available or assigned to a particular process</a:t>
            </a:r>
          </a:p>
        </p:txBody>
      </p:sp>
      <p:graphicFrame>
        <p:nvGraphicFramePr>
          <p:cNvPr id="5" name="Diagram 4"/>
          <p:cNvGraphicFramePr/>
          <p:nvPr>
            <p:extLst>
              <p:ext uri="{D42A27DB-BD31-4B8C-83A1-F6EECF244321}">
                <p14:modId xmlns:p14="http://schemas.microsoft.com/office/powerpoint/2010/main" val="2733243097"/>
              </p:ext>
            </p:extLst>
          </p:nvPr>
        </p:nvGraphicFramePr>
        <p:xfrm>
          <a:off x="4800600" y="2133600"/>
          <a:ext cx="3886200" cy="411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Footer Placeholder 5"/>
          <p:cNvSpPr>
            <a:spLocks noGrp="1"/>
          </p:cNvSpPr>
          <p:nvPr>
            <p:ph type="ftr" sz="quarter" idx="11"/>
          </p:nvPr>
        </p:nvSpPr>
        <p:spPr>
          <a:xfrm>
            <a:off x="318246" y="6492875"/>
            <a:ext cx="5625353" cy="365125"/>
          </a:xfrm>
        </p:spPr>
        <p:txBody>
          <a:bodyPr/>
          <a:lstStyle/>
          <a:p>
            <a:pPr>
              <a:defRPr/>
            </a:pPr>
            <a:r>
              <a:rPr lang="en-US" dirty="0"/>
              <a:t>© 2017 Pearson Education, Inc., Hoboken, NJ. All rights reserved.</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658813" y="456253"/>
            <a:ext cx="7824788" cy="1296348"/>
          </a:xfrm>
        </p:spPr>
        <p:txBody>
          <a:bodyPr/>
          <a:lstStyle/>
          <a:p>
            <a:pPr algn="l"/>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File Tables</a:t>
            </a:r>
          </a:p>
        </p:txBody>
      </p:sp>
      <p:sp>
        <p:nvSpPr>
          <p:cNvPr id="4" name="Content Placeholder 3"/>
          <p:cNvSpPr>
            <a:spLocks noGrp="1"/>
          </p:cNvSpPr>
          <p:nvPr>
            <p:ph sz="half" idx="2"/>
          </p:nvPr>
        </p:nvSpPr>
        <p:spPr>
          <a:xfrm>
            <a:off x="914400" y="4267200"/>
            <a:ext cx="7315200" cy="2209800"/>
          </a:xfrm>
        </p:spPr>
        <p:txBody>
          <a:bodyPr/>
          <a:lstStyle/>
          <a:p>
            <a:r>
              <a:rPr lang="en-US" dirty="0"/>
              <a:t>Information may be maintained and used by a file management system</a:t>
            </a:r>
          </a:p>
          <a:p>
            <a:pPr lvl="2"/>
            <a:r>
              <a:rPr lang="en-US" dirty="0"/>
              <a:t>In which case the OS has little or no knowledge of files</a:t>
            </a:r>
          </a:p>
          <a:p>
            <a:pPr marL="282575" lvl="2">
              <a:spcBef>
                <a:spcPts val="1800"/>
              </a:spcBef>
            </a:pPr>
            <a:r>
              <a:rPr lang="en-US" dirty="0"/>
              <a:t>In other operating systems, much of the detail of file management is managed by the OS itself</a:t>
            </a:r>
          </a:p>
        </p:txBody>
      </p:sp>
      <p:graphicFrame>
        <p:nvGraphicFramePr>
          <p:cNvPr id="5" name="Diagram 4"/>
          <p:cNvGraphicFramePr/>
          <p:nvPr>
            <p:extLst>
              <p:ext uri="{D42A27DB-BD31-4B8C-83A1-F6EECF244321}">
                <p14:modId xmlns:p14="http://schemas.microsoft.com/office/powerpoint/2010/main" val="2001885193"/>
              </p:ext>
            </p:extLst>
          </p:nvPr>
        </p:nvGraphicFramePr>
        <p:xfrm>
          <a:off x="1447800" y="2057400"/>
          <a:ext cx="6096000" cy="2057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Footer Placeholder 5"/>
          <p:cNvSpPr>
            <a:spLocks noGrp="1"/>
          </p:cNvSpPr>
          <p:nvPr>
            <p:ph type="ftr" sz="quarter" idx="11"/>
          </p:nvPr>
        </p:nvSpPr>
        <p:spPr>
          <a:xfrm>
            <a:off x="318246" y="6492875"/>
            <a:ext cx="5549153" cy="365125"/>
          </a:xfrm>
        </p:spPr>
        <p:txBody>
          <a:bodyPr/>
          <a:lstStyle/>
          <a:p>
            <a:pPr>
              <a:defRPr/>
            </a:pPr>
            <a:r>
              <a:rPr lang="en-US" dirty="0"/>
              <a:t>© 2017 Pearson Education, Inc., Hoboken, NJ. All rights reserved.</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658813" y="456253"/>
            <a:ext cx="7824788" cy="1220148"/>
          </a:xfrm>
        </p:spPr>
        <p:txBody>
          <a:bodyPr/>
          <a:lstStyle/>
          <a:p>
            <a:pPr algn="l"/>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Process Tables</a:t>
            </a:r>
          </a:p>
        </p:txBody>
      </p:sp>
      <p:sp>
        <p:nvSpPr>
          <p:cNvPr id="38915" name="Content Placeholder 2"/>
          <p:cNvSpPr>
            <a:spLocks noGrp="1"/>
          </p:cNvSpPr>
          <p:nvPr>
            <p:ph sz="half" idx="1"/>
          </p:nvPr>
        </p:nvSpPr>
        <p:spPr>
          <a:xfrm>
            <a:off x="609600" y="2286000"/>
            <a:ext cx="7924800" cy="3840163"/>
          </a:xfrm>
        </p:spPr>
        <p:txBody>
          <a:bodyPr>
            <a:noAutofit/>
          </a:bodyPr>
          <a:lstStyle/>
          <a:p>
            <a:r>
              <a:rPr lang="en-US" sz="3000" dirty="0"/>
              <a:t>Must be maintained to manage processes</a:t>
            </a:r>
          </a:p>
          <a:p>
            <a:r>
              <a:rPr lang="en-US" sz="3000" dirty="0"/>
              <a:t>There must be some reference to memory,    I/O, and files, directly or indirectly</a:t>
            </a:r>
          </a:p>
          <a:p>
            <a:r>
              <a:rPr lang="en-US" sz="3000" dirty="0"/>
              <a:t>The tables themselves must be accessible by the OS and therefore are subject to memory management</a:t>
            </a:r>
          </a:p>
        </p:txBody>
      </p:sp>
      <p:sp>
        <p:nvSpPr>
          <p:cNvPr id="4" name="Footer Placeholder 3"/>
          <p:cNvSpPr>
            <a:spLocks noGrp="1"/>
          </p:cNvSpPr>
          <p:nvPr>
            <p:ph type="ftr" sz="quarter" idx="11"/>
          </p:nvPr>
        </p:nvSpPr>
        <p:spPr>
          <a:xfrm>
            <a:off x="318246" y="6492875"/>
            <a:ext cx="4939553" cy="365125"/>
          </a:xfrm>
        </p:spPr>
        <p:txBody>
          <a:bodyPr/>
          <a:lstStyle/>
          <a:p>
            <a:pPr>
              <a:defRPr/>
            </a:pPr>
            <a:r>
              <a:rPr lang="en-US" dirty="0"/>
              <a:t>© 2017 Pearson Education, Inc., Hoboken, NJ. All rights reserved.</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6253"/>
            <a:ext cx="8229599" cy="1220148"/>
          </a:xfrm>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Process Control Structures</a:t>
            </a:r>
          </a:p>
        </p:txBody>
      </p:sp>
      <p:graphicFrame>
        <p:nvGraphicFramePr>
          <p:cNvPr id="4" name="Diagram 3"/>
          <p:cNvGraphicFramePr/>
          <p:nvPr/>
        </p:nvGraphicFramePr>
        <p:xfrm>
          <a:off x="1524000" y="2514600"/>
          <a:ext cx="6705600" cy="3479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318246" y="6492875"/>
            <a:ext cx="4863353" cy="365125"/>
          </a:xfrm>
        </p:spPr>
        <p:txBody>
          <a:bodyPr/>
          <a:lstStyle/>
          <a:p>
            <a:pPr>
              <a:defRPr/>
            </a:pPr>
            <a:r>
              <a:rPr lang="en-US" dirty="0"/>
              <a:t>© 2017 Pearson Education, Inc., Hoboken, NJ. All rights reserved.</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1"/>
            <a:ext cx="7824788" cy="1371600"/>
          </a:xfrm>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Process Control Structures</a:t>
            </a:r>
          </a:p>
        </p:txBody>
      </p:sp>
      <p:sp>
        <p:nvSpPr>
          <p:cNvPr id="5" name="Text Placeholder 4"/>
          <p:cNvSpPr>
            <a:spLocks noGrp="1"/>
          </p:cNvSpPr>
          <p:nvPr>
            <p:ph type="body" idx="1"/>
          </p:nvPr>
        </p:nvSpPr>
        <p:spPr/>
        <p:txBody>
          <a:bodyPr/>
          <a:lstStyle/>
          <a:p>
            <a:r>
              <a:rPr lang="en-US" dirty="0"/>
              <a:t>Process Location</a:t>
            </a:r>
          </a:p>
        </p:txBody>
      </p:sp>
      <p:sp>
        <p:nvSpPr>
          <p:cNvPr id="3" name="Content Placeholder 2"/>
          <p:cNvSpPr>
            <a:spLocks noGrp="1"/>
          </p:cNvSpPr>
          <p:nvPr>
            <p:ph sz="half" idx="2"/>
          </p:nvPr>
        </p:nvSpPr>
        <p:spPr>
          <a:xfrm>
            <a:off x="381000" y="2514600"/>
            <a:ext cx="4038600" cy="3886200"/>
          </a:xfrm>
        </p:spPr>
        <p:txBody>
          <a:bodyPr>
            <a:normAutofit/>
          </a:bodyPr>
          <a:lstStyle/>
          <a:p>
            <a:pPr>
              <a:buNone/>
            </a:pPr>
            <a:endParaRPr lang="en-US" dirty="0"/>
          </a:p>
          <a:p>
            <a:pPr lvl="1"/>
            <a:r>
              <a:rPr lang="en-US" dirty="0"/>
              <a:t>A process must include a program or set of programs to be executed</a:t>
            </a:r>
          </a:p>
          <a:p>
            <a:pPr lvl="1"/>
            <a:r>
              <a:rPr lang="en-US" dirty="0"/>
              <a:t>A process will consist of at least sufficient </a:t>
            </a:r>
            <a:r>
              <a:rPr lang="en-US" dirty="0">
                <a:solidFill>
                  <a:schemeClr val="accent1">
                    <a:lumMod val="60000"/>
                    <a:lumOff val="40000"/>
                  </a:schemeClr>
                </a:solidFill>
              </a:rPr>
              <a:t>memory</a:t>
            </a:r>
            <a:r>
              <a:rPr lang="en-US" dirty="0"/>
              <a:t> to hold the programs and data of that process</a:t>
            </a:r>
          </a:p>
          <a:p>
            <a:pPr lvl="1"/>
            <a:r>
              <a:rPr lang="en-US" dirty="0"/>
              <a:t>The execution of a program typically involves </a:t>
            </a:r>
            <a:r>
              <a:rPr lang="en-US" dirty="0">
                <a:solidFill>
                  <a:schemeClr val="accent1">
                    <a:lumMod val="60000"/>
                    <a:lumOff val="40000"/>
                  </a:schemeClr>
                </a:solidFill>
              </a:rPr>
              <a:t>a stack </a:t>
            </a:r>
            <a:r>
              <a:rPr lang="en-US" dirty="0"/>
              <a:t>that is used to keep track of procedure calls and parameter passing between procedures </a:t>
            </a:r>
          </a:p>
        </p:txBody>
      </p:sp>
      <p:sp>
        <p:nvSpPr>
          <p:cNvPr id="6" name="Text Placeholder 5"/>
          <p:cNvSpPr>
            <a:spLocks noGrp="1"/>
          </p:cNvSpPr>
          <p:nvPr>
            <p:ph type="body" sz="quarter" idx="3"/>
          </p:nvPr>
        </p:nvSpPr>
        <p:spPr/>
        <p:txBody>
          <a:bodyPr/>
          <a:lstStyle/>
          <a:p>
            <a:r>
              <a:rPr lang="en-US" dirty="0"/>
              <a:t>Process Attributes</a:t>
            </a:r>
          </a:p>
        </p:txBody>
      </p:sp>
      <p:sp>
        <p:nvSpPr>
          <p:cNvPr id="4" name="Content Placeholder 3"/>
          <p:cNvSpPr>
            <a:spLocks noGrp="1"/>
          </p:cNvSpPr>
          <p:nvPr>
            <p:ph sz="quarter" idx="4"/>
          </p:nvPr>
        </p:nvSpPr>
        <p:spPr>
          <a:xfrm>
            <a:off x="4648200" y="2797174"/>
            <a:ext cx="3962400" cy="3679825"/>
          </a:xfrm>
        </p:spPr>
        <p:txBody>
          <a:bodyPr>
            <a:normAutofit/>
          </a:bodyPr>
          <a:lstStyle/>
          <a:p>
            <a:pPr lvl="1"/>
            <a:r>
              <a:rPr lang="en-US" dirty="0"/>
              <a:t>Each process has associated with it a number of attributes that are used by the OS for process control</a:t>
            </a:r>
          </a:p>
          <a:p>
            <a:pPr lvl="1"/>
            <a:r>
              <a:rPr lang="en-US" dirty="0"/>
              <a:t>The collection of program, data, stack, and attributes is referred to as </a:t>
            </a:r>
            <a:r>
              <a:rPr lang="en-US" dirty="0">
                <a:solidFill>
                  <a:schemeClr val="accent1">
                    <a:lumMod val="60000"/>
                    <a:lumOff val="40000"/>
                  </a:schemeClr>
                </a:solidFill>
              </a:rPr>
              <a:t>the process image</a:t>
            </a:r>
          </a:p>
          <a:p>
            <a:pPr lvl="1"/>
            <a:r>
              <a:rPr lang="en-US" dirty="0"/>
              <a:t>Process image location will depend on the memory management scheme being used</a:t>
            </a:r>
          </a:p>
          <a:p>
            <a:endParaRPr lang="en-US" dirty="0"/>
          </a:p>
        </p:txBody>
      </p:sp>
      <p:sp>
        <p:nvSpPr>
          <p:cNvPr id="7" name="Footer Placeholder 6"/>
          <p:cNvSpPr>
            <a:spLocks noGrp="1"/>
          </p:cNvSpPr>
          <p:nvPr>
            <p:ph type="ftr" sz="quarter" idx="11"/>
          </p:nvPr>
        </p:nvSpPr>
        <p:spPr>
          <a:xfrm>
            <a:off x="318246" y="6492875"/>
            <a:ext cx="5168153" cy="365125"/>
          </a:xfrm>
        </p:spPr>
        <p:txBody>
          <a:bodyPr/>
          <a:lstStyle/>
          <a:p>
            <a:pPr>
              <a:defRPr/>
            </a:pPr>
            <a:r>
              <a:rPr lang="en-US" dirty="0"/>
              <a:t>© 2017 Pearson Education, Inc., Hoboken, NJ. All rights reserved.</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57200" y="685800"/>
            <a:ext cx="8305800" cy="1323439"/>
          </a:xfrm>
          <a:prstGeom prst="rect">
            <a:avLst/>
          </a:prstGeom>
        </p:spPr>
        <p:txBody>
          <a:bodyPr wrap="square">
            <a:spAutoFit/>
          </a:bodyPr>
          <a:lstStyle/>
          <a:p>
            <a:pPr algn="ctr"/>
            <a:r>
              <a:rPr lang="en-US" sz="4000" dirty="0">
                <a:solidFill>
                  <a:schemeClr val="accent1">
                    <a:lumMod val="75000"/>
                  </a:schemeClr>
                </a:solidFill>
                <a:effectLst>
                  <a:outerShdw blurRad="50800" dist="38100" dir="2700000" algn="tl" rotWithShape="0">
                    <a:prstClr val="black">
                      <a:alpha val="40000"/>
                    </a:prstClr>
                  </a:outerShdw>
                </a:effectLst>
                <a:latin typeface="+mj-lt"/>
                <a:ea typeface="+mj-ea"/>
                <a:cs typeface="+mj-cs"/>
              </a:rPr>
              <a:t>Table 3.4   </a:t>
            </a:r>
          </a:p>
          <a:p>
            <a:pPr algn="ctr"/>
            <a:r>
              <a:rPr lang="en-US" sz="4000" dirty="0">
                <a:solidFill>
                  <a:schemeClr val="accent1">
                    <a:lumMod val="75000"/>
                  </a:schemeClr>
                </a:solidFill>
                <a:effectLst>
                  <a:outerShdw blurRad="50800" dist="38100" dir="2700000" algn="tl" rotWithShape="0">
                    <a:prstClr val="black">
                      <a:alpha val="40000"/>
                    </a:prstClr>
                  </a:outerShdw>
                </a:effectLst>
                <a:latin typeface="+mj-lt"/>
                <a:ea typeface="+mj-ea"/>
                <a:cs typeface="+mj-cs"/>
              </a:rPr>
              <a:t>Typical Elements of a Process Image </a:t>
            </a:r>
          </a:p>
        </p:txBody>
      </p:sp>
      <p:pic>
        <p:nvPicPr>
          <p:cNvPr id="5" name="Picture 4"/>
          <p:cNvPicPr>
            <a:picLocks noChangeAspect="1"/>
          </p:cNvPicPr>
          <p:nvPr/>
        </p:nvPicPr>
        <p:blipFill>
          <a:blip r:embed="rId3"/>
          <a:stretch>
            <a:fillRect/>
          </a:stretch>
        </p:blipFill>
        <p:spPr>
          <a:xfrm>
            <a:off x="381000" y="2362200"/>
            <a:ext cx="8364728" cy="3970599"/>
          </a:xfrm>
          <a:prstGeom prst="rect">
            <a:avLst/>
          </a:prstGeom>
        </p:spPr>
      </p:pic>
      <p:sp>
        <p:nvSpPr>
          <p:cNvPr id="4" name="Footer Placeholder 3"/>
          <p:cNvSpPr>
            <a:spLocks noGrp="1"/>
          </p:cNvSpPr>
          <p:nvPr>
            <p:ph type="ftr" sz="quarter" idx="11"/>
          </p:nvPr>
        </p:nvSpPr>
        <p:spPr>
          <a:xfrm>
            <a:off x="318246" y="6492875"/>
            <a:ext cx="46347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mv="urn:schemas-microsoft-com:mac:vml"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467600" y="838200"/>
            <a:ext cx="1371600" cy="3657600"/>
          </a:xfrm>
        </p:spPr>
        <p:txBody>
          <a:bodyPr/>
          <a:lstStyle/>
          <a:p>
            <a:pPr algn="ctr">
              <a:lnSpc>
                <a:spcPct val="150000"/>
              </a:lnSpc>
            </a:pPr>
            <a:r>
              <a:rPr lang="en-US" sz="2000" dirty="0">
                <a:solidFill>
                  <a:schemeClr val="accent1">
                    <a:lumMod val="75000"/>
                  </a:schemeClr>
                </a:solidFill>
              </a:rPr>
              <a:t>Table 3.5  </a:t>
            </a:r>
            <a:br>
              <a:rPr lang="en-US" sz="2000" dirty="0">
                <a:solidFill>
                  <a:schemeClr val="accent1">
                    <a:lumMod val="75000"/>
                  </a:schemeClr>
                </a:solidFill>
              </a:rPr>
            </a:br>
            <a:r>
              <a:rPr lang="en-US" sz="2000" dirty="0">
                <a:solidFill>
                  <a:schemeClr val="accent1">
                    <a:lumMod val="75000"/>
                  </a:schemeClr>
                </a:solidFill>
              </a:rPr>
              <a:t> Typical Elements of a Process Control Block </a:t>
            </a:r>
            <a:br>
              <a:rPr lang="en-US" sz="2000" dirty="0">
                <a:solidFill>
                  <a:schemeClr val="accent1">
                    <a:lumMod val="75000"/>
                  </a:schemeClr>
                </a:solidFill>
              </a:rPr>
            </a:br>
            <a:r>
              <a:rPr lang="en-US" sz="1400" dirty="0">
                <a:solidFill>
                  <a:schemeClr val="accent1">
                    <a:lumMod val="75000"/>
                  </a:schemeClr>
                </a:solidFill>
              </a:rPr>
              <a:t>(page 1 of 2) </a:t>
            </a:r>
            <a:endParaRPr lang="en-NZ" sz="2000" dirty="0">
              <a:solidFill>
                <a:schemeClr val="accent1">
                  <a:lumMod val="75000"/>
                </a:schemeClr>
              </a:solidFill>
            </a:endParaRPr>
          </a:p>
        </p:txBody>
      </p:sp>
      <p:pic>
        <p:nvPicPr>
          <p:cNvPr id="6" name="Picture 5"/>
          <p:cNvPicPr>
            <a:picLocks noChangeAspect="1"/>
          </p:cNvPicPr>
          <p:nvPr/>
        </p:nvPicPr>
        <p:blipFill>
          <a:blip r:embed="rId3"/>
          <a:stretch>
            <a:fillRect/>
          </a:stretch>
        </p:blipFill>
        <p:spPr>
          <a:xfrm>
            <a:off x="457202" y="914400"/>
            <a:ext cx="7001464" cy="5480049"/>
          </a:xfrm>
          <a:prstGeom prst="rect">
            <a:avLst/>
          </a:prstGeom>
        </p:spPr>
      </p:pic>
      <p:sp>
        <p:nvSpPr>
          <p:cNvPr id="8" name="TextBox 7"/>
          <p:cNvSpPr txBox="1"/>
          <p:nvPr/>
        </p:nvSpPr>
        <p:spPr>
          <a:xfrm>
            <a:off x="7543800" y="5867400"/>
            <a:ext cx="1631898" cy="877163"/>
          </a:xfrm>
          <a:prstGeom prst="rect">
            <a:avLst/>
          </a:prstGeom>
          <a:noFill/>
        </p:spPr>
        <p:txBody>
          <a:bodyPr wrap="square" rtlCol="0">
            <a:spAutoFit/>
          </a:bodyPr>
          <a:lstStyle/>
          <a:p>
            <a:r>
              <a:rPr lang="en-US" sz="1100" dirty="0">
                <a:latin typeface="+mn-lt"/>
              </a:rPr>
              <a:t>(Table is located </a:t>
            </a:r>
          </a:p>
          <a:p>
            <a:r>
              <a:rPr lang="en-US" sz="1100" dirty="0">
                <a:latin typeface="+mn-lt"/>
              </a:rPr>
              <a:t>on page 125 in the textbook)</a:t>
            </a:r>
          </a:p>
          <a:p>
            <a:endParaRPr lang="en-US" dirty="0"/>
          </a:p>
        </p:txBody>
      </p:sp>
      <p:sp>
        <p:nvSpPr>
          <p:cNvPr id="5" name="Footer Placeholder 4"/>
          <p:cNvSpPr>
            <a:spLocks noGrp="1"/>
          </p:cNvSpPr>
          <p:nvPr>
            <p:ph type="ftr" sz="quarter" idx="11"/>
          </p:nvPr>
        </p:nvSpPr>
        <p:spPr>
          <a:xfrm>
            <a:off x="318246" y="6492875"/>
            <a:ext cx="55491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mv="urn:schemas-microsoft-com:mac:vml" xmlns="">
      <p:transition spd="slow">
        <p:dissolv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6400800" y="838200"/>
            <a:ext cx="2209800" cy="3810000"/>
          </a:xfrm>
        </p:spPr>
        <p:txBody>
          <a:bodyPr/>
          <a:lstStyle/>
          <a:p>
            <a:pPr algn="ctr">
              <a:lnSpc>
                <a:spcPct val="150000"/>
              </a:lnSpc>
            </a:pPr>
            <a:r>
              <a:rPr lang="en-US" sz="2400" dirty="0">
                <a:solidFill>
                  <a:schemeClr val="accent1">
                    <a:lumMod val="75000"/>
                  </a:schemeClr>
                </a:solidFill>
              </a:rPr>
              <a:t>Table 3.5  </a:t>
            </a:r>
            <a:br>
              <a:rPr lang="en-US" sz="2400" dirty="0">
                <a:solidFill>
                  <a:schemeClr val="accent1">
                    <a:lumMod val="75000"/>
                  </a:schemeClr>
                </a:solidFill>
              </a:rPr>
            </a:br>
            <a:r>
              <a:rPr lang="en-US" sz="2400" dirty="0">
                <a:solidFill>
                  <a:schemeClr val="accent1">
                    <a:lumMod val="75000"/>
                  </a:schemeClr>
                </a:solidFill>
              </a:rPr>
              <a:t> Typical Elements of a Process Control Block </a:t>
            </a:r>
            <a:br>
              <a:rPr lang="en-US" sz="2400" dirty="0">
                <a:solidFill>
                  <a:schemeClr val="accent1">
                    <a:lumMod val="75000"/>
                  </a:schemeClr>
                </a:solidFill>
              </a:rPr>
            </a:br>
            <a:r>
              <a:rPr lang="en-US" sz="1600" dirty="0">
                <a:solidFill>
                  <a:schemeClr val="accent1">
                    <a:lumMod val="75000"/>
                  </a:schemeClr>
                </a:solidFill>
              </a:rPr>
              <a:t>(page 2 of 2) </a:t>
            </a:r>
            <a:endParaRPr lang="en-NZ" sz="2400" dirty="0">
              <a:solidFill>
                <a:schemeClr val="accent1">
                  <a:lumMod val="75000"/>
                </a:schemeClr>
              </a:solidFill>
            </a:endParaRPr>
          </a:p>
        </p:txBody>
      </p:sp>
      <p:pic>
        <p:nvPicPr>
          <p:cNvPr id="7" name="Picture 6"/>
          <p:cNvPicPr>
            <a:picLocks noChangeAspect="1"/>
          </p:cNvPicPr>
          <p:nvPr/>
        </p:nvPicPr>
        <p:blipFill>
          <a:blip r:embed="rId3"/>
          <a:stretch>
            <a:fillRect/>
          </a:stretch>
        </p:blipFill>
        <p:spPr>
          <a:xfrm>
            <a:off x="457200" y="609600"/>
            <a:ext cx="5943600" cy="5850038"/>
          </a:xfrm>
          <a:prstGeom prst="rect">
            <a:avLst/>
          </a:prstGeom>
        </p:spPr>
      </p:pic>
      <p:sp>
        <p:nvSpPr>
          <p:cNvPr id="8" name="TextBox 7"/>
          <p:cNvSpPr txBox="1"/>
          <p:nvPr/>
        </p:nvSpPr>
        <p:spPr>
          <a:xfrm>
            <a:off x="6858000" y="6019800"/>
            <a:ext cx="1905000" cy="707886"/>
          </a:xfrm>
          <a:prstGeom prst="rect">
            <a:avLst/>
          </a:prstGeom>
          <a:noFill/>
        </p:spPr>
        <p:txBody>
          <a:bodyPr wrap="square" rtlCol="0">
            <a:spAutoFit/>
          </a:bodyPr>
          <a:lstStyle/>
          <a:p>
            <a:r>
              <a:rPr lang="en-US" sz="1100" dirty="0">
                <a:latin typeface="+mn-lt"/>
              </a:rPr>
              <a:t>(Table is located </a:t>
            </a:r>
          </a:p>
          <a:p>
            <a:r>
              <a:rPr lang="en-US" sz="1100" dirty="0">
                <a:latin typeface="+mn-lt"/>
              </a:rPr>
              <a:t>on page 125 in the textbook)</a:t>
            </a:r>
          </a:p>
          <a:p>
            <a:endParaRPr lang="en-US" dirty="0"/>
          </a:p>
        </p:txBody>
      </p:sp>
      <p:sp>
        <p:nvSpPr>
          <p:cNvPr id="5" name="Footer Placeholder 4"/>
          <p:cNvSpPr>
            <a:spLocks noGrp="1"/>
          </p:cNvSpPr>
          <p:nvPr>
            <p:ph type="ftr" sz="quarter" idx="11"/>
          </p:nvPr>
        </p:nvSpPr>
        <p:spPr>
          <a:xfrm>
            <a:off x="318246" y="6492875"/>
            <a:ext cx="5625353" cy="365125"/>
          </a:xfrm>
        </p:spPr>
        <p:txBody>
          <a:bodyPr/>
          <a:lstStyle/>
          <a:p>
            <a:pPr>
              <a:defRPr/>
            </a:pPr>
            <a:r>
              <a:rPr lang="en-US" dirty="0"/>
              <a:t>© 2017 Pearson Education, Inc., Hoboken, NJ. All rights reserved.</a:t>
            </a:r>
          </a:p>
        </p:txBody>
      </p:sp>
    </p:spTree>
  </p:cSld>
  <p:clrMapOvr>
    <a:masterClrMapping/>
  </p:clrMapOvr>
  <p:transition spd="slow">
    <p:wheel spokes="1"/>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pPr algn="ctr"/>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Process Identification</a:t>
            </a:r>
          </a:p>
        </p:txBody>
      </p:sp>
      <p:sp>
        <p:nvSpPr>
          <p:cNvPr id="3" name="Content Placeholder 2"/>
          <p:cNvSpPr>
            <a:spLocks noGrp="1"/>
          </p:cNvSpPr>
          <p:nvPr>
            <p:ph sz="half" idx="2"/>
          </p:nvPr>
        </p:nvSpPr>
        <p:spPr>
          <a:xfrm>
            <a:off x="663388" y="2286000"/>
            <a:ext cx="3657600" cy="4267200"/>
          </a:xfrm>
        </p:spPr>
        <p:txBody>
          <a:bodyPr>
            <a:normAutofit/>
          </a:bodyPr>
          <a:lstStyle/>
          <a:p>
            <a:r>
              <a:rPr lang="en-NZ" dirty="0"/>
              <a:t>Each process is assigned a </a:t>
            </a:r>
            <a:r>
              <a:rPr lang="en-NZ" dirty="0">
                <a:solidFill>
                  <a:srgbClr val="FF0000"/>
                </a:solidFill>
              </a:rPr>
              <a:t>unique numeric identifier</a:t>
            </a:r>
          </a:p>
          <a:p>
            <a:pPr lvl="1"/>
            <a:r>
              <a:rPr lang="en-NZ" dirty="0"/>
              <a:t>Otherwise there must be a mapping that allows the OS to locate the appropriate tables based on the process identifier</a:t>
            </a:r>
          </a:p>
          <a:p>
            <a:r>
              <a:rPr lang="en-NZ" dirty="0"/>
              <a:t>Many of the tables controlled by the OS may use process identifiers to cross-reference process tables</a:t>
            </a:r>
          </a:p>
          <a:p>
            <a:endParaRPr lang="en-NZ" dirty="0"/>
          </a:p>
        </p:txBody>
      </p:sp>
      <p:sp>
        <p:nvSpPr>
          <p:cNvPr id="6" name="Content Placeholder 5"/>
          <p:cNvSpPr>
            <a:spLocks noGrp="1"/>
          </p:cNvSpPr>
          <p:nvPr>
            <p:ph sz="quarter" idx="4"/>
          </p:nvPr>
        </p:nvSpPr>
        <p:spPr>
          <a:xfrm>
            <a:off x="4828032" y="2133600"/>
            <a:ext cx="3657600" cy="4724400"/>
          </a:xfrm>
        </p:spPr>
        <p:txBody>
          <a:bodyPr>
            <a:normAutofit fontScale="92500" lnSpcReduction="20000"/>
          </a:bodyPr>
          <a:lstStyle/>
          <a:p>
            <a:r>
              <a:rPr lang="en-US" sz="1946" dirty="0"/>
              <a:t>Memory tables may be organized to provide a map of main memory with an indication of which process is assigned to each region</a:t>
            </a:r>
          </a:p>
          <a:p>
            <a:pPr lvl="1"/>
            <a:r>
              <a:rPr lang="en-US" dirty="0"/>
              <a:t>Similar references will appear in I/O and file tables</a:t>
            </a:r>
          </a:p>
          <a:p>
            <a:r>
              <a:rPr lang="en-US" sz="1946" dirty="0"/>
              <a:t>When processes communicate with one another, the process identifier informs the OS of the destination of a particular communication</a:t>
            </a:r>
          </a:p>
          <a:p>
            <a:r>
              <a:rPr lang="en-US" sz="2000" dirty="0"/>
              <a:t>When processes are allowed to create other processes, identifiers indicate the parent and descendents of each process</a:t>
            </a:r>
          </a:p>
        </p:txBody>
      </p:sp>
      <p:sp>
        <p:nvSpPr>
          <p:cNvPr id="5" name="Footer Placeholder 4"/>
          <p:cNvSpPr>
            <a:spLocks noGrp="1"/>
          </p:cNvSpPr>
          <p:nvPr>
            <p:ph type="ftr" sz="quarter" idx="11"/>
          </p:nvPr>
        </p:nvSpPr>
        <p:spPr>
          <a:xfrm>
            <a:off x="318246" y="6492875"/>
            <a:ext cx="4939553" cy="365125"/>
          </a:xfrm>
        </p:spPr>
        <p:txBody>
          <a:bodyPr/>
          <a:lstStyle/>
          <a:p>
            <a:pPr>
              <a:defRPr/>
            </a:pPr>
            <a:r>
              <a:rPr lang="en-US" dirty="0"/>
              <a:t>© 2017 Pearson Education, Inc., Hoboken, NJ. All rights reserved.</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381000" y="456253"/>
            <a:ext cx="8382000" cy="1143948"/>
          </a:xfrm>
        </p:spPr>
        <p:txBody>
          <a:bodyPr/>
          <a:lstStyle/>
          <a:p>
            <a:pPr algn="ctr"/>
            <a:r>
              <a:rPr lang="en-US" sz="4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Processor State Information</a:t>
            </a:r>
          </a:p>
        </p:txBody>
      </p:sp>
      <p:graphicFrame>
        <p:nvGraphicFramePr>
          <p:cNvPr id="5" name="Content Placeholder 4"/>
          <p:cNvGraphicFramePr>
            <a:graphicFrameLocks noGrp="1"/>
          </p:cNvGraphicFramePr>
          <p:nvPr>
            <p:ph sz="half" idx="1"/>
            <p:extLst>
              <p:ext uri="{D42A27DB-BD31-4B8C-83A1-F6EECF244321}">
                <p14:modId xmlns:p14="http://schemas.microsoft.com/office/powerpoint/2010/main" val="578100659"/>
              </p:ext>
            </p:extLst>
          </p:nvPr>
        </p:nvGraphicFramePr>
        <p:xfrm>
          <a:off x="4468995" y="2272043"/>
          <a:ext cx="4191000" cy="3733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4" name="Diagram 3"/>
          <p:cNvGraphicFramePr/>
          <p:nvPr>
            <p:extLst>
              <p:ext uri="{D42A27DB-BD31-4B8C-83A1-F6EECF244321}">
                <p14:modId xmlns:p14="http://schemas.microsoft.com/office/powerpoint/2010/main" val="1137790804"/>
              </p:ext>
            </p:extLst>
          </p:nvPr>
        </p:nvGraphicFramePr>
        <p:xfrm>
          <a:off x="533400" y="2133600"/>
          <a:ext cx="3657600" cy="38862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6" name="Footer Placeholder 5"/>
          <p:cNvSpPr>
            <a:spLocks noGrp="1"/>
          </p:cNvSpPr>
          <p:nvPr>
            <p:ph type="ftr" sz="quarter" idx="11"/>
          </p:nvPr>
        </p:nvSpPr>
        <p:spPr>
          <a:xfrm>
            <a:off x="318246" y="6492875"/>
            <a:ext cx="7073153" cy="365125"/>
          </a:xfrm>
        </p:spPr>
        <p:txBody>
          <a:bodyPr/>
          <a:lstStyle/>
          <a:p>
            <a:pPr>
              <a:defRPr/>
            </a:pPr>
            <a:r>
              <a:rPr lang="en-US" dirty="0"/>
              <a:t>© 2017 Pearson Education, Inc., Hoboken, NJ. All rights reserved.</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12.pdf"/>
          <p:cNvPicPr>
            <a:picLocks noChangeAspect="1"/>
          </p:cNvPicPr>
          <p:nvPr/>
        </p:nvPicPr>
        <p:blipFill>
          <a:blip r:embed="rId3"/>
          <a:srcRect t="6364" b="38182"/>
          <a:stretch>
            <a:fillRect/>
          </a:stretch>
        </p:blipFill>
        <p:spPr>
          <a:xfrm>
            <a:off x="383437" y="381000"/>
            <a:ext cx="8760563" cy="6286920"/>
          </a:xfrm>
          <a:prstGeom prst="rect">
            <a:avLst/>
          </a:prstGeom>
        </p:spPr>
      </p:pic>
      <p:sp>
        <p:nvSpPr>
          <p:cNvPr id="3" name="Footer Placeholder 2"/>
          <p:cNvSpPr>
            <a:spLocks noGrp="1"/>
          </p:cNvSpPr>
          <p:nvPr>
            <p:ph type="ftr" sz="quarter" idx="11"/>
          </p:nvPr>
        </p:nvSpPr>
        <p:spPr>
          <a:xfrm>
            <a:off x="318246" y="6492875"/>
            <a:ext cx="46347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mv="urn:schemas-microsoft-com:mac:vml"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33401" y="1143000"/>
            <a:ext cx="2362200" cy="3970318"/>
          </a:xfrm>
          <a:prstGeom prst="rect">
            <a:avLst/>
          </a:prstGeom>
        </p:spPr>
        <p:txBody>
          <a:bodyPr wrap="square">
            <a:spAutoFit/>
          </a:bodyPr>
          <a:lstStyle/>
          <a:p>
            <a:pPr algn="ctr"/>
            <a:r>
              <a:rPr lang="en-US" sz="2800" b="1" dirty="0">
                <a:solidFill>
                  <a:schemeClr val="accent1">
                    <a:lumMod val="75000"/>
                  </a:schemeClr>
                </a:solidFill>
                <a:effectLst>
                  <a:outerShdw blurRad="38100" dist="38100" dir="2700000" algn="tl">
                    <a:srgbClr val="000000">
                      <a:alpha val="43137"/>
                    </a:srgbClr>
                  </a:outerShdw>
                </a:effectLst>
                <a:latin typeface="+mn-lt"/>
              </a:rPr>
              <a:t>Table 3.6</a:t>
            </a:r>
          </a:p>
          <a:p>
            <a:pPr algn="ctr"/>
            <a:endParaRPr lang="en-US" sz="2800" b="1" dirty="0">
              <a:solidFill>
                <a:schemeClr val="accent1">
                  <a:lumMod val="75000"/>
                </a:schemeClr>
              </a:solidFill>
              <a:effectLst>
                <a:outerShdw blurRad="38100" dist="38100" dir="2700000" algn="tl">
                  <a:srgbClr val="000000">
                    <a:alpha val="43137"/>
                  </a:srgbClr>
                </a:outerShdw>
              </a:effectLst>
              <a:latin typeface="+mn-lt"/>
            </a:endParaRPr>
          </a:p>
          <a:p>
            <a:pPr algn="ctr"/>
            <a:r>
              <a:rPr lang="en-US" sz="2800" b="1" dirty="0">
                <a:solidFill>
                  <a:schemeClr val="accent1">
                    <a:lumMod val="75000"/>
                  </a:schemeClr>
                </a:solidFill>
                <a:effectLst>
                  <a:outerShdw blurRad="38100" dist="38100" dir="2700000" algn="tl">
                    <a:srgbClr val="000000">
                      <a:alpha val="43137"/>
                    </a:srgbClr>
                  </a:outerShdw>
                </a:effectLst>
                <a:latin typeface="+mn-lt"/>
              </a:rPr>
              <a:t>x86</a:t>
            </a:r>
          </a:p>
          <a:p>
            <a:pPr algn="ctr"/>
            <a:endParaRPr lang="en-US" sz="2800" b="1" dirty="0">
              <a:solidFill>
                <a:schemeClr val="accent1">
                  <a:lumMod val="75000"/>
                </a:schemeClr>
              </a:solidFill>
              <a:effectLst>
                <a:outerShdw blurRad="38100" dist="38100" dir="2700000" algn="tl">
                  <a:srgbClr val="000000">
                    <a:alpha val="43137"/>
                  </a:srgbClr>
                </a:outerShdw>
              </a:effectLst>
              <a:latin typeface="+mn-lt"/>
            </a:endParaRPr>
          </a:p>
          <a:p>
            <a:pPr algn="ctr"/>
            <a:r>
              <a:rPr lang="en-US" sz="2800" b="1" dirty="0">
                <a:solidFill>
                  <a:schemeClr val="accent1">
                    <a:lumMod val="75000"/>
                  </a:schemeClr>
                </a:solidFill>
                <a:effectLst>
                  <a:outerShdw blurRad="38100" dist="38100" dir="2700000" algn="tl">
                    <a:srgbClr val="000000">
                      <a:alpha val="43137"/>
                    </a:srgbClr>
                  </a:outerShdw>
                </a:effectLst>
                <a:latin typeface="+mn-lt"/>
              </a:rPr>
              <a:t>EFLAGS </a:t>
            </a:r>
          </a:p>
          <a:p>
            <a:pPr algn="ctr"/>
            <a:endParaRPr lang="en-US" sz="2800" b="1" dirty="0">
              <a:solidFill>
                <a:schemeClr val="accent1">
                  <a:lumMod val="75000"/>
                </a:schemeClr>
              </a:solidFill>
              <a:effectLst>
                <a:outerShdw blurRad="38100" dist="38100" dir="2700000" algn="tl">
                  <a:srgbClr val="000000">
                    <a:alpha val="43137"/>
                  </a:srgbClr>
                </a:outerShdw>
              </a:effectLst>
              <a:latin typeface="+mn-lt"/>
            </a:endParaRPr>
          </a:p>
          <a:p>
            <a:pPr algn="ctr"/>
            <a:r>
              <a:rPr lang="en-US" sz="2800" b="1" dirty="0">
                <a:solidFill>
                  <a:schemeClr val="accent1">
                    <a:lumMod val="75000"/>
                  </a:schemeClr>
                </a:solidFill>
                <a:effectLst>
                  <a:outerShdw blurRad="38100" dist="38100" dir="2700000" algn="tl">
                    <a:srgbClr val="000000">
                      <a:alpha val="43137"/>
                    </a:srgbClr>
                  </a:outerShdw>
                </a:effectLst>
                <a:latin typeface="+mn-lt"/>
              </a:rPr>
              <a:t>Register </a:t>
            </a:r>
          </a:p>
          <a:p>
            <a:pPr algn="ctr"/>
            <a:endParaRPr lang="en-US" sz="2800" b="1" dirty="0">
              <a:solidFill>
                <a:schemeClr val="accent1">
                  <a:lumMod val="75000"/>
                </a:schemeClr>
              </a:solidFill>
              <a:effectLst>
                <a:outerShdw blurRad="38100" dist="38100" dir="2700000" algn="tl">
                  <a:srgbClr val="000000">
                    <a:alpha val="43137"/>
                  </a:srgbClr>
                </a:outerShdw>
              </a:effectLst>
              <a:latin typeface="+mn-lt"/>
            </a:endParaRPr>
          </a:p>
          <a:p>
            <a:pPr algn="ctr"/>
            <a:r>
              <a:rPr lang="en-US" sz="2800" b="1" dirty="0">
                <a:solidFill>
                  <a:schemeClr val="accent1">
                    <a:lumMod val="75000"/>
                  </a:schemeClr>
                </a:solidFill>
                <a:effectLst>
                  <a:outerShdw blurRad="38100" dist="38100" dir="2700000" algn="tl">
                    <a:srgbClr val="000000">
                      <a:alpha val="43137"/>
                    </a:srgbClr>
                  </a:outerShdw>
                </a:effectLst>
                <a:latin typeface="+mn-lt"/>
              </a:rPr>
              <a:t>Bits</a:t>
            </a:r>
          </a:p>
        </p:txBody>
      </p:sp>
      <p:pic>
        <p:nvPicPr>
          <p:cNvPr id="4" name="Picture 3"/>
          <p:cNvPicPr>
            <a:picLocks noChangeAspect="1"/>
          </p:cNvPicPr>
          <p:nvPr/>
        </p:nvPicPr>
        <p:blipFill>
          <a:blip r:embed="rId3"/>
          <a:stretch>
            <a:fillRect/>
          </a:stretch>
        </p:blipFill>
        <p:spPr>
          <a:xfrm>
            <a:off x="3810000" y="533400"/>
            <a:ext cx="4697686" cy="5862321"/>
          </a:xfrm>
          <a:prstGeom prst="rect">
            <a:avLst/>
          </a:prstGeom>
        </p:spPr>
      </p:pic>
      <p:sp>
        <p:nvSpPr>
          <p:cNvPr id="5" name="TextBox 4"/>
          <p:cNvSpPr txBox="1"/>
          <p:nvPr/>
        </p:nvSpPr>
        <p:spPr>
          <a:xfrm>
            <a:off x="381000" y="6248400"/>
            <a:ext cx="3276600" cy="261610"/>
          </a:xfrm>
          <a:prstGeom prst="rect">
            <a:avLst/>
          </a:prstGeom>
          <a:noFill/>
        </p:spPr>
        <p:txBody>
          <a:bodyPr wrap="square" rtlCol="0">
            <a:spAutoFit/>
          </a:bodyPr>
          <a:lstStyle/>
          <a:p>
            <a:pPr algn="ctr"/>
            <a:r>
              <a:rPr lang="en-US" sz="1100" dirty="0">
                <a:latin typeface="+mn-lt"/>
              </a:rPr>
              <a:t>(Table is located on page 127 in the textbook)</a:t>
            </a:r>
          </a:p>
        </p:txBody>
      </p:sp>
      <p:sp>
        <p:nvSpPr>
          <p:cNvPr id="6" name="Footer Placeholder 5"/>
          <p:cNvSpPr>
            <a:spLocks noGrp="1"/>
          </p:cNvSpPr>
          <p:nvPr>
            <p:ph type="ftr" sz="quarter" idx="11"/>
          </p:nvPr>
        </p:nvSpPr>
        <p:spPr>
          <a:xfrm>
            <a:off x="318246" y="6492875"/>
            <a:ext cx="60825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Process Control</a:t>
            </a:r>
            <a:b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br>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Information</a:t>
            </a:r>
          </a:p>
        </p:txBody>
      </p:sp>
      <p:sp>
        <p:nvSpPr>
          <p:cNvPr id="3" name="Content Placeholder 2"/>
          <p:cNvSpPr>
            <a:spLocks noGrp="1"/>
          </p:cNvSpPr>
          <p:nvPr>
            <p:ph sz="half" idx="1"/>
          </p:nvPr>
        </p:nvSpPr>
        <p:spPr>
          <a:xfrm>
            <a:off x="609600" y="2514600"/>
            <a:ext cx="7848600" cy="2819399"/>
          </a:xfrm>
        </p:spPr>
        <p:txBody>
          <a:bodyPr>
            <a:noAutofit/>
          </a:bodyPr>
          <a:lstStyle/>
          <a:p>
            <a:r>
              <a:rPr lang="en-NZ" sz="2800" dirty="0"/>
              <a:t>The additional information                         needed by the OS to control                             and coordinate the various                             active processes (</a:t>
            </a:r>
            <a:r>
              <a:rPr lang="en-US" sz="2800" dirty="0">
                <a:solidFill>
                  <a:schemeClr val="tx1"/>
                </a:solidFill>
              </a:rPr>
              <a:t>The last part of Table 3.5 indicates the scope of this information)</a:t>
            </a:r>
            <a:endParaRPr lang="en-NZ" sz="2800" dirty="0"/>
          </a:p>
        </p:txBody>
      </p:sp>
      <p:sp>
        <p:nvSpPr>
          <p:cNvPr id="5" name="Footer Placeholder 4"/>
          <p:cNvSpPr>
            <a:spLocks noGrp="1"/>
          </p:cNvSpPr>
          <p:nvPr>
            <p:ph type="ftr" sz="quarter" idx="11"/>
          </p:nvPr>
        </p:nvSpPr>
        <p:spPr>
          <a:xfrm>
            <a:off x="318246" y="6492875"/>
            <a:ext cx="5015753" cy="365125"/>
          </a:xfrm>
        </p:spPr>
        <p:txBody>
          <a:bodyPr/>
          <a:lstStyle/>
          <a:p>
            <a:pPr>
              <a:defRPr/>
            </a:pPr>
            <a:r>
              <a:rPr lang="en-US" dirty="0"/>
              <a:t>© 2017 Pearson Education, Inc., Hoboken, NJ. All rights reserved.</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13.pdf"/>
          <p:cNvPicPr>
            <a:picLocks noChangeAspect="1"/>
          </p:cNvPicPr>
          <p:nvPr/>
        </p:nvPicPr>
        <p:blipFill>
          <a:blip r:embed="rId3"/>
          <a:srcRect l="5455" t="7059" r="6364" b="4706"/>
          <a:stretch>
            <a:fillRect/>
          </a:stretch>
        </p:blipFill>
        <p:spPr>
          <a:xfrm>
            <a:off x="838200" y="685800"/>
            <a:ext cx="7652154" cy="5916640"/>
          </a:xfrm>
          <a:prstGeom prst="rect">
            <a:avLst/>
          </a:prstGeom>
        </p:spPr>
      </p:pic>
      <p:sp>
        <p:nvSpPr>
          <p:cNvPr id="3" name="Footer Placeholder 2"/>
          <p:cNvSpPr>
            <a:spLocks noGrp="1"/>
          </p:cNvSpPr>
          <p:nvPr>
            <p:ph type="ftr" sz="quarter" idx="11"/>
          </p:nvPr>
        </p:nvSpPr>
        <p:spPr>
          <a:xfrm>
            <a:off x="318246" y="6492875"/>
            <a:ext cx="54729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mv="urn:schemas-microsoft-com:mac:vml" xmlns="">
      <p:transition>
        <p:cut/>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14.pdf"/>
          <p:cNvPicPr>
            <a:picLocks noChangeAspect="1"/>
          </p:cNvPicPr>
          <p:nvPr/>
        </p:nvPicPr>
        <p:blipFill>
          <a:blip r:embed="rId3"/>
          <a:stretch>
            <a:fillRect/>
          </a:stretch>
        </p:blipFill>
        <p:spPr>
          <a:xfrm>
            <a:off x="134470" y="0"/>
            <a:ext cx="8875059" cy="6858000"/>
          </a:xfrm>
          <a:prstGeom prst="rect">
            <a:avLst/>
          </a:prstGeom>
        </p:spPr>
      </p:pic>
      <p:sp>
        <p:nvSpPr>
          <p:cNvPr id="3" name="Footer Placeholder 2"/>
          <p:cNvSpPr>
            <a:spLocks noGrp="1"/>
          </p:cNvSpPr>
          <p:nvPr>
            <p:ph type="ftr" sz="quarter" idx="11"/>
          </p:nvPr>
        </p:nvSpPr>
        <p:spPr>
          <a:xfrm>
            <a:off x="318246" y="6492875"/>
            <a:ext cx="5549153" cy="365125"/>
          </a:xfrm>
        </p:spPr>
        <p:txBody>
          <a:bodyPr/>
          <a:lstStyle/>
          <a:p>
            <a:pPr>
              <a:defRPr/>
            </a:pPr>
            <a:r>
              <a:rPr lang="en-US" dirty="0"/>
              <a:t>© 2017 Pearson Education, Inc., Hoboken, NJ. All rights reserved.</a:t>
            </a:r>
          </a:p>
        </p:txBody>
      </p:sp>
      <p:sp>
        <p:nvSpPr>
          <p:cNvPr id="2" name="Rectangle 1"/>
          <p:cNvSpPr/>
          <p:nvPr/>
        </p:nvSpPr>
        <p:spPr>
          <a:xfrm>
            <a:off x="4267200" y="685800"/>
            <a:ext cx="4572000" cy="1815882"/>
          </a:xfrm>
          <a:prstGeom prst="rect">
            <a:avLst/>
          </a:prstGeom>
        </p:spPr>
        <p:txBody>
          <a:bodyPr>
            <a:spAutoFit/>
          </a:bodyPr>
          <a:lstStyle/>
          <a:p>
            <a:r>
              <a:rPr lang="en-US" sz="1600" dirty="0"/>
              <a:t>As indicated in Table 3.5 , the process control block may contain structuring information, including pointers that allow the linking of process control blocks. Thus, the queues that were described in the preceding section could be implemented as linked lists of process control blocks</a:t>
            </a:r>
            <a:endParaRPr lang="tr-TR" sz="16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7824788" cy="1169693"/>
          </a:xfrm>
        </p:spPr>
        <p:txBody>
          <a:bodyPr/>
          <a:lstStyle/>
          <a:p>
            <a:pPr algn="l"/>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Role of the </a:t>
            </a:r>
            <a:b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br>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Process Control Block</a:t>
            </a:r>
          </a:p>
        </p:txBody>
      </p:sp>
      <p:sp>
        <p:nvSpPr>
          <p:cNvPr id="3" name="Content Placeholder 2"/>
          <p:cNvSpPr>
            <a:spLocks noGrp="1"/>
          </p:cNvSpPr>
          <p:nvPr>
            <p:ph sz="half" idx="1"/>
          </p:nvPr>
        </p:nvSpPr>
        <p:spPr>
          <a:xfrm>
            <a:off x="685800" y="2362200"/>
            <a:ext cx="8001000" cy="4114799"/>
          </a:xfrm>
        </p:spPr>
        <p:txBody>
          <a:bodyPr>
            <a:normAutofit/>
          </a:bodyPr>
          <a:lstStyle/>
          <a:p>
            <a:r>
              <a:rPr lang="en-NZ" dirty="0"/>
              <a:t>The most important data structure in an OS</a:t>
            </a:r>
          </a:p>
          <a:p>
            <a:pPr marL="681038" lvl="1" indent="-215900"/>
            <a:r>
              <a:rPr lang="en-NZ" dirty="0"/>
              <a:t>Contains all of the information about a process that is needed by the OS</a:t>
            </a:r>
          </a:p>
          <a:p>
            <a:pPr marL="681038" lvl="1" indent="-215900"/>
            <a:r>
              <a:rPr lang="en-NZ" dirty="0"/>
              <a:t>Blocks are read and/or modified by virtually every module in the OS</a:t>
            </a:r>
          </a:p>
          <a:p>
            <a:pPr marL="681038" lvl="1" indent="-215900"/>
            <a:r>
              <a:rPr lang="en-NZ" dirty="0"/>
              <a:t>Defines the state of the OS</a:t>
            </a:r>
          </a:p>
          <a:p>
            <a:r>
              <a:rPr lang="en-NZ" dirty="0"/>
              <a:t>Difficulty is not access, but protection</a:t>
            </a:r>
          </a:p>
          <a:p>
            <a:pPr marL="681038" lvl="1" indent="-215900"/>
            <a:r>
              <a:rPr lang="en-NZ" dirty="0"/>
              <a:t>A bug in a single routine could damage process control blocks, which could destroy the system’s ability to manage the affected processes</a:t>
            </a:r>
          </a:p>
          <a:p>
            <a:pPr marL="681038" lvl="1" indent="-215900"/>
            <a:r>
              <a:rPr lang="en-NZ" dirty="0"/>
              <a:t>A design change in the structure or semantics of the process control block could affect a number of modules in the OS</a:t>
            </a:r>
          </a:p>
          <a:p>
            <a:pPr lvl="1"/>
            <a:endParaRPr lang="en-NZ" dirty="0"/>
          </a:p>
        </p:txBody>
      </p:sp>
      <p:sp>
        <p:nvSpPr>
          <p:cNvPr id="4" name="Footer Placeholder 3"/>
          <p:cNvSpPr>
            <a:spLocks noGrp="1"/>
          </p:cNvSpPr>
          <p:nvPr>
            <p:ph type="ftr" sz="quarter" idx="11"/>
          </p:nvPr>
        </p:nvSpPr>
        <p:spPr>
          <a:xfrm>
            <a:off x="318246" y="6492875"/>
            <a:ext cx="4329953" cy="365125"/>
          </a:xfrm>
        </p:spPr>
        <p:txBody>
          <a:bodyPr/>
          <a:lstStyle/>
          <a:p>
            <a:pPr>
              <a:defRPr/>
            </a:pPr>
            <a:r>
              <a:rPr lang="en-US" dirty="0"/>
              <a:t>© 2017 Pearson Education, Inc., Hoboken, NJ. All rights reserved.</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658813" y="456253"/>
            <a:ext cx="7824788" cy="1143948"/>
          </a:xfrm>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Modes of Execution</a:t>
            </a:r>
          </a:p>
        </p:txBody>
      </p:sp>
      <p:sp>
        <p:nvSpPr>
          <p:cNvPr id="4" name="Text Placeholder 3"/>
          <p:cNvSpPr>
            <a:spLocks noGrp="1"/>
          </p:cNvSpPr>
          <p:nvPr>
            <p:ph type="body" idx="1"/>
          </p:nvPr>
        </p:nvSpPr>
        <p:spPr/>
        <p:txBody>
          <a:bodyPr/>
          <a:lstStyle/>
          <a:p>
            <a:r>
              <a:rPr lang="en-US" dirty="0"/>
              <a:t>User Mode</a:t>
            </a:r>
          </a:p>
        </p:txBody>
      </p:sp>
      <p:sp>
        <p:nvSpPr>
          <p:cNvPr id="47107" name="Content Placeholder 2"/>
          <p:cNvSpPr>
            <a:spLocks noGrp="1"/>
          </p:cNvSpPr>
          <p:nvPr>
            <p:ph sz="half" idx="2"/>
          </p:nvPr>
        </p:nvSpPr>
        <p:spPr>
          <a:xfrm>
            <a:off x="685800" y="2514600"/>
            <a:ext cx="3657600" cy="3810000"/>
          </a:xfrm>
        </p:spPr>
        <p:txBody>
          <a:bodyPr>
            <a:normAutofit/>
          </a:bodyPr>
          <a:lstStyle/>
          <a:p>
            <a:pPr>
              <a:buNone/>
            </a:pPr>
            <a:endParaRPr lang="en-US" sz="2400" dirty="0"/>
          </a:p>
          <a:p>
            <a:pPr lvl="1"/>
            <a:r>
              <a:rPr lang="en-US" sz="2400" dirty="0"/>
              <a:t>Less-privileged mode</a:t>
            </a:r>
          </a:p>
          <a:p>
            <a:pPr lvl="1"/>
            <a:r>
              <a:rPr lang="en-US" sz="2400" dirty="0"/>
              <a:t>User programs typically execute in this mode</a:t>
            </a:r>
          </a:p>
        </p:txBody>
      </p:sp>
      <p:sp>
        <p:nvSpPr>
          <p:cNvPr id="5" name="Text Placeholder 4"/>
          <p:cNvSpPr>
            <a:spLocks noGrp="1"/>
          </p:cNvSpPr>
          <p:nvPr>
            <p:ph type="body" sz="quarter" idx="3"/>
          </p:nvPr>
        </p:nvSpPr>
        <p:spPr/>
        <p:txBody>
          <a:bodyPr/>
          <a:lstStyle/>
          <a:p>
            <a:r>
              <a:rPr lang="en-US" dirty="0"/>
              <a:t>System Mode</a:t>
            </a:r>
          </a:p>
        </p:txBody>
      </p:sp>
      <p:sp>
        <p:nvSpPr>
          <p:cNvPr id="6" name="Content Placeholder 5"/>
          <p:cNvSpPr>
            <a:spLocks noGrp="1"/>
          </p:cNvSpPr>
          <p:nvPr>
            <p:ph sz="quarter" idx="4"/>
          </p:nvPr>
        </p:nvSpPr>
        <p:spPr>
          <a:xfrm>
            <a:off x="4800600" y="2438400"/>
            <a:ext cx="3657600" cy="3176588"/>
          </a:xfrm>
        </p:spPr>
        <p:txBody>
          <a:bodyPr/>
          <a:lstStyle/>
          <a:p>
            <a:pPr>
              <a:buFont typeface="Wingdings" pitchFamily="2" charset="2"/>
              <a:buNone/>
            </a:pPr>
            <a:endParaRPr lang="en-US" sz="2400" dirty="0"/>
          </a:p>
          <a:p>
            <a:pPr lvl="1"/>
            <a:r>
              <a:rPr lang="en-US" sz="2400" dirty="0"/>
              <a:t>More-privileged mode</a:t>
            </a:r>
          </a:p>
          <a:p>
            <a:pPr lvl="1"/>
            <a:r>
              <a:rPr lang="en-US" sz="2400" dirty="0"/>
              <a:t>Also referred to as control mode or kernel mode</a:t>
            </a:r>
          </a:p>
          <a:p>
            <a:pPr lvl="1"/>
            <a:r>
              <a:rPr lang="en-US" sz="2400" dirty="0"/>
              <a:t>Kernel of the operating system</a:t>
            </a:r>
          </a:p>
          <a:p>
            <a:endParaRPr lang="en-US" dirty="0"/>
          </a:p>
        </p:txBody>
      </p:sp>
      <p:sp>
        <p:nvSpPr>
          <p:cNvPr id="10" name="Footer Placeholder 9"/>
          <p:cNvSpPr>
            <a:spLocks noGrp="1"/>
          </p:cNvSpPr>
          <p:nvPr>
            <p:ph type="ftr" sz="quarter" idx="11"/>
          </p:nvPr>
        </p:nvSpPr>
        <p:spPr>
          <a:xfrm>
            <a:off x="318246" y="6492875"/>
            <a:ext cx="6463553" cy="365125"/>
          </a:xfrm>
        </p:spPr>
        <p:txBody>
          <a:bodyPr/>
          <a:lstStyle/>
          <a:p>
            <a:pPr>
              <a:defRPr/>
            </a:pPr>
            <a:r>
              <a:rPr lang="en-US" dirty="0"/>
              <a:t>© 2017 Pearson Education, Inc., Hoboken, NJ. All rights reserved.</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1920568" y="685800"/>
            <a:ext cx="6613831" cy="304800"/>
          </a:xfrm>
          <a:prstGeom prst="rect">
            <a:avLst/>
          </a:prstGeom>
          <a:blipFill rotWithShape="1">
            <a:blip r:embed="rId3"/>
            <a:tile tx="0" ty="0" sx="100000" sy="100000" flip="none" algn="tl"/>
          </a:blipFill>
        </p:spPr>
        <p:txBody>
          <a:bodyPr wrap="square" rtlCol="0">
            <a:spAutoFit/>
          </a:bodyPr>
          <a:lstStyle/>
          <a:p>
            <a:endParaRPr lang="en-US" dirty="0"/>
          </a:p>
        </p:txBody>
      </p:sp>
      <p:sp>
        <p:nvSpPr>
          <p:cNvPr id="12" name="TextBox 11"/>
          <p:cNvSpPr txBox="1"/>
          <p:nvPr/>
        </p:nvSpPr>
        <p:spPr>
          <a:xfrm>
            <a:off x="152400" y="1524000"/>
            <a:ext cx="1532491" cy="3116238"/>
          </a:xfrm>
          <a:prstGeom prst="rect">
            <a:avLst/>
          </a:prstGeom>
          <a:noFill/>
        </p:spPr>
        <p:txBody>
          <a:bodyPr wrap="square" rtlCol="0">
            <a:spAutoFit/>
          </a:bodyPr>
          <a:lstStyle/>
          <a:p>
            <a:pPr algn="ctr"/>
            <a:r>
              <a:rPr lang="en-US" b="1" kern="600" dirty="0">
                <a:solidFill>
                  <a:schemeClr val="accent1">
                    <a:lumMod val="75000"/>
                  </a:schemeClr>
                </a:solidFill>
                <a:latin typeface="+mn-lt"/>
              </a:rPr>
              <a:t>Table 3.7</a:t>
            </a:r>
          </a:p>
          <a:p>
            <a:pPr algn="ctr"/>
            <a:r>
              <a:rPr lang="en-US" b="1" kern="600" dirty="0">
                <a:solidFill>
                  <a:schemeClr val="accent1">
                    <a:lumMod val="75000"/>
                  </a:schemeClr>
                </a:solidFill>
                <a:latin typeface="+mn-lt"/>
              </a:rPr>
              <a:t>   </a:t>
            </a:r>
          </a:p>
          <a:p>
            <a:pPr algn="ctr">
              <a:lnSpc>
                <a:spcPct val="150000"/>
              </a:lnSpc>
              <a:spcAft>
                <a:spcPts val="0"/>
              </a:spcAft>
            </a:pPr>
            <a:r>
              <a:rPr lang="en-US" b="1" kern="600" dirty="0">
                <a:solidFill>
                  <a:schemeClr val="accent1">
                    <a:lumMod val="75000"/>
                  </a:schemeClr>
                </a:solidFill>
                <a:latin typeface="+mn-lt"/>
              </a:rPr>
              <a:t>Typical </a:t>
            </a:r>
          </a:p>
          <a:p>
            <a:pPr algn="ctr">
              <a:lnSpc>
                <a:spcPct val="150000"/>
              </a:lnSpc>
              <a:spcAft>
                <a:spcPts val="0"/>
              </a:spcAft>
            </a:pPr>
            <a:r>
              <a:rPr lang="en-US" b="1" kern="600" dirty="0">
                <a:solidFill>
                  <a:schemeClr val="accent1">
                    <a:lumMod val="75000"/>
                  </a:schemeClr>
                </a:solidFill>
                <a:latin typeface="+mn-lt"/>
              </a:rPr>
              <a:t>Functions</a:t>
            </a:r>
          </a:p>
          <a:p>
            <a:pPr algn="ctr">
              <a:lnSpc>
                <a:spcPct val="150000"/>
              </a:lnSpc>
              <a:spcAft>
                <a:spcPts val="0"/>
              </a:spcAft>
            </a:pPr>
            <a:r>
              <a:rPr lang="en-US" b="1" kern="600" dirty="0">
                <a:solidFill>
                  <a:schemeClr val="accent1">
                    <a:lumMod val="75000"/>
                  </a:schemeClr>
                </a:solidFill>
                <a:latin typeface="+mn-lt"/>
              </a:rPr>
              <a:t> of an </a:t>
            </a:r>
          </a:p>
          <a:p>
            <a:pPr algn="ctr">
              <a:lnSpc>
                <a:spcPct val="150000"/>
              </a:lnSpc>
              <a:spcAft>
                <a:spcPts val="0"/>
              </a:spcAft>
            </a:pPr>
            <a:r>
              <a:rPr lang="en-US" b="1" kern="600" dirty="0">
                <a:solidFill>
                  <a:schemeClr val="accent1">
                    <a:lumMod val="75000"/>
                  </a:schemeClr>
                </a:solidFill>
                <a:latin typeface="+mn-lt"/>
              </a:rPr>
              <a:t>Operating</a:t>
            </a:r>
          </a:p>
          <a:p>
            <a:pPr algn="ctr">
              <a:lnSpc>
                <a:spcPct val="150000"/>
              </a:lnSpc>
              <a:spcAft>
                <a:spcPts val="0"/>
              </a:spcAft>
            </a:pPr>
            <a:r>
              <a:rPr lang="en-US" b="1" kern="600" dirty="0">
                <a:solidFill>
                  <a:schemeClr val="accent1">
                    <a:lumMod val="75000"/>
                  </a:schemeClr>
                </a:solidFill>
                <a:latin typeface="+mn-lt"/>
              </a:rPr>
              <a:t> System</a:t>
            </a:r>
          </a:p>
          <a:p>
            <a:pPr algn="ctr">
              <a:lnSpc>
                <a:spcPct val="150000"/>
              </a:lnSpc>
              <a:spcAft>
                <a:spcPts val="0"/>
              </a:spcAft>
            </a:pPr>
            <a:r>
              <a:rPr lang="en-US" b="1" kern="600" dirty="0">
                <a:solidFill>
                  <a:schemeClr val="accent1">
                    <a:lumMod val="75000"/>
                  </a:schemeClr>
                </a:solidFill>
                <a:latin typeface="+mn-lt"/>
              </a:rPr>
              <a:t> Kernel</a:t>
            </a:r>
            <a:r>
              <a:rPr lang="en-US" kern="600" dirty="0">
                <a:solidFill>
                  <a:schemeClr val="accent1">
                    <a:lumMod val="75000"/>
                  </a:schemeClr>
                </a:solidFill>
                <a:latin typeface="+mn-lt"/>
              </a:rPr>
              <a:t> </a:t>
            </a:r>
          </a:p>
        </p:txBody>
      </p:sp>
      <p:sp>
        <p:nvSpPr>
          <p:cNvPr id="5" name="TextBox 4"/>
          <p:cNvSpPr txBox="1"/>
          <p:nvPr/>
        </p:nvSpPr>
        <p:spPr>
          <a:xfrm>
            <a:off x="3914210" y="1259686"/>
            <a:ext cx="184666" cy="369332"/>
          </a:xfrm>
          <a:prstGeom prst="rect">
            <a:avLst/>
          </a:prstGeom>
          <a:noFill/>
        </p:spPr>
        <p:txBody>
          <a:bodyPr wrap="none" rtlCol="0">
            <a:spAutoFit/>
          </a:bodyPr>
          <a:lstStyle/>
          <a:p>
            <a:endParaRPr lang="en-US" dirty="0"/>
          </a:p>
        </p:txBody>
      </p:sp>
      <p:pic>
        <p:nvPicPr>
          <p:cNvPr id="6" name="Picture 5"/>
          <p:cNvPicPr>
            <a:picLocks noChangeAspect="1"/>
          </p:cNvPicPr>
          <p:nvPr/>
        </p:nvPicPr>
        <p:blipFill>
          <a:blip r:embed="rId4"/>
          <a:stretch>
            <a:fillRect/>
          </a:stretch>
        </p:blipFill>
        <p:spPr>
          <a:xfrm>
            <a:off x="1600200" y="685800"/>
            <a:ext cx="7089631" cy="5638800"/>
          </a:xfrm>
          <a:prstGeom prst="rect">
            <a:avLst/>
          </a:prstGeom>
        </p:spPr>
      </p:pic>
      <p:sp>
        <p:nvSpPr>
          <p:cNvPr id="7" name="Footer Placeholder 6"/>
          <p:cNvSpPr>
            <a:spLocks noGrp="1"/>
          </p:cNvSpPr>
          <p:nvPr>
            <p:ph type="ftr" sz="quarter" idx="11"/>
          </p:nvPr>
        </p:nvSpPr>
        <p:spPr>
          <a:xfrm>
            <a:off x="318246" y="6492875"/>
            <a:ext cx="53205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mv="urn:schemas-microsoft-com:mac:vml"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a:xfrm>
            <a:off x="658813" y="456253"/>
            <a:ext cx="7824788" cy="1220148"/>
          </a:xfrm>
        </p:spPr>
        <p:txBody>
          <a:bodyPr/>
          <a:lstStyle/>
          <a:p>
            <a:pPr algn="l"/>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Process Creation</a:t>
            </a:r>
          </a:p>
        </p:txBody>
      </p:sp>
      <p:sp>
        <p:nvSpPr>
          <p:cNvPr id="48131" name="Content Placeholder 2"/>
          <p:cNvSpPr>
            <a:spLocks noGrp="1"/>
          </p:cNvSpPr>
          <p:nvPr>
            <p:ph sz="half" idx="1"/>
          </p:nvPr>
        </p:nvSpPr>
        <p:spPr>
          <a:xfrm>
            <a:off x="533400" y="1905000"/>
            <a:ext cx="7848600" cy="3962399"/>
          </a:xfrm>
        </p:spPr>
        <p:txBody>
          <a:bodyPr>
            <a:normAutofit/>
          </a:bodyPr>
          <a:lstStyle/>
          <a:p>
            <a:r>
              <a:rPr lang="en-NZ" sz="2800" dirty="0"/>
              <a:t>Once the OS decides to create a new process it:</a:t>
            </a:r>
          </a:p>
        </p:txBody>
      </p:sp>
      <p:graphicFrame>
        <p:nvGraphicFramePr>
          <p:cNvPr id="4" name="Diagram 3"/>
          <p:cNvGraphicFramePr/>
          <p:nvPr>
            <p:extLst>
              <p:ext uri="{D42A27DB-BD31-4B8C-83A1-F6EECF244321}">
                <p14:modId xmlns:p14="http://schemas.microsoft.com/office/powerpoint/2010/main" val="3616720577"/>
              </p:ext>
            </p:extLst>
          </p:nvPr>
        </p:nvGraphicFramePr>
        <p:xfrm>
          <a:off x="1600200" y="2438400"/>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318246" y="6492875"/>
            <a:ext cx="6006353" cy="365125"/>
          </a:xfrm>
        </p:spPr>
        <p:txBody>
          <a:bodyPr/>
          <a:lstStyle/>
          <a:p>
            <a:pPr>
              <a:defRPr/>
            </a:pPr>
            <a:r>
              <a:rPr lang="en-US" dirty="0"/>
              <a:t>© 2017 Pearson Education, Inc., Hoboken, NJ. All rights reserved.</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981200"/>
            <a:ext cx="8382000" cy="609600"/>
          </a:xfrm>
        </p:spPr>
        <p:txBody>
          <a:bodyPr/>
          <a:lstStyle/>
          <a:p>
            <a:r>
              <a:rPr lang="en-US" b="1" dirty="0">
                <a:effectLst>
                  <a:outerShdw blurRad="38100" dist="38100" dir="2700000" algn="tl">
                    <a:srgbClr val="000000">
                      <a:alpha val="43137"/>
                    </a:srgbClr>
                  </a:outerShdw>
                </a:effectLst>
              </a:rPr>
              <a:t>Table 3.8  </a:t>
            </a:r>
            <a:br>
              <a:rPr lang="en-US" b="1" dirty="0">
                <a:effectLst>
                  <a:outerShdw blurRad="38100" dist="38100" dir="2700000" algn="tl">
                    <a:srgbClr val="000000">
                      <a:alpha val="43137"/>
                    </a:srgbClr>
                  </a:outerShdw>
                </a:effectLst>
              </a:rPr>
            </a:br>
            <a:r>
              <a:rPr lang="en-US" sz="2400" b="1" dirty="0">
                <a:effectLst>
                  <a:outerShdw blurRad="38100" dist="38100" dir="2700000" algn="tl">
                    <a:srgbClr val="000000">
                      <a:alpha val="43137"/>
                    </a:srgbClr>
                  </a:outerShdw>
                </a:effectLst>
              </a:rPr>
              <a:t>Mechanisms for Interrupting the Execution of a Process </a:t>
            </a:r>
            <a:r>
              <a:rPr lang="en-US" sz="2400" dirty="0">
                <a:solidFill>
                  <a:schemeClr val="tx1"/>
                </a:solidFill>
              </a:rPr>
              <a:t> (the possible events that may give control to the OS.</a:t>
            </a:r>
            <a:r>
              <a:rPr lang="en-NZ" sz="2400" dirty="0"/>
              <a:t>)</a:t>
            </a:r>
            <a:r>
              <a:rPr lang="en-US" sz="2400" b="1" dirty="0">
                <a:effectLst>
                  <a:outerShdw blurRad="38100" dist="38100" dir="2700000" algn="tl">
                    <a:srgbClr val="000000">
                      <a:alpha val="43137"/>
                    </a:srgbClr>
                  </a:outerShdw>
                </a:effectLst>
              </a:rPr>
              <a:t> </a:t>
            </a:r>
            <a:endParaRPr lang="en-NZ" sz="2400" b="1" dirty="0">
              <a:solidFill>
                <a:schemeClr val="accent1">
                  <a:lumMod val="75000"/>
                </a:schemeClr>
              </a:solidFill>
              <a:effectLst>
                <a:outerShdw blurRad="38100" dist="38100" dir="2700000" algn="tl">
                  <a:srgbClr val="000000">
                    <a:alpha val="43137"/>
                  </a:srgbClr>
                </a:outerShdw>
              </a:effectLst>
            </a:endParaRPr>
          </a:p>
        </p:txBody>
      </p:sp>
      <p:pic>
        <p:nvPicPr>
          <p:cNvPr id="5" name="Picture 4"/>
          <p:cNvPicPr>
            <a:picLocks noChangeAspect="1"/>
          </p:cNvPicPr>
          <p:nvPr/>
        </p:nvPicPr>
        <p:blipFill>
          <a:blip r:embed="rId3"/>
          <a:stretch>
            <a:fillRect/>
          </a:stretch>
        </p:blipFill>
        <p:spPr>
          <a:xfrm>
            <a:off x="304800" y="2819400"/>
            <a:ext cx="8635294" cy="3902141"/>
          </a:xfrm>
          <a:prstGeom prst="rect">
            <a:avLst/>
          </a:prstGeom>
        </p:spPr>
      </p:pic>
      <p:sp>
        <p:nvSpPr>
          <p:cNvPr id="4" name="Footer Placeholder 3"/>
          <p:cNvSpPr>
            <a:spLocks noGrp="1"/>
          </p:cNvSpPr>
          <p:nvPr>
            <p:ph type="ftr" sz="quarter" idx="11"/>
          </p:nvPr>
        </p:nvSpPr>
        <p:spPr>
          <a:xfrm>
            <a:off x="318246" y="6492875"/>
            <a:ext cx="4710953" cy="365125"/>
          </a:xfrm>
        </p:spPr>
        <p:txBody>
          <a:bodyPr/>
          <a:lstStyle/>
          <a:p>
            <a:pPr>
              <a:defRPr/>
            </a:pPr>
            <a:r>
              <a:rPr lang="en-US" dirty="0"/>
              <a:t>© 2017 Pearson Education, Inc., Hoboken, NJ. All rights reserved.</a:t>
            </a:r>
          </a:p>
        </p:txBody>
      </p:sp>
      <p:cxnSp>
        <p:nvCxnSpPr>
          <p:cNvPr id="7" name="Straight Connector 6"/>
          <p:cNvCxnSpPr/>
          <p:nvPr/>
        </p:nvCxnSpPr>
        <p:spPr>
          <a:xfrm rot="5400000">
            <a:off x="3695700" y="4762500"/>
            <a:ext cx="32766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rot="5400000">
            <a:off x="419894" y="4761706"/>
            <a:ext cx="32766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a:off x="304800" y="4648200"/>
            <a:ext cx="84582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a:off x="304800" y="5334000"/>
            <a:ext cx="8458200" cy="1588"/>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mv="urn:schemas-microsoft-com:mac:vml"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658812" y="456252"/>
            <a:ext cx="8027987" cy="1143947"/>
          </a:xfrm>
        </p:spPr>
        <p:txBody>
          <a:bodyPr/>
          <a:lstStyle/>
          <a:p>
            <a:pPr algn="ctr"/>
            <a:r>
              <a:rPr lang="en-US" b="1" dirty="0">
                <a:ln w="1905"/>
                <a:solidFill>
                  <a:schemeClr val="accent1">
                    <a:lumMod val="75000"/>
                  </a:schemeClr>
                </a:solidFill>
                <a:effectLst>
                  <a:innerShdw blurRad="69850" dist="43180" dir="5400000">
                    <a:srgbClr val="000000">
                      <a:alpha val="65000"/>
                    </a:srgbClr>
                  </a:innerShdw>
                </a:effectLst>
              </a:rPr>
              <a:t>System Interrupts</a:t>
            </a:r>
          </a:p>
        </p:txBody>
      </p:sp>
      <p:sp>
        <p:nvSpPr>
          <p:cNvPr id="11" name="Text Placeholder 10"/>
          <p:cNvSpPr>
            <a:spLocks noGrp="1"/>
          </p:cNvSpPr>
          <p:nvPr>
            <p:ph type="body" idx="1"/>
          </p:nvPr>
        </p:nvSpPr>
        <p:spPr/>
        <p:txBody>
          <a:bodyPr/>
          <a:lstStyle/>
          <a:p>
            <a:r>
              <a:rPr lang="en-US" sz="3000" dirty="0"/>
              <a:t>Interrupt</a:t>
            </a:r>
          </a:p>
        </p:txBody>
      </p:sp>
      <p:sp>
        <p:nvSpPr>
          <p:cNvPr id="9" name="Content Placeholder 8"/>
          <p:cNvSpPr>
            <a:spLocks noGrp="1"/>
          </p:cNvSpPr>
          <p:nvPr>
            <p:ph sz="half" idx="2"/>
          </p:nvPr>
        </p:nvSpPr>
        <p:spPr>
          <a:xfrm>
            <a:off x="304800" y="2743200"/>
            <a:ext cx="3657600" cy="3810000"/>
          </a:xfrm>
        </p:spPr>
        <p:txBody>
          <a:bodyPr>
            <a:normAutofit fontScale="92500" lnSpcReduction="10000"/>
          </a:bodyPr>
          <a:lstStyle/>
          <a:p>
            <a:pPr marL="465138" lvl="2" indent="-295275"/>
            <a:r>
              <a:rPr lang="en-US" sz="2000" dirty="0"/>
              <a:t>Due to some sort of event that is external to and independent of the currently running process</a:t>
            </a:r>
          </a:p>
          <a:p>
            <a:pPr marL="914400" lvl="3" indent="-279400"/>
            <a:r>
              <a:rPr lang="en-US" sz="2000" dirty="0"/>
              <a:t>Clock interrupt</a:t>
            </a:r>
          </a:p>
          <a:p>
            <a:pPr marL="914400" lvl="3" indent="-279400"/>
            <a:r>
              <a:rPr lang="en-US" sz="2000" dirty="0"/>
              <a:t>I/O interrupt</a:t>
            </a:r>
          </a:p>
          <a:p>
            <a:pPr marL="914400" lvl="3" indent="-279400"/>
            <a:r>
              <a:rPr lang="en-US" sz="2000" dirty="0"/>
              <a:t>Memory fault</a:t>
            </a:r>
          </a:p>
          <a:p>
            <a:pPr marL="465138" lvl="2" indent="-295275"/>
            <a:r>
              <a:rPr lang="en-US" sz="2000" dirty="0"/>
              <a:t>Time slice</a:t>
            </a:r>
          </a:p>
          <a:p>
            <a:pPr marL="747713" lvl="3" indent="-295275"/>
            <a:r>
              <a:rPr lang="en-US" sz="2000" dirty="0"/>
              <a:t>The maximum amount of time that a process can execute before being interrupted</a:t>
            </a:r>
          </a:p>
        </p:txBody>
      </p:sp>
      <p:sp>
        <p:nvSpPr>
          <p:cNvPr id="12" name="Text Placeholder 11"/>
          <p:cNvSpPr>
            <a:spLocks noGrp="1"/>
          </p:cNvSpPr>
          <p:nvPr>
            <p:ph type="body" sz="quarter" idx="3"/>
          </p:nvPr>
        </p:nvSpPr>
        <p:spPr/>
        <p:txBody>
          <a:bodyPr/>
          <a:lstStyle/>
          <a:p>
            <a:r>
              <a:rPr lang="en-US" sz="3000" dirty="0"/>
              <a:t>Trap</a:t>
            </a:r>
          </a:p>
        </p:txBody>
      </p:sp>
      <p:sp>
        <p:nvSpPr>
          <p:cNvPr id="13" name="Content Placeholder 12"/>
          <p:cNvSpPr>
            <a:spLocks noGrp="1"/>
          </p:cNvSpPr>
          <p:nvPr>
            <p:ph sz="quarter" idx="4"/>
          </p:nvPr>
        </p:nvSpPr>
        <p:spPr>
          <a:xfrm>
            <a:off x="4724400" y="2743200"/>
            <a:ext cx="3886200" cy="3810000"/>
          </a:xfrm>
        </p:spPr>
        <p:txBody>
          <a:bodyPr>
            <a:normAutofit fontScale="92500"/>
          </a:bodyPr>
          <a:lstStyle/>
          <a:p>
            <a:pPr marL="465138" lvl="2" indent="-295275"/>
            <a:r>
              <a:rPr lang="en-US" sz="2000" dirty="0"/>
              <a:t>An error or exception condition (</a:t>
            </a:r>
            <a:r>
              <a:rPr lang="en-US" sz="2000" dirty="0">
                <a:solidFill>
                  <a:schemeClr val="tx1"/>
                </a:solidFill>
              </a:rPr>
              <a:t>such as an illegal file access attempt</a:t>
            </a:r>
            <a:r>
              <a:rPr lang="en-US" sz="2000" dirty="0"/>
              <a:t>) generated within the currently running process</a:t>
            </a:r>
          </a:p>
          <a:p>
            <a:pPr marL="465138" lvl="2" indent="-295275"/>
            <a:r>
              <a:rPr lang="en-US" sz="2000" dirty="0"/>
              <a:t>OS determines if the condition is fatal</a:t>
            </a:r>
          </a:p>
          <a:p>
            <a:pPr marL="852488" lvl="3" indent="-279400"/>
            <a:r>
              <a:rPr lang="en-US" sz="2000" dirty="0"/>
              <a:t>Moved to the Exit state and a process switch occurs</a:t>
            </a:r>
          </a:p>
          <a:p>
            <a:pPr marL="852488" lvl="3" indent="-279400"/>
            <a:r>
              <a:rPr lang="en-US" sz="2000" dirty="0"/>
              <a:t>Action will depend on the nature of the error the design of the OS</a:t>
            </a:r>
          </a:p>
        </p:txBody>
      </p:sp>
      <p:sp>
        <p:nvSpPr>
          <p:cNvPr id="7" name="Footer Placeholder 6"/>
          <p:cNvSpPr>
            <a:spLocks noGrp="1"/>
          </p:cNvSpPr>
          <p:nvPr>
            <p:ph type="ftr" sz="quarter" idx="11"/>
          </p:nvPr>
        </p:nvSpPr>
        <p:spPr>
          <a:xfrm>
            <a:off x="318246" y="6492875"/>
            <a:ext cx="4863353" cy="365125"/>
          </a:xfrm>
        </p:spPr>
        <p:txBody>
          <a:bodyPr/>
          <a:lstStyle/>
          <a:p>
            <a:pPr>
              <a:defRPr/>
            </a:pPr>
            <a:r>
              <a:rPr lang="en-US" dirty="0"/>
              <a:t>© 2017 Pearson Education, Inc., Hoboken, NJ. All rights reserved.</a:t>
            </a: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658813" y="456252"/>
            <a:ext cx="7824788" cy="1220147"/>
          </a:xfrm>
        </p:spPr>
        <p:txBody>
          <a:bodyPr/>
          <a:lstStyle/>
          <a:p>
            <a:pPr algn="l"/>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Mode Switching</a:t>
            </a:r>
          </a:p>
        </p:txBody>
      </p:sp>
      <p:graphicFrame>
        <p:nvGraphicFramePr>
          <p:cNvPr id="4" name="Content Placeholder 3"/>
          <p:cNvGraphicFramePr>
            <a:graphicFrameLocks noGrp="1"/>
          </p:cNvGraphicFramePr>
          <p:nvPr>
            <p:ph sz="half" idx="1"/>
            <p:extLst>
              <p:ext uri="{D42A27DB-BD31-4B8C-83A1-F6EECF244321}">
                <p14:modId xmlns:p14="http://schemas.microsoft.com/office/powerpoint/2010/main" val="4075055468"/>
              </p:ext>
            </p:extLst>
          </p:nvPr>
        </p:nvGraphicFramePr>
        <p:xfrm>
          <a:off x="654050" y="2286000"/>
          <a:ext cx="7848600" cy="39623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318246" y="6492875"/>
            <a:ext cx="5549153" cy="365125"/>
          </a:xfrm>
        </p:spPr>
        <p:txBody>
          <a:bodyPr/>
          <a:lstStyle/>
          <a:p>
            <a:pPr>
              <a:defRPr/>
            </a:pPr>
            <a:r>
              <a:rPr lang="en-US" dirty="0"/>
              <a:t>© 2017 Pearson Education, Inc., Hoboken, NJ. All rights reserved.</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457200"/>
            <a:ext cx="7824788" cy="1323041"/>
          </a:xfrm>
        </p:spPr>
        <p:txBody>
          <a:bodyPr/>
          <a:lstStyle/>
          <a:p>
            <a:r>
              <a:rPr lang="en-US" sz="4000" dirty="0">
                <a:solidFill>
                  <a:schemeClr val="tx1">
                    <a:lumMod val="85000"/>
                    <a:lumOff val="15000"/>
                  </a:schemeClr>
                </a:solidFill>
              </a:rPr>
              <a:t>Mode switch vs Process Switch</a:t>
            </a:r>
            <a:endParaRPr lang="tr-TR" sz="4000" dirty="0">
              <a:solidFill>
                <a:schemeClr val="tx1">
                  <a:lumMod val="85000"/>
                  <a:lumOff val="15000"/>
                </a:schemeClr>
              </a:solidFill>
            </a:endParaRPr>
          </a:p>
        </p:txBody>
      </p:sp>
      <p:sp>
        <p:nvSpPr>
          <p:cNvPr id="3" name="Content Placeholder 2"/>
          <p:cNvSpPr>
            <a:spLocks noGrp="1"/>
          </p:cNvSpPr>
          <p:nvPr>
            <p:ph sz="half" idx="1"/>
          </p:nvPr>
        </p:nvSpPr>
        <p:spPr>
          <a:xfrm>
            <a:off x="654050" y="2286000"/>
            <a:ext cx="7848600" cy="4038599"/>
          </a:xfrm>
        </p:spPr>
        <p:txBody>
          <a:bodyPr>
            <a:normAutofit/>
          </a:bodyPr>
          <a:lstStyle/>
          <a:p>
            <a:r>
              <a:rPr lang="en-US" sz="2400" dirty="0"/>
              <a:t>It is clear, then, that the mode switch is a concept distinct from that of the process switch.</a:t>
            </a:r>
          </a:p>
          <a:p>
            <a:r>
              <a:rPr lang="en-US" sz="2400" dirty="0"/>
              <a:t>A mode switch may occur without changing the state of the process that is currently in the Running state. In that case, the context saving and subsequent restoral involve little overhead. </a:t>
            </a:r>
          </a:p>
          <a:p>
            <a:r>
              <a:rPr lang="en-US" sz="2400" dirty="0"/>
              <a:t>However, if the currently running process is to be moved to another state (Ready, Blocked, etc.), then the OS must make substantial changes in its environment.</a:t>
            </a:r>
          </a:p>
          <a:p>
            <a:pPr marL="0" indent="0">
              <a:buNone/>
            </a:pPr>
            <a:endParaRPr lang="tr-TR" dirty="0"/>
          </a:p>
        </p:txBody>
      </p:sp>
      <p:sp>
        <p:nvSpPr>
          <p:cNvPr id="4" name="Footer Placeholder 3"/>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246891014"/>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a:xfrm>
            <a:off x="658813" y="456253"/>
            <a:ext cx="7824788" cy="1143948"/>
          </a:xfrm>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Change of Process State</a:t>
            </a:r>
          </a:p>
        </p:txBody>
      </p:sp>
      <p:sp>
        <p:nvSpPr>
          <p:cNvPr id="51203" name="Content Placeholder 2"/>
          <p:cNvSpPr>
            <a:spLocks noGrp="1"/>
          </p:cNvSpPr>
          <p:nvPr>
            <p:ph idx="4294967295"/>
          </p:nvPr>
        </p:nvSpPr>
        <p:spPr>
          <a:xfrm>
            <a:off x="381000" y="2057400"/>
            <a:ext cx="1905000" cy="1066800"/>
          </a:xfrm>
        </p:spPr>
        <p:txBody>
          <a:bodyPr>
            <a:normAutofit/>
          </a:bodyPr>
          <a:lstStyle/>
          <a:p>
            <a:pPr>
              <a:lnSpc>
                <a:spcPct val="90000"/>
              </a:lnSpc>
              <a:spcBef>
                <a:spcPts val="1200"/>
              </a:spcBef>
            </a:pPr>
            <a:r>
              <a:rPr lang="en-US" dirty="0"/>
              <a:t>The steps in a full process switch are:</a:t>
            </a:r>
          </a:p>
          <a:p>
            <a:pPr>
              <a:lnSpc>
                <a:spcPct val="90000"/>
              </a:lnSpc>
              <a:spcBef>
                <a:spcPts val="0"/>
              </a:spcBef>
              <a:buNone/>
            </a:pPr>
            <a:endParaRPr lang="en-US" dirty="0"/>
          </a:p>
        </p:txBody>
      </p:sp>
      <p:graphicFrame>
        <p:nvGraphicFramePr>
          <p:cNvPr id="4" name="Diagram 3"/>
          <p:cNvGraphicFramePr/>
          <p:nvPr>
            <p:extLst>
              <p:ext uri="{D42A27DB-BD31-4B8C-83A1-F6EECF244321}">
                <p14:modId xmlns:p14="http://schemas.microsoft.com/office/powerpoint/2010/main" val="354633047"/>
              </p:ext>
            </p:extLst>
          </p:nvPr>
        </p:nvGraphicFramePr>
        <p:xfrm>
          <a:off x="1295400" y="2057400"/>
          <a:ext cx="8382000" cy="4419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p:cNvSpPr txBox="1"/>
          <p:nvPr/>
        </p:nvSpPr>
        <p:spPr>
          <a:xfrm>
            <a:off x="1295400" y="3657600"/>
            <a:ext cx="5638800" cy="844847"/>
          </a:xfrm>
          <a:prstGeom prst="rect">
            <a:avLst/>
          </a:prstGeom>
          <a:noFill/>
        </p:spPr>
        <p:txBody>
          <a:bodyPr wrap="square" rtlCol="0">
            <a:spAutoFit/>
          </a:bodyPr>
          <a:lstStyle/>
          <a:p>
            <a:pPr>
              <a:lnSpc>
                <a:spcPct val="90000"/>
              </a:lnSpc>
              <a:spcBef>
                <a:spcPts val="1200"/>
              </a:spcBef>
            </a:pPr>
            <a:r>
              <a:rPr lang="en-NZ" dirty="0">
                <a:latin typeface="+mn-lt"/>
              </a:rPr>
              <a:t>If the currently running process is to be moved to another state (Ready, Blocked, etc.), then the OS must make substantial changes in its environment</a:t>
            </a:r>
            <a:endParaRPr lang="en-US" dirty="0">
              <a:latin typeface="+mn-lt"/>
            </a:endParaRPr>
          </a:p>
        </p:txBody>
      </p:sp>
      <p:sp>
        <p:nvSpPr>
          <p:cNvPr id="6" name="Footer Placeholder 5"/>
          <p:cNvSpPr>
            <a:spLocks noGrp="1"/>
          </p:cNvSpPr>
          <p:nvPr>
            <p:ph type="ftr" sz="quarter" idx="11"/>
          </p:nvPr>
        </p:nvSpPr>
        <p:spPr>
          <a:xfrm>
            <a:off x="318246" y="6492875"/>
            <a:ext cx="5853953" cy="365125"/>
          </a:xfrm>
        </p:spPr>
        <p:txBody>
          <a:bodyPr/>
          <a:lstStyle/>
          <a:p>
            <a:pPr>
              <a:defRPr/>
            </a:pPr>
            <a:r>
              <a:rPr lang="en-US" dirty="0"/>
              <a:t>© 2017 Pearson Education, Inc., Hoboken, NJ. All rights reserved.</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idx="4294967295"/>
          </p:nvPr>
        </p:nvSpPr>
        <p:spPr>
          <a:xfrm>
            <a:off x="381000" y="3557158"/>
            <a:ext cx="3810000" cy="2592387"/>
          </a:xfrm>
        </p:spPr>
        <p:txBody>
          <a:bodyPr/>
          <a:lstStyle/>
          <a:p>
            <a:pPr algn="ctr"/>
            <a:r>
              <a:rPr lang="en-US" sz="4200" dirty="0">
                <a:solidFill>
                  <a:schemeClr val="accent1">
                    <a:lumMod val="75000"/>
                  </a:schemeClr>
                </a:solidFill>
              </a:rPr>
              <a:t>Execution </a:t>
            </a:r>
            <a:br>
              <a:rPr lang="en-US" sz="4200" dirty="0">
                <a:solidFill>
                  <a:schemeClr val="accent1">
                    <a:lumMod val="75000"/>
                  </a:schemeClr>
                </a:solidFill>
              </a:rPr>
            </a:br>
            <a:r>
              <a:rPr lang="en-US" sz="4200" dirty="0">
                <a:solidFill>
                  <a:schemeClr val="accent1">
                    <a:lumMod val="75000"/>
                  </a:schemeClr>
                </a:solidFill>
              </a:rPr>
              <a:t>of the </a:t>
            </a:r>
            <a:br>
              <a:rPr lang="en-US" sz="4200" dirty="0">
                <a:solidFill>
                  <a:schemeClr val="accent1">
                    <a:lumMod val="75000"/>
                  </a:schemeClr>
                </a:solidFill>
              </a:rPr>
            </a:br>
            <a:r>
              <a:rPr lang="en-US" sz="4200" dirty="0">
                <a:solidFill>
                  <a:schemeClr val="accent1">
                    <a:lumMod val="75000"/>
                  </a:schemeClr>
                </a:solidFill>
              </a:rPr>
              <a:t>Operating System</a:t>
            </a:r>
            <a:br>
              <a:rPr lang="en-US" sz="4200" dirty="0">
                <a:solidFill>
                  <a:schemeClr val="accent1">
                    <a:lumMod val="75000"/>
                  </a:schemeClr>
                </a:solidFill>
              </a:rPr>
            </a:br>
            <a:r>
              <a:rPr lang="en-US" sz="4200" dirty="0">
                <a:solidFill>
                  <a:schemeClr val="accent1">
                    <a:lumMod val="75000"/>
                  </a:schemeClr>
                </a:solidFill>
              </a:rPr>
              <a:t>with  Design Approaches</a:t>
            </a:r>
            <a:br>
              <a:rPr lang="en-US" sz="4200" dirty="0">
                <a:solidFill>
                  <a:schemeClr val="accent1">
                    <a:lumMod val="75000"/>
                  </a:schemeClr>
                </a:solidFill>
              </a:rPr>
            </a:br>
            <a:r>
              <a:rPr lang="en-US" sz="4200" dirty="0">
                <a:solidFill>
                  <a:schemeClr val="accent1">
                    <a:lumMod val="75000"/>
                  </a:schemeClr>
                </a:solidFill>
              </a:rPr>
              <a:t> </a:t>
            </a:r>
          </a:p>
        </p:txBody>
      </p:sp>
      <p:pic>
        <p:nvPicPr>
          <p:cNvPr id="5" name="Picture 4" descr="f15.pdf"/>
          <p:cNvPicPr>
            <a:picLocks noChangeAspect="1"/>
          </p:cNvPicPr>
          <p:nvPr/>
        </p:nvPicPr>
        <p:blipFill>
          <a:blip r:embed="rId3"/>
          <a:srcRect l="18824" t="8182" r="17647" b="18182"/>
          <a:stretch>
            <a:fillRect/>
          </a:stretch>
        </p:blipFill>
        <p:spPr>
          <a:xfrm>
            <a:off x="3962400" y="561118"/>
            <a:ext cx="4874481" cy="5992081"/>
          </a:xfrm>
          <a:prstGeom prst="rect">
            <a:avLst/>
          </a:prstGeom>
        </p:spPr>
      </p:pic>
      <p:sp>
        <p:nvSpPr>
          <p:cNvPr id="6" name="Footer Placeholder 5"/>
          <p:cNvSpPr>
            <a:spLocks noGrp="1"/>
          </p:cNvSpPr>
          <p:nvPr>
            <p:ph type="ftr" sz="quarter" idx="11"/>
          </p:nvPr>
        </p:nvSpPr>
        <p:spPr>
          <a:xfrm>
            <a:off x="318246" y="6492875"/>
            <a:ext cx="46347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mv="urn:schemas-microsoft-com:mac:vml"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a:xfrm>
            <a:off x="685800" y="2209800"/>
            <a:ext cx="3657600" cy="1098332"/>
          </a:xfrm>
        </p:spPr>
        <p:txBody>
          <a:bodyPr/>
          <a:lstStyle/>
          <a:p>
            <a:pPr algn="ctr">
              <a:lnSpc>
                <a:spcPct val="90000"/>
              </a:lnSpc>
            </a:pPr>
            <a:r>
              <a:rPr lang="en-US" dirty="0"/>
              <a:t>Execution </a:t>
            </a:r>
            <a:br>
              <a:rPr lang="en-US" dirty="0"/>
            </a:br>
            <a:r>
              <a:rPr lang="en-US" dirty="0"/>
              <a:t>Within </a:t>
            </a:r>
            <a:br>
              <a:rPr lang="en-US" dirty="0"/>
            </a:br>
            <a:r>
              <a:rPr lang="en-US" dirty="0"/>
              <a:t>User </a:t>
            </a:r>
            <a:br>
              <a:rPr lang="en-US" dirty="0"/>
            </a:br>
            <a:r>
              <a:rPr lang="en-US" dirty="0"/>
              <a:t>Processes (b)</a:t>
            </a:r>
          </a:p>
        </p:txBody>
      </p:sp>
      <p:pic>
        <p:nvPicPr>
          <p:cNvPr id="5" name="Picture 4" descr="f16.pdf"/>
          <p:cNvPicPr>
            <a:picLocks noChangeAspect="1"/>
          </p:cNvPicPr>
          <p:nvPr/>
        </p:nvPicPr>
        <p:blipFill>
          <a:blip r:embed="rId3"/>
          <a:srcRect l="20000" t="9091" r="16471" b="12727"/>
          <a:stretch>
            <a:fillRect/>
          </a:stretch>
        </p:blipFill>
        <p:spPr>
          <a:xfrm>
            <a:off x="5029200" y="609600"/>
            <a:ext cx="3740742" cy="5957504"/>
          </a:xfrm>
          <a:prstGeom prst="rect">
            <a:avLst/>
          </a:prstGeom>
        </p:spPr>
      </p:pic>
      <p:sp>
        <p:nvSpPr>
          <p:cNvPr id="6" name="Footer Placeholder 5"/>
          <p:cNvSpPr>
            <a:spLocks noGrp="1"/>
          </p:cNvSpPr>
          <p:nvPr>
            <p:ph type="ftr" sz="quarter" idx="11"/>
          </p:nvPr>
        </p:nvSpPr>
        <p:spPr>
          <a:xfrm>
            <a:off x="318246" y="6492875"/>
            <a:ext cx="54729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mv="urn:schemas-microsoft-com:mac:vml" xmlns="">
      <p:transition spd="slow">
        <p:split orient="vert"/>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NZ" dirty="0">
                <a:solidFill>
                  <a:schemeClr val="accent1">
                    <a:lumMod val="75000"/>
                  </a:schemeClr>
                </a:solidFill>
              </a:rPr>
              <a:t>Unix SVR4</a:t>
            </a:r>
          </a:p>
        </p:txBody>
      </p:sp>
      <p:sp>
        <p:nvSpPr>
          <p:cNvPr id="3" name="Content Placeholder 2"/>
          <p:cNvSpPr>
            <a:spLocks noGrp="1"/>
          </p:cNvSpPr>
          <p:nvPr>
            <p:ph idx="4294967295"/>
          </p:nvPr>
        </p:nvSpPr>
        <p:spPr>
          <a:xfrm>
            <a:off x="457200" y="2286000"/>
            <a:ext cx="8001000" cy="4191000"/>
          </a:xfrm>
        </p:spPr>
        <p:txBody>
          <a:bodyPr/>
          <a:lstStyle/>
          <a:p>
            <a:r>
              <a:rPr lang="en-NZ" dirty="0"/>
              <a:t>Uses the model where </a:t>
            </a:r>
            <a:r>
              <a:rPr lang="en-NZ" dirty="0">
                <a:solidFill>
                  <a:srgbClr val="C00000"/>
                </a:solidFill>
              </a:rPr>
              <a:t>most of the OS executes within the environment of a user process</a:t>
            </a:r>
          </a:p>
          <a:p>
            <a:r>
              <a:rPr lang="en-NZ" dirty="0"/>
              <a:t>System processes run in kernel mode </a:t>
            </a:r>
          </a:p>
          <a:p>
            <a:pPr lvl="1"/>
            <a:r>
              <a:rPr lang="en-NZ" dirty="0"/>
              <a:t>Executes operating system code to perform administrative and housekeeping functions</a:t>
            </a:r>
          </a:p>
          <a:p>
            <a:r>
              <a:rPr lang="en-NZ" dirty="0"/>
              <a:t>User Processes</a:t>
            </a:r>
          </a:p>
          <a:p>
            <a:pPr lvl="1"/>
            <a:r>
              <a:rPr lang="en-NZ" dirty="0"/>
              <a:t>Operate in user mode to execute user programs and utilities</a:t>
            </a:r>
          </a:p>
          <a:p>
            <a:pPr lvl="1"/>
            <a:r>
              <a:rPr lang="en-NZ" dirty="0"/>
              <a:t>Operate in kernel mode to execute instructions that belong to the kernel</a:t>
            </a:r>
          </a:p>
          <a:p>
            <a:pPr lvl="1"/>
            <a:r>
              <a:rPr lang="en-NZ" dirty="0"/>
              <a:t>Enter kernel mode by issuing a system call, when an exception is generated, or when an interrupt occurs</a:t>
            </a:r>
          </a:p>
          <a:p>
            <a:endParaRPr lang="en-NZ" dirty="0"/>
          </a:p>
        </p:txBody>
      </p:sp>
      <p:sp>
        <p:nvSpPr>
          <p:cNvPr id="5" name="Footer Placeholder 4"/>
          <p:cNvSpPr>
            <a:spLocks noGrp="1"/>
          </p:cNvSpPr>
          <p:nvPr>
            <p:ph type="ftr" sz="quarter" idx="11"/>
          </p:nvPr>
        </p:nvSpPr>
        <p:spPr>
          <a:xfrm>
            <a:off x="318246" y="6492875"/>
            <a:ext cx="5930153" cy="365125"/>
          </a:xfrm>
        </p:spPr>
        <p:txBody>
          <a:bodyPr/>
          <a:lstStyle/>
          <a:p>
            <a:pPr>
              <a:defRPr/>
            </a:pPr>
            <a:r>
              <a:rPr lang="en-US" dirty="0"/>
              <a:t>© 2017 Pearson Education, Inc., Hoboken, NJ. All rights reserved.</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a:xfrm>
            <a:off x="457200" y="762000"/>
            <a:ext cx="8229600" cy="533400"/>
          </a:xfrm>
        </p:spPr>
        <p:txBody>
          <a:bodyPr/>
          <a:lstStyle/>
          <a:p>
            <a:pPr algn="ctr"/>
            <a:r>
              <a:rPr lang="en-US" b="1" dirty="0"/>
              <a:t>Table 3.9   UNIX Process States</a:t>
            </a:r>
            <a:r>
              <a:rPr lang="en-US" dirty="0"/>
              <a:t> </a:t>
            </a:r>
          </a:p>
        </p:txBody>
      </p:sp>
      <p:pic>
        <p:nvPicPr>
          <p:cNvPr id="9" name="Picture 8"/>
          <p:cNvPicPr>
            <a:picLocks noChangeAspect="1"/>
          </p:cNvPicPr>
          <p:nvPr/>
        </p:nvPicPr>
        <p:blipFill>
          <a:blip r:embed="rId3"/>
          <a:srcRect t="4364"/>
          <a:stretch>
            <a:fillRect/>
          </a:stretch>
        </p:blipFill>
        <p:spPr>
          <a:xfrm>
            <a:off x="762000" y="1447800"/>
            <a:ext cx="7595274" cy="4973181"/>
          </a:xfrm>
          <a:prstGeom prst="rect">
            <a:avLst/>
          </a:prstGeom>
        </p:spPr>
      </p:pic>
      <p:sp>
        <p:nvSpPr>
          <p:cNvPr id="4" name="Footer Placeholder 3"/>
          <p:cNvSpPr>
            <a:spLocks noGrp="1"/>
          </p:cNvSpPr>
          <p:nvPr>
            <p:ph type="ftr" sz="quarter" idx="11"/>
          </p:nvPr>
        </p:nvSpPr>
        <p:spPr>
          <a:xfrm>
            <a:off x="318246" y="6492875"/>
            <a:ext cx="5549153" cy="365125"/>
          </a:xfrm>
        </p:spPr>
        <p:txBody>
          <a:bodyPr/>
          <a:lstStyle/>
          <a:p>
            <a:pPr>
              <a:defRPr/>
            </a:pPr>
            <a:r>
              <a:rPr lang="en-US" dirty="0"/>
              <a:t>© 2017 Pearson Education, Inc., Hoboken, NJ. All rights reserved.</a:t>
            </a:r>
          </a:p>
        </p:txBody>
      </p:sp>
      <p:cxnSp>
        <p:nvCxnSpPr>
          <p:cNvPr id="6" name="Straight Connector 5"/>
          <p:cNvCxnSpPr/>
          <p:nvPr/>
        </p:nvCxnSpPr>
        <p:spPr>
          <a:xfrm rot="5400000">
            <a:off x="572294" y="3923506"/>
            <a:ext cx="4953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838200" y="5715000"/>
            <a:ext cx="74676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a:off x="838200" y="5334000"/>
            <a:ext cx="74676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a:off x="838200" y="4648200"/>
            <a:ext cx="74676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838200" y="4038600"/>
            <a:ext cx="74676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a:off x="838200" y="3352800"/>
            <a:ext cx="74676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838200" y="2743200"/>
            <a:ext cx="74676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a:off x="838200" y="2286000"/>
            <a:ext cx="74676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a:off x="838200" y="1828800"/>
            <a:ext cx="7467600" cy="1588"/>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17.pdf"/>
          <p:cNvPicPr>
            <a:picLocks noChangeAspect="1"/>
          </p:cNvPicPr>
          <p:nvPr/>
        </p:nvPicPr>
        <p:blipFill>
          <a:blip r:embed="rId3"/>
          <a:stretch>
            <a:fillRect/>
          </a:stretch>
        </p:blipFill>
        <p:spPr>
          <a:xfrm>
            <a:off x="0" y="152400"/>
            <a:ext cx="8875059" cy="6858000"/>
          </a:xfrm>
          <a:prstGeom prst="rect">
            <a:avLst/>
          </a:prstGeom>
        </p:spPr>
      </p:pic>
      <p:sp>
        <p:nvSpPr>
          <p:cNvPr id="3" name="Footer Placeholder 2"/>
          <p:cNvSpPr>
            <a:spLocks noGrp="1"/>
          </p:cNvSpPr>
          <p:nvPr>
            <p:ph type="ftr" sz="quarter" idx="11"/>
          </p:nvPr>
        </p:nvSpPr>
        <p:spPr>
          <a:xfrm>
            <a:off x="318246" y="6492875"/>
            <a:ext cx="51681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slow" p14:dur="3000">
        <p14:shred/>
      </p:transition>
    </mc:Choice>
    <mc:Fallback xmlns:mv="urn:schemas-microsoft-com:mac:vml"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0"/>
            <a:ext cx="1295400" cy="1600200"/>
          </a:xfrm>
        </p:spPr>
        <p:txBody>
          <a:bodyPr/>
          <a:lstStyle/>
          <a:p>
            <a:pPr algn="ctr"/>
            <a:r>
              <a:rPr lang="en-US" sz="2400" b="1" dirty="0">
                <a:effectLst>
                  <a:outerShdw blurRad="38100" dist="38100" dir="2700000" algn="tl">
                    <a:srgbClr val="000000">
                      <a:alpha val="43137"/>
                    </a:srgbClr>
                  </a:outerShdw>
                </a:effectLst>
              </a:rPr>
              <a:t>Table 3.10   UNIX Process Image </a:t>
            </a:r>
            <a:endParaRPr lang="en-NZ" sz="2400" b="1" dirty="0">
              <a:ln w="1905"/>
              <a:solidFill>
                <a:schemeClr val="accent1">
                  <a:lumMod val="75000"/>
                </a:schemeClr>
              </a:solidFill>
              <a:effectLst>
                <a:outerShdw blurRad="38100" dist="38100" dir="2700000" algn="tl">
                  <a:srgbClr val="000000">
                    <a:alpha val="43137"/>
                  </a:srgbClr>
                </a:outerShdw>
              </a:effectLst>
            </a:endParaRPr>
          </a:p>
        </p:txBody>
      </p:sp>
      <p:pic>
        <p:nvPicPr>
          <p:cNvPr id="6" name="Picture 5"/>
          <p:cNvPicPr>
            <a:picLocks noChangeAspect="1"/>
          </p:cNvPicPr>
          <p:nvPr/>
        </p:nvPicPr>
        <p:blipFill>
          <a:blip r:embed="rId3"/>
          <a:srcRect t="3388" b="3388"/>
          <a:stretch>
            <a:fillRect/>
          </a:stretch>
        </p:blipFill>
        <p:spPr>
          <a:xfrm>
            <a:off x="1676400" y="667518"/>
            <a:ext cx="7010400" cy="5786453"/>
          </a:xfrm>
          <a:prstGeom prst="rect">
            <a:avLst/>
          </a:prstGeom>
          <a:ln w="15875">
            <a:solidFill>
              <a:schemeClr val="tx1"/>
            </a:solidFill>
          </a:ln>
        </p:spPr>
      </p:pic>
      <p:sp>
        <p:nvSpPr>
          <p:cNvPr id="4" name="TextBox 3"/>
          <p:cNvSpPr txBox="1"/>
          <p:nvPr/>
        </p:nvSpPr>
        <p:spPr>
          <a:xfrm>
            <a:off x="304800" y="5638800"/>
            <a:ext cx="1371600" cy="600164"/>
          </a:xfrm>
          <a:prstGeom prst="rect">
            <a:avLst/>
          </a:prstGeom>
          <a:noFill/>
        </p:spPr>
        <p:txBody>
          <a:bodyPr wrap="square" rtlCol="0">
            <a:spAutoFit/>
          </a:bodyPr>
          <a:lstStyle/>
          <a:p>
            <a:pPr algn="ctr"/>
            <a:r>
              <a:rPr lang="en-US" sz="1100" dirty="0">
                <a:latin typeface="+mn-lt"/>
              </a:rPr>
              <a:t>(Table is located on page 140 in the textbook)</a:t>
            </a:r>
          </a:p>
        </p:txBody>
      </p:sp>
      <p:sp>
        <p:nvSpPr>
          <p:cNvPr id="5" name="Footer Placeholder 4"/>
          <p:cNvSpPr>
            <a:spLocks noGrp="1"/>
          </p:cNvSpPr>
          <p:nvPr>
            <p:ph type="ftr" sz="quarter" idx="11"/>
          </p:nvPr>
        </p:nvSpPr>
        <p:spPr>
          <a:xfrm>
            <a:off x="318246" y="6492875"/>
            <a:ext cx="5091953" cy="365125"/>
          </a:xfrm>
        </p:spPr>
        <p:txBody>
          <a:bodyPr/>
          <a:lstStyle/>
          <a:p>
            <a:pPr>
              <a:defRPr/>
            </a:pPr>
            <a:r>
              <a:rPr lang="en-US" dirty="0"/>
              <a:t>© 2017 Pearson Education, Inc., Hoboken, NJ. All rights reserved.</a:t>
            </a:r>
          </a:p>
        </p:txBody>
      </p:sp>
      <p:cxnSp>
        <p:nvCxnSpPr>
          <p:cNvPr id="8" name="Straight Connector 7"/>
          <p:cNvCxnSpPr/>
          <p:nvPr/>
        </p:nvCxnSpPr>
        <p:spPr>
          <a:xfrm rot="5400000">
            <a:off x="915194" y="3580606"/>
            <a:ext cx="56388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a:off x="1676400" y="4419600"/>
            <a:ext cx="7010400" cy="15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a:off x="1676400" y="2590800"/>
            <a:ext cx="7010400" cy="15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1676400" y="990600"/>
            <a:ext cx="7010400" cy="158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981200"/>
            <a:ext cx="2362200" cy="2622332"/>
          </a:xfrm>
        </p:spPr>
        <p:txBody>
          <a:bodyPr/>
          <a:lstStyle/>
          <a:p>
            <a:pPr algn="ctr"/>
            <a:r>
              <a:rPr lang="en-US" b="1" dirty="0">
                <a:solidFill>
                  <a:schemeClr val="accent6"/>
                </a:solidFill>
              </a:rPr>
              <a:t>Table 3.11  UNIX Process Table Entry </a:t>
            </a:r>
          </a:p>
        </p:txBody>
      </p:sp>
      <p:sp>
        <p:nvSpPr>
          <p:cNvPr id="6" name="TextBox 5"/>
          <p:cNvSpPr txBox="1"/>
          <p:nvPr/>
        </p:nvSpPr>
        <p:spPr>
          <a:xfrm>
            <a:off x="3048000" y="609600"/>
            <a:ext cx="5638800" cy="304800"/>
          </a:xfrm>
          <a:prstGeom prst="rect">
            <a:avLst/>
          </a:prstGeom>
          <a:blipFill rotWithShape="1">
            <a:blip r:embed="rId3"/>
            <a:tile tx="0" ty="0" sx="100000" sy="100000" flip="none" algn="tl"/>
          </a:blipFill>
        </p:spPr>
        <p:txBody>
          <a:bodyPr wrap="square" rtlCol="0">
            <a:spAutoFit/>
          </a:bodyPr>
          <a:lstStyle/>
          <a:p>
            <a:endParaRPr lang="en-US" dirty="0"/>
          </a:p>
        </p:txBody>
      </p:sp>
      <p:pic>
        <p:nvPicPr>
          <p:cNvPr id="7" name="Picture 6"/>
          <p:cNvPicPr>
            <a:picLocks noChangeAspect="1"/>
          </p:cNvPicPr>
          <p:nvPr/>
        </p:nvPicPr>
        <p:blipFill>
          <a:blip r:embed="rId4"/>
          <a:srcRect t="2945"/>
          <a:stretch>
            <a:fillRect/>
          </a:stretch>
        </p:blipFill>
        <p:spPr>
          <a:xfrm>
            <a:off x="2758221" y="635155"/>
            <a:ext cx="5931142" cy="5864370"/>
          </a:xfrm>
          <a:prstGeom prst="rect">
            <a:avLst/>
          </a:prstGeom>
          <a:ln w="15875">
            <a:solidFill>
              <a:schemeClr val="tx1"/>
            </a:solidFill>
          </a:ln>
        </p:spPr>
      </p:pic>
      <p:sp>
        <p:nvSpPr>
          <p:cNvPr id="8" name="TextBox 7"/>
          <p:cNvSpPr txBox="1"/>
          <p:nvPr/>
        </p:nvSpPr>
        <p:spPr>
          <a:xfrm>
            <a:off x="8203184" y="4726424"/>
            <a:ext cx="184666" cy="369332"/>
          </a:xfrm>
          <a:prstGeom prst="rect">
            <a:avLst/>
          </a:prstGeom>
          <a:noFill/>
        </p:spPr>
        <p:txBody>
          <a:bodyPr wrap="none" rtlCol="0">
            <a:spAutoFit/>
          </a:bodyPr>
          <a:lstStyle/>
          <a:p>
            <a:endParaRPr lang="en-US" dirty="0"/>
          </a:p>
        </p:txBody>
      </p:sp>
      <p:sp>
        <p:nvSpPr>
          <p:cNvPr id="10" name="TextBox 9"/>
          <p:cNvSpPr txBox="1"/>
          <p:nvPr/>
        </p:nvSpPr>
        <p:spPr>
          <a:xfrm>
            <a:off x="228600" y="6096000"/>
            <a:ext cx="2362200" cy="430887"/>
          </a:xfrm>
          <a:prstGeom prst="rect">
            <a:avLst/>
          </a:prstGeom>
          <a:noFill/>
        </p:spPr>
        <p:txBody>
          <a:bodyPr wrap="square" rtlCol="0">
            <a:spAutoFit/>
          </a:bodyPr>
          <a:lstStyle/>
          <a:p>
            <a:pPr algn="ctr"/>
            <a:r>
              <a:rPr lang="en-US" sz="1100" dirty="0">
                <a:latin typeface="+mn-lt"/>
              </a:rPr>
              <a:t>(Table is located on page 141 in the textbook)</a:t>
            </a:r>
          </a:p>
        </p:txBody>
      </p:sp>
      <p:sp>
        <p:nvSpPr>
          <p:cNvPr id="9" name="Footer Placeholder 8"/>
          <p:cNvSpPr>
            <a:spLocks noGrp="1"/>
          </p:cNvSpPr>
          <p:nvPr>
            <p:ph type="ftr" sz="quarter" idx="11"/>
          </p:nvPr>
        </p:nvSpPr>
        <p:spPr>
          <a:xfrm>
            <a:off x="318246" y="6492875"/>
            <a:ext cx="5244353" cy="365125"/>
          </a:xfrm>
        </p:spPr>
        <p:txBody>
          <a:bodyPr/>
          <a:lstStyle/>
          <a:p>
            <a:pPr>
              <a:defRPr/>
            </a:pPr>
            <a:r>
              <a:rPr lang="en-US" dirty="0"/>
              <a:t>© 2017 Pearson Education, Inc., Hoboken, NJ. All rights reserved.</a:t>
            </a:r>
          </a:p>
        </p:txBody>
      </p:sp>
      <p:cxnSp>
        <p:nvCxnSpPr>
          <p:cNvPr id="12" name="Straight Connector 11"/>
          <p:cNvCxnSpPr/>
          <p:nvPr/>
        </p:nvCxnSpPr>
        <p:spPr>
          <a:xfrm rot="5400000">
            <a:off x="1370806" y="3581400"/>
            <a:ext cx="5791994" cy="794"/>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a:off x="2743200" y="4343400"/>
            <a:ext cx="59436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2743200" y="4648200"/>
            <a:ext cx="59436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2743200" y="5715000"/>
            <a:ext cx="59436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2743200" y="5181600"/>
            <a:ext cx="59436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2743200" y="3962400"/>
            <a:ext cx="59436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2743200" y="3429000"/>
            <a:ext cx="59436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2743200" y="2971800"/>
            <a:ext cx="59436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p:nvCxnSpPr>
        <p:spPr>
          <a:xfrm>
            <a:off x="2743200" y="1905000"/>
            <a:ext cx="59436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p:nvCxnSpPr>
        <p:spPr>
          <a:xfrm>
            <a:off x="2743200" y="1447800"/>
            <a:ext cx="59436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p:nvCxnSpPr>
        <p:spPr>
          <a:xfrm>
            <a:off x="2743200" y="1066800"/>
            <a:ext cx="5943600" cy="1588"/>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mv="urn:schemas-microsoft-com:mac:vml"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85800"/>
            <a:ext cx="2590800" cy="3962400"/>
          </a:xfrm>
        </p:spPr>
        <p:txBody>
          <a:bodyPr/>
          <a:lstStyle/>
          <a:p>
            <a:pPr algn="ctr"/>
            <a:r>
              <a:rPr lang="en-US" sz="3200" b="1" dirty="0">
                <a:solidFill>
                  <a:schemeClr val="accent6"/>
                </a:solidFill>
              </a:rPr>
              <a:t>Table 3.12   UNIX </a:t>
            </a:r>
            <a:br>
              <a:rPr lang="en-US" sz="3200" b="1" dirty="0">
                <a:solidFill>
                  <a:schemeClr val="accent6"/>
                </a:solidFill>
              </a:rPr>
            </a:br>
            <a:r>
              <a:rPr lang="en-US" sz="3200" b="1" dirty="0">
                <a:solidFill>
                  <a:schemeClr val="accent6"/>
                </a:solidFill>
              </a:rPr>
              <a:t>U (User)</a:t>
            </a:r>
            <a:br>
              <a:rPr lang="en-US" sz="3200" b="1" dirty="0">
                <a:solidFill>
                  <a:schemeClr val="accent6"/>
                </a:solidFill>
              </a:rPr>
            </a:br>
            <a:r>
              <a:rPr lang="en-US" sz="3200" b="1" dirty="0">
                <a:solidFill>
                  <a:schemeClr val="accent6"/>
                </a:solidFill>
              </a:rPr>
              <a:t>Area</a:t>
            </a:r>
            <a:r>
              <a:rPr lang="en-US" sz="3200" dirty="0">
                <a:solidFill>
                  <a:schemeClr val="accent6"/>
                </a:solidFill>
              </a:rPr>
              <a:t> </a:t>
            </a:r>
            <a:br>
              <a:rPr lang="en-US" b="1" dirty="0"/>
            </a:br>
            <a:endParaRPr lang="en-US" dirty="0"/>
          </a:p>
        </p:txBody>
      </p:sp>
      <p:graphicFrame>
        <p:nvGraphicFramePr>
          <p:cNvPr id="210946" name="Object 2"/>
          <p:cNvGraphicFramePr>
            <a:graphicFrameLocks noChangeAspect="1"/>
          </p:cNvGraphicFramePr>
          <p:nvPr/>
        </p:nvGraphicFramePr>
        <p:xfrm>
          <a:off x="3124200" y="609600"/>
          <a:ext cx="5486400" cy="5880100"/>
        </p:xfrm>
        <a:graphic>
          <a:graphicData uri="http://schemas.openxmlformats.org/presentationml/2006/ole">
            <mc:AlternateContent xmlns:mc="http://schemas.openxmlformats.org/markup-compatibility/2006">
              <mc:Choice xmlns:v="urn:schemas-microsoft-com:vml" Requires="v">
                <p:oleObj name="Document" r:id="rId3" imgW="21942857" imgH="24126984" progId="Word.Document.12">
                  <p:embed/>
                </p:oleObj>
              </mc:Choice>
              <mc:Fallback>
                <p:oleObj name="Document" r:id="rId3" imgW="21942857" imgH="24126984" progId="Word.Document.12">
                  <p:embed/>
                  <p:pic>
                    <p:nvPicPr>
                      <p:cNvPr id="0"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609600"/>
                        <a:ext cx="5486400" cy="5880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 name="TextBox 5"/>
          <p:cNvSpPr txBox="1"/>
          <p:nvPr/>
        </p:nvSpPr>
        <p:spPr>
          <a:xfrm>
            <a:off x="3048000" y="609600"/>
            <a:ext cx="5638800" cy="152400"/>
          </a:xfrm>
          <a:prstGeom prst="rect">
            <a:avLst/>
          </a:prstGeom>
          <a:blipFill rotWithShape="1">
            <a:blip r:embed="rId5"/>
            <a:tile tx="0" ty="0" sx="100000" sy="100000" flip="none" algn="tl"/>
          </a:blipFill>
        </p:spPr>
        <p:txBody>
          <a:bodyPr wrap="square" rtlCol="0">
            <a:spAutoFit/>
          </a:bodyPr>
          <a:lstStyle/>
          <a:p>
            <a:endParaRPr lang="en-US" dirty="0"/>
          </a:p>
        </p:txBody>
      </p:sp>
      <p:sp>
        <p:nvSpPr>
          <p:cNvPr id="8" name="TextBox 7"/>
          <p:cNvSpPr txBox="1"/>
          <p:nvPr/>
        </p:nvSpPr>
        <p:spPr>
          <a:xfrm>
            <a:off x="304800" y="6096000"/>
            <a:ext cx="2667000" cy="430887"/>
          </a:xfrm>
          <a:prstGeom prst="rect">
            <a:avLst/>
          </a:prstGeom>
          <a:noFill/>
        </p:spPr>
        <p:txBody>
          <a:bodyPr wrap="square" rtlCol="0">
            <a:spAutoFit/>
          </a:bodyPr>
          <a:lstStyle/>
          <a:p>
            <a:pPr algn="ctr"/>
            <a:r>
              <a:rPr lang="en-US" sz="1100" dirty="0">
                <a:latin typeface="+mn-lt"/>
              </a:rPr>
              <a:t>(Table is located on page 142 in the textbook)</a:t>
            </a:r>
          </a:p>
        </p:txBody>
      </p:sp>
      <p:sp>
        <p:nvSpPr>
          <p:cNvPr id="7" name="Footer Placeholder 6"/>
          <p:cNvSpPr>
            <a:spLocks noGrp="1"/>
          </p:cNvSpPr>
          <p:nvPr>
            <p:ph type="ftr" sz="quarter" idx="11"/>
          </p:nvPr>
        </p:nvSpPr>
        <p:spPr>
          <a:xfrm>
            <a:off x="318246" y="6492875"/>
            <a:ext cx="4634753" cy="365125"/>
          </a:xfrm>
        </p:spPr>
        <p:txBody>
          <a:bodyPr/>
          <a:lstStyle/>
          <a:p>
            <a:pPr>
              <a:defRPr/>
            </a:pPr>
            <a:r>
              <a:rPr lang="en-US" dirty="0"/>
              <a:t>© 2017 Pearson Education, Inc., Hoboken, NJ. All rights reserved.</a:t>
            </a:r>
          </a:p>
        </p:txBody>
      </p:sp>
      <p:cxnSp>
        <p:nvCxnSpPr>
          <p:cNvPr id="10" name="Straight Connector 9"/>
          <p:cNvCxnSpPr/>
          <p:nvPr/>
        </p:nvCxnSpPr>
        <p:spPr>
          <a:xfrm rot="5400000">
            <a:off x="1983582" y="3658394"/>
            <a:ext cx="5637212"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rot="5400000">
            <a:off x="5753894" y="3618706"/>
            <a:ext cx="5713412"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rot="5400000">
            <a:off x="267494" y="3618706"/>
            <a:ext cx="5713412"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a:off x="3124200" y="4648200"/>
            <a:ext cx="54864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3124200" y="5181600"/>
            <a:ext cx="54864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3124200" y="5486400"/>
            <a:ext cx="54864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3124200" y="6019800"/>
            <a:ext cx="54864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3124200" y="6477000"/>
            <a:ext cx="54864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3124200" y="3962400"/>
            <a:ext cx="54864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3124200" y="3657600"/>
            <a:ext cx="54864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3124200" y="3276600"/>
            <a:ext cx="54864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p:nvCxnSpPr>
        <p:spPr>
          <a:xfrm>
            <a:off x="3124200" y="2895600"/>
            <a:ext cx="54864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p:nvCxnSpPr>
        <p:spPr>
          <a:xfrm>
            <a:off x="3124200" y="2209800"/>
            <a:ext cx="54864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p:nvCxnSpPr>
        <p:spPr>
          <a:xfrm>
            <a:off x="3124200" y="1752600"/>
            <a:ext cx="54864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p:nvCxnSpPr>
        <p:spPr>
          <a:xfrm>
            <a:off x="3124200" y="1219200"/>
            <a:ext cx="54864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3124200" y="762000"/>
            <a:ext cx="5486400" cy="1588"/>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5867400" cy="1371600"/>
          </a:xfrm>
        </p:spPr>
        <p:txBody>
          <a:bodyPr/>
          <a:lstStyle/>
          <a:p>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Process Control</a:t>
            </a:r>
          </a:p>
        </p:txBody>
      </p:sp>
      <p:sp>
        <p:nvSpPr>
          <p:cNvPr id="3" name="Content Placeholder 2"/>
          <p:cNvSpPr>
            <a:spLocks noGrp="1"/>
          </p:cNvSpPr>
          <p:nvPr>
            <p:ph idx="4294967295"/>
          </p:nvPr>
        </p:nvSpPr>
        <p:spPr>
          <a:xfrm>
            <a:off x="533400" y="2133600"/>
            <a:ext cx="2133600" cy="4191000"/>
          </a:xfrm>
        </p:spPr>
        <p:txBody>
          <a:bodyPr/>
          <a:lstStyle/>
          <a:p>
            <a:r>
              <a:rPr lang="en-NZ" dirty="0"/>
              <a:t>Process creation is by means of the kernel system call, </a:t>
            </a:r>
            <a:r>
              <a:rPr lang="en-NZ" i="1" dirty="0">
                <a:latin typeface="Courier New"/>
                <a:cs typeface="Courier New"/>
              </a:rPr>
              <a:t>fork()</a:t>
            </a:r>
          </a:p>
          <a:p>
            <a:r>
              <a:rPr lang="en-NZ" dirty="0"/>
              <a:t>When a process issues a fork request, the OS performs the following functions:</a:t>
            </a:r>
          </a:p>
        </p:txBody>
      </p:sp>
      <p:graphicFrame>
        <p:nvGraphicFramePr>
          <p:cNvPr id="5" name="Diagram 4"/>
          <p:cNvGraphicFramePr/>
          <p:nvPr/>
        </p:nvGraphicFramePr>
        <p:xfrm>
          <a:off x="2667000" y="2133600"/>
          <a:ext cx="6096000" cy="426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Footer Placeholder 5"/>
          <p:cNvSpPr>
            <a:spLocks noGrp="1"/>
          </p:cNvSpPr>
          <p:nvPr>
            <p:ph type="ftr" sz="quarter" idx="11"/>
          </p:nvPr>
        </p:nvSpPr>
        <p:spPr>
          <a:xfrm>
            <a:off x="318246" y="6492875"/>
            <a:ext cx="4787153" cy="365125"/>
          </a:xfrm>
        </p:spPr>
        <p:txBody>
          <a:bodyPr/>
          <a:lstStyle/>
          <a:p>
            <a:pPr>
              <a:defRPr/>
            </a:pPr>
            <a:r>
              <a:rPr lang="en-US" dirty="0"/>
              <a:t>© 2017 Pearson Education, Inc., Hoboken, NJ. All rights reserved.</a:t>
            </a: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After Creation</a:t>
            </a:r>
            <a:endParaRPr lang="en-NZ" dirty="0"/>
          </a:p>
        </p:txBody>
      </p:sp>
      <p:sp>
        <p:nvSpPr>
          <p:cNvPr id="3" name="Content Placeholder 2"/>
          <p:cNvSpPr>
            <a:spLocks noGrp="1"/>
          </p:cNvSpPr>
          <p:nvPr>
            <p:ph idx="4294967295"/>
          </p:nvPr>
        </p:nvSpPr>
        <p:spPr>
          <a:xfrm>
            <a:off x="533400" y="2209800"/>
            <a:ext cx="8001000" cy="4114800"/>
          </a:xfrm>
        </p:spPr>
        <p:txBody>
          <a:bodyPr/>
          <a:lstStyle/>
          <a:p>
            <a:r>
              <a:rPr lang="en-NZ" sz="2400" dirty="0"/>
              <a:t>After creating the process the Kernel can do one of the following, as part of the dispatcher routine:</a:t>
            </a:r>
          </a:p>
          <a:p>
            <a:pPr marL="914400" lvl="1" indent="-341313"/>
            <a:r>
              <a:rPr lang="en-NZ" sz="2000" dirty="0"/>
              <a:t>Stay in the parent process. Control returns to user mode at the point of the fork call of the parent.</a:t>
            </a:r>
          </a:p>
          <a:p>
            <a:pPr marL="914400" lvl="1" indent="-341313"/>
            <a:r>
              <a:rPr lang="en-NZ" sz="2000" dirty="0"/>
              <a:t>Transfer control to the child process. The child process begins executing at the same point in the code as the parent, namely at the return from the fork call.</a:t>
            </a:r>
          </a:p>
          <a:p>
            <a:pPr marL="914400" lvl="1" indent="-341313"/>
            <a:r>
              <a:rPr lang="en-NZ" sz="2000" dirty="0"/>
              <a:t>Transfer control to another process. Both parent and child are left in the Ready to Run state.</a:t>
            </a:r>
          </a:p>
          <a:p>
            <a:pPr lvl="1"/>
            <a:endParaRPr lang="en-NZ" dirty="0"/>
          </a:p>
          <a:p>
            <a:pPr lvl="1"/>
            <a:endParaRPr lang="en-NZ" dirty="0"/>
          </a:p>
          <a:p>
            <a:endParaRPr lang="en-NZ" dirty="0"/>
          </a:p>
        </p:txBody>
      </p:sp>
      <p:sp>
        <p:nvSpPr>
          <p:cNvPr id="5" name="Footer Placeholder 4"/>
          <p:cNvSpPr>
            <a:spLocks noGrp="1"/>
          </p:cNvSpPr>
          <p:nvPr>
            <p:ph type="ftr" sz="quarter" idx="11"/>
          </p:nvPr>
        </p:nvSpPr>
        <p:spPr>
          <a:xfrm>
            <a:off x="318246" y="6492875"/>
            <a:ext cx="5930153" cy="365125"/>
          </a:xfrm>
        </p:spPr>
        <p:txBody>
          <a:bodyPr/>
          <a:lstStyle/>
          <a:p>
            <a:pPr>
              <a:defRPr/>
            </a:pPr>
            <a:r>
              <a:rPr lang="en-US" dirty="0"/>
              <a:t>© 2017 Pearson Education, Inc., Hoboken, NJ. All rights reserved.</a:t>
            </a: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6000" b="1" dirty="0">
                <a:solidFill>
                  <a:schemeClr val="accent1">
                    <a:lumMod val="75000"/>
                  </a:schemeClr>
                </a:solidFill>
              </a:rPr>
              <a:t>Summary</a:t>
            </a:r>
          </a:p>
        </p:txBody>
      </p:sp>
      <p:sp>
        <p:nvSpPr>
          <p:cNvPr id="5" name="Content Placeholder 4"/>
          <p:cNvSpPr>
            <a:spLocks noGrp="1"/>
          </p:cNvSpPr>
          <p:nvPr>
            <p:ph sz="half" idx="1"/>
          </p:nvPr>
        </p:nvSpPr>
        <p:spPr/>
        <p:txBody>
          <a:bodyPr>
            <a:normAutofit fontScale="85000" lnSpcReduction="10000"/>
          </a:bodyPr>
          <a:lstStyle/>
          <a:p>
            <a:r>
              <a:rPr lang="en-US" dirty="0"/>
              <a:t>What is a process?</a:t>
            </a:r>
          </a:p>
          <a:p>
            <a:pPr lvl="1"/>
            <a:r>
              <a:rPr lang="en-US" dirty="0"/>
              <a:t>Background</a:t>
            </a:r>
          </a:p>
          <a:p>
            <a:pPr lvl="1"/>
            <a:r>
              <a:rPr lang="en-US" dirty="0"/>
              <a:t>Processes and process control blocks</a:t>
            </a:r>
          </a:p>
          <a:p>
            <a:r>
              <a:rPr lang="en-US" dirty="0"/>
              <a:t>Process states</a:t>
            </a:r>
          </a:p>
          <a:p>
            <a:pPr lvl="1"/>
            <a:r>
              <a:rPr lang="en-US" dirty="0"/>
              <a:t>Two-state process model</a:t>
            </a:r>
          </a:p>
          <a:p>
            <a:pPr lvl="1"/>
            <a:r>
              <a:rPr lang="en-US" dirty="0"/>
              <a:t>Creation and termination</a:t>
            </a:r>
          </a:p>
          <a:p>
            <a:pPr lvl="1"/>
            <a:r>
              <a:rPr lang="en-US" dirty="0"/>
              <a:t>Five-state model</a:t>
            </a:r>
          </a:p>
          <a:p>
            <a:pPr lvl="1"/>
            <a:r>
              <a:rPr lang="en-US" dirty="0"/>
              <a:t>Suspended processes</a:t>
            </a:r>
          </a:p>
          <a:p>
            <a:r>
              <a:rPr lang="en-US" dirty="0"/>
              <a:t>Process description</a:t>
            </a:r>
          </a:p>
          <a:p>
            <a:pPr lvl="1"/>
            <a:r>
              <a:rPr lang="en-US" dirty="0"/>
              <a:t>Operating system control structures</a:t>
            </a:r>
          </a:p>
          <a:p>
            <a:pPr lvl="1"/>
            <a:r>
              <a:rPr lang="en-US" dirty="0"/>
              <a:t>Process control structures</a:t>
            </a:r>
          </a:p>
        </p:txBody>
      </p:sp>
      <p:sp>
        <p:nvSpPr>
          <p:cNvPr id="6" name="Content Placeholder 5"/>
          <p:cNvSpPr>
            <a:spLocks noGrp="1"/>
          </p:cNvSpPr>
          <p:nvPr>
            <p:ph sz="half" idx="2"/>
          </p:nvPr>
        </p:nvSpPr>
        <p:spPr/>
        <p:txBody>
          <a:bodyPr>
            <a:normAutofit fontScale="85000" lnSpcReduction="10000"/>
          </a:bodyPr>
          <a:lstStyle/>
          <a:p>
            <a:r>
              <a:rPr lang="en-US" dirty="0"/>
              <a:t>Process control</a:t>
            </a:r>
          </a:p>
          <a:p>
            <a:pPr lvl="1"/>
            <a:r>
              <a:rPr lang="en-US" dirty="0"/>
              <a:t>Modes of execution</a:t>
            </a:r>
          </a:p>
          <a:p>
            <a:pPr lvl="1"/>
            <a:r>
              <a:rPr lang="en-US" dirty="0"/>
              <a:t>Process creation</a:t>
            </a:r>
          </a:p>
          <a:p>
            <a:pPr lvl="1"/>
            <a:r>
              <a:rPr lang="en-US" dirty="0"/>
              <a:t>Process switching</a:t>
            </a:r>
          </a:p>
          <a:p>
            <a:r>
              <a:rPr lang="en-US" dirty="0"/>
              <a:t>Execution of the operating system</a:t>
            </a:r>
          </a:p>
          <a:p>
            <a:pPr lvl="1"/>
            <a:r>
              <a:rPr lang="en-US" dirty="0" err="1"/>
              <a:t>Nonprocess</a:t>
            </a:r>
            <a:r>
              <a:rPr lang="en-US" dirty="0"/>
              <a:t> kernel</a:t>
            </a:r>
          </a:p>
          <a:p>
            <a:pPr lvl="1"/>
            <a:r>
              <a:rPr lang="en-US" dirty="0"/>
              <a:t>Execution within user processes</a:t>
            </a:r>
          </a:p>
          <a:p>
            <a:pPr lvl="1"/>
            <a:r>
              <a:rPr lang="en-US" dirty="0"/>
              <a:t>Process-based operating system</a:t>
            </a:r>
          </a:p>
          <a:p>
            <a:r>
              <a:rPr lang="en-US" dirty="0"/>
              <a:t>UNIX SVR4 process management</a:t>
            </a:r>
          </a:p>
          <a:p>
            <a:pPr lvl="1"/>
            <a:r>
              <a:rPr lang="en-US" dirty="0"/>
              <a:t>Process states</a:t>
            </a:r>
          </a:p>
          <a:p>
            <a:pPr lvl="1"/>
            <a:r>
              <a:rPr lang="en-US" dirty="0"/>
              <a:t>Process description</a:t>
            </a:r>
          </a:p>
          <a:p>
            <a:pPr lvl="1"/>
            <a:r>
              <a:rPr lang="en-US" dirty="0"/>
              <a:t>Process control</a:t>
            </a:r>
          </a:p>
        </p:txBody>
      </p:sp>
      <p:sp>
        <p:nvSpPr>
          <p:cNvPr id="7" name="Footer Placeholder 6"/>
          <p:cNvSpPr>
            <a:spLocks noGrp="1"/>
          </p:cNvSpPr>
          <p:nvPr>
            <p:ph type="ftr" sz="quarter" idx="11"/>
          </p:nvPr>
        </p:nvSpPr>
        <p:spPr>
          <a:xfrm>
            <a:off x="318246" y="6492875"/>
            <a:ext cx="6006353" cy="365125"/>
          </a:xfrm>
        </p:spPr>
        <p:txBody>
          <a:bodyPr/>
          <a:lstStyle/>
          <a:p>
            <a:pPr>
              <a:defRPr/>
            </a:pPr>
            <a:r>
              <a:rPr lang="en-US" dirty="0"/>
              <a:t>© 2017 Pearson Education, Inc., Hoboken, NJ. All rights reserved.</a:t>
            </a:r>
          </a:p>
        </p:txBody>
      </p:sp>
    </p:spTree>
  </p:cSld>
  <p:clrMapOvr>
    <a:masterClrMapping/>
  </p:clrMapOvr>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dex">
  <a:themeElements>
    <a:clrScheme name="Codex">
      <a:dk1>
        <a:sysClr val="windowText" lastClr="000000"/>
      </a:dk1>
      <a:lt1>
        <a:sysClr val="window" lastClr="FFFFFF"/>
      </a:lt1>
      <a:dk2>
        <a:srgbClr val="59564B"/>
      </a:dk2>
      <a:lt2>
        <a:srgbClr val="DFDAC7"/>
      </a:lt2>
      <a:accent1>
        <a:srgbClr val="990000"/>
      </a:accent1>
      <a:accent2>
        <a:srgbClr val="EFAB16"/>
      </a:accent2>
      <a:accent3>
        <a:srgbClr val="78AC35"/>
      </a:accent3>
      <a:accent4>
        <a:srgbClr val="35ACA2"/>
      </a:accent4>
      <a:accent5>
        <a:srgbClr val="4083CF"/>
      </a:accent5>
      <a:accent6>
        <a:srgbClr val="0D335E"/>
      </a:accent6>
      <a:hlink>
        <a:srgbClr val="EF8E1C"/>
      </a:hlink>
      <a:folHlink>
        <a:srgbClr val="FEC60B"/>
      </a:folHlink>
    </a:clrScheme>
    <a:fontScheme name="Codex">
      <a:majorFont>
        <a:latin typeface="Calisto MT"/>
        <a:ea typeface=""/>
        <a:cs typeface=""/>
        <a:font script="Jpan" typeface="ＭＳ 明朝"/>
      </a:majorFont>
      <a:minorFont>
        <a:latin typeface="Calisto MT"/>
        <a:ea typeface=""/>
        <a:cs typeface=""/>
        <a:font script="Jpan" typeface="ＭＳ 明朝"/>
      </a:minorFont>
    </a:fontScheme>
    <a:fmtScheme name="Codex">
      <a:fillStyleLst>
        <a:solidFill>
          <a:schemeClr val="phClr"/>
        </a:solidFill>
        <a:gradFill rotWithShape="1">
          <a:gsLst>
            <a:gs pos="0">
              <a:schemeClr val="phClr">
                <a:tint val="100000"/>
                <a:shade val="60000"/>
                <a:satMod val="135000"/>
              </a:schemeClr>
            </a:gs>
            <a:gs pos="100000">
              <a:schemeClr val="phClr">
                <a:tint val="100000"/>
                <a:shade val="94000"/>
                <a:satMod val="135000"/>
              </a:schemeClr>
            </a:gs>
          </a:gsLst>
          <a:lin ang="16200000" scaled="1"/>
        </a:gradFill>
        <a:gradFill rotWithShape="1">
          <a:gsLst>
            <a:gs pos="0">
              <a:schemeClr val="phClr">
                <a:shade val="51000"/>
                <a:alpha val="90000"/>
                <a:satMod val="115000"/>
              </a:schemeClr>
            </a:gs>
            <a:gs pos="100000">
              <a:schemeClr val="phClr">
                <a:shade val="94000"/>
                <a:alpha val="90000"/>
                <a:satMod val="135000"/>
              </a:schemeClr>
            </a:gs>
          </a:gsLst>
          <a:lin ang="5400000" scaled="1"/>
        </a:gradFill>
      </a:fillStyleLst>
      <a:lnStyleLst>
        <a:ln w="15875" cap="flat" cmpd="sng" algn="ctr">
          <a:solidFill>
            <a:schemeClr val="phClr">
              <a:shade val="95000"/>
              <a:satMod val="105000"/>
            </a:schemeClr>
          </a:solidFill>
          <a:prstDash val="solid"/>
        </a:ln>
        <a:ln w="34925" cap="flat" cmpd="sng" algn="ctr">
          <a:solidFill>
            <a:schemeClr val="phClr"/>
          </a:solidFill>
          <a:prstDash val="solid"/>
        </a:ln>
        <a:ln w="34925" cap="flat" cmpd="sng" algn="ctr">
          <a:solidFill>
            <a:schemeClr val="phClr"/>
          </a:solidFill>
          <a:prstDash val="solid"/>
        </a:ln>
      </a:lnStyleLst>
      <a:effectStyleLst>
        <a:effectStyle>
          <a:effectLst/>
        </a:effectStyle>
        <a:effectStyle>
          <a:effectLst/>
        </a:effectStyle>
        <a:effectStyle>
          <a:effectLst>
            <a:outerShdw blurRad="50800" dist="12700" dir="5400000" rotWithShape="0">
              <a:srgbClr val="525252">
                <a:alpha val="85000"/>
              </a:srgbClr>
            </a:outerShdw>
          </a:effectLst>
          <a:scene3d>
            <a:camera prst="orthographicFront">
              <a:rot lat="0" lon="0" rev="0"/>
            </a:camera>
            <a:lightRig rig="sunrise" dir="t">
              <a:rot lat="0" lon="0" rev="6000000"/>
            </a:lightRig>
          </a:scene3d>
          <a:sp3d prstMaterial="matte">
            <a:bevelT w="50800" h="4445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17092</Words>
  <Application>Microsoft Office PowerPoint</Application>
  <PresentationFormat>全屏显示(4:3)</PresentationFormat>
  <Paragraphs>1539</Paragraphs>
  <Slides>62</Slides>
  <Notes>62</Notes>
  <HiddenSlides>0</HiddenSlides>
  <MMClips>0</MMClips>
  <ScaleCrop>false</ScaleCrop>
  <HeadingPairs>
    <vt:vector size="8" baseType="variant">
      <vt:variant>
        <vt:lpstr>已用的字体</vt:lpstr>
      </vt:variant>
      <vt:variant>
        <vt:i4>6</vt:i4>
      </vt:variant>
      <vt:variant>
        <vt:lpstr>主题</vt:lpstr>
      </vt:variant>
      <vt:variant>
        <vt:i4>2</vt:i4>
      </vt:variant>
      <vt:variant>
        <vt:lpstr>嵌入 OLE 服务器</vt:lpstr>
      </vt:variant>
      <vt:variant>
        <vt:i4>1</vt:i4>
      </vt:variant>
      <vt:variant>
        <vt:lpstr>幻灯片标题</vt:lpstr>
      </vt:variant>
      <vt:variant>
        <vt:i4>62</vt:i4>
      </vt:variant>
    </vt:vector>
  </HeadingPairs>
  <TitlesOfParts>
    <vt:vector size="71" baseType="lpstr">
      <vt:lpstr>Arial</vt:lpstr>
      <vt:lpstr>Calibri</vt:lpstr>
      <vt:lpstr>Calisto MT</vt:lpstr>
      <vt:lpstr>Courier New</vt:lpstr>
      <vt:lpstr>Times New Roman</vt:lpstr>
      <vt:lpstr>Wingdings</vt:lpstr>
      <vt:lpstr>Custom Design</vt:lpstr>
      <vt:lpstr>Codex</vt:lpstr>
      <vt:lpstr>Document</vt:lpstr>
      <vt:lpstr>Chapter 3 Process Description and Control</vt:lpstr>
      <vt:lpstr>Summary of Earlier Concepts</vt:lpstr>
      <vt:lpstr>OS Management of Application Execution</vt:lpstr>
      <vt:lpstr>Process Elements</vt:lpstr>
      <vt:lpstr>Process Elements</vt:lpstr>
      <vt:lpstr>Process Control Block</vt:lpstr>
      <vt:lpstr>Process States</vt:lpstr>
      <vt:lpstr>Process Execution</vt:lpstr>
      <vt:lpstr>PowerPoint 演示文稿</vt:lpstr>
      <vt:lpstr>PowerPoint 演示文稿</vt:lpstr>
      <vt:lpstr>Two-State Process Model</vt:lpstr>
      <vt:lpstr>PowerPoint 演示文稿</vt:lpstr>
      <vt:lpstr>Table 3.1   Reasons for Process Creation</vt:lpstr>
      <vt:lpstr>Process Creation</vt:lpstr>
      <vt:lpstr>Process Termination</vt:lpstr>
      <vt:lpstr>PowerPoint 演示文稿</vt:lpstr>
      <vt:lpstr>Five-State Process Model</vt:lpstr>
      <vt:lpstr>PowerPoint 演示文稿</vt:lpstr>
      <vt:lpstr>PowerPoint 演示文稿</vt:lpstr>
      <vt:lpstr>Suspended Processes</vt:lpstr>
      <vt:lpstr>PowerPoint 演示文稿</vt:lpstr>
      <vt:lpstr>PowerPoint 演示文稿</vt:lpstr>
      <vt:lpstr>Characteristics of a Suspended Process</vt:lpstr>
      <vt:lpstr>Table 3.3    Reasons for Process Suspension </vt:lpstr>
      <vt:lpstr>PowerPoint 演示文稿</vt:lpstr>
      <vt:lpstr>PowerPoint 演示文稿</vt:lpstr>
      <vt:lpstr>Memory Tables</vt:lpstr>
      <vt:lpstr>I/O Tables</vt:lpstr>
      <vt:lpstr>File Tables</vt:lpstr>
      <vt:lpstr>Process Tables</vt:lpstr>
      <vt:lpstr>Process Control Structures</vt:lpstr>
      <vt:lpstr>Process Control Structures</vt:lpstr>
      <vt:lpstr>PowerPoint 演示文稿</vt:lpstr>
      <vt:lpstr>Table 3.5    Typical Elements of a Process Control Block  (page 1 of 2) </vt:lpstr>
      <vt:lpstr>Table 3.5    Typical Elements of a Process Control Block  (page 2 of 2) </vt:lpstr>
      <vt:lpstr>Process Identification</vt:lpstr>
      <vt:lpstr>Processor State Information</vt:lpstr>
      <vt:lpstr>PowerPoint 演示文稿</vt:lpstr>
      <vt:lpstr>PowerPoint 演示文稿</vt:lpstr>
      <vt:lpstr>Process Control Information</vt:lpstr>
      <vt:lpstr>PowerPoint 演示文稿</vt:lpstr>
      <vt:lpstr>PowerPoint 演示文稿</vt:lpstr>
      <vt:lpstr>Role of the  Process Control Block</vt:lpstr>
      <vt:lpstr>Modes of Execution</vt:lpstr>
      <vt:lpstr>PowerPoint 演示文稿</vt:lpstr>
      <vt:lpstr>Process Creation</vt:lpstr>
      <vt:lpstr>Table 3.8   Mechanisms for Interrupting the Execution of a Process  (the possible events that may give control to the OS.) </vt:lpstr>
      <vt:lpstr>System Interrupts</vt:lpstr>
      <vt:lpstr>Mode Switching</vt:lpstr>
      <vt:lpstr>Mode switch vs Process Switch</vt:lpstr>
      <vt:lpstr>Change of Process State</vt:lpstr>
      <vt:lpstr>Execution  of the  Operating System with  Design Approaches  </vt:lpstr>
      <vt:lpstr>Execution  Within  User  Processes (b)</vt:lpstr>
      <vt:lpstr>Unix SVR4</vt:lpstr>
      <vt:lpstr>Table 3.9   UNIX Process States </vt:lpstr>
      <vt:lpstr>PowerPoint 演示文稿</vt:lpstr>
      <vt:lpstr>Table 3.10   UNIX Process Image </vt:lpstr>
      <vt:lpstr>Table 3.11  UNIX Process Table Entry </vt:lpstr>
      <vt:lpstr>Table 3.12   UNIX  U (User) Area  </vt:lpstr>
      <vt:lpstr>Process Control</vt:lpstr>
      <vt:lpstr>After Creation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Prof. Chung Yehching (SDS)</cp:lastModifiedBy>
  <cp:revision>2</cp:revision>
  <dcterms:created xsi:type="dcterms:W3CDTF">2017-02-28T21:25:47Z</dcterms:created>
  <dcterms:modified xsi:type="dcterms:W3CDTF">2026-01-29T20:41:44Z</dcterms:modified>
</cp:coreProperties>
</file>