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8"/>
  </p:notesMasterIdLst>
  <p:sldIdLst>
    <p:sldId id="256" r:id="rId3"/>
    <p:sldId id="279" r:id="rId4"/>
    <p:sldId id="516" r:id="rId5"/>
    <p:sldId id="517" r:id="rId6"/>
    <p:sldId id="258" r:id="rId7"/>
    <p:sldId id="259" r:id="rId8"/>
    <p:sldId id="525" r:id="rId9"/>
    <p:sldId id="524" r:id="rId10"/>
    <p:sldId id="261" r:id="rId11"/>
    <p:sldId id="262" r:id="rId12"/>
    <p:sldId id="264" r:id="rId13"/>
    <p:sldId id="265" r:id="rId14"/>
    <p:sldId id="526" r:id="rId15"/>
    <p:sldId id="267" r:id="rId16"/>
    <p:sldId id="268" r:id="rId17"/>
    <p:sldId id="269" r:id="rId18"/>
    <p:sldId id="270" r:id="rId19"/>
    <p:sldId id="271" r:id="rId20"/>
    <p:sldId id="272" r:id="rId21"/>
    <p:sldId id="527" r:id="rId22"/>
    <p:sldId id="528" r:id="rId23"/>
    <p:sldId id="274" r:id="rId24"/>
    <p:sldId id="276" r:id="rId25"/>
    <p:sldId id="277" r:id="rId26"/>
    <p:sldId id="523"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58" autoAdjust="0"/>
    <p:restoredTop sz="93438" autoAdjust="0"/>
  </p:normalViewPr>
  <p:slideViewPr>
    <p:cSldViewPr snapToGrid="0">
      <p:cViewPr varScale="1">
        <p:scale>
          <a:sx n="59" d="100"/>
          <a:sy n="59"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2026/9/16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2E9C-B586-D111-D1A1-3EB0A1CAC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ECBC4-F7D4-892E-196D-8473224DFF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EEFEEE-E081-A2BA-F9DF-FBB619E1AB77}"/>
              </a:ext>
            </a:extLst>
          </p:cNvPr>
          <p:cNvSpPr>
            <a:spLocks noGrp="1"/>
          </p:cNvSpPr>
          <p:nvPr>
            <p:ph type="body" sz="quarter" idx="3"/>
          </p:nvPr>
        </p:nvSpPr>
        <p:spPr/>
        <p:txBody>
          <a:bodyPr/>
          <a:lstStyle/>
          <a:p>
            <a:r>
              <a:rPr dirty="0"/>
              <a:t>Here is the outline. We cover three papers in order. First, </a:t>
            </a:r>
            <a:r>
              <a:rPr dirty="0" err="1"/>
              <a:t>AlphaEvolve</a:t>
            </a:r>
            <a:r>
              <a:rPr dirty="0"/>
              <a:t>, a coding agent from Google DeepMind that uses evolutionary search with LLMs for scientific discovery. Second, </a:t>
            </a:r>
            <a:r>
              <a:rPr dirty="0" err="1"/>
              <a:t>EvoX</a:t>
            </a:r>
            <a:r>
              <a:rPr dirty="0"/>
              <a:t>, which introduces meta-evolution to co-evolve both solutions and search strategies. Third, CORAL, which pushes toward fully autonomous multi-agent evolution with shared persistent memory. We conclude with a summary of contributions and how these works relate to each other.</a:t>
            </a:r>
          </a:p>
        </p:txBody>
      </p:sp>
      <p:sp>
        <p:nvSpPr>
          <p:cNvPr id="4" name="Slide Number Placeholder 3">
            <a:extLst>
              <a:ext uri="{FF2B5EF4-FFF2-40B4-BE49-F238E27FC236}">
                <a16:creationId xmlns:a16="http://schemas.microsoft.com/office/drawing/2014/main" id="{95A037AF-925A-5DBF-0B54-0A21D76C2590}"/>
              </a:ext>
            </a:extLst>
          </p:cNvPr>
          <p:cNvSpPr>
            <a:spLocks noGrp="1"/>
          </p:cNvSpPr>
          <p:nvPr>
            <p:ph type="sldNum" sz="quarter" idx="5"/>
          </p:nvPr>
        </p:nvSpPr>
        <p:spPr/>
      </p:sp>
    </p:spTree>
    <p:extLst>
      <p:ext uri="{BB962C8B-B14F-4D97-AF65-F5344CB8AC3E}">
        <p14:creationId xmlns:p14="http://schemas.microsoft.com/office/powerpoint/2010/main" val="1440772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24272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152A-358B-DE46-654F-8B54DA5C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9B44D-869B-30FD-CA04-D58FFCEE4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1D755-E793-4D40-2633-B9460F886371}"/>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A6DFA630-E63F-B070-6D8D-ADC5E32EEE5D}"/>
              </a:ext>
            </a:extLst>
          </p:cNvPr>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7718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addresses a fundamental challenge: how to use LLMs to make genuine scientific and engineering discoveries. The key insight is to represent discovery candidates as code and use evolutionary search to iteratively improve them, with automated evaluation providing ground truth. This avoids LLM hallucinations since every candidate is verified by execution. Compared to </a:t>
            </a:r>
            <a:r>
              <a:rPr dirty="0" err="1"/>
              <a:t>FunSearch</a:t>
            </a:r>
            <a:r>
              <a:rPr dirty="0"/>
              <a:t>, </a:t>
            </a:r>
            <a:r>
              <a:rPr dirty="0" err="1"/>
              <a:t>AlphaEvolve</a:t>
            </a:r>
            <a:r>
              <a:rPr dirty="0"/>
              <a:t> is substantially more general: it evolves entire codebases rather than single functions, works with any programming language, leverages state-of-the-art LLMs with rich prompting, and can optimize multiple objectives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AlphaEvolve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AlphaEvolve handles the rest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0CF3-C5A6-7F7A-7546-658C7FFEE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524F0-0B93-FF46-D18D-DB9E69D46C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91E370-293B-37BD-D9C0-DD64076FB277}"/>
              </a:ext>
            </a:extLst>
          </p:cNvPr>
          <p:cNvSpPr>
            <a:spLocks noGrp="1"/>
          </p:cNvSpPr>
          <p:nvPr>
            <p:ph type="body" sz="quarter" idx="3"/>
          </p:nvPr>
        </p:nvSpPr>
        <p:spPr/>
        <p:txBody>
          <a:bodyPr/>
          <a:lstStyle/>
          <a:p>
            <a:r>
              <a:rPr dirty="0"/>
              <a:t>The </a:t>
            </a:r>
            <a:r>
              <a:rPr dirty="0" err="1"/>
              <a:t>AlphaEvolve</a:t>
            </a:r>
            <a:r>
              <a:rPr dirty="0"/>
              <a:t>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t>
            </a:r>
            <a:r>
              <a:rPr dirty="0" err="1"/>
              <a:t>AlphaEvolve</a:t>
            </a:r>
            <a:r>
              <a:rPr dirty="0"/>
              <a:t> handles the rest autonomously.</a:t>
            </a:r>
          </a:p>
        </p:txBody>
      </p:sp>
      <p:sp>
        <p:nvSpPr>
          <p:cNvPr id="4" name="Slide Number Placeholder 3">
            <a:extLst>
              <a:ext uri="{FF2B5EF4-FFF2-40B4-BE49-F238E27FC236}">
                <a16:creationId xmlns:a16="http://schemas.microsoft.com/office/drawing/2014/main" id="{824F3334-862E-E563-21DF-1561D15C163B}"/>
              </a:ext>
            </a:extLst>
          </p:cNvPr>
          <p:cNvSpPr>
            <a:spLocks noGrp="1"/>
          </p:cNvSpPr>
          <p:nvPr>
            <p:ph type="sldNum" sz="quarter" idx="5"/>
          </p:nvPr>
        </p:nvSpPr>
        <p:spPr/>
      </p:sp>
    </p:spTree>
    <p:extLst>
      <p:ext uri="{BB962C8B-B14F-4D97-AF65-F5344CB8AC3E}">
        <p14:creationId xmlns:p14="http://schemas.microsoft.com/office/powerpoint/2010/main" val="450590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028A-4EE2-C005-2422-4C2775994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35598-9352-64E6-63D4-903C9A56AC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727C77-87B5-410F-4E94-F5021FCD4B46}"/>
              </a:ext>
            </a:extLst>
          </p:cNvPr>
          <p:cNvSpPr>
            <a:spLocks noGrp="1"/>
          </p:cNvSpPr>
          <p:nvPr>
            <p:ph type="body" sz="quarter" idx="3"/>
          </p:nvPr>
        </p:nvSpPr>
        <p:spPr/>
        <p:txBody>
          <a:bodyPr/>
          <a:lstStyle/>
          <a:p>
            <a:endParaRPr lang="en" altLang="zh-CN" dirty="0"/>
          </a:p>
        </p:txBody>
      </p:sp>
      <p:sp>
        <p:nvSpPr>
          <p:cNvPr id="4" name="Slide Number Placeholder 3">
            <a:extLst>
              <a:ext uri="{FF2B5EF4-FFF2-40B4-BE49-F238E27FC236}">
                <a16:creationId xmlns:a16="http://schemas.microsoft.com/office/drawing/2014/main" id="{C8FD959E-E164-2AA5-70C3-81B7BF4C22A6}"/>
              </a:ext>
            </a:extLst>
          </p:cNvPr>
          <p:cNvSpPr>
            <a:spLocks noGrp="1"/>
          </p:cNvSpPr>
          <p:nvPr>
            <p:ph type="sldNum" sz="quarter" idx="5"/>
          </p:nvPr>
        </p:nvSpPr>
        <p:spPr/>
      </p:sp>
    </p:spTree>
    <p:extLst>
      <p:ext uri="{BB962C8B-B14F-4D97-AF65-F5344CB8AC3E}">
        <p14:creationId xmlns:p14="http://schemas.microsoft.com/office/powerpoint/2010/main" val="133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of </a:t>
            </a:r>
            <a:r>
              <a:rPr dirty="0" err="1"/>
              <a:t>AlphaEvolve's</a:t>
            </a:r>
            <a:r>
              <a:rPr dirty="0"/>
              <a:t> most celebrated results is discovering a faster algorithm for multiplying 4x4 matrices. Since Strassen's algorithm in 1969, the best known method required 49 scalar multiplications. </a:t>
            </a:r>
            <a:r>
              <a:rPr dirty="0" err="1"/>
              <a:t>AlphaEvolve</a:t>
            </a:r>
            <a:r>
              <a:rPr dirty="0"/>
              <a:t> found a rank-48 algorithm, the first improvement in 56 years. The system achieved this by evolving not just the algorithm but the entire training pipeline, including the optimizer, loss function, and hyperparameters. More broadly, </a:t>
            </a:r>
            <a:r>
              <a:rPr dirty="0" err="1"/>
              <a:t>AlphaEvolve</a:t>
            </a:r>
            <a:r>
              <a:rPr dirty="0"/>
              <a:t> improved the state of the art for 14 different matrix multiplication targets, and for all parameter settings </a:t>
            </a:r>
            <a:r>
              <a:rPr dirty="0" err="1"/>
              <a:t>m,n,p</a:t>
            </a:r>
            <a:r>
              <a:rPr dirty="0"/>
              <a:t> up to 5, it either matched or exceeded the best known solutions.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has demonstrated significant real-world engineering impact. For data center scheduling, it discovered a remarkably simple 7-line Python heuristic that outperforms the existing production heuristic. This function has been deployed across Google's entire fleet and continuously recovers 0.7% of fleet-wide compute resources. For Gemini kernel optimization, </a:t>
            </a:r>
            <a:r>
              <a:rPr dirty="0" err="1"/>
              <a:t>AlphaEvolve</a:t>
            </a:r>
            <a:r>
              <a:rPr dirty="0"/>
              <a:t> evolved tiling heuristics that achieve a 23% average kernel speedup and 1% overall Gemini training time reduction. It also optimized TPU arithmetic circuits in Verilog and achieved a 32% speedup on </a:t>
            </a:r>
            <a:r>
              <a:rPr dirty="0" err="1"/>
              <a:t>FlashAttention</a:t>
            </a:r>
            <a:r>
              <a:rPr dirty="0"/>
              <a:t> kernels.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move to EvoX, our second paper. EvoX comes from UC Berkeley and Stanford, and its key insight is that the search strategy itself should be treated as an evolvable object. While AlphaEvolve uses a fixed MAP-Elites based search strategy, EvoX dynamically adapts how candidates are selected and varied during the optimization process. This enables it to avoid plateaus that fixed strategies inevitably hit.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EvoX</a:t>
            </a:r>
            <a:r>
              <a:rPr dirty="0"/>
              <a:t> is motivated by a fundamental limitation of prior systems. </a:t>
            </a:r>
            <a:r>
              <a:rPr dirty="0" err="1"/>
              <a:t>AlphaEvolve</a:t>
            </a:r>
            <a:r>
              <a:rPr dirty="0"/>
              <a:t>, </a:t>
            </a:r>
            <a:r>
              <a:rPr dirty="0" err="1"/>
              <a:t>OpenEvolve</a:t>
            </a:r>
            <a:r>
              <a:rPr dirty="0"/>
              <a:t>, and others all use fixed search strategies with hand-specified parameters. For example, </a:t>
            </a:r>
            <a:r>
              <a:rPr dirty="0" err="1"/>
              <a:t>AlphaEvolve</a:t>
            </a:r>
            <a:r>
              <a:rPr dirty="0"/>
              <a:t> uses MAP-Elites with predefined population structures, and </a:t>
            </a:r>
            <a:r>
              <a:rPr dirty="0" err="1"/>
              <a:t>OpenEvolve</a:t>
            </a:r>
            <a:r>
              <a:rPr dirty="0"/>
              <a:t> similarly relies on static diversity heuristics. The problem is that a fixed strategy often fails to generalize across tasks or across different stages of optimization within the same task. </a:t>
            </a:r>
            <a:r>
              <a:rPr dirty="0" err="1"/>
              <a:t>EvoX</a:t>
            </a:r>
            <a:r>
              <a:rPr dirty="0"/>
              <a:t> addresses this by treating the search strategy itself as an evolvable object, creating a two-level evolution process.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0E42-F903-6536-A155-AE84DC381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81D75-0789-EB6A-D242-82C3AD9CA0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914D2D-4894-48FE-93BC-E0F1FA87858D}"/>
              </a:ext>
            </a:extLst>
          </p:cNvPr>
          <p:cNvSpPr>
            <a:spLocks noGrp="1"/>
          </p:cNvSpPr>
          <p:nvPr>
            <p:ph type="body" sz="quarter" idx="3"/>
          </p:nvPr>
        </p:nvSpPr>
        <p:spPr/>
        <p:txBody>
          <a:bodyPr/>
          <a:lstStyle/>
          <a:p>
            <a:r>
              <a:rPr dirty="0" err="1"/>
              <a:t>EvoX</a:t>
            </a:r>
            <a:r>
              <a:rPr dirty="0"/>
              <a:t> operates as two coupled loops. The inner loop is the standard solution evolution: a search strategy selects a parent candidate and a variation operator, the LLM generates a new candidate, and the evaluator scores it. </a:t>
            </a:r>
            <a:r>
              <a:rPr dirty="0" err="1"/>
              <a:t>EvoX</a:t>
            </a:r>
            <a:r>
              <a:rPr dirty="0"/>
              <a:t> defines three variation operators: local refinement for fine-grained edits, structural variation for major redesigns, and free-form variation with no constraints. The outer loop monitors progress over a sliding window. When progress stalls below a threshold, it triggers strategy evolution. The LLM generates a new strategy conditioned on the history of past strategies and their performance, and the current population state descriptor. This state-conditional adaptation is what sets </a:t>
            </a:r>
            <a:r>
              <a:rPr dirty="0" err="1"/>
              <a:t>EvoX</a:t>
            </a:r>
            <a:r>
              <a:rPr dirty="0"/>
              <a:t> apart.</a:t>
            </a:r>
          </a:p>
        </p:txBody>
      </p:sp>
      <p:sp>
        <p:nvSpPr>
          <p:cNvPr id="4" name="Slide Number Placeholder 3">
            <a:extLst>
              <a:ext uri="{FF2B5EF4-FFF2-40B4-BE49-F238E27FC236}">
                <a16:creationId xmlns:a16="http://schemas.microsoft.com/office/drawing/2014/main" id="{29E62BB7-28FD-61D1-1283-05951CB4A7D6}"/>
              </a:ext>
            </a:extLst>
          </p:cNvPr>
          <p:cNvSpPr>
            <a:spLocks noGrp="1"/>
          </p:cNvSpPr>
          <p:nvPr>
            <p:ph type="sldNum" sz="quarter" idx="5"/>
          </p:nvPr>
        </p:nvSpPr>
        <p:spPr/>
      </p:sp>
    </p:spTree>
    <p:extLst>
      <p:ext uri="{BB962C8B-B14F-4D97-AF65-F5344CB8AC3E}">
        <p14:creationId xmlns:p14="http://schemas.microsoft.com/office/powerpoint/2010/main" val="103453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case study on signal processing beautifully illustrates how EvoX adapts. The task is to build a filtering program that balances fidelity, smoothness, low lag, and minimal false trend changes. Starting with random sampling, EvoX detects stagnation at iteration 20 and switches to greedy search. At iteration 40, it makes the key breakthrough by switching to stratified multi-objective sampling, which combines parents and inspirations from different objective tiers. This creates novel hybrid designs like combining SSA with Whittaker smoothing, yielding a +0.119 jump. At iteration 60, it shifts to UCB-guided structural variation for another +0.056. Finally, it uses local refinement for polishing. The static baseline stagnates at 0.53, while EvoX reaches 0.74.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eight mathematical optimization tasks, </a:t>
            </a:r>
            <a:r>
              <a:rPr dirty="0" err="1"/>
              <a:t>EvoX</a:t>
            </a:r>
            <a:r>
              <a:rPr dirty="0"/>
              <a:t> achieves the strongest overall performance among open evolutionary frameworks. Under GPT-5, it attains the best or tied-best result on 7 of 8 tasks. Under Gemini-3.0-Pro, it similarly achieves the best score on 7 of 8 tasks. Notably, </a:t>
            </a:r>
            <a:r>
              <a:rPr dirty="0" err="1"/>
              <a:t>EvoX</a:t>
            </a:r>
            <a:r>
              <a:rPr dirty="0"/>
              <a:t> matches or exceeds the closed-source </a:t>
            </a:r>
            <a:r>
              <a:rPr dirty="0" err="1"/>
              <a:t>AlphaEvolve</a:t>
            </a:r>
            <a:r>
              <a:rPr dirty="0"/>
              <a:t> on 5 out of 7 comparable tasks, within just 100 iterations, while </a:t>
            </a:r>
            <a:r>
              <a:rPr dirty="0" err="1"/>
              <a:t>AlphaEvolve's</a:t>
            </a:r>
            <a:r>
              <a:rPr dirty="0"/>
              <a:t> iteration budget is not publicly specified. In Circle Packing </a:t>
            </a:r>
            <a:r>
              <a:rPr dirty="0" err="1"/>
              <a:t>Rect</a:t>
            </a:r>
            <a:r>
              <a:rPr dirty="0"/>
              <a:t>, </a:t>
            </a:r>
            <a:r>
              <a:rPr dirty="0" err="1"/>
              <a:t>EvoX</a:t>
            </a:r>
            <a:r>
              <a:rPr dirty="0"/>
              <a:t> actually exceeds </a:t>
            </a:r>
            <a:r>
              <a:rPr dirty="0" err="1"/>
              <a:t>AlphaEvolve's</a:t>
            </a:r>
            <a:r>
              <a:rPr dirty="0"/>
              <a:t> score (2.36583237 vs 2.36583213).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math, </a:t>
            </a:r>
            <a:r>
              <a:rPr dirty="0" err="1"/>
              <a:t>EvoX</a:t>
            </a:r>
            <a:r>
              <a:rPr dirty="0"/>
              <a:t> also dominates on system optimization and algorithm benchmarks. On six real-world system tasks including load balancing, GPU sharing, and transaction scheduling, </a:t>
            </a:r>
            <a:r>
              <a:rPr dirty="0" err="1"/>
              <a:t>EvoX</a:t>
            </a:r>
            <a:r>
              <a:rPr dirty="0"/>
              <a:t> achieves the best mean score on all tasks under GPT-5 and exceeds human-best results on all six under Gemini-3.0-Pro. On algorithm and research challenges, </a:t>
            </a:r>
            <a:r>
              <a:rPr dirty="0" err="1"/>
              <a:t>EvoX</a:t>
            </a:r>
            <a:r>
              <a:rPr dirty="0"/>
              <a:t> achieves the highest average score on ALE-Bench-Lite and the highest median on 172 Frontier-CS tasks, improving over </a:t>
            </a:r>
            <a:r>
              <a:rPr dirty="0" err="1"/>
              <a:t>OpenEvolve</a:t>
            </a:r>
            <a:r>
              <a:rPr dirty="0"/>
              <a:t> by 24% in mean score. The cost-quality tradeoff analysis shows </a:t>
            </a:r>
            <a:r>
              <a:rPr dirty="0" err="1"/>
              <a:t>EvoX</a:t>
            </a:r>
            <a:r>
              <a:rPr dirty="0"/>
              <a:t> is also cost-efficient, requiring less than $1 to exceed quality thresholds that cost competitors $7-15.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third paper is CORAL from MIT. CORAL pushes the frontier further by introducing fully autonomous multi-agent evolution. While AlphaEvolve and EvoX use fixed evolutionary loops with the LLM as a passive generator, CORAL gives agents full autonomy over the search process. Multiple agents run asynchronously, sharing discoveries through persistent memory, and using heartbeat mechanisms for self-reflection and course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 positions itself by identifying three paradigms. Fixed evolutionary search, used by AlphaEvolve and others, keeps all search decisions external to the agent. Autonomous single-agent evolution gives the agent control over what to retrieve, when to test, and what knowledge to store. Autonomous multi-agent evolution, CORAL's contribution, has multiple agents exploring in parallel with full autonomy, coordinating indirectly through shared persistent memory rather than through explicit messaging or role assignment. This horizontal parallelism enables exploration diversity and emergent knowledge sharing.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CDD0-8475-CCFB-2314-D57175253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F498F-47C1-3DDC-387F-1B7B2682601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0EEF15-91A9-19D7-6B52-40DEABD0DF70}"/>
              </a:ext>
            </a:extLst>
          </p:cNvPr>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a:extLst>
              <a:ext uri="{FF2B5EF4-FFF2-40B4-BE49-F238E27FC236}">
                <a16:creationId xmlns:a16="http://schemas.microsoft.com/office/drawing/2014/main" id="{98A778EC-8C19-24D7-F96C-934397EF83B5}"/>
              </a:ext>
            </a:extLst>
          </p:cNvPr>
          <p:cNvSpPr>
            <a:spLocks noGrp="1"/>
          </p:cNvSpPr>
          <p:nvPr>
            <p:ph type="sldNum" sz="quarter" idx="5"/>
          </p:nvPr>
        </p:nvSpPr>
        <p:spPr/>
      </p:sp>
    </p:spTree>
    <p:extLst>
      <p:ext uri="{BB962C8B-B14F-4D97-AF65-F5344CB8AC3E}">
        <p14:creationId xmlns:p14="http://schemas.microsoft.com/office/powerpoint/2010/main" val="515351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9331A-15EC-2B5F-8925-C6F6A0F23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6F1-69CD-5C31-2DFA-99CC192C4D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DD7888-A0E8-1B8C-5061-F16A17C53FF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A1A2319-FFD3-FE7D-467F-13C21B8B4ED8}"/>
              </a:ext>
            </a:extLst>
          </p:cNvPr>
          <p:cNvSpPr>
            <a:spLocks noGrp="1"/>
          </p:cNvSpPr>
          <p:nvPr>
            <p:ph type="sldNum" sz="quarter" idx="5"/>
          </p:nvPr>
        </p:nvSpPr>
        <p:spPr/>
      </p:sp>
    </p:spTree>
    <p:extLst>
      <p:ext uri="{BB962C8B-B14F-4D97-AF65-F5344CB8AC3E}">
        <p14:creationId xmlns:p14="http://schemas.microsoft.com/office/powerpoint/2010/main" val="2133077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CORAL's single agent already outperforms all fixed evolutionary search baselines on every task. The improvement rate is 3 to 10 times higher, meaning CORAL wastes far fewer evaluations on unproductive candidates. It typically converges within 5 to 20 evaluations, compared to 60 to 100 for baselines. This efficiency comes from agent autonomy: CORAL agents analyze prior attempts, choose which aspects to modify, decide when to run local tests before submitting for evaluation, and accumulate reusable knowledge. Fixed baselines follow rigid pipelines that cannot adapt to task-specific structure.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C721-29B8-A9C3-2CA8-EDD833F1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9DA58-A042-EA35-E509-1B77861A48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521528-75F0-CF64-87F6-A987378C063C}"/>
              </a:ext>
            </a:extLst>
          </p:cNvPr>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a:extLst>
              <a:ext uri="{FF2B5EF4-FFF2-40B4-BE49-F238E27FC236}">
                <a16:creationId xmlns:a16="http://schemas.microsoft.com/office/drawing/2014/main" id="{D8ABCA98-386D-63B5-297E-79DC3310794F}"/>
              </a:ext>
            </a:extLst>
          </p:cNvPr>
          <p:cNvSpPr>
            <a:spLocks noGrp="1"/>
          </p:cNvSpPr>
          <p:nvPr>
            <p:ph type="sldNum" sz="quarter" idx="5"/>
          </p:nvPr>
        </p:nvSpPr>
        <p:spPr/>
      </p:sp>
    </p:spTree>
    <p:extLst>
      <p:ext uri="{BB962C8B-B14F-4D97-AF65-F5344CB8AC3E}">
        <p14:creationId xmlns:p14="http://schemas.microsoft.com/office/powerpoint/2010/main" val="185247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87532"/>
            <a:ext cx="10363200" cy="1470025"/>
          </a:xfrm>
        </p:spPr>
        <p:txBody>
          <a:bodyPr/>
          <a:lstStyle/>
          <a:p>
            <a:r>
              <a:rPr sz="4400" dirty="0"/>
              <a:t>Autonomous Agent Systems for Discovery and Engineering</a:t>
            </a:r>
          </a:p>
        </p:txBody>
      </p:sp>
      <p:sp>
        <p:nvSpPr>
          <p:cNvPr id="12" name="Subtitle 2">
            <a:extLst>
              <a:ext uri="{FF2B5EF4-FFF2-40B4-BE49-F238E27FC236}">
                <a16:creationId xmlns:a16="http://schemas.microsoft.com/office/drawing/2014/main" id="{CA19D585-4B46-C3EA-768C-93691EBBA050}"/>
              </a:ext>
            </a:extLst>
          </p:cNvPr>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Xiaoyuan Liu</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103B-D8AF-3788-C0F8-A3B7A56D4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C25DE-3BEE-2374-4C05-662FA1BBBB37}"/>
              </a:ext>
            </a:extLst>
          </p:cNvPr>
          <p:cNvSpPr>
            <a:spLocks noGrp="1"/>
          </p:cNvSpPr>
          <p:nvPr>
            <p:ph type="title"/>
          </p:nvPr>
        </p:nvSpPr>
        <p:spPr/>
        <p:txBody>
          <a:bodyPr/>
          <a:lstStyle/>
          <a:p>
            <a:r>
              <a:rPr dirty="0"/>
              <a:t>Outline</a:t>
            </a:r>
          </a:p>
        </p:txBody>
      </p:sp>
      <p:sp>
        <p:nvSpPr>
          <p:cNvPr id="3" name="內容版面配置區 2">
            <a:extLst>
              <a:ext uri="{FF2B5EF4-FFF2-40B4-BE49-F238E27FC236}">
                <a16:creationId xmlns:a16="http://schemas.microsoft.com/office/drawing/2014/main" id="{27827CA9-42EE-E7D8-F2D6-A269181BB2B1}"/>
              </a:ext>
            </a:extLst>
          </p:cNvPr>
          <p:cNvSpPr txBox="1">
            <a:spLocks/>
          </p:cNvSpPr>
          <p:nvPr/>
        </p:nvSpPr>
        <p:spPr bwMode="auto">
          <a:xfrm>
            <a:off x="1173238" y="1119184"/>
            <a:ext cx="10270977"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603050405020304" pitchFamily="18" charset="0"/>
                <a:cs typeface="Times New Roman" panose="02020603050405020304" pitchFamily="18" charset="0"/>
              </a:rPr>
              <a:t>Introduction</a:t>
            </a:r>
          </a:p>
          <a:p>
            <a:r>
              <a:rPr lang="en" altLang="zh-CN" sz="2800" dirty="0">
                <a:latin typeface="Times New Roman"/>
              </a:rPr>
              <a:t>Paper 1: </a:t>
            </a:r>
            <a:r>
              <a:rPr lang="en" altLang="zh-CN" sz="2800" dirty="0" err="1">
                <a:latin typeface="Times New Roman"/>
              </a:rPr>
              <a:t>AlphaEvolve</a:t>
            </a:r>
            <a:r>
              <a:rPr lang="en" altLang="zh-CN" sz="2800" dirty="0">
                <a:latin typeface="Times New Roman"/>
              </a:rPr>
              <a:t> (Google DeepMind, 2025) </a:t>
            </a:r>
          </a:p>
          <a:p>
            <a:pPr lvl="1"/>
            <a:r>
              <a:rPr lang="en" altLang="zh-CN" sz="2000" dirty="0">
                <a:latin typeface="Times New Roman"/>
              </a:rPr>
              <a:t>Evolutionary coding agent for scientific and algorithmic discovery</a:t>
            </a:r>
          </a:p>
          <a:p>
            <a:r>
              <a:rPr lang="en" altLang="zh-CN" sz="2800" dirty="0">
                <a:latin typeface="Times New Roman"/>
              </a:rPr>
              <a:t>Paper 2: </a:t>
            </a:r>
            <a:r>
              <a:rPr lang="en" altLang="zh-CN" sz="2800" dirty="0" err="1">
                <a:latin typeface="Times New Roman"/>
              </a:rPr>
              <a:t>EvoX</a:t>
            </a:r>
            <a:r>
              <a:rPr lang="en" altLang="zh-CN" sz="2800" dirty="0">
                <a:latin typeface="Times New Roman"/>
              </a:rPr>
              <a:t> (UC Berkeley &amp; Stanford, 2026)</a:t>
            </a:r>
          </a:p>
          <a:p>
            <a:pPr lvl="1"/>
            <a:r>
              <a:rPr lang="en" altLang="zh-CN" sz="2000" dirty="0">
                <a:latin typeface="Times New Roman"/>
              </a:rPr>
              <a:t>Meta-evolution: co-evolving solutions and search strategies</a:t>
            </a:r>
          </a:p>
          <a:p>
            <a:r>
              <a:rPr lang="en" altLang="zh-CN" sz="2800" dirty="0">
                <a:latin typeface="Times New Roman"/>
              </a:rPr>
              <a:t>Paper 3: CORAL (MIT, 2026)</a:t>
            </a:r>
          </a:p>
          <a:p>
            <a:pPr lvl="1"/>
            <a:r>
              <a:rPr lang="en" altLang="zh-CN" sz="2000" dirty="0">
                <a:latin typeface="Times New Roman"/>
              </a:rPr>
              <a:t>Autonomous multi-agent evolution for open-ended discovery</a:t>
            </a:r>
            <a:endParaRPr lang="en-US" altLang="zh-TW" sz="2000" kern="0" dirty="0">
              <a:latin typeface="Times New Roman" panose="02020603050405020304" pitchFamily="18" charset="0"/>
              <a:cs typeface="Times New Roman" panose="02020603050405020304" pitchFamily="18" charset="0"/>
            </a:endParaRPr>
          </a:p>
          <a:p>
            <a:r>
              <a:rPr lang="en-US" altLang="zh-CN" sz="2800" kern="0" dirty="0">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20150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AI Systems for Discovery</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5" y="1378533"/>
            <a:ext cx="5424246" cy="4623514"/>
          </a:xfrm>
        </p:spPr>
        <p:txBody>
          <a:bodyPr/>
          <a:lstStyle/>
          <a:p>
            <a:r>
              <a:rPr lang="en-US" sz="2400" dirty="0">
                <a:latin typeface="Times New Roman" panose="02020603050405020304" pitchFamily="18" charset="0"/>
                <a:cs typeface="Times New Roman" panose="02020603050405020304" pitchFamily="18" charset="0"/>
              </a:rPr>
              <a:t>AI systems can help accelerate the process of scientific discoveries and engineering tasks by automating certain stages</a:t>
            </a:r>
          </a:p>
          <a:p>
            <a:pPr lvl="1"/>
            <a:r>
              <a:rPr lang="en-US" sz="1867" dirty="0">
                <a:latin typeface="Times New Roman" panose="02020603050405020304" pitchFamily="18" charset="0"/>
                <a:cs typeface="Times New Roman" panose="02020603050405020304" pitchFamily="18" charset="0"/>
              </a:rPr>
              <a:t>E.g., the recent “</a:t>
            </a:r>
            <a:r>
              <a:rPr lang="en-US" sz="1867" dirty="0" err="1">
                <a:latin typeface="Times New Roman" panose="02020603050405020304" pitchFamily="18" charset="0"/>
                <a:cs typeface="Times New Roman" panose="02020603050405020304" pitchFamily="18" charset="0"/>
              </a:rPr>
              <a:t>autoresearch</a:t>
            </a:r>
            <a:r>
              <a:rPr lang="en-US" sz="1867" dirty="0">
                <a:latin typeface="Times New Roman" panose="02020603050405020304" pitchFamily="18" charset="0"/>
                <a:cs typeface="Times New Roman" panose="02020603050405020304" pitchFamily="18" charset="0"/>
              </a:rPr>
              <a:t>” project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Agentic systems powered by frontier LLMs can achieve strong results by further pushing the boundary of autonomy</a:t>
            </a:r>
          </a:p>
        </p:txBody>
      </p:sp>
      <p:sp>
        <p:nvSpPr>
          <p:cNvPr id="51" name="TextBox 50">
            <a:extLst>
              <a:ext uri="{FF2B5EF4-FFF2-40B4-BE49-F238E27FC236}">
                <a16:creationId xmlns:a16="http://schemas.microsoft.com/office/drawing/2014/main" id="{30EBB7F7-88DE-6B29-228C-E27212F7069C}"/>
              </a:ext>
            </a:extLst>
          </p:cNvPr>
          <p:cNvSpPr txBox="1"/>
          <p:nvPr/>
        </p:nvSpPr>
        <p:spPr>
          <a:xfrm>
            <a:off x="6855585" y="5632715"/>
            <a:ext cx="4504862" cy="369332"/>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a:t>
            </a:r>
            <a:r>
              <a:rPr lang="en-CN">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Andrej’s tweet about “</a:t>
            </a:r>
            <a:r>
              <a:rPr lang="en-US" dirty="0" err="1">
                <a:latin typeface="Times New Roman" panose="02020603050405020304" pitchFamily="18" charset="0"/>
                <a:ea typeface="標楷體" pitchFamily="65" charset="-120"/>
                <a:cs typeface="Times New Roman" panose="02020603050405020304" pitchFamily="18" charset="0"/>
              </a:rPr>
              <a:t>autoresearch</a:t>
            </a:r>
            <a:r>
              <a:rPr lang="en-US" dirty="0">
                <a:latin typeface="Times New Roman" panose="02020603050405020304" pitchFamily="18" charset="0"/>
                <a:ea typeface="標楷體" pitchFamily="65" charset="-120"/>
                <a:cs typeface="Times New Roman" panose="02020603050405020304" pitchFamily="18" charset="0"/>
              </a:rPr>
              <a:t>”</a:t>
            </a:r>
            <a:endParaRPr lang="en-CN" dirty="0">
              <a:latin typeface="Times New Roman" panose="02020603050405020304" pitchFamily="18" charset="0"/>
              <a:ea typeface="標楷體" pitchFamily="65" charset="-120"/>
              <a:cs typeface="Times New Roman" panose="02020603050405020304" pitchFamily="18" charset="0"/>
            </a:endParaRPr>
          </a:p>
        </p:txBody>
      </p:sp>
      <p:pic>
        <p:nvPicPr>
          <p:cNvPr id="3" name="图片 2">
            <a:extLst>
              <a:ext uri="{FF2B5EF4-FFF2-40B4-BE49-F238E27FC236}">
                <a16:creationId xmlns:a16="http://schemas.microsoft.com/office/drawing/2014/main" id="{A6C863AC-4C59-592F-9BAA-F1AA840DC59C}"/>
              </a:ext>
            </a:extLst>
          </p:cNvPr>
          <p:cNvPicPr>
            <a:picLocks noChangeAspect="1"/>
          </p:cNvPicPr>
          <p:nvPr/>
        </p:nvPicPr>
        <p:blipFill>
          <a:blip r:embed="rId3"/>
          <a:srcRect b="46095"/>
          <a:stretch>
            <a:fillRect/>
          </a:stretch>
        </p:blipFill>
        <p:spPr>
          <a:xfrm>
            <a:off x="6944646" y="1378534"/>
            <a:ext cx="4326741" cy="4100932"/>
          </a:xfrm>
          <a:prstGeom prst="rect">
            <a:avLst/>
          </a:prstGeom>
        </p:spPr>
      </p:pic>
    </p:spTree>
    <p:extLst>
      <p:ext uri="{BB962C8B-B14F-4D97-AF65-F5344CB8AC3E}">
        <p14:creationId xmlns:p14="http://schemas.microsoft.com/office/powerpoint/2010/main" val="25528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8388-592A-50DE-F5AC-538F52A3D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7C851-7E6C-D631-F95B-98BC82B99EDD}"/>
              </a:ext>
            </a:extLst>
          </p:cNvPr>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Roadmap</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BB8AFBAB-35EE-C576-3939-1A67A42A564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6" name="图片 5">
            <a:extLst>
              <a:ext uri="{FF2B5EF4-FFF2-40B4-BE49-F238E27FC236}">
                <a16:creationId xmlns:a16="http://schemas.microsoft.com/office/drawing/2014/main" id="{A0617873-47DB-A275-A780-0565CB5F15B1}"/>
              </a:ext>
            </a:extLst>
          </p:cNvPr>
          <p:cNvPicPr>
            <a:picLocks noChangeAspect="1"/>
          </p:cNvPicPr>
          <p:nvPr/>
        </p:nvPicPr>
        <p:blipFill>
          <a:blip r:embed="rId3"/>
          <a:stretch>
            <a:fillRect/>
          </a:stretch>
        </p:blipFill>
        <p:spPr>
          <a:xfrm>
            <a:off x="1468581" y="1759934"/>
            <a:ext cx="8797636" cy="3994083"/>
          </a:xfrm>
          <a:prstGeom prst="rect">
            <a:avLst/>
          </a:prstGeom>
        </p:spPr>
      </p:pic>
      <p:sp>
        <p:nvSpPr>
          <p:cNvPr id="7" name="TextBox 50">
            <a:extLst>
              <a:ext uri="{FF2B5EF4-FFF2-40B4-BE49-F238E27FC236}">
                <a16:creationId xmlns:a16="http://schemas.microsoft.com/office/drawing/2014/main" id="{679E1E6C-20A3-201C-F80A-8B0E4FD649F0}"/>
              </a:ext>
            </a:extLst>
          </p:cNvPr>
          <p:cNvSpPr txBox="1"/>
          <p:nvPr/>
        </p:nvSpPr>
        <p:spPr>
          <a:xfrm>
            <a:off x="3162889" y="5769990"/>
            <a:ext cx="5866221" cy="369332"/>
          </a:xfrm>
          <a:prstGeom prst="rect">
            <a:avLst/>
          </a:prstGeom>
          <a:noFill/>
        </p:spPr>
        <p:txBody>
          <a:bodyPr wrap="none" rtlCol="0" anchor="ctr" anchorCtr="1">
            <a:spAutoFit/>
          </a:bodyPr>
          <a:lstStyle/>
          <a:p>
            <a:r>
              <a:rPr lang="en-CN">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2</a:t>
            </a:r>
            <a:r>
              <a:rPr lang="en-CN">
                <a:latin typeface="Times New Roman" panose="02020603050405020304" pitchFamily="18" charset="0"/>
                <a:ea typeface="標楷體" pitchFamily="65" charset="-120"/>
                <a:cs typeface="Times New Roman" panose="02020603050405020304" pitchFamily="18" charset="0"/>
              </a:rPr>
              <a:t>. </a:t>
            </a:r>
            <a:r>
              <a:rPr lang="en-CN" dirty="0">
                <a:latin typeface="Times New Roman" panose="02020603050405020304" pitchFamily="18" charset="0"/>
                <a:ea typeface="標楷體" pitchFamily="65" charset="-120"/>
                <a:cs typeface="Times New Roman" panose="02020603050405020304" pitchFamily="18" charset="0"/>
              </a:rPr>
              <a:t>Timeline of Code Generation Benchmark Evolution</a:t>
            </a:r>
          </a:p>
        </p:txBody>
      </p:sp>
      <p:sp>
        <p:nvSpPr>
          <p:cNvPr id="8" name="Shape 0">
            <a:extLst>
              <a:ext uri="{FF2B5EF4-FFF2-40B4-BE49-F238E27FC236}">
                <a16:creationId xmlns:a16="http://schemas.microsoft.com/office/drawing/2014/main" id="{21C52387-45D3-5850-6742-2375865D4602}"/>
              </a:ext>
            </a:extLst>
          </p:cNvPr>
          <p:cNvSpPr/>
          <p:nvPr/>
        </p:nvSpPr>
        <p:spPr>
          <a:xfrm>
            <a:off x="2543159"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11" name="Shape 0">
            <a:extLst>
              <a:ext uri="{FF2B5EF4-FFF2-40B4-BE49-F238E27FC236}">
                <a16:creationId xmlns:a16="http://schemas.microsoft.com/office/drawing/2014/main" id="{37523BFA-303F-D4B7-E440-1BDC86789548}"/>
              </a:ext>
            </a:extLst>
          </p:cNvPr>
          <p:cNvSpPr/>
          <p:nvPr/>
        </p:nvSpPr>
        <p:spPr>
          <a:xfrm>
            <a:off x="5159641"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13" name="Shape 0">
            <a:extLst>
              <a:ext uri="{FF2B5EF4-FFF2-40B4-BE49-F238E27FC236}">
                <a16:creationId xmlns:a16="http://schemas.microsoft.com/office/drawing/2014/main" id="{36BC6831-A71E-95D0-739F-3BDE9BA3C682}"/>
              </a:ext>
            </a:extLst>
          </p:cNvPr>
          <p:cNvSpPr/>
          <p:nvPr/>
        </p:nvSpPr>
        <p:spPr>
          <a:xfrm>
            <a:off x="7776123"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4" name="Shape 15">
            <a:extLst>
              <a:ext uri="{FF2B5EF4-FFF2-40B4-BE49-F238E27FC236}">
                <a16:creationId xmlns:a16="http://schemas.microsoft.com/office/drawing/2014/main" id="{00198408-E7A1-593E-CB39-F98F8CEDA380}"/>
              </a:ext>
            </a:extLst>
          </p:cNvPr>
          <p:cNvSpPr/>
          <p:nvPr/>
        </p:nvSpPr>
        <p:spPr>
          <a:xfrm>
            <a:off x="4780571"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6" name="Shape 15">
            <a:extLst>
              <a:ext uri="{FF2B5EF4-FFF2-40B4-BE49-F238E27FC236}">
                <a16:creationId xmlns:a16="http://schemas.microsoft.com/office/drawing/2014/main" id="{95A93DB1-C141-97DF-8242-81B5AC74A58C}"/>
              </a:ext>
            </a:extLst>
          </p:cNvPr>
          <p:cNvSpPr/>
          <p:nvPr/>
        </p:nvSpPr>
        <p:spPr>
          <a:xfrm>
            <a:off x="7397053"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cxnSp>
        <p:nvCxnSpPr>
          <p:cNvPr id="23" name="直线箭头连接符 22">
            <a:extLst>
              <a:ext uri="{FF2B5EF4-FFF2-40B4-BE49-F238E27FC236}">
                <a16:creationId xmlns:a16="http://schemas.microsoft.com/office/drawing/2014/main" id="{BB8D643C-857C-605D-07D2-0A881D47FBD6}"/>
              </a:ext>
            </a:extLst>
          </p:cNvPr>
          <p:cNvCxnSpPr>
            <a:cxnSpLocks/>
          </p:cNvCxnSpPr>
          <p:nvPr/>
        </p:nvCxnSpPr>
        <p:spPr bwMode="auto">
          <a:xfrm>
            <a:off x="1468581" y="1826195"/>
            <a:ext cx="8947628"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47" name="TextBox 50">
            <a:extLst>
              <a:ext uri="{FF2B5EF4-FFF2-40B4-BE49-F238E27FC236}">
                <a16:creationId xmlns:a16="http://schemas.microsoft.com/office/drawing/2014/main" id="{ED16C4D0-2A44-3783-1CC9-93E4919A9DAE}"/>
              </a:ext>
            </a:extLst>
          </p:cNvPr>
          <p:cNvSpPr txBox="1"/>
          <p:nvPr/>
        </p:nvSpPr>
        <p:spPr>
          <a:xfrm>
            <a:off x="10416209" y="1631060"/>
            <a:ext cx="1172116" cy="369332"/>
          </a:xfrm>
          <a:prstGeom prst="rect">
            <a:avLst/>
          </a:prstGeom>
          <a:noFill/>
        </p:spPr>
        <p:txBody>
          <a:bodyPr wrap="none" rtlCol="0" anchor="ctr" anchorCtr="1">
            <a:spAutoFit/>
          </a:bodyPr>
          <a:lstStyle/>
          <a:p>
            <a:r>
              <a:rPr lang="en-US" dirty="0">
                <a:latin typeface="Times New Roman" panose="02020603050405020304" pitchFamily="18" charset="0"/>
                <a:ea typeface="標楷體" pitchFamily="65" charset="-120"/>
                <a:cs typeface="Times New Roman" panose="02020603050405020304" pitchFamily="18" charset="0"/>
              </a:rPr>
              <a:t>Autonomy</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9" name="圆角矩形 48">
            <a:extLst>
              <a:ext uri="{FF2B5EF4-FFF2-40B4-BE49-F238E27FC236}">
                <a16:creationId xmlns:a16="http://schemas.microsoft.com/office/drawing/2014/main" id="{46A18C28-2C28-48AD-06C1-BD772E6C7D6A}"/>
              </a:ext>
            </a:extLst>
          </p:cNvPr>
          <p:cNvSpPr/>
          <p:nvPr/>
        </p:nvSpPr>
        <p:spPr bwMode="auto">
          <a:xfrm>
            <a:off x="2411895" y="1103983"/>
            <a:ext cx="2609079" cy="4508433"/>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3584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1: </a:t>
            </a:r>
            <a:r>
              <a:rPr dirty="0" err="1"/>
              <a:t>AlphaEvolve</a:t>
            </a:r>
            <a:endParaRPr dirty="0"/>
          </a:p>
        </p:txBody>
      </p:sp>
      <p:sp>
        <p:nvSpPr>
          <p:cNvPr id="6" name="TextBox 5"/>
          <p:cNvSpPr txBox="1"/>
          <p:nvPr/>
        </p:nvSpPr>
        <p:spPr>
          <a:xfrm>
            <a:off x="7146820" y="1891730"/>
            <a:ext cx="4077302" cy="369332"/>
          </a:xfrm>
          <a:prstGeom prst="rect">
            <a:avLst/>
          </a:prstGeom>
          <a:noFill/>
        </p:spPr>
        <p:txBody>
          <a:bodyPr wrap="square">
            <a:spAutoFit/>
          </a:bodyPr>
          <a:lstStyle/>
          <a:p>
            <a:pPr algn="l"/>
            <a:r>
              <a:rPr dirty="0">
                <a:latin typeface="Times New Roman"/>
              </a:rPr>
              <a:t>Table 1. </a:t>
            </a:r>
            <a:r>
              <a:rPr dirty="0" err="1">
                <a:latin typeface="Times New Roman"/>
              </a:rPr>
              <a:t>AlphaEvolve</a:t>
            </a:r>
            <a:r>
              <a:rPr lang="en-US" dirty="0" err="1">
                <a:latin typeface="Times New Roman"/>
              </a:rPr>
              <a:t>’s</a:t>
            </a:r>
            <a:r>
              <a:rPr lang="en-US" dirty="0">
                <a:latin typeface="Times New Roman"/>
              </a:rPr>
              <a:t> advanced features</a:t>
            </a:r>
            <a:endParaRPr dirty="0">
              <a:latin typeface="Times New Roman"/>
            </a:endParaRPr>
          </a:p>
        </p:txBody>
      </p:sp>
      <p:sp>
        <p:nvSpPr>
          <p:cNvPr id="7" name="內容版面配置區 2">
            <a:extLst>
              <a:ext uri="{FF2B5EF4-FFF2-40B4-BE49-F238E27FC236}">
                <a16:creationId xmlns:a16="http://schemas.microsoft.com/office/drawing/2014/main" id="{B0756D7D-70CB-7A4E-930E-DEA182FBCC8E}"/>
              </a:ext>
            </a:extLst>
          </p:cNvPr>
          <p:cNvSpPr txBox="1">
            <a:spLocks/>
          </p:cNvSpPr>
          <p:nvPr/>
        </p:nvSpPr>
        <p:spPr bwMode="auto">
          <a:xfrm>
            <a:off x="492000" y="1150000"/>
            <a:ext cx="6120835"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Motivation</a:t>
            </a:r>
          </a:p>
          <a:p>
            <a:pPr lvl="1"/>
            <a:r>
              <a:rPr lang="en" altLang="zh-CN" sz="2000" dirty="0">
                <a:latin typeface="Times New Roman"/>
              </a:rPr>
              <a:t>Automate algorithmic discovery and improvement </a:t>
            </a:r>
          </a:p>
          <a:p>
            <a:endParaRPr lang="en" altLang="zh-CN" sz="2400" dirty="0">
              <a:latin typeface="Times New Roman"/>
            </a:endParaRPr>
          </a:p>
          <a:p>
            <a:r>
              <a:rPr lang="en" altLang="zh-CN" sz="2400" dirty="0">
                <a:latin typeface="Times New Roman"/>
              </a:rPr>
              <a:t>Problems</a:t>
            </a:r>
          </a:p>
          <a:p>
            <a:pPr lvl="1"/>
            <a:r>
              <a:rPr lang="en" altLang="zh-CN" sz="2000" dirty="0">
                <a:latin typeface="Times New Roman"/>
              </a:rPr>
              <a:t>LLMs lack execution-based refinement loop</a:t>
            </a:r>
          </a:p>
          <a:p>
            <a:pPr lvl="1"/>
            <a:r>
              <a:rPr lang="en" altLang="zh-CN" sz="2000" dirty="0">
                <a:latin typeface="Times New Roman"/>
              </a:rPr>
              <a:t>Prior methods are limited by scale and generality</a:t>
            </a:r>
          </a:p>
          <a:p>
            <a:endParaRPr lang="en" altLang="zh-CN" sz="2400" dirty="0">
              <a:latin typeface="Times New Roman"/>
            </a:endParaRPr>
          </a:p>
          <a:p>
            <a:r>
              <a:rPr lang="en" altLang="zh-CN" sz="2400" dirty="0">
                <a:latin typeface="Times New Roman"/>
              </a:rPr>
              <a:t>Key ideas</a:t>
            </a:r>
          </a:p>
          <a:p>
            <a:pPr lvl="1"/>
            <a:r>
              <a:rPr lang="en" altLang="zh-CN" sz="1867" dirty="0">
                <a:latin typeface="Times New Roman"/>
              </a:rPr>
              <a:t>History and feedback augmented prompting</a:t>
            </a:r>
            <a:endParaRPr lang="en" altLang="zh-CN" sz="1867" dirty="0">
              <a:latin typeface="Times New Roman"/>
              <a:ea typeface="+mn-ea"/>
            </a:endParaRPr>
          </a:p>
          <a:p>
            <a:pPr lvl="1"/>
            <a:r>
              <a:rPr lang="en" altLang="zh-CN" sz="1867" dirty="0">
                <a:latin typeface="Times New Roman"/>
                <a:ea typeface="+mn-ea"/>
              </a:rPr>
              <a:t>LLM generated code edits</a:t>
            </a:r>
          </a:p>
          <a:p>
            <a:pPr lvl="1"/>
            <a:r>
              <a:rPr lang="en" altLang="zh-CN" sz="1867" dirty="0">
                <a:latin typeface="Times New Roman"/>
                <a:ea typeface="+mn-ea"/>
              </a:rPr>
              <a:t>Program database with MAP-Elites selection</a:t>
            </a:r>
          </a:p>
          <a:p>
            <a:pPr lvl="1"/>
            <a:r>
              <a:rPr lang="en" altLang="zh-CN" sz="1867" dirty="0">
                <a:latin typeface="Times New Roman"/>
                <a:ea typeface="+mn-ea"/>
              </a:rPr>
              <a:t>Execution-based evaluation of candidates</a:t>
            </a:r>
          </a:p>
          <a:p>
            <a:endParaRPr lang="en" altLang="zh-CN" sz="2400" b="1" dirty="0">
              <a:latin typeface="Times New Roman"/>
              <a:ea typeface="+mn-ea"/>
            </a:endParaRPr>
          </a:p>
        </p:txBody>
      </p:sp>
      <p:pic>
        <p:nvPicPr>
          <p:cNvPr id="12" name="Picture 4" descr="AlphaEvolve-Table1-1.png">
            <a:extLst>
              <a:ext uri="{FF2B5EF4-FFF2-40B4-BE49-F238E27FC236}">
                <a16:creationId xmlns:a16="http://schemas.microsoft.com/office/drawing/2014/main" id="{5271588C-B341-7174-E83F-B65DFB87985B}"/>
              </a:ext>
            </a:extLst>
          </p:cNvPr>
          <p:cNvPicPr>
            <a:picLocks noChangeAspect="1"/>
          </p:cNvPicPr>
          <p:nvPr/>
        </p:nvPicPr>
        <p:blipFill>
          <a:blip r:embed="rId3"/>
          <a:srcRect l="46390"/>
          <a:stretch>
            <a:fillRect/>
          </a:stretch>
        </p:blipFill>
        <p:spPr>
          <a:xfrm>
            <a:off x="6670943" y="2261062"/>
            <a:ext cx="5029057" cy="28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64333" cy="692151"/>
          </a:xfrm>
        </p:spPr>
        <p:txBody>
          <a:bodyPr/>
          <a:lstStyle/>
          <a:p>
            <a:r>
              <a:rPr dirty="0" err="1"/>
              <a:t>AlphaEvolve</a:t>
            </a:r>
            <a:r>
              <a:rPr dirty="0"/>
              <a:t> - System </a:t>
            </a:r>
            <a:r>
              <a:rPr lang="en" altLang="zh-CN" dirty="0"/>
              <a:t>Architecture</a:t>
            </a:r>
            <a:r>
              <a:rPr lang="en-US" dirty="0"/>
              <a:t> (1/3)</a:t>
            </a:r>
            <a:endParaRPr dirty="0"/>
          </a:p>
        </p:txBody>
      </p:sp>
      <p:grpSp>
        <p:nvGrpSpPr>
          <p:cNvPr id="10" name="组合 9">
            <a:extLst>
              <a:ext uri="{FF2B5EF4-FFF2-40B4-BE49-F238E27FC236}">
                <a16:creationId xmlns:a16="http://schemas.microsoft.com/office/drawing/2014/main" id="{BA4AE516-BA9F-1B58-4FDC-421F31D10B73}"/>
              </a:ext>
            </a:extLst>
          </p:cNvPr>
          <p:cNvGrpSpPr/>
          <p:nvPr/>
        </p:nvGrpSpPr>
        <p:grpSpPr>
          <a:xfrm>
            <a:off x="6222794" y="1319438"/>
            <a:ext cx="5969206" cy="4696879"/>
            <a:chOff x="6096000" y="1199999"/>
            <a:chExt cx="5969206" cy="4696879"/>
          </a:xfrm>
        </p:grpSpPr>
        <p:pic>
          <p:nvPicPr>
            <p:cNvPr id="5" name="Picture 4" descr="AlphaEvolve-Figure2-1.png"/>
            <p:cNvPicPr>
              <a:picLocks noChangeAspect="1"/>
            </p:cNvPicPr>
            <p:nvPr/>
          </p:nvPicPr>
          <p:blipFill>
            <a:blip r:embed="rId3"/>
            <a:stretch>
              <a:fillRect/>
            </a:stretch>
          </p:blipFill>
          <p:spPr>
            <a:xfrm>
              <a:off x="6227347" y="1199999"/>
              <a:ext cx="5837859" cy="4458001"/>
            </a:xfrm>
            <a:prstGeom prst="rect">
              <a:avLst/>
            </a:prstGeom>
          </p:spPr>
        </p:pic>
        <p:sp>
          <p:nvSpPr>
            <p:cNvPr id="6" name="TextBox 5"/>
            <p:cNvSpPr txBox="1"/>
            <p:nvPr/>
          </p:nvSpPr>
          <p:spPr>
            <a:xfrm>
              <a:off x="6096000" y="5527546"/>
              <a:ext cx="5500000" cy="369332"/>
            </a:xfrm>
            <a:prstGeom prst="rect">
              <a:avLst/>
            </a:prstGeom>
            <a:noFill/>
          </p:spPr>
          <p:txBody>
            <a:bodyPr wrap="square">
              <a:spAutoFit/>
            </a:bodyPr>
            <a:lstStyle/>
            <a:p>
              <a:pPr algn="ctr"/>
              <a:r>
                <a:rPr dirty="0">
                  <a:latin typeface="Times New Roman"/>
                </a:rPr>
                <a:t>Figure </a:t>
              </a:r>
              <a:r>
                <a:rPr lang="en-US" dirty="0">
                  <a:latin typeface="Times New Roman"/>
                </a:rPr>
                <a:t>3</a:t>
              </a:r>
              <a:r>
                <a:rPr dirty="0">
                  <a:latin typeface="Times New Roman"/>
                </a:rPr>
                <a:t>. </a:t>
              </a:r>
              <a:r>
                <a:rPr dirty="0" err="1">
                  <a:latin typeface="Times New Roman"/>
                </a:rPr>
                <a:t>AlphaEvolve</a:t>
              </a:r>
              <a:r>
                <a:rPr dirty="0">
                  <a:latin typeface="Times New Roman"/>
                </a:rPr>
                <a:t> </a:t>
              </a:r>
              <a:r>
                <a:rPr lang="en-US" dirty="0">
                  <a:latin typeface="Times New Roman"/>
                </a:rPr>
                <a:t>system components and workflow</a:t>
              </a:r>
              <a:endParaRPr dirty="0">
                <a:latin typeface="Times New Roman"/>
              </a:endParaRPr>
            </a:p>
          </p:txBody>
        </p:sp>
      </p:grpSp>
      <p:sp>
        <p:nvSpPr>
          <p:cNvPr id="9" name="內容版面配置區 2">
            <a:extLst>
              <a:ext uri="{FF2B5EF4-FFF2-40B4-BE49-F238E27FC236}">
                <a16:creationId xmlns:a16="http://schemas.microsoft.com/office/drawing/2014/main" id="{1B2DC5FC-F134-A0B3-AB8B-79CCF44AA26C}"/>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Core Components:</a:t>
            </a:r>
          </a:p>
          <a:p>
            <a:pPr lvl="1"/>
            <a:r>
              <a:rPr lang="en" altLang="zh-CN" sz="2000" dirty="0">
                <a:latin typeface="Times New Roman"/>
              </a:rPr>
              <a:t>Prompt sampler: rich prompts from program database</a:t>
            </a:r>
          </a:p>
          <a:p>
            <a:pPr lvl="1"/>
            <a:r>
              <a:rPr lang="en" altLang="zh-CN" sz="2000" dirty="0">
                <a:latin typeface="Times New Roman"/>
              </a:rPr>
              <a:t>LLM ensemble: “Flash” (throughput) + “Pro” (quality)</a:t>
            </a:r>
          </a:p>
          <a:p>
            <a:pPr lvl="1"/>
            <a:r>
              <a:rPr lang="en" altLang="zh-CN" sz="2000" dirty="0">
                <a:latin typeface="Times New Roman"/>
              </a:rPr>
              <a:t>Evaluators pool: automated scoring</a:t>
            </a:r>
          </a:p>
          <a:p>
            <a:pPr lvl="1"/>
            <a:r>
              <a:rPr lang="en" altLang="zh-CN" sz="2000" dirty="0">
                <a:latin typeface="Times New Roman"/>
              </a:rPr>
              <a:t>Program database: MAP-Elites + island models</a:t>
            </a:r>
          </a:p>
          <a:p>
            <a:endParaRPr lang="en" altLang="zh-CN" sz="2000" dirty="0">
              <a:latin typeface="Times New Roman"/>
            </a:endParaRPr>
          </a:p>
          <a:p>
            <a:r>
              <a:rPr lang="en" altLang="zh-CN" sz="2400" dirty="0">
                <a:latin typeface="Times New Roman"/>
              </a:rPr>
              <a:t>Workflow:</a:t>
            </a:r>
          </a:p>
          <a:p>
            <a:pPr marL="914376" lvl="1" indent="-457200">
              <a:buFont typeface="+mj-lt"/>
              <a:buAutoNum type="arabicPeriod"/>
            </a:pPr>
            <a:r>
              <a:rPr lang="en" altLang="zh-CN" sz="2000" dirty="0">
                <a:latin typeface="Times New Roman"/>
              </a:rPr>
              <a:t>User provides code with evolve-block markers</a:t>
            </a:r>
          </a:p>
          <a:p>
            <a:pPr marL="914376" lvl="1" indent="-457200">
              <a:buFont typeface="+mj-lt"/>
              <a:buAutoNum type="arabicPeriod"/>
            </a:pPr>
            <a:r>
              <a:rPr lang="en" altLang="zh-CN" sz="2000" dirty="0">
                <a:latin typeface="Times New Roman"/>
              </a:rPr>
              <a:t>LLMs propose diffs; </a:t>
            </a:r>
          </a:p>
          <a:p>
            <a:pPr marL="914376" lvl="1" indent="-457200">
              <a:buFont typeface="+mj-lt"/>
              <a:buAutoNum type="arabicPeriod"/>
            </a:pPr>
            <a:r>
              <a:rPr lang="en" altLang="zh-CN" sz="2000" dirty="0">
                <a:latin typeface="Times New Roman"/>
              </a:rPr>
              <a:t>Evaluators score candidates</a:t>
            </a:r>
          </a:p>
          <a:p>
            <a:pPr marL="914376" lvl="1" indent="-457200">
              <a:buFont typeface="+mj-lt"/>
              <a:buAutoNum type="arabicPeriod"/>
            </a:pPr>
            <a:r>
              <a:rPr lang="en" altLang="zh-CN" sz="2000" dirty="0">
                <a:latin typeface="Times New Roman"/>
              </a:rPr>
              <a:t>Best programs stored as context for next gen</a:t>
            </a:r>
          </a:p>
          <a:p>
            <a:pPr marL="0" indent="0">
              <a:buNone/>
            </a:pPr>
            <a:endParaRPr lang="en" altLang="zh-CN" sz="2400" b="1" dirty="0">
              <a:latin typeface="Times New Roman"/>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7B04-DDBE-A512-1C86-1A20F75D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34F91-8398-36F1-3402-3C5B73C8C1E3}"/>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(2/3)</a:t>
            </a:r>
            <a:endParaRPr dirty="0"/>
          </a:p>
        </p:txBody>
      </p:sp>
      <p:sp>
        <p:nvSpPr>
          <p:cNvPr id="9" name="內容版面配置區 2">
            <a:extLst>
              <a:ext uri="{FF2B5EF4-FFF2-40B4-BE49-F238E27FC236}">
                <a16:creationId xmlns:a16="http://schemas.microsoft.com/office/drawing/2014/main" id="{0B348BC6-9129-19E0-A34B-42328B48E238}"/>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Prompt sampler</a:t>
            </a:r>
          </a:p>
          <a:p>
            <a:pPr lvl="1"/>
            <a:r>
              <a:rPr lang="en" altLang="zh-CN" sz="2000" dirty="0">
                <a:latin typeface="Times New Roman"/>
              </a:rPr>
              <a:t>Explicit context: problem details, equations, literature</a:t>
            </a:r>
          </a:p>
          <a:p>
            <a:pPr lvl="1"/>
            <a:r>
              <a:rPr lang="en" altLang="zh-CN" sz="2000" dirty="0">
                <a:latin typeface="Times New Roman"/>
              </a:rPr>
              <a:t>Stochastic formatting + meta prompt evolution</a:t>
            </a:r>
          </a:p>
          <a:p>
            <a:pPr lvl="1"/>
            <a:r>
              <a:rPr lang="en" altLang="zh-CN" sz="2000" dirty="0">
                <a:latin typeface="Times New Roman"/>
              </a:rPr>
              <a:t>Rendered evaluation results as context for LLM</a:t>
            </a:r>
            <a:endParaRPr lang="en" altLang="zh-CN" sz="2400" dirty="0">
              <a:latin typeface="Times New Roman"/>
            </a:endParaRPr>
          </a:p>
          <a:p>
            <a:endParaRPr lang="en" altLang="zh-CN" sz="2000" dirty="0">
              <a:latin typeface="Times New Roman"/>
            </a:endParaRPr>
          </a:p>
          <a:p>
            <a:r>
              <a:rPr lang="en" altLang="zh-CN" sz="2400" dirty="0">
                <a:latin typeface="Times New Roman"/>
              </a:rPr>
              <a:t>LLM ensemble</a:t>
            </a:r>
          </a:p>
          <a:p>
            <a:pPr lvl="1"/>
            <a:r>
              <a:rPr lang="en" altLang="zh-CN" sz="1867" dirty="0">
                <a:latin typeface="Times New Roman"/>
              </a:rPr>
              <a:t>Gemini 2.0 Flash (lower latency, generate candidates) + Gemini 2.0 Pro (greater capabilities, generate suggestions) </a:t>
            </a:r>
          </a:p>
          <a:p>
            <a:pPr lvl="1"/>
            <a:r>
              <a:rPr lang="en" altLang="zh-CN" sz="1867" dirty="0">
                <a:latin typeface="Times New Roman"/>
                <a:ea typeface="+mn-ea"/>
              </a:rPr>
              <a:t>Structured code edit proposals via diff blocks</a:t>
            </a:r>
            <a:endParaRPr lang="en" altLang="zh-CN" sz="1867" dirty="0">
              <a:latin typeface="Times New Roman"/>
            </a:endParaRPr>
          </a:p>
        </p:txBody>
      </p:sp>
      <p:pic>
        <p:nvPicPr>
          <p:cNvPr id="3" name="图片 2">
            <a:extLst>
              <a:ext uri="{FF2B5EF4-FFF2-40B4-BE49-F238E27FC236}">
                <a16:creationId xmlns:a16="http://schemas.microsoft.com/office/drawing/2014/main" id="{10AC160F-18D8-032E-4051-FD616C3F2891}"/>
              </a:ext>
            </a:extLst>
          </p:cNvPr>
          <p:cNvPicPr>
            <a:picLocks noChangeAspect="1"/>
          </p:cNvPicPr>
          <p:nvPr/>
        </p:nvPicPr>
        <p:blipFill>
          <a:blip r:embed="rId3"/>
          <a:srcRect t="6822" b="14852"/>
          <a:stretch>
            <a:fillRect/>
          </a:stretch>
        </p:blipFill>
        <p:spPr>
          <a:xfrm>
            <a:off x="7291603" y="1186748"/>
            <a:ext cx="4275985" cy="4683965"/>
          </a:xfrm>
          <a:prstGeom prst="rect">
            <a:avLst/>
          </a:prstGeom>
        </p:spPr>
      </p:pic>
      <p:pic>
        <p:nvPicPr>
          <p:cNvPr id="4" name="图片 3">
            <a:extLst>
              <a:ext uri="{FF2B5EF4-FFF2-40B4-BE49-F238E27FC236}">
                <a16:creationId xmlns:a16="http://schemas.microsoft.com/office/drawing/2014/main" id="{82663E59-0334-7504-2E3C-55AD9F590B1C}"/>
              </a:ext>
            </a:extLst>
          </p:cNvPr>
          <p:cNvPicPr>
            <a:picLocks noChangeAspect="1"/>
          </p:cNvPicPr>
          <p:nvPr/>
        </p:nvPicPr>
        <p:blipFill>
          <a:blip r:embed="rId4"/>
          <a:stretch>
            <a:fillRect/>
          </a:stretch>
        </p:blipFill>
        <p:spPr>
          <a:xfrm>
            <a:off x="1255368" y="5109281"/>
            <a:ext cx="4441902" cy="1013224"/>
          </a:xfrm>
          <a:prstGeom prst="rect">
            <a:avLst/>
          </a:prstGeom>
        </p:spPr>
      </p:pic>
      <p:sp>
        <p:nvSpPr>
          <p:cNvPr id="7" name="TextBox 5">
            <a:extLst>
              <a:ext uri="{FF2B5EF4-FFF2-40B4-BE49-F238E27FC236}">
                <a16:creationId xmlns:a16="http://schemas.microsoft.com/office/drawing/2014/main" id="{645593C3-2CE0-50B1-0167-08DCFBCDA8A7}"/>
              </a:ext>
            </a:extLst>
          </p:cNvPr>
          <p:cNvSpPr txBox="1"/>
          <p:nvPr/>
        </p:nvSpPr>
        <p:spPr>
          <a:xfrm>
            <a:off x="7208644" y="5817705"/>
            <a:ext cx="4441902" cy="369332"/>
          </a:xfrm>
          <a:prstGeom prst="rect">
            <a:avLst/>
          </a:prstGeom>
          <a:noFill/>
        </p:spPr>
        <p:txBody>
          <a:bodyPr wrap="square">
            <a:spAutoFit/>
          </a:bodyPr>
          <a:lstStyle/>
          <a:p>
            <a:pPr algn="ctr"/>
            <a:r>
              <a:rPr dirty="0">
                <a:latin typeface="Times New Roman"/>
              </a:rPr>
              <a:t>Figure </a:t>
            </a:r>
            <a:r>
              <a:rPr lang="en-US" dirty="0">
                <a:latin typeface="Times New Roman"/>
              </a:rPr>
              <a:t>4</a:t>
            </a:r>
            <a:r>
              <a:rPr dirty="0">
                <a:latin typeface="Times New Roman"/>
              </a:rPr>
              <a:t>. </a:t>
            </a:r>
            <a:r>
              <a:rPr lang="en" dirty="0">
                <a:latin typeface="Times New Roman"/>
              </a:rPr>
              <a:t>Example of an assembled prompt</a:t>
            </a:r>
            <a:endParaRPr dirty="0">
              <a:latin typeface="Times New Roman"/>
            </a:endParaRPr>
          </a:p>
        </p:txBody>
      </p:sp>
    </p:spTree>
    <p:extLst>
      <p:ext uri="{BB962C8B-B14F-4D97-AF65-F5344CB8AC3E}">
        <p14:creationId xmlns:p14="http://schemas.microsoft.com/office/powerpoint/2010/main" val="305498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8832-1329-5D48-EB63-B4DE729BD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A1B72-3E36-248D-EA9C-B76FFA6CD279}"/>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(3/3)</a:t>
            </a:r>
            <a:endParaRPr dirty="0"/>
          </a:p>
        </p:txBody>
      </p:sp>
      <p:sp>
        <p:nvSpPr>
          <p:cNvPr id="9" name="內容版面配置區 2">
            <a:extLst>
              <a:ext uri="{FF2B5EF4-FFF2-40B4-BE49-F238E27FC236}">
                <a16:creationId xmlns:a16="http://schemas.microsoft.com/office/drawing/2014/main" id="{A6D70562-9928-C97E-B54A-B76B80044B9F}"/>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Evaluators</a:t>
            </a:r>
          </a:p>
          <a:p>
            <a:pPr lvl="1"/>
            <a:r>
              <a:rPr lang="en" altLang="zh-CN" sz="2000" dirty="0">
                <a:latin typeface="Times New Roman"/>
              </a:rPr>
              <a:t>Evaluation cascade (hypothesis testing):</a:t>
            </a:r>
          </a:p>
          <a:p>
            <a:pPr lvl="1"/>
            <a:r>
              <a:rPr lang="en" altLang="zh-CN" sz="2000" dirty="0">
                <a:latin typeface="Times New Roman"/>
              </a:rPr>
              <a:t>LLM-generated feedback for hard-to-quantify properties</a:t>
            </a:r>
          </a:p>
          <a:p>
            <a:pPr lvl="1"/>
            <a:r>
              <a:rPr lang="en" altLang="zh-CN" sz="2000" dirty="0">
                <a:latin typeface="Times New Roman"/>
              </a:rPr>
              <a:t>Multi-metric scoring </a:t>
            </a:r>
          </a:p>
          <a:p>
            <a:pPr marL="457176" lvl="1" indent="0">
              <a:buNone/>
            </a:pPr>
            <a:endParaRPr lang="en" altLang="zh-CN" sz="2000" dirty="0">
              <a:latin typeface="Times New Roman"/>
            </a:endParaRPr>
          </a:p>
          <a:p>
            <a:r>
              <a:rPr lang="en" altLang="zh-CN" sz="2400" dirty="0">
                <a:latin typeface="Times New Roman"/>
              </a:rPr>
              <a:t>Program database</a:t>
            </a:r>
          </a:p>
          <a:p>
            <a:pPr lvl="1"/>
            <a:r>
              <a:rPr lang="en" altLang="zh-CN" sz="1867" dirty="0">
                <a:latin typeface="Times New Roman"/>
              </a:rPr>
              <a:t>Solution storage with evaluation results</a:t>
            </a:r>
          </a:p>
          <a:p>
            <a:pPr lvl="1"/>
            <a:r>
              <a:rPr lang="en" altLang="zh-CN" sz="1867" dirty="0">
                <a:latin typeface="Times New Roman"/>
              </a:rPr>
              <a:t>Exploration–exploitation balancing</a:t>
            </a:r>
          </a:p>
          <a:p>
            <a:pPr lvl="1"/>
            <a:r>
              <a:rPr lang="en" altLang="zh-CN" sz="1867" dirty="0">
                <a:latin typeface="Times New Roman"/>
              </a:rPr>
              <a:t>MAP-Elites–style selection</a:t>
            </a:r>
          </a:p>
          <a:p>
            <a:pPr lvl="1"/>
            <a:endParaRPr lang="en" altLang="zh-CN" sz="1867" dirty="0">
              <a:latin typeface="Times New Roman"/>
            </a:endParaRPr>
          </a:p>
          <a:p>
            <a:r>
              <a:rPr lang="en" altLang="zh-CN" sz="2400" dirty="0">
                <a:latin typeface="Times New Roman"/>
              </a:rPr>
              <a:t>Distributed pipeline</a:t>
            </a:r>
          </a:p>
          <a:p>
            <a:pPr lvl="1"/>
            <a:r>
              <a:rPr lang="en" altLang="zh-CN" sz="1800" dirty="0">
                <a:latin typeface="Times New Roman"/>
              </a:rPr>
              <a:t>Controller, samplers, evaluators run asynchronously</a:t>
            </a:r>
            <a:endParaRPr lang="en" altLang="zh-CN" sz="1867" dirty="0">
              <a:latin typeface="Times New Roman"/>
            </a:endParaRPr>
          </a:p>
        </p:txBody>
      </p:sp>
      <p:sp>
        <p:nvSpPr>
          <p:cNvPr id="7" name="TextBox 5">
            <a:extLst>
              <a:ext uri="{FF2B5EF4-FFF2-40B4-BE49-F238E27FC236}">
                <a16:creationId xmlns:a16="http://schemas.microsoft.com/office/drawing/2014/main" id="{7F962EC6-259B-2E6E-C618-19ED97D8FC39}"/>
              </a:ext>
            </a:extLst>
          </p:cNvPr>
          <p:cNvSpPr txBox="1"/>
          <p:nvPr/>
        </p:nvSpPr>
        <p:spPr>
          <a:xfrm>
            <a:off x="6650660" y="5671252"/>
            <a:ext cx="4826026" cy="369332"/>
          </a:xfrm>
          <a:prstGeom prst="rect">
            <a:avLst/>
          </a:prstGeom>
          <a:noFill/>
        </p:spPr>
        <p:txBody>
          <a:bodyPr wrap="square">
            <a:spAutoFit/>
          </a:bodyPr>
          <a:lstStyle/>
          <a:p>
            <a:pPr algn="ctr"/>
            <a:r>
              <a:rPr dirty="0">
                <a:latin typeface="Times New Roman"/>
              </a:rPr>
              <a:t>Figure </a:t>
            </a:r>
            <a:r>
              <a:rPr lang="en-US" dirty="0">
                <a:latin typeface="Times New Roman"/>
              </a:rPr>
              <a:t>5</a:t>
            </a:r>
            <a:r>
              <a:rPr dirty="0">
                <a:latin typeface="Times New Roman"/>
              </a:rPr>
              <a:t>. </a:t>
            </a:r>
            <a:r>
              <a:rPr lang="en" dirty="0">
                <a:latin typeface="Times New Roman"/>
              </a:rPr>
              <a:t>Illustration of MAP-Elites algorithm</a:t>
            </a:r>
            <a:endParaRPr dirty="0">
              <a:latin typeface="Times New Roman"/>
            </a:endParaRPr>
          </a:p>
        </p:txBody>
      </p:sp>
      <p:pic>
        <p:nvPicPr>
          <p:cNvPr id="12" name="图片 11">
            <a:extLst>
              <a:ext uri="{FF2B5EF4-FFF2-40B4-BE49-F238E27FC236}">
                <a16:creationId xmlns:a16="http://schemas.microsoft.com/office/drawing/2014/main" id="{E7AEF3FD-90CC-2463-F5B5-97756EE39A72}"/>
              </a:ext>
            </a:extLst>
          </p:cNvPr>
          <p:cNvPicPr>
            <a:picLocks noChangeAspect="1"/>
          </p:cNvPicPr>
          <p:nvPr/>
        </p:nvPicPr>
        <p:blipFill>
          <a:blip r:embed="rId3"/>
          <a:srcRect t="6645"/>
          <a:stretch>
            <a:fillRect/>
          </a:stretch>
        </p:blipFill>
        <p:spPr>
          <a:xfrm>
            <a:off x="6354141" y="1240264"/>
            <a:ext cx="5419065" cy="4415874"/>
          </a:xfrm>
          <a:prstGeom prst="rect">
            <a:avLst/>
          </a:prstGeom>
        </p:spPr>
      </p:pic>
    </p:spTree>
    <p:extLst>
      <p:ext uri="{BB962C8B-B14F-4D97-AF65-F5344CB8AC3E}">
        <p14:creationId xmlns:p14="http://schemas.microsoft.com/office/powerpoint/2010/main" val="2695684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a:t>
            </a:r>
            <a:r>
              <a:rPr lang="en-US" altLang="zh-CN" dirty="0"/>
              <a:t>–</a:t>
            </a:r>
            <a:r>
              <a:rPr lang="en-US" dirty="0"/>
              <a:t> Evaluation</a:t>
            </a:r>
            <a:endParaRPr dirty="0"/>
          </a:p>
        </p:txBody>
      </p:sp>
      <p:pic>
        <p:nvPicPr>
          <p:cNvPr id="5" name="Picture 4" descr="AlphaEvolve-Table2-1.png"/>
          <p:cNvPicPr>
            <a:picLocks noChangeAspect="1"/>
          </p:cNvPicPr>
          <p:nvPr/>
        </p:nvPicPr>
        <p:blipFill>
          <a:blip r:embed="rId3"/>
          <a:stretch>
            <a:fillRect/>
          </a:stretch>
        </p:blipFill>
        <p:spPr>
          <a:xfrm>
            <a:off x="6795898" y="1708000"/>
            <a:ext cx="4800000" cy="4200000"/>
          </a:xfrm>
          <a:prstGeom prst="rect">
            <a:avLst/>
          </a:prstGeom>
        </p:spPr>
      </p:pic>
      <p:sp>
        <p:nvSpPr>
          <p:cNvPr id="6" name="TextBox 5"/>
          <p:cNvSpPr txBox="1"/>
          <p:nvPr/>
        </p:nvSpPr>
        <p:spPr>
          <a:xfrm>
            <a:off x="6795898" y="1061669"/>
            <a:ext cx="4800000" cy="646331"/>
          </a:xfrm>
          <a:prstGeom prst="rect">
            <a:avLst/>
          </a:prstGeom>
          <a:noFill/>
        </p:spPr>
        <p:txBody>
          <a:bodyPr wrap="square">
            <a:spAutoFit/>
          </a:bodyPr>
          <a:lstStyle/>
          <a:p>
            <a:r>
              <a:rPr dirty="0">
                <a:latin typeface="Times New Roman"/>
              </a:rPr>
              <a:t>Table 2. </a:t>
            </a:r>
            <a:r>
              <a:rPr lang="en" dirty="0">
                <a:latin typeface="Times New Roman"/>
              </a:rPr>
              <a:t>Number of scalar multiplications for </a:t>
            </a:r>
            <a:r>
              <a:rPr lang="en" dirty="0" err="1">
                <a:latin typeface="Times New Roman"/>
              </a:rPr>
              <a:t>m×n</a:t>
            </a:r>
            <a:r>
              <a:rPr lang="en" dirty="0">
                <a:latin typeface="Times New Roman"/>
              </a:rPr>
              <a:t> × </a:t>
            </a:r>
            <a:r>
              <a:rPr lang="en" dirty="0" err="1">
                <a:latin typeface="Times New Roman"/>
              </a:rPr>
              <a:t>n×p</a:t>
            </a:r>
            <a:r>
              <a:rPr lang="en" dirty="0">
                <a:latin typeface="Times New Roman"/>
              </a:rPr>
              <a:t> matrix multiplication</a:t>
            </a:r>
            <a:endParaRPr dirty="0">
              <a:latin typeface="Times New Roman"/>
            </a:endParaRPr>
          </a:p>
        </p:txBody>
      </p:sp>
      <p:sp>
        <p:nvSpPr>
          <p:cNvPr id="7" name="內容版面配置區 2">
            <a:extLst>
              <a:ext uri="{FF2B5EF4-FFF2-40B4-BE49-F238E27FC236}">
                <a16:creationId xmlns:a16="http://schemas.microsoft.com/office/drawing/2014/main" id="{82E685F3-7715-BB93-6FAA-1B2B1DC7CB35}"/>
              </a:ext>
            </a:extLst>
          </p:cNvPr>
          <p:cNvSpPr txBox="1">
            <a:spLocks/>
          </p:cNvSpPr>
          <p:nvPr/>
        </p:nvSpPr>
        <p:spPr bwMode="auto">
          <a:xfrm>
            <a:off x="596102" y="1125537"/>
            <a:ext cx="5935347" cy="49802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b="1" dirty="0">
                <a:latin typeface="Times New Roman" panose="02020603050405020304" pitchFamily="18" charset="0"/>
                <a:cs typeface="Times New Roman" panose="02020603050405020304" pitchFamily="18" charset="0"/>
              </a:rPr>
              <a:t>Faster Matrix Multiplication</a:t>
            </a:r>
          </a:p>
          <a:p>
            <a:r>
              <a:rPr lang="en" altLang="zh-CN" sz="2400" dirty="0">
                <a:latin typeface="Times New Roman"/>
              </a:rPr>
              <a:t>Key achievements:</a:t>
            </a:r>
          </a:p>
          <a:p>
            <a:pPr lvl="1"/>
            <a:r>
              <a:rPr lang="en" altLang="zh-CN" sz="2000" dirty="0">
                <a:latin typeface="Times New Roman"/>
              </a:rPr>
              <a:t>First improvement over Strassen (1969) for 4x4 matrices</a:t>
            </a:r>
          </a:p>
          <a:p>
            <a:pPr lvl="1"/>
            <a:r>
              <a:rPr lang="en" altLang="zh-CN" sz="2000" dirty="0">
                <a:latin typeface="Times New Roman"/>
              </a:rPr>
              <a:t>Found rank-48 algorithm (vs. rank-49 from Strassen)</a:t>
            </a:r>
          </a:p>
          <a:p>
            <a:pPr lvl="1"/>
            <a:r>
              <a:rPr lang="en" altLang="zh-CN" sz="2000" dirty="0">
                <a:latin typeface="Times New Roman"/>
              </a:rPr>
              <a:t>First improvement in 56 years</a:t>
            </a:r>
          </a:p>
          <a:p>
            <a:endParaRPr lang="en" altLang="zh-CN" sz="2000" dirty="0">
              <a:latin typeface="Times New Roman"/>
            </a:endParaRPr>
          </a:p>
          <a:p>
            <a:r>
              <a:rPr lang="en" altLang="zh-CN" sz="2400" dirty="0">
                <a:latin typeface="Times New Roman"/>
              </a:rPr>
              <a:t>Broader results:</a:t>
            </a:r>
          </a:p>
          <a:p>
            <a:pPr lvl="1"/>
            <a:r>
              <a:rPr lang="en" altLang="zh-CN" sz="2000" dirty="0">
                <a:latin typeface="Times New Roman"/>
              </a:rPr>
              <a:t>Improved SOTA for 14 matrix multiplication targets</a:t>
            </a:r>
          </a:p>
          <a:p>
            <a:pPr lvl="1"/>
            <a:r>
              <a:rPr lang="en" altLang="zh-CN" sz="2000" dirty="0">
                <a:latin typeface="Times New Roman"/>
              </a:rPr>
              <a:t>All discovered algorithms are exact (integer/half-integer)</a:t>
            </a:r>
          </a:p>
          <a:p>
            <a:endParaRPr lang="en" altLang="zh-CN" sz="1867" dirty="0">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50033" cy="692151"/>
          </a:xfrm>
        </p:spPr>
        <p:txBody>
          <a:bodyPr/>
          <a:lstStyle/>
          <a:p>
            <a:r>
              <a:rPr dirty="0" err="1"/>
              <a:t>AlphaEvolve</a:t>
            </a:r>
            <a:r>
              <a:rPr dirty="0"/>
              <a:t> - Engineering Applications</a:t>
            </a:r>
          </a:p>
        </p:txBody>
      </p:sp>
      <p:sp>
        <p:nvSpPr>
          <p:cNvPr id="6" name="TextBox 5"/>
          <p:cNvSpPr txBox="1"/>
          <p:nvPr/>
        </p:nvSpPr>
        <p:spPr>
          <a:xfrm>
            <a:off x="6683794" y="5488998"/>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6</a:t>
            </a:r>
            <a:r>
              <a:rPr dirty="0">
                <a:latin typeface="Times New Roman"/>
              </a:rPr>
              <a:t>. Discovered scheduling heuristic and its scoring surface</a:t>
            </a:r>
          </a:p>
        </p:txBody>
      </p:sp>
      <p:sp>
        <p:nvSpPr>
          <p:cNvPr id="7" name="內容版面配置區 2">
            <a:extLst>
              <a:ext uri="{FF2B5EF4-FFF2-40B4-BE49-F238E27FC236}">
                <a16:creationId xmlns:a16="http://schemas.microsoft.com/office/drawing/2014/main" id="{684EE107-3EF6-372F-2BE4-32EED385B310}"/>
              </a:ext>
            </a:extLst>
          </p:cNvPr>
          <p:cNvSpPr txBox="1">
            <a:spLocks/>
          </p:cNvSpPr>
          <p:nvPr/>
        </p:nvSpPr>
        <p:spPr bwMode="auto">
          <a:xfrm>
            <a:off x="702278" y="1200000"/>
            <a:ext cx="5935347" cy="49353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Data Center Scheduling:</a:t>
            </a:r>
          </a:p>
          <a:p>
            <a:pPr lvl="1"/>
            <a:r>
              <a:rPr lang="en" altLang="zh-CN" sz="2000" dirty="0">
                <a:latin typeface="Times New Roman"/>
              </a:rPr>
              <a:t>7-line heuristic for Google Borg; deployed fleet-wide</a:t>
            </a:r>
          </a:p>
          <a:p>
            <a:pPr lvl="1"/>
            <a:r>
              <a:rPr lang="en" altLang="zh-CN" sz="2000" dirty="0">
                <a:latin typeface="Times New Roman"/>
              </a:rPr>
              <a:t>Recovers 0.7% of fleet-wide stranded compute</a:t>
            </a:r>
          </a:p>
          <a:p>
            <a:endParaRPr lang="en" altLang="zh-CN" sz="2000" dirty="0">
              <a:latin typeface="Times New Roman"/>
            </a:endParaRPr>
          </a:p>
          <a:p>
            <a:r>
              <a:rPr lang="en" altLang="zh-CN" sz="2400" dirty="0">
                <a:latin typeface="Times New Roman"/>
              </a:rPr>
              <a:t>Gemini Kernel Optimization:</a:t>
            </a:r>
          </a:p>
          <a:p>
            <a:pPr lvl="1"/>
            <a:r>
              <a:rPr lang="en" altLang="zh-CN" sz="2000" dirty="0">
                <a:latin typeface="Times New Roman"/>
              </a:rPr>
              <a:t>23% kernel speedup; 1% Gemini training time reduction</a:t>
            </a:r>
          </a:p>
          <a:p>
            <a:endParaRPr lang="en" altLang="zh-CN" sz="2000" dirty="0">
              <a:latin typeface="Times New Roman"/>
            </a:endParaRPr>
          </a:p>
          <a:p>
            <a:r>
              <a:rPr lang="en" altLang="zh-CN" sz="2400" dirty="0">
                <a:latin typeface="Times New Roman"/>
              </a:rPr>
              <a:t>Hardware &amp; </a:t>
            </a:r>
            <a:r>
              <a:rPr lang="en" altLang="zh-CN" sz="2400" dirty="0" err="1">
                <a:latin typeface="Times New Roman"/>
              </a:rPr>
              <a:t>FlashAttention</a:t>
            </a:r>
            <a:r>
              <a:rPr lang="en" altLang="zh-CN" sz="2400" dirty="0">
                <a:latin typeface="Times New Roman"/>
              </a:rPr>
              <a:t>:</a:t>
            </a:r>
          </a:p>
          <a:p>
            <a:pPr lvl="1"/>
            <a:r>
              <a:rPr lang="en" altLang="zh-CN" sz="2000" dirty="0">
                <a:latin typeface="Times New Roman"/>
              </a:rPr>
              <a:t>Optimized TPU arithmetic circuits in Verilog</a:t>
            </a:r>
          </a:p>
          <a:p>
            <a:pPr lvl="1"/>
            <a:r>
              <a:rPr lang="en" altLang="zh-CN" sz="2000" dirty="0">
                <a:latin typeface="Times New Roman"/>
              </a:rPr>
              <a:t>32% speedup on </a:t>
            </a:r>
            <a:r>
              <a:rPr lang="en" altLang="zh-CN" sz="2000" dirty="0" err="1">
                <a:latin typeface="Times New Roman"/>
              </a:rPr>
              <a:t>FlashAttention</a:t>
            </a:r>
            <a:r>
              <a:rPr lang="en" altLang="zh-CN" sz="2000" dirty="0">
                <a:latin typeface="Times New Roman"/>
              </a:rPr>
              <a:t> kernel</a:t>
            </a:r>
          </a:p>
          <a:p>
            <a:endParaRPr lang="en" altLang="zh-CN" sz="1867" dirty="0">
              <a:latin typeface="Times New Roman"/>
            </a:endParaRPr>
          </a:p>
        </p:txBody>
      </p:sp>
      <p:pic>
        <p:nvPicPr>
          <p:cNvPr id="9" name="图片 8">
            <a:extLst>
              <a:ext uri="{FF2B5EF4-FFF2-40B4-BE49-F238E27FC236}">
                <a16:creationId xmlns:a16="http://schemas.microsoft.com/office/drawing/2014/main" id="{06B92F05-CE18-9571-A95B-14E2B510CC46}"/>
              </a:ext>
            </a:extLst>
          </p:cNvPr>
          <p:cNvPicPr>
            <a:picLocks noChangeAspect="1"/>
          </p:cNvPicPr>
          <p:nvPr/>
        </p:nvPicPr>
        <p:blipFill>
          <a:blip r:embed="rId3"/>
          <a:stretch>
            <a:fillRect/>
          </a:stretch>
        </p:blipFill>
        <p:spPr>
          <a:xfrm>
            <a:off x="6800000" y="1464418"/>
            <a:ext cx="4883794" cy="1542861"/>
          </a:xfrm>
          <a:prstGeom prst="rect">
            <a:avLst/>
          </a:prstGeom>
        </p:spPr>
      </p:pic>
      <p:pic>
        <p:nvPicPr>
          <p:cNvPr id="10" name="图片 9">
            <a:extLst>
              <a:ext uri="{FF2B5EF4-FFF2-40B4-BE49-F238E27FC236}">
                <a16:creationId xmlns:a16="http://schemas.microsoft.com/office/drawing/2014/main" id="{6C906FAE-08E5-93DC-55B2-707A1203554F}"/>
              </a:ext>
            </a:extLst>
          </p:cNvPr>
          <p:cNvPicPr>
            <a:picLocks noChangeAspect="1"/>
          </p:cNvPicPr>
          <p:nvPr/>
        </p:nvPicPr>
        <p:blipFill>
          <a:blip r:embed="rId4"/>
          <a:stretch>
            <a:fillRect/>
          </a:stretch>
        </p:blipFill>
        <p:spPr>
          <a:xfrm>
            <a:off x="7645865" y="2948154"/>
            <a:ext cx="2803932" cy="24879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2: </a:t>
            </a:r>
            <a:r>
              <a:rPr dirty="0" err="1"/>
              <a:t>EvoX</a:t>
            </a:r>
            <a:r>
              <a:rPr lang="en-US" dirty="0"/>
              <a:t> (1/2)</a:t>
            </a:r>
            <a:endParaRPr dirty="0"/>
          </a:p>
        </p:txBody>
      </p:sp>
      <p:sp>
        <p:nvSpPr>
          <p:cNvPr id="4" name="TextBox 3"/>
          <p:cNvSpPr txBox="1"/>
          <p:nvPr/>
        </p:nvSpPr>
        <p:spPr>
          <a:xfrm>
            <a:off x="1049867" y="1253610"/>
            <a:ext cx="10270977" cy="1323439"/>
          </a:xfrm>
          <a:prstGeom prst="rect">
            <a:avLst/>
          </a:prstGeom>
          <a:noFill/>
        </p:spPr>
        <p:txBody>
          <a:bodyPr wrap="square">
            <a:spAutoFit/>
          </a:bodyPr>
          <a:lstStyle/>
          <a:p>
            <a:pPr algn="l"/>
            <a:r>
              <a:rPr sz="3200" b="1" dirty="0" err="1">
                <a:latin typeface="Times New Roman"/>
              </a:rPr>
              <a:t>EvoX</a:t>
            </a:r>
            <a:r>
              <a:rPr sz="3200" b="1" dirty="0">
                <a:latin typeface="Times New Roman"/>
              </a:rPr>
              <a:t>: Meta-Evolution for Automated Discovery</a:t>
            </a:r>
          </a:p>
          <a:p>
            <a:pPr algn="l"/>
            <a:r>
              <a:rPr sz="2400" b="0" dirty="0">
                <a:latin typeface="Times New Roman"/>
              </a:rPr>
              <a:t>Shu Liu, Shubham Agarwal, et al.</a:t>
            </a:r>
          </a:p>
          <a:p>
            <a:pPr algn="l"/>
            <a:r>
              <a:rPr sz="2400" b="0" dirty="0">
                <a:latin typeface="Times New Roman"/>
              </a:rPr>
              <a:t>UC Berkeley, Stanford University, Bespoke Labs</a:t>
            </a:r>
          </a:p>
        </p:txBody>
      </p:sp>
      <p:grpSp>
        <p:nvGrpSpPr>
          <p:cNvPr id="11" name="组合 10">
            <a:extLst>
              <a:ext uri="{FF2B5EF4-FFF2-40B4-BE49-F238E27FC236}">
                <a16:creationId xmlns:a16="http://schemas.microsoft.com/office/drawing/2014/main" id="{B30DF17B-3BC8-BA2D-80E9-4B1987A2FC09}"/>
              </a:ext>
            </a:extLst>
          </p:cNvPr>
          <p:cNvGrpSpPr/>
          <p:nvPr/>
        </p:nvGrpSpPr>
        <p:grpSpPr>
          <a:xfrm>
            <a:off x="1718111" y="2857526"/>
            <a:ext cx="8755778" cy="3050109"/>
            <a:chOff x="2371830" y="1523170"/>
            <a:chExt cx="7841378" cy="2465734"/>
          </a:xfrm>
        </p:grpSpPr>
        <p:pic>
          <p:nvPicPr>
            <p:cNvPr id="5" name="图片 4">
              <a:extLst>
                <a:ext uri="{FF2B5EF4-FFF2-40B4-BE49-F238E27FC236}">
                  <a16:creationId xmlns:a16="http://schemas.microsoft.com/office/drawing/2014/main" id="{3DC3E149-5131-8538-E56A-6079A82AF03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6" name="Shape 0">
              <a:extLst>
                <a:ext uri="{FF2B5EF4-FFF2-40B4-BE49-F238E27FC236}">
                  <a16:creationId xmlns:a16="http://schemas.microsoft.com/office/drawing/2014/main" id="{2B707D97-0F8A-B687-ABAD-4D1460567D68}"/>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7" name="Shape 0">
              <a:extLst>
                <a:ext uri="{FF2B5EF4-FFF2-40B4-BE49-F238E27FC236}">
                  <a16:creationId xmlns:a16="http://schemas.microsoft.com/office/drawing/2014/main" id="{451D5053-6BFE-F980-484D-40FD4B55F19A}"/>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8C351577-D7DC-86AD-8C3B-6B3C1CD6A86D}"/>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9" name="Shape 15">
              <a:extLst>
                <a:ext uri="{FF2B5EF4-FFF2-40B4-BE49-F238E27FC236}">
                  <a16:creationId xmlns:a16="http://schemas.microsoft.com/office/drawing/2014/main" id="{17872C48-1CE9-B17F-ECFF-270CDB2F1B83}"/>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0" name="Shape 15">
              <a:extLst>
                <a:ext uri="{FF2B5EF4-FFF2-40B4-BE49-F238E27FC236}">
                  <a16:creationId xmlns:a16="http://schemas.microsoft.com/office/drawing/2014/main" id="{8DED01F5-3444-051A-FCA2-34F97F1A7983}"/>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6A14FC6A-3AC9-4F99-8B8E-26EC5C9A8E24}"/>
              </a:ext>
            </a:extLst>
          </p:cNvPr>
          <p:cNvSpPr/>
          <p:nvPr/>
        </p:nvSpPr>
        <p:spPr bwMode="auto">
          <a:xfrm>
            <a:off x="1718110"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1.85185E-6 L 0.24622 -0.00023 " pathEditMode="relative" rAng="0" ptsTypes="AA">
                                      <p:cBhvr>
                                        <p:cTn id="6" dur="2000" fill="hold"/>
                                        <p:tgtEl>
                                          <p:spTgt spid="12"/>
                                        </p:tgtEl>
                                        <p:attrNameLst>
                                          <p:attrName>ppt_x</p:attrName>
                                          <p:attrName>ppt_y</p:attrName>
                                        </p:attrNameLst>
                                      </p:cBhvr>
                                      <p:rCtr x="1230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2: EvoX (2/2)</a:t>
            </a:r>
            <a:endParaRPr dirty="0"/>
          </a:p>
        </p:txBody>
      </p:sp>
      <p:sp>
        <p:nvSpPr>
          <p:cNvPr id="5" name="內容版面配置區 2">
            <a:extLst>
              <a:ext uri="{FF2B5EF4-FFF2-40B4-BE49-F238E27FC236}">
                <a16:creationId xmlns:a16="http://schemas.microsoft.com/office/drawing/2014/main" id="{3A9C4BFE-84AE-4374-55BA-CFDB84AC926F}"/>
              </a:ext>
            </a:extLst>
          </p:cNvPr>
          <p:cNvSpPr txBox="1">
            <a:spLocks/>
          </p:cNvSpPr>
          <p:nvPr/>
        </p:nvSpPr>
        <p:spPr bwMode="auto">
          <a:xfrm>
            <a:off x="492002" y="1150000"/>
            <a:ext cx="6690464"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err="1">
                <a:latin typeface="Times New Roman"/>
              </a:rPr>
              <a:t>AlphaEvolve</a:t>
            </a:r>
            <a:r>
              <a:rPr lang="en" altLang="zh-CN" sz="2000" dirty="0">
                <a:latin typeface="Times New Roman"/>
              </a:rPr>
              <a:t>, and other works all use fixed search strategies</a:t>
            </a:r>
          </a:p>
          <a:p>
            <a:pPr lvl="1"/>
            <a:r>
              <a:rPr lang="en" altLang="zh-CN" sz="2000" dirty="0">
                <a:latin typeface="Times New Roman"/>
              </a:rPr>
              <a:t>A strategy effective early may become ineffective later</a:t>
            </a:r>
          </a:p>
          <a:p>
            <a:r>
              <a:rPr lang="en" altLang="zh-CN" sz="2400" dirty="0">
                <a:latin typeface="Times New Roman"/>
              </a:rPr>
              <a:t>Key observations</a:t>
            </a:r>
          </a:p>
          <a:p>
            <a:pPr lvl="1"/>
            <a:r>
              <a:rPr lang="en" altLang="zh-CN" sz="2000" dirty="0">
                <a:latin typeface="Times New Roman"/>
              </a:rPr>
              <a:t>Optimal search behavior is state-dependent</a:t>
            </a:r>
          </a:p>
          <a:p>
            <a:pPr lvl="1"/>
            <a:r>
              <a:rPr lang="en" altLang="zh-CN" sz="2000" dirty="0">
                <a:latin typeface="Times New Roman"/>
              </a:rPr>
              <a:t>Different tasks and stages need different strategies</a:t>
            </a:r>
          </a:p>
          <a:p>
            <a:r>
              <a:rPr lang="en" altLang="zh-CN" sz="2400" dirty="0">
                <a:latin typeface="Times New Roman"/>
              </a:rPr>
              <a:t>Key ideas</a:t>
            </a:r>
          </a:p>
          <a:p>
            <a:pPr lvl="1"/>
            <a:r>
              <a:rPr lang="en" altLang="zh-CN" sz="2000" dirty="0">
                <a:latin typeface="Times New Roman"/>
              </a:rPr>
              <a:t>Frame search strategy as a meta-learning problem</a:t>
            </a:r>
          </a:p>
          <a:p>
            <a:pPr lvl="1"/>
            <a:r>
              <a:rPr lang="en" altLang="zh-CN" sz="2000" dirty="0">
                <a:latin typeface="Times New Roman"/>
              </a:rPr>
              <a:t>Two coupled loops: inner (solution) + outer (strategy evolution)</a:t>
            </a:r>
          </a:p>
          <a:p>
            <a:pPr lvl="1"/>
            <a:r>
              <a:rPr lang="en" altLang="zh-CN" sz="2000" dirty="0">
                <a:latin typeface="Times New Roman"/>
              </a:rPr>
              <a:t>Strategy evolves based on observed progress signals</a:t>
            </a:r>
          </a:p>
          <a:p>
            <a:endParaRPr lang="en" altLang="zh-CN" sz="2400" b="1" dirty="0">
              <a:latin typeface="Times New Roman"/>
              <a:ea typeface="+mn-ea"/>
            </a:endParaRPr>
          </a:p>
        </p:txBody>
      </p:sp>
      <p:pic>
        <p:nvPicPr>
          <p:cNvPr id="6" name="图片 5">
            <a:extLst>
              <a:ext uri="{FF2B5EF4-FFF2-40B4-BE49-F238E27FC236}">
                <a16:creationId xmlns:a16="http://schemas.microsoft.com/office/drawing/2014/main" id="{CE85CA0B-F310-0923-43BB-0EC0822A775C}"/>
              </a:ext>
            </a:extLst>
          </p:cNvPr>
          <p:cNvPicPr>
            <a:picLocks noChangeAspect="1"/>
          </p:cNvPicPr>
          <p:nvPr/>
        </p:nvPicPr>
        <p:blipFill>
          <a:blip r:embed="rId3"/>
          <a:stretch>
            <a:fillRect/>
          </a:stretch>
        </p:blipFill>
        <p:spPr>
          <a:xfrm>
            <a:off x="7747756" y="1649078"/>
            <a:ext cx="3819832" cy="3559844"/>
          </a:xfrm>
          <a:prstGeom prst="rect">
            <a:avLst/>
          </a:prstGeom>
        </p:spPr>
      </p:pic>
      <p:sp>
        <p:nvSpPr>
          <p:cNvPr id="7" name="TextBox 5">
            <a:extLst>
              <a:ext uri="{FF2B5EF4-FFF2-40B4-BE49-F238E27FC236}">
                <a16:creationId xmlns:a16="http://schemas.microsoft.com/office/drawing/2014/main" id="{0F605E31-DFB9-CF09-1852-D3910241B063}"/>
              </a:ext>
            </a:extLst>
          </p:cNvPr>
          <p:cNvSpPr txBox="1"/>
          <p:nvPr/>
        </p:nvSpPr>
        <p:spPr>
          <a:xfrm>
            <a:off x="7192000" y="5208922"/>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7</a:t>
            </a:r>
            <a:r>
              <a:rPr dirty="0">
                <a:latin typeface="Times New Roman"/>
              </a:rPr>
              <a:t>. </a:t>
            </a:r>
            <a:r>
              <a:rPr lang="en" dirty="0">
                <a:latin typeface="Times New Roman"/>
              </a:rPr>
              <a:t>Evolved search (blue) breakthroughs while fixed strategy (red) stagnates</a:t>
            </a:r>
            <a:endParaRPr dirty="0">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CAAD-069B-3C3A-BAD4-158F218FB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3C3AA-D201-0F00-BCBC-4D9803D56700}"/>
              </a:ext>
            </a:extLst>
          </p:cNvPr>
          <p:cNvSpPr>
            <a:spLocks noGrp="1"/>
          </p:cNvSpPr>
          <p:nvPr>
            <p:ph type="title"/>
          </p:nvPr>
        </p:nvSpPr>
        <p:spPr/>
        <p:txBody>
          <a:bodyPr/>
          <a:lstStyle/>
          <a:p>
            <a:r>
              <a:rPr dirty="0" err="1"/>
              <a:t>EvoX</a:t>
            </a:r>
            <a:r>
              <a:rPr dirty="0"/>
              <a:t> - System Architecture</a:t>
            </a:r>
          </a:p>
        </p:txBody>
      </p:sp>
      <p:sp>
        <p:nvSpPr>
          <p:cNvPr id="6" name="TextBox 5">
            <a:extLst>
              <a:ext uri="{FF2B5EF4-FFF2-40B4-BE49-F238E27FC236}">
                <a16:creationId xmlns:a16="http://schemas.microsoft.com/office/drawing/2014/main" id="{0C67C8D8-6661-8DA2-89C1-BF4015F07EB6}"/>
              </a:ext>
            </a:extLst>
          </p:cNvPr>
          <p:cNvSpPr txBox="1"/>
          <p:nvPr/>
        </p:nvSpPr>
        <p:spPr>
          <a:xfrm>
            <a:off x="6457440" y="5037332"/>
            <a:ext cx="5290332" cy="369332"/>
          </a:xfrm>
          <a:prstGeom prst="rect">
            <a:avLst/>
          </a:prstGeom>
          <a:noFill/>
        </p:spPr>
        <p:txBody>
          <a:bodyPr wrap="square">
            <a:spAutoFit/>
          </a:bodyPr>
          <a:lstStyle/>
          <a:p>
            <a:pPr algn="ctr"/>
            <a:r>
              <a:rPr dirty="0">
                <a:latin typeface="Times New Roman"/>
              </a:rPr>
              <a:t>Figure </a:t>
            </a:r>
            <a:r>
              <a:rPr lang="en-US" dirty="0">
                <a:latin typeface="Times New Roman"/>
              </a:rPr>
              <a:t>8</a:t>
            </a:r>
            <a:r>
              <a:rPr dirty="0">
                <a:latin typeface="Times New Roman"/>
              </a:rPr>
              <a:t>. </a:t>
            </a:r>
            <a:r>
              <a:rPr dirty="0" err="1">
                <a:latin typeface="Times New Roman"/>
              </a:rPr>
              <a:t>EvoX</a:t>
            </a:r>
            <a:r>
              <a:rPr dirty="0">
                <a:latin typeface="Times New Roman"/>
              </a:rPr>
              <a:t> architecture with inner and outer loops</a:t>
            </a:r>
          </a:p>
        </p:txBody>
      </p:sp>
      <p:sp>
        <p:nvSpPr>
          <p:cNvPr id="7" name="內容版面配置區 2">
            <a:extLst>
              <a:ext uri="{FF2B5EF4-FFF2-40B4-BE49-F238E27FC236}">
                <a16:creationId xmlns:a16="http://schemas.microsoft.com/office/drawing/2014/main" id="{73C2A394-03F3-B206-9363-4404A24ACA96}"/>
              </a:ext>
            </a:extLst>
          </p:cNvPr>
          <p:cNvSpPr txBox="1">
            <a:spLocks/>
          </p:cNvSpPr>
          <p:nvPr/>
        </p:nvSpPr>
        <p:spPr bwMode="auto">
          <a:xfrm>
            <a:off x="444228" y="1200000"/>
            <a:ext cx="5651772"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Solution Evolution (Inner Loop)</a:t>
            </a:r>
          </a:p>
          <a:p>
            <a:pPr lvl="1"/>
            <a:r>
              <a:rPr lang="en" altLang="zh-CN" sz="2000" dirty="0">
                <a:latin typeface="Times New Roman"/>
              </a:rPr>
              <a:t>Strategy selects parent + variation operator</a:t>
            </a:r>
          </a:p>
          <a:p>
            <a:pPr lvl="1"/>
            <a:r>
              <a:rPr lang="en" altLang="zh-CN" sz="2000" dirty="0">
                <a:latin typeface="Times New Roman"/>
              </a:rPr>
              <a:t>Three operators: local, structural, free-form</a:t>
            </a:r>
          </a:p>
          <a:p>
            <a:r>
              <a:rPr lang="en" altLang="zh-CN" sz="2400" dirty="0">
                <a:latin typeface="Times New Roman"/>
              </a:rPr>
              <a:t>Meta-Evolution (Outer Loop)</a:t>
            </a:r>
          </a:p>
          <a:p>
            <a:pPr lvl="1"/>
            <a:r>
              <a:rPr lang="en" altLang="zh-CN" sz="2000" dirty="0">
                <a:latin typeface="Times New Roman"/>
              </a:rPr>
              <a:t>Monitors progress over sliding window</a:t>
            </a:r>
          </a:p>
          <a:p>
            <a:pPr lvl="1"/>
            <a:r>
              <a:rPr lang="en" altLang="zh-CN" sz="2000" dirty="0">
                <a:latin typeface="Times New Roman"/>
              </a:rPr>
              <a:t>On stagnation: triggers strategy evolution</a:t>
            </a:r>
          </a:p>
          <a:p>
            <a:pPr lvl="1"/>
            <a:r>
              <a:rPr lang="en" altLang="zh-CN" sz="2000" dirty="0">
                <a:latin typeface="Times New Roman"/>
              </a:rPr>
              <a:t>Conditions on past strategies + population</a:t>
            </a:r>
            <a:br>
              <a:rPr lang="en" altLang="zh-CN" sz="2000" dirty="0">
                <a:latin typeface="Times New Roman"/>
              </a:rPr>
            </a:br>
            <a:r>
              <a:rPr lang="en" altLang="zh-CN" sz="2000" dirty="0">
                <a:latin typeface="Times New Roman"/>
              </a:rPr>
              <a:t>state</a:t>
            </a:r>
          </a:p>
          <a:p>
            <a:r>
              <a:rPr lang="en" altLang="zh-CN" sz="2400" dirty="0">
                <a:latin typeface="Times New Roman"/>
              </a:rPr>
              <a:t>Strategy Database</a:t>
            </a:r>
          </a:p>
          <a:p>
            <a:pPr lvl="1"/>
            <a:r>
              <a:rPr lang="en" altLang="zh-CN" sz="2000" dirty="0">
                <a:latin typeface="Times New Roman"/>
              </a:rPr>
              <a:t>Records (strategy, state, score) tuples</a:t>
            </a:r>
          </a:p>
          <a:p>
            <a:pPr lvl="1"/>
            <a:r>
              <a:rPr lang="en" altLang="zh-CN" sz="2000" dirty="0">
                <a:latin typeface="Times New Roman"/>
              </a:rPr>
              <a:t>Enables state-conditional strategy selection</a:t>
            </a:r>
          </a:p>
          <a:p>
            <a:endParaRPr lang="en" altLang="zh-CN" sz="2400" b="1" dirty="0">
              <a:latin typeface="Times New Roman"/>
              <a:ea typeface="+mn-ea"/>
            </a:endParaRPr>
          </a:p>
        </p:txBody>
      </p:sp>
      <p:pic>
        <p:nvPicPr>
          <p:cNvPr id="8" name="图片 7">
            <a:extLst>
              <a:ext uri="{FF2B5EF4-FFF2-40B4-BE49-F238E27FC236}">
                <a16:creationId xmlns:a16="http://schemas.microsoft.com/office/drawing/2014/main" id="{752112AC-C369-518F-5498-7C57D22B4CD1}"/>
              </a:ext>
            </a:extLst>
          </p:cNvPr>
          <p:cNvPicPr>
            <a:picLocks noChangeAspect="1"/>
          </p:cNvPicPr>
          <p:nvPr/>
        </p:nvPicPr>
        <p:blipFill>
          <a:blip r:embed="rId3"/>
          <a:stretch>
            <a:fillRect/>
          </a:stretch>
        </p:blipFill>
        <p:spPr>
          <a:xfrm>
            <a:off x="5739839" y="2330245"/>
            <a:ext cx="6231512" cy="2707087"/>
          </a:xfrm>
          <a:prstGeom prst="rect">
            <a:avLst/>
          </a:prstGeom>
        </p:spPr>
      </p:pic>
    </p:spTree>
    <p:extLst>
      <p:ext uri="{BB962C8B-B14F-4D97-AF65-F5344CB8AC3E}">
        <p14:creationId xmlns:p14="http://schemas.microsoft.com/office/powerpoint/2010/main" val="199884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 Case Study: Signal Processing</a:t>
            </a:r>
          </a:p>
        </p:txBody>
      </p:sp>
      <p:pic>
        <p:nvPicPr>
          <p:cNvPr id="5" name="Picture 4" descr="EvoX-Figure2-1.png"/>
          <p:cNvPicPr>
            <a:picLocks noChangeAspect="1"/>
          </p:cNvPicPr>
          <p:nvPr/>
        </p:nvPicPr>
        <p:blipFill>
          <a:blip r:embed="rId3"/>
          <a:stretch>
            <a:fillRect/>
          </a:stretch>
        </p:blipFill>
        <p:spPr>
          <a:xfrm>
            <a:off x="6096000" y="2050528"/>
            <a:ext cx="5789178" cy="2226607"/>
          </a:xfrm>
          <a:prstGeom prst="rect">
            <a:avLst/>
          </a:prstGeom>
        </p:spPr>
      </p:pic>
      <p:sp>
        <p:nvSpPr>
          <p:cNvPr id="6" name="TextBox 5"/>
          <p:cNvSpPr txBox="1"/>
          <p:nvPr/>
        </p:nvSpPr>
        <p:spPr>
          <a:xfrm>
            <a:off x="6367588" y="4277135"/>
            <a:ext cx="5200000" cy="646331"/>
          </a:xfrm>
          <a:prstGeom prst="rect">
            <a:avLst/>
          </a:prstGeom>
          <a:noFill/>
        </p:spPr>
        <p:txBody>
          <a:bodyPr wrap="square">
            <a:spAutoFit/>
          </a:bodyPr>
          <a:lstStyle/>
          <a:p>
            <a:pPr algn="ctr"/>
            <a:r>
              <a:rPr dirty="0">
                <a:latin typeface="Times New Roman"/>
              </a:rPr>
              <a:t>Figure </a:t>
            </a:r>
            <a:r>
              <a:rPr lang="en-US" dirty="0">
                <a:latin typeface="Times New Roman"/>
              </a:rPr>
              <a:t>9</a:t>
            </a:r>
            <a:r>
              <a:rPr dirty="0">
                <a:latin typeface="Times New Roman"/>
              </a:rPr>
              <a:t>. Search strategy evolution on signal processing task</a:t>
            </a:r>
          </a:p>
        </p:txBody>
      </p:sp>
      <p:sp>
        <p:nvSpPr>
          <p:cNvPr id="7" name="內容版面配置區 2">
            <a:extLst>
              <a:ext uri="{FF2B5EF4-FFF2-40B4-BE49-F238E27FC236}">
                <a16:creationId xmlns:a16="http://schemas.microsoft.com/office/drawing/2014/main" id="{FD90FCD5-D5EA-06C8-46BD-CDE5B7E862C6}"/>
              </a:ext>
            </a:extLst>
          </p:cNvPr>
          <p:cNvSpPr txBox="1">
            <a:spLocks/>
          </p:cNvSpPr>
          <p:nvPr/>
        </p:nvSpPr>
        <p:spPr bwMode="auto">
          <a:xfrm>
            <a:off x="444228" y="1200000"/>
            <a:ext cx="5651772" cy="49205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Adaptive filtering for noisy time series</a:t>
            </a:r>
            <a:endParaRPr lang="en" altLang="zh-CN" sz="2400" b="1" dirty="0">
              <a:latin typeface="Times New Roman"/>
            </a:endParaRPr>
          </a:p>
          <a:p>
            <a:r>
              <a:rPr lang="en" altLang="zh-CN" sz="2400" dirty="0">
                <a:latin typeface="Times New Roman"/>
              </a:rPr>
              <a:t>Strategy Evolution Phases:</a:t>
            </a:r>
          </a:p>
          <a:p>
            <a:pPr lvl="1"/>
            <a:r>
              <a:rPr lang="en" altLang="zh-CN" sz="2000" dirty="0">
                <a:latin typeface="Times New Roman"/>
              </a:rPr>
              <a:t>Phase 1 (iter 0-20): Random, then greedy</a:t>
            </a:r>
          </a:p>
          <a:p>
            <a:pPr lvl="1"/>
            <a:r>
              <a:rPr lang="en" altLang="zh-CN" sz="2000" dirty="0">
                <a:latin typeface="Times New Roman"/>
              </a:rPr>
              <a:t>Phase 2 (iter 40): Stratified multi-objective (+0.119)</a:t>
            </a:r>
          </a:p>
          <a:p>
            <a:pPr lvl="1"/>
            <a:r>
              <a:rPr lang="en" altLang="zh-CN" sz="2000" dirty="0">
                <a:latin typeface="Times New Roman"/>
              </a:rPr>
              <a:t>Phase 3 (iter 60): UCB + structural variation (+0.056)</a:t>
            </a:r>
          </a:p>
          <a:p>
            <a:pPr lvl="1"/>
            <a:r>
              <a:rPr lang="en" altLang="zh-CN" sz="2000" dirty="0">
                <a:latin typeface="Times New Roman"/>
              </a:rPr>
              <a:t>Phase 4 (iter 90): Local refinement (+0.022)</a:t>
            </a:r>
          </a:p>
          <a:p>
            <a:r>
              <a:rPr lang="en" altLang="zh-CN" sz="2400" dirty="0">
                <a:latin typeface="Times New Roman"/>
              </a:rPr>
              <a:t>Result: 34.1% higher score than static baseline</a:t>
            </a:r>
          </a:p>
          <a:p>
            <a:endParaRPr lang="en" altLang="zh-CN" sz="2400" b="1" dirty="0">
              <a:latin typeface="Times New Roman"/>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786533" cy="692151"/>
          </a:xfrm>
        </p:spPr>
        <p:txBody>
          <a:bodyPr/>
          <a:lstStyle/>
          <a:p>
            <a:r>
              <a:rPr dirty="0" err="1"/>
              <a:t>EvoX</a:t>
            </a:r>
            <a:r>
              <a:rPr dirty="0"/>
              <a:t> </a:t>
            </a:r>
            <a:r>
              <a:rPr lang="en-US" altLang="zh-CN" dirty="0"/>
              <a:t>–</a:t>
            </a:r>
            <a:r>
              <a:rPr dirty="0"/>
              <a:t> </a:t>
            </a:r>
            <a:r>
              <a:rPr lang="en-US" dirty="0"/>
              <a:t>Evaluation (</a:t>
            </a:r>
            <a:r>
              <a:rPr dirty="0"/>
              <a:t>Math Optimization</a:t>
            </a:r>
            <a:r>
              <a:rPr lang="en-US" dirty="0"/>
              <a:t>)</a:t>
            </a:r>
            <a:endParaRPr dirty="0"/>
          </a:p>
        </p:txBody>
      </p:sp>
      <p:sp>
        <p:nvSpPr>
          <p:cNvPr id="6" name="TextBox 5"/>
          <p:cNvSpPr txBox="1"/>
          <p:nvPr/>
        </p:nvSpPr>
        <p:spPr>
          <a:xfrm>
            <a:off x="2758675" y="2740871"/>
            <a:ext cx="7100104" cy="369332"/>
          </a:xfrm>
          <a:prstGeom prst="rect">
            <a:avLst/>
          </a:prstGeom>
          <a:noFill/>
        </p:spPr>
        <p:txBody>
          <a:bodyPr wrap="square">
            <a:spAutoFit/>
          </a:bodyPr>
          <a:lstStyle/>
          <a:p>
            <a:pPr algn="l"/>
            <a:r>
              <a:rPr dirty="0">
                <a:latin typeface="Times New Roman"/>
              </a:rPr>
              <a:t>Table 3. Math optimization results</a:t>
            </a:r>
            <a:r>
              <a:rPr lang="en-US" dirty="0">
                <a:latin typeface="Times New Roman"/>
              </a:rPr>
              <a:t> (showing the first 4 out of 8 tasks)</a:t>
            </a:r>
            <a:endParaRPr dirty="0">
              <a:latin typeface="Times New Roman"/>
            </a:endParaRPr>
          </a:p>
        </p:txBody>
      </p:sp>
      <p:pic>
        <p:nvPicPr>
          <p:cNvPr id="8" name="图片 7">
            <a:extLst>
              <a:ext uri="{FF2B5EF4-FFF2-40B4-BE49-F238E27FC236}">
                <a16:creationId xmlns:a16="http://schemas.microsoft.com/office/drawing/2014/main" id="{BF560D40-E8D8-8827-0275-57503D1FA6D4}"/>
              </a:ext>
            </a:extLst>
          </p:cNvPr>
          <p:cNvPicPr>
            <a:picLocks noChangeAspect="1"/>
          </p:cNvPicPr>
          <p:nvPr/>
        </p:nvPicPr>
        <p:blipFill>
          <a:blip r:embed="rId3"/>
          <a:stretch>
            <a:fillRect/>
          </a:stretch>
        </p:blipFill>
        <p:spPr>
          <a:xfrm>
            <a:off x="1146898" y="3044869"/>
            <a:ext cx="9898203" cy="3075712"/>
          </a:xfrm>
          <a:prstGeom prst="rect">
            <a:avLst/>
          </a:prstGeom>
        </p:spPr>
      </p:pic>
      <p:sp>
        <p:nvSpPr>
          <p:cNvPr id="9" name="內容版面配置區 2">
            <a:extLst>
              <a:ext uri="{FF2B5EF4-FFF2-40B4-BE49-F238E27FC236}">
                <a16:creationId xmlns:a16="http://schemas.microsoft.com/office/drawing/2014/main" id="{54383401-A7F2-2562-D9D3-19C7D73D307A}"/>
              </a:ext>
            </a:extLst>
          </p:cNvPr>
          <p:cNvSpPr txBox="1">
            <a:spLocks/>
          </p:cNvSpPr>
          <p:nvPr/>
        </p:nvSpPr>
        <p:spPr bwMode="auto">
          <a:xfrm>
            <a:off x="444228" y="1200000"/>
            <a:ext cx="11123360" cy="1410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Evaluated on 8 mathematical optimization tasks :</a:t>
            </a:r>
          </a:p>
          <a:p>
            <a:pPr lvl="1"/>
            <a:r>
              <a:rPr lang="en" altLang="zh-CN" sz="2000" dirty="0">
                <a:latin typeface="Times New Roman"/>
              </a:rPr>
              <a:t>Circle packing, Heilbronn triangle/convex, min-max-min distance, etc.</a:t>
            </a:r>
          </a:p>
          <a:p>
            <a:r>
              <a:rPr lang="en" altLang="zh-CN" sz="2400" dirty="0">
                <a:latin typeface="Times New Roman"/>
              </a:rPr>
              <a:t>Best or tied-best on 7/8 tasks; exceeds </a:t>
            </a:r>
            <a:r>
              <a:rPr lang="en" altLang="zh-CN" sz="2400" dirty="0" err="1">
                <a:latin typeface="Times New Roman"/>
              </a:rPr>
              <a:t>AlphaEvolve</a:t>
            </a:r>
            <a:r>
              <a:rPr lang="en" altLang="zh-CN" sz="2400" dirty="0">
                <a:latin typeface="Times New Roman"/>
              </a:rPr>
              <a:t> on 5/7 tasks</a:t>
            </a:r>
          </a:p>
          <a:p>
            <a:endParaRPr lang="en" altLang="zh-CN" sz="2400" b="1" dirty="0">
              <a:latin typeface="Times New Roman"/>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1142133" cy="692151"/>
          </a:xfrm>
        </p:spPr>
        <p:txBody>
          <a:bodyPr/>
          <a:lstStyle/>
          <a:p>
            <a:r>
              <a:rPr dirty="0" err="1"/>
              <a:t>EvoX</a:t>
            </a:r>
            <a:r>
              <a:rPr dirty="0"/>
              <a:t> - System &amp; Algorithm </a:t>
            </a:r>
            <a:r>
              <a:rPr lang="en-US" dirty="0"/>
              <a:t>Optimization</a:t>
            </a:r>
            <a:endParaRPr dirty="0"/>
          </a:p>
        </p:txBody>
      </p:sp>
      <p:pic>
        <p:nvPicPr>
          <p:cNvPr id="5" name="Picture 4" descr="EvoX-Figure3-1.png"/>
          <p:cNvPicPr>
            <a:picLocks noChangeAspect="1"/>
          </p:cNvPicPr>
          <p:nvPr/>
        </p:nvPicPr>
        <p:blipFill>
          <a:blip r:embed="rId3"/>
          <a:stretch>
            <a:fillRect/>
          </a:stretch>
        </p:blipFill>
        <p:spPr>
          <a:xfrm>
            <a:off x="6200000" y="1200000"/>
            <a:ext cx="5500000" cy="2000000"/>
          </a:xfrm>
          <a:prstGeom prst="rect">
            <a:avLst/>
          </a:prstGeom>
        </p:spPr>
      </p:pic>
      <p:sp>
        <p:nvSpPr>
          <p:cNvPr id="6" name="TextBox 5"/>
          <p:cNvSpPr txBox="1"/>
          <p:nvPr/>
        </p:nvSpPr>
        <p:spPr>
          <a:xfrm>
            <a:off x="6200000" y="3230000"/>
            <a:ext cx="5651772"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10</a:t>
            </a:r>
            <a:r>
              <a:rPr sz="1600" dirty="0">
                <a:latin typeface="Times New Roman"/>
              </a:rPr>
              <a:t>. </a:t>
            </a:r>
            <a:r>
              <a:rPr sz="1600" dirty="0" err="1">
                <a:latin typeface="Times New Roman"/>
              </a:rPr>
              <a:t>EvoX</a:t>
            </a:r>
            <a:r>
              <a:rPr sz="1600" dirty="0">
                <a:latin typeface="Times New Roman"/>
              </a:rPr>
              <a:t> on ALE-Bench-Lite and Frontier-CS benchmarks</a:t>
            </a:r>
          </a:p>
        </p:txBody>
      </p:sp>
      <p:pic>
        <p:nvPicPr>
          <p:cNvPr id="7" name="Picture 6" descr="EvoX-Figure4-1.png"/>
          <p:cNvPicPr>
            <a:picLocks noChangeAspect="1"/>
          </p:cNvPicPr>
          <p:nvPr/>
        </p:nvPicPr>
        <p:blipFill>
          <a:blip r:embed="rId4"/>
          <a:stretch>
            <a:fillRect/>
          </a:stretch>
        </p:blipFill>
        <p:spPr>
          <a:xfrm>
            <a:off x="6200000" y="3600000"/>
            <a:ext cx="5500000" cy="2000000"/>
          </a:xfrm>
          <a:prstGeom prst="rect">
            <a:avLst/>
          </a:prstGeom>
        </p:spPr>
      </p:pic>
      <p:sp>
        <p:nvSpPr>
          <p:cNvPr id="8" name="TextBox 7"/>
          <p:cNvSpPr txBox="1"/>
          <p:nvPr/>
        </p:nvSpPr>
        <p:spPr>
          <a:xfrm>
            <a:off x="6200000" y="5630000"/>
            <a:ext cx="5500000"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11</a:t>
            </a:r>
            <a:r>
              <a:rPr sz="1600" dirty="0">
                <a:latin typeface="Times New Roman"/>
              </a:rPr>
              <a:t>. Search strategy evolution and cost-quality tradeoffs</a:t>
            </a:r>
          </a:p>
        </p:txBody>
      </p:sp>
      <p:sp>
        <p:nvSpPr>
          <p:cNvPr id="9" name="內容版面配置區 2">
            <a:extLst>
              <a:ext uri="{FF2B5EF4-FFF2-40B4-BE49-F238E27FC236}">
                <a16:creationId xmlns:a16="http://schemas.microsoft.com/office/drawing/2014/main" id="{D7EB9F95-EA73-07FB-8640-D462F31CFCCC}"/>
              </a:ext>
            </a:extLst>
          </p:cNvPr>
          <p:cNvSpPr txBox="1">
            <a:spLocks/>
          </p:cNvSpPr>
          <p:nvPr/>
        </p:nvSpPr>
        <p:spPr bwMode="auto">
          <a:xfrm>
            <a:off x="492000" y="1139709"/>
            <a:ext cx="5651772" cy="49956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System Optimization (6 tasks)</a:t>
            </a:r>
          </a:p>
          <a:p>
            <a:pPr lvl="1"/>
            <a:r>
              <a:rPr lang="en" altLang="zh-CN" sz="2000" dirty="0">
                <a:latin typeface="Times New Roman"/>
              </a:rPr>
              <a:t>Best mean score on all tasks (GPT-5), 5/6 (Gemini)</a:t>
            </a:r>
          </a:p>
          <a:p>
            <a:pPr lvl="1"/>
            <a:r>
              <a:rPr lang="en" altLang="zh-CN" sz="2000" dirty="0">
                <a:latin typeface="Times New Roman"/>
              </a:rPr>
              <a:t>Exceeds human-best on all 6 under Gemini-3.0-Pro</a:t>
            </a:r>
          </a:p>
          <a:p>
            <a:endParaRPr lang="en" altLang="zh-CN" sz="2000" dirty="0">
              <a:latin typeface="Times New Roman"/>
            </a:endParaRPr>
          </a:p>
          <a:p>
            <a:r>
              <a:rPr lang="en" altLang="zh-CN" sz="2400" dirty="0">
                <a:latin typeface="Times New Roman"/>
              </a:rPr>
              <a:t>Algorithm &amp; Research (182 tasks)</a:t>
            </a:r>
          </a:p>
          <a:p>
            <a:pPr lvl="1"/>
            <a:r>
              <a:rPr lang="en" altLang="zh-CN" sz="2000" dirty="0">
                <a:latin typeface="Times New Roman"/>
              </a:rPr>
              <a:t>ALE-Bench-Lite: highest average (1958.2 vs 1874.8)</a:t>
            </a:r>
          </a:p>
          <a:p>
            <a:pPr lvl="1"/>
            <a:r>
              <a:rPr lang="en" altLang="zh-CN" sz="2000" dirty="0">
                <a:latin typeface="Times New Roman"/>
              </a:rPr>
              <a:t>Frontier-CS (172 tasks): highest median score (75.5)</a:t>
            </a:r>
          </a:p>
          <a:p>
            <a:pPr lvl="1"/>
            <a:r>
              <a:rPr lang="en" altLang="zh-CN" sz="2000" dirty="0">
                <a:latin typeface="Times New Roman"/>
              </a:rPr>
              <a:t>24% improvement over </a:t>
            </a:r>
            <a:r>
              <a:rPr lang="en" altLang="zh-CN" sz="2000" dirty="0" err="1">
                <a:latin typeface="Times New Roman"/>
              </a:rPr>
              <a:t>OpenEvolve</a:t>
            </a:r>
            <a:r>
              <a:rPr lang="en" altLang="zh-CN" sz="2000" dirty="0">
                <a:latin typeface="Times New Roman"/>
              </a:rPr>
              <a:t> in mean score</a:t>
            </a:r>
          </a:p>
          <a:p>
            <a:endParaRPr lang="en" altLang="zh-CN" sz="2400" b="1" dirty="0">
              <a:latin typeface="Times New Roman"/>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3: CORAL</a:t>
            </a:r>
            <a:r>
              <a:rPr lang="en-US" dirty="0"/>
              <a:t> (1/2)</a:t>
            </a:r>
            <a:endParaRPr dirty="0"/>
          </a:p>
        </p:txBody>
      </p:sp>
      <p:sp>
        <p:nvSpPr>
          <p:cNvPr id="4" name="TextBox 3"/>
          <p:cNvSpPr txBox="1"/>
          <p:nvPr/>
        </p:nvSpPr>
        <p:spPr>
          <a:xfrm>
            <a:off x="1049867" y="1075931"/>
            <a:ext cx="10270977" cy="1569660"/>
          </a:xfrm>
          <a:prstGeom prst="rect">
            <a:avLst/>
          </a:prstGeom>
          <a:noFill/>
        </p:spPr>
        <p:txBody>
          <a:bodyPr wrap="square">
            <a:spAutoFit/>
          </a:bodyPr>
          <a:lstStyle/>
          <a:p>
            <a:pPr algn="l"/>
            <a:r>
              <a:rPr sz="2800" b="1" dirty="0">
                <a:latin typeface="Times New Roman"/>
              </a:rPr>
              <a:t>CORAL: Towards Autonomous Multi-Agent Evolution</a:t>
            </a:r>
          </a:p>
          <a:p>
            <a:pPr algn="l"/>
            <a:r>
              <a:rPr sz="2800" b="1" dirty="0">
                <a:latin typeface="Times New Roman"/>
              </a:rPr>
              <a:t>for Open-Ended Discovery</a:t>
            </a:r>
          </a:p>
          <a:p>
            <a:pPr algn="l"/>
            <a:r>
              <a:rPr sz="2000" b="0" dirty="0">
                <a:latin typeface="Times New Roman"/>
              </a:rPr>
              <a:t>Ao Qu, Han Zheng, Zijian Zhou, et al.</a:t>
            </a:r>
          </a:p>
          <a:p>
            <a:pPr algn="l"/>
            <a:r>
              <a:rPr sz="2000" b="0" dirty="0">
                <a:latin typeface="Times New Roman"/>
              </a:rPr>
              <a:t>MIT, NUS, </a:t>
            </a:r>
            <a:r>
              <a:rPr sz="2000" b="0" dirty="0" err="1">
                <a:latin typeface="Times New Roman"/>
              </a:rPr>
              <a:t>MiniMax</a:t>
            </a:r>
            <a:r>
              <a:rPr sz="2000" b="0" dirty="0">
                <a:latin typeface="Times New Roman"/>
              </a:rPr>
              <a:t>, McGill, Stanford, </a:t>
            </a:r>
            <a:r>
              <a:rPr sz="2000" b="0" dirty="0" err="1">
                <a:latin typeface="Times New Roman"/>
              </a:rPr>
              <a:t>SambaNova</a:t>
            </a:r>
            <a:r>
              <a:rPr sz="2000" b="0" dirty="0">
                <a:latin typeface="Times New Roman"/>
              </a:rPr>
              <a:t>, Meta, Amazon, Microsoft</a:t>
            </a:r>
          </a:p>
        </p:txBody>
      </p:sp>
      <p:grpSp>
        <p:nvGrpSpPr>
          <p:cNvPr id="5" name="组合 4">
            <a:extLst>
              <a:ext uri="{FF2B5EF4-FFF2-40B4-BE49-F238E27FC236}">
                <a16:creationId xmlns:a16="http://schemas.microsoft.com/office/drawing/2014/main" id="{FF6F21E0-A392-370C-F59D-C05EA11B80DB}"/>
              </a:ext>
            </a:extLst>
          </p:cNvPr>
          <p:cNvGrpSpPr/>
          <p:nvPr/>
        </p:nvGrpSpPr>
        <p:grpSpPr>
          <a:xfrm>
            <a:off x="1718111" y="2857526"/>
            <a:ext cx="8755778" cy="3050109"/>
            <a:chOff x="2371830" y="1523170"/>
            <a:chExt cx="7841378" cy="2465734"/>
          </a:xfrm>
        </p:grpSpPr>
        <p:pic>
          <p:nvPicPr>
            <p:cNvPr id="6" name="图片 5">
              <a:extLst>
                <a:ext uri="{FF2B5EF4-FFF2-40B4-BE49-F238E27FC236}">
                  <a16:creationId xmlns:a16="http://schemas.microsoft.com/office/drawing/2014/main" id="{1F780430-9A38-3F7F-EF8A-77E67D2F72D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7" name="Shape 0">
              <a:extLst>
                <a:ext uri="{FF2B5EF4-FFF2-40B4-BE49-F238E27FC236}">
                  <a16:creationId xmlns:a16="http://schemas.microsoft.com/office/drawing/2014/main" id="{9AB6EB0E-051A-6842-68CC-9014C169D970}"/>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75D9BA29-7A88-8802-5996-B56362C90FC6}"/>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9" name="Shape 0">
              <a:extLst>
                <a:ext uri="{FF2B5EF4-FFF2-40B4-BE49-F238E27FC236}">
                  <a16:creationId xmlns:a16="http://schemas.microsoft.com/office/drawing/2014/main" id="{C310243A-245E-AC56-0A0B-E13EF6FB4658}"/>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0" name="Shape 15">
              <a:extLst>
                <a:ext uri="{FF2B5EF4-FFF2-40B4-BE49-F238E27FC236}">
                  <a16:creationId xmlns:a16="http://schemas.microsoft.com/office/drawing/2014/main" id="{5BA26507-44CC-A336-82B2-74194104CAEE}"/>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1" name="Shape 15">
              <a:extLst>
                <a:ext uri="{FF2B5EF4-FFF2-40B4-BE49-F238E27FC236}">
                  <a16:creationId xmlns:a16="http://schemas.microsoft.com/office/drawing/2014/main" id="{0342ED58-512D-BFE4-1F3B-6E23A3709318}"/>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9199F95B-030E-1035-07BF-F5D515DF06FA}"/>
              </a:ext>
            </a:extLst>
          </p:cNvPr>
          <p:cNvSpPr/>
          <p:nvPr/>
        </p:nvSpPr>
        <p:spPr bwMode="auto">
          <a:xfrm>
            <a:off x="4595993"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1.85185E-6 L 0.22799 -0.00023 " pathEditMode="relative" rAng="0" ptsTypes="AA">
                                      <p:cBhvr>
                                        <p:cTn id="6" dur="2000" fill="hold"/>
                                        <p:tgtEl>
                                          <p:spTgt spid="12"/>
                                        </p:tgtEl>
                                        <p:attrNameLst>
                                          <p:attrName>ppt_x</p:attrName>
                                          <p:attrName>ppt_y</p:attrName>
                                        </p:attrNameLst>
                                      </p:cBhvr>
                                      <p:rCtr x="1139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3: CORAL (2/2)</a:t>
            </a:r>
            <a:endParaRPr dirty="0"/>
          </a:p>
        </p:txBody>
      </p:sp>
      <p:sp>
        <p:nvSpPr>
          <p:cNvPr id="6" name="TextBox 5"/>
          <p:cNvSpPr txBox="1"/>
          <p:nvPr/>
        </p:nvSpPr>
        <p:spPr>
          <a:xfrm>
            <a:off x="6518787" y="5583000"/>
            <a:ext cx="54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Comparison of </a:t>
            </a:r>
            <a:r>
              <a:rPr lang="en-US" dirty="0">
                <a:latin typeface="Times New Roman"/>
              </a:rPr>
              <a:t>two</a:t>
            </a:r>
            <a:r>
              <a:rPr dirty="0">
                <a:latin typeface="Times New Roman"/>
              </a:rPr>
              <a:t> LLM</a:t>
            </a:r>
            <a:r>
              <a:rPr lang="en-US" dirty="0">
                <a:latin typeface="Times New Roman"/>
              </a:rPr>
              <a:t> agent systems</a:t>
            </a:r>
            <a:endParaRPr dirty="0">
              <a:latin typeface="Times New Roman"/>
            </a:endParaRPr>
          </a:p>
        </p:txBody>
      </p:sp>
      <p:sp>
        <p:nvSpPr>
          <p:cNvPr id="7" name="內容版面配置區 2">
            <a:extLst>
              <a:ext uri="{FF2B5EF4-FFF2-40B4-BE49-F238E27FC236}">
                <a16:creationId xmlns:a16="http://schemas.microsoft.com/office/drawing/2014/main" id="{B879F80D-8DF6-00D7-708F-BFEA8677227D}"/>
              </a:ext>
            </a:extLst>
          </p:cNvPr>
          <p:cNvSpPr txBox="1">
            <a:spLocks/>
          </p:cNvSpPr>
          <p:nvPr/>
        </p:nvSpPr>
        <p:spPr bwMode="auto">
          <a:xfrm>
            <a:off x="492002" y="1150000"/>
            <a:ext cx="6026785"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a:latin typeface="Times New Roman"/>
              </a:rPr>
              <a:t>Fixed evolutionary search limits agent capability</a:t>
            </a:r>
          </a:p>
          <a:p>
            <a:pPr lvl="1"/>
            <a:r>
              <a:rPr lang="en" altLang="zh-CN" sz="2000" dirty="0">
                <a:latin typeface="Times New Roman"/>
              </a:rPr>
              <a:t>Key decisions (retrieve, update) are hard-coded</a:t>
            </a:r>
          </a:p>
          <a:p>
            <a:pPr lvl="1"/>
            <a:r>
              <a:rPr lang="en" altLang="zh-CN" sz="2000" dirty="0">
                <a:latin typeface="Times New Roman"/>
              </a:rPr>
              <a:t>Multi-agent systems require predefined roles</a:t>
            </a:r>
          </a:p>
          <a:p>
            <a:endParaRPr lang="en" altLang="zh-CN" sz="2400" dirty="0">
              <a:latin typeface="Times New Roman"/>
            </a:endParaRPr>
          </a:p>
          <a:p>
            <a:r>
              <a:rPr lang="en" altLang="zh-CN" sz="2400" dirty="0">
                <a:latin typeface="Times New Roman"/>
              </a:rPr>
              <a:t>Key ideas</a:t>
            </a:r>
          </a:p>
          <a:p>
            <a:pPr lvl="1"/>
            <a:r>
              <a:rPr lang="en" altLang="zh-CN" sz="2000" dirty="0">
                <a:latin typeface="Times New Roman"/>
                <a:ea typeface="+mn-ea"/>
              </a:rPr>
              <a:t>Delegate full evolutionary loop to autonomous agents</a:t>
            </a:r>
          </a:p>
          <a:p>
            <a:pPr lvl="1"/>
            <a:r>
              <a:rPr lang="en" altLang="zh-CN" sz="2000" dirty="0">
                <a:latin typeface="Times New Roman"/>
                <a:ea typeface="+mn-ea"/>
              </a:rPr>
              <a:t>Shared persistent memory (attempts, notes, skills) across multiple agents</a:t>
            </a:r>
          </a:p>
          <a:p>
            <a:pPr lvl="1"/>
            <a:r>
              <a:rPr lang="en" altLang="zh-CN" sz="2000" dirty="0">
                <a:latin typeface="Times New Roman"/>
                <a:ea typeface="+mn-ea"/>
              </a:rPr>
              <a:t>Heartbeat interventions trigger reflection, consolidation, and redirection</a:t>
            </a:r>
          </a:p>
        </p:txBody>
      </p:sp>
      <p:pic>
        <p:nvPicPr>
          <p:cNvPr id="10" name="图片 9">
            <a:extLst>
              <a:ext uri="{FF2B5EF4-FFF2-40B4-BE49-F238E27FC236}">
                <a16:creationId xmlns:a16="http://schemas.microsoft.com/office/drawing/2014/main" id="{3948D6F2-B9A3-804D-36B5-1CC5935D5C50}"/>
              </a:ext>
            </a:extLst>
          </p:cNvPr>
          <p:cNvPicPr>
            <a:picLocks noChangeAspect="1"/>
          </p:cNvPicPr>
          <p:nvPr/>
        </p:nvPicPr>
        <p:blipFill>
          <a:blip r:embed="rId3"/>
          <a:stretch>
            <a:fillRect/>
          </a:stretch>
        </p:blipFill>
        <p:spPr>
          <a:xfrm>
            <a:off x="6635587" y="1531700"/>
            <a:ext cx="5283200" cy="4051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CORAL - </a:t>
            </a:r>
            <a:r>
              <a:rPr lang="en-US" dirty="0"/>
              <a:t>System</a:t>
            </a:r>
            <a:r>
              <a:rPr dirty="0"/>
              <a:t> Architecture</a:t>
            </a:r>
            <a:r>
              <a:rPr lang="en-US" dirty="0"/>
              <a:t> (1/2)</a:t>
            </a:r>
            <a:endParaRPr dirty="0"/>
          </a:p>
        </p:txBody>
      </p:sp>
      <p:pic>
        <p:nvPicPr>
          <p:cNvPr id="5" name="Picture 4" descr="CORAL-Figure2-1.png"/>
          <p:cNvPicPr>
            <a:picLocks noChangeAspect="1"/>
          </p:cNvPicPr>
          <p:nvPr/>
        </p:nvPicPr>
        <p:blipFill>
          <a:blip r:embed="rId3"/>
          <a:stretch>
            <a:fillRect/>
          </a:stretch>
        </p:blipFill>
        <p:spPr>
          <a:xfrm>
            <a:off x="5234799" y="1098789"/>
            <a:ext cx="6665201" cy="5028134"/>
          </a:xfrm>
          <a:prstGeom prst="rect">
            <a:avLst/>
          </a:prstGeom>
        </p:spPr>
      </p:pic>
      <p:sp>
        <p:nvSpPr>
          <p:cNvPr id="6" name="TextBox 5"/>
          <p:cNvSpPr txBox="1"/>
          <p:nvPr/>
        </p:nvSpPr>
        <p:spPr>
          <a:xfrm>
            <a:off x="5718202" y="6126922"/>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CORAL framework overview</a:t>
            </a:r>
          </a:p>
        </p:txBody>
      </p:sp>
      <p:sp>
        <p:nvSpPr>
          <p:cNvPr id="7" name="內容版面配置區 2">
            <a:extLst>
              <a:ext uri="{FF2B5EF4-FFF2-40B4-BE49-F238E27FC236}">
                <a16:creationId xmlns:a16="http://schemas.microsoft.com/office/drawing/2014/main" id="{ECD90296-B0CC-48FF-74C2-BE0D49C75F79}"/>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Manager Infrastructure:</a:t>
            </a:r>
          </a:p>
          <a:p>
            <a:pPr lvl="1"/>
            <a:r>
              <a:rPr lang="en" altLang="zh-CN" sz="2000" dirty="0">
                <a:latin typeface="Times New Roman"/>
              </a:rPr>
              <a:t>Agent lifecycle, health monitoring, heartbeat</a:t>
            </a:r>
          </a:p>
          <a:p>
            <a:r>
              <a:rPr lang="en" altLang="zh-CN" sz="2400" dirty="0">
                <a:latin typeface="Times New Roman"/>
              </a:rPr>
              <a:t>Agent Loop (per agent):</a:t>
            </a:r>
          </a:p>
          <a:p>
            <a:pPr lvl="1"/>
            <a:r>
              <a:rPr lang="en" altLang="zh-CN" sz="2000" dirty="0">
                <a:latin typeface="Times New Roman"/>
              </a:rPr>
              <a:t>Read shared memory (attempts, notes, skills)</a:t>
            </a:r>
          </a:p>
          <a:p>
            <a:pPr lvl="1"/>
            <a:r>
              <a:rPr lang="en" altLang="zh-CN" sz="2000" dirty="0">
                <a:latin typeface="Times New Roman"/>
              </a:rPr>
              <a:t>Plan, edit, evaluate, write back discoveries</a:t>
            </a:r>
          </a:p>
          <a:p>
            <a:r>
              <a:rPr lang="en" altLang="zh-CN" sz="2400" dirty="0">
                <a:latin typeface="Times New Roman"/>
              </a:rPr>
              <a:t>Heartbeat Monitor:</a:t>
            </a:r>
          </a:p>
          <a:p>
            <a:pPr lvl="1"/>
            <a:r>
              <a:rPr lang="en" altLang="zh-CN" sz="2000" dirty="0">
                <a:latin typeface="Times New Roman"/>
              </a:rPr>
              <a:t>Reflection: per-iteration note-taking</a:t>
            </a:r>
          </a:p>
          <a:p>
            <a:pPr lvl="1"/>
            <a:r>
              <a:rPr lang="en" altLang="zh-CN" sz="2000" dirty="0">
                <a:latin typeface="Times New Roman"/>
              </a:rPr>
              <a:t>Consolidation: synthesize into skills</a:t>
            </a:r>
          </a:p>
          <a:p>
            <a:pPr lvl="1"/>
            <a:r>
              <a:rPr lang="en" altLang="zh-CN" sz="2000" dirty="0">
                <a:latin typeface="Times New Roman"/>
              </a:rPr>
              <a:t>Redirection: pivot on stagnation</a:t>
            </a:r>
          </a:p>
          <a:p>
            <a:endParaRPr lang="en" altLang="zh-CN" sz="2000" dirty="0">
              <a:latin typeface="Times New Roman"/>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F7C1-B157-7387-F0AA-B92A969E7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3D689-3B98-A16D-9336-F5CC8556F5DC}"/>
              </a:ext>
            </a:extLst>
          </p:cNvPr>
          <p:cNvSpPr>
            <a:spLocks noGrp="1"/>
          </p:cNvSpPr>
          <p:nvPr>
            <p:ph type="title"/>
          </p:nvPr>
        </p:nvSpPr>
        <p:spPr/>
        <p:txBody>
          <a:bodyPr/>
          <a:lstStyle/>
          <a:p>
            <a:r>
              <a:rPr dirty="0"/>
              <a:t>CORAL - </a:t>
            </a:r>
            <a:r>
              <a:rPr lang="en-US" dirty="0"/>
              <a:t>System</a:t>
            </a:r>
            <a:r>
              <a:rPr dirty="0"/>
              <a:t> Architecture</a:t>
            </a:r>
            <a:r>
              <a:rPr lang="en-US" dirty="0"/>
              <a:t> (2/2)</a:t>
            </a:r>
            <a:endParaRPr dirty="0"/>
          </a:p>
        </p:txBody>
      </p:sp>
      <p:sp>
        <p:nvSpPr>
          <p:cNvPr id="7" name="內容版面配置區 2">
            <a:extLst>
              <a:ext uri="{FF2B5EF4-FFF2-40B4-BE49-F238E27FC236}">
                <a16:creationId xmlns:a16="http://schemas.microsoft.com/office/drawing/2014/main" id="{E85D9B54-47AA-DC0F-58B2-672260E78231}"/>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Shared Persistent Memory (File System)</a:t>
            </a:r>
          </a:p>
          <a:p>
            <a:pPr lvl="1"/>
            <a:r>
              <a:rPr lang="en" altLang="zh-CN" sz="2000" dirty="0">
                <a:latin typeface="Times New Roman"/>
              </a:rPr>
              <a:t>attempts/: historical evaluations and solutions (leaderboard)</a:t>
            </a:r>
          </a:p>
          <a:p>
            <a:pPr lvl="1"/>
            <a:r>
              <a:rPr lang="en" altLang="zh-CN" sz="2000" dirty="0">
                <a:latin typeface="Times New Roman"/>
              </a:rPr>
              <a:t>notes/: observations, learnings, reflections from all agents</a:t>
            </a:r>
          </a:p>
          <a:p>
            <a:pPr lvl="1"/>
            <a:r>
              <a:rPr lang="en" altLang="zh-CN" sz="2000" dirty="0">
                <a:latin typeface="Times New Roman"/>
              </a:rPr>
              <a:t>skills/: reusable procedures transferable across attempts</a:t>
            </a:r>
          </a:p>
          <a:p>
            <a:r>
              <a:rPr lang="en" altLang="zh-CN" sz="2400" dirty="0">
                <a:latin typeface="Times New Roman"/>
              </a:rPr>
              <a:t>Multi-Agent Organization</a:t>
            </a:r>
          </a:p>
          <a:p>
            <a:pPr lvl="1"/>
            <a:r>
              <a:rPr lang="en" altLang="zh-CN" sz="2000" dirty="0">
                <a:latin typeface="Times New Roman"/>
              </a:rPr>
              <a:t>N agents run asynchronously in isolated git </a:t>
            </a:r>
            <a:r>
              <a:rPr lang="en" altLang="zh-CN" sz="2000" dirty="0" err="1">
                <a:latin typeface="Times New Roman"/>
              </a:rPr>
              <a:t>worktrees</a:t>
            </a:r>
            <a:endParaRPr lang="en" altLang="zh-CN" sz="2000" dirty="0">
              <a:latin typeface="Times New Roman"/>
            </a:endParaRPr>
          </a:p>
          <a:p>
            <a:pPr lvl="1"/>
            <a:r>
              <a:rPr lang="en" altLang="zh-CN" sz="2000" dirty="0">
                <a:latin typeface="Times New Roman"/>
              </a:rPr>
              <a:t>Coordination via shared memory (indirect communication)</a:t>
            </a:r>
          </a:p>
        </p:txBody>
      </p:sp>
      <p:pic>
        <p:nvPicPr>
          <p:cNvPr id="3" name="图片 2">
            <a:extLst>
              <a:ext uri="{FF2B5EF4-FFF2-40B4-BE49-F238E27FC236}">
                <a16:creationId xmlns:a16="http://schemas.microsoft.com/office/drawing/2014/main" id="{4914D9E1-3789-6074-2F08-FE56BC5E27AE}"/>
              </a:ext>
            </a:extLst>
          </p:cNvPr>
          <p:cNvPicPr>
            <a:picLocks noChangeAspect="1"/>
          </p:cNvPicPr>
          <p:nvPr/>
        </p:nvPicPr>
        <p:blipFill>
          <a:blip r:embed="rId3"/>
          <a:srcRect l="6542"/>
          <a:stretch>
            <a:fillRect/>
          </a:stretch>
        </p:blipFill>
        <p:spPr>
          <a:xfrm>
            <a:off x="6666931" y="1150292"/>
            <a:ext cx="4751271" cy="3052998"/>
          </a:xfrm>
          <a:prstGeom prst="rect">
            <a:avLst/>
          </a:prstGeom>
        </p:spPr>
      </p:pic>
      <p:sp>
        <p:nvSpPr>
          <p:cNvPr id="9" name="TextBox 5">
            <a:extLst>
              <a:ext uri="{FF2B5EF4-FFF2-40B4-BE49-F238E27FC236}">
                <a16:creationId xmlns:a16="http://schemas.microsoft.com/office/drawing/2014/main" id="{A7BEFB79-8007-1BA5-067A-16B0E7FE0F20}"/>
              </a:ext>
            </a:extLst>
          </p:cNvPr>
          <p:cNvSpPr txBox="1"/>
          <p:nvPr/>
        </p:nvSpPr>
        <p:spPr>
          <a:xfrm>
            <a:off x="6145012" y="4129238"/>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Shared persistent memory in CORAL</a:t>
            </a:r>
            <a:endParaRPr dirty="0">
              <a:latin typeface="Times New Roman"/>
            </a:endParaRPr>
          </a:p>
        </p:txBody>
      </p:sp>
      <p:sp>
        <p:nvSpPr>
          <p:cNvPr id="6" name="TextBox 5">
            <a:extLst>
              <a:ext uri="{FF2B5EF4-FFF2-40B4-BE49-F238E27FC236}">
                <a16:creationId xmlns:a16="http://schemas.microsoft.com/office/drawing/2014/main" id="{EDDB0E5A-BB0B-83B5-DC44-7DE82A2AAA7D}"/>
              </a:ext>
            </a:extLst>
          </p:cNvPr>
          <p:cNvSpPr txBox="1"/>
          <p:nvPr/>
        </p:nvSpPr>
        <p:spPr>
          <a:xfrm>
            <a:off x="6192566" y="5804655"/>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Agent loop in CORAL</a:t>
            </a:r>
            <a:endParaRPr dirty="0">
              <a:latin typeface="Times New Roman"/>
            </a:endParaRPr>
          </a:p>
        </p:txBody>
      </p:sp>
      <p:pic>
        <p:nvPicPr>
          <p:cNvPr id="10" name="图片 9">
            <a:extLst>
              <a:ext uri="{FF2B5EF4-FFF2-40B4-BE49-F238E27FC236}">
                <a16:creationId xmlns:a16="http://schemas.microsoft.com/office/drawing/2014/main" id="{AF3E2F8E-BCBB-B7A0-5C76-B637272A4FA8}"/>
              </a:ext>
            </a:extLst>
          </p:cNvPr>
          <p:cNvPicPr>
            <a:picLocks noChangeAspect="1"/>
          </p:cNvPicPr>
          <p:nvPr/>
        </p:nvPicPr>
        <p:blipFill>
          <a:blip r:embed="rId4"/>
          <a:stretch>
            <a:fillRect/>
          </a:stretch>
        </p:blipFill>
        <p:spPr>
          <a:xfrm>
            <a:off x="6595011" y="4541347"/>
            <a:ext cx="4800001" cy="1337263"/>
          </a:xfrm>
          <a:prstGeom prst="rect">
            <a:avLst/>
          </a:prstGeom>
        </p:spPr>
      </p:pic>
    </p:spTree>
    <p:extLst>
      <p:ext uri="{BB962C8B-B14F-4D97-AF65-F5344CB8AC3E}">
        <p14:creationId xmlns:p14="http://schemas.microsoft.com/office/powerpoint/2010/main" val="320626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278-5FD1-51E9-68C7-FFE054446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9F96E-E361-16E3-3B78-4E3FDD4D1341}"/>
              </a:ext>
            </a:extLst>
          </p:cNvPr>
          <p:cNvSpPr>
            <a:spLocks noGrp="1"/>
          </p:cNvSpPr>
          <p:nvPr>
            <p:ph type="title"/>
          </p:nvPr>
        </p:nvSpPr>
        <p:spPr>
          <a:xfrm>
            <a:off x="1049867" y="144466"/>
            <a:ext cx="10951633" cy="692151"/>
          </a:xfrm>
        </p:spPr>
        <p:txBody>
          <a:bodyPr/>
          <a:lstStyle/>
          <a:p>
            <a:r>
              <a:rPr sz="4200" dirty="0"/>
              <a:t>CORAL </a:t>
            </a:r>
            <a:r>
              <a:rPr lang="en-US" altLang="zh-CN" sz="4200" dirty="0"/>
              <a:t>–</a:t>
            </a:r>
            <a:r>
              <a:rPr sz="4200" dirty="0"/>
              <a:t> </a:t>
            </a:r>
            <a:r>
              <a:rPr lang="en-US" sz="4200" dirty="0"/>
              <a:t>Evaluation (Kernel Engineering)</a:t>
            </a:r>
            <a:endParaRPr sz="4200" dirty="0"/>
          </a:p>
        </p:txBody>
      </p:sp>
      <p:sp>
        <p:nvSpPr>
          <p:cNvPr id="6" name="TextBox 5">
            <a:extLst>
              <a:ext uri="{FF2B5EF4-FFF2-40B4-BE49-F238E27FC236}">
                <a16:creationId xmlns:a16="http://schemas.microsoft.com/office/drawing/2014/main" id="{5EB431AA-BD96-5D21-7A58-B961F4F44132}"/>
              </a:ext>
            </a:extLst>
          </p:cNvPr>
          <p:cNvSpPr txBox="1"/>
          <p:nvPr/>
        </p:nvSpPr>
        <p:spPr>
          <a:xfrm>
            <a:off x="5181700" y="5565913"/>
            <a:ext cx="6575502" cy="369332"/>
          </a:xfrm>
          <a:prstGeom prst="rect">
            <a:avLst/>
          </a:prstGeom>
          <a:noFill/>
        </p:spPr>
        <p:txBody>
          <a:bodyPr wrap="square">
            <a:spAutoFit/>
          </a:bodyPr>
          <a:lstStyle/>
          <a:p>
            <a:pPr algn="ctr"/>
            <a:r>
              <a:rPr lang="en-US" dirty="0">
                <a:latin typeface="Times New Roman"/>
              </a:rPr>
              <a:t>Figure 14</a:t>
            </a:r>
            <a:r>
              <a:rPr dirty="0">
                <a:latin typeface="Times New Roman"/>
              </a:rPr>
              <a:t>. CORAL </a:t>
            </a:r>
            <a:r>
              <a:rPr lang="en-US" dirty="0">
                <a:latin typeface="Times New Roman"/>
              </a:rPr>
              <a:t>performance on </a:t>
            </a:r>
            <a:r>
              <a:rPr lang="en-US" dirty="0" err="1">
                <a:latin typeface="Times New Roman"/>
              </a:rPr>
              <a:t>anthropic’s</a:t>
            </a:r>
            <a:r>
              <a:rPr lang="en-US" dirty="0">
                <a:latin typeface="Times New Roman"/>
              </a:rPr>
              <a:t> kernel engineering</a:t>
            </a:r>
            <a:endParaRPr dirty="0">
              <a:latin typeface="Times New Roman"/>
            </a:endParaRPr>
          </a:p>
        </p:txBody>
      </p:sp>
      <p:sp>
        <p:nvSpPr>
          <p:cNvPr id="9" name="內容版面配置區 2">
            <a:extLst>
              <a:ext uri="{FF2B5EF4-FFF2-40B4-BE49-F238E27FC236}">
                <a16:creationId xmlns:a16="http://schemas.microsoft.com/office/drawing/2014/main" id="{0B0F63BA-C5A3-7060-1C76-B2811A2C716F}"/>
              </a:ext>
            </a:extLst>
          </p:cNvPr>
          <p:cNvSpPr txBox="1">
            <a:spLocks/>
          </p:cNvSpPr>
          <p:nvPr/>
        </p:nvSpPr>
        <p:spPr bwMode="auto">
          <a:xfrm>
            <a:off x="434798" y="1150292"/>
            <a:ext cx="4556927" cy="4784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Minimize cycles on VLIW SIMD kernel (baseline 147,734)</a:t>
            </a:r>
          </a:p>
          <a:p>
            <a:endParaRPr lang="en" altLang="zh-CN" sz="2400" dirty="0">
              <a:latin typeface="Times New Roman"/>
            </a:endParaRPr>
          </a:p>
          <a:p>
            <a:r>
              <a:rPr lang="en" altLang="zh-CN" sz="2400" dirty="0">
                <a:latin typeface="Times New Roman"/>
              </a:rPr>
              <a:t>Key results:</a:t>
            </a:r>
          </a:p>
          <a:p>
            <a:pPr lvl="1"/>
            <a:r>
              <a:rPr lang="en" altLang="zh-CN" sz="2000" dirty="0">
                <a:latin typeface="Times New Roman"/>
              </a:rPr>
              <a:t>New SOTA: 4 co-evolving agents reach 1,103 cycles, surpassing previous best (1,363) by 20%</a:t>
            </a:r>
          </a:p>
          <a:p>
            <a:pPr lvl="1"/>
            <a:r>
              <a:rPr lang="en" altLang="zh-CN" sz="2000" dirty="0">
                <a:latin typeface="Times New Roman"/>
              </a:rPr>
              <a:t>Efficiency: 1 agent surpasses prior SOTA in just 56 evaluations (vs. </a:t>
            </a:r>
            <a:r>
              <a:rPr lang="en" altLang="zh-CN" sz="2000" dirty="0" err="1">
                <a:latin typeface="Times New Roman"/>
              </a:rPr>
              <a:t>OpenEvolve's</a:t>
            </a:r>
            <a:r>
              <a:rPr lang="en" altLang="zh-CN" sz="2000" dirty="0">
                <a:latin typeface="Times New Roman"/>
              </a:rPr>
              <a:t> 2,740)</a:t>
            </a:r>
          </a:p>
          <a:p>
            <a:pPr lvl="1"/>
            <a:r>
              <a:rPr lang="en" altLang="zh-CN" sz="2000" dirty="0">
                <a:latin typeface="Times New Roman"/>
              </a:rPr>
              <a:t>Multi-agent edge: Single agent plateaus early; co-evolving agents break through via shared memory</a:t>
            </a:r>
          </a:p>
        </p:txBody>
      </p:sp>
      <p:pic>
        <p:nvPicPr>
          <p:cNvPr id="3" name="图片 2">
            <a:extLst>
              <a:ext uri="{FF2B5EF4-FFF2-40B4-BE49-F238E27FC236}">
                <a16:creationId xmlns:a16="http://schemas.microsoft.com/office/drawing/2014/main" id="{8CD8AA4C-4247-2020-C886-9D67D2980ECD}"/>
              </a:ext>
            </a:extLst>
          </p:cNvPr>
          <p:cNvPicPr>
            <a:picLocks noChangeAspect="1"/>
          </p:cNvPicPr>
          <p:nvPr/>
        </p:nvPicPr>
        <p:blipFill>
          <a:blip r:embed="rId3"/>
          <a:stretch>
            <a:fillRect/>
          </a:stretch>
        </p:blipFill>
        <p:spPr>
          <a:xfrm>
            <a:off x="5103160" y="1408253"/>
            <a:ext cx="6464428" cy="4041493"/>
          </a:xfrm>
          <a:prstGeom prst="rect">
            <a:avLst/>
          </a:prstGeom>
        </p:spPr>
      </p:pic>
    </p:spTree>
    <p:extLst>
      <p:ext uri="{BB962C8B-B14F-4D97-AF65-F5344CB8AC3E}">
        <p14:creationId xmlns:p14="http://schemas.microsoft.com/office/powerpoint/2010/main" val="282361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00000" cy="692151"/>
          </a:xfrm>
        </p:spPr>
        <p:txBody>
          <a:bodyPr/>
          <a:lstStyle/>
          <a:p>
            <a:r>
              <a:rPr dirty="0"/>
              <a:t>CORAL </a:t>
            </a:r>
            <a:r>
              <a:rPr lang="en-US" altLang="zh-CN" dirty="0"/>
              <a:t>–</a:t>
            </a:r>
            <a:r>
              <a:rPr dirty="0"/>
              <a:t> </a:t>
            </a:r>
            <a:r>
              <a:rPr lang="en-US" dirty="0"/>
              <a:t>Evaluation (vs. </a:t>
            </a:r>
            <a:r>
              <a:rPr dirty="0"/>
              <a:t>Single-Agent</a:t>
            </a:r>
            <a:r>
              <a:rPr lang="en-US" dirty="0"/>
              <a:t>)</a:t>
            </a:r>
            <a:endParaRPr dirty="0"/>
          </a:p>
        </p:txBody>
      </p:sp>
      <p:pic>
        <p:nvPicPr>
          <p:cNvPr id="5" name="Picture 4" descr="CORAL-Table2-1.png"/>
          <p:cNvPicPr>
            <a:picLocks noChangeAspect="1"/>
          </p:cNvPicPr>
          <p:nvPr/>
        </p:nvPicPr>
        <p:blipFill>
          <a:blip r:embed="rId3"/>
          <a:stretch>
            <a:fillRect/>
          </a:stretch>
        </p:blipFill>
        <p:spPr>
          <a:xfrm>
            <a:off x="1701853" y="3257228"/>
            <a:ext cx="8788294" cy="2785543"/>
          </a:xfrm>
          <a:prstGeom prst="rect">
            <a:avLst/>
          </a:prstGeom>
        </p:spPr>
      </p:pic>
      <p:sp>
        <p:nvSpPr>
          <p:cNvPr id="6" name="TextBox 5"/>
          <p:cNvSpPr txBox="1"/>
          <p:nvPr/>
        </p:nvSpPr>
        <p:spPr>
          <a:xfrm>
            <a:off x="1049867" y="2922344"/>
            <a:ext cx="10800000" cy="369332"/>
          </a:xfrm>
          <a:prstGeom prst="rect">
            <a:avLst/>
          </a:prstGeom>
          <a:noFill/>
        </p:spPr>
        <p:txBody>
          <a:bodyPr wrap="square">
            <a:spAutoFit/>
          </a:bodyPr>
          <a:lstStyle/>
          <a:p>
            <a:pPr algn="ctr"/>
            <a:r>
              <a:rPr dirty="0">
                <a:latin typeface="Times New Roman"/>
              </a:rPr>
              <a:t>Table 4. Multi-agent co-evolution vs. single-agent CORAL across tasks</a:t>
            </a:r>
          </a:p>
        </p:txBody>
      </p:sp>
      <p:sp>
        <p:nvSpPr>
          <p:cNvPr id="9" name="內容版面配置區 2">
            <a:extLst>
              <a:ext uri="{FF2B5EF4-FFF2-40B4-BE49-F238E27FC236}">
                <a16:creationId xmlns:a16="http://schemas.microsoft.com/office/drawing/2014/main" id="{BEA0BBFD-2C70-72F8-9209-0937263BAF53}"/>
              </a:ext>
            </a:extLst>
          </p:cNvPr>
          <p:cNvSpPr txBox="1">
            <a:spLocks/>
          </p:cNvSpPr>
          <p:nvPr/>
        </p:nvSpPr>
        <p:spPr bwMode="auto">
          <a:xfrm>
            <a:off x="434798" y="1150292"/>
            <a:ext cx="11132789" cy="16591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CORAL achieves best final score on all 11 tasks, new SOTA on 8 tasks</a:t>
            </a:r>
          </a:p>
          <a:p>
            <a:pPr lvl="1"/>
            <a:r>
              <a:rPr lang="en" altLang="zh-CN" sz="2000" dirty="0">
                <a:latin typeface="Times New Roman"/>
              </a:rPr>
              <a:t>Improvement rate: 3-10x higher than fixed evolutionary search baselines</a:t>
            </a:r>
          </a:p>
          <a:p>
            <a:pPr lvl="1"/>
            <a:r>
              <a:rPr lang="en" altLang="zh-CN" sz="2000" dirty="0">
                <a:latin typeface="Times New Roman"/>
              </a:rPr>
              <a:t>Convergence: typically 5-20 evaluations (vs. 60-100 for baselines)</a:t>
            </a:r>
          </a:p>
          <a:p>
            <a:pPr lvl="1"/>
            <a:r>
              <a:rPr lang="en" altLang="zh-CN" sz="2000" dirty="0">
                <a:latin typeface="Times New Roman"/>
              </a:rPr>
              <a:t>Autonomous design: agents decide what to explore, when to evaluate, what to store</a:t>
            </a:r>
          </a:p>
          <a:p>
            <a:endParaRPr lang="en" altLang="zh-CN" sz="2000" dirty="0">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532533" cy="692151"/>
          </a:xfrm>
        </p:spPr>
        <p:txBody>
          <a:bodyPr/>
          <a:lstStyle/>
          <a:p>
            <a:r>
              <a:rPr lang="en" dirty="0"/>
              <a:t>Why Multi-Agent Organization Helps</a:t>
            </a:r>
            <a:endParaRPr dirty="0"/>
          </a:p>
        </p:txBody>
      </p:sp>
      <p:sp>
        <p:nvSpPr>
          <p:cNvPr id="7" name="內容版面配置區 2">
            <a:extLst>
              <a:ext uri="{FF2B5EF4-FFF2-40B4-BE49-F238E27FC236}">
                <a16:creationId xmlns:a16="http://schemas.microsoft.com/office/drawing/2014/main" id="{80C3D907-9E94-80FA-6687-09306AABD353}"/>
              </a:ext>
            </a:extLst>
          </p:cNvPr>
          <p:cNvSpPr txBox="1">
            <a:spLocks/>
          </p:cNvSpPr>
          <p:nvPr/>
        </p:nvSpPr>
        <p:spPr bwMode="auto">
          <a:xfrm>
            <a:off x="434799" y="1150292"/>
            <a:ext cx="5661201"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Cross-agent information transfer</a:t>
            </a:r>
          </a:p>
          <a:p>
            <a:pPr lvl="1"/>
            <a:r>
              <a:rPr lang="en" altLang="zh-CN" sz="2000" dirty="0">
                <a:latin typeface="Times New Roman"/>
              </a:rPr>
              <a:t>Agents build on each other's commits and shared notes</a:t>
            </a:r>
          </a:p>
          <a:p>
            <a:pPr lvl="1"/>
            <a:r>
              <a:rPr lang="en" altLang="zh-CN" sz="2000" dirty="0">
                <a:latin typeface="Times New Roman"/>
              </a:rPr>
              <a:t>Discoveries diffuse through memory, not explicit messaging</a:t>
            </a:r>
          </a:p>
          <a:p>
            <a:r>
              <a:rPr lang="en" altLang="zh-CN" sz="2400" dirty="0">
                <a:latin typeface="Times New Roman"/>
              </a:rPr>
              <a:t>Exploration diversity</a:t>
            </a:r>
          </a:p>
          <a:p>
            <a:pPr lvl="1"/>
            <a:r>
              <a:rPr lang="en" altLang="zh-CN" sz="2000" dirty="0">
                <a:latin typeface="Times New Roman"/>
              </a:rPr>
              <a:t>Agents pursue distinct strategies in parallel</a:t>
            </a:r>
          </a:p>
          <a:p>
            <a:pPr lvl="1"/>
            <a:r>
              <a:rPr lang="en" altLang="zh-CN" sz="2000" dirty="0">
                <a:latin typeface="Times New Roman"/>
              </a:rPr>
              <a:t>Population covers broader search space than any individual</a:t>
            </a:r>
          </a:p>
          <a:p>
            <a:r>
              <a:rPr lang="en" altLang="zh-CN" sz="2400" dirty="0">
                <a:latin typeface="Times New Roman"/>
              </a:rPr>
              <a:t>Contribution balance</a:t>
            </a:r>
          </a:p>
          <a:p>
            <a:pPr lvl="1"/>
            <a:r>
              <a:rPr lang="en" altLang="zh-CN" sz="2000" dirty="0">
                <a:latin typeface="Times New Roman"/>
              </a:rPr>
              <a:t>All agents contribute records and reach top scores</a:t>
            </a:r>
          </a:p>
          <a:p>
            <a:pPr lvl="1"/>
            <a:r>
              <a:rPr lang="en" altLang="zh-CN" sz="2000" dirty="0">
                <a:latin typeface="Times New Roman"/>
              </a:rPr>
              <a:t>No single agent dominates the search</a:t>
            </a:r>
          </a:p>
        </p:txBody>
      </p:sp>
      <p:pic>
        <p:nvPicPr>
          <p:cNvPr id="8" name="图片 7">
            <a:extLst>
              <a:ext uri="{FF2B5EF4-FFF2-40B4-BE49-F238E27FC236}">
                <a16:creationId xmlns:a16="http://schemas.microsoft.com/office/drawing/2014/main" id="{572D7B94-A8D2-BD31-DA2B-FECD74B16F1F}"/>
              </a:ext>
            </a:extLst>
          </p:cNvPr>
          <p:cNvPicPr>
            <a:picLocks noChangeAspect="1"/>
          </p:cNvPicPr>
          <p:nvPr/>
        </p:nvPicPr>
        <p:blipFill>
          <a:blip r:embed="rId3"/>
          <a:stretch>
            <a:fillRect/>
          </a:stretch>
        </p:blipFill>
        <p:spPr>
          <a:xfrm>
            <a:off x="6564186" y="2716774"/>
            <a:ext cx="5018214" cy="2046053"/>
          </a:xfrm>
          <a:prstGeom prst="rect">
            <a:avLst/>
          </a:prstGeom>
        </p:spPr>
      </p:pic>
      <p:sp>
        <p:nvSpPr>
          <p:cNvPr id="6" name="TextBox 5"/>
          <p:cNvSpPr txBox="1"/>
          <p:nvPr/>
        </p:nvSpPr>
        <p:spPr>
          <a:xfrm>
            <a:off x="6528977" y="2334427"/>
            <a:ext cx="5018213" cy="369332"/>
          </a:xfrm>
          <a:prstGeom prst="rect">
            <a:avLst/>
          </a:prstGeom>
          <a:noFill/>
        </p:spPr>
        <p:txBody>
          <a:bodyPr wrap="square">
            <a:spAutoFit/>
          </a:bodyPr>
          <a:lstStyle/>
          <a:p>
            <a:r>
              <a:rPr dirty="0">
                <a:latin typeface="Times New Roman"/>
              </a:rPr>
              <a:t>Table </a:t>
            </a:r>
            <a:r>
              <a:rPr lang="en-US" dirty="0">
                <a:latin typeface="Times New Roman"/>
              </a:rPr>
              <a:t>5</a:t>
            </a:r>
            <a:r>
              <a:rPr dirty="0">
                <a:latin typeface="Times New Roman"/>
              </a:rPr>
              <a:t>. </a:t>
            </a:r>
            <a:r>
              <a:rPr lang="en" dirty="0">
                <a:latin typeface="Times New Roman"/>
              </a:rPr>
              <a:t>Ablation study on multi-agent co-evolution.</a:t>
            </a:r>
            <a:endParaRPr dirty="0">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Contributions</a:t>
            </a:r>
          </a:p>
        </p:txBody>
      </p:sp>
      <p:sp>
        <p:nvSpPr>
          <p:cNvPr id="5" name="內容版面配置區 2">
            <a:extLst>
              <a:ext uri="{FF2B5EF4-FFF2-40B4-BE49-F238E27FC236}">
                <a16:creationId xmlns:a16="http://schemas.microsoft.com/office/drawing/2014/main" id="{01354406-1AC3-C340-DCFD-959D31F5129B}"/>
              </a:ext>
            </a:extLst>
          </p:cNvPr>
          <p:cNvSpPr txBox="1">
            <a:spLocks/>
          </p:cNvSpPr>
          <p:nvPr/>
        </p:nvSpPr>
        <p:spPr bwMode="auto">
          <a:xfrm>
            <a:off x="434798" y="1150292"/>
            <a:ext cx="11132789"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err="1">
                <a:latin typeface="Times New Roman"/>
              </a:rPr>
              <a:t>AlphaEvolve</a:t>
            </a:r>
            <a:r>
              <a:rPr lang="en" altLang="zh-CN" sz="2400" dirty="0">
                <a:latin typeface="Times New Roman"/>
              </a:rPr>
              <a:t> (Google DeepMind)</a:t>
            </a:r>
          </a:p>
          <a:p>
            <a:pPr lvl="1"/>
            <a:r>
              <a:rPr lang="en" altLang="zh-CN" sz="2000" dirty="0">
                <a:latin typeface="Times New Roman"/>
              </a:rPr>
              <a:t>Evolutionary coding agent for scientific discovery</a:t>
            </a:r>
          </a:p>
          <a:p>
            <a:pPr lvl="1"/>
            <a:r>
              <a:rPr lang="en" altLang="zh-CN" sz="2000" dirty="0">
                <a:latin typeface="Times New Roman"/>
              </a:rPr>
              <a:t>First improvement over Strassen in 56 years; deployed at Google</a:t>
            </a:r>
          </a:p>
          <a:p>
            <a:r>
              <a:rPr lang="en" altLang="zh-CN" sz="2400" dirty="0" err="1">
                <a:latin typeface="Times New Roman"/>
              </a:rPr>
              <a:t>EvoX</a:t>
            </a:r>
            <a:r>
              <a:rPr lang="en" altLang="zh-CN" sz="2400" dirty="0">
                <a:latin typeface="Times New Roman"/>
              </a:rPr>
              <a:t> (UC Berkeley)</a:t>
            </a:r>
          </a:p>
          <a:p>
            <a:pPr lvl="1"/>
            <a:r>
              <a:rPr lang="en" altLang="zh-CN" sz="2000" dirty="0">
                <a:latin typeface="Times New Roman"/>
              </a:rPr>
              <a:t>Meta-evolution: search strategy as an evolvable object</a:t>
            </a:r>
          </a:p>
          <a:p>
            <a:pPr lvl="1"/>
            <a:r>
              <a:rPr lang="en" altLang="zh-CN" sz="2000" dirty="0">
                <a:latin typeface="Times New Roman"/>
              </a:rPr>
              <a:t>Best on ~200 tasks with superior cost efficiency</a:t>
            </a:r>
          </a:p>
          <a:p>
            <a:r>
              <a:rPr lang="en" altLang="zh-CN" sz="2400" dirty="0">
                <a:latin typeface="Times New Roman"/>
              </a:rPr>
              <a:t>CORAL (MIT)</a:t>
            </a:r>
          </a:p>
          <a:p>
            <a:pPr lvl="1"/>
            <a:r>
              <a:rPr lang="en" altLang="zh-CN" sz="2000" dirty="0">
                <a:latin typeface="Times New Roman"/>
              </a:rPr>
              <a:t>Multi-agent evolution with shared persistent memory</a:t>
            </a:r>
          </a:p>
          <a:p>
            <a:pPr lvl="1"/>
            <a:r>
              <a:rPr lang="en" altLang="zh-CN" sz="2000" dirty="0">
                <a:latin typeface="Times New Roman"/>
              </a:rPr>
              <a:t>New SOTA on 8/11 tasks; co-evolution &gt; independent runs</a:t>
            </a:r>
          </a:p>
          <a:p>
            <a:r>
              <a:rPr lang="en" altLang="zh-CN" sz="2400" dirty="0">
                <a:latin typeface="Times New Roman"/>
              </a:rPr>
              <a:t>Progression: </a:t>
            </a:r>
            <a:br>
              <a:rPr lang="en" altLang="zh-CN" sz="2400" dirty="0">
                <a:latin typeface="Times New Roman"/>
              </a:rPr>
            </a:br>
            <a:r>
              <a:rPr lang="en" altLang="zh-CN" sz="2400" dirty="0">
                <a:latin typeface="Times New Roman"/>
              </a:rPr>
              <a:t>Single agent fixed search -&gt; Single agent adaptive search -&gt; multi-agent adaptive search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B709-07A6-8E0A-D2FA-6BFA05C2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A3B0-4801-C267-8156-585D2CF6C673}"/>
              </a:ext>
            </a:extLst>
          </p:cNvPr>
          <p:cNvSpPr>
            <a:spLocks noGrp="1"/>
          </p:cNvSpPr>
          <p:nvPr>
            <p:ph type="title"/>
          </p:nvPr>
        </p:nvSpPr>
        <p:spPr/>
        <p:txBody>
          <a:bodyPr/>
          <a:lstStyle/>
          <a:p>
            <a:r>
              <a:rPr lang="en-US" dirty="0"/>
              <a:t>Q &amp; A</a:t>
            </a:r>
            <a:endParaRPr dirty="0"/>
          </a:p>
        </p:txBody>
      </p:sp>
      <p:sp>
        <p:nvSpPr>
          <p:cNvPr id="3" name="Content Placeholder 2">
            <a:extLst>
              <a:ext uri="{FF2B5EF4-FFF2-40B4-BE49-F238E27FC236}">
                <a16:creationId xmlns:a16="http://schemas.microsoft.com/office/drawing/2014/main" id="{5566E731-2C74-64BF-E480-3E44AC58910F}"/>
              </a:ext>
            </a:extLst>
          </p:cNvPr>
          <p:cNvSpPr>
            <a:spLocks noGrp="1"/>
          </p:cNvSpPr>
          <p:nvPr>
            <p:ph idx="1"/>
          </p:nvPr>
        </p:nvSpPr>
        <p:spPr>
          <a:xfrm>
            <a:off x="3472069" y="3082924"/>
            <a:ext cx="5247861" cy="692151"/>
          </a:xfrm>
        </p:spPr>
        <p:txBody>
          <a:bodyPr anchor="ctr"/>
          <a:lstStyle/>
          <a:p>
            <a:pPr marL="0" indent="0" algn="ctr">
              <a:buNone/>
            </a:pPr>
            <a:r>
              <a:rPr lang="en-US" dirty="0"/>
              <a:t>Thank you for listening!</a:t>
            </a:r>
            <a:endParaRPr dirty="0"/>
          </a:p>
        </p:txBody>
      </p:sp>
    </p:spTree>
    <p:extLst>
      <p:ext uri="{BB962C8B-B14F-4D97-AF65-F5344CB8AC3E}">
        <p14:creationId xmlns:p14="http://schemas.microsoft.com/office/powerpoint/2010/main" val="416641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1544</TotalTime>
  <Words>3441</Words>
  <Application>Microsoft Office PowerPoint</Application>
  <PresentationFormat>宽屏</PresentationFormat>
  <Paragraphs>256</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MS Sans Serif</vt:lpstr>
      <vt:lpstr>楷体</vt:lpstr>
      <vt:lpstr>Arial</vt:lpstr>
      <vt:lpstr>Calibri</vt:lpstr>
      <vt:lpstr>Calibri Light</vt:lpstr>
      <vt:lpstr>Times New Roman</vt:lpstr>
      <vt:lpstr>Wingdings</vt:lpstr>
      <vt:lpstr>NTHU UniCloud</vt:lpstr>
      <vt:lpstr>自訂設計</vt:lpstr>
      <vt:lpstr>Autonomous Agent Systems for Discovery and Engineering</vt:lpstr>
      <vt:lpstr>Outline</vt:lpstr>
      <vt:lpstr>Introduction – AI Systems for Discovery</vt:lpstr>
      <vt:lpstr>Introduction - Roadmap</vt:lpstr>
      <vt:lpstr>Paper 1: AlphaEvolve</vt:lpstr>
      <vt:lpstr>AlphaEvolve - System Architecture (1/3)</vt:lpstr>
      <vt:lpstr>AlphaEvolve - System Architecture (2/3)</vt:lpstr>
      <vt:lpstr>AlphaEvolve - System Architecture (3/3)</vt:lpstr>
      <vt:lpstr>AlphaEvolve – Evaluation</vt:lpstr>
      <vt:lpstr>AlphaEvolve - Engineering Applications</vt:lpstr>
      <vt:lpstr>Paper 2: EvoX (1/2)</vt:lpstr>
      <vt:lpstr>Paper 2: EvoX (2/2)</vt:lpstr>
      <vt:lpstr>EvoX - System Architecture</vt:lpstr>
      <vt:lpstr>EvoX - Case Study: Signal Processing</vt:lpstr>
      <vt:lpstr>EvoX – Evaluation (Math Optimization)</vt:lpstr>
      <vt:lpstr>EvoX - System &amp; Algorithm Optimization</vt:lpstr>
      <vt:lpstr>Paper 3: CORAL (1/2)</vt:lpstr>
      <vt:lpstr>Paper 3: CORAL (2/2)</vt:lpstr>
      <vt:lpstr>CORAL - System Architecture (1/2)</vt:lpstr>
      <vt:lpstr>CORAL - System Architecture (2/2)</vt:lpstr>
      <vt:lpstr>CORAL – Evaluation (Kernel Engineering)</vt:lpstr>
      <vt:lpstr>CORAL – Evaluation (vs. Single-Agent)</vt:lpstr>
      <vt:lpstr>Why Multi-Agent Organization Helps</vt:lpstr>
      <vt:lpstr>Summary of Contributions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Yeh-Ching Chung</cp:lastModifiedBy>
  <cp:revision>54</cp:revision>
  <dcterms:created xsi:type="dcterms:W3CDTF">2020-07-15T11:13:39Z</dcterms:created>
  <dcterms:modified xsi:type="dcterms:W3CDTF">2026-09-16T03:42:04Z</dcterms:modified>
</cp:coreProperties>
</file>