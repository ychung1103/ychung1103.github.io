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60" r:id="rId2"/>
  </p:sldMasterIdLst>
  <p:notesMasterIdLst>
    <p:notesMasterId r:id="rId10"/>
  </p:notesMasterIdLst>
  <p:sldIdLst>
    <p:sldId id="256" r:id="rId3"/>
    <p:sldId id="258" r:id="rId4"/>
    <p:sldId id="289" r:id="rId5"/>
    <p:sldId id="516" r:id="rId6"/>
    <p:sldId id="517" r:id="rId7"/>
    <p:sldId id="509" r:id="rId8"/>
    <p:sldId id="518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94660"/>
  </p:normalViewPr>
  <p:slideViewPr>
    <p:cSldViewPr snapToGrid="0">
      <p:cViewPr>
        <p:scale>
          <a:sx n="50" d="100"/>
          <a:sy n="50" d="100"/>
        </p:scale>
        <p:origin x="124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F4A7B-8284-4E61-88F9-84C6CA6E31E8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D5518-E2B7-47D3-A483-775D399824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7007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3703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667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24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2133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4839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267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733"/>
            </a:lvl1pPr>
            <a:lvl2pPr marL="457177" indent="0">
              <a:buNone/>
              <a:defRPr sz="1801"/>
            </a:lvl2pPr>
            <a:lvl3pPr marL="914354" indent="0">
              <a:buNone/>
              <a:defRPr sz="1600"/>
            </a:lvl3pPr>
            <a:lvl4pPr marL="1371531" indent="0">
              <a:buNone/>
              <a:defRPr sz="1401"/>
            </a:lvl4pPr>
            <a:lvl5pPr marL="1828709" indent="0">
              <a:buNone/>
              <a:defRPr sz="1401"/>
            </a:lvl5pPr>
            <a:lvl6pPr marL="2285886" indent="0">
              <a:buNone/>
              <a:defRPr sz="1401"/>
            </a:lvl6pPr>
            <a:lvl7pPr marL="2743063" indent="0">
              <a:buNone/>
              <a:defRPr sz="1401"/>
            </a:lvl7pPr>
            <a:lvl8pPr marL="3200240" indent="0">
              <a:buNone/>
              <a:defRPr sz="1401"/>
            </a:lvl8pPr>
            <a:lvl9pPr marL="3657417" indent="0">
              <a:buNone/>
              <a:defRPr sz="14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60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6"/>
            <a:ext cx="5384800" cy="4227699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1801"/>
            </a:lvl6pPr>
            <a:lvl7pPr>
              <a:defRPr sz="1801"/>
            </a:lvl7pPr>
            <a:lvl8pPr>
              <a:defRPr sz="1801"/>
            </a:lvl8pPr>
            <a:lvl9pPr>
              <a:defRPr sz="180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4985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2" y="1268773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2" y="1908535"/>
            <a:ext cx="5386917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268773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1" b="1"/>
            </a:lvl3pPr>
            <a:lvl4pPr marL="1371531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1908535"/>
            <a:ext cx="5389033" cy="3951288"/>
          </a:xfrm>
        </p:spPr>
        <p:txBody>
          <a:bodyPr/>
          <a:lstStyle>
            <a:lvl1pPr>
              <a:defRPr sz="2667"/>
            </a:lvl1pPr>
            <a:lvl2pPr>
              <a:defRPr sz="2133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624421" y="144466"/>
            <a:ext cx="10943167" cy="692151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94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0701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3319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6" y="273049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4" y="273056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6" y="1435104"/>
            <a:ext cx="4011084" cy="46910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48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1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1"/>
            </a:lvl1pPr>
            <a:lvl2pPr marL="457177" indent="0">
              <a:buNone/>
              <a:defRPr sz="1200"/>
            </a:lvl2pPr>
            <a:lvl3pPr marL="914354" indent="0">
              <a:buNone/>
              <a:defRPr sz="1001"/>
            </a:lvl3pPr>
            <a:lvl4pPr marL="1371531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5657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3676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04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609600" y="73028"/>
            <a:ext cx="10972800" cy="1700213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86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609600" y="1125542"/>
            <a:ext cx="10972800" cy="647700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221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>
            <a:lvl1pPr algn="ctr">
              <a:defRPr sz="5333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77" indent="0" algn="ctr">
              <a:buNone/>
              <a:defRPr/>
            </a:lvl2pPr>
            <a:lvl3pPr marL="914354" indent="0" algn="ctr">
              <a:buNone/>
              <a:defRPr/>
            </a:lvl3pPr>
            <a:lvl4pPr marL="1371531" indent="0" algn="ctr">
              <a:buNone/>
              <a:defRPr/>
            </a:lvl4pPr>
            <a:lvl5pPr marL="1828709" indent="0" algn="ctr">
              <a:buNone/>
              <a:defRPr/>
            </a:lvl5pPr>
            <a:lvl6pPr marL="2285886" indent="0" algn="ctr">
              <a:buNone/>
              <a:defRPr/>
            </a:lvl6pPr>
            <a:lvl7pPr marL="2743063" indent="0" algn="ctr">
              <a:buNone/>
              <a:defRPr/>
            </a:lvl7pPr>
            <a:lvl8pPr marL="3200240" indent="0" algn="ctr">
              <a:buNone/>
              <a:defRPr/>
            </a:lvl8pPr>
            <a:lvl9pPr marL="3657417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9471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9865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83935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436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37830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5555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84383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8862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85375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79622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8278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736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1049867" y="144466"/>
            <a:ext cx="10517721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25537"/>
            <a:ext cx="10972800" cy="4895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3" y="6357940"/>
            <a:ext cx="5111751" cy="19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792808" y="6581777"/>
            <a:ext cx="357482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12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908055"/>
            <a:ext cx="12192000" cy="144463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6165849"/>
            <a:ext cx="12192000" cy="719139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80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08017" y="6524628"/>
            <a:ext cx="28448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14" name="圖片 13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0" y="124614"/>
            <a:ext cx="916587" cy="672311"/>
          </a:xfrm>
          <a:prstGeom prst="rect">
            <a:avLst/>
          </a:prstGeom>
        </p:spPr>
      </p:pic>
      <p:grpSp>
        <p:nvGrpSpPr>
          <p:cNvPr id="2" name="群組 1"/>
          <p:cNvGrpSpPr/>
          <p:nvPr userDrawn="1"/>
        </p:nvGrpSpPr>
        <p:grpSpPr>
          <a:xfrm>
            <a:off x="86980" y="6239920"/>
            <a:ext cx="3223375" cy="569415"/>
            <a:chOff x="86980" y="6239920"/>
            <a:chExt cx="3223375" cy="569415"/>
          </a:xfrm>
        </p:grpSpPr>
        <p:pic>
          <p:nvPicPr>
            <p:cNvPr id="12" name="圖片 11"/>
            <p:cNvPicPr>
              <a:picLocks noChangeAspect="1"/>
            </p:cNvPicPr>
            <p:nvPr userDrawn="1"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980" y="6239920"/>
              <a:ext cx="817930" cy="569415"/>
            </a:xfrm>
            <a:prstGeom prst="rect">
              <a:avLst/>
            </a:prstGeom>
          </p:spPr>
        </p:pic>
        <p:sp>
          <p:nvSpPr>
            <p:cNvPr id="15" name="矩形 14"/>
            <p:cNvSpPr/>
            <p:nvPr userDrawn="1"/>
          </p:nvSpPr>
          <p:spPr>
            <a:xfrm>
              <a:off x="829837" y="6347770"/>
              <a:ext cx="2480518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0"/>
                </a:spcAft>
              </a:pPr>
              <a:r>
                <a:rPr lang="zh-CN" altLang="zh-TW" sz="1200" kern="1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香港中文大学（深圳）数据科学院</a:t>
              </a:r>
              <a:endParaRPr lang="zh-TW" altLang="zh-TW" sz="1200" kern="100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  <a:p>
              <a:pPr algn="ctr">
                <a:spcAft>
                  <a:spcPts val="0"/>
                </a:spcAft>
              </a:pP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CUHK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DengXian"/>
                  <a:cs typeface="Times New Roman" panose="02020603050405020304" pitchFamily="18" charset="0"/>
                </a:rPr>
                <a:t>-SZ Sc</a:t>
              </a:r>
              <a:r>
                <a:rPr lang="en-US" altLang="zh-TW" sz="1000" kern="100" dirty="0">
                  <a:solidFill>
                    <a:schemeClr val="bg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hool of Data Science</a:t>
              </a:r>
              <a:endParaRPr lang="zh-TW" altLang="zh-TW" sz="1000" kern="100" dirty="0">
                <a:solidFill>
                  <a:schemeClr val="bg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623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457177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914354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371531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828709" algn="l" rtl="0" eaLnBrk="1" fontAlgn="base" hangingPunct="1">
        <a:spcBef>
          <a:spcPct val="0"/>
        </a:spcBef>
        <a:spcAft>
          <a:spcPct val="0"/>
        </a:spcAft>
        <a:defRPr kumimoji="1" sz="300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3733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32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1142943" indent="-228589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121" indent="-228589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476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007" indent="-228589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1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4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1D65F-25B7-47C5-85DC-B1A2A3BE76D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6871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2600" y="1406845"/>
            <a:ext cx="11145742" cy="1882455"/>
          </a:xfrm>
        </p:spPr>
        <p:txBody>
          <a:bodyPr/>
          <a:lstStyle/>
          <a:p>
            <a:pPr algn="ctr"/>
            <a:r>
              <a:rPr lang="en-US" altLang="zh-CN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Virtualization Techniques</a:t>
            </a:r>
            <a:endParaRPr lang="zh-TW" altLang="en-US" sz="60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55632"/>
            <a:ext cx="8534400" cy="1882455"/>
          </a:xfrm>
        </p:spPr>
        <p:txBody>
          <a:bodyPr/>
          <a:lstStyle/>
          <a:p>
            <a:r>
              <a:rPr lang="en-US" altLang="zh-TW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Yeh-Ching Chung</a:t>
            </a:r>
          </a:p>
          <a:p>
            <a:r>
              <a:rPr lang="en-US" altLang="zh-TW" sz="3200" dirty="0"/>
              <a:t>School of </a:t>
            </a:r>
            <a:r>
              <a:rPr lang="en-US" altLang="zh-CN" sz="3200" dirty="0"/>
              <a:t>Data </a:t>
            </a:r>
            <a:r>
              <a:rPr lang="en-US" altLang="zh-TW" sz="3200" dirty="0"/>
              <a:t>Science</a:t>
            </a:r>
          </a:p>
          <a:p>
            <a:r>
              <a:rPr lang="en-US" altLang="zh-TW" sz="320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6610" y="106366"/>
            <a:ext cx="10270977" cy="692151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311423" y="1125537"/>
            <a:ext cx="10270977" cy="3560763"/>
          </a:xfrm>
        </p:spPr>
        <p:txBody>
          <a:bodyPr>
            <a:noAutofit/>
          </a:bodyPr>
          <a:lstStyle/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zh-TW" sz="29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lang="zh-CN" altLang="en-US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</a:t>
            </a:r>
          </a:p>
          <a:p>
            <a:r>
              <a:rPr lang="en-US" altLang="zh-CN" sz="29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C8F1849A-008E-6EF5-AB10-F46E38150E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Virtualization Techniques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2246313" y="1844824"/>
            <a:ext cx="7772400" cy="2562077"/>
          </a:xfrm>
        </p:spPr>
        <p:txBody>
          <a:bodyPr>
            <a:normAutofit fontScale="62500" lnSpcReduction="20000"/>
          </a:bodyPr>
          <a:lstStyle/>
          <a:p>
            <a:r>
              <a:rPr lang="en-US" altLang="zh-C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zh-TW" sz="4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lang="zh-CN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92B67B-1436-E4F4-D617-281427E822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571" y="106366"/>
            <a:ext cx="10722429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Emulation Technique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25538"/>
            <a:ext cx="10972800" cy="2836864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we talk about emulation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fact, virtualization technique can be treated as a special case of emulation technique.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virtualization techniques were developed in or inherited from emulation technique.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of emulation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method for enabling a (sub)system to present the same interface and characteristics as another.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46173" y="4082144"/>
            <a:ext cx="4446130" cy="1963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4D8AE41-E9DB-DC4B-0813-8BAB041C68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285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9867" y="106366"/>
            <a:ext cx="10517721" cy="692151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- Emulation Technique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4678" y="1125538"/>
            <a:ext cx="10517722" cy="4796292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emulation implementations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Emulator interprets only one instruction at a time.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Binary Translation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Emulator translates a block of guest binary at a time and further optimizes for repeated instruction executions.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Binary Translation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hybrid approach of emulator, which mix two approaches above.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challenges and issues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mapping problem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improvement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DEEDA1E-DF89-AFB5-6372-BF049FEF9A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208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49867" y="111808"/>
            <a:ext cx="10517721" cy="692151"/>
          </a:xfrm>
        </p:spPr>
        <p:txBody>
          <a:bodyPr/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-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Machine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86540" y="1077686"/>
            <a:ext cx="10112829" cy="1458684"/>
          </a:xfrm>
        </p:spPr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machine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(VM) is a software implementation of a machine (i.e. a computer) that executes programs like a physical machine, i.e., add </a:t>
            </a:r>
            <a:r>
              <a:rPr lang="en-US" altLang="zh-TW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Virtualizing Software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 </a:t>
            </a:r>
            <a:r>
              <a:rPr lang="en-US" altLang="zh-TW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and support </a:t>
            </a:r>
            <a:r>
              <a:rPr lang="en-US" altLang="zh-TW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Guest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or system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2572" y="3004457"/>
            <a:ext cx="75438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219C45F4-7572-2CE8-3D02-7331B11AB2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6854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Virtualization Techniques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2246313" y="1844824"/>
            <a:ext cx="7772400" cy="2562077"/>
          </a:xfrm>
        </p:spPr>
        <p:txBody>
          <a:bodyPr>
            <a:normAutofit fontScale="62500" lnSpcReduction="20000"/>
          </a:bodyPr>
          <a:lstStyle/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zh-TW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Related</a:t>
            </a:r>
            <a:r>
              <a:rPr lang="zh-CN" altLang="en-US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Preliminaries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Methods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</a:t>
            </a:r>
          </a:p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492B67B-1436-E4F4-D617-281427E822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08017" y="6524628"/>
            <a:ext cx="2844800" cy="339725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3296525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241</Words>
  <Application>Microsoft Office PowerPoint</Application>
  <PresentationFormat>宽屏</PresentationFormat>
  <Paragraphs>53</Paragraphs>
  <Slides>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MS Sans Serif</vt:lpstr>
      <vt:lpstr>楷体</vt:lpstr>
      <vt:lpstr>Arial</vt:lpstr>
      <vt:lpstr>Calibri</vt:lpstr>
      <vt:lpstr>Calibri Light</vt:lpstr>
      <vt:lpstr>Times New Roman</vt:lpstr>
      <vt:lpstr>Wingdings</vt:lpstr>
      <vt:lpstr>NTHU UniCloud</vt:lpstr>
      <vt:lpstr>自訂設計</vt:lpstr>
      <vt:lpstr>Virtualization Techniques</vt:lpstr>
      <vt:lpstr>Outline</vt:lpstr>
      <vt:lpstr>Virtualization Techniques</vt:lpstr>
      <vt:lpstr>Introduction - Emulation Technique (1)</vt:lpstr>
      <vt:lpstr>Introduction - Emulation Technique (2)</vt:lpstr>
      <vt:lpstr>Introduction - Virtual Machine</vt:lpstr>
      <vt:lpstr>Virtualization Techniques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香港中文大学(深圳)数据科学院 School of Data Science</dc:title>
  <dc:creator>Windows 使用者</dc:creator>
  <cp:lastModifiedBy>Yeh-Ching Chung</cp:lastModifiedBy>
  <cp:revision>18</cp:revision>
  <dcterms:created xsi:type="dcterms:W3CDTF">2020-07-15T11:13:39Z</dcterms:created>
  <dcterms:modified xsi:type="dcterms:W3CDTF">2026-09-16T02:44:03Z</dcterms:modified>
</cp:coreProperties>
</file>