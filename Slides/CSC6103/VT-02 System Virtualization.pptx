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9"/>
  </p:notesMasterIdLst>
  <p:handoutMasterIdLst>
    <p:handoutMasterId r:id="rId50"/>
  </p:handoutMasterIdLst>
  <p:sldIdLst>
    <p:sldId id="256" r:id="rId2"/>
    <p:sldId id="506" r:id="rId3"/>
    <p:sldId id="507" r:id="rId4"/>
    <p:sldId id="508" r:id="rId5"/>
    <p:sldId id="509" r:id="rId6"/>
    <p:sldId id="511" r:id="rId7"/>
    <p:sldId id="510" r:id="rId8"/>
    <p:sldId id="558" r:id="rId9"/>
    <p:sldId id="515" r:id="rId10"/>
    <p:sldId id="516" r:id="rId11"/>
    <p:sldId id="517" r:id="rId12"/>
    <p:sldId id="518" r:id="rId13"/>
    <p:sldId id="519" r:id="rId14"/>
    <p:sldId id="557" r:id="rId15"/>
    <p:sldId id="520" r:id="rId16"/>
    <p:sldId id="521" r:id="rId17"/>
    <p:sldId id="559" r:id="rId18"/>
    <p:sldId id="522" r:id="rId19"/>
    <p:sldId id="523" r:id="rId20"/>
    <p:sldId id="560" r:id="rId21"/>
    <p:sldId id="525" r:id="rId22"/>
    <p:sldId id="526" r:id="rId23"/>
    <p:sldId id="527" r:id="rId24"/>
    <p:sldId id="529" r:id="rId25"/>
    <p:sldId id="561" r:id="rId26"/>
    <p:sldId id="530" r:id="rId27"/>
    <p:sldId id="531" r:id="rId28"/>
    <p:sldId id="532" r:id="rId29"/>
    <p:sldId id="533" r:id="rId30"/>
    <p:sldId id="562" r:id="rId31"/>
    <p:sldId id="534" r:id="rId32"/>
    <p:sldId id="535" r:id="rId33"/>
    <p:sldId id="536" r:id="rId34"/>
    <p:sldId id="537" r:id="rId35"/>
    <p:sldId id="538" r:id="rId36"/>
    <p:sldId id="540" r:id="rId37"/>
    <p:sldId id="541" r:id="rId38"/>
    <p:sldId id="543" r:id="rId39"/>
    <p:sldId id="544" r:id="rId40"/>
    <p:sldId id="545" r:id="rId41"/>
    <p:sldId id="546" r:id="rId42"/>
    <p:sldId id="547" r:id="rId43"/>
    <p:sldId id="563" r:id="rId44"/>
    <p:sldId id="550" r:id="rId45"/>
    <p:sldId id="564" r:id="rId46"/>
    <p:sldId id="553" r:id="rId47"/>
    <p:sldId id="554" r:id="rId48"/>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guide id="3"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4" d="100"/>
          <a:sy n="84" d="100"/>
        </p:scale>
        <p:origin x="804" y="56"/>
      </p:cViewPr>
      <p:guideLst>
        <p:guide orient="horz" pos="2160"/>
        <p:guide pos="2880"/>
        <p:guide orient="horz" pos="162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48" d="100"/>
          <a:sy n="48" d="100"/>
        </p:scale>
        <p:origin x="2752" y="3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pPr/>
              <a:t>2026/9/9</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pPr/>
              <a:t>‹#›</a:t>
            </a:fld>
            <a:endParaRPr lang="zh-TW" altLang="en-US"/>
          </a:p>
        </p:txBody>
      </p:sp>
    </p:spTree>
    <p:extLst>
      <p:ext uri="{BB962C8B-B14F-4D97-AF65-F5344CB8AC3E}">
        <p14:creationId xmlns:p14="http://schemas.microsoft.com/office/powerpoint/2010/main" val="414868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pPr/>
              <a:t>2026/9/9</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pPr/>
              <a:t>‹#›</a:t>
            </a:fld>
            <a:endParaRPr lang="zh-TW" altLang="en-US"/>
          </a:p>
        </p:txBody>
      </p:sp>
    </p:spTree>
    <p:extLst>
      <p:ext uri="{BB962C8B-B14F-4D97-AF65-F5344CB8AC3E}">
        <p14:creationId xmlns:p14="http://schemas.microsoft.com/office/powerpoint/2010/main" val="4058155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fld id="{0E89609C-7002-1D4C-B849-67185B22A525}" type="slidenum">
              <a:rPr lang="en-US" altLang="zh-TW"/>
              <a:pPr/>
              <a:t>4</a:t>
            </a:fld>
            <a:endParaRPr lang="en-US" altLang="zh-TW"/>
          </a:p>
        </p:txBody>
      </p:sp>
      <p:sp>
        <p:nvSpPr>
          <p:cNvPr id="43011" name="Rectangle 2"/>
          <p:cNvSpPr>
            <a:spLocks noGrp="1" noRot="1" noChangeAspect="1" noChangeArrowheads="1" noTextEdit="1"/>
          </p:cNvSpPr>
          <p:nvPr>
            <p:ph type="sldImg"/>
          </p:nvPr>
        </p:nvSpPr>
        <p:spPr>
          <a:ln/>
        </p:spPr>
      </p:sp>
      <p:sp>
        <p:nvSpPr>
          <p:cNvPr id="430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zh-TW">
              <a:cs typeface="新細明體"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40028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91" indent="0">
              <a:buNone/>
              <a:defRPr sz="1351"/>
            </a:lvl2pPr>
            <a:lvl3pPr marL="685783" indent="0">
              <a:buNone/>
              <a:defRPr sz="1200"/>
            </a:lvl3pPr>
            <a:lvl4pPr marL="1028674" indent="0">
              <a:buNone/>
              <a:defRPr sz="1051"/>
            </a:lvl4pPr>
            <a:lvl5pPr marL="1371566" indent="0">
              <a:buNone/>
              <a:defRPr sz="1051"/>
            </a:lvl5pPr>
            <a:lvl6pPr marL="1714457" indent="0">
              <a:buNone/>
              <a:defRPr sz="1051"/>
            </a:lvl6pPr>
            <a:lvl7pPr marL="2057349" indent="0">
              <a:buNone/>
              <a:defRPr sz="1051"/>
            </a:lvl7pPr>
            <a:lvl8pPr marL="2400240" indent="0">
              <a:buNone/>
              <a:defRPr sz="1051"/>
            </a:lvl8pPr>
            <a:lvl9pPr marL="2743131"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70251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49850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14055619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39680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62028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59976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751662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533772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94551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0822411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29595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91" indent="0" algn="ctr">
              <a:buNone/>
              <a:defRPr/>
            </a:lvl2pPr>
            <a:lvl3pPr marL="685783" indent="0" algn="ctr">
              <a:buNone/>
              <a:defRPr/>
            </a:lvl3pPr>
            <a:lvl4pPr marL="1028674" indent="0" algn="ctr">
              <a:buNone/>
              <a:defRPr/>
            </a:lvl4pPr>
            <a:lvl5pPr marL="1371566" indent="0" algn="ctr">
              <a:buNone/>
              <a:defRPr/>
            </a:lvl5pPr>
            <a:lvl6pPr marL="1714457" indent="0" algn="ctr">
              <a:buNone/>
              <a:defRPr/>
            </a:lvl6pPr>
            <a:lvl7pPr marL="2057349" indent="0" algn="ctr">
              <a:buNone/>
              <a:defRPr/>
            </a:lvl7pPr>
            <a:lvl8pPr marL="2400240" indent="0" algn="ctr">
              <a:buNone/>
              <a:defRPr/>
            </a:lvl8pPr>
            <a:lvl9pPr marL="2743131"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92707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49"/>
            <a:ext cx="7888289"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3">
            <a:extLst>
              <a:ext uri="{FF2B5EF4-FFF2-40B4-BE49-F238E27FC236}">
                <a16:creationId xmlns:a16="http://schemas.microsoft.com/office/drawing/2014/main" id="{4C67FEB8-36D3-4CC5-9713-36EE82A172D2}"/>
              </a:ext>
            </a:extLst>
          </p:cNvPr>
          <p:cNvSpPr/>
          <p:nvPr userDrawn="1"/>
        </p:nvSpPr>
        <p:spPr>
          <a:xfrm>
            <a:off x="669958" y="4681829"/>
            <a:ext cx="2192188" cy="400110"/>
          </a:xfrm>
          <a:prstGeom prst="rect">
            <a:avLst/>
          </a:prstGeom>
        </p:spPr>
        <p:txBody>
          <a:bodyPr wrap="square">
            <a:spAutoFit/>
          </a:bodyPr>
          <a:lstStyle/>
          <a:p>
            <a:pPr algn="ctr">
              <a:spcAft>
                <a:spcPts val="0"/>
              </a:spcAft>
            </a:pPr>
            <a:r>
              <a:rPr lang="zh-CN"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香港中文大学（深圳）数据科学院</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CUHK-SZ School of Data Science</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5729887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Times New Roman" panose="02020603050405020304" pitchFamily="18" charset="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wm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6003" y="826534"/>
            <a:ext cx="8547653" cy="1307066"/>
          </a:xfrm>
        </p:spPr>
        <p:txBody>
          <a:bodyPr/>
          <a:lstStyle/>
          <a:p>
            <a:pPr algn="ctr"/>
            <a:r>
              <a:rPr lang="en-US" altLang="zh-TW" sz="3600">
                <a:effectLst>
                  <a:outerShdw blurRad="38100" dist="38100" dir="2700000" algn="tl">
                    <a:srgbClr val="000000">
                      <a:alpha val="43137"/>
                    </a:srgbClr>
                  </a:outerShdw>
                </a:effectLst>
              </a:rPr>
              <a:t>CSC</a:t>
            </a:r>
            <a:r>
              <a:rPr lang="en-US" altLang="zh-CN" sz="3600">
                <a:effectLst>
                  <a:outerShdw blurRad="38100" dist="38100" dir="2700000" algn="tl">
                    <a:srgbClr val="000000">
                      <a:alpha val="43137"/>
                    </a:srgbClr>
                  </a:outerShdw>
                </a:effectLst>
              </a:rPr>
              <a:t>6103</a:t>
            </a:r>
            <a:r>
              <a:rPr lang="en-US" altLang="zh-TW" sz="3600">
                <a:effectLst>
                  <a:outerShdw blurRad="38100" dist="38100" dir="2700000" algn="tl">
                    <a:srgbClr val="000000">
                      <a:alpha val="43137"/>
                    </a:srgbClr>
                  </a:outerShdw>
                </a:effectLst>
              </a:rPr>
              <a:t> – Virtualization </a:t>
            </a:r>
            <a:r>
              <a:rPr lang="en-US" altLang="zh-CN" sz="3600">
                <a:effectLst>
                  <a:outerShdw blurRad="38100" dist="38100" dir="2700000" algn="tl">
                    <a:srgbClr val="000000">
                      <a:alpha val="43137"/>
                    </a:srgbClr>
                  </a:outerShdw>
                </a:effectLst>
              </a:rPr>
              <a:t>Techniques</a:t>
            </a:r>
            <a:br>
              <a:rPr lang="en-US" altLang="zh-CN" sz="3600">
                <a:effectLst>
                  <a:outerShdw blurRad="38100" dist="38100" dir="2700000" algn="tl">
                    <a:srgbClr val="000000">
                      <a:alpha val="43137"/>
                    </a:srgbClr>
                  </a:outerShdw>
                </a:effectLst>
              </a:rPr>
            </a:br>
            <a:r>
              <a:rPr lang="en-US" altLang="zh-CN" sz="3600">
                <a:effectLst>
                  <a:outerShdw blurRad="38100" dist="38100" dir="2700000" algn="tl">
                    <a:srgbClr val="000000">
                      <a:alpha val="43137"/>
                    </a:srgbClr>
                  </a:outerShdw>
                </a:effectLst>
              </a:rPr>
              <a:t>System-Virtualization</a:t>
            </a:r>
            <a:endParaRPr lang="zh-TW" altLang="en-US"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effectLst>
                  <a:outerShdw blurRad="38100" dist="38100" dir="2700000" algn="tl">
                    <a:srgbClr val="000000">
                      <a:alpha val="43137"/>
                    </a:srgbClr>
                  </a:outerShdw>
                </a:effectLst>
              </a:rPr>
              <a:t>Prof. </a:t>
            </a:r>
            <a:r>
              <a:rPr lang="en-US" altLang="zh-TW" sz="2400" dirty="0" err="1">
                <a:effectLst>
                  <a:outerShdw blurRad="38100" dist="38100" dir="2700000" algn="tl">
                    <a:srgbClr val="000000">
                      <a:alpha val="43137"/>
                    </a:srgbClr>
                  </a:outerShdw>
                </a:effectLst>
              </a:rPr>
              <a:t>Yeh-Ching</a:t>
            </a:r>
            <a:r>
              <a:rPr lang="en-US" altLang="zh-TW" sz="2400" dirty="0">
                <a:effectLst>
                  <a:outerShdw blurRad="38100" dist="38100" dir="2700000" algn="tl">
                    <a:srgbClr val="000000">
                      <a:alpha val="43137"/>
                    </a:srgbClr>
                  </a:outerShdw>
                </a:effectLst>
              </a:rPr>
              <a:t> Chung</a:t>
            </a:r>
          </a:p>
          <a:p>
            <a:endParaRPr lang="en-US" altLang="zh-TW" sz="2400" dirty="0">
              <a:effectLst>
                <a:outerShdw blurRad="38100" dist="38100" dir="2700000" algn="tl">
                  <a:srgbClr val="000000">
                    <a:alpha val="43137"/>
                  </a:srgbClr>
                </a:outerShdw>
              </a:effectLst>
            </a:endParaRPr>
          </a:p>
          <a:p>
            <a:r>
              <a:rPr lang="en-US" altLang="zh-TW" sz="2400" dirty="0"/>
              <a:t>School of </a:t>
            </a:r>
            <a:r>
              <a:rPr lang="en-US" altLang="zh-CN" sz="2400" dirty="0"/>
              <a:t>Data </a:t>
            </a:r>
            <a:r>
              <a:rPr lang="en-US" altLang="zh-TW" sz="2400" dirty="0"/>
              <a:t>Science</a:t>
            </a:r>
          </a:p>
          <a:p>
            <a:r>
              <a:rPr lang="en-US" altLang="zh-TW" sz="2400" dirty="0"/>
              <a:t>Chinese University of Hong Kong, Shenzhen</a:t>
            </a:r>
          </a:p>
        </p:txBody>
      </p:sp>
    </p:spTree>
    <p:extLst>
      <p:ext uri="{BB962C8B-B14F-4D97-AF65-F5344CB8AC3E}">
        <p14:creationId xmlns:p14="http://schemas.microsoft.com/office/powerpoint/2010/main" val="406468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Outline</a:t>
            </a:r>
          </a:p>
        </p:txBody>
      </p:sp>
      <p:sp>
        <p:nvSpPr>
          <p:cNvPr id="3" name="Content Placeholder 2"/>
          <p:cNvSpPr>
            <a:spLocks noGrp="1"/>
          </p:cNvSpPr>
          <p:nvPr>
            <p:ph idx="1"/>
          </p:nvPr>
        </p:nvSpPr>
        <p:spPr>
          <a:xfrm>
            <a:off x="839584" y="844153"/>
            <a:ext cx="7847215" cy="3503403"/>
          </a:xfrm>
        </p:spPr>
        <p:txBody>
          <a:bodyPr>
            <a:noAutofit/>
          </a:bodyPr>
          <a:lstStyle/>
          <a:p>
            <a:r>
              <a:rPr lang="en-US" sz="2400" dirty="0">
                <a:latin typeface="Times New Roman" panose="02020603050405020304" pitchFamily="18" charset="0"/>
                <a:ea typeface="华文仿宋" panose="02010600040101010101" pitchFamily="2" charset="-122"/>
                <a:cs typeface="Times New Roman" panose="02020603050405020304" pitchFamily="18" charset="0"/>
              </a:rPr>
              <a:t>Isomorphism</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Emulation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Full-virtualization and Para-virtualization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Categories of virtual machine</a:t>
            </a:r>
          </a:p>
        </p:txBody>
      </p:sp>
      <p:sp>
        <p:nvSpPr>
          <p:cNvPr id="4" name="灯片编号占位符 1">
            <a:extLst>
              <a:ext uri="{FF2B5EF4-FFF2-40B4-BE49-F238E27FC236}">
                <a16:creationId xmlns:a16="http://schemas.microsoft.com/office/drawing/2014/main" id="{9F71A9A2-59F1-498B-18AE-B60B6538041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a:t>
            </a:fld>
            <a:endParaRPr lang="zh-TW" altLang="en-US"/>
          </a:p>
        </p:txBody>
      </p:sp>
    </p:spTree>
    <p:extLst>
      <p:ext uri="{BB962C8B-B14F-4D97-AF65-F5344CB8AC3E}">
        <p14:creationId xmlns:p14="http://schemas.microsoft.com/office/powerpoint/2010/main" val="3468698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Isomorphism</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1058786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2"/>
          <p:cNvSpPr>
            <a:spLocks noGrp="1" noRot="1" noChangeArrowheads="1"/>
          </p:cNvSpPr>
          <p:nvPr>
            <p:ph type="title"/>
          </p:nvPr>
        </p:nvSpPr>
        <p:spPr>
          <a:xfrm>
            <a:off x="949670" y="66955"/>
            <a:ext cx="6382941" cy="609600"/>
          </a:xfrm>
        </p:spPr>
        <p:txBody>
          <a:bodyPr/>
          <a:lstStyle/>
          <a:p>
            <a:pPr eaLnBrk="1" hangingPunct="1"/>
            <a:r>
              <a:rPr lang="en-US" altLang="zh-TW" dirty="0"/>
              <a:t>Virtualization Isomorphism</a:t>
            </a:r>
          </a:p>
        </p:txBody>
      </p:sp>
      <p:grpSp>
        <p:nvGrpSpPr>
          <p:cNvPr id="3" name="组合 2">
            <a:extLst>
              <a:ext uri="{FF2B5EF4-FFF2-40B4-BE49-F238E27FC236}">
                <a16:creationId xmlns:a16="http://schemas.microsoft.com/office/drawing/2014/main" id="{A2B2257D-DBEF-7D4A-B8CF-1E1B1F8B0CCA}"/>
              </a:ext>
            </a:extLst>
          </p:cNvPr>
          <p:cNvGrpSpPr/>
          <p:nvPr/>
        </p:nvGrpSpPr>
        <p:grpSpPr>
          <a:xfrm>
            <a:off x="1212619" y="1008025"/>
            <a:ext cx="5029200" cy="3257550"/>
            <a:chOff x="1885950" y="1314450"/>
            <a:chExt cx="5029200" cy="3257550"/>
          </a:xfrm>
        </p:grpSpPr>
        <p:sp>
          <p:nvSpPr>
            <p:cNvPr id="12291" name="Rectangle 3"/>
            <p:cNvSpPr>
              <a:spLocks noChangeArrowheads="1"/>
            </p:cNvSpPr>
            <p:nvPr/>
          </p:nvSpPr>
          <p:spPr bwMode="auto">
            <a:xfrm>
              <a:off x="1885950" y="131445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2" name="Oval 4"/>
            <p:cNvSpPr>
              <a:spLocks noChangeArrowheads="1"/>
            </p:cNvSpPr>
            <p:nvPr/>
          </p:nvSpPr>
          <p:spPr bwMode="auto">
            <a:xfrm>
              <a:off x="2628900" y="16573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3" name="Oval 5"/>
            <p:cNvSpPr>
              <a:spLocks noChangeArrowheads="1"/>
            </p:cNvSpPr>
            <p:nvPr/>
          </p:nvSpPr>
          <p:spPr bwMode="auto">
            <a:xfrm>
              <a:off x="5029200" y="16002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endParaRPr lang="en-US" altLang="zh-TW" sz="2100" dirty="0">
                <a:solidFill>
                  <a:srgbClr val="000000"/>
                </a:solidFill>
                <a:cs typeface="新細明體" charset="0"/>
              </a:endParaRPr>
            </a:p>
          </p:txBody>
        </p:sp>
        <p:sp>
          <p:nvSpPr>
            <p:cNvPr id="12294" name="Text Box 6"/>
            <p:cNvSpPr txBox="1">
              <a:spLocks noChangeArrowheads="1"/>
            </p:cNvSpPr>
            <p:nvPr/>
          </p:nvSpPr>
          <p:spPr bwMode="auto">
            <a:xfrm>
              <a:off x="3943350" y="2343150"/>
              <a:ext cx="7319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Guest</a:t>
              </a:r>
            </a:p>
          </p:txBody>
        </p:sp>
        <p:sp>
          <p:nvSpPr>
            <p:cNvPr id="12295" name="Freeform 7"/>
            <p:cNvSpPr>
              <a:spLocks/>
            </p:cNvSpPr>
            <p:nvPr/>
          </p:nvSpPr>
          <p:spPr bwMode="auto">
            <a:xfrm>
              <a:off x="3200400" y="1533525"/>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296" name="Text Box 8"/>
            <p:cNvSpPr txBox="1">
              <a:spLocks noChangeArrowheads="1"/>
            </p:cNvSpPr>
            <p:nvPr/>
          </p:nvSpPr>
          <p:spPr bwMode="auto">
            <a:xfrm>
              <a:off x="3771901" y="1543050"/>
              <a:ext cx="67197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cs typeface="新細明體" charset="0"/>
                </a:rPr>
                <a:t>e(Si)</a:t>
              </a:r>
            </a:p>
          </p:txBody>
        </p:sp>
        <p:sp>
          <p:nvSpPr>
            <p:cNvPr id="12297" name="Rectangle 9"/>
            <p:cNvSpPr>
              <a:spLocks noChangeArrowheads="1"/>
            </p:cNvSpPr>
            <p:nvPr/>
          </p:nvSpPr>
          <p:spPr bwMode="auto">
            <a:xfrm>
              <a:off x="1885950" y="308610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8" name="Oval 10"/>
            <p:cNvSpPr>
              <a:spLocks noChangeArrowheads="1"/>
            </p:cNvSpPr>
            <p:nvPr/>
          </p:nvSpPr>
          <p:spPr bwMode="auto">
            <a:xfrm>
              <a:off x="2686050" y="33718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9" name="Line 11"/>
            <p:cNvSpPr>
              <a:spLocks noChangeShapeType="1"/>
            </p:cNvSpPr>
            <p:nvPr/>
          </p:nvSpPr>
          <p:spPr bwMode="auto">
            <a:xfrm>
              <a:off x="3086100" y="251460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0" name="Oval 12"/>
            <p:cNvSpPr>
              <a:spLocks noChangeArrowheads="1"/>
            </p:cNvSpPr>
            <p:nvPr/>
          </p:nvSpPr>
          <p:spPr bwMode="auto">
            <a:xfrm>
              <a:off x="5086350" y="33147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r>
                <a:rPr lang="en-US" altLang="zh-TW" sz="2100" dirty="0">
                  <a:solidFill>
                    <a:srgbClr val="000000"/>
                  </a:solidFill>
                  <a:cs typeface="新細明體" charset="0"/>
                </a:rPr>
                <a:t>’</a:t>
              </a:r>
            </a:p>
          </p:txBody>
        </p:sp>
        <p:sp>
          <p:nvSpPr>
            <p:cNvPr id="12301" name="Freeform 13"/>
            <p:cNvSpPr>
              <a:spLocks/>
            </p:cNvSpPr>
            <p:nvPr/>
          </p:nvSpPr>
          <p:spPr bwMode="auto">
            <a:xfrm>
              <a:off x="3371850" y="3257550"/>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302" name="Text Box 14"/>
            <p:cNvSpPr txBox="1">
              <a:spLocks noChangeArrowheads="1"/>
            </p:cNvSpPr>
            <p:nvPr/>
          </p:nvSpPr>
          <p:spPr bwMode="auto">
            <a:xfrm>
              <a:off x="3943350" y="3314700"/>
              <a:ext cx="71776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e’(Si’)</a:t>
              </a:r>
            </a:p>
          </p:txBody>
        </p:sp>
        <p:sp>
          <p:nvSpPr>
            <p:cNvPr id="12303" name="Text Box 15"/>
            <p:cNvSpPr txBox="1">
              <a:spLocks noChangeArrowheads="1"/>
            </p:cNvSpPr>
            <p:nvPr/>
          </p:nvSpPr>
          <p:spPr bwMode="auto">
            <a:xfrm>
              <a:off x="4000500" y="4057650"/>
              <a:ext cx="6149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Host</a:t>
              </a:r>
            </a:p>
          </p:txBody>
        </p:sp>
        <p:sp>
          <p:nvSpPr>
            <p:cNvPr id="12304" name="Line 16"/>
            <p:cNvSpPr>
              <a:spLocks noChangeShapeType="1"/>
            </p:cNvSpPr>
            <p:nvPr/>
          </p:nvSpPr>
          <p:spPr bwMode="auto">
            <a:xfrm>
              <a:off x="5543550" y="245745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5" name="Text Box 17"/>
            <p:cNvSpPr txBox="1">
              <a:spLocks noChangeArrowheads="1"/>
            </p:cNvSpPr>
            <p:nvPr/>
          </p:nvSpPr>
          <p:spPr bwMode="auto">
            <a:xfrm>
              <a:off x="2514600" y="2743200"/>
              <a:ext cx="6158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V(Si)</a:t>
              </a:r>
            </a:p>
          </p:txBody>
        </p:sp>
        <p:sp>
          <p:nvSpPr>
            <p:cNvPr id="12306" name="Text Box 18"/>
            <p:cNvSpPr txBox="1">
              <a:spLocks noChangeArrowheads="1"/>
            </p:cNvSpPr>
            <p:nvPr/>
          </p:nvSpPr>
          <p:spPr bwMode="auto">
            <a:xfrm>
              <a:off x="4972050" y="2800350"/>
              <a:ext cx="6174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a:t>
              </a:r>
              <a:r>
                <a:rPr lang="en-US" altLang="zh-TW" dirty="0" err="1">
                  <a:latin typeface="Calibri"/>
                  <a:cs typeface="Calibri"/>
                </a:rPr>
                <a:t>Sj</a:t>
              </a:r>
              <a:r>
                <a:rPr lang="en-US" altLang="zh-TW" dirty="0">
                  <a:latin typeface="Calibri"/>
                  <a:cs typeface="Calibri"/>
                </a:rPr>
                <a:t>)</a:t>
              </a:r>
            </a:p>
          </p:txBody>
        </p:sp>
      </p:grpSp>
      <p:sp>
        <p:nvSpPr>
          <p:cNvPr id="12307" name="AutoShape 19"/>
          <p:cNvSpPr>
            <a:spLocks noChangeArrowheads="1"/>
          </p:cNvSpPr>
          <p:nvPr/>
        </p:nvSpPr>
        <p:spPr bwMode="auto">
          <a:xfrm>
            <a:off x="6527570" y="1435504"/>
            <a:ext cx="2171700" cy="514350"/>
          </a:xfrm>
          <a:prstGeom prst="wedgeRectCallout">
            <a:avLst>
              <a:gd name="adj1" fmla="val -102834"/>
              <a:gd name="adj2" fmla="val -315"/>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State mapping</a:t>
            </a:r>
          </a:p>
        </p:txBody>
      </p:sp>
      <p:sp>
        <p:nvSpPr>
          <p:cNvPr id="12308" name="AutoShape 20"/>
          <p:cNvSpPr>
            <a:spLocks noChangeArrowheads="1"/>
          </p:cNvSpPr>
          <p:nvPr/>
        </p:nvSpPr>
        <p:spPr bwMode="auto">
          <a:xfrm>
            <a:off x="6667058" y="3236875"/>
            <a:ext cx="1657350" cy="514350"/>
          </a:xfrm>
          <a:prstGeom prst="wedgeRectCallout">
            <a:avLst>
              <a:gd name="adj1" fmla="val -124820"/>
              <a:gd name="adj2" fmla="val -15569"/>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Emulation</a:t>
            </a:r>
          </a:p>
        </p:txBody>
      </p:sp>
      <p:sp>
        <p:nvSpPr>
          <p:cNvPr id="2" name="灯片编号占位符 1">
            <a:extLst>
              <a:ext uri="{FF2B5EF4-FFF2-40B4-BE49-F238E27FC236}">
                <a16:creationId xmlns:a16="http://schemas.microsoft.com/office/drawing/2014/main" id="{62604856-955C-FE06-B33A-47D0CB45B94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a:t>
            </a:fld>
            <a:endParaRPr lang="zh-TW" altLang="en-US"/>
          </a:p>
        </p:txBody>
      </p:sp>
    </p:spTree>
    <p:extLst>
      <p:ext uri="{BB962C8B-B14F-4D97-AF65-F5344CB8AC3E}">
        <p14:creationId xmlns:p14="http://schemas.microsoft.com/office/powerpoint/2010/main" val="2620828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30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3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07" grpId="0" animBg="1"/>
      <p:bldP spid="1230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Virtual Machine</a:t>
            </a:r>
            <a:endParaRPr kumimoji="1" lang="zh-TW" altLang="en-US" dirty="0"/>
          </a:p>
        </p:txBody>
      </p:sp>
      <p:sp>
        <p:nvSpPr>
          <p:cNvPr id="3" name="內容版面配置區 2"/>
          <p:cNvSpPr>
            <a:spLocks noGrp="1"/>
          </p:cNvSpPr>
          <p:nvPr>
            <p:ph idx="1"/>
          </p:nvPr>
        </p:nvSpPr>
        <p:spPr>
          <a:xfrm>
            <a:off x="787401" y="760214"/>
            <a:ext cx="7656022" cy="1547215"/>
          </a:xfrm>
        </p:spPr>
        <p:txBody>
          <a:bodyPr/>
          <a:lstStyle/>
          <a:p>
            <a:r>
              <a:rPr lang="en-US" altLang="zh-TW" sz="2400" dirty="0">
                <a:latin typeface="Times New Roman" panose="02020603050405020304" pitchFamily="18" charset="0"/>
                <a:cs typeface="Times New Roman" panose="02020603050405020304" pitchFamily="18" charset="0"/>
              </a:rPr>
              <a:t>A </a:t>
            </a:r>
            <a:r>
              <a:rPr lang="en-US" altLang="zh-TW" sz="2400" dirty="0">
                <a:solidFill>
                  <a:srgbClr val="FF0000"/>
                </a:solidFill>
                <a:latin typeface="Times New Roman" panose="02020603050405020304" pitchFamily="18" charset="0"/>
                <a:cs typeface="Times New Roman" panose="02020603050405020304" pitchFamily="18" charset="0"/>
              </a:rPr>
              <a:t>virtual machine </a:t>
            </a:r>
            <a:r>
              <a:rPr lang="en-US" altLang="zh-TW" sz="2400" dirty="0">
                <a:latin typeface="Times New Roman" panose="02020603050405020304" pitchFamily="18" charset="0"/>
                <a:cs typeface="Times New Roman" panose="02020603050405020304" pitchFamily="18" charset="0"/>
              </a:rPr>
              <a:t>(VM) is a software implementation of a machine (i.e. a computer) that executes programs like a physical machine, i.e., add </a:t>
            </a:r>
            <a:r>
              <a:rPr lang="en-US" altLang="zh-TW" sz="2400" dirty="0">
                <a:solidFill>
                  <a:srgbClr val="FF0000"/>
                </a:solidFill>
                <a:latin typeface="Times New Roman" panose="02020603050405020304" pitchFamily="18" charset="0"/>
                <a:cs typeface="Times New Roman" panose="02020603050405020304" pitchFamily="18" charset="0"/>
              </a:rPr>
              <a:t>Virtualizing Software </a:t>
            </a:r>
            <a:r>
              <a:rPr lang="en-US" altLang="zh-TW" sz="2400" dirty="0">
                <a:latin typeface="Times New Roman" panose="02020603050405020304" pitchFamily="18" charset="0"/>
                <a:cs typeface="Times New Roman" panose="02020603050405020304" pitchFamily="18" charset="0"/>
              </a:rPr>
              <a:t>to a </a:t>
            </a:r>
            <a:r>
              <a:rPr lang="en-US" altLang="zh-TW" sz="2400" dirty="0">
                <a:solidFill>
                  <a:srgbClr val="FF0000"/>
                </a:solidFill>
                <a:latin typeface="Times New Roman" panose="02020603050405020304" pitchFamily="18" charset="0"/>
                <a:cs typeface="Times New Roman" panose="02020603050405020304" pitchFamily="18" charset="0"/>
              </a:rPr>
              <a:t>Host</a:t>
            </a:r>
            <a:r>
              <a:rPr lang="en-US" altLang="zh-TW" sz="2400" dirty="0">
                <a:latin typeface="Times New Roman" panose="02020603050405020304" pitchFamily="18" charset="0"/>
                <a:cs typeface="Times New Roman" panose="02020603050405020304" pitchFamily="18" charset="0"/>
              </a:rPr>
              <a:t> platform and support </a:t>
            </a:r>
            <a:r>
              <a:rPr lang="en-US" altLang="zh-TW" sz="2400" dirty="0">
                <a:solidFill>
                  <a:srgbClr val="FF0000"/>
                </a:solidFill>
                <a:latin typeface="Times New Roman" panose="02020603050405020304" pitchFamily="18" charset="0"/>
                <a:cs typeface="Times New Roman" panose="02020603050405020304" pitchFamily="18" charset="0"/>
              </a:rPr>
              <a:t>Guest </a:t>
            </a:r>
            <a:r>
              <a:rPr lang="en-US" altLang="zh-TW" sz="2400" dirty="0">
                <a:latin typeface="Times New Roman" panose="02020603050405020304" pitchFamily="18" charset="0"/>
                <a:cs typeface="Times New Roman" panose="02020603050405020304" pitchFamily="18" charset="0"/>
              </a:rPr>
              <a:t>process or system</a:t>
            </a:r>
          </a:p>
        </p:txBody>
      </p:sp>
      <p:pic>
        <p:nvPicPr>
          <p:cNvPr id="4"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19324" y="2348994"/>
            <a:ext cx="5792175" cy="2223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灯片编号占位符 1">
            <a:extLst>
              <a:ext uri="{FF2B5EF4-FFF2-40B4-BE49-F238E27FC236}">
                <a16:creationId xmlns:a16="http://schemas.microsoft.com/office/drawing/2014/main" id="{7033A63A-16D0-C0A7-D2C8-052B4FB68A7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a:t>
            </a:fld>
            <a:endParaRPr lang="zh-TW" altLang="en-US"/>
          </a:p>
        </p:txBody>
      </p:sp>
    </p:spTree>
    <p:extLst>
      <p:ext uri="{BB962C8B-B14F-4D97-AF65-F5344CB8AC3E}">
        <p14:creationId xmlns:p14="http://schemas.microsoft.com/office/powerpoint/2010/main" val="3166854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39338" y="108349"/>
            <a:ext cx="7736352" cy="519113"/>
          </a:xfrm>
        </p:spPr>
        <p:txBody>
          <a:bodyPr>
            <a:noAutofit/>
          </a:bodyPr>
          <a:lstStyle/>
          <a:p>
            <a:r>
              <a:rPr lang="en-US" altLang="zh-TW" sz="3200" dirty="0">
                <a:cs typeface="Calibri"/>
              </a:rPr>
              <a:t>OS VMs Key Issue – ISA </a:t>
            </a:r>
            <a:r>
              <a:rPr lang="en-US" altLang="zh-TW" sz="3200" dirty="0" err="1">
                <a:cs typeface="Calibri"/>
              </a:rPr>
              <a:t>Virtualizability</a:t>
            </a:r>
            <a:endParaRPr lang="zh-TW" altLang="en-US" sz="3200" dirty="0"/>
          </a:p>
        </p:txBody>
      </p:sp>
      <p:sp>
        <p:nvSpPr>
          <p:cNvPr id="3" name="內容版面配置區 2"/>
          <p:cNvSpPr>
            <a:spLocks noGrp="1"/>
          </p:cNvSpPr>
          <p:nvPr>
            <p:ph idx="1"/>
          </p:nvPr>
        </p:nvSpPr>
        <p:spPr>
          <a:xfrm>
            <a:off x="228600" y="852620"/>
            <a:ext cx="8686800" cy="3152113"/>
          </a:xfrm>
        </p:spPr>
        <p:txBody>
          <a:bodyPr/>
          <a:lstStyle/>
          <a:p>
            <a:r>
              <a:rPr kumimoji="1" lang="en-US" altLang="zh-TW" sz="2200" dirty="0">
                <a:latin typeface="Times New Roman" panose="02020603050405020304" pitchFamily="18" charset="0"/>
                <a:cs typeface="Times New Roman" panose="02020603050405020304" pitchFamily="18" charset="0"/>
              </a:rPr>
              <a:t>What if privileged instruction no-ops in user mode? (rather than trapping)</a:t>
            </a:r>
          </a:p>
          <a:p>
            <a:pPr lvl="1"/>
            <a:r>
              <a:rPr kumimoji="1" lang="en-US" altLang="zh-TW" sz="2000" dirty="0">
                <a:latin typeface="Times New Roman" panose="02020603050405020304" pitchFamily="18" charset="0"/>
                <a:cs typeface="Times New Roman" panose="02020603050405020304" pitchFamily="18" charset="0"/>
              </a:rPr>
              <a:t>Then… VMM can’t intercept when Guest OS attempts the privileged instruction</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access memory with real address?</a:t>
            </a:r>
          </a:p>
          <a:p>
            <a:pPr lvl="1"/>
            <a:r>
              <a:rPr kumimoji="1" lang="en-US" altLang="zh-TW" sz="2000" dirty="0">
                <a:latin typeface="Times New Roman" panose="02020603050405020304" pitchFamily="18" charset="0"/>
                <a:cs typeface="Times New Roman" panose="02020603050405020304" pitchFamily="18" charset="0"/>
              </a:rPr>
              <a:t>Then…  a guest OS may see that the real memory it really has is different from the memory it thinks it has</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read system control registers?</a:t>
            </a:r>
          </a:p>
          <a:p>
            <a:pPr lvl="1"/>
            <a:r>
              <a:rPr kumimoji="1" lang="en-US" altLang="zh-TW" sz="2000" dirty="0">
                <a:latin typeface="Times New Roman" panose="02020603050405020304" pitchFamily="18" charset="0"/>
                <a:cs typeface="Times New Roman" panose="02020603050405020304" pitchFamily="18" charset="0"/>
              </a:rPr>
              <a:t>Then… guest OS may not read the same state value that it thinks it wrote</a:t>
            </a:r>
          </a:p>
        </p:txBody>
      </p:sp>
      <p:sp>
        <p:nvSpPr>
          <p:cNvPr id="4" name="灯片编号占位符 1">
            <a:extLst>
              <a:ext uri="{FF2B5EF4-FFF2-40B4-BE49-F238E27FC236}">
                <a16:creationId xmlns:a16="http://schemas.microsoft.com/office/drawing/2014/main" id="{D260EA74-C70B-43F8-7315-9F820576ADC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a:t>
            </a:fld>
            <a:endParaRPr lang="zh-TW" altLang="en-US"/>
          </a:p>
        </p:txBody>
      </p:sp>
    </p:spTree>
    <p:extLst>
      <p:ext uri="{BB962C8B-B14F-4D97-AF65-F5344CB8AC3E}">
        <p14:creationId xmlns:p14="http://schemas.microsoft.com/office/powerpoint/2010/main" val="1409895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(1)</a:t>
            </a:r>
            <a:endParaRPr kumimoji="1" lang="zh-TW" altLang="en-US" dirty="0"/>
          </a:p>
        </p:txBody>
      </p:sp>
      <p:sp>
        <p:nvSpPr>
          <p:cNvPr id="3" name="內容版面配置區 2"/>
          <p:cNvSpPr>
            <a:spLocks noGrp="1"/>
          </p:cNvSpPr>
          <p:nvPr>
            <p:ph idx="1"/>
          </p:nvPr>
        </p:nvSpPr>
        <p:spPr>
          <a:xfrm>
            <a:off x="897775" y="814648"/>
            <a:ext cx="7223759" cy="3241964"/>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Virtual Machine Monitor (VMM), a.k.a. Hypervisor, is a virtualizing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software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manage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hardware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and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arrange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sharing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among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different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p>
          <a:p>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VMM</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similar 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user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space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programs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non-virtualized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7</a:t>
            </a:fld>
            <a:endParaRPr lang="zh-TW" altLang="en-US"/>
          </a:p>
        </p:txBody>
      </p:sp>
    </p:spTree>
    <p:extLst>
      <p:ext uri="{BB962C8B-B14F-4D97-AF65-F5344CB8AC3E}">
        <p14:creationId xmlns:p14="http://schemas.microsoft.com/office/powerpoint/2010/main" val="31850720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(2)</a:t>
            </a:r>
            <a:endParaRPr kumimoji="1" lang="zh-TW" altLang="en-US" dirty="0"/>
          </a:p>
        </p:txBody>
      </p:sp>
      <p:sp>
        <p:nvSpPr>
          <p:cNvPr id="3" name="內容版面配置區 2"/>
          <p:cNvSpPr>
            <a:spLocks noGrp="1"/>
          </p:cNvSpPr>
          <p:nvPr>
            <p:ph idx="1"/>
          </p:nvPr>
        </p:nvSpPr>
        <p:spPr>
          <a:xfrm>
            <a:off x="955964" y="839585"/>
            <a:ext cx="7597832" cy="3524595"/>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Essential VMM characteristics</a:t>
            </a:r>
          </a:p>
          <a:p>
            <a:pPr lvl="1"/>
            <a:r>
              <a:rPr kumimoji="1" lang="en-US" altLang="zh-TW" sz="2000" dirty="0">
                <a:latin typeface="Times New Roman" panose="02020603050405020304" pitchFamily="18" charset="0"/>
                <a:cs typeface="Times New Roman" panose="02020603050405020304" pitchFamily="18" charset="0"/>
              </a:rPr>
              <a:t>Identical </a:t>
            </a:r>
          </a:p>
          <a:p>
            <a:pPr lvl="2"/>
            <a:r>
              <a:rPr kumimoji="1" lang="en-US" altLang="zh-TW" sz="1800" dirty="0">
                <a:latin typeface="Times New Roman" panose="02020603050405020304" pitchFamily="18" charset="0"/>
                <a:cs typeface="Times New Roman" panose="02020603050405020304" pitchFamily="18" charset="0"/>
              </a:rPr>
              <a:t>Provide an environment essentially identical to the real machine</a:t>
            </a:r>
          </a:p>
          <a:p>
            <a:pPr lvl="2"/>
            <a:r>
              <a:rPr kumimoji="1" lang="en-US" altLang="zh-TW" sz="1800" dirty="0">
                <a:latin typeface="Times New Roman" panose="02020603050405020304" pitchFamily="18" charset="0"/>
                <a:cs typeface="Times New Roman" panose="02020603050405020304" pitchFamily="18" charset="0"/>
              </a:rPr>
              <a:t>With the possible exception of differences caused by timing dependency and availability of resources</a:t>
            </a:r>
          </a:p>
          <a:p>
            <a:pPr lvl="1"/>
            <a:r>
              <a:rPr kumimoji="1" lang="en-US" altLang="zh-TW" sz="2000" dirty="0">
                <a:latin typeface="Times New Roman" panose="02020603050405020304" pitchFamily="18" charset="0"/>
                <a:cs typeface="Times New Roman" panose="02020603050405020304" pitchFamily="18" charset="0"/>
              </a:rPr>
              <a:t>Efficiency</a:t>
            </a:r>
          </a:p>
          <a:p>
            <a:pPr lvl="2"/>
            <a:r>
              <a:rPr kumimoji="1" lang="en-US" altLang="zh-TW" sz="1800" dirty="0">
                <a:latin typeface="Times New Roman" panose="02020603050405020304" pitchFamily="18" charset="0"/>
                <a:cs typeface="Times New Roman" panose="02020603050405020304" pitchFamily="18" charset="0"/>
              </a:rPr>
              <a:t>Programs show only minor decreases in speed</a:t>
            </a:r>
          </a:p>
          <a:p>
            <a:pPr lvl="2"/>
            <a:r>
              <a:rPr kumimoji="1" lang="en-US" altLang="zh-TW" sz="1800" dirty="0">
                <a:latin typeface="Times New Roman" panose="02020603050405020304" pitchFamily="18" charset="0"/>
                <a:cs typeface="Times New Roman" panose="02020603050405020304" pitchFamily="18" charset="0"/>
              </a:rPr>
              <a:t>Mostly native instruction execution</a:t>
            </a:r>
          </a:p>
          <a:p>
            <a:pPr lvl="1"/>
            <a:r>
              <a:rPr kumimoji="1" lang="en-US" altLang="zh-TW" sz="2000" dirty="0">
                <a:latin typeface="Times New Roman" panose="02020603050405020304" pitchFamily="18" charset="0"/>
                <a:cs typeface="Times New Roman" panose="02020603050405020304" pitchFamily="18" charset="0"/>
              </a:rPr>
              <a:t>Control </a:t>
            </a:r>
          </a:p>
          <a:p>
            <a:pPr lvl="2"/>
            <a:r>
              <a:rPr kumimoji="1" lang="en-US" altLang="zh-TW" sz="1800" dirty="0">
                <a:latin typeface="Times New Roman" panose="02020603050405020304" pitchFamily="18" charset="0"/>
                <a:cs typeface="Times New Roman" panose="02020603050405020304" pitchFamily="18" charset="0"/>
              </a:rPr>
              <a:t>Fully control of system resources</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8</a:t>
            </a:fld>
            <a:endParaRPr lang="zh-TW" altLang="en-US"/>
          </a:p>
        </p:txBody>
      </p:sp>
    </p:spTree>
    <p:extLst>
      <p:ext uri="{BB962C8B-B14F-4D97-AF65-F5344CB8AC3E}">
        <p14:creationId xmlns:p14="http://schemas.microsoft.com/office/powerpoint/2010/main" val="24405327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Emulation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4020066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7137" y="108349"/>
            <a:ext cx="7818554" cy="519113"/>
          </a:xfrm>
        </p:spPr>
        <p:txBody>
          <a:bodyPr/>
          <a:lstStyle/>
          <a:p>
            <a:r>
              <a:rPr lang="en-US" dirty="0"/>
              <a:t>Emulation Technique (1)</a:t>
            </a:r>
          </a:p>
        </p:txBody>
      </p:sp>
      <p:sp>
        <p:nvSpPr>
          <p:cNvPr id="3" name="Content Placeholder 2"/>
          <p:cNvSpPr>
            <a:spLocks noGrp="1"/>
          </p:cNvSpPr>
          <p:nvPr>
            <p:ph idx="1"/>
          </p:nvPr>
        </p:nvSpPr>
        <p:spPr>
          <a:xfrm>
            <a:off x="857136" y="781227"/>
            <a:ext cx="7638471" cy="3054516"/>
          </a:xfrm>
        </p:spPr>
        <p:txBody>
          <a:bodyPr/>
          <a:lstStyle/>
          <a:p>
            <a:r>
              <a:rPr lang="en-US" sz="2000" dirty="0"/>
              <a:t>Why do we talk about emulation</a:t>
            </a:r>
          </a:p>
          <a:p>
            <a:pPr lvl="1"/>
            <a:r>
              <a:rPr lang="en-US" sz="2000" dirty="0"/>
              <a:t>In fact, virtualization technique can be treated as a special case of emulation technique</a:t>
            </a:r>
          </a:p>
          <a:p>
            <a:pPr lvl="1"/>
            <a:r>
              <a:rPr lang="en-US" sz="2000" dirty="0"/>
              <a:t>Many virtualization techniques were developed in or inherited from emulation technique</a:t>
            </a:r>
          </a:p>
          <a:p>
            <a:r>
              <a:rPr lang="en-US" sz="2000" dirty="0"/>
              <a:t>Goal of emulation</a:t>
            </a:r>
          </a:p>
          <a:p>
            <a:pPr lvl="1"/>
            <a:r>
              <a:rPr lang="en-US" sz="2000" dirty="0"/>
              <a:t>Provide a method for enabling a (sub)system to present the same interface and characteristics as another</a:t>
            </a:r>
          </a:p>
        </p:txBody>
      </p:sp>
      <p:pic>
        <p:nvPicPr>
          <p:cNvPr id="1026" name="Picture 2"/>
          <p:cNvPicPr>
            <a:picLocks noChangeAspect="1" noChangeArrowheads="1"/>
          </p:cNvPicPr>
          <p:nvPr/>
        </p:nvPicPr>
        <p:blipFill>
          <a:blip r:embed="rId2" cstate="print"/>
          <a:srcRect/>
          <a:stretch>
            <a:fillRect/>
          </a:stretch>
        </p:blipFill>
        <p:spPr bwMode="auto">
          <a:xfrm>
            <a:off x="5939516" y="3367406"/>
            <a:ext cx="2817019" cy="1244203"/>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4CD3446A-8C4B-2C1D-68C5-289807E1F84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10</a:t>
            </a:fld>
            <a:endParaRPr lang="zh-TW" altLang="en-US"/>
          </a:p>
        </p:txBody>
      </p:sp>
    </p:spTree>
    <p:extLst>
      <p:ext uri="{BB962C8B-B14F-4D97-AF65-F5344CB8AC3E}">
        <p14:creationId xmlns:p14="http://schemas.microsoft.com/office/powerpoint/2010/main" val="25528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585" y="108349"/>
            <a:ext cx="7836105" cy="519113"/>
          </a:xfrm>
        </p:spPr>
        <p:txBody>
          <a:bodyPr/>
          <a:lstStyle/>
          <a:p>
            <a:r>
              <a:rPr lang="en-US" dirty="0"/>
              <a:t>Emulation Technique (2)</a:t>
            </a:r>
          </a:p>
        </p:txBody>
      </p:sp>
      <p:sp>
        <p:nvSpPr>
          <p:cNvPr id="3" name="Content Placeholder 2"/>
          <p:cNvSpPr>
            <a:spLocks noGrp="1"/>
          </p:cNvSpPr>
          <p:nvPr>
            <p:ph idx="1"/>
          </p:nvPr>
        </p:nvSpPr>
        <p:spPr>
          <a:xfrm>
            <a:off x="883906" y="794276"/>
            <a:ext cx="7747462" cy="3671888"/>
          </a:xfrm>
        </p:spPr>
        <p:txBody>
          <a:bodyPr/>
          <a:lstStyle/>
          <a:p>
            <a:r>
              <a:rPr lang="en-US" sz="2000" dirty="0">
                <a:latin typeface="Times New Roman" panose="02020603050405020304" pitchFamily="18" charset="0"/>
                <a:cs typeface="Times New Roman" panose="02020603050405020304" pitchFamily="18" charset="0"/>
              </a:rPr>
              <a:t>Three emulation implementations</a:t>
            </a:r>
          </a:p>
          <a:p>
            <a:pPr lvl="1"/>
            <a:r>
              <a:rPr lang="en-US" sz="1800" dirty="0">
                <a:latin typeface="Times New Roman" panose="02020603050405020304" pitchFamily="18" charset="0"/>
                <a:cs typeface="Times New Roman" panose="02020603050405020304" pitchFamily="18" charset="0"/>
              </a:rPr>
              <a:t>Interpretation</a:t>
            </a:r>
          </a:p>
          <a:p>
            <a:pPr lvl="2"/>
            <a:r>
              <a:rPr lang="en-US" sz="1600" dirty="0">
                <a:latin typeface="Times New Roman" panose="02020603050405020304" pitchFamily="18" charset="0"/>
                <a:cs typeface="Times New Roman" panose="02020603050405020304" pitchFamily="18" charset="0"/>
              </a:rPr>
              <a:t>Emulator interprets only one instruction at a time</a:t>
            </a:r>
          </a:p>
          <a:p>
            <a:pPr lvl="1"/>
            <a:r>
              <a:rPr lang="en-US" sz="1800" dirty="0">
                <a:latin typeface="Times New Roman" panose="02020603050405020304" pitchFamily="18" charset="0"/>
                <a:cs typeface="Times New Roman" panose="02020603050405020304" pitchFamily="18" charset="0"/>
              </a:rPr>
              <a:t>Static Binary Translation</a:t>
            </a:r>
          </a:p>
          <a:p>
            <a:pPr lvl="2"/>
            <a:r>
              <a:rPr lang="en-US" sz="1600" dirty="0">
                <a:latin typeface="Times New Roman" panose="02020603050405020304" pitchFamily="18" charset="0"/>
                <a:cs typeface="Times New Roman" panose="02020603050405020304" pitchFamily="18" charset="0"/>
              </a:rPr>
              <a:t>Emulator translates a block of guest binary at a time and further optimizes for repeated instruction executions.\</a:t>
            </a:r>
          </a:p>
          <a:p>
            <a:pPr lvl="1"/>
            <a:r>
              <a:rPr lang="en-US" sz="1800" dirty="0">
                <a:latin typeface="Times New Roman" panose="02020603050405020304" pitchFamily="18" charset="0"/>
                <a:cs typeface="Times New Roman" panose="02020603050405020304" pitchFamily="18" charset="0"/>
              </a:rPr>
              <a:t>Dynamic Binary Translation</a:t>
            </a:r>
          </a:p>
          <a:p>
            <a:pPr lvl="2"/>
            <a:r>
              <a:rPr lang="en-US" sz="1600" dirty="0">
                <a:latin typeface="Times New Roman" panose="02020603050405020304" pitchFamily="18" charset="0"/>
                <a:cs typeface="Times New Roman" panose="02020603050405020304" pitchFamily="18" charset="0"/>
              </a:rPr>
              <a:t>This is a hybrid approach of emulator, which mix two approaches above.</a:t>
            </a:r>
          </a:p>
          <a:p>
            <a:r>
              <a:rPr lang="en-US" sz="2000" dirty="0">
                <a:latin typeface="Times New Roman" panose="02020603050405020304" pitchFamily="18" charset="0"/>
                <a:cs typeface="Times New Roman" panose="02020603050405020304" pitchFamily="18" charset="0"/>
              </a:rPr>
              <a:t>Design challenges and issues :</a:t>
            </a:r>
          </a:p>
          <a:p>
            <a:pPr lvl="1"/>
            <a:r>
              <a:rPr lang="en-US" sz="1800" dirty="0">
                <a:latin typeface="Times New Roman" panose="02020603050405020304" pitchFamily="18" charset="0"/>
                <a:cs typeface="Times New Roman" panose="02020603050405020304" pitchFamily="18" charset="0"/>
              </a:rPr>
              <a:t>Register mapping problem</a:t>
            </a:r>
          </a:p>
          <a:p>
            <a:pPr lvl="1"/>
            <a:r>
              <a:rPr lang="en-US" sz="1800" dirty="0">
                <a:latin typeface="Times New Roman" panose="02020603050405020304" pitchFamily="18" charset="0"/>
                <a:cs typeface="Times New Roman" panose="02020603050405020304" pitchFamily="18" charset="0"/>
              </a:rPr>
              <a:t>Performance improvement</a:t>
            </a:r>
          </a:p>
        </p:txBody>
      </p:sp>
      <p:sp>
        <p:nvSpPr>
          <p:cNvPr id="4" name="灯片编号占位符 1">
            <a:extLst>
              <a:ext uri="{FF2B5EF4-FFF2-40B4-BE49-F238E27FC236}">
                <a16:creationId xmlns:a16="http://schemas.microsoft.com/office/drawing/2014/main" id="{7E5B184F-0791-5D1F-F0F8-9932BAA1B65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11</a:t>
            </a:fld>
            <a:endParaRPr lang="zh-TW" altLang="en-US"/>
          </a:p>
        </p:txBody>
      </p:sp>
    </p:spTree>
    <p:extLst>
      <p:ext uri="{BB962C8B-B14F-4D97-AF65-F5344CB8AC3E}">
        <p14:creationId xmlns:p14="http://schemas.microsoft.com/office/powerpoint/2010/main" val="403208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82948"/>
            <a:ext cx="7761290" cy="519113"/>
          </a:xfrm>
        </p:spPr>
        <p:txBody>
          <a:bodyPr/>
          <a:lstStyle/>
          <a:p>
            <a:r>
              <a:rPr lang="en-US" dirty="0"/>
              <a:t>Interpretation (1)</a:t>
            </a:r>
          </a:p>
        </p:txBody>
      </p:sp>
      <p:sp>
        <p:nvSpPr>
          <p:cNvPr id="3" name="Content Placeholder 2"/>
          <p:cNvSpPr>
            <a:spLocks noGrp="1"/>
          </p:cNvSpPr>
          <p:nvPr>
            <p:ph idx="1"/>
          </p:nvPr>
        </p:nvSpPr>
        <p:spPr>
          <a:xfrm>
            <a:off x="990600" y="825685"/>
            <a:ext cx="7290261" cy="3492129"/>
          </a:xfrm>
        </p:spPr>
        <p:txBody>
          <a:bodyPr/>
          <a:lstStyle/>
          <a:p>
            <a:r>
              <a:rPr lang="en-US" sz="2000" dirty="0">
                <a:latin typeface="Times New Roman" panose="02020603050405020304" pitchFamily="18" charset="0"/>
                <a:cs typeface="Times New Roman" panose="02020603050405020304" pitchFamily="18" charset="0"/>
              </a:rPr>
              <a:t>Interpreter execution flow</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Fetch one guest instruction from guest memory image.</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Decode and dispatch to corresponding emulation unit.</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Execute the functionality of that instruction and modify some related system states, such as simulated register values.</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Increase the guest PC (Program Counter register) and then repeat this process again.</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a:t>
            </a:r>
            <a:r>
              <a:rPr lang="en-US" sz="1600" dirty="0">
                <a:latin typeface="Times New Roman" panose="02020603050405020304" pitchFamily="18" charset="0"/>
                <a:cs typeface="Times New Roman" panose="02020603050405020304" pitchFamily="18" charset="0"/>
              </a:rPr>
              <a:t>Easy to implement</a:t>
            </a:r>
          </a:p>
          <a:p>
            <a:pPr lvl="1"/>
            <a:r>
              <a:rPr lang="en-US" sz="1800" dirty="0">
                <a:latin typeface="Times New Roman" panose="02020603050405020304" pitchFamily="18" charset="0"/>
                <a:cs typeface="Times New Roman" panose="02020603050405020304" pitchFamily="18" charset="0"/>
              </a:rPr>
              <a:t>Cons : </a:t>
            </a:r>
            <a:r>
              <a:rPr lang="en-US" sz="1600" dirty="0">
                <a:latin typeface="Times New Roman" panose="02020603050405020304" pitchFamily="18" charset="0"/>
                <a:cs typeface="Times New Roman" panose="02020603050405020304" pitchFamily="18" charset="0"/>
              </a:rPr>
              <a:t>Poor performance</a:t>
            </a:r>
          </a:p>
        </p:txBody>
      </p:sp>
      <p:sp>
        <p:nvSpPr>
          <p:cNvPr id="4" name="灯片编号占位符 1">
            <a:extLst>
              <a:ext uri="{FF2B5EF4-FFF2-40B4-BE49-F238E27FC236}">
                <a16:creationId xmlns:a16="http://schemas.microsoft.com/office/drawing/2014/main" id="{33A9CCF4-4790-9AF2-6C9D-264CF38112B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12</a:t>
            </a:fld>
            <a:endParaRPr lang="zh-TW" altLang="en-US"/>
          </a:p>
        </p:txBody>
      </p:sp>
    </p:spTree>
    <p:extLst>
      <p:ext uri="{BB962C8B-B14F-4D97-AF65-F5344CB8AC3E}">
        <p14:creationId xmlns:p14="http://schemas.microsoft.com/office/powerpoint/2010/main" val="171155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82948"/>
            <a:ext cx="7794541" cy="519113"/>
          </a:xfrm>
        </p:spPr>
        <p:txBody>
          <a:bodyPr/>
          <a:lstStyle/>
          <a:p>
            <a:r>
              <a:rPr lang="en-US" dirty="0"/>
              <a:t>Interpretation (2)</a:t>
            </a:r>
          </a:p>
        </p:txBody>
      </p:sp>
      <p:pic>
        <p:nvPicPr>
          <p:cNvPr id="2050" name="Picture 2"/>
          <p:cNvPicPr>
            <a:picLocks noGrp="1" noChangeAspect="1" noChangeArrowheads="1"/>
          </p:cNvPicPr>
          <p:nvPr>
            <p:ph idx="1"/>
          </p:nvPr>
        </p:nvPicPr>
        <p:blipFill>
          <a:blip r:embed="rId2" cstate="print"/>
          <a:srcRect/>
          <a:stretch>
            <a:fillRect/>
          </a:stretch>
        </p:blipFill>
        <p:spPr bwMode="auto">
          <a:xfrm>
            <a:off x="2000250" y="827115"/>
            <a:ext cx="5143500" cy="3704088"/>
          </a:xfrm>
          <a:prstGeom prst="rect">
            <a:avLst/>
          </a:prstGeom>
          <a:noFill/>
          <a:ln w="9525">
            <a:noFill/>
            <a:miter lim="800000"/>
            <a:headEnd/>
            <a:tailEnd/>
          </a:ln>
          <a:effectLst/>
        </p:spPr>
      </p:pic>
      <p:sp>
        <p:nvSpPr>
          <p:cNvPr id="5" name="Rounded Rectangle 4"/>
          <p:cNvSpPr/>
          <p:nvPr/>
        </p:nvSpPr>
        <p:spPr>
          <a:xfrm>
            <a:off x="1885950" y="1455765"/>
            <a:ext cx="5372100" cy="314325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b="1" i="1" dirty="0">
                <a:solidFill>
                  <a:schemeClr val="accent6">
                    <a:lumMod val="50000"/>
                  </a:schemeClr>
                </a:solidFill>
              </a:rPr>
              <a:t>Interpreter</a:t>
            </a:r>
          </a:p>
        </p:txBody>
      </p:sp>
      <p:sp>
        <p:nvSpPr>
          <p:cNvPr id="3" name="灯片编号占位符 1">
            <a:extLst>
              <a:ext uri="{FF2B5EF4-FFF2-40B4-BE49-F238E27FC236}">
                <a16:creationId xmlns:a16="http://schemas.microsoft.com/office/drawing/2014/main" id="{0AF3F499-4355-0A9B-DEA0-39A94422794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13</a:t>
            </a:fld>
            <a:endParaRPr lang="zh-TW" altLang="en-US"/>
          </a:p>
        </p:txBody>
      </p:sp>
    </p:spTree>
    <p:extLst>
      <p:ext uri="{BB962C8B-B14F-4D97-AF65-F5344CB8AC3E}">
        <p14:creationId xmlns:p14="http://schemas.microsoft.com/office/powerpoint/2010/main" val="2269962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91415"/>
            <a:ext cx="7794541" cy="519113"/>
          </a:xfrm>
        </p:spPr>
        <p:txBody>
          <a:bodyPr/>
          <a:lstStyle/>
          <a:p>
            <a:r>
              <a:rPr lang="en-US" dirty="0"/>
              <a:t>Binary Translation</a:t>
            </a:r>
          </a:p>
        </p:txBody>
      </p:sp>
      <p:sp>
        <p:nvSpPr>
          <p:cNvPr id="3" name="Content Placeholder 2"/>
          <p:cNvSpPr>
            <a:spLocks noGrp="1"/>
          </p:cNvSpPr>
          <p:nvPr>
            <p:ph idx="1"/>
          </p:nvPr>
        </p:nvSpPr>
        <p:spPr>
          <a:xfrm>
            <a:off x="962197" y="844782"/>
            <a:ext cx="7309735" cy="3540951"/>
          </a:xfrm>
        </p:spPr>
        <p:txBody>
          <a:bodyPr>
            <a:normAutofit fontScale="85000" lnSpcReduction="20000"/>
          </a:bodyPr>
          <a:lstStyle/>
          <a:p>
            <a:r>
              <a:rPr lang="en-US" altLang="zh-TW" sz="2600" dirty="0">
                <a:latin typeface="Times New Roman" panose="02020603050405020304" pitchFamily="18" charset="0"/>
                <a:cs typeface="Times New Roman" panose="02020603050405020304" pitchFamily="18" charset="0"/>
              </a:rPr>
              <a:t>A technique to optimize binary code blocks, and translate binaries from guest ISA to host ISA</a:t>
            </a:r>
            <a:endParaRPr lang="en-US" sz="2600" dirty="0">
              <a:latin typeface="Times New Roman" panose="02020603050405020304" pitchFamily="18" charset="0"/>
              <a:cs typeface="Times New Roman" panose="02020603050405020304" pitchFamily="18" charset="0"/>
            </a:endParaRPr>
          </a:p>
          <a:p>
            <a:r>
              <a:rPr lang="en-US" sz="2600" dirty="0">
                <a:latin typeface="Times New Roman" panose="02020603050405020304" pitchFamily="18" charset="0"/>
                <a:cs typeface="Times New Roman" panose="02020603050405020304" pitchFamily="18" charset="0"/>
              </a:rPr>
              <a:t>Static approach vs. Dynamic approach </a:t>
            </a:r>
          </a:p>
          <a:p>
            <a:pPr lvl="1"/>
            <a:r>
              <a:rPr lang="en-US" sz="2600" dirty="0">
                <a:latin typeface="Times New Roman" panose="02020603050405020304" pitchFamily="18" charset="0"/>
                <a:cs typeface="Times New Roman" panose="02020603050405020304" pitchFamily="18" charset="0"/>
              </a:rPr>
              <a:t>Static binary translation</a:t>
            </a:r>
          </a:p>
          <a:p>
            <a:pPr lvl="2"/>
            <a:r>
              <a:rPr lang="en-US" dirty="0">
                <a:latin typeface="Times New Roman" panose="02020603050405020304" pitchFamily="18" charset="0"/>
                <a:cs typeface="Times New Roman" panose="02020603050405020304" pitchFamily="18" charset="0"/>
              </a:rPr>
              <a:t>The entire executable file is translated into an executable of the target architecture</a:t>
            </a:r>
          </a:p>
          <a:p>
            <a:pPr lvl="2"/>
            <a:r>
              <a:rPr lang="en-US" dirty="0">
                <a:latin typeface="Times New Roman" panose="02020603050405020304" pitchFamily="18" charset="0"/>
                <a:cs typeface="Times New Roman" panose="02020603050405020304" pitchFamily="18" charset="0"/>
              </a:rPr>
              <a:t>This is very difficult to do correctly, since not all the code can be discovered by the translator</a:t>
            </a:r>
          </a:p>
          <a:p>
            <a:pPr lvl="1"/>
            <a:r>
              <a:rPr lang="en-US" sz="2600" dirty="0">
                <a:latin typeface="Times New Roman" panose="02020603050405020304" pitchFamily="18" charset="0"/>
                <a:cs typeface="Times New Roman" panose="02020603050405020304" pitchFamily="18" charset="0"/>
              </a:rPr>
              <a:t>Dynamic binary translation</a:t>
            </a:r>
          </a:p>
          <a:p>
            <a:pPr lvl="2"/>
            <a:r>
              <a:rPr lang="en-US" dirty="0">
                <a:latin typeface="Times New Roman" panose="02020603050405020304" pitchFamily="18" charset="0"/>
                <a:cs typeface="Times New Roman" panose="02020603050405020304" pitchFamily="18" charset="0"/>
              </a:rPr>
              <a:t>Looks at a short sequence of code, typically on the order of a single basic block, translates it and caches the resulting sequence</a:t>
            </a:r>
          </a:p>
          <a:p>
            <a:pPr lvl="2"/>
            <a:r>
              <a:rPr lang="en-US" dirty="0">
                <a:latin typeface="Times New Roman" panose="02020603050405020304" pitchFamily="18" charset="0"/>
                <a:cs typeface="Times New Roman" panose="02020603050405020304" pitchFamily="18" charset="0"/>
              </a:rPr>
              <a:t>Code is only translated as it is discovered and when possible, branch instructions are made to point to already translated and saved code</a:t>
            </a:r>
          </a:p>
        </p:txBody>
      </p:sp>
      <p:sp>
        <p:nvSpPr>
          <p:cNvPr id="4" name="灯片编号占位符 1">
            <a:extLst>
              <a:ext uri="{FF2B5EF4-FFF2-40B4-BE49-F238E27FC236}">
                <a16:creationId xmlns:a16="http://schemas.microsoft.com/office/drawing/2014/main" id="{4FE2D0FA-A9D4-2AEC-783D-0B146345F16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14</a:t>
            </a:fld>
            <a:endParaRPr lang="zh-TW" altLang="en-US"/>
          </a:p>
        </p:txBody>
      </p:sp>
    </p:spTree>
    <p:extLst>
      <p:ext uri="{BB962C8B-B14F-4D97-AF65-F5344CB8AC3E}">
        <p14:creationId xmlns:p14="http://schemas.microsoft.com/office/powerpoint/2010/main" val="1326557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p:cNvPicPr>
            <a:picLocks noChangeAspect="1" noChangeArrowheads="1"/>
          </p:cNvPicPr>
          <p:nvPr/>
        </p:nvPicPr>
        <p:blipFill>
          <a:blip r:embed="rId2" cstate="print"/>
          <a:srcRect b="7346"/>
          <a:stretch>
            <a:fillRect/>
          </a:stretch>
        </p:blipFill>
        <p:spPr bwMode="auto">
          <a:xfrm>
            <a:off x="2548686" y="3088248"/>
            <a:ext cx="3564247" cy="1511967"/>
          </a:xfrm>
          <a:prstGeom prst="rect">
            <a:avLst/>
          </a:prstGeom>
          <a:noFill/>
          <a:ln w="9525">
            <a:noFill/>
            <a:miter lim="800000"/>
            <a:headEnd/>
            <a:tailEnd/>
          </a:ln>
          <a:effectLst/>
        </p:spPr>
      </p:pic>
      <p:sp>
        <p:nvSpPr>
          <p:cNvPr id="2" name="Title 1"/>
          <p:cNvSpPr>
            <a:spLocks noGrp="1"/>
          </p:cNvSpPr>
          <p:nvPr>
            <p:ph type="title"/>
          </p:nvPr>
        </p:nvSpPr>
        <p:spPr>
          <a:xfrm>
            <a:off x="889462" y="91415"/>
            <a:ext cx="7786228" cy="519113"/>
          </a:xfrm>
        </p:spPr>
        <p:txBody>
          <a:bodyPr/>
          <a:lstStyle/>
          <a:p>
            <a:r>
              <a:rPr lang="en-US" dirty="0"/>
              <a:t>Static Binary Translation (1)</a:t>
            </a:r>
          </a:p>
        </p:txBody>
      </p:sp>
      <p:sp>
        <p:nvSpPr>
          <p:cNvPr id="3" name="Content Placeholder 2"/>
          <p:cNvSpPr>
            <a:spLocks noGrp="1"/>
          </p:cNvSpPr>
          <p:nvPr>
            <p:ph idx="1"/>
          </p:nvPr>
        </p:nvSpPr>
        <p:spPr>
          <a:xfrm>
            <a:off x="580017" y="809298"/>
            <a:ext cx="8095673" cy="2104679"/>
          </a:xfrm>
        </p:spPr>
        <p:txBody>
          <a:bodyPr>
            <a:normAutofit fontScale="70000" lnSpcReduction="20000"/>
          </a:bodyPr>
          <a:lstStyle/>
          <a:p>
            <a:r>
              <a:rPr lang="en-US" dirty="0">
                <a:latin typeface="Times New Roman" panose="02020603050405020304" pitchFamily="18" charset="0"/>
                <a:cs typeface="Times New Roman" panose="02020603050405020304" pitchFamily="18" charset="0"/>
              </a:rPr>
              <a:t>Using the concept of basic block which comes from compiler optimization technique</a:t>
            </a:r>
          </a:p>
          <a:p>
            <a:pPr lvl="1"/>
            <a:r>
              <a:rPr lang="en-US" sz="2600" dirty="0">
                <a:latin typeface="Times New Roman" panose="02020603050405020304" pitchFamily="18" charset="0"/>
                <a:cs typeface="Times New Roman" panose="02020603050405020304" pitchFamily="18" charset="0"/>
              </a:rPr>
              <a:t>A basic block is a portion of the code within a program with certain desirable properties that make it highly amenable to analysis</a:t>
            </a:r>
          </a:p>
          <a:p>
            <a:pPr lvl="1"/>
            <a:r>
              <a:rPr lang="en-US" sz="2600" dirty="0">
                <a:latin typeface="Times New Roman" panose="02020603050405020304" pitchFamily="18" charset="0"/>
                <a:cs typeface="Times New Roman" panose="02020603050405020304" pitchFamily="18" charset="0"/>
              </a:rPr>
              <a:t>A basic block has only one entry point, meaning no code within it is the destination of a jump instruction anywhere in the program</a:t>
            </a:r>
          </a:p>
          <a:p>
            <a:pPr lvl="1"/>
            <a:r>
              <a:rPr lang="en-US" sz="2600" dirty="0">
                <a:latin typeface="Times New Roman" panose="02020603050405020304" pitchFamily="18" charset="0"/>
                <a:cs typeface="Times New Roman" panose="02020603050405020304" pitchFamily="18" charset="0"/>
              </a:rPr>
              <a:t>A basic block has only one exit point, meaning only the last instruction can cause the program to begin executing code in a different basic block </a:t>
            </a:r>
          </a:p>
        </p:txBody>
      </p:sp>
      <p:sp>
        <p:nvSpPr>
          <p:cNvPr id="4" name="灯片编号占位符 1">
            <a:extLst>
              <a:ext uri="{FF2B5EF4-FFF2-40B4-BE49-F238E27FC236}">
                <a16:creationId xmlns:a16="http://schemas.microsoft.com/office/drawing/2014/main" id="{8CC1E252-8223-67B8-E366-D66C20FB82E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15</a:t>
            </a:fld>
            <a:endParaRPr lang="zh-TW" altLang="en-US"/>
          </a:p>
        </p:txBody>
      </p:sp>
    </p:spTree>
    <p:extLst>
      <p:ext uri="{BB962C8B-B14F-4D97-AF65-F5344CB8AC3E}">
        <p14:creationId xmlns:p14="http://schemas.microsoft.com/office/powerpoint/2010/main" val="3230880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Static Binary Translation (2)</a:t>
            </a:r>
          </a:p>
        </p:txBody>
      </p:sp>
      <p:sp>
        <p:nvSpPr>
          <p:cNvPr id="3" name="Content Placeholder 2"/>
          <p:cNvSpPr>
            <a:spLocks noGrp="1"/>
          </p:cNvSpPr>
          <p:nvPr>
            <p:ph idx="1"/>
          </p:nvPr>
        </p:nvSpPr>
        <p:spPr>
          <a:xfrm>
            <a:off x="773084" y="861602"/>
            <a:ext cx="7852729" cy="2660531"/>
          </a:xfrm>
        </p:spPr>
        <p:txBody>
          <a:bodyPr>
            <a:noAutofit/>
          </a:bodyPr>
          <a:lstStyle/>
          <a:p>
            <a:r>
              <a:rPr lang="en-US" sz="2200" dirty="0">
                <a:latin typeface="Times New Roman" panose="02020603050405020304" pitchFamily="18" charset="0"/>
                <a:cs typeface="Times New Roman" panose="02020603050405020304" pitchFamily="18" charset="0"/>
              </a:rPr>
              <a:t>Static binary translation flow</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Fetch one block of guest instructions from guest memory image.</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Decode and dispatch each instruction to the corresponding translation unit.</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Translate guest instruction to host instructions.</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Write the translated host instructions to code cache.</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Execute the translated host instruction block in code cache.</a:t>
            </a:r>
            <a:endParaRPr lang="en-US"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59DE8E2A-BDBF-D0C3-24E2-D8F2160B59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16</a:t>
            </a:fld>
            <a:endParaRPr lang="zh-TW" altLang="en-US"/>
          </a:p>
        </p:txBody>
      </p:sp>
    </p:spTree>
    <p:extLst>
      <p:ext uri="{BB962C8B-B14F-4D97-AF65-F5344CB8AC3E}">
        <p14:creationId xmlns:p14="http://schemas.microsoft.com/office/powerpoint/2010/main" val="2514375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Static Binary Translation (3)</a:t>
            </a:r>
          </a:p>
        </p:txBody>
      </p:sp>
      <p:sp>
        <p:nvSpPr>
          <p:cNvPr id="3" name="Content Placeholder 2"/>
          <p:cNvSpPr>
            <a:spLocks noGrp="1"/>
          </p:cNvSpPr>
          <p:nvPr>
            <p:ph idx="1"/>
          </p:nvPr>
        </p:nvSpPr>
        <p:spPr>
          <a:xfrm>
            <a:off x="914399" y="835822"/>
            <a:ext cx="7414953" cy="2763590"/>
          </a:xfrm>
        </p:spPr>
        <p:txBody>
          <a:bodyPr>
            <a:noAutofit/>
          </a:bodyPr>
          <a:lstStyle/>
          <a:p>
            <a:r>
              <a:rPr lang="en-US" sz="2200" dirty="0">
                <a:latin typeface="Times New Roman" panose="02020603050405020304" pitchFamily="18" charset="0"/>
                <a:cs typeface="Times New Roman" panose="02020603050405020304" pitchFamily="18" charset="0"/>
              </a:rPr>
              <a:t>Pros &amp; Cons</a:t>
            </a:r>
          </a:p>
          <a:p>
            <a:pPr lvl="1"/>
            <a:r>
              <a:rPr lang="en-US" sz="2000" dirty="0">
                <a:latin typeface="Times New Roman" panose="02020603050405020304" pitchFamily="18" charset="0"/>
                <a:cs typeface="Times New Roman" panose="02020603050405020304" pitchFamily="18" charset="0"/>
              </a:rPr>
              <a:t>Pros</a:t>
            </a:r>
          </a:p>
          <a:p>
            <a:pPr lvl="2"/>
            <a:r>
              <a:rPr lang="en-US" sz="1800" dirty="0">
                <a:latin typeface="Times New Roman" panose="02020603050405020304" pitchFamily="18" charset="0"/>
                <a:cs typeface="Times New Roman" panose="02020603050405020304" pitchFamily="18" charset="0"/>
              </a:rPr>
              <a:t>Emulator can reuse the translated host code</a:t>
            </a:r>
          </a:p>
          <a:p>
            <a:pPr lvl="2"/>
            <a:r>
              <a:rPr lang="en-US" sz="1800" dirty="0">
                <a:latin typeface="Times New Roman" panose="02020603050405020304" pitchFamily="18" charset="0"/>
                <a:cs typeface="Times New Roman" panose="02020603050405020304" pitchFamily="18" charset="0"/>
              </a:rPr>
              <a:t>Emulator can apply more optimization when translating guest blocks</a:t>
            </a:r>
          </a:p>
          <a:p>
            <a:pPr lvl="1"/>
            <a:r>
              <a:rPr lang="en-US" sz="2000" dirty="0">
                <a:latin typeface="Times New Roman" panose="02020603050405020304" pitchFamily="18" charset="0"/>
                <a:cs typeface="Times New Roman" panose="02020603050405020304" pitchFamily="18" charset="0"/>
              </a:rPr>
              <a:t>Cons</a:t>
            </a:r>
          </a:p>
          <a:p>
            <a:pPr lvl="2"/>
            <a:r>
              <a:rPr lang="en-US" sz="1800" dirty="0">
                <a:latin typeface="Times New Roman" panose="02020603050405020304" pitchFamily="18" charset="0"/>
                <a:cs typeface="Times New Roman" panose="02020603050405020304" pitchFamily="18" charset="0"/>
              </a:rPr>
              <a:t>Implementation complexity will increase</a:t>
            </a:r>
          </a:p>
        </p:txBody>
      </p:sp>
      <p:sp>
        <p:nvSpPr>
          <p:cNvPr id="4" name="灯片编号占位符 1">
            <a:extLst>
              <a:ext uri="{FF2B5EF4-FFF2-40B4-BE49-F238E27FC236}">
                <a16:creationId xmlns:a16="http://schemas.microsoft.com/office/drawing/2014/main" id="{59DE8E2A-BDBF-D0C3-24E2-D8F2160B59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17</a:t>
            </a:fld>
            <a:endParaRPr lang="zh-TW" altLang="en-US"/>
          </a:p>
        </p:txBody>
      </p:sp>
    </p:spTree>
    <p:extLst>
      <p:ext uri="{BB962C8B-B14F-4D97-AF65-F5344CB8AC3E}">
        <p14:creationId xmlns:p14="http://schemas.microsoft.com/office/powerpoint/2010/main" val="5807613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Static Binary Translation (4)</a:t>
            </a:r>
          </a:p>
        </p:txBody>
      </p:sp>
      <p:pic>
        <p:nvPicPr>
          <p:cNvPr id="3074" name="Picture 2"/>
          <p:cNvPicPr>
            <a:picLocks noGrp="1" noChangeAspect="1" noChangeArrowheads="1"/>
          </p:cNvPicPr>
          <p:nvPr>
            <p:ph idx="1"/>
          </p:nvPr>
        </p:nvPicPr>
        <p:blipFill>
          <a:blip r:embed="rId2" cstate="print"/>
          <a:srcRect/>
          <a:stretch>
            <a:fillRect/>
          </a:stretch>
        </p:blipFill>
        <p:spPr bwMode="auto">
          <a:xfrm>
            <a:off x="2383224" y="800100"/>
            <a:ext cx="4622987" cy="3780213"/>
          </a:xfrm>
          <a:prstGeom prst="rect">
            <a:avLst/>
          </a:prstGeom>
          <a:noFill/>
          <a:ln w="9525">
            <a:noFill/>
            <a:miter lim="800000"/>
            <a:headEnd/>
            <a:tailEnd/>
          </a:ln>
          <a:effectLst/>
        </p:spPr>
      </p:pic>
      <p:sp>
        <p:nvSpPr>
          <p:cNvPr id="5" name="Rounded Rectangle 4"/>
          <p:cNvSpPr/>
          <p:nvPr/>
        </p:nvSpPr>
        <p:spPr>
          <a:xfrm>
            <a:off x="2137788" y="1379913"/>
            <a:ext cx="5120261" cy="256032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altLang="zh-CN" b="1" i="1" dirty="0">
                <a:solidFill>
                  <a:schemeClr val="accent6">
                    <a:lumMod val="50000"/>
                  </a:schemeClr>
                </a:solidFill>
              </a:rPr>
              <a:t>Static </a:t>
            </a:r>
            <a:r>
              <a:rPr lang="en-US" b="1" i="1" dirty="0">
                <a:solidFill>
                  <a:schemeClr val="accent6">
                    <a:lumMod val="50000"/>
                  </a:schemeClr>
                </a:solidFill>
              </a:rPr>
              <a:t>Binary Translator</a:t>
            </a:r>
          </a:p>
        </p:txBody>
      </p:sp>
      <p:sp>
        <p:nvSpPr>
          <p:cNvPr id="3" name="灯片编号占位符 1">
            <a:extLst>
              <a:ext uri="{FF2B5EF4-FFF2-40B4-BE49-F238E27FC236}">
                <a16:creationId xmlns:a16="http://schemas.microsoft.com/office/drawing/2014/main" id="{CD455BCD-50E1-9F9D-864C-B94E80390A9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18</a:t>
            </a:fld>
            <a:endParaRPr lang="zh-TW" altLang="en-US" dirty="0"/>
          </a:p>
        </p:txBody>
      </p:sp>
    </p:spTree>
    <p:extLst>
      <p:ext uri="{BB962C8B-B14F-4D97-AF65-F5344CB8AC3E}">
        <p14:creationId xmlns:p14="http://schemas.microsoft.com/office/powerpoint/2010/main" val="250325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753" y="109322"/>
            <a:ext cx="6515100" cy="496490"/>
          </a:xfrm>
        </p:spPr>
        <p:txBody>
          <a:bodyPr>
            <a:noAutofit/>
          </a:bodyPr>
          <a:lstStyle/>
          <a:p>
            <a:r>
              <a:rPr lang="en-US" dirty="0"/>
              <a:t>Comparison</a:t>
            </a:r>
          </a:p>
        </p:txBody>
      </p:sp>
      <p:sp>
        <p:nvSpPr>
          <p:cNvPr id="3" name="Content Placeholder 2"/>
          <p:cNvSpPr>
            <a:spLocks noGrp="1"/>
          </p:cNvSpPr>
          <p:nvPr>
            <p:ph idx="1"/>
          </p:nvPr>
        </p:nvSpPr>
        <p:spPr>
          <a:xfrm>
            <a:off x="1089175" y="808043"/>
            <a:ext cx="6823056" cy="2555752"/>
          </a:xfrm>
        </p:spPr>
        <p:txBody>
          <a:bodyPr/>
          <a:lstStyle/>
          <a:p>
            <a:r>
              <a:rPr lang="en-US" sz="2400" dirty="0">
                <a:latin typeface="Times New Roman" panose="02020603050405020304" pitchFamily="18" charset="0"/>
                <a:cs typeface="Times New Roman" panose="02020603050405020304" pitchFamily="18" charset="0"/>
              </a:rPr>
              <a:t>Interpretation implementation</a:t>
            </a: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buNone/>
            </a:pP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Static binary translation implementation</a:t>
            </a:r>
          </a:p>
        </p:txBody>
      </p:sp>
      <p:pic>
        <p:nvPicPr>
          <p:cNvPr id="4098" name="Picture 2"/>
          <p:cNvPicPr>
            <a:picLocks noChangeAspect="1" noChangeArrowheads="1"/>
          </p:cNvPicPr>
          <p:nvPr/>
        </p:nvPicPr>
        <p:blipFill>
          <a:blip r:embed="rId2" cstate="print"/>
          <a:srcRect/>
          <a:stretch>
            <a:fillRect/>
          </a:stretch>
        </p:blipFill>
        <p:spPr bwMode="auto">
          <a:xfrm>
            <a:off x="2851265" y="1389802"/>
            <a:ext cx="3298876" cy="1256767"/>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cstate="print"/>
          <a:srcRect/>
          <a:stretch>
            <a:fillRect/>
          </a:stretch>
        </p:blipFill>
        <p:spPr bwMode="auto">
          <a:xfrm>
            <a:off x="2094807" y="3296061"/>
            <a:ext cx="5384980" cy="1282995"/>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F3F489E9-994B-502B-1682-114B288B42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19</a:t>
            </a:fld>
            <a:endParaRPr lang="zh-TW" altLang="en-US"/>
          </a:p>
        </p:txBody>
      </p:sp>
    </p:spTree>
    <p:extLst>
      <p:ext uri="{BB962C8B-B14F-4D97-AF65-F5344CB8AC3E}">
        <p14:creationId xmlns:p14="http://schemas.microsoft.com/office/powerpoint/2010/main" val="8272830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6587" y="98724"/>
            <a:ext cx="7836105" cy="519113"/>
          </a:xfrm>
        </p:spPr>
        <p:txBody>
          <a:bodyPr/>
          <a:lstStyle/>
          <a:p>
            <a:r>
              <a:rPr lang="en-US" dirty="0"/>
              <a:t>Dynamic Binary Translation (1)</a:t>
            </a:r>
          </a:p>
        </p:txBody>
      </p:sp>
      <p:sp>
        <p:nvSpPr>
          <p:cNvPr id="3" name="Content Placeholder 2"/>
          <p:cNvSpPr>
            <a:spLocks noGrp="1"/>
          </p:cNvSpPr>
          <p:nvPr>
            <p:ph idx="1"/>
          </p:nvPr>
        </p:nvSpPr>
        <p:spPr>
          <a:xfrm>
            <a:off x="947651" y="821002"/>
            <a:ext cx="7414954" cy="3568118"/>
          </a:xfrm>
        </p:spPr>
        <p:txBody>
          <a:bodyPr>
            <a:noAutofit/>
          </a:bodyPr>
          <a:lstStyle/>
          <a:p>
            <a:r>
              <a:rPr lang="en-US" sz="2000" dirty="0">
                <a:latin typeface="Times New Roman" panose="02020603050405020304" pitchFamily="18" charset="0"/>
                <a:cs typeface="Times New Roman" panose="02020603050405020304" pitchFamily="18" charset="0"/>
              </a:rPr>
              <a:t>A hybrid implementation</a:t>
            </a:r>
          </a:p>
          <a:p>
            <a:pPr lvl="1"/>
            <a:r>
              <a:rPr lang="en-US" sz="1800" dirty="0">
                <a:latin typeface="Times New Roman" panose="02020603050405020304" pitchFamily="18" charset="0"/>
                <a:cs typeface="Times New Roman" panose="02020603050405020304" pitchFamily="18" charset="0"/>
              </a:rPr>
              <a:t>For the first discovered codes, directly interpret by interpreter and record these codes as discovered</a:t>
            </a:r>
          </a:p>
          <a:p>
            <a:pPr lvl="1"/>
            <a:r>
              <a:rPr lang="en-US" sz="1800" dirty="0">
                <a:latin typeface="Times New Roman" panose="02020603050405020304" pitchFamily="18" charset="0"/>
                <a:cs typeface="Times New Roman" panose="02020603050405020304" pitchFamily="18" charset="0"/>
              </a:rPr>
              <a:t>As the guest codes discovered, trigger the binary translation module to translate the guest code blocks to host code blocks, and place them into code cache</a:t>
            </a:r>
          </a:p>
          <a:p>
            <a:pPr lvl="1"/>
            <a:r>
              <a:rPr lang="en-US" sz="1800" dirty="0">
                <a:latin typeface="Times New Roman" panose="02020603050405020304" pitchFamily="18" charset="0"/>
                <a:cs typeface="Times New Roman" panose="02020603050405020304" pitchFamily="18" charset="0"/>
              </a:rPr>
              <a:t>When execute the translated block of guest code next time, jump to the code cache and execute the translated host binary code</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Transparently implement binary translation</a:t>
            </a:r>
          </a:p>
          <a:p>
            <a:pPr lvl="1"/>
            <a:r>
              <a:rPr lang="en-US" sz="1800" dirty="0">
                <a:latin typeface="Times New Roman" panose="02020603050405020304" pitchFamily="18" charset="0"/>
                <a:cs typeface="Times New Roman" panose="02020603050405020304" pitchFamily="18" charset="0"/>
              </a:rPr>
              <a:t>Cons : Hard to implement</a:t>
            </a:r>
          </a:p>
        </p:txBody>
      </p:sp>
      <p:sp>
        <p:nvSpPr>
          <p:cNvPr id="4" name="灯片编号占位符 1">
            <a:extLst>
              <a:ext uri="{FF2B5EF4-FFF2-40B4-BE49-F238E27FC236}">
                <a16:creationId xmlns:a16="http://schemas.microsoft.com/office/drawing/2014/main" id="{2FEF5301-2C84-013F-5F50-7D65316DFED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20</a:t>
            </a:fld>
            <a:endParaRPr lang="zh-TW" altLang="en-US"/>
          </a:p>
        </p:txBody>
      </p:sp>
    </p:spTree>
    <p:extLst>
      <p:ext uri="{BB962C8B-B14F-4D97-AF65-F5344CB8AC3E}">
        <p14:creationId xmlns:p14="http://schemas.microsoft.com/office/powerpoint/2010/main" val="14199404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276" y="79474"/>
            <a:ext cx="7711414" cy="519113"/>
          </a:xfrm>
        </p:spPr>
        <p:txBody>
          <a:bodyPr/>
          <a:lstStyle/>
          <a:p>
            <a:r>
              <a:rPr lang="en-US" dirty="0"/>
              <a:t>Dynamic Binary Translation (2)</a:t>
            </a:r>
          </a:p>
        </p:txBody>
      </p:sp>
      <p:grpSp>
        <p:nvGrpSpPr>
          <p:cNvPr id="29" name="组合 28">
            <a:extLst>
              <a:ext uri="{FF2B5EF4-FFF2-40B4-BE49-F238E27FC236}">
                <a16:creationId xmlns:a16="http://schemas.microsoft.com/office/drawing/2014/main" id="{D58FBA8D-986E-0875-8268-41FD15CDE17A}"/>
              </a:ext>
            </a:extLst>
          </p:cNvPr>
          <p:cNvGrpSpPr/>
          <p:nvPr/>
        </p:nvGrpSpPr>
        <p:grpSpPr>
          <a:xfrm>
            <a:off x="2009099" y="2421608"/>
            <a:ext cx="4821914" cy="2175330"/>
            <a:chOff x="2000250" y="2288078"/>
            <a:chExt cx="4997597" cy="2308860"/>
          </a:xfrm>
        </p:grpSpPr>
        <p:sp>
          <p:nvSpPr>
            <p:cNvPr id="4" name="Round Diagonal Corner Rectangle 3"/>
            <p:cNvSpPr/>
            <p:nvPr/>
          </p:nvSpPr>
          <p:spPr>
            <a:xfrm>
              <a:off x="2000250" y="2802428"/>
              <a:ext cx="1371600" cy="1257300"/>
            </a:xfrm>
            <a:prstGeom prst="round2DiagRect">
              <a:avLst>
                <a:gd name="adj1" fmla="val 11533"/>
                <a:gd name="adj2" fmla="val 0"/>
              </a:avLst>
            </a:prstGeom>
            <a:gradFill>
              <a:gsLst>
                <a:gs pos="0">
                  <a:schemeClr val="bg1">
                    <a:lumMod val="65000"/>
                  </a:schemeClr>
                </a:gs>
                <a:gs pos="70000">
                  <a:schemeClr val="bg1">
                    <a:lumMod val="85000"/>
                  </a:schemeClr>
                </a:gs>
                <a:gs pos="100000">
                  <a:schemeClr val="bg1">
                    <a:lumMod val="95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tx1">
                      <a:lumMod val="75000"/>
                      <a:lumOff val="25000"/>
                    </a:schemeClr>
                  </a:solidFill>
                  <a:latin typeface="Times New Roman" panose="02020603050405020304" pitchFamily="18" charset="0"/>
                  <a:cs typeface="Times New Roman" panose="02020603050405020304" pitchFamily="18" charset="0"/>
                </a:rPr>
                <a:t>Guest Binary</a:t>
              </a:r>
            </a:p>
          </p:txBody>
        </p:sp>
        <p:sp>
          <p:nvSpPr>
            <p:cNvPr id="5" name="Rounded Rectangle 4"/>
            <p:cNvSpPr/>
            <p:nvPr/>
          </p:nvSpPr>
          <p:spPr>
            <a:xfrm>
              <a:off x="3989070" y="3191048"/>
              <a:ext cx="1097280" cy="480060"/>
            </a:xfrm>
            <a:prstGeom prst="roundRect">
              <a:avLst/>
            </a:prstGeom>
            <a:gradFill flip="none" rotWithShape="1">
              <a:gsLst>
                <a:gs pos="0">
                  <a:schemeClr val="accent2">
                    <a:lumMod val="60000"/>
                    <a:lumOff val="40000"/>
                  </a:schemeClr>
                </a:gs>
                <a:gs pos="50000">
                  <a:schemeClr val="accent2">
                    <a:lumMod val="40000"/>
                    <a:lumOff val="60000"/>
                  </a:schemeClr>
                </a:gs>
                <a:gs pos="100000">
                  <a:schemeClr val="accent2">
                    <a:lumMod val="20000"/>
                    <a:lumOff val="80000"/>
                  </a:schemeClr>
                </a:gs>
              </a:gsLst>
              <a:lin ang="5400000" scaled="1"/>
              <a:tileRect/>
            </a:gradFill>
          </p:spPr>
          <p:style>
            <a:lnRef idx="3">
              <a:schemeClr val="lt1"/>
            </a:lnRef>
            <a:fillRef idx="1">
              <a:schemeClr val="accent2"/>
            </a:fillRef>
            <a:effectRef idx="1">
              <a:schemeClr val="accent2"/>
            </a:effectRef>
            <a:fontRef idx="minor">
              <a:schemeClr val="lt1"/>
            </a:fontRef>
          </p:style>
          <p:txBody>
            <a:bodyPr rtlCol="0" anchor="ctr"/>
            <a:lstStyle/>
            <a:p>
              <a:pPr algn="ctr"/>
              <a:r>
                <a:rPr lang="en-US" sz="1350" b="1" i="1" dirty="0">
                  <a:solidFill>
                    <a:schemeClr val="accent2">
                      <a:lumMod val="50000"/>
                    </a:schemeClr>
                  </a:solidFill>
                  <a:latin typeface="Times New Roman" panose="02020603050405020304" pitchFamily="18" charset="0"/>
                  <a:cs typeface="Times New Roman" panose="02020603050405020304" pitchFamily="18" charset="0"/>
                </a:rPr>
                <a:t>Emulation Manager</a:t>
              </a:r>
            </a:p>
          </p:txBody>
        </p:sp>
        <p:sp>
          <p:nvSpPr>
            <p:cNvPr id="6" name="Left-Right Arrow 5"/>
            <p:cNvSpPr/>
            <p:nvPr/>
          </p:nvSpPr>
          <p:spPr>
            <a:xfrm>
              <a:off x="3486150" y="3316778"/>
              <a:ext cx="400050" cy="228600"/>
            </a:xfrm>
            <a:prstGeom prst="leftRightArrow">
              <a:avLst>
                <a:gd name="adj1" fmla="val 50000"/>
                <a:gd name="adj2" fmla="val 57059"/>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7" name="Oval 6"/>
            <p:cNvSpPr/>
            <p:nvPr/>
          </p:nvSpPr>
          <p:spPr>
            <a:xfrm>
              <a:off x="3886200" y="22880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Binary Translator</a:t>
              </a:r>
            </a:p>
          </p:txBody>
        </p:sp>
        <p:sp>
          <p:nvSpPr>
            <p:cNvPr id="8" name="Oval 7"/>
            <p:cNvSpPr/>
            <p:nvPr/>
          </p:nvSpPr>
          <p:spPr>
            <a:xfrm>
              <a:off x="3886200" y="41168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Interpreter</a:t>
              </a:r>
            </a:p>
          </p:txBody>
        </p:sp>
        <p:sp>
          <p:nvSpPr>
            <p:cNvPr id="9" name="Round Diagonal Corner Rectangle 8"/>
            <p:cNvSpPr/>
            <p:nvPr/>
          </p:nvSpPr>
          <p:spPr>
            <a:xfrm>
              <a:off x="5626247" y="2802428"/>
              <a:ext cx="1371600" cy="1257300"/>
            </a:xfrm>
            <a:prstGeom prst="round2DiagRect">
              <a:avLst>
                <a:gd name="adj1" fmla="val 11533"/>
                <a:gd name="adj2" fmla="val 0"/>
              </a:avLst>
            </a:prstGeom>
            <a:gradFill>
              <a:gsLst>
                <a:gs pos="0">
                  <a:schemeClr val="accent1">
                    <a:lumMod val="60000"/>
                    <a:lumOff val="40000"/>
                  </a:schemeClr>
                </a:gs>
                <a:gs pos="70000">
                  <a:schemeClr val="accent1">
                    <a:lumMod val="40000"/>
                    <a:lumOff val="60000"/>
                  </a:schemeClr>
                </a:gs>
                <a:gs pos="100000">
                  <a:schemeClr val="accent1">
                    <a:lumMod val="20000"/>
                    <a:lumOff val="80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accent1">
                      <a:lumMod val="50000"/>
                    </a:schemeClr>
                  </a:solidFill>
                  <a:latin typeface="Times New Roman" panose="02020603050405020304" pitchFamily="18" charset="0"/>
                  <a:cs typeface="Times New Roman" panose="02020603050405020304" pitchFamily="18" charset="0"/>
                </a:rPr>
                <a:t>Host Binary Code Cache</a:t>
              </a:r>
            </a:p>
          </p:txBody>
        </p:sp>
        <p:sp>
          <p:nvSpPr>
            <p:cNvPr id="10" name="Rectangle 9"/>
            <p:cNvSpPr/>
            <p:nvPr/>
          </p:nvSpPr>
          <p:spPr>
            <a:xfrm>
              <a:off x="574054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1" name="Rectangle 10"/>
            <p:cNvSpPr/>
            <p:nvPr/>
          </p:nvSpPr>
          <p:spPr>
            <a:xfrm>
              <a:off x="574054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2" name="Rectangle 11"/>
            <p:cNvSpPr/>
            <p:nvPr/>
          </p:nvSpPr>
          <p:spPr>
            <a:xfrm>
              <a:off x="636919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3" name="Rectangle 12"/>
            <p:cNvSpPr/>
            <p:nvPr/>
          </p:nvSpPr>
          <p:spPr>
            <a:xfrm>
              <a:off x="636919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4" name="Rectangle 13"/>
            <p:cNvSpPr/>
            <p:nvPr/>
          </p:nvSpPr>
          <p:spPr>
            <a:xfrm>
              <a:off x="2114550" y="3202478"/>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750" b="1" dirty="0">
                <a:latin typeface="Times New Roman" panose="02020603050405020304" pitchFamily="18" charset="0"/>
                <a:cs typeface="Times New Roman" panose="02020603050405020304" pitchFamily="18" charset="0"/>
              </a:endParaRPr>
            </a:p>
          </p:txBody>
        </p:sp>
        <p:sp>
          <p:nvSpPr>
            <p:cNvPr id="15" name="Rectangle 14"/>
            <p:cNvSpPr/>
            <p:nvPr/>
          </p:nvSpPr>
          <p:spPr>
            <a:xfrm>
              <a:off x="2114550" y="3597822"/>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6" name="Right Arrow 15"/>
            <p:cNvSpPr/>
            <p:nvPr/>
          </p:nvSpPr>
          <p:spPr>
            <a:xfrm rot="20365690">
              <a:off x="3458239" y="2591254"/>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17" name="Right Arrow 16"/>
            <p:cNvSpPr/>
            <p:nvPr/>
          </p:nvSpPr>
          <p:spPr>
            <a:xfrm rot="1234310" flipV="1">
              <a:off x="5461255" y="2573241"/>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cxnSp>
          <p:nvCxnSpPr>
            <p:cNvPr id="18" name="Straight Arrow Connector 17"/>
            <p:cNvCxnSpPr/>
            <p:nvPr/>
          </p:nvCxnSpPr>
          <p:spPr>
            <a:xfrm rot="5400000">
              <a:off x="44582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p:nvPr/>
          </p:nvCxnSpPr>
          <p:spPr>
            <a:xfrm rot="16200000" flipV="1">
              <a:off x="42296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0" name="Straight Arrow Connector 19"/>
            <p:cNvCxnSpPr/>
            <p:nvPr/>
          </p:nvCxnSpPr>
          <p:spPr>
            <a:xfrm rot="16200000" flipV="1">
              <a:off x="4366260" y="2981352"/>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1" name="Straight Arrow Connector 20"/>
            <p:cNvCxnSpPr/>
            <p:nvPr/>
          </p:nvCxnSpPr>
          <p:spPr>
            <a:xfrm>
              <a:off x="5143500" y="335712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p:nvPr/>
          </p:nvCxnSpPr>
          <p:spPr>
            <a:xfrm flipH="1">
              <a:off x="5143500" y="352857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3" name="TextBox 22"/>
            <p:cNvSpPr txBox="1"/>
            <p:nvPr/>
          </p:nvSpPr>
          <p:spPr>
            <a:xfrm>
              <a:off x="5222657" y="3173799"/>
              <a:ext cx="325730"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hit</a:t>
              </a:r>
            </a:p>
          </p:txBody>
        </p:sp>
        <p:sp>
          <p:nvSpPr>
            <p:cNvPr id="24" name="TextBox 23"/>
            <p:cNvSpPr txBox="1"/>
            <p:nvPr/>
          </p:nvSpPr>
          <p:spPr>
            <a:xfrm>
              <a:off x="5199526" y="3524319"/>
              <a:ext cx="364202"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exit</a:t>
              </a:r>
            </a:p>
          </p:txBody>
        </p:sp>
        <p:sp>
          <p:nvSpPr>
            <p:cNvPr id="25" name="TextBox 24"/>
            <p:cNvSpPr txBox="1"/>
            <p:nvPr/>
          </p:nvSpPr>
          <p:spPr>
            <a:xfrm>
              <a:off x="4631836" y="3787209"/>
              <a:ext cx="402674"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miss</a:t>
              </a:r>
            </a:p>
          </p:txBody>
        </p:sp>
        <p:sp>
          <p:nvSpPr>
            <p:cNvPr id="26" name="TextBox 25"/>
            <p:cNvSpPr txBox="1"/>
            <p:nvPr/>
          </p:nvSpPr>
          <p:spPr>
            <a:xfrm>
              <a:off x="3968897" y="3787209"/>
              <a:ext cx="518091"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return</a:t>
              </a:r>
            </a:p>
          </p:txBody>
        </p:sp>
        <p:sp>
          <p:nvSpPr>
            <p:cNvPr id="27" name="TextBox 26"/>
            <p:cNvSpPr txBox="1"/>
            <p:nvPr/>
          </p:nvSpPr>
          <p:spPr>
            <a:xfrm>
              <a:off x="4536587" y="2897678"/>
              <a:ext cx="524503"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trigger</a:t>
              </a:r>
            </a:p>
          </p:txBody>
        </p:sp>
      </p:grpSp>
      <p:sp>
        <p:nvSpPr>
          <p:cNvPr id="28" name="TextBox 27"/>
          <p:cNvSpPr txBox="1"/>
          <p:nvPr/>
        </p:nvSpPr>
        <p:spPr>
          <a:xfrm>
            <a:off x="964275" y="785871"/>
            <a:ext cx="7099069" cy="1477328"/>
          </a:xfrm>
          <a:prstGeom prst="rect">
            <a:avLst/>
          </a:prstGeom>
          <a:noFill/>
        </p:spPr>
        <p:txBody>
          <a:bodyPr wrap="square" rtlCol="0">
            <a:spAutoFit/>
          </a:bodyPr>
          <a:lstStyle/>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First time execution, no translated code in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Miss code cache matching, then directly interpret the guest instruction.</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As a code block discovered, trigger the binary translation module.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Translate guest code block to host binary, and place it in the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Next time execution, run the translated code clock in the code cache.</a:t>
            </a:r>
          </a:p>
        </p:txBody>
      </p:sp>
      <p:sp>
        <p:nvSpPr>
          <p:cNvPr id="3" name="灯片编号占位符 1">
            <a:extLst>
              <a:ext uri="{FF2B5EF4-FFF2-40B4-BE49-F238E27FC236}">
                <a16:creationId xmlns:a16="http://schemas.microsoft.com/office/drawing/2014/main" id="{24380E5C-81C7-B435-6182-CE3D101055C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21</a:t>
            </a:fld>
            <a:endParaRPr lang="zh-TW" altLang="en-US"/>
          </a:p>
        </p:txBody>
      </p:sp>
    </p:spTree>
    <p:extLst>
      <p:ext uri="{BB962C8B-B14F-4D97-AF65-F5344CB8AC3E}">
        <p14:creationId xmlns:p14="http://schemas.microsoft.com/office/powerpoint/2010/main" val="498601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animEffect transition="in" filter="fade">
                                      <p:cBhvr>
                                        <p:cTn id="7" dur="500"/>
                                        <p:tgtEl>
                                          <p:spTgt spid="2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8">
                                            <p:txEl>
                                              <p:pRg st="1" end="1"/>
                                            </p:txEl>
                                          </p:spTgt>
                                        </p:tgtEl>
                                        <p:attrNameLst>
                                          <p:attrName>style.visibility</p:attrName>
                                        </p:attrNameLst>
                                      </p:cBhvr>
                                      <p:to>
                                        <p:strVal val="visible"/>
                                      </p:to>
                                    </p:set>
                                    <p:animEffect transition="in" filter="fade">
                                      <p:cBhvr>
                                        <p:cTn id="10" dur="500"/>
                                        <p:tgtEl>
                                          <p:spTgt spid="28">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xEl>
                                              <p:pRg st="2" end="2"/>
                                            </p:txEl>
                                          </p:spTgt>
                                        </p:tgtEl>
                                        <p:attrNameLst>
                                          <p:attrName>style.visibility</p:attrName>
                                        </p:attrNameLst>
                                      </p:cBhvr>
                                      <p:to>
                                        <p:strVal val="visible"/>
                                      </p:to>
                                    </p:set>
                                    <p:animEffect transition="in" filter="fade">
                                      <p:cBhvr>
                                        <p:cTn id="13" dur="500"/>
                                        <p:tgtEl>
                                          <p:spTgt spid="28">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xEl>
                                              <p:pRg st="3" end="3"/>
                                            </p:txEl>
                                          </p:spTgt>
                                        </p:tgtEl>
                                        <p:attrNameLst>
                                          <p:attrName>style.visibility</p:attrName>
                                        </p:attrNameLst>
                                      </p:cBhvr>
                                      <p:to>
                                        <p:strVal val="visible"/>
                                      </p:to>
                                    </p:set>
                                    <p:animEffect transition="in" filter="fade">
                                      <p:cBhvr>
                                        <p:cTn id="16" dur="500"/>
                                        <p:tgtEl>
                                          <p:spTgt spid="28">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xEl>
                                              <p:pRg st="4" end="4"/>
                                            </p:txEl>
                                          </p:spTgt>
                                        </p:tgtEl>
                                        <p:attrNameLst>
                                          <p:attrName>style.visibility</p:attrName>
                                        </p:attrNameLst>
                                      </p:cBhvr>
                                      <p:to>
                                        <p:strVal val="visible"/>
                                      </p:to>
                                    </p:set>
                                    <p:animEffect transition="in" filter="fade">
                                      <p:cBhvr>
                                        <p:cTn id="19" dur="500"/>
                                        <p:tgtEl>
                                          <p:spTgt spid="2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idx="4294967295"/>
          </p:nvPr>
        </p:nvSpPr>
        <p:spPr>
          <a:xfrm>
            <a:off x="517467" y="2906164"/>
            <a:ext cx="5829300" cy="1021556"/>
          </a:xfrm>
        </p:spPr>
        <p:txBody>
          <a:bodyPr/>
          <a:lstStyle/>
          <a:p>
            <a:r>
              <a:rPr lang="en-US" altLang="zh-TW" dirty="0"/>
              <a:t>Design Challenges and Issues</a:t>
            </a:r>
            <a:endParaRPr lang="zh-TW" altLang="en-US" dirty="0"/>
          </a:p>
        </p:txBody>
      </p:sp>
      <p:sp>
        <p:nvSpPr>
          <p:cNvPr id="4" name="灯片编号占位符 1">
            <a:extLst>
              <a:ext uri="{FF2B5EF4-FFF2-40B4-BE49-F238E27FC236}">
                <a16:creationId xmlns:a16="http://schemas.microsoft.com/office/drawing/2014/main" id="{891F1DB2-EAA3-9C6C-DB8B-A60CA632836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22</a:t>
            </a:fld>
            <a:endParaRPr lang="zh-TW" altLang="en-US"/>
          </a:p>
        </p:txBody>
      </p:sp>
    </p:spTree>
    <p:extLst>
      <p:ext uri="{BB962C8B-B14F-4D97-AF65-F5344CB8AC3E}">
        <p14:creationId xmlns:p14="http://schemas.microsoft.com/office/powerpoint/2010/main" val="23055928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964" y="79474"/>
            <a:ext cx="7719726" cy="519113"/>
          </a:xfrm>
        </p:spPr>
        <p:txBody>
          <a:bodyPr/>
          <a:lstStyle/>
          <a:p>
            <a:r>
              <a:rPr lang="en-US" dirty="0"/>
              <a:t>Register Mapping Problem (1)</a:t>
            </a:r>
          </a:p>
        </p:txBody>
      </p:sp>
      <p:sp>
        <p:nvSpPr>
          <p:cNvPr id="3" name="Content Placeholder 2"/>
          <p:cNvSpPr>
            <a:spLocks noGrp="1"/>
          </p:cNvSpPr>
          <p:nvPr>
            <p:ph idx="1"/>
          </p:nvPr>
        </p:nvSpPr>
        <p:spPr>
          <a:xfrm>
            <a:off x="782275" y="801560"/>
            <a:ext cx="7579449" cy="1371600"/>
          </a:xfrm>
        </p:spPr>
        <p:txBody>
          <a:bodyPr/>
          <a:lstStyle/>
          <a:p>
            <a:r>
              <a:rPr lang="en-US" sz="2000" dirty="0">
                <a:latin typeface="Times New Roman" panose="02020603050405020304" pitchFamily="18" charset="0"/>
                <a:cs typeface="Times New Roman" panose="02020603050405020304" pitchFamily="18" charset="0"/>
              </a:rPr>
              <a:t>Why should we map registers ?</a:t>
            </a:r>
          </a:p>
          <a:p>
            <a:pPr lvl="1"/>
            <a:r>
              <a:rPr lang="en-US" sz="1800" dirty="0">
                <a:latin typeface="Times New Roman" panose="02020603050405020304" pitchFamily="18" charset="0"/>
                <a:cs typeface="Times New Roman" panose="02020603050405020304" pitchFamily="18" charset="0"/>
              </a:rPr>
              <a:t>Different ISA will define different number of registers</a:t>
            </a:r>
          </a:p>
          <a:p>
            <a:pPr lvl="1"/>
            <a:r>
              <a:rPr lang="en-US" sz="1800" dirty="0">
                <a:latin typeface="Times New Roman" panose="02020603050405020304" pitchFamily="18" charset="0"/>
                <a:cs typeface="Times New Roman" panose="02020603050405020304" pitchFamily="18" charset="0"/>
              </a:rPr>
              <a:t>Sometimes guest ISA even require some special purpose register which host ISA does not defined</a:t>
            </a:r>
          </a:p>
        </p:txBody>
      </p:sp>
      <p:pic>
        <p:nvPicPr>
          <p:cNvPr id="5122" name="Picture 2"/>
          <p:cNvPicPr>
            <a:picLocks noChangeAspect="1" noChangeArrowheads="1"/>
          </p:cNvPicPr>
          <p:nvPr/>
        </p:nvPicPr>
        <p:blipFill>
          <a:blip r:embed="rId2" cstate="print"/>
          <a:srcRect/>
          <a:stretch>
            <a:fillRect/>
          </a:stretch>
        </p:blipFill>
        <p:spPr bwMode="auto">
          <a:xfrm>
            <a:off x="2518756" y="2227811"/>
            <a:ext cx="4287640" cy="2371886"/>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A28ED07E-F991-CBAC-A21A-DFB05F35736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23</a:t>
            </a:fld>
            <a:endParaRPr lang="zh-TW" altLang="en-US"/>
          </a:p>
        </p:txBody>
      </p:sp>
    </p:spTree>
    <p:extLst>
      <p:ext uri="{BB962C8B-B14F-4D97-AF65-F5344CB8AC3E}">
        <p14:creationId xmlns:p14="http://schemas.microsoft.com/office/powerpoint/2010/main" val="41289672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4026" y="79474"/>
            <a:ext cx="7780540" cy="519113"/>
          </a:xfrm>
        </p:spPr>
        <p:txBody>
          <a:bodyPr/>
          <a:lstStyle/>
          <a:p>
            <a:r>
              <a:rPr lang="en-US" dirty="0"/>
              <a:t>Register Mapping Problem (2)</a:t>
            </a:r>
          </a:p>
        </p:txBody>
      </p:sp>
      <p:sp>
        <p:nvSpPr>
          <p:cNvPr id="3" name="Content Placeholder 2"/>
          <p:cNvSpPr>
            <a:spLocks noGrp="1"/>
          </p:cNvSpPr>
          <p:nvPr>
            <p:ph idx="1"/>
          </p:nvPr>
        </p:nvSpPr>
        <p:spPr>
          <a:xfrm>
            <a:off x="856211" y="856365"/>
            <a:ext cx="7682065" cy="2301701"/>
          </a:xfrm>
        </p:spPr>
        <p:txBody>
          <a:bodyPr/>
          <a:lstStyle/>
          <a:p>
            <a:r>
              <a:rPr lang="en-US" sz="2200" dirty="0"/>
              <a:t>If the number of host registers is larger that those of the guest</a:t>
            </a:r>
          </a:p>
          <a:p>
            <a:pPr lvl="1"/>
            <a:r>
              <a:rPr lang="en-US" sz="2000" dirty="0"/>
              <a:t>That will be an easier case for implementation</a:t>
            </a:r>
          </a:p>
          <a:p>
            <a:pPr lvl="1"/>
            <a:r>
              <a:rPr lang="en-US" sz="2000" dirty="0"/>
              <a:t>Directly map one register of guest to one of host, and make use of the rest registers for optimization</a:t>
            </a:r>
          </a:p>
          <a:p>
            <a:pPr lvl="1"/>
            <a:r>
              <a:rPr lang="en-US" sz="2000" dirty="0"/>
              <a:t>Example </a:t>
            </a:r>
          </a:p>
          <a:p>
            <a:pPr lvl="2"/>
            <a:r>
              <a:rPr lang="en-US" sz="1800" dirty="0"/>
              <a:t>Translating RISC binary to x86</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24</a:t>
            </a:fld>
            <a:endParaRPr lang="zh-TW" altLang="en-US"/>
          </a:p>
        </p:txBody>
      </p:sp>
    </p:spTree>
    <p:extLst>
      <p:ext uri="{BB962C8B-B14F-4D97-AF65-F5344CB8AC3E}">
        <p14:creationId xmlns:p14="http://schemas.microsoft.com/office/powerpoint/2010/main" val="3745932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6211" y="79474"/>
            <a:ext cx="7819479" cy="519113"/>
          </a:xfrm>
        </p:spPr>
        <p:txBody>
          <a:bodyPr/>
          <a:lstStyle/>
          <a:p>
            <a:r>
              <a:rPr lang="en-US" dirty="0"/>
              <a:t>Register Mapping Problem (3)</a:t>
            </a:r>
          </a:p>
        </p:txBody>
      </p:sp>
      <p:sp>
        <p:nvSpPr>
          <p:cNvPr id="3" name="Content Placeholder 2"/>
          <p:cNvSpPr>
            <a:spLocks noGrp="1"/>
          </p:cNvSpPr>
          <p:nvPr>
            <p:ph idx="1"/>
          </p:nvPr>
        </p:nvSpPr>
        <p:spPr>
          <a:xfrm>
            <a:off x="964275" y="826855"/>
            <a:ext cx="7124007" cy="2049347"/>
          </a:xfrm>
        </p:spPr>
        <p:txBody>
          <a:bodyPr/>
          <a:lstStyle/>
          <a:p>
            <a:r>
              <a:rPr lang="en-US" sz="2400" dirty="0"/>
              <a:t>If number of host registers is not enough</a:t>
            </a:r>
          </a:p>
          <a:p>
            <a:pPr lvl="1"/>
            <a:r>
              <a:rPr lang="en-US" sz="2000" dirty="0"/>
              <a:t>That should involve more effort.</a:t>
            </a:r>
          </a:p>
          <a:p>
            <a:pPr lvl="1"/>
            <a:r>
              <a:rPr lang="en-US" sz="2000" dirty="0"/>
              <a:t>Emulator may only map some frequently used guest registers to host, and left the unmapped registers in memory.</a:t>
            </a:r>
          </a:p>
          <a:p>
            <a:pPr lvl="1"/>
            <a:r>
              <a:rPr lang="en-US" sz="2000" dirty="0"/>
              <a:t>Mapping decision will be critical in this case.</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25</a:t>
            </a:fld>
            <a:endParaRPr lang="zh-TW" altLang="en-US"/>
          </a:p>
        </p:txBody>
      </p:sp>
    </p:spTree>
    <p:extLst>
      <p:ext uri="{BB962C8B-B14F-4D97-AF65-F5344CB8AC3E}">
        <p14:creationId xmlns:p14="http://schemas.microsoft.com/office/powerpoint/2010/main" val="22465321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79474"/>
            <a:ext cx="7794541" cy="519113"/>
          </a:xfrm>
        </p:spPr>
        <p:txBody>
          <a:bodyPr/>
          <a:lstStyle/>
          <a:p>
            <a:r>
              <a:rPr lang="en-US" dirty="0"/>
              <a:t>Performance Improvement</a:t>
            </a:r>
          </a:p>
        </p:txBody>
      </p:sp>
      <p:sp>
        <p:nvSpPr>
          <p:cNvPr id="3" name="Content Placeholder 2"/>
          <p:cNvSpPr>
            <a:spLocks noGrp="1"/>
          </p:cNvSpPr>
          <p:nvPr>
            <p:ph idx="1"/>
          </p:nvPr>
        </p:nvSpPr>
        <p:spPr>
          <a:xfrm>
            <a:off x="892258" y="844153"/>
            <a:ext cx="7536847" cy="3671888"/>
          </a:xfrm>
        </p:spPr>
        <p:txBody>
          <a:bodyPr/>
          <a:lstStyle/>
          <a:p>
            <a:r>
              <a:rPr lang="en-US" sz="2400" dirty="0"/>
              <a:t>What introduces the performance hit ?</a:t>
            </a:r>
          </a:p>
          <a:p>
            <a:pPr lvl="1"/>
            <a:r>
              <a:rPr lang="en-US" sz="2000" dirty="0"/>
              <a:t>Control flow problem</a:t>
            </a:r>
          </a:p>
          <a:p>
            <a:pPr lvl="2"/>
            <a:r>
              <a:rPr lang="en-US" sz="1800" dirty="0">
                <a:latin typeface="Times New Roman" panose="02020603050405020304" pitchFamily="18" charset="0"/>
                <a:cs typeface="Times New Roman" panose="02020603050405020304" pitchFamily="18" charset="0"/>
              </a:rPr>
              <a:t>Highly frequent context switches between code caches and emulation manager will degrade performance.</a:t>
            </a:r>
          </a:p>
          <a:p>
            <a:pPr lvl="1"/>
            <a:r>
              <a:rPr lang="en-US" sz="2000" dirty="0"/>
              <a:t>Target code optimization</a:t>
            </a:r>
          </a:p>
          <a:p>
            <a:pPr lvl="2"/>
            <a:r>
              <a:rPr lang="en-US" sz="1800" dirty="0">
                <a:latin typeface="Times New Roman" panose="02020603050405020304" pitchFamily="18" charset="0"/>
                <a:cs typeface="Times New Roman" panose="02020603050405020304" pitchFamily="18" charset="0"/>
              </a:rPr>
              <a:t>Translate guest code block in instruction-wise (translate one instruction at a time) will miss many optimization opportunities.</a:t>
            </a:r>
          </a:p>
          <a:p>
            <a:r>
              <a:rPr lang="en-US" sz="2400" dirty="0"/>
              <a:t>Solutions </a:t>
            </a:r>
          </a:p>
          <a:p>
            <a:pPr lvl="1"/>
            <a:r>
              <a:rPr lang="en-US" sz="2000" dirty="0"/>
              <a:t>Translation Chaining</a:t>
            </a:r>
          </a:p>
          <a:p>
            <a:pPr lvl="1"/>
            <a:r>
              <a:rPr lang="en-US" sz="2000" dirty="0"/>
              <a:t>Dynamic Optimization</a:t>
            </a:r>
          </a:p>
        </p:txBody>
      </p:sp>
      <p:sp>
        <p:nvSpPr>
          <p:cNvPr id="4" name="灯片编号占位符 1">
            <a:extLst>
              <a:ext uri="{FF2B5EF4-FFF2-40B4-BE49-F238E27FC236}">
                <a16:creationId xmlns:a16="http://schemas.microsoft.com/office/drawing/2014/main" id="{014A37A2-720B-106A-0143-D71077A5DB0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26</a:t>
            </a:fld>
            <a:endParaRPr lang="zh-TW" altLang="en-US"/>
          </a:p>
        </p:txBody>
      </p:sp>
    </p:spTree>
    <p:extLst>
      <p:ext uri="{BB962C8B-B14F-4D97-AF65-F5344CB8AC3E}">
        <p14:creationId xmlns:p14="http://schemas.microsoft.com/office/powerpoint/2010/main" val="41820856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9338" y="79474"/>
            <a:ext cx="7736352" cy="519113"/>
          </a:xfrm>
        </p:spPr>
        <p:txBody>
          <a:bodyPr/>
          <a:lstStyle/>
          <a:p>
            <a:r>
              <a:rPr lang="en-US" dirty="0"/>
              <a:t>Translation Chaining (1)</a:t>
            </a:r>
          </a:p>
        </p:txBody>
      </p:sp>
      <p:pic>
        <p:nvPicPr>
          <p:cNvPr id="6146" name="Picture 2"/>
          <p:cNvPicPr>
            <a:picLocks noGrp="1" noChangeAspect="1" noChangeArrowheads="1"/>
          </p:cNvPicPr>
          <p:nvPr>
            <p:ph idx="1"/>
          </p:nvPr>
        </p:nvPicPr>
        <p:blipFill>
          <a:blip r:embed="rId2" cstate="print"/>
          <a:srcRect/>
          <a:stretch>
            <a:fillRect/>
          </a:stretch>
        </p:blipFill>
        <p:spPr bwMode="auto">
          <a:xfrm>
            <a:off x="2767574" y="1440821"/>
            <a:ext cx="3746568" cy="3133898"/>
          </a:xfrm>
          <a:prstGeom prst="rect">
            <a:avLst/>
          </a:prstGeom>
          <a:noFill/>
          <a:ln w="9525">
            <a:noFill/>
            <a:miter lim="800000"/>
            <a:headEnd/>
            <a:tailEnd/>
          </a:ln>
          <a:effectLst/>
        </p:spPr>
      </p:pic>
      <p:sp>
        <p:nvSpPr>
          <p:cNvPr id="5" name="Content Placeholder 2"/>
          <p:cNvSpPr txBox="1">
            <a:spLocks/>
          </p:cNvSpPr>
          <p:nvPr/>
        </p:nvSpPr>
        <p:spPr>
          <a:xfrm>
            <a:off x="359804" y="839792"/>
            <a:ext cx="8562108" cy="388698"/>
          </a:xfrm>
          <a:prstGeom prst="rect">
            <a:avLst/>
          </a:prstGeom>
        </p:spPr>
        <p:txBody>
          <a:bodyPr vert="horz" lIns="68580" tIns="34290" rIns="68580" bIns="34290" rtlCol="0">
            <a:noAutofit/>
          </a:bodyPr>
          <a:lstStyle/>
          <a:p>
            <a:pPr marL="285750" indent="-285750" defTabSz="685800">
              <a:spcBef>
                <a:spcPct val="20000"/>
              </a:spcBef>
              <a:buClr>
                <a:srgbClr val="0000FF"/>
              </a:buClr>
              <a:buFont typeface="Wingdings" panose="05000000000000000000" pitchFamily="2" charset="2"/>
              <a:buChar char="l"/>
              <a:defRPr/>
            </a:pPr>
            <a:r>
              <a:rPr lang="en-US" sz="2000" dirty="0">
                <a:solidFill>
                  <a:schemeClr val="tx2">
                    <a:lumMod val="75000"/>
                  </a:schemeClr>
                </a:solidFill>
                <a:latin typeface="Times New Roman" panose="02020603050405020304" pitchFamily="18" charset="0"/>
                <a:cs typeface="Times New Roman" panose="02020603050405020304" pitchFamily="18" charset="0"/>
              </a:rPr>
              <a:t>Non-optimized control flow between translated blocks and emulation manager</a:t>
            </a:r>
          </a:p>
        </p:txBody>
      </p:sp>
      <p:sp>
        <p:nvSpPr>
          <p:cNvPr id="6" name="Oval 5"/>
          <p:cNvSpPr/>
          <p:nvPr/>
        </p:nvSpPr>
        <p:spPr>
          <a:xfrm>
            <a:off x="3890634" y="1579418"/>
            <a:ext cx="531737" cy="2744360"/>
          </a:xfrm>
          <a:prstGeom prst="ellipse">
            <a:avLst/>
          </a:prstGeom>
          <a:noFill/>
          <a:ln w="57150"/>
          <a:effectLst>
            <a:glow rad="63500">
              <a:schemeClr val="accent6">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350"/>
          </a:p>
        </p:txBody>
      </p:sp>
      <p:sp>
        <p:nvSpPr>
          <p:cNvPr id="7" name="Rectangle 6"/>
          <p:cNvSpPr/>
          <p:nvPr/>
        </p:nvSpPr>
        <p:spPr>
          <a:xfrm>
            <a:off x="1445576" y="3977529"/>
            <a:ext cx="2062104" cy="346249"/>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Context Switches</a:t>
            </a:r>
          </a:p>
        </p:txBody>
      </p:sp>
      <p:sp>
        <p:nvSpPr>
          <p:cNvPr id="3" name="灯片编号占位符 1">
            <a:extLst>
              <a:ext uri="{FF2B5EF4-FFF2-40B4-BE49-F238E27FC236}">
                <a16:creationId xmlns:a16="http://schemas.microsoft.com/office/drawing/2014/main" id="{541F71B0-056F-F3F9-3C04-0889D752B85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27</a:t>
            </a:fld>
            <a:endParaRPr lang="zh-TW" altLang="en-US"/>
          </a:p>
        </p:txBody>
      </p:sp>
    </p:spTree>
    <p:extLst>
      <p:ext uri="{BB962C8B-B14F-4D97-AF65-F5344CB8AC3E}">
        <p14:creationId xmlns:p14="http://schemas.microsoft.com/office/powerpoint/2010/main" val="1192866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7398" y="79474"/>
            <a:ext cx="7838292" cy="519113"/>
          </a:xfrm>
        </p:spPr>
        <p:txBody>
          <a:bodyPr/>
          <a:lstStyle/>
          <a:p>
            <a:r>
              <a:rPr lang="en-US" dirty="0"/>
              <a:t>Translation Chaining (2)</a:t>
            </a:r>
          </a:p>
        </p:txBody>
      </p:sp>
      <p:sp>
        <p:nvSpPr>
          <p:cNvPr id="3" name="Content Placeholder 2"/>
          <p:cNvSpPr>
            <a:spLocks noGrp="1"/>
          </p:cNvSpPr>
          <p:nvPr>
            <p:ph idx="1"/>
          </p:nvPr>
        </p:nvSpPr>
        <p:spPr>
          <a:xfrm>
            <a:off x="906087" y="776202"/>
            <a:ext cx="7769603" cy="686838"/>
          </a:xfrm>
        </p:spPr>
        <p:txBody>
          <a:bodyPr/>
          <a:lstStyle/>
          <a:p>
            <a:r>
              <a:rPr lang="en-US" sz="2000" dirty="0">
                <a:latin typeface="Times New Roman" panose="02020603050405020304" pitchFamily="18" charset="0"/>
                <a:cs typeface="Times New Roman" panose="02020603050405020304" pitchFamily="18" charset="0"/>
              </a:rPr>
              <a:t>Jump from one translation directly to next, which avoid switching back to emulation manager.</a:t>
            </a:r>
          </a:p>
        </p:txBody>
      </p:sp>
      <p:pic>
        <p:nvPicPr>
          <p:cNvPr id="7170" name="Picture 2"/>
          <p:cNvPicPr>
            <a:picLocks noChangeAspect="1" noChangeArrowheads="1"/>
          </p:cNvPicPr>
          <p:nvPr/>
        </p:nvPicPr>
        <p:blipFill>
          <a:blip r:embed="rId2" cstate="print"/>
          <a:srcRect/>
          <a:stretch>
            <a:fillRect/>
          </a:stretch>
        </p:blipFill>
        <p:spPr bwMode="auto">
          <a:xfrm>
            <a:off x="2301963" y="1327102"/>
            <a:ext cx="3949208" cy="3303067"/>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E1DE0A22-8EBE-75FE-D441-31F0C6DC2689}"/>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28</a:t>
            </a:fld>
            <a:endParaRPr lang="zh-TW" altLang="en-US"/>
          </a:p>
        </p:txBody>
      </p:sp>
    </p:spTree>
    <p:extLst>
      <p:ext uri="{BB962C8B-B14F-4D97-AF65-F5344CB8AC3E}">
        <p14:creationId xmlns:p14="http://schemas.microsoft.com/office/powerpoint/2010/main" val="12820634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588" y="79474"/>
            <a:ext cx="7703102" cy="519113"/>
          </a:xfrm>
        </p:spPr>
        <p:txBody>
          <a:bodyPr/>
          <a:lstStyle/>
          <a:p>
            <a:r>
              <a:rPr lang="en-US" dirty="0"/>
              <a:t>Dynamic Optimization (1)</a:t>
            </a:r>
          </a:p>
        </p:txBody>
      </p:sp>
      <p:sp>
        <p:nvSpPr>
          <p:cNvPr id="3" name="Content Placeholder 2"/>
          <p:cNvSpPr>
            <a:spLocks noGrp="1"/>
          </p:cNvSpPr>
          <p:nvPr>
            <p:ph idx="1"/>
          </p:nvPr>
        </p:nvSpPr>
        <p:spPr>
          <a:xfrm>
            <a:off x="972588" y="822960"/>
            <a:ext cx="7198823" cy="3075710"/>
          </a:xfrm>
        </p:spPr>
        <p:txBody>
          <a:bodyPr>
            <a:noAutofit/>
          </a:bodyPr>
          <a:lstStyle/>
          <a:p>
            <a:r>
              <a:rPr lang="en-US" sz="2400" dirty="0">
                <a:latin typeface="Times New Roman" panose="02020603050405020304" pitchFamily="18" charset="0"/>
                <a:cs typeface="Times New Roman" panose="02020603050405020304" pitchFamily="18" charset="0"/>
              </a:rPr>
              <a:t>How to optimize binary codes ?</a:t>
            </a:r>
          </a:p>
          <a:p>
            <a:pPr lvl="1"/>
            <a:r>
              <a:rPr lang="en-US" sz="2200" dirty="0">
                <a:latin typeface="Times New Roman" panose="02020603050405020304" pitchFamily="18" charset="0"/>
                <a:cs typeface="Times New Roman" panose="02020603050405020304" pitchFamily="18" charset="0"/>
              </a:rPr>
              <a:t>Static optimization (compiling time optimization)</a:t>
            </a:r>
          </a:p>
          <a:p>
            <a:pPr lvl="2"/>
            <a:r>
              <a:rPr lang="en-US" dirty="0">
                <a:latin typeface="Times New Roman" panose="02020603050405020304" pitchFamily="18" charset="0"/>
                <a:cs typeface="Times New Roman" panose="02020603050405020304" pitchFamily="18" charset="0"/>
              </a:rPr>
              <a:t>Optimization techniques apply to generate binary code base on the </a:t>
            </a:r>
            <a:r>
              <a:rPr lang="en-US" altLang="zh-TW" dirty="0">
                <a:latin typeface="Times New Roman" panose="02020603050405020304" pitchFamily="18" charset="0"/>
                <a:ea typeface="新細明體" charset="-120"/>
                <a:cs typeface="Times New Roman" panose="02020603050405020304" pitchFamily="18" charset="0"/>
              </a:rPr>
              <a:t>semantic </a:t>
            </a:r>
            <a:r>
              <a:rPr lang="en-US" dirty="0">
                <a:latin typeface="Times New Roman" panose="02020603050405020304" pitchFamily="18" charset="0"/>
                <a:cs typeface="Times New Roman" panose="02020603050405020304" pitchFamily="18" charset="0"/>
              </a:rPr>
              <a:t>information in source code.</a:t>
            </a:r>
          </a:p>
          <a:p>
            <a:pPr lvl="1"/>
            <a:r>
              <a:rPr lang="en-US" sz="2200" dirty="0">
                <a:latin typeface="Times New Roman" panose="02020603050405020304" pitchFamily="18" charset="0"/>
                <a:cs typeface="Times New Roman" panose="02020603050405020304" pitchFamily="18" charset="0"/>
              </a:rPr>
              <a:t>Dynamic optimization (run time optimization)</a:t>
            </a:r>
          </a:p>
          <a:p>
            <a:pPr lvl="2"/>
            <a:r>
              <a:rPr lang="en-US" dirty="0">
                <a:latin typeface="Times New Roman" panose="02020603050405020304" pitchFamily="18" charset="0"/>
                <a:cs typeface="Times New Roman" panose="02020603050405020304" pitchFamily="18" charset="0"/>
              </a:rPr>
              <a:t>Optimization techniques apply to generated binary code base on the run time information which relate to program input data.</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29</a:t>
            </a:fld>
            <a:endParaRPr lang="zh-TW" altLang="en-US"/>
          </a:p>
        </p:txBody>
      </p:sp>
    </p:spTree>
    <p:extLst>
      <p:ext uri="{BB962C8B-B14F-4D97-AF65-F5344CB8AC3E}">
        <p14:creationId xmlns:p14="http://schemas.microsoft.com/office/powerpoint/2010/main" val="18034973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152" y="79474"/>
            <a:ext cx="7703538" cy="519113"/>
          </a:xfrm>
        </p:spPr>
        <p:txBody>
          <a:bodyPr/>
          <a:lstStyle/>
          <a:p>
            <a:r>
              <a:rPr lang="en-US" dirty="0"/>
              <a:t>Dynamic Optimization (2)</a:t>
            </a:r>
          </a:p>
        </p:txBody>
      </p:sp>
      <p:sp>
        <p:nvSpPr>
          <p:cNvPr id="3" name="Content Placeholder 2"/>
          <p:cNvSpPr>
            <a:spLocks noGrp="1"/>
          </p:cNvSpPr>
          <p:nvPr>
            <p:ph idx="1"/>
          </p:nvPr>
        </p:nvSpPr>
        <p:spPr>
          <a:xfrm>
            <a:off x="897774" y="822962"/>
            <a:ext cx="7223761" cy="2128059"/>
          </a:xfrm>
        </p:spPr>
        <p:txBody>
          <a:bodyPr>
            <a:noAutofit/>
          </a:bodyPr>
          <a:lstStyle/>
          <a:p>
            <a:r>
              <a:rPr lang="en-US" sz="2400" dirty="0">
                <a:latin typeface="Times New Roman" panose="02020603050405020304" pitchFamily="18" charset="0"/>
                <a:cs typeface="Times New Roman" panose="02020603050405020304" pitchFamily="18" charset="0"/>
              </a:rPr>
              <a:t>Why we use dynamic optimization technique ?</a:t>
            </a:r>
          </a:p>
          <a:p>
            <a:pPr lvl="1"/>
            <a:r>
              <a:rPr lang="en-US" sz="2200" dirty="0">
                <a:latin typeface="Times New Roman" panose="02020603050405020304" pitchFamily="18" charset="0"/>
                <a:cs typeface="Times New Roman" panose="02020603050405020304" pitchFamily="18" charset="0"/>
              </a:rPr>
              <a:t>Advantages </a:t>
            </a:r>
          </a:p>
          <a:p>
            <a:pPr lvl="2"/>
            <a:r>
              <a:rPr lang="en-US" dirty="0">
                <a:latin typeface="Times New Roman" panose="02020603050405020304" pitchFamily="18" charset="0"/>
                <a:cs typeface="Times New Roman" panose="02020603050405020304" pitchFamily="18" charset="0"/>
              </a:rPr>
              <a:t>It  can benefit from dynamic profiling.</a:t>
            </a:r>
          </a:p>
          <a:p>
            <a:pPr lvl="2"/>
            <a:r>
              <a:rPr lang="en-US" dirty="0">
                <a:latin typeface="Times New Roman" panose="02020603050405020304" pitchFamily="18" charset="0"/>
                <a:cs typeface="Times New Roman" panose="02020603050405020304" pitchFamily="18" charset="0"/>
              </a:rPr>
              <a:t>It is not constrained by a compilation unit.</a:t>
            </a:r>
          </a:p>
          <a:p>
            <a:pPr lvl="2"/>
            <a:r>
              <a:rPr lang="en-US" dirty="0">
                <a:latin typeface="Times New Roman" panose="02020603050405020304" pitchFamily="18" charset="0"/>
                <a:cs typeface="Times New Roman" panose="02020603050405020304" pitchFamily="18" charset="0"/>
              </a:rPr>
              <a:t>It  knows the exact execution environment.</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30</a:t>
            </a:fld>
            <a:endParaRPr lang="zh-TW" altLang="en-US"/>
          </a:p>
        </p:txBody>
      </p:sp>
    </p:spTree>
    <p:extLst>
      <p:ext uri="{BB962C8B-B14F-4D97-AF65-F5344CB8AC3E}">
        <p14:creationId xmlns:p14="http://schemas.microsoft.com/office/powerpoint/2010/main" val="9712387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(3)</a:t>
            </a:r>
          </a:p>
        </p:txBody>
      </p:sp>
      <p:sp>
        <p:nvSpPr>
          <p:cNvPr id="3" name="Content Placeholder 2"/>
          <p:cNvSpPr>
            <a:spLocks noGrp="1"/>
          </p:cNvSpPr>
          <p:nvPr>
            <p:ph idx="1"/>
          </p:nvPr>
        </p:nvSpPr>
        <p:spPr>
          <a:xfrm>
            <a:off x="914400" y="844153"/>
            <a:ext cx="7456516" cy="3254022"/>
          </a:xfrm>
        </p:spPr>
        <p:txBody>
          <a:bodyPr/>
          <a:lstStyle/>
          <a:p>
            <a:r>
              <a:rPr lang="en-US" dirty="0">
                <a:latin typeface="Times New Roman" panose="02020603050405020304" pitchFamily="18" charset="0"/>
                <a:cs typeface="Times New Roman" panose="02020603050405020304" pitchFamily="18" charset="0"/>
              </a:rPr>
              <a:t>How to implement dynamic optimization </a:t>
            </a:r>
          </a:p>
          <a:p>
            <a:pPr lvl="1"/>
            <a:r>
              <a:rPr lang="en-US" sz="2000" dirty="0">
                <a:latin typeface="Times New Roman" panose="02020603050405020304" pitchFamily="18" charset="0"/>
                <a:cs typeface="Times New Roman" panose="02020603050405020304" pitchFamily="18" charset="0"/>
              </a:rPr>
              <a:t>Analysis program behavior in run time</a:t>
            </a:r>
          </a:p>
          <a:p>
            <a:pPr lvl="1"/>
            <a:r>
              <a:rPr lang="en-US" sz="2000" dirty="0">
                <a:latin typeface="Times New Roman" panose="02020603050405020304" pitchFamily="18" charset="0"/>
                <a:cs typeface="Times New Roman" panose="02020603050405020304" pitchFamily="18" charset="0"/>
              </a:rPr>
              <a:t>Collect run time profiling information based on the input data and host hardware characteristics</a:t>
            </a:r>
          </a:p>
          <a:p>
            <a:pPr lvl="1"/>
            <a:r>
              <a:rPr lang="en-US" sz="2000" dirty="0">
                <a:latin typeface="Times New Roman" panose="02020603050405020304" pitchFamily="18" charset="0"/>
                <a:cs typeface="Times New Roman" panose="02020603050405020304" pitchFamily="18" charset="0"/>
              </a:rPr>
              <a:t>Dynamically translate or modify the binary code by reordering instructions or other techniques</a:t>
            </a:r>
          </a:p>
          <a:p>
            <a:pPr lvl="1"/>
            <a:r>
              <a:rPr lang="en-US" sz="2000" dirty="0">
                <a:latin typeface="Times New Roman" panose="02020603050405020304" pitchFamily="18" charset="0"/>
                <a:cs typeface="Times New Roman" panose="02020603050405020304" pitchFamily="18" charset="0"/>
              </a:rPr>
              <a:t>Write back the optimized binary into code cache for next execution</a:t>
            </a:r>
          </a:p>
        </p:txBody>
      </p:sp>
      <p:sp>
        <p:nvSpPr>
          <p:cNvPr id="4" name="灯片编号占位符 1">
            <a:extLst>
              <a:ext uri="{FF2B5EF4-FFF2-40B4-BE49-F238E27FC236}">
                <a16:creationId xmlns:a16="http://schemas.microsoft.com/office/drawing/2014/main" id="{B6D35298-7189-589F-E56F-749EAC4913C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31</a:t>
            </a:fld>
            <a:endParaRPr lang="zh-TW" altLang="en-US"/>
          </a:p>
        </p:txBody>
      </p:sp>
    </p:spTree>
    <p:extLst>
      <p:ext uri="{BB962C8B-B14F-4D97-AF65-F5344CB8AC3E}">
        <p14:creationId xmlns:p14="http://schemas.microsoft.com/office/powerpoint/2010/main" val="17117238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(4)</a:t>
            </a:r>
          </a:p>
        </p:txBody>
      </p:sp>
      <p:sp>
        <p:nvSpPr>
          <p:cNvPr id="3" name="Content Placeholder 2"/>
          <p:cNvSpPr>
            <a:spLocks noGrp="1"/>
          </p:cNvSpPr>
          <p:nvPr>
            <p:ph idx="1"/>
          </p:nvPr>
        </p:nvSpPr>
        <p:spPr>
          <a:xfrm>
            <a:off x="914400" y="844153"/>
            <a:ext cx="7534128" cy="3671888"/>
          </a:xfrm>
        </p:spPr>
        <p:txBody>
          <a:bodyPr/>
          <a:lstStyle/>
          <a:p>
            <a:r>
              <a:rPr lang="en-US" sz="2200" dirty="0">
                <a:latin typeface="Times New Roman" panose="02020603050405020304" pitchFamily="18" charset="0"/>
                <a:cs typeface="Times New Roman" panose="02020603050405020304" pitchFamily="18" charset="0"/>
              </a:rPr>
              <a:t>How to analyze program behavior and profile </a:t>
            </a:r>
          </a:p>
          <a:p>
            <a:pPr lvl="1"/>
            <a:r>
              <a:rPr lang="en-US" sz="2000" dirty="0">
                <a:latin typeface="Times New Roman" panose="02020603050405020304" pitchFamily="18" charset="0"/>
                <a:cs typeface="Times New Roman" panose="02020603050405020304" pitchFamily="18" charset="0"/>
              </a:rPr>
              <a:t>Collect statistics about a program as it runs</a:t>
            </a:r>
          </a:p>
          <a:p>
            <a:pPr lvl="2"/>
            <a:r>
              <a:rPr lang="en-US" sz="1800" dirty="0">
                <a:latin typeface="Times New Roman" panose="02020603050405020304" pitchFamily="18" charset="0"/>
                <a:cs typeface="Times New Roman" panose="02020603050405020304" pitchFamily="18" charset="0"/>
              </a:rPr>
              <a:t>Branches (taken, not taken)</a:t>
            </a:r>
          </a:p>
          <a:p>
            <a:pPr lvl="2"/>
            <a:r>
              <a:rPr lang="en-US" sz="1800" dirty="0">
                <a:latin typeface="Times New Roman" panose="02020603050405020304" pitchFamily="18" charset="0"/>
                <a:cs typeface="Times New Roman" panose="02020603050405020304" pitchFamily="18" charset="0"/>
              </a:rPr>
              <a:t>Jump targets</a:t>
            </a:r>
          </a:p>
          <a:p>
            <a:pPr lvl="2"/>
            <a:r>
              <a:rPr lang="en-US" sz="1800" dirty="0">
                <a:latin typeface="Times New Roman" panose="02020603050405020304" pitchFamily="18" charset="0"/>
                <a:cs typeface="Times New Roman" panose="02020603050405020304" pitchFamily="18" charset="0"/>
              </a:rPr>
              <a:t>Data values</a:t>
            </a:r>
          </a:p>
          <a:p>
            <a:pPr lvl="2"/>
            <a:r>
              <a:rPr lang="en-US" sz="1800" dirty="0">
                <a:latin typeface="Times New Roman" panose="02020603050405020304" pitchFamily="18" charset="0"/>
                <a:cs typeface="Times New Roman" panose="02020603050405020304" pitchFamily="18" charset="0"/>
              </a:rPr>
              <a:t>Cache misses</a:t>
            </a:r>
          </a:p>
          <a:p>
            <a:pPr lvl="1"/>
            <a:r>
              <a:rPr lang="en-US" sz="2000" dirty="0">
                <a:latin typeface="Times New Roman" panose="02020603050405020304" pitchFamily="18" charset="0"/>
                <a:cs typeface="Times New Roman" panose="02020603050405020304" pitchFamily="18" charset="0"/>
              </a:rPr>
              <a:t>Predictability allows these statistics to be used for optimizations to be used in the future</a:t>
            </a:r>
          </a:p>
          <a:p>
            <a:r>
              <a:rPr lang="en-US" sz="2200" dirty="0">
                <a:latin typeface="Times New Roman" panose="02020603050405020304" pitchFamily="18" charset="0"/>
                <a:cs typeface="Times New Roman" panose="02020603050405020304" pitchFamily="18" charset="0"/>
              </a:rPr>
              <a:t>Profiling in a VM differs from traditional profiling used for compiler feedback</a:t>
            </a:r>
          </a:p>
        </p:txBody>
      </p:sp>
      <p:sp>
        <p:nvSpPr>
          <p:cNvPr id="4" name="灯片编号占位符 1">
            <a:extLst>
              <a:ext uri="{FF2B5EF4-FFF2-40B4-BE49-F238E27FC236}">
                <a16:creationId xmlns:a16="http://schemas.microsoft.com/office/drawing/2014/main" id="{16CF1445-948B-54AE-14ED-A48B1253902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32</a:t>
            </a:fld>
            <a:endParaRPr lang="zh-TW" altLang="en-US"/>
          </a:p>
        </p:txBody>
      </p:sp>
    </p:spTree>
    <p:extLst>
      <p:ext uri="{BB962C8B-B14F-4D97-AF65-F5344CB8AC3E}">
        <p14:creationId xmlns:p14="http://schemas.microsoft.com/office/powerpoint/2010/main" val="267145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087" y="79474"/>
            <a:ext cx="7769603" cy="519113"/>
          </a:xfrm>
        </p:spPr>
        <p:txBody>
          <a:bodyPr/>
          <a:lstStyle/>
          <a:p>
            <a:r>
              <a:rPr lang="en-US" dirty="0"/>
              <a:t>Dynamic Optimization (5)</a:t>
            </a:r>
          </a:p>
        </p:txBody>
      </p:sp>
      <p:pic>
        <p:nvPicPr>
          <p:cNvPr id="8194" name="Picture 2"/>
          <p:cNvPicPr>
            <a:picLocks noGrp="1" noChangeAspect="1" noChangeArrowheads="1"/>
          </p:cNvPicPr>
          <p:nvPr>
            <p:ph idx="1"/>
          </p:nvPr>
        </p:nvPicPr>
        <p:blipFill>
          <a:blip r:embed="rId2" cstate="print"/>
          <a:srcRect/>
          <a:stretch>
            <a:fillRect/>
          </a:stretch>
        </p:blipFill>
        <p:spPr bwMode="auto">
          <a:xfrm>
            <a:off x="2000250" y="1379017"/>
            <a:ext cx="5143500" cy="3210652"/>
          </a:xfrm>
          <a:prstGeom prst="rect">
            <a:avLst/>
          </a:prstGeom>
          <a:noFill/>
          <a:ln w="9525">
            <a:noFill/>
            <a:miter lim="800000"/>
            <a:headEnd/>
            <a:tailEnd/>
          </a:ln>
          <a:effectLst/>
        </p:spPr>
      </p:pic>
      <p:sp>
        <p:nvSpPr>
          <p:cNvPr id="5" name="Content Placeholder 2"/>
          <p:cNvSpPr txBox="1">
            <a:spLocks/>
          </p:cNvSpPr>
          <p:nvPr/>
        </p:nvSpPr>
        <p:spPr>
          <a:xfrm>
            <a:off x="820653" y="834249"/>
            <a:ext cx="6172200" cy="457200"/>
          </a:xfrm>
          <a:prstGeom prst="rect">
            <a:avLst/>
          </a:prstGeom>
        </p:spPr>
        <p:txBody>
          <a:bodyPr vert="horz" lIns="68580" tIns="34290" rIns="68580" bIns="34290" rtlCol="0">
            <a:normAutofit/>
          </a:bodyPr>
          <a:lstStyle/>
          <a:p>
            <a:pPr marL="342900" indent="-342900" defTabSz="685800">
              <a:spcBef>
                <a:spcPct val="20000"/>
              </a:spcBef>
              <a:buClr>
                <a:srgbClr val="0000FF"/>
              </a:buClr>
              <a:buFont typeface="Wingdings" panose="05000000000000000000" pitchFamily="2" charset="2"/>
              <a:buChar char="l"/>
              <a:defRPr/>
            </a:pPr>
            <a:r>
              <a:rPr lang="en-US" sz="2400" dirty="0">
                <a:latin typeface="Times New Roman" panose="02020603050405020304" pitchFamily="18" charset="0"/>
                <a:cs typeface="Times New Roman" panose="02020603050405020304" pitchFamily="18" charset="0"/>
              </a:rPr>
              <a:t>Dynamic binary translation and optimization </a:t>
            </a:r>
          </a:p>
        </p:txBody>
      </p:sp>
      <p:pic>
        <p:nvPicPr>
          <p:cNvPr id="1026" name="Picture 2"/>
          <p:cNvPicPr>
            <a:picLocks noChangeAspect="1" noChangeArrowheads="1"/>
          </p:cNvPicPr>
          <p:nvPr/>
        </p:nvPicPr>
        <p:blipFill>
          <a:blip r:embed="rId3" cstate="print"/>
          <a:srcRect/>
          <a:stretch>
            <a:fillRect/>
          </a:stretch>
        </p:blipFill>
        <p:spPr bwMode="auto">
          <a:xfrm>
            <a:off x="2000250" y="2163262"/>
            <a:ext cx="5143500" cy="2426406"/>
          </a:xfrm>
          <a:prstGeom prst="rect">
            <a:avLst/>
          </a:prstGeom>
          <a:noFill/>
          <a:ln w="9525">
            <a:noFill/>
            <a:miter lim="800000"/>
            <a:headEnd/>
            <a:tailEnd/>
          </a:ln>
          <a:effectLst/>
        </p:spPr>
      </p:pic>
      <p:sp>
        <p:nvSpPr>
          <p:cNvPr id="3" name="灯片编号占位符 1">
            <a:extLst>
              <a:ext uri="{FF2B5EF4-FFF2-40B4-BE49-F238E27FC236}">
                <a16:creationId xmlns:a16="http://schemas.microsoft.com/office/drawing/2014/main" id="{5AC044BA-2BC9-003C-9CCC-61FC91EF52A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33</a:t>
            </a:fld>
            <a:endParaRPr lang="zh-TW" altLang="en-US"/>
          </a:p>
        </p:txBody>
      </p:sp>
    </p:spTree>
    <p:extLst>
      <p:ext uri="{BB962C8B-B14F-4D97-AF65-F5344CB8AC3E}">
        <p14:creationId xmlns:p14="http://schemas.microsoft.com/office/powerpoint/2010/main" val="3823686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4"/>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0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VIRTUALIZATION</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3517009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77933" y="34326"/>
            <a:ext cx="6172200" cy="651272"/>
          </a:xfrm>
        </p:spPr>
        <p:txBody>
          <a:bodyPr/>
          <a:lstStyle/>
          <a:p>
            <a:r>
              <a:rPr kumimoji="1" lang="en-US" altLang="zh-TW" dirty="0"/>
              <a:t>System Virtual Machine</a:t>
            </a:r>
            <a:endParaRPr kumimoji="1" lang="zh-TW" altLang="en-US" dirty="0"/>
          </a:p>
        </p:txBody>
      </p:sp>
      <p:sp>
        <p:nvSpPr>
          <p:cNvPr id="4" name="內容版面配置區 3"/>
          <p:cNvSpPr>
            <a:spLocks noGrp="1"/>
          </p:cNvSpPr>
          <p:nvPr>
            <p:ph sz="half" idx="1"/>
          </p:nvPr>
        </p:nvSpPr>
        <p:spPr>
          <a:xfrm>
            <a:off x="1061269" y="801097"/>
            <a:ext cx="7550716" cy="3829050"/>
          </a:xfrm>
        </p:spPr>
        <p:txBody>
          <a:bodyPr>
            <a:noAutofit/>
          </a:bodyPr>
          <a:lstStyle/>
          <a:p>
            <a:r>
              <a:rPr lang="en-US" altLang="zh-TW" sz="2000" dirty="0">
                <a:latin typeface="Times New Roman" panose="02020603050405020304" pitchFamily="18" charset="0"/>
                <a:cs typeface="Times New Roman" panose="02020603050405020304" pitchFamily="18" charset="0"/>
              </a:rPr>
              <a:t>System virtual machines</a:t>
            </a:r>
            <a:r>
              <a:rPr lang="en-US" altLang="zh-TW" sz="2000" dirty="0">
                <a:solidFill>
                  <a:schemeClr val="tx1"/>
                </a:solidFill>
                <a:latin typeface="Times New Roman" panose="02020603050405020304" pitchFamily="18" charset="0"/>
                <a:cs typeface="Times New Roman" panose="02020603050405020304" pitchFamily="18" charset="0"/>
              </a:rPr>
              <a:t> </a:t>
            </a:r>
            <a:r>
              <a:rPr lang="en-US" altLang="zh-TW" sz="2000" dirty="0">
                <a:latin typeface="Times New Roman" panose="02020603050405020304" pitchFamily="18" charset="0"/>
                <a:cs typeface="Times New Roman" panose="02020603050405020304" pitchFamily="18" charset="0"/>
              </a:rPr>
              <a:t>are capable of </a:t>
            </a:r>
            <a:r>
              <a:rPr lang="en-US" altLang="zh-TW" sz="2000" dirty="0" err="1">
                <a:latin typeface="Times New Roman" panose="02020603050405020304" pitchFamily="18" charset="0"/>
                <a:cs typeface="Times New Roman" panose="02020603050405020304" pitchFamily="18" charset="0"/>
              </a:rPr>
              <a:t>virtualizing</a:t>
            </a:r>
            <a:r>
              <a:rPr lang="en-US" altLang="zh-TW" sz="2000" dirty="0">
                <a:latin typeface="Times New Roman" panose="02020603050405020304" pitchFamily="18" charset="0"/>
                <a:cs typeface="Times New Roman" panose="02020603050405020304" pitchFamily="18" charset="0"/>
              </a:rPr>
              <a:t> a full set of hardware resources, including a processor (or processors), memory and storage resources and peripheral devices.</a:t>
            </a:r>
          </a:p>
          <a:p>
            <a:r>
              <a:rPr kumimoji="1" lang="en-US" altLang="zh-TW" sz="2000" dirty="0">
                <a:latin typeface="Times New Roman" panose="02020603050405020304" pitchFamily="18" charset="0"/>
                <a:cs typeface="Times New Roman" panose="02020603050405020304" pitchFamily="18" charset="0"/>
              </a:rPr>
              <a:t>Constructed at ISA level</a:t>
            </a:r>
          </a:p>
          <a:p>
            <a:r>
              <a:rPr kumimoji="1" lang="en-US" altLang="zh-TW" sz="2000" dirty="0">
                <a:latin typeface="Times New Roman" panose="02020603050405020304" pitchFamily="18" charset="0"/>
                <a:cs typeface="Times New Roman" panose="02020603050405020304" pitchFamily="18" charset="0"/>
              </a:rPr>
              <a:t>Allow multiple OS environments, or support time sharing.</a:t>
            </a:r>
          </a:p>
          <a:p>
            <a:r>
              <a:rPr kumimoji="1" lang="en-US" altLang="zh-TW" sz="2000" dirty="0">
                <a:latin typeface="Times New Roman" panose="02020603050405020304" pitchFamily="18" charset="0"/>
                <a:cs typeface="Times New Roman" panose="02020603050405020304" pitchFamily="18" charset="0"/>
              </a:rPr>
              <a:t>Examples</a:t>
            </a:r>
          </a:p>
          <a:p>
            <a:pPr lvl="1"/>
            <a:r>
              <a:rPr kumimoji="1" lang="en-US" altLang="zh-TW" sz="1800" dirty="0">
                <a:latin typeface="Times New Roman" panose="02020603050405020304" pitchFamily="18" charset="0"/>
                <a:cs typeface="Times New Roman" panose="02020603050405020304" pitchFamily="18" charset="0"/>
              </a:rPr>
              <a:t>IBM VM/360</a:t>
            </a:r>
          </a:p>
          <a:p>
            <a:pPr lvl="1"/>
            <a:r>
              <a:rPr kumimoji="1" lang="en-US" altLang="zh-TW" sz="1800" dirty="0">
                <a:latin typeface="Times New Roman" panose="02020603050405020304" pitchFamily="18" charset="0"/>
                <a:cs typeface="Times New Roman" panose="02020603050405020304" pitchFamily="18" charset="0"/>
              </a:rPr>
              <a:t>VMware</a:t>
            </a:r>
          </a:p>
          <a:p>
            <a:pPr lvl="1"/>
            <a:r>
              <a:rPr kumimoji="1" lang="en-US" altLang="zh-TW" sz="1800" dirty="0" err="1">
                <a:latin typeface="Times New Roman" panose="02020603050405020304" pitchFamily="18" charset="0"/>
                <a:cs typeface="Times New Roman" panose="02020603050405020304" pitchFamily="18" charset="0"/>
              </a:rPr>
              <a:t>Xen</a:t>
            </a:r>
            <a:endParaRPr kumimoji="1" lang="en-US" altLang="zh-TW" sz="1800" dirty="0">
              <a:latin typeface="Times New Roman" panose="02020603050405020304" pitchFamily="18" charset="0"/>
              <a:cs typeface="Times New Roman" panose="02020603050405020304" pitchFamily="18" charset="0"/>
            </a:endParaRPr>
          </a:p>
          <a:p>
            <a:pPr lvl="1"/>
            <a:r>
              <a:rPr kumimoji="1" lang="en-US" altLang="zh-TW" sz="1800" dirty="0">
                <a:latin typeface="Times New Roman" panose="02020603050405020304" pitchFamily="18" charset="0"/>
                <a:cs typeface="Times New Roman" panose="02020603050405020304" pitchFamily="18" charset="0"/>
              </a:rPr>
              <a:t>KVM</a:t>
            </a:r>
          </a:p>
          <a:p>
            <a:pPr lvl="1"/>
            <a:r>
              <a:rPr kumimoji="1" lang="en-US" altLang="zh-TW" sz="1800" dirty="0">
                <a:latin typeface="Times New Roman" panose="02020603050405020304" pitchFamily="18" charset="0"/>
                <a:cs typeface="Times New Roman" panose="02020603050405020304" pitchFamily="18" charset="0"/>
              </a:rPr>
              <a:t>OKL4</a:t>
            </a:r>
          </a:p>
          <a:p>
            <a:pPr lvl="1"/>
            <a:endParaRPr kumimoji="1" lang="zh-TW" altLang="en-US" sz="2000" dirty="0">
              <a:latin typeface="Times New Roman" panose="02020603050405020304" pitchFamily="18" charset="0"/>
              <a:cs typeface="Times New Roman" panose="02020603050405020304" pitchFamily="18" charset="0"/>
            </a:endParaRPr>
          </a:p>
        </p:txBody>
      </p:sp>
      <p:grpSp>
        <p:nvGrpSpPr>
          <p:cNvPr id="8" name="群組 7"/>
          <p:cNvGrpSpPr/>
          <p:nvPr/>
        </p:nvGrpSpPr>
        <p:grpSpPr>
          <a:xfrm>
            <a:off x="3805151" y="2571750"/>
            <a:ext cx="3943350" cy="1925352"/>
            <a:chOff x="381000" y="1268760"/>
            <a:chExt cx="8458200" cy="5184576"/>
          </a:xfrm>
        </p:grpSpPr>
        <p:sp>
          <p:nvSpPr>
            <p:cNvPr id="9" name="圓角矩形 8"/>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0" name="圓角矩形 9"/>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825" dirty="0"/>
                <a:t>Windows Phone 8’s kernel</a:t>
              </a:r>
              <a:endParaRPr kumimoji="1" lang="zh-TW" altLang="en-US" sz="825" dirty="0"/>
            </a:p>
          </p:txBody>
        </p:sp>
        <p:sp>
          <p:nvSpPr>
            <p:cNvPr id="11" name="圓角矩形 10"/>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900" dirty="0"/>
                <a:t>Hardware</a:t>
              </a:r>
              <a:endParaRPr kumimoji="1" lang="zh-TW" altLang="en-US" sz="900" dirty="0"/>
            </a:p>
          </p:txBody>
        </p:sp>
        <p:sp>
          <p:nvSpPr>
            <p:cNvPr id="12" name="文字方塊 11"/>
            <p:cNvSpPr txBox="1"/>
            <p:nvPr/>
          </p:nvSpPr>
          <p:spPr>
            <a:xfrm>
              <a:off x="5436097" y="1412776"/>
              <a:ext cx="2488704" cy="559425"/>
            </a:xfrm>
            <a:prstGeom prst="rect">
              <a:avLst/>
            </a:prstGeom>
            <a:noFill/>
          </p:spPr>
          <p:txBody>
            <a:bodyPr wrap="square" rtlCol="0">
              <a:spAutoFit/>
            </a:bodyPr>
            <a:lstStyle/>
            <a:p>
              <a:pPr algn="ctr"/>
              <a:r>
                <a:rPr kumimoji="1" lang="en-US" altLang="zh-TW" sz="750" dirty="0">
                  <a:solidFill>
                    <a:srgbClr val="FF0000"/>
                  </a:solidFill>
                </a:rPr>
                <a:t>Windows Phone</a:t>
              </a:r>
              <a:endParaRPr kumimoji="1" lang="zh-TW" altLang="en-US" sz="750" dirty="0">
                <a:solidFill>
                  <a:srgbClr val="FF0000"/>
                </a:solidFill>
              </a:endParaRPr>
            </a:p>
          </p:txBody>
        </p:sp>
        <p:sp>
          <p:nvSpPr>
            <p:cNvPr id="13" name="圓角矩形 12"/>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4" name="文字方塊 13"/>
            <p:cNvSpPr txBox="1"/>
            <p:nvPr/>
          </p:nvSpPr>
          <p:spPr>
            <a:xfrm>
              <a:off x="1187624" y="1412776"/>
              <a:ext cx="2520281" cy="559425"/>
            </a:xfrm>
            <a:prstGeom prst="rect">
              <a:avLst/>
            </a:prstGeom>
            <a:noFill/>
          </p:spPr>
          <p:txBody>
            <a:bodyPr wrap="square" rtlCol="0">
              <a:spAutoFit/>
            </a:bodyPr>
            <a:lstStyle/>
            <a:p>
              <a:pPr algn="ctr"/>
              <a:r>
                <a:rPr kumimoji="1" lang="en-US" altLang="zh-TW" sz="750" dirty="0">
                  <a:solidFill>
                    <a:srgbClr val="FF0000"/>
                  </a:solidFill>
                </a:rPr>
                <a:t>Android</a:t>
              </a:r>
              <a:endParaRPr kumimoji="1" lang="zh-TW" altLang="en-US" sz="750" dirty="0">
                <a:solidFill>
                  <a:srgbClr val="FF0000"/>
                </a:solidFill>
              </a:endParaRPr>
            </a:p>
          </p:txBody>
        </p:sp>
        <p:sp>
          <p:nvSpPr>
            <p:cNvPr id="15" name="圓角矩形 14"/>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6" name="圓角矩形 15"/>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7" name="圓角矩形 16"/>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8" name="圓角矩形 17"/>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9" name="圓角矩形 18"/>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0" name="圓角矩形 19"/>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1" name="圓角矩形 20"/>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2" name="圓角矩形 21"/>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3" name="圓角矩形 22"/>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4" name="圓角矩形 23"/>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825" dirty="0"/>
                <a:t>Virtual Machine Monitor</a:t>
              </a:r>
              <a:endParaRPr kumimoji="1" lang="zh-TW" altLang="en-US" sz="825" dirty="0"/>
            </a:p>
          </p:txBody>
        </p:sp>
      </p:grpSp>
      <p:sp>
        <p:nvSpPr>
          <p:cNvPr id="3" name="灯片编号占位符 1">
            <a:extLst>
              <a:ext uri="{FF2B5EF4-FFF2-40B4-BE49-F238E27FC236}">
                <a16:creationId xmlns:a16="http://schemas.microsoft.com/office/drawing/2014/main" id="{CD2E8DB5-EDFA-B1A2-EB21-97AD6EA8ECE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35</a:t>
            </a:fld>
            <a:endParaRPr lang="zh-TW" altLang="en-US"/>
          </a:p>
        </p:txBody>
      </p:sp>
    </p:spTree>
    <p:extLst>
      <p:ext uri="{BB962C8B-B14F-4D97-AF65-F5344CB8AC3E}">
        <p14:creationId xmlns:p14="http://schemas.microsoft.com/office/powerpoint/2010/main" val="21816279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06087" y="79474"/>
            <a:ext cx="7769603" cy="519113"/>
          </a:xfrm>
        </p:spPr>
        <p:txBody>
          <a:bodyPr>
            <a:noAutofit/>
          </a:bodyPr>
          <a:lstStyle/>
          <a:p>
            <a:r>
              <a:rPr lang="en-US" altLang="zh-TW" sz="3200" dirty="0"/>
              <a:t>Virtual Machine Monitor - Main Theorem</a:t>
            </a:r>
            <a:endParaRPr lang="zh-TW" altLang="en-US" sz="3200" dirty="0"/>
          </a:p>
        </p:txBody>
      </p:sp>
      <p:sp>
        <p:nvSpPr>
          <p:cNvPr id="3" name="內容版面配置區 2"/>
          <p:cNvSpPr>
            <a:spLocks noGrp="1"/>
          </p:cNvSpPr>
          <p:nvPr>
            <p:ph idx="1"/>
          </p:nvPr>
        </p:nvSpPr>
        <p:spPr>
          <a:xfrm>
            <a:off x="761625" y="825409"/>
            <a:ext cx="8058526" cy="3289391"/>
          </a:xfrm>
        </p:spPr>
        <p:txBody>
          <a:bodyPr/>
          <a:lstStyle/>
          <a:p>
            <a:pPr>
              <a:spcBef>
                <a:spcPts val="0"/>
              </a:spcBef>
            </a:pPr>
            <a:r>
              <a:rPr kumimoji="1" lang="en-US" altLang="zh-TW" sz="2000" dirty="0">
                <a:latin typeface="Times New Roman" panose="02020603050405020304" pitchFamily="18" charset="0"/>
                <a:cs typeface="Times New Roman" panose="02020603050405020304" pitchFamily="18" charset="0"/>
              </a:rPr>
              <a:t>A virtual machine monitor can be constructed if the set of sensitive instructions is a subset of the set of privileged instructions</a:t>
            </a:r>
          </a:p>
          <a:p>
            <a:pPr>
              <a:spcBef>
                <a:spcPts val="0"/>
              </a:spcBef>
            </a:pPr>
            <a:r>
              <a:rPr kumimoji="1" lang="en-US" altLang="zh-TW" sz="2000" dirty="0">
                <a:latin typeface="Times New Roman" panose="02020603050405020304" pitchFamily="18" charset="0"/>
                <a:cs typeface="Times New Roman" panose="02020603050405020304" pitchFamily="18" charset="0"/>
              </a:rPr>
              <a:t>Proof shows</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Equivalence</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interpreting privileged instructions and executing remaining instructions natively</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Resource control</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having all instructions that change resources trap to the VMM</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Efficiency</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executing all non-privileged instructions directly on hardware</a:t>
            </a:r>
          </a:p>
          <a:p>
            <a:pPr>
              <a:spcBef>
                <a:spcPts val="0"/>
              </a:spcBef>
            </a:pPr>
            <a:r>
              <a:rPr kumimoji="1" lang="en-US" altLang="zh-TW" sz="2000" dirty="0">
                <a:latin typeface="Times New Roman" panose="02020603050405020304" pitchFamily="18" charset="0"/>
                <a:cs typeface="Times New Roman" panose="02020603050405020304" pitchFamily="18" charset="0"/>
              </a:rPr>
              <a:t>A key aspect of the theorem is that it is easy to check</a:t>
            </a:r>
          </a:p>
        </p:txBody>
      </p:sp>
      <p:sp>
        <p:nvSpPr>
          <p:cNvPr id="4" name="灯片编号占位符 1">
            <a:extLst>
              <a:ext uri="{FF2B5EF4-FFF2-40B4-BE49-F238E27FC236}">
                <a16:creationId xmlns:a16="http://schemas.microsoft.com/office/drawing/2014/main" id="{5F70B99B-BE6B-6F99-6E7A-25FC71A2DB0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36</a:t>
            </a:fld>
            <a:endParaRPr lang="zh-TW" altLang="en-US"/>
          </a:p>
        </p:txBody>
      </p:sp>
    </p:spTree>
    <p:extLst>
      <p:ext uri="{BB962C8B-B14F-4D97-AF65-F5344CB8AC3E}">
        <p14:creationId xmlns:p14="http://schemas.microsoft.com/office/powerpoint/2010/main" val="1280257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2713" y="79474"/>
            <a:ext cx="7752977" cy="519113"/>
          </a:xfrm>
        </p:spPr>
        <p:txBody>
          <a:bodyPr/>
          <a:lstStyle/>
          <a:p>
            <a:r>
              <a:rPr kumimoji="1" lang="en-US" altLang="zh-TW" dirty="0"/>
              <a:t>Emulation &amp; Virtualization</a:t>
            </a:r>
            <a:endParaRPr kumimoji="1" lang="zh-TW" altLang="en-US" dirty="0"/>
          </a:p>
        </p:txBody>
      </p:sp>
      <p:sp>
        <p:nvSpPr>
          <p:cNvPr id="5" name="內容版面配置區 4"/>
          <p:cNvSpPr>
            <a:spLocks noGrp="1"/>
          </p:cNvSpPr>
          <p:nvPr>
            <p:ph idx="1"/>
          </p:nvPr>
        </p:nvSpPr>
        <p:spPr>
          <a:xfrm>
            <a:off x="995448" y="822444"/>
            <a:ext cx="7869151" cy="3487089"/>
          </a:xfrm>
        </p:spPr>
        <p:txBody>
          <a:bodyPr/>
          <a:lstStyle/>
          <a:p>
            <a:r>
              <a:rPr kumimoji="1" lang="en-US" altLang="zh-TW" sz="2000" dirty="0">
                <a:latin typeface="Times New Roman" panose="02020603050405020304" pitchFamily="18" charset="0"/>
                <a:cs typeface="Times New Roman" panose="02020603050405020304" pitchFamily="18" charset="0"/>
              </a:rPr>
              <a:t>Emulation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seems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good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way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implement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VMM.</a:t>
            </a:r>
          </a:p>
          <a:p>
            <a:pPr lvl="1"/>
            <a:r>
              <a:rPr kumimoji="1" lang="en-US" altLang="zh-TW" sz="1600" dirty="0">
                <a:latin typeface="Times New Roman" panose="02020603050405020304" pitchFamily="18" charset="0"/>
                <a:cs typeface="Times New Roman" panose="02020603050405020304" pitchFamily="18" charset="0"/>
              </a:rPr>
              <a:t>We can run Guest OS above emulator.</a:t>
            </a:r>
          </a:p>
          <a:p>
            <a:pPr lvl="1"/>
            <a:r>
              <a:rPr kumimoji="1" lang="en-US" altLang="zh-TW" sz="1600" dirty="0">
                <a:latin typeface="Times New Roman" panose="02020603050405020304" pitchFamily="18" charset="0"/>
                <a:cs typeface="Times New Roman" panose="02020603050405020304" pitchFamily="18" charset="0"/>
              </a:rPr>
              <a:t>Emulator can manage all hardware resource and arrange sharing resource to Guest OS </a:t>
            </a:r>
          </a:p>
          <a:p>
            <a:r>
              <a:rPr kumimoji="1" lang="en-US" altLang="zh-TW" sz="2000" dirty="0">
                <a:latin typeface="Times New Roman" panose="02020603050405020304" pitchFamily="18" charset="0"/>
                <a:cs typeface="Times New Roman" panose="02020603050405020304" pitchFamily="18" charset="0"/>
              </a:rPr>
              <a:t>However, there are rarely people using emulator as VMM.</a:t>
            </a:r>
          </a:p>
          <a:p>
            <a:r>
              <a:rPr kumimoji="1" lang="en-US" altLang="zh-TW" sz="2000" dirty="0">
                <a:latin typeface="Times New Roman" panose="02020603050405020304" pitchFamily="18" charset="0"/>
                <a:cs typeface="Times New Roman" panose="02020603050405020304" pitchFamily="18" charset="0"/>
              </a:rPr>
              <a:t>WHY?</a:t>
            </a:r>
          </a:p>
          <a:p>
            <a:pPr lvl="1"/>
            <a:r>
              <a:rPr kumimoji="1" lang="en-US" altLang="zh-TW" sz="1600" dirty="0">
                <a:latin typeface="Times New Roman" panose="02020603050405020304" pitchFamily="18" charset="0"/>
                <a:cs typeface="Times New Roman" panose="02020603050405020304" pitchFamily="18" charset="0"/>
              </a:rPr>
              <a:t>Because emulation is quite SLOW!</a:t>
            </a:r>
          </a:p>
          <a:p>
            <a:pPr lvl="1"/>
            <a:r>
              <a:rPr kumimoji="1" lang="en-US" altLang="zh-TW" sz="1600" dirty="0">
                <a:latin typeface="Times New Roman" panose="02020603050405020304" pitchFamily="18" charset="0"/>
                <a:cs typeface="Times New Roman" panose="02020603050405020304" pitchFamily="18" charset="0"/>
              </a:rPr>
              <a:t>It’s not efficient!</a:t>
            </a:r>
          </a:p>
          <a:p>
            <a:r>
              <a:rPr kumimoji="1" lang="en-US" altLang="zh-TW" sz="2000" dirty="0">
                <a:latin typeface="Times New Roman" panose="02020603050405020304" pitchFamily="18" charset="0"/>
                <a:cs typeface="Times New Roman" panose="02020603050405020304" pitchFamily="18" charset="0"/>
              </a:rPr>
              <a:t>How to let it faster?</a:t>
            </a:r>
          </a:p>
          <a:p>
            <a:pPr lvl="1"/>
            <a:r>
              <a:rPr kumimoji="1" lang="en-US" altLang="zh-TW" sz="1600" dirty="0">
                <a:latin typeface="Times New Roman" panose="02020603050405020304" pitchFamily="18" charset="0"/>
                <a:cs typeface="Times New Roman" panose="02020603050405020304" pitchFamily="18" charset="0"/>
              </a:rPr>
              <a:t>Do not emulate everything. Just emulate some sensitive instruction which will directly access hardware resource. </a:t>
            </a:r>
          </a:p>
          <a:p>
            <a:pPr lvl="1"/>
            <a:r>
              <a:rPr kumimoji="1" lang="en-US" altLang="zh-TW" sz="1600" dirty="0">
                <a:latin typeface="Times New Roman" panose="02020603050405020304" pitchFamily="18" charset="0"/>
                <a:cs typeface="Times New Roman" panose="02020603050405020304" pitchFamily="18" charset="0"/>
              </a:rPr>
              <a:t>Execute all non-privileged instructions directly on hardware</a:t>
            </a:r>
          </a:p>
        </p:txBody>
      </p:sp>
      <p:sp>
        <p:nvSpPr>
          <p:cNvPr id="2" name="灯片编号占位符 1">
            <a:extLst>
              <a:ext uri="{FF2B5EF4-FFF2-40B4-BE49-F238E27FC236}">
                <a16:creationId xmlns:a16="http://schemas.microsoft.com/office/drawing/2014/main" id="{233A559E-9C72-DE81-6E15-76012B98A09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37</a:t>
            </a:fld>
            <a:endParaRPr lang="zh-TW" altLang="en-US"/>
          </a:p>
        </p:txBody>
      </p:sp>
    </p:spTree>
    <p:extLst>
      <p:ext uri="{BB962C8B-B14F-4D97-AF65-F5344CB8AC3E}">
        <p14:creationId xmlns:p14="http://schemas.microsoft.com/office/powerpoint/2010/main" val="4241309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393297" y="3338059"/>
            <a:ext cx="8571316" cy="1021556"/>
          </a:xfrm>
        </p:spPr>
        <p:txBody>
          <a:bodyPr/>
          <a:lstStyle/>
          <a:p>
            <a:r>
              <a:rPr kumimoji="1" lang="en-US" altLang="zh-TW" dirty="0"/>
              <a:t>full</a:t>
            </a:r>
            <a:r>
              <a:rPr kumimoji="1" lang="zh-TW" altLang="en-US" dirty="0"/>
              <a:t>-</a:t>
            </a:r>
            <a:r>
              <a:rPr kumimoji="1" lang="en-US" altLang="zh-TW" dirty="0"/>
              <a:t>virtualization</a:t>
            </a:r>
            <a:r>
              <a:rPr kumimoji="1" lang="zh-TW" altLang="en-US" dirty="0"/>
              <a:t> </a:t>
            </a:r>
            <a:r>
              <a:rPr kumimoji="1" lang="en-US" altLang="zh-TW" dirty="0"/>
              <a:t>&amp; Para</a:t>
            </a:r>
            <a:r>
              <a:rPr kumimoji="1" lang="zh-TW" altLang="en-US" dirty="0"/>
              <a:t>-</a:t>
            </a:r>
            <a:r>
              <a:rPr kumimoji="1" lang="en-US" altLang="zh-TW" dirty="0"/>
              <a:t>virtualization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0C829C7D-72E1-6D17-B3E5-7C4BE9FDDE7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38</a:t>
            </a:fld>
            <a:endParaRPr lang="zh-TW" altLang="en-US"/>
          </a:p>
        </p:txBody>
      </p:sp>
    </p:spTree>
    <p:extLst>
      <p:ext uri="{BB962C8B-B14F-4D97-AF65-F5344CB8AC3E}">
        <p14:creationId xmlns:p14="http://schemas.microsoft.com/office/powerpoint/2010/main" val="35493406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46610" y="79474"/>
            <a:ext cx="7729079" cy="519113"/>
          </a:xfrm>
        </p:spPr>
        <p:txBody>
          <a:bodyPr/>
          <a:lstStyle/>
          <a:p>
            <a:r>
              <a:rPr kumimoji="1" lang="en-US" altLang="zh-TW" dirty="0"/>
              <a:t>Full-Virtualization</a:t>
            </a:r>
            <a:endParaRPr kumimoji="1" lang="zh-TW" altLang="en-US" dirty="0"/>
          </a:p>
        </p:txBody>
      </p:sp>
      <p:sp>
        <p:nvSpPr>
          <p:cNvPr id="5" name="內容版面配置區 4"/>
          <p:cNvSpPr>
            <a:spLocks noGrp="1"/>
          </p:cNvSpPr>
          <p:nvPr>
            <p:ph idx="1"/>
          </p:nvPr>
        </p:nvSpPr>
        <p:spPr>
          <a:xfrm>
            <a:off x="946611" y="858489"/>
            <a:ext cx="7357804" cy="3647010"/>
          </a:xfrm>
        </p:spPr>
        <p:txBody>
          <a:bodyPr>
            <a:normAutofit fontScale="55000" lnSpcReduction="20000"/>
          </a:bodyPr>
          <a:lstStyle/>
          <a:p>
            <a:r>
              <a:rPr kumimoji="1" lang="en-US" altLang="zh-TW" sz="3600" dirty="0">
                <a:latin typeface="Times New Roman" panose="02020603050405020304" pitchFamily="18" charset="0"/>
                <a:cs typeface="Times New Roman" panose="02020603050405020304" pitchFamily="18" charset="0"/>
              </a:rPr>
              <a:t>Definition</a:t>
            </a:r>
          </a:p>
          <a:p>
            <a:pPr lvl="1"/>
            <a:r>
              <a:rPr kumimoji="1" lang="en-US" altLang="zh-TW" sz="2900" dirty="0">
                <a:latin typeface="Times New Roman" panose="02020603050405020304" pitchFamily="18" charset="0"/>
                <a:cs typeface="Times New Roman" panose="02020603050405020304" pitchFamily="18" charset="0"/>
              </a:rPr>
              <a:t>We run the Guest OS </a:t>
            </a:r>
            <a:r>
              <a:rPr kumimoji="1" lang="en-US" altLang="zh-TW" sz="2900" dirty="0">
                <a:solidFill>
                  <a:srgbClr val="FF0000"/>
                </a:solidFill>
                <a:latin typeface="Times New Roman" panose="02020603050405020304" pitchFamily="18" charset="0"/>
                <a:cs typeface="Times New Roman" panose="02020603050405020304" pitchFamily="18" charset="0"/>
              </a:rPr>
              <a:t>without modified</a:t>
            </a:r>
            <a:r>
              <a:rPr kumimoji="1" lang="en-US" altLang="zh-TW" sz="2900" dirty="0">
                <a:latin typeface="Times New Roman" panose="02020603050405020304" pitchFamily="18" charset="0"/>
                <a:cs typeface="Times New Roman" panose="02020603050405020304" pitchFamily="18" charset="0"/>
              </a:rPr>
              <a:t>.</a:t>
            </a:r>
          </a:p>
          <a:p>
            <a:pPr lvl="1"/>
            <a:r>
              <a:rPr kumimoji="1" lang="en-US" altLang="zh-TW" sz="2900" dirty="0">
                <a:latin typeface="Times New Roman" panose="02020603050405020304" pitchFamily="18" charset="0"/>
                <a:cs typeface="Times New Roman" panose="02020603050405020304" pitchFamily="18" charset="0"/>
              </a:rPr>
              <a:t>The Guest OS </a:t>
            </a:r>
            <a:r>
              <a:rPr kumimoji="1" lang="en-US" altLang="zh-TW" sz="2900" dirty="0">
                <a:solidFill>
                  <a:srgbClr val="FF0000"/>
                </a:solidFill>
                <a:latin typeface="Times New Roman" panose="02020603050405020304" pitchFamily="18" charset="0"/>
                <a:cs typeface="Times New Roman" panose="02020603050405020304" pitchFamily="18" charset="0"/>
              </a:rPr>
              <a:t>doesn’t realize </a:t>
            </a:r>
            <a:r>
              <a:rPr kumimoji="1" lang="en-US" altLang="zh-TW" sz="2900" dirty="0">
                <a:latin typeface="Times New Roman" panose="02020603050405020304" pitchFamily="18" charset="0"/>
                <a:cs typeface="Times New Roman" panose="02020603050405020304" pitchFamily="18" charset="0"/>
              </a:rPr>
              <a:t>that it is running above VM rather than physical machine.</a:t>
            </a:r>
          </a:p>
          <a:p>
            <a:r>
              <a:rPr kumimoji="1" lang="en-US" altLang="zh-TW" sz="3600" dirty="0">
                <a:latin typeface="Times New Roman" panose="02020603050405020304" pitchFamily="18" charset="0"/>
                <a:cs typeface="Times New Roman" panose="02020603050405020304" pitchFamily="18" charset="0"/>
              </a:rPr>
              <a:t>Pro</a:t>
            </a:r>
          </a:p>
          <a:p>
            <a:pPr lvl="1"/>
            <a:r>
              <a:rPr kumimoji="1" lang="en-US" altLang="zh-TW" sz="2900" dirty="0">
                <a:latin typeface="Times New Roman" panose="02020603050405020304" pitchFamily="18" charset="0"/>
                <a:cs typeface="Times New Roman" panose="02020603050405020304" pitchFamily="18" charset="0"/>
              </a:rPr>
              <a:t>User can use any OS what he/she wants to install as Guest OS</a:t>
            </a:r>
          </a:p>
          <a:p>
            <a:pPr lvl="1"/>
            <a:r>
              <a:rPr kumimoji="1" lang="en-US" altLang="zh-TW" sz="2900" dirty="0">
                <a:latin typeface="Times New Roman" panose="02020603050405020304" pitchFamily="18" charset="0"/>
                <a:cs typeface="Times New Roman" panose="02020603050405020304" pitchFamily="18" charset="0"/>
              </a:rPr>
              <a:t>For those OS which is hard to patch (ex: Windows, because it’s hard to get its source code), user can only install them in full-virtualization environment</a:t>
            </a:r>
          </a:p>
          <a:p>
            <a:r>
              <a:rPr kumimoji="1" lang="en-US" altLang="zh-TW" sz="3600" dirty="0">
                <a:latin typeface="Times New Roman" panose="02020603050405020304" pitchFamily="18" charset="0"/>
                <a:cs typeface="Times New Roman" panose="02020603050405020304" pitchFamily="18" charset="0"/>
              </a:rPr>
              <a:t>Con</a:t>
            </a:r>
          </a:p>
          <a:p>
            <a:pPr lvl="1"/>
            <a:r>
              <a:rPr kumimoji="1" lang="en-US" altLang="zh-TW" sz="2900" dirty="0">
                <a:latin typeface="Times New Roman" panose="02020603050405020304" pitchFamily="18" charset="0"/>
                <a:cs typeface="Times New Roman" panose="02020603050405020304" pitchFamily="18" charset="0"/>
              </a:rPr>
              <a:t>For non-</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CPU, running Guest OS without patched critical instruction need use Dynamic Binary Translation in the hypervisor. It costs a lot.</a:t>
            </a:r>
          </a:p>
          <a:p>
            <a:pPr lvl="1"/>
            <a:r>
              <a:rPr kumimoji="1" lang="en-US" altLang="zh-TW" sz="2900" dirty="0">
                <a:latin typeface="Times New Roman" panose="02020603050405020304" pitchFamily="18" charset="0"/>
                <a:cs typeface="Times New Roman" panose="02020603050405020304" pitchFamily="18" charset="0"/>
              </a:rPr>
              <a:t>Even for the </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 And using full-virtualization environment cannot gain the performance optimization.</a:t>
            </a:r>
          </a:p>
        </p:txBody>
      </p:sp>
      <p:sp>
        <p:nvSpPr>
          <p:cNvPr id="2" name="灯片编号占位符 1">
            <a:extLst>
              <a:ext uri="{FF2B5EF4-FFF2-40B4-BE49-F238E27FC236}">
                <a16:creationId xmlns:a16="http://schemas.microsoft.com/office/drawing/2014/main" id="{A42411F2-7035-1C9C-FD0C-4E718542028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39</a:t>
            </a:fld>
            <a:endParaRPr lang="zh-TW" altLang="en-US"/>
          </a:p>
        </p:txBody>
      </p:sp>
    </p:spTree>
    <p:extLst>
      <p:ext uri="{BB962C8B-B14F-4D97-AF65-F5344CB8AC3E}">
        <p14:creationId xmlns:p14="http://schemas.microsoft.com/office/powerpoint/2010/main" val="27948873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72589" y="79474"/>
            <a:ext cx="7703101" cy="519113"/>
          </a:xfrm>
        </p:spPr>
        <p:txBody>
          <a:bodyPr/>
          <a:lstStyle/>
          <a:p>
            <a:r>
              <a:rPr kumimoji="1" lang="en-US" altLang="zh-TW" dirty="0"/>
              <a:t>Para-Virtualization</a:t>
            </a:r>
            <a:endParaRPr kumimoji="1" lang="zh-TW" altLang="en-US" dirty="0"/>
          </a:p>
        </p:txBody>
      </p:sp>
      <p:sp>
        <p:nvSpPr>
          <p:cNvPr id="5" name="內容版面配置區 4"/>
          <p:cNvSpPr>
            <a:spLocks noGrp="1"/>
          </p:cNvSpPr>
          <p:nvPr>
            <p:ph idx="1"/>
          </p:nvPr>
        </p:nvSpPr>
        <p:spPr>
          <a:xfrm>
            <a:off x="1080655" y="835821"/>
            <a:ext cx="7207134" cy="3586550"/>
          </a:xfrm>
        </p:spPr>
        <p:txBody>
          <a:bodyPr>
            <a:normAutofit fontScale="70000" lnSpcReduction="20000"/>
          </a:bodyPr>
          <a:lstStyle/>
          <a:p>
            <a:r>
              <a:rPr kumimoji="1" lang="en-US" altLang="zh-TW" dirty="0">
                <a:latin typeface="Times New Roman" panose="02020603050405020304" pitchFamily="18" charset="0"/>
                <a:cs typeface="Times New Roman" panose="02020603050405020304" pitchFamily="18" charset="0"/>
              </a:rPr>
              <a:t>Definition</a:t>
            </a:r>
          </a:p>
          <a:p>
            <a:pPr lvl="1"/>
            <a:r>
              <a:rPr kumimoji="1" lang="en-US" altLang="zh-TW" sz="2300" dirty="0">
                <a:latin typeface="Times New Roman" panose="02020603050405020304" pitchFamily="18" charset="0"/>
                <a:cs typeface="Times New Roman" panose="02020603050405020304" pitchFamily="18" charset="0"/>
              </a:rPr>
              <a:t>Run the Guest OS which is </a:t>
            </a:r>
            <a:r>
              <a:rPr kumimoji="1" lang="en-US" altLang="zh-TW" sz="2300" dirty="0">
                <a:solidFill>
                  <a:srgbClr val="FF0000"/>
                </a:solidFill>
                <a:latin typeface="Times New Roman" panose="02020603050405020304" pitchFamily="18" charset="0"/>
                <a:cs typeface="Times New Roman" panose="02020603050405020304" pitchFamily="18" charset="0"/>
              </a:rPr>
              <a:t>patched for virtualization</a:t>
            </a:r>
            <a:r>
              <a:rPr kumimoji="1" lang="en-US" altLang="zh-TW" sz="2300" dirty="0">
                <a:latin typeface="Times New Roman" panose="02020603050405020304" pitchFamily="18" charset="0"/>
                <a:cs typeface="Times New Roman" panose="02020603050405020304" pitchFamily="18" charset="0"/>
              </a:rPr>
              <a:t>.</a:t>
            </a:r>
          </a:p>
          <a:p>
            <a:pPr lvl="1"/>
            <a:r>
              <a:rPr kumimoji="1" lang="en-US" altLang="zh-TW" sz="2300" dirty="0">
                <a:latin typeface="Times New Roman" panose="02020603050405020304" pitchFamily="18" charset="0"/>
                <a:cs typeface="Times New Roman" panose="02020603050405020304" pitchFamily="18" charset="0"/>
              </a:rPr>
              <a:t>The Guest OS </a:t>
            </a:r>
            <a:r>
              <a:rPr kumimoji="1" lang="en-US" altLang="zh-TW" sz="2300" dirty="0">
                <a:solidFill>
                  <a:srgbClr val="FF0000"/>
                </a:solidFill>
                <a:latin typeface="Times New Roman" panose="02020603050405020304" pitchFamily="18" charset="0"/>
                <a:cs typeface="Times New Roman" panose="02020603050405020304" pitchFamily="18" charset="0"/>
              </a:rPr>
              <a:t>realizes</a:t>
            </a:r>
            <a:r>
              <a:rPr kumimoji="1" lang="en-US" altLang="zh-TW" sz="2300" dirty="0">
                <a:latin typeface="Times New Roman" panose="02020603050405020304" pitchFamily="18" charset="0"/>
                <a:cs typeface="Times New Roman" panose="02020603050405020304" pitchFamily="18" charset="0"/>
              </a:rPr>
              <a:t> that it is running above VM rather than physical machine.</a:t>
            </a:r>
          </a:p>
          <a:p>
            <a:r>
              <a:rPr kumimoji="1" lang="en-US" altLang="zh-TW" dirty="0">
                <a:latin typeface="Times New Roman" panose="02020603050405020304" pitchFamily="18" charset="0"/>
                <a:cs typeface="Times New Roman" panose="02020603050405020304" pitchFamily="18" charset="0"/>
              </a:rPr>
              <a:t>Pro</a:t>
            </a:r>
          </a:p>
          <a:p>
            <a:pPr lvl="1"/>
            <a:r>
              <a:rPr kumimoji="1" lang="en-US" altLang="zh-TW" sz="2300" dirty="0">
                <a:latin typeface="Times New Roman" panose="02020603050405020304" pitchFamily="18" charset="0"/>
                <a:cs typeface="Times New Roman" panose="02020603050405020304" pitchFamily="18" charset="0"/>
              </a:rPr>
              <a:t>For non-</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CPU, running Guest OS with patched critical instruction can reduce lots of work for hypervisor. Let guest OS run faster.</a:t>
            </a:r>
          </a:p>
          <a:p>
            <a:pPr lvl="1"/>
            <a:r>
              <a:rPr kumimoji="1" lang="en-US" altLang="zh-TW" sz="2300" dirty="0">
                <a:latin typeface="Times New Roman" panose="02020603050405020304" pitchFamily="18" charset="0"/>
                <a:cs typeface="Times New Roman" panose="02020603050405020304" pitchFamily="18" charset="0"/>
              </a:rPr>
              <a:t>Even for the </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a:t>
            </a:r>
          </a:p>
          <a:p>
            <a:r>
              <a:rPr kumimoji="1" lang="en-US" altLang="zh-TW" dirty="0">
                <a:latin typeface="Times New Roman" panose="02020603050405020304" pitchFamily="18" charset="0"/>
                <a:cs typeface="Times New Roman" panose="02020603050405020304" pitchFamily="18" charset="0"/>
              </a:rPr>
              <a:t>Con</a:t>
            </a:r>
          </a:p>
          <a:p>
            <a:pPr lvl="1"/>
            <a:r>
              <a:rPr kumimoji="1" lang="en-US" altLang="zh-TW" sz="2300" dirty="0">
                <a:latin typeface="Times New Roman" panose="02020603050405020304" pitchFamily="18" charset="0"/>
                <a:cs typeface="Times New Roman" panose="02020603050405020304" pitchFamily="18" charset="0"/>
              </a:rPr>
              <a:t>User cannot use any OS what he/she wants to install as Guest OS</a:t>
            </a:r>
          </a:p>
          <a:p>
            <a:pPr lvl="1"/>
            <a:r>
              <a:rPr kumimoji="1" lang="en-US" altLang="zh-TW" sz="2300" dirty="0">
                <a:latin typeface="Times New Roman" panose="02020603050405020304" pitchFamily="18" charset="0"/>
                <a:cs typeface="Times New Roman" panose="02020603050405020304" pitchFamily="18" charset="0"/>
              </a:rPr>
              <a:t>For those OS which is hard to patch(ex: Windows, because it’s hard to get its source code), user cannot install them as guest OS.</a:t>
            </a:r>
          </a:p>
        </p:txBody>
      </p:sp>
      <p:sp>
        <p:nvSpPr>
          <p:cNvPr id="2" name="灯片编号占位符 1">
            <a:extLst>
              <a:ext uri="{FF2B5EF4-FFF2-40B4-BE49-F238E27FC236}">
                <a16:creationId xmlns:a16="http://schemas.microsoft.com/office/drawing/2014/main" id="{87FCC64D-44DF-94CA-A572-CBA2E34D41E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40</a:t>
            </a:fld>
            <a:endParaRPr lang="zh-TW" altLang="en-US"/>
          </a:p>
        </p:txBody>
      </p:sp>
    </p:spTree>
    <p:extLst>
      <p:ext uri="{BB962C8B-B14F-4D97-AF65-F5344CB8AC3E}">
        <p14:creationId xmlns:p14="http://schemas.microsoft.com/office/powerpoint/2010/main" val="18223054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categories</a:t>
            </a:r>
            <a:r>
              <a:rPr kumimoji="1" lang="zh-TW" altLang="en-US" dirty="0"/>
              <a:t> </a:t>
            </a:r>
            <a:r>
              <a:rPr kumimoji="1" lang="en-US" altLang="zh-TW" dirty="0"/>
              <a:t>of virtual machine</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41</a:t>
            </a:fld>
            <a:endParaRPr lang="zh-TW" altLang="en-US"/>
          </a:p>
        </p:txBody>
      </p:sp>
    </p:spTree>
    <p:extLst>
      <p:ext uri="{BB962C8B-B14F-4D97-AF65-F5344CB8AC3E}">
        <p14:creationId xmlns:p14="http://schemas.microsoft.com/office/powerpoint/2010/main" val="27267361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4025" y="79474"/>
            <a:ext cx="7751664" cy="519113"/>
          </a:xfrm>
        </p:spPr>
        <p:txBody>
          <a:bodyPr/>
          <a:lstStyle/>
          <a:p>
            <a:r>
              <a:rPr kumimoji="1" lang="en-US" altLang="zh-TW" dirty="0"/>
              <a:t>Several Types of VMM</a:t>
            </a:r>
            <a:endParaRPr kumimoji="1" lang="zh-TW" altLang="en-US" dirty="0"/>
          </a:p>
        </p:txBody>
      </p:sp>
      <p:sp>
        <p:nvSpPr>
          <p:cNvPr id="5" name="內容版面配置區 4"/>
          <p:cNvSpPr>
            <a:spLocks noGrp="1"/>
          </p:cNvSpPr>
          <p:nvPr>
            <p:ph idx="1"/>
          </p:nvPr>
        </p:nvSpPr>
        <p:spPr>
          <a:xfrm>
            <a:off x="924025" y="844153"/>
            <a:ext cx="7538332" cy="3671888"/>
          </a:xfrm>
        </p:spPr>
        <p:txBody>
          <a:bodyPr/>
          <a:lstStyle/>
          <a:p>
            <a:r>
              <a:rPr kumimoji="1" lang="en-US" altLang="zh-TW" sz="2400" dirty="0">
                <a:latin typeface="Times New Roman" panose="02020603050405020304" pitchFamily="18" charset="0"/>
                <a:cs typeface="Times New Roman" panose="02020603050405020304" pitchFamily="18" charset="0"/>
              </a:rPr>
              <a:t>According to the category from </a:t>
            </a:r>
            <a:r>
              <a:rPr kumimoji="1" lang="en-US" altLang="zh-TW" sz="2400" dirty="0" err="1">
                <a:latin typeface="Times New Roman" panose="02020603050405020304" pitchFamily="18" charset="0"/>
                <a:cs typeface="Times New Roman" panose="02020603050405020304" pitchFamily="18" charset="0"/>
              </a:rPr>
              <a:t>Popek</a:t>
            </a:r>
            <a:r>
              <a:rPr kumimoji="1" lang="en-US" altLang="zh-TW" sz="2400" dirty="0">
                <a:latin typeface="Times New Roman" panose="02020603050405020304" pitchFamily="18" charset="0"/>
                <a:cs typeface="Times New Roman" panose="02020603050405020304" pitchFamily="18" charset="0"/>
              </a:rPr>
              <a:t> and Goldberg in 1974, virtual machine monitor can be separate into two major type which are majorly category from where the hypervisor is.</a:t>
            </a:r>
          </a:p>
          <a:p>
            <a:r>
              <a:rPr kumimoji="1" lang="en-US" altLang="zh-TW" sz="2400" dirty="0">
                <a:latin typeface="Times New Roman" panose="02020603050405020304" pitchFamily="18" charset="0"/>
                <a:cs typeface="Times New Roman" panose="02020603050405020304" pitchFamily="18" charset="0"/>
              </a:rPr>
              <a:t>Type 1</a:t>
            </a:r>
          </a:p>
          <a:p>
            <a:pPr lvl="1"/>
            <a:r>
              <a:rPr kumimoji="1" lang="en-US" altLang="zh-TW" sz="2000" dirty="0">
                <a:latin typeface="Times New Roman" panose="02020603050405020304" pitchFamily="18" charset="0"/>
                <a:cs typeface="Times New Roman" panose="02020603050405020304" pitchFamily="18" charset="0"/>
              </a:rPr>
              <a:t>a.k.a. “Bare-metal VMM”</a:t>
            </a:r>
          </a:p>
          <a:p>
            <a:r>
              <a:rPr kumimoji="1" lang="en-US" altLang="zh-TW" sz="2400" dirty="0">
                <a:latin typeface="Times New Roman" panose="02020603050405020304" pitchFamily="18" charset="0"/>
                <a:cs typeface="Times New Roman" panose="02020603050405020304" pitchFamily="18" charset="0"/>
              </a:rPr>
              <a:t>Type 2</a:t>
            </a:r>
          </a:p>
          <a:p>
            <a:pPr lvl="1"/>
            <a:r>
              <a:rPr kumimoji="1" lang="en-US" altLang="zh-TW" sz="2000" dirty="0">
                <a:latin typeface="Times New Roman" panose="02020603050405020304" pitchFamily="18" charset="0"/>
                <a:cs typeface="Times New Roman" panose="02020603050405020304" pitchFamily="18" charset="0"/>
              </a:rPr>
              <a:t>a.k.a. “Hosted VMM”</a:t>
            </a:r>
            <a:endParaRPr kumimoji="1" lang="zh-TW"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6F711015-F109-E41A-774A-301335728EE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42</a:t>
            </a:fld>
            <a:endParaRPr lang="zh-TW" altLang="en-US"/>
          </a:p>
        </p:txBody>
      </p:sp>
    </p:spTree>
    <p:extLst>
      <p:ext uri="{BB962C8B-B14F-4D97-AF65-F5344CB8AC3E}">
        <p14:creationId xmlns:p14="http://schemas.microsoft.com/office/powerpoint/2010/main" val="31546451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Type-1 : bare-metal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43</a:t>
            </a:fld>
            <a:endParaRPr lang="zh-TW" altLang="en-US"/>
          </a:p>
        </p:txBody>
      </p:sp>
    </p:spTree>
    <p:extLst>
      <p:ext uri="{BB962C8B-B14F-4D97-AF65-F5344CB8AC3E}">
        <p14:creationId xmlns:p14="http://schemas.microsoft.com/office/powerpoint/2010/main" val="25324699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89462" y="108349"/>
            <a:ext cx="7786228" cy="519113"/>
          </a:xfrm>
        </p:spPr>
        <p:txBody>
          <a:bodyPr/>
          <a:lstStyle/>
          <a:p>
            <a:r>
              <a:rPr kumimoji="1" lang="en-US" altLang="zh-TW" dirty="0"/>
              <a:t>Bare-Metal VMM</a:t>
            </a:r>
            <a:endParaRPr kumimoji="1" lang="zh-TW" altLang="en-US" dirty="0"/>
          </a:p>
        </p:txBody>
      </p:sp>
      <p:sp>
        <p:nvSpPr>
          <p:cNvPr id="3" name="內容版面配置區 2"/>
          <p:cNvSpPr>
            <a:spLocks noGrp="1"/>
          </p:cNvSpPr>
          <p:nvPr>
            <p:ph idx="1"/>
          </p:nvPr>
        </p:nvSpPr>
        <p:spPr>
          <a:xfrm>
            <a:off x="883736" y="794678"/>
            <a:ext cx="7477479" cy="2414436"/>
          </a:xfrm>
        </p:spPr>
        <p:txBody>
          <a:bodyPr/>
          <a:lstStyle/>
          <a:p>
            <a:r>
              <a:rPr kumimoji="1" lang="en-US" altLang="zh-TW" sz="2400" dirty="0">
                <a:latin typeface="Times New Roman" panose="02020603050405020304" pitchFamily="18" charset="0"/>
                <a:cs typeface="Times New Roman" panose="02020603050405020304" pitchFamily="18" charset="0"/>
              </a:rPr>
              <a:t>VMM is responsible for scheduling and managing the allocation of HW resources</a:t>
            </a:r>
          </a:p>
          <a:p>
            <a:r>
              <a:rPr kumimoji="1" lang="en-US" altLang="zh-TW" sz="2400" dirty="0">
                <a:latin typeface="Times New Roman" panose="02020603050405020304" pitchFamily="18" charset="0"/>
                <a:cs typeface="Times New Roman" panose="02020603050405020304" pitchFamily="18" charset="0"/>
              </a:rPr>
              <a:t>Examples</a:t>
            </a:r>
          </a:p>
          <a:p>
            <a:pPr lvl="1"/>
            <a:r>
              <a:rPr kumimoji="1" lang="en-US" altLang="zh-TW" sz="2000" dirty="0" err="1">
                <a:latin typeface="Times New Roman" panose="02020603050405020304" pitchFamily="18" charset="0"/>
                <a:cs typeface="Times New Roman" panose="02020603050405020304" pitchFamily="18" charset="0"/>
              </a:rPr>
              <a:t>Xen</a:t>
            </a:r>
            <a:endParaRPr kumimoji="1" lang="en-US" altLang="zh-TW" sz="2000" dirty="0">
              <a:latin typeface="Times New Roman" panose="02020603050405020304" pitchFamily="18" charset="0"/>
              <a:cs typeface="Times New Roman" panose="02020603050405020304" pitchFamily="18" charset="0"/>
            </a:endParaRPr>
          </a:p>
          <a:p>
            <a:pPr lvl="1"/>
            <a:r>
              <a:rPr kumimoji="1" lang="en-US" altLang="zh-TW" sz="2000" dirty="0">
                <a:latin typeface="Times New Roman" panose="02020603050405020304" pitchFamily="18" charset="0"/>
                <a:cs typeface="Times New Roman" panose="02020603050405020304" pitchFamily="18" charset="0"/>
              </a:rPr>
              <a:t>Hyper-V</a:t>
            </a:r>
          </a:p>
          <a:p>
            <a:pPr lvl="1"/>
            <a:r>
              <a:rPr kumimoji="1" lang="en-US" altLang="zh-TW" sz="2000" dirty="0">
                <a:latin typeface="Times New Roman" panose="02020603050405020304" pitchFamily="18" charset="0"/>
                <a:cs typeface="Times New Roman" panose="02020603050405020304" pitchFamily="18" charset="0"/>
              </a:rPr>
              <a:t>VMware workstation</a:t>
            </a:r>
            <a:endParaRPr kumimoji="1" lang="zh-TW" altLang="en-US" sz="20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C66E17C4-CBF9-E866-499D-984E9863A5C8}"/>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44</a:t>
            </a:fld>
            <a:endParaRPr lang="zh-TW" altLang="en-US"/>
          </a:p>
        </p:txBody>
      </p:sp>
      <p:grpSp>
        <p:nvGrpSpPr>
          <p:cNvPr id="5" name="群組 23">
            <a:extLst>
              <a:ext uri="{FF2B5EF4-FFF2-40B4-BE49-F238E27FC236}">
                <a16:creationId xmlns:a16="http://schemas.microsoft.com/office/drawing/2014/main" id="{91415B13-AD55-C126-4AF8-883E50F3B49F}"/>
              </a:ext>
            </a:extLst>
          </p:cNvPr>
          <p:cNvGrpSpPr/>
          <p:nvPr/>
        </p:nvGrpSpPr>
        <p:grpSpPr>
          <a:xfrm>
            <a:off x="4166062" y="1817230"/>
            <a:ext cx="4380807" cy="2640265"/>
            <a:chOff x="381000" y="1245940"/>
            <a:chExt cx="8458200" cy="5207396"/>
          </a:xfrm>
        </p:grpSpPr>
        <p:sp>
          <p:nvSpPr>
            <p:cNvPr id="6" name="圓角矩形 3">
              <a:extLst>
                <a:ext uri="{FF2B5EF4-FFF2-40B4-BE49-F238E27FC236}">
                  <a16:creationId xmlns:a16="http://schemas.microsoft.com/office/drawing/2014/main" id="{7CADF253-E05F-9126-D417-AAA72F040F62}"/>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7" name="圓角矩形 4">
              <a:extLst>
                <a:ext uri="{FF2B5EF4-FFF2-40B4-BE49-F238E27FC236}">
                  <a16:creationId xmlns:a16="http://schemas.microsoft.com/office/drawing/2014/main" id="{77B08ACA-06F0-EF2D-B2BA-FDEDFF6EB9C6}"/>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Windows Phone 8’s kernel</a:t>
              </a:r>
              <a:endParaRPr kumimoji="1" lang="zh-TW" altLang="en-US" sz="1350" dirty="0"/>
            </a:p>
          </p:txBody>
        </p:sp>
        <p:sp>
          <p:nvSpPr>
            <p:cNvPr id="8" name="圓角矩形 5">
              <a:extLst>
                <a:ext uri="{FF2B5EF4-FFF2-40B4-BE49-F238E27FC236}">
                  <a16:creationId xmlns:a16="http://schemas.microsoft.com/office/drawing/2014/main" id="{F7252D58-72E7-0D37-9189-7D3F2244AD19}"/>
                </a:ext>
              </a:extLst>
            </p:cNvPr>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dirty="0"/>
                <a:t>Hardware: ARM</a:t>
              </a:r>
              <a:r>
                <a:rPr kumimoji="1" lang="zh-TW" altLang="en-US" dirty="0"/>
                <a:t> </a:t>
              </a:r>
              <a:r>
                <a:rPr kumimoji="1" lang="en-US" altLang="zh-TW" dirty="0"/>
                <a:t>Cortex-A15</a:t>
              </a:r>
              <a:r>
                <a:rPr kumimoji="1" lang="zh-TW" altLang="en-US" dirty="0"/>
                <a:t> </a:t>
              </a:r>
              <a:r>
                <a:rPr kumimoji="1" lang="en-US" altLang="zh-TW" dirty="0"/>
                <a:t>and</a:t>
              </a:r>
              <a:r>
                <a:rPr kumimoji="1" lang="zh-TW" altLang="en-US" dirty="0"/>
                <a:t> </a:t>
              </a:r>
              <a:r>
                <a:rPr kumimoji="1" lang="en-US" altLang="zh-TW" dirty="0"/>
                <a:t>beyond</a:t>
              </a:r>
              <a:endParaRPr kumimoji="1" lang="zh-TW" altLang="en-US" dirty="0"/>
            </a:p>
          </p:txBody>
        </p:sp>
        <p:sp>
          <p:nvSpPr>
            <p:cNvPr id="9" name="文字方塊 8">
              <a:extLst>
                <a:ext uri="{FF2B5EF4-FFF2-40B4-BE49-F238E27FC236}">
                  <a16:creationId xmlns:a16="http://schemas.microsoft.com/office/drawing/2014/main" id="{F864C14A-7910-6D9E-841E-415567EC67DF}"/>
                </a:ext>
              </a:extLst>
            </p:cNvPr>
            <p:cNvSpPr txBox="1"/>
            <p:nvPr/>
          </p:nvSpPr>
          <p:spPr>
            <a:xfrm>
              <a:off x="4724551" y="1245940"/>
              <a:ext cx="3756199" cy="728434"/>
            </a:xfrm>
            <a:prstGeom prst="rect">
              <a:avLst/>
            </a:prstGeom>
            <a:noFill/>
          </p:spPr>
          <p:txBody>
            <a:bodyPr wrap="square" rtlCol="0">
              <a:spAutoFit/>
            </a:bodyPr>
            <a:lstStyle/>
            <a:p>
              <a:pPr algn="ctr"/>
              <a:r>
                <a:rPr kumimoji="1" lang="en-US" altLang="zh-TW" dirty="0">
                  <a:solidFill>
                    <a:srgbClr val="FF0000"/>
                  </a:solidFill>
                </a:rPr>
                <a:t>Windows Phone</a:t>
              </a:r>
              <a:endParaRPr kumimoji="1" lang="zh-TW" altLang="en-US" dirty="0">
                <a:solidFill>
                  <a:srgbClr val="FF0000"/>
                </a:solidFill>
              </a:endParaRPr>
            </a:p>
          </p:txBody>
        </p:sp>
        <p:sp>
          <p:nvSpPr>
            <p:cNvPr id="10" name="圓角矩形 9">
              <a:extLst>
                <a:ext uri="{FF2B5EF4-FFF2-40B4-BE49-F238E27FC236}">
                  <a16:creationId xmlns:a16="http://schemas.microsoft.com/office/drawing/2014/main" id="{96D1C574-E2BC-D7F3-7C9E-7BA8A362834F}"/>
                </a:ext>
              </a:extLst>
            </p:cNvPr>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1" name="文字方塊 10">
              <a:extLst>
                <a:ext uri="{FF2B5EF4-FFF2-40B4-BE49-F238E27FC236}">
                  <a16:creationId xmlns:a16="http://schemas.microsoft.com/office/drawing/2014/main" id="{92AB6231-F8A8-A385-367B-90AB3C5AACF2}"/>
                </a:ext>
              </a:extLst>
            </p:cNvPr>
            <p:cNvSpPr txBox="1"/>
            <p:nvPr/>
          </p:nvSpPr>
          <p:spPr>
            <a:xfrm>
              <a:off x="1096154" y="1275183"/>
              <a:ext cx="2604462" cy="728434"/>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12" name="圓角矩形 11">
              <a:extLst>
                <a:ext uri="{FF2B5EF4-FFF2-40B4-BE49-F238E27FC236}">
                  <a16:creationId xmlns:a16="http://schemas.microsoft.com/office/drawing/2014/main" id="{42822F5A-F647-869D-2AB2-B21A343D9F33}"/>
                </a:ext>
              </a:extLst>
            </p:cNvPr>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3" name="圓角矩形 14">
              <a:extLst>
                <a:ext uri="{FF2B5EF4-FFF2-40B4-BE49-F238E27FC236}">
                  <a16:creationId xmlns:a16="http://schemas.microsoft.com/office/drawing/2014/main" id="{AD768077-551C-EE65-840B-23B3EED0CB23}"/>
                </a:ext>
              </a:extLst>
            </p:cNvPr>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4" name="圓角矩形 15">
              <a:extLst>
                <a:ext uri="{FF2B5EF4-FFF2-40B4-BE49-F238E27FC236}">
                  <a16:creationId xmlns:a16="http://schemas.microsoft.com/office/drawing/2014/main" id="{63EC9491-6B2B-BD49-899E-40184025555B}"/>
                </a:ext>
              </a:extLst>
            </p:cNvPr>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5" name="圓角矩形 16">
              <a:extLst>
                <a:ext uri="{FF2B5EF4-FFF2-40B4-BE49-F238E27FC236}">
                  <a16:creationId xmlns:a16="http://schemas.microsoft.com/office/drawing/2014/main" id="{3966EF0E-E0B9-F765-8515-C3D1F28CF41F}"/>
                </a:ext>
              </a:extLst>
            </p:cNvPr>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6" name="圓角矩形 17">
              <a:extLst>
                <a:ext uri="{FF2B5EF4-FFF2-40B4-BE49-F238E27FC236}">
                  <a16:creationId xmlns:a16="http://schemas.microsoft.com/office/drawing/2014/main" id="{7725B12D-FAC1-1537-7984-180E6F2C56AA}"/>
                </a:ext>
              </a:extLst>
            </p:cNvPr>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7" name="圓角矩形 18">
              <a:extLst>
                <a:ext uri="{FF2B5EF4-FFF2-40B4-BE49-F238E27FC236}">
                  <a16:creationId xmlns:a16="http://schemas.microsoft.com/office/drawing/2014/main" id="{BF92613A-9DEF-56DF-3558-5A93FA3B9E35}"/>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8" name="圓角矩形 19">
              <a:extLst>
                <a:ext uri="{FF2B5EF4-FFF2-40B4-BE49-F238E27FC236}">
                  <a16:creationId xmlns:a16="http://schemas.microsoft.com/office/drawing/2014/main" id="{C0B15FA6-9012-2C50-5BE1-EAA1D21ADBE6}"/>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9" name="圓角矩形 20">
              <a:extLst>
                <a:ext uri="{FF2B5EF4-FFF2-40B4-BE49-F238E27FC236}">
                  <a16:creationId xmlns:a16="http://schemas.microsoft.com/office/drawing/2014/main" id="{89BD7325-1FE0-3B07-B3C7-FEB52C9AE97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0" name="圓角矩形 21">
              <a:extLst>
                <a:ext uri="{FF2B5EF4-FFF2-40B4-BE49-F238E27FC236}">
                  <a16:creationId xmlns:a16="http://schemas.microsoft.com/office/drawing/2014/main" id="{8F0BDB32-B0EE-BF5F-20EB-B14D6BFCB67A}"/>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1" name="圓角矩形 22">
              <a:extLst>
                <a:ext uri="{FF2B5EF4-FFF2-40B4-BE49-F238E27FC236}">
                  <a16:creationId xmlns:a16="http://schemas.microsoft.com/office/drawing/2014/main" id="{6653458C-4F97-0CD6-FCEA-2430E87C7D76}"/>
                </a:ext>
              </a:extLst>
            </p:cNvPr>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Bare-Metal VMM</a:t>
              </a:r>
              <a:endParaRPr kumimoji="1" lang="zh-TW" altLang="en-US" sz="1350" dirty="0"/>
            </a:p>
          </p:txBody>
        </p:sp>
      </p:grpSp>
    </p:spTree>
    <p:extLst>
      <p:ext uri="{BB962C8B-B14F-4D97-AF65-F5344CB8AC3E}">
        <p14:creationId xmlns:p14="http://schemas.microsoft.com/office/powerpoint/2010/main" val="41524602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Type-2 : hosted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45</a:t>
            </a:fld>
            <a:endParaRPr lang="zh-TW" altLang="en-US"/>
          </a:p>
        </p:txBody>
      </p:sp>
    </p:spTree>
    <p:extLst>
      <p:ext uri="{BB962C8B-B14F-4D97-AF65-F5344CB8AC3E}">
        <p14:creationId xmlns:p14="http://schemas.microsoft.com/office/powerpoint/2010/main" val="2801972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lstStyle/>
          <a:p>
            <a:r>
              <a:rPr kumimoji="1" lang="en-US" altLang="zh-TW" dirty="0"/>
              <a:t>Hosted VMM</a:t>
            </a:r>
            <a:endParaRPr kumimoji="1" lang="zh-TW" altLang="en-US" dirty="0"/>
          </a:p>
        </p:txBody>
      </p:sp>
      <p:sp>
        <p:nvSpPr>
          <p:cNvPr id="3" name="內容版面配置區 2"/>
          <p:cNvSpPr>
            <a:spLocks noGrp="1"/>
          </p:cNvSpPr>
          <p:nvPr>
            <p:ph idx="1"/>
          </p:nvPr>
        </p:nvSpPr>
        <p:spPr>
          <a:xfrm>
            <a:off x="457200" y="819215"/>
            <a:ext cx="8229600" cy="3671888"/>
          </a:xfrm>
        </p:spPr>
        <p:txBody>
          <a:bodyPr/>
          <a:lstStyle/>
          <a:p>
            <a:r>
              <a:rPr kumimoji="1" lang="en-US" altLang="zh-TW" sz="2000" dirty="0">
                <a:latin typeface="Times New Roman" panose="02020603050405020304" pitchFamily="18" charset="0"/>
                <a:cs typeface="Times New Roman" panose="02020603050405020304" pitchFamily="18" charset="0"/>
              </a:rPr>
              <a:t>VMM is built on top of an existing OS</a:t>
            </a:r>
          </a:p>
          <a:p>
            <a:r>
              <a:rPr kumimoji="1" lang="en-US" altLang="zh-TW" sz="2000" dirty="0">
                <a:latin typeface="Times New Roman" panose="02020603050405020304" pitchFamily="18" charset="0"/>
                <a:cs typeface="Times New Roman" panose="02020603050405020304" pitchFamily="18" charset="0"/>
              </a:rPr>
              <a:t>Installation process is similar to the installation of an APP</a:t>
            </a:r>
          </a:p>
          <a:p>
            <a:r>
              <a:rPr kumimoji="1" lang="en-US" altLang="zh-TW" sz="2000" dirty="0">
                <a:latin typeface="Times New Roman" panose="02020603050405020304" pitchFamily="18" charset="0"/>
                <a:cs typeface="Times New Roman" panose="02020603050405020304" pitchFamily="18" charset="0"/>
              </a:rPr>
              <a:t>Let the host OS to provide device drivers and other low-level services</a:t>
            </a:r>
          </a:p>
          <a:p>
            <a:r>
              <a:rPr lang="en-US" altLang="zh-TW" sz="2000" dirty="0">
                <a:latin typeface="Times New Roman" panose="02020603050405020304" pitchFamily="18" charset="0"/>
                <a:cs typeface="Times New Roman" panose="02020603050405020304" pitchFamily="18" charset="0"/>
              </a:rPr>
              <a:t>Can patch privileged instructions to VMM calls (traps), or using DBT techniques</a:t>
            </a:r>
          </a:p>
          <a:p>
            <a:r>
              <a:rPr lang="en-US" altLang="zh-TW" sz="2000" dirty="0">
                <a:latin typeface="Times New Roman" panose="02020603050405020304" pitchFamily="18" charset="0"/>
                <a:cs typeface="Times New Roman" panose="02020603050405020304" pitchFamily="18" charset="0"/>
              </a:rPr>
              <a:t>Example:</a:t>
            </a:r>
          </a:p>
          <a:p>
            <a:pPr lvl="1"/>
            <a:r>
              <a:rPr lang="en-US" altLang="zh-TW" sz="2000" dirty="0">
                <a:latin typeface="Times New Roman" panose="02020603050405020304" pitchFamily="18" charset="0"/>
                <a:cs typeface="Times New Roman" panose="02020603050405020304" pitchFamily="18" charset="0"/>
              </a:rPr>
              <a:t>VMware player</a:t>
            </a:r>
          </a:p>
          <a:p>
            <a:pPr lvl="1"/>
            <a:r>
              <a:rPr lang="en-US" altLang="zh-TW" sz="2000" dirty="0">
                <a:latin typeface="Times New Roman" panose="02020603050405020304" pitchFamily="18" charset="0"/>
                <a:cs typeface="Times New Roman" panose="02020603050405020304" pitchFamily="18" charset="0"/>
              </a:rPr>
              <a:t>KVM</a:t>
            </a:r>
          </a:p>
          <a:p>
            <a:pPr lvl="1"/>
            <a:r>
              <a:rPr lang="en-US" altLang="zh-TW" sz="2000" dirty="0">
                <a:latin typeface="Times New Roman" panose="02020603050405020304" pitchFamily="18" charset="0"/>
                <a:cs typeface="Times New Roman" panose="02020603050405020304" pitchFamily="18" charset="0"/>
              </a:rPr>
              <a:t>Parallels</a:t>
            </a:r>
          </a:p>
        </p:txBody>
      </p:sp>
      <p:sp>
        <p:nvSpPr>
          <p:cNvPr id="4" name="灯片编号占位符 1">
            <a:extLst>
              <a:ext uri="{FF2B5EF4-FFF2-40B4-BE49-F238E27FC236}">
                <a16:creationId xmlns:a16="http://schemas.microsoft.com/office/drawing/2014/main" id="{CD86638A-9C39-62AC-B589-8DB14D8184D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46</a:t>
            </a:fld>
            <a:endParaRPr lang="zh-TW" altLang="en-US"/>
          </a:p>
        </p:txBody>
      </p:sp>
      <p:grpSp>
        <p:nvGrpSpPr>
          <p:cNvPr id="5" name="组合 4">
            <a:extLst>
              <a:ext uri="{FF2B5EF4-FFF2-40B4-BE49-F238E27FC236}">
                <a16:creationId xmlns:a16="http://schemas.microsoft.com/office/drawing/2014/main" id="{F0EF23AD-852D-FF4E-CCBF-DFB41EA3B163}"/>
              </a:ext>
            </a:extLst>
          </p:cNvPr>
          <p:cNvGrpSpPr/>
          <p:nvPr/>
        </p:nvGrpSpPr>
        <p:grpSpPr>
          <a:xfrm>
            <a:off x="3948545" y="2328517"/>
            <a:ext cx="4025939" cy="2212464"/>
            <a:chOff x="1439652" y="909866"/>
            <a:chExt cx="6318702" cy="3930136"/>
          </a:xfrm>
        </p:grpSpPr>
        <p:sp>
          <p:nvSpPr>
            <p:cNvPr id="6" name="圓角矩形 5">
              <a:extLst>
                <a:ext uri="{FF2B5EF4-FFF2-40B4-BE49-F238E27FC236}">
                  <a16:creationId xmlns:a16="http://schemas.microsoft.com/office/drawing/2014/main" id="{4D49C9A7-6ABE-98D7-A4FD-768461550EE4}"/>
                </a:ext>
              </a:extLst>
            </p:cNvPr>
            <p:cNvSpPr/>
            <p:nvPr/>
          </p:nvSpPr>
          <p:spPr>
            <a:xfrm>
              <a:off x="1439652" y="4299942"/>
              <a:ext cx="6318702" cy="54006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1400" dirty="0"/>
                <a:t>Hardware: ARM</a:t>
              </a:r>
              <a:r>
                <a:rPr kumimoji="1" lang="zh-TW" altLang="en-US" sz="1400" dirty="0"/>
                <a:t> </a:t>
              </a:r>
              <a:r>
                <a:rPr kumimoji="1" lang="en-US" altLang="zh-TW" sz="1400" dirty="0"/>
                <a:t>Cortex-A15</a:t>
              </a:r>
              <a:r>
                <a:rPr kumimoji="1" lang="zh-TW" altLang="en-US" sz="1400" dirty="0"/>
                <a:t> </a:t>
              </a:r>
              <a:r>
                <a:rPr kumimoji="1" lang="en-US" altLang="zh-TW" sz="1400" dirty="0"/>
                <a:t>and</a:t>
              </a:r>
              <a:r>
                <a:rPr kumimoji="1" lang="zh-TW" altLang="en-US" sz="1400" dirty="0"/>
                <a:t> </a:t>
              </a:r>
              <a:r>
                <a:rPr kumimoji="1" lang="en-US" altLang="zh-TW" sz="1400" dirty="0"/>
                <a:t>beyond</a:t>
              </a:r>
              <a:endParaRPr kumimoji="1" lang="zh-TW" altLang="en-US" sz="1400" dirty="0"/>
            </a:p>
          </p:txBody>
        </p:sp>
        <p:sp>
          <p:nvSpPr>
            <p:cNvPr id="7" name="圓角矩形 9">
              <a:extLst>
                <a:ext uri="{FF2B5EF4-FFF2-40B4-BE49-F238E27FC236}">
                  <a16:creationId xmlns:a16="http://schemas.microsoft.com/office/drawing/2014/main" id="{7EADAFCE-06FC-C7DA-9FAC-98FA05C4F926}"/>
                </a:ext>
              </a:extLst>
            </p:cNvPr>
            <p:cNvSpPr/>
            <p:nvPr/>
          </p:nvSpPr>
          <p:spPr>
            <a:xfrm>
              <a:off x="1439652" y="1005576"/>
              <a:ext cx="6218448" cy="3280674"/>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8" name="文字方塊 10">
              <a:extLst>
                <a:ext uri="{FF2B5EF4-FFF2-40B4-BE49-F238E27FC236}">
                  <a16:creationId xmlns:a16="http://schemas.microsoft.com/office/drawing/2014/main" id="{73059C1A-182F-BE68-88C9-62CA73C2178F}"/>
                </a:ext>
              </a:extLst>
            </p:cNvPr>
            <p:cNvSpPr txBox="1"/>
            <p:nvPr/>
          </p:nvSpPr>
          <p:spPr>
            <a:xfrm>
              <a:off x="3561844" y="909866"/>
              <a:ext cx="1890210" cy="369332"/>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9" name="圓角矩形 11">
              <a:extLst>
                <a:ext uri="{FF2B5EF4-FFF2-40B4-BE49-F238E27FC236}">
                  <a16:creationId xmlns:a16="http://schemas.microsoft.com/office/drawing/2014/main" id="{6E4B89F8-2E37-033D-DBB2-C5EEA5CAB920}"/>
                </a:ext>
              </a:extLst>
            </p:cNvPr>
            <p:cNvSpPr/>
            <p:nvPr/>
          </p:nvSpPr>
          <p:spPr>
            <a:xfrm>
              <a:off x="1601671" y="3170496"/>
              <a:ext cx="5938987" cy="942162"/>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600" dirty="0"/>
                <a:t>Linux kernel</a:t>
              </a:r>
              <a:endParaRPr kumimoji="1" lang="zh-TW" altLang="en-US" sz="1600" dirty="0"/>
            </a:p>
          </p:txBody>
        </p:sp>
        <p:sp>
          <p:nvSpPr>
            <p:cNvPr id="10" name="圓角矩形 14">
              <a:extLst>
                <a:ext uri="{FF2B5EF4-FFF2-40B4-BE49-F238E27FC236}">
                  <a16:creationId xmlns:a16="http://schemas.microsoft.com/office/drawing/2014/main" id="{E96EF708-9080-F340-D8CC-D9706A9EFF28}"/>
                </a:ext>
              </a:extLst>
            </p:cNvPr>
            <p:cNvSpPr/>
            <p:nvPr/>
          </p:nvSpPr>
          <p:spPr>
            <a:xfrm>
              <a:off x="1601670" y="1437624"/>
              <a:ext cx="594066" cy="1648476"/>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1" name="圓角矩形 15">
              <a:extLst>
                <a:ext uri="{FF2B5EF4-FFF2-40B4-BE49-F238E27FC236}">
                  <a16:creationId xmlns:a16="http://schemas.microsoft.com/office/drawing/2014/main" id="{14D56DDD-48BD-E631-CCDC-20C71EC09DAA}"/>
                </a:ext>
              </a:extLst>
            </p:cNvPr>
            <p:cNvSpPr/>
            <p:nvPr/>
          </p:nvSpPr>
          <p:spPr>
            <a:xfrm>
              <a:off x="22288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2" name="圓角矩形 16">
              <a:extLst>
                <a:ext uri="{FF2B5EF4-FFF2-40B4-BE49-F238E27FC236}">
                  <a16:creationId xmlns:a16="http://schemas.microsoft.com/office/drawing/2014/main" id="{EABB3619-036F-EA7E-1DA3-92E3FEF47B4F}"/>
                </a:ext>
              </a:extLst>
            </p:cNvPr>
            <p:cNvSpPr/>
            <p:nvPr/>
          </p:nvSpPr>
          <p:spPr>
            <a:xfrm>
              <a:off x="29146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3" name="圓角矩形 17">
              <a:extLst>
                <a:ext uri="{FF2B5EF4-FFF2-40B4-BE49-F238E27FC236}">
                  <a16:creationId xmlns:a16="http://schemas.microsoft.com/office/drawing/2014/main" id="{3B8CD54A-506E-D061-34F0-F8077C3DDE0F}"/>
                </a:ext>
              </a:extLst>
            </p:cNvPr>
            <p:cNvSpPr/>
            <p:nvPr/>
          </p:nvSpPr>
          <p:spPr>
            <a:xfrm>
              <a:off x="36004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grpSp>
          <p:nvGrpSpPr>
            <p:cNvPr id="14" name="群組 2">
              <a:extLst>
                <a:ext uri="{FF2B5EF4-FFF2-40B4-BE49-F238E27FC236}">
                  <a16:creationId xmlns:a16="http://schemas.microsoft.com/office/drawing/2014/main" id="{E392E52E-E00A-4536-D184-B6E7A93651CF}"/>
                </a:ext>
              </a:extLst>
            </p:cNvPr>
            <p:cNvGrpSpPr/>
            <p:nvPr/>
          </p:nvGrpSpPr>
          <p:grpSpPr>
            <a:xfrm>
              <a:off x="4400550" y="1428750"/>
              <a:ext cx="1427280" cy="1334430"/>
              <a:chOff x="4499992" y="1090276"/>
              <a:chExt cx="4032448" cy="4167524"/>
            </a:xfrm>
          </p:grpSpPr>
          <p:sp>
            <p:nvSpPr>
              <p:cNvPr id="24" name="圓角矩形 3">
                <a:extLst>
                  <a:ext uri="{FF2B5EF4-FFF2-40B4-BE49-F238E27FC236}">
                    <a16:creationId xmlns:a16="http://schemas.microsoft.com/office/drawing/2014/main" id="{44ADE8AC-BCD7-F823-B9DF-AC6B045DE204}"/>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25" name="圓角矩形 4">
                <a:extLst>
                  <a:ext uri="{FF2B5EF4-FFF2-40B4-BE49-F238E27FC236}">
                    <a16:creationId xmlns:a16="http://schemas.microsoft.com/office/drawing/2014/main" id="{DB300F35-F504-0F31-5A75-E6496E9EAA10}"/>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26" name="文字方塊 8">
                <a:extLst>
                  <a:ext uri="{FF2B5EF4-FFF2-40B4-BE49-F238E27FC236}">
                    <a16:creationId xmlns:a16="http://schemas.microsoft.com/office/drawing/2014/main" id="{DD7F27E0-C7BD-5A07-EC30-3A7C4907146C}"/>
                  </a:ext>
                </a:extLst>
              </p:cNvPr>
              <p:cNvSpPr txBox="1"/>
              <p:nvPr/>
            </p:nvSpPr>
            <p:spPr>
              <a:xfrm>
                <a:off x="5468776"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7" name="圓角矩形 18">
                <a:extLst>
                  <a:ext uri="{FF2B5EF4-FFF2-40B4-BE49-F238E27FC236}">
                    <a16:creationId xmlns:a16="http://schemas.microsoft.com/office/drawing/2014/main" id="{0851A737-CDD8-4C55-27FB-305BDF5966F1}"/>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8" name="圓角矩形 19">
                <a:extLst>
                  <a:ext uri="{FF2B5EF4-FFF2-40B4-BE49-F238E27FC236}">
                    <a16:creationId xmlns:a16="http://schemas.microsoft.com/office/drawing/2014/main" id="{EE169243-E0E8-0319-61FA-B5401BA4CDFE}"/>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9" name="圓角矩形 20">
                <a:extLst>
                  <a:ext uri="{FF2B5EF4-FFF2-40B4-BE49-F238E27FC236}">
                    <a16:creationId xmlns:a16="http://schemas.microsoft.com/office/drawing/2014/main" id="{82BCC9A5-268B-49E4-F864-9107BCD3518F}"/>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30" name="圓角矩形 21">
                <a:extLst>
                  <a:ext uri="{FF2B5EF4-FFF2-40B4-BE49-F238E27FC236}">
                    <a16:creationId xmlns:a16="http://schemas.microsoft.com/office/drawing/2014/main" id="{E8D977F2-E2D8-99EF-5996-96D1A5A7C132}"/>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sp>
          <p:nvSpPr>
            <p:cNvPr id="15" name="圓角矩形 22">
              <a:extLst>
                <a:ext uri="{FF2B5EF4-FFF2-40B4-BE49-F238E27FC236}">
                  <a16:creationId xmlns:a16="http://schemas.microsoft.com/office/drawing/2014/main" id="{4E82BC43-ADD1-966B-7BE8-8AFA71B0A314}"/>
                </a:ext>
              </a:extLst>
            </p:cNvPr>
            <p:cNvSpPr/>
            <p:nvPr/>
          </p:nvSpPr>
          <p:spPr>
            <a:xfrm>
              <a:off x="4343400" y="2743200"/>
              <a:ext cx="3086100" cy="378042"/>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Hosted VMM</a:t>
              </a:r>
              <a:endParaRPr kumimoji="1" lang="zh-TW" altLang="en-US" sz="1350" dirty="0"/>
            </a:p>
          </p:txBody>
        </p:sp>
        <p:grpSp>
          <p:nvGrpSpPr>
            <p:cNvPr id="16" name="群組 24">
              <a:extLst>
                <a:ext uri="{FF2B5EF4-FFF2-40B4-BE49-F238E27FC236}">
                  <a16:creationId xmlns:a16="http://schemas.microsoft.com/office/drawing/2014/main" id="{4B858CAA-F292-7291-9B2A-FF4F148DC539}"/>
                </a:ext>
              </a:extLst>
            </p:cNvPr>
            <p:cNvGrpSpPr/>
            <p:nvPr/>
          </p:nvGrpSpPr>
          <p:grpSpPr>
            <a:xfrm>
              <a:off x="5886450" y="1428750"/>
              <a:ext cx="1427280" cy="1334430"/>
              <a:chOff x="4499992" y="1090276"/>
              <a:chExt cx="4032448" cy="4167524"/>
            </a:xfrm>
          </p:grpSpPr>
          <p:sp>
            <p:nvSpPr>
              <p:cNvPr id="17" name="圓角矩形 25">
                <a:extLst>
                  <a:ext uri="{FF2B5EF4-FFF2-40B4-BE49-F238E27FC236}">
                    <a16:creationId xmlns:a16="http://schemas.microsoft.com/office/drawing/2014/main" id="{0A80570E-D94A-5663-204B-87E19391D9F0}"/>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8" name="圓角矩形 26">
                <a:extLst>
                  <a:ext uri="{FF2B5EF4-FFF2-40B4-BE49-F238E27FC236}">
                    <a16:creationId xmlns:a16="http://schemas.microsoft.com/office/drawing/2014/main" id="{0F909A48-324D-FDF3-323C-2F01907950B8}"/>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19" name="文字方塊 27">
                <a:extLst>
                  <a:ext uri="{FF2B5EF4-FFF2-40B4-BE49-F238E27FC236}">
                    <a16:creationId xmlns:a16="http://schemas.microsoft.com/office/drawing/2014/main" id="{801E14CC-E3DE-F048-4459-30D740F0895E}"/>
                  </a:ext>
                </a:extLst>
              </p:cNvPr>
              <p:cNvSpPr txBox="1"/>
              <p:nvPr/>
            </p:nvSpPr>
            <p:spPr>
              <a:xfrm>
                <a:off x="5307312"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0" name="圓角矩形 28">
                <a:extLst>
                  <a:ext uri="{FF2B5EF4-FFF2-40B4-BE49-F238E27FC236}">
                    <a16:creationId xmlns:a16="http://schemas.microsoft.com/office/drawing/2014/main" id="{C2C1CE85-4335-F866-B139-31523965F13F}"/>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1" name="圓角矩形 29">
                <a:extLst>
                  <a:ext uri="{FF2B5EF4-FFF2-40B4-BE49-F238E27FC236}">
                    <a16:creationId xmlns:a16="http://schemas.microsoft.com/office/drawing/2014/main" id="{89B207CD-C6D6-04D1-3B40-0E2B9BDD0DEF}"/>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2" name="圓角矩形 30">
                <a:extLst>
                  <a:ext uri="{FF2B5EF4-FFF2-40B4-BE49-F238E27FC236}">
                    <a16:creationId xmlns:a16="http://schemas.microsoft.com/office/drawing/2014/main" id="{5743DB98-F618-71D0-7F82-FFB35EC7468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3" name="圓角矩形 31">
                <a:extLst>
                  <a:ext uri="{FF2B5EF4-FFF2-40B4-BE49-F238E27FC236}">
                    <a16:creationId xmlns:a16="http://schemas.microsoft.com/office/drawing/2014/main" id="{0A996A01-55DA-6F24-187C-53765DB46C9B}"/>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grpSp>
    </p:spTree>
    <p:extLst>
      <p:ext uri="{BB962C8B-B14F-4D97-AF65-F5344CB8AC3E}">
        <p14:creationId xmlns:p14="http://schemas.microsoft.com/office/powerpoint/2010/main" val="378714142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noAutofit/>
          </a:bodyPr>
          <a:lstStyle/>
          <a:p>
            <a:r>
              <a:rPr lang="en-US" altLang="zh-TW" sz="3200" dirty="0"/>
              <a:t>Comparison with Native and Hosted VMs</a:t>
            </a:r>
            <a:endParaRPr lang="zh-TW" altLang="en-US" sz="3200" dirty="0"/>
          </a:p>
        </p:txBody>
      </p:sp>
      <p:grpSp>
        <p:nvGrpSpPr>
          <p:cNvPr id="4" name="Group 9"/>
          <p:cNvGrpSpPr>
            <a:grpSpLocks noChangeAspect="1"/>
          </p:cNvGrpSpPr>
          <p:nvPr/>
        </p:nvGrpSpPr>
        <p:grpSpPr bwMode="auto">
          <a:xfrm>
            <a:off x="702912" y="972589"/>
            <a:ext cx="7738176" cy="3499657"/>
            <a:chOff x="127" y="1056"/>
            <a:chExt cx="5645" cy="2553"/>
          </a:xfrm>
        </p:grpSpPr>
        <p:sp>
          <p:nvSpPr>
            <p:cNvPr id="5" name="AutoShape 8"/>
            <p:cNvSpPr>
              <a:spLocks noChangeAspect="1" noChangeArrowheads="1" noTextEdit="1"/>
            </p:cNvSpPr>
            <p:nvPr/>
          </p:nvSpPr>
          <p:spPr bwMode="auto">
            <a:xfrm>
              <a:off x="127" y="1056"/>
              <a:ext cx="5633" cy="2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p>
          </p:txBody>
        </p:sp>
        <p:sp>
          <p:nvSpPr>
            <p:cNvPr id="6" name="Rectangle 10"/>
            <p:cNvSpPr>
              <a:spLocks noChangeArrowheads="1"/>
            </p:cNvSpPr>
            <p:nvPr/>
          </p:nvSpPr>
          <p:spPr bwMode="auto">
            <a:xfrm>
              <a:off x="4918" y="1533"/>
              <a:ext cx="825"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 name="Rectangle 11"/>
            <p:cNvSpPr>
              <a:spLocks noChangeArrowheads="1"/>
            </p:cNvSpPr>
            <p:nvPr/>
          </p:nvSpPr>
          <p:spPr bwMode="auto">
            <a:xfrm>
              <a:off x="4982" y="1622"/>
              <a:ext cx="79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Non-privileged</a:t>
              </a:r>
              <a:endParaRPr lang="en-US" altLang="zh-TW" sz="1350" b="1">
                <a:cs typeface="新細明體" charset="0"/>
              </a:endParaRPr>
            </a:p>
          </p:txBody>
        </p:sp>
        <p:sp>
          <p:nvSpPr>
            <p:cNvPr id="8" name="Rectangle 12"/>
            <p:cNvSpPr>
              <a:spLocks noChangeArrowheads="1"/>
            </p:cNvSpPr>
            <p:nvPr/>
          </p:nvSpPr>
          <p:spPr bwMode="auto">
            <a:xfrm>
              <a:off x="5185" y="1760"/>
              <a:ext cx="36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modes</a:t>
              </a:r>
              <a:endParaRPr lang="en-US" altLang="zh-TW" sz="1350" b="1">
                <a:cs typeface="新細明體" charset="0"/>
              </a:endParaRPr>
            </a:p>
          </p:txBody>
        </p:sp>
        <p:sp>
          <p:nvSpPr>
            <p:cNvPr id="9" name="Freeform 13"/>
            <p:cNvSpPr>
              <a:spLocks noEditPoints="1"/>
            </p:cNvSpPr>
            <p:nvPr/>
          </p:nvSpPr>
          <p:spPr bwMode="auto">
            <a:xfrm>
              <a:off x="225" y="1754"/>
              <a:ext cx="5463" cy="12"/>
            </a:xfrm>
            <a:custGeom>
              <a:avLst/>
              <a:gdLst>
                <a:gd name="T0" fmla="*/ 185 w 10926"/>
                <a:gd name="T1" fmla="*/ 8 h 23"/>
                <a:gd name="T2" fmla="*/ 1 w 10926"/>
                <a:gd name="T3" fmla="*/ 9 h 23"/>
                <a:gd name="T4" fmla="*/ 6 w 10926"/>
                <a:gd name="T5" fmla="*/ 0 h 23"/>
                <a:gd name="T6" fmla="*/ 462 w 10926"/>
                <a:gd name="T7" fmla="*/ 8 h 23"/>
                <a:gd name="T8" fmla="*/ 279 w 10926"/>
                <a:gd name="T9" fmla="*/ 9 h 23"/>
                <a:gd name="T10" fmla="*/ 284 w 10926"/>
                <a:gd name="T11" fmla="*/ 0 h 23"/>
                <a:gd name="T12" fmla="*/ 740 w 10926"/>
                <a:gd name="T13" fmla="*/ 8 h 23"/>
                <a:gd name="T14" fmla="*/ 557 w 10926"/>
                <a:gd name="T15" fmla="*/ 9 h 23"/>
                <a:gd name="T16" fmla="*/ 561 w 10926"/>
                <a:gd name="T17" fmla="*/ 0 h 23"/>
                <a:gd name="T18" fmla="*/ 1018 w 10926"/>
                <a:gd name="T19" fmla="*/ 8 h 23"/>
                <a:gd name="T20" fmla="*/ 834 w 10926"/>
                <a:gd name="T21" fmla="*/ 9 h 23"/>
                <a:gd name="T22" fmla="*/ 839 w 10926"/>
                <a:gd name="T23" fmla="*/ 0 h 23"/>
                <a:gd name="T24" fmla="*/ 1296 w 10926"/>
                <a:gd name="T25" fmla="*/ 8 h 23"/>
                <a:gd name="T26" fmla="*/ 1112 w 10926"/>
                <a:gd name="T27" fmla="*/ 9 h 23"/>
                <a:gd name="T28" fmla="*/ 1117 w 10926"/>
                <a:gd name="T29" fmla="*/ 0 h 23"/>
                <a:gd name="T30" fmla="*/ 1573 w 10926"/>
                <a:gd name="T31" fmla="*/ 8 h 23"/>
                <a:gd name="T32" fmla="*/ 1390 w 10926"/>
                <a:gd name="T33" fmla="*/ 9 h 23"/>
                <a:gd name="T34" fmla="*/ 1394 w 10926"/>
                <a:gd name="T35" fmla="*/ 0 h 23"/>
                <a:gd name="T36" fmla="*/ 1852 w 10926"/>
                <a:gd name="T37" fmla="*/ 8 h 23"/>
                <a:gd name="T38" fmla="*/ 1668 w 10926"/>
                <a:gd name="T39" fmla="*/ 9 h 23"/>
                <a:gd name="T40" fmla="*/ 1673 w 10926"/>
                <a:gd name="T41" fmla="*/ 0 h 23"/>
                <a:gd name="T42" fmla="*/ 2129 w 10926"/>
                <a:gd name="T43" fmla="*/ 8 h 23"/>
                <a:gd name="T44" fmla="*/ 1945 w 10926"/>
                <a:gd name="T45" fmla="*/ 9 h 23"/>
                <a:gd name="T46" fmla="*/ 1950 w 10926"/>
                <a:gd name="T47" fmla="*/ 0 h 23"/>
                <a:gd name="T48" fmla="*/ 2407 w 10926"/>
                <a:gd name="T49" fmla="*/ 8 h 23"/>
                <a:gd name="T50" fmla="*/ 2224 w 10926"/>
                <a:gd name="T51" fmla="*/ 9 h 23"/>
                <a:gd name="T52" fmla="*/ 2228 w 10926"/>
                <a:gd name="T53" fmla="*/ 0 h 23"/>
                <a:gd name="T54" fmla="*/ 2685 w 10926"/>
                <a:gd name="T55" fmla="*/ 8 h 23"/>
                <a:gd name="T56" fmla="*/ 2501 w 10926"/>
                <a:gd name="T57" fmla="*/ 9 h 23"/>
                <a:gd name="T58" fmla="*/ 2506 w 10926"/>
                <a:gd name="T59" fmla="*/ 0 h 23"/>
                <a:gd name="T60" fmla="*/ 2962 w 10926"/>
                <a:gd name="T61" fmla="*/ 8 h 23"/>
                <a:gd name="T62" fmla="*/ 2779 w 10926"/>
                <a:gd name="T63" fmla="*/ 9 h 23"/>
                <a:gd name="T64" fmla="*/ 2784 w 10926"/>
                <a:gd name="T65" fmla="*/ 0 h 23"/>
                <a:gd name="T66" fmla="*/ 3240 w 10926"/>
                <a:gd name="T67" fmla="*/ 8 h 23"/>
                <a:gd name="T68" fmla="*/ 3057 w 10926"/>
                <a:gd name="T69" fmla="*/ 9 h 23"/>
                <a:gd name="T70" fmla="*/ 3061 w 10926"/>
                <a:gd name="T71" fmla="*/ 0 h 23"/>
                <a:gd name="T72" fmla="*/ 3518 w 10926"/>
                <a:gd name="T73" fmla="*/ 8 h 23"/>
                <a:gd name="T74" fmla="*/ 3334 w 10926"/>
                <a:gd name="T75" fmla="*/ 9 h 23"/>
                <a:gd name="T76" fmla="*/ 3339 w 10926"/>
                <a:gd name="T77" fmla="*/ 0 h 23"/>
                <a:gd name="T78" fmla="*/ 3796 w 10926"/>
                <a:gd name="T79" fmla="*/ 8 h 23"/>
                <a:gd name="T80" fmla="*/ 3612 w 10926"/>
                <a:gd name="T81" fmla="*/ 9 h 23"/>
                <a:gd name="T82" fmla="*/ 3617 w 10926"/>
                <a:gd name="T83" fmla="*/ 0 h 23"/>
                <a:gd name="T84" fmla="*/ 4073 w 10926"/>
                <a:gd name="T85" fmla="*/ 8 h 23"/>
                <a:gd name="T86" fmla="*/ 3890 w 10926"/>
                <a:gd name="T87" fmla="*/ 9 h 23"/>
                <a:gd name="T88" fmla="*/ 3895 w 10926"/>
                <a:gd name="T89" fmla="*/ 0 h 23"/>
                <a:gd name="T90" fmla="*/ 4352 w 10926"/>
                <a:gd name="T91" fmla="*/ 8 h 23"/>
                <a:gd name="T92" fmla="*/ 4168 w 10926"/>
                <a:gd name="T93" fmla="*/ 9 h 23"/>
                <a:gd name="T94" fmla="*/ 4173 w 10926"/>
                <a:gd name="T95" fmla="*/ 0 h 23"/>
                <a:gd name="T96" fmla="*/ 4629 w 10926"/>
                <a:gd name="T97" fmla="*/ 8 h 23"/>
                <a:gd name="T98" fmla="*/ 4445 w 10926"/>
                <a:gd name="T99" fmla="*/ 9 h 23"/>
                <a:gd name="T100" fmla="*/ 4450 w 10926"/>
                <a:gd name="T101" fmla="*/ 0 h 23"/>
                <a:gd name="T102" fmla="*/ 4907 w 10926"/>
                <a:gd name="T103" fmla="*/ 8 h 23"/>
                <a:gd name="T104" fmla="*/ 4724 w 10926"/>
                <a:gd name="T105" fmla="*/ 9 h 23"/>
                <a:gd name="T106" fmla="*/ 4728 w 10926"/>
                <a:gd name="T107" fmla="*/ 0 h 23"/>
                <a:gd name="T108" fmla="*/ 5185 w 10926"/>
                <a:gd name="T109" fmla="*/ 8 h 23"/>
                <a:gd name="T110" fmla="*/ 5001 w 10926"/>
                <a:gd name="T111" fmla="*/ 9 h 23"/>
                <a:gd name="T112" fmla="*/ 5006 w 10926"/>
                <a:gd name="T113" fmla="*/ 0 h 23"/>
                <a:gd name="T114" fmla="*/ 5462 w 10926"/>
                <a:gd name="T115" fmla="*/ 8 h 23"/>
                <a:gd name="T116" fmla="*/ 5279 w 10926"/>
                <a:gd name="T117" fmla="*/ 9 h 23"/>
                <a:gd name="T118" fmla="*/ 5284 w 10926"/>
                <a:gd name="T119" fmla="*/ 0 h 2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0926"/>
                <a:gd name="T181" fmla="*/ 0 h 23"/>
                <a:gd name="T182" fmla="*/ 10926 w 10926"/>
                <a:gd name="T183" fmla="*/ 23 h 23"/>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0926" h="23">
                  <a:moveTo>
                    <a:pt x="12" y="0"/>
                  </a:moveTo>
                  <a:lnTo>
                    <a:pt x="359" y="0"/>
                  </a:lnTo>
                  <a:lnTo>
                    <a:pt x="361" y="0"/>
                  </a:lnTo>
                  <a:lnTo>
                    <a:pt x="363" y="0"/>
                  </a:lnTo>
                  <a:lnTo>
                    <a:pt x="365" y="1"/>
                  </a:lnTo>
                  <a:lnTo>
                    <a:pt x="366" y="3"/>
                  </a:lnTo>
                  <a:lnTo>
                    <a:pt x="368" y="4"/>
                  </a:lnTo>
                  <a:lnTo>
                    <a:pt x="369" y="7"/>
                  </a:lnTo>
                  <a:lnTo>
                    <a:pt x="369" y="8"/>
                  </a:lnTo>
                  <a:lnTo>
                    <a:pt x="371" y="11"/>
                  </a:lnTo>
                  <a:lnTo>
                    <a:pt x="369" y="13"/>
                  </a:lnTo>
                  <a:lnTo>
                    <a:pt x="369" y="16"/>
                  </a:lnTo>
                  <a:lnTo>
                    <a:pt x="368" y="17"/>
                  </a:lnTo>
                  <a:lnTo>
                    <a:pt x="366" y="18"/>
                  </a:lnTo>
                  <a:lnTo>
                    <a:pt x="365" y="20"/>
                  </a:lnTo>
                  <a:lnTo>
                    <a:pt x="363" y="21"/>
                  </a:lnTo>
                  <a:lnTo>
                    <a:pt x="361" y="23"/>
                  </a:lnTo>
                  <a:lnTo>
                    <a:pt x="359" y="23"/>
                  </a:lnTo>
                  <a:lnTo>
                    <a:pt x="12" y="23"/>
                  </a:lnTo>
                  <a:lnTo>
                    <a:pt x="9" y="23"/>
                  </a:lnTo>
                  <a:lnTo>
                    <a:pt x="6" y="21"/>
                  </a:lnTo>
                  <a:lnTo>
                    <a:pt x="4" y="20"/>
                  </a:lnTo>
                  <a:lnTo>
                    <a:pt x="3" y="18"/>
                  </a:lnTo>
                  <a:lnTo>
                    <a:pt x="2" y="17"/>
                  </a:lnTo>
                  <a:lnTo>
                    <a:pt x="0" y="16"/>
                  </a:lnTo>
                  <a:lnTo>
                    <a:pt x="0" y="13"/>
                  </a:lnTo>
                  <a:lnTo>
                    <a:pt x="0" y="11"/>
                  </a:lnTo>
                  <a:lnTo>
                    <a:pt x="0" y="8"/>
                  </a:lnTo>
                  <a:lnTo>
                    <a:pt x="0" y="7"/>
                  </a:lnTo>
                  <a:lnTo>
                    <a:pt x="2" y="4"/>
                  </a:lnTo>
                  <a:lnTo>
                    <a:pt x="3" y="3"/>
                  </a:lnTo>
                  <a:lnTo>
                    <a:pt x="4" y="1"/>
                  </a:lnTo>
                  <a:lnTo>
                    <a:pt x="6" y="0"/>
                  </a:lnTo>
                  <a:lnTo>
                    <a:pt x="9" y="0"/>
                  </a:lnTo>
                  <a:lnTo>
                    <a:pt x="12" y="0"/>
                  </a:lnTo>
                  <a:close/>
                  <a:moveTo>
                    <a:pt x="567" y="0"/>
                  </a:moveTo>
                  <a:lnTo>
                    <a:pt x="914" y="0"/>
                  </a:lnTo>
                  <a:lnTo>
                    <a:pt x="916" y="0"/>
                  </a:lnTo>
                  <a:lnTo>
                    <a:pt x="918" y="0"/>
                  </a:lnTo>
                  <a:lnTo>
                    <a:pt x="920" y="1"/>
                  </a:lnTo>
                  <a:lnTo>
                    <a:pt x="921" y="3"/>
                  </a:lnTo>
                  <a:lnTo>
                    <a:pt x="923" y="4"/>
                  </a:lnTo>
                  <a:lnTo>
                    <a:pt x="924" y="7"/>
                  </a:lnTo>
                  <a:lnTo>
                    <a:pt x="926" y="8"/>
                  </a:lnTo>
                  <a:lnTo>
                    <a:pt x="926" y="11"/>
                  </a:lnTo>
                  <a:lnTo>
                    <a:pt x="926" y="13"/>
                  </a:lnTo>
                  <a:lnTo>
                    <a:pt x="924" y="16"/>
                  </a:lnTo>
                  <a:lnTo>
                    <a:pt x="923" y="17"/>
                  </a:lnTo>
                  <a:lnTo>
                    <a:pt x="921" y="18"/>
                  </a:lnTo>
                  <a:lnTo>
                    <a:pt x="920" y="20"/>
                  </a:lnTo>
                  <a:lnTo>
                    <a:pt x="918" y="21"/>
                  </a:lnTo>
                  <a:lnTo>
                    <a:pt x="916" y="23"/>
                  </a:lnTo>
                  <a:lnTo>
                    <a:pt x="914" y="23"/>
                  </a:lnTo>
                  <a:lnTo>
                    <a:pt x="567" y="23"/>
                  </a:lnTo>
                  <a:lnTo>
                    <a:pt x="564" y="23"/>
                  </a:lnTo>
                  <a:lnTo>
                    <a:pt x="562" y="21"/>
                  </a:lnTo>
                  <a:lnTo>
                    <a:pt x="561" y="20"/>
                  </a:lnTo>
                  <a:lnTo>
                    <a:pt x="558" y="18"/>
                  </a:lnTo>
                  <a:lnTo>
                    <a:pt x="557" y="17"/>
                  </a:lnTo>
                  <a:lnTo>
                    <a:pt x="557" y="16"/>
                  </a:lnTo>
                  <a:lnTo>
                    <a:pt x="555" y="13"/>
                  </a:lnTo>
                  <a:lnTo>
                    <a:pt x="555" y="11"/>
                  </a:lnTo>
                  <a:lnTo>
                    <a:pt x="555" y="8"/>
                  </a:lnTo>
                  <a:lnTo>
                    <a:pt x="557" y="7"/>
                  </a:lnTo>
                  <a:lnTo>
                    <a:pt x="557" y="4"/>
                  </a:lnTo>
                  <a:lnTo>
                    <a:pt x="558" y="3"/>
                  </a:lnTo>
                  <a:lnTo>
                    <a:pt x="561" y="1"/>
                  </a:lnTo>
                  <a:lnTo>
                    <a:pt x="562" y="0"/>
                  </a:lnTo>
                  <a:lnTo>
                    <a:pt x="564" y="0"/>
                  </a:lnTo>
                  <a:lnTo>
                    <a:pt x="567" y="0"/>
                  </a:lnTo>
                  <a:close/>
                  <a:moveTo>
                    <a:pt x="1122" y="0"/>
                  </a:moveTo>
                  <a:lnTo>
                    <a:pt x="1469" y="0"/>
                  </a:lnTo>
                  <a:lnTo>
                    <a:pt x="1472" y="0"/>
                  </a:lnTo>
                  <a:lnTo>
                    <a:pt x="1474" y="0"/>
                  </a:lnTo>
                  <a:lnTo>
                    <a:pt x="1476" y="1"/>
                  </a:lnTo>
                  <a:lnTo>
                    <a:pt x="1478" y="3"/>
                  </a:lnTo>
                  <a:lnTo>
                    <a:pt x="1479" y="4"/>
                  </a:lnTo>
                  <a:lnTo>
                    <a:pt x="1479" y="7"/>
                  </a:lnTo>
                  <a:lnTo>
                    <a:pt x="1481" y="8"/>
                  </a:lnTo>
                  <a:lnTo>
                    <a:pt x="1481" y="11"/>
                  </a:lnTo>
                  <a:lnTo>
                    <a:pt x="1481" y="13"/>
                  </a:lnTo>
                  <a:lnTo>
                    <a:pt x="1479" y="16"/>
                  </a:lnTo>
                  <a:lnTo>
                    <a:pt x="1479" y="17"/>
                  </a:lnTo>
                  <a:lnTo>
                    <a:pt x="1478" y="18"/>
                  </a:lnTo>
                  <a:lnTo>
                    <a:pt x="1476" y="20"/>
                  </a:lnTo>
                  <a:lnTo>
                    <a:pt x="1474" y="21"/>
                  </a:lnTo>
                  <a:lnTo>
                    <a:pt x="1472" y="23"/>
                  </a:lnTo>
                  <a:lnTo>
                    <a:pt x="1469" y="23"/>
                  </a:lnTo>
                  <a:lnTo>
                    <a:pt x="1122" y="23"/>
                  </a:lnTo>
                  <a:lnTo>
                    <a:pt x="1120" y="23"/>
                  </a:lnTo>
                  <a:lnTo>
                    <a:pt x="1117" y="21"/>
                  </a:lnTo>
                  <a:lnTo>
                    <a:pt x="1116" y="20"/>
                  </a:lnTo>
                  <a:lnTo>
                    <a:pt x="1115" y="18"/>
                  </a:lnTo>
                  <a:lnTo>
                    <a:pt x="1113" y="17"/>
                  </a:lnTo>
                  <a:lnTo>
                    <a:pt x="1112" y="16"/>
                  </a:lnTo>
                  <a:lnTo>
                    <a:pt x="1110" y="13"/>
                  </a:lnTo>
                  <a:lnTo>
                    <a:pt x="1110" y="11"/>
                  </a:lnTo>
                  <a:lnTo>
                    <a:pt x="1110" y="8"/>
                  </a:lnTo>
                  <a:lnTo>
                    <a:pt x="1112" y="7"/>
                  </a:lnTo>
                  <a:lnTo>
                    <a:pt x="1113" y="4"/>
                  </a:lnTo>
                  <a:lnTo>
                    <a:pt x="1115" y="3"/>
                  </a:lnTo>
                  <a:lnTo>
                    <a:pt x="1116" y="1"/>
                  </a:lnTo>
                  <a:lnTo>
                    <a:pt x="1117" y="0"/>
                  </a:lnTo>
                  <a:lnTo>
                    <a:pt x="1120" y="0"/>
                  </a:lnTo>
                  <a:lnTo>
                    <a:pt x="1122" y="0"/>
                  </a:lnTo>
                  <a:close/>
                  <a:moveTo>
                    <a:pt x="1678" y="0"/>
                  </a:moveTo>
                  <a:lnTo>
                    <a:pt x="2026" y="0"/>
                  </a:lnTo>
                  <a:lnTo>
                    <a:pt x="2027" y="0"/>
                  </a:lnTo>
                  <a:lnTo>
                    <a:pt x="2030" y="0"/>
                  </a:lnTo>
                  <a:lnTo>
                    <a:pt x="2032" y="1"/>
                  </a:lnTo>
                  <a:lnTo>
                    <a:pt x="2033" y="3"/>
                  </a:lnTo>
                  <a:lnTo>
                    <a:pt x="2034" y="4"/>
                  </a:lnTo>
                  <a:lnTo>
                    <a:pt x="2036" y="7"/>
                  </a:lnTo>
                  <a:lnTo>
                    <a:pt x="2036" y="8"/>
                  </a:lnTo>
                  <a:lnTo>
                    <a:pt x="2037" y="11"/>
                  </a:lnTo>
                  <a:lnTo>
                    <a:pt x="2036" y="13"/>
                  </a:lnTo>
                  <a:lnTo>
                    <a:pt x="2036" y="16"/>
                  </a:lnTo>
                  <a:lnTo>
                    <a:pt x="2034" y="17"/>
                  </a:lnTo>
                  <a:lnTo>
                    <a:pt x="2033" y="18"/>
                  </a:lnTo>
                  <a:lnTo>
                    <a:pt x="2032" y="20"/>
                  </a:lnTo>
                  <a:lnTo>
                    <a:pt x="2030" y="21"/>
                  </a:lnTo>
                  <a:lnTo>
                    <a:pt x="2027" y="23"/>
                  </a:lnTo>
                  <a:lnTo>
                    <a:pt x="2026" y="23"/>
                  </a:lnTo>
                  <a:lnTo>
                    <a:pt x="1678" y="23"/>
                  </a:lnTo>
                  <a:lnTo>
                    <a:pt x="1675" y="23"/>
                  </a:lnTo>
                  <a:lnTo>
                    <a:pt x="1673" y="21"/>
                  </a:lnTo>
                  <a:lnTo>
                    <a:pt x="1671" y="20"/>
                  </a:lnTo>
                  <a:lnTo>
                    <a:pt x="1670" y="18"/>
                  </a:lnTo>
                  <a:lnTo>
                    <a:pt x="1668" y="17"/>
                  </a:lnTo>
                  <a:lnTo>
                    <a:pt x="1667" y="16"/>
                  </a:lnTo>
                  <a:lnTo>
                    <a:pt x="1667" y="13"/>
                  </a:lnTo>
                  <a:lnTo>
                    <a:pt x="1667" y="11"/>
                  </a:lnTo>
                  <a:lnTo>
                    <a:pt x="1667" y="8"/>
                  </a:lnTo>
                  <a:lnTo>
                    <a:pt x="1667" y="7"/>
                  </a:lnTo>
                  <a:lnTo>
                    <a:pt x="1668" y="4"/>
                  </a:lnTo>
                  <a:lnTo>
                    <a:pt x="1670" y="3"/>
                  </a:lnTo>
                  <a:lnTo>
                    <a:pt x="1671" y="1"/>
                  </a:lnTo>
                  <a:lnTo>
                    <a:pt x="1673" y="0"/>
                  </a:lnTo>
                  <a:lnTo>
                    <a:pt x="1675" y="0"/>
                  </a:lnTo>
                  <a:lnTo>
                    <a:pt x="1678" y="0"/>
                  </a:lnTo>
                  <a:close/>
                  <a:moveTo>
                    <a:pt x="2233" y="0"/>
                  </a:moveTo>
                  <a:lnTo>
                    <a:pt x="2581" y="0"/>
                  </a:lnTo>
                  <a:lnTo>
                    <a:pt x="2582" y="0"/>
                  </a:lnTo>
                  <a:lnTo>
                    <a:pt x="2585" y="0"/>
                  </a:lnTo>
                  <a:lnTo>
                    <a:pt x="2587" y="1"/>
                  </a:lnTo>
                  <a:lnTo>
                    <a:pt x="2588" y="3"/>
                  </a:lnTo>
                  <a:lnTo>
                    <a:pt x="2590" y="4"/>
                  </a:lnTo>
                  <a:lnTo>
                    <a:pt x="2591" y="7"/>
                  </a:lnTo>
                  <a:lnTo>
                    <a:pt x="2592" y="8"/>
                  </a:lnTo>
                  <a:lnTo>
                    <a:pt x="2592" y="11"/>
                  </a:lnTo>
                  <a:lnTo>
                    <a:pt x="2592" y="13"/>
                  </a:lnTo>
                  <a:lnTo>
                    <a:pt x="2591" y="16"/>
                  </a:lnTo>
                  <a:lnTo>
                    <a:pt x="2590" y="17"/>
                  </a:lnTo>
                  <a:lnTo>
                    <a:pt x="2588" y="18"/>
                  </a:lnTo>
                  <a:lnTo>
                    <a:pt x="2587" y="20"/>
                  </a:lnTo>
                  <a:lnTo>
                    <a:pt x="2585" y="21"/>
                  </a:lnTo>
                  <a:lnTo>
                    <a:pt x="2582" y="23"/>
                  </a:lnTo>
                  <a:lnTo>
                    <a:pt x="2581" y="23"/>
                  </a:lnTo>
                  <a:lnTo>
                    <a:pt x="2233" y="23"/>
                  </a:lnTo>
                  <a:lnTo>
                    <a:pt x="2231" y="23"/>
                  </a:lnTo>
                  <a:lnTo>
                    <a:pt x="2229" y="21"/>
                  </a:lnTo>
                  <a:lnTo>
                    <a:pt x="2228" y="20"/>
                  </a:lnTo>
                  <a:lnTo>
                    <a:pt x="2225" y="18"/>
                  </a:lnTo>
                  <a:lnTo>
                    <a:pt x="2223" y="17"/>
                  </a:lnTo>
                  <a:lnTo>
                    <a:pt x="2223" y="16"/>
                  </a:lnTo>
                  <a:lnTo>
                    <a:pt x="2222" y="13"/>
                  </a:lnTo>
                  <a:lnTo>
                    <a:pt x="2222" y="11"/>
                  </a:lnTo>
                  <a:lnTo>
                    <a:pt x="2222" y="8"/>
                  </a:lnTo>
                  <a:lnTo>
                    <a:pt x="2223" y="7"/>
                  </a:lnTo>
                  <a:lnTo>
                    <a:pt x="2223" y="4"/>
                  </a:lnTo>
                  <a:lnTo>
                    <a:pt x="2225" y="3"/>
                  </a:lnTo>
                  <a:lnTo>
                    <a:pt x="2228" y="1"/>
                  </a:lnTo>
                  <a:lnTo>
                    <a:pt x="2229" y="0"/>
                  </a:lnTo>
                  <a:lnTo>
                    <a:pt x="2231" y="0"/>
                  </a:lnTo>
                  <a:lnTo>
                    <a:pt x="2233" y="0"/>
                  </a:lnTo>
                  <a:close/>
                  <a:moveTo>
                    <a:pt x="2788" y="0"/>
                  </a:moveTo>
                  <a:lnTo>
                    <a:pt x="3136" y="0"/>
                  </a:lnTo>
                  <a:lnTo>
                    <a:pt x="3139" y="0"/>
                  </a:lnTo>
                  <a:lnTo>
                    <a:pt x="3140" y="0"/>
                  </a:lnTo>
                  <a:lnTo>
                    <a:pt x="3143" y="1"/>
                  </a:lnTo>
                  <a:lnTo>
                    <a:pt x="3145" y="3"/>
                  </a:lnTo>
                  <a:lnTo>
                    <a:pt x="3146" y="4"/>
                  </a:lnTo>
                  <a:lnTo>
                    <a:pt x="3146" y="7"/>
                  </a:lnTo>
                  <a:lnTo>
                    <a:pt x="3147" y="8"/>
                  </a:lnTo>
                  <a:lnTo>
                    <a:pt x="3147" y="11"/>
                  </a:lnTo>
                  <a:lnTo>
                    <a:pt x="3147" y="13"/>
                  </a:lnTo>
                  <a:lnTo>
                    <a:pt x="3146" y="16"/>
                  </a:lnTo>
                  <a:lnTo>
                    <a:pt x="3146" y="17"/>
                  </a:lnTo>
                  <a:lnTo>
                    <a:pt x="3145" y="18"/>
                  </a:lnTo>
                  <a:lnTo>
                    <a:pt x="3143" y="20"/>
                  </a:lnTo>
                  <a:lnTo>
                    <a:pt x="3140" y="21"/>
                  </a:lnTo>
                  <a:lnTo>
                    <a:pt x="3139" y="23"/>
                  </a:lnTo>
                  <a:lnTo>
                    <a:pt x="3136" y="23"/>
                  </a:lnTo>
                  <a:lnTo>
                    <a:pt x="2788" y="23"/>
                  </a:lnTo>
                  <a:lnTo>
                    <a:pt x="2787" y="23"/>
                  </a:lnTo>
                  <a:lnTo>
                    <a:pt x="2784" y="21"/>
                  </a:lnTo>
                  <a:lnTo>
                    <a:pt x="2783" y="20"/>
                  </a:lnTo>
                  <a:lnTo>
                    <a:pt x="2781" y="18"/>
                  </a:lnTo>
                  <a:lnTo>
                    <a:pt x="2780" y="17"/>
                  </a:lnTo>
                  <a:lnTo>
                    <a:pt x="2778" y="16"/>
                  </a:lnTo>
                  <a:lnTo>
                    <a:pt x="2777" y="13"/>
                  </a:lnTo>
                  <a:lnTo>
                    <a:pt x="2777" y="11"/>
                  </a:lnTo>
                  <a:lnTo>
                    <a:pt x="2777" y="8"/>
                  </a:lnTo>
                  <a:lnTo>
                    <a:pt x="2778" y="7"/>
                  </a:lnTo>
                  <a:lnTo>
                    <a:pt x="2780" y="4"/>
                  </a:lnTo>
                  <a:lnTo>
                    <a:pt x="2781" y="3"/>
                  </a:lnTo>
                  <a:lnTo>
                    <a:pt x="2783" y="1"/>
                  </a:lnTo>
                  <a:lnTo>
                    <a:pt x="2784" y="0"/>
                  </a:lnTo>
                  <a:lnTo>
                    <a:pt x="2787" y="0"/>
                  </a:lnTo>
                  <a:lnTo>
                    <a:pt x="2788" y="0"/>
                  </a:lnTo>
                  <a:close/>
                  <a:moveTo>
                    <a:pt x="3345" y="0"/>
                  </a:moveTo>
                  <a:lnTo>
                    <a:pt x="3692" y="0"/>
                  </a:lnTo>
                  <a:lnTo>
                    <a:pt x="3694" y="0"/>
                  </a:lnTo>
                  <a:lnTo>
                    <a:pt x="3697" y="0"/>
                  </a:lnTo>
                  <a:lnTo>
                    <a:pt x="3698" y="1"/>
                  </a:lnTo>
                  <a:lnTo>
                    <a:pt x="3700" y="3"/>
                  </a:lnTo>
                  <a:lnTo>
                    <a:pt x="3701" y="4"/>
                  </a:lnTo>
                  <a:lnTo>
                    <a:pt x="3703" y="7"/>
                  </a:lnTo>
                  <a:lnTo>
                    <a:pt x="3703" y="8"/>
                  </a:lnTo>
                  <a:lnTo>
                    <a:pt x="3704" y="11"/>
                  </a:lnTo>
                  <a:lnTo>
                    <a:pt x="3703" y="13"/>
                  </a:lnTo>
                  <a:lnTo>
                    <a:pt x="3703" y="16"/>
                  </a:lnTo>
                  <a:lnTo>
                    <a:pt x="3701" y="17"/>
                  </a:lnTo>
                  <a:lnTo>
                    <a:pt x="3700" y="18"/>
                  </a:lnTo>
                  <a:lnTo>
                    <a:pt x="3698" y="20"/>
                  </a:lnTo>
                  <a:lnTo>
                    <a:pt x="3697" y="21"/>
                  </a:lnTo>
                  <a:lnTo>
                    <a:pt x="3694" y="23"/>
                  </a:lnTo>
                  <a:lnTo>
                    <a:pt x="3692" y="23"/>
                  </a:lnTo>
                  <a:lnTo>
                    <a:pt x="3345" y="23"/>
                  </a:lnTo>
                  <a:lnTo>
                    <a:pt x="3342" y="23"/>
                  </a:lnTo>
                  <a:lnTo>
                    <a:pt x="3339" y="21"/>
                  </a:lnTo>
                  <a:lnTo>
                    <a:pt x="3338" y="20"/>
                  </a:lnTo>
                  <a:lnTo>
                    <a:pt x="3336" y="18"/>
                  </a:lnTo>
                  <a:lnTo>
                    <a:pt x="3335" y="17"/>
                  </a:lnTo>
                  <a:lnTo>
                    <a:pt x="3333" y="16"/>
                  </a:lnTo>
                  <a:lnTo>
                    <a:pt x="3333" y="13"/>
                  </a:lnTo>
                  <a:lnTo>
                    <a:pt x="3333" y="11"/>
                  </a:lnTo>
                  <a:lnTo>
                    <a:pt x="3333" y="8"/>
                  </a:lnTo>
                  <a:lnTo>
                    <a:pt x="3333" y="7"/>
                  </a:lnTo>
                  <a:lnTo>
                    <a:pt x="3335" y="4"/>
                  </a:lnTo>
                  <a:lnTo>
                    <a:pt x="3336" y="3"/>
                  </a:lnTo>
                  <a:lnTo>
                    <a:pt x="3338" y="1"/>
                  </a:lnTo>
                  <a:lnTo>
                    <a:pt x="3339" y="0"/>
                  </a:lnTo>
                  <a:lnTo>
                    <a:pt x="3342" y="0"/>
                  </a:lnTo>
                  <a:lnTo>
                    <a:pt x="3345" y="0"/>
                  </a:lnTo>
                  <a:close/>
                  <a:moveTo>
                    <a:pt x="3900" y="0"/>
                  </a:moveTo>
                  <a:lnTo>
                    <a:pt x="4248" y="0"/>
                  </a:lnTo>
                  <a:lnTo>
                    <a:pt x="4249" y="0"/>
                  </a:lnTo>
                  <a:lnTo>
                    <a:pt x="4252" y="0"/>
                  </a:lnTo>
                  <a:lnTo>
                    <a:pt x="4253" y="1"/>
                  </a:lnTo>
                  <a:lnTo>
                    <a:pt x="4255" y="3"/>
                  </a:lnTo>
                  <a:lnTo>
                    <a:pt x="4256" y="4"/>
                  </a:lnTo>
                  <a:lnTo>
                    <a:pt x="4258" y="7"/>
                  </a:lnTo>
                  <a:lnTo>
                    <a:pt x="4259" y="8"/>
                  </a:lnTo>
                  <a:lnTo>
                    <a:pt x="4259" y="11"/>
                  </a:lnTo>
                  <a:lnTo>
                    <a:pt x="4259" y="13"/>
                  </a:lnTo>
                  <a:lnTo>
                    <a:pt x="4258" y="16"/>
                  </a:lnTo>
                  <a:lnTo>
                    <a:pt x="4256" y="17"/>
                  </a:lnTo>
                  <a:lnTo>
                    <a:pt x="4255" y="18"/>
                  </a:lnTo>
                  <a:lnTo>
                    <a:pt x="4253" y="20"/>
                  </a:lnTo>
                  <a:lnTo>
                    <a:pt x="4252" y="21"/>
                  </a:lnTo>
                  <a:lnTo>
                    <a:pt x="4249" y="23"/>
                  </a:lnTo>
                  <a:lnTo>
                    <a:pt x="4248" y="23"/>
                  </a:lnTo>
                  <a:lnTo>
                    <a:pt x="3900" y="23"/>
                  </a:lnTo>
                  <a:lnTo>
                    <a:pt x="3897" y="23"/>
                  </a:lnTo>
                  <a:lnTo>
                    <a:pt x="3896" y="21"/>
                  </a:lnTo>
                  <a:lnTo>
                    <a:pt x="3894" y="20"/>
                  </a:lnTo>
                  <a:lnTo>
                    <a:pt x="3891" y="18"/>
                  </a:lnTo>
                  <a:lnTo>
                    <a:pt x="3890" y="17"/>
                  </a:lnTo>
                  <a:lnTo>
                    <a:pt x="3890" y="16"/>
                  </a:lnTo>
                  <a:lnTo>
                    <a:pt x="3889" y="13"/>
                  </a:lnTo>
                  <a:lnTo>
                    <a:pt x="3889" y="11"/>
                  </a:lnTo>
                  <a:lnTo>
                    <a:pt x="3889" y="8"/>
                  </a:lnTo>
                  <a:lnTo>
                    <a:pt x="3890" y="7"/>
                  </a:lnTo>
                  <a:lnTo>
                    <a:pt x="3890" y="4"/>
                  </a:lnTo>
                  <a:lnTo>
                    <a:pt x="3891" y="3"/>
                  </a:lnTo>
                  <a:lnTo>
                    <a:pt x="3894" y="1"/>
                  </a:lnTo>
                  <a:lnTo>
                    <a:pt x="3896" y="0"/>
                  </a:lnTo>
                  <a:lnTo>
                    <a:pt x="3897" y="0"/>
                  </a:lnTo>
                  <a:lnTo>
                    <a:pt x="3900" y="0"/>
                  </a:lnTo>
                  <a:close/>
                  <a:moveTo>
                    <a:pt x="4455" y="0"/>
                  </a:moveTo>
                  <a:lnTo>
                    <a:pt x="4803" y="0"/>
                  </a:lnTo>
                  <a:lnTo>
                    <a:pt x="4806" y="0"/>
                  </a:lnTo>
                  <a:lnTo>
                    <a:pt x="4807" y="0"/>
                  </a:lnTo>
                  <a:lnTo>
                    <a:pt x="4810" y="1"/>
                  </a:lnTo>
                  <a:lnTo>
                    <a:pt x="4811" y="3"/>
                  </a:lnTo>
                  <a:lnTo>
                    <a:pt x="4813" y="4"/>
                  </a:lnTo>
                  <a:lnTo>
                    <a:pt x="4813" y="7"/>
                  </a:lnTo>
                  <a:lnTo>
                    <a:pt x="4814" y="8"/>
                  </a:lnTo>
                  <a:lnTo>
                    <a:pt x="4814" y="11"/>
                  </a:lnTo>
                  <a:lnTo>
                    <a:pt x="4814" y="13"/>
                  </a:lnTo>
                  <a:lnTo>
                    <a:pt x="4813" y="16"/>
                  </a:lnTo>
                  <a:lnTo>
                    <a:pt x="4813" y="17"/>
                  </a:lnTo>
                  <a:lnTo>
                    <a:pt x="4811" y="18"/>
                  </a:lnTo>
                  <a:lnTo>
                    <a:pt x="4810" y="20"/>
                  </a:lnTo>
                  <a:lnTo>
                    <a:pt x="4807" y="21"/>
                  </a:lnTo>
                  <a:lnTo>
                    <a:pt x="4806" y="23"/>
                  </a:lnTo>
                  <a:lnTo>
                    <a:pt x="4803" y="23"/>
                  </a:lnTo>
                  <a:lnTo>
                    <a:pt x="4455" y="23"/>
                  </a:lnTo>
                  <a:lnTo>
                    <a:pt x="4454" y="23"/>
                  </a:lnTo>
                  <a:lnTo>
                    <a:pt x="4451" y="21"/>
                  </a:lnTo>
                  <a:lnTo>
                    <a:pt x="4449" y="20"/>
                  </a:lnTo>
                  <a:lnTo>
                    <a:pt x="4448" y="18"/>
                  </a:lnTo>
                  <a:lnTo>
                    <a:pt x="4447" y="17"/>
                  </a:lnTo>
                  <a:lnTo>
                    <a:pt x="4445" y="16"/>
                  </a:lnTo>
                  <a:lnTo>
                    <a:pt x="4444" y="13"/>
                  </a:lnTo>
                  <a:lnTo>
                    <a:pt x="4444" y="11"/>
                  </a:lnTo>
                  <a:lnTo>
                    <a:pt x="4444" y="8"/>
                  </a:lnTo>
                  <a:lnTo>
                    <a:pt x="4445" y="7"/>
                  </a:lnTo>
                  <a:lnTo>
                    <a:pt x="4447" y="4"/>
                  </a:lnTo>
                  <a:lnTo>
                    <a:pt x="4448" y="3"/>
                  </a:lnTo>
                  <a:lnTo>
                    <a:pt x="4449" y="1"/>
                  </a:lnTo>
                  <a:lnTo>
                    <a:pt x="4451" y="0"/>
                  </a:lnTo>
                  <a:lnTo>
                    <a:pt x="4454" y="0"/>
                  </a:lnTo>
                  <a:lnTo>
                    <a:pt x="4455" y="0"/>
                  </a:lnTo>
                  <a:close/>
                  <a:moveTo>
                    <a:pt x="5012" y="0"/>
                  </a:moveTo>
                  <a:lnTo>
                    <a:pt x="5359" y="0"/>
                  </a:lnTo>
                  <a:lnTo>
                    <a:pt x="5361" y="0"/>
                  </a:lnTo>
                  <a:lnTo>
                    <a:pt x="5363" y="0"/>
                  </a:lnTo>
                  <a:lnTo>
                    <a:pt x="5365" y="1"/>
                  </a:lnTo>
                  <a:lnTo>
                    <a:pt x="5366" y="3"/>
                  </a:lnTo>
                  <a:lnTo>
                    <a:pt x="5368" y="4"/>
                  </a:lnTo>
                  <a:lnTo>
                    <a:pt x="5369" y="7"/>
                  </a:lnTo>
                  <a:lnTo>
                    <a:pt x="5369" y="8"/>
                  </a:lnTo>
                  <a:lnTo>
                    <a:pt x="5371" y="11"/>
                  </a:lnTo>
                  <a:lnTo>
                    <a:pt x="5369" y="13"/>
                  </a:lnTo>
                  <a:lnTo>
                    <a:pt x="5369" y="16"/>
                  </a:lnTo>
                  <a:lnTo>
                    <a:pt x="5368" y="17"/>
                  </a:lnTo>
                  <a:lnTo>
                    <a:pt x="5366" y="18"/>
                  </a:lnTo>
                  <a:lnTo>
                    <a:pt x="5365" y="20"/>
                  </a:lnTo>
                  <a:lnTo>
                    <a:pt x="5363" y="21"/>
                  </a:lnTo>
                  <a:lnTo>
                    <a:pt x="5361" y="23"/>
                  </a:lnTo>
                  <a:lnTo>
                    <a:pt x="5359" y="23"/>
                  </a:lnTo>
                  <a:lnTo>
                    <a:pt x="5012" y="23"/>
                  </a:lnTo>
                  <a:lnTo>
                    <a:pt x="5009" y="23"/>
                  </a:lnTo>
                  <a:lnTo>
                    <a:pt x="5006" y="21"/>
                  </a:lnTo>
                  <a:lnTo>
                    <a:pt x="5004" y="20"/>
                  </a:lnTo>
                  <a:lnTo>
                    <a:pt x="5003" y="18"/>
                  </a:lnTo>
                  <a:lnTo>
                    <a:pt x="5002" y="17"/>
                  </a:lnTo>
                  <a:lnTo>
                    <a:pt x="5000" y="16"/>
                  </a:lnTo>
                  <a:lnTo>
                    <a:pt x="5000" y="13"/>
                  </a:lnTo>
                  <a:lnTo>
                    <a:pt x="5000" y="11"/>
                  </a:lnTo>
                  <a:lnTo>
                    <a:pt x="5000" y="8"/>
                  </a:lnTo>
                  <a:lnTo>
                    <a:pt x="5000" y="7"/>
                  </a:lnTo>
                  <a:lnTo>
                    <a:pt x="5002" y="4"/>
                  </a:lnTo>
                  <a:lnTo>
                    <a:pt x="5003" y="3"/>
                  </a:lnTo>
                  <a:lnTo>
                    <a:pt x="5004" y="1"/>
                  </a:lnTo>
                  <a:lnTo>
                    <a:pt x="5006" y="0"/>
                  </a:lnTo>
                  <a:lnTo>
                    <a:pt x="5009" y="0"/>
                  </a:lnTo>
                  <a:lnTo>
                    <a:pt x="5012" y="0"/>
                  </a:lnTo>
                  <a:close/>
                  <a:moveTo>
                    <a:pt x="5567" y="0"/>
                  </a:moveTo>
                  <a:lnTo>
                    <a:pt x="5914" y="0"/>
                  </a:lnTo>
                  <a:lnTo>
                    <a:pt x="5916" y="0"/>
                  </a:lnTo>
                  <a:lnTo>
                    <a:pt x="5919" y="0"/>
                  </a:lnTo>
                  <a:lnTo>
                    <a:pt x="5920" y="1"/>
                  </a:lnTo>
                  <a:lnTo>
                    <a:pt x="5921" y="3"/>
                  </a:lnTo>
                  <a:lnTo>
                    <a:pt x="5923" y="4"/>
                  </a:lnTo>
                  <a:lnTo>
                    <a:pt x="5924" y="7"/>
                  </a:lnTo>
                  <a:lnTo>
                    <a:pt x="5926" y="8"/>
                  </a:lnTo>
                  <a:lnTo>
                    <a:pt x="5926" y="11"/>
                  </a:lnTo>
                  <a:lnTo>
                    <a:pt x="5926" y="13"/>
                  </a:lnTo>
                  <a:lnTo>
                    <a:pt x="5924" y="16"/>
                  </a:lnTo>
                  <a:lnTo>
                    <a:pt x="5923" y="17"/>
                  </a:lnTo>
                  <a:lnTo>
                    <a:pt x="5921" y="18"/>
                  </a:lnTo>
                  <a:lnTo>
                    <a:pt x="5920" y="20"/>
                  </a:lnTo>
                  <a:lnTo>
                    <a:pt x="5919" y="21"/>
                  </a:lnTo>
                  <a:lnTo>
                    <a:pt x="5916" y="23"/>
                  </a:lnTo>
                  <a:lnTo>
                    <a:pt x="5914" y="23"/>
                  </a:lnTo>
                  <a:lnTo>
                    <a:pt x="5567" y="23"/>
                  </a:lnTo>
                  <a:lnTo>
                    <a:pt x="5564" y="23"/>
                  </a:lnTo>
                  <a:lnTo>
                    <a:pt x="5562" y="21"/>
                  </a:lnTo>
                  <a:lnTo>
                    <a:pt x="5560" y="20"/>
                  </a:lnTo>
                  <a:lnTo>
                    <a:pt x="5558" y="18"/>
                  </a:lnTo>
                  <a:lnTo>
                    <a:pt x="5557" y="17"/>
                  </a:lnTo>
                  <a:lnTo>
                    <a:pt x="5555" y="16"/>
                  </a:lnTo>
                  <a:lnTo>
                    <a:pt x="5555" y="13"/>
                  </a:lnTo>
                  <a:lnTo>
                    <a:pt x="5555" y="11"/>
                  </a:lnTo>
                  <a:lnTo>
                    <a:pt x="5555" y="8"/>
                  </a:lnTo>
                  <a:lnTo>
                    <a:pt x="5555" y="7"/>
                  </a:lnTo>
                  <a:lnTo>
                    <a:pt x="5557" y="4"/>
                  </a:lnTo>
                  <a:lnTo>
                    <a:pt x="5558" y="3"/>
                  </a:lnTo>
                  <a:lnTo>
                    <a:pt x="5560" y="1"/>
                  </a:lnTo>
                  <a:lnTo>
                    <a:pt x="5562" y="0"/>
                  </a:lnTo>
                  <a:lnTo>
                    <a:pt x="5564" y="0"/>
                  </a:lnTo>
                  <a:lnTo>
                    <a:pt x="5567" y="0"/>
                  </a:lnTo>
                  <a:close/>
                  <a:moveTo>
                    <a:pt x="6122" y="0"/>
                  </a:moveTo>
                  <a:lnTo>
                    <a:pt x="6469" y="0"/>
                  </a:lnTo>
                  <a:lnTo>
                    <a:pt x="6472" y="0"/>
                  </a:lnTo>
                  <a:lnTo>
                    <a:pt x="6474" y="0"/>
                  </a:lnTo>
                  <a:lnTo>
                    <a:pt x="6477" y="1"/>
                  </a:lnTo>
                  <a:lnTo>
                    <a:pt x="6478" y="3"/>
                  </a:lnTo>
                  <a:lnTo>
                    <a:pt x="6479" y="4"/>
                  </a:lnTo>
                  <a:lnTo>
                    <a:pt x="6479" y="7"/>
                  </a:lnTo>
                  <a:lnTo>
                    <a:pt x="6481" y="8"/>
                  </a:lnTo>
                  <a:lnTo>
                    <a:pt x="6481" y="11"/>
                  </a:lnTo>
                  <a:lnTo>
                    <a:pt x="6481" y="13"/>
                  </a:lnTo>
                  <a:lnTo>
                    <a:pt x="6479" y="16"/>
                  </a:lnTo>
                  <a:lnTo>
                    <a:pt x="6479" y="17"/>
                  </a:lnTo>
                  <a:lnTo>
                    <a:pt x="6478" y="18"/>
                  </a:lnTo>
                  <a:lnTo>
                    <a:pt x="6477" y="20"/>
                  </a:lnTo>
                  <a:lnTo>
                    <a:pt x="6474" y="21"/>
                  </a:lnTo>
                  <a:lnTo>
                    <a:pt x="6472" y="23"/>
                  </a:lnTo>
                  <a:lnTo>
                    <a:pt x="6469" y="23"/>
                  </a:lnTo>
                  <a:lnTo>
                    <a:pt x="6122" y="23"/>
                  </a:lnTo>
                  <a:lnTo>
                    <a:pt x="6120" y="23"/>
                  </a:lnTo>
                  <a:lnTo>
                    <a:pt x="6118" y="21"/>
                  </a:lnTo>
                  <a:lnTo>
                    <a:pt x="6116" y="20"/>
                  </a:lnTo>
                  <a:lnTo>
                    <a:pt x="6115" y="18"/>
                  </a:lnTo>
                  <a:lnTo>
                    <a:pt x="6113" y="17"/>
                  </a:lnTo>
                  <a:lnTo>
                    <a:pt x="6112" y="16"/>
                  </a:lnTo>
                  <a:lnTo>
                    <a:pt x="6110" y="13"/>
                  </a:lnTo>
                  <a:lnTo>
                    <a:pt x="6110" y="11"/>
                  </a:lnTo>
                  <a:lnTo>
                    <a:pt x="6110" y="8"/>
                  </a:lnTo>
                  <a:lnTo>
                    <a:pt x="6112" y="7"/>
                  </a:lnTo>
                  <a:lnTo>
                    <a:pt x="6113" y="4"/>
                  </a:lnTo>
                  <a:lnTo>
                    <a:pt x="6115" y="3"/>
                  </a:lnTo>
                  <a:lnTo>
                    <a:pt x="6116" y="1"/>
                  </a:lnTo>
                  <a:lnTo>
                    <a:pt x="6118" y="0"/>
                  </a:lnTo>
                  <a:lnTo>
                    <a:pt x="6120" y="0"/>
                  </a:lnTo>
                  <a:lnTo>
                    <a:pt x="6122" y="0"/>
                  </a:lnTo>
                  <a:close/>
                  <a:moveTo>
                    <a:pt x="6678" y="0"/>
                  </a:moveTo>
                  <a:lnTo>
                    <a:pt x="7024" y="0"/>
                  </a:lnTo>
                  <a:lnTo>
                    <a:pt x="7027" y="0"/>
                  </a:lnTo>
                  <a:lnTo>
                    <a:pt x="7029" y="0"/>
                  </a:lnTo>
                  <a:lnTo>
                    <a:pt x="7032" y="1"/>
                  </a:lnTo>
                  <a:lnTo>
                    <a:pt x="7033" y="3"/>
                  </a:lnTo>
                  <a:lnTo>
                    <a:pt x="7034" y="4"/>
                  </a:lnTo>
                  <a:lnTo>
                    <a:pt x="7036" y="7"/>
                  </a:lnTo>
                  <a:lnTo>
                    <a:pt x="7036" y="8"/>
                  </a:lnTo>
                  <a:lnTo>
                    <a:pt x="7037" y="11"/>
                  </a:lnTo>
                  <a:lnTo>
                    <a:pt x="7036" y="13"/>
                  </a:lnTo>
                  <a:lnTo>
                    <a:pt x="7036" y="16"/>
                  </a:lnTo>
                  <a:lnTo>
                    <a:pt x="7034" y="17"/>
                  </a:lnTo>
                  <a:lnTo>
                    <a:pt x="7033" y="18"/>
                  </a:lnTo>
                  <a:lnTo>
                    <a:pt x="7032" y="20"/>
                  </a:lnTo>
                  <a:lnTo>
                    <a:pt x="7029" y="21"/>
                  </a:lnTo>
                  <a:lnTo>
                    <a:pt x="7027" y="23"/>
                  </a:lnTo>
                  <a:lnTo>
                    <a:pt x="7024" y="23"/>
                  </a:lnTo>
                  <a:lnTo>
                    <a:pt x="6678" y="23"/>
                  </a:lnTo>
                  <a:lnTo>
                    <a:pt x="6675" y="23"/>
                  </a:lnTo>
                  <a:lnTo>
                    <a:pt x="6673" y="21"/>
                  </a:lnTo>
                  <a:lnTo>
                    <a:pt x="6671" y="20"/>
                  </a:lnTo>
                  <a:lnTo>
                    <a:pt x="6670" y="18"/>
                  </a:lnTo>
                  <a:lnTo>
                    <a:pt x="6668" y="17"/>
                  </a:lnTo>
                  <a:lnTo>
                    <a:pt x="6667" y="16"/>
                  </a:lnTo>
                  <a:lnTo>
                    <a:pt x="6667" y="13"/>
                  </a:lnTo>
                  <a:lnTo>
                    <a:pt x="6667" y="11"/>
                  </a:lnTo>
                  <a:lnTo>
                    <a:pt x="6667" y="8"/>
                  </a:lnTo>
                  <a:lnTo>
                    <a:pt x="6667" y="7"/>
                  </a:lnTo>
                  <a:lnTo>
                    <a:pt x="6668" y="4"/>
                  </a:lnTo>
                  <a:lnTo>
                    <a:pt x="6670" y="3"/>
                  </a:lnTo>
                  <a:lnTo>
                    <a:pt x="6671" y="1"/>
                  </a:lnTo>
                  <a:lnTo>
                    <a:pt x="6673" y="0"/>
                  </a:lnTo>
                  <a:lnTo>
                    <a:pt x="6675" y="0"/>
                  </a:lnTo>
                  <a:lnTo>
                    <a:pt x="6678" y="0"/>
                  </a:lnTo>
                  <a:close/>
                  <a:moveTo>
                    <a:pt x="7233" y="0"/>
                  </a:moveTo>
                  <a:lnTo>
                    <a:pt x="7581" y="0"/>
                  </a:lnTo>
                  <a:lnTo>
                    <a:pt x="7582" y="0"/>
                  </a:lnTo>
                  <a:lnTo>
                    <a:pt x="7585" y="0"/>
                  </a:lnTo>
                  <a:lnTo>
                    <a:pt x="7587" y="1"/>
                  </a:lnTo>
                  <a:lnTo>
                    <a:pt x="7588" y="3"/>
                  </a:lnTo>
                  <a:lnTo>
                    <a:pt x="7590" y="4"/>
                  </a:lnTo>
                  <a:lnTo>
                    <a:pt x="7591" y="7"/>
                  </a:lnTo>
                  <a:lnTo>
                    <a:pt x="7592" y="8"/>
                  </a:lnTo>
                  <a:lnTo>
                    <a:pt x="7592" y="11"/>
                  </a:lnTo>
                  <a:lnTo>
                    <a:pt x="7592" y="13"/>
                  </a:lnTo>
                  <a:lnTo>
                    <a:pt x="7591" y="16"/>
                  </a:lnTo>
                  <a:lnTo>
                    <a:pt x="7590" y="17"/>
                  </a:lnTo>
                  <a:lnTo>
                    <a:pt x="7588" y="18"/>
                  </a:lnTo>
                  <a:lnTo>
                    <a:pt x="7587" y="20"/>
                  </a:lnTo>
                  <a:lnTo>
                    <a:pt x="7585" y="21"/>
                  </a:lnTo>
                  <a:lnTo>
                    <a:pt x="7582" y="23"/>
                  </a:lnTo>
                  <a:lnTo>
                    <a:pt x="7581" y="23"/>
                  </a:lnTo>
                  <a:lnTo>
                    <a:pt x="7233" y="23"/>
                  </a:lnTo>
                  <a:lnTo>
                    <a:pt x="7231" y="23"/>
                  </a:lnTo>
                  <a:lnTo>
                    <a:pt x="7229" y="21"/>
                  </a:lnTo>
                  <a:lnTo>
                    <a:pt x="7226" y="20"/>
                  </a:lnTo>
                  <a:lnTo>
                    <a:pt x="7225" y="18"/>
                  </a:lnTo>
                  <a:lnTo>
                    <a:pt x="7223" y="17"/>
                  </a:lnTo>
                  <a:lnTo>
                    <a:pt x="7222" y="16"/>
                  </a:lnTo>
                  <a:lnTo>
                    <a:pt x="7222" y="13"/>
                  </a:lnTo>
                  <a:lnTo>
                    <a:pt x="7222" y="11"/>
                  </a:lnTo>
                  <a:lnTo>
                    <a:pt x="7222" y="8"/>
                  </a:lnTo>
                  <a:lnTo>
                    <a:pt x="7222" y="7"/>
                  </a:lnTo>
                  <a:lnTo>
                    <a:pt x="7223" y="4"/>
                  </a:lnTo>
                  <a:lnTo>
                    <a:pt x="7225" y="3"/>
                  </a:lnTo>
                  <a:lnTo>
                    <a:pt x="7226" y="1"/>
                  </a:lnTo>
                  <a:lnTo>
                    <a:pt x="7229" y="0"/>
                  </a:lnTo>
                  <a:lnTo>
                    <a:pt x="7231" y="0"/>
                  </a:lnTo>
                  <a:lnTo>
                    <a:pt x="7233" y="0"/>
                  </a:lnTo>
                  <a:close/>
                  <a:moveTo>
                    <a:pt x="7789" y="0"/>
                  </a:moveTo>
                  <a:lnTo>
                    <a:pt x="8136" y="0"/>
                  </a:lnTo>
                  <a:lnTo>
                    <a:pt x="8139" y="0"/>
                  </a:lnTo>
                  <a:lnTo>
                    <a:pt x="8140" y="0"/>
                  </a:lnTo>
                  <a:lnTo>
                    <a:pt x="8143" y="1"/>
                  </a:lnTo>
                  <a:lnTo>
                    <a:pt x="8145" y="3"/>
                  </a:lnTo>
                  <a:lnTo>
                    <a:pt x="8146" y="4"/>
                  </a:lnTo>
                  <a:lnTo>
                    <a:pt x="8146" y="7"/>
                  </a:lnTo>
                  <a:lnTo>
                    <a:pt x="8148" y="8"/>
                  </a:lnTo>
                  <a:lnTo>
                    <a:pt x="8148" y="11"/>
                  </a:lnTo>
                  <a:lnTo>
                    <a:pt x="8148" y="13"/>
                  </a:lnTo>
                  <a:lnTo>
                    <a:pt x="8146" y="16"/>
                  </a:lnTo>
                  <a:lnTo>
                    <a:pt x="8146" y="17"/>
                  </a:lnTo>
                  <a:lnTo>
                    <a:pt x="8145" y="18"/>
                  </a:lnTo>
                  <a:lnTo>
                    <a:pt x="8143" y="20"/>
                  </a:lnTo>
                  <a:lnTo>
                    <a:pt x="8140" y="21"/>
                  </a:lnTo>
                  <a:lnTo>
                    <a:pt x="8139" y="23"/>
                  </a:lnTo>
                  <a:lnTo>
                    <a:pt x="8136" y="23"/>
                  </a:lnTo>
                  <a:lnTo>
                    <a:pt x="7789" y="23"/>
                  </a:lnTo>
                  <a:lnTo>
                    <a:pt x="7787" y="23"/>
                  </a:lnTo>
                  <a:lnTo>
                    <a:pt x="7784" y="21"/>
                  </a:lnTo>
                  <a:lnTo>
                    <a:pt x="7783" y="20"/>
                  </a:lnTo>
                  <a:lnTo>
                    <a:pt x="7781" y="18"/>
                  </a:lnTo>
                  <a:lnTo>
                    <a:pt x="7780" y="17"/>
                  </a:lnTo>
                  <a:lnTo>
                    <a:pt x="7778" y="16"/>
                  </a:lnTo>
                  <a:lnTo>
                    <a:pt x="7777" y="13"/>
                  </a:lnTo>
                  <a:lnTo>
                    <a:pt x="7777" y="11"/>
                  </a:lnTo>
                  <a:lnTo>
                    <a:pt x="7777" y="8"/>
                  </a:lnTo>
                  <a:lnTo>
                    <a:pt x="7778" y="7"/>
                  </a:lnTo>
                  <a:lnTo>
                    <a:pt x="7780" y="4"/>
                  </a:lnTo>
                  <a:lnTo>
                    <a:pt x="7781" y="3"/>
                  </a:lnTo>
                  <a:lnTo>
                    <a:pt x="7783" y="1"/>
                  </a:lnTo>
                  <a:lnTo>
                    <a:pt x="7784" y="0"/>
                  </a:lnTo>
                  <a:lnTo>
                    <a:pt x="7787" y="0"/>
                  </a:lnTo>
                  <a:lnTo>
                    <a:pt x="7789" y="0"/>
                  </a:lnTo>
                  <a:close/>
                  <a:moveTo>
                    <a:pt x="8345" y="0"/>
                  </a:moveTo>
                  <a:lnTo>
                    <a:pt x="8691" y="0"/>
                  </a:lnTo>
                  <a:lnTo>
                    <a:pt x="8694" y="0"/>
                  </a:lnTo>
                  <a:lnTo>
                    <a:pt x="8695" y="0"/>
                  </a:lnTo>
                  <a:lnTo>
                    <a:pt x="8698" y="1"/>
                  </a:lnTo>
                  <a:lnTo>
                    <a:pt x="8700" y="3"/>
                  </a:lnTo>
                  <a:lnTo>
                    <a:pt x="8701" y="4"/>
                  </a:lnTo>
                  <a:lnTo>
                    <a:pt x="8703" y="7"/>
                  </a:lnTo>
                  <a:lnTo>
                    <a:pt x="8703" y="8"/>
                  </a:lnTo>
                  <a:lnTo>
                    <a:pt x="8704" y="11"/>
                  </a:lnTo>
                  <a:lnTo>
                    <a:pt x="8703" y="13"/>
                  </a:lnTo>
                  <a:lnTo>
                    <a:pt x="8703" y="16"/>
                  </a:lnTo>
                  <a:lnTo>
                    <a:pt x="8701" y="17"/>
                  </a:lnTo>
                  <a:lnTo>
                    <a:pt x="8700" y="18"/>
                  </a:lnTo>
                  <a:lnTo>
                    <a:pt x="8698" y="20"/>
                  </a:lnTo>
                  <a:lnTo>
                    <a:pt x="8695" y="21"/>
                  </a:lnTo>
                  <a:lnTo>
                    <a:pt x="8694" y="23"/>
                  </a:lnTo>
                  <a:lnTo>
                    <a:pt x="8691" y="23"/>
                  </a:lnTo>
                  <a:lnTo>
                    <a:pt x="8345" y="23"/>
                  </a:lnTo>
                  <a:lnTo>
                    <a:pt x="8342" y="23"/>
                  </a:lnTo>
                  <a:lnTo>
                    <a:pt x="8339" y="21"/>
                  </a:lnTo>
                  <a:lnTo>
                    <a:pt x="8338" y="20"/>
                  </a:lnTo>
                  <a:lnTo>
                    <a:pt x="8336" y="18"/>
                  </a:lnTo>
                  <a:lnTo>
                    <a:pt x="8335" y="17"/>
                  </a:lnTo>
                  <a:lnTo>
                    <a:pt x="8334" y="16"/>
                  </a:lnTo>
                  <a:lnTo>
                    <a:pt x="8334" y="13"/>
                  </a:lnTo>
                  <a:lnTo>
                    <a:pt x="8334" y="11"/>
                  </a:lnTo>
                  <a:lnTo>
                    <a:pt x="8334" y="8"/>
                  </a:lnTo>
                  <a:lnTo>
                    <a:pt x="8334" y="7"/>
                  </a:lnTo>
                  <a:lnTo>
                    <a:pt x="8335" y="4"/>
                  </a:lnTo>
                  <a:lnTo>
                    <a:pt x="8336" y="3"/>
                  </a:lnTo>
                  <a:lnTo>
                    <a:pt x="8338" y="1"/>
                  </a:lnTo>
                  <a:lnTo>
                    <a:pt x="8339" y="0"/>
                  </a:lnTo>
                  <a:lnTo>
                    <a:pt x="8342" y="0"/>
                  </a:lnTo>
                  <a:lnTo>
                    <a:pt x="8345" y="0"/>
                  </a:lnTo>
                  <a:close/>
                  <a:moveTo>
                    <a:pt x="8900" y="0"/>
                  </a:moveTo>
                  <a:lnTo>
                    <a:pt x="9248" y="0"/>
                  </a:lnTo>
                  <a:lnTo>
                    <a:pt x="9249" y="0"/>
                  </a:lnTo>
                  <a:lnTo>
                    <a:pt x="9252" y="0"/>
                  </a:lnTo>
                  <a:lnTo>
                    <a:pt x="9253" y="1"/>
                  </a:lnTo>
                  <a:lnTo>
                    <a:pt x="9255" y="3"/>
                  </a:lnTo>
                  <a:lnTo>
                    <a:pt x="9256" y="4"/>
                  </a:lnTo>
                  <a:lnTo>
                    <a:pt x="9258" y="7"/>
                  </a:lnTo>
                  <a:lnTo>
                    <a:pt x="9259" y="8"/>
                  </a:lnTo>
                  <a:lnTo>
                    <a:pt x="9259" y="11"/>
                  </a:lnTo>
                  <a:lnTo>
                    <a:pt x="9259" y="13"/>
                  </a:lnTo>
                  <a:lnTo>
                    <a:pt x="9258" y="16"/>
                  </a:lnTo>
                  <a:lnTo>
                    <a:pt x="9256" y="17"/>
                  </a:lnTo>
                  <a:lnTo>
                    <a:pt x="9255" y="18"/>
                  </a:lnTo>
                  <a:lnTo>
                    <a:pt x="9253" y="20"/>
                  </a:lnTo>
                  <a:lnTo>
                    <a:pt x="9252" y="21"/>
                  </a:lnTo>
                  <a:lnTo>
                    <a:pt x="9249" y="23"/>
                  </a:lnTo>
                  <a:lnTo>
                    <a:pt x="9248" y="23"/>
                  </a:lnTo>
                  <a:lnTo>
                    <a:pt x="8900" y="23"/>
                  </a:lnTo>
                  <a:lnTo>
                    <a:pt x="8897" y="23"/>
                  </a:lnTo>
                  <a:lnTo>
                    <a:pt x="8896" y="21"/>
                  </a:lnTo>
                  <a:lnTo>
                    <a:pt x="8893" y="20"/>
                  </a:lnTo>
                  <a:lnTo>
                    <a:pt x="8891" y="18"/>
                  </a:lnTo>
                  <a:lnTo>
                    <a:pt x="8890" y="17"/>
                  </a:lnTo>
                  <a:lnTo>
                    <a:pt x="8889" y="16"/>
                  </a:lnTo>
                  <a:lnTo>
                    <a:pt x="8889" y="13"/>
                  </a:lnTo>
                  <a:lnTo>
                    <a:pt x="8889" y="11"/>
                  </a:lnTo>
                  <a:lnTo>
                    <a:pt x="8889" y="8"/>
                  </a:lnTo>
                  <a:lnTo>
                    <a:pt x="8889" y="7"/>
                  </a:lnTo>
                  <a:lnTo>
                    <a:pt x="8890" y="4"/>
                  </a:lnTo>
                  <a:lnTo>
                    <a:pt x="8891" y="3"/>
                  </a:lnTo>
                  <a:lnTo>
                    <a:pt x="8893" y="1"/>
                  </a:lnTo>
                  <a:lnTo>
                    <a:pt x="8896" y="0"/>
                  </a:lnTo>
                  <a:lnTo>
                    <a:pt x="8897" y="0"/>
                  </a:lnTo>
                  <a:lnTo>
                    <a:pt x="8900" y="0"/>
                  </a:lnTo>
                  <a:close/>
                  <a:moveTo>
                    <a:pt x="9455" y="0"/>
                  </a:moveTo>
                  <a:lnTo>
                    <a:pt x="9803" y="0"/>
                  </a:lnTo>
                  <a:lnTo>
                    <a:pt x="9806" y="0"/>
                  </a:lnTo>
                  <a:lnTo>
                    <a:pt x="9807" y="0"/>
                  </a:lnTo>
                  <a:lnTo>
                    <a:pt x="9810" y="1"/>
                  </a:lnTo>
                  <a:lnTo>
                    <a:pt x="9811" y="3"/>
                  </a:lnTo>
                  <a:lnTo>
                    <a:pt x="9813" y="4"/>
                  </a:lnTo>
                  <a:lnTo>
                    <a:pt x="9813" y="7"/>
                  </a:lnTo>
                  <a:lnTo>
                    <a:pt x="9814" y="8"/>
                  </a:lnTo>
                  <a:lnTo>
                    <a:pt x="9814" y="11"/>
                  </a:lnTo>
                  <a:lnTo>
                    <a:pt x="9814" y="13"/>
                  </a:lnTo>
                  <a:lnTo>
                    <a:pt x="9813" y="16"/>
                  </a:lnTo>
                  <a:lnTo>
                    <a:pt x="9813" y="17"/>
                  </a:lnTo>
                  <a:lnTo>
                    <a:pt x="9811" y="18"/>
                  </a:lnTo>
                  <a:lnTo>
                    <a:pt x="9810" y="20"/>
                  </a:lnTo>
                  <a:lnTo>
                    <a:pt x="9807" y="21"/>
                  </a:lnTo>
                  <a:lnTo>
                    <a:pt x="9806" y="23"/>
                  </a:lnTo>
                  <a:lnTo>
                    <a:pt x="9803" y="23"/>
                  </a:lnTo>
                  <a:lnTo>
                    <a:pt x="9455" y="23"/>
                  </a:lnTo>
                  <a:lnTo>
                    <a:pt x="9454" y="23"/>
                  </a:lnTo>
                  <a:lnTo>
                    <a:pt x="9451" y="21"/>
                  </a:lnTo>
                  <a:lnTo>
                    <a:pt x="9449" y="20"/>
                  </a:lnTo>
                  <a:lnTo>
                    <a:pt x="9448" y="18"/>
                  </a:lnTo>
                  <a:lnTo>
                    <a:pt x="9447" y="17"/>
                  </a:lnTo>
                  <a:lnTo>
                    <a:pt x="9445" y="16"/>
                  </a:lnTo>
                  <a:lnTo>
                    <a:pt x="9444" y="13"/>
                  </a:lnTo>
                  <a:lnTo>
                    <a:pt x="9444" y="11"/>
                  </a:lnTo>
                  <a:lnTo>
                    <a:pt x="9444" y="8"/>
                  </a:lnTo>
                  <a:lnTo>
                    <a:pt x="9445" y="7"/>
                  </a:lnTo>
                  <a:lnTo>
                    <a:pt x="9447" y="4"/>
                  </a:lnTo>
                  <a:lnTo>
                    <a:pt x="9448" y="3"/>
                  </a:lnTo>
                  <a:lnTo>
                    <a:pt x="9449" y="1"/>
                  </a:lnTo>
                  <a:lnTo>
                    <a:pt x="9451" y="0"/>
                  </a:lnTo>
                  <a:lnTo>
                    <a:pt x="9454" y="0"/>
                  </a:lnTo>
                  <a:lnTo>
                    <a:pt x="9455" y="0"/>
                  </a:lnTo>
                  <a:close/>
                  <a:moveTo>
                    <a:pt x="10012" y="0"/>
                  </a:moveTo>
                  <a:lnTo>
                    <a:pt x="10358" y="0"/>
                  </a:lnTo>
                  <a:lnTo>
                    <a:pt x="10361" y="0"/>
                  </a:lnTo>
                  <a:lnTo>
                    <a:pt x="10362" y="0"/>
                  </a:lnTo>
                  <a:lnTo>
                    <a:pt x="10365" y="1"/>
                  </a:lnTo>
                  <a:lnTo>
                    <a:pt x="10366" y="3"/>
                  </a:lnTo>
                  <a:lnTo>
                    <a:pt x="10368" y="4"/>
                  </a:lnTo>
                  <a:lnTo>
                    <a:pt x="10369" y="7"/>
                  </a:lnTo>
                  <a:lnTo>
                    <a:pt x="10369" y="8"/>
                  </a:lnTo>
                  <a:lnTo>
                    <a:pt x="10369" y="11"/>
                  </a:lnTo>
                  <a:lnTo>
                    <a:pt x="10369" y="13"/>
                  </a:lnTo>
                  <a:lnTo>
                    <a:pt x="10369" y="16"/>
                  </a:lnTo>
                  <a:lnTo>
                    <a:pt x="10368" y="17"/>
                  </a:lnTo>
                  <a:lnTo>
                    <a:pt x="10366" y="18"/>
                  </a:lnTo>
                  <a:lnTo>
                    <a:pt x="10365" y="20"/>
                  </a:lnTo>
                  <a:lnTo>
                    <a:pt x="10362" y="21"/>
                  </a:lnTo>
                  <a:lnTo>
                    <a:pt x="10361" y="23"/>
                  </a:lnTo>
                  <a:lnTo>
                    <a:pt x="10358" y="23"/>
                  </a:lnTo>
                  <a:lnTo>
                    <a:pt x="10012" y="23"/>
                  </a:lnTo>
                  <a:lnTo>
                    <a:pt x="10009" y="23"/>
                  </a:lnTo>
                  <a:lnTo>
                    <a:pt x="10006" y="21"/>
                  </a:lnTo>
                  <a:lnTo>
                    <a:pt x="10005" y="20"/>
                  </a:lnTo>
                  <a:lnTo>
                    <a:pt x="10003" y="18"/>
                  </a:lnTo>
                  <a:lnTo>
                    <a:pt x="10002" y="17"/>
                  </a:lnTo>
                  <a:lnTo>
                    <a:pt x="10000" y="16"/>
                  </a:lnTo>
                  <a:lnTo>
                    <a:pt x="10000" y="13"/>
                  </a:lnTo>
                  <a:lnTo>
                    <a:pt x="10000" y="11"/>
                  </a:lnTo>
                  <a:lnTo>
                    <a:pt x="10000" y="8"/>
                  </a:lnTo>
                  <a:lnTo>
                    <a:pt x="10000" y="7"/>
                  </a:lnTo>
                  <a:lnTo>
                    <a:pt x="10002" y="4"/>
                  </a:lnTo>
                  <a:lnTo>
                    <a:pt x="10003" y="3"/>
                  </a:lnTo>
                  <a:lnTo>
                    <a:pt x="10005" y="1"/>
                  </a:lnTo>
                  <a:lnTo>
                    <a:pt x="10006" y="0"/>
                  </a:lnTo>
                  <a:lnTo>
                    <a:pt x="10009" y="0"/>
                  </a:lnTo>
                  <a:lnTo>
                    <a:pt x="10012" y="0"/>
                  </a:lnTo>
                  <a:close/>
                  <a:moveTo>
                    <a:pt x="10567" y="0"/>
                  </a:moveTo>
                  <a:lnTo>
                    <a:pt x="10914" y="0"/>
                  </a:lnTo>
                  <a:lnTo>
                    <a:pt x="10916" y="0"/>
                  </a:lnTo>
                  <a:lnTo>
                    <a:pt x="10919" y="0"/>
                  </a:lnTo>
                  <a:lnTo>
                    <a:pt x="10920" y="1"/>
                  </a:lnTo>
                  <a:lnTo>
                    <a:pt x="10921" y="3"/>
                  </a:lnTo>
                  <a:lnTo>
                    <a:pt x="10923" y="4"/>
                  </a:lnTo>
                  <a:lnTo>
                    <a:pt x="10924" y="7"/>
                  </a:lnTo>
                  <a:lnTo>
                    <a:pt x="10926" y="8"/>
                  </a:lnTo>
                  <a:lnTo>
                    <a:pt x="10926" y="11"/>
                  </a:lnTo>
                  <a:lnTo>
                    <a:pt x="10926" y="13"/>
                  </a:lnTo>
                  <a:lnTo>
                    <a:pt x="10924" y="16"/>
                  </a:lnTo>
                  <a:lnTo>
                    <a:pt x="10923" y="17"/>
                  </a:lnTo>
                  <a:lnTo>
                    <a:pt x="10921" y="18"/>
                  </a:lnTo>
                  <a:lnTo>
                    <a:pt x="10920" y="20"/>
                  </a:lnTo>
                  <a:lnTo>
                    <a:pt x="10919" y="21"/>
                  </a:lnTo>
                  <a:lnTo>
                    <a:pt x="10916" y="23"/>
                  </a:lnTo>
                  <a:lnTo>
                    <a:pt x="10914" y="23"/>
                  </a:lnTo>
                  <a:lnTo>
                    <a:pt x="10567" y="23"/>
                  </a:lnTo>
                  <a:lnTo>
                    <a:pt x="10564" y="23"/>
                  </a:lnTo>
                  <a:lnTo>
                    <a:pt x="10562" y="21"/>
                  </a:lnTo>
                  <a:lnTo>
                    <a:pt x="10560" y="20"/>
                  </a:lnTo>
                  <a:lnTo>
                    <a:pt x="10558" y="18"/>
                  </a:lnTo>
                  <a:lnTo>
                    <a:pt x="10557" y="17"/>
                  </a:lnTo>
                  <a:lnTo>
                    <a:pt x="10555" y="16"/>
                  </a:lnTo>
                  <a:lnTo>
                    <a:pt x="10555" y="13"/>
                  </a:lnTo>
                  <a:lnTo>
                    <a:pt x="10555" y="11"/>
                  </a:lnTo>
                  <a:lnTo>
                    <a:pt x="10555" y="8"/>
                  </a:lnTo>
                  <a:lnTo>
                    <a:pt x="10555" y="7"/>
                  </a:lnTo>
                  <a:lnTo>
                    <a:pt x="10557" y="4"/>
                  </a:lnTo>
                  <a:lnTo>
                    <a:pt x="10558" y="3"/>
                  </a:lnTo>
                  <a:lnTo>
                    <a:pt x="10560" y="1"/>
                  </a:lnTo>
                  <a:lnTo>
                    <a:pt x="10562" y="0"/>
                  </a:lnTo>
                  <a:lnTo>
                    <a:pt x="10564" y="0"/>
                  </a:lnTo>
                  <a:lnTo>
                    <a:pt x="10567" y="0"/>
                  </a:lnTo>
                  <a:close/>
                </a:path>
              </a:pathLst>
            </a:custGeom>
            <a:solidFill>
              <a:srgbClr val="000000"/>
            </a:solidFill>
            <a:ln w="1588">
              <a:solidFill>
                <a:srgbClr val="000000"/>
              </a:solidFill>
              <a:round/>
              <a:headEnd/>
              <a:tailEnd/>
            </a:ln>
          </p:spPr>
          <p:txBody>
            <a:bodyPr/>
            <a:lstStyle/>
            <a:p>
              <a:endParaRPr lang="zh-TW" altLang="en-US" sz="1350"/>
            </a:p>
          </p:txBody>
        </p:sp>
        <p:sp>
          <p:nvSpPr>
            <p:cNvPr id="10" name="Rectangle 14"/>
            <p:cNvSpPr>
              <a:spLocks noChangeArrowheads="1"/>
            </p:cNvSpPr>
            <p:nvPr/>
          </p:nvSpPr>
          <p:spPr bwMode="auto">
            <a:xfrm>
              <a:off x="4918" y="2106"/>
              <a:ext cx="694"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1" name="Rectangle 15"/>
            <p:cNvSpPr>
              <a:spLocks noChangeArrowheads="1"/>
            </p:cNvSpPr>
            <p:nvPr/>
          </p:nvSpPr>
          <p:spPr bwMode="auto">
            <a:xfrm>
              <a:off x="5035" y="2194"/>
              <a:ext cx="54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Privileged</a:t>
              </a:r>
              <a:endParaRPr lang="en-US" altLang="zh-TW" sz="1350" b="1">
                <a:cs typeface="新細明體" charset="0"/>
              </a:endParaRPr>
            </a:p>
          </p:txBody>
        </p:sp>
        <p:sp>
          <p:nvSpPr>
            <p:cNvPr id="12" name="Rectangle 16"/>
            <p:cNvSpPr>
              <a:spLocks noChangeArrowheads="1"/>
            </p:cNvSpPr>
            <p:nvPr/>
          </p:nvSpPr>
          <p:spPr bwMode="auto">
            <a:xfrm>
              <a:off x="5153" y="2332"/>
              <a:ext cx="29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a:t>
              </a:r>
              <a:endParaRPr lang="en-US" altLang="zh-TW" sz="1350" b="1">
                <a:cs typeface="新細明體" charset="0"/>
              </a:endParaRPr>
            </a:p>
          </p:txBody>
        </p:sp>
        <p:sp>
          <p:nvSpPr>
            <p:cNvPr id="13" name="Line 17"/>
            <p:cNvSpPr>
              <a:spLocks noChangeShapeType="1"/>
            </p:cNvSpPr>
            <p:nvPr/>
          </p:nvSpPr>
          <p:spPr bwMode="auto">
            <a:xfrm>
              <a:off x="144" y="2106"/>
              <a:ext cx="5599" cy="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14" name="Rectangle 18"/>
            <p:cNvSpPr>
              <a:spLocks noChangeArrowheads="1"/>
            </p:cNvSpPr>
            <p:nvPr/>
          </p:nvSpPr>
          <p:spPr bwMode="auto">
            <a:xfrm>
              <a:off x="578" y="1414"/>
              <a:ext cx="867"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5" name="Rectangle 19"/>
            <p:cNvSpPr>
              <a:spLocks noChangeArrowheads="1"/>
            </p:cNvSpPr>
            <p:nvPr/>
          </p:nvSpPr>
          <p:spPr bwMode="auto">
            <a:xfrm>
              <a:off x="578" y="1414"/>
              <a:ext cx="867"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6" name="Rectangle 20"/>
            <p:cNvSpPr>
              <a:spLocks noChangeArrowheads="1"/>
            </p:cNvSpPr>
            <p:nvPr/>
          </p:nvSpPr>
          <p:spPr bwMode="auto">
            <a:xfrm>
              <a:off x="716" y="1691"/>
              <a:ext cx="67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Applications</a:t>
              </a:r>
              <a:endParaRPr lang="en-US" altLang="zh-TW" sz="1350" b="1">
                <a:cs typeface="新細明體" charset="0"/>
              </a:endParaRPr>
            </a:p>
          </p:txBody>
        </p:sp>
        <p:sp>
          <p:nvSpPr>
            <p:cNvPr id="17" name="Rectangle 21"/>
            <p:cNvSpPr>
              <a:spLocks noChangeArrowheads="1"/>
            </p:cNvSpPr>
            <p:nvPr/>
          </p:nvSpPr>
          <p:spPr bwMode="auto">
            <a:xfrm>
              <a:off x="578" y="2106"/>
              <a:ext cx="867"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8" name="Rectangle 22"/>
            <p:cNvSpPr>
              <a:spLocks noChangeArrowheads="1"/>
            </p:cNvSpPr>
            <p:nvPr/>
          </p:nvSpPr>
          <p:spPr bwMode="auto">
            <a:xfrm>
              <a:off x="578" y="2106"/>
              <a:ext cx="867"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9" name="Rectangle 23"/>
            <p:cNvSpPr>
              <a:spLocks noChangeArrowheads="1"/>
            </p:cNvSpPr>
            <p:nvPr/>
          </p:nvSpPr>
          <p:spPr bwMode="auto">
            <a:xfrm>
              <a:off x="960" y="2209"/>
              <a:ext cx="163"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OS</a:t>
              </a:r>
              <a:endParaRPr lang="en-US" altLang="zh-TW" sz="1350" b="1">
                <a:cs typeface="新細明體" charset="0"/>
              </a:endParaRPr>
            </a:p>
          </p:txBody>
        </p:sp>
        <p:sp>
          <p:nvSpPr>
            <p:cNvPr id="20" name="Rectangle 24"/>
            <p:cNvSpPr>
              <a:spLocks noChangeArrowheads="1"/>
            </p:cNvSpPr>
            <p:nvPr/>
          </p:nvSpPr>
          <p:spPr bwMode="auto">
            <a:xfrm>
              <a:off x="578" y="3144"/>
              <a:ext cx="867"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1" name="Rectangle 25"/>
            <p:cNvSpPr>
              <a:spLocks noChangeArrowheads="1"/>
            </p:cNvSpPr>
            <p:nvPr/>
          </p:nvSpPr>
          <p:spPr bwMode="auto">
            <a:xfrm>
              <a:off x="764" y="3163"/>
              <a:ext cx="57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Traditional</a:t>
              </a:r>
              <a:endParaRPr lang="en-US" altLang="zh-TW" sz="1350" b="1">
                <a:cs typeface="新細明體" charset="0"/>
              </a:endParaRPr>
            </a:p>
          </p:txBody>
        </p:sp>
        <p:sp>
          <p:nvSpPr>
            <p:cNvPr id="22" name="Rectangle 26"/>
            <p:cNvSpPr>
              <a:spLocks noChangeArrowheads="1"/>
            </p:cNvSpPr>
            <p:nvPr/>
          </p:nvSpPr>
          <p:spPr bwMode="auto">
            <a:xfrm>
              <a:off x="700" y="3301"/>
              <a:ext cx="71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uniprocessor</a:t>
              </a:r>
              <a:endParaRPr lang="en-US" altLang="zh-TW" sz="1350" b="1">
                <a:cs typeface="新細明體" charset="0"/>
              </a:endParaRPr>
            </a:p>
          </p:txBody>
        </p:sp>
        <p:sp>
          <p:nvSpPr>
            <p:cNvPr id="23" name="Rectangle 27"/>
            <p:cNvSpPr>
              <a:spLocks noChangeArrowheads="1"/>
            </p:cNvSpPr>
            <p:nvPr/>
          </p:nvSpPr>
          <p:spPr bwMode="auto">
            <a:xfrm>
              <a:off x="853" y="3439"/>
              <a:ext cx="3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system</a:t>
              </a:r>
              <a:endParaRPr lang="en-US" altLang="zh-TW" sz="1350" b="1">
                <a:cs typeface="新細明體" charset="0"/>
              </a:endParaRPr>
            </a:p>
          </p:txBody>
        </p:sp>
        <p:sp>
          <p:nvSpPr>
            <p:cNvPr id="24" name="Rectangle 28"/>
            <p:cNvSpPr>
              <a:spLocks noChangeArrowheads="1"/>
            </p:cNvSpPr>
            <p:nvPr/>
          </p:nvSpPr>
          <p:spPr bwMode="auto">
            <a:xfrm>
              <a:off x="578" y="2452"/>
              <a:ext cx="867"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5" name="Rectangle 29"/>
            <p:cNvSpPr>
              <a:spLocks noChangeArrowheads="1"/>
            </p:cNvSpPr>
            <p:nvPr/>
          </p:nvSpPr>
          <p:spPr bwMode="auto">
            <a:xfrm>
              <a:off x="578" y="2452"/>
              <a:ext cx="867"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6" name="Rectangle 30"/>
            <p:cNvSpPr>
              <a:spLocks noChangeArrowheads="1"/>
            </p:cNvSpPr>
            <p:nvPr/>
          </p:nvSpPr>
          <p:spPr bwMode="auto">
            <a:xfrm>
              <a:off x="794"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dirty="0">
                  <a:solidFill>
                    <a:srgbClr val="000000"/>
                  </a:solidFill>
                  <a:cs typeface="新細明體" charset="0"/>
                </a:rPr>
                <a:t>Hardware</a:t>
              </a:r>
              <a:endParaRPr lang="en-US" altLang="zh-TW" sz="1350" b="1" dirty="0">
                <a:cs typeface="新細明體" charset="0"/>
              </a:endParaRPr>
            </a:p>
          </p:txBody>
        </p:sp>
        <p:sp>
          <p:nvSpPr>
            <p:cNvPr id="27" name="Rectangle 31"/>
            <p:cNvSpPr>
              <a:spLocks noChangeArrowheads="1"/>
            </p:cNvSpPr>
            <p:nvPr/>
          </p:nvSpPr>
          <p:spPr bwMode="auto">
            <a:xfrm>
              <a:off x="1619" y="1414"/>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8" name="Rectangle 32"/>
            <p:cNvSpPr>
              <a:spLocks noChangeArrowheads="1"/>
            </p:cNvSpPr>
            <p:nvPr/>
          </p:nvSpPr>
          <p:spPr bwMode="auto">
            <a:xfrm>
              <a:off x="1619" y="1414"/>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9" name="Rectangle 33"/>
            <p:cNvSpPr>
              <a:spLocks noChangeArrowheads="1"/>
            </p:cNvSpPr>
            <p:nvPr/>
          </p:nvSpPr>
          <p:spPr bwMode="auto">
            <a:xfrm>
              <a:off x="1913" y="1622"/>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30" name="Rectangle 34"/>
            <p:cNvSpPr>
              <a:spLocks noChangeArrowheads="1"/>
            </p:cNvSpPr>
            <p:nvPr/>
          </p:nvSpPr>
          <p:spPr bwMode="auto">
            <a:xfrm>
              <a:off x="1866" y="1760"/>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31" name="Rectangle 35"/>
            <p:cNvSpPr>
              <a:spLocks noChangeArrowheads="1"/>
            </p:cNvSpPr>
            <p:nvPr/>
          </p:nvSpPr>
          <p:spPr bwMode="auto">
            <a:xfrm>
              <a:off x="1619" y="2106"/>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2" name="Rectangle 36"/>
            <p:cNvSpPr>
              <a:spLocks noChangeArrowheads="1"/>
            </p:cNvSpPr>
            <p:nvPr/>
          </p:nvSpPr>
          <p:spPr bwMode="auto">
            <a:xfrm>
              <a:off x="1619"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3" name="Rectangle 37"/>
            <p:cNvSpPr>
              <a:spLocks noChangeArrowheads="1"/>
            </p:cNvSpPr>
            <p:nvPr/>
          </p:nvSpPr>
          <p:spPr bwMode="auto">
            <a:xfrm>
              <a:off x="1954" y="2209"/>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34" name="Rectangle 38"/>
            <p:cNvSpPr>
              <a:spLocks noChangeArrowheads="1"/>
            </p:cNvSpPr>
            <p:nvPr/>
          </p:nvSpPr>
          <p:spPr bwMode="auto">
            <a:xfrm>
              <a:off x="1619"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5" name="Rectangle 39"/>
            <p:cNvSpPr>
              <a:spLocks noChangeArrowheads="1"/>
            </p:cNvSpPr>
            <p:nvPr/>
          </p:nvSpPr>
          <p:spPr bwMode="auto">
            <a:xfrm>
              <a:off x="1619"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6" name="Rectangle 40"/>
            <p:cNvSpPr>
              <a:spLocks noChangeArrowheads="1"/>
            </p:cNvSpPr>
            <p:nvPr/>
          </p:nvSpPr>
          <p:spPr bwMode="auto">
            <a:xfrm>
              <a:off x="1835"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37" name="Rectangle 41"/>
            <p:cNvSpPr>
              <a:spLocks noChangeArrowheads="1"/>
            </p:cNvSpPr>
            <p:nvPr/>
          </p:nvSpPr>
          <p:spPr bwMode="auto">
            <a:xfrm>
              <a:off x="2661"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8" name="Rectangle 42"/>
            <p:cNvSpPr>
              <a:spLocks noChangeArrowheads="1"/>
            </p:cNvSpPr>
            <p:nvPr/>
          </p:nvSpPr>
          <p:spPr bwMode="auto">
            <a:xfrm>
              <a:off x="2661"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9" name="Rectangle 43"/>
            <p:cNvSpPr>
              <a:spLocks noChangeArrowheads="1"/>
            </p:cNvSpPr>
            <p:nvPr/>
          </p:nvSpPr>
          <p:spPr bwMode="auto">
            <a:xfrm>
              <a:off x="2954"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40" name="Rectangle 44"/>
            <p:cNvSpPr>
              <a:spLocks noChangeArrowheads="1"/>
            </p:cNvSpPr>
            <p:nvPr/>
          </p:nvSpPr>
          <p:spPr bwMode="auto">
            <a:xfrm>
              <a:off x="2907"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41" name="Rectangle 45"/>
            <p:cNvSpPr>
              <a:spLocks noChangeArrowheads="1"/>
            </p:cNvSpPr>
            <p:nvPr/>
          </p:nvSpPr>
          <p:spPr bwMode="auto">
            <a:xfrm>
              <a:off x="2661" y="2106"/>
              <a:ext cx="868"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2" name="Rectangle 46"/>
            <p:cNvSpPr>
              <a:spLocks noChangeArrowheads="1"/>
            </p:cNvSpPr>
            <p:nvPr/>
          </p:nvSpPr>
          <p:spPr bwMode="auto">
            <a:xfrm>
              <a:off x="2661"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3" name="Rectangle 47"/>
            <p:cNvSpPr>
              <a:spLocks noChangeArrowheads="1"/>
            </p:cNvSpPr>
            <p:nvPr/>
          </p:nvSpPr>
          <p:spPr bwMode="auto">
            <a:xfrm>
              <a:off x="2909"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44" name="Rectangle 48"/>
            <p:cNvSpPr>
              <a:spLocks noChangeArrowheads="1"/>
            </p:cNvSpPr>
            <p:nvPr/>
          </p:nvSpPr>
          <p:spPr bwMode="auto">
            <a:xfrm>
              <a:off x="2661"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5" name="Rectangle 49"/>
            <p:cNvSpPr>
              <a:spLocks noChangeArrowheads="1"/>
            </p:cNvSpPr>
            <p:nvPr/>
          </p:nvSpPr>
          <p:spPr bwMode="auto">
            <a:xfrm>
              <a:off x="2661"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6" name="Rectangle 50"/>
            <p:cNvSpPr>
              <a:spLocks noChangeArrowheads="1"/>
            </p:cNvSpPr>
            <p:nvPr/>
          </p:nvSpPr>
          <p:spPr bwMode="auto">
            <a:xfrm>
              <a:off x="2877"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47" name="Rectangle 51"/>
            <p:cNvSpPr>
              <a:spLocks noChangeArrowheads="1"/>
            </p:cNvSpPr>
            <p:nvPr/>
          </p:nvSpPr>
          <p:spPr bwMode="auto">
            <a:xfrm>
              <a:off x="2661" y="1760"/>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8" name="Rectangle 52"/>
            <p:cNvSpPr>
              <a:spLocks noChangeArrowheads="1"/>
            </p:cNvSpPr>
            <p:nvPr/>
          </p:nvSpPr>
          <p:spPr bwMode="auto">
            <a:xfrm>
              <a:off x="2661" y="1760"/>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9" name="Rectangle 53"/>
            <p:cNvSpPr>
              <a:spLocks noChangeArrowheads="1"/>
            </p:cNvSpPr>
            <p:nvPr/>
          </p:nvSpPr>
          <p:spPr bwMode="auto">
            <a:xfrm>
              <a:off x="2996"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50" name="Rectangle 54"/>
            <p:cNvSpPr>
              <a:spLocks noChangeArrowheads="1"/>
            </p:cNvSpPr>
            <p:nvPr/>
          </p:nvSpPr>
          <p:spPr bwMode="auto">
            <a:xfrm>
              <a:off x="3703"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1" name="Rectangle 55"/>
            <p:cNvSpPr>
              <a:spLocks noChangeArrowheads="1"/>
            </p:cNvSpPr>
            <p:nvPr/>
          </p:nvSpPr>
          <p:spPr bwMode="auto">
            <a:xfrm>
              <a:off x="3703"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2" name="Rectangle 56"/>
            <p:cNvSpPr>
              <a:spLocks noChangeArrowheads="1"/>
            </p:cNvSpPr>
            <p:nvPr/>
          </p:nvSpPr>
          <p:spPr bwMode="auto">
            <a:xfrm>
              <a:off x="3996"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53" name="Rectangle 57"/>
            <p:cNvSpPr>
              <a:spLocks noChangeArrowheads="1"/>
            </p:cNvSpPr>
            <p:nvPr/>
          </p:nvSpPr>
          <p:spPr bwMode="auto">
            <a:xfrm>
              <a:off x="3949"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54" name="Rectangle 58"/>
            <p:cNvSpPr>
              <a:spLocks noChangeArrowheads="1"/>
            </p:cNvSpPr>
            <p:nvPr/>
          </p:nvSpPr>
          <p:spPr bwMode="auto">
            <a:xfrm>
              <a:off x="3703" y="2106"/>
              <a:ext cx="521"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5" name="Rectangle 59"/>
            <p:cNvSpPr>
              <a:spLocks noChangeArrowheads="1"/>
            </p:cNvSpPr>
            <p:nvPr/>
          </p:nvSpPr>
          <p:spPr bwMode="auto">
            <a:xfrm>
              <a:off x="3703" y="2106"/>
              <a:ext cx="521"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6" name="Rectangle 60"/>
            <p:cNvSpPr>
              <a:spLocks noChangeArrowheads="1"/>
            </p:cNvSpPr>
            <p:nvPr/>
          </p:nvSpPr>
          <p:spPr bwMode="auto">
            <a:xfrm>
              <a:off x="3777"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57" name="Rectangle 61"/>
            <p:cNvSpPr>
              <a:spLocks noChangeArrowheads="1"/>
            </p:cNvSpPr>
            <p:nvPr/>
          </p:nvSpPr>
          <p:spPr bwMode="auto">
            <a:xfrm>
              <a:off x="3703"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8" name="Rectangle 62"/>
            <p:cNvSpPr>
              <a:spLocks noChangeArrowheads="1"/>
            </p:cNvSpPr>
            <p:nvPr/>
          </p:nvSpPr>
          <p:spPr bwMode="auto">
            <a:xfrm>
              <a:off x="3703"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9" name="Rectangle 63"/>
            <p:cNvSpPr>
              <a:spLocks noChangeArrowheads="1"/>
            </p:cNvSpPr>
            <p:nvPr/>
          </p:nvSpPr>
          <p:spPr bwMode="auto">
            <a:xfrm>
              <a:off x="3919"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60" name="Freeform 64"/>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solidFill>
              <a:srgbClr val="E6E6E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61" name="Freeform 65"/>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noFill/>
            <a:ln w="11113">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62" name="Rectangle 66"/>
            <p:cNvSpPr>
              <a:spLocks noChangeArrowheads="1"/>
            </p:cNvSpPr>
            <p:nvPr/>
          </p:nvSpPr>
          <p:spPr bwMode="auto">
            <a:xfrm>
              <a:off x="4038"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63" name="Rectangle 67"/>
            <p:cNvSpPr>
              <a:spLocks noChangeArrowheads="1"/>
            </p:cNvSpPr>
            <p:nvPr/>
          </p:nvSpPr>
          <p:spPr bwMode="auto">
            <a:xfrm>
              <a:off x="1619"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4" name="Rectangle 68"/>
            <p:cNvSpPr>
              <a:spLocks noChangeArrowheads="1"/>
            </p:cNvSpPr>
            <p:nvPr/>
          </p:nvSpPr>
          <p:spPr bwMode="auto">
            <a:xfrm>
              <a:off x="1920" y="3163"/>
              <a:ext cx="34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Native</a:t>
              </a:r>
              <a:endParaRPr lang="en-US" altLang="zh-TW" sz="1350" b="1">
                <a:cs typeface="新細明體" charset="0"/>
              </a:endParaRPr>
            </a:p>
          </p:txBody>
        </p:sp>
        <p:sp>
          <p:nvSpPr>
            <p:cNvPr id="65" name="Rectangle 69"/>
            <p:cNvSpPr>
              <a:spLocks noChangeArrowheads="1"/>
            </p:cNvSpPr>
            <p:nvPr/>
          </p:nvSpPr>
          <p:spPr bwMode="auto">
            <a:xfrm>
              <a:off x="1799" y="3301"/>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66" name="Rectangle 70"/>
            <p:cNvSpPr>
              <a:spLocks noChangeArrowheads="1"/>
            </p:cNvSpPr>
            <p:nvPr/>
          </p:nvSpPr>
          <p:spPr bwMode="auto">
            <a:xfrm>
              <a:off x="2661"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7" name="Rectangle 71"/>
            <p:cNvSpPr>
              <a:spLocks noChangeArrowheads="1"/>
            </p:cNvSpPr>
            <p:nvPr/>
          </p:nvSpPr>
          <p:spPr bwMode="auto">
            <a:xfrm>
              <a:off x="2842" y="3163"/>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User-mode</a:t>
              </a:r>
              <a:endParaRPr lang="en-US" altLang="zh-TW" sz="1350" b="1">
                <a:cs typeface="新細明體" charset="0"/>
              </a:endParaRPr>
            </a:p>
          </p:txBody>
        </p:sp>
        <p:sp>
          <p:nvSpPr>
            <p:cNvPr id="68" name="Rectangle 72"/>
            <p:cNvSpPr>
              <a:spLocks noChangeArrowheads="1"/>
            </p:cNvSpPr>
            <p:nvPr/>
          </p:nvSpPr>
          <p:spPr bwMode="auto">
            <a:xfrm>
              <a:off x="2940"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69" name="Rectangle 73"/>
            <p:cNvSpPr>
              <a:spLocks noChangeArrowheads="1"/>
            </p:cNvSpPr>
            <p:nvPr/>
          </p:nvSpPr>
          <p:spPr bwMode="auto">
            <a:xfrm>
              <a:off x="2841"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0" name="Rectangle 74"/>
            <p:cNvSpPr>
              <a:spLocks noChangeArrowheads="1"/>
            </p:cNvSpPr>
            <p:nvPr/>
          </p:nvSpPr>
          <p:spPr bwMode="auto">
            <a:xfrm>
              <a:off x="3703"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1" name="Rectangle 75"/>
            <p:cNvSpPr>
              <a:spLocks noChangeArrowheads="1"/>
            </p:cNvSpPr>
            <p:nvPr/>
          </p:nvSpPr>
          <p:spPr bwMode="auto">
            <a:xfrm>
              <a:off x="3887" y="3163"/>
              <a:ext cx="5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Dual-mode</a:t>
              </a:r>
              <a:endParaRPr lang="en-US" altLang="zh-TW" sz="1350" b="1">
                <a:cs typeface="新細明體" charset="0"/>
              </a:endParaRPr>
            </a:p>
          </p:txBody>
        </p:sp>
        <p:sp>
          <p:nvSpPr>
            <p:cNvPr id="72" name="Rectangle 76"/>
            <p:cNvSpPr>
              <a:spLocks noChangeArrowheads="1"/>
            </p:cNvSpPr>
            <p:nvPr/>
          </p:nvSpPr>
          <p:spPr bwMode="auto">
            <a:xfrm>
              <a:off x="3981"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73" name="Rectangle 77"/>
            <p:cNvSpPr>
              <a:spLocks noChangeArrowheads="1"/>
            </p:cNvSpPr>
            <p:nvPr/>
          </p:nvSpPr>
          <p:spPr bwMode="auto">
            <a:xfrm>
              <a:off x="3882"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4" name="Line 78"/>
            <p:cNvSpPr>
              <a:spLocks noChangeShapeType="1"/>
            </p:cNvSpPr>
            <p:nvPr/>
          </p:nvSpPr>
          <p:spPr bwMode="auto">
            <a:xfrm>
              <a:off x="4875" y="2106"/>
              <a:ext cx="1" cy="476"/>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5" name="Freeform 79"/>
            <p:cNvSpPr>
              <a:spLocks/>
            </p:cNvSpPr>
            <p:nvPr/>
          </p:nvSpPr>
          <p:spPr bwMode="auto">
            <a:xfrm>
              <a:off x="4844" y="2574"/>
              <a:ext cx="62" cy="94"/>
            </a:xfrm>
            <a:custGeom>
              <a:avLst/>
              <a:gdLst>
                <a:gd name="T0" fmla="*/ 62 w 124"/>
                <a:gd name="T1" fmla="*/ 0 h 187"/>
                <a:gd name="T2" fmla="*/ 31 w 124"/>
                <a:gd name="T3" fmla="*/ 94 h 187"/>
                <a:gd name="T4" fmla="*/ 0 w 124"/>
                <a:gd name="T5" fmla="*/ 0 h 187"/>
                <a:gd name="T6" fmla="*/ 62 w 124"/>
                <a:gd name="T7" fmla="*/ 0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124" y="0"/>
                  </a:moveTo>
                  <a:lnTo>
                    <a:pt x="62" y="187"/>
                  </a:lnTo>
                  <a:lnTo>
                    <a:pt x="0" y="0"/>
                  </a:lnTo>
                  <a:lnTo>
                    <a:pt x="1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76" name="Line 80"/>
            <p:cNvSpPr>
              <a:spLocks noChangeShapeType="1"/>
            </p:cNvSpPr>
            <p:nvPr/>
          </p:nvSpPr>
          <p:spPr bwMode="auto">
            <a:xfrm>
              <a:off x="4875" y="1499"/>
              <a:ext cx="1" cy="650"/>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7" name="Freeform 81"/>
            <p:cNvSpPr>
              <a:spLocks/>
            </p:cNvSpPr>
            <p:nvPr/>
          </p:nvSpPr>
          <p:spPr bwMode="auto">
            <a:xfrm>
              <a:off x="4844" y="1414"/>
              <a:ext cx="62" cy="93"/>
            </a:xfrm>
            <a:custGeom>
              <a:avLst/>
              <a:gdLst>
                <a:gd name="T0" fmla="*/ 0 w 124"/>
                <a:gd name="T1" fmla="*/ 93 h 187"/>
                <a:gd name="T2" fmla="*/ 31 w 124"/>
                <a:gd name="T3" fmla="*/ 0 h 187"/>
                <a:gd name="T4" fmla="*/ 62 w 124"/>
                <a:gd name="T5" fmla="*/ 93 h 187"/>
                <a:gd name="T6" fmla="*/ 0 w 124"/>
                <a:gd name="T7" fmla="*/ 93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0" y="187"/>
                  </a:moveTo>
                  <a:lnTo>
                    <a:pt x="62" y="0"/>
                  </a:lnTo>
                  <a:lnTo>
                    <a:pt x="124" y="187"/>
                  </a:lnTo>
                  <a:lnTo>
                    <a:pt x="0" y="18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grpSp>
      <p:sp>
        <p:nvSpPr>
          <p:cNvPr id="3" name="灯片编号占位符 1">
            <a:extLst>
              <a:ext uri="{FF2B5EF4-FFF2-40B4-BE49-F238E27FC236}">
                <a16:creationId xmlns:a16="http://schemas.microsoft.com/office/drawing/2014/main" id="{B150EF38-C005-ED94-6455-2CE9C41A58A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47</a:t>
            </a:fld>
            <a:endParaRPr lang="zh-TW" altLang="en-US"/>
          </a:p>
        </p:txBody>
      </p:sp>
    </p:spTree>
    <p:extLst>
      <p:ext uri="{BB962C8B-B14F-4D97-AF65-F5344CB8AC3E}">
        <p14:creationId xmlns:p14="http://schemas.microsoft.com/office/powerpoint/2010/main" val="2490338055"/>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2577</TotalTime>
  <Words>2276</Words>
  <Application>Microsoft Office PowerPoint</Application>
  <PresentationFormat>全屏显示(16:9)</PresentationFormat>
  <Paragraphs>396</Paragraphs>
  <Slides>47</Slides>
  <Notes>1</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47</vt:i4>
      </vt:variant>
    </vt:vector>
  </HeadingPairs>
  <TitlesOfParts>
    <vt:vector size="55" baseType="lpstr">
      <vt:lpstr>MS Sans Serif</vt:lpstr>
      <vt:lpstr>新細明體</vt:lpstr>
      <vt:lpstr>Arial</vt:lpstr>
      <vt:lpstr>Calibri</vt:lpstr>
      <vt:lpstr>Times New Roman</vt:lpstr>
      <vt:lpstr>Verdana</vt:lpstr>
      <vt:lpstr>Wingdings</vt:lpstr>
      <vt:lpstr>NTHU UniCloud</vt:lpstr>
      <vt:lpstr>CSC6103 – Virtualization Techniques System-Virtualization</vt:lpstr>
      <vt:lpstr>Outline</vt:lpstr>
      <vt:lpstr>Isomorphism</vt:lpstr>
      <vt:lpstr>Virtualization Isomorphism</vt:lpstr>
      <vt:lpstr>Virtual Machine</vt:lpstr>
      <vt:lpstr>OS VMs Key Issue – ISA Virtualizability</vt:lpstr>
      <vt:lpstr>Virtual Machine Monitor (1)</vt:lpstr>
      <vt:lpstr>Virtual Machine Monitor (2)</vt:lpstr>
      <vt:lpstr>Emulation</vt:lpstr>
      <vt:lpstr>Emulation Technique (1)</vt:lpstr>
      <vt:lpstr>Emulation Technique (2)</vt:lpstr>
      <vt:lpstr>Interpretation (1)</vt:lpstr>
      <vt:lpstr>Interpretation (2)</vt:lpstr>
      <vt:lpstr>Binary Translation</vt:lpstr>
      <vt:lpstr>Static Binary Translation (1)</vt:lpstr>
      <vt:lpstr>Static Binary Translation (2)</vt:lpstr>
      <vt:lpstr>Static Binary Translation (3)</vt:lpstr>
      <vt:lpstr>Static Binary Translation (4)</vt:lpstr>
      <vt:lpstr>Comparison</vt:lpstr>
      <vt:lpstr>Dynamic Binary Translation (1)</vt:lpstr>
      <vt:lpstr>Dynamic Binary Translation (2)</vt:lpstr>
      <vt:lpstr>Design Challenges and Issues</vt:lpstr>
      <vt:lpstr>Register Mapping Problem (1)</vt:lpstr>
      <vt:lpstr>Register Mapping Problem (2)</vt:lpstr>
      <vt:lpstr>Register Mapping Problem (3)</vt:lpstr>
      <vt:lpstr>Performance Improvement</vt:lpstr>
      <vt:lpstr>Translation Chaining (1)</vt:lpstr>
      <vt:lpstr>Translation Chaining (2)</vt:lpstr>
      <vt:lpstr>Dynamic Optimization (1)</vt:lpstr>
      <vt:lpstr>Dynamic Optimization (2)</vt:lpstr>
      <vt:lpstr>Dynamic Optimization (3)</vt:lpstr>
      <vt:lpstr>Dynamic Optimization (4)</vt:lpstr>
      <vt:lpstr>Dynamic Optimization (5)</vt:lpstr>
      <vt:lpstr>VIRTUALIZATION</vt:lpstr>
      <vt:lpstr>System Virtual Machine</vt:lpstr>
      <vt:lpstr>Virtual Machine Monitor - Main Theorem</vt:lpstr>
      <vt:lpstr>Emulation &amp; Virtualization</vt:lpstr>
      <vt:lpstr>full-virtualization &amp; Para-virtualization</vt:lpstr>
      <vt:lpstr>Full-Virtualization</vt:lpstr>
      <vt:lpstr>Para-Virtualization</vt:lpstr>
      <vt:lpstr>categories of virtual machine</vt:lpstr>
      <vt:lpstr>Several Types of VMM</vt:lpstr>
      <vt:lpstr>Type-1 : bare-metal VMM</vt:lpstr>
      <vt:lpstr>Bare-Metal VMM</vt:lpstr>
      <vt:lpstr>Type-2 : hosted VMM</vt:lpstr>
      <vt:lpstr>Hosted VMM</vt:lpstr>
      <vt:lpstr>Comparison with Native and Hosted VMs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Prof. Chung Yehching (SDS)</cp:lastModifiedBy>
  <cp:revision>285</cp:revision>
  <dcterms:created xsi:type="dcterms:W3CDTF">2015-06-05T07:23:35Z</dcterms:created>
  <dcterms:modified xsi:type="dcterms:W3CDTF">2026-09-09T00:58:41Z</dcterms:modified>
</cp:coreProperties>
</file>