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8"/>
  </p:notesMasterIdLst>
  <p:handoutMasterIdLst>
    <p:handoutMasterId r:id="rId49"/>
  </p:handoutMasterIdLst>
  <p:sldIdLst>
    <p:sldId id="256" r:id="rId2"/>
    <p:sldId id="267" r:id="rId3"/>
    <p:sldId id="288" r:id="rId4"/>
    <p:sldId id="289" r:id="rId5"/>
    <p:sldId id="293" r:id="rId6"/>
    <p:sldId id="294" r:id="rId7"/>
    <p:sldId id="325" r:id="rId8"/>
    <p:sldId id="290" r:id="rId9"/>
    <p:sldId id="326" r:id="rId10"/>
    <p:sldId id="322" r:id="rId11"/>
    <p:sldId id="323" r:id="rId12"/>
    <p:sldId id="328" r:id="rId13"/>
    <p:sldId id="271" r:id="rId14"/>
    <p:sldId id="291" r:id="rId15"/>
    <p:sldId id="295" r:id="rId16"/>
    <p:sldId id="296" r:id="rId17"/>
    <p:sldId id="292" r:id="rId18"/>
    <p:sldId id="330" r:id="rId19"/>
    <p:sldId id="297" r:id="rId20"/>
    <p:sldId id="331" r:id="rId21"/>
    <p:sldId id="298" r:id="rId22"/>
    <p:sldId id="308" r:id="rId23"/>
    <p:sldId id="300" r:id="rId24"/>
    <p:sldId id="309" r:id="rId25"/>
    <p:sldId id="301" r:id="rId26"/>
    <p:sldId id="319" r:id="rId27"/>
    <p:sldId id="340" r:id="rId28"/>
    <p:sldId id="341" r:id="rId29"/>
    <p:sldId id="342" r:id="rId30"/>
    <p:sldId id="343" r:id="rId31"/>
    <p:sldId id="344" r:id="rId32"/>
    <p:sldId id="333" r:id="rId33"/>
    <p:sldId id="334" r:id="rId34"/>
    <p:sldId id="335" r:id="rId35"/>
    <p:sldId id="302" r:id="rId36"/>
    <p:sldId id="303" r:id="rId37"/>
    <p:sldId id="332" r:id="rId38"/>
    <p:sldId id="304" r:id="rId39"/>
    <p:sldId id="305" r:id="rId40"/>
    <p:sldId id="306" r:id="rId41"/>
    <p:sldId id="316" r:id="rId42"/>
    <p:sldId id="311" r:id="rId43"/>
    <p:sldId id="314" r:id="rId44"/>
    <p:sldId id="315" r:id="rId45"/>
    <p:sldId id="321" r:id="rId46"/>
    <p:sldId id="307" r:id="rId47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04" y="336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0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3pPr>
            <a:lvl4pPr>
              <a:defRPr sz="18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4pPr>
            <a:lvl5pPr>
              <a:defRPr sz="16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8864" y="844153"/>
            <a:ext cx="7817935" cy="2772987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concept of memory management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Brief introduction to ARM v7 AMSA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assist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82BF038-48CB-DBCB-2926-5B811C87E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89609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910688"/>
          </a:xfrm>
        </p:spPr>
        <p:txBody>
          <a:bodyPr/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concept of memory management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211533F-0135-E26B-C69A-05C3695E8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6460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68" y="108349"/>
            <a:ext cx="7728922" cy="519113"/>
          </a:xfrm>
        </p:spPr>
        <p:txBody>
          <a:bodyPr/>
          <a:lstStyle/>
          <a:p>
            <a:r>
              <a:rPr lang="en-US" altLang="zh-TW" dirty="0"/>
              <a:t>Memory Management Unit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7878" y="844153"/>
            <a:ext cx="7728922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hardware component responsible for handling accesses to memory requested by the CPU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translation: virtual address to physical address (VA to PA)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protection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control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 arbitration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tables are maintained by operating system, and MMU only references them.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TLB updates are performed automatically by page-table walking hardware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A20858-2179-7B96-2571-640745201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3305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3940" y="108349"/>
            <a:ext cx="7801750" cy="519113"/>
          </a:xfrm>
        </p:spPr>
        <p:txBody>
          <a:bodyPr/>
          <a:lstStyle/>
          <a:p>
            <a:r>
              <a:rPr lang="en-US" altLang="zh-TW" dirty="0"/>
              <a:t>Page Tables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3940" y="792369"/>
            <a:ext cx="7729040" cy="160793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table is the data structure used by a virtual memory system to store the mapping between virtual addresses and physical addresses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table base register (TTBR)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called page table base register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register that stores the address of the base page table for MMU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221" y="2716260"/>
            <a:ext cx="4401557" cy="1734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CA63A66-F620-1198-82D5-B9C46EFFC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478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images.cnblogs.com/cnblogs_com/cornflower/MMU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20313" y="2398999"/>
            <a:ext cx="3686807" cy="2186549"/>
          </a:xfrm>
          <a:prstGeom prst="rect">
            <a:avLst/>
          </a:prstGeom>
          <a:noFill/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TLB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8306" y="805361"/>
            <a:ext cx="7760262" cy="1853172"/>
          </a:xfrm>
        </p:spPr>
        <p:txBody>
          <a:bodyPr>
            <a:noAutofit/>
          </a:bodyPr>
          <a:lstStyle/>
          <a:p>
            <a:pPr marL="0"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look-aside buffer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CPU cache that memory management hardware uses to improve virtual address translation speed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TLB is typically implemented as content-addressable memory (CAM)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CAM search key is the virtual address and the search result is a physical address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8AD76CA-3738-D1CD-C42F-297B93AFA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4854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Brief introduction to ARMv7 VMSA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6013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9664" y="108349"/>
            <a:ext cx="7826026" cy="519113"/>
          </a:xfrm>
        </p:spPr>
        <p:txBody>
          <a:bodyPr/>
          <a:lstStyle/>
          <a:p>
            <a:r>
              <a:rPr lang="en-US" altLang="zh-TW" dirty="0"/>
              <a:t>ARMv7 VMSA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4860" y="844153"/>
            <a:ext cx="7731940" cy="3329914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VMSA: Virtual memory system architecture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four mapping types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16MB Super section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1MB Section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64KB Large page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4KB Small page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Basically a 32-bit two-layer translation table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 (virtualization extension and 64-bit large physical address extension) would be mentioned in the future class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36F624C-8111-F9C5-7F35-9C65921457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8072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altLang="zh-TW" dirty="0"/>
              <a:t>L1 Page Table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8216" y="844153"/>
            <a:ext cx="7533685" cy="3420350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First-level table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properties for a Section and Super-section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properties and pointers to a second-level table for a Large page or a Small page.</a:t>
            </a:r>
          </a:p>
          <a:p>
            <a:endParaRPr lang="en-US" altLang="zh-TW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 descriptor[1:0]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0b00, invalid or fault entry</a:t>
            </a:r>
          </a:p>
          <a:p>
            <a:pPr lvl="2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fault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0b01, page table</a:t>
            </a:r>
          </a:p>
          <a:p>
            <a:pPr lvl="2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of 2</a:t>
            </a:r>
            <a:r>
              <a:rPr lang="en-US" altLang="zh-TW" sz="2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level translation table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0b10, section of super-section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0b11, special usage with PXN attribute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D5F4EC3-1320-DE76-54E2-0D234521E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637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1</a:t>
            </a:r>
            <a:r>
              <a:rPr lang="en-US" altLang="zh-TW" baseline="30000" dirty="0"/>
              <a:t>st</a:t>
            </a:r>
            <a:r>
              <a:rPr lang="en-US" altLang="zh-TW" dirty="0"/>
              <a:t> Page Table Descriptor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4689" y="873156"/>
            <a:ext cx="6024088" cy="3698844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C71ADC9E-D4BC-0DDD-F9DA-28A3E866D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92028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altLang="zh-TW" dirty="0"/>
              <a:t>L2 Page Table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04007" y="844153"/>
            <a:ext cx="7809842" cy="3363705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Second-level tables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base address and translation properties for a Small page or a Large page.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is, page tables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1KB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descriptor[1:0]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0b00, invalid or fault entry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fault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0b01, large page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0b1x, small page</a:t>
            </a:r>
          </a:p>
          <a:p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38E0C9-FB26-A704-9C84-EC794E900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61190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2</a:t>
            </a:r>
            <a:r>
              <a:rPr lang="en-US" altLang="zh-TW" baseline="30000" dirty="0"/>
              <a:t>nd</a:t>
            </a:r>
            <a:r>
              <a:rPr lang="en-US" altLang="zh-TW" dirty="0"/>
              <a:t> Page Table Descriptor</a:t>
            </a:r>
            <a:endParaRPr lang="zh-TW" altLang="en-US" dirty="0"/>
          </a:p>
        </p:txBody>
      </p:sp>
      <p:pic>
        <p:nvPicPr>
          <p:cNvPr id="6" name="內容版面配置區 5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3" y="882032"/>
            <a:ext cx="7886193" cy="3601567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4511AE55-F73F-E310-C382-C6AC8E345F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1483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3E86D2A-95B9-B266-7DAA-03439DEFB2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882DF334-EDC2-270E-2531-7700C924D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95292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9099"/>
            <a:ext cx="7761290" cy="519113"/>
          </a:xfrm>
        </p:spPr>
        <p:txBody>
          <a:bodyPr/>
          <a:lstStyle/>
          <a:p>
            <a:r>
              <a:rPr lang="en-US" altLang="zh-TW" dirty="0"/>
              <a:t>Memory Management on a VM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1513" y="854466"/>
            <a:ext cx="7180710" cy="262025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Traditionally, OS fully controls all physical memory space and provides a continuous addressing space to each process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is just one of user space processes of host OS 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guest OS is allowed to access the physical memory arbitrarily, then what happens? 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system virtualization, VMM should make all virtual machines share the physical memory space</a:t>
            </a:r>
          </a:p>
          <a:p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6C753B-1C5F-B2A8-D83D-616EA4672B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1653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56078" y="1236891"/>
            <a:ext cx="4530244" cy="336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dirty="0"/>
              <a:t>Memory Virtualization (1)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057022" y="853230"/>
            <a:ext cx="6172200" cy="4572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marL="342900" indent="-342900" defTabSz="6858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lang="en-US" sz="22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 architecture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EF12031-434E-0A1A-A797-4D90755D35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7142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Memory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308" y="800100"/>
            <a:ext cx="7072439" cy="17716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performance drop of memory access is usually unbearable. VMM needs further optimization.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VMM maintains shadow page tables </a:t>
            </a:r>
          </a:p>
          <a:p>
            <a:pPr lvl="1">
              <a:spcAft>
                <a:spcPts val="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 virtual-to-physical address mapping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hardware TLB for address translation</a:t>
            </a:r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05410" y="2674668"/>
            <a:ext cx="4933179" cy="191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E37BC8A-FCF8-F6F1-FD4C-49F56BE849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00172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1572" y="108349"/>
            <a:ext cx="7834118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Goals of Memory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20404" y="819326"/>
            <a:ext cx="8111931" cy="367188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Translation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table-walking hardware that accesses translation tables in main memory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Protection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access permission which uses the Access Control Hardware.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 Attribute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attribute and type of memory region to direct how memory operation to be handled.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implement?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solution: shadow page table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solution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NPT on SVM from AMD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EPT on VMX from Intel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v7 VMSA (Virtual Memory System Architecture) with virtualization extension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4F98A-90AD-20D8-E670-2DAB59715A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31261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FB4FCF6-9999-40C0-AFC3-BBAD6B1B85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901563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1EC0DEA0-17D6-6CA0-D32B-E7A0A4DAE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26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dirty="0"/>
              <a:t>Shadow Page Table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4192" y="834054"/>
            <a:ext cx="7293533" cy="3729854"/>
          </a:xfrm>
        </p:spPr>
        <p:txBody>
          <a:bodyPr>
            <a:no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 guest virtual address to host physical address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will maintain its own virtual memory page table in the guest physical memory frames.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each guest physical memory frame, VMM should map it to host physical memory frame.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 maintains the mapping from guest virtual address to host physical address.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 protection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VMM will apply write protection to all the physical frames of guest page tables, which lead the guest page table write exception and trap to VMM.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887DDD5-0132-B803-1A79-9F6ADB9499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68794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/>
          <a:lstStyle/>
          <a:p>
            <a:r>
              <a:rPr lang="en-US" altLang="zh-TW" dirty="0"/>
              <a:t>Shadow Page Table (2)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6537" y="887987"/>
            <a:ext cx="5830926" cy="3680223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53B873E-0928-17B9-698F-8B9D8460B1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58413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940" y="108349"/>
            <a:ext cx="7801750" cy="519113"/>
          </a:xfrm>
        </p:spPr>
        <p:txBody>
          <a:bodyPr/>
          <a:lstStyle/>
          <a:p>
            <a:r>
              <a:rPr lang="en-US" dirty="0"/>
              <a:t>Shadow Page Table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3733" y="807560"/>
            <a:ext cx="7565000" cy="188751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How does this technique work 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should make MMU virtualized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VMM manages the real PTBR and a virtual PTBR for each VM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When a guest OS is activated, the real PTBR points to the corresponding shadow page table of the guest OS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When the guest OS attempts to modify the PTBR, it will be intercepted by VMM for further emulation</a:t>
            </a:r>
          </a:p>
        </p:txBody>
      </p:sp>
      <p:pic>
        <p:nvPicPr>
          <p:cNvPr id="1024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92943" y="2723948"/>
            <a:ext cx="4303061" cy="1823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5204D1A-C072-FB2C-DBBC-D053A5E849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26227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/>
          <a:lstStyle/>
          <a:p>
            <a:r>
              <a:rPr lang="en-US" dirty="0"/>
              <a:t>Shadow Page Table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5423" y="813036"/>
            <a:ext cx="7293802" cy="179744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1800" dirty="0"/>
              <a:t>Construct shadow page table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Guest OS will maintain its own page table for each process.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maps each guest physical page to host physical page.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Create shadow page tables for each guest page table.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should protect host frame which contains guest page table. (that means to write protect the guest page tables in host memory)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8BC9A38-9DBB-0939-5F25-327F80015D7F}"/>
              </a:ext>
            </a:extLst>
          </p:cNvPr>
          <p:cNvGrpSpPr/>
          <p:nvPr/>
        </p:nvGrpSpPr>
        <p:grpSpPr>
          <a:xfrm>
            <a:off x="1839805" y="2552500"/>
            <a:ext cx="5886203" cy="2110413"/>
            <a:chOff x="1493992" y="2276986"/>
            <a:chExt cx="6172200" cy="2314740"/>
          </a:xfrm>
        </p:grpSpPr>
        <p:pic>
          <p:nvPicPr>
            <p:cNvPr id="15362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493992" y="2276986"/>
              <a:ext cx="6172200" cy="23147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3" name="Picture 3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679763" y="2877226"/>
              <a:ext cx="3362061" cy="6334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5" name="Picture 5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83402" y="3422599"/>
              <a:ext cx="4424663" cy="654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6" name="Picture 6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1671974" y="3709985"/>
              <a:ext cx="4103198" cy="8245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Oval 9"/>
            <p:cNvSpPr/>
            <p:nvPr/>
          </p:nvSpPr>
          <p:spPr>
            <a:xfrm>
              <a:off x="2845997" y="3721413"/>
              <a:ext cx="342900" cy="3429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15" name="Oval 14"/>
            <p:cNvSpPr/>
            <p:nvPr/>
          </p:nvSpPr>
          <p:spPr>
            <a:xfrm>
              <a:off x="3696715" y="3721413"/>
              <a:ext cx="342900" cy="3429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05736" y="4052061"/>
              <a:ext cx="1317155" cy="253916"/>
            </a:xfrm>
            <a:prstGeom prst="rect">
              <a:avLst/>
            </a:prstGeom>
            <a:noFill/>
          </p:spPr>
          <p:txBody>
            <a:bodyPr wrap="none" lIns="68580" tIns="34290" rIns="68580" bIns="34290">
              <a:spAutoFit/>
              <a:scene3d>
                <a:camera prst="orthographicFront"/>
                <a:lightRig rig="flat" dir="tl">
                  <a:rot lat="0" lon="0" rev="6600000"/>
                </a:lightRig>
              </a:scene3d>
              <a:sp3d extrusionH="25400" contourW="8890">
                <a:bevelT w="38100" h="31750"/>
                <a:contourClr>
                  <a:schemeClr val="accent2">
                    <a:shade val="75000"/>
                  </a:schemeClr>
                </a:contourClr>
              </a:sp3d>
            </a:bodyPr>
            <a:lstStyle/>
            <a:p>
              <a:pPr algn="ctr"/>
              <a:r>
                <a:rPr lang="en-US" sz="1200" b="1" dirty="0">
                  <a:ln w="11430"/>
                  <a:solidFill>
                    <a:srgbClr val="FF0000"/>
                  </a:solidFill>
                  <a:effectLst>
                    <a:glow rad="101600">
                      <a:srgbClr val="FFFF00">
                        <a:alpha val="40000"/>
                      </a:srgbClr>
                    </a:glow>
                    <a:outerShdw blurRad="50800" dist="39000" dir="5460000" algn="tl">
                      <a:srgbClr val="000000">
                        <a:alpha val="38000"/>
                      </a:srgbClr>
                    </a:outerShdw>
                  </a:effectLst>
                </a:rPr>
                <a:t>Write protection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CFE7B5E-9DD2-6EB5-373D-9AAC22279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1081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Shadow Page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294" y="818017"/>
            <a:ext cx="6748417" cy="91490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with PTBR 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process 2 in guest OS wants to access its memory whose page number is 1</a:t>
            </a:r>
          </a:p>
        </p:txBody>
      </p:sp>
      <p:pic>
        <p:nvPicPr>
          <p:cNvPr id="1433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99727" y="2536957"/>
            <a:ext cx="4114800" cy="1543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26BCCE7A-2482-AFDE-EB89-060F9E6B98A1}"/>
              </a:ext>
            </a:extLst>
          </p:cNvPr>
          <p:cNvGrpSpPr/>
          <p:nvPr/>
        </p:nvGrpSpPr>
        <p:grpSpPr>
          <a:xfrm>
            <a:off x="279916" y="2399096"/>
            <a:ext cx="4381097" cy="1818881"/>
            <a:chOff x="1404709" y="1661346"/>
            <a:chExt cx="4767491" cy="1982826"/>
          </a:xfrm>
        </p:grpSpPr>
        <p:pic>
          <p:nvPicPr>
            <p:cNvPr id="14338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404710" y="1661346"/>
              <a:ext cx="4745521" cy="12344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4339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404709" y="2409732"/>
              <a:ext cx="4767491" cy="12344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C355C2B-5A14-F987-BCB0-8E5DE48747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127214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/>
          <a:lstStyle/>
          <a:p>
            <a:r>
              <a:rPr lang="en-US" altLang="zh-TW" dirty="0"/>
              <a:t>SPT Maintenance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2952" y="833871"/>
            <a:ext cx="7153360" cy="358904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guest OS modify one of its page tables, then the corresponding entry of SPT must be updated.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call it “shadow” because SPT is just like the shadow of page tables of guest OS.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identify this kind of modification?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could read/write a physical frame with the help of SPT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 those physical frames used as guest page tables read-only, so that when a guest OS tries to modify its guest page table, an exception would be triggered.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Then VMM checks the modification and updates the corresponding entry on SPT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E0BC19E-E406-232D-7148-404F61D32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07086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2" y="108349"/>
            <a:ext cx="7703538" cy="519113"/>
          </a:xfrm>
        </p:spPr>
        <p:txBody>
          <a:bodyPr/>
          <a:lstStyle/>
          <a:p>
            <a:r>
              <a:rPr lang="en-US" dirty="0"/>
              <a:t>Shadow Page Table</a:t>
            </a:r>
          </a:p>
        </p:txBody>
      </p:sp>
      <p:grpSp>
        <p:nvGrpSpPr>
          <p:cNvPr id="5" name="群組 20"/>
          <p:cNvGrpSpPr/>
          <p:nvPr/>
        </p:nvGrpSpPr>
        <p:grpSpPr>
          <a:xfrm>
            <a:off x="1728937" y="2230721"/>
            <a:ext cx="800100" cy="286433"/>
            <a:chOff x="304800" y="2438400"/>
            <a:chExt cx="1371600" cy="533400"/>
          </a:xfrm>
        </p:grpSpPr>
        <p:sp>
          <p:nvSpPr>
            <p:cNvPr id="89" name="矩形 88"/>
            <p:cNvSpPr/>
            <p:nvPr/>
          </p:nvSpPr>
          <p:spPr>
            <a:xfrm>
              <a:off x="304800" y="2438400"/>
              <a:ext cx="1371600" cy="5334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90" name="橢圓 89"/>
            <p:cNvSpPr/>
            <p:nvPr/>
          </p:nvSpPr>
          <p:spPr>
            <a:xfrm>
              <a:off x="838200" y="2590800"/>
              <a:ext cx="228600" cy="2286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grpSp>
        <p:nvGrpSpPr>
          <p:cNvPr id="6" name="群組 19"/>
          <p:cNvGrpSpPr/>
          <p:nvPr/>
        </p:nvGrpSpPr>
        <p:grpSpPr>
          <a:xfrm>
            <a:off x="1728937" y="3030138"/>
            <a:ext cx="800100" cy="286433"/>
            <a:chOff x="304800" y="3962400"/>
            <a:chExt cx="1371600" cy="533400"/>
          </a:xfrm>
        </p:grpSpPr>
        <p:sp>
          <p:nvSpPr>
            <p:cNvPr id="92" name="矩形 91"/>
            <p:cNvSpPr/>
            <p:nvPr/>
          </p:nvSpPr>
          <p:spPr>
            <a:xfrm>
              <a:off x="304800" y="3962400"/>
              <a:ext cx="1371600" cy="5334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93" name="橢圓 92"/>
            <p:cNvSpPr/>
            <p:nvPr/>
          </p:nvSpPr>
          <p:spPr>
            <a:xfrm>
              <a:off x="838200" y="4114800"/>
              <a:ext cx="228600" cy="2286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94" name="矩形 93"/>
          <p:cNvSpPr/>
          <p:nvPr/>
        </p:nvSpPr>
        <p:spPr>
          <a:xfrm>
            <a:off x="304338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95" name="矩形 94"/>
          <p:cNvSpPr/>
          <p:nvPr/>
        </p:nvSpPr>
        <p:spPr>
          <a:xfrm>
            <a:off x="304338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6" name="矩形 95"/>
          <p:cNvSpPr/>
          <p:nvPr/>
        </p:nvSpPr>
        <p:spPr>
          <a:xfrm>
            <a:off x="3043387" y="17163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7" name="矩形 96"/>
          <p:cNvSpPr/>
          <p:nvPr/>
        </p:nvSpPr>
        <p:spPr>
          <a:xfrm>
            <a:off x="3043387" y="137347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8" name="矩形 97"/>
          <p:cNvSpPr/>
          <p:nvPr/>
        </p:nvSpPr>
        <p:spPr>
          <a:xfrm>
            <a:off x="3043387" y="12020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9" name="矩形 98"/>
          <p:cNvSpPr/>
          <p:nvPr/>
        </p:nvSpPr>
        <p:spPr>
          <a:xfrm>
            <a:off x="304338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00" name="矩形 99"/>
          <p:cNvSpPr/>
          <p:nvPr/>
        </p:nvSpPr>
        <p:spPr>
          <a:xfrm>
            <a:off x="304338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1" name="矩形 100"/>
          <p:cNvSpPr/>
          <p:nvPr/>
        </p:nvSpPr>
        <p:spPr>
          <a:xfrm>
            <a:off x="304338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2" name="矩形 101"/>
          <p:cNvSpPr/>
          <p:nvPr/>
        </p:nvSpPr>
        <p:spPr>
          <a:xfrm>
            <a:off x="3043387" y="35451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3" name="矩形 102"/>
          <p:cNvSpPr/>
          <p:nvPr/>
        </p:nvSpPr>
        <p:spPr>
          <a:xfrm>
            <a:off x="3043387" y="33737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4" name="矩形 103"/>
          <p:cNvSpPr/>
          <p:nvPr/>
        </p:nvSpPr>
        <p:spPr>
          <a:xfrm>
            <a:off x="3043387" y="3030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5" name="矩形 104"/>
          <p:cNvSpPr/>
          <p:nvPr/>
        </p:nvSpPr>
        <p:spPr>
          <a:xfrm>
            <a:off x="447213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2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06" name="矩形 105"/>
          <p:cNvSpPr/>
          <p:nvPr/>
        </p:nvSpPr>
        <p:spPr>
          <a:xfrm>
            <a:off x="447213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7" name="矩形 106"/>
          <p:cNvSpPr/>
          <p:nvPr/>
        </p:nvSpPr>
        <p:spPr>
          <a:xfrm>
            <a:off x="4472137" y="171637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8" name="矩形 107"/>
          <p:cNvSpPr/>
          <p:nvPr/>
        </p:nvSpPr>
        <p:spPr>
          <a:xfrm>
            <a:off x="4472137" y="15449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9" name="矩形 108"/>
          <p:cNvSpPr/>
          <p:nvPr/>
        </p:nvSpPr>
        <p:spPr>
          <a:xfrm>
            <a:off x="4472137" y="12020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0" name="矩形 109"/>
          <p:cNvSpPr/>
          <p:nvPr/>
        </p:nvSpPr>
        <p:spPr>
          <a:xfrm>
            <a:off x="447213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11" name="矩形 110"/>
          <p:cNvSpPr/>
          <p:nvPr/>
        </p:nvSpPr>
        <p:spPr>
          <a:xfrm>
            <a:off x="447213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2" name="矩形 111"/>
          <p:cNvSpPr/>
          <p:nvPr/>
        </p:nvSpPr>
        <p:spPr>
          <a:xfrm>
            <a:off x="4472137" y="354517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3" name="矩形 112"/>
          <p:cNvSpPr/>
          <p:nvPr/>
        </p:nvSpPr>
        <p:spPr>
          <a:xfrm>
            <a:off x="4472137" y="33737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4" name="矩形 113"/>
          <p:cNvSpPr/>
          <p:nvPr/>
        </p:nvSpPr>
        <p:spPr>
          <a:xfrm>
            <a:off x="447213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5" name="矩形 114"/>
          <p:cNvSpPr/>
          <p:nvPr/>
        </p:nvSpPr>
        <p:spPr>
          <a:xfrm>
            <a:off x="4472137" y="30308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16" name="直線接點 115"/>
          <p:cNvCxnSpPr>
            <a:cxnSpLocks/>
            <a:stCxn id="94" idx="2"/>
            <a:endCxn id="104" idx="0"/>
          </p:cNvCxnSpPr>
          <p:nvPr/>
        </p:nvCxnSpPr>
        <p:spPr>
          <a:xfrm rot="5400000">
            <a:off x="321517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線接點 116"/>
          <p:cNvCxnSpPr>
            <a:stCxn id="105" idx="2"/>
            <a:endCxn id="115" idx="0"/>
          </p:cNvCxnSpPr>
          <p:nvPr/>
        </p:nvCxnSpPr>
        <p:spPr>
          <a:xfrm rot="5400000">
            <a:off x="464392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61"/>
          <p:cNvSpPr txBox="1"/>
          <p:nvPr/>
        </p:nvSpPr>
        <p:spPr>
          <a:xfrm>
            <a:off x="1516950" y="2468072"/>
            <a:ext cx="122661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50" b="1" i="1" dirty="0">
                <a:solidFill>
                  <a:schemeClr val="tx2">
                    <a:lumMod val="75000"/>
                  </a:schemeClr>
                </a:solidFill>
              </a:rPr>
              <a:t>Virtual PTPR</a:t>
            </a:r>
          </a:p>
        </p:txBody>
      </p:sp>
      <p:sp>
        <p:nvSpPr>
          <p:cNvPr id="119" name="TextBox 62"/>
          <p:cNvSpPr txBox="1"/>
          <p:nvPr/>
        </p:nvSpPr>
        <p:spPr>
          <a:xfrm>
            <a:off x="1626429" y="2802221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50" b="1" i="1" dirty="0">
                <a:solidFill>
                  <a:schemeClr val="tx2">
                    <a:lumMod val="75000"/>
                  </a:schemeClr>
                </a:solidFill>
              </a:rPr>
              <a:t>Real PTPR</a:t>
            </a:r>
          </a:p>
        </p:txBody>
      </p:sp>
      <p:cxnSp>
        <p:nvCxnSpPr>
          <p:cNvPr id="120" name="肘形接點 76"/>
          <p:cNvCxnSpPr>
            <a:endCxn id="99" idx="2"/>
          </p:cNvCxnSpPr>
          <p:nvPr/>
        </p:nvCxnSpPr>
        <p:spPr>
          <a:xfrm rot="16200000" flipH="1">
            <a:off x="2234119" y="3107377"/>
            <a:ext cx="1110538" cy="13652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接點 120"/>
          <p:cNvCxnSpPr/>
          <p:nvPr/>
        </p:nvCxnSpPr>
        <p:spPr>
          <a:xfrm>
            <a:off x="1614637" y="2811655"/>
            <a:ext cx="6858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/>
          <p:cNvSpPr txBox="1"/>
          <p:nvPr/>
        </p:nvSpPr>
        <p:spPr>
          <a:xfrm>
            <a:off x="316292" y="2159562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Guest OS</a:t>
            </a:r>
            <a:endParaRPr lang="zh-TW" altLang="en-US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514553" y="3050066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VMM</a:t>
            </a:r>
            <a:endParaRPr lang="zh-TW" altLang="en-US" dirty="0"/>
          </a:p>
        </p:txBody>
      </p:sp>
      <p:cxnSp>
        <p:nvCxnSpPr>
          <p:cNvPr id="124" name="肘形接點 123"/>
          <p:cNvCxnSpPr>
            <a:endCxn id="98" idx="0"/>
          </p:cNvCxnSpPr>
          <p:nvPr/>
        </p:nvCxnSpPr>
        <p:spPr>
          <a:xfrm rot="5400000" flipH="1" flipV="1">
            <a:off x="2234119" y="1074666"/>
            <a:ext cx="1110538" cy="13652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3043387" y="1887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6" name="矩形 125"/>
          <p:cNvSpPr/>
          <p:nvPr/>
        </p:nvSpPr>
        <p:spPr>
          <a:xfrm>
            <a:off x="4472137" y="13734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7" name="矩形 126"/>
          <p:cNvSpPr/>
          <p:nvPr/>
        </p:nvSpPr>
        <p:spPr>
          <a:xfrm>
            <a:off x="3043387" y="15449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8" name="矩形 127"/>
          <p:cNvSpPr/>
          <p:nvPr/>
        </p:nvSpPr>
        <p:spPr>
          <a:xfrm>
            <a:off x="304338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9" name="矩形 128"/>
          <p:cNvSpPr/>
          <p:nvPr/>
        </p:nvSpPr>
        <p:spPr>
          <a:xfrm>
            <a:off x="4472137" y="1887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0" name="矩形 129"/>
          <p:cNvSpPr/>
          <p:nvPr/>
        </p:nvSpPr>
        <p:spPr>
          <a:xfrm>
            <a:off x="447213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1" name="文字方塊 130"/>
          <p:cNvSpPr txBox="1"/>
          <p:nvPr/>
        </p:nvSpPr>
        <p:spPr>
          <a:xfrm>
            <a:off x="2455156" y="4265697"/>
            <a:ext cx="245451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Corresponding mapping table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32" name="肘形接點 131"/>
          <p:cNvCxnSpPr>
            <a:endCxn id="109" idx="0"/>
          </p:cNvCxnSpPr>
          <p:nvPr/>
        </p:nvCxnSpPr>
        <p:spPr>
          <a:xfrm rot="5400000" flipH="1" flipV="1">
            <a:off x="2948494" y="360291"/>
            <a:ext cx="1110538" cy="279400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/>
          <p:cNvCxnSpPr/>
          <p:nvPr/>
        </p:nvCxnSpPr>
        <p:spPr>
          <a:xfrm>
            <a:off x="3672037" y="925022"/>
            <a:ext cx="1143000" cy="1191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字方塊 133"/>
          <p:cNvSpPr txBox="1"/>
          <p:nvPr/>
        </p:nvSpPr>
        <p:spPr>
          <a:xfrm>
            <a:off x="4815037" y="762323"/>
            <a:ext cx="130997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Context switch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35" name="肘形接點 76"/>
          <p:cNvCxnSpPr>
            <a:endCxn id="110" idx="2"/>
          </p:cNvCxnSpPr>
          <p:nvPr/>
        </p:nvCxnSpPr>
        <p:spPr>
          <a:xfrm rot="16200000" flipH="1">
            <a:off x="2948494" y="2393002"/>
            <a:ext cx="1110538" cy="279400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文字方塊 135"/>
          <p:cNvSpPr txBox="1"/>
          <p:nvPr/>
        </p:nvSpPr>
        <p:spPr>
          <a:xfrm>
            <a:off x="3024292" y="4285985"/>
            <a:ext cx="27622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Switch the pointer to new location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590088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3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38" name="矩形 137"/>
          <p:cNvSpPr/>
          <p:nvPr/>
        </p:nvSpPr>
        <p:spPr>
          <a:xfrm>
            <a:off x="5900887" y="18878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9" name="矩形 138"/>
          <p:cNvSpPr/>
          <p:nvPr/>
        </p:nvSpPr>
        <p:spPr>
          <a:xfrm>
            <a:off x="5900887" y="17163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0" name="矩形 139"/>
          <p:cNvSpPr/>
          <p:nvPr/>
        </p:nvSpPr>
        <p:spPr>
          <a:xfrm>
            <a:off x="5900887" y="13734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1" name="矩形 140"/>
          <p:cNvSpPr/>
          <p:nvPr/>
        </p:nvSpPr>
        <p:spPr>
          <a:xfrm>
            <a:off x="5900887" y="15449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2" name="矩形 141"/>
          <p:cNvSpPr/>
          <p:nvPr/>
        </p:nvSpPr>
        <p:spPr>
          <a:xfrm>
            <a:off x="5900887" y="12020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3" name="矩形 142"/>
          <p:cNvSpPr/>
          <p:nvPr/>
        </p:nvSpPr>
        <p:spPr>
          <a:xfrm>
            <a:off x="590088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3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44" name="矩形 143"/>
          <p:cNvSpPr/>
          <p:nvPr/>
        </p:nvSpPr>
        <p:spPr>
          <a:xfrm>
            <a:off x="590088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5" name="矩形 144"/>
          <p:cNvSpPr/>
          <p:nvPr/>
        </p:nvSpPr>
        <p:spPr>
          <a:xfrm>
            <a:off x="5900887" y="35451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6" name="矩形 145"/>
          <p:cNvSpPr/>
          <p:nvPr/>
        </p:nvSpPr>
        <p:spPr>
          <a:xfrm>
            <a:off x="5900887" y="33737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7" name="矩形 146"/>
          <p:cNvSpPr/>
          <p:nvPr/>
        </p:nvSpPr>
        <p:spPr>
          <a:xfrm>
            <a:off x="5900887" y="3030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48" name="直線接點 147"/>
          <p:cNvCxnSpPr>
            <a:stCxn id="137" idx="2"/>
            <a:endCxn id="147" idx="0"/>
          </p:cNvCxnSpPr>
          <p:nvPr/>
        </p:nvCxnSpPr>
        <p:spPr>
          <a:xfrm rot="5400000">
            <a:off x="607267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線單箭頭接點 148"/>
          <p:cNvCxnSpPr/>
          <p:nvPr/>
        </p:nvCxnSpPr>
        <p:spPr>
          <a:xfrm>
            <a:off x="5215087" y="859121"/>
            <a:ext cx="1143000" cy="1191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字方塊 149"/>
          <p:cNvSpPr txBox="1"/>
          <p:nvPr/>
        </p:nvSpPr>
        <p:spPr>
          <a:xfrm>
            <a:off x="6358087" y="696422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New process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51" name="肘形接點 150"/>
          <p:cNvCxnSpPr>
            <a:endCxn id="142" idx="0"/>
          </p:cNvCxnSpPr>
          <p:nvPr/>
        </p:nvCxnSpPr>
        <p:spPr>
          <a:xfrm rot="5400000" flipH="1" flipV="1">
            <a:off x="3662869" y="-354084"/>
            <a:ext cx="1110538" cy="42227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矩形 151"/>
          <p:cNvSpPr/>
          <p:nvPr/>
        </p:nvSpPr>
        <p:spPr>
          <a:xfrm>
            <a:off x="590088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53" name="矩形 152"/>
          <p:cNvSpPr/>
          <p:nvPr/>
        </p:nvSpPr>
        <p:spPr>
          <a:xfrm>
            <a:off x="590088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54" name="肘形接點 76"/>
          <p:cNvCxnSpPr>
            <a:endCxn id="143" idx="2"/>
          </p:cNvCxnSpPr>
          <p:nvPr/>
        </p:nvCxnSpPr>
        <p:spPr>
          <a:xfrm rot="16200000" flipH="1">
            <a:off x="3662869" y="1678627"/>
            <a:ext cx="1110538" cy="42227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字方塊 154"/>
          <p:cNvSpPr txBox="1"/>
          <p:nvPr/>
        </p:nvSpPr>
        <p:spPr>
          <a:xfrm>
            <a:off x="2163126" y="4265416"/>
            <a:ext cx="44935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Create new shadow page table mapping to new process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sp>
        <p:nvSpPr>
          <p:cNvPr id="156" name="文字方塊 155"/>
          <p:cNvSpPr txBox="1"/>
          <p:nvPr/>
        </p:nvSpPr>
        <p:spPr>
          <a:xfrm>
            <a:off x="6780611" y="1039322"/>
            <a:ext cx="74251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Access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57" name="弧形接點 156"/>
          <p:cNvCxnSpPr>
            <a:stCxn id="141" idx="3"/>
            <a:endCxn id="161" idx="3"/>
          </p:cNvCxnSpPr>
          <p:nvPr/>
        </p:nvCxnSpPr>
        <p:spPr>
          <a:xfrm>
            <a:off x="6758137" y="1626564"/>
            <a:ext cx="1191" cy="1657350"/>
          </a:xfrm>
          <a:prstGeom prst="curvedConnector3">
            <a:avLst>
              <a:gd name="adj1" fmla="val 14395466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弧形接點 100"/>
          <p:cNvCxnSpPr>
            <a:stCxn id="156" idx="2"/>
            <a:endCxn id="141" idx="3"/>
          </p:cNvCxnSpPr>
          <p:nvPr/>
        </p:nvCxnSpPr>
        <p:spPr>
          <a:xfrm rot="5400000">
            <a:off x="6811422" y="1286119"/>
            <a:ext cx="287160" cy="393730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弧形接點 100"/>
          <p:cNvCxnSpPr>
            <a:stCxn id="156" idx="2"/>
            <a:endCxn id="138" idx="3"/>
          </p:cNvCxnSpPr>
          <p:nvPr/>
        </p:nvCxnSpPr>
        <p:spPr>
          <a:xfrm rot="5400000">
            <a:off x="6639972" y="1457569"/>
            <a:ext cx="630060" cy="393730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弧形接點 159"/>
          <p:cNvCxnSpPr>
            <a:stCxn id="138" idx="3"/>
            <a:endCxn id="162" idx="3"/>
          </p:cNvCxnSpPr>
          <p:nvPr/>
        </p:nvCxnSpPr>
        <p:spPr>
          <a:xfrm>
            <a:off x="6758137" y="1969464"/>
            <a:ext cx="1191" cy="1828800"/>
          </a:xfrm>
          <a:prstGeom prst="curvedConnector3">
            <a:avLst>
              <a:gd name="adj1" fmla="val 22146921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矩形 160"/>
          <p:cNvSpPr/>
          <p:nvPr/>
        </p:nvSpPr>
        <p:spPr>
          <a:xfrm>
            <a:off x="5900887" y="320227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62" name="矩形 161"/>
          <p:cNvSpPr/>
          <p:nvPr/>
        </p:nvSpPr>
        <p:spPr>
          <a:xfrm>
            <a:off x="5900887" y="37166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grpSp>
        <p:nvGrpSpPr>
          <p:cNvPr id="7" name="群組 132"/>
          <p:cNvGrpSpPr/>
          <p:nvPr/>
        </p:nvGrpSpPr>
        <p:grpSpPr>
          <a:xfrm>
            <a:off x="6929587" y="3087971"/>
            <a:ext cx="1085850" cy="514350"/>
            <a:chOff x="6858000" y="5638800"/>
            <a:chExt cx="1447800" cy="685800"/>
          </a:xfrm>
        </p:grpSpPr>
        <p:sp>
          <p:nvSpPr>
            <p:cNvPr id="164" name="爆炸 1 163"/>
            <p:cNvSpPr/>
            <p:nvPr/>
          </p:nvSpPr>
          <p:spPr>
            <a:xfrm>
              <a:off x="6858000" y="5638800"/>
              <a:ext cx="1447800" cy="685800"/>
            </a:xfrm>
            <a:prstGeom prst="irregularSeal1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 dirty="0"/>
            </a:p>
          </p:txBody>
        </p:sp>
        <p:sp>
          <p:nvSpPr>
            <p:cNvPr id="165" name="文字方塊 164"/>
            <p:cNvSpPr txBox="1"/>
            <p:nvPr/>
          </p:nvSpPr>
          <p:spPr>
            <a:xfrm>
              <a:off x="7086600" y="5802868"/>
              <a:ext cx="1154591" cy="3385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rgbClr val="C00000"/>
                  </a:solidFill>
                </a:rPr>
                <a:t>Page fault !</a:t>
              </a:r>
              <a:endParaRPr lang="zh-TW" altLang="en-US" sz="1050" dirty="0">
                <a:solidFill>
                  <a:srgbClr val="C00000"/>
                </a:solidFill>
              </a:endParaRPr>
            </a:p>
          </p:txBody>
        </p:sp>
      </p:grpSp>
      <p:sp>
        <p:nvSpPr>
          <p:cNvPr id="166" name="文字方塊 165"/>
          <p:cNvSpPr txBox="1"/>
          <p:nvPr/>
        </p:nvSpPr>
        <p:spPr>
          <a:xfrm>
            <a:off x="7043888" y="4173821"/>
            <a:ext cx="66556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Load !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67" name="弧形接點 100"/>
          <p:cNvCxnSpPr/>
          <p:nvPr/>
        </p:nvCxnSpPr>
        <p:spPr>
          <a:xfrm rot="16200000" flipV="1">
            <a:off x="6856664" y="3756889"/>
            <a:ext cx="375557" cy="572608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弧形接點 100"/>
          <p:cNvCxnSpPr/>
          <p:nvPr/>
        </p:nvCxnSpPr>
        <p:spPr>
          <a:xfrm rot="16200000" flipV="1">
            <a:off x="6599489" y="3499714"/>
            <a:ext cx="889907" cy="572608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矩形 168"/>
          <p:cNvSpPr/>
          <p:nvPr/>
        </p:nvSpPr>
        <p:spPr>
          <a:xfrm>
            <a:off x="590088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8" name="灯片编号占位符 1">
            <a:extLst>
              <a:ext uri="{FF2B5EF4-FFF2-40B4-BE49-F238E27FC236}">
                <a16:creationId xmlns:a16="http://schemas.microsoft.com/office/drawing/2014/main" id="{A8DD919D-9E61-0390-FA33-10EEDD760F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0301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2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8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2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0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50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57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91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4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0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6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8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5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28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31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500"/>
                            </p:stCondLst>
                            <p:childTnLst>
                              <p:par>
                                <p:cTn id="133" presetID="18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35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3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000"/>
                            </p:stCondLst>
                            <p:childTnLst>
                              <p:par>
                                <p:cTn id="140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6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8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4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8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5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000"/>
                            </p:stCondLst>
                            <p:childTnLst>
                              <p:par>
                                <p:cTn id="15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6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1" grpId="1"/>
      <p:bldP spid="134" grpId="0"/>
      <p:bldP spid="134" grpId="1"/>
      <p:bldP spid="136" grpId="0"/>
      <p:bldP spid="136" grpId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47" grpId="0" animBg="1"/>
      <p:bldP spid="150" grpId="0"/>
      <p:bldP spid="155" grpId="0"/>
      <p:bldP spid="156" grpId="0"/>
      <p:bldP spid="161" grpId="0" animBg="1"/>
      <p:bldP spid="16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/>
          <a:lstStyle/>
          <a:p>
            <a:r>
              <a:rPr lang="en-US" altLang="zh-TW" dirty="0"/>
              <a:t>Big Overhead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491" y="823140"/>
            <a:ext cx="7526107" cy="368412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fault caused by guest OS would launch the walking process that costs a lot of overhead.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Several steps to get a new entry on shadow page table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page tables on guest OS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the permission on guest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Offset shift: GPA to HVA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page tables on VMM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the permission on VMM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entry established!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Invalidate the TLB entry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new process on guest OS would consume two pages.  One is the page table on guest OS, and the other is the corresponding shadow page table.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AC396C1-6F27-40BE-C9D4-8F5BE74073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62178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952" y="108349"/>
            <a:ext cx="771273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Page Walking Process on ARM </a:t>
            </a:r>
            <a:endParaRPr lang="zh-TW" altLang="en-US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F6E91254-1E50-34D0-61D3-3B1A23BEAE5D}"/>
              </a:ext>
            </a:extLst>
          </p:cNvPr>
          <p:cNvGrpSpPr/>
          <p:nvPr/>
        </p:nvGrpSpPr>
        <p:grpSpPr>
          <a:xfrm>
            <a:off x="1232428" y="1208586"/>
            <a:ext cx="7070000" cy="3128745"/>
            <a:chOff x="1871699" y="1653648"/>
            <a:chExt cx="5816265" cy="2366495"/>
          </a:xfrm>
        </p:grpSpPr>
        <p:grpSp>
          <p:nvGrpSpPr>
            <p:cNvPr id="3" name="群組 23"/>
            <p:cNvGrpSpPr/>
            <p:nvPr/>
          </p:nvGrpSpPr>
          <p:grpSpPr>
            <a:xfrm>
              <a:off x="1871699" y="1653648"/>
              <a:ext cx="5319844" cy="2366495"/>
              <a:chOff x="1856845" y="2273485"/>
              <a:chExt cx="4803373" cy="1616341"/>
            </a:xfrm>
          </p:grpSpPr>
          <p:sp>
            <p:nvSpPr>
              <p:cNvPr id="5" name="矩形 4"/>
              <p:cNvSpPr/>
              <p:nvPr/>
            </p:nvSpPr>
            <p:spPr>
              <a:xfrm>
                <a:off x="2112098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Page Table</a:t>
                </a:r>
              </a:p>
              <a:p>
                <a:pPr algn="ctr"/>
                <a:r>
                  <a:rPr lang="en-US" altLang="zh-TW" sz="1050" b="1" dirty="0"/>
                  <a:t>Walker</a:t>
                </a:r>
                <a:endParaRPr lang="zh-TW" altLang="en-US" sz="1050" b="1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3056825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Permission</a:t>
                </a:r>
              </a:p>
              <a:p>
                <a:pPr algn="ctr"/>
                <a:r>
                  <a:rPr lang="en-US" altLang="zh-TW" sz="1050" b="1" dirty="0"/>
                  <a:t>Checker</a:t>
                </a:r>
                <a:endParaRPr lang="zh-TW" altLang="en-US" sz="1050" b="1" dirty="0"/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4932029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Shadow Page Table</a:t>
                </a:r>
              </a:p>
              <a:p>
                <a:pPr algn="ctr"/>
                <a:r>
                  <a:rPr lang="en-US" altLang="zh-TW" sz="1050" b="1" dirty="0"/>
                  <a:t>Mapping</a:t>
                </a:r>
                <a:endParaRPr lang="zh-TW" altLang="en-US" sz="1050" b="1" dirty="0"/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5868131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Shadow Page Table</a:t>
                </a:r>
              </a:p>
              <a:p>
                <a:pPr algn="ctr"/>
                <a:r>
                  <a:rPr lang="en-US" altLang="zh-TW" sz="1050" b="1" dirty="0"/>
                  <a:t>Update</a:t>
                </a:r>
                <a:endParaRPr lang="zh-TW" altLang="en-US" sz="1050" b="1" dirty="0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3995927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MMIO</a:t>
                </a:r>
              </a:p>
              <a:p>
                <a:pPr algn="ctr"/>
                <a:r>
                  <a:rPr lang="en-US" altLang="zh-TW" sz="1050" b="1" dirty="0"/>
                  <a:t>Access</a:t>
                </a:r>
              </a:p>
              <a:p>
                <a:pPr algn="ctr"/>
                <a:r>
                  <a:rPr lang="en-US" altLang="zh-TW" sz="1050" b="1" dirty="0"/>
                  <a:t>Checker</a:t>
                </a:r>
                <a:endParaRPr lang="zh-TW" altLang="en-US" sz="1050" b="1" dirty="0"/>
              </a:p>
            </p:txBody>
          </p:sp>
          <p:cxnSp>
            <p:nvCxnSpPr>
              <p:cNvPr id="10" name="直線單箭頭接點 9"/>
              <p:cNvCxnSpPr>
                <a:stCxn id="5" idx="3"/>
                <a:endCxn id="6" idx="1"/>
              </p:cNvCxnSpPr>
              <p:nvPr/>
            </p:nvCxnSpPr>
            <p:spPr>
              <a:xfrm>
                <a:off x="2904183" y="3104436"/>
                <a:ext cx="152642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線單箭頭接點 10"/>
              <p:cNvCxnSpPr>
                <a:stCxn id="5" idx="2"/>
                <a:endCxn id="14" idx="0"/>
              </p:cNvCxnSpPr>
              <p:nvPr/>
            </p:nvCxnSpPr>
            <p:spPr>
              <a:xfrm flipH="1">
                <a:off x="2495285" y="3356421"/>
                <a:ext cx="12856" cy="35997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文字方塊 11"/>
              <p:cNvSpPr txBox="1"/>
              <p:nvPr/>
            </p:nvSpPr>
            <p:spPr>
              <a:xfrm>
                <a:off x="2054660" y="2273485"/>
                <a:ext cx="907794" cy="283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1050" dirty="0"/>
                  <a:t>PABT / DABT</a:t>
                </a:r>
              </a:p>
              <a:p>
                <a:pPr algn="ctr"/>
                <a:r>
                  <a:rPr lang="en-US" altLang="zh-TW" sz="1050" dirty="0"/>
                  <a:t>Trap</a:t>
                </a:r>
              </a:p>
            </p:txBody>
          </p:sp>
          <p:cxnSp>
            <p:nvCxnSpPr>
              <p:cNvPr id="13" name="直線單箭頭接點 12"/>
              <p:cNvCxnSpPr>
                <a:stCxn id="12" idx="2"/>
                <a:endCxn id="5" idx="0"/>
              </p:cNvCxnSpPr>
              <p:nvPr/>
            </p:nvCxnSpPr>
            <p:spPr>
              <a:xfrm flipH="1">
                <a:off x="2508141" y="2557275"/>
                <a:ext cx="416" cy="295176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文字方塊 13"/>
              <p:cNvSpPr txBox="1"/>
              <p:nvPr/>
            </p:nvSpPr>
            <p:spPr>
              <a:xfrm>
                <a:off x="1856845" y="3716399"/>
                <a:ext cx="1276878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True translation fault</a:t>
                </a:r>
              </a:p>
            </p:txBody>
          </p:sp>
          <p:sp>
            <p:nvSpPr>
              <p:cNvPr id="15" name="文字方塊 14"/>
              <p:cNvSpPr txBox="1"/>
              <p:nvPr/>
            </p:nvSpPr>
            <p:spPr>
              <a:xfrm>
                <a:off x="2792038" y="3506946"/>
                <a:ext cx="1304376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True permission fault</a:t>
                </a:r>
              </a:p>
            </p:txBody>
          </p:sp>
          <p:cxnSp>
            <p:nvCxnSpPr>
              <p:cNvPr id="16" name="直線單箭頭接點 15"/>
              <p:cNvCxnSpPr>
                <a:stCxn id="6" idx="2"/>
                <a:endCxn id="15" idx="0"/>
              </p:cNvCxnSpPr>
              <p:nvPr/>
            </p:nvCxnSpPr>
            <p:spPr>
              <a:xfrm flipH="1">
                <a:off x="3444227" y="3356420"/>
                <a:ext cx="8642" cy="150527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單箭頭接點 16"/>
              <p:cNvCxnSpPr>
                <a:stCxn id="6" idx="3"/>
                <a:endCxn id="9" idx="1"/>
              </p:cNvCxnSpPr>
              <p:nvPr/>
            </p:nvCxnSpPr>
            <p:spPr>
              <a:xfrm>
                <a:off x="3848912" y="3104434"/>
                <a:ext cx="147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直線單箭頭接點 17"/>
              <p:cNvCxnSpPr>
                <a:stCxn id="9" idx="3"/>
                <a:endCxn id="7" idx="1"/>
              </p:cNvCxnSpPr>
              <p:nvPr/>
            </p:nvCxnSpPr>
            <p:spPr>
              <a:xfrm>
                <a:off x="4788014" y="3104435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線單箭頭接點 18"/>
              <p:cNvCxnSpPr>
                <a:stCxn id="9" idx="2"/>
                <a:endCxn id="20" idx="0"/>
              </p:cNvCxnSpPr>
              <p:nvPr/>
            </p:nvCxnSpPr>
            <p:spPr>
              <a:xfrm flipH="1">
                <a:off x="4367133" y="3356420"/>
                <a:ext cx="24837" cy="35997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文字方塊 19"/>
              <p:cNvSpPr txBox="1"/>
              <p:nvPr/>
            </p:nvSpPr>
            <p:spPr>
              <a:xfrm>
                <a:off x="3837248" y="3716398"/>
                <a:ext cx="1059770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MMIO emulation</a:t>
                </a:r>
              </a:p>
            </p:txBody>
          </p:sp>
          <p:sp>
            <p:nvSpPr>
              <p:cNvPr id="21" name="文字方塊 20"/>
              <p:cNvSpPr txBox="1"/>
              <p:nvPr/>
            </p:nvSpPr>
            <p:spPr>
              <a:xfrm>
                <a:off x="4880144" y="3527631"/>
                <a:ext cx="1316598" cy="2837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050" dirty="0"/>
                  <a:t>Hidden translation fault</a:t>
                </a:r>
              </a:p>
            </p:txBody>
          </p:sp>
          <p:cxnSp>
            <p:nvCxnSpPr>
              <p:cNvPr id="22" name="直線單箭頭接點 21"/>
              <p:cNvCxnSpPr>
                <a:stCxn id="7" idx="2"/>
                <a:endCxn id="21" idx="0"/>
              </p:cNvCxnSpPr>
              <p:nvPr/>
            </p:nvCxnSpPr>
            <p:spPr>
              <a:xfrm>
                <a:off x="5328072" y="3356422"/>
                <a:ext cx="210371" cy="17121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線單箭頭接點 22"/>
              <p:cNvCxnSpPr>
                <a:stCxn id="7" idx="3"/>
                <a:endCxn id="8" idx="1"/>
              </p:cNvCxnSpPr>
              <p:nvPr/>
            </p:nvCxnSpPr>
            <p:spPr>
              <a:xfrm>
                <a:off x="5724128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" name="橢圓 25"/>
            <p:cNvSpPr/>
            <p:nvPr/>
          </p:nvSpPr>
          <p:spPr>
            <a:xfrm>
              <a:off x="2102503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1961063" y="2265345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1</a:t>
              </a:r>
              <a:endParaRPr lang="zh-TW" altLang="en-US" sz="1350" b="1" dirty="0"/>
            </a:p>
          </p:txBody>
        </p:sp>
        <p:sp>
          <p:nvSpPr>
            <p:cNvPr id="28" name="橢圓 27"/>
            <p:cNvSpPr/>
            <p:nvPr/>
          </p:nvSpPr>
          <p:spPr>
            <a:xfrm>
              <a:off x="3150344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9" name="文字方塊 28"/>
            <p:cNvSpPr txBox="1"/>
            <p:nvPr/>
          </p:nvSpPr>
          <p:spPr>
            <a:xfrm>
              <a:off x="3045825" y="22348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2</a:t>
              </a:r>
              <a:endParaRPr lang="zh-TW" altLang="en-US" sz="1350" b="1" dirty="0"/>
            </a:p>
          </p:txBody>
        </p:sp>
        <p:sp>
          <p:nvSpPr>
            <p:cNvPr id="32" name="橢圓 31"/>
            <p:cNvSpPr/>
            <p:nvPr/>
          </p:nvSpPr>
          <p:spPr>
            <a:xfrm>
              <a:off x="4206975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33" name="文字方塊 32"/>
            <p:cNvSpPr txBox="1"/>
            <p:nvPr/>
          </p:nvSpPr>
          <p:spPr>
            <a:xfrm>
              <a:off x="4102456" y="22348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3</a:t>
              </a:r>
              <a:endParaRPr lang="zh-TW" altLang="en-US" sz="1350" b="1" dirty="0"/>
            </a:p>
          </p:txBody>
        </p:sp>
        <p:cxnSp>
          <p:nvCxnSpPr>
            <p:cNvPr id="39" name="直線接點 38"/>
            <p:cNvCxnSpPr/>
            <p:nvPr/>
          </p:nvCxnSpPr>
          <p:spPr>
            <a:xfrm>
              <a:off x="5205652" y="1923678"/>
              <a:ext cx="0" cy="1890210"/>
            </a:xfrm>
            <a:prstGeom prst="line">
              <a:avLst/>
            </a:prstGeom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字方塊 39"/>
            <p:cNvSpPr txBox="1"/>
            <p:nvPr/>
          </p:nvSpPr>
          <p:spPr>
            <a:xfrm>
              <a:off x="5421676" y="2224315"/>
              <a:ext cx="636713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Initial</a:t>
              </a:r>
              <a:endParaRPr lang="zh-TW" altLang="en-US" sz="1350" b="1" dirty="0"/>
            </a:p>
          </p:txBody>
        </p:sp>
        <p:sp>
          <p:nvSpPr>
            <p:cNvPr id="41" name="文字方塊 40"/>
            <p:cNvSpPr txBox="1"/>
            <p:nvPr/>
          </p:nvSpPr>
          <p:spPr>
            <a:xfrm>
              <a:off x="6156776" y="2224315"/>
              <a:ext cx="1531188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Synchronization</a:t>
              </a:r>
              <a:endParaRPr lang="zh-TW" altLang="en-US" sz="1350" b="1" dirty="0"/>
            </a:p>
          </p:txBody>
        </p:sp>
        <p:sp>
          <p:nvSpPr>
            <p:cNvPr id="42" name="文字方塊 41"/>
            <p:cNvSpPr txBox="1"/>
            <p:nvPr/>
          </p:nvSpPr>
          <p:spPr>
            <a:xfrm>
              <a:off x="3337704" y="1769063"/>
              <a:ext cx="1800493" cy="3000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b="1" i="1" u="sng" dirty="0"/>
                <a:t>Real MMU Behavior</a:t>
              </a:r>
              <a:endParaRPr lang="zh-TW" altLang="en-US" sz="1350" b="1" i="1" u="sng" dirty="0"/>
            </a:p>
          </p:txBody>
        </p:sp>
        <p:sp>
          <p:nvSpPr>
            <p:cNvPr id="43" name="文字方塊 42"/>
            <p:cNvSpPr txBox="1"/>
            <p:nvPr/>
          </p:nvSpPr>
          <p:spPr>
            <a:xfrm>
              <a:off x="5421676" y="1769063"/>
              <a:ext cx="2130711" cy="3000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b="1" i="1" u="sng" dirty="0"/>
                <a:t>Shadow Table Behavior</a:t>
              </a:r>
              <a:endParaRPr lang="zh-TW" altLang="en-US" sz="1350" b="1" i="1" u="sng" dirty="0"/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86CCACD-25C9-7D43-1C7D-EED4D72BFF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4517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1</a:t>
            </a:r>
            <a:endParaRPr lang="zh-TW" altLang="en-US" dirty="0"/>
          </a:p>
        </p:txBody>
      </p:sp>
      <p:sp>
        <p:nvSpPr>
          <p:cNvPr id="35" name="內容版面配置區 34"/>
          <p:cNvSpPr>
            <a:spLocks noGrp="1"/>
          </p:cNvSpPr>
          <p:nvPr>
            <p:ph idx="1"/>
          </p:nvPr>
        </p:nvSpPr>
        <p:spPr>
          <a:xfrm>
            <a:off x="927138" y="819431"/>
            <a:ext cx="7321711" cy="86621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fault is occurred, Guest Page Table Walker will walk through guest page table to check if the fault is from guest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78BBD2AA-660F-08C0-45E2-8D7B41FAA298}"/>
              </a:ext>
            </a:extLst>
          </p:cNvPr>
          <p:cNvGrpSpPr/>
          <p:nvPr/>
        </p:nvGrpSpPr>
        <p:grpSpPr>
          <a:xfrm>
            <a:off x="1981108" y="1841900"/>
            <a:ext cx="5230481" cy="2147212"/>
            <a:chOff x="2035747" y="2163144"/>
            <a:chExt cx="5230481" cy="2147212"/>
          </a:xfrm>
        </p:grpSpPr>
        <p:grpSp>
          <p:nvGrpSpPr>
            <p:cNvPr id="3" name="群組 23"/>
            <p:cNvGrpSpPr/>
            <p:nvPr/>
          </p:nvGrpSpPr>
          <p:grpSpPr>
            <a:xfrm>
              <a:off x="2060681" y="2163144"/>
              <a:ext cx="5205547" cy="2147212"/>
              <a:chOff x="1960050" y="2423670"/>
              <a:chExt cx="4700182" cy="1466818"/>
            </a:xfrm>
          </p:grpSpPr>
          <p:sp>
            <p:nvSpPr>
              <p:cNvPr id="5" name="矩形 4"/>
              <p:cNvSpPr/>
              <p:nvPr/>
            </p:nvSpPr>
            <p:spPr>
              <a:xfrm>
                <a:off x="2112102" y="2852936"/>
                <a:ext cx="792088" cy="504056"/>
              </a:xfrm>
              <a:prstGeom prst="rect">
                <a:avLst/>
              </a:prstGeom>
              <a:solidFill>
                <a:srgbClr val="FFFF99"/>
              </a:solidFill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Page Table</a:t>
                </a:r>
              </a:p>
              <a:p>
                <a:pPr algn="ctr"/>
                <a:r>
                  <a:rPr lang="en-US" altLang="zh-TW" sz="1050" b="1" dirty="0"/>
                  <a:t>Walker</a:t>
                </a:r>
                <a:endParaRPr lang="zh-TW" altLang="en-US" sz="1050" b="1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3056832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Guest  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Permission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Checker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4932040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Shadow Page Table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Mapping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5868144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Shadow Page Table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Update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3995936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MMIO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Access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Checker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10" name="直線單箭頭接點 9"/>
              <p:cNvCxnSpPr>
                <a:stCxn id="5" idx="3"/>
                <a:endCxn id="6" idx="1"/>
              </p:cNvCxnSpPr>
              <p:nvPr/>
            </p:nvCxnSpPr>
            <p:spPr>
              <a:xfrm>
                <a:off x="2904190" y="3104964"/>
                <a:ext cx="152642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線單箭頭接點 10"/>
              <p:cNvCxnSpPr>
                <a:stCxn id="5" idx="2"/>
                <a:endCxn id="14" idx="0"/>
              </p:cNvCxnSpPr>
              <p:nvPr/>
            </p:nvCxnSpPr>
            <p:spPr>
              <a:xfrm>
                <a:off x="2508146" y="3356992"/>
                <a:ext cx="138830" cy="36003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文字方塊 11"/>
              <p:cNvSpPr txBox="1"/>
              <p:nvPr/>
            </p:nvSpPr>
            <p:spPr>
              <a:xfrm>
                <a:off x="2035739" y="2423670"/>
                <a:ext cx="936746" cy="2838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1050" b="1" dirty="0"/>
                  <a:t>PABT / DABT</a:t>
                </a:r>
              </a:p>
              <a:p>
                <a:pPr algn="ctr"/>
                <a:r>
                  <a:rPr lang="en-US" altLang="zh-TW" sz="1050" b="1" dirty="0"/>
                  <a:t>Trap</a:t>
                </a:r>
              </a:p>
            </p:txBody>
          </p:sp>
          <p:cxnSp>
            <p:nvCxnSpPr>
              <p:cNvPr id="13" name="直線單箭頭接點 12"/>
              <p:cNvCxnSpPr>
                <a:stCxn id="12" idx="2"/>
                <a:endCxn id="5" idx="0"/>
              </p:cNvCxnSpPr>
              <p:nvPr/>
            </p:nvCxnSpPr>
            <p:spPr>
              <a:xfrm>
                <a:off x="2504112" y="2707508"/>
                <a:ext cx="4034" cy="14542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文字方塊 13"/>
              <p:cNvSpPr txBox="1"/>
              <p:nvPr/>
            </p:nvSpPr>
            <p:spPr>
              <a:xfrm>
                <a:off x="1960050" y="3717031"/>
                <a:ext cx="1373853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b="1" dirty="0"/>
                  <a:t>True translation fault</a:t>
                </a:r>
              </a:p>
            </p:txBody>
          </p:sp>
          <p:sp>
            <p:nvSpPr>
              <p:cNvPr id="15" name="文字方塊 14"/>
              <p:cNvSpPr txBox="1"/>
              <p:nvPr/>
            </p:nvSpPr>
            <p:spPr>
              <a:xfrm>
                <a:off x="2894803" y="3512053"/>
                <a:ext cx="1304379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True permission fault</a:t>
                </a:r>
              </a:p>
            </p:txBody>
          </p:sp>
          <p:cxnSp>
            <p:nvCxnSpPr>
              <p:cNvPr id="16" name="直線單箭頭接點 15"/>
              <p:cNvCxnSpPr>
                <a:stCxn id="6" idx="2"/>
                <a:endCxn id="15" idx="0"/>
              </p:cNvCxnSpPr>
              <p:nvPr/>
            </p:nvCxnSpPr>
            <p:spPr>
              <a:xfrm>
                <a:off x="3452876" y="3356992"/>
                <a:ext cx="94117" cy="155061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單箭頭接點 16"/>
              <p:cNvCxnSpPr>
                <a:stCxn id="6" idx="3"/>
                <a:endCxn id="9" idx="1"/>
              </p:cNvCxnSpPr>
              <p:nvPr/>
            </p:nvCxnSpPr>
            <p:spPr>
              <a:xfrm>
                <a:off x="3848920" y="3104964"/>
                <a:ext cx="147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直線單箭頭接點 17"/>
              <p:cNvCxnSpPr>
                <a:stCxn id="9" idx="3"/>
                <a:endCxn id="7" idx="1"/>
              </p:cNvCxnSpPr>
              <p:nvPr/>
            </p:nvCxnSpPr>
            <p:spPr>
              <a:xfrm>
                <a:off x="4788024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線單箭頭接點 18"/>
              <p:cNvCxnSpPr>
                <a:stCxn id="9" idx="2"/>
                <a:endCxn id="20" idx="0"/>
              </p:cNvCxnSpPr>
              <p:nvPr/>
            </p:nvCxnSpPr>
            <p:spPr>
              <a:xfrm>
                <a:off x="4391980" y="3356992"/>
                <a:ext cx="60283" cy="36003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文字方塊 19"/>
              <p:cNvSpPr txBox="1"/>
              <p:nvPr/>
            </p:nvSpPr>
            <p:spPr>
              <a:xfrm>
                <a:off x="3922377" y="3717030"/>
                <a:ext cx="1059772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MMIO emulation</a:t>
                </a:r>
              </a:p>
            </p:txBody>
          </p:sp>
          <p:sp>
            <p:nvSpPr>
              <p:cNvPr id="21" name="文字方塊 20"/>
              <p:cNvSpPr txBox="1"/>
              <p:nvPr/>
            </p:nvSpPr>
            <p:spPr>
              <a:xfrm>
                <a:off x="4909488" y="3501008"/>
                <a:ext cx="1567254" cy="173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Hidden translation fault</a:t>
                </a:r>
              </a:p>
            </p:txBody>
          </p:sp>
          <p:cxnSp>
            <p:nvCxnSpPr>
              <p:cNvPr id="22" name="直線單箭頭接點 21"/>
              <p:cNvCxnSpPr>
                <a:cxnSpLocks/>
                <a:stCxn id="7" idx="2"/>
                <a:endCxn id="21" idx="0"/>
              </p:cNvCxnSpPr>
              <p:nvPr/>
            </p:nvCxnSpPr>
            <p:spPr>
              <a:xfrm>
                <a:off x="5328084" y="3356992"/>
                <a:ext cx="365031" cy="144016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線單箭頭接點 22"/>
              <p:cNvCxnSpPr>
                <a:stCxn id="7" idx="3"/>
                <a:endCxn id="8" idx="1"/>
              </p:cNvCxnSpPr>
              <p:nvPr/>
            </p:nvCxnSpPr>
            <p:spPr>
              <a:xfrm>
                <a:off x="5724128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" name="橢圓 25"/>
            <p:cNvSpPr/>
            <p:nvPr/>
          </p:nvSpPr>
          <p:spPr>
            <a:xfrm>
              <a:off x="2177187" y="2663569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2035747" y="25555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1</a:t>
              </a:r>
              <a:endParaRPr lang="zh-TW" altLang="en-US" sz="1350" b="1" dirty="0"/>
            </a:p>
          </p:txBody>
        </p:sp>
        <p:cxnSp>
          <p:nvCxnSpPr>
            <p:cNvPr id="39" name="直線接點 38"/>
            <p:cNvCxnSpPr/>
            <p:nvPr/>
          </p:nvCxnSpPr>
          <p:spPr>
            <a:xfrm>
              <a:off x="5280336" y="2213890"/>
              <a:ext cx="0" cy="1890210"/>
            </a:xfrm>
            <a:prstGeom prst="line">
              <a:avLst/>
            </a:prstGeom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F9CD59F-EA92-6F7F-BEED-63EE7E3748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672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2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773085" y="1665602"/>
            <a:ext cx="5885698" cy="2497658"/>
            <a:chOff x="1960050" y="2427160"/>
            <a:chExt cx="4700182" cy="146332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/>
                <a:t>Guest  </a:t>
              </a:r>
            </a:p>
            <a:p>
              <a:pPr algn="ctr"/>
              <a:r>
                <a:rPr lang="en-US" altLang="zh-TW" sz="1050" b="1" dirty="0"/>
                <a:t>Permission</a:t>
              </a:r>
            </a:p>
            <a:p>
              <a:pPr algn="ctr"/>
              <a:r>
                <a:rPr lang="en-US" altLang="zh-TW" sz="1050" b="1" dirty="0"/>
                <a:t>Checker</a:t>
              </a:r>
              <a:endParaRPr lang="zh-TW" altLang="en-US" sz="1050" b="1" dirty="0"/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Mapping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Update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Access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40189" y="242716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 flipH="1">
              <a:off x="2508146" y="2710998"/>
              <a:ext cx="416" cy="14193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9402"/>
              <a:ext cx="1401354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/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142602" cy="15241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67212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9306" y="3717032"/>
              <a:ext cx="1059772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690296" y="3501008"/>
              <a:ext cx="1276162" cy="283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stCxn id="7" idx="2"/>
              <a:endCxn id="21" idx="0"/>
            </p:cNvCxnSpPr>
            <p:nvPr/>
          </p:nvCxnSpPr>
          <p:spPr>
            <a:xfrm>
              <a:off x="5328084" y="3356992"/>
              <a:ext cx="293" cy="14401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橢圓 25"/>
          <p:cNvSpPr/>
          <p:nvPr/>
        </p:nvSpPr>
        <p:spPr>
          <a:xfrm>
            <a:off x="3118430" y="2276099"/>
            <a:ext cx="1099123" cy="107049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7" name="文字方塊 26"/>
          <p:cNvSpPr txBox="1"/>
          <p:nvPr/>
        </p:nvSpPr>
        <p:spPr>
          <a:xfrm>
            <a:off x="2782256" y="2058016"/>
            <a:ext cx="31754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2</a:t>
            </a:r>
            <a:endParaRPr lang="zh-TW" altLang="en-US" sz="1350" b="1" dirty="0"/>
          </a:p>
        </p:txBody>
      </p:sp>
      <p:cxnSp>
        <p:nvCxnSpPr>
          <p:cNvPr id="39" name="直線接點 38"/>
          <p:cNvCxnSpPr>
            <a:cxnSpLocks/>
          </p:cNvCxnSpPr>
          <p:nvPr/>
        </p:nvCxnSpPr>
        <p:spPr>
          <a:xfrm>
            <a:off x="5390674" y="1711241"/>
            <a:ext cx="0" cy="220395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2" name="內容版面配置區 34"/>
          <p:cNvSpPr>
            <a:spLocks noGrp="1"/>
          </p:cNvSpPr>
          <p:nvPr>
            <p:ph idx="1"/>
          </p:nvPr>
        </p:nvSpPr>
        <p:spPr>
          <a:xfrm>
            <a:off x="940141" y="793179"/>
            <a:ext cx="7110451" cy="51679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guest access permission is not allowed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E90A32C-E936-FE25-02CD-749315D98B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89241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3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859111" y="1799974"/>
            <a:ext cx="5513464" cy="2279385"/>
            <a:chOff x="1960050" y="2423670"/>
            <a:chExt cx="4700182" cy="146681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Permission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Mapping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Update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/>
                <a:t>MMIO</a:t>
              </a:r>
            </a:p>
            <a:p>
              <a:pPr algn="ctr"/>
              <a:r>
                <a:rPr lang="en-US" altLang="zh-TW" sz="1050" b="1" dirty="0"/>
                <a:t>Access</a:t>
              </a:r>
            </a:p>
            <a:p>
              <a:pPr algn="ctr"/>
              <a:r>
                <a:rPr lang="en-US" altLang="zh-TW" sz="1050" b="1" dirty="0"/>
                <a:t>Checker</a:t>
              </a:r>
              <a:endParaRPr lang="zh-TW" altLang="en-US" sz="1050" b="1" dirty="0"/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33700" y="242367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>
              <a:off x="2502073" y="2707508"/>
              <a:ext cx="6073" cy="14542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7544"/>
              <a:ext cx="1304379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94115" cy="150552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81994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2377" y="3717032"/>
              <a:ext cx="110319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/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916006" y="3537011"/>
              <a:ext cx="1576972" cy="1734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cxnSpLocks/>
              <a:stCxn id="7" idx="2"/>
              <a:endCxn id="21" idx="0"/>
            </p:cNvCxnSpPr>
            <p:nvPr/>
          </p:nvCxnSpPr>
          <p:spPr>
            <a:xfrm>
              <a:off x="5328084" y="3356992"/>
              <a:ext cx="376408" cy="18001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橢圓 25"/>
          <p:cNvSpPr/>
          <p:nvPr/>
        </p:nvSpPr>
        <p:spPr>
          <a:xfrm>
            <a:off x="4189963" y="2368138"/>
            <a:ext cx="1029610" cy="97461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7" name="文字方塊 26"/>
          <p:cNvSpPr txBox="1"/>
          <p:nvPr/>
        </p:nvSpPr>
        <p:spPr>
          <a:xfrm>
            <a:off x="3921523" y="2192390"/>
            <a:ext cx="297459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3</a:t>
            </a:r>
            <a:endParaRPr lang="zh-TW" altLang="en-US" sz="1350" b="1" dirty="0"/>
          </a:p>
        </p:txBody>
      </p:sp>
      <p:cxnSp>
        <p:nvCxnSpPr>
          <p:cNvPr id="39" name="直線接點 38"/>
          <p:cNvCxnSpPr>
            <a:cxnSpLocks/>
          </p:cNvCxnSpPr>
          <p:nvPr/>
        </p:nvCxnSpPr>
        <p:spPr>
          <a:xfrm>
            <a:off x="5248101" y="1850723"/>
            <a:ext cx="0" cy="2006563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" name="內容版面配置區 34"/>
          <p:cNvSpPr>
            <a:spLocks noGrp="1"/>
          </p:cNvSpPr>
          <p:nvPr>
            <p:ph idx="1"/>
          </p:nvPr>
        </p:nvSpPr>
        <p:spPr>
          <a:xfrm>
            <a:off x="973950" y="838281"/>
            <a:ext cx="7166638" cy="68392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the guest physical memory address used is located in the range of MMIO address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708675B-328B-55FA-D20D-BE0A2064CD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80889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Steps 4 &amp; 5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569690" y="1740858"/>
            <a:ext cx="5861422" cy="2505962"/>
            <a:chOff x="1960050" y="2423670"/>
            <a:chExt cx="4700182" cy="146681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Permission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Mapping</a:t>
              </a:r>
              <a:endParaRPr lang="zh-TW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Update</a:t>
              </a:r>
              <a:endParaRPr lang="zh-TW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Access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33700" y="242367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>
              <a:off x="2502073" y="2707508"/>
              <a:ext cx="6073" cy="14542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7544"/>
              <a:ext cx="1304379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94115" cy="150552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81994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2377" y="3717032"/>
              <a:ext cx="110319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690295" y="3501008"/>
              <a:ext cx="1393350" cy="148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b="1" dirty="0"/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cxnSpLocks/>
              <a:stCxn id="7" idx="2"/>
              <a:endCxn id="21" idx="0"/>
            </p:cNvCxnSpPr>
            <p:nvPr/>
          </p:nvCxnSpPr>
          <p:spPr>
            <a:xfrm>
              <a:off x="5328084" y="3356992"/>
              <a:ext cx="58886" cy="14401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9" name="直線接點 38"/>
          <p:cNvCxnSpPr>
            <a:cxnSpLocks/>
          </p:cNvCxnSpPr>
          <p:nvPr/>
        </p:nvCxnSpPr>
        <p:spPr>
          <a:xfrm>
            <a:off x="5170347" y="1791606"/>
            <a:ext cx="0" cy="220602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" name="內容版面配置區 34"/>
          <p:cNvSpPr>
            <a:spLocks noGrp="1"/>
          </p:cNvSpPr>
          <p:nvPr>
            <p:ph idx="1"/>
          </p:nvPr>
        </p:nvSpPr>
        <p:spPr>
          <a:xfrm>
            <a:off x="917236" y="823869"/>
            <a:ext cx="7401371" cy="79544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build up shadow page tables and maintain their consistency between guest and shadow ones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字方塊 27"/>
          <p:cNvSpPr txBox="1"/>
          <p:nvPr/>
        </p:nvSpPr>
        <p:spPr>
          <a:xfrm>
            <a:off x="5570730" y="2012608"/>
            <a:ext cx="31623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4</a:t>
            </a:r>
            <a:endParaRPr lang="zh-TW" altLang="en-US" sz="1350" b="1" dirty="0"/>
          </a:p>
        </p:txBody>
      </p:sp>
      <p:sp>
        <p:nvSpPr>
          <p:cNvPr id="29" name="文字方塊 28"/>
          <p:cNvSpPr txBox="1"/>
          <p:nvPr/>
        </p:nvSpPr>
        <p:spPr>
          <a:xfrm>
            <a:off x="6607484" y="2012608"/>
            <a:ext cx="31623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5</a:t>
            </a:r>
            <a:endParaRPr lang="zh-TW" altLang="en-US" sz="1350" b="1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BB4F69B-BA12-2806-2A7D-BA0789E270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79740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6011" y="108349"/>
            <a:ext cx="776967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SPT Optimization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2142" y="734083"/>
            <a:ext cx="7769679" cy="3888717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Para-virtualization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VM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exits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would send a hyper call to VMM when guest OS sets the page table entries.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method will eliminate from using write-protection for synchronization</a:t>
            </a:r>
          </a:p>
          <a:p>
            <a:pPr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trap for non-present PTEs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VM exits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page-fault is caused by PTE not present, it is not intercepted by the host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Only works on VMX </a:t>
            </a:r>
          </a:p>
          <a:p>
            <a:pPr lvl="2">
              <a:spcBef>
                <a:spcPts val="0"/>
              </a:spcBef>
            </a:pPr>
            <a:r>
              <a:rPr lang="en-US" sz="1800" b="0" i="0" dirty="0">
                <a:solidFill>
                  <a:srgbClr val="111111"/>
                </a:solidFill>
                <a:effectLst/>
              </a:rPr>
              <a:t>Virtual Machine Extension (VMX) is Intel’s hardware virtualization support for x86 processors. It allows a hypervisor to run guest operating systems more efficiently by moving key virtualization functions into the CPU, reducing overhead and improving isolation. </a:t>
            </a:r>
            <a:endParaRPr lang="en-US" altLang="zh-TW" sz="18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A386D4D-6B25-7E3F-4353-916F9C4587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486146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畫面剪輯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5140" y="1489401"/>
            <a:ext cx="3672608" cy="2382232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1572" y="108349"/>
            <a:ext cx="7834118" cy="519113"/>
          </a:xfrm>
        </p:spPr>
        <p:txBody>
          <a:bodyPr/>
          <a:lstStyle/>
          <a:p>
            <a:r>
              <a:rPr lang="en-US" altLang="zh-TW" dirty="0"/>
              <a:t>SPT Optimization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50625" y="796130"/>
            <a:ext cx="4724515" cy="3398839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Un-synchronize shadow page table pages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Reduce VM exits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Allow the guest page table to be writable if and only if the page is the last level page-structure (level 1)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Based on TLB rules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We need to flush TLB to ensure the translation use the modified page  structures, then we can Intercept the TLB flush  operations and sync shadow pages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Sometimes, TLB need not be flushed, then it can be  synced through page fault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C008E86-4D03-02D7-ED09-F6A0DA801D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464642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4076" y="108349"/>
            <a:ext cx="7791614" cy="519113"/>
          </a:xfrm>
        </p:spPr>
        <p:txBody>
          <a:bodyPr/>
          <a:lstStyle/>
          <a:p>
            <a:r>
              <a:rPr lang="en-US" altLang="zh-TW" dirty="0"/>
              <a:t>SPT Optimization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4076" y="821785"/>
            <a:ext cx="6172200" cy="486054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KSM (kernel shared memory)</a:t>
            </a:r>
          </a:p>
          <a:p>
            <a:pPr lvl="1"/>
            <a:endParaRPr lang="zh-TW" altLang="en-US" sz="2000" dirty="0"/>
          </a:p>
        </p:txBody>
      </p:sp>
      <p:sp>
        <p:nvSpPr>
          <p:cNvPr id="22" name="矩形 21"/>
          <p:cNvSpPr/>
          <p:nvPr/>
        </p:nvSpPr>
        <p:spPr>
          <a:xfrm>
            <a:off x="2814049" y="1526993"/>
            <a:ext cx="1270624" cy="107653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23" name="直線接點 22"/>
          <p:cNvCxnSpPr>
            <a:cxnSpLocks/>
          </p:cNvCxnSpPr>
          <p:nvPr/>
        </p:nvCxnSpPr>
        <p:spPr>
          <a:xfrm>
            <a:off x="2821253" y="1922722"/>
            <a:ext cx="126342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字方塊 24"/>
          <p:cNvSpPr txBox="1"/>
          <p:nvPr/>
        </p:nvSpPr>
        <p:spPr>
          <a:xfrm>
            <a:off x="2884608" y="2138746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26" name="文字方塊 25"/>
          <p:cNvSpPr txBox="1"/>
          <p:nvPr/>
        </p:nvSpPr>
        <p:spPr>
          <a:xfrm>
            <a:off x="2889508" y="1606403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27" name="矩形 26"/>
          <p:cNvSpPr/>
          <p:nvPr/>
        </p:nvSpPr>
        <p:spPr>
          <a:xfrm>
            <a:off x="5110786" y="1526992"/>
            <a:ext cx="1249553" cy="107653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29" name="直線接點 28"/>
          <p:cNvCxnSpPr>
            <a:cxnSpLocks/>
          </p:cNvCxnSpPr>
          <p:nvPr/>
        </p:nvCxnSpPr>
        <p:spPr>
          <a:xfrm>
            <a:off x="5110787" y="1922721"/>
            <a:ext cx="1249553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文字方塊 31"/>
          <p:cNvSpPr txBox="1"/>
          <p:nvPr/>
        </p:nvSpPr>
        <p:spPr>
          <a:xfrm>
            <a:off x="5174142" y="2138745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33" name="文字方塊 32"/>
          <p:cNvSpPr txBox="1"/>
          <p:nvPr/>
        </p:nvSpPr>
        <p:spPr>
          <a:xfrm>
            <a:off x="5106214" y="1606403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34" name="等於 33"/>
          <p:cNvSpPr/>
          <p:nvPr/>
        </p:nvSpPr>
        <p:spPr>
          <a:xfrm>
            <a:off x="4438802" y="1627292"/>
            <a:ext cx="378042" cy="241430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>
              <a:solidFill>
                <a:schemeClr val="tx1"/>
              </a:solidFill>
            </a:endParaRPr>
          </a:p>
        </p:txBody>
      </p:sp>
      <p:sp>
        <p:nvSpPr>
          <p:cNvPr id="35" name="不等於 34"/>
          <p:cNvSpPr/>
          <p:nvPr/>
        </p:nvSpPr>
        <p:spPr>
          <a:xfrm>
            <a:off x="4438802" y="2136618"/>
            <a:ext cx="378042" cy="276999"/>
          </a:xfrm>
          <a:prstGeom prst="mathNot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>
              <a:solidFill>
                <a:schemeClr val="tx1"/>
              </a:solidFill>
            </a:endParaRPr>
          </a:p>
        </p:txBody>
      </p:sp>
      <p:sp>
        <p:nvSpPr>
          <p:cNvPr id="36" name="文字方塊 35"/>
          <p:cNvSpPr txBox="1"/>
          <p:nvPr/>
        </p:nvSpPr>
        <p:spPr>
          <a:xfrm>
            <a:off x="3004586" y="2658818"/>
            <a:ext cx="1463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 Process 1</a:t>
            </a:r>
            <a:endParaRPr lang="zh-TW" altLang="en-US" sz="1350" dirty="0"/>
          </a:p>
        </p:txBody>
      </p:sp>
      <p:sp>
        <p:nvSpPr>
          <p:cNvPr id="37" name="文字方塊 36"/>
          <p:cNvSpPr txBox="1"/>
          <p:nvPr/>
        </p:nvSpPr>
        <p:spPr>
          <a:xfrm>
            <a:off x="5002808" y="2658818"/>
            <a:ext cx="1463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 Process 2</a:t>
            </a:r>
            <a:endParaRPr lang="zh-TW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2370911" y="3264057"/>
            <a:ext cx="1194558" cy="1076539"/>
          </a:xfrm>
          <a:prstGeom prst="rect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40" name="直線接點 39"/>
          <p:cNvCxnSpPr>
            <a:cxnSpLocks/>
          </p:cNvCxnSpPr>
          <p:nvPr/>
        </p:nvCxnSpPr>
        <p:spPr>
          <a:xfrm>
            <a:off x="2382969" y="3659786"/>
            <a:ext cx="118249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字方塊 40"/>
          <p:cNvSpPr txBox="1"/>
          <p:nvPr/>
        </p:nvSpPr>
        <p:spPr>
          <a:xfrm>
            <a:off x="2446323" y="3875810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42" name="文字方塊 41"/>
          <p:cNvSpPr txBox="1"/>
          <p:nvPr/>
        </p:nvSpPr>
        <p:spPr>
          <a:xfrm>
            <a:off x="2378396" y="3343467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43" name="矩形 42"/>
          <p:cNvSpPr/>
          <p:nvPr/>
        </p:nvSpPr>
        <p:spPr>
          <a:xfrm>
            <a:off x="4116987" y="3121516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cxnSp>
        <p:nvCxnSpPr>
          <p:cNvPr id="44" name="直線接點 43"/>
          <p:cNvCxnSpPr/>
          <p:nvPr/>
        </p:nvCxnSpPr>
        <p:spPr>
          <a:xfrm>
            <a:off x="1979712" y="2994027"/>
            <a:ext cx="50765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/>
        </p:nvSpPr>
        <p:spPr>
          <a:xfrm>
            <a:off x="4116987" y="3601739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sp>
        <p:nvSpPr>
          <p:cNvPr id="46" name="矩形 45"/>
          <p:cNvSpPr/>
          <p:nvPr/>
        </p:nvSpPr>
        <p:spPr>
          <a:xfrm>
            <a:off x="4100564" y="4074146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cxnSp>
        <p:nvCxnSpPr>
          <p:cNvPr id="47" name="直線接點 46"/>
          <p:cNvCxnSpPr/>
          <p:nvPr/>
        </p:nvCxnSpPr>
        <p:spPr>
          <a:xfrm flipV="1">
            <a:off x="3565468" y="3121516"/>
            <a:ext cx="489437" cy="14254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8" name="直線接點 47"/>
          <p:cNvCxnSpPr/>
          <p:nvPr/>
        </p:nvCxnSpPr>
        <p:spPr>
          <a:xfrm>
            <a:off x="3565468" y="3659786"/>
            <a:ext cx="489437" cy="82693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9" name="文字方塊 48"/>
          <p:cNvSpPr txBox="1"/>
          <p:nvPr/>
        </p:nvSpPr>
        <p:spPr>
          <a:xfrm>
            <a:off x="5012029" y="3534087"/>
            <a:ext cx="290656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The shadow tables of kernel space </a:t>
            </a:r>
          </a:p>
          <a:p>
            <a:r>
              <a:rPr lang="en-US" altLang="zh-TW" sz="1350" dirty="0"/>
              <a:t>are shared by all guest processes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CFE4DDB-1614-6ED6-537A-BC339D7AA5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98562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Other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0447" y="827235"/>
            <a:ext cx="7043105" cy="334757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fault and page protection issue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a physical page fault occurs, VMM needs to decide whether this exception should be injected to guest OS or not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 entry in a guest page table is still valid, VMM prepares for the corresponding page and does not inject any exception to guest OS.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 entry in a guest page table is invalid, then VMM directly injects the virtual page fault to guest OS.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842BE5-151A-D20A-A83A-808BE4D484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7524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assist</a:t>
            </a:r>
            <a:b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2DA525-5B7A-C0DB-F5A2-2DBB299250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76507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5932" y="108349"/>
            <a:ext cx="7769757" cy="519113"/>
          </a:xfrm>
        </p:spPr>
        <p:txBody>
          <a:bodyPr/>
          <a:lstStyle/>
          <a:p>
            <a:r>
              <a:rPr lang="en-US" altLang="zh-TW" dirty="0"/>
              <a:t>Hardware Assistance - Overview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" y="1210154"/>
            <a:ext cx="6172200" cy="3374463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10273BD-FE50-C80B-E1BF-B0414D5B4C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673657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/>
          <a:lstStyle/>
          <a:p>
            <a:r>
              <a:rPr lang="en-US" dirty="0"/>
              <a:t>Hardware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4" y="844153"/>
            <a:ext cx="7634835" cy="3671888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Difficulties of shadow page table technique 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 implementation is extremely complex.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fault mechanism and synchronization issues are critical.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memory space overhead is considerable.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why we need this technique to virtualize MMU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MMU do not first implemented for virtualization.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MMU is knowing nothing about two level page address translation.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Now, let us consider hardware solution.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8E5E02C-436C-1976-CCF2-12FF86BE0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3257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Extended Page Table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817" y="821088"/>
            <a:ext cx="7761290" cy="3637623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Concept of Extended Page Table (EPT) 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walking along with only one page table hierarchy, EPT technique implement one more page table hierarchy.</a:t>
            </a:r>
          </a:p>
          <a:p>
            <a:pPr lvl="2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page table is maintained by guest OS, which is used to generate guest physical address.</a:t>
            </a:r>
          </a:p>
          <a:p>
            <a:pPr lvl="2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other page table is maintained by VMM, which is used to map guest physical address to host physical address.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each memory access operation, EPT MMU directly gets the guest physical address from guest page table, and then gets the host physical address by the VMM mapping table automatically.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8C6995-5363-2F67-483A-78938A60F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97824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451" y="108349"/>
            <a:ext cx="7816239" cy="519113"/>
          </a:xfrm>
        </p:spPr>
        <p:txBody>
          <a:bodyPr/>
          <a:lstStyle/>
          <a:p>
            <a:r>
              <a:rPr lang="en-US" dirty="0"/>
              <a:t>Extended Page Table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9451" y="828743"/>
            <a:ext cx="6560945" cy="433616"/>
          </a:xfrm>
        </p:spPr>
        <p:txBody>
          <a:bodyPr/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operation </a:t>
            </a:r>
          </a:p>
        </p:txBody>
      </p:sp>
      <p:pic>
        <p:nvPicPr>
          <p:cNvPr id="1034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63141" y="1257932"/>
            <a:ext cx="4874419" cy="26515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4470826" y="1511780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18828" y="1339455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8069" y="1161346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9221" y="1511780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9159" y="1339455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57186" y="1161346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8</a:t>
            </a:r>
          </a:p>
        </p:txBody>
      </p:sp>
      <p:cxnSp>
        <p:nvCxnSpPr>
          <p:cNvPr id="13" name="Straight Arrow Connector 12"/>
          <p:cNvCxnSpPr>
            <a:stCxn id="6" idx="2"/>
            <a:endCxn id="44" idx="0"/>
          </p:cNvCxnSpPr>
          <p:nvPr/>
        </p:nvCxnSpPr>
        <p:spPr>
          <a:xfrm flipH="1">
            <a:off x="3776951" y="1742612"/>
            <a:ext cx="818268" cy="84527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50" idx="0"/>
          </p:cNvCxnSpPr>
          <p:nvPr/>
        </p:nvCxnSpPr>
        <p:spPr>
          <a:xfrm>
            <a:off x="4595219" y="1742612"/>
            <a:ext cx="341985" cy="83341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54" idx="0"/>
            <a:endCxn id="9" idx="2"/>
          </p:cNvCxnSpPr>
          <p:nvPr/>
        </p:nvCxnSpPr>
        <p:spPr>
          <a:xfrm flipV="1">
            <a:off x="5282260" y="1742612"/>
            <a:ext cx="51354" cy="83341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7" idx="2"/>
            <a:endCxn id="44" idx="0"/>
          </p:cNvCxnSpPr>
          <p:nvPr/>
        </p:nvCxnSpPr>
        <p:spPr>
          <a:xfrm flipH="1">
            <a:off x="3776951" y="1570287"/>
            <a:ext cx="1866270" cy="1017604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7" idx="2"/>
            <a:endCxn id="50" idx="0"/>
          </p:cNvCxnSpPr>
          <p:nvPr/>
        </p:nvCxnSpPr>
        <p:spPr>
          <a:xfrm flipH="1">
            <a:off x="4937204" y="1570287"/>
            <a:ext cx="706017" cy="100574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stCxn id="54" idx="0"/>
            <a:endCxn id="10" idx="2"/>
          </p:cNvCxnSpPr>
          <p:nvPr/>
        </p:nvCxnSpPr>
        <p:spPr>
          <a:xfrm flipV="1">
            <a:off x="5282260" y="1570287"/>
            <a:ext cx="1071292" cy="100574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8" idx="2"/>
            <a:endCxn id="44" idx="0"/>
          </p:cNvCxnSpPr>
          <p:nvPr/>
        </p:nvCxnSpPr>
        <p:spPr>
          <a:xfrm flipH="1">
            <a:off x="3776951" y="1392178"/>
            <a:ext cx="2905511" cy="1195713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8" idx="2"/>
            <a:endCxn id="50" idx="0"/>
          </p:cNvCxnSpPr>
          <p:nvPr/>
        </p:nvCxnSpPr>
        <p:spPr>
          <a:xfrm flipH="1">
            <a:off x="4937204" y="1392178"/>
            <a:ext cx="1745258" cy="1183852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4" idx="0"/>
            <a:endCxn id="11" idx="2"/>
          </p:cNvCxnSpPr>
          <p:nvPr/>
        </p:nvCxnSpPr>
        <p:spPr>
          <a:xfrm flipV="1">
            <a:off x="5282260" y="1392178"/>
            <a:ext cx="2099319" cy="1183852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634076" y="2587891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50" name="Rectangle 49"/>
          <p:cNvSpPr/>
          <p:nvPr/>
        </p:nvSpPr>
        <p:spPr>
          <a:xfrm>
            <a:off x="4794329" y="2576030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54" name="Rectangle 53"/>
          <p:cNvSpPr/>
          <p:nvPr/>
        </p:nvSpPr>
        <p:spPr>
          <a:xfrm>
            <a:off x="5139385" y="2576030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cxnSp>
        <p:nvCxnSpPr>
          <p:cNvPr id="59" name="Straight Arrow Connector 58"/>
          <p:cNvCxnSpPr>
            <a:endCxn id="60" idx="1"/>
          </p:cNvCxnSpPr>
          <p:nvPr/>
        </p:nvCxnSpPr>
        <p:spPr>
          <a:xfrm>
            <a:off x="7450162" y="1564286"/>
            <a:ext cx="213528" cy="115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663690" y="1460411"/>
            <a:ext cx="4347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Data</a:t>
            </a:r>
          </a:p>
        </p:txBody>
      </p:sp>
      <p:pic>
        <p:nvPicPr>
          <p:cNvPr id="6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9699" y="2942317"/>
            <a:ext cx="4222793" cy="15836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0E1D1B1-1E8E-46EC-A4EB-9A7DF87773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5225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6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  <a:b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53F2073-B529-F65A-DF63-74167AC09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30646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altLang="zh-TW" dirty="0"/>
              <a:t>Questions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044" y="844153"/>
            <a:ext cx="7582237" cy="3671888"/>
          </a:xfrm>
        </p:spPr>
        <p:txBody>
          <a:bodyPr/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architecture with virtualization extension is a trend.</a:t>
            </a:r>
          </a:p>
          <a:p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Hardware-assisted techniques replace many software methods of virtualization.</a:t>
            </a:r>
          </a:p>
          <a:p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is hardware-assisted implementation a definite winner? 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E3E8F8-86B3-AB9B-218A-721673017C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95737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41844" y="920115"/>
            <a:ext cx="2644775" cy="366399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Hardware-assisted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241844" y="1212783"/>
            <a:ext cx="4254848" cy="32148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any requested address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to programs that have a large amount of page table miss when executing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 chance to exit VM (less context switch)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Two-layer EPT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Means each access needs to walk two tables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develop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particular registers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helps guest OS to notify the VMM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790232" y="942975"/>
            <a:ext cx="3961308" cy="366399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solution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790232" y="1212783"/>
            <a:ext cx="4254848" cy="308433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walk when SPT entry miss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to programs that would access only some addresses frequently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access might be intercepted by VMM (many traps)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reference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and convenient when page hit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develop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Two-layer structure 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Complicated reverse map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Permission emulation</a:t>
            </a:r>
          </a:p>
        </p:txBody>
      </p:sp>
      <p:sp>
        <p:nvSpPr>
          <p:cNvPr id="7" name="灯片编号占位符 1">
            <a:extLst>
              <a:ext uri="{FF2B5EF4-FFF2-40B4-BE49-F238E27FC236}">
                <a16:creationId xmlns:a16="http://schemas.microsoft.com/office/drawing/2014/main" id="{180274D9-C623-D7D6-6D1D-68C8D7A7BA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607002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Combination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5510" y="803693"/>
            <a:ext cx="7761290" cy="37009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Is hardware-assisted implementation a definite winner? 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No 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How about combining these two methods?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Selective memory virtualization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VMM can dynamically choose the memory management mechanism depending on the executing status.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Challenge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Hard to figure out the standard that we judge a program performs too many page table misses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An accurate algorithm to sample behaviors of a program is necessary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Group from Peking University completed a selective solution on VEE 2011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Gain just a little bit performance improvement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For now, it’s not worth to do so.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DBE03FA-2AFF-7290-F166-A99C25A36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90621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Memory Virtualization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199" y="844151"/>
            <a:ext cx="4810715" cy="343653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data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bar shows the normalized execution time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lower, the better.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HAP: hardware-assisted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SP: shadow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DSP: dynamic selective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Take hardware extension as 100%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see that…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Generally HAP is faster than SPT, but not always.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performance of DSP is best , but only tiny disparities. (about 2%)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內容版面配置區 4" descr="畫面剪輯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348" y="1335420"/>
            <a:ext cx="3439608" cy="2125677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EBDAFE-D298-86B1-E2D7-346EBD5B7C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64787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/>
          <a:lstStyle/>
          <a:p>
            <a:r>
              <a:rPr lang="en-US" dirty="0"/>
              <a:t>Memory Virtualization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2032" y="844153"/>
            <a:ext cx="7804768" cy="367188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Software implementation</a:t>
            </a:r>
          </a:p>
          <a:p>
            <a:pPr lvl="1"/>
            <a:r>
              <a:rPr lang="en-US" dirty="0"/>
              <a:t>Memory architecture</a:t>
            </a:r>
          </a:p>
          <a:p>
            <a:pPr lvl="2"/>
            <a:r>
              <a:rPr lang="en-US" sz="2100" dirty="0"/>
              <a:t>MMU (memory management unit)</a:t>
            </a:r>
          </a:p>
          <a:p>
            <a:pPr lvl="2"/>
            <a:r>
              <a:rPr lang="en-US" sz="2100" dirty="0"/>
              <a:t>TLB (translation look-aside buffer)</a:t>
            </a:r>
          </a:p>
          <a:p>
            <a:pPr lvl="1"/>
            <a:r>
              <a:rPr lang="en-US" dirty="0"/>
              <a:t>Shadow page table</a:t>
            </a:r>
          </a:p>
          <a:p>
            <a:pPr lvl="2"/>
            <a:r>
              <a:rPr lang="en-US" sz="2100" dirty="0"/>
              <a:t>MMU virtualization by virtual PTBR</a:t>
            </a:r>
          </a:p>
          <a:p>
            <a:pPr lvl="2"/>
            <a:r>
              <a:rPr lang="en-US" sz="2100" dirty="0"/>
              <a:t>Shadow page table construction</a:t>
            </a:r>
          </a:p>
          <a:p>
            <a:pPr lvl="2"/>
            <a:r>
              <a:rPr lang="en-US" sz="2100" dirty="0"/>
              <a:t>Page fault and page table protection</a:t>
            </a:r>
            <a:br>
              <a:rPr lang="en-US" sz="2100" dirty="0"/>
            </a:br>
            <a:endParaRPr lang="en-US" sz="2100" dirty="0"/>
          </a:p>
          <a:p>
            <a:r>
              <a:rPr lang="en-US" dirty="0"/>
              <a:t>Hardware assistance</a:t>
            </a:r>
          </a:p>
          <a:p>
            <a:pPr lvl="1"/>
            <a:r>
              <a:rPr lang="en-US" dirty="0"/>
              <a:t>Extended page table</a:t>
            </a:r>
          </a:p>
          <a:p>
            <a:pPr lvl="2"/>
            <a:r>
              <a:rPr lang="en-US" sz="2100" dirty="0"/>
              <a:t>Hardware walk guest and host page table simultaneously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D75EB82-A5A2-D866-AD4A-BB7BDA583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98402726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2599</TotalTime>
  <Words>2275</Words>
  <Application>Microsoft Office PowerPoint</Application>
  <PresentationFormat>全屏显示(16:9)</PresentationFormat>
  <Paragraphs>445</Paragraphs>
  <Slides>46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2" baseType="lpstr">
      <vt:lpstr>MS Sans Serif</vt:lpstr>
      <vt:lpstr>Arial</vt:lpstr>
      <vt:lpstr>Calibri</vt:lpstr>
      <vt:lpstr>Times New Roman</vt:lpstr>
      <vt:lpstr>Wingdings</vt:lpstr>
      <vt:lpstr>NTHU UniCloud</vt:lpstr>
      <vt:lpstr>CSC6103 – Virtualization Techniques Memory Virtualization</vt:lpstr>
      <vt:lpstr>Outline</vt:lpstr>
      <vt:lpstr>Basic concept of memory management</vt:lpstr>
      <vt:lpstr>Memory Management Unit</vt:lpstr>
      <vt:lpstr>Page Tables</vt:lpstr>
      <vt:lpstr>TLB</vt:lpstr>
      <vt:lpstr>Brief introduction to ARMv7 VMSA</vt:lpstr>
      <vt:lpstr>ARMv7 VMSA</vt:lpstr>
      <vt:lpstr>L1 Page Table</vt:lpstr>
      <vt:lpstr>1st Page Table Descriptor</vt:lpstr>
      <vt:lpstr>L2 Page Table</vt:lpstr>
      <vt:lpstr>2nd Page Table Descriptor</vt:lpstr>
      <vt:lpstr>Memory Virtualization</vt:lpstr>
      <vt:lpstr>Memory Management on a VM</vt:lpstr>
      <vt:lpstr>Memory Virtualization (1)</vt:lpstr>
      <vt:lpstr>Memory Virtualization (2)</vt:lpstr>
      <vt:lpstr>Goals of Memory Virtualization</vt:lpstr>
      <vt:lpstr>Shadow page table Memory Virtualization</vt:lpstr>
      <vt:lpstr>Shadow Page Table (1)</vt:lpstr>
      <vt:lpstr>Shadow Page Table (2)</vt:lpstr>
      <vt:lpstr>Shadow Page Table (3)</vt:lpstr>
      <vt:lpstr>Shadow Page Table (4)</vt:lpstr>
      <vt:lpstr>Shadow Page Table</vt:lpstr>
      <vt:lpstr>SPT Maintenance</vt:lpstr>
      <vt:lpstr>Shadow Page Table</vt:lpstr>
      <vt:lpstr>Big Overhead</vt:lpstr>
      <vt:lpstr>Page Walking Process on ARM </vt:lpstr>
      <vt:lpstr>Step 1</vt:lpstr>
      <vt:lpstr>Step 2</vt:lpstr>
      <vt:lpstr>Step 3</vt:lpstr>
      <vt:lpstr>Steps 4 &amp; 5</vt:lpstr>
      <vt:lpstr>SPT Optimization (1)</vt:lpstr>
      <vt:lpstr>SPT Optimization (2)</vt:lpstr>
      <vt:lpstr>SPT Optimization (4)</vt:lpstr>
      <vt:lpstr>Other Issues</vt:lpstr>
      <vt:lpstr>Hardware assist Memory Virtualization</vt:lpstr>
      <vt:lpstr>Hardware Assistance - Overview</vt:lpstr>
      <vt:lpstr>Hardware Solution</vt:lpstr>
      <vt:lpstr>Extended Page Table (1)</vt:lpstr>
      <vt:lpstr>Extended Page Table (2)</vt:lpstr>
      <vt:lpstr>Comparison Memory Virtualization</vt:lpstr>
      <vt:lpstr>Questions</vt:lpstr>
      <vt:lpstr>Comparisons</vt:lpstr>
      <vt:lpstr>Combination</vt:lpstr>
      <vt:lpstr>Selective Memory Virtualization</vt:lpstr>
      <vt:lpstr>Memory Virtualization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Prof. Chung Yehching (SDS)</cp:lastModifiedBy>
  <cp:revision>287</cp:revision>
  <dcterms:created xsi:type="dcterms:W3CDTF">2015-06-05T07:23:35Z</dcterms:created>
  <dcterms:modified xsi:type="dcterms:W3CDTF">2026-10-08T01:36:46Z</dcterms:modified>
</cp:coreProperties>
</file>