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257" r:id="rId3"/>
    <p:sldId id="420" r:id="rId4"/>
    <p:sldId id="427" r:id="rId5"/>
    <p:sldId id="434" r:id="rId6"/>
    <p:sldId id="419" r:id="rId7"/>
    <p:sldId id="424" r:id="rId8"/>
    <p:sldId id="425" r:id="rId9"/>
    <p:sldId id="422" r:id="rId10"/>
    <p:sldId id="421" r:id="rId11"/>
    <p:sldId id="423" r:id="rId12"/>
    <p:sldId id="426" r:id="rId13"/>
    <p:sldId id="289" r:id="rId14"/>
    <p:sldId id="429" r:id="rId15"/>
    <p:sldId id="436" r:id="rId16"/>
    <p:sldId id="432" r:id="rId17"/>
    <p:sldId id="433" r:id="rId18"/>
    <p:sldId id="430" r:id="rId19"/>
    <p:sldId id="435" r:id="rId20"/>
    <p:sldId id="437" r:id="rId21"/>
    <p:sldId id="439" r:id="rId22"/>
    <p:sldId id="414" r:id="rId23"/>
    <p:sldId id="451" r:id="rId24"/>
    <p:sldId id="450" r:id="rId25"/>
    <p:sldId id="452" r:id="rId26"/>
    <p:sldId id="459" r:id="rId27"/>
    <p:sldId id="415" r:id="rId28"/>
    <p:sldId id="454" r:id="rId29"/>
    <p:sldId id="460" r:id="rId30"/>
    <p:sldId id="455" r:id="rId31"/>
    <p:sldId id="457" r:id="rId32"/>
    <p:sldId id="416" r:id="rId33"/>
    <p:sldId id="461" r:id="rId34"/>
    <p:sldId id="462" r:id="rId35"/>
    <p:sldId id="463" r:id="rId36"/>
    <p:sldId id="464" r:id="rId37"/>
    <p:sldId id="417" r:id="rId38"/>
    <p:sldId id="465" r:id="rId39"/>
    <p:sldId id="448" r:id="rId40"/>
    <p:sldId id="449" r:id="rId41"/>
    <p:sldId id="418" r:id="rId42"/>
    <p:sldId id="441" r:id="rId43"/>
    <p:sldId id="447" r:id="rId44"/>
    <p:sldId id="443" r:id="rId45"/>
    <p:sldId id="446" r:id="rId46"/>
  </p:sldIdLst>
  <p:sldSz cx="9144000" cy="5143500" type="screen16x9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  <p15:guide id="3" orient="horz" pos="16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4F81BD"/>
    <a:srgbClr val="8064A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804" y="40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>
      <p:cViewPr varScale="1">
        <p:scale>
          <a:sx n="46" d="100"/>
          <a:sy n="46" d="100"/>
        </p:scale>
        <p:origin x="2129" y="2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BDCE37-E9BE-4280-8D68-34E43D66CEDB}" type="datetimeFigureOut">
              <a:rPr lang="zh-TW" altLang="en-US" smtClean="0"/>
              <a:pPr/>
              <a:t>2026/9/11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BED679-6CF9-4493-8C9A-6F31F985AAEA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868276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FBA883-381C-409E-9635-BB54B21745E4}" type="datetimeFigureOut">
              <a:rPr lang="zh-TW" altLang="en-US" smtClean="0"/>
              <a:pPr/>
              <a:t>2026/9/11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6C40E4-B9C8-417B-AB00-3BF7F8038A2D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581552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20D120-4707-426F-9B85-873E256A663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3pPr>
              <a:defRPr sz="2000">
                <a:latin typeface="Calibri" pitchFamily="34" charset="0"/>
                <a:ea typeface="標楷體" pitchFamily="65" charset="-120"/>
                <a:cs typeface="Calibri" pitchFamily="34" charset="0"/>
              </a:defRPr>
            </a:lvl3pPr>
            <a:lvl4pPr>
              <a:defRPr sz="1800">
                <a:latin typeface="Calibri" pitchFamily="34" charset="0"/>
                <a:ea typeface="標楷體" pitchFamily="65" charset="-120"/>
                <a:cs typeface="Calibri" pitchFamily="34" charset="0"/>
              </a:defRPr>
            </a:lvl4pPr>
            <a:lvl5pPr>
              <a:defRPr sz="1600">
                <a:latin typeface="Calibri" pitchFamily="34" charset="0"/>
                <a:ea typeface="標楷體" pitchFamily="65" charset="-120"/>
                <a:cs typeface="Calibri" pitchFamily="34" charset="0"/>
              </a:defRPr>
            </a:lvl5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400287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3305177"/>
            <a:ext cx="7772400" cy="1021556"/>
          </a:xfrm>
        </p:spPr>
        <p:txBody>
          <a:bodyPr anchor="t"/>
          <a:lstStyle>
            <a:lvl1pPr algn="l">
              <a:defRPr sz="3200" b="1" cap="all"/>
            </a:lvl1pPr>
          </a:lstStyle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800"/>
            </a:lvl1pPr>
            <a:lvl2pPr marL="342891" indent="0">
              <a:buNone/>
              <a:defRPr sz="1351"/>
            </a:lvl2pPr>
            <a:lvl3pPr marL="685783" indent="0">
              <a:buNone/>
              <a:defRPr sz="1200"/>
            </a:lvl3pPr>
            <a:lvl4pPr marL="1028674" indent="0">
              <a:buNone/>
              <a:defRPr sz="1051"/>
            </a:lvl4pPr>
            <a:lvl5pPr marL="1371566" indent="0">
              <a:buNone/>
              <a:defRPr sz="1051"/>
            </a:lvl5pPr>
            <a:lvl6pPr marL="1714457" indent="0">
              <a:buNone/>
              <a:defRPr sz="1051"/>
            </a:lvl6pPr>
            <a:lvl7pPr marL="2057349" indent="0">
              <a:buNone/>
              <a:defRPr sz="1051"/>
            </a:lvl7pPr>
            <a:lvl8pPr marL="2400240" indent="0">
              <a:buNone/>
              <a:defRPr sz="1051"/>
            </a:lvl8pPr>
            <a:lvl9pPr marL="2743131" indent="0">
              <a:buNone/>
              <a:defRPr sz="10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70251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844152"/>
            <a:ext cx="4038600" cy="31707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351"/>
            </a:lvl6pPr>
            <a:lvl7pPr>
              <a:defRPr sz="1351"/>
            </a:lvl7pPr>
            <a:lvl8pPr>
              <a:defRPr sz="1351"/>
            </a:lvl8pPr>
            <a:lvl9pPr>
              <a:defRPr sz="1351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49850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1" y="951580"/>
            <a:ext cx="4040188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1" y="1431401"/>
            <a:ext cx="4040188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951580"/>
            <a:ext cx="4041775" cy="479822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342891" indent="0">
              <a:buNone/>
              <a:defRPr sz="1500" b="1"/>
            </a:lvl2pPr>
            <a:lvl3pPr marL="685783" indent="0">
              <a:buNone/>
              <a:defRPr sz="1351" b="1"/>
            </a:lvl3pPr>
            <a:lvl4pPr marL="1028674" indent="0">
              <a:buNone/>
              <a:defRPr sz="1200" b="1"/>
            </a:lvl4pPr>
            <a:lvl5pPr marL="1371566" indent="0">
              <a:buNone/>
              <a:defRPr sz="1200" b="1"/>
            </a:lvl5pPr>
            <a:lvl6pPr marL="1714457" indent="0">
              <a:buNone/>
              <a:defRPr sz="1200" b="1"/>
            </a:lvl6pPr>
            <a:lvl7pPr marL="2057349" indent="0">
              <a:buNone/>
              <a:defRPr sz="1200" b="1"/>
            </a:lvl7pPr>
            <a:lvl8pPr marL="2400240" indent="0">
              <a:buNone/>
              <a:defRPr sz="1200" b="1"/>
            </a:lvl8pPr>
            <a:lvl9pPr marL="2743131" indent="0">
              <a:buNone/>
              <a:defRPr sz="1200" b="1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1431401"/>
            <a:ext cx="4041775" cy="2963466"/>
          </a:xfrm>
        </p:spPr>
        <p:txBody>
          <a:bodyPr/>
          <a:lstStyle>
            <a:lvl1pPr>
              <a:defRPr sz="20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7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  <p:sp>
        <p:nvSpPr>
          <p:cNvPr id="8" name="標題 1"/>
          <p:cNvSpPr>
            <a:spLocks noGrp="1"/>
          </p:cNvSpPr>
          <p:nvPr>
            <p:ph type="title"/>
          </p:nvPr>
        </p:nvSpPr>
        <p:spPr>
          <a:xfrm>
            <a:off x="468315" y="108349"/>
            <a:ext cx="8207375" cy="519113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05561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6808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620286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4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04791"/>
            <a:ext cx="5111751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4" y="1076328"/>
            <a:ext cx="3008313" cy="351829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599769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891" indent="0">
              <a:buNone/>
              <a:defRPr sz="2100"/>
            </a:lvl2pPr>
            <a:lvl3pPr marL="685783" indent="0">
              <a:buNone/>
              <a:defRPr sz="1800"/>
            </a:lvl3pPr>
            <a:lvl4pPr marL="1028674" indent="0">
              <a:buNone/>
              <a:defRPr sz="1500"/>
            </a:lvl4pPr>
            <a:lvl5pPr marL="1371566" indent="0">
              <a:buNone/>
              <a:defRPr sz="1500"/>
            </a:lvl5pPr>
            <a:lvl6pPr marL="1714457" indent="0">
              <a:buNone/>
              <a:defRPr sz="1500"/>
            </a:lvl6pPr>
            <a:lvl7pPr marL="2057349" indent="0">
              <a:buNone/>
              <a:defRPr sz="1500"/>
            </a:lvl7pPr>
            <a:lvl8pPr marL="2400240" indent="0">
              <a:buNone/>
              <a:defRPr sz="1500"/>
            </a:lvl8pPr>
            <a:lvl9pPr marL="2743131" indent="0">
              <a:buNone/>
              <a:defRPr sz="1500"/>
            </a:lvl9pPr>
          </a:lstStyle>
          <a:p>
            <a:pPr lvl="0"/>
            <a:r>
              <a:rPr lang="en-US" altLang="zh-TW" noProof="0"/>
              <a:t>Click icon to add picture</a:t>
            </a:r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4025505"/>
            <a:ext cx="5486400" cy="603647"/>
          </a:xfrm>
        </p:spPr>
        <p:txBody>
          <a:bodyPr/>
          <a:lstStyle>
            <a:lvl1pPr marL="0" indent="0">
              <a:buNone/>
              <a:defRPr sz="1051"/>
            </a:lvl1pPr>
            <a:lvl2pPr marL="342891" indent="0">
              <a:buNone/>
              <a:defRPr sz="900"/>
            </a:lvl2pPr>
            <a:lvl3pPr marL="685783" indent="0">
              <a:buNone/>
              <a:defRPr sz="751"/>
            </a:lvl3pPr>
            <a:lvl4pPr marL="1028674" indent="0">
              <a:buNone/>
              <a:defRPr sz="675"/>
            </a:lvl4pPr>
            <a:lvl5pPr marL="1371566" indent="0">
              <a:buNone/>
              <a:defRPr sz="675"/>
            </a:lvl5pPr>
            <a:lvl6pPr marL="1714457" indent="0">
              <a:buNone/>
              <a:defRPr sz="675"/>
            </a:lvl6pPr>
            <a:lvl7pPr marL="2057349" indent="0">
              <a:buNone/>
              <a:defRPr sz="675"/>
            </a:lvl7pPr>
            <a:lvl8pPr marL="2400240" indent="0">
              <a:buNone/>
              <a:defRPr sz="675"/>
            </a:lvl8pPr>
            <a:lvl9pPr marL="2743131" indent="0">
              <a:buNone/>
              <a:defRPr sz="675"/>
            </a:lvl9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5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16622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33772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94551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457200" y="54771"/>
            <a:ext cx="8229600" cy="1275160"/>
          </a:xfrm>
        </p:spPr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3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82241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457200" y="844156"/>
            <a:ext cx="8229600" cy="485775"/>
          </a:xfrm>
        </p:spPr>
        <p:txBody>
          <a:bodyPr/>
          <a:lstStyle/>
          <a:p>
            <a:pPr lvl="0"/>
            <a:r>
              <a:rPr lang="en-US" altLang="zh-TW" noProof="0"/>
              <a:t>Click icon to add table</a:t>
            </a:r>
            <a:endParaRPr lang="zh-TW" altLang="en-US" noProof="0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95952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1597823"/>
            <a:ext cx="7772400" cy="1102519"/>
          </a:xfrm>
        </p:spPr>
        <p:txBody>
          <a:bodyPr/>
          <a:lstStyle>
            <a:lvl1pPr algn="ctr"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/>
            </a:lvl1pPr>
            <a:lvl2pPr marL="342891" indent="0" algn="ctr">
              <a:buNone/>
              <a:defRPr/>
            </a:lvl2pPr>
            <a:lvl3pPr marL="685783" indent="0" algn="ctr">
              <a:buNone/>
              <a:defRPr/>
            </a:lvl3pPr>
            <a:lvl4pPr marL="1028674" indent="0" algn="ctr">
              <a:buNone/>
              <a:defRPr/>
            </a:lvl4pPr>
            <a:lvl5pPr marL="1371566" indent="0" algn="ctr">
              <a:buNone/>
              <a:defRPr/>
            </a:lvl5pPr>
            <a:lvl6pPr marL="1714457" indent="0" algn="ctr">
              <a:buNone/>
              <a:defRPr/>
            </a:lvl6pPr>
            <a:lvl7pPr marL="2057349" indent="0" algn="ctr">
              <a:buNone/>
              <a:defRPr/>
            </a:lvl7pPr>
            <a:lvl8pPr marL="2400240" indent="0" algn="ctr">
              <a:buNone/>
              <a:defRPr/>
            </a:lvl8pPr>
            <a:lvl9pPr marL="2743131" indent="0" algn="ctr">
              <a:buNone/>
              <a:defRPr/>
            </a:lvl9pPr>
          </a:lstStyle>
          <a:p>
            <a:r>
              <a:rPr lang="en-US" altLang="zh-TW"/>
              <a:t>Click to edit Master subtitle style</a:t>
            </a:r>
            <a:endParaRPr lang="zh-TW" altLang="en-US"/>
          </a:p>
        </p:txBody>
      </p:sp>
      <p:sp>
        <p:nvSpPr>
          <p:cNvPr id="4" name="Rectangle 1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7078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17"/>
          <p:cNvSpPr>
            <a:spLocks noGrp="1" noChangeArrowheads="1"/>
          </p:cNvSpPr>
          <p:nvPr>
            <p:ph type="title"/>
          </p:nvPr>
        </p:nvSpPr>
        <p:spPr bwMode="auto">
          <a:xfrm>
            <a:off x="787401" y="108349"/>
            <a:ext cx="7888289" cy="519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28" name="Rectangle 18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844153"/>
            <a:ext cx="8229600" cy="36718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按一下以編輯母片</a:t>
            </a:r>
          </a:p>
          <a:p>
            <a:pPr lvl="1"/>
            <a:endParaRPr lang="zh-TW" altLang="en-US" dirty="0"/>
          </a:p>
          <a:p>
            <a:pPr lvl="0"/>
            <a:endParaRPr lang="en-US" altLang="zh-TW" dirty="0"/>
          </a:p>
        </p:txBody>
      </p:sp>
      <p:pic>
        <p:nvPicPr>
          <p:cNvPr id="1029" name="Picture 25" descr="name"/>
          <p:cNvPicPr>
            <a:picLocks noChangeAspect="1" noChangeArrowheads="1"/>
          </p:cNvPicPr>
          <p:nvPr/>
        </p:nvPicPr>
        <p:blipFill>
          <a:blip r:embed="rId15" cstate="print"/>
          <a:srcRect/>
          <a:stretch>
            <a:fillRect/>
          </a:stretch>
        </p:blipFill>
        <p:spPr bwMode="auto">
          <a:xfrm>
            <a:off x="2" y="4768455"/>
            <a:ext cx="3833813" cy="148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矩形 7"/>
          <p:cNvSpPr/>
          <p:nvPr/>
        </p:nvSpPr>
        <p:spPr>
          <a:xfrm>
            <a:off x="569246" y="4936332"/>
            <a:ext cx="273183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sz="900" b="1" dirty="0">
                <a:solidFill>
                  <a:schemeClr val="bg1"/>
                </a:solidFill>
                <a:latin typeface="Arial" pitchFamily="34" charset="0"/>
                <a:ea typeface="新細明體" pitchFamily="18" charset="-120"/>
                <a:cs typeface="Arial" pitchFamily="34" charset="0"/>
              </a:rPr>
              <a:t>National Tsing Hua University ® copyright OIA</a:t>
            </a:r>
            <a:endParaRPr lang="zh-TW" altLang="en-US" sz="900" b="1" dirty="0">
              <a:solidFill>
                <a:schemeClr val="bg1"/>
              </a:solidFill>
              <a:latin typeface="Arial" pitchFamily="34" charset="0"/>
              <a:ea typeface="新細明體" pitchFamily="18" charset="-120"/>
              <a:cs typeface="Arial" pitchFamily="34" charset="0"/>
            </a:endParaRPr>
          </a:p>
        </p:txBody>
      </p:sp>
      <p:sp>
        <p:nvSpPr>
          <p:cNvPr id="4105" name="Rectangle 9"/>
          <p:cNvSpPr>
            <a:spLocks noChangeArrowheads="1"/>
          </p:cNvSpPr>
          <p:nvPr/>
        </p:nvSpPr>
        <p:spPr bwMode="auto">
          <a:xfrm>
            <a:off x="0" y="681041"/>
            <a:ext cx="9144000" cy="108347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4106" name="Rectangle 10"/>
          <p:cNvSpPr>
            <a:spLocks noChangeArrowheads="1"/>
          </p:cNvSpPr>
          <p:nvPr userDrawn="1"/>
        </p:nvSpPr>
        <p:spPr bwMode="auto">
          <a:xfrm>
            <a:off x="0" y="4624387"/>
            <a:ext cx="9144000" cy="539354"/>
          </a:xfrm>
          <a:prstGeom prst="rect">
            <a:avLst/>
          </a:prstGeom>
          <a:solidFill>
            <a:srgbClr val="990099"/>
          </a:solidFill>
          <a:ln w="15875">
            <a:noFill/>
            <a:miter lim="800000"/>
            <a:headEnd/>
            <a:tailEnd/>
          </a:ln>
          <a:effectLst>
            <a:prstShdw prst="shdw18" dist="17961" dir="13500000">
              <a:srgbClr val="990099">
                <a:gamma/>
                <a:shade val="60000"/>
                <a:invGamma/>
              </a:srgbClr>
            </a:prstShdw>
          </a:effectLst>
        </p:spPr>
        <p:txBody>
          <a:bodyPr wrap="none" anchor="ctr"/>
          <a:lstStyle/>
          <a:p>
            <a:pPr>
              <a:defRPr/>
            </a:pPr>
            <a:endParaRPr lang="zh-TW" altLang="en-US" sz="1351">
              <a:ea typeface="新細明體" pitchFamily="18" charset="-120"/>
            </a:endParaRPr>
          </a:p>
        </p:txBody>
      </p:sp>
      <p:sp>
        <p:nvSpPr>
          <p:cNvPr id="1043" name="Rectangle 1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31013" y="4893471"/>
            <a:ext cx="2133600" cy="25479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900">
                <a:solidFill>
                  <a:schemeClr val="bg1"/>
                </a:solidFill>
                <a:latin typeface="Arial" pitchFamily="34" charset="0"/>
                <a:ea typeface="新細明體" pitchFamily="18" charset="-120"/>
              </a:defRPr>
            </a:lvl1pPr>
          </a:lstStyle>
          <a:p>
            <a:fld id="{D9B6BDF2-6896-4B98-8776-C18582F63BA5}" type="slidenum">
              <a:rPr lang="zh-TW" altLang="en-US" smtClean="0"/>
              <a:pPr/>
              <a:t>‹#›</a:t>
            </a:fld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60" y="96457"/>
            <a:ext cx="888965" cy="518914"/>
          </a:xfrm>
          <a:prstGeom prst="rect">
            <a:avLst/>
          </a:prstGeom>
        </p:spPr>
      </p:pic>
      <p:pic>
        <p:nvPicPr>
          <p:cNvPr id="12" name="圖片 11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09" y="4683590"/>
            <a:ext cx="741091" cy="427061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4C67FEB8-36D3-4CC5-9713-36EE82A172D2}"/>
              </a:ext>
            </a:extLst>
          </p:cNvPr>
          <p:cNvSpPr/>
          <p:nvPr userDrawn="1"/>
        </p:nvSpPr>
        <p:spPr>
          <a:xfrm>
            <a:off x="669958" y="4681829"/>
            <a:ext cx="219218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zh-CN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香港中文大学（深圳）数据科学院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en-US" altLang="zh-TW" sz="1000" kern="100" dirty="0">
                <a:solidFill>
                  <a:schemeClr val="bg1"/>
                </a:solidFill>
                <a:latin typeface="Times New Roman" panose="02020603050405020304" pitchFamily="18" charset="0"/>
                <a:ea typeface="华文楷体" panose="02010600040101010101" pitchFamily="2" charset="-122"/>
                <a:cs typeface="Times New Roman" panose="02020603050405020304" pitchFamily="18" charset="0"/>
              </a:rPr>
              <a:t>CUHK-SZ School of Data Science</a:t>
            </a:r>
            <a:endParaRPr lang="zh-TW" altLang="zh-TW" sz="1000" kern="100" dirty="0">
              <a:solidFill>
                <a:schemeClr val="bg1"/>
              </a:solidFill>
              <a:latin typeface="Times New Roman" panose="02020603050405020304" pitchFamily="18" charset="0"/>
              <a:ea typeface="华文楷体" panose="02010600040101010101" pitchFamily="2" charset="-122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29887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  <p:hf sldNum="0" hdr="0" ft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2700" b="1">
          <a:solidFill>
            <a:schemeClr val="tx2"/>
          </a:solidFill>
          <a:latin typeface="Calibri" pitchFamily="34" charset="0"/>
          <a:ea typeface="標楷體" pitchFamily="65" charset="-120"/>
          <a:cs typeface="MS Sans Serif"/>
        </a:defRPr>
      </a:lvl5pPr>
      <a:lvl6pPr marL="342891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6pPr>
      <a:lvl7pPr marL="685783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7pPr>
      <a:lvl8pPr marL="1028674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8pPr>
      <a:lvl9pPr marL="1371566" algn="l" rtl="0" eaLnBrk="1" fontAlgn="base" hangingPunct="1">
        <a:spcBef>
          <a:spcPct val="0"/>
        </a:spcBef>
        <a:spcAft>
          <a:spcPct val="0"/>
        </a:spcAft>
        <a:defRPr kumimoji="1" sz="2251" b="1">
          <a:solidFill>
            <a:schemeClr val="tx2"/>
          </a:solidFill>
          <a:latin typeface="MS Sans Serif"/>
          <a:ea typeface="MS Sans Serif"/>
          <a:cs typeface="MS Sans Serif"/>
        </a:defRPr>
      </a:lvl9pPr>
    </p:titleStyle>
    <p:bodyStyle>
      <a:lvl1pPr marL="257168" indent="-25716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80000"/>
        <a:buFont typeface="Wingdings" pitchFamily="2" charset="2"/>
        <a:buChar char="l"/>
        <a:defRPr kumimoji="1" sz="28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1pPr>
      <a:lvl2pPr marL="557199" indent="-214308" algn="l" rtl="0" eaLnBrk="1" fontAlgn="base" hangingPunct="1">
        <a:spcBef>
          <a:spcPct val="20000"/>
        </a:spcBef>
        <a:spcAft>
          <a:spcPct val="0"/>
        </a:spcAft>
        <a:buClr>
          <a:srgbClr val="0000FF"/>
        </a:buClr>
        <a:buSzPct val="90000"/>
        <a:buFont typeface="Arial" charset="0"/>
        <a:buChar char="–"/>
        <a:defRPr kumimoji="1" sz="2400">
          <a:solidFill>
            <a:schemeClr val="tx1"/>
          </a:solidFill>
          <a:latin typeface="Times New Roman" panose="02020603050405020304" pitchFamily="18" charset="0"/>
          <a:ea typeface="Times New Roman" panose="02020603050405020304" pitchFamily="18" charset="0"/>
          <a:cs typeface="Times New Roman" panose="02020603050405020304" pitchFamily="18" charset="0"/>
        </a:defRPr>
      </a:lvl2pPr>
      <a:lvl3pPr marL="857229" indent="-171446" algn="l" rtl="0" eaLnBrk="1" fontAlgn="base" hangingPunct="1">
        <a:spcBef>
          <a:spcPct val="20000"/>
        </a:spcBef>
        <a:spcAft>
          <a:spcPct val="0"/>
        </a:spcAft>
        <a:buChar char="•"/>
        <a:defRPr kumimoji="1" sz="1800">
          <a:solidFill>
            <a:schemeClr val="tx1"/>
          </a:solidFill>
          <a:latin typeface="+mn-lt"/>
          <a:ea typeface="+mn-ea"/>
        </a:defRPr>
      </a:lvl3pPr>
      <a:lvl4pPr marL="1200121" indent="-171446" algn="l" rtl="0" eaLnBrk="1" fontAlgn="base" hangingPunct="1">
        <a:spcBef>
          <a:spcPct val="20000"/>
        </a:spcBef>
        <a:spcAft>
          <a:spcPct val="0"/>
        </a:spcAft>
        <a:buChar char="–"/>
        <a:defRPr kumimoji="1" sz="1500">
          <a:solidFill>
            <a:schemeClr val="tx1"/>
          </a:solidFill>
          <a:latin typeface="+mn-lt"/>
          <a:ea typeface="+mn-ea"/>
        </a:defRPr>
      </a:lvl4pPr>
      <a:lvl5pPr marL="1543012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5pPr>
      <a:lvl6pPr marL="1885904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6pPr>
      <a:lvl7pPr marL="2228795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7pPr>
      <a:lvl8pPr marL="2571686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8pPr>
      <a:lvl9pPr marL="2914578" indent="-171446" algn="l" rtl="0" eaLnBrk="1" fontAlgn="base" hangingPunct="1">
        <a:spcBef>
          <a:spcPct val="20000"/>
        </a:spcBef>
        <a:spcAft>
          <a:spcPct val="0"/>
        </a:spcAft>
        <a:buChar char="»"/>
        <a:defRPr kumimoji="1" sz="15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1pPr>
      <a:lvl2pPr marL="34289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4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9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1" algn="l" defTabSz="685783" rtl="0" eaLnBrk="1" latinLnBrk="0" hangingPunct="1">
        <a:defRPr sz="135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6003" y="826534"/>
            <a:ext cx="8547653" cy="1307066"/>
          </a:xfrm>
        </p:spPr>
        <p:txBody>
          <a:bodyPr/>
          <a:lstStyle/>
          <a:p>
            <a:pPr algn="ctr"/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CSC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6103</a:t>
            </a:r>
            <a:r>
              <a:rPr lang="en-US" altLang="zh-TW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Virtualization </a:t>
            </a:r>
            <a:r>
              <a:rPr lang="en-US" altLang="zh-CN" sz="3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Techniques</a:t>
            </a:r>
            <a:endParaRPr lang="zh-TW" altLang="en-US" sz="36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548824"/>
            <a:ext cx="6400800" cy="1801796"/>
          </a:xfrm>
        </p:spPr>
        <p:txBody>
          <a:bodyPr/>
          <a:lstStyle/>
          <a:p>
            <a:r>
              <a:rPr lang="en-US" altLang="zh-TW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Prof. Yeh-Ching Chung</a:t>
            </a:r>
          </a:p>
          <a:p>
            <a:endParaRPr lang="en-US" altLang="zh-TW" sz="24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en-US" altLang="zh-TW" sz="2400"/>
              <a:t>School of </a:t>
            </a:r>
            <a:r>
              <a:rPr lang="en-US" altLang="zh-CN" sz="2400"/>
              <a:t>Data </a:t>
            </a:r>
            <a:r>
              <a:rPr lang="en-US" altLang="zh-TW" sz="2400"/>
              <a:t>Science</a:t>
            </a:r>
          </a:p>
          <a:p>
            <a:r>
              <a:rPr lang="en-US" altLang="zh-TW" sz="2400" dirty="0"/>
              <a:t>Chinese University of Hong Kong, Shenzhen</a:t>
            </a:r>
          </a:p>
        </p:txBody>
      </p:sp>
    </p:spTree>
    <p:extLst>
      <p:ext uri="{BB962C8B-B14F-4D97-AF65-F5344CB8AC3E}">
        <p14:creationId xmlns:p14="http://schemas.microsoft.com/office/powerpoint/2010/main" val="406468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7" y="108349"/>
            <a:ext cx="7703233" cy="519113"/>
          </a:xfrm>
        </p:spPr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714343" cy="3671888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Introduction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r>
              <a:rPr lang="en-US" altLang="zh-C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	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Virtualization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Hardware Support Virtualization</a:t>
            </a:r>
          </a:p>
        </p:txBody>
      </p: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C8F1849A-008E-6EF5-AB10-F46E38150E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</a:t>
            </a:fld>
            <a:endParaRPr lang="zh-TW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79474"/>
            <a:ext cx="7770915" cy="519113"/>
          </a:xfrm>
        </p:spPr>
        <p:txBody>
          <a:bodyPr/>
          <a:lstStyle/>
          <a:p>
            <a:r>
              <a:rPr lang="en-US" altLang="zh-TW" dirty="0"/>
              <a:t>Introduction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4849" y="870548"/>
            <a:ext cx="6832964" cy="218470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Definition of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In computing, virtualization means to create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virtual version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of a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device 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or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resource</a:t>
            </a:r>
            <a:r>
              <a:rPr lang="en-US" altLang="zh-TW" sz="2000" dirty="0">
                <a:latin typeface="Times New Roman" panose="02020603050405020304" pitchFamily="18" charset="0"/>
                <a:ea typeface="Yu Gothic Light" panose="020B0300000000000000" pitchFamily="34" charset="-128"/>
                <a:cs typeface="Times New Roman" panose="02020603050405020304" pitchFamily="18" charset="0"/>
              </a:rPr>
              <a:t>, such as a server, storage device, network or even an operating system where the framework divides the resource into one or more execution environments.</a:t>
            </a:r>
            <a:endParaRPr lang="zh-TW" altLang="en-US" sz="2000" dirty="0">
              <a:latin typeface="Times New Roman" panose="02020603050405020304" pitchFamily="18" charset="0"/>
              <a:ea typeface="Yu Gothic Light" panose="020B0300000000000000" pitchFamily="34" charset="-128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513BC96-BC70-8416-4DA4-7A011ADE1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1599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9160" y="79474"/>
            <a:ext cx="7776529" cy="519113"/>
          </a:xfrm>
        </p:spPr>
        <p:txBody>
          <a:bodyPr/>
          <a:lstStyle/>
          <a:p>
            <a:r>
              <a:rPr lang="en-US" altLang="zh-TW" dirty="0"/>
              <a:t>Multiple VMs in One Machine</a:t>
            </a:r>
            <a:endParaRPr lang="zh-TW" altLang="en-US" dirty="0"/>
          </a:p>
        </p:txBody>
      </p:sp>
      <p:pic>
        <p:nvPicPr>
          <p:cNvPr id="3074" name="Picture 2" descr="http://p.blog.csdn.net/images/p_blog_csdn_net/lionsea/vm2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6082" y="986836"/>
            <a:ext cx="5963835" cy="3563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636B43F-5DD8-E23B-40F5-08738D29B1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01143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775" y="82948"/>
            <a:ext cx="7770915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Performance of Virtualizations </a:t>
            </a:r>
            <a:endParaRPr lang="zh-TW" altLang="en-US" dirty="0"/>
          </a:p>
        </p:txBody>
      </p:sp>
      <p:pic>
        <p:nvPicPr>
          <p:cNvPr id="6146" name="Picture 2" descr="\\vmware-host\Shared Folders\Desktop\Virtualization\SpeedofVT.pn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520" b="2545"/>
          <a:stretch/>
        </p:blipFill>
        <p:spPr bwMode="auto">
          <a:xfrm>
            <a:off x="1349639" y="913523"/>
            <a:ext cx="6271062" cy="3591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B135A82-46B4-9727-0E5F-30E0F01C3C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844704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2629" y="108349"/>
            <a:ext cx="7783061" cy="519113"/>
          </a:xfrm>
        </p:spPr>
        <p:txBody>
          <a:bodyPr/>
          <a:lstStyle/>
          <a:p>
            <a:r>
              <a:rPr lang="en-US" altLang="zh-TW" dirty="0"/>
              <a:t>History of Virtualization</a:t>
            </a:r>
            <a:endParaRPr lang="zh-TW" altLang="en-US" dirty="0"/>
          </a:p>
        </p:txBody>
      </p:sp>
      <p:sp>
        <p:nvSpPr>
          <p:cNvPr id="8" name="AutoShape 11"/>
          <p:cNvSpPr>
            <a:spLocks/>
          </p:cNvSpPr>
          <p:nvPr/>
        </p:nvSpPr>
        <p:spPr bwMode="auto">
          <a:xfrm>
            <a:off x="892629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1964 IBM CP-40</a:t>
            </a:r>
          </a:p>
        </p:txBody>
      </p:sp>
      <p:sp>
        <p:nvSpPr>
          <p:cNvPr id="9" name="AutoShape 12"/>
          <p:cNvSpPr>
            <a:spLocks/>
          </p:cNvSpPr>
          <p:nvPr/>
        </p:nvSpPr>
        <p:spPr bwMode="auto">
          <a:xfrm>
            <a:off x="158918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0" name="AutoShape 13"/>
          <p:cNvSpPr>
            <a:spLocks/>
          </p:cNvSpPr>
          <p:nvPr/>
        </p:nvSpPr>
        <p:spPr bwMode="auto">
          <a:xfrm>
            <a:off x="1796667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1972 IBM VM/370  </a:t>
            </a:r>
          </a:p>
        </p:txBody>
      </p:sp>
      <p:sp>
        <p:nvSpPr>
          <p:cNvPr id="11" name="AutoShape 14"/>
          <p:cNvSpPr>
            <a:spLocks/>
          </p:cNvSpPr>
          <p:nvPr/>
        </p:nvSpPr>
        <p:spPr bwMode="auto">
          <a:xfrm>
            <a:off x="249322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2" name="AutoShape 15"/>
          <p:cNvSpPr>
            <a:spLocks/>
          </p:cNvSpPr>
          <p:nvPr/>
        </p:nvSpPr>
        <p:spPr bwMode="auto">
          <a:xfrm>
            <a:off x="2700706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1997 Virtual PC</a:t>
            </a:r>
          </a:p>
        </p:txBody>
      </p:sp>
      <p:sp>
        <p:nvSpPr>
          <p:cNvPr id="13" name="AutoShape 16"/>
          <p:cNvSpPr>
            <a:spLocks/>
          </p:cNvSpPr>
          <p:nvPr/>
        </p:nvSpPr>
        <p:spPr bwMode="auto">
          <a:xfrm>
            <a:off x="3398907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4" name="AutoShape 17"/>
          <p:cNvSpPr>
            <a:spLocks/>
          </p:cNvSpPr>
          <p:nvPr/>
        </p:nvSpPr>
        <p:spPr bwMode="auto">
          <a:xfrm>
            <a:off x="3606391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1999 VMware </a:t>
            </a:r>
          </a:p>
        </p:txBody>
      </p:sp>
      <p:sp>
        <p:nvSpPr>
          <p:cNvPr id="15" name="AutoShape 18"/>
          <p:cNvSpPr>
            <a:spLocks/>
          </p:cNvSpPr>
          <p:nvPr/>
        </p:nvSpPr>
        <p:spPr bwMode="auto">
          <a:xfrm>
            <a:off x="4302945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6" name="AutoShape 19"/>
          <p:cNvSpPr>
            <a:spLocks/>
          </p:cNvSpPr>
          <p:nvPr/>
        </p:nvSpPr>
        <p:spPr bwMode="auto">
          <a:xfrm>
            <a:off x="4510430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2003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Xen</a:t>
            </a:r>
          </a:p>
        </p:txBody>
      </p:sp>
      <p:sp>
        <p:nvSpPr>
          <p:cNvPr id="17" name="AutoShape 20"/>
          <p:cNvSpPr>
            <a:spLocks/>
          </p:cNvSpPr>
          <p:nvPr/>
        </p:nvSpPr>
        <p:spPr bwMode="auto">
          <a:xfrm>
            <a:off x="5208631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18" name="AutoShape 21"/>
          <p:cNvSpPr>
            <a:spLocks/>
          </p:cNvSpPr>
          <p:nvPr/>
        </p:nvSpPr>
        <p:spPr bwMode="auto">
          <a:xfrm>
            <a:off x="5416114" y="1883102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2005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Intel VT</a:t>
            </a:r>
          </a:p>
        </p:txBody>
      </p:sp>
      <p:sp>
        <p:nvSpPr>
          <p:cNvPr id="19" name="AutoShape 22"/>
          <p:cNvSpPr>
            <a:spLocks/>
          </p:cNvSpPr>
          <p:nvPr/>
        </p:nvSpPr>
        <p:spPr bwMode="auto">
          <a:xfrm>
            <a:off x="6112669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0" name="AutoShape 23"/>
          <p:cNvSpPr>
            <a:spLocks/>
          </p:cNvSpPr>
          <p:nvPr/>
        </p:nvSpPr>
        <p:spPr bwMode="auto">
          <a:xfrm>
            <a:off x="6320153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2006 </a:t>
            </a:r>
            <a:endParaRPr lang="en-US" altLang="zh-TW" sz="900" b="1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>
                <a:latin typeface="Lucida Grande" charset="0"/>
                <a:ea typeface="新細明體" charset="-120"/>
                <a:sym typeface="Lucida Grande" charset="0"/>
              </a:rPr>
              <a:t>AMD VT</a:t>
            </a:r>
          </a:p>
        </p:txBody>
      </p:sp>
      <p:sp>
        <p:nvSpPr>
          <p:cNvPr id="21" name="AutoShape 24"/>
          <p:cNvSpPr>
            <a:spLocks/>
          </p:cNvSpPr>
          <p:nvPr/>
        </p:nvSpPr>
        <p:spPr bwMode="auto">
          <a:xfrm>
            <a:off x="7018353" y="2104083"/>
            <a:ext cx="138323" cy="125422"/>
          </a:xfrm>
          <a:prstGeom prst="rightArrow">
            <a:avLst>
              <a:gd name="adj1" fmla="val 64000"/>
              <a:gd name="adj2" fmla="val 50000"/>
            </a:avLst>
          </a:prstGeom>
          <a:solidFill>
            <a:srgbClr val="FEDEB4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22" name="AutoShape 25"/>
          <p:cNvSpPr>
            <a:spLocks/>
          </p:cNvSpPr>
          <p:nvPr/>
        </p:nvSpPr>
        <p:spPr bwMode="auto">
          <a:xfrm>
            <a:off x="7224191" y="1883102"/>
            <a:ext cx="629039" cy="568877"/>
          </a:xfrm>
          <a:prstGeom prst="roundRect">
            <a:avLst>
              <a:gd name="adj" fmla="val 7500"/>
            </a:avLst>
          </a:prstGeom>
          <a:solidFill>
            <a:srgbClr val="FDA023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2007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KVM-X86</a:t>
            </a:r>
          </a:p>
        </p:txBody>
      </p:sp>
      <p:sp>
        <p:nvSpPr>
          <p:cNvPr id="24" name="AutoShape 27"/>
          <p:cNvSpPr>
            <a:spLocks/>
          </p:cNvSpPr>
          <p:nvPr/>
        </p:nvSpPr>
        <p:spPr bwMode="auto">
          <a:xfrm>
            <a:off x="7711064" y="2803018"/>
            <a:ext cx="627393" cy="568877"/>
          </a:xfrm>
          <a:prstGeom prst="roundRect">
            <a:avLst>
              <a:gd name="adj" fmla="val 7500"/>
            </a:avLst>
          </a:prstGeom>
          <a:solidFill>
            <a:srgbClr val="FFFF00"/>
          </a:solidFill>
          <a:ln w="15875" cap="flat">
            <a:solidFill>
              <a:srgbClr val="CFCFCF"/>
            </a:solidFill>
            <a:prstDash val="solid"/>
            <a:round/>
            <a:headEnd type="none" w="med" len="med"/>
            <a:tailEnd type="none" w="med" len="med"/>
          </a:ln>
        </p:spPr>
        <p:txBody>
          <a:bodyPr lIns="0" tIns="0" rIns="0" bIns="0" anchor="ctr"/>
          <a:lstStyle/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2012</a:t>
            </a:r>
            <a:b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</a:br>
            <a:r>
              <a:rPr lang="en-US" altLang="zh-TW" sz="900" b="1" dirty="0" err="1">
                <a:latin typeface="Lucida Grande" charset="0"/>
                <a:ea typeface="新細明體" charset="-120"/>
                <a:sym typeface="Lucida Grande" charset="0"/>
              </a:rPr>
              <a:t>Xen</a:t>
            </a:r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-ARM</a:t>
            </a:r>
            <a:endParaRPr lang="en-US" altLang="zh-TW" sz="900" b="1" dirty="0">
              <a:solidFill>
                <a:srgbClr val="FFFFFF"/>
              </a:solidFill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900" b="1" dirty="0">
                <a:latin typeface="Lucida Grande" charset="0"/>
                <a:ea typeface="新細明體" charset="-120"/>
                <a:sym typeface="Lucida Grande" charset="0"/>
              </a:rPr>
              <a:t>KVM-ARM</a:t>
            </a:r>
          </a:p>
        </p:txBody>
      </p:sp>
      <p:sp>
        <p:nvSpPr>
          <p:cNvPr id="25" name="Rectangle 29"/>
          <p:cNvSpPr>
            <a:spLocks/>
          </p:cNvSpPr>
          <p:nvPr/>
        </p:nvSpPr>
        <p:spPr bwMode="auto">
          <a:xfrm>
            <a:off x="1485027" y="3449015"/>
            <a:ext cx="102537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Time  Sharing</a:t>
            </a:r>
          </a:p>
        </p:txBody>
      </p:sp>
      <p:sp>
        <p:nvSpPr>
          <p:cNvPr id="26" name="Rectangle 30"/>
          <p:cNvSpPr>
            <a:spLocks/>
          </p:cNvSpPr>
          <p:nvPr/>
        </p:nvSpPr>
        <p:spPr bwMode="auto">
          <a:xfrm>
            <a:off x="1425938" y="3645468"/>
            <a:ext cx="1159737" cy="2192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ap="flat">
                <a:solidFill>
                  <a:schemeClr val="tx1"/>
                </a:solidFill>
                <a:miter lim="800000"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 Memory</a:t>
            </a:r>
          </a:p>
        </p:txBody>
      </p:sp>
      <p:sp>
        <p:nvSpPr>
          <p:cNvPr id="27" name="Rectangle 31"/>
          <p:cNvSpPr>
            <a:spLocks/>
          </p:cNvSpPr>
          <p:nvPr/>
        </p:nvSpPr>
        <p:spPr bwMode="auto">
          <a:xfrm>
            <a:off x="1534647" y="2948952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Mainframe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8" name="Rectangle 32"/>
          <p:cNvSpPr>
            <a:spLocks/>
          </p:cNvSpPr>
          <p:nvPr/>
        </p:nvSpPr>
        <p:spPr bwMode="auto">
          <a:xfrm>
            <a:off x="2904204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Desktop</a:t>
            </a:r>
            <a:endParaRPr lang="en-US" altLang="zh-TW" sz="1350" b="1" dirty="0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 dirty="0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29" name="Rectangle 33"/>
          <p:cNvSpPr>
            <a:spLocks/>
          </p:cNvSpPr>
          <p:nvPr/>
        </p:nvSpPr>
        <p:spPr bwMode="auto">
          <a:xfrm>
            <a:off x="4352549" y="2946571"/>
            <a:ext cx="913712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Server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Virtualization</a:t>
            </a:r>
          </a:p>
        </p:txBody>
      </p:sp>
      <p:sp>
        <p:nvSpPr>
          <p:cNvPr id="30" name="Rectangle 34"/>
          <p:cNvSpPr>
            <a:spLocks/>
          </p:cNvSpPr>
          <p:nvPr/>
        </p:nvSpPr>
        <p:spPr bwMode="auto">
          <a:xfrm>
            <a:off x="5792078" y="2948952"/>
            <a:ext cx="767838" cy="380873"/>
          </a:xfrm>
          <a:prstGeom prst="rect">
            <a:avLst/>
          </a:prstGeom>
          <a:solidFill>
            <a:srgbClr val="E36C6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 type="none" w="med" len="med"/>
                <a:tailEnd type="none" w="med" len="med"/>
              </a14:hiddenLine>
            </a:ext>
          </a:extLst>
        </p:spPr>
        <p:txBody>
          <a:bodyPr wrap="none" lIns="28575" tIns="28575" rIns="28575" bIns="28575">
            <a:spAutoFit/>
          </a:bodyPr>
          <a:lstStyle/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Cloud </a:t>
            </a:r>
            <a:endParaRPr lang="en-US" altLang="zh-TW" sz="1350" b="1">
              <a:latin typeface="Lucida Grande" charset="0"/>
              <a:ea typeface="新細明體" charset="-120"/>
              <a:sym typeface="Lucida Grande" charset="0"/>
            </a:endParaRPr>
          </a:p>
          <a:p>
            <a:pPr algn="ctr"/>
            <a:r>
              <a:rPr lang="en-US" altLang="zh-TW" sz="1050" b="1">
                <a:latin typeface="Lucida Grande" charset="0"/>
                <a:ea typeface="新細明體" charset="-120"/>
                <a:sym typeface="Lucida Grande" charset="0"/>
              </a:rPr>
              <a:t>Computing</a:t>
            </a:r>
          </a:p>
        </p:txBody>
      </p:sp>
      <p:sp>
        <p:nvSpPr>
          <p:cNvPr id="31" name="AutoShape 35"/>
          <p:cNvSpPr>
            <a:spLocks/>
          </p:cNvSpPr>
          <p:nvPr/>
        </p:nvSpPr>
        <p:spPr bwMode="auto">
          <a:xfrm>
            <a:off x="2551261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2" name="AutoShape 36"/>
          <p:cNvSpPr>
            <a:spLocks/>
          </p:cNvSpPr>
          <p:nvPr/>
        </p:nvSpPr>
        <p:spPr bwMode="auto">
          <a:xfrm>
            <a:off x="3969403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3" name="AutoShape 37"/>
          <p:cNvSpPr>
            <a:spLocks/>
          </p:cNvSpPr>
          <p:nvPr/>
        </p:nvSpPr>
        <p:spPr bwMode="auto">
          <a:xfrm>
            <a:off x="5441382" y="300253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gradFill rotWithShape="0">
            <a:gsLst>
              <a:gs pos="0">
                <a:srgbClr val="FFEAE8"/>
              </a:gs>
              <a:gs pos="65001">
                <a:srgbClr val="FFC9C4"/>
              </a:gs>
              <a:gs pos="100000">
                <a:srgbClr val="FFB2AB"/>
              </a:gs>
            </a:gsLst>
            <a:lin ang="5400000" scaled="1"/>
          </a:gra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sp>
        <p:nvSpPr>
          <p:cNvPr id="34" name="AutoShape 38"/>
          <p:cNvSpPr>
            <a:spLocks/>
          </p:cNvSpPr>
          <p:nvPr/>
        </p:nvSpPr>
        <p:spPr bwMode="auto">
          <a:xfrm rot="2639999">
            <a:off x="6750539" y="3135880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pPr algn="ctr"/>
            <a:endParaRPr lang="zh-TW" altLang="en-US" sz="1350" b="1"/>
          </a:p>
        </p:txBody>
      </p:sp>
      <p:grpSp>
        <p:nvGrpSpPr>
          <p:cNvPr id="35" name="Group 41"/>
          <p:cNvGrpSpPr>
            <a:grpSpLocks/>
          </p:cNvGrpSpPr>
          <p:nvPr/>
        </p:nvGrpSpPr>
        <p:grpSpPr bwMode="auto">
          <a:xfrm>
            <a:off x="1663790" y="1091486"/>
            <a:ext cx="2305753" cy="723842"/>
            <a:chOff x="0" y="0"/>
            <a:chExt cx="1755" cy="607"/>
          </a:xfrm>
        </p:grpSpPr>
        <p:sp>
          <p:nvSpPr>
            <p:cNvPr id="36" name="Rectangle 39"/>
            <p:cNvSpPr>
              <a:spLocks/>
            </p:cNvSpPr>
            <p:nvPr/>
          </p:nvSpPr>
          <p:spPr bwMode="auto">
            <a:xfrm>
              <a:off x="0" y="0"/>
              <a:ext cx="1755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Traditional-virtualization</a:t>
              </a:r>
            </a:p>
          </p:txBody>
        </p:sp>
        <p:sp>
          <p:nvSpPr>
            <p:cNvPr id="37" name="AutoShape 40"/>
            <p:cNvSpPr>
              <a:spLocks/>
            </p:cNvSpPr>
            <p:nvPr/>
          </p:nvSpPr>
          <p:spPr bwMode="auto">
            <a:xfrm rot="-2520000">
              <a:off x="1388" y="199"/>
              <a:ext cx="249" cy="408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6595"/>
                  </a:moveTo>
                  <a:lnTo>
                    <a:pt x="10800" y="0"/>
                  </a:lnTo>
                  <a:lnTo>
                    <a:pt x="21600" y="6595"/>
                  </a:lnTo>
                  <a:lnTo>
                    <a:pt x="16200" y="659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6595"/>
                  </a:lnTo>
                  <a:close/>
                  <a:moveTo>
                    <a:pt x="0" y="659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288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38" name="Group 44"/>
          <p:cNvGrpSpPr>
            <a:grpSpLocks/>
          </p:cNvGrpSpPr>
          <p:nvPr/>
        </p:nvGrpSpPr>
        <p:grpSpPr bwMode="auto">
          <a:xfrm>
            <a:off x="3842065" y="961049"/>
            <a:ext cx="1731972" cy="857250"/>
            <a:chOff x="0" y="0"/>
            <a:chExt cx="1319" cy="719"/>
          </a:xfrm>
        </p:grpSpPr>
        <p:sp>
          <p:nvSpPr>
            <p:cNvPr id="39" name="Rectangle 42"/>
            <p:cNvSpPr>
              <a:spLocks/>
            </p:cNvSpPr>
            <p:nvPr/>
          </p:nvSpPr>
          <p:spPr bwMode="auto">
            <a:xfrm>
              <a:off x="0" y="0"/>
              <a:ext cx="1319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Para-virtualization</a:t>
              </a:r>
            </a:p>
          </p:txBody>
        </p:sp>
        <p:sp>
          <p:nvSpPr>
            <p:cNvPr id="40" name="AutoShape 43"/>
            <p:cNvSpPr>
              <a:spLocks/>
            </p:cNvSpPr>
            <p:nvPr/>
          </p:nvSpPr>
          <p:spPr bwMode="auto">
            <a:xfrm>
              <a:off x="581" y="224"/>
              <a:ext cx="249" cy="495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5438"/>
                  </a:moveTo>
                  <a:lnTo>
                    <a:pt x="10800" y="0"/>
                  </a:lnTo>
                  <a:lnTo>
                    <a:pt x="21600" y="5438"/>
                  </a:lnTo>
                  <a:lnTo>
                    <a:pt x="16200" y="5438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5438"/>
                  </a:lnTo>
                  <a:close/>
                  <a:moveTo>
                    <a:pt x="0" y="5438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1" name="Group 47"/>
          <p:cNvGrpSpPr>
            <a:grpSpLocks/>
          </p:cNvGrpSpPr>
          <p:nvPr/>
        </p:nvGrpSpPr>
        <p:grpSpPr bwMode="auto">
          <a:xfrm>
            <a:off x="5326283" y="1168218"/>
            <a:ext cx="1020275" cy="650081"/>
            <a:chOff x="0" y="0"/>
            <a:chExt cx="777" cy="545"/>
          </a:xfrm>
        </p:grpSpPr>
        <p:sp>
          <p:nvSpPr>
            <p:cNvPr id="42" name="Rectangle 45"/>
            <p:cNvSpPr>
              <a:spLocks/>
            </p:cNvSpPr>
            <p:nvPr/>
          </p:nvSpPr>
          <p:spPr bwMode="auto">
            <a:xfrm>
              <a:off x="0" y="0"/>
              <a:ext cx="777" cy="22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wrap="none" lIns="28575" tIns="28575" rIns="28575" bIns="28575">
              <a:spAutoFit/>
            </a:bodyPr>
            <a:lstStyle/>
            <a:p>
              <a:pPr algn="l"/>
              <a:r>
                <a:rPr lang="en-US" altLang="zh-TW" sz="1350" b="1">
                  <a:latin typeface="Lucida Grande" charset="0"/>
                  <a:ea typeface="新細明體" charset="-120"/>
                  <a:sym typeface="Lucida Grande" charset="0"/>
                </a:rPr>
                <a:t>HW-assist </a:t>
              </a:r>
            </a:p>
          </p:txBody>
        </p:sp>
        <p:sp>
          <p:nvSpPr>
            <p:cNvPr id="43" name="AutoShape 46"/>
            <p:cNvSpPr>
              <a:spLocks/>
            </p:cNvSpPr>
            <p:nvPr/>
          </p:nvSpPr>
          <p:spPr bwMode="auto">
            <a:xfrm>
              <a:off x="284" y="224"/>
              <a:ext cx="249" cy="321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0" y="8385"/>
                  </a:moveTo>
                  <a:lnTo>
                    <a:pt x="10800" y="0"/>
                  </a:lnTo>
                  <a:lnTo>
                    <a:pt x="21600" y="8385"/>
                  </a:lnTo>
                  <a:lnTo>
                    <a:pt x="16200" y="8385"/>
                  </a:lnTo>
                  <a:lnTo>
                    <a:pt x="16200" y="21600"/>
                  </a:lnTo>
                  <a:lnTo>
                    <a:pt x="5400" y="21600"/>
                  </a:lnTo>
                  <a:lnTo>
                    <a:pt x="5400" y="8385"/>
                  </a:lnTo>
                  <a:close/>
                  <a:moveTo>
                    <a:pt x="0" y="8385"/>
                  </a:moveTo>
                </a:path>
              </a:pathLst>
            </a:custGeom>
            <a:gradFill rotWithShape="0">
              <a:gsLst>
                <a:gs pos="0">
                  <a:srgbClr val="F2FFEA"/>
                </a:gs>
                <a:gs pos="65001">
                  <a:srgbClr val="DDFEC9"/>
                </a:gs>
                <a:gs pos="100000">
                  <a:srgbClr val="CFFFB2"/>
                </a:gs>
              </a:gsLst>
              <a:lin ang="5400000" scaled="1"/>
            </a:gradFill>
            <a:ln w="9525" cap="flat">
              <a:solidFill>
                <a:srgbClr val="61A537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19999" dir="5400000" algn="ctr" rotWithShape="0">
                <a:schemeClr val="bg2">
                  <a:alpha val="37999"/>
                </a:schemeClr>
              </a:outerShdw>
            </a:effec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</p:grpSp>
      <p:grpSp>
        <p:nvGrpSpPr>
          <p:cNvPr id="44" name="Group 51"/>
          <p:cNvGrpSpPr>
            <a:grpSpLocks/>
          </p:cNvGrpSpPr>
          <p:nvPr/>
        </p:nvGrpSpPr>
        <p:grpSpPr bwMode="auto">
          <a:xfrm>
            <a:off x="5581884" y="3499021"/>
            <a:ext cx="2184990" cy="964406"/>
            <a:chOff x="0" y="0"/>
            <a:chExt cx="1663" cy="810"/>
          </a:xfrm>
        </p:grpSpPr>
        <p:sp>
          <p:nvSpPr>
            <p:cNvPr id="45" name="AutoShape 48"/>
            <p:cNvSpPr>
              <a:spLocks/>
            </p:cNvSpPr>
            <p:nvPr/>
          </p:nvSpPr>
          <p:spPr bwMode="auto">
            <a:xfrm>
              <a:off x="0" y="0"/>
              <a:ext cx="1663" cy="810"/>
            </a:xfrm>
            <a:custGeom>
              <a:avLst/>
              <a:gdLst/>
              <a:ahLst/>
              <a:cxnLst/>
              <a:rect l="0" t="0" r="r" b="b"/>
              <a:pathLst>
                <a:path w="20879" h="20683">
                  <a:moveTo>
                    <a:pt x="1901" y="6809"/>
                  </a:moveTo>
                  <a:cubicBezTo>
                    <a:pt x="1658" y="4403"/>
                    <a:pt x="2907" y="2186"/>
                    <a:pt x="4691" y="1859"/>
                  </a:cubicBezTo>
                  <a:cubicBezTo>
                    <a:pt x="5414" y="1726"/>
                    <a:pt x="6149" y="1925"/>
                    <a:pt x="6778" y="2422"/>
                  </a:cubicBezTo>
                  <a:cubicBezTo>
                    <a:pt x="7445" y="726"/>
                    <a:pt x="9003" y="81"/>
                    <a:pt x="10259" y="982"/>
                  </a:cubicBezTo>
                  <a:cubicBezTo>
                    <a:pt x="10478" y="1140"/>
                    <a:pt x="10680" y="1340"/>
                    <a:pt x="10857" y="1575"/>
                  </a:cubicBezTo>
                  <a:cubicBezTo>
                    <a:pt x="11376" y="169"/>
                    <a:pt x="12642" y="-402"/>
                    <a:pt x="13683" y="299"/>
                  </a:cubicBezTo>
                  <a:cubicBezTo>
                    <a:pt x="13971" y="493"/>
                    <a:pt x="14222" y="774"/>
                    <a:pt x="14418" y="1120"/>
                  </a:cubicBezTo>
                  <a:cubicBezTo>
                    <a:pt x="15255" y="-210"/>
                    <a:pt x="16734" y="-374"/>
                    <a:pt x="17722" y="753"/>
                  </a:cubicBezTo>
                  <a:cubicBezTo>
                    <a:pt x="18137" y="1227"/>
                    <a:pt x="18417" y="1880"/>
                    <a:pt x="18513" y="2601"/>
                  </a:cubicBezTo>
                  <a:cubicBezTo>
                    <a:pt x="19885" y="3106"/>
                    <a:pt x="20694" y="5019"/>
                    <a:pt x="20321" y="6874"/>
                  </a:cubicBezTo>
                  <a:cubicBezTo>
                    <a:pt x="20289" y="7030"/>
                    <a:pt x="20250" y="7182"/>
                    <a:pt x="20203" y="7331"/>
                  </a:cubicBezTo>
                  <a:cubicBezTo>
                    <a:pt x="21303" y="9264"/>
                    <a:pt x="21034" y="12033"/>
                    <a:pt x="19601" y="13518"/>
                  </a:cubicBezTo>
                  <a:cubicBezTo>
                    <a:pt x="19155" y="13980"/>
                    <a:pt x="18629" y="14279"/>
                    <a:pt x="18072" y="14386"/>
                  </a:cubicBezTo>
                  <a:cubicBezTo>
                    <a:pt x="18060" y="16465"/>
                    <a:pt x="16800" y="18137"/>
                    <a:pt x="15258" y="18121"/>
                  </a:cubicBezTo>
                  <a:cubicBezTo>
                    <a:pt x="14743" y="18115"/>
                    <a:pt x="14238" y="17917"/>
                    <a:pt x="13801" y="17550"/>
                  </a:cubicBezTo>
                  <a:cubicBezTo>
                    <a:pt x="13280" y="19881"/>
                    <a:pt x="11460" y="21198"/>
                    <a:pt x="9738" y="20492"/>
                  </a:cubicBezTo>
                  <a:cubicBezTo>
                    <a:pt x="9016" y="20196"/>
                    <a:pt x="8392" y="19571"/>
                    <a:pt x="7973" y="18722"/>
                  </a:cubicBezTo>
                  <a:cubicBezTo>
                    <a:pt x="6209" y="20158"/>
                    <a:pt x="3920" y="19386"/>
                    <a:pt x="2859" y="16998"/>
                  </a:cubicBezTo>
                  <a:cubicBezTo>
                    <a:pt x="2846" y="16968"/>
                    <a:pt x="2833" y="16937"/>
                    <a:pt x="2820" y="16907"/>
                  </a:cubicBezTo>
                  <a:cubicBezTo>
                    <a:pt x="1666" y="17089"/>
                    <a:pt x="620" y="15978"/>
                    <a:pt x="485" y="14424"/>
                  </a:cubicBezTo>
                  <a:cubicBezTo>
                    <a:pt x="412" y="13596"/>
                    <a:pt x="615" y="12767"/>
                    <a:pt x="1038" y="12159"/>
                  </a:cubicBezTo>
                  <a:cubicBezTo>
                    <a:pt x="39" y="11365"/>
                    <a:pt x="-297" y="9622"/>
                    <a:pt x="288" y="8266"/>
                  </a:cubicBezTo>
                  <a:cubicBezTo>
                    <a:pt x="626" y="7484"/>
                    <a:pt x="1218" y="6967"/>
                    <a:pt x="1883" y="6874"/>
                  </a:cubicBezTo>
                  <a:close/>
                  <a:moveTo>
                    <a:pt x="1901" y="6809"/>
                  </a:moveTo>
                </a:path>
              </a:pathLst>
            </a:custGeom>
            <a:solidFill>
              <a:srgbClr val="FFC000"/>
            </a:solidFill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6" name="AutoShape 49"/>
            <p:cNvSpPr>
              <a:spLocks/>
            </p:cNvSpPr>
            <p:nvPr/>
          </p:nvSpPr>
          <p:spPr bwMode="auto">
            <a:xfrm>
              <a:off x="84" y="41"/>
              <a:ext cx="1525" cy="689"/>
            </a:xfrm>
            <a:custGeom>
              <a:avLst/>
              <a:gdLst/>
              <a:ahLst/>
              <a:cxnLst/>
              <a:rect l="0" t="0" r="r" b="b"/>
              <a:pathLst>
                <a:path w="21600" h="21600">
                  <a:moveTo>
                    <a:pt x="1380" y="14010"/>
                  </a:moveTo>
                  <a:cubicBezTo>
                    <a:pt x="899" y="14066"/>
                    <a:pt x="417" y="13902"/>
                    <a:pt x="0" y="13542"/>
                  </a:cubicBezTo>
                  <a:moveTo>
                    <a:pt x="2598" y="19137"/>
                  </a:moveTo>
                  <a:cubicBezTo>
                    <a:pt x="2405" y="19250"/>
                    <a:pt x="2202" y="19325"/>
                    <a:pt x="1994" y="19361"/>
                  </a:cubicBezTo>
                  <a:moveTo>
                    <a:pt x="7802" y="21600"/>
                  </a:moveTo>
                  <a:cubicBezTo>
                    <a:pt x="7657" y="21279"/>
                    <a:pt x="7535" y="20936"/>
                    <a:pt x="7438" y="20577"/>
                  </a:cubicBezTo>
                  <a:moveTo>
                    <a:pt x="14532" y="19050"/>
                  </a:moveTo>
                  <a:cubicBezTo>
                    <a:pt x="14510" y="19430"/>
                    <a:pt x="14462" y="19806"/>
                    <a:pt x="14386" y="20172"/>
                  </a:cubicBezTo>
                  <a:moveTo>
                    <a:pt x="17421" y="12116"/>
                  </a:moveTo>
                  <a:cubicBezTo>
                    <a:pt x="18513" y="12896"/>
                    <a:pt x="19202" y="14528"/>
                    <a:pt x="19193" y="16310"/>
                  </a:cubicBezTo>
                  <a:moveTo>
                    <a:pt x="21600" y="7649"/>
                  </a:moveTo>
                  <a:cubicBezTo>
                    <a:pt x="21423" y="8256"/>
                    <a:pt x="21153" y="8794"/>
                    <a:pt x="20811" y="9222"/>
                  </a:cubicBezTo>
                  <a:moveTo>
                    <a:pt x="19707" y="1814"/>
                  </a:moveTo>
                  <a:cubicBezTo>
                    <a:pt x="19737" y="2059"/>
                    <a:pt x="19751" y="2307"/>
                    <a:pt x="19749" y="2556"/>
                  </a:cubicBezTo>
                  <a:moveTo>
                    <a:pt x="14668" y="947"/>
                  </a:moveTo>
                  <a:cubicBezTo>
                    <a:pt x="14771" y="605"/>
                    <a:pt x="14907" y="286"/>
                    <a:pt x="15073" y="0"/>
                  </a:cubicBezTo>
                  <a:moveTo>
                    <a:pt x="10888" y="1399"/>
                  </a:moveTo>
                  <a:cubicBezTo>
                    <a:pt x="10930" y="1115"/>
                    <a:pt x="10996" y="841"/>
                    <a:pt x="11084" y="582"/>
                  </a:cubicBezTo>
                  <a:moveTo>
                    <a:pt x="6452" y="1676"/>
                  </a:moveTo>
                  <a:cubicBezTo>
                    <a:pt x="6709" y="1897"/>
                    <a:pt x="6947" y="2163"/>
                    <a:pt x="7160" y="2469"/>
                  </a:cubicBezTo>
                  <a:moveTo>
                    <a:pt x="1072" y="7905"/>
                  </a:moveTo>
                  <a:cubicBezTo>
                    <a:pt x="1016" y="7632"/>
                    <a:pt x="974" y="7353"/>
                    <a:pt x="948" y="7071"/>
                  </a:cubicBezTo>
                </a:path>
              </a:pathLst>
            </a:custGeom>
            <a:noFill/>
            <a:ln w="25400" cap="flat">
              <a:solidFill>
                <a:srgbClr val="879312"/>
              </a:solidFill>
              <a:prstDash val="solid"/>
              <a:round/>
              <a:headEnd type="none" w="med" len="med"/>
              <a:tailEnd type="none" w="med" len="med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endParaRPr lang="zh-TW" altLang="en-US" sz="1350" b="1"/>
            </a:p>
          </p:txBody>
        </p:sp>
        <p:sp>
          <p:nvSpPr>
            <p:cNvPr id="47" name="Rectangle 50"/>
            <p:cNvSpPr>
              <a:spLocks/>
            </p:cNvSpPr>
            <p:nvPr/>
          </p:nvSpPr>
          <p:spPr bwMode="auto">
            <a:xfrm>
              <a:off x="229" y="191"/>
              <a:ext cx="1088" cy="38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Mobile</a:t>
              </a:r>
              <a:endParaRPr lang="en-US" altLang="zh-TW" sz="1350" b="1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</p:grpSp>
      <p:sp>
        <p:nvSpPr>
          <p:cNvPr id="48" name="AutoShape 38"/>
          <p:cNvSpPr>
            <a:spLocks/>
          </p:cNvSpPr>
          <p:nvPr/>
        </p:nvSpPr>
        <p:spPr bwMode="auto">
          <a:xfrm rot="2639999">
            <a:off x="7424125" y="2552267"/>
            <a:ext cx="273124" cy="267891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C000"/>
          </a:solidFill>
          <a:ln w="9525" cap="flat">
            <a:solidFill>
              <a:srgbClr val="A92719"/>
            </a:solidFill>
            <a:prstDash val="solid"/>
            <a:round/>
            <a:headEnd type="none" w="med" len="med"/>
            <a:tailEnd type="none" w="med" len="med"/>
          </a:ln>
          <a:effectLst>
            <a:outerShdw blurRad="38100" dist="19999" dir="5400000" algn="ctr" rotWithShape="0">
              <a:schemeClr val="bg2">
                <a:alpha val="37999"/>
              </a:schemeClr>
            </a:outerShdw>
          </a:effectLst>
        </p:spPr>
        <p:txBody>
          <a:bodyPr lIns="0" tIns="0" rIns="0" bIns="0"/>
          <a:lstStyle/>
          <a:p>
            <a:endParaRPr lang="zh-TW" altLang="en-US" sz="1350" b="1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9AEE7F4-32F8-FFB4-4DB1-7E76DC94D3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91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Example - Server Virtualization</a:t>
            </a:r>
            <a:endParaRPr lang="zh-TW" altLang="en-US" dirty="0"/>
          </a:p>
        </p:txBody>
      </p:sp>
      <p:pic>
        <p:nvPicPr>
          <p:cNvPr id="1026" name="Picture 2" descr="Figure 1: Virtualization can drastically reduce the number of servers in a data cente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8702" y="937387"/>
            <a:ext cx="5543497" cy="34492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4A35513-35B9-2957-870B-959C75E238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97235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1" y="108349"/>
            <a:ext cx="7739519" cy="519113"/>
          </a:xfrm>
        </p:spPr>
        <p:txBody>
          <a:bodyPr/>
          <a:lstStyle/>
          <a:p>
            <a:r>
              <a:rPr lang="en-US" altLang="zh-TW" dirty="0"/>
              <a:t>Benefits of Server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0405" y="920353"/>
            <a:ext cx="7263190" cy="235624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can reduce data center energy expenses by 10%–40%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also improves scalability, reduces downtime, and enables faster deployments.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Reduce the data center footprint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D62D80A-7C82-674A-201E-63A9EBB2120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29613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Example - Mobile Virtualization</a:t>
            </a:r>
            <a:endParaRPr lang="zh-TW" altLang="en-US" dirty="0"/>
          </a:p>
        </p:txBody>
      </p:sp>
      <p:sp>
        <p:nvSpPr>
          <p:cNvPr id="6" name="Rectangle 11"/>
          <p:cNvSpPr>
            <a:spLocks/>
          </p:cNvSpPr>
          <p:nvPr/>
        </p:nvSpPr>
        <p:spPr bwMode="auto">
          <a:xfrm>
            <a:off x="3478439" y="1365589"/>
            <a:ext cx="4979761" cy="6572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Gartner predicted that by 2012, more than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50%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of new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smart phones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shipped will be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virtualized</a:t>
            </a:r>
          </a:p>
        </p:txBody>
      </p:sp>
      <p:grpSp>
        <p:nvGrpSpPr>
          <p:cNvPr id="7" name="Group 14"/>
          <p:cNvGrpSpPr>
            <a:grpSpLocks/>
          </p:cNvGrpSpPr>
          <p:nvPr/>
        </p:nvGrpSpPr>
        <p:grpSpPr bwMode="auto">
          <a:xfrm>
            <a:off x="1544864" y="991733"/>
            <a:ext cx="1774031" cy="1689497"/>
            <a:chOff x="0" y="0"/>
            <a:chExt cx="1490" cy="1419"/>
          </a:xfrm>
        </p:grpSpPr>
        <p:pic>
          <p:nvPicPr>
            <p:cNvPr id="8" name="Picture 12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0"/>
              <a:ext cx="1490" cy="1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Rectangle 13"/>
            <p:cNvSpPr>
              <a:spLocks/>
            </p:cNvSpPr>
            <p:nvPr/>
          </p:nvSpPr>
          <p:spPr bwMode="auto">
            <a:xfrm>
              <a:off x="214" y="1203"/>
              <a:ext cx="1072" cy="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/>
            <a:lstStyle/>
            <a:p>
              <a:pPr algn="l"/>
              <a:r>
                <a:rPr lang="en-US" altLang="zh-TW" sz="1600">
                  <a:latin typeface="Times New Roman" panose="02020603050405020304" pitchFamily="18" charset="0"/>
                  <a:ea typeface="新細明體" charset="-120"/>
                  <a:cs typeface="Times New Roman" panose="02020603050405020304" pitchFamily="18" charset="0"/>
                  <a:sym typeface="Lucida Grande" charset="0"/>
                </a:rPr>
                <a:t>VMware MVP</a:t>
              </a:r>
            </a:p>
          </p:txBody>
        </p:sp>
      </p:grpSp>
      <p:pic>
        <p:nvPicPr>
          <p:cNvPr id="11" name="Picture 1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57049" y="2918789"/>
            <a:ext cx="1908977" cy="14454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</p:pic>
      <p:sp>
        <p:nvSpPr>
          <p:cNvPr id="12" name="Rectangle 17"/>
          <p:cNvSpPr>
            <a:spLocks/>
          </p:cNvSpPr>
          <p:nvPr/>
        </p:nvSpPr>
        <p:spPr bwMode="auto">
          <a:xfrm>
            <a:off x="787400" y="3212873"/>
            <a:ext cx="5367867" cy="9388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 cap="rnd">
                <a:solidFill>
                  <a:schemeClr val="tx1"/>
                </a:solidFill>
                <a:round/>
                <a:headEnd/>
                <a:tailEnd/>
              </a14:hiddenLine>
            </a:ext>
          </a:extLst>
        </p:spPr>
        <p:txBody>
          <a:bodyPr lIns="28575" tIns="28575" rIns="28575" bIns="28575"/>
          <a:lstStyle/>
          <a:p>
            <a:pPr algn="l"/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ARM 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Cortex-A15 </a:t>
            </a:r>
            <a:r>
              <a:rPr lang="en-US" altLang="zh-TW" sz="2000" dirty="0"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enables efficient handling of the complex software environments including full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hardware</a:t>
            </a:r>
            <a:r>
              <a:rPr lang="en-US" altLang="zh-TW" sz="2000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 </a:t>
            </a:r>
            <a:r>
              <a:rPr lang="en-US" altLang="zh-TW" sz="2000" b="1" dirty="0">
                <a:solidFill>
                  <a:srgbClr val="FF0000"/>
                </a:solidFill>
                <a:latin typeface="Times New Roman" panose="02020603050405020304" pitchFamily="18" charset="0"/>
                <a:ea typeface="新細明體" charset="-120"/>
                <a:cs typeface="Times New Roman" panose="02020603050405020304" pitchFamily="18" charset="0"/>
                <a:sym typeface="Lucida Grande" charset="0"/>
              </a:rPr>
              <a:t>virtualization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FD4611AE-BBA5-4614-4F01-06883E0016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5909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6499" y="82948"/>
            <a:ext cx="7833861" cy="519113"/>
          </a:xfrm>
        </p:spPr>
        <p:txBody>
          <a:bodyPr/>
          <a:lstStyle/>
          <a:p>
            <a:r>
              <a:rPr lang="en-US" altLang="zh-TW" dirty="0"/>
              <a:t>Benefits of Mobile Virtualization</a:t>
            </a:r>
            <a:endParaRPr lang="zh-TW" altLang="en-US" dirty="0"/>
          </a:p>
        </p:txBody>
      </p:sp>
      <p:sp>
        <p:nvSpPr>
          <p:cNvPr id="4" name="Rectangle 10"/>
          <p:cNvSpPr txBox="1">
            <a:spLocks noChangeArrowheads="1"/>
          </p:cNvSpPr>
          <p:nvPr/>
        </p:nvSpPr>
        <p:spPr>
          <a:xfrm>
            <a:off x="1037772" y="806419"/>
            <a:ext cx="5314326" cy="2703984"/>
          </a:xfrm>
          <a:prstGeom prst="rect">
            <a:avLst/>
          </a:prstGeom>
          <a:ln/>
        </p:spPr>
        <p:txBody>
          <a:bodyPr vert="horz" lIns="68580" tIns="34290" rIns="68580" bIns="3429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800" kern="1200">
                <a:solidFill>
                  <a:schemeClr val="tx2">
                    <a:lumMod val="75000"/>
                  </a:schemeClr>
                </a:solidFill>
                <a:latin typeface="Cambria" pitchFamily="18" charset="0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3">
                  <a:lumMod val="50000"/>
                </a:schemeClr>
              </a:buClr>
              <a:buFont typeface="Wingdings" pitchFamily="2" charset="2"/>
              <a:buChar char="§"/>
              <a:defRPr sz="2400" kern="1200">
                <a:solidFill>
                  <a:schemeClr val="accent3">
                    <a:lumMod val="50000"/>
                  </a:schemeClr>
                </a:solidFill>
                <a:latin typeface="Cambria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4">
                  <a:lumMod val="50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accent4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Portability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Multiple OSes on a single chip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Security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Dynamic Update of System Software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Legacy Code re-use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IP Protection</a:t>
            </a:r>
          </a:p>
          <a:p>
            <a:pPr>
              <a:spcBef>
                <a:spcPct val="0"/>
              </a:spcBef>
              <a:buClr>
                <a:srgbClr val="0000FF"/>
              </a:buClr>
              <a:buSzPct val="70000"/>
              <a:buFont typeface="Wingdings" panose="05000000000000000000" pitchFamily="2" charset="2"/>
              <a:buChar char="l"/>
            </a:pPr>
            <a:r>
              <a:rPr lang="en-US" altLang="zh-TW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Mobile Manageability</a:t>
            </a:r>
          </a:p>
        </p:txBody>
      </p: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302E5BD4-2BF8-CD97-36DC-9B57C1B3F63D}"/>
              </a:ext>
            </a:extLst>
          </p:cNvPr>
          <p:cNvGrpSpPr/>
          <p:nvPr/>
        </p:nvGrpSpPr>
        <p:grpSpPr>
          <a:xfrm>
            <a:off x="4986867" y="2649280"/>
            <a:ext cx="3650499" cy="1880387"/>
            <a:chOff x="5302707" y="2649280"/>
            <a:chExt cx="3334659" cy="1653141"/>
          </a:xfrm>
        </p:grpSpPr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5321906" y="4126750"/>
              <a:ext cx="3315460" cy="17567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 cap="flat">
                  <a:solidFill>
                    <a:schemeClr val="tx1"/>
                  </a:solidFill>
                  <a:miter lim="800000"/>
                  <a:headEnd type="none" w="med" len="med"/>
                  <a:tailEnd type="none" w="med" len="med"/>
                </a14:hiddenLine>
              </a:ext>
            </a:extLst>
          </p:spPr>
          <p:txBody>
            <a:bodyPr lIns="28575" tIns="28575" rIns="28575" bIns="28575"/>
            <a:lstStyle/>
            <a:p>
              <a:pPr algn="ctr"/>
              <a:r>
                <a:rPr lang="en-US" altLang="zh-TW" sz="900" dirty="0">
                  <a:latin typeface="Lucida Grande" charset="0"/>
                  <a:ea typeface="新細明體" charset="-120"/>
                  <a:sym typeface="Lucida Grande" charset="0"/>
                </a:rPr>
                <a:t>Reference : http://en.wikipedia.org/wiki/Embedded_Hypervisor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692695EE-A224-9363-FDAC-069851639CE7}"/>
                </a:ext>
              </a:extLst>
            </p:cNvPr>
            <p:cNvGrpSpPr/>
            <p:nvPr/>
          </p:nvGrpSpPr>
          <p:grpSpPr>
            <a:xfrm>
              <a:off x="5302707" y="2649280"/>
              <a:ext cx="3266104" cy="1464819"/>
              <a:chOff x="3300912" y="3293091"/>
              <a:chExt cx="2952137" cy="1204912"/>
            </a:xfrm>
          </p:grpSpPr>
          <p:grpSp>
            <p:nvGrpSpPr>
              <p:cNvPr id="6" name="Group 20"/>
              <p:cNvGrpSpPr>
                <a:grpSpLocks/>
              </p:cNvGrpSpPr>
              <p:nvPr/>
            </p:nvGrpSpPr>
            <p:grpSpPr bwMode="auto">
              <a:xfrm>
                <a:off x="3300912" y="3293091"/>
                <a:ext cx="1533311" cy="1204912"/>
                <a:chOff x="605" y="0"/>
                <a:chExt cx="1287" cy="1012"/>
              </a:xfrm>
            </p:grpSpPr>
            <p:grpSp>
              <p:nvGrpSpPr>
                <p:cNvPr id="7" name="Group 18"/>
                <p:cNvGrpSpPr>
                  <a:grpSpLocks/>
                </p:cNvGrpSpPr>
                <p:nvPr/>
              </p:nvGrpSpPr>
              <p:grpSpPr bwMode="auto">
                <a:xfrm>
                  <a:off x="714" y="0"/>
                  <a:ext cx="912" cy="829"/>
                  <a:chOff x="536" y="0"/>
                  <a:chExt cx="912" cy="829"/>
                </a:xfrm>
              </p:grpSpPr>
              <p:sp>
                <p:nvSpPr>
                  <p:cNvPr id="9" name="Rectangle 13"/>
                  <p:cNvSpPr>
                    <a:spLocks/>
                  </p:cNvSpPr>
                  <p:nvPr/>
                </p:nvSpPr>
                <p:spPr bwMode="auto">
                  <a:xfrm>
                    <a:off x="572" y="637"/>
                    <a:ext cx="424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P1</a:t>
                    </a:r>
                  </a:p>
                </p:txBody>
              </p:sp>
              <p:sp>
                <p:nvSpPr>
                  <p:cNvPr id="10" name="Rectangle 14"/>
                  <p:cNvSpPr>
                    <a:spLocks/>
                  </p:cNvSpPr>
                  <p:nvPr/>
                </p:nvSpPr>
                <p:spPr bwMode="auto">
                  <a:xfrm>
                    <a:off x="1030" y="637"/>
                    <a:ext cx="416" cy="192"/>
                  </a:xfrm>
                  <a:prstGeom prst="rect">
                    <a:avLst/>
                  </a:prstGeom>
                  <a:solidFill>
                    <a:srgbClr val="FF9900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P2</a:t>
                    </a:r>
                  </a:p>
                </p:txBody>
              </p:sp>
              <p:sp>
                <p:nvSpPr>
                  <p:cNvPr id="11" name="Rectangle 15"/>
                  <p:cNvSpPr>
                    <a:spLocks/>
                  </p:cNvSpPr>
                  <p:nvPr/>
                </p:nvSpPr>
                <p:spPr bwMode="auto">
                  <a:xfrm>
                    <a:off x="536" y="232"/>
                    <a:ext cx="912" cy="336"/>
                  </a:xfrm>
                  <a:prstGeom prst="rect">
                    <a:avLst/>
                  </a:prstGeom>
                  <a:solidFill>
                    <a:srgbClr val="FFD7CD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 cap="flat">
                        <a:solidFill>
                          <a:schemeClr val="tx1"/>
                        </a:solidFill>
                        <a:miter lim="800000"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lIns="28575" tIns="28575" rIns="28575" bIns="28575"/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Embedded</a:t>
                    </a:r>
                    <a:endParaRPr lang="en-US" altLang="zh-TW" sz="1350" dirty="0">
                      <a:latin typeface="Lucida Grande" charset="0"/>
                      <a:ea typeface="新細明體" charset="-120"/>
                      <a:sym typeface="Lucida Grande" charset="0"/>
                    </a:endParaRPr>
                  </a:p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Hypervisor</a:t>
                    </a:r>
                  </a:p>
                </p:txBody>
              </p:sp>
              <p:sp>
                <p:nvSpPr>
                  <p:cNvPr id="12" name="Rectangle 16"/>
                  <p:cNvSpPr>
                    <a:spLocks/>
                  </p:cNvSpPr>
                  <p:nvPr/>
                </p:nvSpPr>
                <p:spPr bwMode="auto">
                  <a:xfrm>
                    <a:off x="553" y="0"/>
                    <a:ext cx="311" cy="167"/>
                  </a:xfrm>
                  <a:prstGeom prst="rect">
                    <a:avLst/>
                  </a:prstGeom>
                  <a:solidFill>
                    <a:srgbClr val="B0BCDB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 dirty="0">
                        <a:latin typeface="Lucida Grande" charset="0"/>
                        <a:ea typeface="新細明體" charset="-120"/>
                        <a:sym typeface="Lucida Grande" charset="0"/>
                      </a:rPr>
                      <a:t>Linux</a:t>
                    </a:r>
                  </a:p>
                </p:txBody>
              </p:sp>
              <p:sp>
                <p:nvSpPr>
                  <p:cNvPr id="13" name="Rectangle 17"/>
                  <p:cNvSpPr>
                    <a:spLocks/>
                  </p:cNvSpPr>
                  <p:nvPr/>
                </p:nvSpPr>
                <p:spPr bwMode="auto">
                  <a:xfrm>
                    <a:off x="1022" y="0"/>
                    <a:ext cx="315" cy="167"/>
                  </a:xfrm>
                  <a:prstGeom prst="rect">
                    <a:avLst/>
                  </a:prstGeom>
                  <a:solidFill>
                    <a:srgbClr val="FED9A7"/>
                  </a:solidFill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12700" cap="rnd">
                        <a:solidFill>
                          <a:schemeClr val="tx1"/>
                        </a:solidFill>
                        <a:round/>
                        <a:headEnd type="none" w="med" len="med"/>
                        <a:tailEnd type="none" w="med" len="med"/>
                      </a14:hiddenLine>
                    </a:ext>
                  </a:extLst>
                </p:spPr>
                <p:txBody>
                  <a:bodyPr wrap="none" lIns="28575" tIns="28575" rIns="28575" bIns="28575">
                    <a:spAutoFit/>
                  </a:bodyPr>
                  <a:lstStyle/>
                  <a:p>
                    <a:pPr algn="ctr"/>
                    <a:r>
                      <a:rPr lang="en-US" altLang="zh-TW" sz="1200">
                        <a:latin typeface="Lucida Grande" charset="0"/>
                        <a:ea typeface="新細明體" charset="-120"/>
                        <a:sym typeface="Lucida Grande" charset="0"/>
                      </a:rPr>
                      <a:t>RTOS</a:t>
                    </a:r>
                  </a:p>
                </p:txBody>
              </p:sp>
            </p:grpSp>
            <p:sp>
              <p:nvSpPr>
                <p:cNvPr id="8" name="Rectangle 19"/>
                <p:cNvSpPr>
                  <a:spLocks/>
                </p:cNvSpPr>
                <p:nvPr/>
              </p:nvSpPr>
              <p:spPr bwMode="auto">
                <a:xfrm>
                  <a:off x="605" y="860"/>
                  <a:ext cx="1287" cy="152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>
                      <a:latin typeface="Lucida Grande" charset="0"/>
                      <a:ea typeface="新細明體" charset="-120"/>
                      <a:sym typeface="Lucida Grande" charset="0"/>
                    </a:rPr>
                    <a:t>multiple operating systems </a:t>
                  </a:r>
                </a:p>
              </p:txBody>
            </p:sp>
          </p:grpSp>
          <p:grpSp>
            <p:nvGrpSpPr>
              <p:cNvPr id="14" name="Group 27"/>
              <p:cNvGrpSpPr>
                <a:grpSpLocks/>
              </p:cNvGrpSpPr>
              <p:nvPr/>
            </p:nvGrpSpPr>
            <p:grpSpPr bwMode="auto">
              <a:xfrm>
                <a:off x="5031641" y="3293091"/>
                <a:ext cx="1221408" cy="1189397"/>
                <a:chOff x="18" y="0"/>
                <a:chExt cx="1025" cy="998"/>
              </a:xfrm>
            </p:grpSpPr>
            <p:sp>
              <p:nvSpPr>
                <p:cNvPr id="15" name="Rectangle 21"/>
                <p:cNvSpPr>
                  <a:spLocks/>
                </p:cNvSpPr>
                <p:nvPr/>
              </p:nvSpPr>
              <p:spPr bwMode="auto">
                <a:xfrm>
                  <a:off x="18" y="232"/>
                  <a:ext cx="1000" cy="336"/>
                </a:xfrm>
                <a:prstGeom prst="rect">
                  <a:avLst/>
                </a:prstGeom>
                <a:solidFill>
                  <a:srgbClr val="FFD7CD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Embedded</a:t>
                  </a:r>
                  <a:endParaRPr lang="en-US" altLang="zh-TW" sz="1350" dirty="0">
                    <a:latin typeface="Lucida Grande" charset="0"/>
                    <a:ea typeface="新細明體" charset="-120"/>
                    <a:sym typeface="Lucida Grande" charset="0"/>
                  </a:endParaRPr>
                </a:p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Hypervisor</a:t>
                  </a:r>
                </a:p>
              </p:txBody>
            </p:sp>
            <p:sp>
              <p:nvSpPr>
                <p:cNvPr id="16" name="Rectangle 22"/>
                <p:cNvSpPr>
                  <a:spLocks/>
                </p:cNvSpPr>
                <p:nvPr/>
              </p:nvSpPr>
              <p:spPr bwMode="auto">
                <a:xfrm>
                  <a:off x="32" y="0"/>
                  <a:ext cx="311" cy="167"/>
                </a:xfrm>
                <a:prstGeom prst="rect">
                  <a:avLst/>
                </a:prstGeom>
                <a:solidFill>
                  <a:srgbClr val="B0BCDB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 cap="rnd">
                      <a:solidFill>
                        <a:schemeClr val="tx1"/>
                      </a:solidFill>
                      <a:round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 dirty="0">
                      <a:latin typeface="Lucida Grande" charset="0"/>
                      <a:ea typeface="新細明體" charset="-120"/>
                      <a:sym typeface="Lucida Grande" charset="0"/>
                    </a:rPr>
                    <a:t>Linux</a:t>
                  </a:r>
                </a:p>
              </p:txBody>
            </p:sp>
            <p:sp>
              <p:nvSpPr>
                <p:cNvPr id="17" name="Rectangle 23"/>
                <p:cNvSpPr>
                  <a:spLocks/>
                </p:cNvSpPr>
                <p:nvPr/>
              </p:nvSpPr>
              <p:spPr bwMode="auto">
                <a:xfrm>
                  <a:off x="497" y="0"/>
                  <a:ext cx="450" cy="167"/>
                </a:xfrm>
                <a:prstGeom prst="rect">
                  <a:avLst/>
                </a:prstGeom>
                <a:solidFill>
                  <a:srgbClr val="EA624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Security</a:t>
                  </a:r>
                </a:p>
              </p:txBody>
            </p:sp>
            <p:sp>
              <p:nvSpPr>
                <p:cNvPr id="18" name="Rectangle 24"/>
                <p:cNvSpPr>
                  <a:spLocks/>
                </p:cNvSpPr>
                <p:nvPr/>
              </p:nvSpPr>
              <p:spPr bwMode="auto">
                <a:xfrm>
                  <a:off x="53" y="847"/>
                  <a:ext cx="990" cy="151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wrap="none" lIns="28575" tIns="28575" rIns="28575" bIns="28575">
                  <a:spAutoFit/>
                </a:bodyPr>
                <a:lstStyle/>
                <a:p>
                  <a:pPr algn="ctr"/>
                  <a:r>
                    <a:rPr lang="en-US" altLang="zh-TW" sz="1050" dirty="0">
                      <a:latin typeface="Lucida Grande" charset="0"/>
                      <a:ea typeface="新細明體" charset="-120"/>
                      <a:sym typeface="Lucida Grande" charset="0"/>
                    </a:rPr>
                    <a:t>security environment</a:t>
                  </a:r>
                </a:p>
              </p:txBody>
            </p:sp>
            <p:sp>
              <p:nvSpPr>
                <p:cNvPr id="19" name="Rectangle 25"/>
                <p:cNvSpPr>
                  <a:spLocks/>
                </p:cNvSpPr>
                <p:nvPr/>
              </p:nvSpPr>
              <p:spPr bwMode="auto">
                <a:xfrm>
                  <a:off x="80" y="637"/>
                  <a:ext cx="424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P1</a:t>
                  </a:r>
                </a:p>
              </p:txBody>
            </p:sp>
            <p:sp>
              <p:nvSpPr>
                <p:cNvPr id="20" name="Rectangle 26"/>
                <p:cNvSpPr>
                  <a:spLocks/>
                </p:cNvSpPr>
                <p:nvPr/>
              </p:nvSpPr>
              <p:spPr bwMode="auto">
                <a:xfrm>
                  <a:off x="538" y="637"/>
                  <a:ext cx="416" cy="192"/>
                </a:xfrm>
                <a:prstGeom prst="rect">
                  <a:avLst/>
                </a:prstGeom>
                <a:solidFill>
                  <a:srgbClr val="FF9900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 cap="flat">
                      <a:solidFill>
                        <a:schemeClr val="tx1"/>
                      </a:solidFill>
                      <a:miter lim="800000"/>
                      <a:headEnd type="none" w="med" len="med"/>
                      <a:tailEnd type="none" w="med" len="med"/>
                    </a14:hiddenLine>
                  </a:ext>
                </a:extLst>
              </p:spPr>
              <p:txBody>
                <a:bodyPr lIns="28575" tIns="28575" rIns="28575" bIns="28575"/>
                <a:lstStyle/>
                <a:p>
                  <a:pPr algn="ctr"/>
                  <a:r>
                    <a:rPr lang="en-US" altLang="zh-TW" sz="1200">
                      <a:latin typeface="Lucida Grande" charset="0"/>
                      <a:ea typeface="新細明體" charset="-120"/>
                      <a:sym typeface="Lucida Grande" charset="0"/>
                    </a:rPr>
                    <a:t>P2</a:t>
                  </a:r>
                </a:p>
              </p:txBody>
            </p:sp>
          </p:grpSp>
        </p:grp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EC40AB54-1C65-612E-9127-101FF6FD7E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5905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/>
          <a:lstStyle/>
          <a:p>
            <a:r>
              <a:rPr lang="en-US" altLang="zh-TW" dirty="0"/>
              <a:t>Virtualization Techniques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16000" y="844153"/>
            <a:ext cx="5515429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(Logical Volume Management)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Virtualization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3D9194E-8EEB-64F7-02C2-80420E7DEE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551437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59149" y="82948"/>
            <a:ext cx="7623404" cy="519113"/>
          </a:xfrm>
        </p:spPr>
        <p:txBody>
          <a:bodyPr/>
          <a:lstStyle/>
          <a:p>
            <a:r>
              <a:rPr lang="en-US" altLang="zh-TW" dirty="0"/>
              <a:t>Virtualization Techniques (2)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96578" y="815521"/>
            <a:ext cx="6539537" cy="3512457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GPU Virtualization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Software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Virtual Desktop Infrastructure (VDI)</a:t>
            </a:r>
          </a:p>
          <a:p>
            <a:pPr lvl="1"/>
            <a:r>
              <a:rPr lang="en-US" altLang="zh-TW" sz="20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EyeOS</a:t>
            </a:r>
            <a:endParaRPr lang="en-US" altLang="zh-TW" sz="2000" dirty="0"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altLang="zh-TW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Hardware Support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Intel VT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ARM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SRIOV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MRIOV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0A3DF65-04F8-B5CB-F038-2A6584B7F5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1872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b="1" dirty="0">
                <a:solidFill>
                  <a:srgbClr val="FF0000"/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92B67B-1436-E4F4-D617-281427E822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13</a:t>
            </a:fld>
            <a:endParaRPr lang="zh-TW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8914" y="108349"/>
            <a:ext cx="7746776" cy="519113"/>
          </a:xfrm>
        </p:spPr>
        <p:txBody>
          <a:bodyPr/>
          <a:lstStyle/>
          <a:p>
            <a:r>
              <a:rPr lang="en-US" altLang="zh-TW" dirty="0"/>
              <a:t>Virtual </a:t>
            </a:r>
            <a:r>
              <a:rPr lang="en-US" altLang="zh-TW"/>
              <a:t>Machine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30" y="844153"/>
            <a:ext cx="7336970" cy="3202914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virtual machine (VM) is a software implementation of a machine that executes programs like a physical machine.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machines are separated into two major classifications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system virtual machine provides a complete system platform that supports the execution of a complete operating system (OS)</a:t>
            </a:r>
          </a:p>
          <a:p>
            <a:pPr lvl="1"/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process virtual machine is designed to run a single program in a single process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2D26A52-8ECF-CE81-BE4A-3DABA90951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276169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3429" y="108349"/>
            <a:ext cx="7732261" cy="519113"/>
          </a:xfrm>
        </p:spPr>
        <p:txBody>
          <a:bodyPr/>
          <a:lstStyle/>
          <a:p>
            <a:r>
              <a:rPr lang="en-US" altLang="zh-TW" dirty="0"/>
              <a:t>Virtual Machine (2)</a:t>
            </a:r>
            <a:endParaRPr lang="zh-TW" altLang="en-US" dirty="0"/>
          </a:p>
        </p:txBody>
      </p:sp>
      <p:grpSp>
        <p:nvGrpSpPr>
          <p:cNvPr id="11" name="组合 10">
            <a:extLst>
              <a:ext uri="{FF2B5EF4-FFF2-40B4-BE49-F238E27FC236}">
                <a16:creationId xmlns:a16="http://schemas.microsoft.com/office/drawing/2014/main" id="{21A2CCAE-99B0-8C5C-F6E2-9E940BA04E1A}"/>
              </a:ext>
            </a:extLst>
          </p:cNvPr>
          <p:cNvGrpSpPr/>
          <p:nvPr/>
        </p:nvGrpSpPr>
        <p:grpSpPr>
          <a:xfrm>
            <a:off x="1352235" y="1131080"/>
            <a:ext cx="6213453" cy="3244337"/>
            <a:chOff x="2364738" y="2158991"/>
            <a:chExt cx="5245619" cy="2534861"/>
          </a:xfrm>
        </p:grpSpPr>
        <p:sp>
          <p:nvSpPr>
            <p:cNvPr id="4" name="矩形 3"/>
            <p:cNvSpPr/>
            <p:nvPr/>
          </p:nvSpPr>
          <p:spPr>
            <a:xfrm>
              <a:off x="2675493" y="2904630"/>
              <a:ext cx="1296144" cy="432048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System VM</a:t>
              </a:r>
              <a:endParaRPr lang="zh-TW" altLang="en-US" sz="2000" dirty="0"/>
            </a:p>
          </p:txBody>
        </p:sp>
        <p:sp>
          <p:nvSpPr>
            <p:cNvPr id="5" name="矩形 4"/>
            <p:cNvSpPr/>
            <p:nvPr/>
          </p:nvSpPr>
          <p:spPr>
            <a:xfrm>
              <a:off x="5814695" y="2889803"/>
              <a:ext cx="1296144" cy="432048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2000" dirty="0"/>
                <a:t>Process VM</a:t>
              </a:r>
              <a:endParaRPr lang="zh-TW" altLang="en-US" sz="2000" dirty="0"/>
            </a:p>
          </p:txBody>
        </p:sp>
        <p:sp>
          <p:nvSpPr>
            <p:cNvPr id="6" name="文字方塊 5"/>
            <p:cNvSpPr txBox="1"/>
            <p:nvPr/>
          </p:nvSpPr>
          <p:spPr>
            <a:xfrm>
              <a:off x="5698244" y="2471604"/>
              <a:ext cx="1502447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Program</a:t>
              </a:r>
              <a:endParaRPr lang="zh-TW" altLang="en-US" sz="2000" dirty="0"/>
            </a:p>
          </p:txBody>
        </p:sp>
        <p:sp>
          <p:nvSpPr>
            <p:cNvPr id="7" name="文字方塊 6"/>
            <p:cNvSpPr txBox="1"/>
            <p:nvPr/>
          </p:nvSpPr>
          <p:spPr>
            <a:xfrm>
              <a:off x="2409205" y="2471604"/>
              <a:ext cx="2522846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Guest Operating System</a:t>
              </a:r>
              <a:endParaRPr lang="zh-TW" altLang="en-US" sz="2000" dirty="0"/>
            </a:p>
          </p:txBody>
        </p:sp>
        <p:sp>
          <p:nvSpPr>
            <p:cNvPr id="8" name="矩形 7"/>
            <p:cNvSpPr/>
            <p:nvPr/>
          </p:nvSpPr>
          <p:spPr>
            <a:xfrm>
              <a:off x="2555892" y="2158991"/>
              <a:ext cx="2008803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Guest  Applications</a:t>
              </a:r>
              <a:endParaRPr lang="zh-TW" altLang="en-US" sz="2000" dirty="0"/>
            </a:p>
          </p:txBody>
        </p:sp>
        <p:sp>
          <p:nvSpPr>
            <p:cNvPr id="9" name="文字方塊 8"/>
            <p:cNvSpPr txBox="1"/>
            <p:nvPr/>
          </p:nvSpPr>
          <p:spPr>
            <a:xfrm>
              <a:off x="5448684" y="3420040"/>
              <a:ext cx="2161673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Java Virtual Machine</a:t>
              </a:r>
              <a:endParaRPr lang="zh-TW" altLang="en-US" sz="2000" dirty="0"/>
            </a:p>
          </p:txBody>
        </p:sp>
        <p:sp>
          <p:nvSpPr>
            <p:cNvPr id="10" name="矩形 9"/>
            <p:cNvSpPr/>
            <p:nvPr/>
          </p:nvSpPr>
          <p:spPr>
            <a:xfrm>
              <a:off x="2956446" y="3446710"/>
              <a:ext cx="950296" cy="312613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2000" dirty="0"/>
                <a:t>VMware</a:t>
              </a:r>
              <a:endParaRPr lang="zh-TW" altLang="en-US" sz="2000" dirty="0"/>
            </a:p>
          </p:txBody>
        </p:sp>
        <p:cxnSp>
          <p:nvCxnSpPr>
            <p:cNvPr id="13" name="直線單箭頭接點 12"/>
            <p:cNvCxnSpPr/>
            <p:nvPr/>
          </p:nvCxnSpPr>
          <p:spPr>
            <a:xfrm flipV="1">
              <a:off x="3323565" y="3888823"/>
              <a:ext cx="0" cy="432048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文字方塊 15"/>
            <p:cNvSpPr txBox="1"/>
            <p:nvPr/>
          </p:nvSpPr>
          <p:spPr>
            <a:xfrm>
              <a:off x="2364738" y="4381239"/>
              <a:ext cx="4084730" cy="3126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sz="2000" dirty="0"/>
                <a:t>We will focus on the system virtualization</a:t>
              </a:r>
              <a:endParaRPr lang="zh-TW" altLang="en-US" sz="2000" dirty="0"/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A922C03-DF60-9177-21BA-4811E40DF8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508070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0533" y="108349"/>
            <a:ext cx="7795157" cy="519113"/>
          </a:xfrm>
        </p:spPr>
        <p:txBody>
          <a:bodyPr/>
          <a:lstStyle/>
          <a:p>
            <a:r>
              <a:rPr lang="en-US" altLang="zh-TW" dirty="0"/>
              <a:t>System Virtual Machine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82132" y="844153"/>
            <a:ext cx="7428897" cy="2798933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virtual machine is controlled by a hypervisor or VMM (Virtual Machine Monitor)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 hypervisor or VMM is a software to provide a hardware emulation interface including CPU, memory, I/O by multiplexing host resources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B12D3B27-5EFE-DA64-33F0-5C32FD1E6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0223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6173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(1)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40620" y="810286"/>
            <a:ext cx="7462760" cy="3541581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their 1974 article "Formal Requirements for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Virtualizable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Third Generation Architectures" Gerald J. </a:t>
            </a:r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Popek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Robert P. Goldberg classified two types of hypervisor</a:t>
            </a: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1 hypervisor (Bare metal type) </a:t>
            </a:r>
          </a:p>
          <a:p>
            <a:pPr lvl="2">
              <a:spcBef>
                <a:spcPts val="0"/>
              </a:spcBef>
            </a:pPr>
            <a:r>
              <a:rPr lang="en-US" dirty="0">
                <a:solidFill>
                  <a:srgbClr val="44444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</a:t>
            </a:r>
            <a:r>
              <a:rPr lang="en-US" b="0" i="0" dirty="0">
                <a:solidFill>
                  <a:srgbClr val="44444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ypervisors that run directly atop a </a:t>
            </a:r>
            <a:r>
              <a:rPr lang="en-US" b="0" i="0">
                <a:solidFill>
                  <a:srgbClr val="444444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physical system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>
              <a:spcBef>
                <a:spcPts val="0"/>
              </a:spcBef>
            </a:pPr>
            <a:r>
              <a:rPr lang="en-US" sz="2000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VMware </a:t>
            </a:r>
            <a:r>
              <a:rPr lang="en-US" sz="2000" b="0" i="0" dirty="0" err="1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ESXi</a:t>
            </a:r>
            <a:r>
              <a:rPr lang="en-US" sz="2000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Microsoft Hyper-V, KVM, etc.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spcBef>
                <a:spcPts val="0"/>
              </a:spcBef>
            </a:pPr>
            <a:r>
              <a:rPr lang="en-US" altLang="zh-TW" sz="2000" dirty="0"/>
              <a:t>Type 2 hypervisor (Hosted type) </a:t>
            </a:r>
          </a:p>
          <a:p>
            <a:pPr lvl="2">
              <a:spcBef>
                <a:spcPts val="0"/>
              </a:spcBef>
            </a:pPr>
            <a:r>
              <a:rPr lang="en-US" b="0" i="0" dirty="0">
                <a:solidFill>
                  <a:srgbClr val="35353A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Hypervisor is a virtual machine 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manager that is installed as a software application on an existing operating system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</a:t>
            </a:r>
            <a:r>
              <a:rPr lang="en-US" b="0" i="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altLang="zh-TW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3">
              <a:spcBef>
                <a:spcPts val="0"/>
              </a:spcBef>
            </a:pPr>
            <a:r>
              <a:rPr lang="en-US" sz="2000" b="0" i="0" dirty="0">
                <a:solidFill>
                  <a:srgbClr val="333333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Oracle VM VirtualBox, VMware Workstation, Microsoft Virtual PC, etc.</a:t>
            </a:r>
            <a:endParaRPr lang="en-US" altLang="zh-TW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A1B65B6D-525B-861C-EC5C-0AF86F0DE91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89841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4640" y="82948"/>
            <a:ext cx="7790319" cy="519113"/>
          </a:xfrm>
        </p:spPr>
        <p:txBody>
          <a:bodyPr/>
          <a:lstStyle/>
          <a:p>
            <a:r>
              <a:rPr lang="en-US" altLang="zh-TW" dirty="0"/>
              <a:t>Two Types of Hypervisor (2)</a:t>
            </a:r>
            <a:endParaRPr lang="zh-TW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DEF00F23-83DC-E97F-0816-683A7AB96162}"/>
              </a:ext>
            </a:extLst>
          </p:cNvPr>
          <p:cNvGrpSpPr/>
          <p:nvPr/>
        </p:nvGrpSpPr>
        <p:grpSpPr>
          <a:xfrm>
            <a:off x="2033308" y="1033670"/>
            <a:ext cx="4916233" cy="3453593"/>
            <a:chOff x="2140043" y="1491630"/>
            <a:chExt cx="4916233" cy="3453593"/>
          </a:xfrm>
        </p:grpSpPr>
        <p:pic>
          <p:nvPicPr>
            <p:cNvPr id="4100" name="Picture 4" descr="http://upload.wikimedia.org/wikipedia/commons/e/e1/Hyperviseur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73778" y="1491630"/>
              <a:ext cx="4482498" cy="279877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矩形 4"/>
            <p:cNvSpPr/>
            <p:nvPr/>
          </p:nvSpPr>
          <p:spPr>
            <a:xfrm>
              <a:off x="2140043" y="4360447"/>
              <a:ext cx="2655663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1 (or native, bare metal) </a:t>
              </a:r>
            </a:p>
            <a:p>
              <a:pPr algn="ctr"/>
              <a:r>
                <a:rPr lang="nb-NO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/>
            <p:cNvSpPr/>
            <p:nvPr/>
          </p:nvSpPr>
          <p:spPr>
            <a:xfrm>
              <a:off x="5058054" y="4360448"/>
              <a:ext cx="1746119" cy="584775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Type 2 (or hosted) </a:t>
              </a:r>
            </a:p>
            <a:p>
              <a:pPr algn="ctr"/>
              <a:r>
                <a:rPr lang="en-US" altLang="zh-TW" sz="1600" dirty="0">
                  <a:solidFill>
                    <a:srgbClr val="FF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hypervisors</a:t>
              </a:r>
              <a:endParaRPr lang="zh-TW" altLang="en-US" sz="16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0F30CD2D-7817-13F6-00A0-D93E1371DD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96193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3669" y="82948"/>
            <a:ext cx="7761290" cy="519113"/>
          </a:xfrm>
        </p:spPr>
        <p:txBody>
          <a:bodyPr/>
          <a:lstStyle/>
          <a:p>
            <a:r>
              <a:rPr lang="en-US" altLang="zh-TW" dirty="0"/>
              <a:t>Purposes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98550" y="878115"/>
            <a:ext cx="6946900" cy="3343274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CPU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Handle all sensitive instructions by emulation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Memory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Allocate guest physical memory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Translate guest virtual address to host virtual address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I/O Virtualization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Emulate I/O devices for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Ex: Keyboard, UART, Storage and Network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7FC3016-9C24-F07B-0025-24FF149E66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112634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4618" y="104537"/>
            <a:ext cx="6791581" cy="490113"/>
          </a:xfrm>
        </p:spPr>
        <p:txBody>
          <a:bodyPr>
            <a:noAutofit/>
          </a:bodyPr>
          <a:lstStyle/>
          <a:p>
            <a:r>
              <a:rPr lang="en-US" altLang="zh-TW" dirty="0"/>
              <a:t>Implementations of Hypervisor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04618" y="844153"/>
            <a:ext cx="7673325" cy="3671888"/>
          </a:xfrm>
        </p:spPr>
        <p:txBody>
          <a:bodyPr>
            <a:normAutofit fontScale="85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 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wholly emulated virtual machine makes guest operating system binary can be executed directly without modifying guest source code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efficiency, it needs hardware-assisted virtualization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Para-Virtualization</a:t>
            </a:r>
          </a:p>
          <a:p>
            <a:pPr lvl="1"/>
            <a:r>
              <a:rPr lang="en-US" altLang="zh-TW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Hypercalls</a:t>
            </a:r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 defined and used in a guest operating system to make a virtual machine abstraction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According to literature, it’s most efficient way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Pre-Virtualization</a:t>
            </a:r>
          </a:p>
          <a:p>
            <a:pPr lvl="1"/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compiling technique, guest operating system binary or source could be compiled for virtualization</a:t>
            </a:r>
            <a:endParaRPr lang="zh-TW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57331B7-56E5-0DAC-E1AE-A59197D3A5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535292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018557" y="99657"/>
            <a:ext cx="7700675" cy="519113"/>
          </a:xfrm>
        </p:spPr>
        <p:txBody>
          <a:bodyPr/>
          <a:lstStyle/>
          <a:p>
            <a:r>
              <a:rPr lang="en-US" altLang="zh-TW" dirty="0"/>
              <a:t>Hypervisor Case - KVM</a:t>
            </a:r>
            <a:endParaRPr lang="zh-TW" altLang="en-US" dirty="0"/>
          </a:p>
        </p:txBody>
      </p: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BBA13B2-B0CF-ACC4-8C9B-5CA5E5C2441A}"/>
              </a:ext>
            </a:extLst>
          </p:cNvPr>
          <p:cNvGrpSpPr/>
          <p:nvPr/>
        </p:nvGrpSpPr>
        <p:grpSpPr>
          <a:xfrm>
            <a:off x="1363327" y="818191"/>
            <a:ext cx="6274816" cy="3671986"/>
            <a:chOff x="1458686" y="1380954"/>
            <a:chExt cx="6274816" cy="3671986"/>
          </a:xfrm>
        </p:grpSpPr>
        <p:sp>
          <p:nvSpPr>
            <p:cNvPr id="4" name="AutoShape 10"/>
            <p:cNvSpPr>
              <a:spLocks/>
            </p:cNvSpPr>
            <p:nvPr/>
          </p:nvSpPr>
          <p:spPr bwMode="auto">
            <a:xfrm>
              <a:off x="2470715" y="3396962"/>
              <a:ext cx="4795502" cy="672970"/>
            </a:xfrm>
            <a:prstGeom prst="roundRect">
              <a:avLst>
                <a:gd name="adj" fmla="val 16667"/>
              </a:avLst>
            </a:prstGeom>
            <a:ln>
              <a:headEnd/>
              <a:tailEnd/>
            </a:ln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lIns="0" tIns="0" rIns="0" bIns="0"/>
            <a:lstStyle/>
            <a:p>
              <a:endParaRPr lang="zh-TW" altLang="en-US" sz="1350">
                <a:ea typeface="新細明體" charset="-120"/>
              </a:endParaRPr>
            </a:p>
          </p:txBody>
        </p:sp>
        <p:sp>
          <p:nvSpPr>
            <p:cNvPr id="5" name="Rectangle 12"/>
            <p:cNvSpPr>
              <a:spLocks/>
            </p:cNvSpPr>
            <p:nvPr/>
          </p:nvSpPr>
          <p:spPr bwMode="auto">
            <a:xfrm>
              <a:off x="2582240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CPU</a:t>
              </a:r>
            </a:p>
          </p:txBody>
        </p:sp>
        <p:sp>
          <p:nvSpPr>
            <p:cNvPr id="6" name="Rectangle 13"/>
            <p:cNvSpPr>
              <a:spLocks/>
            </p:cNvSpPr>
            <p:nvPr/>
          </p:nvSpPr>
          <p:spPr bwMode="auto">
            <a:xfrm>
              <a:off x="3456159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</a:p>
          </p:txBody>
        </p:sp>
        <p:sp>
          <p:nvSpPr>
            <p:cNvPr id="7" name="Rectangle 14"/>
            <p:cNvSpPr>
              <a:spLocks/>
            </p:cNvSpPr>
            <p:nvPr/>
          </p:nvSpPr>
          <p:spPr bwMode="auto">
            <a:xfrm>
              <a:off x="5282577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</a:p>
          </p:txBody>
        </p:sp>
        <p:sp>
          <p:nvSpPr>
            <p:cNvPr id="8" name="Rectangle 15"/>
            <p:cNvSpPr>
              <a:spLocks/>
            </p:cNvSpPr>
            <p:nvPr/>
          </p:nvSpPr>
          <p:spPr bwMode="auto">
            <a:xfrm>
              <a:off x="4364606" y="3457773"/>
              <a:ext cx="74697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Timer</a:t>
              </a:r>
            </a:p>
          </p:txBody>
        </p:sp>
        <p:sp>
          <p:nvSpPr>
            <p:cNvPr id="9" name="Rectangle 16"/>
            <p:cNvSpPr>
              <a:spLocks/>
            </p:cNvSpPr>
            <p:nvPr/>
          </p:nvSpPr>
          <p:spPr bwMode="auto">
            <a:xfrm>
              <a:off x="6202518" y="3457773"/>
              <a:ext cx="904964" cy="551348"/>
            </a:xfrm>
            <a:prstGeom prst="rect">
              <a:avLst/>
            </a:prstGeom>
            <a:ln>
              <a:headEnd/>
              <a:tailEnd/>
            </a:ln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lIns="28575" tIns="28575" rIns="28575" bIns="28575" anchor="ctr"/>
            <a:lstStyle/>
            <a:p>
              <a:pPr algn="ctr"/>
              <a:r>
                <a:rPr lang="en-US" altLang="zh-TW" sz="1350">
                  <a:solidFill>
                    <a:schemeClr val="tx1"/>
                  </a:solidFill>
                  <a:latin typeface="Lucida Grande" charset="0"/>
                  <a:ea typeface="新細明體" charset="-120"/>
                  <a:sym typeface="Lucida Grande" charset="0"/>
                </a:rPr>
                <a:t>Interrupt</a:t>
              </a:r>
            </a:p>
          </p:txBody>
        </p:sp>
        <p:sp>
          <p:nvSpPr>
            <p:cNvPr id="10" name="Rectangle 17"/>
            <p:cNvSpPr>
              <a:spLocks/>
            </p:cNvSpPr>
            <p:nvPr/>
          </p:nvSpPr>
          <p:spPr bwMode="auto">
            <a:xfrm>
              <a:off x="1544802" y="3556226"/>
              <a:ext cx="834834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Hardware</a:t>
              </a:r>
            </a:p>
          </p:txBody>
        </p:sp>
        <p:sp>
          <p:nvSpPr>
            <p:cNvPr id="11" name="Rectangle 18"/>
            <p:cNvSpPr>
              <a:spLocks/>
            </p:cNvSpPr>
            <p:nvPr/>
          </p:nvSpPr>
          <p:spPr bwMode="auto">
            <a:xfrm>
              <a:off x="3339178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CPU Virtualization</a:t>
              </a:r>
            </a:p>
          </p:txBody>
        </p:sp>
        <p:sp>
          <p:nvSpPr>
            <p:cNvPr id="12" name="Rectangle 19"/>
            <p:cNvSpPr>
              <a:spLocks/>
            </p:cNvSpPr>
            <p:nvPr/>
          </p:nvSpPr>
          <p:spPr bwMode="auto">
            <a:xfrm>
              <a:off x="5170732" y="2688630"/>
              <a:ext cx="1326662" cy="551348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MMU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3" name="Rectangle 20"/>
            <p:cNvSpPr>
              <a:spLocks/>
            </p:cNvSpPr>
            <p:nvPr/>
          </p:nvSpPr>
          <p:spPr bwMode="auto">
            <a:xfrm>
              <a:off x="2670420" y="1971793"/>
              <a:ext cx="1326662" cy="552700"/>
            </a:xfrm>
            <a:prstGeom prst="rect">
              <a:avLst/>
            </a:prstGeom>
            <a:solidFill>
              <a:srgbClr val="CCDDEA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5400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lIns="28575" tIns="28575" rIns="28575" bIns="28575" anchor="ctr"/>
            <a:lstStyle/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I/O</a:t>
              </a:r>
              <a:endParaRPr lang="en-US" altLang="zh-TW" sz="1350" dirty="0">
                <a:solidFill>
                  <a:srgbClr val="FFFFFF"/>
                </a:solidFill>
                <a:latin typeface="Lucida Grande" charset="0"/>
                <a:ea typeface="新細明體" charset="-120"/>
                <a:sym typeface="Lucida Grande" charset="0"/>
              </a:endParaRPr>
            </a:p>
            <a:p>
              <a:pPr algn="ctr"/>
              <a:r>
                <a:rPr lang="en-US" altLang="zh-TW" sz="1350" dirty="0">
                  <a:latin typeface="Lucida Grande" charset="0"/>
                  <a:ea typeface="新細明體" charset="-120"/>
                  <a:sym typeface="Lucida Grande" charset="0"/>
                </a:rPr>
                <a:t>Virtualization</a:t>
              </a:r>
            </a:p>
          </p:txBody>
        </p:sp>
        <p:sp>
          <p:nvSpPr>
            <p:cNvPr id="14" name="Line 21"/>
            <p:cNvSpPr>
              <a:spLocks noChangeShapeType="1"/>
            </p:cNvSpPr>
            <p:nvPr/>
          </p:nvSpPr>
          <p:spPr bwMode="auto">
            <a:xfrm>
              <a:off x="2609957" y="1727534"/>
              <a:ext cx="18735" cy="1546332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5" name="Line 22"/>
            <p:cNvSpPr>
              <a:spLocks noChangeShapeType="1"/>
            </p:cNvSpPr>
            <p:nvPr/>
          </p:nvSpPr>
          <p:spPr bwMode="auto">
            <a:xfrm flipH="1">
              <a:off x="2628707" y="3273866"/>
              <a:ext cx="447951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6" name="Line 23"/>
            <p:cNvSpPr>
              <a:spLocks noChangeShapeType="1"/>
            </p:cNvSpPr>
            <p:nvPr/>
          </p:nvSpPr>
          <p:spPr bwMode="auto">
            <a:xfrm flipH="1">
              <a:off x="7094872" y="2298007"/>
              <a:ext cx="38843" cy="97530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7" name="Line 24"/>
            <p:cNvSpPr>
              <a:spLocks noChangeShapeType="1"/>
            </p:cNvSpPr>
            <p:nvPr/>
          </p:nvSpPr>
          <p:spPr bwMode="auto">
            <a:xfrm flipH="1">
              <a:off x="4122434" y="2305887"/>
              <a:ext cx="3004158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8" name="Line 25"/>
            <p:cNvSpPr>
              <a:spLocks noChangeShapeType="1"/>
            </p:cNvSpPr>
            <p:nvPr/>
          </p:nvSpPr>
          <p:spPr bwMode="auto">
            <a:xfrm>
              <a:off x="4096941" y="1667853"/>
              <a:ext cx="0" cy="678376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sp>
          <p:nvSpPr>
            <p:cNvPr id="19" name="Line 26"/>
            <p:cNvSpPr>
              <a:spLocks noChangeShapeType="1"/>
            </p:cNvSpPr>
            <p:nvPr/>
          </p:nvSpPr>
          <p:spPr bwMode="auto">
            <a:xfrm flipH="1">
              <a:off x="2591308" y="1708193"/>
              <a:ext cx="1475360" cy="0"/>
            </a:xfrm>
            <a:prstGeom prst="line">
              <a:avLst/>
            </a:prstGeom>
            <a:noFill/>
            <a:ln w="38100" cap="flat">
              <a:solidFill>
                <a:srgbClr val="64A73B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38100" dist="23000" dir="5400000" algn="ctr" rotWithShape="0">
                <a:schemeClr val="bg2">
                  <a:alpha val="34999"/>
                </a:scheme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/>
            <a:p>
              <a:pPr>
                <a:defRPr/>
              </a:pPr>
              <a:endParaRPr lang="zh-TW" altLang="en-US" sz="1350"/>
            </a:p>
          </p:txBody>
        </p:sp>
        <p:grpSp>
          <p:nvGrpSpPr>
            <p:cNvPr id="20" name="Group 29"/>
            <p:cNvGrpSpPr>
              <a:grpSpLocks/>
            </p:cNvGrpSpPr>
            <p:nvPr/>
          </p:nvGrpSpPr>
          <p:grpSpPr bwMode="auto">
            <a:xfrm>
              <a:off x="4281392" y="1424730"/>
              <a:ext cx="1044370" cy="782430"/>
              <a:chOff x="0" y="0"/>
              <a:chExt cx="899" cy="578"/>
            </a:xfrm>
          </p:grpSpPr>
          <p:sp>
            <p:nvSpPr>
              <p:cNvPr id="21" name="AutoShape 27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2" name="Rectangle 28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0</a:t>
                </a:r>
              </a:p>
            </p:txBody>
          </p:sp>
        </p:grpSp>
        <p:grpSp>
          <p:nvGrpSpPr>
            <p:cNvPr id="23" name="Group 32"/>
            <p:cNvGrpSpPr>
              <a:grpSpLocks/>
            </p:cNvGrpSpPr>
            <p:nvPr/>
          </p:nvGrpSpPr>
          <p:grpSpPr bwMode="auto">
            <a:xfrm>
              <a:off x="5506545" y="1424730"/>
              <a:ext cx="1044370" cy="782430"/>
              <a:chOff x="0" y="0"/>
              <a:chExt cx="899" cy="578"/>
            </a:xfrm>
          </p:grpSpPr>
          <p:sp>
            <p:nvSpPr>
              <p:cNvPr id="24" name="AutoShape 30"/>
              <p:cNvSpPr>
                <a:spLocks/>
              </p:cNvSpPr>
              <p:nvPr/>
            </p:nvSpPr>
            <p:spPr bwMode="auto">
              <a:xfrm>
                <a:off x="0" y="0"/>
                <a:ext cx="899" cy="578"/>
              </a:xfrm>
              <a:prstGeom prst="roundRect">
                <a:avLst>
                  <a:gd name="adj" fmla="val 16667"/>
                </a:avLst>
              </a:prstGeom>
              <a:solidFill>
                <a:srgbClr val="F4F8CD"/>
              </a:solidFill>
              <a:ln w="25400">
                <a:solidFill>
                  <a:srgbClr val="B87419"/>
                </a:solidFill>
                <a:round/>
                <a:headEnd/>
                <a:tailEnd/>
              </a:ln>
            </p:spPr>
            <p:txBody>
              <a:bodyPr lIns="0" tIns="0" rIns="0" bIns="0"/>
              <a:lstStyle/>
              <a:p>
                <a:pPr algn="ctr"/>
                <a:endParaRPr lang="zh-TW" altLang="en-US" sz="1350">
                  <a:ea typeface="新細明體" charset="-120"/>
                </a:endParaRPr>
              </a:p>
            </p:txBody>
          </p:sp>
          <p:sp>
            <p:nvSpPr>
              <p:cNvPr id="25" name="Rectangle 31"/>
              <p:cNvSpPr>
                <a:spLocks/>
              </p:cNvSpPr>
              <p:nvPr/>
            </p:nvSpPr>
            <p:spPr bwMode="auto">
              <a:xfrm>
                <a:off x="29" y="181"/>
                <a:ext cx="840" cy="21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lIns="28575" tIns="28575" rIns="28575" bIns="28575" anchor="ctr"/>
              <a:lstStyle/>
              <a:p>
                <a:pPr algn="ctr"/>
                <a:r>
                  <a:rPr lang="en-US" altLang="zh-TW" sz="1350">
                    <a:latin typeface="Lucida Grande" charset="0"/>
                    <a:ea typeface="新細明體" charset="-120"/>
                    <a:sym typeface="Lucida Grande" charset="0"/>
                  </a:rPr>
                  <a:t>VM 1</a:t>
                </a:r>
              </a:p>
            </p:txBody>
          </p:sp>
        </p:grpSp>
        <p:sp>
          <p:nvSpPr>
            <p:cNvPr id="26" name="Rectangle 33"/>
            <p:cNvSpPr>
              <a:spLocks/>
            </p:cNvSpPr>
            <p:nvPr/>
          </p:nvSpPr>
          <p:spPr bwMode="auto">
            <a:xfrm>
              <a:off x="1458686" y="2387601"/>
              <a:ext cx="1058487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latin typeface="Lucida Grande" charset="0"/>
                  <a:ea typeface="新細明體" charset="-120"/>
                  <a:sym typeface="Lucida Grande" charset="0"/>
                </a:rPr>
                <a:t>Hypervisor</a:t>
              </a:r>
            </a:p>
          </p:txBody>
        </p:sp>
        <p:sp>
          <p:nvSpPr>
            <p:cNvPr id="27" name="Rectangle 34"/>
            <p:cNvSpPr>
              <a:spLocks/>
            </p:cNvSpPr>
            <p:nvPr/>
          </p:nvSpPr>
          <p:spPr bwMode="auto">
            <a:xfrm>
              <a:off x="3041054" y="1380954"/>
              <a:ext cx="795359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pPr algn="l"/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QEMU</a:t>
              </a:r>
            </a:p>
          </p:txBody>
        </p:sp>
        <p:sp>
          <p:nvSpPr>
            <p:cNvPr id="29" name="Rectangle 36"/>
            <p:cNvSpPr>
              <a:spLocks/>
            </p:cNvSpPr>
            <p:nvPr/>
          </p:nvSpPr>
          <p:spPr bwMode="auto">
            <a:xfrm>
              <a:off x="4281884" y="2340980"/>
              <a:ext cx="1402198" cy="2654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 cap="rnd">
                  <a:solidFill>
                    <a:schemeClr val="tx1"/>
                  </a:solidFill>
                  <a:round/>
                  <a:headEnd/>
                  <a:tailEnd/>
                </a14:hiddenLine>
              </a:ext>
            </a:extLst>
          </p:spPr>
          <p:txBody>
            <a:bodyPr wrap="square" lIns="28575" tIns="28575" rIns="28575" bIns="28575">
              <a:spAutoFit/>
            </a:bodyPr>
            <a:lstStyle/>
            <a:p>
              <a:r>
                <a:rPr lang="en-US" altLang="zh-TW" sz="1350" b="1" dirty="0">
                  <a:solidFill>
                    <a:srgbClr val="C00000"/>
                  </a:solidFill>
                  <a:latin typeface="Lucida Grande" charset="0"/>
                  <a:ea typeface="新細明體" charset="-120"/>
                  <a:sym typeface="Lucida Grande" charset="0"/>
                </a:rPr>
                <a:t>Linux + KVM</a:t>
              </a:r>
            </a:p>
          </p:txBody>
        </p:sp>
        <p:sp>
          <p:nvSpPr>
            <p:cNvPr id="34" name="文字方塊 33"/>
            <p:cNvSpPr txBox="1"/>
            <p:nvPr/>
          </p:nvSpPr>
          <p:spPr>
            <a:xfrm>
              <a:off x="1822559" y="4129610"/>
              <a:ext cx="5910943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CPU and memory virtualizations are handled in the Linux Kernel Space 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I/O virtualization is handled in the Linux User Space by QEMU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type 2 virtual machine</a:t>
              </a:r>
            </a:p>
            <a:p>
              <a:pPr marL="257175" indent="-257175">
                <a:buFont typeface="+mj-lt"/>
                <a:buAutoNum type="arabicPeriod"/>
              </a:pPr>
              <a:r>
                <a:rPr lang="en-US" altLang="zh-TW" sz="1350" dirty="0"/>
                <a:t>It’s a full virtualization implementation</a:t>
              </a:r>
            </a:p>
          </p:txBody>
        </p:sp>
      </p:grp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A28C4903-027C-635A-566A-7ECCED2AAD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02604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B7C1822-EA05-5EF7-C66E-2306CFE4C6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480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4" y="82948"/>
            <a:ext cx="77951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1571" y="806669"/>
            <a:ext cx="7220858" cy="712932"/>
          </a:xfrm>
        </p:spPr>
        <p:txBody>
          <a:bodyPr>
            <a:noAutofit/>
          </a:bodyPr>
          <a:lstStyle/>
          <a:p>
            <a:r>
              <a:rPr lang="en-US" altLang="zh-TW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(logical Volume Manager) is a logical volume manager for the Linux kernel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manages disk drives and similar mass-storage devices.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56C55D18-7216-091E-2FDD-10D6FFD648E4}"/>
              </a:ext>
            </a:extLst>
          </p:cNvPr>
          <p:cNvGrpSpPr/>
          <p:nvPr/>
        </p:nvGrpSpPr>
        <p:grpSpPr>
          <a:xfrm>
            <a:off x="3110895" y="1972733"/>
            <a:ext cx="2922210" cy="2582186"/>
            <a:chOff x="2802194" y="1275607"/>
            <a:chExt cx="3834426" cy="3442013"/>
          </a:xfrm>
        </p:grpSpPr>
        <p:pic>
          <p:nvPicPr>
            <p:cNvPr id="17410" name="Picture 2" descr="http://bobcares.com/images/lvm_internal.gif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802194" y="1275607"/>
              <a:ext cx="3834426" cy="31953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矩形 3"/>
            <p:cNvSpPr/>
            <p:nvPr/>
          </p:nvSpPr>
          <p:spPr>
            <a:xfrm>
              <a:off x="3408491" y="4417538"/>
              <a:ext cx="2258952" cy="30008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TW" sz="1350" b="1" dirty="0"/>
                <a:t> Logical Volume Manager</a:t>
              </a:r>
              <a:endParaRPr lang="zh-TW" altLang="en-US" sz="1350" b="1" dirty="0"/>
            </a:p>
          </p:txBody>
        </p:sp>
      </p:grpSp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519866AF-040F-18FF-C3BB-FA094C6413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16796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72459" y="82948"/>
            <a:ext cx="775403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LVM - Example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1657" y="795690"/>
            <a:ext cx="7663543" cy="815071"/>
          </a:xfrm>
        </p:spPr>
        <p:txBody>
          <a:bodyPr>
            <a:no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partition -&gt; physical volumes -&gt; volume group -&gt; logical volumes -&gt; file systems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6386" name="Picture 2" descr="http://www.tuxradar.com/files/LXF112.tut_adv.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510" y="1786896"/>
            <a:ext cx="6656933" cy="27543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062A422A-9581-2B6A-F64B-008BD9E233D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1762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1333" y="108349"/>
            <a:ext cx="774435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RAID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1011" y="794739"/>
            <a:ext cx="3923696" cy="3554022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(redundant array of independent disks) is a storage technology that combines multiple disk drive components into a logical unit</a:t>
            </a:r>
          </a:p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is distributed across the drives in one of several ways called "RAID levels“, such as RAID0, RAID1, etc., depending on the level of redundancy and performance required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94FC6AA-ED4B-0E30-814D-DCAA03DF8E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25</a:t>
            </a:fld>
            <a:endParaRPr lang="zh-TW" altLang="en-US"/>
          </a:p>
        </p:txBody>
      </p:sp>
      <p:grpSp>
        <p:nvGrpSpPr>
          <p:cNvPr id="5" name="组合 4">
            <a:extLst>
              <a:ext uri="{FF2B5EF4-FFF2-40B4-BE49-F238E27FC236}">
                <a16:creationId xmlns:a16="http://schemas.microsoft.com/office/drawing/2014/main" id="{4E7FC961-5406-3CF7-5E03-355C16E44F65}"/>
              </a:ext>
            </a:extLst>
          </p:cNvPr>
          <p:cNvGrpSpPr/>
          <p:nvPr/>
        </p:nvGrpSpPr>
        <p:grpSpPr>
          <a:xfrm>
            <a:off x="4805930" y="1092285"/>
            <a:ext cx="2343116" cy="3018929"/>
            <a:chOff x="687308" y="1389473"/>
            <a:chExt cx="2690675" cy="3018929"/>
          </a:xfrm>
        </p:grpSpPr>
        <p:pic>
          <p:nvPicPr>
            <p:cNvPr id="6" name="Picture 2" descr="File:RAID 0.svg">
              <a:extLst>
                <a:ext uri="{FF2B5EF4-FFF2-40B4-BE49-F238E27FC236}">
                  <a16:creationId xmlns:a16="http://schemas.microsoft.com/office/drawing/2014/main" id="{DF90C7F2-9BEF-D9C6-579F-EDC8BBA21D9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76731" y="1389473"/>
              <a:ext cx="1527937" cy="224674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矩形 6">
              <a:extLst>
                <a:ext uri="{FF2B5EF4-FFF2-40B4-BE49-F238E27FC236}">
                  <a16:creationId xmlns:a16="http://schemas.microsoft.com/office/drawing/2014/main" id="{E5DEBA80-4219-C0D3-1D2C-F25C0D1B0546}"/>
                </a:ext>
              </a:extLst>
            </p:cNvPr>
            <p:cNvSpPr/>
            <p:nvPr/>
          </p:nvSpPr>
          <p:spPr>
            <a:xfrm>
              <a:off x="687308" y="3577405"/>
              <a:ext cx="2690675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2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It provides improved performance and additional storage but no fault tolerance (block-level striping without parity or mirroring) . </a:t>
              </a:r>
              <a:endParaRPr lang="zh-TW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8" name="组合 7">
            <a:extLst>
              <a:ext uri="{FF2B5EF4-FFF2-40B4-BE49-F238E27FC236}">
                <a16:creationId xmlns:a16="http://schemas.microsoft.com/office/drawing/2014/main" id="{A1D1FEA1-1ABF-5B57-3EF0-B8DD111E8CAE}"/>
              </a:ext>
            </a:extLst>
          </p:cNvPr>
          <p:cNvGrpSpPr/>
          <p:nvPr/>
        </p:nvGrpSpPr>
        <p:grpSpPr>
          <a:xfrm>
            <a:off x="7198624" y="1092284"/>
            <a:ext cx="1477066" cy="2777336"/>
            <a:chOff x="5161871" y="1164370"/>
            <a:chExt cx="1750907" cy="3013102"/>
          </a:xfrm>
        </p:grpSpPr>
        <p:pic>
          <p:nvPicPr>
            <p:cNvPr id="9" name="Picture 4" descr="File:RAID 1.svg">
              <a:extLst>
                <a:ext uri="{FF2B5EF4-FFF2-40B4-BE49-F238E27FC236}">
                  <a16:creationId xmlns:a16="http://schemas.microsoft.com/office/drawing/2014/main" id="{1211AE67-6B9B-EE03-1D2E-220352A391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61871" y="1164370"/>
              <a:ext cx="1577253" cy="24265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76CE6178-D49F-FF46-A7A4-6D207BE32960}"/>
                </a:ext>
              </a:extLst>
            </p:cNvPr>
            <p:cNvSpPr/>
            <p:nvPr/>
          </p:nvSpPr>
          <p:spPr>
            <a:xfrm>
              <a:off x="5161871" y="3626532"/>
              <a:ext cx="1750907" cy="5509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altLang="zh-TW" sz="135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Mirroring without parity or striping</a:t>
              </a:r>
              <a:endParaRPr lang="zh-TW" altLang="en-US" sz="135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36073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94229" y="108349"/>
            <a:ext cx="7681461" cy="519113"/>
          </a:xfrm>
        </p:spPr>
        <p:txBody>
          <a:bodyPr/>
          <a:lstStyle/>
          <a:p>
            <a:r>
              <a:rPr lang="en-US" altLang="zh-TW" dirty="0"/>
              <a:t>LVM and RIAD for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94229" y="844153"/>
            <a:ext cx="7286171" cy="2957380"/>
          </a:xfrm>
        </p:spPr>
        <p:txBody>
          <a:bodyPr/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LVM provides a virtual storage systems which is flexible to partition and allocate logical volumes to virtual machines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RAID not only improves storage performance but has fault tolerance capability</a:t>
            </a:r>
          </a:p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Leaning how to configure LVM and RAID in the virtualization system </a:t>
            </a:r>
            <a:endParaRPr lang="zh-TW" alt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DEF16210-DB97-34D3-2D8E-4446AE6223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7751995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5A81C3F9-8066-9960-AAF3-7CAA26130C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88918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07143" y="108349"/>
            <a:ext cx="7768547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(1)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00172" y="827314"/>
            <a:ext cx="4689428" cy="360075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Software defined networking (SDN) is an approach to building computer networks that separates and abstracts elements of these systems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SDN decouples the system that makes decisions about where traffic is sent (the control plane) from the underlying system that forwards traffic to the selected destination (the data plane)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CF786560-52AA-099B-AB2A-3392F2303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28</a:t>
            </a:fld>
            <a:endParaRPr lang="zh-TW" altLang="en-US"/>
          </a:p>
        </p:txBody>
      </p:sp>
      <p:pic>
        <p:nvPicPr>
          <p:cNvPr id="1026" name="Picture 2" descr="Software defined networks Images - Free Download on Magnific (formerly Freepik)">
            <a:extLst>
              <a:ext uri="{FF2B5EF4-FFF2-40B4-BE49-F238E27FC236}">
                <a16:creationId xmlns:a16="http://schemas.microsoft.com/office/drawing/2014/main" id="{686D791C-5770-5B69-DDA7-1B6838D748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31456" y="1223433"/>
            <a:ext cx="2696633" cy="2696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17795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78114" y="82948"/>
            <a:ext cx="7797576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Defined Network (2)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78114" y="831346"/>
            <a:ext cx="7178628" cy="2685949"/>
          </a:xfrm>
        </p:spPr>
        <p:txBody>
          <a:bodyPr>
            <a:norm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inventors and vendors of these systems claim that this technology simplifies networking and enables new applications, such as 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Network virtualization in which the control plane is separated from the data plane and implemented in a software application.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6ADBB87-3AFA-D0E3-436D-4FD89B2984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661743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2867" y="82948"/>
            <a:ext cx="7752823" cy="519113"/>
          </a:xfrm>
        </p:spPr>
        <p:txBody>
          <a:bodyPr/>
          <a:lstStyle/>
          <a:p>
            <a:r>
              <a:rPr lang="en-US" altLang="zh-TW" dirty="0"/>
              <a:t>Open </a:t>
            </a:r>
            <a:r>
              <a:rPr lang="en-US" altLang="zh-TW" dirty="0" err="1"/>
              <a:t>vSwitch</a:t>
            </a:r>
            <a:endParaRPr lang="zh-TW" altLang="en-US" dirty="0"/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1CBBAE6-408D-D33C-02AE-769EFD3B77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30</a:t>
            </a:fld>
            <a:endParaRPr lang="zh-TW" altLang="en-US"/>
          </a:p>
        </p:txBody>
      </p:sp>
      <p:pic>
        <p:nvPicPr>
          <p:cNvPr id="5" name="Picture 2" descr="open vswitch">
            <a:extLst>
              <a:ext uri="{FF2B5EF4-FFF2-40B4-BE49-F238E27FC236}">
                <a16:creationId xmlns:a16="http://schemas.microsoft.com/office/drawing/2014/main" id="{3BFB4A3D-CA71-E687-E928-84D1568FE0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2109" y="1498600"/>
            <a:ext cx="3271103" cy="21759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56342" y="844153"/>
            <a:ext cx="4985657" cy="3702446"/>
          </a:xfrm>
        </p:spPr>
        <p:txBody>
          <a:bodyPr>
            <a:normAutofit lnSpcReduction="10000"/>
          </a:bodyPr>
          <a:lstStyle/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flexible, multi-layer software network switch. Typically used in virtualization environments as the network switching component in the hypervisor.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maintains the logical state of a virtual machine's network connection across physical hosts when a virtual machine is migrated, and it can be managed and monitored by standard protocols such as: OpenFlow, NetFlow,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sFlow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SPAN, RSPAN. </a:t>
            </a:r>
          </a:p>
          <a:p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When it comes to virtualization, open </a:t>
            </a:r>
            <a:r>
              <a:rPr lang="en-US" altLang="zh-TW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vSwitch</a:t>
            </a:r>
            <a:r>
              <a:rPr lang="en-US" altLang="zh-TW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attractive because it provides the ability for a single controller to manage your virtual network across all your servers20</a:t>
            </a:r>
          </a:p>
          <a:p>
            <a:endParaRPr lang="zh-TW" alt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9209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108349"/>
            <a:ext cx="7710490" cy="519113"/>
          </a:xfrm>
        </p:spPr>
        <p:txBody>
          <a:bodyPr/>
          <a:lstStyle/>
          <a:p>
            <a:r>
              <a:rPr lang="en-US" altLang="zh-TW" dirty="0" err="1"/>
              <a:t>InfiniBand</a:t>
            </a:r>
            <a:r>
              <a:rPr lang="en-US" altLang="zh-TW" dirty="0"/>
              <a:t> Virtualization</a:t>
            </a:r>
            <a:endParaRPr lang="zh-TW" altLang="en-US" dirty="0"/>
          </a:p>
        </p:txBody>
      </p:sp>
      <p:sp>
        <p:nvSpPr>
          <p:cNvPr id="4" name="內容版面配置區 3"/>
          <p:cNvSpPr>
            <a:spLocks noGrp="1"/>
          </p:cNvSpPr>
          <p:nvPr>
            <p:ph idx="1"/>
          </p:nvPr>
        </p:nvSpPr>
        <p:spPr>
          <a:xfrm>
            <a:off x="965200" y="821188"/>
            <a:ext cx="7106931" cy="1989742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InfiniBand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switched fabric communications link used in high-performance computing and enterprise data centers.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two key features : low latency and high bandwidth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Virtualization using InfiniBand brings big benefits to data centers</a:t>
            </a:r>
          </a:p>
        </p:txBody>
      </p:sp>
      <p:sp>
        <p:nvSpPr>
          <p:cNvPr id="3" name="灯片编号占位符 1">
            <a:extLst>
              <a:ext uri="{FF2B5EF4-FFF2-40B4-BE49-F238E27FC236}">
                <a16:creationId xmlns:a16="http://schemas.microsoft.com/office/drawing/2014/main" id="{BA99A53E-CC1D-F08D-D065-13FD3A8A8F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31</a:t>
            </a:fld>
            <a:endParaRPr lang="zh-TW" altLang="en-US"/>
          </a:p>
        </p:txBody>
      </p:sp>
      <p:pic>
        <p:nvPicPr>
          <p:cNvPr id="6" name="图片 5" descr="图片包含 图形用户界面&#10;&#10;描述已自动生成">
            <a:extLst>
              <a:ext uri="{FF2B5EF4-FFF2-40B4-BE49-F238E27FC236}">
                <a16:creationId xmlns:a16="http://schemas.microsoft.com/office/drawing/2014/main" id="{5F3264B7-9121-F9B6-FDEC-98F34E1CF8F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4485" y="2963334"/>
            <a:ext cx="1663328" cy="1547282"/>
          </a:xfrm>
          <a:prstGeom prst="rect">
            <a:avLst/>
          </a:prstGeom>
        </p:spPr>
      </p:pic>
      <p:pic>
        <p:nvPicPr>
          <p:cNvPr id="8" name="图片 7" descr="图片包含 水, 骑, 男人, 狗&#10;&#10;描述已自动生成">
            <a:extLst>
              <a:ext uri="{FF2B5EF4-FFF2-40B4-BE49-F238E27FC236}">
                <a16:creationId xmlns:a16="http://schemas.microsoft.com/office/drawing/2014/main" id="{3CC83BAB-0384-0C1A-E40B-C879958DA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0171" y="3409802"/>
            <a:ext cx="3636963" cy="836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85267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7450BE8F-6106-8E17-1F0A-A15002A15A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1515723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81086" y="91415"/>
            <a:ext cx="7794604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Graphics </a:t>
            </a:r>
            <a:r>
              <a:rPr lang="en-US" altLang="zh-CN" dirty="0"/>
              <a:t>P</a:t>
            </a:r>
            <a:r>
              <a:rPr lang="en-US" altLang="zh-TW" dirty="0"/>
              <a:t>rocessing Unit (GPU) 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81086" y="829649"/>
            <a:ext cx="7381827" cy="1196023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Graphics Processing Units (GPUs) are high-performance many-core processors capable of very high computation and data throughput.</a:t>
            </a:r>
          </a:p>
        </p:txBody>
      </p:sp>
      <p:pic>
        <p:nvPicPr>
          <p:cNvPr id="2050" name="Picture 2" descr="https://encrypted-tbn1.gstatic.com/images?q=tbn:ANd9GcQ8KuAvXmzjJs6jCraVgl2QXhl7c6ofGHViGXpwQ8TJss6kGN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2313" y="2447198"/>
            <a:ext cx="3019374" cy="20592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21D9793-B552-307C-2CB2-48B374B63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59335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27029" y="108349"/>
            <a:ext cx="7954503" cy="519113"/>
          </a:xfrm>
        </p:spPr>
        <p:txBody>
          <a:bodyPr>
            <a:noAutofit/>
          </a:bodyPr>
          <a:lstStyle/>
          <a:p>
            <a:r>
              <a:rPr lang="en-US" altLang="zh-TW" sz="3200" dirty="0"/>
              <a:t>Performance Comparison - GPU vs. CPU</a:t>
            </a:r>
            <a:endParaRPr lang="zh-TW" altLang="en-US" sz="32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27029" y="809724"/>
            <a:ext cx="7026800" cy="1019075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While the Intel Core I7 980X (extreme edition) gives us around 110GFLOPS,  GPUs such as AMD Radeon 6970 and NVidia C2090 offer more than 660GFLOPS.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8" name="Picture 4" descr="http://3.bp.blogspot.com/-CMJkP4H8_tE/TfOYpCqBe7I/AAAAAAAAA9E/sBjmlolpCDg/s1600/chart1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9943" y="1915884"/>
            <a:ext cx="4231062" cy="261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99B69390-24CE-B6CE-51FF-E71F2AE7D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3772170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7467" y="108349"/>
            <a:ext cx="7778223" cy="519113"/>
          </a:xfrm>
        </p:spPr>
        <p:txBody>
          <a:bodyPr/>
          <a:lstStyle/>
          <a:p>
            <a:r>
              <a:rPr lang="en-US" altLang="zh-TW" dirty="0"/>
              <a:t>GPGPU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2456" y="844153"/>
            <a:ext cx="7416801" cy="33432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performance of modern Graphics Processing Units may be utilized not only for graphics related application but also for general computing.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Today’s GPUs are general-purpose parallel processors with support for accessible programming interfaces and industry-standard languages such as C. 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Developers who port their applications to GPUs often achieve speedups of orders of magnitude vs. optimized CPU implementations. 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56D975B6-97FC-E4E6-DE8B-37615DECCE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457364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8267" y="82948"/>
            <a:ext cx="7727423" cy="519113"/>
          </a:xfrm>
        </p:spPr>
        <p:txBody>
          <a:bodyPr/>
          <a:lstStyle/>
          <a:p>
            <a:r>
              <a:rPr lang="en-US" altLang="zh-TW" dirty="0"/>
              <a:t>GPU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48267" y="844153"/>
            <a:ext cx="7738532" cy="1209618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GPU virtualization allows multiple virtual machines to interact directly with a GPU and manages the GPU resources so multiple users can share common hardware, while improving user density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Chart showing synergy between Kepler technology and NVIDIA VGX Hypervisor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1484" y="2181375"/>
            <a:ext cx="3426859" cy="22638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灯片编号占位符 1">
            <a:extLst>
              <a:ext uri="{FF2B5EF4-FFF2-40B4-BE49-F238E27FC236}">
                <a16:creationId xmlns:a16="http://schemas.microsoft.com/office/drawing/2014/main" id="{D429910D-D277-9ABB-7BD4-A604038BFF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26072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Software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E024C90A-F1F5-4686-A067-F994E940C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551445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14400" y="82948"/>
            <a:ext cx="7761290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Software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69772" y="853881"/>
            <a:ext cx="7004456" cy="3333490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administrators have a lot to deal with in today’s corporate infrastructure. With the ever increasing prices of upgrading desktop computers, software virtualization is becoming very appealing. 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has following features: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Ease of Management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Green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Portable</a:t>
            </a: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E02FD9CD-155D-D045-1C5B-D4C6D025E4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73376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30126" y="82948"/>
            <a:ext cx="7804833" cy="519113"/>
          </a:xfrm>
        </p:spPr>
        <p:txBody>
          <a:bodyPr>
            <a:noAutofit/>
          </a:bodyPr>
          <a:lstStyle/>
          <a:p>
            <a:r>
              <a:rPr lang="en-US" altLang="zh-TW" dirty="0"/>
              <a:t>Virtual Desktop Infrastructure (VDI)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34356" y="785123"/>
            <a:ext cx="6990443" cy="1435561"/>
          </a:xfrm>
        </p:spPr>
        <p:txBody>
          <a:bodyPr>
            <a:noAutofit/>
          </a:bodyPr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desktop Infrastructure (VDI) is a desktop-centric service that hosts users desktop environments on remote servers, which are accessed over a network using a remote display protocol. 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5362" name="Picture 2" descr="http://mythoughtsonit.com/wp-content/uploads/2012/10/vdi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7519" y="2220683"/>
            <a:ext cx="3177069" cy="232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878F1DA7-932E-CE92-0030-321A6072F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400311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6186" y="82948"/>
            <a:ext cx="7743372" cy="519113"/>
          </a:xfrm>
        </p:spPr>
        <p:txBody>
          <a:bodyPr>
            <a:noAutofit/>
          </a:bodyPr>
          <a:lstStyle/>
          <a:p>
            <a:r>
              <a:rPr lang="en-US" altLang="zh-TW" dirty="0" err="1"/>
              <a:t>EyeOS</a:t>
            </a:r>
            <a:r>
              <a:rPr lang="en-US" altLang="zh-TW" dirty="0"/>
              <a:t> - Web Desktop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00314" y="833874"/>
            <a:ext cx="7743372" cy="1152106"/>
          </a:xfrm>
        </p:spPr>
        <p:txBody>
          <a:bodyPr>
            <a:noAutofit/>
          </a:bodyPr>
          <a:lstStyle/>
          <a:p>
            <a:r>
              <a:rPr lang="en-US" altLang="zh-TW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eyeOS</a:t>
            </a:r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web desktop following the cloud computing concept that seeks to enable collaboration and communication among users. It is mainly written in PHP, XML, and JavaScript</a:t>
            </a:r>
            <a:endParaRPr lang="zh-TW" alt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338" name="Picture 2" descr="File:EyeOS-2.4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63371" y="2078644"/>
            <a:ext cx="3947886" cy="2467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3A07BDC2-8DD3-FEE1-07A8-C70AE37DEC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86958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Virtualization Techniques</a:t>
            </a:r>
            <a:endParaRPr lang="zh-TW" altLang="en-US" dirty="0"/>
          </a:p>
        </p:txBody>
      </p:sp>
      <p:sp>
        <p:nvSpPr>
          <p:cNvPr id="5" name="文字版面配置區 4"/>
          <p:cNvSpPr>
            <a:spLocks noGrp="1"/>
          </p:cNvSpPr>
          <p:nvPr>
            <p:ph type="body" idx="1"/>
          </p:nvPr>
        </p:nvSpPr>
        <p:spPr>
          <a:xfrm>
            <a:off x="1684735" y="1383618"/>
            <a:ext cx="5829300" cy="1921558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System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Storage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Network Virtualization	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GPU Virtualization</a:t>
            </a:r>
          </a:p>
          <a:p>
            <a:r>
              <a:rPr lang="en-US" altLang="zh-TW" dirty="0">
                <a:solidFill>
                  <a:schemeClr val="bg1">
                    <a:lumMod val="50000"/>
                  </a:schemeClr>
                </a:solidFill>
              </a:rPr>
              <a:t>Software Virtualization</a:t>
            </a:r>
          </a:p>
          <a:p>
            <a:r>
              <a:rPr lang="en-US" altLang="zh-TW" b="1" dirty="0">
                <a:solidFill>
                  <a:srgbClr val="FF0000"/>
                </a:solidFill>
              </a:rPr>
              <a:t>Hardware Support  Virtualization</a:t>
            </a:r>
          </a:p>
        </p:txBody>
      </p:sp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424F0DB-F821-2F0F-BA4A-8C261AFA16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846841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1683" y="858608"/>
            <a:ext cx="3238659" cy="36724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8830" y="82948"/>
            <a:ext cx="7732261" cy="519113"/>
          </a:xfrm>
        </p:spPr>
        <p:txBody>
          <a:bodyPr/>
          <a:lstStyle/>
          <a:p>
            <a:r>
              <a:rPr lang="en-US" altLang="zh-TW" dirty="0"/>
              <a:t>Intel VT-x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06777" y="858608"/>
            <a:ext cx="4164368" cy="3394472"/>
          </a:xfrm>
        </p:spPr>
        <p:txBody>
          <a:bodyPr/>
          <a:lstStyle/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CPU Operating Mode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VMX Root Operation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Non-Root Operation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Transitions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entry to Guest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exit to VMM</a:t>
            </a:r>
          </a:p>
          <a:p>
            <a:r>
              <a:rPr lang="en-US" altLang="zh-TW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VM Control Structure</a:t>
            </a:r>
          </a:p>
          <a:p>
            <a:pPr lvl="1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Configured by VMM software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22575406-1D5F-8409-46D6-731E0F5BB9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6503619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41011" y="82948"/>
            <a:ext cx="7768547" cy="519113"/>
          </a:xfrm>
        </p:spPr>
        <p:txBody>
          <a:bodyPr/>
          <a:lstStyle/>
          <a:p>
            <a:r>
              <a:rPr lang="en-US" altLang="zh-TW" dirty="0"/>
              <a:t>ARM Virtualization Extension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77184" y="808195"/>
            <a:ext cx="7696200" cy="2043675"/>
          </a:xfrm>
        </p:spPr>
        <p:txBody>
          <a:bodyPr>
            <a:noAutofit/>
          </a:bodyPr>
          <a:lstStyle/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Secure world supports a single virtual machine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New Non-secure level of privilege to hold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Hypervisor mode applies to normal world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Hyp</a:t>
            </a: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Mode is used by the Hypervisor</a:t>
            </a:r>
          </a:p>
          <a:p>
            <a:pPr lvl="1">
              <a:spcBef>
                <a:spcPts val="0"/>
              </a:spcBef>
            </a:pPr>
            <a:r>
              <a:rPr lang="en-US" altLang="zh-TW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Guest OS given same kernel/user privilege structure as for a non virtualized environment</a:t>
            </a:r>
          </a:p>
          <a:p>
            <a:pPr>
              <a:spcBef>
                <a:spcPts val="0"/>
              </a:spcBef>
            </a:pP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mode controls transition between worlds</a:t>
            </a:r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7064" y="2987876"/>
            <a:ext cx="4089176" cy="160287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764A5C0E-ED98-7669-4291-6B9C17971E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34952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5200" y="82948"/>
            <a:ext cx="7718957" cy="519113"/>
          </a:xfrm>
        </p:spPr>
        <p:txBody>
          <a:bodyPr/>
          <a:lstStyle/>
          <a:p>
            <a:r>
              <a:rPr lang="en-US" altLang="zh-TW" dirty="0"/>
              <a:t>Single-Root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032933" y="787385"/>
            <a:ext cx="7642756" cy="1048671"/>
          </a:xfrm>
        </p:spPr>
        <p:txBody>
          <a:bodyPr>
            <a:no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PCI-SIG specifies multiple functional elements addressing performance and security aspects of I/O virtualization</a:t>
            </a:r>
          </a:p>
          <a:p>
            <a:r>
              <a:rPr lang="en-US" altLang="zh-TW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devices will have multiple virtual functions (VF’s)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43" name="Picture 3" descr="\\vmware-host\Shared Folders\Desktop\Virtualization\SRIOV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8151" y="2002329"/>
            <a:ext cx="3034477" cy="25671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6F486E5D-F5CD-088B-81D1-C4011F03DD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105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96260" y="82948"/>
            <a:ext cx="7779430" cy="519113"/>
          </a:xfrm>
        </p:spPr>
        <p:txBody>
          <a:bodyPr/>
          <a:lstStyle/>
          <a:p>
            <a:r>
              <a:rPr lang="en-US" altLang="zh-TW" dirty="0"/>
              <a:t>Multi-Root I/O Virtualization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6260" y="848150"/>
            <a:ext cx="6434473" cy="697623"/>
          </a:xfrm>
        </p:spPr>
        <p:txBody>
          <a:bodyPr>
            <a:normAutofit fontScale="70000" lnSpcReduction="20000"/>
          </a:bodyPr>
          <a:lstStyle/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hardware domains utilizing same IO endpoints</a:t>
            </a:r>
          </a:p>
          <a:p>
            <a:r>
              <a:rPr lang="en-US" altLang="zh-TW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Virtual functions are dedicated to virtual machines</a:t>
            </a:r>
          </a:p>
        </p:txBody>
      </p:sp>
      <p:pic>
        <p:nvPicPr>
          <p:cNvPr id="12290" name="Picture 2" descr="\\vmware-host\Shared Folders\Desktop\Virtualization\MRIOV.pn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15771" y="1630614"/>
            <a:ext cx="3512458" cy="29488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灯片编号占位符 1">
            <a:extLst>
              <a:ext uri="{FF2B5EF4-FFF2-40B4-BE49-F238E27FC236}">
                <a16:creationId xmlns:a16="http://schemas.microsoft.com/office/drawing/2014/main" id="{1EA4B6C3-0607-134E-4B53-B1CF4BBAC6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6831013" y="4893471"/>
            <a:ext cx="2133600" cy="254794"/>
          </a:xfrm>
        </p:spPr>
        <p:txBody>
          <a:bodyPr/>
          <a:lstStyle/>
          <a:p>
            <a:fld id="{D9B6BDF2-6896-4B98-8776-C18582F63BA5}" type="slidenum">
              <a:rPr lang="zh-TW" altLang="en-US" smtClean="0"/>
              <a:pPr/>
              <a:t>45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58181314"/>
      </p:ext>
    </p:extLst>
  </p:cSld>
  <p:clrMapOvr>
    <a:masterClrMapping/>
  </p:clrMapOvr>
</p:sld>
</file>

<file path=ppt/theme/theme1.xml><?xml version="1.0" encoding="utf-8"?>
<a:theme xmlns:a="http://schemas.openxmlformats.org/drawingml/2006/main" name="NTHU UniCloud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預設簡報設計">
      <a:majorFont>
        <a:latin typeface="MS Sans Serif"/>
        <a:ea typeface="MS Sans Serif"/>
        <a:cs typeface="MS Sans Serif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5875" cap="flat" cmpd="sng" algn="ctr">
          <a:solidFill>
            <a:srgbClr val="FF0000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altLang="zh-TW" sz="18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  <a:ea typeface="新細明體" pitchFamily="18" charset="-120"/>
          </a:defRPr>
        </a:defPPr>
      </a:lstStyle>
    </a:lnDef>
    <a:txDef>
      <a:spPr>
        <a:noFill/>
      </a:spPr>
      <a:bodyPr wrap="none" rtlCol="0" anchor="ctr" anchorCtr="1">
        <a:spAutoFit/>
      </a:bodyPr>
      <a:lstStyle>
        <a:defPPr>
          <a:defRPr dirty="0" smtClean="0">
            <a:ea typeface="標楷體" pitchFamily="65" charset="-120"/>
            <a:cs typeface="Calibri" pitchFamily="34" charset="0"/>
          </a:defRPr>
        </a:defPPr>
      </a:lstStyle>
    </a:txDef>
  </a:objectDefaults>
  <a:extraClrSchemeLst>
    <a:extraClrScheme>
      <a:clrScheme name="預設簡報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預設簡報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預設簡報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NTHU UniCloud" id="{771810AA-CEBD-463A-B947-7C0DFAF8BB54}" vid="{30CF6CD1-9989-4B2E-8702-709C1DF65D8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NTHU UniCloud</Template>
  <TotalTime>2670</TotalTime>
  <Words>1745</Words>
  <Application>Microsoft Office PowerPoint</Application>
  <PresentationFormat>全屏显示(16:9)</PresentationFormat>
  <Paragraphs>339</Paragraphs>
  <Slides>45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45</vt:i4>
      </vt:variant>
    </vt:vector>
  </HeadingPairs>
  <TitlesOfParts>
    <vt:vector size="53" baseType="lpstr">
      <vt:lpstr>Lucida Grande</vt:lpstr>
      <vt:lpstr>MS Sans Serif</vt:lpstr>
      <vt:lpstr>新細明體</vt:lpstr>
      <vt:lpstr>Arial</vt:lpstr>
      <vt:lpstr>Calibri</vt:lpstr>
      <vt:lpstr>Times New Roman</vt:lpstr>
      <vt:lpstr>Wingdings</vt:lpstr>
      <vt:lpstr>NTHU UniCloud</vt:lpstr>
      <vt:lpstr>CSC6103 – Virtualization Techniques</vt:lpstr>
      <vt:lpstr>Outline</vt:lpstr>
      <vt:lpstr>Introduction</vt:lpstr>
      <vt:lpstr>Multiple VMs in One Machine</vt:lpstr>
      <vt:lpstr>Performance of Virtualizations </vt:lpstr>
      <vt:lpstr>History of Virtualization</vt:lpstr>
      <vt:lpstr>Example - Server Virtualization</vt:lpstr>
      <vt:lpstr>Benefits of Server Virtualization</vt:lpstr>
      <vt:lpstr>Example - Mobile Virtualization</vt:lpstr>
      <vt:lpstr>Benefits of Mobile Virtualization</vt:lpstr>
      <vt:lpstr>Virtualization Techniques (1)</vt:lpstr>
      <vt:lpstr>Virtualization Techniques (2)</vt:lpstr>
      <vt:lpstr>Virtualization Techniques</vt:lpstr>
      <vt:lpstr>Virtual Machine (1)</vt:lpstr>
      <vt:lpstr>Virtual Machine (2)</vt:lpstr>
      <vt:lpstr>System Virtual Machine</vt:lpstr>
      <vt:lpstr>Two Types of Hypervisor (1)</vt:lpstr>
      <vt:lpstr>Two Types of Hypervisor (2)</vt:lpstr>
      <vt:lpstr>Purposes of Hypervisor</vt:lpstr>
      <vt:lpstr>Implementations of Hypervisor</vt:lpstr>
      <vt:lpstr>Hypervisor Case - KVM</vt:lpstr>
      <vt:lpstr>Virtualization Techniques</vt:lpstr>
      <vt:lpstr>LVM  </vt:lpstr>
      <vt:lpstr>LVM - Example</vt:lpstr>
      <vt:lpstr>RAID</vt:lpstr>
      <vt:lpstr>LVM and RIAD for Virtualization</vt:lpstr>
      <vt:lpstr>Virtualization Techniques</vt:lpstr>
      <vt:lpstr>Software Defined Network (1) </vt:lpstr>
      <vt:lpstr>Software Defined Network (2) </vt:lpstr>
      <vt:lpstr>Open vSwitch</vt:lpstr>
      <vt:lpstr>InfiniBand Virtualization</vt:lpstr>
      <vt:lpstr>Virtualization Techniques</vt:lpstr>
      <vt:lpstr>Graphics Processing Unit (GPU) </vt:lpstr>
      <vt:lpstr>Performance Comparison - GPU vs. CPU</vt:lpstr>
      <vt:lpstr>GPGPU</vt:lpstr>
      <vt:lpstr>GPU Virtualization</vt:lpstr>
      <vt:lpstr>Virtualization Techniques</vt:lpstr>
      <vt:lpstr>Software Virtualization</vt:lpstr>
      <vt:lpstr>Virtual Desktop Infrastructure (VDI)</vt:lpstr>
      <vt:lpstr>EyeOS - Web Desktop Virtualization</vt:lpstr>
      <vt:lpstr>Virtualization Techniques</vt:lpstr>
      <vt:lpstr>Intel VT-x</vt:lpstr>
      <vt:lpstr>ARM Virtualization Extension</vt:lpstr>
      <vt:lpstr>Single-Root I/O Virtualization</vt:lpstr>
      <vt:lpstr>Multi-Root I/O Virtualization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Open 5G / IoT Cloud Platform</dc:title>
  <dc:creator>Wu-Chun Chung</dc:creator>
  <cp:lastModifiedBy>Yeh-Ching Chung</cp:lastModifiedBy>
  <cp:revision>302</cp:revision>
  <dcterms:created xsi:type="dcterms:W3CDTF">2015-06-05T07:23:35Z</dcterms:created>
  <dcterms:modified xsi:type="dcterms:W3CDTF">2026-09-10T20:58:32Z</dcterms:modified>
</cp:coreProperties>
</file>