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9"/>
  </p:notesMasterIdLst>
  <p:handoutMasterIdLst>
    <p:handoutMasterId r:id="rId50"/>
  </p:handoutMasterIdLst>
  <p:sldIdLst>
    <p:sldId id="256" r:id="rId2"/>
    <p:sldId id="257" r:id="rId3"/>
    <p:sldId id="420" r:id="rId4"/>
    <p:sldId id="427" r:id="rId5"/>
    <p:sldId id="434" r:id="rId6"/>
    <p:sldId id="419" r:id="rId7"/>
    <p:sldId id="424" r:id="rId8"/>
    <p:sldId id="425" r:id="rId9"/>
    <p:sldId id="422" r:id="rId10"/>
    <p:sldId id="421" r:id="rId11"/>
    <p:sldId id="423" r:id="rId12"/>
    <p:sldId id="426" r:id="rId13"/>
    <p:sldId id="289" r:id="rId14"/>
    <p:sldId id="429" r:id="rId15"/>
    <p:sldId id="436" r:id="rId16"/>
    <p:sldId id="432" r:id="rId17"/>
    <p:sldId id="433" r:id="rId18"/>
    <p:sldId id="430" r:id="rId19"/>
    <p:sldId id="435" r:id="rId20"/>
    <p:sldId id="437" r:id="rId21"/>
    <p:sldId id="439" r:id="rId22"/>
    <p:sldId id="414" r:id="rId23"/>
    <p:sldId id="451" r:id="rId24"/>
    <p:sldId id="450" r:id="rId25"/>
    <p:sldId id="452" r:id="rId26"/>
    <p:sldId id="453" r:id="rId27"/>
    <p:sldId id="459" r:id="rId28"/>
    <p:sldId id="415" r:id="rId29"/>
    <p:sldId id="454" r:id="rId30"/>
    <p:sldId id="460" r:id="rId31"/>
    <p:sldId id="455" r:id="rId32"/>
    <p:sldId id="456" r:id="rId33"/>
    <p:sldId id="457" r:id="rId34"/>
    <p:sldId id="416" r:id="rId35"/>
    <p:sldId id="461" r:id="rId36"/>
    <p:sldId id="462" r:id="rId37"/>
    <p:sldId id="463" r:id="rId38"/>
    <p:sldId id="464" r:id="rId39"/>
    <p:sldId id="417" r:id="rId40"/>
    <p:sldId id="465" r:id="rId41"/>
    <p:sldId id="448" r:id="rId42"/>
    <p:sldId id="449" r:id="rId43"/>
    <p:sldId id="418" r:id="rId44"/>
    <p:sldId id="441" r:id="rId45"/>
    <p:sldId id="447" r:id="rId46"/>
    <p:sldId id="443" r:id="rId47"/>
    <p:sldId id="446" r:id="rId48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044" y="188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6" d="100"/>
          <a:sy n="46" d="100"/>
        </p:scale>
        <p:origin x="2129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2026/9/7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Calibri" pitchFamily="34" charset="0"/>
          <a:ea typeface="標楷體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Calibri" pitchFamily="34" charset="0"/>
          <a:ea typeface="標楷體" pitchFamily="65" charset="-120"/>
          <a:cs typeface="+mn-cs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Calibri" pitchFamily="34" charset="0"/>
          <a:ea typeface="標楷體" pitchFamily="65" charset="-12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Yeh-Ching Chung</a:t>
            </a:r>
          </a:p>
          <a:p>
            <a:endParaRPr lang="en-US" altLang="zh-TW" sz="24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/>
              <a:t>School of </a:t>
            </a:r>
            <a:r>
              <a:rPr lang="en-US" altLang="zh-CN" sz="2400"/>
              <a:t>Data </a:t>
            </a:r>
            <a:r>
              <a:rPr lang="en-US" altLang="zh-TW" sz="2400"/>
              <a:t>Science</a:t>
            </a:r>
          </a:p>
          <a:p>
            <a:r>
              <a:rPr lang="en-US" altLang="zh-TW" sz="2400"/>
              <a:t>Chinese University of Hong Kong, Shenzhen</a:t>
            </a:r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7" y="108349"/>
            <a:ext cx="7703233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714343" cy="3671888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Introduction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	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Support Virtualization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8F1849A-008E-6EF5-AB10-F46E38150E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9886" y="108349"/>
            <a:ext cx="7775804" cy="519113"/>
          </a:xfrm>
        </p:spPr>
        <p:txBody>
          <a:bodyPr/>
          <a:lstStyle/>
          <a:p>
            <a:r>
              <a:rPr lang="en-US" altLang="zh-TW" dirty="0"/>
              <a:t>Introduction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5156" y="870548"/>
            <a:ext cx="6961415" cy="218470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Definition of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In computing, virtualization means to create a virtual version of a device or resource, such as a server, storage device, network or even an operating system where the framework divides the resource into one or more execution environments.</a:t>
            </a:r>
            <a:endParaRPr lang="zh-TW" altLang="en-US" sz="2000" dirty="0">
              <a:latin typeface="Times New Roman" panose="02020603050405020304" pitchFamily="18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513BC96-BC70-8416-4DA4-7A011ADE1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159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0856" y="108349"/>
            <a:ext cx="7804833" cy="519113"/>
          </a:xfrm>
        </p:spPr>
        <p:txBody>
          <a:bodyPr/>
          <a:lstStyle/>
          <a:p>
            <a:r>
              <a:rPr lang="en-US" altLang="zh-TW" dirty="0"/>
              <a:t>Multiple VMs in One Machine</a:t>
            </a:r>
            <a:endParaRPr lang="zh-TW" altLang="en-US" dirty="0"/>
          </a:p>
        </p:txBody>
      </p:sp>
      <p:pic>
        <p:nvPicPr>
          <p:cNvPr id="3074" name="Picture 2" descr="http://p.blog.csdn.net/images/p_blog_csdn_net/lionsea/vm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4162" y="986836"/>
            <a:ext cx="5963835" cy="356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636B43F-5DD8-E23B-40F5-08738D29B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143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Performance of Virtualizations </a:t>
            </a:r>
            <a:endParaRPr lang="zh-TW" altLang="en-US" dirty="0"/>
          </a:p>
        </p:txBody>
      </p:sp>
      <p:pic>
        <p:nvPicPr>
          <p:cNvPr id="6146" name="Picture 2" descr="\\vmware-host\Shared Folders\Desktop\Virtualization\SpeedofVT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20"/>
          <a:stretch/>
        </p:blipFill>
        <p:spPr bwMode="auto">
          <a:xfrm>
            <a:off x="1349639" y="913523"/>
            <a:ext cx="6271062" cy="3693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B135A82-46B4-9727-0E5F-30E0F01C3C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47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2629" y="108349"/>
            <a:ext cx="7783061" cy="519113"/>
          </a:xfrm>
        </p:spPr>
        <p:txBody>
          <a:bodyPr/>
          <a:lstStyle/>
          <a:p>
            <a:r>
              <a:rPr lang="en-US" altLang="zh-TW" dirty="0"/>
              <a:t>History of Virtualization</a:t>
            </a:r>
            <a:endParaRPr lang="zh-TW" altLang="en-US" dirty="0"/>
          </a:p>
        </p:txBody>
      </p:sp>
      <p:sp>
        <p:nvSpPr>
          <p:cNvPr id="8" name="AutoShape 11"/>
          <p:cNvSpPr>
            <a:spLocks/>
          </p:cNvSpPr>
          <p:nvPr/>
        </p:nvSpPr>
        <p:spPr bwMode="auto">
          <a:xfrm>
            <a:off x="892629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1964 IBM CP-40</a:t>
            </a:r>
          </a:p>
        </p:txBody>
      </p:sp>
      <p:sp>
        <p:nvSpPr>
          <p:cNvPr id="9" name="AutoShape 12"/>
          <p:cNvSpPr>
            <a:spLocks/>
          </p:cNvSpPr>
          <p:nvPr/>
        </p:nvSpPr>
        <p:spPr bwMode="auto">
          <a:xfrm>
            <a:off x="158918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0" name="AutoShape 13"/>
          <p:cNvSpPr>
            <a:spLocks/>
          </p:cNvSpPr>
          <p:nvPr/>
        </p:nvSpPr>
        <p:spPr bwMode="auto">
          <a:xfrm>
            <a:off x="1796667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1972 IBM VM/370  </a:t>
            </a:r>
          </a:p>
        </p:txBody>
      </p:sp>
      <p:sp>
        <p:nvSpPr>
          <p:cNvPr id="11" name="AutoShape 14"/>
          <p:cNvSpPr>
            <a:spLocks/>
          </p:cNvSpPr>
          <p:nvPr/>
        </p:nvSpPr>
        <p:spPr bwMode="auto">
          <a:xfrm>
            <a:off x="249322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2" name="AutoShape 15"/>
          <p:cNvSpPr>
            <a:spLocks/>
          </p:cNvSpPr>
          <p:nvPr/>
        </p:nvSpPr>
        <p:spPr bwMode="auto">
          <a:xfrm>
            <a:off x="2700706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1997 Virtual PC</a:t>
            </a:r>
          </a:p>
        </p:txBody>
      </p:sp>
      <p:sp>
        <p:nvSpPr>
          <p:cNvPr id="13" name="AutoShape 16"/>
          <p:cNvSpPr>
            <a:spLocks/>
          </p:cNvSpPr>
          <p:nvPr/>
        </p:nvSpPr>
        <p:spPr bwMode="auto">
          <a:xfrm>
            <a:off x="3398907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4" name="AutoShape 17"/>
          <p:cNvSpPr>
            <a:spLocks/>
          </p:cNvSpPr>
          <p:nvPr/>
        </p:nvSpPr>
        <p:spPr bwMode="auto">
          <a:xfrm>
            <a:off x="3606391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1999 VMware </a:t>
            </a:r>
          </a:p>
        </p:txBody>
      </p:sp>
      <p:sp>
        <p:nvSpPr>
          <p:cNvPr id="15" name="AutoShape 18"/>
          <p:cNvSpPr>
            <a:spLocks/>
          </p:cNvSpPr>
          <p:nvPr/>
        </p:nvSpPr>
        <p:spPr bwMode="auto">
          <a:xfrm>
            <a:off x="4302945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6" name="AutoShape 19"/>
          <p:cNvSpPr>
            <a:spLocks/>
          </p:cNvSpPr>
          <p:nvPr/>
        </p:nvSpPr>
        <p:spPr bwMode="auto">
          <a:xfrm>
            <a:off x="4510430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2003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Xen</a:t>
            </a:r>
          </a:p>
        </p:txBody>
      </p:sp>
      <p:sp>
        <p:nvSpPr>
          <p:cNvPr id="17" name="AutoShape 20"/>
          <p:cNvSpPr>
            <a:spLocks/>
          </p:cNvSpPr>
          <p:nvPr/>
        </p:nvSpPr>
        <p:spPr bwMode="auto">
          <a:xfrm>
            <a:off x="520863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8" name="AutoShape 21"/>
          <p:cNvSpPr>
            <a:spLocks/>
          </p:cNvSpPr>
          <p:nvPr/>
        </p:nvSpPr>
        <p:spPr bwMode="auto">
          <a:xfrm>
            <a:off x="5416114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2005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Intel VT</a:t>
            </a:r>
          </a:p>
        </p:txBody>
      </p:sp>
      <p:sp>
        <p:nvSpPr>
          <p:cNvPr id="19" name="AutoShape 22"/>
          <p:cNvSpPr>
            <a:spLocks/>
          </p:cNvSpPr>
          <p:nvPr/>
        </p:nvSpPr>
        <p:spPr bwMode="auto">
          <a:xfrm>
            <a:off x="6112669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0" name="AutoShape 23"/>
          <p:cNvSpPr>
            <a:spLocks/>
          </p:cNvSpPr>
          <p:nvPr/>
        </p:nvSpPr>
        <p:spPr bwMode="auto">
          <a:xfrm>
            <a:off x="6320153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2006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AMD VT</a:t>
            </a:r>
          </a:p>
        </p:txBody>
      </p:sp>
      <p:sp>
        <p:nvSpPr>
          <p:cNvPr id="21" name="AutoShape 24"/>
          <p:cNvSpPr>
            <a:spLocks/>
          </p:cNvSpPr>
          <p:nvPr/>
        </p:nvSpPr>
        <p:spPr bwMode="auto">
          <a:xfrm>
            <a:off x="701835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2" name="AutoShape 25"/>
          <p:cNvSpPr>
            <a:spLocks/>
          </p:cNvSpPr>
          <p:nvPr/>
        </p:nvSpPr>
        <p:spPr bwMode="auto">
          <a:xfrm>
            <a:off x="7224191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2007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KVM-X86</a:t>
            </a:r>
          </a:p>
        </p:txBody>
      </p:sp>
      <p:sp>
        <p:nvSpPr>
          <p:cNvPr id="24" name="AutoShape 27"/>
          <p:cNvSpPr>
            <a:spLocks/>
          </p:cNvSpPr>
          <p:nvPr/>
        </p:nvSpPr>
        <p:spPr bwMode="auto">
          <a:xfrm>
            <a:off x="7711064" y="2803018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FFF00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2012</a:t>
            </a:r>
            <a:b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</a:br>
            <a:r>
              <a:rPr lang="en-US" altLang="zh-TW" sz="900" b="1" dirty="0" err="1">
                <a:latin typeface="Lucida Grande" charset="0"/>
                <a:ea typeface="新細明體" charset="-120"/>
                <a:sym typeface="Lucida Grande" charset="0"/>
              </a:rPr>
              <a:t>Xen</a:t>
            </a:r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-ARM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KVM-ARM</a:t>
            </a:r>
          </a:p>
        </p:txBody>
      </p:sp>
      <p:sp>
        <p:nvSpPr>
          <p:cNvPr id="25" name="Rectangle 29"/>
          <p:cNvSpPr>
            <a:spLocks/>
          </p:cNvSpPr>
          <p:nvPr/>
        </p:nvSpPr>
        <p:spPr bwMode="auto">
          <a:xfrm>
            <a:off x="1485027" y="3449015"/>
            <a:ext cx="102537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Time  Sharing</a:t>
            </a:r>
          </a:p>
        </p:txBody>
      </p:sp>
      <p:sp>
        <p:nvSpPr>
          <p:cNvPr id="26" name="Rectangle 30"/>
          <p:cNvSpPr>
            <a:spLocks/>
          </p:cNvSpPr>
          <p:nvPr/>
        </p:nvSpPr>
        <p:spPr bwMode="auto">
          <a:xfrm>
            <a:off x="1425938" y="3645468"/>
            <a:ext cx="115973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 Memory</a:t>
            </a:r>
          </a:p>
        </p:txBody>
      </p:sp>
      <p:sp>
        <p:nvSpPr>
          <p:cNvPr id="27" name="Rectangle 31"/>
          <p:cNvSpPr>
            <a:spLocks/>
          </p:cNvSpPr>
          <p:nvPr/>
        </p:nvSpPr>
        <p:spPr bwMode="auto">
          <a:xfrm>
            <a:off x="1534647" y="2948952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Mainframe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8" name="Rectangle 32"/>
          <p:cNvSpPr>
            <a:spLocks/>
          </p:cNvSpPr>
          <p:nvPr/>
        </p:nvSpPr>
        <p:spPr bwMode="auto">
          <a:xfrm>
            <a:off x="2904204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Desktop</a:t>
            </a:r>
            <a:endParaRPr lang="en-US" altLang="zh-TW" sz="1350" b="1" dirty="0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9" name="Rectangle 33"/>
          <p:cNvSpPr>
            <a:spLocks/>
          </p:cNvSpPr>
          <p:nvPr/>
        </p:nvSpPr>
        <p:spPr bwMode="auto">
          <a:xfrm>
            <a:off x="4352549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Server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30" name="Rectangle 34"/>
          <p:cNvSpPr>
            <a:spLocks/>
          </p:cNvSpPr>
          <p:nvPr/>
        </p:nvSpPr>
        <p:spPr bwMode="auto">
          <a:xfrm>
            <a:off x="5792078" y="2948952"/>
            <a:ext cx="767838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Cloud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Computing</a:t>
            </a:r>
          </a:p>
        </p:txBody>
      </p:sp>
      <p:sp>
        <p:nvSpPr>
          <p:cNvPr id="31" name="AutoShape 35"/>
          <p:cNvSpPr>
            <a:spLocks/>
          </p:cNvSpPr>
          <p:nvPr/>
        </p:nvSpPr>
        <p:spPr bwMode="auto">
          <a:xfrm>
            <a:off x="2551261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2" name="AutoShape 36"/>
          <p:cNvSpPr>
            <a:spLocks/>
          </p:cNvSpPr>
          <p:nvPr/>
        </p:nvSpPr>
        <p:spPr bwMode="auto">
          <a:xfrm>
            <a:off x="3969403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3" name="AutoShape 37"/>
          <p:cNvSpPr>
            <a:spLocks/>
          </p:cNvSpPr>
          <p:nvPr/>
        </p:nvSpPr>
        <p:spPr bwMode="auto">
          <a:xfrm>
            <a:off x="5441382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4" name="AutoShape 38"/>
          <p:cNvSpPr>
            <a:spLocks/>
          </p:cNvSpPr>
          <p:nvPr/>
        </p:nvSpPr>
        <p:spPr bwMode="auto">
          <a:xfrm rot="2639999">
            <a:off x="6750539" y="313588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grpSp>
        <p:nvGrpSpPr>
          <p:cNvPr id="35" name="Group 41"/>
          <p:cNvGrpSpPr>
            <a:grpSpLocks/>
          </p:cNvGrpSpPr>
          <p:nvPr/>
        </p:nvGrpSpPr>
        <p:grpSpPr bwMode="auto">
          <a:xfrm>
            <a:off x="1663790" y="1091486"/>
            <a:ext cx="2305753" cy="723842"/>
            <a:chOff x="0" y="0"/>
            <a:chExt cx="1755" cy="607"/>
          </a:xfrm>
        </p:grpSpPr>
        <p:sp>
          <p:nvSpPr>
            <p:cNvPr id="36" name="Rectangle 39"/>
            <p:cNvSpPr>
              <a:spLocks/>
            </p:cNvSpPr>
            <p:nvPr/>
          </p:nvSpPr>
          <p:spPr bwMode="auto">
            <a:xfrm>
              <a:off x="0" y="0"/>
              <a:ext cx="1755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Traditional-virtualization</a:t>
              </a:r>
            </a:p>
          </p:txBody>
        </p:sp>
        <p:sp>
          <p:nvSpPr>
            <p:cNvPr id="37" name="AutoShape 40"/>
            <p:cNvSpPr>
              <a:spLocks/>
            </p:cNvSpPr>
            <p:nvPr/>
          </p:nvSpPr>
          <p:spPr bwMode="auto">
            <a:xfrm rot="-2520000">
              <a:off x="1388" y="199"/>
              <a:ext cx="249" cy="408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6595"/>
                  </a:moveTo>
                  <a:lnTo>
                    <a:pt x="10800" y="0"/>
                  </a:lnTo>
                  <a:lnTo>
                    <a:pt x="21600" y="6595"/>
                  </a:lnTo>
                  <a:lnTo>
                    <a:pt x="16200" y="659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6595"/>
                  </a:lnTo>
                  <a:close/>
                  <a:moveTo>
                    <a:pt x="0" y="659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288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38" name="Group 44"/>
          <p:cNvGrpSpPr>
            <a:grpSpLocks/>
          </p:cNvGrpSpPr>
          <p:nvPr/>
        </p:nvGrpSpPr>
        <p:grpSpPr bwMode="auto">
          <a:xfrm>
            <a:off x="3842065" y="961049"/>
            <a:ext cx="1731972" cy="857250"/>
            <a:chOff x="0" y="0"/>
            <a:chExt cx="1319" cy="719"/>
          </a:xfrm>
        </p:grpSpPr>
        <p:sp>
          <p:nvSpPr>
            <p:cNvPr id="39" name="Rectangle 42"/>
            <p:cNvSpPr>
              <a:spLocks/>
            </p:cNvSpPr>
            <p:nvPr/>
          </p:nvSpPr>
          <p:spPr bwMode="auto">
            <a:xfrm>
              <a:off x="0" y="0"/>
              <a:ext cx="1319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Para-virtualization</a:t>
              </a:r>
            </a:p>
          </p:txBody>
        </p:sp>
        <p:sp>
          <p:nvSpPr>
            <p:cNvPr id="40" name="AutoShape 43"/>
            <p:cNvSpPr>
              <a:spLocks/>
            </p:cNvSpPr>
            <p:nvPr/>
          </p:nvSpPr>
          <p:spPr bwMode="auto">
            <a:xfrm>
              <a:off x="581" y="224"/>
              <a:ext cx="249" cy="495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5438"/>
                  </a:moveTo>
                  <a:lnTo>
                    <a:pt x="10800" y="0"/>
                  </a:lnTo>
                  <a:lnTo>
                    <a:pt x="21600" y="5438"/>
                  </a:lnTo>
                  <a:lnTo>
                    <a:pt x="16200" y="5438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5438"/>
                  </a:lnTo>
                  <a:close/>
                  <a:moveTo>
                    <a:pt x="0" y="5438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1" name="Group 47"/>
          <p:cNvGrpSpPr>
            <a:grpSpLocks/>
          </p:cNvGrpSpPr>
          <p:nvPr/>
        </p:nvGrpSpPr>
        <p:grpSpPr bwMode="auto">
          <a:xfrm>
            <a:off x="5326283" y="1168218"/>
            <a:ext cx="1020275" cy="650081"/>
            <a:chOff x="0" y="0"/>
            <a:chExt cx="777" cy="545"/>
          </a:xfrm>
        </p:grpSpPr>
        <p:sp>
          <p:nvSpPr>
            <p:cNvPr id="42" name="Rectangle 45"/>
            <p:cNvSpPr>
              <a:spLocks/>
            </p:cNvSpPr>
            <p:nvPr/>
          </p:nvSpPr>
          <p:spPr bwMode="auto">
            <a:xfrm>
              <a:off x="0" y="0"/>
              <a:ext cx="777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>
                  <a:latin typeface="Lucida Grande" charset="0"/>
                  <a:ea typeface="新細明體" charset="-120"/>
                  <a:sym typeface="Lucida Grande" charset="0"/>
                </a:rPr>
                <a:t>HW-assist 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>
              <a:off x="284" y="224"/>
              <a:ext cx="249" cy="321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8385"/>
                  </a:moveTo>
                  <a:lnTo>
                    <a:pt x="10800" y="0"/>
                  </a:lnTo>
                  <a:lnTo>
                    <a:pt x="21600" y="8385"/>
                  </a:lnTo>
                  <a:lnTo>
                    <a:pt x="16200" y="838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8385"/>
                  </a:lnTo>
                  <a:close/>
                  <a:moveTo>
                    <a:pt x="0" y="838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4" name="Group 51"/>
          <p:cNvGrpSpPr>
            <a:grpSpLocks/>
          </p:cNvGrpSpPr>
          <p:nvPr/>
        </p:nvGrpSpPr>
        <p:grpSpPr bwMode="auto">
          <a:xfrm>
            <a:off x="5581884" y="3499021"/>
            <a:ext cx="2184990" cy="964406"/>
            <a:chOff x="0" y="0"/>
            <a:chExt cx="1663" cy="810"/>
          </a:xfrm>
        </p:grpSpPr>
        <p:sp>
          <p:nvSpPr>
            <p:cNvPr id="45" name="AutoShape 48"/>
            <p:cNvSpPr>
              <a:spLocks/>
            </p:cNvSpPr>
            <p:nvPr/>
          </p:nvSpPr>
          <p:spPr bwMode="auto">
            <a:xfrm>
              <a:off x="0" y="0"/>
              <a:ext cx="1663" cy="810"/>
            </a:xfrm>
            <a:custGeom>
              <a:avLst/>
              <a:gdLst/>
              <a:ahLst/>
              <a:cxnLst/>
              <a:rect l="0" t="0" r="r" b="b"/>
              <a:pathLst>
                <a:path w="20879" h="20683">
                  <a:moveTo>
                    <a:pt x="1901" y="6809"/>
                  </a:moveTo>
                  <a:cubicBezTo>
                    <a:pt x="1658" y="4403"/>
                    <a:pt x="2907" y="2186"/>
                    <a:pt x="4691" y="1859"/>
                  </a:cubicBezTo>
                  <a:cubicBezTo>
                    <a:pt x="5414" y="1726"/>
                    <a:pt x="6149" y="1925"/>
                    <a:pt x="6778" y="2422"/>
                  </a:cubicBezTo>
                  <a:cubicBezTo>
                    <a:pt x="7445" y="726"/>
                    <a:pt x="9003" y="81"/>
                    <a:pt x="10259" y="982"/>
                  </a:cubicBezTo>
                  <a:cubicBezTo>
                    <a:pt x="10478" y="1140"/>
                    <a:pt x="10680" y="1340"/>
                    <a:pt x="10857" y="1575"/>
                  </a:cubicBezTo>
                  <a:cubicBezTo>
                    <a:pt x="11376" y="169"/>
                    <a:pt x="12642" y="-402"/>
                    <a:pt x="13683" y="299"/>
                  </a:cubicBezTo>
                  <a:cubicBezTo>
                    <a:pt x="13971" y="493"/>
                    <a:pt x="14222" y="774"/>
                    <a:pt x="14418" y="1120"/>
                  </a:cubicBezTo>
                  <a:cubicBezTo>
                    <a:pt x="15255" y="-210"/>
                    <a:pt x="16734" y="-374"/>
                    <a:pt x="17722" y="753"/>
                  </a:cubicBezTo>
                  <a:cubicBezTo>
                    <a:pt x="18137" y="1227"/>
                    <a:pt x="18417" y="1880"/>
                    <a:pt x="18513" y="2601"/>
                  </a:cubicBezTo>
                  <a:cubicBezTo>
                    <a:pt x="19885" y="3106"/>
                    <a:pt x="20694" y="5019"/>
                    <a:pt x="20321" y="6874"/>
                  </a:cubicBezTo>
                  <a:cubicBezTo>
                    <a:pt x="20289" y="7030"/>
                    <a:pt x="20250" y="7182"/>
                    <a:pt x="20203" y="7331"/>
                  </a:cubicBezTo>
                  <a:cubicBezTo>
                    <a:pt x="21303" y="9264"/>
                    <a:pt x="21034" y="12033"/>
                    <a:pt x="19601" y="13518"/>
                  </a:cubicBezTo>
                  <a:cubicBezTo>
                    <a:pt x="19155" y="13980"/>
                    <a:pt x="18629" y="14279"/>
                    <a:pt x="18072" y="14386"/>
                  </a:cubicBezTo>
                  <a:cubicBezTo>
                    <a:pt x="18060" y="16465"/>
                    <a:pt x="16800" y="18137"/>
                    <a:pt x="15258" y="18121"/>
                  </a:cubicBezTo>
                  <a:cubicBezTo>
                    <a:pt x="14743" y="18115"/>
                    <a:pt x="14238" y="17917"/>
                    <a:pt x="13801" y="17550"/>
                  </a:cubicBezTo>
                  <a:cubicBezTo>
                    <a:pt x="13280" y="19881"/>
                    <a:pt x="11460" y="21198"/>
                    <a:pt x="9738" y="20492"/>
                  </a:cubicBezTo>
                  <a:cubicBezTo>
                    <a:pt x="9016" y="20196"/>
                    <a:pt x="8392" y="19571"/>
                    <a:pt x="7973" y="18722"/>
                  </a:cubicBezTo>
                  <a:cubicBezTo>
                    <a:pt x="6209" y="20158"/>
                    <a:pt x="3920" y="19386"/>
                    <a:pt x="2859" y="16998"/>
                  </a:cubicBezTo>
                  <a:cubicBezTo>
                    <a:pt x="2846" y="16968"/>
                    <a:pt x="2833" y="16937"/>
                    <a:pt x="2820" y="16907"/>
                  </a:cubicBezTo>
                  <a:cubicBezTo>
                    <a:pt x="1666" y="17089"/>
                    <a:pt x="620" y="15978"/>
                    <a:pt x="485" y="14424"/>
                  </a:cubicBezTo>
                  <a:cubicBezTo>
                    <a:pt x="412" y="13596"/>
                    <a:pt x="615" y="12767"/>
                    <a:pt x="1038" y="12159"/>
                  </a:cubicBezTo>
                  <a:cubicBezTo>
                    <a:pt x="39" y="11365"/>
                    <a:pt x="-297" y="9622"/>
                    <a:pt x="288" y="8266"/>
                  </a:cubicBezTo>
                  <a:cubicBezTo>
                    <a:pt x="626" y="7484"/>
                    <a:pt x="1218" y="6967"/>
                    <a:pt x="1883" y="6874"/>
                  </a:cubicBezTo>
                  <a:close/>
                  <a:moveTo>
                    <a:pt x="1901" y="6809"/>
                  </a:moveTo>
                </a:path>
              </a:pathLst>
            </a:custGeom>
            <a:solidFill>
              <a:srgbClr val="FFC000"/>
            </a:solidFill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6" name="AutoShape 49"/>
            <p:cNvSpPr>
              <a:spLocks/>
            </p:cNvSpPr>
            <p:nvPr/>
          </p:nvSpPr>
          <p:spPr bwMode="auto">
            <a:xfrm>
              <a:off x="84" y="41"/>
              <a:ext cx="1525" cy="689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13" y="12896"/>
                    <a:pt x="19202" y="14528"/>
                    <a:pt x="19193" y="16310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7" name="Rectangle 50"/>
            <p:cNvSpPr>
              <a:spLocks/>
            </p:cNvSpPr>
            <p:nvPr/>
          </p:nvSpPr>
          <p:spPr bwMode="auto">
            <a:xfrm>
              <a:off x="229" y="191"/>
              <a:ext cx="1088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Mobile</a:t>
              </a:r>
              <a:endParaRPr lang="en-US" altLang="zh-TW" sz="1350" b="1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</p:grpSp>
      <p:sp>
        <p:nvSpPr>
          <p:cNvPr id="48" name="AutoShape 38"/>
          <p:cNvSpPr>
            <a:spLocks/>
          </p:cNvSpPr>
          <p:nvPr/>
        </p:nvSpPr>
        <p:spPr bwMode="auto">
          <a:xfrm rot="2639999">
            <a:off x="7424125" y="2552267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endParaRPr lang="zh-TW" altLang="en-US" sz="1350" b="1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9AEE7F4-32F8-FFB4-4DB1-7E76DC94D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910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Example - Server Virtualization</a:t>
            </a:r>
            <a:endParaRPr lang="zh-TW" altLang="en-US" dirty="0"/>
          </a:p>
        </p:txBody>
      </p:sp>
      <p:pic>
        <p:nvPicPr>
          <p:cNvPr id="1026" name="Picture 2" descr="Figure 1: Virtualization can drastically reduce the number of servers in a data cen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9740" y="937387"/>
            <a:ext cx="5768340" cy="3589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A35513-35B9-2957-870B-959C75E23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7235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1" y="108349"/>
            <a:ext cx="7739519" cy="519113"/>
          </a:xfrm>
        </p:spPr>
        <p:txBody>
          <a:bodyPr/>
          <a:lstStyle/>
          <a:p>
            <a:r>
              <a:rPr lang="en-US" altLang="zh-TW" dirty="0"/>
              <a:t>Benefits of Server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343" y="844153"/>
            <a:ext cx="7511143" cy="235624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can reduce data center energy expenses by 10%–40%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also improves scalability, reduces downtime, and enables faster deployments.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data center footprint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D62D80A-7C82-674A-201E-63A9EBB212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296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657" y="108349"/>
            <a:ext cx="77540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Example - Mobile Virtualization</a:t>
            </a:r>
            <a:endParaRPr lang="zh-TW" altLang="en-US" dirty="0"/>
          </a:p>
        </p:txBody>
      </p:sp>
      <p:sp>
        <p:nvSpPr>
          <p:cNvPr id="6" name="Rectangle 11"/>
          <p:cNvSpPr>
            <a:spLocks/>
          </p:cNvSpPr>
          <p:nvPr/>
        </p:nvSpPr>
        <p:spPr bwMode="auto">
          <a:xfrm>
            <a:off x="3478439" y="1365589"/>
            <a:ext cx="4979761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Gartner predicted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that by 2012, more than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50%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of new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smart phones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shipped will be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virtualized</a:t>
            </a:r>
          </a:p>
        </p:txBody>
      </p:sp>
      <p:grpSp>
        <p:nvGrpSpPr>
          <p:cNvPr id="7" name="Group 14"/>
          <p:cNvGrpSpPr>
            <a:grpSpLocks/>
          </p:cNvGrpSpPr>
          <p:nvPr/>
        </p:nvGrpSpPr>
        <p:grpSpPr bwMode="auto">
          <a:xfrm>
            <a:off x="1544864" y="991733"/>
            <a:ext cx="1774031" cy="1689497"/>
            <a:chOff x="0" y="0"/>
            <a:chExt cx="1490" cy="1419"/>
          </a:xfrm>
        </p:grpSpPr>
        <p:pic>
          <p:nvPicPr>
            <p:cNvPr id="8" name="Picture 1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1490" cy="1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13"/>
            <p:cNvSpPr>
              <a:spLocks/>
            </p:cNvSpPr>
            <p:nvPr/>
          </p:nvSpPr>
          <p:spPr bwMode="auto">
            <a:xfrm>
              <a:off x="214" y="1203"/>
              <a:ext cx="107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/>
            <a:lstStyle/>
            <a:p>
              <a:pPr algn="l"/>
              <a:r>
                <a:rPr lang="en-US" altLang="zh-TW" sz="1600">
                  <a:latin typeface="Times New Roman" panose="02020603050405020304" pitchFamily="18" charset="0"/>
                  <a:ea typeface="新細明體" charset="-120"/>
                  <a:cs typeface="Times New Roman" panose="02020603050405020304" pitchFamily="18" charset="0"/>
                  <a:sym typeface="Lucida Grande" charset="0"/>
                </a:rPr>
                <a:t>VMware MVP</a:t>
              </a:r>
            </a:p>
          </p:txBody>
        </p:sp>
      </p:grpSp>
      <p:pic>
        <p:nvPicPr>
          <p:cNvPr id="11" name="Picture 1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049" y="2918789"/>
            <a:ext cx="1908977" cy="1445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2" name="Rectangle 17"/>
          <p:cNvSpPr>
            <a:spLocks/>
          </p:cNvSpPr>
          <p:nvPr/>
        </p:nvSpPr>
        <p:spPr bwMode="auto">
          <a:xfrm>
            <a:off x="787400" y="3212873"/>
            <a:ext cx="5367867" cy="9388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ARM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Cortex-A15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enables efficient handling of the complex software environments including full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hardware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D4611AE-BBA5-4614-4F01-06883E001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5909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1829" y="108349"/>
            <a:ext cx="7833861" cy="519113"/>
          </a:xfrm>
        </p:spPr>
        <p:txBody>
          <a:bodyPr/>
          <a:lstStyle/>
          <a:p>
            <a:r>
              <a:rPr lang="en-US" altLang="zh-TW" dirty="0"/>
              <a:t>Benefits of Mobile Virtualization</a:t>
            </a:r>
            <a:endParaRPr lang="zh-TW" altLang="en-US" dirty="0"/>
          </a:p>
        </p:txBody>
      </p:sp>
      <p:sp>
        <p:nvSpPr>
          <p:cNvPr id="4" name="Rectangle 10"/>
          <p:cNvSpPr txBox="1">
            <a:spLocks noChangeArrowheads="1"/>
          </p:cNvSpPr>
          <p:nvPr/>
        </p:nvSpPr>
        <p:spPr>
          <a:xfrm>
            <a:off x="902305" y="806419"/>
            <a:ext cx="5314326" cy="2703984"/>
          </a:xfrm>
          <a:prstGeom prst="rect">
            <a:avLst/>
          </a:prstGeom>
          <a:ln/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800" kern="120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Font typeface="Wingdings" pitchFamily="2" charset="2"/>
              <a:buChar char="§"/>
              <a:defRPr sz="2400" kern="1200">
                <a:solidFill>
                  <a:schemeClr val="accent3">
                    <a:lumMod val="50000"/>
                  </a:schemeClr>
                </a:solidFill>
                <a:latin typeface="Cambria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4">
                  <a:lumMod val="50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accent4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Portability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Multiple OSes on a single chip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Security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Dynamic Update of System Software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Legacy Code re-use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IP Protection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Mobile Manageability</a:t>
            </a: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02E5BD4-2BF8-CD97-36DC-9B57C1B3F63D}"/>
              </a:ext>
            </a:extLst>
          </p:cNvPr>
          <p:cNvGrpSpPr/>
          <p:nvPr/>
        </p:nvGrpSpPr>
        <p:grpSpPr>
          <a:xfrm>
            <a:off x="5302707" y="2649280"/>
            <a:ext cx="3334659" cy="1653141"/>
            <a:chOff x="5302707" y="2649280"/>
            <a:chExt cx="3334659" cy="1653141"/>
          </a:xfrm>
        </p:grpSpPr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5321906" y="4126750"/>
              <a:ext cx="3315460" cy="175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/>
            <a:lstStyle/>
            <a:p>
              <a:pPr algn="ctr"/>
              <a:r>
                <a:rPr lang="en-US" altLang="zh-TW" sz="900" dirty="0">
                  <a:latin typeface="Lucida Grande" charset="0"/>
                  <a:ea typeface="新細明體" charset="-120"/>
                  <a:sym typeface="Lucida Grande" charset="0"/>
                </a:rPr>
                <a:t>Reference : http://en.wikipedia.org/wiki/Embedded_Hypervisor</a:t>
              </a:r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92695EE-A224-9363-FDAC-069851639CE7}"/>
                </a:ext>
              </a:extLst>
            </p:cNvPr>
            <p:cNvGrpSpPr/>
            <p:nvPr/>
          </p:nvGrpSpPr>
          <p:grpSpPr>
            <a:xfrm>
              <a:off x="5302707" y="2649280"/>
              <a:ext cx="3266104" cy="1464819"/>
              <a:chOff x="3300912" y="3293091"/>
              <a:chExt cx="2952137" cy="1204912"/>
            </a:xfrm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00912" y="3293091"/>
                <a:ext cx="1533311" cy="1204912"/>
                <a:chOff x="605" y="0"/>
                <a:chExt cx="1287" cy="1012"/>
              </a:xfrm>
            </p:grpSpPr>
            <p:grpSp>
              <p:nvGrpSpPr>
                <p:cNvPr id="7" name="Group 18"/>
                <p:cNvGrpSpPr>
                  <a:grpSpLocks/>
                </p:cNvGrpSpPr>
                <p:nvPr/>
              </p:nvGrpSpPr>
              <p:grpSpPr bwMode="auto">
                <a:xfrm>
                  <a:off x="714" y="0"/>
                  <a:ext cx="912" cy="829"/>
                  <a:chOff x="536" y="0"/>
                  <a:chExt cx="912" cy="829"/>
                </a:xfrm>
              </p:grpSpPr>
              <p:sp>
                <p:nvSpPr>
                  <p:cNvPr id="9" name="Rectangle 13"/>
                  <p:cNvSpPr>
                    <a:spLocks/>
                  </p:cNvSpPr>
                  <p:nvPr/>
                </p:nvSpPr>
                <p:spPr bwMode="auto">
                  <a:xfrm>
                    <a:off x="572" y="637"/>
                    <a:ext cx="424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P1</a:t>
                    </a:r>
                  </a:p>
                </p:txBody>
              </p:sp>
              <p:sp>
                <p:nvSpPr>
                  <p:cNvPr id="10" name="Rectangle 14"/>
                  <p:cNvSpPr>
                    <a:spLocks/>
                  </p:cNvSpPr>
                  <p:nvPr/>
                </p:nvSpPr>
                <p:spPr bwMode="auto">
                  <a:xfrm>
                    <a:off x="1030" y="637"/>
                    <a:ext cx="416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P2</a:t>
                    </a:r>
                  </a:p>
                </p:txBody>
              </p:sp>
              <p:sp>
                <p:nvSpPr>
                  <p:cNvPr id="11" name="Rectangle 15"/>
                  <p:cNvSpPr>
                    <a:spLocks/>
                  </p:cNvSpPr>
                  <p:nvPr/>
                </p:nvSpPr>
                <p:spPr bwMode="auto">
                  <a:xfrm>
                    <a:off x="536" y="232"/>
                    <a:ext cx="912" cy="336"/>
                  </a:xfrm>
                  <a:prstGeom prst="rect">
                    <a:avLst/>
                  </a:prstGeom>
                  <a:solidFill>
                    <a:srgbClr val="FFD7C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Embedded</a:t>
                    </a:r>
                    <a:endParaRPr lang="en-US" altLang="zh-TW" sz="1350" dirty="0">
                      <a:latin typeface="Lucida Grande" charset="0"/>
                      <a:ea typeface="新細明體" charset="-120"/>
                      <a:sym typeface="Lucida Grande" charset="0"/>
                    </a:endParaRPr>
                  </a:p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Hypervisor</a:t>
                    </a:r>
                  </a:p>
                </p:txBody>
              </p:sp>
              <p:sp>
                <p:nvSpPr>
                  <p:cNvPr id="12" name="Rectangle 16"/>
                  <p:cNvSpPr>
                    <a:spLocks/>
                  </p:cNvSpPr>
                  <p:nvPr/>
                </p:nvSpPr>
                <p:spPr bwMode="auto">
                  <a:xfrm>
                    <a:off x="553" y="0"/>
                    <a:ext cx="311" cy="167"/>
                  </a:xfrm>
                  <a:prstGeom prst="rect">
                    <a:avLst/>
                  </a:prstGeom>
                  <a:solidFill>
                    <a:srgbClr val="B0BCD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Linux</a:t>
                    </a:r>
                  </a:p>
                </p:txBody>
              </p:sp>
              <p:sp>
                <p:nvSpPr>
                  <p:cNvPr id="13" name="Rectangle 17"/>
                  <p:cNvSpPr>
                    <a:spLocks/>
                  </p:cNvSpPr>
                  <p:nvPr/>
                </p:nvSpPr>
                <p:spPr bwMode="auto">
                  <a:xfrm>
                    <a:off x="1022" y="0"/>
                    <a:ext cx="315" cy="167"/>
                  </a:xfrm>
                  <a:prstGeom prst="rect">
                    <a:avLst/>
                  </a:prstGeom>
                  <a:solidFill>
                    <a:srgbClr val="FED9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RTOS</a:t>
                    </a:r>
                  </a:p>
                </p:txBody>
              </p:sp>
            </p:grpSp>
            <p:sp>
              <p:nvSpPr>
                <p:cNvPr id="8" name="Rectangle 19"/>
                <p:cNvSpPr>
                  <a:spLocks/>
                </p:cNvSpPr>
                <p:nvPr/>
              </p:nvSpPr>
              <p:spPr bwMode="auto">
                <a:xfrm>
                  <a:off x="605" y="860"/>
                  <a:ext cx="1287" cy="1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>
                      <a:latin typeface="Lucida Grande" charset="0"/>
                      <a:ea typeface="新細明體" charset="-120"/>
                      <a:sym typeface="Lucida Grande" charset="0"/>
                    </a:rPr>
                    <a:t>multiple operating systems </a:t>
                  </a:r>
                </a:p>
              </p:txBody>
            </p: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5031641" y="3293091"/>
                <a:ext cx="1221408" cy="1189397"/>
                <a:chOff x="18" y="0"/>
                <a:chExt cx="1025" cy="998"/>
              </a:xfrm>
            </p:grpSpPr>
            <p:sp>
              <p:nvSpPr>
                <p:cNvPr id="15" name="Rectangle 21"/>
                <p:cNvSpPr>
                  <a:spLocks/>
                </p:cNvSpPr>
                <p:nvPr/>
              </p:nvSpPr>
              <p:spPr bwMode="auto">
                <a:xfrm>
                  <a:off x="18" y="232"/>
                  <a:ext cx="1000" cy="336"/>
                </a:xfrm>
                <a:prstGeom prst="rect">
                  <a:avLst/>
                </a:prstGeom>
                <a:solidFill>
                  <a:srgbClr val="FFD7C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Embedded</a:t>
                  </a:r>
                  <a:endParaRPr lang="en-US" altLang="zh-TW" sz="1350" dirty="0">
                    <a:latin typeface="Lucida Grande" charset="0"/>
                    <a:ea typeface="新細明體" charset="-120"/>
                    <a:sym typeface="Lucida Grande" charset="0"/>
                  </a:endParaRPr>
                </a:p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Hypervisor</a:t>
                  </a:r>
                </a:p>
              </p:txBody>
            </p:sp>
            <p:sp>
              <p:nvSpPr>
                <p:cNvPr id="16" name="Rectangle 22"/>
                <p:cNvSpPr>
                  <a:spLocks/>
                </p:cNvSpPr>
                <p:nvPr/>
              </p:nvSpPr>
              <p:spPr bwMode="auto">
                <a:xfrm>
                  <a:off x="32" y="0"/>
                  <a:ext cx="311" cy="167"/>
                </a:xfrm>
                <a:prstGeom prst="rect">
                  <a:avLst/>
                </a:prstGeom>
                <a:solidFill>
                  <a:srgbClr val="B0BC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 cap="rnd">
                      <a:solidFill>
                        <a:schemeClr val="tx1"/>
                      </a:solidFill>
                      <a:round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Linux</a:t>
                  </a:r>
                </a:p>
              </p:txBody>
            </p:sp>
            <p:sp>
              <p:nvSpPr>
                <p:cNvPr id="17" name="Rectangle 23"/>
                <p:cNvSpPr>
                  <a:spLocks/>
                </p:cNvSpPr>
                <p:nvPr/>
              </p:nvSpPr>
              <p:spPr bwMode="auto">
                <a:xfrm>
                  <a:off x="497" y="0"/>
                  <a:ext cx="450" cy="167"/>
                </a:xfrm>
                <a:prstGeom prst="rect">
                  <a:avLst/>
                </a:prstGeom>
                <a:solidFill>
                  <a:srgbClr val="EA624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Security</a:t>
                  </a:r>
                </a:p>
              </p:txBody>
            </p:sp>
            <p:sp>
              <p:nvSpPr>
                <p:cNvPr id="18" name="Rectangle 24"/>
                <p:cNvSpPr>
                  <a:spLocks/>
                </p:cNvSpPr>
                <p:nvPr/>
              </p:nvSpPr>
              <p:spPr bwMode="auto">
                <a:xfrm>
                  <a:off x="53" y="847"/>
                  <a:ext cx="990" cy="1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 dirty="0">
                      <a:latin typeface="Lucida Grande" charset="0"/>
                      <a:ea typeface="新細明體" charset="-120"/>
                      <a:sym typeface="Lucida Grande" charset="0"/>
                    </a:rPr>
                    <a:t>security environment</a:t>
                  </a:r>
                </a:p>
              </p:txBody>
            </p:sp>
            <p:sp>
              <p:nvSpPr>
                <p:cNvPr id="19" name="Rectangle 25"/>
                <p:cNvSpPr>
                  <a:spLocks/>
                </p:cNvSpPr>
                <p:nvPr/>
              </p:nvSpPr>
              <p:spPr bwMode="auto">
                <a:xfrm>
                  <a:off x="80" y="637"/>
                  <a:ext cx="424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P1</a:t>
                  </a:r>
                </a:p>
              </p:txBody>
            </p:sp>
            <p:sp>
              <p:nvSpPr>
                <p:cNvPr id="20" name="Rectangle 26"/>
                <p:cNvSpPr>
                  <a:spLocks/>
                </p:cNvSpPr>
                <p:nvPr/>
              </p:nvSpPr>
              <p:spPr bwMode="auto">
                <a:xfrm>
                  <a:off x="538" y="637"/>
                  <a:ext cx="416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P2</a:t>
                  </a:r>
                </a:p>
              </p:txBody>
            </p:sp>
          </p:grpSp>
        </p:grp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C40AB54-1C65-612E-9127-101FF6FD7E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5905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Virtualization Techniques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82914" y="844153"/>
            <a:ext cx="5348515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(Logical Volume Management)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D9194E-8EEB-64F7-02C2-80420E7D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5143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52286" y="108349"/>
            <a:ext cx="7623404" cy="519113"/>
          </a:xfrm>
        </p:spPr>
        <p:txBody>
          <a:bodyPr/>
          <a:lstStyle/>
          <a:p>
            <a:r>
              <a:rPr lang="en-US" altLang="zh-TW" dirty="0"/>
              <a:t>Virtualization Techniques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96578" y="815521"/>
            <a:ext cx="6539537" cy="351245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Software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Virtual Desktop Infrastructure (VDI)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EyeOS</a:t>
            </a:r>
            <a:endParaRPr lang="en-US" altLang="zh-TW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Hardware Support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Intel VT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ARM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SRIOV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MRIOV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0A3DF65-04F8-B5CB-F038-2A6584B7F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1872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b="1" dirty="0">
                <a:solidFill>
                  <a:srgbClr val="FF0000"/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92B67B-1436-E4F4-D617-281427E82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Virtual </a:t>
            </a:r>
            <a:r>
              <a:rPr lang="en-US" altLang="zh-TW"/>
              <a:t>Machine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30" y="844153"/>
            <a:ext cx="7244798" cy="3360202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virtual machine (VM) is a software implementation of a machine that executes programs like a physical machine.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machines are separated into two major classifications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system virtual machine provides a complete system platform that supports the execution of a complete operating system (OS)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virtual machine is designed to run a single program in a single process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D26A52-8ECF-CE81-BE4A-3DABA9095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7616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429" y="108349"/>
            <a:ext cx="7732261" cy="519113"/>
          </a:xfrm>
        </p:spPr>
        <p:txBody>
          <a:bodyPr/>
          <a:lstStyle/>
          <a:p>
            <a:r>
              <a:rPr lang="en-US" altLang="zh-TW" dirty="0"/>
              <a:t>Virtual Machine (2)</a:t>
            </a:r>
            <a:endParaRPr lang="zh-TW" altLang="en-US" dirty="0"/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21A2CCAE-99B0-8C5C-F6E2-9E940BA04E1A}"/>
              </a:ext>
            </a:extLst>
          </p:cNvPr>
          <p:cNvGrpSpPr/>
          <p:nvPr/>
        </p:nvGrpSpPr>
        <p:grpSpPr>
          <a:xfrm>
            <a:off x="1352235" y="1131080"/>
            <a:ext cx="6213453" cy="3244337"/>
            <a:chOff x="2364738" y="2158991"/>
            <a:chExt cx="5245619" cy="2534861"/>
          </a:xfrm>
        </p:grpSpPr>
        <p:sp>
          <p:nvSpPr>
            <p:cNvPr id="4" name="矩形 3"/>
            <p:cNvSpPr/>
            <p:nvPr/>
          </p:nvSpPr>
          <p:spPr>
            <a:xfrm>
              <a:off x="2675493" y="2904630"/>
              <a:ext cx="1296144" cy="43204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System VM</a:t>
              </a:r>
              <a:endParaRPr lang="zh-TW" altLang="en-US" sz="2000" dirty="0"/>
            </a:p>
          </p:txBody>
        </p:sp>
        <p:sp>
          <p:nvSpPr>
            <p:cNvPr id="5" name="矩形 4"/>
            <p:cNvSpPr/>
            <p:nvPr/>
          </p:nvSpPr>
          <p:spPr>
            <a:xfrm>
              <a:off x="5814695" y="2889803"/>
              <a:ext cx="129614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Process VM</a:t>
              </a:r>
              <a:endParaRPr lang="zh-TW" altLang="en-US" sz="2000" dirty="0"/>
            </a:p>
          </p:txBody>
        </p:sp>
        <p:sp>
          <p:nvSpPr>
            <p:cNvPr id="6" name="文字方塊 5"/>
            <p:cNvSpPr txBox="1"/>
            <p:nvPr/>
          </p:nvSpPr>
          <p:spPr>
            <a:xfrm>
              <a:off x="5698244" y="2471604"/>
              <a:ext cx="1502447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Program</a:t>
              </a:r>
              <a:endParaRPr lang="zh-TW" altLang="en-US" sz="2000" dirty="0"/>
            </a:p>
          </p:txBody>
        </p:sp>
        <p:sp>
          <p:nvSpPr>
            <p:cNvPr id="7" name="文字方塊 6"/>
            <p:cNvSpPr txBox="1"/>
            <p:nvPr/>
          </p:nvSpPr>
          <p:spPr>
            <a:xfrm>
              <a:off x="2409205" y="2471604"/>
              <a:ext cx="2522846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Guest Operating System</a:t>
              </a:r>
              <a:endParaRPr lang="zh-TW" altLang="en-US" sz="2000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555892" y="2158991"/>
              <a:ext cx="2008803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Guest  Applications</a:t>
              </a:r>
              <a:endParaRPr lang="zh-TW" altLang="en-US" sz="2000" dirty="0"/>
            </a:p>
          </p:txBody>
        </p:sp>
        <p:sp>
          <p:nvSpPr>
            <p:cNvPr id="9" name="文字方塊 8"/>
            <p:cNvSpPr txBox="1"/>
            <p:nvPr/>
          </p:nvSpPr>
          <p:spPr>
            <a:xfrm>
              <a:off x="5448684" y="3420040"/>
              <a:ext cx="2161673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Virtual Machine</a:t>
              </a:r>
              <a:endParaRPr lang="zh-TW" altLang="en-US" sz="2000" dirty="0"/>
            </a:p>
          </p:txBody>
        </p:sp>
        <p:sp>
          <p:nvSpPr>
            <p:cNvPr id="10" name="矩形 9"/>
            <p:cNvSpPr/>
            <p:nvPr/>
          </p:nvSpPr>
          <p:spPr>
            <a:xfrm>
              <a:off x="2956446" y="3446710"/>
              <a:ext cx="950296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VMware</a:t>
              </a:r>
              <a:endParaRPr lang="zh-TW" altLang="en-US" sz="2000" dirty="0"/>
            </a:p>
          </p:txBody>
        </p:sp>
        <p:cxnSp>
          <p:nvCxnSpPr>
            <p:cNvPr id="13" name="直線單箭頭接點 12"/>
            <p:cNvCxnSpPr/>
            <p:nvPr/>
          </p:nvCxnSpPr>
          <p:spPr>
            <a:xfrm flipV="1">
              <a:off x="3323565" y="3921900"/>
              <a:ext cx="0" cy="432048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5"/>
            <p:cNvSpPr txBox="1"/>
            <p:nvPr/>
          </p:nvSpPr>
          <p:spPr>
            <a:xfrm>
              <a:off x="2364738" y="4381239"/>
              <a:ext cx="4084730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We will focus on the system virtualization</a:t>
              </a:r>
              <a:endParaRPr lang="zh-TW" altLang="en-US" sz="2000" dirty="0"/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A922C03-DF60-9177-21BA-4811E40DF8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07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2629" y="108349"/>
            <a:ext cx="7783061" cy="519113"/>
          </a:xfrm>
        </p:spPr>
        <p:txBody>
          <a:bodyPr/>
          <a:lstStyle/>
          <a:p>
            <a:r>
              <a:rPr lang="en-US" altLang="zh-TW" dirty="0"/>
              <a:t>System Virtual Machine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2630" y="844153"/>
            <a:ext cx="7518400" cy="2798933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 machine is controlled by a hypervisor or VMM (Virtual Machine Monitor)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hypervisor or VMM is a software to provide a hardware emulation interface including CPU, memory, I/O by multiplexing host resources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12D3B27-5EFE-DA64-33F0-5C32FD1E6D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223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5371" y="108349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329714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their 1974 article "Formal Requirements for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Virtualizable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Third Generation Architectures" Gerald J.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Popek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Robert P. Goldberg classified two types of hypervisor: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1 hypervisor : Bare metal type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 2 hypervisor : Hosted type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B65B6D-525B-861C-EC5C-0AF86F0DE9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898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5371" y="108349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(2)</a:t>
            </a:r>
            <a:endParaRPr lang="zh-TW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EF00F23-83DC-E97F-0816-683A7AB96162}"/>
              </a:ext>
            </a:extLst>
          </p:cNvPr>
          <p:cNvGrpSpPr/>
          <p:nvPr/>
        </p:nvGrpSpPr>
        <p:grpSpPr>
          <a:xfrm>
            <a:off x="2033308" y="1033670"/>
            <a:ext cx="4916233" cy="3453593"/>
            <a:chOff x="2140043" y="1491630"/>
            <a:chExt cx="4916233" cy="3453593"/>
          </a:xfrm>
        </p:grpSpPr>
        <p:pic>
          <p:nvPicPr>
            <p:cNvPr id="4100" name="Picture 4" descr="http://upload.wikimedia.org/wikipedia/commons/e/e1/Hyperviseur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3778" y="1491630"/>
              <a:ext cx="4482498" cy="27987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矩形 4"/>
            <p:cNvSpPr/>
            <p:nvPr/>
          </p:nvSpPr>
          <p:spPr>
            <a:xfrm>
              <a:off x="2140043" y="4360447"/>
              <a:ext cx="2655663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1 (or native, bare metal) </a:t>
              </a:r>
            </a:p>
            <a:p>
              <a:pPr algn="ctr"/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058054" y="4360448"/>
              <a:ext cx="1746119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2 (or hosted) </a:t>
              </a:r>
            </a:p>
            <a:p>
              <a:pPr algn="ctr"/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30CD2D-7817-13F6-00A0-D93E1371DD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9619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108349"/>
            <a:ext cx="7761290" cy="519113"/>
          </a:xfrm>
        </p:spPr>
        <p:txBody>
          <a:bodyPr/>
          <a:lstStyle/>
          <a:p>
            <a:r>
              <a:rPr lang="en-US" altLang="zh-TW" dirty="0"/>
              <a:t>Purposes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98550" y="878115"/>
            <a:ext cx="6946900" cy="334327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all sensitive instructions by emulation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guest physical memory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guest virtual address to host virtual address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Emulate I/O devices for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Ex: Keyboard, UART, Storage and Network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7FC3016-9C24-F07B-0025-24FF149E6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1263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686" y="0"/>
            <a:ext cx="6172200" cy="756084"/>
          </a:xfrm>
        </p:spPr>
        <p:txBody>
          <a:bodyPr>
            <a:normAutofit/>
          </a:bodyPr>
          <a:lstStyle/>
          <a:p>
            <a:r>
              <a:rPr lang="en-US" altLang="zh-TW" dirty="0"/>
              <a:t>Implementations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286" y="903421"/>
            <a:ext cx="7779657" cy="3380714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wholly emulated virtual machine makes guest operating system binary can be executed directly without modifying guest source code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efficiency, it needs hardware-assisted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Hypercalls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defined and used in a guest operating system to make a virtual machine abstraction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 to literature, it’s most efficient way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compiling technique, guest operating system binary or source could be compiled for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57331B7-56E5-0DAC-E1AE-A59197D3A5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3529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8557" y="99657"/>
            <a:ext cx="7700675" cy="519113"/>
          </a:xfrm>
        </p:spPr>
        <p:txBody>
          <a:bodyPr/>
          <a:lstStyle/>
          <a:p>
            <a:r>
              <a:rPr lang="en-US" altLang="zh-TW" dirty="0"/>
              <a:t>Hypervisor Case - KVM</a:t>
            </a:r>
            <a:endParaRPr lang="zh-TW" altLang="en-US" dirty="0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3BBA13B2-B0CF-ACC4-8C9B-5CA5E5C2441A}"/>
              </a:ext>
            </a:extLst>
          </p:cNvPr>
          <p:cNvGrpSpPr/>
          <p:nvPr/>
        </p:nvGrpSpPr>
        <p:grpSpPr>
          <a:xfrm>
            <a:off x="1363327" y="854293"/>
            <a:ext cx="6274816" cy="3671986"/>
            <a:chOff x="1458686" y="1380954"/>
            <a:chExt cx="6274816" cy="3671986"/>
          </a:xfrm>
        </p:grpSpPr>
        <p:sp>
          <p:nvSpPr>
            <p:cNvPr id="4" name="AutoShape 10"/>
            <p:cNvSpPr>
              <a:spLocks/>
            </p:cNvSpPr>
            <p:nvPr/>
          </p:nvSpPr>
          <p:spPr bwMode="auto">
            <a:xfrm>
              <a:off x="2470715" y="3396962"/>
              <a:ext cx="4795502" cy="67297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lIns="0" tIns="0" rIns="0" bIns="0"/>
            <a:lstStyle/>
            <a:p>
              <a:endParaRPr lang="zh-TW" altLang="en-US" sz="1350">
                <a:ea typeface="新細明體" charset="-120"/>
              </a:endParaRPr>
            </a:p>
          </p:txBody>
        </p:sp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2582240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CPU</a:t>
              </a:r>
            </a:p>
          </p:txBody>
        </p:sp>
        <p:sp>
          <p:nvSpPr>
            <p:cNvPr id="6" name="Rectangle 13"/>
            <p:cNvSpPr>
              <a:spLocks/>
            </p:cNvSpPr>
            <p:nvPr/>
          </p:nvSpPr>
          <p:spPr bwMode="auto">
            <a:xfrm>
              <a:off x="3456159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</a:p>
          </p:txBody>
        </p:sp>
        <p:sp>
          <p:nvSpPr>
            <p:cNvPr id="7" name="Rectangle 14"/>
            <p:cNvSpPr>
              <a:spLocks/>
            </p:cNvSpPr>
            <p:nvPr/>
          </p:nvSpPr>
          <p:spPr bwMode="auto">
            <a:xfrm>
              <a:off x="5282577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</a:p>
          </p:txBody>
        </p:sp>
        <p:sp>
          <p:nvSpPr>
            <p:cNvPr id="8" name="Rectangle 15"/>
            <p:cNvSpPr>
              <a:spLocks/>
            </p:cNvSpPr>
            <p:nvPr/>
          </p:nvSpPr>
          <p:spPr bwMode="auto">
            <a:xfrm>
              <a:off x="4364606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Timer</a:t>
              </a:r>
            </a:p>
          </p:txBody>
        </p:sp>
        <p:sp>
          <p:nvSpPr>
            <p:cNvPr id="9" name="Rectangle 16"/>
            <p:cNvSpPr>
              <a:spLocks/>
            </p:cNvSpPr>
            <p:nvPr/>
          </p:nvSpPr>
          <p:spPr bwMode="auto">
            <a:xfrm>
              <a:off x="6202518" y="3457773"/>
              <a:ext cx="90496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Interrupt</a:t>
              </a:r>
            </a:p>
          </p:txBody>
        </p:sp>
        <p:sp>
          <p:nvSpPr>
            <p:cNvPr id="10" name="Rectangle 17"/>
            <p:cNvSpPr>
              <a:spLocks/>
            </p:cNvSpPr>
            <p:nvPr/>
          </p:nvSpPr>
          <p:spPr bwMode="auto">
            <a:xfrm>
              <a:off x="1544802" y="3556226"/>
              <a:ext cx="834834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Hardware</a:t>
              </a:r>
            </a:p>
          </p:txBody>
        </p:sp>
        <p:sp>
          <p:nvSpPr>
            <p:cNvPr id="11" name="Rectangle 18"/>
            <p:cNvSpPr>
              <a:spLocks/>
            </p:cNvSpPr>
            <p:nvPr/>
          </p:nvSpPr>
          <p:spPr bwMode="auto">
            <a:xfrm>
              <a:off x="3339178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CPU Virtualization</a:t>
              </a:r>
            </a:p>
          </p:txBody>
        </p:sp>
        <p:sp>
          <p:nvSpPr>
            <p:cNvPr id="12" name="Rectangle 19"/>
            <p:cNvSpPr>
              <a:spLocks/>
            </p:cNvSpPr>
            <p:nvPr/>
          </p:nvSpPr>
          <p:spPr bwMode="auto">
            <a:xfrm>
              <a:off x="5170732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3" name="Rectangle 20"/>
            <p:cNvSpPr>
              <a:spLocks/>
            </p:cNvSpPr>
            <p:nvPr/>
          </p:nvSpPr>
          <p:spPr bwMode="auto">
            <a:xfrm>
              <a:off x="2670420" y="1971793"/>
              <a:ext cx="1326662" cy="552700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  <a:endParaRPr lang="en-US" altLang="zh-TW" sz="135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4" name="Line 21"/>
            <p:cNvSpPr>
              <a:spLocks noChangeShapeType="1"/>
            </p:cNvSpPr>
            <p:nvPr/>
          </p:nvSpPr>
          <p:spPr bwMode="auto">
            <a:xfrm>
              <a:off x="2609957" y="1727534"/>
              <a:ext cx="18735" cy="1546332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5" name="Line 22"/>
            <p:cNvSpPr>
              <a:spLocks noChangeShapeType="1"/>
            </p:cNvSpPr>
            <p:nvPr/>
          </p:nvSpPr>
          <p:spPr bwMode="auto">
            <a:xfrm flipH="1">
              <a:off x="2628707" y="3273866"/>
              <a:ext cx="447951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6" name="Line 23"/>
            <p:cNvSpPr>
              <a:spLocks noChangeShapeType="1"/>
            </p:cNvSpPr>
            <p:nvPr/>
          </p:nvSpPr>
          <p:spPr bwMode="auto">
            <a:xfrm flipH="1">
              <a:off x="7094872" y="2298007"/>
              <a:ext cx="38843" cy="97530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7" name="Line 24"/>
            <p:cNvSpPr>
              <a:spLocks noChangeShapeType="1"/>
            </p:cNvSpPr>
            <p:nvPr/>
          </p:nvSpPr>
          <p:spPr bwMode="auto">
            <a:xfrm flipH="1">
              <a:off x="4122434" y="2305887"/>
              <a:ext cx="300415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8" name="Line 25"/>
            <p:cNvSpPr>
              <a:spLocks noChangeShapeType="1"/>
            </p:cNvSpPr>
            <p:nvPr/>
          </p:nvSpPr>
          <p:spPr bwMode="auto">
            <a:xfrm>
              <a:off x="4096941" y="1667853"/>
              <a:ext cx="0" cy="678376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9" name="Line 26"/>
            <p:cNvSpPr>
              <a:spLocks noChangeShapeType="1"/>
            </p:cNvSpPr>
            <p:nvPr/>
          </p:nvSpPr>
          <p:spPr bwMode="auto">
            <a:xfrm flipH="1">
              <a:off x="2591308" y="1708193"/>
              <a:ext cx="1475360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grpSp>
          <p:nvGrpSpPr>
            <p:cNvPr id="20" name="Group 29"/>
            <p:cNvGrpSpPr>
              <a:grpSpLocks/>
            </p:cNvGrpSpPr>
            <p:nvPr/>
          </p:nvGrpSpPr>
          <p:grpSpPr bwMode="auto">
            <a:xfrm>
              <a:off x="4281392" y="1424730"/>
              <a:ext cx="1044370" cy="782430"/>
              <a:chOff x="0" y="0"/>
              <a:chExt cx="899" cy="578"/>
            </a:xfrm>
          </p:grpSpPr>
          <p:sp>
            <p:nvSpPr>
              <p:cNvPr id="21" name="AutoShape 27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2" name="Rectangle 28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0</a:t>
                </a:r>
              </a:p>
            </p:txBody>
          </p:sp>
        </p:grpSp>
        <p:grpSp>
          <p:nvGrpSpPr>
            <p:cNvPr id="23" name="Group 32"/>
            <p:cNvGrpSpPr>
              <a:grpSpLocks/>
            </p:cNvGrpSpPr>
            <p:nvPr/>
          </p:nvGrpSpPr>
          <p:grpSpPr bwMode="auto">
            <a:xfrm>
              <a:off x="5506545" y="1424730"/>
              <a:ext cx="1044370" cy="782430"/>
              <a:chOff x="0" y="0"/>
              <a:chExt cx="899" cy="578"/>
            </a:xfrm>
          </p:grpSpPr>
          <p:sp>
            <p:nvSpPr>
              <p:cNvPr id="24" name="AutoShape 30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5" name="Rectangle 31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1</a:t>
                </a:r>
              </a:p>
            </p:txBody>
          </p:sp>
        </p:grpSp>
        <p:sp>
          <p:nvSpPr>
            <p:cNvPr id="26" name="Rectangle 33"/>
            <p:cNvSpPr>
              <a:spLocks/>
            </p:cNvSpPr>
            <p:nvPr/>
          </p:nvSpPr>
          <p:spPr bwMode="auto">
            <a:xfrm>
              <a:off x="1458686" y="2387601"/>
              <a:ext cx="1058487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Hypervisor</a:t>
              </a:r>
            </a:p>
          </p:txBody>
        </p:sp>
        <p:sp>
          <p:nvSpPr>
            <p:cNvPr id="27" name="Rectangle 34"/>
            <p:cNvSpPr>
              <a:spLocks/>
            </p:cNvSpPr>
            <p:nvPr/>
          </p:nvSpPr>
          <p:spPr bwMode="auto">
            <a:xfrm>
              <a:off x="3041054" y="1380954"/>
              <a:ext cx="795359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QEMU</a:t>
              </a:r>
            </a:p>
          </p:txBody>
        </p:sp>
        <p:sp>
          <p:nvSpPr>
            <p:cNvPr id="29" name="Rectangle 36"/>
            <p:cNvSpPr>
              <a:spLocks/>
            </p:cNvSpPr>
            <p:nvPr/>
          </p:nvSpPr>
          <p:spPr bwMode="auto">
            <a:xfrm>
              <a:off x="4281884" y="2340980"/>
              <a:ext cx="1402198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Linux + KVM</a:t>
              </a:r>
            </a:p>
          </p:txBody>
        </p:sp>
        <p:sp>
          <p:nvSpPr>
            <p:cNvPr id="34" name="文字方塊 33"/>
            <p:cNvSpPr txBox="1"/>
            <p:nvPr/>
          </p:nvSpPr>
          <p:spPr>
            <a:xfrm>
              <a:off x="1873359" y="4129610"/>
              <a:ext cx="586014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CPU and memory virtualizations are handled in the Linux Kernel Space 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I/O virtualization is handled in the Linux User Space by QEMU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type 2 virtual machine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full virtualization implementation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28C4903-027C-635A-566A-7ECCED2AA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260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B7C1822-EA05-5EF7-C66E-2306CFE4C6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480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6342" y="108349"/>
            <a:ext cx="7819348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571" y="806669"/>
            <a:ext cx="7220858" cy="712932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logical volume manager for the Linux kernel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manages disk drives and similar mass-storage devices.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6C55D18-7216-091E-2FDD-10D6FFD648E4}"/>
              </a:ext>
            </a:extLst>
          </p:cNvPr>
          <p:cNvGrpSpPr/>
          <p:nvPr/>
        </p:nvGrpSpPr>
        <p:grpSpPr>
          <a:xfrm>
            <a:off x="2829720" y="1596571"/>
            <a:ext cx="3360623" cy="2992215"/>
            <a:chOff x="2802194" y="1275607"/>
            <a:chExt cx="3834426" cy="3442013"/>
          </a:xfrm>
        </p:grpSpPr>
        <p:pic>
          <p:nvPicPr>
            <p:cNvPr id="17410" name="Picture 2" descr="http://bobcares.com/images/lvm_internal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2194" y="1275607"/>
              <a:ext cx="3834426" cy="3195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3408491" y="4417538"/>
              <a:ext cx="2258952" cy="30008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350" b="1" dirty="0"/>
                <a:t> Logical Volume Manager</a:t>
              </a:r>
              <a:endParaRPr lang="zh-TW" altLang="en-US" sz="1350" b="1" dirty="0"/>
            </a:p>
          </p:txBody>
        </p:sp>
      </p:grp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19866AF-040F-18FF-C3BB-FA094C6413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67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657" y="108349"/>
            <a:ext cx="77540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- Example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1657" y="795690"/>
            <a:ext cx="7663543" cy="815071"/>
          </a:xfrm>
        </p:spPr>
        <p:txBody>
          <a:bodyPr>
            <a:no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partition -&gt; physical volumes -&gt; volume group -&gt; logical volumes -&gt; file systems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386" name="Picture 2" descr="http://www.tuxradar.com/files/LXF112.tut_adv.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0880" y="1778989"/>
            <a:ext cx="6656933" cy="2754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62A422A-9581-2B6A-F64B-008BD9E233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176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1" y="108349"/>
            <a:ext cx="773951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6171" y="840178"/>
            <a:ext cx="7150100" cy="2672280"/>
          </a:xfrm>
        </p:spPr>
        <p:txBody>
          <a:bodyPr>
            <a:no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 is a storage technology that combines multiple disk drive components into a logical unit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distributed across the drives in one of several ways called "RAID levels“, such as RAID0, RAID1, etc., depending on the level of redundancy and performance required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94FC6AA-ED4B-0E30-814D-DCAA03DF8E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36073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7943" y="108349"/>
            <a:ext cx="7717747" cy="519113"/>
          </a:xfrm>
        </p:spPr>
        <p:txBody>
          <a:bodyPr/>
          <a:lstStyle/>
          <a:p>
            <a:r>
              <a:rPr lang="en-US" altLang="zh-TW" dirty="0"/>
              <a:t>Example - RAID 0 and RAID 1</a:t>
            </a:r>
            <a:endParaRPr lang="zh-TW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6D6BA773-F20A-6338-3AD4-C8C71AF76373}"/>
              </a:ext>
            </a:extLst>
          </p:cNvPr>
          <p:cNvGrpSpPr/>
          <p:nvPr/>
        </p:nvGrpSpPr>
        <p:grpSpPr>
          <a:xfrm>
            <a:off x="311109" y="833448"/>
            <a:ext cx="4505707" cy="3665290"/>
            <a:chOff x="515257" y="739105"/>
            <a:chExt cx="4505707" cy="3665290"/>
          </a:xfrm>
        </p:grpSpPr>
        <p:pic>
          <p:nvPicPr>
            <p:cNvPr id="18434" name="Picture 2" descr="File:RAID 0.sv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46902" y="739105"/>
              <a:ext cx="2000922" cy="3078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矩形 4"/>
            <p:cNvSpPr/>
            <p:nvPr/>
          </p:nvSpPr>
          <p:spPr>
            <a:xfrm>
              <a:off x="515257" y="3688814"/>
              <a:ext cx="4505707" cy="71558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3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It provides improved performance and additional storage but no fault tolerance (block-level striping without parity or mirroring) . </a:t>
              </a:r>
              <a:endParaRPr lang="zh-TW" altLang="en-US" sz="13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C5C04029-B0FA-A9D7-508A-51E9D212BA67}"/>
              </a:ext>
            </a:extLst>
          </p:cNvPr>
          <p:cNvGrpSpPr/>
          <p:nvPr/>
        </p:nvGrpSpPr>
        <p:grpSpPr>
          <a:xfrm>
            <a:off x="5407984" y="833448"/>
            <a:ext cx="2627642" cy="3313799"/>
            <a:chOff x="5052385" y="1042657"/>
            <a:chExt cx="2627642" cy="3313799"/>
          </a:xfrm>
        </p:grpSpPr>
        <p:pic>
          <p:nvPicPr>
            <p:cNvPr id="18436" name="Picture 4" descr="File:RAID 1.sv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5692" y="1042657"/>
              <a:ext cx="2056443" cy="31637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矩形 5"/>
            <p:cNvSpPr/>
            <p:nvPr/>
          </p:nvSpPr>
          <p:spPr>
            <a:xfrm>
              <a:off x="5052385" y="4056374"/>
              <a:ext cx="2627642" cy="30008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3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mirroring without parity or striping</a:t>
              </a:r>
              <a:endParaRPr lang="zh-TW" altLang="en-US" sz="13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687BA76D-8DE7-0E9C-F79A-3927E9393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76997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4229" y="108349"/>
            <a:ext cx="7681461" cy="519113"/>
          </a:xfrm>
        </p:spPr>
        <p:txBody>
          <a:bodyPr/>
          <a:lstStyle/>
          <a:p>
            <a:r>
              <a:rPr lang="en-US" altLang="zh-TW" dirty="0"/>
              <a:t>LVM and RIAD for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14399" y="844153"/>
            <a:ext cx="7561944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provides a virtual storage systems which is flexible to partition and allocate logical volumes to virtual machines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not only improves storage performance but has fault tolerance capability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Leaning how to configure LVM and RAID in the virtualization system 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EF16210-DB97-34D3-2D8E-4446AE622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5199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A81C3F9-8066-9960-AAF3-7CAA26130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88918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(1)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00172" y="827314"/>
            <a:ext cx="6975428" cy="3164115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networking (SDN) is an approach to building computer networks that separates and abstracts elements of these systems 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SDN decouples the system that makes decisions about where traffic is sent (the control plane) from the underlying system that forwards traffic to the selected destination (the data plane)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786560-52AA-099B-AB2A-3392F2303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7795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8114" y="108349"/>
            <a:ext cx="779757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(2)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114" y="899079"/>
            <a:ext cx="7178628" cy="268594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inventors and vendors of these systems claim that this technology simplifies networking and enables new applications, such as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 in which the control plane is separated from the data plane and implemented in a software application.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6ADBB87-3AFA-D0E3-436D-4FD89B298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61743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6343" y="108349"/>
            <a:ext cx="7819347" cy="519113"/>
          </a:xfrm>
        </p:spPr>
        <p:txBody>
          <a:bodyPr/>
          <a:lstStyle/>
          <a:p>
            <a:r>
              <a:rPr lang="en-US" altLang="zh-TW" dirty="0"/>
              <a:t>Open </a:t>
            </a:r>
            <a:r>
              <a:rPr lang="en-US" altLang="zh-TW" dirty="0" err="1"/>
              <a:t>vSwitch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343" y="844154"/>
            <a:ext cx="7692572" cy="3277904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flexible, multi-layer software network switch. Typically used in virtualization environments as the network switching component in the hypervisor.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the logical state of a virtual machine's network connection across physical hosts when a virtual machine is migrated, and it can be managed and monitored by standard protocols such as: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OpenFlow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NetFlow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sFlow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SPAN, RSPAN. 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CBBAE6-408D-D33C-02AE-769EFD3B7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9209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Open </a:t>
            </a:r>
            <a:r>
              <a:rPr lang="en-US" altLang="zh-TW" dirty="0" err="1"/>
              <a:t>vSwitch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718457" y="829616"/>
            <a:ext cx="7874000" cy="1231413"/>
          </a:xfrm>
        </p:spPr>
        <p:txBody>
          <a:bodyPr>
            <a:no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it comes to virtualization, open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attractive because it provides the ability for a single controller to manage your virtual network across all your servers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482" name="Picture 2" descr="open vswitc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7984" y="2061028"/>
            <a:ext cx="3818930" cy="2540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7A6C85D-EAD5-E3ED-94B0-053E952FF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19319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108349"/>
            <a:ext cx="7710490" cy="519113"/>
          </a:xfrm>
        </p:spPr>
        <p:txBody>
          <a:bodyPr/>
          <a:lstStyle/>
          <a:p>
            <a:r>
              <a:rPr lang="en-US" altLang="zh-TW" dirty="0" err="1"/>
              <a:t>InfiniBand</a:t>
            </a:r>
            <a:r>
              <a:rPr lang="en-US" altLang="zh-TW" dirty="0"/>
              <a:t> Virtualization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1046467" y="829657"/>
            <a:ext cx="7115400" cy="1888143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switched fabric communications link used in high-performance computing and enterprise data centers.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two key features : low latency and high bandwidth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using InfiniBand brings big benefits to data centers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BA99A53E-CC1D-F08D-D065-13FD3A8A8F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  <p:pic>
        <p:nvPicPr>
          <p:cNvPr id="6" name="图片 5" descr="图片包含 图形用户界面&#10;&#10;描述已自动生成">
            <a:extLst>
              <a:ext uri="{FF2B5EF4-FFF2-40B4-BE49-F238E27FC236}">
                <a16:creationId xmlns:a16="http://schemas.microsoft.com/office/drawing/2014/main" id="{5F3264B7-9121-F9B6-FDEC-98F34E1CF8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485" y="2963334"/>
            <a:ext cx="1663328" cy="1547282"/>
          </a:xfrm>
          <a:prstGeom prst="rect">
            <a:avLst/>
          </a:prstGeom>
        </p:spPr>
      </p:pic>
      <p:pic>
        <p:nvPicPr>
          <p:cNvPr id="8" name="图片 7" descr="图片包含 水, 骑, 男人, 狗&#10;&#10;描述已自动生成">
            <a:extLst>
              <a:ext uri="{FF2B5EF4-FFF2-40B4-BE49-F238E27FC236}">
                <a16:creationId xmlns:a16="http://schemas.microsoft.com/office/drawing/2014/main" id="{3CC83BAB-0384-0C1A-E40B-C879958DA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171" y="3409802"/>
            <a:ext cx="3636963" cy="83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5267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50BE8F-6106-8E17-1F0A-A15002A1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51572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0857" y="108349"/>
            <a:ext cx="78048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Graphics </a:t>
            </a:r>
            <a:r>
              <a:rPr lang="en-US" altLang="zh-CN" dirty="0"/>
              <a:t>P</a:t>
            </a:r>
            <a:r>
              <a:rPr lang="en-US" altLang="zh-TW" dirty="0"/>
              <a:t>rocessing Unit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086" y="829649"/>
            <a:ext cx="7381827" cy="119602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Graphics Processing Units (GPUs) are high-performance many-core processors capable of very high computation and data throughput.</a:t>
            </a:r>
          </a:p>
        </p:txBody>
      </p:sp>
      <p:pic>
        <p:nvPicPr>
          <p:cNvPr id="2050" name="Picture 2" descr="https://encrypted-tbn1.gstatic.com/images?q=tbn:ANd9GcQ8KuAvXmzjJs6jCraVgl2QXhl7c6ofGHViGXpwQ8TJss6kGN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313" y="2447198"/>
            <a:ext cx="3019374" cy="2059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21D9793-B552-307C-2CB2-48B374B63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9335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8114" y="108349"/>
            <a:ext cx="779757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Performance Comparison - GPU vs. CPU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7029" y="809724"/>
            <a:ext cx="7026800" cy="101907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the Intel Core I7 980X (extreme edition) gives us around 110GFLOPS,  GPUs such as AMD Radeon 6970 and NVidia C2090 offer more than 660GFLOPS.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http://3.bp.blogspot.com/-CMJkP4H8_tE/TfOYpCqBe7I/AAAAAAAAA9E/sBjmlolpCDg/s1600/chart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9943" y="1915884"/>
            <a:ext cx="4231062" cy="2618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9B69390-24CE-B6CE-51FF-E71F2AE7D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77217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/>
          <a:lstStyle/>
          <a:p>
            <a:r>
              <a:rPr lang="en-US" altLang="zh-TW" dirty="0"/>
              <a:t>GPGPU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416801" cy="33432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 of modern Graphics Processing Units may be utilized not only for graphics related application but also for general computing.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Today’s GPUs are general-purpose parallel processors with support for accessible programming interfaces and industry-standard languages such as C. 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Developers who port their applications to GPUs often achieve speedups of orders of magnitude vs. optimized CPU implementations. 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6D975B6-97FC-E4E6-DE8B-37615DECC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57364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657" y="108349"/>
            <a:ext cx="7754033" cy="519113"/>
          </a:xfrm>
        </p:spPr>
        <p:txBody>
          <a:bodyPr/>
          <a:lstStyle/>
          <a:p>
            <a:r>
              <a:rPr lang="en-US" altLang="zh-TW" dirty="0"/>
              <a:t>GPU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69256" y="844153"/>
            <a:ext cx="7917543" cy="12096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 allows multiple virtual machines to interact directly with a GPU and manages the GPU resources so multiple users can share common hardware, while improving user density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hart showing synergy between Kepler technology and NVIDIA VGX Hypervis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484" y="2181375"/>
            <a:ext cx="3426859" cy="226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429910D-D277-9ABB-7BD4-A604038BFF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26072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24C90A-F1F5-4686-A067-F994E940C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51445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108349"/>
            <a:ext cx="77104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9772" y="853881"/>
            <a:ext cx="7004456" cy="3333490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administrators have a lot to deal with in today’s corporate infrastructure. With the ever increasing prices of upgrading desktop computers, software virtualization is becoming very appealing.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following features: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Ease of Management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Portable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02FD9CD-155D-D045-1C5B-D4C6D025E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33763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0857" y="108349"/>
            <a:ext cx="78048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Virtual Desktop Infrastructure (VDI)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6" y="785123"/>
            <a:ext cx="6990443" cy="1435561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desktop Infrastructure (VDI) is a desktop-centric service that hosts users desktop environments on remote servers, which are accessed over a network using a remote display protocol.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362" name="Picture 2" descr="http://mythoughtsonit.com/wp-content/uploads/2012/10/vdi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7519" y="2220683"/>
            <a:ext cx="3177069" cy="232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78F1DA7-932E-CE92-0030-321A6072F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40031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318" y="108349"/>
            <a:ext cx="7743372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EyeOS</a:t>
            </a:r>
            <a:r>
              <a:rPr lang="en-US" altLang="zh-TW" dirty="0"/>
              <a:t> - Web Desktop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0314" y="833874"/>
            <a:ext cx="7743372" cy="1152106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eyeOS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 desktop following the cloud computing concept that seeks to enable collaboration and communication among users. It is mainly written in PHP, XML, and JavaScript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338" name="Picture 2" descr="File:EyeOS-2.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71" y="2078644"/>
            <a:ext cx="3947886" cy="2467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A07BDC2-8DD3-FEE1-07A8-C70AE37DE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86958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24F0DB-F821-2F0F-BA4A-8C261AFA16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46841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683" y="858608"/>
            <a:ext cx="3238659" cy="36724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429" y="108349"/>
            <a:ext cx="7732261" cy="519113"/>
          </a:xfrm>
        </p:spPr>
        <p:txBody>
          <a:bodyPr/>
          <a:lstStyle/>
          <a:p>
            <a:r>
              <a:rPr lang="en-US" altLang="zh-TW" dirty="0"/>
              <a:t>Intel VT-x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3429" y="858608"/>
            <a:ext cx="4027716" cy="3394472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CPU Operating Mode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VMX Root Operation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Non-Root Operation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Transitions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entry to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exit to VMM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Control Structure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by VMM software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575406-1D5F-8409-46D6-731E0F5B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50361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/>
          <a:lstStyle/>
          <a:p>
            <a:r>
              <a:rPr lang="en-US" altLang="zh-TW" dirty="0"/>
              <a:t>ARM Virtualization Extension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6971" y="833596"/>
            <a:ext cx="7170057" cy="20436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world supports a single virtual machine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Non-secure level of privilege to hold Hypervisor</a:t>
            </a:r>
          </a:p>
          <a:p>
            <a:pPr lvl="1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Hypervisor mode applies to normal world</a:t>
            </a:r>
          </a:p>
          <a:p>
            <a:pPr lvl="1">
              <a:spcBef>
                <a:spcPts val="0"/>
              </a:spcBef>
            </a:pP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 is used by the Hypervisor</a:t>
            </a:r>
          </a:p>
          <a:p>
            <a:pPr lvl="1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given same kernel/user privilege structure as for a non virtualized environment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mode controls transition between worlds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0629" y="2877271"/>
            <a:ext cx="4263347" cy="16711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64A5C0E-ED98-7669-4291-6B9C17971E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3495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2" y="108349"/>
            <a:ext cx="7795158" cy="519113"/>
          </a:xfrm>
        </p:spPr>
        <p:txBody>
          <a:bodyPr/>
          <a:lstStyle/>
          <a:p>
            <a:r>
              <a:rPr lang="en-US" altLang="zh-TW" dirty="0"/>
              <a:t>Single-Root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0532" y="769392"/>
            <a:ext cx="6747935" cy="1048671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PCI-SIG specifies multiple functional elements addressing performance and security aspects of I/O virtualization</a:t>
            </a:r>
          </a:p>
          <a:p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devices will have multiple virtual functions (VF’s)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3" name="Picture 3" descr="\\vmware-host\Shared Folders\Desktop\Virtualization\SRIOV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151" y="1959994"/>
            <a:ext cx="3034477" cy="2567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486E5D-F5CD-088B-81D1-C4011F03DD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105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6260" y="108349"/>
            <a:ext cx="7779430" cy="519113"/>
          </a:xfrm>
        </p:spPr>
        <p:txBody>
          <a:bodyPr/>
          <a:lstStyle/>
          <a:p>
            <a:r>
              <a:rPr lang="en-US" altLang="zh-TW" dirty="0"/>
              <a:t>Multi-Root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6260" y="848150"/>
            <a:ext cx="6434473" cy="697623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hardware domains utilizing same IO endpoints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functions are dedicated to virtual machines</a:t>
            </a:r>
          </a:p>
        </p:txBody>
      </p:sp>
      <p:pic>
        <p:nvPicPr>
          <p:cNvPr id="12290" name="Picture 2" descr="\\vmware-host\Shared Folders\Desktop\Virtualization\MRIOV.png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771" y="1630614"/>
            <a:ext cx="3512458" cy="294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EA4B6C3-0607-134E-4B53-B1CF4BBAC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81813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2605</TotalTime>
  <Words>1703</Words>
  <Application>Microsoft Office PowerPoint</Application>
  <PresentationFormat>全屏显示(16:9)</PresentationFormat>
  <Paragraphs>339</Paragraphs>
  <Slides>47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5" baseType="lpstr">
      <vt:lpstr>Lucida Grande</vt:lpstr>
      <vt:lpstr>MS Sans Serif</vt:lpstr>
      <vt:lpstr>新細明體</vt:lpstr>
      <vt:lpstr>Arial</vt:lpstr>
      <vt:lpstr>Calibri</vt:lpstr>
      <vt:lpstr>Times New Roman</vt:lpstr>
      <vt:lpstr>Wingdings</vt:lpstr>
      <vt:lpstr>NTHU UniCloud</vt:lpstr>
      <vt:lpstr>CSC6103 – Virtualization Techniques Introduction</vt:lpstr>
      <vt:lpstr>Outline</vt:lpstr>
      <vt:lpstr>Introduction</vt:lpstr>
      <vt:lpstr>Multiple VMs in One Machine</vt:lpstr>
      <vt:lpstr>Performance of Virtualizations </vt:lpstr>
      <vt:lpstr>History of Virtualization</vt:lpstr>
      <vt:lpstr>Example - Server Virtualization</vt:lpstr>
      <vt:lpstr>Benefits of Server Virtualization</vt:lpstr>
      <vt:lpstr>Example - Mobile Virtualization</vt:lpstr>
      <vt:lpstr>Benefits of Mobile Virtualization</vt:lpstr>
      <vt:lpstr>Virtualization Techniques (1)</vt:lpstr>
      <vt:lpstr>Virtualization Techniques (2)</vt:lpstr>
      <vt:lpstr>Virtualization Techniques</vt:lpstr>
      <vt:lpstr>Virtual Machine (1)</vt:lpstr>
      <vt:lpstr>Virtual Machine (2)</vt:lpstr>
      <vt:lpstr>System Virtual Machine</vt:lpstr>
      <vt:lpstr>Two Types of Hypervisor (1)</vt:lpstr>
      <vt:lpstr>Two Types of Hypervisor (2)</vt:lpstr>
      <vt:lpstr>Purposes of Hypervisor</vt:lpstr>
      <vt:lpstr>Implementations of Hypervisor</vt:lpstr>
      <vt:lpstr>Hypervisor Case - KVM</vt:lpstr>
      <vt:lpstr>Virtualization Techniques</vt:lpstr>
      <vt:lpstr>LVM  </vt:lpstr>
      <vt:lpstr>LVM - Example</vt:lpstr>
      <vt:lpstr>RAID</vt:lpstr>
      <vt:lpstr>Example - RAID 0 and RAID 1</vt:lpstr>
      <vt:lpstr>LVM and RIAD for Virtualization</vt:lpstr>
      <vt:lpstr>Virtualization Techniques</vt:lpstr>
      <vt:lpstr>Software Defined Network (1) </vt:lpstr>
      <vt:lpstr>Software Defined Network (2) </vt:lpstr>
      <vt:lpstr>Open vSwitch (1)</vt:lpstr>
      <vt:lpstr>Open vSwitch (2)</vt:lpstr>
      <vt:lpstr>InfiniBand Virtualization</vt:lpstr>
      <vt:lpstr>Virtualization Techniques</vt:lpstr>
      <vt:lpstr>Graphics Processing Unit (GPU)</vt:lpstr>
      <vt:lpstr>Performance Comparison - GPU vs. CPU</vt:lpstr>
      <vt:lpstr>GPGPU</vt:lpstr>
      <vt:lpstr>GPU Virtualization</vt:lpstr>
      <vt:lpstr>Virtualization Techniques</vt:lpstr>
      <vt:lpstr>Software Virtualization</vt:lpstr>
      <vt:lpstr>Virtual Desktop Infrastructure (VDI)</vt:lpstr>
      <vt:lpstr>EyeOS - Web Desktop Virtualization</vt:lpstr>
      <vt:lpstr>Virtualization Techniques</vt:lpstr>
      <vt:lpstr>Intel VT-x</vt:lpstr>
      <vt:lpstr>ARM Virtualization Extension</vt:lpstr>
      <vt:lpstr>Single-Root I/O Virtualization</vt:lpstr>
      <vt:lpstr>Multi-Root I/O Virtualization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Prof. Chung Yehching (SDS)</cp:lastModifiedBy>
  <cp:revision>293</cp:revision>
  <dcterms:created xsi:type="dcterms:W3CDTF">2015-06-05T07:23:35Z</dcterms:created>
  <dcterms:modified xsi:type="dcterms:W3CDTF">2026-09-07T02:56:34Z</dcterms:modified>
</cp:coreProperties>
</file>