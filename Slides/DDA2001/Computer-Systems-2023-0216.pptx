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56" r:id="rId2"/>
    <p:sldId id="295" r:id="rId3"/>
    <p:sldId id="316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318" r:id="rId17"/>
    <p:sldId id="277" r:id="rId18"/>
    <p:sldId id="279" r:id="rId19"/>
    <p:sldId id="292" r:id="rId20"/>
    <p:sldId id="452" r:id="rId21"/>
    <p:sldId id="317" r:id="rId22"/>
    <p:sldId id="449" r:id="rId23"/>
    <p:sldId id="282" r:id="rId24"/>
    <p:sldId id="450" r:id="rId25"/>
    <p:sldId id="447" r:id="rId26"/>
    <p:sldId id="443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451" r:id="rId35"/>
    <p:sldId id="448" r:id="rId3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548" y="22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4996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2023/2/16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2023/2/16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866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2021289-6CA9-CE91-A5F9-95414AADF551}"/>
              </a:ext>
            </a:extLst>
          </p:cNvPr>
          <p:cNvSpPr/>
          <p:nvPr userDrawn="1"/>
        </p:nvSpPr>
        <p:spPr>
          <a:xfrm>
            <a:off x="669958" y="4704131"/>
            <a:ext cx="20881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DDA2001 – Guest Lecture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b="1" dirty="0">
                <a:solidFill>
                  <a:schemeClr val="tx2"/>
                </a:solidFill>
              </a:rPr>
              <a:t>Prof. </a:t>
            </a:r>
            <a:r>
              <a:rPr lang="en-US" altLang="zh-TW" sz="2400" b="1" dirty="0" err="1">
                <a:solidFill>
                  <a:schemeClr val="tx2"/>
                </a:solidFill>
              </a:rPr>
              <a:t>Yeh-Ching</a:t>
            </a:r>
            <a:r>
              <a:rPr lang="en-US" altLang="zh-TW" sz="2400" b="1" dirty="0">
                <a:solidFill>
                  <a:schemeClr val="tx2"/>
                </a:solidFill>
              </a:rPr>
              <a:t> Chung</a:t>
            </a:r>
          </a:p>
          <a:p>
            <a:endParaRPr lang="en-US" altLang="zh-TW" sz="24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b="1" dirty="0">
                <a:solidFill>
                  <a:schemeClr val="tx2"/>
                </a:solidFill>
              </a:rPr>
              <a:t>School of Data Science</a:t>
            </a:r>
          </a:p>
          <a:p>
            <a:r>
              <a:rPr lang="en-US" altLang="zh-TW" sz="2400" b="1" dirty="0">
                <a:solidFill>
                  <a:schemeClr val="tx2"/>
                </a:solidFill>
              </a:rPr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92480" y="140918"/>
            <a:ext cx="6843915" cy="448043"/>
          </a:xfrm>
        </p:spPr>
        <p:txBody>
          <a:bodyPr/>
          <a:lstStyle/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266260" y="4919351"/>
            <a:ext cx="16002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62983" y="840441"/>
            <a:ext cx="7160342" cy="3711087"/>
          </a:xfrm>
        </p:spPr>
        <p:txBody>
          <a:bodyPr/>
          <a:lstStyle/>
          <a:p>
            <a:r>
              <a:rPr lang="en-US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Introduction</a:t>
            </a:r>
          </a:p>
          <a:p>
            <a:r>
              <a:rPr lang="en-US" altLang="zh-CN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Computer Hardware</a:t>
            </a:r>
          </a:p>
          <a:p>
            <a:pPr lvl="1"/>
            <a:r>
              <a:rPr lang="en-US" altLang="zh-CN" sz="20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ISA</a:t>
            </a:r>
          </a:p>
          <a:p>
            <a:r>
              <a:rPr lang="en-US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Computer Software</a:t>
            </a:r>
          </a:p>
          <a:p>
            <a:pPr lvl="1"/>
            <a:r>
              <a:rPr lang="en-US" sz="20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System Software</a:t>
            </a:r>
          </a:p>
          <a:p>
            <a:pPr lvl="1"/>
            <a:r>
              <a:rPr lang="en-US" sz="20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Application Software</a:t>
            </a:r>
          </a:p>
          <a:p>
            <a:r>
              <a:rPr lang="en-US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How Software and Hardware Co-Work</a:t>
            </a:r>
          </a:p>
          <a:p>
            <a:r>
              <a:rPr lang="en-US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Conclusions</a:t>
            </a:r>
          </a:p>
          <a:p>
            <a:endParaRPr lang="en-US" sz="24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endParaRPr lang="en-US" sz="24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00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70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40" y="75399"/>
            <a:ext cx="7746784" cy="519113"/>
          </a:xfrm>
        </p:spPr>
        <p:txBody>
          <a:bodyPr/>
          <a:lstStyle/>
          <a:p>
            <a:r>
              <a:rPr lang="en-US" sz="3200" dirty="0"/>
              <a:t>Computers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5039" y="884792"/>
            <a:ext cx="4472637" cy="3038816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Desktop computers</a:t>
            </a:r>
          </a:p>
          <a:p>
            <a:pPr lvl="1"/>
            <a:r>
              <a:rPr lang="en-US" sz="2000" dirty="0"/>
              <a:t>Designed to deliver good performance to a single user at a low cost.</a:t>
            </a:r>
          </a:p>
          <a:p>
            <a:pPr lvl="1"/>
            <a:r>
              <a:rPr lang="en-US" sz="2000" dirty="0"/>
              <a:t>Usually executing third-party software.</a:t>
            </a:r>
          </a:p>
          <a:p>
            <a:pPr lvl="1"/>
            <a:r>
              <a:rPr lang="en-US" sz="2000" dirty="0"/>
              <a:t>Usually incorporating a graphics display, a keyboard and a mouse.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200" y="1645329"/>
            <a:ext cx="2629016" cy="197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0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162" y="108349"/>
            <a:ext cx="7769528" cy="519113"/>
          </a:xfrm>
        </p:spPr>
        <p:txBody>
          <a:bodyPr/>
          <a:lstStyle/>
          <a:p>
            <a:r>
              <a:rPr lang="en-US" sz="3200" dirty="0"/>
              <a:t>Computers (2)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1"/>
                </a:solidFill>
              </a:rPr>
              <a:t>Servers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Used to run larger program for multiple users simultaneously, typically accessed only via a network, with a greater emphasis on dependability and (often) security.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1"/>
                </a:solidFill>
              </a:rPr>
              <a:t>Supercomputers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 high performance, high-cost class of servers with a large number of processors, huge memory and storage that are used for high-end scientific and engineering applications.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1"/>
                </a:solidFill>
              </a:rPr>
              <a:t>Embedded computers (microprocessors)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 computer within another system with a dedicated function or application.</a:t>
            </a:r>
          </a:p>
          <a:p>
            <a:pPr lvl="1"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87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560" y="108349"/>
            <a:ext cx="7751130" cy="519113"/>
          </a:xfrm>
        </p:spPr>
        <p:txBody>
          <a:bodyPr/>
          <a:lstStyle/>
          <a:p>
            <a:r>
              <a:rPr lang="en-US" sz="3200" dirty="0"/>
              <a:t>Supercomputers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4560" y="950807"/>
            <a:ext cx="4038600" cy="3170774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Sunway </a:t>
            </a:r>
            <a:r>
              <a:rPr lang="en-US" sz="2400" b="1" dirty="0" err="1">
                <a:solidFill>
                  <a:schemeClr val="accent1"/>
                </a:solidFill>
              </a:rPr>
              <a:t>TaihuLight</a:t>
            </a:r>
            <a:endParaRPr lang="en-US" sz="2400" b="1" dirty="0">
              <a:solidFill>
                <a:schemeClr val="accent1"/>
              </a:solidFill>
            </a:endParaRPr>
          </a:p>
          <a:p>
            <a:pPr lvl="1"/>
            <a:r>
              <a:rPr lang="en-US" sz="2000" dirty="0"/>
              <a:t>Fastest supercomputer in the world (as of June 2017)</a:t>
            </a:r>
          </a:p>
          <a:p>
            <a:pPr lvl="1"/>
            <a:r>
              <a:rPr lang="en-US" sz="2000" dirty="0"/>
              <a:t>Over 10 million CPU cores</a:t>
            </a:r>
          </a:p>
          <a:p>
            <a:pPr lvl="1"/>
            <a:r>
              <a:rPr lang="en-US" sz="2000" dirty="0"/>
              <a:t>Power: 15 MW</a:t>
            </a:r>
          </a:p>
          <a:p>
            <a:pPr lvl="1"/>
            <a:r>
              <a:rPr lang="en-US" sz="2000" dirty="0"/>
              <a:t>Speed: 93 PFLOPS</a:t>
            </a:r>
          </a:p>
          <a:p>
            <a:pPr lvl="1"/>
            <a:endParaRPr lang="en-US" dirty="0"/>
          </a:p>
        </p:txBody>
      </p:sp>
      <p:pic>
        <p:nvPicPr>
          <p:cNvPr id="1026" name="Picture 2" descr="http://www.nsccwx.cn/image/yjzy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661" y="853440"/>
            <a:ext cx="2646242" cy="182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nsccwx.cn/kindeditor-4.1.10/attached/image/20160620/20160620093016_123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660" y="2746580"/>
            <a:ext cx="2646243" cy="182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14488" y="4632722"/>
            <a:ext cx="19431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http://www.nsccwx.cn/wxcyw/</a:t>
            </a:r>
          </a:p>
        </p:txBody>
      </p:sp>
    </p:spTree>
    <p:extLst>
      <p:ext uri="{BB962C8B-B14F-4D97-AF65-F5344CB8AC3E}">
        <p14:creationId xmlns:p14="http://schemas.microsoft.com/office/powerpoint/2010/main" val="1170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26160" y="108349"/>
            <a:ext cx="764953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Automotive Embedded Systems</a:t>
            </a:r>
          </a:p>
        </p:txBody>
      </p:sp>
      <p:pic>
        <p:nvPicPr>
          <p:cNvPr id="2050" name="Picture 2" descr="https://dcvizcayno.files.wordpress.com/2015/08/as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968" y="842126"/>
            <a:ext cx="6358448" cy="356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534914" y="4390946"/>
            <a:ext cx="60864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https://dcvizcayno.wordpress.com/2015/08/28/the-future-of-technology-privacy-security-and-risks-part-3-of-5/</a:t>
            </a:r>
          </a:p>
        </p:txBody>
      </p:sp>
    </p:spTree>
    <p:extLst>
      <p:ext uri="{BB962C8B-B14F-4D97-AF65-F5344CB8AC3E}">
        <p14:creationId xmlns:p14="http://schemas.microsoft.com/office/powerpoint/2010/main" val="341327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40" y="152400"/>
            <a:ext cx="7720650" cy="475062"/>
          </a:xfrm>
        </p:spPr>
        <p:txBody>
          <a:bodyPr/>
          <a:lstStyle/>
          <a:p>
            <a:r>
              <a:rPr lang="en-US" sz="3200" dirty="0"/>
              <a:t>Post-PC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5924" y="844498"/>
            <a:ext cx="4234921" cy="3351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Personal Mobile Devices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Battery-operated devices with wireless connectivity.</a:t>
            </a:r>
          </a:p>
          <a:p>
            <a:pPr lvl="1"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Warehouse-Scale Computers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Datacenter containing hundreds of thousands of servers providing software as a service (SaaS).</a:t>
            </a:r>
          </a:p>
        </p:txBody>
      </p:sp>
      <p:pic>
        <p:nvPicPr>
          <p:cNvPr id="3074" name="Picture 2" descr="Mobile devices coll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085" y="1140131"/>
            <a:ext cx="2889823" cy="18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luetooth Headset Clip 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085" y="3215200"/>
            <a:ext cx="981226" cy="9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bluetooth speaker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083" b="78750" l="2917" r="9604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87" b="18412"/>
          <a:stretch/>
        </p:blipFill>
        <p:spPr bwMode="auto">
          <a:xfrm>
            <a:off x="6632791" y="3121613"/>
            <a:ext cx="1710677" cy="116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81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6008" y="108349"/>
            <a:ext cx="7599682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Evolution of Computer Hardware (1)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08000" y="3012262"/>
            <a:ext cx="3848418" cy="1620459"/>
          </a:xfrm>
        </p:spPr>
        <p:txBody>
          <a:bodyPr>
            <a:normAutofit/>
          </a:bodyPr>
          <a:lstStyle/>
          <a:p>
            <a:r>
              <a:rPr lang="en-US" sz="1800" dirty="0"/>
              <a:t>1</a:t>
            </a:r>
            <a:r>
              <a:rPr lang="en-US" sz="1800" baseline="30000" dirty="0"/>
              <a:t>st</a:t>
            </a:r>
            <a:r>
              <a:rPr lang="en-US" sz="1800" dirty="0"/>
              <a:t> transistor invented by </a:t>
            </a:r>
            <a:r>
              <a:rPr lang="en-US" sz="1800" b="1" dirty="0">
                <a:solidFill>
                  <a:schemeClr val="accent1"/>
                </a:solidFill>
              </a:rPr>
              <a:t>John Bardeen</a:t>
            </a:r>
            <a:r>
              <a:rPr lang="en-US" sz="1800" dirty="0"/>
              <a:t>, </a:t>
            </a:r>
            <a:r>
              <a:rPr lang="en-US" sz="1800" b="1" dirty="0">
                <a:solidFill>
                  <a:schemeClr val="accent1"/>
                </a:solidFill>
              </a:rPr>
              <a:t>Walter Brattain</a:t>
            </a:r>
            <a:r>
              <a:rPr lang="en-US" sz="1800" dirty="0"/>
              <a:t>, and </a:t>
            </a:r>
            <a:r>
              <a:rPr lang="en-US" sz="1800" b="1" dirty="0">
                <a:solidFill>
                  <a:schemeClr val="accent1"/>
                </a:solidFill>
              </a:rPr>
              <a:t>William Shockley</a:t>
            </a:r>
            <a:r>
              <a:rPr lang="en-US" sz="1800" dirty="0"/>
              <a:t> at Bell Labs in 1947.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14862" y="3012263"/>
            <a:ext cx="4386898" cy="1000937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UNIVAC I</a:t>
            </a:r>
            <a:r>
              <a:rPr lang="en-US" sz="1800" dirty="0"/>
              <a:t> (</a:t>
            </a:r>
            <a:r>
              <a:rPr lang="en-US" sz="1800" b="1" dirty="0" err="1"/>
              <a:t>UNIV</a:t>
            </a:r>
            <a:r>
              <a:rPr lang="en-US" sz="1800" dirty="0" err="1"/>
              <a:t>ersal</a:t>
            </a:r>
            <a:r>
              <a:rPr lang="en-US" sz="1800" dirty="0"/>
              <a:t> </a:t>
            </a:r>
            <a:r>
              <a:rPr lang="en-US" sz="1800" b="1" dirty="0"/>
              <a:t>A</a:t>
            </a:r>
            <a:r>
              <a:rPr lang="en-US" sz="1800" dirty="0"/>
              <a:t>utomatic </a:t>
            </a:r>
            <a:br>
              <a:rPr lang="en-US" sz="1800" dirty="0"/>
            </a:br>
            <a:r>
              <a:rPr lang="en-US" sz="1800" b="1" dirty="0"/>
              <a:t>C</a:t>
            </a:r>
            <a:r>
              <a:rPr lang="en-US" sz="1800" dirty="0"/>
              <a:t>omputer </a:t>
            </a:r>
            <a:r>
              <a:rPr lang="en-US" sz="1800" b="1" dirty="0"/>
              <a:t>I</a:t>
            </a:r>
            <a:r>
              <a:rPr lang="en-US" sz="1800" dirty="0"/>
              <a:t>): 1</a:t>
            </a:r>
            <a:r>
              <a:rPr lang="en-US" sz="1800" baseline="30000" dirty="0"/>
              <a:t>st</a:t>
            </a:r>
            <a:r>
              <a:rPr lang="en-US" sz="1800" dirty="0"/>
              <a:t> commercial computer sold in US in 1951.</a:t>
            </a:r>
          </a:p>
        </p:txBody>
      </p:sp>
      <p:pic>
        <p:nvPicPr>
          <p:cNvPr id="5122" name="Picture 2" descr="https://upload.wikimedia.org/wikipedia/commons/2/26/1st-Transist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08" y="1083845"/>
            <a:ext cx="2340000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upload.wikimedia.org/wikipedia/commons/thumb/b/bd/UNIVAC-I-BRL61-0977.jpg/800px-UNIVAC-I-BRL61-097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676" y="1083845"/>
            <a:ext cx="3235023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70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Evolution of Computer Hardware (2)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3012263"/>
            <a:ext cx="4071938" cy="1122857"/>
          </a:xfrm>
        </p:spPr>
        <p:txBody>
          <a:bodyPr>
            <a:normAutofit/>
          </a:bodyPr>
          <a:lstStyle/>
          <a:p>
            <a:r>
              <a:rPr lang="en-US" sz="1800" dirty="0"/>
              <a:t>1</a:t>
            </a:r>
            <a:r>
              <a:rPr lang="en-US" sz="1800" baseline="30000" dirty="0"/>
              <a:t>st</a:t>
            </a:r>
            <a:r>
              <a:rPr lang="en-US" sz="1800" dirty="0"/>
              <a:t> integrated circuit invented by </a:t>
            </a:r>
            <a:r>
              <a:rPr lang="en-US" sz="1800" b="1" dirty="0">
                <a:solidFill>
                  <a:schemeClr val="accent1"/>
                </a:solidFill>
              </a:rPr>
              <a:t>Jack </a:t>
            </a:r>
            <a:r>
              <a:rPr lang="en-US" sz="1800" b="1" dirty="0" err="1">
                <a:solidFill>
                  <a:schemeClr val="accent1"/>
                </a:solidFill>
              </a:rPr>
              <a:t>Kilby</a:t>
            </a:r>
            <a:r>
              <a:rPr lang="en-US" sz="1800" dirty="0"/>
              <a:t> of Texas Instruments in 1958.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14862" y="3012263"/>
            <a:ext cx="4437697" cy="1620459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IBM System/360</a:t>
            </a:r>
            <a:r>
              <a:rPr lang="en-US" sz="1800" dirty="0"/>
              <a:t>: 1</a:t>
            </a:r>
            <a:r>
              <a:rPr lang="en-US" sz="1800" baseline="30000" dirty="0"/>
              <a:t>st</a:t>
            </a:r>
            <a:r>
              <a:rPr lang="en-US" sz="1800" dirty="0"/>
              <a:t> family of computers in 1964 with a range of performance but with the same instruction set.</a:t>
            </a:r>
          </a:p>
        </p:txBody>
      </p:sp>
      <p:pic>
        <p:nvPicPr>
          <p:cNvPr id="6146" name="Picture 2" descr="https://upload.wikimedia.org/wikipedia/en/4/42/Kilby_solid_circui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442" y="1083845"/>
            <a:ext cx="2642742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Bundesarchiv_B_145_Bild-F038812-0014,_Wolfsburg,_VW_Autowerk.jpg (800×504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051" y="1083845"/>
            <a:ext cx="2785714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07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880" y="108349"/>
            <a:ext cx="773081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Evolution of Computer Hardware (3)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614488" y="3164746"/>
            <a:ext cx="5915025" cy="1499972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Intel 4004</a:t>
            </a:r>
            <a:r>
              <a:rPr lang="en-US" sz="1800" dirty="0"/>
              <a:t>: 1</a:t>
            </a:r>
            <a:r>
              <a:rPr lang="en-US" sz="1800" baseline="30000" dirty="0"/>
              <a:t>st</a:t>
            </a:r>
            <a:r>
              <a:rPr lang="en-US" sz="1800" dirty="0"/>
              <a:t> commercially available microprocessor by Intel in 1971.</a:t>
            </a:r>
          </a:p>
        </p:txBody>
      </p:sp>
      <p:pic>
        <p:nvPicPr>
          <p:cNvPr id="7172" name="Picture 4" descr="https://upload.wikimedia.org/wikipedia/commons/thumb/f/f9/Intel_C4004_b.jpg/800px-Intel_C4004_b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740" y="1083845"/>
            <a:ext cx="2634146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1443037" y="4559514"/>
            <a:ext cx="21159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https://en.wikipedia.org/wiki/Intel_4004</a:t>
            </a:r>
          </a:p>
        </p:txBody>
      </p:sp>
      <p:pic>
        <p:nvPicPr>
          <p:cNvPr id="7174" name="Picture 6" descr="https://regmedia.co.uk/2011/11/14/4004_die_larg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810" y="1083845"/>
            <a:ext cx="2415044" cy="17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622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75360" y="108349"/>
            <a:ext cx="7700330" cy="519113"/>
          </a:xfrm>
        </p:spPr>
        <p:txBody>
          <a:bodyPr/>
          <a:lstStyle/>
          <a:p>
            <a:r>
              <a:rPr lang="en-US" dirty="0"/>
              <a:t>IC Manufacturing Process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614488" y="4360178"/>
            <a:ext cx="5915025" cy="304541"/>
          </a:xfrm>
        </p:spPr>
        <p:txBody>
          <a:bodyPr>
            <a:normAutofit lnSpcReduction="10000"/>
          </a:bodyPr>
          <a:lstStyle/>
          <a:p>
            <a:r>
              <a:rPr lang="en-US" sz="1500" b="1" dirty="0">
                <a:solidFill>
                  <a:schemeClr val="accent1"/>
                </a:solidFill>
              </a:rPr>
              <a:t>Yield</a:t>
            </a:r>
            <a:r>
              <a:rPr lang="en-US" sz="1500" dirty="0"/>
              <a:t>: proportion of working dies per wafer.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450" y="873760"/>
            <a:ext cx="6199400" cy="33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48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dirty="0"/>
              <a:t>Intel Core i7 Wafer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325688" y="4162841"/>
            <a:ext cx="4989513" cy="354874"/>
          </a:xfrm>
        </p:spPr>
        <p:txBody>
          <a:bodyPr>
            <a:normAutofit fontScale="92500"/>
          </a:bodyPr>
          <a:lstStyle/>
          <a:p>
            <a:r>
              <a:rPr lang="en-US" sz="1500" dirty="0"/>
              <a:t>300-mm wafer, 280 dies at 100% yield (32-nm technology).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025" y="967299"/>
            <a:ext cx="343795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04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7119" y="844153"/>
            <a:ext cx="6807201" cy="3671888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Processor</a:t>
            </a:r>
          </a:p>
          <a:p>
            <a:pPr lvl="1"/>
            <a:r>
              <a:rPr lang="en-US" sz="2000" dirty="0"/>
              <a:t>Logic capacity: increases about 30% per year</a:t>
            </a:r>
          </a:p>
          <a:p>
            <a:pPr lvl="1"/>
            <a:r>
              <a:rPr lang="en-US" sz="2000" dirty="0"/>
              <a:t>Performance: 2× every 1.5 years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Memory</a:t>
            </a:r>
          </a:p>
          <a:p>
            <a:pPr lvl="1"/>
            <a:r>
              <a:rPr lang="en-US" sz="2000" dirty="0"/>
              <a:t>DRAM capacity: 4× every 3 years, about 60% per year</a:t>
            </a:r>
          </a:p>
          <a:p>
            <a:pPr lvl="1"/>
            <a:r>
              <a:rPr lang="en-US" sz="2000" dirty="0"/>
              <a:t>Memory speed: 1.5× every 10 years</a:t>
            </a:r>
          </a:p>
          <a:p>
            <a:pPr lvl="1"/>
            <a:r>
              <a:rPr lang="en-US" sz="2000" dirty="0"/>
              <a:t>Cost per bit: decreases about 25% per year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Storage</a:t>
            </a:r>
          </a:p>
          <a:p>
            <a:pPr lvl="1"/>
            <a:r>
              <a:rPr lang="en-US" sz="2000" dirty="0"/>
              <a:t>Capacity: increases about 60% per year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490F3C-BBE2-D6FD-44CA-C5CFA85E9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107950"/>
            <a:ext cx="7888288" cy="519113"/>
          </a:xfrm>
        </p:spPr>
        <p:txBody>
          <a:bodyPr/>
          <a:lstStyle/>
          <a:p>
            <a:r>
              <a:rPr lang="en-US" dirty="0"/>
              <a:t>Moore’s Law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26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dirty="0"/>
              <a:t>Moore’s Law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281" y="982321"/>
            <a:ext cx="4643438" cy="347096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443037" y="4559514"/>
            <a:ext cx="211599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http://www.itrs2.net/</a:t>
            </a:r>
          </a:p>
        </p:txBody>
      </p:sp>
    </p:spTree>
    <p:extLst>
      <p:ext uri="{BB962C8B-B14F-4D97-AF65-F5344CB8AC3E}">
        <p14:creationId xmlns:p14="http://schemas.microsoft.com/office/powerpoint/2010/main" val="597433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hardware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524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8349"/>
            <a:ext cx="757841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Components of a Computer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530" y="793070"/>
            <a:ext cx="4707070" cy="355735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61A1B16-EABE-7FA2-4237-690F8DF7C79B}"/>
              </a:ext>
            </a:extLst>
          </p:cNvPr>
          <p:cNvSpPr txBox="1"/>
          <p:nvPr/>
        </p:nvSpPr>
        <p:spPr>
          <a:xfrm>
            <a:off x="5325533" y="1802731"/>
            <a:ext cx="251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800" dirty="0"/>
              <a:t>(keyboard, mouse)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8E5C3D-97A2-3F33-F0A9-494D6787B1F5}"/>
              </a:ext>
            </a:extLst>
          </p:cNvPr>
          <p:cNvSpPr txBox="1"/>
          <p:nvPr/>
        </p:nvSpPr>
        <p:spPr>
          <a:xfrm>
            <a:off x="5317674" y="2944363"/>
            <a:ext cx="2226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800" dirty="0"/>
              <a:t>(display, printer)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243B4F-3341-F8B3-1194-8A57F7DC0718}"/>
              </a:ext>
            </a:extLst>
          </p:cNvPr>
          <p:cNvSpPr txBox="1"/>
          <p:nvPr/>
        </p:nvSpPr>
        <p:spPr>
          <a:xfrm>
            <a:off x="3318538" y="4146705"/>
            <a:ext cx="4588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800" dirty="0"/>
              <a:t>(cache, SRAM, disk drive, etc.)</a:t>
            </a:r>
          </a:p>
        </p:txBody>
      </p:sp>
    </p:spTree>
    <p:extLst>
      <p:ext uri="{BB962C8B-B14F-4D97-AF65-F5344CB8AC3E}">
        <p14:creationId xmlns:p14="http://schemas.microsoft.com/office/powerpoint/2010/main" val="1163528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108349"/>
            <a:ext cx="7629210" cy="519113"/>
          </a:xfrm>
        </p:spPr>
        <p:txBody>
          <a:bodyPr/>
          <a:lstStyle/>
          <a:p>
            <a:r>
              <a:rPr lang="en-US" sz="3200" dirty="0"/>
              <a:t>Machine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480" y="844153"/>
            <a:ext cx="7629210" cy="3671888"/>
          </a:xfrm>
        </p:spPr>
        <p:txBody>
          <a:bodyPr/>
          <a:lstStyle/>
          <a:p>
            <a:r>
              <a:rPr lang="en-US" sz="2200" dirty="0"/>
              <a:t>Capabilities and performance characteristics of the principal </a:t>
            </a:r>
            <a:r>
              <a:rPr lang="en-US" sz="2200" b="1" dirty="0">
                <a:solidFill>
                  <a:schemeClr val="accent1"/>
                </a:solidFill>
              </a:rPr>
              <a:t>functional units</a:t>
            </a:r>
            <a:r>
              <a:rPr lang="en-US" sz="2200" dirty="0"/>
              <a:t> (e.g., registers, ALU, shifters, logic units)</a:t>
            </a:r>
          </a:p>
          <a:p>
            <a:r>
              <a:rPr lang="en-US" sz="2200" dirty="0"/>
              <a:t>Ways in which these components are interconnected</a:t>
            </a:r>
          </a:p>
          <a:p>
            <a:r>
              <a:rPr lang="en-US" sz="2200" b="1" dirty="0">
                <a:solidFill>
                  <a:schemeClr val="accent1"/>
                </a:solidFill>
              </a:rPr>
              <a:t>Logic</a:t>
            </a:r>
            <a:r>
              <a:rPr lang="en-US" sz="2200" dirty="0"/>
              <a:t> and </a:t>
            </a:r>
            <a:r>
              <a:rPr lang="en-US" sz="2200" b="1" dirty="0">
                <a:solidFill>
                  <a:schemeClr val="accent1"/>
                </a:solidFill>
              </a:rPr>
              <a:t>means</a:t>
            </a:r>
            <a:r>
              <a:rPr lang="en-US" sz="2200" dirty="0">
                <a:solidFill>
                  <a:schemeClr val="accent1"/>
                </a:solidFill>
              </a:rPr>
              <a:t> </a:t>
            </a:r>
            <a:r>
              <a:rPr lang="en-US" sz="2200" dirty="0"/>
              <a:t>by which such information flow is controlled</a:t>
            </a:r>
          </a:p>
          <a:p>
            <a:r>
              <a:rPr lang="en-US" sz="2200" b="1" dirty="0">
                <a:solidFill>
                  <a:schemeClr val="accent1"/>
                </a:solidFill>
              </a:rPr>
              <a:t>Instruction Set Architecture</a:t>
            </a:r>
            <a:r>
              <a:rPr lang="en-US" sz="2200" dirty="0"/>
              <a:t> (</a:t>
            </a:r>
            <a:r>
              <a:rPr lang="en-US" sz="2200" b="1" dirty="0">
                <a:solidFill>
                  <a:schemeClr val="accent1"/>
                </a:solidFill>
              </a:rPr>
              <a:t>ISA</a:t>
            </a:r>
            <a:r>
              <a:rPr lang="en-US" sz="2200" dirty="0"/>
              <a:t>)</a:t>
            </a:r>
          </a:p>
          <a:p>
            <a:r>
              <a:rPr lang="en-US" sz="2200" dirty="0"/>
              <a:t>Register Transfer Level (RTL) description</a:t>
            </a:r>
          </a:p>
        </p:txBody>
      </p:sp>
    </p:spTree>
    <p:extLst>
      <p:ext uri="{BB962C8B-B14F-4D97-AF65-F5344CB8AC3E}">
        <p14:creationId xmlns:p14="http://schemas.microsoft.com/office/powerpoint/2010/main" val="864955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108349"/>
            <a:ext cx="762921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Instruction Set Architecture (ISA)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ISA</a:t>
            </a:r>
            <a:r>
              <a:rPr lang="en-US" sz="2000" dirty="0"/>
              <a:t>, or simply architecture – the abstract interface between the hardware and the lowest level software that includes all the information necessary to write a machine language program, including instructions, registers, memory access, I/O, etc.</a:t>
            </a:r>
          </a:p>
          <a:p>
            <a:r>
              <a:rPr lang="en-US" sz="2000" dirty="0"/>
              <a:t>Enables </a:t>
            </a:r>
            <a:r>
              <a:rPr lang="en-US" sz="2000" b="1" dirty="0">
                <a:solidFill>
                  <a:schemeClr val="accent1"/>
                </a:solidFill>
              </a:rPr>
              <a:t>implementations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of varying cost and performance to run identical software.</a:t>
            </a:r>
          </a:p>
          <a:p>
            <a:r>
              <a:rPr lang="en-US" sz="2000" dirty="0"/>
              <a:t>The combination of the basic instruction set (the ISA) and the operating system interface is called the </a:t>
            </a:r>
            <a:r>
              <a:rPr lang="en-US" sz="2000" b="1" dirty="0">
                <a:solidFill>
                  <a:schemeClr val="accent1"/>
                </a:solidFill>
              </a:rPr>
              <a:t>Application Binary Interface</a:t>
            </a:r>
            <a:r>
              <a:rPr lang="en-US" sz="2000" dirty="0"/>
              <a:t> (</a:t>
            </a:r>
            <a:r>
              <a:rPr lang="en-US" sz="2000" b="1" dirty="0">
                <a:solidFill>
                  <a:schemeClr val="accent1"/>
                </a:solidFill>
              </a:rPr>
              <a:t>ABI</a:t>
            </a:r>
            <a:r>
              <a:rPr lang="en-US" sz="2000" dirty="0"/>
              <a:t>).</a:t>
            </a:r>
          </a:p>
          <a:p>
            <a:pPr lvl="1"/>
            <a:r>
              <a:rPr lang="en-US" sz="1600" dirty="0"/>
              <a:t>The user portion of the instruction set plus the operating system interfaces used by application programmers. </a:t>
            </a:r>
          </a:p>
          <a:p>
            <a:pPr lvl="1"/>
            <a:r>
              <a:rPr lang="en-US" sz="1600" dirty="0"/>
              <a:t>Define a standard for binary portability across computers.</a:t>
            </a:r>
          </a:p>
        </p:txBody>
      </p:sp>
    </p:spTree>
    <p:extLst>
      <p:ext uri="{BB962C8B-B14F-4D97-AF65-F5344CB8AC3E}">
        <p14:creationId xmlns:p14="http://schemas.microsoft.com/office/powerpoint/2010/main" val="4280479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108349"/>
            <a:ext cx="7629210" cy="519113"/>
          </a:xfrm>
        </p:spPr>
        <p:txBody>
          <a:bodyPr/>
          <a:lstStyle/>
          <a:p>
            <a:r>
              <a:rPr lang="en-US" sz="3200" dirty="0"/>
              <a:t>Related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185" y="827774"/>
            <a:ext cx="7558505" cy="3349590"/>
          </a:xfrm>
        </p:spPr>
        <p:txBody>
          <a:bodyPr/>
          <a:lstStyle/>
          <a:p>
            <a:r>
              <a:rPr lang="en-US" sz="2400" dirty="0"/>
              <a:t>Digital Logic (switching circuit)</a:t>
            </a:r>
          </a:p>
          <a:p>
            <a:pPr lvl="1"/>
            <a:r>
              <a:rPr lang="en-US" sz="2000" dirty="0"/>
              <a:t>AND-gate, Or-gate, etc.</a:t>
            </a:r>
          </a:p>
          <a:p>
            <a:r>
              <a:rPr lang="en-US" sz="2400" dirty="0"/>
              <a:t>Computer architecture</a:t>
            </a:r>
          </a:p>
          <a:p>
            <a:pPr lvl="1"/>
            <a:r>
              <a:rPr lang="en-US" sz="2000" dirty="0"/>
              <a:t>CPU, memory, etc.</a:t>
            </a:r>
          </a:p>
          <a:p>
            <a:r>
              <a:rPr lang="en-US" sz="2400" dirty="0"/>
              <a:t>VLSI</a:t>
            </a:r>
          </a:p>
          <a:p>
            <a:pPr lvl="1"/>
            <a:r>
              <a:rPr lang="en-US" altLang="zh-CN" sz="2000" dirty="0"/>
              <a:t>VLSI compiler (from </a:t>
            </a:r>
            <a:r>
              <a:rPr lang="en-US" sz="2000" dirty="0"/>
              <a:t>High-level synthesis to RTL code)</a:t>
            </a:r>
          </a:p>
          <a:p>
            <a:pPr lvl="1"/>
            <a:r>
              <a:rPr lang="en-US" sz="2000" dirty="0"/>
              <a:t>EDA tools</a:t>
            </a:r>
          </a:p>
        </p:txBody>
      </p:sp>
    </p:spTree>
    <p:extLst>
      <p:ext uri="{BB962C8B-B14F-4D97-AF65-F5344CB8AC3E}">
        <p14:creationId xmlns:p14="http://schemas.microsoft.com/office/powerpoint/2010/main" val="1675432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Software</a:t>
            </a:r>
            <a:endParaRPr lang="zh-TW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4463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sz="3200" dirty="0"/>
              <a:t>Software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965199" y="795866"/>
            <a:ext cx="6316133" cy="3826933"/>
          </a:xfrm>
        </p:spPr>
        <p:txBody>
          <a:bodyPr>
            <a:noAutofit/>
          </a:bodyPr>
          <a:lstStyle/>
          <a:p>
            <a:r>
              <a:rPr lang="en-US" sz="2400" dirty="0"/>
              <a:t>System software</a:t>
            </a:r>
          </a:p>
          <a:p>
            <a:pPr lvl="1"/>
            <a:r>
              <a:rPr lang="en-US" sz="2000" dirty="0"/>
              <a:t>Operating systems</a:t>
            </a:r>
          </a:p>
          <a:p>
            <a:pPr lvl="1"/>
            <a:r>
              <a:rPr lang="en-US" sz="2000" dirty="0"/>
              <a:t>Compiler/Assembler</a:t>
            </a:r>
          </a:p>
          <a:p>
            <a:pPr lvl="1"/>
            <a:r>
              <a:rPr lang="en-US" altLang="zh-CN" sz="2000" dirty="0"/>
              <a:t>Linker</a:t>
            </a:r>
          </a:p>
          <a:p>
            <a:pPr lvl="1"/>
            <a:r>
              <a:rPr lang="en-US" sz="2000" dirty="0"/>
              <a:t>Loader</a:t>
            </a:r>
          </a:p>
          <a:p>
            <a:r>
              <a:rPr lang="en-US" sz="2400" dirty="0"/>
              <a:t>Application software</a:t>
            </a:r>
          </a:p>
          <a:p>
            <a:pPr lvl="1"/>
            <a:r>
              <a:rPr lang="en-US" sz="2000" dirty="0"/>
              <a:t>Redis</a:t>
            </a:r>
          </a:p>
          <a:p>
            <a:pPr lvl="1"/>
            <a:r>
              <a:rPr lang="en-US" sz="2000" dirty="0"/>
              <a:t>QEMU</a:t>
            </a:r>
          </a:p>
          <a:p>
            <a:pPr lvl="1"/>
            <a:r>
              <a:rPr lang="en-US" sz="2000" dirty="0"/>
              <a:t>Programming languages (C, C++, etc.)</a:t>
            </a:r>
          </a:p>
          <a:p>
            <a:pPr lvl="1"/>
            <a:r>
              <a:rPr lang="en-US" sz="2000" dirty="0"/>
              <a:t>Database management systems (MySQL, etc.)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90759EB8-5491-5051-1896-072C4D507D07}"/>
              </a:ext>
            </a:extLst>
          </p:cNvPr>
          <p:cNvGrpSpPr/>
          <p:nvPr/>
        </p:nvGrpSpPr>
        <p:grpSpPr>
          <a:xfrm>
            <a:off x="5975690" y="1226979"/>
            <a:ext cx="2700000" cy="2700000"/>
            <a:chOff x="4945050" y="1624514"/>
            <a:chExt cx="3600000" cy="3600000"/>
          </a:xfrm>
        </p:grpSpPr>
        <p:sp>
          <p:nvSpPr>
            <p:cNvPr id="4" name="Oval 14">
              <a:extLst>
                <a:ext uri="{FF2B5EF4-FFF2-40B4-BE49-F238E27FC236}">
                  <a16:creationId xmlns:a16="http://schemas.microsoft.com/office/drawing/2014/main" id="{CCB87206-4372-4C51-A4CB-FD32BE28F132}"/>
                </a:ext>
              </a:extLst>
            </p:cNvPr>
            <p:cNvSpPr/>
            <p:nvPr/>
          </p:nvSpPr>
          <p:spPr>
            <a:xfrm>
              <a:off x="4945050" y="1624514"/>
              <a:ext cx="3600000" cy="36000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sz="1200" dirty="0"/>
                <a:t>Application Software</a:t>
              </a:r>
            </a:p>
          </p:txBody>
        </p:sp>
        <p:sp>
          <p:nvSpPr>
            <p:cNvPr id="5" name="Oval 13">
              <a:extLst>
                <a:ext uri="{FF2B5EF4-FFF2-40B4-BE49-F238E27FC236}">
                  <a16:creationId xmlns:a16="http://schemas.microsoft.com/office/drawing/2014/main" id="{019DCB29-9E67-BDFA-416B-16D8A55EB218}"/>
                </a:ext>
              </a:extLst>
            </p:cNvPr>
            <p:cNvSpPr/>
            <p:nvPr/>
          </p:nvSpPr>
          <p:spPr>
            <a:xfrm>
              <a:off x="5485050" y="1825625"/>
              <a:ext cx="2520000" cy="25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sz="1200" dirty="0"/>
                <a:t>System Software</a:t>
              </a: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8CABB3EF-F344-EF77-3121-109367470757}"/>
                </a:ext>
              </a:extLst>
            </p:cNvPr>
            <p:cNvSpPr/>
            <p:nvPr/>
          </p:nvSpPr>
          <p:spPr>
            <a:xfrm>
              <a:off x="6115050" y="2260600"/>
              <a:ext cx="1260000" cy="12600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/>
                <a:t>Hardware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7509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sz="3200" dirty="0"/>
              <a:t>System Software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754075" y="822137"/>
            <a:ext cx="5401191" cy="375832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Operating System</a:t>
            </a:r>
          </a:p>
          <a:p>
            <a:pPr lvl="1"/>
            <a:r>
              <a:rPr lang="en-US" sz="1800" dirty="0"/>
              <a:t>Supervise program that interfaces the user’s program with the hardware (e.g., Linux, iOS, Windows)</a:t>
            </a:r>
          </a:p>
          <a:p>
            <a:pPr lvl="1"/>
            <a:r>
              <a:rPr lang="en-US" sz="1800" dirty="0"/>
              <a:t>Handles basic input and output operations</a:t>
            </a:r>
          </a:p>
          <a:p>
            <a:pPr lvl="1"/>
            <a:r>
              <a:rPr lang="en-US" sz="1800" dirty="0"/>
              <a:t>Allocates storage and memory</a:t>
            </a:r>
          </a:p>
          <a:p>
            <a:pPr lvl="1"/>
            <a:r>
              <a:rPr lang="en-US" sz="1800" dirty="0"/>
              <a:t>Provides for protected sharing among multiple applications</a:t>
            </a:r>
          </a:p>
          <a:p>
            <a:r>
              <a:rPr lang="en-US" sz="2000" dirty="0"/>
              <a:t>Compiler</a:t>
            </a:r>
          </a:p>
          <a:p>
            <a:pPr lvl="1"/>
            <a:r>
              <a:rPr lang="en-US" sz="1800" dirty="0"/>
              <a:t>Translate high-level language programs (e.g., C, Java) into instructions that the hardware can execute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0BED09-DA22-7F33-12AE-B54E39B53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667" y="1009122"/>
            <a:ext cx="1694934" cy="16949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B0CDD7-6E50-6867-59ED-8AFDCF722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058" y="3428999"/>
            <a:ext cx="954973" cy="10720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CFF4B5-5D86-2B8B-9945-7399C1295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706" y="3421083"/>
            <a:ext cx="1105678" cy="110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14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08349"/>
            <a:ext cx="7710490" cy="519113"/>
          </a:xfrm>
        </p:spPr>
        <p:txBody>
          <a:bodyPr/>
          <a:lstStyle/>
          <a:p>
            <a:r>
              <a:rPr lang="en-US" sz="3200" dirty="0"/>
              <a:t>Application Software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965199" y="795867"/>
            <a:ext cx="6316133" cy="2091266"/>
          </a:xfrm>
        </p:spPr>
        <p:txBody>
          <a:bodyPr>
            <a:noAutofit/>
          </a:bodyPr>
          <a:lstStyle/>
          <a:p>
            <a:r>
              <a:rPr lang="en-US" sz="2000" dirty="0"/>
              <a:t>Application software</a:t>
            </a:r>
          </a:p>
          <a:p>
            <a:pPr lvl="1"/>
            <a:r>
              <a:rPr lang="en-US" sz="1800" dirty="0"/>
              <a:t>Redis</a:t>
            </a:r>
          </a:p>
          <a:p>
            <a:pPr lvl="1"/>
            <a:r>
              <a:rPr lang="en-US" sz="1800" dirty="0"/>
              <a:t>Docker</a:t>
            </a:r>
          </a:p>
          <a:p>
            <a:pPr lvl="1"/>
            <a:r>
              <a:rPr lang="en-US" sz="1800" dirty="0"/>
              <a:t>QEMU</a:t>
            </a:r>
          </a:p>
          <a:p>
            <a:pPr lvl="1"/>
            <a:r>
              <a:rPr lang="en-US" sz="1800" dirty="0"/>
              <a:t>Programming languages (C, C++, etc.)</a:t>
            </a:r>
          </a:p>
          <a:p>
            <a:pPr lvl="1"/>
            <a:r>
              <a:rPr lang="en-US" sz="1800" dirty="0"/>
              <a:t>Database management systems (MySQL, etc.)</a:t>
            </a:r>
          </a:p>
          <a:p>
            <a:pPr lvl="1"/>
            <a:r>
              <a:rPr lang="en-US" sz="1800" dirty="0"/>
              <a:t>…..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C3E183D-491A-27FF-53F9-4A73BEE54829}"/>
              </a:ext>
            </a:extLst>
          </p:cNvPr>
          <p:cNvGrpSpPr/>
          <p:nvPr/>
        </p:nvGrpSpPr>
        <p:grpSpPr>
          <a:xfrm>
            <a:off x="1346200" y="3225803"/>
            <a:ext cx="6189133" cy="1291285"/>
            <a:chOff x="1016000" y="2980267"/>
            <a:chExt cx="6959882" cy="142815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70ADA3D-EC5F-B656-C921-97A215AEF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000" y="3067708"/>
              <a:ext cx="1337737" cy="1337737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762E1E8-B95E-C8DB-0771-8F4BF0A1B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1060" y="3328739"/>
              <a:ext cx="2253345" cy="719032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EA79AB1-847C-7A87-D789-A008573EE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7726" y="2980267"/>
              <a:ext cx="1428156" cy="14281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7610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Software and Hardware Co-Work</a:t>
            </a:r>
            <a:br>
              <a:rPr lang="en-US" altLang="zh-CN" sz="3200" dirty="0"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br>
              <a:rPr lang="zh-TW" altLang="en-US" dirty="0"/>
            </a:br>
            <a:endParaRPr lang="zh-TW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567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Compilation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18" y="829560"/>
            <a:ext cx="5115305" cy="373301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6AF75C0-9621-40CB-AB7D-9F4B1BE97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" t="42220" r="-642" b="571"/>
          <a:stretch/>
        </p:blipFill>
        <p:spPr>
          <a:xfrm>
            <a:off x="5490130" y="838987"/>
            <a:ext cx="3502218" cy="375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90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08349"/>
            <a:ext cx="7669850" cy="519113"/>
          </a:xfrm>
        </p:spPr>
        <p:txBody>
          <a:bodyPr/>
          <a:lstStyle/>
          <a:p>
            <a:r>
              <a:rPr lang="en-US" sz="3200" dirty="0"/>
              <a:t>Code Input to Device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358045" y="2161169"/>
            <a:ext cx="4688631" cy="2299322"/>
            <a:chOff x="714565" y="2230848"/>
            <a:chExt cx="6251508" cy="3065762"/>
          </a:xfrm>
        </p:grpSpPr>
        <p:sp>
          <p:nvSpPr>
            <p:cNvPr id="6" name="Rectangle 5"/>
            <p:cNvSpPr/>
            <p:nvPr/>
          </p:nvSpPr>
          <p:spPr>
            <a:xfrm>
              <a:off x="3028950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17431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040469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Devices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327009" y="2946218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>
                  <a:solidFill>
                    <a:schemeClr val="tx1"/>
                  </a:solidFill>
                </a:rPr>
                <a:t>Network</a:t>
              </a:r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327009" y="3611464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27009" y="4276710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Output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41570" y="3228515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41570" y="4009103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565" y="2230848"/>
              <a:ext cx="6251508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398750" y="935967"/>
            <a:ext cx="2428870" cy="98103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000000 00000 00101 0001000010000000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000000 00100 00010 0001000000100000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100011 00010 01111 0000000000000000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100011 00010 10000 0000000000000100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101011 00010 10000 0000000000000000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101011 00010 01111 0000000000000100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000000 11111 00000 0000000000001000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0888" y="1017504"/>
            <a:ext cx="11464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Object Code</a:t>
            </a:r>
          </a:p>
        </p:txBody>
      </p:sp>
      <p:sp>
        <p:nvSpPr>
          <p:cNvPr id="19" name="Arc 18"/>
          <p:cNvSpPr/>
          <p:nvPr/>
        </p:nvSpPr>
        <p:spPr>
          <a:xfrm>
            <a:off x="4473255" y="541090"/>
            <a:ext cx="2445566" cy="2946384"/>
          </a:xfrm>
          <a:prstGeom prst="arc">
            <a:avLst>
              <a:gd name="adj1" fmla="val 328533"/>
              <a:gd name="adj2" fmla="val 5441017"/>
            </a:avLst>
          </a:prstGeom>
          <a:ln w="762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061800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08349"/>
            <a:ext cx="7700330" cy="519113"/>
          </a:xfrm>
        </p:spPr>
        <p:txBody>
          <a:bodyPr/>
          <a:lstStyle/>
          <a:p>
            <a:r>
              <a:rPr lang="en-US" sz="3200" dirty="0"/>
              <a:t>Code Stored in Memory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158240" y="1036320"/>
            <a:ext cx="7223760" cy="3291839"/>
            <a:chOff x="286726" y="3030572"/>
            <a:chExt cx="8127431" cy="3065762"/>
          </a:xfrm>
        </p:grpSpPr>
        <p:grpSp>
          <p:nvGrpSpPr>
            <p:cNvPr id="18" name="Group 17"/>
            <p:cNvGrpSpPr/>
            <p:nvPr/>
          </p:nvGrpSpPr>
          <p:grpSpPr>
            <a:xfrm>
              <a:off x="286726" y="3030572"/>
              <a:ext cx="8127431" cy="3065762"/>
              <a:chOff x="286726" y="3030572"/>
              <a:chExt cx="8127431" cy="3065762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01112" y="3301324"/>
                <a:ext cx="35139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589593" y="3301324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Processor</a:t>
                </a:r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6477148" y="3301324"/>
                <a:ext cx="1622738" cy="2524259"/>
                <a:chOff x="4612631" y="3301324"/>
                <a:chExt cx="1622738" cy="2524259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4612631" y="3301324"/>
                  <a:ext cx="1622738" cy="25242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54000" rIns="0" bIns="0" rtlCol="0" anchor="t" anchorCtr="0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Devices</a:t>
                  </a: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4899171" y="3745942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>
                      <a:solidFill>
                        <a:schemeClr val="tx1"/>
                      </a:solidFill>
                    </a:rPr>
                    <a:t>Network</a:t>
                  </a:r>
                  <a:endParaRPr lang="en-US" sz="13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4899171" y="4411188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Input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4899171" y="5076434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Output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813732" y="4028239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</a:rPr>
                  <a:t>Control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13732" y="4808827"/>
                <a:ext cx="1188904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 err="1">
                    <a:solidFill>
                      <a:schemeClr val="accent1"/>
                    </a:solidFill>
                  </a:rPr>
                  <a:t>Datapath</a:t>
                </a:r>
                <a:endParaRPr lang="en-US" sz="135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86726" y="3030572"/>
                <a:ext cx="8127431" cy="30657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771322" y="3924816"/>
                <a:ext cx="3238493" cy="13080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000000 00000 00101 0001000010000000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000000 00100 00010 0001000000100000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100011 00010 01111 0000000000000000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100011 00010 10000 0000000000000100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101011 00010 10000 0000000000000000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101011 00010 01111 0000000000000100</a:t>
                </a:r>
              </a:p>
              <a:p>
                <a:r>
                  <a:rPr lang="en-US" sz="825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000000 11111 00000 0000000000001000</a:t>
                </a:r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 flipH="1" flipV="1">
              <a:off x="5972961" y="4605556"/>
              <a:ext cx="671120" cy="92279"/>
            </a:xfrm>
            <a:prstGeom prst="straightConnector1">
              <a:avLst/>
            </a:prstGeom>
            <a:ln w="762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4908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08349"/>
            <a:ext cx="7669850" cy="519113"/>
          </a:xfrm>
        </p:spPr>
        <p:txBody>
          <a:bodyPr/>
          <a:lstStyle/>
          <a:p>
            <a:r>
              <a:rPr lang="en-US" sz="3200" dirty="0"/>
              <a:t>Code Fetch from Memory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CC4DF20-3320-D96D-E5EF-A5D551547474}"/>
              </a:ext>
            </a:extLst>
          </p:cNvPr>
          <p:cNvGrpSpPr/>
          <p:nvPr/>
        </p:nvGrpSpPr>
        <p:grpSpPr>
          <a:xfrm>
            <a:off x="1194014" y="1366684"/>
            <a:ext cx="6612253" cy="2671915"/>
            <a:chOff x="1524214" y="1392085"/>
            <a:chExt cx="6095573" cy="2299322"/>
          </a:xfrm>
        </p:grpSpPr>
        <p:grpSp>
          <p:nvGrpSpPr>
            <p:cNvPr id="24" name="Group 23"/>
            <p:cNvGrpSpPr/>
            <p:nvPr/>
          </p:nvGrpSpPr>
          <p:grpSpPr>
            <a:xfrm>
              <a:off x="1524214" y="1392085"/>
              <a:ext cx="6095573" cy="2299322"/>
              <a:chOff x="286726" y="3030572"/>
              <a:chExt cx="8127431" cy="3065762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286726" y="3030572"/>
                <a:ext cx="8127431" cy="3065762"/>
                <a:chOff x="286726" y="3030572"/>
                <a:chExt cx="8127431" cy="306576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2601112" y="3301324"/>
                  <a:ext cx="3513938" cy="25242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54000" rIns="0" bIns="0" rtlCol="0" anchor="t" anchorCtr="0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Memory</a:t>
                  </a:r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589593" y="3301324"/>
                  <a:ext cx="1622738" cy="25242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54000" rIns="0" bIns="0" rtlCol="0" anchor="t" anchorCtr="0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Processor</a:t>
                  </a:r>
                </a:p>
              </p:txBody>
            </p:sp>
            <p:grpSp>
              <p:nvGrpSpPr>
                <p:cNvPr id="3" name="Group 2"/>
                <p:cNvGrpSpPr/>
                <p:nvPr/>
              </p:nvGrpSpPr>
              <p:grpSpPr>
                <a:xfrm>
                  <a:off x="6477148" y="3301324"/>
                  <a:ext cx="1622738" cy="2524259"/>
                  <a:chOff x="4612631" y="3301324"/>
                  <a:chExt cx="1622738" cy="2524259"/>
                </a:xfrm>
              </p:grpSpPr>
              <p:sp>
                <p:nvSpPr>
                  <p:cNvPr id="8" name="Rectangle 7"/>
                  <p:cNvSpPr/>
                  <p:nvPr/>
                </p:nvSpPr>
                <p:spPr>
                  <a:xfrm>
                    <a:off x="4612631" y="3301324"/>
                    <a:ext cx="1622738" cy="252425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54000" rIns="0" bIns="0" rtlCol="0" anchor="t" anchorCtr="0"/>
                  <a:lstStyle/>
                  <a:p>
                    <a:pPr algn="ctr"/>
                    <a:r>
                      <a:rPr lang="en-US" sz="1350" dirty="0">
                        <a:solidFill>
                          <a:schemeClr val="tx1"/>
                        </a:solidFill>
                      </a:rPr>
                      <a:t>Devices</a:t>
                    </a:r>
                  </a:p>
                </p:txBody>
              </p:sp>
              <p:sp>
                <p:nvSpPr>
                  <p:cNvPr id="9" name="Rectangle 8"/>
                  <p:cNvSpPr/>
                  <p:nvPr/>
                </p:nvSpPr>
                <p:spPr>
                  <a:xfrm>
                    <a:off x="4899171" y="3745942"/>
                    <a:ext cx="1049658" cy="53521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1350">
                        <a:solidFill>
                          <a:schemeClr val="tx1"/>
                        </a:solidFill>
                      </a:rPr>
                      <a:t>Network</a:t>
                    </a:r>
                    <a:endParaRPr lang="en-US" sz="13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" name="Rectangle 9"/>
                  <p:cNvSpPr/>
                  <p:nvPr/>
                </p:nvSpPr>
                <p:spPr>
                  <a:xfrm>
                    <a:off x="4899171" y="4411188"/>
                    <a:ext cx="1049658" cy="53521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1350" dirty="0">
                        <a:solidFill>
                          <a:schemeClr val="tx1"/>
                        </a:solidFill>
                      </a:rPr>
                      <a:t>Input</a:t>
                    </a:r>
                  </a:p>
                </p:txBody>
              </p:sp>
              <p:sp>
                <p:nvSpPr>
                  <p:cNvPr id="11" name="Rectangle 10"/>
                  <p:cNvSpPr/>
                  <p:nvPr/>
                </p:nvSpPr>
                <p:spPr>
                  <a:xfrm>
                    <a:off x="4899171" y="5076434"/>
                    <a:ext cx="1049658" cy="53521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1350" dirty="0">
                        <a:solidFill>
                          <a:schemeClr val="tx1"/>
                        </a:solidFill>
                      </a:rPr>
                      <a:t>Output</a:t>
                    </a:r>
                  </a:p>
                </p:txBody>
              </p:sp>
            </p:grpSp>
            <p:sp>
              <p:nvSpPr>
                <p:cNvPr id="12" name="Rectangle 11"/>
                <p:cNvSpPr/>
                <p:nvPr/>
              </p:nvSpPr>
              <p:spPr>
                <a:xfrm>
                  <a:off x="813732" y="4028239"/>
                  <a:ext cx="1188904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b="1" dirty="0">
                      <a:solidFill>
                        <a:schemeClr val="accent1"/>
                      </a:solidFill>
                    </a:rPr>
                    <a:t>Control</a:t>
                  </a:r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813732" y="4808827"/>
                  <a:ext cx="1188904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b="1" dirty="0" err="1">
                      <a:solidFill>
                        <a:schemeClr val="accent1"/>
                      </a:solidFill>
                    </a:rPr>
                    <a:t>Datapath</a:t>
                  </a:r>
                  <a:endParaRPr lang="en-US" sz="135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286726" y="3030572"/>
                  <a:ext cx="8127431" cy="306576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3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2771322" y="3924816"/>
                  <a:ext cx="3238493" cy="13080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25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000000 00000 00101 0001000010000000</a:t>
                  </a:r>
                </a:p>
                <a:p>
                  <a:r>
                    <a:rPr lang="en-US" sz="825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000000 00100 00010 0001000000100000</a:t>
                  </a:r>
                </a:p>
                <a:p>
                  <a:r>
                    <a:rPr lang="en-US" sz="825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100011 00010 01111 0000000000000000</a:t>
                  </a:r>
                </a:p>
                <a:p>
                  <a:r>
                    <a:rPr lang="en-US" sz="825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100011 00010 10000 0000000000000100</a:t>
                  </a:r>
                </a:p>
                <a:p>
                  <a:r>
                    <a:rPr lang="en-US" sz="825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101011 00010 10000 0000000000000000</a:t>
                  </a:r>
                </a:p>
                <a:p>
                  <a:r>
                    <a:rPr lang="en-US" sz="825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101011 00010 01111 0000000000000100</a:t>
                  </a:r>
                </a:p>
                <a:p>
                  <a:r>
                    <a:rPr lang="en-US" sz="825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000000 11111 00000 0000000000001000</a:t>
                  </a:r>
                </a:p>
              </p:txBody>
            </p:sp>
          </p:grpSp>
          <p:cxnSp>
            <p:nvCxnSpPr>
              <p:cNvPr id="21" name="Straight Arrow Connector 20"/>
              <p:cNvCxnSpPr/>
              <p:nvPr/>
            </p:nvCxnSpPr>
            <p:spPr>
              <a:xfrm flipH="1">
                <a:off x="2029174" y="4211274"/>
                <a:ext cx="660248" cy="153775"/>
              </a:xfrm>
              <a:prstGeom prst="straightConnector1">
                <a:avLst/>
              </a:prstGeom>
              <a:ln w="76200"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/>
            <p:cNvSpPr/>
            <p:nvPr/>
          </p:nvSpPr>
          <p:spPr>
            <a:xfrm>
              <a:off x="3390556" y="2195365"/>
              <a:ext cx="2289801" cy="136339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613596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108349"/>
            <a:ext cx="7629210" cy="519113"/>
          </a:xfrm>
        </p:spPr>
        <p:txBody>
          <a:bodyPr/>
          <a:lstStyle/>
          <a:p>
            <a:r>
              <a:rPr lang="en-US" sz="3200" dirty="0"/>
              <a:t>Decoding Code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24214" y="1392085"/>
            <a:ext cx="6095573" cy="2299322"/>
            <a:chOff x="508284" y="1856113"/>
            <a:chExt cx="8127431" cy="3065762"/>
          </a:xfrm>
        </p:grpSpPr>
        <p:sp>
          <p:nvSpPr>
            <p:cNvPr id="7" name="Rectangle 6"/>
            <p:cNvSpPr/>
            <p:nvPr/>
          </p:nvSpPr>
          <p:spPr>
            <a:xfrm>
              <a:off x="811150" y="2126865"/>
              <a:ext cx="3636275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6698706" y="2126865"/>
              <a:ext cx="1622738" cy="2524259"/>
              <a:chOff x="4612631" y="3301324"/>
              <a:chExt cx="1622738" cy="2524259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612631" y="3301324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Devices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99171" y="3745942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>
                    <a:solidFill>
                      <a:schemeClr val="tx1"/>
                    </a:solidFill>
                  </a:rPr>
                  <a:t>Network</a:t>
                </a:r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99171" y="4411188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Input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899171" y="5076434"/>
                <a:ext cx="1049658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Output</a:t>
                </a:r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035289" y="2853780"/>
              <a:ext cx="3175983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35290" y="3634368"/>
              <a:ext cx="3175982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08284" y="1856113"/>
              <a:ext cx="8127431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0792" y="3125805"/>
              <a:ext cx="3064975" cy="2238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none" lIns="27000" tIns="27000" rIns="27000" bIns="13500" rtlCol="0">
              <a:spAutoFit/>
            </a:bodyPr>
            <a:lstStyle/>
            <a:p>
              <a:pPr algn="ctr"/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000000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 00100 00010 00010</a:t>
              </a:r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00000100000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761697" y="2126865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516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867" y="108349"/>
            <a:ext cx="7752823" cy="519113"/>
          </a:xfrm>
        </p:spPr>
        <p:txBody>
          <a:bodyPr/>
          <a:lstStyle/>
          <a:p>
            <a:r>
              <a:rPr lang="en-US" sz="3200" dirty="0"/>
              <a:t>Executing Code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>
          <a:xfrm>
            <a:off x="867832" y="811492"/>
            <a:ext cx="7408333" cy="847369"/>
          </a:xfrm>
        </p:spPr>
        <p:txBody>
          <a:bodyPr>
            <a:noAutofit/>
          </a:bodyPr>
          <a:lstStyle/>
          <a:p>
            <a:r>
              <a:rPr lang="en-US" sz="2000" dirty="0"/>
              <a:t>Control unit </a:t>
            </a:r>
            <a:r>
              <a:rPr lang="en-US" sz="2000" b="1" dirty="0">
                <a:solidFill>
                  <a:schemeClr val="accent1"/>
                </a:solidFill>
              </a:rPr>
              <a:t>decodes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the instruction to determine what to execute</a:t>
            </a:r>
          </a:p>
          <a:p>
            <a:r>
              <a:rPr lang="en-US" sz="2000" dirty="0"/>
              <a:t>Datapath unit </a:t>
            </a:r>
            <a:r>
              <a:rPr lang="en-US" sz="2000" b="1" dirty="0">
                <a:solidFill>
                  <a:schemeClr val="accent1"/>
                </a:solidFill>
              </a:rPr>
              <a:t>executes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the instruction as directed by control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D5CB198-0CD1-06E2-B3E7-1EBA974FEDF4}"/>
              </a:ext>
            </a:extLst>
          </p:cNvPr>
          <p:cNvGrpSpPr/>
          <p:nvPr/>
        </p:nvGrpSpPr>
        <p:grpSpPr>
          <a:xfrm>
            <a:off x="1303973" y="1831499"/>
            <a:ext cx="6536054" cy="2471829"/>
            <a:chOff x="1524214" y="1383618"/>
            <a:chExt cx="6095573" cy="2299322"/>
          </a:xfrm>
        </p:grpSpPr>
        <p:grpSp>
          <p:nvGrpSpPr>
            <p:cNvPr id="15" name="Group 14"/>
            <p:cNvGrpSpPr/>
            <p:nvPr/>
          </p:nvGrpSpPr>
          <p:grpSpPr>
            <a:xfrm>
              <a:off x="1524214" y="1383618"/>
              <a:ext cx="6095573" cy="2299322"/>
              <a:chOff x="508284" y="1844824"/>
              <a:chExt cx="8127431" cy="306576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811150" y="2126865"/>
                <a:ext cx="3636275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54000" rIns="0" bIns="0" rtlCol="0" anchor="t" anchorCtr="0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Processor</a:t>
                </a:r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6698706" y="2126865"/>
                <a:ext cx="1622738" cy="2524259"/>
                <a:chOff x="4612631" y="3301324"/>
                <a:chExt cx="1622738" cy="2524259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4612631" y="3301324"/>
                  <a:ext cx="1622738" cy="252425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54000" rIns="0" bIns="0" rtlCol="0" anchor="t" anchorCtr="0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Devices</a:t>
                  </a: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4899171" y="3745942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>
                      <a:solidFill>
                        <a:schemeClr val="tx1"/>
                      </a:solidFill>
                    </a:rPr>
                    <a:t>Network</a:t>
                  </a:r>
                  <a:endParaRPr lang="en-US" sz="13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4899171" y="4411188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Input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4899171" y="5076434"/>
                  <a:ext cx="1049658" cy="53521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350" dirty="0">
                      <a:solidFill>
                        <a:schemeClr val="tx1"/>
                      </a:solidFill>
                    </a:rPr>
                    <a:t>Output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1035289" y="2853780"/>
                <a:ext cx="3175983" cy="53521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</a:rPr>
                  <a:t>Control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035290" y="3634367"/>
                <a:ext cx="3175982" cy="8028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27000" rIns="0" bIns="0" rtlCol="0" anchor="t" anchorCtr="0"/>
              <a:lstStyle/>
              <a:p>
                <a:pPr algn="ctr"/>
                <a:r>
                  <a:rPr lang="en-US" sz="1350" b="1" dirty="0" err="1">
                    <a:solidFill>
                      <a:schemeClr val="accent1"/>
                    </a:solidFill>
                  </a:rPr>
                  <a:t>Datapath</a:t>
                </a:r>
                <a:endParaRPr lang="en-US" sz="135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08284" y="1844824"/>
                <a:ext cx="8127431" cy="30657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4761697" y="2126865"/>
                <a:ext cx="1622738" cy="25242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Memory</a:t>
                </a: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2427527" y="2959334"/>
              <a:ext cx="1465170" cy="294811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none" lIns="27000" tIns="27000" rIns="27000" bIns="13500" rtlCol="0">
              <a:spAutoFit/>
            </a:bodyPr>
            <a:lstStyle/>
            <a:p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 </a:t>
              </a:r>
              <a:r>
                <a:rPr lang="en-US" sz="825" dirty="0" err="1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</a:t>
              </a:r>
              <a:r>
                <a:rPr lang="en-US" sz="825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#4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 and </a:t>
              </a:r>
              <a:r>
                <a:rPr lang="en-US" sz="825" dirty="0" err="1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</a:t>
              </a:r>
              <a:r>
                <a:rPr lang="en-US" sz="825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#2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  <a:b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825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put result in </a:t>
              </a:r>
              <a:r>
                <a:rPr lang="en-US" sz="825" dirty="0" err="1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</a:t>
              </a:r>
              <a:r>
                <a:rPr lang="en-US" sz="825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#2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61095" y="2344354"/>
              <a:ext cx="2298731" cy="16785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none" lIns="27000" tIns="27000" rIns="27000" bIns="13500" rtlCol="0">
              <a:spAutoFit/>
            </a:bodyPr>
            <a:lstStyle/>
            <a:p>
              <a:pPr algn="ctr"/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000000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825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00100 </a:t>
              </a:r>
              <a:r>
                <a:rPr lang="en-US" sz="825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00010</a:t>
              </a:r>
              <a:r>
                <a:rPr lang="en-US" sz="825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825" dirty="0">
                  <a:solidFill>
                    <a:schemeClr val="accent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00010</a:t>
              </a:r>
              <a:r>
                <a:rPr lang="en-US" sz="825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00000100000</a:t>
              </a:r>
            </a:p>
          </p:txBody>
        </p:sp>
        <p:sp>
          <p:nvSpPr>
            <p:cNvPr id="19" name="Arc 18"/>
            <p:cNvSpPr/>
            <p:nvPr/>
          </p:nvSpPr>
          <p:spPr>
            <a:xfrm flipH="1">
              <a:off x="1717128" y="2358940"/>
              <a:ext cx="700318" cy="794660"/>
            </a:xfrm>
            <a:prstGeom prst="arc">
              <a:avLst>
                <a:gd name="adj1" fmla="val 17378787"/>
                <a:gd name="adj2" fmla="val 4678222"/>
              </a:avLst>
            </a:prstGeom>
            <a:ln w="60325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602537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67" y="108349"/>
            <a:ext cx="7727423" cy="519113"/>
          </a:xfrm>
        </p:spPr>
        <p:txBody>
          <a:bodyPr/>
          <a:lstStyle/>
          <a:p>
            <a:r>
              <a:rPr lang="en-US" sz="3200" dirty="0"/>
              <a:t>The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267" y="870983"/>
            <a:ext cx="7315200" cy="959110"/>
          </a:xfrm>
        </p:spPr>
        <p:txBody>
          <a:bodyPr>
            <a:noAutofit/>
          </a:bodyPr>
          <a:lstStyle/>
          <a:p>
            <a:r>
              <a:rPr lang="en-US" sz="2000" dirty="0"/>
              <a:t>Processor fetches the next instruction from memory</a:t>
            </a:r>
          </a:p>
          <a:p>
            <a:r>
              <a:rPr lang="en-US" sz="2000" dirty="0"/>
              <a:t>How does it know which </a:t>
            </a:r>
            <a:r>
              <a:rPr lang="en-US" sz="2000" b="1" dirty="0">
                <a:solidFill>
                  <a:schemeClr val="accent1"/>
                </a:solidFill>
              </a:rPr>
              <a:t>location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in memory to fetch from next?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7A92109-350C-077C-91DC-54E32B66C9A3}"/>
              </a:ext>
            </a:extLst>
          </p:cNvPr>
          <p:cNvGrpSpPr/>
          <p:nvPr/>
        </p:nvGrpSpPr>
        <p:grpSpPr>
          <a:xfrm>
            <a:off x="753533" y="2073614"/>
            <a:ext cx="7340599" cy="2247800"/>
            <a:chOff x="1347762" y="1316553"/>
            <a:chExt cx="6390103" cy="1492241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7762" y="1316553"/>
              <a:ext cx="3947789" cy="1492241"/>
            </a:xfrm>
            <a:prstGeom prst="rect">
              <a:avLst/>
            </a:prstGeom>
          </p:spPr>
        </p:pic>
        <p:grpSp>
          <p:nvGrpSpPr>
            <p:cNvPr id="39" name="Group 38"/>
            <p:cNvGrpSpPr/>
            <p:nvPr/>
          </p:nvGrpSpPr>
          <p:grpSpPr>
            <a:xfrm>
              <a:off x="5659292" y="1381531"/>
              <a:ext cx="2078573" cy="1362284"/>
              <a:chOff x="5845553" y="1581852"/>
              <a:chExt cx="2771431" cy="1816379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6686026" y="1581852"/>
                <a:ext cx="1080000" cy="648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350" dirty="0"/>
                  <a:t>Fetch</a:t>
                </a:r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7536984" y="2750231"/>
                <a:ext cx="1080000" cy="648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350" dirty="0"/>
                  <a:t>Decode</a:t>
                </a:r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5845553" y="2750231"/>
                <a:ext cx="1080000" cy="648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350" dirty="0"/>
                  <a:t>Execute</a:t>
                </a:r>
              </a:p>
            </p:txBody>
          </p:sp>
          <p:sp>
            <p:nvSpPr>
              <p:cNvPr id="36" name="Right Arrow 35"/>
              <p:cNvSpPr/>
              <p:nvPr/>
            </p:nvSpPr>
            <p:spPr>
              <a:xfrm rot="3167120">
                <a:off x="7515851" y="2251829"/>
                <a:ext cx="500350" cy="446699"/>
              </a:xfrm>
              <a:prstGeom prst="rightArrow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7" name="Right Arrow 36"/>
              <p:cNvSpPr/>
              <p:nvPr/>
            </p:nvSpPr>
            <p:spPr>
              <a:xfrm rot="18432880" flipV="1">
                <a:off x="6461551" y="2205940"/>
                <a:ext cx="500350" cy="446699"/>
              </a:xfrm>
              <a:prstGeom prst="rightArrow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8" name="Right Arrow 37"/>
              <p:cNvSpPr/>
              <p:nvPr/>
            </p:nvSpPr>
            <p:spPr>
              <a:xfrm flipH="1">
                <a:off x="6969652" y="2825583"/>
                <a:ext cx="500350" cy="446699"/>
              </a:xfrm>
              <a:prstGeom prst="rightArrow">
                <a:avLst/>
              </a:prstGeom>
              <a:ln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7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320" y="108349"/>
            <a:ext cx="7639370" cy="519113"/>
          </a:xfrm>
        </p:spPr>
        <p:txBody>
          <a:bodyPr/>
          <a:lstStyle/>
          <a:p>
            <a:r>
              <a:rPr lang="en-US" sz="3200" dirty="0"/>
              <a:t>Data Output to Device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55793" y="1234792"/>
            <a:ext cx="4688631" cy="2299322"/>
            <a:chOff x="714565" y="2230848"/>
            <a:chExt cx="6251508" cy="3065762"/>
          </a:xfrm>
        </p:grpSpPr>
        <p:sp>
          <p:nvSpPr>
            <p:cNvPr id="6" name="Rectangle 5"/>
            <p:cNvSpPr/>
            <p:nvPr/>
          </p:nvSpPr>
          <p:spPr>
            <a:xfrm>
              <a:off x="3028950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Memory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17431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Processor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040469" y="2501600"/>
              <a:ext cx="1622738" cy="2524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4000" rIns="0" bIns="0" rtlCol="0" anchor="t" anchorCtr="0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Devices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327009" y="2946218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>
                  <a:solidFill>
                    <a:schemeClr val="tx1"/>
                  </a:solidFill>
                </a:rPr>
                <a:t>Network</a:t>
              </a:r>
              <a:endParaRPr 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327009" y="3611464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27009" y="4276710"/>
              <a:ext cx="1049658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Output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41570" y="3228515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Control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41570" y="4009103"/>
              <a:ext cx="1188904" cy="53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350" b="1" dirty="0" err="1">
                  <a:solidFill>
                    <a:schemeClr val="accent1"/>
                  </a:solidFill>
                </a:rPr>
                <a:t>Datapath</a:t>
              </a:r>
              <a:endParaRPr lang="en-US" sz="135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565" y="2230848"/>
              <a:ext cx="6251508" cy="30657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506310" y="3856801"/>
            <a:ext cx="2236511" cy="47320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00000100010100000000000000000000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00000000010011110000000000000100</a:t>
            </a:r>
          </a:p>
          <a:p>
            <a:pPr algn="ctr"/>
            <a:r>
              <a:rPr lang="en-US" sz="825" dirty="0">
                <a:latin typeface="Courier New" panose="02070309020205020404" pitchFamily="49" charset="0"/>
                <a:cs typeface="Courier New" panose="02070309020205020404" pitchFamily="49" charset="0"/>
              </a:rPr>
              <a:t>00000011111000000000000000001000</a:t>
            </a:r>
          </a:p>
        </p:txBody>
      </p:sp>
      <p:sp>
        <p:nvSpPr>
          <p:cNvPr id="19" name="Arc 18"/>
          <p:cNvSpPr/>
          <p:nvPr/>
        </p:nvSpPr>
        <p:spPr>
          <a:xfrm>
            <a:off x="4422921" y="2960040"/>
            <a:ext cx="2577692" cy="1793522"/>
          </a:xfrm>
          <a:prstGeom prst="arc">
            <a:avLst>
              <a:gd name="adj1" fmla="val 16801684"/>
              <a:gd name="adj2" fmla="val 21425582"/>
            </a:avLst>
          </a:prstGeom>
          <a:ln w="762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011520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320" y="108349"/>
            <a:ext cx="7639370" cy="519113"/>
          </a:xfrm>
        </p:spPr>
        <p:txBody>
          <a:bodyPr/>
          <a:lstStyle/>
          <a:p>
            <a:r>
              <a:rPr lang="en-US" altLang="zh-CN" sz="3200" dirty="0"/>
              <a:t>Conclusions</a:t>
            </a:r>
            <a:endParaRPr lang="en-US" sz="3200" dirty="0"/>
          </a:p>
        </p:txBody>
      </p:sp>
      <p:sp>
        <p:nvSpPr>
          <p:cNvPr id="3" name="Content Placeholder 11">
            <a:extLst>
              <a:ext uri="{FF2B5EF4-FFF2-40B4-BE49-F238E27FC236}">
                <a16:creationId xmlns:a16="http://schemas.microsoft.com/office/drawing/2014/main" id="{6AB13CBE-34D6-8087-CC89-5A7408D6D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6320" y="822138"/>
            <a:ext cx="7241406" cy="3626248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A computer consists of two components - hardware and software</a:t>
            </a:r>
          </a:p>
          <a:p>
            <a:endParaRPr lang="en-US" altLang="zh-CN" sz="2400" dirty="0"/>
          </a:p>
          <a:p>
            <a:r>
              <a:rPr lang="en-US" sz="2400" dirty="0"/>
              <a:t>Computer architecture course discuss the main components of hardware</a:t>
            </a:r>
          </a:p>
          <a:p>
            <a:endParaRPr lang="en-US" sz="2400" dirty="0"/>
          </a:p>
          <a:p>
            <a:r>
              <a:rPr lang="en-US" sz="2400" dirty="0"/>
              <a:t>OS, compiler, linker, and loader form the main components of system software</a:t>
            </a:r>
          </a:p>
        </p:txBody>
      </p:sp>
    </p:spTree>
    <p:extLst>
      <p:ext uri="{BB962C8B-B14F-4D97-AF65-F5344CB8AC3E}">
        <p14:creationId xmlns:p14="http://schemas.microsoft.com/office/powerpoint/2010/main" val="3655523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47746" y="1905715"/>
            <a:ext cx="7772400" cy="1125140"/>
          </a:xfrm>
        </p:spPr>
        <p:txBody>
          <a:bodyPr/>
          <a:lstStyle/>
          <a:p>
            <a:pPr algn="ctr"/>
            <a:r>
              <a:rPr lang="en-US" altLang="zh-TW" sz="4400" b="1" dirty="0">
                <a:solidFill>
                  <a:schemeClr val="tx2"/>
                </a:solidFill>
              </a:rPr>
              <a:t>Q &amp; A</a:t>
            </a:r>
            <a:endParaRPr lang="zh-TW" altLang="en-US" sz="4400" b="1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640129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2462</TotalTime>
  <Words>1098</Words>
  <Application>Microsoft Office PowerPoint</Application>
  <PresentationFormat>全屏显示(16:9)</PresentationFormat>
  <Paragraphs>230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Adobe Devanagari</vt:lpstr>
      <vt:lpstr>MS Sans Serif</vt:lpstr>
      <vt:lpstr>华文楷体</vt:lpstr>
      <vt:lpstr>Arial</vt:lpstr>
      <vt:lpstr>Calibri</vt:lpstr>
      <vt:lpstr>Courier New</vt:lpstr>
      <vt:lpstr>Times New Roman</vt:lpstr>
      <vt:lpstr>Wingdings</vt:lpstr>
      <vt:lpstr>NTHU UniCloud</vt:lpstr>
      <vt:lpstr>DDA2001 – Guest Lecture Computer System</vt:lpstr>
      <vt:lpstr>Outline</vt:lpstr>
      <vt:lpstr>Introduction </vt:lpstr>
      <vt:lpstr>Computers (1)</vt:lpstr>
      <vt:lpstr>Computers (2)</vt:lpstr>
      <vt:lpstr>Supercomputers</vt:lpstr>
      <vt:lpstr>Automotive Embedded Systems</vt:lpstr>
      <vt:lpstr>Post-PC Era</vt:lpstr>
      <vt:lpstr>Evolution of Computer Hardware (1)</vt:lpstr>
      <vt:lpstr>Evolution of Computer Hardware (2)</vt:lpstr>
      <vt:lpstr>Evolution of Computer Hardware (3)</vt:lpstr>
      <vt:lpstr>IC Manufacturing Process</vt:lpstr>
      <vt:lpstr>Intel Core i7 Wafer</vt:lpstr>
      <vt:lpstr>Moore’s Law（1）</vt:lpstr>
      <vt:lpstr>Moore’s Law（2）</vt:lpstr>
      <vt:lpstr>hardware </vt:lpstr>
      <vt:lpstr>Major Components of a Computer</vt:lpstr>
      <vt:lpstr>Machine Organization</vt:lpstr>
      <vt:lpstr>Instruction Set Architecture (ISA)</vt:lpstr>
      <vt:lpstr>Related Courses</vt:lpstr>
      <vt:lpstr>Software</vt:lpstr>
      <vt:lpstr>Software</vt:lpstr>
      <vt:lpstr>System Software</vt:lpstr>
      <vt:lpstr>Application Software</vt:lpstr>
      <vt:lpstr>Software and Hardware Co-Work  </vt:lpstr>
      <vt:lpstr>Program Compilation</vt:lpstr>
      <vt:lpstr>Code Input to Device</vt:lpstr>
      <vt:lpstr>Code Stored in Memory</vt:lpstr>
      <vt:lpstr>Code Fetch from Memory</vt:lpstr>
      <vt:lpstr>Decoding Code</vt:lpstr>
      <vt:lpstr>Executing Code</vt:lpstr>
      <vt:lpstr>The Cycle</vt:lpstr>
      <vt:lpstr>Data Output to Device</vt:lpstr>
      <vt:lpstr>Conclusions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Chung Yehching (SDS)</cp:lastModifiedBy>
  <cp:revision>260</cp:revision>
  <dcterms:created xsi:type="dcterms:W3CDTF">2015-06-05T07:23:35Z</dcterms:created>
  <dcterms:modified xsi:type="dcterms:W3CDTF">2023-02-16T00:20:43Z</dcterms:modified>
</cp:coreProperties>
</file>