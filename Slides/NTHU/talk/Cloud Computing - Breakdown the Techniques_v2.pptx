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99"/>
  </p:notesMasterIdLst>
  <p:handoutMasterIdLst>
    <p:handoutMasterId r:id="rId100"/>
  </p:handoutMasterIdLst>
  <p:sldIdLst>
    <p:sldId id="256" r:id="rId3"/>
    <p:sldId id="284" r:id="rId4"/>
    <p:sldId id="453" r:id="rId5"/>
    <p:sldId id="315" r:id="rId6"/>
    <p:sldId id="324" r:id="rId7"/>
    <p:sldId id="325" r:id="rId8"/>
    <p:sldId id="327" r:id="rId9"/>
    <p:sldId id="360" r:id="rId10"/>
    <p:sldId id="258" r:id="rId11"/>
    <p:sldId id="312" r:id="rId12"/>
    <p:sldId id="321" r:id="rId13"/>
    <p:sldId id="380" r:id="rId14"/>
    <p:sldId id="381" r:id="rId15"/>
    <p:sldId id="431" r:id="rId16"/>
    <p:sldId id="433" r:id="rId17"/>
    <p:sldId id="462" r:id="rId18"/>
    <p:sldId id="382" r:id="rId19"/>
    <p:sldId id="463" r:id="rId20"/>
    <p:sldId id="383" r:id="rId21"/>
    <p:sldId id="384" r:id="rId22"/>
    <p:sldId id="385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461" r:id="rId33"/>
    <p:sldId id="458" r:id="rId34"/>
    <p:sldId id="459" r:id="rId35"/>
    <p:sldId id="460" r:id="rId36"/>
    <p:sldId id="397" r:id="rId37"/>
    <p:sldId id="398" r:id="rId38"/>
    <p:sldId id="399" r:id="rId39"/>
    <p:sldId id="400" r:id="rId40"/>
    <p:sldId id="401" r:id="rId41"/>
    <p:sldId id="402" r:id="rId42"/>
    <p:sldId id="465" r:id="rId43"/>
    <p:sldId id="466" r:id="rId44"/>
    <p:sldId id="467" r:id="rId45"/>
    <p:sldId id="468" r:id="rId46"/>
    <p:sldId id="469" r:id="rId47"/>
    <p:sldId id="470" r:id="rId48"/>
    <p:sldId id="471" r:id="rId49"/>
    <p:sldId id="407" r:id="rId50"/>
    <p:sldId id="408" r:id="rId51"/>
    <p:sldId id="409" r:id="rId52"/>
    <p:sldId id="410" r:id="rId53"/>
    <p:sldId id="411" r:id="rId54"/>
    <p:sldId id="412" r:id="rId55"/>
    <p:sldId id="413" r:id="rId56"/>
    <p:sldId id="414" r:id="rId57"/>
    <p:sldId id="415" r:id="rId58"/>
    <p:sldId id="416" r:id="rId59"/>
    <p:sldId id="322" r:id="rId60"/>
    <p:sldId id="364" r:id="rId61"/>
    <p:sldId id="365" r:id="rId62"/>
    <p:sldId id="366" r:id="rId63"/>
    <p:sldId id="434" r:id="rId64"/>
    <p:sldId id="464" r:id="rId65"/>
    <p:sldId id="367" r:id="rId66"/>
    <p:sldId id="368" r:id="rId67"/>
    <p:sldId id="369" r:id="rId68"/>
    <p:sldId id="370" r:id="rId69"/>
    <p:sldId id="371" r:id="rId70"/>
    <p:sldId id="372" r:id="rId71"/>
    <p:sldId id="373" r:id="rId72"/>
    <p:sldId id="374" r:id="rId73"/>
    <p:sldId id="375" r:id="rId74"/>
    <p:sldId id="376" r:id="rId75"/>
    <p:sldId id="377" r:id="rId76"/>
    <p:sldId id="378" r:id="rId77"/>
    <p:sldId id="379" r:id="rId78"/>
    <p:sldId id="323" r:id="rId79"/>
    <p:sldId id="436" r:id="rId80"/>
    <p:sldId id="437" r:id="rId81"/>
    <p:sldId id="438" r:id="rId82"/>
    <p:sldId id="439" r:id="rId83"/>
    <p:sldId id="451" r:id="rId84"/>
    <p:sldId id="440" r:id="rId85"/>
    <p:sldId id="441" r:id="rId86"/>
    <p:sldId id="442" r:id="rId87"/>
    <p:sldId id="443" r:id="rId88"/>
    <p:sldId id="444" r:id="rId89"/>
    <p:sldId id="445" r:id="rId90"/>
    <p:sldId id="446" r:id="rId91"/>
    <p:sldId id="447" r:id="rId92"/>
    <p:sldId id="448" r:id="rId93"/>
    <p:sldId id="450" r:id="rId94"/>
    <p:sldId id="294" r:id="rId95"/>
    <p:sldId id="296" r:id="rId96"/>
    <p:sldId id="297" r:id="rId97"/>
    <p:sldId id="293" r:id="rId9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  <a:srgbClr val="FFCC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1" autoAdjust="0"/>
    <p:restoredTop sz="94660"/>
  </p:normalViewPr>
  <p:slideViewPr>
    <p:cSldViewPr>
      <p:cViewPr varScale="1">
        <p:scale>
          <a:sx n="75" d="100"/>
          <a:sy n="75" d="100"/>
        </p:scale>
        <p:origin x="-61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710"/>
    </p:cViewPr>
  </p:sorterViewPr>
  <p:notesViewPr>
    <p:cSldViewPr>
      <p:cViewPr varScale="1">
        <p:scale>
          <a:sx n="81" d="100"/>
          <a:sy n="81" d="100"/>
        </p:scale>
        <p:origin x="-3586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7507-4325-4DBD-8CD8-74452916A98F}" type="datetimeFigureOut">
              <a:rPr lang="zh-TW" altLang="en-US" smtClean="0"/>
              <a:pPr/>
              <a:t>2011/6/17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2E793-B1BE-4902-8C83-ADAF5952F2E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6A67A-DAB2-4695-8724-08F6192406B5}" type="datetimeFigureOut">
              <a:rPr lang="en-US" smtClean="0"/>
              <a:pPr/>
              <a:t>6/17/2011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A7820-423B-4882-8864-F6FEDD9CE1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7820-423B-4882-8864-F6FEDD9CE149}" type="slidenum">
              <a:rPr lang="en-US" smtClean="0"/>
              <a:pPr/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7820-423B-4882-8864-F6FEDD9CE149}" type="slidenum">
              <a:rPr lang="en-US" smtClean="0"/>
              <a:pPr/>
              <a:t>94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2F3289-838A-49B6-99BC-F1FBAEBE4AD7}" type="slidenum">
              <a:rPr lang="en-GB" altLang="zh-TW" smtClean="0"/>
              <a:pPr/>
              <a:t>96</a:t>
            </a:fld>
            <a:endParaRPr lang="en-GB" altLang="zh-TW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TW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02" name="Picture 2" descr="Hintergr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</p:spPr>
      </p:pic>
      <p:pic>
        <p:nvPicPr>
          <p:cNvPr id="1075213" name="Picture 13" descr="Himmel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65550"/>
            <a:ext cx="9144000" cy="2114550"/>
          </a:xfrm>
          <a:prstGeom prst="rect">
            <a:avLst/>
          </a:prstGeom>
          <a:noFill/>
        </p:spPr>
      </p:pic>
      <p:sp>
        <p:nvSpPr>
          <p:cNvPr id="1075204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27075" y="1260475"/>
            <a:ext cx="6757988" cy="1143000"/>
          </a:xfrm>
        </p:spPr>
        <p:txBody>
          <a:bodyPr lIns="91440" rIns="91440" anchor="b"/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107520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27075" y="2571750"/>
            <a:ext cx="6764338" cy="773113"/>
          </a:xfrm>
        </p:spPr>
        <p:txBody>
          <a:bodyPr lIns="91440" rIns="91440"/>
          <a:lstStyle>
            <a:lvl1pPr marL="0" indent="0">
              <a:buFont typeface="Wingdings" pitchFamily="2" charset="2"/>
              <a:buNone/>
              <a:defRPr sz="2200" b="1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1075211" name="Picture 11" descr="schatte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765550"/>
            <a:ext cx="9144000" cy="120650"/>
          </a:xfrm>
          <a:prstGeom prst="rect">
            <a:avLst/>
          </a:prstGeom>
          <a:noFill/>
        </p:spPr>
      </p:pic>
      <p:pic>
        <p:nvPicPr>
          <p:cNvPr id="1075216" name="Picture 16" descr="PP small"/>
          <p:cNvPicPr>
            <a:picLocks noChangeAspect="1" noChangeArrowheads="1"/>
          </p:cNvPicPr>
          <p:nvPr/>
        </p:nvPicPr>
        <p:blipFill>
          <a:blip r:embed="rId5" cstate="print"/>
          <a:srcRect b="34532"/>
          <a:stretch>
            <a:fillRect/>
          </a:stretch>
        </p:blipFill>
        <p:spPr bwMode="auto">
          <a:xfrm>
            <a:off x="6432550" y="6191250"/>
            <a:ext cx="2419350" cy="303213"/>
          </a:xfrm>
          <a:prstGeom prst="rect">
            <a:avLst/>
          </a:prstGeom>
          <a:noFill/>
        </p:spPr>
      </p:pic>
      <p:pic>
        <p:nvPicPr>
          <p:cNvPr id="9" name="Picture 6" descr="logo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00800" y="5943600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7988" y="1090613"/>
            <a:ext cx="4122737" cy="47990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25" y="1090613"/>
            <a:ext cx="4122738" cy="47990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0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230188"/>
            <a:ext cx="2100263" cy="5659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3225" y="230188"/>
            <a:ext cx="6149975" cy="5659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intergru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3" descr="Himmel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65550"/>
            <a:ext cx="91440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schatten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765550"/>
            <a:ext cx="9144000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6" descr="PP small"/>
          <p:cNvPicPr>
            <a:picLocks noChangeAspect="1" noChangeArrowheads="1"/>
          </p:cNvPicPr>
          <p:nvPr userDrawn="1"/>
        </p:nvPicPr>
        <p:blipFill>
          <a:blip r:embed="rId5" cstate="print"/>
          <a:srcRect b="34532"/>
          <a:stretch>
            <a:fillRect/>
          </a:stretch>
        </p:blipFill>
        <p:spPr bwMode="auto">
          <a:xfrm>
            <a:off x="6432550" y="6191250"/>
            <a:ext cx="2419350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04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27075" y="1260475"/>
            <a:ext cx="6757988" cy="1143000"/>
          </a:xfrm>
        </p:spPr>
        <p:txBody>
          <a:bodyPr lIns="91440" rIns="91440"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de-DE" altLang="zh-TW"/>
          </a:p>
        </p:txBody>
      </p:sp>
      <p:sp>
        <p:nvSpPr>
          <p:cNvPr id="107520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27075" y="2571750"/>
            <a:ext cx="6764338" cy="773113"/>
          </a:xfrm>
        </p:spPr>
        <p:txBody>
          <a:bodyPr lIns="91440" rIns="91440"/>
          <a:lstStyle>
            <a:lvl1pPr marL="0" indent="0">
              <a:buFont typeface="Wingdings" pitchFamily="2" charset="2"/>
              <a:buNone/>
              <a:defRPr sz="2200" b="1"/>
            </a:lvl1pPr>
          </a:lstStyle>
          <a:p>
            <a:r>
              <a:rPr lang="en-US"/>
              <a:t>Click to edit Master text styles</a:t>
            </a:r>
          </a:p>
        </p:txBody>
      </p:sp>
      <p:pic>
        <p:nvPicPr>
          <p:cNvPr id="10" name="Picture 6" descr="logo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00800" y="5943600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6480175" y="0"/>
            <a:ext cx="2663825" cy="914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07988" y="1090613"/>
            <a:ext cx="4122737" cy="47990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3125" y="1090613"/>
            <a:ext cx="4122738" cy="47990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0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 bwMode="auto">
          <a:xfrm>
            <a:off x="6480175" y="0"/>
            <a:ext cx="2663825" cy="914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05600" y="230188"/>
            <a:ext cx="2100263" cy="565943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03225" y="230188"/>
            <a:ext cx="6149975" cy="565943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89" name="Rectangle 13"/>
          <p:cNvSpPr>
            <a:spLocks noChangeArrowheads="1"/>
          </p:cNvSpPr>
          <p:nvPr/>
        </p:nvSpPr>
        <p:spPr bwMode="auto">
          <a:xfrm>
            <a:off x="0" y="1003300"/>
            <a:ext cx="9144000" cy="5346700"/>
          </a:xfrm>
          <a:prstGeom prst="rect">
            <a:avLst/>
          </a:prstGeom>
          <a:solidFill>
            <a:schemeClr val="folHlink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74181" name="Picture 5" descr="Hintergrund"/>
          <p:cNvPicPr>
            <a:picLocks noChangeAspect="1" noChangeArrowheads="1"/>
          </p:cNvPicPr>
          <p:nvPr/>
        </p:nvPicPr>
        <p:blipFill>
          <a:blip r:embed="rId13" cstate="print"/>
          <a:srcRect b="92570"/>
          <a:stretch>
            <a:fillRect/>
          </a:stretch>
        </p:blipFill>
        <p:spPr bwMode="auto">
          <a:xfrm>
            <a:off x="0" y="6362700"/>
            <a:ext cx="9144000" cy="509588"/>
          </a:xfrm>
          <a:prstGeom prst="rect">
            <a:avLst/>
          </a:prstGeom>
          <a:noFill/>
        </p:spPr>
      </p:pic>
      <p:sp>
        <p:nvSpPr>
          <p:cNvPr id="10741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3225" y="230188"/>
            <a:ext cx="5945188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de-DE" dirty="0" smtClean="0"/>
          </a:p>
        </p:txBody>
      </p:sp>
      <p:sp>
        <p:nvSpPr>
          <p:cNvPr id="10741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7988" y="1090613"/>
            <a:ext cx="8397875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74182" name="Picture 6" descr="schatten"/>
          <p:cNvPicPr>
            <a:picLocks noChangeAspect="1" noChangeArrowheads="1"/>
          </p:cNvPicPr>
          <p:nvPr/>
        </p:nvPicPr>
        <p:blipFill>
          <a:blip r:embed="rId14" cstate="print">
            <a:lum bright="36000"/>
          </a:blip>
          <a:srcRect/>
          <a:stretch>
            <a:fillRect/>
          </a:stretch>
        </p:blipFill>
        <p:spPr bwMode="auto">
          <a:xfrm>
            <a:off x="0" y="6243638"/>
            <a:ext cx="9144000" cy="120650"/>
          </a:xfrm>
          <a:prstGeom prst="rect">
            <a:avLst/>
          </a:prstGeom>
          <a:noFill/>
        </p:spPr>
      </p:pic>
      <p:sp>
        <p:nvSpPr>
          <p:cNvPr id="1074188" name="Rectangle 12"/>
          <p:cNvSpPr>
            <a:spLocks noChangeArrowheads="1"/>
          </p:cNvSpPr>
          <p:nvPr/>
        </p:nvSpPr>
        <p:spPr bwMode="auto">
          <a:xfrm>
            <a:off x="1876425" y="6464300"/>
            <a:ext cx="5376863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/>
            <a:r>
              <a:rPr lang="de-DE" sz="1200" dirty="0" smtClean="0"/>
              <a:t>SSLAB</a:t>
            </a:r>
            <a:endParaRPr lang="de-DE" sz="1200" dirty="0"/>
          </a:p>
        </p:txBody>
      </p:sp>
      <p:pic>
        <p:nvPicPr>
          <p:cNvPr id="1074194" name="Picture 18" descr="PP small"/>
          <p:cNvPicPr>
            <a:picLocks noChangeAspect="1" noChangeArrowheads="1"/>
          </p:cNvPicPr>
          <p:nvPr/>
        </p:nvPicPr>
        <p:blipFill>
          <a:blip r:embed="rId15" cstate="print"/>
          <a:srcRect b="34532"/>
          <a:stretch>
            <a:fillRect/>
          </a:stretch>
        </p:blipFill>
        <p:spPr bwMode="auto">
          <a:xfrm>
            <a:off x="6604000" y="381000"/>
            <a:ext cx="2266950" cy="284163"/>
          </a:xfrm>
          <a:prstGeom prst="rect">
            <a:avLst/>
          </a:prstGeom>
          <a:noFill/>
        </p:spPr>
      </p:pic>
      <p:pic>
        <p:nvPicPr>
          <p:cNvPr id="1074195" name="Picture 19" descr="PP small"/>
          <p:cNvPicPr>
            <a:picLocks noChangeAspect="1" noChangeArrowheads="1"/>
          </p:cNvPicPr>
          <p:nvPr/>
        </p:nvPicPr>
        <p:blipFill>
          <a:blip r:embed="rId15" cstate="print"/>
          <a:srcRect b="34532"/>
          <a:stretch>
            <a:fillRect/>
          </a:stretch>
        </p:blipFill>
        <p:spPr bwMode="auto">
          <a:xfrm>
            <a:off x="152400" y="6459538"/>
            <a:ext cx="2419350" cy="303212"/>
          </a:xfrm>
          <a:prstGeom prst="rect">
            <a:avLst/>
          </a:prstGeom>
          <a:noFill/>
        </p:spPr>
      </p:pic>
      <p:sp>
        <p:nvSpPr>
          <p:cNvPr id="12" name="矩形 11"/>
          <p:cNvSpPr/>
          <p:nvPr/>
        </p:nvSpPr>
        <p:spPr bwMode="auto">
          <a:xfrm>
            <a:off x="6480175" y="0"/>
            <a:ext cx="2663825" cy="914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13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6324600"/>
            <a:ext cx="2743200" cy="571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de-DE" sz="2400" b="1" dirty="0" smtClean="0">
          <a:solidFill>
            <a:srgbClr val="C00000"/>
          </a:solidFill>
          <a:latin typeface="Cambria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pitchFamily="34" charset="0"/>
        </a:defRPr>
      </a:lvl9pPr>
    </p:titleStyle>
    <p:bodyStyle>
      <a:lvl1pPr marL="190500" indent="-1905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8891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-"/>
        <a:defRPr>
          <a:solidFill>
            <a:schemeClr val="tx1"/>
          </a:solidFill>
          <a:latin typeface="+mn-lt"/>
        </a:defRPr>
      </a:lvl2pPr>
      <a:lvl3pPr marL="561975" indent="-1793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-"/>
        <a:defRPr>
          <a:solidFill>
            <a:schemeClr val="tx1"/>
          </a:solidFill>
          <a:latin typeface="+mn-lt"/>
        </a:defRPr>
      </a:lvl3pPr>
      <a:lvl4pPr marL="752475" indent="-18891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-"/>
        <a:defRPr>
          <a:solidFill>
            <a:schemeClr val="tx1"/>
          </a:solidFill>
          <a:latin typeface="+mn-lt"/>
        </a:defRPr>
      </a:lvl4pPr>
      <a:lvl5pPr marL="962025" indent="-2079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1419225" indent="-2079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5" descr="Hintergrund"/>
          <p:cNvPicPr>
            <a:picLocks noChangeAspect="1" noChangeArrowheads="1"/>
          </p:cNvPicPr>
          <p:nvPr/>
        </p:nvPicPr>
        <p:blipFill>
          <a:blip r:embed="rId13" cstate="print"/>
          <a:srcRect b="92570"/>
          <a:stretch>
            <a:fillRect/>
          </a:stretch>
        </p:blipFill>
        <p:spPr bwMode="auto">
          <a:xfrm>
            <a:off x="0" y="6362700"/>
            <a:ext cx="9144000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4189" name="Rectangle 13"/>
          <p:cNvSpPr>
            <a:spLocks noChangeArrowheads="1"/>
          </p:cNvSpPr>
          <p:nvPr/>
        </p:nvSpPr>
        <p:spPr bwMode="auto">
          <a:xfrm>
            <a:off x="0" y="1003300"/>
            <a:ext cx="9144000" cy="5346700"/>
          </a:xfrm>
          <a:prstGeom prst="rect">
            <a:avLst/>
          </a:prstGeom>
          <a:solidFill>
            <a:schemeClr val="folHlink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3225" y="230188"/>
            <a:ext cx="5945188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smtClean="0"/>
              <a:t>Click to edit Master title style</a:t>
            </a:r>
            <a:endParaRPr lang="de-DE" altLang="zh-TW" dirty="0" smtClean="0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7988" y="1090613"/>
            <a:ext cx="8397875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pic>
        <p:nvPicPr>
          <p:cNvPr id="4103" name="Picture 6" descr="schatten"/>
          <p:cNvPicPr>
            <a:picLocks noChangeAspect="1" noChangeArrowheads="1"/>
          </p:cNvPicPr>
          <p:nvPr/>
        </p:nvPicPr>
        <p:blipFill>
          <a:blip r:embed="rId14" cstate="print">
            <a:lum bright="36000"/>
          </a:blip>
          <a:srcRect/>
          <a:stretch>
            <a:fillRect/>
          </a:stretch>
        </p:blipFill>
        <p:spPr bwMode="auto">
          <a:xfrm>
            <a:off x="0" y="6243638"/>
            <a:ext cx="9144000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4188" name="Rectangle 12"/>
          <p:cNvSpPr>
            <a:spLocks noChangeArrowheads="1"/>
          </p:cNvSpPr>
          <p:nvPr/>
        </p:nvSpPr>
        <p:spPr bwMode="auto">
          <a:xfrm>
            <a:off x="1876425" y="6464300"/>
            <a:ext cx="5376863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/>
            <a:r>
              <a:rPr lang="de-DE" altLang="zh-TW" sz="1200" dirty="0" smtClean="0"/>
              <a:t>SSLAB</a:t>
            </a:r>
            <a:endParaRPr lang="de-DE" altLang="zh-TW" sz="1200" dirty="0"/>
          </a:p>
        </p:txBody>
      </p:sp>
      <p:pic>
        <p:nvPicPr>
          <p:cNvPr id="4105" name="Picture 18" descr="PP small"/>
          <p:cNvPicPr>
            <a:picLocks noChangeAspect="1" noChangeArrowheads="1"/>
          </p:cNvPicPr>
          <p:nvPr/>
        </p:nvPicPr>
        <p:blipFill>
          <a:blip r:embed="rId15" cstate="print"/>
          <a:srcRect b="34532"/>
          <a:stretch>
            <a:fillRect/>
          </a:stretch>
        </p:blipFill>
        <p:spPr bwMode="auto">
          <a:xfrm>
            <a:off x="6604000" y="381000"/>
            <a:ext cx="2266950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6" name="Picture 19" descr="PP small"/>
          <p:cNvPicPr>
            <a:picLocks noChangeAspect="1" noChangeArrowheads="1"/>
          </p:cNvPicPr>
          <p:nvPr/>
        </p:nvPicPr>
        <p:blipFill>
          <a:blip r:embed="rId15" cstate="print"/>
          <a:srcRect b="34532"/>
          <a:stretch>
            <a:fillRect/>
          </a:stretch>
        </p:blipFill>
        <p:spPr bwMode="auto">
          <a:xfrm>
            <a:off x="152400" y="6459538"/>
            <a:ext cx="2419350" cy="30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 bwMode="auto">
          <a:xfrm>
            <a:off x="6480175" y="0"/>
            <a:ext cx="2663825" cy="9144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FFFFFF"/>
              </a:solidFill>
              <a:ea typeface="新細明體" pitchFamily="18" charset="-120"/>
            </a:endParaRPr>
          </a:p>
        </p:txBody>
      </p:sp>
      <p:sp>
        <p:nvSpPr>
          <p:cNvPr id="1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153400" y="6477000"/>
            <a:ext cx="990600" cy="2889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6324600"/>
            <a:ext cx="2743200" cy="571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de-DE" altLang="zh-TW" sz="2400" b="1" dirty="0" smtClean="0">
          <a:solidFill>
            <a:srgbClr val="C00000"/>
          </a:solidFill>
          <a:latin typeface="Cambria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889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-"/>
        <a:defRPr>
          <a:solidFill>
            <a:schemeClr val="tx1"/>
          </a:solidFill>
          <a:latin typeface="+mn-lt"/>
        </a:defRPr>
      </a:lvl2pPr>
      <a:lvl3pPr marL="561975" indent="-1793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-"/>
        <a:defRPr>
          <a:solidFill>
            <a:schemeClr val="tx1"/>
          </a:solidFill>
          <a:latin typeface="+mn-lt"/>
        </a:defRPr>
      </a:lvl3pPr>
      <a:lvl4pPr marL="752475" indent="-1889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-"/>
        <a:defRPr>
          <a:solidFill>
            <a:schemeClr val="tx1"/>
          </a:solidFill>
          <a:latin typeface="+mn-lt"/>
        </a:defRPr>
      </a:lvl4pPr>
      <a:lvl5pPr marL="962025" indent="-2079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1419225" indent="-207963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7.png"/><Relationship Id="rId5" Type="http://schemas.openxmlformats.org/officeDocument/2006/relationships/image" Target="../media/image68.png"/><Relationship Id="rId4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gif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6.png"/><Relationship Id="rId11" Type="http://schemas.openxmlformats.org/officeDocument/2006/relationships/image" Target="../media/image108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hyperlink" Target="http://www.ppt-vorlagen.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727075" y="1676400"/>
            <a:ext cx="6757988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Cloud Computing :</a:t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</a:b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Break Down the Techniques</a:t>
            </a:r>
            <a:endParaRPr lang="en-US" dirty="0">
              <a:solidFill>
                <a:schemeClr val="bg2">
                  <a:lumMod val="50000"/>
                </a:schemeClr>
              </a:solidFill>
              <a:latin typeface="Cambr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>
          <a:xfrm>
            <a:off x="727075" y="2952750"/>
            <a:ext cx="6764338" cy="628650"/>
          </a:xfrm>
        </p:spPr>
        <p:txBody>
          <a:bodyPr/>
          <a:lstStyle/>
          <a:p>
            <a:r>
              <a:rPr lang="en-US" altLang="zh-TW" i="1" dirty="0" err="1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Yeh-Ching</a:t>
            </a:r>
            <a:r>
              <a:rPr lang="en-US" altLang="zh-TW" i="1" dirty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 </a:t>
            </a:r>
            <a:r>
              <a:rPr lang="en-US" altLang="zh-TW" i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Chung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2400" dirty="0" smtClean="0">
                <a:solidFill>
                  <a:srgbClr val="C00000"/>
                </a:solidFill>
                <a:latin typeface="Cambria" pitchFamily="18" charset="0"/>
              </a:rPr>
              <a:t>Outline</a:t>
            </a:r>
            <a:r>
              <a:rPr lang="en-US" altLang="zh-TW" dirty="0" smtClean="0">
                <a:ea typeface="新細明體" pitchFamily="18" charset="-120"/>
              </a:rPr>
              <a:t> </a:t>
            </a:r>
            <a:endParaRPr lang="zh-TW" altLang="en-US" dirty="0" smtClean="0">
              <a:ea typeface="新細明體" pitchFamily="18" charset="-120"/>
            </a:endParaRPr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新細明體" pitchFamily="18" charset="-120"/>
              </a:rPr>
              <a:t>Introduction to Cloud Computing</a:t>
            </a:r>
          </a:p>
          <a:p>
            <a:pPr lvl="1" eaLnBrk="1" hangingPunct="1">
              <a:buNone/>
            </a:pPr>
            <a:endParaRPr lang="en-US" altLang="zh-TW" dirty="0" smtClean="0">
              <a:latin typeface="Cambria" pitchFamily="18" charset="0"/>
              <a:ea typeface="新細明體" pitchFamily="18" charset="-120"/>
            </a:endParaRPr>
          </a:p>
          <a:p>
            <a:pPr eaLnBrk="1" hangingPunct="1"/>
            <a:r>
              <a:rPr lang="en-US" altLang="zh-TW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新細明體" pitchFamily="18" charset="-120"/>
              </a:rPr>
              <a:t>Techniques &amp; Case Studies</a:t>
            </a:r>
          </a:p>
          <a:p>
            <a:pPr lvl="1" eaLnBrk="1" hangingPunct="1"/>
            <a:r>
              <a:rPr lang="en-US" altLang="zh-TW" dirty="0" smtClean="0">
                <a:latin typeface="Cambria" pitchFamily="18" charset="0"/>
                <a:ea typeface="新細明體" pitchFamily="18" charset="-120"/>
              </a:rPr>
              <a:t>Infrastructure as a Service</a:t>
            </a:r>
          </a:p>
          <a:p>
            <a:pPr lvl="1" eaLnBrk="1" hangingPunct="1"/>
            <a:r>
              <a:rPr lang="en-US" altLang="zh-TW" dirty="0" smtClean="0">
                <a:latin typeface="Cambria" pitchFamily="18" charset="0"/>
                <a:ea typeface="新細明體" pitchFamily="18" charset="-120"/>
              </a:rPr>
              <a:t>Platform as a Service</a:t>
            </a:r>
          </a:p>
          <a:p>
            <a:pPr lvl="1" eaLnBrk="1" hangingPunct="1"/>
            <a:r>
              <a:rPr lang="en-US" altLang="zh-TW" dirty="0" smtClean="0">
                <a:latin typeface="Cambria" pitchFamily="18" charset="0"/>
                <a:ea typeface="新細明體" pitchFamily="18" charset="-120"/>
              </a:rPr>
              <a:t>Software as a Service</a:t>
            </a:r>
          </a:p>
          <a:p>
            <a:pPr lvl="1" eaLnBrk="1" hangingPunct="1"/>
            <a:endParaRPr lang="en-US" altLang="zh-TW" dirty="0" smtClean="0">
              <a:latin typeface="Cambria" pitchFamily="18" charset="0"/>
              <a:ea typeface="新細明體" pitchFamily="18" charset="-120"/>
            </a:endParaRPr>
          </a:p>
          <a:p>
            <a:pPr eaLnBrk="1" hangingPunct="1"/>
            <a:r>
              <a:rPr lang="en-US" altLang="zh-TW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新細明體" pitchFamily="18" charset="-120"/>
              </a:rPr>
              <a:t>Summary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4178" y="2209800"/>
            <a:ext cx="5688422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 Our Humble Opinion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Cloud computing is a paradigm shift of computing, a new way of thinking about IT industry but not any specific technology.</a:t>
            </a:r>
          </a:p>
          <a:p>
            <a:pPr lvl="1"/>
            <a:r>
              <a:rPr lang="en-US" altLang="zh-TW" sz="2000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rPr>
              <a:t>Central ideas</a:t>
            </a:r>
          </a:p>
          <a:p>
            <a:pPr lvl="2"/>
            <a: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  <a:t>Computing</a:t>
            </a:r>
          </a:p>
          <a:p>
            <a:pPr lvl="2"/>
            <a: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  <a:t>Utility</a:t>
            </a:r>
          </a:p>
          <a:p>
            <a:pPr lvl="2"/>
            <a: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  <a:t>Service</a:t>
            </a:r>
          </a:p>
          <a:p>
            <a:pPr lvl="1"/>
            <a:r>
              <a:rPr lang="en-US" altLang="zh-TW" sz="2000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rPr>
              <a:t>Enabling techniques</a:t>
            </a:r>
          </a:p>
          <a:p>
            <a:pPr lvl="2"/>
            <a: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  <a:t>Hardware virtualization</a:t>
            </a:r>
          </a:p>
          <a:p>
            <a:pPr lvl="2"/>
            <a: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  <a:t>Parallelized and distributed </a:t>
            </a:r>
            <a:b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</a:br>
            <a: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  <a:t>computing</a:t>
            </a:r>
          </a:p>
          <a:p>
            <a:pPr lvl="2"/>
            <a:r>
              <a:rPr lang="en-US" altLang="zh-TW" sz="1600" i="1" dirty="0" smtClean="0">
                <a:latin typeface="Cambria" pitchFamily="18" charset="0"/>
                <a:ea typeface="+mn-ea"/>
                <a:cs typeface="+mn-cs"/>
              </a:rPr>
              <a:t>Web service</a:t>
            </a:r>
            <a:endParaRPr lang="zh-TW" altLang="en-US" sz="1600" i="1" dirty="0" smtClean="0"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9" name="內容版面配置區 2"/>
          <p:cNvSpPr txBox="1">
            <a:spLocks/>
          </p:cNvSpPr>
          <p:nvPr/>
        </p:nvSpPr>
        <p:spPr bwMode="auto">
          <a:xfrm>
            <a:off x="4343400" y="1752600"/>
            <a:ext cx="4191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381000" lvl="1" indent="-1889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Tx/>
              <a:buChar char="-"/>
            </a:pPr>
            <a:r>
              <a:rPr lang="en-US" altLang="zh-TW" sz="2000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Properties and Characteristics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216775" cy="600075"/>
          </a:xfrm>
        </p:spPr>
        <p:txBody>
          <a:bodyPr/>
          <a:lstStyle/>
          <a:p>
            <a:r>
              <a:rPr lang="en-US" altLang="zh-TW" dirty="0" smtClean="0"/>
              <a:t>Long divided, must unite; long united, must divide.</a:t>
            </a:r>
            <a:endParaRPr lang="zh-TW" altLang="en-US" dirty="0"/>
          </a:p>
        </p:txBody>
      </p:sp>
      <p:pic>
        <p:nvPicPr>
          <p:cNvPr id="5" name="Picture 4" descr="stop 1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295400"/>
            <a:ext cx="1600200" cy="204741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wsci_01_img013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5000" y="1566712"/>
            <a:ext cx="2209800" cy="175558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woman-drinking-water 0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14801" y="1579680"/>
            <a:ext cx="2514600" cy="16969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girl-drinking-water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36067" y="1586874"/>
            <a:ext cx="2431733" cy="16135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history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4800" y="3638185"/>
            <a:ext cx="1600200" cy="222921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 descr="060711-ibmpc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81200" y="3587416"/>
            <a:ext cx="2082800" cy="2000584"/>
          </a:xfrm>
          <a:prstGeom prst="roundRect">
            <a:avLst>
              <a:gd name="adj" fmla="val 37421"/>
            </a:avLst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 descr="laptopgirl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114800" y="3810000"/>
            <a:ext cx="2438400" cy="16154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 descr="Cloud Consulting Partnership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629159" y="3657600"/>
            <a:ext cx="2362441" cy="1981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Notched Right Arrow 21"/>
          <p:cNvSpPr/>
          <p:nvPr/>
        </p:nvSpPr>
        <p:spPr bwMode="auto">
          <a:xfrm>
            <a:off x="1981200" y="3276600"/>
            <a:ext cx="5105400" cy="381000"/>
          </a:xfrm>
          <a:prstGeom prst="notchedRightArrow">
            <a:avLst>
              <a:gd name="adj1" fmla="val 50000"/>
              <a:gd name="adj2" fmla="val 80583"/>
            </a:avLst>
          </a:prstGeom>
          <a:gradFill flip="none" rotWithShape="1">
            <a:gsLst>
              <a:gs pos="0">
                <a:srgbClr val="C00000"/>
              </a:gs>
              <a:gs pos="85000">
                <a:srgbClr val="FFCCCC"/>
              </a:gs>
              <a:gs pos="100000">
                <a:schemeClr val="bg1"/>
              </a:gs>
            </a:gsLst>
            <a:lin ang="10800000" scaled="1"/>
            <a:tileRect/>
          </a:gradFill>
          <a:ln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38637" y="3124200"/>
            <a:ext cx="1043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FF0000"/>
                    </a:gs>
                    <a:gs pos="100000">
                      <a:srgbClr val="FFFF00">
                        <a:alpha val="8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Cooper Black" pitchFamily="18" charset="0"/>
              </a:rPr>
              <a:t>Now</a:t>
            </a:r>
            <a:endParaRPr lang="en-US" sz="28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rgbClr val="FF0000"/>
                  </a:gs>
                  <a:gs pos="100000">
                    <a:srgbClr val="FFFF00">
                      <a:alpha val="80000"/>
                    </a:srgb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Cooper Black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4423" y="3124200"/>
            <a:ext cx="965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FF0000"/>
                    </a:gs>
                    <a:gs pos="100000">
                      <a:srgbClr val="FFFF00">
                        <a:alpha val="80000"/>
                      </a:srgb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Cooper Black" pitchFamily="18" charset="0"/>
              </a:rPr>
              <a:t>Past</a:t>
            </a:r>
            <a:endParaRPr lang="en-US" sz="28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rgbClr val="FF0000"/>
                  </a:gs>
                  <a:gs pos="100000">
                    <a:srgbClr val="FFFF00">
                      <a:alpha val="80000"/>
                    </a:srgb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Cooper Black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7619" y="5763399"/>
            <a:ext cx="133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Mainframe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25643" y="5763399"/>
            <a:ext cx="45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PC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43400" y="5763399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Laptop  &amp;  Mobile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9171" y="5763399"/>
            <a:ext cx="195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Cloud Computing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1000" y="990600"/>
            <a:ext cx="1395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Water pond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23643" y="990600"/>
            <a:ext cx="1510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Carry bucket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93447" y="990600"/>
            <a:ext cx="14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Small bottle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81800" y="990600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Drinking fountain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680658"/>
            <a:ext cx="3054350" cy="4567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1676400" y="1066800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Mainframe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38800" y="1066800"/>
            <a:ext cx="200944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Cloud Computing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3700" y="1676400"/>
            <a:ext cx="29397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rrowheads="1"/>
          </p:cNvPicPr>
          <p:nvPr/>
        </p:nvPicPr>
        <p:blipFill>
          <a:blip r:embed="rId2" cstate="print"/>
          <a:srcRect l="47706"/>
          <a:stretch>
            <a:fillRect/>
          </a:stretch>
        </p:blipFill>
        <p:spPr bwMode="auto">
          <a:xfrm>
            <a:off x="4852200" y="1447656"/>
            <a:ext cx="3758400" cy="479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rrowheads="1"/>
          </p:cNvPicPr>
          <p:nvPr/>
        </p:nvPicPr>
        <p:blipFill>
          <a:blip r:embed="rId2" cstate="print"/>
          <a:srcRect r="50459"/>
          <a:stretch>
            <a:fillRect/>
          </a:stretch>
        </p:blipFill>
        <p:spPr bwMode="auto">
          <a:xfrm>
            <a:off x="356400" y="1444100"/>
            <a:ext cx="3758400" cy="479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Stack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76400" y="1066800"/>
            <a:ext cx="1371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Mainframe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38800" y="1066800"/>
            <a:ext cx="200944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mbria" pitchFamily="18" charset="0"/>
              </a:rPr>
              <a:t>Cloud Computing</a:t>
            </a:r>
            <a:endParaRPr lang="en-US" b="1" i="1" dirty="0">
              <a:solidFill>
                <a:schemeClr val="bg2">
                  <a:lumMod val="5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Cambria" pitchFamily="18" charset="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Dissimilarity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4475" y="2514600"/>
          <a:ext cx="86709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617"/>
                <a:gridCol w="3312654"/>
                <a:gridCol w="3312654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Mainframe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Cloud Computing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 smtClean="0">
                          <a:solidFill>
                            <a:srgbClr val="C00000"/>
                          </a:solidFill>
                          <a:latin typeface="Cambria" pitchFamily="18" charset="0"/>
                        </a:rPr>
                        <a:t>Client</a:t>
                      </a:r>
                      <a:r>
                        <a:rPr lang="en-US" b="1" i="1" baseline="0" dirty="0" smtClean="0">
                          <a:solidFill>
                            <a:srgbClr val="C00000"/>
                          </a:solidFill>
                          <a:latin typeface="Cambria" pitchFamily="18" charset="0"/>
                        </a:rPr>
                        <a:t> Interface</a:t>
                      </a:r>
                      <a:endParaRPr lang="en-US" b="1" i="1" dirty="0">
                        <a:solidFill>
                          <a:srgbClr val="C00000"/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Terminal</a:t>
                      </a:r>
                      <a:r>
                        <a:rPr lang="en-US" baseline="0" dirty="0" smtClean="0">
                          <a:latin typeface="Cambria" pitchFamily="18" charset="0"/>
                        </a:rPr>
                        <a:t>s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Variety of user interfaces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 smtClean="0">
                          <a:solidFill>
                            <a:srgbClr val="C00000"/>
                          </a:solidFill>
                          <a:latin typeface="Cambria" pitchFamily="18" charset="0"/>
                        </a:rPr>
                        <a:t>Interconnection</a:t>
                      </a:r>
                      <a:endParaRPr lang="en-US" b="1" i="1" dirty="0">
                        <a:solidFill>
                          <a:srgbClr val="C00000"/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Bus</a:t>
                      </a:r>
                      <a:r>
                        <a:rPr lang="en-US" baseline="0" dirty="0" smtClean="0">
                          <a:latin typeface="Cambria" pitchFamily="18" charset="0"/>
                        </a:rPr>
                        <a:t> architecture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Broadband network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 smtClean="0">
                          <a:solidFill>
                            <a:srgbClr val="C00000"/>
                          </a:solidFill>
                          <a:latin typeface="Cambria" pitchFamily="18" charset="0"/>
                        </a:rPr>
                        <a:t>Service</a:t>
                      </a:r>
                      <a:r>
                        <a:rPr lang="en-US" b="1" i="1" baseline="0" dirty="0" smtClean="0">
                          <a:solidFill>
                            <a:srgbClr val="C00000"/>
                          </a:solidFill>
                          <a:latin typeface="Cambria" pitchFamily="18" charset="0"/>
                        </a:rPr>
                        <a:t> </a:t>
                      </a:r>
                      <a:endParaRPr lang="en-US" b="1" i="1" dirty="0">
                        <a:solidFill>
                          <a:srgbClr val="C00000"/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Application only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ambria" pitchFamily="18" charset="0"/>
                        </a:rPr>
                        <a:t>IaaS</a:t>
                      </a:r>
                      <a:r>
                        <a:rPr lang="en-US" dirty="0" smtClean="0">
                          <a:latin typeface="Cambria" pitchFamily="18" charset="0"/>
                        </a:rPr>
                        <a:t>, </a:t>
                      </a:r>
                      <a:r>
                        <a:rPr lang="en-US" dirty="0" err="1" smtClean="0">
                          <a:latin typeface="Cambria" pitchFamily="18" charset="0"/>
                        </a:rPr>
                        <a:t>PaaS</a:t>
                      </a:r>
                      <a:r>
                        <a:rPr lang="en-US" dirty="0" smtClean="0">
                          <a:latin typeface="Cambria" pitchFamily="18" charset="0"/>
                        </a:rPr>
                        <a:t>, </a:t>
                      </a:r>
                      <a:r>
                        <a:rPr lang="en-US" dirty="0" err="1" smtClean="0">
                          <a:latin typeface="Cambria" pitchFamily="18" charset="0"/>
                        </a:rPr>
                        <a:t>SaaS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 smtClean="0">
                          <a:solidFill>
                            <a:srgbClr val="C00000"/>
                          </a:solidFill>
                          <a:latin typeface="Cambria" pitchFamily="18" charset="0"/>
                        </a:rPr>
                        <a:t>Architecture</a:t>
                      </a:r>
                      <a:endParaRPr lang="en-US" b="1" i="1" dirty="0">
                        <a:solidFill>
                          <a:srgbClr val="C00000"/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Single machine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 smtClean="0">
                          <a:latin typeface="Cambria" pitchFamily="18" charset="0"/>
                        </a:rPr>
                        <a:t>Consolidation </a:t>
                      </a:r>
                      <a:r>
                        <a:rPr lang="en-US" baseline="0" dirty="0" smtClean="0">
                          <a:latin typeface="Cambria" pitchFamily="18" charset="0"/>
                        </a:rPr>
                        <a:t>of</a:t>
                      </a:r>
                      <a:r>
                        <a:rPr lang="en-US" dirty="0" smtClean="0">
                          <a:latin typeface="Cambria" pitchFamily="18" charset="0"/>
                        </a:rPr>
                        <a:t> resources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 smtClean="0">
                          <a:solidFill>
                            <a:srgbClr val="C00000"/>
                          </a:solidFill>
                          <a:latin typeface="Cambria" pitchFamily="18" charset="0"/>
                        </a:rPr>
                        <a:t>Elasticity</a:t>
                      </a:r>
                      <a:endParaRPr lang="en-US" b="1" i="1" dirty="0">
                        <a:solidFill>
                          <a:srgbClr val="C00000"/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Stand</a:t>
                      </a:r>
                      <a:r>
                        <a:rPr lang="en-US" baseline="0" dirty="0" smtClean="0">
                          <a:latin typeface="Cambria" pitchFamily="18" charset="0"/>
                        </a:rPr>
                        <a:t> alone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ambria" pitchFamily="18" charset="0"/>
                        </a:rPr>
                        <a:t>Rapidly</a:t>
                      </a:r>
                      <a:r>
                        <a:rPr lang="en-US" baseline="0" dirty="0" smtClean="0">
                          <a:latin typeface="Cambria" pitchFamily="18" charset="0"/>
                        </a:rPr>
                        <a:t> shrink and spread</a:t>
                      </a:r>
                      <a:endParaRPr lang="en-US" dirty="0">
                        <a:latin typeface="Cambri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computing inside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新細明體" pitchFamily="18" charset="-120"/>
              </a:rPr>
              <a:t>Techniques &amp; Case Studies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5700" y="315913"/>
            <a:ext cx="6718300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Service Model 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200400"/>
            <a:ext cx="8610600" cy="2971800"/>
          </a:xfrm>
        </p:spPr>
        <p:txBody>
          <a:bodyPr/>
          <a:lstStyle/>
          <a:p>
            <a:r>
              <a:rPr lang="en-US" sz="2400" b="1" dirty="0" smtClean="0">
                <a:solidFill>
                  <a:srgbClr val="336600"/>
                </a:solidFill>
                <a:latin typeface="Calibri" pitchFamily="34" charset="0"/>
              </a:rPr>
              <a:t>Platform as a Service (</a:t>
            </a:r>
            <a:r>
              <a:rPr lang="en-US" sz="2400" b="1" dirty="0" err="1" smtClean="0">
                <a:solidFill>
                  <a:srgbClr val="336600"/>
                </a:solidFill>
                <a:latin typeface="Calibri" pitchFamily="34" charset="0"/>
              </a:rPr>
              <a:t>PaaS</a:t>
            </a:r>
            <a:r>
              <a:rPr lang="en-US" sz="2400" b="1" dirty="0" smtClean="0">
                <a:solidFill>
                  <a:srgbClr val="336600"/>
                </a:solidFill>
                <a:latin typeface="Calibri" pitchFamily="34" charset="0"/>
              </a:rPr>
              <a:t>)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An operating platform including application-specific libraries and runtime environment</a:t>
            </a:r>
          </a:p>
          <a:p>
            <a:pPr lvl="1"/>
            <a:r>
              <a:rPr lang="en-US" b="1" i="1" dirty="0" smtClean="0">
                <a:solidFill>
                  <a:srgbClr val="7030A0"/>
                </a:solidFill>
                <a:latin typeface="Cambria" pitchFamily="18" charset="0"/>
              </a:rPr>
              <a:t>buy an empty house </a:t>
            </a:r>
            <a:br>
              <a:rPr lang="en-US" b="1" i="1" dirty="0" smtClean="0">
                <a:solidFill>
                  <a:srgbClr val="7030A0"/>
                </a:solidFill>
                <a:latin typeface="Cambria" pitchFamily="18" charset="0"/>
              </a:rPr>
            </a:br>
            <a:endParaRPr lang="en-US" sz="1200" b="1" i="1" dirty="0" smtClean="0">
              <a:solidFill>
                <a:srgbClr val="7030A0"/>
              </a:solidFill>
              <a:latin typeface="Cambria" pitchFamily="18" charset="0"/>
            </a:endParaRPr>
          </a:p>
          <a:p>
            <a:pPr lvl="0">
              <a:defRPr/>
            </a:pPr>
            <a:r>
              <a:rPr lang="en-GB" sz="2400" b="1" dirty="0" smtClean="0">
                <a:solidFill>
                  <a:srgbClr val="336600"/>
                </a:solidFill>
                <a:latin typeface="Calibri" pitchFamily="34" charset="0"/>
              </a:rPr>
              <a:t>Infrastructure as a Service (</a:t>
            </a:r>
            <a:r>
              <a:rPr lang="en-GB" sz="2400" b="1" dirty="0" err="1" smtClean="0">
                <a:solidFill>
                  <a:srgbClr val="336600"/>
                </a:solidFill>
                <a:latin typeface="Calibri" pitchFamily="34" charset="0"/>
              </a:rPr>
              <a:t>IaaS</a:t>
            </a:r>
            <a:r>
              <a:rPr lang="en-GB" sz="2400" b="1" dirty="0" smtClean="0">
                <a:solidFill>
                  <a:srgbClr val="336600"/>
                </a:solidFill>
                <a:latin typeface="Calibri" pitchFamily="34" charset="0"/>
              </a:rPr>
              <a:t>)</a:t>
            </a:r>
          </a:p>
          <a:p>
            <a:pPr lvl="1">
              <a:defRPr/>
            </a:pPr>
            <a:r>
              <a:rPr lang="en-GB" dirty="0" smtClean="0">
                <a:latin typeface="Cambria" pitchFamily="18" charset="0"/>
              </a:rPr>
              <a:t>A virtualized computer infrastructure with computing server, storage space and external network bandwidth</a:t>
            </a:r>
          </a:p>
          <a:p>
            <a:pPr lvl="1">
              <a:defRPr/>
            </a:pPr>
            <a:r>
              <a:rPr lang="en-GB" b="1" i="1" dirty="0" smtClean="0">
                <a:solidFill>
                  <a:srgbClr val="7030A0"/>
                </a:solidFill>
                <a:latin typeface="Cambria" pitchFamily="18" charset="0"/>
              </a:rPr>
              <a:t>build a new house</a:t>
            </a:r>
            <a:endParaRPr lang="en-US" b="1" i="1" dirty="0" smtClean="0">
              <a:solidFill>
                <a:srgbClr val="7030A0"/>
              </a:solidFill>
              <a:latin typeface="Cambria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1" y="4038600"/>
            <a:ext cx="3962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3_layers_of_cloud_computing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43400" y="1032006"/>
            <a:ext cx="4691687" cy="2549394"/>
          </a:xfrm>
          <a:prstGeom prst="roundRect">
            <a:avLst>
              <a:gd name="adj" fmla="val 42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407989" y="1447800"/>
            <a:ext cx="3859212" cy="195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Software as a Service (</a:t>
            </a:r>
            <a:r>
              <a:rPr kumimoji="0" lang="en-US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SaaS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 </a:t>
            </a: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</a:rPr>
              <a:t>Turn-key software hosted on the cloud and accessible through the browser </a:t>
            </a:r>
          </a:p>
          <a:p>
            <a:pPr marL="381000" lvl="1" indent="-18891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Tx/>
              <a:buChar char="-"/>
              <a:defRPr/>
            </a:pPr>
            <a:r>
              <a:rPr lang="en-US" b="1" i="1" kern="0" dirty="0" smtClean="0">
                <a:solidFill>
                  <a:srgbClr val="7030A0"/>
                </a:solidFill>
                <a:latin typeface="Cambria" pitchFamily="18" charset="0"/>
              </a:rPr>
              <a:t>live in a hotel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450" y="941387"/>
            <a:ext cx="8547100" cy="538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Cloud Service Model : Looking Inside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hangingPunct="0">
              <a:spcBef>
                <a:spcPct val="20000"/>
              </a:spcBef>
            </a:pPr>
            <a:r>
              <a:rPr lang="en-US" altLang="zh-TW" dirty="0" err="1" smtClean="0"/>
              <a:t>IaaS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2400" cap="none" dirty="0" smtClean="0">
                <a:solidFill>
                  <a:srgbClr val="000000"/>
                </a:solidFill>
                <a:ea typeface="+mn-ea"/>
                <a:cs typeface="+mn-cs"/>
              </a:rPr>
              <a:t>Infrastructure as a Service</a:t>
            </a:r>
            <a:endParaRPr lang="zh-TW" altLang="en-US" sz="4400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/>
            <a:r>
              <a:rPr lang="en-GB" altLang="zh-TW" sz="2800" b="1" i="1" dirty="0" smtClean="0">
                <a:solidFill>
                  <a:srgbClr val="7030A0"/>
                </a:solidFill>
                <a:latin typeface="Cambria" pitchFamily="18" charset="0"/>
              </a:rPr>
              <a:t>build a new house</a:t>
            </a:r>
          </a:p>
          <a:p>
            <a:pPr marL="0" lvl="1"/>
            <a:endParaRPr lang="en-US" altLang="zh-TW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11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Infrastructure as a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90613"/>
            <a:ext cx="8397875" cy="4799012"/>
          </a:xfrm>
        </p:spPr>
        <p:txBody>
          <a:bodyPr/>
          <a:lstStyle/>
          <a:p>
            <a:r>
              <a:rPr lang="en-US" b="1" dirty="0" smtClean="0">
                <a:latin typeface="Cambria" pitchFamily="18" charset="0"/>
              </a:rPr>
              <a:t>Infrastructure as a Service (</a:t>
            </a:r>
            <a:r>
              <a:rPr lang="en-US" b="1" dirty="0" err="1" smtClean="0">
                <a:latin typeface="Cambria" pitchFamily="18" charset="0"/>
              </a:rPr>
              <a:t>IaaS</a:t>
            </a:r>
            <a:r>
              <a:rPr lang="en-US" b="1" dirty="0" smtClean="0">
                <a:latin typeface="Cambria" pitchFamily="18" charset="0"/>
              </a:rPr>
              <a:t>) </a:t>
            </a:r>
            <a:r>
              <a:rPr lang="en-US" dirty="0" smtClean="0">
                <a:latin typeface="Cambria" pitchFamily="18" charset="0"/>
              </a:rPr>
              <a:t>delivers computer infrastructure for cloud user, typically a platform virtualization environment as a service.</a:t>
            </a:r>
            <a:br>
              <a:rPr lang="en-US" dirty="0" smtClean="0">
                <a:latin typeface="Cambria" pitchFamily="18" charset="0"/>
              </a:rPr>
            </a:br>
            <a:endParaRPr lang="en-US" dirty="0" smtClean="0">
              <a:latin typeface="Cambria" pitchFamily="18" charset="0"/>
            </a:endParaRPr>
          </a:p>
          <a:p>
            <a:r>
              <a:rPr lang="en-US" dirty="0" smtClean="0">
                <a:latin typeface="Cambria" pitchFamily="18" charset="0"/>
              </a:rPr>
              <a:t>Examples: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Amazon EC2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Eucalyptus</a:t>
            </a:r>
          </a:p>
          <a:p>
            <a:pPr lvl="1"/>
            <a:r>
              <a:rPr lang="en-US" dirty="0" err="1" smtClean="0">
                <a:latin typeface="Cambria" pitchFamily="18" charset="0"/>
              </a:rPr>
              <a:t>OpenNebula</a:t>
            </a:r>
            <a:endParaRPr lang="en-US" dirty="0" smtClean="0">
              <a:latin typeface="Cambria" pitchFamily="18" charset="0"/>
            </a:endParaRPr>
          </a:p>
          <a:p>
            <a:pPr lvl="1"/>
            <a:r>
              <a:rPr lang="en-US" dirty="0" smtClean="0">
                <a:latin typeface="Cambria" pitchFamily="18" charset="0"/>
              </a:rPr>
              <a:t>etc.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988647"/>
            <a:ext cx="6416838" cy="4031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Enabling 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Techniques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spcAft>
                <a:spcPts val="600"/>
              </a:spcAft>
              <a:buNone/>
            </a:pPr>
            <a:r>
              <a:rPr lang="en-GB" sz="2400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Virtualization is an abstraction of logical resources away from underlying physical resources</a:t>
            </a:r>
          </a:p>
          <a:p>
            <a:r>
              <a:rPr lang="en-US" dirty="0" smtClean="0">
                <a:latin typeface="Cambria" pitchFamily="18" charset="0"/>
              </a:rPr>
              <a:t>Virtualization technique shifts OS onto hypervisor.</a:t>
            </a:r>
          </a:p>
          <a:p>
            <a:r>
              <a:rPr lang="en-US" dirty="0" smtClean="0">
                <a:latin typeface="Cambria" pitchFamily="18" charset="0"/>
              </a:rPr>
              <a:t>Multiple </a:t>
            </a:r>
            <a:r>
              <a:rPr lang="en-US" dirty="0" err="1" smtClean="0">
                <a:latin typeface="Cambria" pitchFamily="18" charset="0"/>
              </a:rPr>
              <a:t>OSes</a:t>
            </a:r>
            <a:r>
              <a:rPr lang="en-US" dirty="0" smtClean="0">
                <a:latin typeface="Cambria" pitchFamily="18" charset="0"/>
              </a:rPr>
              <a:t> share the physical hardware and provide different services.</a:t>
            </a:r>
          </a:p>
          <a:p>
            <a:r>
              <a:rPr lang="en-US" dirty="0" smtClean="0">
                <a:latin typeface="Cambria" pitchFamily="18" charset="0"/>
              </a:rPr>
              <a:t>Improve utilization, availability, elasticity and manageability.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746500"/>
            <a:ext cx="3276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4279900"/>
            <a:ext cx="2620963" cy="203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ounded Rectangle 5"/>
          <p:cNvSpPr/>
          <p:nvPr/>
        </p:nvSpPr>
        <p:spPr bwMode="auto">
          <a:xfrm>
            <a:off x="4419600" y="3352800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Cambria" pitchFamily="18" charset="0"/>
              </a:rPr>
              <a:t>VM1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5512158" y="3352800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VM2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6616521" y="3352800"/>
            <a:ext cx="1066800" cy="1434920"/>
          </a:xfrm>
          <a:prstGeom prst="roundRect">
            <a:avLst>
              <a:gd name="adj" fmla="val 10166"/>
            </a:avLst>
          </a:prstGeom>
          <a:solidFill>
            <a:schemeClr val="lt1">
              <a:alpha val="0"/>
            </a:schemeClr>
          </a:solidFill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VM3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IaaS</a:t>
            </a:r>
            <a:r>
              <a:rPr lang="en-US" altLang="zh-TW" dirty="0" smtClean="0"/>
              <a:t>: </a:t>
            </a:r>
            <a:r>
              <a:rPr lang="en-US" altLang="zh-TW" dirty="0" smtClean="0"/>
              <a:t>Provide </a:t>
            </a:r>
            <a:r>
              <a:rPr lang="en-US" altLang="zh-TW" dirty="0" smtClean="0"/>
              <a:t>Services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Virtual Resource Management</a:t>
            </a:r>
          </a:p>
          <a:p>
            <a:pPr lvl="2"/>
            <a:r>
              <a:rPr lang="en-US" altLang="zh-TW" b="1" dirty="0" smtClean="0">
                <a:latin typeface="Cambria" pitchFamily="18" charset="0"/>
              </a:rPr>
              <a:t>Virtual Machine</a:t>
            </a:r>
            <a:r>
              <a:rPr lang="en-US" altLang="zh-TW" dirty="0" smtClean="0">
                <a:latin typeface="Cambria" pitchFamily="18" charset="0"/>
              </a:rPr>
              <a:t>: </a:t>
            </a:r>
            <a:r>
              <a:rPr lang="en-US" altLang="zh-TW" i="1" dirty="0" smtClean="0">
                <a:latin typeface="Cambria" pitchFamily="18" charset="0"/>
              </a:rPr>
              <a:t>provide the basic virtual machine operations, such as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creation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suspension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resumption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termination</a:t>
            </a:r>
            <a:r>
              <a:rPr lang="en-US" altLang="zh-TW" i="1" dirty="0" smtClean="0">
                <a:latin typeface="Cambria" pitchFamily="18" charset="0"/>
              </a:rPr>
              <a:t>, …etc.</a:t>
            </a:r>
          </a:p>
          <a:p>
            <a:pPr lvl="2"/>
            <a:r>
              <a:rPr lang="en-US" altLang="zh-TW" b="1" dirty="0" smtClean="0">
                <a:latin typeface="Cambria" pitchFamily="18" charset="0"/>
              </a:rPr>
              <a:t>Virtual Storage</a:t>
            </a:r>
            <a:r>
              <a:rPr lang="en-US" altLang="zh-TW" dirty="0" smtClean="0">
                <a:latin typeface="Cambria" pitchFamily="18" charset="0"/>
              </a:rPr>
              <a:t>: </a:t>
            </a:r>
            <a:r>
              <a:rPr lang="en-US" altLang="zh-TW" i="1" dirty="0" smtClean="0">
                <a:latin typeface="Cambria" pitchFamily="18" charset="0"/>
              </a:rPr>
              <a:t>provide the basic virtual storage operations, such as </a:t>
            </a:r>
            <a:br>
              <a:rPr lang="en-US" altLang="zh-TW" i="1" dirty="0" smtClean="0">
                <a:latin typeface="Cambria" pitchFamily="18" charset="0"/>
              </a:rPr>
            </a:b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space allocation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space release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data writing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data reading</a:t>
            </a:r>
            <a:r>
              <a:rPr lang="en-US" altLang="zh-TW" i="1" dirty="0" smtClean="0">
                <a:latin typeface="Cambria" pitchFamily="18" charset="0"/>
              </a:rPr>
              <a:t>, …etc.</a:t>
            </a:r>
          </a:p>
          <a:p>
            <a:pPr lvl="2"/>
            <a:r>
              <a:rPr lang="en-US" altLang="zh-TW" b="1" dirty="0" smtClean="0">
                <a:latin typeface="Cambria" pitchFamily="18" charset="0"/>
              </a:rPr>
              <a:t>Virtual Network</a:t>
            </a:r>
            <a:r>
              <a:rPr lang="en-US" altLang="zh-TW" dirty="0" smtClean="0">
                <a:latin typeface="Cambria" pitchFamily="18" charset="0"/>
              </a:rPr>
              <a:t>:</a:t>
            </a:r>
            <a:r>
              <a:rPr lang="en-US" altLang="zh-TW" i="1" dirty="0" smtClean="0">
                <a:latin typeface="Cambria" pitchFamily="18" charset="0"/>
              </a:rPr>
              <a:t> provide the basic virtual network operations, such as </a:t>
            </a:r>
            <a:br>
              <a:rPr lang="en-US" altLang="zh-TW" i="1" dirty="0" smtClean="0">
                <a:latin typeface="Cambria" pitchFamily="18" charset="0"/>
              </a:rPr>
            </a:b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IP address allocation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domain name register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connection establishment</a:t>
            </a:r>
            <a:r>
              <a:rPr lang="en-US" altLang="zh-TW" i="1" dirty="0" smtClean="0">
                <a:latin typeface="Cambria" pitchFamily="18" charset="0"/>
              </a:rPr>
              <a:t>, …etc.</a:t>
            </a:r>
          </a:p>
          <a:p>
            <a:endParaRPr lang="en-US" altLang="zh-TW" i="1" dirty="0" smtClean="0"/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System Monitoring</a:t>
            </a:r>
          </a:p>
          <a:p>
            <a:pPr lvl="2"/>
            <a:r>
              <a:rPr lang="en-US" altLang="zh-TW" b="1" dirty="0" smtClean="0">
                <a:latin typeface="Cambria" pitchFamily="18" charset="0"/>
              </a:rPr>
              <a:t>Virtual Machine</a:t>
            </a:r>
            <a:r>
              <a:rPr lang="en-US" altLang="zh-TW" dirty="0" smtClean="0">
                <a:latin typeface="Cambria" pitchFamily="18" charset="0"/>
              </a:rPr>
              <a:t>:</a:t>
            </a:r>
            <a:r>
              <a:rPr lang="en-US" altLang="zh-TW" i="1" dirty="0" smtClean="0">
                <a:latin typeface="Cambria" pitchFamily="18" charset="0"/>
              </a:rPr>
              <a:t> monitor the system status of each virtual machine, such as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CPU loading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memory utilization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IO loading</a:t>
            </a:r>
            <a:r>
              <a:rPr lang="en-US" altLang="zh-TW" i="1" dirty="0" smtClean="0">
                <a:latin typeface="Cambria" pitchFamily="18" charset="0"/>
              </a:rPr>
              <a:t>, …etc.</a:t>
            </a:r>
          </a:p>
          <a:p>
            <a:pPr lvl="2"/>
            <a:r>
              <a:rPr lang="en-US" altLang="zh-TW" b="1" dirty="0" smtClean="0">
                <a:latin typeface="Cambria" pitchFamily="18" charset="0"/>
              </a:rPr>
              <a:t>Virtual Storage</a:t>
            </a:r>
            <a:r>
              <a:rPr lang="en-US" altLang="zh-TW" dirty="0" smtClean="0">
                <a:latin typeface="Cambria" pitchFamily="18" charset="0"/>
              </a:rPr>
              <a:t>:</a:t>
            </a:r>
            <a:r>
              <a:rPr lang="en-US" altLang="zh-TW" i="1" dirty="0" smtClean="0">
                <a:latin typeface="Cambria" pitchFamily="18" charset="0"/>
              </a:rPr>
              <a:t> monitor the storage status of each virtual storage, such as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virtual space utilization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data duplication</a:t>
            </a:r>
            <a:r>
              <a:rPr lang="en-US" altLang="zh-TW" i="1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storage device access bandwidth</a:t>
            </a:r>
            <a:r>
              <a:rPr lang="en-US" altLang="zh-TW" i="1" dirty="0" smtClean="0">
                <a:latin typeface="Cambria" pitchFamily="18" charset="0"/>
              </a:rPr>
              <a:t>, …etc.</a:t>
            </a:r>
          </a:p>
          <a:p>
            <a:pPr lvl="2"/>
            <a:r>
              <a:rPr lang="en-US" altLang="zh-TW" b="1" dirty="0" smtClean="0">
                <a:latin typeface="Cambria" pitchFamily="18" charset="0"/>
              </a:rPr>
              <a:t>Virtual Network</a:t>
            </a:r>
            <a:r>
              <a:rPr lang="en-US" altLang="zh-TW" dirty="0" smtClean="0">
                <a:latin typeface="Cambria" pitchFamily="18" charset="0"/>
              </a:rPr>
              <a:t>: </a:t>
            </a:r>
            <a:r>
              <a:rPr lang="en-US" altLang="zh-TW" i="1" dirty="0" smtClean="0">
                <a:latin typeface="Cambria" pitchFamily="18" charset="0"/>
              </a:rPr>
              <a:t>monitor the network status of each virtual network, such as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virtual network bandwidth</a:t>
            </a:r>
            <a:r>
              <a:rPr lang="en-US" altLang="zh-TW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network connectivity </a:t>
            </a:r>
            <a:r>
              <a:rPr lang="en-US" altLang="zh-TW" dirty="0" smtClean="0">
                <a:latin typeface="Cambria" pitchFamily="18" charset="0"/>
              </a:rPr>
              <a:t>, </a:t>
            </a:r>
            <a:r>
              <a:rPr lang="en-US" altLang="zh-TW" i="1" dirty="0" smtClean="0">
                <a:solidFill>
                  <a:srgbClr val="C00000"/>
                </a:solidFill>
                <a:latin typeface="Cambria" pitchFamily="18" charset="0"/>
              </a:rPr>
              <a:t>network load balancing</a:t>
            </a:r>
            <a:r>
              <a:rPr lang="en-US" altLang="zh-TW" dirty="0" smtClean="0">
                <a:latin typeface="Cambria" pitchFamily="18" charset="0"/>
              </a:rPr>
              <a:t>, …etc.</a:t>
            </a:r>
          </a:p>
          <a:p>
            <a:pPr lvl="1"/>
            <a:endParaRPr lang="zh-TW" altLang="en-US" dirty="0">
              <a:latin typeface="Cambria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&amp; Characteristics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Elasticity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Rapidly provision the amount of infrastructure resources on demand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Availability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Guarantee the infrastructure resources are available without worrying about the possibility of hardware failure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Manageability 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Manage virtualized resources by means of automatic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system control and monitor process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Optimization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Optimize the resource deployment to improve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the utilization among physical resources and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virtualized resources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6757" y="3200400"/>
            <a:ext cx="4149643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intergrund"/>
          <p:cNvPicPr>
            <a:picLocks noChangeAspect="1" noChangeArrowheads="1"/>
          </p:cNvPicPr>
          <p:nvPr/>
        </p:nvPicPr>
        <p:blipFill>
          <a:blip r:embed="rId2" cstate="print"/>
          <a:srcRect b="7220"/>
          <a:stretch>
            <a:fillRect/>
          </a:stretch>
        </p:blipFill>
        <p:spPr bwMode="auto">
          <a:xfrm>
            <a:off x="0" y="0"/>
            <a:ext cx="9144000" cy="636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IaaS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Breakdown the technique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16</a:t>
            </a:fld>
            <a:endParaRPr lang="zh-TW" altLang="en-US" dirty="0"/>
          </a:p>
        </p:txBody>
      </p:sp>
      <p:pic>
        <p:nvPicPr>
          <p:cNvPr id="3076" name="Picture 4" descr="C:\Users\5g\AppData\Local\Microsoft\Windows\Temporary Internet Files\Content.IE5\8HKFLZ3Q\MC90007875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3886200" y="1323975"/>
            <a:ext cx="2743201" cy="2562225"/>
          </a:xfrm>
          <a:prstGeom prst="rect">
            <a:avLst/>
          </a:prstGeom>
          <a:noFill/>
          <a:effectLst>
            <a:reflection blurRad="6350" stA="50000" endA="300" endPos="90000" dist="50800" dir="5400000" sy="-100000" algn="bl" rotWithShape="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: Resource Virtualization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325" y="3679972"/>
            <a:ext cx="2937362" cy="2210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18661" y="3677733"/>
            <a:ext cx="2940057" cy="2212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04297" y="3677733"/>
            <a:ext cx="2940057" cy="2212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Arrow Connector 6"/>
          <p:cNvCxnSpPr>
            <a:stCxn id="13" idx="2"/>
            <a:endCxn id="5" idx="0"/>
          </p:cNvCxnSpPr>
          <p:nvPr/>
        </p:nvCxnSpPr>
        <p:spPr>
          <a:xfrm rot="16200000" flipH="1">
            <a:off x="4386878" y="3475920"/>
            <a:ext cx="398085" cy="55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3" idx="2"/>
            <a:endCxn id="6" idx="0"/>
          </p:cNvCxnSpPr>
          <p:nvPr/>
        </p:nvCxnSpPr>
        <p:spPr>
          <a:xfrm rot="16200000" flipH="1">
            <a:off x="5879696" y="1983102"/>
            <a:ext cx="398085" cy="2991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3" idx="2"/>
            <a:endCxn id="4" idx="0"/>
          </p:cNvCxnSpPr>
          <p:nvPr/>
        </p:nvCxnSpPr>
        <p:spPr>
          <a:xfrm rot="5400000">
            <a:off x="2901417" y="1998238"/>
            <a:ext cx="400324" cy="2963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1605" y="5879068"/>
            <a:ext cx="2136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Server Virtualization</a:t>
            </a:r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6966" y="5879068"/>
            <a:ext cx="2283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Storage Virtualization</a:t>
            </a:r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0476" y="5879068"/>
            <a:ext cx="2367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Network Virtualization</a:t>
            </a:r>
            <a:endParaRPr lang="en-US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07583" y="1066800"/>
            <a:ext cx="2951135" cy="2212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IaaS</a:t>
            </a:r>
            <a:r>
              <a:rPr lang="en-US" altLang="zh-TW" dirty="0"/>
              <a:t> : Virtual Machine Monitor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What’s Virtual Machine Monitor (VMM) ?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VMM or Hypervisor is the software layer providing the virtualization</a:t>
            </a:r>
          </a:p>
          <a:p>
            <a:pPr lvl="1"/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dirty="0" smtClean="0">
                <a:latin typeface="Cambria" pitchFamily="18" charset="0"/>
              </a:rPr>
              <a:t>Virtualization Approaches :</a:t>
            </a:r>
          </a:p>
          <a:p>
            <a:pPr lvl="1"/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rPr>
              <a:t>Full-Virtualization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VMM simulates enough hardware to allow an unmodified guest OS.</a:t>
            </a:r>
          </a:p>
          <a:p>
            <a:pPr lvl="1"/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rPr>
              <a:t>Para-Virtualization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VMM does not necessarily simulate hardware, but instead offers a special API that can only be used by the modified guest OS.</a:t>
            </a:r>
          </a:p>
          <a:p>
            <a:endParaRPr lang="zh-TW" altLang="en-US" dirty="0">
              <a:latin typeface="Cambria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Full Virtualization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4536" y="1219200"/>
            <a:ext cx="5780690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953000"/>
          <a:ext cx="65532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143000"/>
                <a:gridCol w="5410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Pros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" pitchFamily="18" charset="0"/>
                        </a:rPr>
                        <a:t>Not need to modify the guest OS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Cons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" pitchFamily="18" charset="0"/>
                        </a:rPr>
                        <a:t>Significant</a:t>
                      </a:r>
                      <a:r>
                        <a:rPr lang="en-US" b="1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" pitchFamily="18" charset="0"/>
                        </a:rPr>
                        <a:t> performance hit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19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Para Virtualization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9513" y="1219201"/>
            <a:ext cx="5778087" cy="3428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953000"/>
          <a:ext cx="65532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143000"/>
                <a:gridCol w="5410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Pros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" pitchFamily="18" charset="0"/>
                        </a:rPr>
                        <a:t>Light weight and high perform</a:t>
                      </a:r>
                      <a:r>
                        <a:rPr lang="en-US" b="1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" pitchFamily="18" charset="0"/>
                        </a:rPr>
                        <a:t>ance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Cons</a:t>
                      </a:r>
                      <a:endParaRPr lang="en-US" b="1" i="1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/>
                      <a:r>
                        <a:rPr lang="en-US" b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" pitchFamily="18" charset="0"/>
                        </a:rPr>
                        <a:t>Require to modify</a:t>
                      </a:r>
                      <a:r>
                        <a:rPr lang="en-US" b="1" baseline="0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" pitchFamily="18" charset="0"/>
                        </a:rPr>
                        <a:t> the guest OS</a:t>
                      </a:r>
                      <a:endParaRPr lang="en-US" b="1" dirty="0">
                        <a:solidFill>
                          <a:schemeClr val="bg2">
                            <a:lumMod val="75000"/>
                          </a:schemeClr>
                        </a:solidFill>
                        <a:latin typeface="Cambria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4040188" cy="639762"/>
          </a:xfrm>
        </p:spPr>
        <p:txBody>
          <a:bodyPr/>
          <a:lstStyle/>
          <a:p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  <a:latin typeface="Comic Sans MS" pitchFamily="66" charset="0"/>
              </a:rPr>
              <a:t>Xen</a:t>
            </a:r>
            <a:endParaRPr lang="en-US" dirty="0" smtClean="0">
              <a:solidFill>
                <a:schemeClr val="bg2">
                  <a:lumMod val="5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905000"/>
            <a:ext cx="4192588" cy="1371600"/>
          </a:xfrm>
        </p:spPr>
        <p:txBody>
          <a:bodyPr/>
          <a:lstStyle/>
          <a:p>
            <a:r>
              <a:rPr lang="en-US" sz="2000" dirty="0" smtClean="0">
                <a:latin typeface="Cambria" pitchFamily="18" charset="0"/>
              </a:rPr>
              <a:t>Para Virtualization</a:t>
            </a:r>
          </a:p>
          <a:p>
            <a:r>
              <a:rPr lang="en-US" sz="2000" dirty="0" smtClean="0">
                <a:latin typeface="Cambria" pitchFamily="18" charset="0"/>
              </a:rPr>
              <a:t>Bare metal</a:t>
            </a:r>
          </a:p>
          <a:p>
            <a:r>
              <a:rPr lang="en-US" sz="2000" dirty="0" smtClean="0">
                <a:latin typeface="Cambria" pitchFamily="18" charset="0"/>
              </a:rPr>
              <a:t>Dom0 acts as a administration role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9200"/>
            <a:ext cx="4041775" cy="639762"/>
          </a:xfrm>
        </p:spPr>
        <p:txBody>
          <a:bodyPr/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omic Sans MS" pitchFamily="66" charset="0"/>
              </a:rPr>
              <a:t>KVM + QEMU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05000"/>
            <a:ext cx="4270375" cy="1295400"/>
          </a:xfrm>
        </p:spPr>
        <p:txBody>
          <a:bodyPr/>
          <a:lstStyle/>
          <a:p>
            <a:r>
              <a:rPr lang="en-US" sz="2000" dirty="0" smtClean="0">
                <a:latin typeface="Cambria" pitchFamily="18" charset="0"/>
              </a:rPr>
              <a:t>Full Virtualization</a:t>
            </a:r>
          </a:p>
          <a:p>
            <a:r>
              <a:rPr lang="en-US" sz="2000" dirty="0" smtClean="0">
                <a:latin typeface="Cambria" pitchFamily="18" charset="0"/>
              </a:rPr>
              <a:t>Implemented as Linux kernel module</a:t>
            </a:r>
          </a:p>
          <a:p>
            <a:r>
              <a:rPr lang="en-US" sz="2000" dirty="0" smtClean="0">
                <a:latin typeface="Cambria" pitchFamily="18" charset="0"/>
              </a:rPr>
              <a:t>Work with QEMU emulator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</a:t>
            </a:r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Xen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vs. KVM + QEMU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4064" y="3200400"/>
            <a:ext cx="4371241" cy="2895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303" y="3200401"/>
            <a:ext cx="4371861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521575" cy="600075"/>
          </a:xfrm>
        </p:spPr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: Server Virtualization – CPU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7974011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Modern CPU status is usually classified as several modes.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In general, we conceptually divide them into two modes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Kernel mode (Ring 0)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CPU may perform any operation allowed by its architecture, including any instruction execution, IO operation, area of memory access, and so on.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Traditional OS kernel runs in Ring 0 mode.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User mode (Ring 1 ~ 3)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CPU can typically only execute a subset of those available instructions in kernel mode.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Traditional application runs in Ring 3 mode.</a:t>
            </a:r>
          </a:p>
          <a:p>
            <a:endParaRPr lang="en-US" dirty="0"/>
          </a:p>
        </p:txBody>
      </p:sp>
      <p:pic>
        <p:nvPicPr>
          <p:cNvPr id="4" name="Picture 2" descr="http://t0.gstatic.com/images?q=tbn:y0yQt160_6L77M:http://www.codinghorror.com/blog/images/cpu-ring-model-2.png&amp;t=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3810000"/>
            <a:ext cx="3091430" cy="228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22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9" y="1090613"/>
            <a:ext cx="7669212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By the classification of CPU modes, we divide instructions into following types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Privileged instruction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Those instructions that trap if the machine is in user mode and do not trap if the machine is in kernel mode. 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Sensitive instructions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Those instructions that interact with hardware, which include control-sensitive and behavior-sensitive instructions.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Innocuous instruction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All other instructions.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Critical instruction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Those sensitive but not privileged instructions.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6911975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CPU Virtualization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23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7673976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CPU Virtualization</a:t>
            </a:r>
          </a:p>
        </p:txBody>
      </p:sp>
      <p:pic>
        <p:nvPicPr>
          <p:cNvPr id="4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0541" y="1371191"/>
            <a:ext cx="8132769" cy="4724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597775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CPU Virtualization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07989" y="1143000"/>
            <a:ext cx="3859212" cy="38846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Traditional OS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When application invoke a system call :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CPU will trap to interrupt handler vector in OS.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CPU will switch to kernel mode (Ring 0) and execute OS instructions.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When hardware event :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Hardware will interrupt CPU execution, and jump to interrupt handler in OS.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112" y="1143000"/>
            <a:ext cx="4114800" cy="4732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1000" y="1722457"/>
            <a:ext cx="1066800" cy="333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61056" y="4644016"/>
            <a:ext cx="950913" cy="96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6988175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CPU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90612"/>
            <a:ext cx="4011612" cy="5157787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VMM and Guest OS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System Call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CPU will trap to interrupt handler vector of VMM.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VMM jump back into guest OS.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Hardware Interrupt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Hardware make CPU trap to interrupt handler of VMM.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VMM jump to corresponding interrupt handler of guest OS.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Privilege Instruction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Running privilege instructions</a:t>
            </a:r>
            <a:br>
              <a:rPr lang="en-US" dirty="0" smtClean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in guest OS will be trapped to VMM  for instruction emulation.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After emulation, VMM jump back to guest OS.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112" y="1219200"/>
            <a:ext cx="4114800" cy="4732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1096" y="1794470"/>
            <a:ext cx="1080337" cy="326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31144" y="3663464"/>
            <a:ext cx="835025" cy="127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13456" y="4674160"/>
            <a:ext cx="798513" cy="101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87496" y="3663464"/>
            <a:ext cx="811213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92296" y="3348616"/>
            <a:ext cx="847725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032530" y="3475980"/>
            <a:ext cx="870692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26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826375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</a:t>
            </a:r>
            <a:r>
              <a:rPr lang="en-US" dirty="0" smtClean="0"/>
              <a:t>Memory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992188"/>
            <a:ext cx="8397875" cy="3275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Memory Management Unit (MMU)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What is MMU ?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A computer hardware component responsible for handling accesses to memory requested by the CPU.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Its functions include translation of virtual addresses to physical addresses, memory protection, cache control, bus arbitration and etc.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What is PTBR ?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Page Table Base Register (PTBR) is a register point to the base of page table for MMU.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8223" y="3657600"/>
            <a:ext cx="6270377" cy="247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521576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Memory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8397875" cy="433387"/>
          </a:xfrm>
        </p:spPr>
        <p:txBody>
          <a:bodyPr/>
          <a:lstStyle/>
          <a:p>
            <a:pPr lvl="0"/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Memory virtualization architecture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6532" y="1538287"/>
            <a:ext cx="6230937" cy="463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445375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Memory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8397875" cy="2109787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How does Shadow Page </a:t>
            </a:r>
            <a:r>
              <a:rPr lang="en-US" altLang="zh-TW" b="1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Tables work </a:t>
            </a:r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?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VMM should make MMU virtualized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VMM manages the real PTBR and a virtual PTBR for each VM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When guest OS is activated, the real PTBR points to a shadow page table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When guest OS attempts to modify the PTBR, it will be intercepted by VMM for further emulation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5960" y="2971800"/>
            <a:ext cx="719208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29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521575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Memory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8397875" cy="1804987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Construct shadow page table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Guest OS will maintain its own page table for each process.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VMM map each guest physical page to host physical page.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Create shadow page tables for each guest page table.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VMM should protect host frame which contains guest page table.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0"/>
            <a:ext cx="8229600" cy="308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4895" y="3848320"/>
            <a:ext cx="4482748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747" y="4575484"/>
            <a:ext cx="5899550" cy="873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509" y="4958665"/>
            <a:ext cx="5470930" cy="1099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2259873" y="4973902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394164" y="4973902"/>
            <a:ext cx="457200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86000" y="5414766"/>
            <a:ext cx="159659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1600" b="1" cap="none" spc="0" dirty="0" smtClean="0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Write protection</a:t>
            </a:r>
            <a:endParaRPr lang="en-US" sz="1600" b="1" cap="none" spc="0" dirty="0">
              <a:ln w="11430"/>
              <a:solidFill>
                <a:srgbClr val="FF0000"/>
              </a:solidFill>
              <a:effectLst>
                <a:glow rad="101600">
                  <a:srgbClr val="FFFF00">
                    <a:alpha val="40000"/>
                  </a:srgbClr>
                </a:glow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750176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</a:t>
            </a:r>
            <a:r>
              <a:rPr lang="en-US" dirty="0" smtClean="0"/>
              <a:t>IO </a:t>
            </a:r>
            <a:r>
              <a:rPr lang="en-US" dirty="0"/>
              <a:t>Virtualization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143000"/>
            <a:ext cx="3414713" cy="5011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07989" y="1090613"/>
            <a:ext cx="4164012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Implementation Layers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System call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The interface between applications and guest OS.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Driver call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The interface between guest OS and IO device drivers.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IO operation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The interface between IO device driver of guest OS and virtualized hardware ( in VMM ).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31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7989" y="1090613"/>
            <a:ext cx="4164012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In system call level :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When application invoke a system call, system will trap to VMM first.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VMM intercepts system calls, and maintains shadowed IO system call routines to simulate functionalities.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After simulation, VMM directly return to application in gust OS.</a:t>
            </a:r>
          </a:p>
          <a:p>
            <a:endParaRPr lang="zh-TW" alt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750176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</a:t>
            </a:r>
            <a:r>
              <a:rPr lang="en-US" dirty="0" smtClean="0"/>
              <a:t>IO </a:t>
            </a:r>
            <a:r>
              <a:rPr lang="en-US" dirty="0"/>
              <a:t>Virtualization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371600"/>
            <a:ext cx="3425825" cy="502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60240" y="1550670"/>
            <a:ext cx="465772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32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750176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</a:t>
            </a:r>
            <a:r>
              <a:rPr lang="en-US" dirty="0" smtClean="0"/>
              <a:t>IO </a:t>
            </a:r>
            <a:r>
              <a:rPr lang="en-US" dirty="0"/>
              <a:t>Virtualization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8425" y="1371600"/>
            <a:ext cx="3432175" cy="502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680" y="3647440"/>
            <a:ext cx="3627437" cy="265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07989" y="1090613"/>
            <a:ext cx="4164012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In device driver call level :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Utilize </a:t>
            </a:r>
            <a:r>
              <a:rPr lang="en-US" altLang="zh-TW" dirty="0" err="1" smtClean="0">
                <a:latin typeface="Cambria" pitchFamily="18" charset="0"/>
              </a:rPr>
              <a:t>para</a:t>
            </a:r>
            <a:r>
              <a:rPr lang="en-US" altLang="zh-TW" dirty="0" smtClean="0">
                <a:latin typeface="Cambria" pitchFamily="18" charset="0"/>
              </a:rPr>
              <a:t>-virtualization technique, which means the IO device driver in guest OS should be modified.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The IO operation is invoked by means of hyper-call between the modified device driver and VMM IO component.</a:t>
            </a:r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33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7750176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Server Virtualization – </a:t>
            </a:r>
            <a:r>
              <a:rPr lang="en-US" dirty="0" smtClean="0"/>
              <a:t>IO </a:t>
            </a:r>
            <a:r>
              <a:rPr lang="en-US" dirty="0"/>
              <a:t>Virtualization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371600"/>
            <a:ext cx="3425825" cy="502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28515" y="3779520"/>
            <a:ext cx="450532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407989" y="1090613"/>
            <a:ext cx="4164012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In IO operation level, </a:t>
            </a:r>
            <a:b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</a:br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two approaches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Memory mapped IO 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Loads/stores to specific region of real memory are interpreted as command to devices.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The memory mapped IO region is protected.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Port mapped IO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Special input/output instructions with special addresses.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The IO instructions are privileged.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en-US" altLang="zh-TW" dirty="0" smtClean="0">
                <a:latin typeface="Cambria" pitchFamily="18" charset="0"/>
              </a:rPr>
              <a:t>Due to the privileged nature, these IO operations will be trapped to the VMM.</a:t>
            </a:r>
          </a:p>
          <a:p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</a:t>
            </a:r>
            <a:r>
              <a:rPr lang="en-US" dirty="0" smtClean="0"/>
              <a:t>Storage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4164012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Common storage architecture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DAS - Direct Attached Storage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Storage device was directly attached to a server or workstation, without a storage network in between.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NAS - Network Attached Storage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File-level computer data storage connected to a computer network providing data access to heterogeneous clients.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SAN - Storage Area Network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Attach remote storage devices to servers in such a way that the devices appear as locally attached to the operating system.</a:t>
            </a:r>
          </a:p>
        </p:txBody>
      </p:sp>
      <p:pic>
        <p:nvPicPr>
          <p:cNvPr id="4" name="Picture 2" descr="http://benjr.tw/files/images/other/storage_system.png"/>
          <p:cNvPicPr>
            <a:picLocks noChangeAspect="1" noChangeArrowheads="1"/>
          </p:cNvPicPr>
          <p:nvPr/>
        </p:nvPicPr>
        <p:blipFill>
          <a:blip r:embed="rId2" cstate="print"/>
          <a:srcRect l="5354" t="2531" r="6483" b="3345"/>
          <a:stretch>
            <a:fillRect/>
          </a:stretch>
        </p:blipFill>
        <p:spPr bwMode="auto">
          <a:xfrm>
            <a:off x="4953000" y="1143001"/>
            <a:ext cx="3543924" cy="495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Storage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9" y="1752600"/>
            <a:ext cx="4011612" cy="3328987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Layers can be virtualized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File system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Provide compatible system call interface to user space applications.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Block device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Provide compatible block device interface to file system.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Through the interface such as SCIS, SAS, ATA, SATA, etc.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447800"/>
            <a:ext cx="385852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36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Storage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9" y="1776413"/>
            <a:ext cx="4240211" cy="3252787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Different approaches :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Host-based approach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Implemented as a software running on host systems.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Network-based approach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Implemented on network devices.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Storage-based approach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Implemented on storage target subsystem.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066800"/>
            <a:ext cx="3567113" cy="505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37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Storage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9" y="1624013"/>
            <a:ext cx="4468811" cy="4090987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Host-based approach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File level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Run virtualized file system on the host to map files into data blocks, which distributed among several storage devices.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Block level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Run logical volume management software on the host to intercept I/O requests and redirect them to storage devices.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Provide services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Software RAID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377156"/>
            <a:ext cx="3822192" cy="4711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33830" y="1838961"/>
            <a:ext cx="3071822" cy="4213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file-txt.png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88741" y="1295400"/>
            <a:ext cx="762000" cy="7620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650992" y="2492190"/>
            <a:ext cx="685800" cy="539496"/>
            <a:chOff x="3124200" y="3810000"/>
            <a:chExt cx="685800" cy="539496"/>
          </a:xfrm>
        </p:grpSpPr>
        <p:pic>
          <p:nvPicPr>
            <p:cNvPr id="8" name="Picture 7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1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717792" y="2492190"/>
            <a:ext cx="685800" cy="539496"/>
            <a:chOff x="3124200" y="3810000"/>
            <a:chExt cx="685800" cy="539496"/>
          </a:xfrm>
        </p:grpSpPr>
        <p:pic>
          <p:nvPicPr>
            <p:cNvPr id="11" name="Picture 10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2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708392" y="2492190"/>
            <a:ext cx="685800" cy="539496"/>
            <a:chOff x="3124200" y="3810000"/>
            <a:chExt cx="685800" cy="539496"/>
          </a:xfrm>
        </p:grpSpPr>
        <p:pic>
          <p:nvPicPr>
            <p:cNvPr id="14" name="Picture 1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3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22392" y="1781638"/>
            <a:ext cx="3280653" cy="4323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68881" y="990600"/>
            <a:ext cx="2987675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ound Diagonal Corner Rectangle 17"/>
          <p:cNvSpPr/>
          <p:nvPr/>
        </p:nvSpPr>
        <p:spPr>
          <a:xfrm>
            <a:off x="5573898" y="2590800"/>
            <a:ext cx="457200" cy="228600"/>
          </a:xfrm>
          <a:prstGeom prst="round2Diag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9" name="Round Diagonal Corner Rectangle 18"/>
          <p:cNvSpPr/>
          <p:nvPr/>
        </p:nvSpPr>
        <p:spPr>
          <a:xfrm>
            <a:off x="6221598" y="2590800"/>
            <a:ext cx="457200" cy="228600"/>
          </a:xfrm>
          <a:prstGeom prst="round2Diag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2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0" name="Round Diagonal Corner Rectangle 19"/>
          <p:cNvSpPr/>
          <p:nvPr/>
        </p:nvSpPr>
        <p:spPr>
          <a:xfrm>
            <a:off x="6869298" y="2590800"/>
            <a:ext cx="457200" cy="228600"/>
          </a:xfrm>
          <a:prstGeom prst="round2DiagRect">
            <a:avLst/>
          </a:prstGeom>
          <a:solidFill>
            <a:srgbClr val="A365D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1" name="Round Diagonal Corner Rectangle 20"/>
          <p:cNvSpPr/>
          <p:nvPr/>
        </p:nvSpPr>
        <p:spPr>
          <a:xfrm>
            <a:off x="7516998" y="2590800"/>
            <a:ext cx="457200" cy="228600"/>
          </a:xfrm>
          <a:prstGeom prst="round2DiagRect">
            <a:avLst/>
          </a:prstGeom>
          <a:solidFill>
            <a:srgbClr val="FFCC9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2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2" name="Round Diagonal Corner Rectangle 21"/>
          <p:cNvSpPr/>
          <p:nvPr/>
        </p:nvSpPr>
        <p:spPr>
          <a:xfrm>
            <a:off x="8164698" y="2590800"/>
            <a:ext cx="457200" cy="228600"/>
          </a:xfrm>
          <a:prstGeom prst="round2DiagRect">
            <a:avLst/>
          </a:prstGeom>
          <a:solidFill>
            <a:srgbClr val="FFCC9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53366E-6 L -0.1625 0.1526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" y="7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53366E-6 L 0.07916 0.1526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7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53366E-6 L 0.14583 0.1526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0.15267 L -0.1125 0.3636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" y="10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15267 L 0.22917 0.3636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" y="10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0.15267 L -0.10417 0.3636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" y="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9.16031E-7 L -0.15816 0.161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8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9.16031E-7 L -0.04566 0.161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" y="8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9.16031E-7 L 0.05851 0.21652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" y="108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9.16031E-7 L 0.01267 0.161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8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84178E-7 L 0.20833 0.16655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84 0.161 L 0.03351 0.44969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144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67 0.161 L 0.17934 0.40528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122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51 0.21652 L 0.00017 0.40528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" y="94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816 0.161 L -0.24983 0.40528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" y="122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566 0.161 L -0.07066 0.44969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Storage Virtualization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9525" y="1744582"/>
            <a:ext cx="3902075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0653" y="1739777"/>
            <a:ext cx="3335337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4" cstate="print"/>
          <a:srcRect b="6119"/>
          <a:stretch>
            <a:fillRect/>
          </a:stretch>
        </p:blipFill>
        <p:spPr bwMode="auto">
          <a:xfrm>
            <a:off x="5364484" y="1219200"/>
            <a:ext cx="2987675" cy="72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Round Diagonal Corner Rectangle 11"/>
          <p:cNvSpPr/>
          <p:nvPr/>
        </p:nvSpPr>
        <p:spPr>
          <a:xfrm>
            <a:off x="5276378" y="2400391"/>
            <a:ext cx="457200" cy="228600"/>
          </a:xfrm>
          <a:prstGeom prst="round2Diag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5" name="Round Diagonal Corner Rectangle 12"/>
          <p:cNvSpPr/>
          <p:nvPr/>
        </p:nvSpPr>
        <p:spPr>
          <a:xfrm>
            <a:off x="5809778" y="2400391"/>
            <a:ext cx="457200" cy="228600"/>
          </a:xfrm>
          <a:prstGeom prst="round2Diag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2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6" name="Round Diagonal Corner Rectangle 13"/>
          <p:cNvSpPr/>
          <p:nvPr/>
        </p:nvSpPr>
        <p:spPr>
          <a:xfrm>
            <a:off x="6647978" y="2400391"/>
            <a:ext cx="457200" cy="228600"/>
          </a:xfrm>
          <a:prstGeom prst="round2DiagRect">
            <a:avLst/>
          </a:prstGeom>
          <a:solidFill>
            <a:srgbClr val="A365D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7" name="Round Diagonal Corner Rectangle 14"/>
          <p:cNvSpPr/>
          <p:nvPr/>
        </p:nvSpPr>
        <p:spPr>
          <a:xfrm>
            <a:off x="7476653" y="2390866"/>
            <a:ext cx="457200" cy="228600"/>
          </a:xfrm>
          <a:prstGeom prst="round2DiagRect">
            <a:avLst/>
          </a:prstGeom>
          <a:solidFill>
            <a:srgbClr val="FFCC9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2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8" name="Round Diagonal Corner Rectangle 15"/>
          <p:cNvSpPr/>
          <p:nvPr/>
        </p:nvSpPr>
        <p:spPr>
          <a:xfrm>
            <a:off x="8000528" y="2390866"/>
            <a:ext cx="457200" cy="228600"/>
          </a:xfrm>
          <a:prstGeom prst="round2DiagRect">
            <a:avLst/>
          </a:prstGeom>
          <a:solidFill>
            <a:srgbClr val="FFCC9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407988" y="1752600"/>
            <a:ext cx="4240211" cy="3557587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Network-based approach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File level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Seldom implement file level virtualization on network device.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Block level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Run software on dedicated appliances or intelligent </a:t>
            </a:r>
            <a:br>
              <a:rPr lang="en-US" dirty="0" smtClean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switches and routers.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Provide services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Multi-path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Storage pooling</a:t>
            </a: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39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29331E-6 L 0.05625 0.211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" y="10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29331E-6 L 0.04791 0.211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" y="10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29331E-6 L -0.00208 0.211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10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63174E-6 L -0.04271 0.2125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" y="10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63174E-6 L -0.05 0.21258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" y="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25 0.2112 L 0.15625 0.4332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" y="11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112 L 0.21458 0.47768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1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0.2112 L -0.11041 0.47768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" y="13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271 0.21258 L -0.20104 0.4346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111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 0.21258 L -0.025 0.4346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Storage Virtualization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35524" y="1295400"/>
            <a:ext cx="3879876" cy="4869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4374" y="1283235"/>
            <a:ext cx="3182937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3840" y="609600"/>
            <a:ext cx="7747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3840" y="3797300"/>
            <a:ext cx="7747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61"/>
          <p:cNvGrpSpPr/>
          <p:nvPr/>
        </p:nvGrpSpPr>
        <p:grpSpPr>
          <a:xfrm>
            <a:off x="5603240" y="4800600"/>
            <a:ext cx="685800" cy="539496"/>
            <a:chOff x="3124200" y="3810000"/>
            <a:chExt cx="685800" cy="539496"/>
          </a:xfrm>
        </p:grpSpPr>
        <p:pic>
          <p:nvPicPr>
            <p:cNvPr id="18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9" name="TextBox 6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1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4" name="Group 65"/>
          <p:cNvGrpSpPr/>
          <p:nvPr/>
        </p:nvGrpSpPr>
        <p:grpSpPr>
          <a:xfrm>
            <a:off x="6670040" y="4800600"/>
            <a:ext cx="685800" cy="539496"/>
            <a:chOff x="3124200" y="3810000"/>
            <a:chExt cx="685800" cy="539496"/>
          </a:xfrm>
        </p:grpSpPr>
        <p:pic>
          <p:nvPicPr>
            <p:cNvPr id="21" name="Picture 66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2" name="TextBox 67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2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" name="Group 68"/>
          <p:cNvGrpSpPr/>
          <p:nvPr/>
        </p:nvGrpSpPr>
        <p:grpSpPr>
          <a:xfrm>
            <a:off x="7660640" y="4800600"/>
            <a:ext cx="685800" cy="539496"/>
            <a:chOff x="3124200" y="3810000"/>
            <a:chExt cx="685800" cy="539496"/>
          </a:xfrm>
        </p:grpSpPr>
        <p:pic>
          <p:nvPicPr>
            <p:cNvPr id="24" name="Picture 69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5" name="TextBox 70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3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Group 61"/>
          <p:cNvGrpSpPr/>
          <p:nvPr/>
        </p:nvGrpSpPr>
        <p:grpSpPr>
          <a:xfrm>
            <a:off x="5603240" y="4800600"/>
            <a:ext cx="685800" cy="539496"/>
            <a:chOff x="3124200" y="3810000"/>
            <a:chExt cx="685800" cy="539496"/>
          </a:xfrm>
        </p:grpSpPr>
        <p:pic>
          <p:nvPicPr>
            <p:cNvPr id="27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8" name="TextBox 6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sz="900" b="1" dirty="0" smtClean="0">
                  <a:solidFill>
                    <a:prstClr val="black"/>
                  </a:solidFill>
                </a:rPr>
                <a:t>1.bak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Group 61"/>
          <p:cNvGrpSpPr/>
          <p:nvPr/>
        </p:nvGrpSpPr>
        <p:grpSpPr>
          <a:xfrm>
            <a:off x="6670040" y="4800600"/>
            <a:ext cx="685800" cy="539496"/>
            <a:chOff x="3124200" y="3810000"/>
            <a:chExt cx="685800" cy="539496"/>
          </a:xfrm>
        </p:grpSpPr>
        <p:pic>
          <p:nvPicPr>
            <p:cNvPr id="30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31" name="TextBox 64"/>
            <p:cNvSpPr txBox="1"/>
            <p:nvPr/>
          </p:nvSpPr>
          <p:spPr>
            <a:xfrm>
              <a:off x="3124200" y="390952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900" b="1" dirty="0" smtClean="0">
                  <a:solidFill>
                    <a:prstClr val="black"/>
                  </a:solidFill>
                </a:rPr>
                <a:t>Sub-file</a:t>
              </a:r>
              <a:br>
                <a:rPr lang="en-US" sz="900" b="1" dirty="0" smtClean="0">
                  <a:solidFill>
                    <a:prstClr val="black"/>
                  </a:solidFill>
                </a:rPr>
              </a:br>
              <a:r>
                <a:rPr lang="en-US" altLang="zh-TW" sz="900" b="1" dirty="0" smtClean="0">
                  <a:solidFill>
                    <a:prstClr val="black"/>
                  </a:solidFill>
                </a:rPr>
                <a:t>2.bak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71974" y="1283235"/>
            <a:ext cx="3335337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45805" y="707316"/>
            <a:ext cx="2987675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Round Diagonal Corner Rectangle 11"/>
          <p:cNvSpPr/>
          <p:nvPr/>
        </p:nvSpPr>
        <p:spPr>
          <a:xfrm>
            <a:off x="5636408" y="1914525"/>
            <a:ext cx="457200" cy="228600"/>
          </a:xfrm>
          <a:prstGeom prst="round2Diag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35" name="Round Diagonal Corner Rectangle 13"/>
          <p:cNvSpPr/>
          <p:nvPr/>
        </p:nvSpPr>
        <p:spPr>
          <a:xfrm>
            <a:off x="6741308" y="1914525"/>
            <a:ext cx="457200" cy="228600"/>
          </a:xfrm>
          <a:prstGeom prst="round2DiagRect">
            <a:avLst/>
          </a:prstGeom>
          <a:solidFill>
            <a:srgbClr val="A365D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36" name="Round Diagonal Corner Rectangle 15"/>
          <p:cNvSpPr/>
          <p:nvPr/>
        </p:nvSpPr>
        <p:spPr>
          <a:xfrm>
            <a:off x="7846208" y="1905000"/>
            <a:ext cx="457200" cy="228600"/>
          </a:xfrm>
          <a:prstGeom prst="round2DiagRect">
            <a:avLst/>
          </a:prstGeom>
          <a:solidFill>
            <a:srgbClr val="FFCC9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37" name="Round Diagonal Corner Rectangle 11"/>
          <p:cNvSpPr/>
          <p:nvPr/>
        </p:nvSpPr>
        <p:spPr>
          <a:xfrm>
            <a:off x="5755640" y="4876800"/>
            <a:ext cx="457200" cy="228600"/>
          </a:xfrm>
          <a:prstGeom prst="round2Diag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38" name="Round Diagonal Corner Rectangle 13"/>
          <p:cNvSpPr/>
          <p:nvPr/>
        </p:nvSpPr>
        <p:spPr>
          <a:xfrm>
            <a:off x="6756998" y="4876800"/>
            <a:ext cx="457200" cy="228600"/>
          </a:xfrm>
          <a:prstGeom prst="round2DiagRect">
            <a:avLst/>
          </a:prstGeom>
          <a:solidFill>
            <a:srgbClr val="A365D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39" name="Round Diagonal Corner Rectangle 15"/>
          <p:cNvSpPr/>
          <p:nvPr/>
        </p:nvSpPr>
        <p:spPr>
          <a:xfrm>
            <a:off x="7829624" y="4867275"/>
            <a:ext cx="457200" cy="228600"/>
          </a:xfrm>
          <a:prstGeom prst="round2DiagRect">
            <a:avLst/>
          </a:prstGeom>
          <a:solidFill>
            <a:srgbClr val="FFCC9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Block 1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40" name="Round Diagonal Corner Rectangle 11"/>
          <p:cNvSpPr/>
          <p:nvPr/>
        </p:nvSpPr>
        <p:spPr>
          <a:xfrm>
            <a:off x="5755640" y="4875567"/>
            <a:ext cx="457200" cy="228600"/>
          </a:xfrm>
          <a:prstGeom prst="round2Diag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Replica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41" name="Round Diagonal Corner Rectangle 13"/>
          <p:cNvSpPr/>
          <p:nvPr/>
        </p:nvSpPr>
        <p:spPr>
          <a:xfrm>
            <a:off x="6756998" y="4875567"/>
            <a:ext cx="457200" cy="228600"/>
          </a:xfrm>
          <a:prstGeom prst="round2DiagRect">
            <a:avLst/>
          </a:prstGeom>
          <a:solidFill>
            <a:srgbClr val="A365D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Replica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42" name="Round Diagonal Corner Rectangle 15"/>
          <p:cNvSpPr/>
          <p:nvPr/>
        </p:nvSpPr>
        <p:spPr>
          <a:xfrm>
            <a:off x="7829624" y="4866042"/>
            <a:ext cx="457200" cy="228600"/>
          </a:xfrm>
          <a:prstGeom prst="round2DiagRect">
            <a:avLst/>
          </a:prstGeom>
          <a:solidFill>
            <a:srgbClr val="FFCC9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Replica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43" name="Content Placeholder 3"/>
          <p:cNvSpPr>
            <a:spLocks noGrp="1"/>
          </p:cNvSpPr>
          <p:nvPr>
            <p:ph idx="1"/>
          </p:nvPr>
        </p:nvSpPr>
        <p:spPr>
          <a:xfrm>
            <a:off x="407988" y="1373188"/>
            <a:ext cx="4392612" cy="4799012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Storage-based approach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File level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Run software on storage device to provide file based data storage services to host through network.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Block level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Embeds the technology in the target storage devices.</a:t>
            </a:r>
          </a:p>
          <a:p>
            <a:pPr lvl="1"/>
            <a:r>
              <a:rPr lang="en-US" altLang="zh-TW" b="1" dirty="0" smtClean="0">
                <a:latin typeface="Cambria" pitchFamily="18" charset="0"/>
              </a:rPr>
              <a:t>Provide services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Storage pooling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Replication and RAID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Data sharing and </a:t>
            </a:r>
            <a:r>
              <a:rPr lang="en-US" dirty="0" err="1" smtClean="0">
                <a:latin typeface="Cambria" pitchFamily="18" charset="0"/>
              </a:rPr>
              <a:t>tiering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44" name="投影片編號版面配置區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40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50914E-6 L -0.05069 0.3432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" y="1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69 0.34328 L -0.00069 0.4654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" y="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59259E-6 L 0.1375 0.03842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1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0.12916 0.03842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1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02083 -0.01713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" y="-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-0.02084 -0.0171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" y="-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96183E-6 L 0.17968 0.1929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96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-0.05 0.18796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" y="94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-0.17031 0.22778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" y="1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8 0.19292 L 0.12135 0.3483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" y="78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48 0.19305 L 0.08385 0.34861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78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031 0.22778 L -0.20364 0.35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05277E-6 L -0.1184 0.05161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26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6.20227E-7 L -0.10955 0.05022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" y="25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6.20227E-7 L 0.225 0.05022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" y="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34" grpId="3" animBg="1"/>
      <p:bldP spid="35" grpId="0" animBg="1"/>
      <p:bldP spid="35" grpId="1" animBg="1"/>
      <p:bldP spid="35" grpId="2" animBg="1"/>
      <p:bldP spid="35" grpId="3" animBg="1"/>
      <p:bldP spid="36" grpId="0" animBg="1"/>
      <p:bldP spid="36" grpId="1" animBg="1"/>
      <p:bldP spid="36" grpId="2" animBg="1"/>
      <p:bldP spid="36" grpId="3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</a:t>
            </a:r>
            <a:r>
              <a:rPr lang="en-US" dirty="0" smtClean="0"/>
              <a:t>Network </a:t>
            </a:r>
            <a:r>
              <a:rPr lang="en-US" dirty="0"/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4087811" cy="4852987"/>
          </a:xfrm>
        </p:spPr>
        <p:txBody>
          <a:bodyPr/>
          <a:lstStyle/>
          <a:p>
            <a:r>
              <a:rPr lang="en-US" dirty="0" smtClean="0"/>
              <a:t>Computer Network:</a:t>
            </a:r>
          </a:p>
          <a:p>
            <a:pPr lvl="1"/>
            <a:r>
              <a:rPr lang="en-US" dirty="0" smtClean="0"/>
              <a:t>A computer network, often simply referred to as a network, is a collection of computers and devices interconnected by communications channels that facilitate communications among users and allows users to share resources.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Hierarchical approach</a:t>
            </a:r>
          </a:p>
          <a:p>
            <a:pPr lvl="1"/>
            <a:r>
              <a:rPr lang="en-US" dirty="0" smtClean="0"/>
              <a:t>Traffic is aggregated hierarchically from an access layer into a layer of distribution switches and finally onto the network core.</a:t>
            </a:r>
          </a:p>
        </p:txBody>
      </p:sp>
      <p:pic>
        <p:nvPicPr>
          <p:cNvPr id="6" name="Picture 5" descr="Network_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48200" y="1143000"/>
            <a:ext cx="4267200" cy="4873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Network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categories :</a:t>
            </a:r>
          </a:p>
          <a:p>
            <a:pPr lvl="1"/>
            <a:r>
              <a:rPr lang="en-US" dirty="0" smtClean="0"/>
              <a:t>External network virtualization (External NV)</a:t>
            </a:r>
          </a:p>
          <a:p>
            <a:pPr lvl="2"/>
            <a:r>
              <a:rPr lang="en-US" dirty="0" smtClean="0"/>
              <a:t>Combining many networks, or parts of networks, into a virtual unit.</a:t>
            </a:r>
          </a:p>
          <a:p>
            <a:pPr lvl="1"/>
            <a:r>
              <a:rPr lang="en-US" dirty="0" smtClean="0"/>
              <a:t>Internal network virtualization (Internal NV)</a:t>
            </a:r>
          </a:p>
          <a:p>
            <a:pPr lvl="2"/>
            <a:r>
              <a:rPr lang="en-US" dirty="0" smtClean="0"/>
              <a:t>Providing network-like functionality to the software containers on a single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2676" t="1591" r="3679" b="1392"/>
          <a:stretch>
            <a:fillRect/>
          </a:stretch>
        </p:blipFill>
        <p:spPr bwMode="auto">
          <a:xfrm>
            <a:off x="5029200" y="2971800"/>
            <a:ext cx="332282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0" name="Picture 2" descr="http://4.bp.blogspot.com/_0mE-ECY1oFU/SZL8kKXX7fI/AAAAAAAAAHk/0TXgrxPwbio/s400/sol3_l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733800"/>
            <a:ext cx="3810000" cy="16954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987893" y="5909846"/>
            <a:ext cx="3205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External Network Virtualization</a:t>
            </a:r>
            <a:endParaRPr lang="en-US" sz="1600" b="1" i="1" dirty="0">
              <a:solidFill>
                <a:srgbClr val="C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8857" y="5909846"/>
            <a:ext cx="3203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smtClean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Internal Network Virtualization</a:t>
            </a:r>
            <a:endParaRPr lang="en-US" sz="1600" b="1" i="1" dirty="0">
              <a:solidFill>
                <a:srgbClr val="C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224" y="230188"/>
            <a:ext cx="6683375" cy="600075"/>
          </a:xfrm>
        </p:spPr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Network Virtualization – </a:t>
            </a:r>
            <a:r>
              <a:rPr lang="en-US" dirty="0" smtClean="0"/>
              <a:t>External NV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3859211" cy="4799012"/>
          </a:xfrm>
        </p:spPr>
        <p:txBody>
          <a:bodyPr/>
          <a:lstStyle/>
          <a:p>
            <a:r>
              <a:rPr lang="en-US" dirty="0" smtClean="0"/>
              <a:t>Layer 2 solution</a:t>
            </a:r>
          </a:p>
          <a:p>
            <a:pPr lvl="1"/>
            <a:r>
              <a:rPr lang="en-US" dirty="0" smtClean="0"/>
              <a:t>Divide physical switch into multiple logical switches.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038600" y="1090613"/>
            <a:ext cx="4724400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2000" kern="0" dirty="0" smtClean="0"/>
              <a:t>Layer 3 solution 3</a:t>
            </a:r>
          </a:p>
          <a:p>
            <a:pPr marL="647700" lvl="1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2000" kern="0" dirty="0" smtClean="0"/>
              <a:t>VRF technique</a:t>
            </a:r>
            <a:br>
              <a:rPr lang="en-US" sz="2000" kern="0" dirty="0" smtClean="0"/>
            </a:br>
            <a:r>
              <a:rPr lang="en-US" sz="2000" kern="0" dirty="0" smtClean="0"/>
              <a:t>( Virtual Routing and Forwarding )</a:t>
            </a:r>
          </a:p>
          <a:p>
            <a:pPr marL="647700" lvl="1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2000" kern="0" dirty="0" smtClean="0"/>
              <a:t>Emulate isolated routing tables within one physical router.</a:t>
            </a:r>
          </a:p>
        </p:txBody>
      </p:sp>
      <p:pic>
        <p:nvPicPr>
          <p:cNvPr id="5" name="Picture 4" descr="vlan.png"/>
          <p:cNvPicPr>
            <a:picLocks noChangeAspect="1"/>
          </p:cNvPicPr>
          <p:nvPr/>
        </p:nvPicPr>
        <p:blipFill>
          <a:blip r:embed="rId2" cstate="print"/>
          <a:srcRect b="6486"/>
          <a:stretch>
            <a:fillRect/>
          </a:stretch>
        </p:blipFill>
        <p:spPr>
          <a:xfrm>
            <a:off x="457200" y="2590800"/>
            <a:ext cx="3219900" cy="3296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3276600"/>
            <a:ext cx="4168205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Network Virtualization – Internal NV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Traditional approach :</a:t>
            </a:r>
          </a:p>
          <a:p>
            <a:pPr lvl="1"/>
            <a:r>
              <a:rPr lang="en-US" dirty="0" smtClean="0"/>
              <a:t>Work with TUN/TAP and Linux Bridge :</a:t>
            </a:r>
          </a:p>
          <a:p>
            <a:pPr lvl="2"/>
            <a:r>
              <a:rPr lang="en-US" dirty="0" smtClean="0"/>
              <a:t>Virtual machines connect to host by a virtual network adapter, which is implemented by TUN/TAP driver.</a:t>
            </a:r>
          </a:p>
          <a:p>
            <a:pPr lvl="2"/>
            <a:r>
              <a:rPr lang="en-US" dirty="0" smtClean="0"/>
              <a:t>Virtual adapters will connect to Linux bridges, which play the role of virtual switch.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Advanced approach :</a:t>
            </a:r>
          </a:p>
          <a:p>
            <a:pPr lvl="1"/>
            <a:r>
              <a:rPr lang="en-US" dirty="0" smtClean="0"/>
              <a:t>Open </a:t>
            </a:r>
            <a:r>
              <a:rPr lang="en-US" dirty="0" err="1" smtClean="0"/>
              <a:t>vSwitch</a:t>
            </a:r>
            <a:r>
              <a:rPr lang="en-US" dirty="0" smtClean="0"/>
              <a:t> </a:t>
            </a:r>
            <a:r>
              <a:rPr lang="en-US" dirty="0" err="1" smtClean="0"/>
              <a:t>porject</a:t>
            </a:r>
            <a:r>
              <a:rPr lang="en-US" dirty="0" smtClean="0"/>
              <a:t> :</a:t>
            </a:r>
          </a:p>
          <a:p>
            <a:pPr lvl="2"/>
            <a:r>
              <a:rPr lang="en-US" dirty="0" smtClean="0"/>
              <a:t>A </a:t>
            </a:r>
            <a:r>
              <a:rPr lang="en-US" dirty="0" err="1" smtClean="0"/>
              <a:t>vSwitch</a:t>
            </a:r>
            <a:r>
              <a:rPr lang="en-US" dirty="0" smtClean="0"/>
              <a:t> is a pure software based Layer 2 network element that runs on the server </a:t>
            </a:r>
          </a:p>
          <a:p>
            <a:pPr lvl="2"/>
            <a:r>
              <a:rPr lang="en-US" dirty="0" smtClean="0"/>
              <a:t>The function of the </a:t>
            </a:r>
            <a:r>
              <a:rPr lang="en-US" dirty="0" err="1" smtClean="0"/>
              <a:t>vSwitch</a:t>
            </a:r>
            <a:r>
              <a:rPr lang="en-US" dirty="0" smtClean="0"/>
              <a:t> is to allow the VMs within a server to communicate with each other and to manage communications to the rest of the network.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Network Virtualization </a:t>
            </a:r>
            <a:r>
              <a:rPr lang="en-US" dirty="0" smtClean="0"/>
              <a:t>– Internal NV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436513"/>
            <a:ext cx="7162800" cy="4726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0" y="990600"/>
            <a:ext cx="28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Linux Bridge + TUN/TAP</a:t>
            </a:r>
            <a:endParaRPr lang="en-US" b="1" i="1" dirty="0">
              <a:solidFill>
                <a:schemeClr val="bg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Network Virtualization – Internal NV</a:t>
            </a:r>
          </a:p>
        </p:txBody>
      </p:sp>
      <p:pic>
        <p:nvPicPr>
          <p:cNvPr id="4" name="Picture 2" descr="http://download.oracle.com/docs/cd/E19053-01/ldoms.mgr11/820-4913-10/figures/12599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940"/>
          <a:stretch>
            <a:fillRect/>
          </a:stretch>
        </p:blipFill>
        <p:spPr bwMode="auto">
          <a:xfrm>
            <a:off x="990600" y="1981200"/>
            <a:ext cx="7087597" cy="38516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05775" y="1307068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vSwitch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solution use case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IaaS</a:t>
            </a:r>
            <a:r>
              <a:rPr lang="en-US" dirty="0"/>
              <a:t> : Network Virtualization – Internal NV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 r="2838"/>
          <a:stretch>
            <a:fillRect/>
          </a:stretch>
        </p:blipFill>
        <p:spPr bwMode="auto">
          <a:xfrm>
            <a:off x="333375" y="1485900"/>
            <a:ext cx="8477250" cy="461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774072" y="1066800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vSwitch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with hardware support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124200"/>
            <a:ext cx="7470648" cy="322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1</a:t>
            </a:r>
          </a:p>
        </p:txBody>
      </p:sp>
      <p:pic>
        <p:nvPicPr>
          <p:cNvPr id="6" name="Picture 11" descr="Amazon Web Servic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152400"/>
            <a:ext cx="2362200" cy="724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524000" y="1066800"/>
            <a:ext cx="58929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Amazon EC2 ( Elastic Compute Cloud )</a:t>
            </a:r>
            <a:endParaRPr lang="en-US" sz="2400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1066800"/>
          </a:xfrm>
        </p:spPr>
        <p:txBody>
          <a:bodyPr/>
          <a:lstStyle/>
          <a:p>
            <a:r>
              <a:rPr lang="en-GB" b="1" i="1" dirty="0" smtClean="0">
                <a:latin typeface="Cambria" pitchFamily="18" charset="0"/>
              </a:rPr>
              <a:t>Amazon EC2 </a:t>
            </a:r>
            <a:r>
              <a:rPr lang="en-GB" dirty="0" smtClean="0">
                <a:latin typeface="Cambria" pitchFamily="18" charset="0"/>
              </a:rPr>
              <a:t>is a central part of </a:t>
            </a:r>
            <a:r>
              <a:rPr lang="en-GB" i="1" dirty="0" err="1" smtClean="0">
                <a:latin typeface="Cambria" pitchFamily="18" charset="0"/>
              </a:rPr>
              <a:t>Amazon.com</a:t>
            </a:r>
            <a:r>
              <a:rPr lang="en-GB" dirty="0" err="1" smtClean="0">
                <a:latin typeface="Cambria" pitchFamily="18" charset="0"/>
              </a:rPr>
              <a:t>'s</a:t>
            </a:r>
            <a:r>
              <a:rPr lang="en-GB" dirty="0" smtClean="0">
                <a:latin typeface="Cambria" pitchFamily="18" charset="0"/>
              </a:rPr>
              <a:t> cloud computing platform.</a:t>
            </a:r>
          </a:p>
          <a:p>
            <a:r>
              <a:rPr lang="en-GB" b="1" i="1" dirty="0" smtClean="0">
                <a:latin typeface="Cambria" pitchFamily="18" charset="0"/>
              </a:rPr>
              <a:t>Amazon EC2 </a:t>
            </a:r>
            <a:r>
              <a:rPr lang="en-GB" dirty="0" smtClean="0">
                <a:latin typeface="Cambria" pitchFamily="18" charset="0"/>
              </a:rPr>
              <a:t>allows users to rent virtual computers to run their applications.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457200" y="2614613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IaaS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Architecture of Amazon EC2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48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66800"/>
            <a:ext cx="8397875" cy="5105400"/>
          </a:xfrm>
        </p:spPr>
        <p:txBody>
          <a:bodyPr/>
          <a:lstStyle/>
          <a:p>
            <a:pPr>
              <a:buNone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Amazon EC2 ( Elastic Compute Cloud )</a:t>
            </a:r>
            <a:br>
              <a:rPr lang="en-US" sz="2400" b="1" i="1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</a:br>
            <a:endParaRPr lang="en-US" sz="1100" b="1" i="1" dirty="0" smtClean="0">
              <a:solidFill>
                <a:schemeClr val="bg2">
                  <a:lumMod val="75000"/>
                </a:schemeClr>
              </a:solidFill>
              <a:latin typeface="+mj-lt"/>
            </a:endParaRPr>
          </a:p>
          <a:p>
            <a:r>
              <a:rPr lang="en-GB" b="1" i="1" dirty="0" smtClean="0">
                <a:latin typeface="Cambria" pitchFamily="18" charset="0"/>
              </a:rPr>
              <a:t>User Interfaces :</a:t>
            </a:r>
          </a:p>
          <a:p>
            <a:pPr lvl="1"/>
            <a:r>
              <a:rPr lang="en-GB" b="1" dirty="0" smtClean="0">
                <a:solidFill>
                  <a:srgbClr val="C00000"/>
                </a:solidFill>
                <a:latin typeface="Cambria" pitchFamily="18" charset="0"/>
              </a:rPr>
              <a:t>EC2 &amp; S3 API</a:t>
            </a:r>
          </a:p>
          <a:p>
            <a:pPr lvl="2"/>
            <a:r>
              <a:rPr lang="en-GB" dirty="0" smtClean="0">
                <a:latin typeface="Cambria" pitchFamily="18" charset="0"/>
              </a:rPr>
              <a:t>Submit VM deployment and Storage requests through command line interface.</a:t>
            </a:r>
          </a:p>
          <a:p>
            <a:pPr lvl="1"/>
            <a:r>
              <a:rPr lang="en-GB" b="1" dirty="0" smtClean="0">
                <a:solidFill>
                  <a:srgbClr val="C00000"/>
                </a:solidFill>
                <a:latin typeface="Cambria" pitchFamily="18" charset="0"/>
              </a:rPr>
              <a:t>Web Interface</a:t>
            </a:r>
          </a:p>
          <a:p>
            <a:pPr lvl="2"/>
            <a:r>
              <a:rPr lang="en-GB" dirty="0" smtClean="0">
                <a:latin typeface="Cambria" pitchFamily="18" charset="0"/>
              </a:rPr>
              <a:t>Initial system configuration through web interface.</a:t>
            </a:r>
          </a:p>
          <a:p>
            <a:pPr lvl="1"/>
            <a:r>
              <a:rPr lang="en-GB" b="1" dirty="0" smtClean="0">
                <a:solidFill>
                  <a:srgbClr val="C00000"/>
                </a:solidFill>
                <a:latin typeface="Cambria" pitchFamily="18" charset="0"/>
              </a:rPr>
              <a:t>System Monitoring</a:t>
            </a:r>
          </a:p>
          <a:p>
            <a:pPr lvl="2"/>
            <a:r>
              <a:rPr lang="en-GB" dirty="0" smtClean="0">
                <a:latin typeface="Cambria" pitchFamily="18" charset="0"/>
              </a:rPr>
              <a:t>Monitor system status through web-based display.</a:t>
            </a:r>
            <a:br>
              <a:rPr lang="en-GB" dirty="0" smtClean="0">
                <a:latin typeface="Cambria" pitchFamily="18" charset="0"/>
              </a:rPr>
            </a:br>
            <a:endParaRPr lang="en-GB" dirty="0" smtClean="0">
              <a:latin typeface="Cambria" pitchFamily="18" charset="0"/>
            </a:endParaRPr>
          </a:p>
          <a:p>
            <a:r>
              <a:rPr lang="en-GB" b="1" i="1" dirty="0" smtClean="0">
                <a:latin typeface="Cambria" pitchFamily="18" charset="0"/>
              </a:rPr>
              <a:t>Virtualization :</a:t>
            </a:r>
          </a:p>
          <a:p>
            <a:pPr lvl="1"/>
            <a:r>
              <a:rPr lang="en-GB" b="1" dirty="0" smtClean="0">
                <a:solidFill>
                  <a:srgbClr val="C00000"/>
                </a:solidFill>
                <a:latin typeface="Cambria" pitchFamily="18" charset="0"/>
              </a:rPr>
              <a:t>Server Virtualization : </a:t>
            </a:r>
            <a:r>
              <a:rPr lang="en-GB" dirty="0" err="1" smtClean="0">
                <a:latin typeface="Cambria" pitchFamily="18" charset="0"/>
              </a:rPr>
              <a:t>Xen</a:t>
            </a:r>
            <a:r>
              <a:rPr lang="en-GB" dirty="0" smtClean="0">
                <a:latin typeface="Cambria" pitchFamily="18" charset="0"/>
              </a:rPr>
              <a:t> Hypervisor</a:t>
            </a:r>
          </a:p>
          <a:p>
            <a:pPr lvl="1"/>
            <a:r>
              <a:rPr lang="en-GB" b="1" dirty="0" smtClean="0">
                <a:solidFill>
                  <a:srgbClr val="C00000"/>
                </a:solidFill>
                <a:latin typeface="Cambria" pitchFamily="18" charset="0"/>
              </a:rPr>
              <a:t>Network Virtualization : </a:t>
            </a:r>
            <a:r>
              <a:rPr lang="en-GB" dirty="0" smtClean="0">
                <a:latin typeface="Cambria" pitchFamily="18" charset="0"/>
              </a:rPr>
              <a:t>Elastic IP Address</a:t>
            </a:r>
          </a:p>
          <a:p>
            <a:pPr lvl="1"/>
            <a:r>
              <a:rPr lang="en-GB" b="1" dirty="0" smtClean="0">
                <a:solidFill>
                  <a:srgbClr val="C00000"/>
                </a:solidFill>
                <a:latin typeface="Cambria" pitchFamily="18" charset="0"/>
              </a:rPr>
              <a:t>Storage Virtualization : </a:t>
            </a:r>
            <a:r>
              <a:rPr lang="en-GB" dirty="0" smtClean="0">
                <a:latin typeface="Cambria" pitchFamily="18" charset="0"/>
              </a:rPr>
              <a:t>Simple Storage System + Elastic Block Storage </a:t>
            </a:r>
          </a:p>
        </p:txBody>
      </p:sp>
      <p:pic>
        <p:nvPicPr>
          <p:cNvPr id="4" name="Picture 11" descr="Amazon Web Servic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52400"/>
            <a:ext cx="2362200" cy="724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49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2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5" name="Picture 4" descr="Logo-Eucalyptus_Logo_two_wor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52401"/>
            <a:ext cx="2819400" cy="847404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2386013"/>
            <a:ext cx="8397875" cy="585787"/>
          </a:xfrm>
        </p:spPr>
        <p:txBody>
          <a:bodyPr/>
          <a:lstStyle/>
          <a:p>
            <a:pPr algn="ctr">
              <a:buNone/>
            </a:pPr>
            <a:r>
              <a:rPr lang="en-US" sz="2800" b="1" dirty="0" err="1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IaaS</a:t>
            </a:r>
            <a:r>
              <a:rPr lang="en-US" sz="2800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 Architecture of Eucalyptus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 t="31558"/>
          <a:stretch>
            <a:fillRect/>
          </a:stretch>
        </p:blipFill>
        <p:spPr bwMode="auto">
          <a:xfrm>
            <a:off x="990600" y="2971800"/>
            <a:ext cx="7467600" cy="3205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0" y="1066800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i="1" dirty="0" smtClean="0">
                <a:solidFill>
                  <a:schemeClr val="bg2">
                    <a:lumMod val="75000"/>
                  </a:schemeClr>
                </a:solidFill>
              </a:rPr>
              <a:t>Eucalyptus</a:t>
            </a:r>
            <a:br>
              <a:rPr lang="en-US" sz="2800" b="1" i="1" dirty="0" smtClean="0">
                <a:solidFill>
                  <a:schemeClr val="bg2">
                    <a:lumMod val="75000"/>
                  </a:schemeClr>
                </a:solidFill>
              </a:rPr>
            </a:b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en-GB" sz="1600" b="1" i="1" dirty="0" smtClean="0">
                <a:solidFill>
                  <a:schemeClr val="bg2">
                    <a:lumMod val="75000"/>
                  </a:schemeClr>
                </a:solidFill>
              </a:rPr>
              <a:t>Elastic Utility Computing Architecture for Linking Your Programs to Useful Systems</a:t>
            </a:r>
            <a:r>
              <a:rPr lang="en-GB" sz="1600" b="1" dirty="0" smtClean="0">
                <a:solidFill>
                  <a:schemeClr val="bg2">
                    <a:lumMod val="75000"/>
                  </a:schemeClr>
                </a:solidFill>
              </a:rPr>
              <a:t>)</a:t>
            </a:r>
            <a:endParaRPr lang="en-US" sz="1600" b="1" dirty="0" smtClean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-Eucalyptus_Logo_two_wor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52401"/>
            <a:ext cx="2819400" cy="84740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2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410790"/>
            <a:ext cx="7278624" cy="4913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07989" y="990600"/>
            <a:ext cx="347821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Server Virtualization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51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990600"/>
            <a:ext cx="8397875" cy="4799012"/>
          </a:xfrm>
        </p:spPr>
        <p:txBody>
          <a:bodyPr/>
          <a:lstStyle/>
          <a:p>
            <a:pPr>
              <a:buNone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Server Virtualization</a:t>
            </a:r>
          </a:p>
          <a:p>
            <a:pPr algn="ctr">
              <a:buNone/>
            </a:pPr>
            <a:endParaRPr lang="en-US" sz="2400" b="1" dirty="0" smtClean="0">
              <a:latin typeface="+mj-lt"/>
            </a:endParaRPr>
          </a:p>
          <a:p>
            <a:r>
              <a:rPr lang="en-US" b="1" i="1" dirty="0" smtClean="0">
                <a:latin typeface="Cambria" pitchFamily="18" charset="0"/>
              </a:rPr>
              <a:t>System Component :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Cloud Controller (CLC)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Dispatch user request to some clusters.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Cluster Controller (CC)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Determine enough resource for virtual machine deployment.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Node Controller (NC)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Run user’s virtual machines.</a:t>
            </a:r>
          </a:p>
          <a:p>
            <a:endParaRPr lang="en-US" dirty="0" smtClean="0">
              <a:latin typeface="Cambria" pitchFamily="18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2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8" name="Picture 7" descr="Logo-Eucalyptus_Logo_two_wor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52401"/>
            <a:ext cx="2819400" cy="847404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52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-Eucalyptus_Logo_two_wor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52401"/>
            <a:ext cx="2819400" cy="84740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2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2144" y="1169280"/>
            <a:ext cx="7077456" cy="515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Content Placeholder 3"/>
          <p:cNvSpPr>
            <a:spLocks noGrp="1"/>
          </p:cNvSpPr>
          <p:nvPr>
            <p:ph idx="1"/>
          </p:nvPr>
        </p:nvSpPr>
        <p:spPr>
          <a:xfrm>
            <a:off x="407989" y="1090613"/>
            <a:ext cx="3478211" cy="509587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Storage Virtualization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53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7989" y="1090613"/>
            <a:ext cx="7135811" cy="4799012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Storage Virtualization</a:t>
            </a:r>
          </a:p>
          <a:p>
            <a:pPr>
              <a:buNone/>
            </a:pPr>
            <a:endParaRPr lang="en-US" dirty="0" smtClean="0">
              <a:latin typeface="Cambria" pitchFamily="18" charset="0"/>
            </a:endParaRPr>
          </a:p>
          <a:p>
            <a:r>
              <a:rPr lang="en-US" b="1" i="1" dirty="0" smtClean="0">
                <a:latin typeface="Cambria" pitchFamily="18" charset="0"/>
              </a:rPr>
              <a:t>Two kinds of storage systems :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Walrus ( S3 compatible )</a:t>
            </a:r>
            <a:r>
              <a:rPr lang="en-US" b="1" i="1" dirty="0" smtClean="0">
                <a:latin typeface="Cambria" pitchFamily="18" charset="0"/>
              </a:rPr>
              <a:t/>
            </a:r>
            <a:br>
              <a:rPr lang="en-US" b="1" i="1" dirty="0" smtClean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         Mainly store the images, which provided by users or administrator, for VMs booting.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Storage Controller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         Mainly store user created logical volumes which can be attached to specified VMs in run-time.  Each storage controller in a cluster is controlled by the corresponding cluster controller, and  each VM can utilize these logical volumes through networks.</a:t>
            </a:r>
            <a:endParaRPr lang="en-US" dirty="0">
              <a:latin typeface="Cambria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2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" name="Picture 5" descr="Logo-Eucalyptus_Logo_two_wor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52401"/>
            <a:ext cx="2819400" cy="847404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8397875" cy="585787"/>
          </a:xfrm>
        </p:spPr>
        <p:txBody>
          <a:bodyPr/>
          <a:lstStyle/>
          <a:p>
            <a:pPr>
              <a:buNone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  <a:latin typeface="+mj-lt"/>
              </a:rPr>
              <a:t>Network Virtualization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3837" y="1219200"/>
            <a:ext cx="643225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2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42" name="Picture 41" descr="Logo-Eucalyptus_Logo_two_word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152401"/>
            <a:ext cx="2819400" cy="847404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7989" y="1090613"/>
            <a:ext cx="7364411" cy="4799012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Network Virtualization</a:t>
            </a:r>
          </a:p>
          <a:p>
            <a:pPr>
              <a:buNone/>
            </a:pPr>
            <a:endParaRPr lang="en-US" dirty="0" smtClean="0">
              <a:latin typeface="Cambria" pitchFamily="18" charset="0"/>
            </a:endParaRPr>
          </a:p>
          <a:p>
            <a:r>
              <a:rPr lang="en-US" b="1" i="1" dirty="0" smtClean="0">
                <a:latin typeface="Cambria" pitchFamily="18" charset="0"/>
              </a:rPr>
              <a:t>Network architecture :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Bridge ( Virtual Switch )</a:t>
            </a:r>
            <a:r>
              <a:rPr lang="en-US" b="1" i="1" dirty="0" smtClean="0">
                <a:latin typeface="Cambria" pitchFamily="18" charset="0"/>
              </a:rPr>
              <a:t/>
            </a:r>
            <a:br>
              <a:rPr lang="en-US" b="1" i="1" dirty="0" smtClean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         Make virtual machines on one node share physical NICs.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DHCP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         Map virtual MAC addresses of VMs to private IPs in the LAN.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NAT</a:t>
            </a:r>
            <a:b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         Forward the packages to public network (WAN).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IP/MAC mapping table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        IP addresses are assigned by Eucalyptus. MAC addresses are assigned by hypervisor. This mapping table is maintained by Eucalyptus system.</a:t>
            </a:r>
            <a:r>
              <a:rPr lang="en-US" dirty="0">
                <a:latin typeface="Cambria" pitchFamily="18" charset="0"/>
              </a:rPr>
              <a:t/>
            </a:r>
            <a:br>
              <a:rPr lang="en-US" dirty="0">
                <a:latin typeface="Cambria" pitchFamily="18" charset="0"/>
              </a:rPr>
            </a:br>
            <a:r>
              <a:rPr lang="en-US" dirty="0" smtClean="0">
                <a:latin typeface="Cambria" pitchFamily="18" charset="0"/>
              </a:rPr>
              <a:t>   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IaaS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2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" name="Picture 5" descr="Logo-Eucalyptus_Logo_two_word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52401"/>
            <a:ext cx="2819400" cy="847404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56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: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latin typeface="Cambria" pitchFamily="18" charset="0"/>
              </a:rPr>
              <a:t>IaaS</a:t>
            </a:r>
            <a:r>
              <a:rPr lang="en-US" b="1" dirty="0" smtClean="0">
                <a:latin typeface="Cambria" pitchFamily="18" charset="0"/>
              </a:rPr>
              <a:t> is the deployment platform that abstract the infrastructure.</a:t>
            </a:r>
            <a:br>
              <a:rPr lang="en-US" b="1" dirty="0" smtClean="0">
                <a:latin typeface="Cambria" pitchFamily="18" charset="0"/>
              </a:rPr>
            </a:br>
            <a:endParaRPr lang="en-US" b="1" dirty="0" smtClean="0">
              <a:latin typeface="Cambria" pitchFamily="18" charset="0"/>
            </a:endParaRPr>
          </a:p>
          <a:p>
            <a:r>
              <a:rPr lang="en-US" dirty="0" smtClean="0">
                <a:latin typeface="Cambria" pitchFamily="18" charset="0"/>
              </a:rPr>
              <a:t>Enabling technique: </a:t>
            </a:r>
            <a:r>
              <a:rPr lang="en-US" i="1" dirty="0" smtClean="0">
                <a:latin typeface="Cambria" pitchFamily="18" charset="0"/>
              </a:rPr>
              <a:t>Virtualization</a:t>
            </a:r>
          </a:p>
          <a:p>
            <a:pPr lvl="1"/>
            <a:r>
              <a:rPr lang="en-US" i="1" dirty="0" smtClean="0">
                <a:solidFill>
                  <a:srgbClr val="336600"/>
                </a:solidFill>
                <a:latin typeface="Cambria" pitchFamily="18" charset="0"/>
              </a:rPr>
              <a:t>Server Virtualization</a:t>
            </a:r>
          </a:p>
          <a:p>
            <a:pPr lvl="1"/>
            <a:r>
              <a:rPr lang="en-US" i="1" dirty="0" smtClean="0">
                <a:solidFill>
                  <a:srgbClr val="336600"/>
                </a:solidFill>
                <a:latin typeface="Cambria" pitchFamily="18" charset="0"/>
              </a:rPr>
              <a:t>Storage Virtualization</a:t>
            </a:r>
          </a:p>
          <a:p>
            <a:pPr lvl="1"/>
            <a:r>
              <a:rPr lang="en-US" i="1" dirty="0" smtClean="0">
                <a:solidFill>
                  <a:srgbClr val="336600"/>
                </a:solidFill>
                <a:latin typeface="Cambria" pitchFamily="18" charset="0"/>
              </a:rPr>
              <a:t>Network Virtualization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endParaRPr lang="en-US" dirty="0" smtClean="0">
              <a:latin typeface="Cambria" pitchFamily="18" charset="0"/>
            </a:endParaRPr>
          </a:p>
          <a:p>
            <a:r>
              <a:rPr lang="en-US" dirty="0" smtClean="0">
                <a:latin typeface="Cambria" pitchFamily="18" charset="0"/>
              </a:rPr>
              <a:t>Exploit the virtualization technique to provide :</a:t>
            </a:r>
          </a:p>
          <a:p>
            <a:pPr lvl="1"/>
            <a:r>
              <a:rPr lang="en-US" i="1" dirty="0" smtClean="0">
                <a:solidFill>
                  <a:srgbClr val="336600"/>
                </a:solidFill>
                <a:latin typeface="Cambria" pitchFamily="18" charset="0"/>
              </a:rPr>
              <a:t>Manageability</a:t>
            </a:r>
          </a:p>
          <a:p>
            <a:pPr lvl="1"/>
            <a:r>
              <a:rPr lang="en-US" i="1" dirty="0" smtClean="0">
                <a:solidFill>
                  <a:srgbClr val="336600"/>
                </a:solidFill>
                <a:latin typeface="Cambria" pitchFamily="18" charset="0"/>
              </a:rPr>
              <a:t>Availability</a:t>
            </a:r>
          </a:p>
          <a:p>
            <a:pPr lvl="1"/>
            <a:r>
              <a:rPr lang="en-US" i="1" dirty="0" smtClean="0">
                <a:solidFill>
                  <a:srgbClr val="336600"/>
                </a:solidFill>
                <a:latin typeface="Cambria" pitchFamily="18" charset="0"/>
              </a:rPr>
              <a:t>Elasticity</a:t>
            </a:r>
          </a:p>
          <a:p>
            <a:pPr lvl="1"/>
            <a:r>
              <a:rPr lang="en-US" i="1" dirty="0" smtClean="0">
                <a:solidFill>
                  <a:srgbClr val="336600"/>
                </a:solidFill>
                <a:latin typeface="Cambria" pitchFamily="18" charset="0"/>
              </a:rPr>
              <a:t>Utilization improvement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endParaRPr lang="en-US" dirty="0" smtClean="0">
              <a:latin typeface="Cambria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57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hangingPunct="0">
              <a:spcBef>
                <a:spcPct val="20000"/>
              </a:spcBef>
            </a:pPr>
            <a:r>
              <a:rPr lang="en-US" altLang="zh-TW" dirty="0" err="1" smtClean="0"/>
              <a:t>PaaS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sz="2400" cap="none" dirty="0" smtClean="0">
                <a:solidFill>
                  <a:srgbClr val="000000"/>
                </a:solidFill>
                <a:ea typeface="+mn-ea"/>
                <a:cs typeface="+mn-cs"/>
              </a:rPr>
              <a:t>Platform as a Service</a:t>
            </a:r>
            <a:endParaRPr lang="zh-TW" altLang="en-US" sz="2400" cap="none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/>
            <a:r>
              <a:rPr lang="en-GB" altLang="zh-TW" sz="2800" b="1" i="1" dirty="0" smtClean="0">
                <a:solidFill>
                  <a:srgbClr val="7030A0"/>
                </a:solidFill>
                <a:latin typeface="Cambria" pitchFamily="18" charset="0"/>
              </a:rPr>
              <a:t>buy an empty house</a:t>
            </a:r>
            <a:endParaRPr lang="en-US" altLang="zh-TW" sz="2800" b="1" i="1" dirty="0" smtClean="0">
              <a:solidFill>
                <a:srgbClr val="7030A0"/>
              </a:solidFill>
              <a:latin typeface="Cambria" pitchFamily="18" charset="0"/>
            </a:endParaRPr>
          </a:p>
          <a:p>
            <a:endParaRPr lang="en-US" altLang="zh-TW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6400" y="2819400"/>
            <a:ext cx="6717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90613"/>
            <a:ext cx="8397875" cy="4799012"/>
          </a:xfrm>
        </p:spPr>
        <p:txBody>
          <a:bodyPr/>
          <a:lstStyle/>
          <a:p>
            <a:r>
              <a:rPr lang="en-GB" b="1" dirty="0" smtClean="0">
                <a:latin typeface="Cambria" pitchFamily="18" charset="0"/>
              </a:rPr>
              <a:t>Platform as a Service (</a:t>
            </a:r>
            <a:r>
              <a:rPr lang="en-GB" b="1" dirty="0" err="1" smtClean="0">
                <a:latin typeface="Cambria" pitchFamily="18" charset="0"/>
              </a:rPr>
              <a:t>PaaS</a:t>
            </a:r>
            <a:r>
              <a:rPr lang="en-GB" b="1" dirty="0" smtClean="0">
                <a:latin typeface="Cambria" pitchFamily="18" charset="0"/>
              </a:rPr>
              <a:t>) </a:t>
            </a:r>
            <a:r>
              <a:rPr lang="en-GB" dirty="0" smtClean="0">
                <a:latin typeface="Cambria" pitchFamily="18" charset="0"/>
              </a:rPr>
              <a:t>delivers a computing platform or middleware (built-in libraries) as a service, often consuming cloud infrastructure and sustaining cloud applications.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endParaRPr lang="en-US" dirty="0" smtClean="0">
              <a:latin typeface="Cambria" pitchFamily="18" charset="0"/>
            </a:endParaRPr>
          </a:p>
          <a:p>
            <a:r>
              <a:rPr lang="en-US" dirty="0" smtClean="0">
                <a:latin typeface="Cambria" pitchFamily="18" charset="0"/>
              </a:rPr>
              <a:t>Examples :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Google App Engine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Microsoft Azure</a:t>
            </a:r>
          </a:p>
          <a:p>
            <a:pPr lvl="1"/>
            <a:r>
              <a:rPr lang="en-US" dirty="0" err="1" smtClean="0">
                <a:latin typeface="Cambria" pitchFamily="18" charset="0"/>
              </a:rPr>
              <a:t>Hadoop</a:t>
            </a:r>
            <a:endParaRPr lang="en-US" dirty="0" smtClean="0">
              <a:latin typeface="Cambria" pitchFamily="18" charset="0"/>
            </a:endParaRPr>
          </a:p>
          <a:p>
            <a:pPr lvl="1"/>
            <a:r>
              <a:rPr lang="en-US" dirty="0" smtClean="0">
                <a:latin typeface="Cambria" pitchFamily="18" charset="0"/>
              </a:rPr>
              <a:t>etc</a:t>
            </a:r>
            <a:r>
              <a:rPr lang="en-US" altLang="zh-TW" dirty="0" smtClean="0">
                <a:latin typeface="Cambria" pitchFamily="18" charset="0"/>
              </a:rPr>
              <a:t>.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Platform as a Service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59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PaaS</a:t>
            </a:r>
            <a:r>
              <a:rPr lang="en-US" altLang="zh-TW" dirty="0" smtClean="0"/>
              <a:t> : Enabling </a:t>
            </a:r>
            <a:r>
              <a:rPr lang="en-US" altLang="zh-TW" dirty="0" smtClean="0"/>
              <a:t>Techniques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7988" y="1066800"/>
            <a:ext cx="8397875" cy="5233987"/>
          </a:xfrm>
        </p:spPr>
        <p:txBody>
          <a:bodyPr>
            <a:normAutofit fontScale="92500" lnSpcReduction="20000"/>
          </a:bodyPr>
          <a:lstStyle/>
          <a:p>
            <a:pPr marL="0">
              <a:buNone/>
            </a:pPr>
            <a:r>
              <a:rPr lang="en-US" altLang="zh-TW" sz="2600" b="1" i="1" kern="1200" dirty="0" smtClean="0">
                <a:solidFill>
                  <a:schemeClr val="bg2">
                    <a:lumMod val="50000"/>
                  </a:schemeClr>
                </a:solidFill>
                <a:ea typeface="新細明體" pitchFamily="18" charset="-120"/>
              </a:rPr>
              <a:t>Runtime environment refers to </a:t>
            </a:r>
            <a:r>
              <a:rPr lang="en-GB" altLang="zh-TW" sz="2600" b="1" i="1" kern="1200" dirty="0" smtClean="0">
                <a:solidFill>
                  <a:schemeClr val="bg2">
                    <a:lumMod val="50000"/>
                  </a:schemeClr>
                </a:solidFill>
                <a:ea typeface="新細明體" pitchFamily="18" charset="-120"/>
              </a:rPr>
              <a:t>collection of software services available. Usually implemented by a collection of program libraries.</a:t>
            </a:r>
          </a:p>
          <a:p>
            <a:pPr marL="0">
              <a:buNone/>
            </a:pPr>
            <a:endParaRPr lang="en-US" altLang="zh-TW" sz="1500" b="1" dirty="0" smtClean="0">
              <a:latin typeface="Cambria" pitchFamily="18" charset="0"/>
            </a:endParaRPr>
          </a:p>
          <a:p>
            <a:r>
              <a:rPr lang="en-US" altLang="zh-TW" sz="2200" b="1" dirty="0" smtClean="0">
                <a:latin typeface="Cambria" pitchFamily="18" charset="0"/>
              </a:rPr>
              <a:t>Dynamic Provisioning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Perform resource allocation and de-allocation defined by workflows or policies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On-demand resource provisioning</a:t>
            </a:r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sz="2200" b="1" dirty="0" smtClean="0">
                <a:latin typeface="Cambria" pitchFamily="18" charset="0"/>
              </a:rPr>
              <a:t>Load Balancing</a:t>
            </a:r>
          </a:p>
          <a:p>
            <a:pPr lvl="1"/>
            <a:r>
              <a:rPr lang="en-GB" altLang="zh-TW" sz="1900" dirty="0" smtClean="0">
                <a:latin typeface="Cambria" pitchFamily="18" charset="0"/>
              </a:rPr>
              <a:t>A technique to distribute workload evenly across two or more resources</a:t>
            </a:r>
          </a:p>
          <a:p>
            <a:pPr lvl="1"/>
            <a:r>
              <a:rPr lang="en-GB" altLang="zh-TW" sz="1900" dirty="0" smtClean="0">
                <a:latin typeface="Cambria" pitchFamily="18" charset="0"/>
              </a:rPr>
              <a:t>In order to get optimal resource utilization, maximize throughput, minimize response time, and avoid overload</a:t>
            </a:r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sz="2200" b="1" dirty="0" smtClean="0">
                <a:latin typeface="Cambria" pitchFamily="18" charset="0"/>
              </a:rPr>
              <a:t>Fault Tolerance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The property that enables a system to continue operating properly in the presence of failures of some components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Particularly sought-after in high-availability</a:t>
            </a:r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sz="2200" b="1" dirty="0" smtClean="0">
                <a:latin typeface="Cambria" pitchFamily="18" charset="0"/>
              </a:rPr>
              <a:t>Resource Monitoring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A process within a distributed system for collecting and storing state data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Measuring adherence to performance service level agreements (SLAs)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PaaS</a:t>
            </a:r>
            <a:r>
              <a:rPr lang="en-US" altLang="zh-TW" dirty="0"/>
              <a:t> : </a:t>
            </a:r>
            <a:r>
              <a:rPr lang="en-US" altLang="zh-TW" dirty="0" smtClean="0"/>
              <a:t>Provide </a:t>
            </a:r>
            <a:r>
              <a:rPr lang="en-US" altLang="zh-TW" dirty="0" smtClean="0"/>
              <a:t>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219200"/>
            <a:ext cx="8397875" cy="5029200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Programming IDE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Development Tools</a:t>
            </a:r>
            <a:r>
              <a:rPr lang="en-US" altLang="zh-TW" b="1" dirty="0" smtClean="0">
                <a:latin typeface="Cambria" pitchFamily="18" charset="0"/>
              </a:rPr>
              <a:t>: </a:t>
            </a:r>
            <a:r>
              <a:rPr lang="en-US" altLang="zh-TW" dirty="0" smtClean="0">
                <a:latin typeface="Cambria" pitchFamily="18" charset="0"/>
              </a:rPr>
              <a:t>users make use of software tools integrated of programming IDE to develop their services among </a:t>
            </a:r>
            <a:r>
              <a:rPr lang="en-US" altLang="zh-TW" dirty="0" err="1" smtClean="0">
                <a:latin typeface="Cambria" pitchFamily="18" charset="0"/>
              </a:rPr>
              <a:t>PaaS</a:t>
            </a:r>
            <a:r>
              <a:rPr lang="en-US" altLang="zh-TW" dirty="0" smtClean="0">
                <a:latin typeface="Cambria" pitchFamily="18" charset="0"/>
              </a:rPr>
              <a:t>, e.g., profiler, debugger and testing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Programming APIs</a:t>
            </a:r>
            <a:r>
              <a:rPr lang="en-US" altLang="zh-TW" b="1" dirty="0" smtClean="0">
                <a:latin typeface="Cambria" pitchFamily="18" charset="0"/>
              </a:rPr>
              <a:t>: </a:t>
            </a:r>
            <a:r>
              <a:rPr lang="en-US" altLang="zh-TW" dirty="0" smtClean="0">
                <a:latin typeface="Cambria" pitchFamily="18" charset="0"/>
              </a:rPr>
              <a:t>supporting some common operating functions from runtime environment, e.g., computation, storage and communication operations</a:t>
            </a:r>
          </a:p>
          <a:p>
            <a:pPr lvl="0"/>
            <a:endParaRPr lang="en-US" altLang="zh-TW" sz="2200" b="1" dirty="0" smtClean="0">
              <a:latin typeface="Cambria" pitchFamily="18" charset="0"/>
            </a:endParaRPr>
          </a:p>
          <a:p>
            <a:r>
              <a:rPr lang="en-US" altLang="zh-TW" b="1" dirty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System Control Interface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Police-based Control</a:t>
            </a:r>
            <a:r>
              <a:rPr lang="en-US" altLang="zh-TW" b="1" dirty="0" smtClean="0">
                <a:latin typeface="Cambria" pitchFamily="18" charset="0"/>
              </a:rPr>
              <a:t>:</a:t>
            </a:r>
            <a:r>
              <a:rPr lang="en-US" altLang="zh-TW" dirty="0" smtClean="0">
                <a:latin typeface="Cambria" pitchFamily="18" charset="0"/>
              </a:rPr>
              <a:t> typically described as a principle or rule to guide decisions and achieve rational outcomes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Workflow Control</a:t>
            </a:r>
            <a:r>
              <a:rPr lang="en-US" altLang="zh-TW" b="1" dirty="0" smtClean="0">
                <a:latin typeface="Cambria" pitchFamily="18" charset="0"/>
              </a:rPr>
              <a:t>: </a:t>
            </a:r>
            <a:r>
              <a:rPr lang="en-US" altLang="zh-TW" dirty="0" smtClean="0">
                <a:latin typeface="Cambria" pitchFamily="18" charset="0"/>
              </a:rPr>
              <a:t>d</a:t>
            </a:r>
            <a:r>
              <a:rPr lang="en-US" altLang="zh-TW" dirty="0" smtClean="0">
                <a:latin typeface="Cambria" pitchFamily="18" charset="0"/>
                <a:ea typeface="+mn-ea"/>
                <a:cs typeface="+mn-cs"/>
              </a:rPr>
              <a:t>escribe the flow of installation and configuration of resources to deliver the speedy and efficient construction and management of cloud resources</a:t>
            </a:r>
          </a:p>
          <a:p>
            <a:pPr lvl="0"/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61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6757" y="3200400"/>
            <a:ext cx="4149643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&amp; Characteristics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Scalability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Provide scale-out capability to deal with a huge amount of computation and data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Availability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Provide the ability of failure tolerance to prevent the downtime of runtime environment from machine or disk fail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Manageability 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Provide mechanisms for the system to automatically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monitor itself and transparently manage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the environment for users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Performance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Provide the capability of parallel and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distributed processing with efficient job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scheduling and load balancing</a:t>
            </a:r>
          </a:p>
          <a:p>
            <a:endParaRPr lang="zh-TW" altLang="en-US" dirty="0">
              <a:latin typeface="Cambria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62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intergrund"/>
          <p:cNvPicPr>
            <a:picLocks noChangeAspect="1" noChangeArrowheads="1"/>
          </p:cNvPicPr>
          <p:nvPr/>
        </p:nvPicPr>
        <p:blipFill>
          <a:blip r:embed="rId2" cstate="print"/>
          <a:srcRect b="7220"/>
          <a:stretch>
            <a:fillRect/>
          </a:stretch>
        </p:blipFill>
        <p:spPr bwMode="auto">
          <a:xfrm>
            <a:off x="0" y="0"/>
            <a:ext cx="9144000" cy="636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PaaS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Breakdown the technique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63</a:t>
            </a:fld>
            <a:endParaRPr lang="zh-TW" altLang="en-US" dirty="0"/>
          </a:p>
        </p:txBody>
      </p:sp>
      <p:pic>
        <p:nvPicPr>
          <p:cNvPr id="9" name="Picture 4" descr="C:\Users\5g\AppData\Local\Microsoft\Windows\Temporary Internet Files\Content.IE5\8HKFLZ3Q\MC90007875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3886200" y="1323975"/>
            <a:ext cx="2743201" cy="2562225"/>
          </a:xfrm>
          <a:prstGeom prst="rect">
            <a:avLst/>
          </a:prstGeom>
          <a:noFill/>
          <a:effectLst>
            <a:reflection blurRad="6350" stA="50000" endA="300" endPos="90000" dist="50800" dir="5400000" sy="-100000" algn="bl" rotWithShape="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66813"/>
            <a:ext cx="8610600" cy="890587"/>
          </a:xfrm>
        </p:spPr>
        <p:txBody>
          <a:bodyPr/>
          <a:lstStyle/>
          <a:p>
            <a:r>
              <a:rPr lang="en-GB" dirty="0" smtClean="0">
                <a:latin typeface="Cambria" pitchFamily="18" charset="0"/>
              </a:rPr>
              <a:t>Google is one of the main </a:t>
            </a:r>
            <a:r>
              <a:rPr lang="en-GB" dirty="0" err="1" smtClean="0">
                <a:latin typeface="Cambria" pitchFamily="18" charset="0"/>
              </a:rPr>
              <a:t>PaaS</a:t>
            </a:r>
            <a:r>
              <a:rPr lang="en-GB" dirty="0" smtClean="0">
                <a:latin typeface="Cambria" pitchFamily="18" charset="0"/>
              </a:rPr>
              <a:t> providers, and has published some techniques.</a:t>
            </a:r>
          </a:p>
          <a:p>
            <a:r>
              <a:rPr lang="en-GB" dirty="0" smtClean="0">
                <a:latin typeface="Cambria" pitchFamily="18" charset="0"/>
              </a:rPr>
              <a:t>There some famous open source projects implement Google’s papers.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Google vs. Open Source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46346"/>
            <a:ext cx="7010400" cy="427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1</a:t>
            </a:r>
          </a:p>
        </p:txBody>
      </p:sp>
      <p:pic>
        <p:nvPicPr>
          <p:cNvPr id="5" name="Picture 4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852613"/>
            <a:ext cx="8397875" cy="585787"/>
          </a:xfrm>
        </p:spPr>
        <p:txBody>
          <a:bodyPr/>
          <a:lstStyle/>
          <a:p>
            <a:pPr algn="ctr">
              <a:buNone/>
            </a:pPr>
            <a:r>
              <a:rPr lang="en-US" sz="2800" b="1" dirty="0" err="1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PaaS</a:t>
            </a:r>
            <a:r>
              <a:rPr lang="en-US" sz="2800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 Architecture of </a:t>
            </a:r>
            <a:r>
              <a:rPr lang="en-US" sz="2800" b="1" dirty="0" err="1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Hadoop</a:t>
            </a:r>
            <a:endParaRPr lang="en-US" sz="2800" b="1" dirty="0" smtClean="0">
              <a:solidFill>
                <a:schemeClr val="bg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07988" y="1066800"/>
            <a:ext cx="8397875" cy="81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Hadoop</a:t>
            </a:r>
            <a:r>
              <a:rPr kumimoji="0" lang="en-GB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is a Java software framework that supports data-intensive distributed applications under a free license.</a:t>
            </a:r>
            <a:endParaRPr kumimoji="0" lang="en-US" sz="2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8400" y="2340000"/>
            <a:ext cx="6868800" cy="40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5" name="Picture 4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7988" y="1066800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sz="2400" b="1" i="1" dirty="0" err="1" smtClean="0">
                <a:solidFill>
                  <a:schemeClr val="bg2">
                    <a:lumMod val="75000"/>
                  </a:schemeClr>
                </a:solidFill>
              </a:rPr>
              <a:t>Hadoop</a:t>
            </a: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 Distributed File System (HDFS)</a:t>
            </a:r>
          </a:p>
        </p:txBody>
      </p:sp>
      <p:pic>
        <p:nvPicPr>
          <p:cNvPr id="7" name="Picture 6" descr="hdfsarchitecture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02482" y="1681160"/>
            <a:ext cx="6608886" cy="4567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6508118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5" name="Picture 4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407989" y="1066800"/>
            <a:ext cx="8431211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>
              <a:buNone/>
              <a:defRPr/>
            </a:pPr>
            <a:r>
              <a:rPr lang="en-US" sz="2400" b="1" i="1" dirty="0" err="1" smtClean="0">
                <a:solidFill>
                  <a:schemeClr val="bg2">
                    <a:lumMod val="75000"/>
                  </a:schemeClr>
                </a:solidFill>
              </a:rPr>
              <a:t>Hadoop</a:t>
            </a: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 Distributed File System (HDFS)</a:t>
            </a:r>
          </a:p>
          <a:p>
            <a:pPr marL="190500" marR="0" lvl="0" indent="-1905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r>
              <a:rPr lang="en-US" b="1" i="1" dirty="0" smtClean="0">
                <a:latin typeface="Cambria" pitchFamily="18" charset="0"/>
              </a:rPr>
              <a:t>HDFS architecture :</a:t>
            </a:r>
          </a:p>
          <a:p>
            <a:pPr lvl="1"/>
            <a:r>
              <a:rPr lang="en-US" b="1" dirty="0" err="1" smtClean="0">
                <a:solidFill>
                  <a:srgbClr val="C00000"/>
                </a:solidFill>
                <a:latin typeface="Cambria" pitchFamily="18" charset="0"/>
              </a:rPr>
              <a:t>NameNode</a:t>
            </a:r>
            <a:endParaRPr lang="en-US" b="1" dirty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 smtClean="0">
                <a:latin typeface="Cambria" pitchFamily="18" charset="0"/>
              </a:rPr>
              <a:t>Manages </a:t>
            </a:r>
            <a:r>
              <a:rPr lang="en-US" dirty="0">
                <a:latin typeface="Cambria" pitchFamily="18" charset="0"/>
              </a:rPr>
              <a:t>the file system </a:t>
            </a:r>
            <a:r>
              <a:rPr lang="en-US" dirty="0" smtClean="0">
                <a:latin typeface="Cambria" pitchFamily="18" charset="0"/>
              </a:rPr>
              <a:t>namespace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Executes </a:t>
            </a:r>
            <a:r>
              <a:rPr lang="en-US" dirty="0">
                <a:latin typeface="Cambria" pitchFamily="18" charset="0"/>
              </a:rPr>
              <a:t>file system namespace operations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Regulates </a:t>
            </a:r>
            <a:r>
              <a:rPr lang="en-US" dirty="0">
                <a:latin typeface="Cambria" pitchFamily="18" charset="0"/>
              </a:rPr>
              <a:t>access to files by </a:t>
            </a:r>
            <a:r>
              <a:rPr lang="en-US" dirty="0" smtClean="0">
                <a:latin typeface="Cambria" pitchFamily="18" charset="0"/>
              </a:rPr>
              <a:t>clients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Determines </a:t>
            </a:r>
            <a:r>
              <a:rPr lang="en-US" dirty="0">
                <a:latin typeface="Cambria" pitchFamily="18" charset="0"/>
              </a:rPr>
              <a:t>the mapping of blocks to </a:t>
            </a:r>
            <a:r>
              <a:rPr lang="en-US" dirty="0" err="1">
                <a:latin typeface="Cambria" pitchFamily="18" charset="0"/>
              </a:rPr>
              <a:t>DataNodes</a:t>
            </a:r>
            <a:endParaRPr lang="en-US" dirty="0">
              <a:latin typeface="Cambria" pitchFamily="18" charset="0"/>
            </a:endParaRPr>
          </a:p>
          <a:p>
            <a:pPr lvl="2"/>
            <a:endParaRPr lang="en-US" dirty="0">
              <a:latin typeface="Cambria" pitchFamily="18" charset="0"/>
            </a:endParaRPr>
          </a:p>
          <a:p>
            <a:pPr lvl="1"/>
            <a:r>
              <a:rPr lang="en-US" b="1" dirty="0" err="1" smtClean="0">
                <a:solidFill>
                  <a:srgbClr val="C00000"/>
                </a:solidFill>
                <a:latin typeface="Cambria" pitchFamily="18" charset="0"/>
              </a:rPr>
              <a:t>DataNodes</a:t>
            </a:r>
            <a:endParaRPr lang="en-US" b="1" dirty="0" smtClean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>
                <a:latin typeface="Cambria" pitchFamily="18" charset="0"/>
              </a:rPr>
              <a:t>Manage storage attached to the nodes that they run on</a:t>
            </a:r>
          </a:p>
          <a:p>
            <a:pPr lvl="2"/>
            <a:r>
              <a:rPr lang="en-US" dirty="0">
                <a:latin typeface="Cambria" pitchFamily="18" charset="0"/>
              </a:rPr>
              <a:t>Serve read and write requests from the file system’s clients</a:t>
            </a:r>
          </a:p>
          <a:p>
            <a:pPr lvl="2"/>
            <a:r>
              <a:rPr lang="en-US" dirty="0">
                <a:latin typeface="Cambria" pitchFamily="18" charset="0"/>
              </a:rPr>
              <a:t>Perform block creation, deletion, and </a:t>
            </a:r>
            <a:r>
              <a:rPr lang="en-US" dirty="0" smtClean="0">
                <a:latin typeface="Cambria" pitchFamily="18" charset="0"/>
              </a:rPr>
              <a:t>replication</a:t>
            </a:r>
            <a:endParaRPr lang="en-US" dirty="0">
              <a:latin typeface="Cambria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404432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" name="Picture 5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07988" y="1066800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400" b="1" i="1" dirty="0" err="1" smtClean="0">
                <a:solidFill>
                  <a:schemeClr val="bg2">
                    <a:lumMod val="75000"/>
                  </a:schemeClr>
                </a:solidFill>
              </a:rPr>
              <a:t>Hadoop</a:t>
            </a: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2400" b="1" i="1" dirty="0" err="1" smtClean="0">
                <a:solidFill>
                  <a:schemeClr val="bg2">
                    <a:lumMod val="75000"/>
                  </a:schemeClr>
                </a:solidFill>
              </a:rPr>
              <a:t>MapReduce</a:t>
            </a:r>
            <a:endParaRPr lang="en-US" sz="2400" b="1" i="1" dirty="0" smtClean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2" y="1552354"/>
            <a:ext cx="5791198" cy="471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407988" y="1066800"/>
            <a:ext cx="839787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400" b="1" i="1" kern="1200" dirty="0" err="1" smtClean="0">
                <a:solidFill>
                  <a:schemeClr val="bg2">
                    <a:lumMod val="75000"/>
                  </a:schemeClr>
                </a:solidFill>
              </a:rPr>
              <a:t>Hadoop</a:t>
            </a:r>
            <a:r>
              <a:rPr lang="en-US" sz="2400" b="1" i="1" kern="1200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2400" b="1" i="1" kern="1200" dirty="0" err="1" smtClean="0">
                <a:solidFill>
                  <a:schemeClr val="bg2">
                    <a:lumMod val="75000"/>
                  </a:schemeClr>
                </a:solidFill>
              </a:rPr>
              <a:t>MapReduce</a:t>
            </a:r>
            <a:endParaRPr lang="en-US" sz="2400" b="1" i="1" kern="12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190500" marR="0" lvl="0" indent="-1905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r>
              <a:rPr lang="en-US" b="1" i="1" dirty="0" err="1" smtClean="0">
                <a:latin typeface="Cambria" pitchFamily="18" charset="0"/>
              </a:rPr>
              <a:t>Hadoop</a:t>
            </a:r>
            <a:r>
              <a:rPr lang="en-US" b="1" i="1" dirty="0" smtClean="0">
                <a:latin typeface="Cambria" pitchFamily="18" charset="0"/>
              </a:rPr>
              <a:t> </a:t>
            </a:r>
            <a:r>
              <a:rPr lang="en-US" b="1" i="1" dirty="0" err="1" smtClean="0">
                <a:latin typeface="Cambria" pitchFamily="18" charset="0"/>
              </a:rPr>
              <a:t>MapReduce</a:t>
            </a:r>
            <a:r>
              <a:rPr lang="en-US" b="1" i="1" dirty="0" smtClean="0">
                <a:latin typeface="Cambria" pitchFamily="18" charset="0"/>
              </a:rPr>
              <a:t> roles :</a:t>
            </a:r>
          </a:p>
          <a:p>
            <a:pPr lvl="1"/>
            <a:r>
              <a:rPr lang="en-US" b="1" dirty="0" err="1" smtClean="0">
                <a:solidFill>
                  <a:srgbClr val="C00000"/>
                </a:solidFill>
                <a:latin typeface="Cambria" pitchFamily="18" charset="0"/>
              </a:rPr>
              <a:t>JobTracker</a:t>
            </a:r>
            <a:endParaRPr lang="en-US" b="1" dirty="0" smtClean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 smtClean="0">
                <a:latin typeface="Cambria" pitchFamily="18" charset="0"/>
              </a:rPr>
              <a:t>Runs </a:t>
            </a:r>
            <a:r>
              <a:rPr lang="en-US" dirty="0">
                <a:latin typeface="Cambria" pitchFamily="18" charset="0"/>
              </a:rPr>
              <a:t>on Master </a:t>
            </a:r>
            <a:r>
              <a:rPr lang="en-US" dirty="0" smtClean="0">
                <a:latin typeface="Cambria" pitchFamily="18" charset="0"/>
              </a:rPr>
              <a:t>node, and accepts </a:t>
            </a:r>
            <a:r>
              <a:rPr lang="en-US" dirty="0">
                <a:latin typeface="Cambria" pitchFamily="18" charset="0"/>
              </a:rPr>
              <a:t>Job requests from </a:t>
            </a:r>
            <a:r>
              <a:rPr lang="en-US" dirty="0" smtClean="0">
                <a:latin typeface="Cambria" pitchFamily="18" charset="0"/>
              </a:rPr>
              <a:t>clients.</a:t>
            </a:r>
          </a:p>
          <a:p>
            <a:pPr lvl="1"/>
            <a:r>
              <a:rPr lang="en-US" b="1" dirty="0" err="1" smtClean="0">
                <a:solidFill>
                  <a:srgbClr val="C00000"/>
                </a:solidFill>
                <a:latin typeface="Cambria" pitchFamily="18" charset="0"/>
              </a:rPr>
              <a:t>TaskTrackers</a:t>
            </a:r>
            <a:endParaRPr lang="en-US" b="1" dirty="0" smtClean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>
                <a:latin typeface="Cambria" pitchFamily="18" charset="0"/>
              </a:rPr>
              <a:t>Run on slave </a:t>
            </a:r>
            <a:r>
              <a:rPr lang="en-US" dirty="0" smtClean="0">
                <a:latin typeface="Cambria" pitchFamily="18" charset="0"/>
              </a:rPr>
              <a:t>nodes, and fork </a:t>
            </a:r>
            <a:r>
              <a:rPr lang="en-US" dirty="0">
                <a:latin typeface="Cambria" pitchFamily="18" charset="0"/>
              </a:rPr>
              <a:t>separate Java process for task </a:t>
            </a:r>
            <a:r>
              <a:rPr lang="en-US" dirty="0" smtClean="0">
                <a:latin typeface="Cambria" pitchFamily="18" charset="0"/>
              </a:rPr>
              <a:t>instances.</a:t>
            </a:r>
            <a:br>
              <a:rPr lang="en-US" dirty="0" smtClean="0">
                <a:latin typeface="Cambria" pitchFamily="18" charset="0"/>
              </a:rPr>
            </a:br>
            <a:endParaRPr lang="en-US" sz="1000" dirty="0" smtClean="0">
              <a:latin typeface="Cambria" pitchFamily="18" charset="0"/>
            </a:endParaRPr>
          </a:p>
          <a:p>
            <a:r>
              <a:rPr lang="en-US" b="1" i="1" dirty="0" smtClean="0">
                <a:latin typeface="Cambria" pitchFamily="18" charset="0"/>
              </a:rPr>
              <a:t>Dynamic provisioning :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Scale up and down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Number of </a:t>
            </a:r>
            <a:r>
              <a:rPr lang="en-US" dirty="0" err="1" smtClean="0">
                <a:latin typeface="Cambria" pitchFamily="18" charset="0"/>
              </a:rPr>
              <a:t>TaskTrackers</a:t>
            </a:r>
            <a:r>
              <a:rPr lang="en-US" dirty="0" smtClean="0">
                <a:latin typeface="Cambria" pitchFamily="18" charset="0"/>
              </a:rPr>
              <a:t> can be changed when running </a:t>
            </a:r>
            <a:r>
              <a:rPr lang="en-US" dirty="0" err="1" smtClean="0">
                <a:latin typeface="Cambria" pitchFamily="18" charset="0"/>
              </a:rPr>
              <a:t>MapReduce</a:t>
            </a:r>
            <a:r>
              <a:rPr lang="en-US" dirty="0" smtClean="0">
                <a:latin typeface="Cambria" pitchFamily="18" charset="0"/>
              </a:rPr>
              <a:t> jobs.</a:t>
            </a:r>
            <a:br>
              <a:rPr lang="en-US" dirty="0" smtClean="0">
                <a:latin typeface="Cambria" pitchFamily="18" charset="0"/>
              </a:rPr>
            </a:br>
            <a:endParaRPr lang="en-US" sz="900" dirty="0" smtClean="0">
              <a:latin typeface="Cambria" pitchFamily="18" charset="0"/>
            </a:endParaRPr>
          </a:p>
          <a:p>
            <a:r>
              <a:rPr lang="en-US" b="1" i="1" dirty="0" smtClean="0">
                <a:latin typeface="Cambria" pitchFamily="18" charset="0"/>
              </a:rPr>
              <a:t>Fault tolerance :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Sub-Job Resubmitting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When Task Tracker fail to work well, Job Tracker will resubmit the corresponding sub-job.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" name="Picture 5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69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5" name="Picture 4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7988" y="1066800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HDFS w/ </a:t>
            </a:r>
            <a:r>
              <a:rPr lang="en-US" sz="2400" b="1" i="1" dirty="0" err="1" smtClean="0">
                <a:solidFill>
                  <a:schemeClr val="bg2">
                    <a:lumMod val="75000"/>
                  </a:schemeClr>
                </a:solidFill>
              </a:rPr>
              <a:t>MapReduce</a:t>
            </a:r>
            <a:endParaRPr lang="en-US" sz="2400" b="1" i="1" dirty="0" smtClean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7" name="Rectangle 6"/>
          <p:cNvSpPr>
            <a:spLocks noChangeArrowheads="1"/>
          </p:cNvSpPr>
          <p:nvPr/>
        </p:nvSpPr>
        <p:spPr bwMode="auto">
          <a:xfrm>
            <a:off x="2145306" y="2054995"/>
            <a:ext cx="4987053" cy="1544718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4748877" y="2262315"/>
            <a:ext cx="2249374" cy="105445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9" name="Rectangle 6"/>
          <p:cNvSpPr>
            <a:spLocks noChangeArrowheads="1"/>
          </p:cNvSpPr>
          <p:nvPr/>
        </p:nvSpPr>
        <p:spPr bwMode="auto">
          <a:xfrm>
            <a:off x="2348581" y="2262315"/>
            <a:ext cx="2249374" cy="105445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0" name="Rectangle 6"/>
          <p:cNvSpPr>
            <a:spLocks noChangeArrowheads="1"/>
          </p:cNvSpPr>
          <p:nvPr/>
        </p:nvSpPr>
        <p:spPr bwMode="auto">
          <a:xfrm>
            <a:off x="3559783" y="3843990"/>
            <a:ext cx="2249374" cy="184528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1" name="Rectangle 6"/>
          <p:cNvSpPr>
            <a:spLocks noChangeArrowheads="1"/>
          </p:cNvSpPr>
          <p:nvPr/>
        </p:nvSpPr>
        <p:spPr bwMode="auto">
          <a:xfrm>
            <a:off x="5895672" y="3843990"/>
            <a:ext cx="2249374" cy="184528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2" name="Rectangle 6"/>
          <p:cNvSpPr>
            <a:spLocks noChangeArrowheads="1"/>
          </p:cNvSpPr>
          <p:nvPr/>
        </p:nvSpPr>
        <p:spPr bwMode="auto">
          <a:xfrm>
            <a:off x="1223894" y="3843990"/>
            <a:ext cx="2249374" cy="1845287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73" name="Straight Arrow Connector 53"/>
          <p:cNvCxnSpPr>
            <a:cxnSpLocks noChangeShapeType="1"/>
            <a:stCxn id="117" idx="2"/>
            <a:endCxn id="80" idx="0"/>
          </p:cNvCxnSpPr>
          <p:nvPr/>
        </p:nvCxnSpPr>
        <p:spPr bwMode="auto">
          <a:xfrm rot="5400000">
            <a:off x="2251894" y="3237711"/>
            <a:ext cx="1318062" cy="112468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4" name="Straight Arrow Connector 53"/>
          <p:cNvCxnSpPr>
            <a:cxnSpLocks noChangeShapeType="1"/>
            <a:stCxn id="117" idx="2"/>
            <a:endCxn id="92" idx="0"/>
          </p:cNvCxnSpPr>
          <p:nvPr/>
        </p:nvCxnSpPr>
        <p:spPr bwMode="auto">
          <a:xfrm rot="16200000" flipH="1">
            <a:off x="3419838" y="3194453"/>
            <a:ext cx="1318062" cy="121120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5" name="Straight Arrow Connector 53"/>
          <p:cNvCxnSpPr>
            <a:cxnSpLocks noChangeShapeType="1"/>
            <a:stCxn id="117" idx="2"/>
            <a:endCxn id="104" idx="0"/>
          </p:cNvCxnSpPr>
          <p:nvPr/>
        </p:nvCxnSpPr>
        <p:spPr bwMode="auto">
          <a:xfrm rot="16200000" flipH="1">
            <a:off x="4587782" y="2026509"/>
            <a:ext cx="1318062" cy="354709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6" name="Straight Arrow Connector 53"/>
          <p:cNvCxnSpPr>
            <a:cxnSpLocks noChangeShapeType="1"/>
            <a:endCxn id="89" idx="0"/>
          </p:cNvCxnSpPr>
          <p:nvPr/>
        </p:nvCxnSpPr>
        <p:spPr bwMode="auto">
          <a:xfrm rot="5400000">
            <a:off x="3660665" y="1806832"/>
            <a:ext cx="878708" cy="354709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7" name="Straight Arrow Connector 53"/>
          <p:cNvCxnSpPr>
            <a:cxnSpLocks noChangeShapeType="1"/>
            <a:endCxn id="101" idx="0"/>
          </p:cNvCxnSpPr>
          <p:nvPr/>
        </p:nvCxnSpPr>
        <p:spPr bwMode="auto">
          <a:xfrm rot="5400000">
            <a:off x="4828609" y="2974776"/>
            <a:ext cx="878708" cy="121120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8" name="Straight Arrow Connector 53"/>
          <p:cNvCxnSpPr>
            <a:cxnSpLocks noChangeShapeType="1"/>
            <a:endCxn id="113" idx="0"/>
          </p:cNvCxnSpPr>
          <p:nvPr/>
        </p:nvCxnSpPr>
        <p:spPr bwMode="auto">
          <a:xfrm rot="16200000" flipH="1">
            <a:off x="5996553" y="3018034"/>
            <a:ext cx="878708" cy="112468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ysDash"/>
            <a:headEnd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9" name="Rectangle 6"/>
          <p:cNvSpPr>
            <a:spLocks noChangeArrowheads="1"/>
          </p:cNvSpPr>
          <p:nvPr/>
        </p:nvSpPr>
        <p:spPr bwMode="auto">
          <a:xfrm>
            <a:off x="1396923" y="4459085"/>
            <a:ext cx="1903317" cy="702967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396923" y="4459085"/>
            <a:ext cx="1903317" cy="351483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81" name="Rectangle 35"/>
          <p:cNvSpPr>
            <a:spLocks noChangeArrowheads="1"/>
          </p:cNvSpPr>
          <p:nvPr/>
        </p:nvSpPr>
        <p:spPr bwMode="auto">
          <a:xfrm>
            <a:off x="1396923" y="4810569"/>
            <a:ext cx="1903317" cy="351483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Linux file system</a:t>
            </a:r>
          </a:p>
        </p:txBody>
      </p:sp>
      <p:sp>
        <p:nvSpPr>
          <p:cNvPr id="82" name="Flowchart: Magnetic Disk 36"/>
          <p:cNvSpPr>
            <a:spLocks noChangeArrowheads="1"/>
          </p:cNvSpPr>
          <p:nvPr/>
        </p:nvSpPr>
        <p:spPr bwMode="auto">
          <a:xfrm>
            <a:off x="1703813" y="524992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Flowchart: Magnetic Disk 37"/>
          <p:cNvSpPr>
            <a:spLocks noChangeArrowheads="1"/>
          </p:cNvSpPr>
          <p:nvPr/>
        </p:nvSpPr>
        <p:spPr bwMode="auto">
          <a:xfrm>
            <a:off x="2309414" y="524992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84" name="Straight Connector 38"/>
          <p:cNvCxnSpPr>
            <a:cxnSpLocks noChangeShapeType="1"/>
          </p:cNvCxnSpPr>
          <p:nvPr/>
        </p:nvCxnSpPr>
        <p:spPr bwMode="auto">
          <a:xfrm rot="5400000">
            <a:off x="1398979" y="5293887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5" name="Straight Connector 39"/>
          <p:cNvCxnSpPr>
            <a:cxnSpLocks noChangeShapeType="1"/>
            <a:endCxn id="82" idx="2"/>
          </p:cNvCxnSpPr>
          <p:nvPr/>
        </p:nvCxnSpPr>
        <p:spPr bwMode="auto">
          <a:xfrm>
            <a:off x="1530784" y="5425665"/>
            <a:ext cx="173029" cy="183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6" name="Straight Connector 40"/>
          <p:cNvCxnSpPr>
            <a:cxnSpLocks noChangeShapeType="1"/>
          </p:cNvCxnSpPr>
          <p:nvPr/>
        </p:nvCxnSpPr>
        <p:spPr bwMode="auto">
          <a:xfrm rot="5400000">
            <a:off x="2004580" y="5292056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87" name="Straight Connector 41"/>
          <p:cNvCxnSpPr>
            <a:cxnSpLocks noChangeShapeType="1"/>
          </p:cNvCxnSpPr>
          <p:nvPr/>
        </p:nvCxnSpPr>
        <p:spPr bwMode="auto">
          <a:xfrm>
            <a:off x="2136385" y="5423835"/>
            <a:ext cx="173029" cy="366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88" name="TextBox 42"/>
          <p:cNvSpPr txBox="1">
            <a:spLocks noChangeArrowheads="1"/>
          </p:cNvSpPr>
          <p:nvPr/>
        </p:nvSpPr>
        <p:spPr bwMode="auto">
          <a:xfrm>
            <a:off x="2828500" y="5211481"/>
            <a:ext cx="471740" cy="42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89" name="Rectangle 4"/>
          <p:cNvSpPr>
            <a:spLocks noChangeArrowheads="1"/>
          </p:cNvSpPr>
          <p:nvPr/>
        </p:nvSpPr>
        <p:spPr bwMode="auto">
          <a:xfrm>
            <a:off x="1374815" y="4019731"/>
            <a:ext cx="1903317" cy="351483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0" name="Rectangle 4"/>
          <p:cNvSpPr>
            <a:spLocks noChangeArrowheads="1"/>
          </p:cNvSpPr>
          <p:nvPr/>
        </p:nvSpPr>
        <p:spPr bwMode="auto">
          <a:xfrm>
            <a:off x="1223894" y="5689277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slave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91" name="Rectangle 6"/>
          <p:cNvSpPr>
            <a:spLocks noChangeArrowheads="1"/>
          </p:cNvSpPr>
          <p:nvPr/>
        </p:nvSpPr>
        <p:spPr bwMode="auto">
          <a:xfrm>
            <a:off x="3732812" y="4459085"/>
            <a:ext cx="1903317" cy="702967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2" name="Rectangle 4"/>
          <p:cNvSpPr>
            <a:spLocks noChangeArrowheads="1"/>
          </p:cNvSpPr>
          <p:nvPr/>
        </p:nvSpPr>
        <p:spPr bwMode="auto">
          <a:xfrm>
            <a:off x="3732812" y="4459085"/>
            <a:ext cx="1903317" cy="351483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93" name="Rectangle 35"/>
          <p:cNvSpPr>
            <a:spLocks noChangeArrowheads="1"/>
          </p:cNvSpPr>
          <p:nvPr/>
        </p:nvSpPr>
        <p:spPr bwMode="auto">
          <a:xfrm>
            <a:off x="3732812" y="4810569"/>
            <a:ext cx="1903317" cy="351483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Linux file system</a:t>
            </a:r>
          </a:p>
        </p:txBody>
      </p:sp>
      <p:sp>
        <p:nvSpPr>
          <p:cNvPr id="94" name="Flowchart: Magnetic Disk 36"/>
          <p:cNvSpPr>
            <a:spLocks noChangeArrowheads="1"/>
          </p:cNvSpPr>
          <p:nvPr/>
        </p:nvSpPr>
        <p:spPr bwMode="auto">
          <a:xfrm>
            <a:off x="4039702" y="524992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5" name="Flowchart: Magnetic Disk 37"/>
          <p:cNvSpPr>
            <a:spLocks noChangeArrowheads="1"/>
          </p:cNvSpPr>
          <p:nvPr/>
        </p:nvSpPr>
        <p:spPr bwMode="auto">
          <a:xfrm>
            <a:off x="4645302" y="524992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96" name="Straight Connector 38"/>
          <p:cNvCxnSpPr>
            <a:cxnSpLocks noChangeShapeType="1"/>
          </p:cNvCxnSpPr>
          <p:nvPr/>
        </p:nvCxnSpPr>
        <p:spPr bwMode="auto">
          <a:xfrm rot="5400000">
            <a:off x="3734868" y="5293887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97" name="Straight Connector 39"/>
          <p:cNvCxnSpPr>
            <a:cxnSpLocks noChangeShapeType="1"/>
            <a:endCxn id="94" idx="2"/>
          </p:cNvCxnSpPr>
          <p:nvPr/>
        </p:nvCxnSpPr>
        <p:spPr bwMode="auto">
          <a:xfrm>
            <a:off x="3866673" y="5425665"/>
            <a:ext cx="173029" cy="183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98" name="Straight Connector 40"/>
          <p:cNvCxnSpPr>
            <a:cxnSpLocks noChangeShapeType="1"/>
          </p:cNvCxnSpPr>
          <p:nvPr/>
        </p:nvCxnSpPr>
        <p:spPr bwMode="auto">
          <a:xfrm rot="5400000">
            <a:off x="4340468" y="5292056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99" name="Straight Connector 41"/>
          <p:cNvCxnSpPr>
            <a:cxnSpLocks noChangeShapeType="1"/>
          </p:cNvCxnSpPr>
          <p:nvPr/>
        </p:nvCxnSpPr>
        <p:spPr bwMode="auto">
          <a:xfrm>
            <a:off x="4472274" y="5423835"/>
            <a:ext cx="173029" cy="366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100" name="TextBox 42"/>
          <p:cNvSpPr txBox="1">
            <a:spLocks noChangeArrowheads="1"/>
          </p:cNvSpPr>
          <p:nvPr/>
        </p:nvSpPr>
        <p:spPr bwMode="auto">
          <a:xfrm>
            <a:off x="5164389" y="5211481"/>
            <a:ext cx="471740" cy="42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101" name="Rectangle 4"/>
          <p:cNvSpPr>
            <a:spLocks noChangeArrowheads="1"/>
          </p:cNvSpPr>
          <p:nvPr/>
        </p:nvSpPr>
        <p:spPr bwMode="auto">
          <a:xfrm>
            <a:off x="3710704" y="4019731"/>
            <a:ext cx="1903317" cy="351483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2" name="Rectangle 4"/>
          <p:cNvSpPr>
            <a:spLocks noChangeArrowheads="1"/>
          </p:cNvSpPr>
          <p:nvPr/>
        </p:nvSpPr>
        <p:spPr bwMode="auto">
          <a:xfrm>
            <a:off x="3559783" y="5689277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slave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6068700" y="4459085"/>
            <a:ext cx="1903317" cy="702967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4" name="Rectangle 4"/>
          <p:cNvSpPr>
            <a:spLocks noChangeArrowheads="1"/>
          </p:cNvSpPr>
          <p:nvPr/>
        </p:nvSpPr>
        <p:spPr bwMode="auto">
          <a:xfrm>
            <a:off x="6068700" y="4459085"/>
            <a:ext cx="1903317" cy="351483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datanode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5" name="Rectangle 35"/>
          <p:cNvSpPr>
            <a:spLocks noChangeArrowheads="1"/>
          </p:cNvSpPr>
          <p:nvPr/>
        </p:nvSpPr>
        <p:spPr bwMode="auto">
          <a:xfrm>
            <a:off x="6068700" y="4810569"/>
            <a:ext cx="1903317" cy="351483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Linux file system</a:t>
            </a:r>
          </a:p>
        </p:txBody>
      </p:sp>
      <p:sp>
        <p:nvSpPr>
          <p:cNvPr id="106" name="Flowchart: Magnetic Disk 36"/>
          <p:cNvSpPr>
            <a:spLocks noChangeArrowheads="1"/>
          </p:cNvSpPr>
          <p:nvPr/>
        </p:nvSpPr>
        <p:spPr bwMode="auto">
          <a:xfrm>
            <a:off x="6375590" y="524992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7" name="Flowchart: Magnetic Disk 37"/>
          <p:cNvSpPr>
            <a:spLocks noChangeArrowheads="1"/>
          </p:cNvSpPr>
          <p:nvPr/>
        </p:nvSpPr>
        <p:spPr bwMode="auto">
          <a:xfrm>
            <a:off x="6981191" y="5249924"/>
            <a:ext cx="346058" cy="351483"/>
          </a:xfrm>
          <a:prstGeom prst="flowChartMagneticDisk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108" name="Straight Connector 38"/>
          <p:cNvCxnSpPr>
            <a:cxnSpLocks noChangeShapeType="1"/>
          </p:cNvCxnSpPr>
          <p:nvPr/>
        </p:nvCxnSpPr>
        <p:spPr bwMode="auto">
          <a:xfrm rot="5400000">
            <a:off x="6070756" y="5293887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109" name="Straight Connector 39"/>
          <p:cNvCxnSpPr>
            <a:cxnSpLocks noChangeShapeType="1"/>
            <a:endCxn id="106" idx="2"/>
          </p:cNvCxnSpPr>
          <p:nvPr/>
        </p:nvCxnSpPr>
        <p:spPr bwMode="auto">
          <a:xfrm>
            <a:off x="6202562" y="5425665"/>
            <a:ext cx="173029" cy="183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110" name="Straight Connector 40"/>
          <p:cNvCxnSpPr>
            <a:cxnSpLocks noChangeShapeType="1"/>
          </p:cNvCxnSpPr>
          <p:nvPr/>
        </p:nvCxnSpPr>
        <p:spPr bwMode="auto">
          <a:xfrm rot="5400000">
            <a:off x="6676357" y="5292056"/>
            <a:ext cx="263612" cy="3605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cxnSp>
        <p:nvCxnSpPr>
          <p:cNvPr id="111" name="Straight Connector 41"/>
          <p:cNvCxnSpPr>
            <a:cxnSpLocks noChangeShapeType="1"/>
          </p:cNvCxnSpPr>
          <p:nvPr/>
        </p:nvCxnSpPr>
        <p:spPr bwMode="auto">
          <a:xfrm>
            <a:off x="6808162" y="5423835"/>
            <a:ext cx="173029" cy="3661"/>
          </a:xfrm>
          <a:prstGeom prst="line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</p:cxnSp>
      <p:sp>
        <p:nvSpPr>
          <p:cNvPr id="112" name="TextBox 42"/>
          <p:cNvSpPr txBox="1">
            <a:spLocks noChangeArrowheads="1"/>
          </p:cNvSpPr>
          <p:nvPr/>
        </p:nvSpPr>
        <p:spPr bwMode="auto">
          <a:xfrm>
            <a:off x="7500278" y="5211481"/>
            <a:ext cx="471740" cy="42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…</a:t>
            </a:r>
          </a:p>
        </p:txBody>
      </p:sp>
      <p:sp>
        <p:nvSpPr>
          <p:cNvPr id="113" name="Rectangle 4"/>
          <p:cNvSpPr>
            <a:spLocks noChangeArrowheads="1"/>
          </p:cNvSpPr>
          <p:nvPr/>
        </p:nvSpPr>
        <p:spPr bwMode="auto">
          <a:xfrm>
            <a:off x="6046593" y="4019731"/>
            <a:ext cx="1903317" cy="351483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tasktracker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4" name="Rectangle 4"/>
          <p:cNvSpPr>
            <a:spLocks noChangeArrowheads="1"/>
          </p:cNvSpPr>
          <p:nvPr/>
        </p:nvSpPr>
        <p:spPr bwMode="auto">
          <a:xfrm>
            <a:off x="5895672" y="5689277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slave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5" name="Rectangle 4"/>
          <p:cNvSpPr>
            <a:spLocks noChangeArrowheads="1"/>
          </p:cNvSpPr>
          <p:nvPr/>
        </p:nvSpPr>
        <p:spPr bwMode="auto">
          <a:xfrm>
            <a:off x="2348581" y="2262315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namenode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6" name="Rectangle 35"/>
          <p:cNvSpPr>
            <a:spLocks noChangeArrowheads="1"/>
          </p:cNvSpPr>
          <p:nvPr/>
        </p:nvSpPr>
        <p:spPr bwMode="auto">
          <a:xfrm>
            <a:off x="2348581" y="2613798"/>
            <a:ext cx="2249374" cy="702967"/>
          </a:xfrm>
          <a:prstGeom prst="rect">
            <a:avLst/>
          </a:prstGeom>
          <a:noFill/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7" name="Rectangle 4"/>
          <p:cNvSpPr>
            <a:spLocks noChangeArrowheads="1"/>
          </p:cNvSpPr>
          <p:nvPr/>
        </p:nvSpPr>
        <p:spPr bwMode="auto">
          <a:xfrm>
            <a:off x="2521610" y="2789540"/>
            <a:ext cx="1903317" cy="351483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namenode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daemon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4748877" y="2262315"/>
            <a:ext cx="2249374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job submission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19" name="Rectangle 4"/>
          <p:cNvSpPr>
            <a:spLocks noChangeArrowheads="1"/>
          </p:cNvSpPr>
          <p:nvPr/>
        </p:nvSpPr>
        <p:spPr bwMode="auto">
          <a:xfrm>
            <a:off x="4921905" y="2789540"/>
            <a:ext cx="1903317" cy="351483"/>
          </a:xfrm>
          <a:prstGeom prst="rect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jobtracker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0" name="Rectangle 4"/>
          <p:cNvSpPr>
            <a:spLocks noChangeArrowheads="1"/>
          </p:cNvSpPr>
          <p:nvPr/>
        </p:nvSpPr>
        <p:spPr bwMode="auto">
          <a:xfrm>
            <a:off x="2145306" y="1703512"/>
            <a:ext cx="4987053" cy="351483"/>
          </a:xfrm>
          <a:prstGeom prst="rect">
            <a:avLst/>
          </a:prstGeom>
          <a:solidFill>
            <a:sysClr val="windowText" lastClr="000000"/>
          </a:solidFill>
          <a:ln w="9525" algn="ctr">
            <a:solidFill>
              <a:sysClr val="windowText" lastClr="000000"/>
            </a:solidFill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 smtClean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rPr>
              <a:t>master</a:t>
            </a: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node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2000267" y="3736504"/>
            <a:ext cx="735795" cy="332147"/>
          </a:xfrm>
          <a:prstGeom prst="rect">
            <a:avLst/>
          </a:prstGeom>
          <a:solidFill>
            <a:sysClr val="window" lastClr="FFFFFF">
              <a:tint val="100000"/>
              <a:shade val="100000"/>
              <a:hueMod val="100000"/>
              <a:satMod val="100000"/>
              <a:alpha val="50000"/>
            </a:sysClr>
          </a:solidFill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t>Map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6608779" y="3736504"/>
            <a:ext cx="735795" cy="332147"/>
          </a:xfrm>
          <a:prstGeom prst="rect">
            <a:avLst/>
          </a:prstGeom>
          <a:solidFill>
            <a:sysClr val="window" lastClr="FFFFFF">
              <a:tint val="100000"/>
              <a:shade val="100000"/>
              <a:hueMod val="100000"/>
              <a:satMod val="100000"/>
              <a:alpha val="50000"/>
            </a:sysClr>
          </a:solidFill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t>Map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4216878" y="3736504"/>
            <a:ext cx="887600" cy="332147"/>
          </a:xfrm>
          <a:prstGeom prst="rect">
            <a:avLst/>
          </a:prstGeom>
          <a:solidFill>
            <a:sysClr val="window" lastClr="FFFFFF">
              <a:tint val="100000"/>
              <a:shade val="100000"/>
              <a:hueMod val="100000"/>
              <a:satMod val="100000"/>
              <a:alpha val="48000"/>
            </a:sysClr>
          </a:solidFill>
          <a:ln w="25400" cap="flat" cmpd="sng" algn="ctr">
            <a:solidFill>
              <a:srgbClr val="9BBB59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9BBB59">
                    <a:lumMod val="75000"/>
                  </a:srgbClr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t>Reduce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75000"/>
                </a:srgbClr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124" name="矩形圖說文字 123"/>
          <p:cNvSpPr/>
          <p:nvPr/>
        </p:nvSpPr>
        <p:spPr>
          <a:xfrm>
            <a:off x="143774" y="4312568"/>
            <a:ext cx="1152128" cy="792088"/>
          </a:xfrm>
          <a:prstGeom prst="wedgeRectCallout">
            <a:avLst>
              <a:gd name="adj1" fmla="val 101414"/>
              <a:gd name="adj2" fmla="val 95830"/>
            </a:avLst>
          </a:prstGeom>
          <a:solidFill>
            <a:sysClr val="window" lastClr="FFFFFF">
              <a:tint val="100000"/>
              <a:shade val="100000"/>
              <a:hueMod val="100000"/>
              <a:satMod val="100000"/>
            </a:sysClr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t>Split 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125" name="矩形圖說文字 124"/>
          <p:cNvSpPr/>
          <p:nvPr/>
        </p:nvSpPr>
        <p:spPr>
          <a:xfrm>
            <a:off x="7848630" y="5608712"/>
            <a:ext cx="1152128" cy="792088"/>
          </a:xfrm>
          <a:prstGeom prst="wedgeRectCallout">
            <a:avLst>
              <a:gd name="adj1" fmla="val -110869"/>
              <a:gd name="adj2" fmla="val -67825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t>Split 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摺角紙張 1"/>
          <p:cNvSpPr/>
          <p:nvPr/>
        </p:nvSpPr>
        <p:spPr bwMode="auto">
          <a:xfrm>
            <a:off x="481079" y="1825590"/>
            <a:ext cx="1222734" cy="1224932"/>
          </a:xfrm>
          <a:prstGeom prst="foldedCorne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normalizeH="0" baseline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File1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1" i="0" u="none" strike="noStrike" normalizeH="0" baseline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(split 0,split </a:t>
            </a:r>
            <a:r>
              <a:rPr kumimoji="0" lang="en-US" altLang="zh-TW" sz="1600" b="1" i="0" u="none" strike="noStrike" normalizeH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1</a:t>
            </a:r>
            <a:r>
              <a:rPr kumimoji="0" lang="en-US" altLang="zh-TW" sz="1600" b="1" i="0" u="none" strike="noStrike" normalizeH="0" baseline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libri" pitchFamily="34" charset="0"/>
                <a:cs typeface="Calibri" pitchFamily="34" charset="0"/>
              </a:rPr>
              <a:t>)</a:t>
            </a:r>
            <a:endParaRPr kumimoji="0" lang="zh-TW" altLang="en-US" sz="1600" b="1" i="0" u="none" strike="noStrike" normalizeH="0" baseline="0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投影片編號版面配置區 6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78140705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89" grpId="0" animBg="1"/>
      <p:bldP spid="101" grpId="0" animBg="1"/>
      <p:bldP spid="113" grpId="0" animBg="1"/>
      <p:bldP spid="118" grpId="0" animBg="1"/>
      <p:bldP spid="119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5" name="Picture 4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7988" y="1066800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sz="2400" b="1" i="1" dirty="0" err="1" smtClean="0">
                <a:solidFill>
                  <a:schemeClr val="bg2">
                    <a:lumMod val="75000"/>
                  </a:schemeClr>
                </a:solidFill>
              </a:rPr>
              <a:t>HBase</a:t>
            </a:r>
            <a:endParaRPr lang="en-US" sz="2400" b="1" i="1" dirty="0" smtClean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25028"/>
            <a:ext cx="5637214" cy="460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2174920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407988" y="1066800"/>
            <a:ext cx="839787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400" b="1" i="1" kern="1200" dirty="0" err="1" smtClean="0">
                <a:solidFill>
                  <a:schemeClr val="bg2">
                    <a:lumMod val="75000"/>
                  </a:schemeClr>
                </a:solidFill>
              </a:rPr>
              <a:t>HBase</a:t>
            </a:r>
            <a:endParaRPr lang="en-US" sz="2400" b="1" i="1" kern="12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190500" marR="0" lvl="0" indent="-1905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r>
              <a:rPr lang="en-US" b="1" i="1" dirty="0" err="1" smtClean="0">
                <a:latin typeface="Cambria" pitchFamily="18" charset="0"/>
              </a:rPr>
              <a:t>HBase</a:t>
            </a:r>
            <a:r>
              <a:rPr lang="en-US" b="1" i="1" dirty="0" smtClean="0">
                <a:latin typeface="Cambria" pitchFamily="18" charset="0"/>
              </a:rPr>
              <a:t> roles :</a:t>
            </a:r>
          </a:p>
          <a:p>
            <a:pPr lvl="1"/>
            <a:r>
              <a:rPr lang="en-US" b="1" dirty="0" err="1" smtClean="0">
                <a:solidFill>
                  <a:srgbClr val="C00000"/>
                </a:solidFill>
                <a:latin typeface="Cambria" pitchFamily="18" charset="0"/>
              </a:rPr>
              <a:t>HMaster</a:t>
            </a:r>
            <a:endParaRPr lang="en-US" b="1" dirty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>
                <a:latin typeface="Cambria" pitchFamily="18" charset="0"/>
              </a:rPr>
              <a:t>Cluster initialization</a:t>
            </a:r>
          </a:p>
          <a:p>
            <a:pPr lvl="2"/>
            <a:r>
              <a:rPr lang="en-US" dirty="0">
                <a:latin typeface="Cambria" pitchFamily="18" charset="0"/>
              </a:rPr>
              <a:t>Assigning/</a:t>
            </a:r>
            <a:r>
              <a:rPr lang="en-US" dirty="0" err="1">
                <a:latin typeface="Cambria" pitchFamily="18" charset="0"/>
              </a:rPr>
              <a:t>unassigning</a:t>
            </a:r>
            <a:r>
              <a:rPr lang="en-US" dirty="0">
                <a:latin typeface="Cambria" pitchFamily="18" charset="0"/>
              </a:rPr>
              <a:t> regions to/from </a:t>
            </a:r>
            <a:r>
              <a:rPr lang="en-US" dirty="0" err="1" smtClean="0">
                <a:latin typeface="Cambria" pitchFamily="18" charset="0"/>
              </a:rPr>
              <a:t>HRegionservers</a:t>
            </a:r>
            <a:endParaRPr lang="en-US" dirty="0">
              <a:latin typeface="Cambria" pitchFamily="18" charset="0"/>
            </a:endParaRPr>
          </a:p>
          <a:p>
            <a:pPr lvl="2"/>
            <a:r>
              <a:rPr lang="en-US" dirty="0">
                <a:latin typeface="Cambria" pitchFamily="18" charset="0"/>
              </a:rPr>
              <a:t>Monitor the health and load of each </a:t>
            </a:r>
            <a:r>
              <a:rPr lang="en-US" dirty="0" err="1" smtClean="0">
                <a:latin typeface="Cambria" pitchFamily="18" charset="0"/>
              </a:rPr>
              <a:t>HRegionserver</a:t>
            </a:r>
            <a:endParaRPr lang="en-US" dirty="0">
              <a:latin typeface="Cambria" pitchFamily="18" charset="0"/>
            </a:endParaRPr>
          </a:p>
          <a:p>
            <a:pPr lvl="2"/>
            <a:endParaRPr lang="en-US" dirty="0" smtClean="0">
              <a:latin typeface="Cambria" pitchFamily="18" charset="0"/>
            </a:endParaRPr>
          </a:p>
          <a:p>
            <a:pPr lvl="1"/>
            <a:r>
              <a:rPr lang="en-US" b="1" dirty="0" err="1" smtClean="0">
                <a:solidFill>
                  <a:srgbClr val="C00000"/>
                </a:solidFill>
                <a:latin typeface="Cambria" pitchFamily="18" charset="0"/>
              </a:rPr>
              <a:t>HRegionservers</a:t>
            </a:r>
            <a:endParaRPr lang="en-US" b="1" dirty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>
                <a:latin typeface="Cambria" pitchFamily="18" charset="0"/>
              </a:rPr>
              <a:t>Serving Regions assigned to </a:t>
            </a:r>
            <a:r>
              <a:rPr lang="en-US" dirty="0" err="1" smtClean="0">
                <a:latin typeface="Cambria" pitchFamily="18" charset="0"/>
              </a:rPr>
              <a:t>HRegionserver</a:t>
            </a:r>
            <a:endParaRPr lang="en-US" dirty="0" smtClean="0">
              <a:latin typeface="Cambria" pitchFamily="18" charset="0"/>
            </a:endParaRPr>
          </a:p>
          <a:p>
            <a:pPr lvl="2"/>
            <a:r>
              <a:rPr lang="en-US" dirty="0" smtClean="0">
                <a:latin typeface="Cambria" pitchFamily="18" charset="0"/>
              </a:rPr>
              <a:t>Handling </a:t>
            </a:r>
            <a:r>
              <a:rPr lang="en-US" dirty="0">
                <a:latin typeface="Cambria" pitchFamily="18" charset="0"/>
              </a:rPr>
              <a:t>client read and write </a:t>
            </a:r>
            <a:r>
              <a:rPr lang="en-US" dirty="0" smtClean="0">
                <a:latin typeface="Cambria" pitchFamily="18" charset="0"/>
              </a:rPr>
              <a:t>requests</a:t>
            </a:r>
          </a:p>
          <a:p>
            <a:pPr lvl="2"/>
            <a:r>
              <a:rPr lang="en-US" dirty="0">
                <a:latin typeface="Cambria" pitchFamily="18" charset="0"/>
              </a:rPr>
              <a:t>Flushing cache to HDFS</a:t>
            </a:r>
          </a:p>
          <a:p>
            <a:pPr lvl="2"/>
            <a:endParaRPr lang="en-US" dirty="0" smtClean="0">
              <a:latin typeface="Cambria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" name="Picture 5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1916646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407988" y="1066800"/>
            <a:ext cx="839787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400" b="1" i="1" kern="1200" dirty="0" err="1" smtClean="0">
                <a:solidFill>
                  <a:schemeClr val="bg2">
                    <a:lumMod val="75000"/>
                  </a:schemeClr>
                </a:solidFill>
              </a:rPr>
              <a:t>HBase</a:t>
            </a:r>
            <a:endParaRPr lang="en-US" sz="2400" b="1" i="1" kern="12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190500" marR="0" lvl="0" indent="-1905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r>
              <a:rPr lang="en-US" b="1" i="1" dirty="0" err="1" smtClean="0">
                <a:latin typeface="Cambria" pitchFamily="18" charset="0"/>
              </a:rPr>
              <a:t>HBase</a:t>
            </a:r>
            <a:r>
              <a:rPr lang="en-US" b="1" i="1" dirty="0" smtClean="0">
                <a:latin typeface="Cambria" pitchFamily="18" charset="0"/>
              </a:rPr>
              <a:t> roles :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Zookeeper</a:t>
            </a:r>
            <a:endParaRPr lang="en-US" b="1" dirty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 err="1" smtClean="0">
                <a:latin typeface="Cambria" pitchFamily="18" charset="0"/>
              </a:rPr>
              <a:t>HMaster</a:t>
            </a:r>
            <a:r>
              <a:rPr lang="en-US" dirty="0" smtClean="0">
                <a:latin typeface="Cambria" pitchFamily="18" charset="0"/>
              </a:rPr>
              <a:t> </a:t>
            </a:r>
            <a:r>
              <a:rPr lang="en-US" dirty="0">
                <a:latin typeface="Cambria" pitchFamily="18" charset="0"/>
              </a:rPr>
              <a:t>election and recovery</a:t>
            </a:r>
            <a:endParaRPr lang="en-US" dirty="0" smtClean="0">
              <a:latin typeface="Cambria" pitchFamily="18" charset="0"/>
            </a:endParaRPr>
          </a:p>
          <a:p>
            <a:pPr lvl="2"/>
            <a:r>
              <a:rPr lang="en-US" dirty="0">
                <a:latin typeface="Cambria" pitchFamily="18" charset="0"/>
              </a:rPr>
              <a:t>Store membership </a:t>
            </a:r>
            <a:r>
              <a:rPr lang="en-US" dirty="0" smtClean="0">
                <a:latin typeface="Cambria" pitchFamily="18" charset="0"/>
              </a:rPr>
              <a:t>information</a:t>
            </a:r>
            <a:endParaRPr lang="en-US" dirty="0">
              <a:latin typeface="Cambria" pitchFamily="18" charset="0"/>
            </a:endParaRPr>
          </a:p>
          <a:p>
            <a:pPr lvl="2"/>
            <a:endParaRPr lang="en-US" dirty="0" smtClean="0">
              <a:latin typeface="Cambria" pitchFamily="18" charset="0"/>
            </a:endParaRP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HDFS</a:t>
            </a:r>
            <a:endParaRPr lang="en-US" b="1" dirty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dirty="0">
                <a:latin typeface="Cambria" pitchFamily="18" charset="0"/>
              </a:rPr>
              <a:t>All persistence </a:t>
            </a:r>
            <a:r>
              <a:rPr lang="en-US" dirty="0" err="1">
                <a:latin typeface="Cambria" pitchFamily="18" charset="0"/>
              </a:rPr>
              <a:t>HBase</a:t>
            </a:r>
            <a:r>
              <a:rPr lang="en-US" dirty="0">
                <a:latin typeface="Cambria" pitchFamily="18" charset="0"/>
              </a:rPr>
              <a:t> storage is on </a:t>
            </a:r>
            <a:r>
              <a:rPr lang="en-US" dirty="0" smtClean="0">
                <a:latin typeface="Cambria" pitchFamily="18" charset="0"/>
              </a:rPr>
              <a:t>HDFS</a:t>
            </a:r>
          </a:p>
          <a:p>
            <a:pPr lvl="2"/>
            <a:r>
              <a:rPr lang="en-US" dirty="0">
                <a:latin typeface="Cambria" pitchFamily="18" charset="0"/>
              </a:rPr>
              <a:t>HDFS reliability and performance are key to </a:t>
            </a:r>
            <a:r>
              <a:rPr lang="en-US" dirty="0" err="1">
                <a:latin typeface="Cambria" pitchFamily="18" charset="0"/>
              </a:rPr>
              <a:t>HBase</a:t>
            </a:r>
            <a:r>
              <a:rPr lang="en-US" dirty="0">
                <a:latin typeface="Cambria" pitchFamily="18" charset="0"/>
              </a:rPr>
              <a:t> reliability and performance</a:t>
            </a:r>
          </a:p>
          <a:p>
            <a:pPr lvl="2"/>
            <a:endParaRPr lang="en-US" dirty="0" smtClean="0">
              <a:latin typeface="Cambria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" name="Picture 5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8857956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E:\SSlab\MS'0\Boss course\Cloud computing\Paas\Hadoop\Lab\resource\screenshot\eclipse2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1283" y="1568626"/>
            <a:ext cx="3962400" cy="323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 smtClean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6" name="Picture 5" descr="hadoop+elephant_rg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07988" y="1066800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defRPr/>
            </a:pP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APIs, Eclipse IDE, plug-in &amp; Monitoring</a:t>
            </a:r>
          </a:p>
        </p:txBody>
      </p:sp>
      <p:pic>
        <p:nvPicPr>
          <p:cNvPr id="2" name="Picture 2" descr="E:\SSlab\MS'0\Boss course\Cloud computing\Paas\Hadoop\Lab\resource\screenshot\eclipse2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5264150" cy="385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3842" y="1757966"/>
            <a:ext cx="4497757" cy="3347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PaaS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</a:t>
            </a:r>
            <a:r>
              <a:rPr lang="en-US" dirty="0"/>
              <a:t>1</a:t>
            </a:r>
            <a:endParaRPr lang="en-US" sz="2400" dirty="0" smtClean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5" name="Picture 4" descr="hadoop+elephant_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121463"/>
            <a:ext cx="3352800" cy="792937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407989" y="1066800"/>
            <a:ext cx="7593011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>
              <a:buNone/>
            </a:pPr>
            <a:r>
              <a:rPr lang="en-US" sz="2400" b="1" i="1" kern="1200" dirty="0" smtClean="0">
                <a:solidFill>
                  <a:schemeClr val="bg2">
                    <a:lumMod val="75000"/>
                  </a:schemeClr>
                </a:solidFill>
              </a:rPr>
              <a:t>APIs, Eclipse IDE, plug-in </a:t>
            </a:r>
            <a:r>
              <a:rPr lang="en-US" sz="2400" b="1" i="1" dirty="0" smtClean="0">
                <a:solidFill>
                  <a:schemeClr val="bg2">
                    <a:lumMod val="75000"/>
                  </a:schemeClr>
                </a:solidFill>
              </a:rPr>
              <a:t>&amp; Monitoring</a:t>
            </a:r>
          </a:p>
          <a:p>
            <a:pPr marL="190500" marR="0" lvl="0" indent="-1905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05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r>
              <a:rPr lang="en-US" b="1" i="1" dirty="0" err="1" smtClean="0">
                <a:latin typeface="Cambria" pitchFamily="18" charset="0"/>
              </a:rPr>
              <a:t>MapReduce</a:t>
            </a:r>
            <a:r>
              <a:rPr lang="en-US" b="1" i="1" dirty="0" smtClean="0">
                <a:latin typeface="Cambria" pitchFamily="18" charset="0"/>
              </a:rPr>
              <a:t> APIs :</a:t>
            </a:r>
          </a:p>
          <a:p>
            <a:pPr lvl="1"/>
            <a:r>
              <a:rPr lang="en-US" b="1" dirty="0" err="1" smtClean="0">
                <a:solidFill>
                  <a:srgbClr val="C00000"/>
                </a:solidFill>
                <a:latin typeface="Cambria" pitchFamily="18" charset="0"/>
              </a:rPr>
              <a:t>Mapper</a:t>
            </a:r>
            <a:endParaRPr lang="en-US" b="1" dirty="0" smtClean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GB" dirty="0" smtClean="0">
                <a:latin typeface="Cambria" pitchFamily="18" charset="0"/>
              </a:rPr>
              <a:t>Takes one pair of data with a type in one data domain, and returns a list of pairs in a different domain.</a:t>
            </a:r>
            <a:endParaRPr lang="en-US" dirty="0" smtClean="0">
              <a:latin typeface="Cambria" pitchFamily="18" charset="0"/>
            </a:endParaRP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Reducer</a:t>
            </a:r>
          </a:p>
          <a:p>
            <a:pPr lvl="2"/>
            <a:r>
              <a:rPr lang="en-GB" dirty="0" smtClean="0">
                <a:latin typeface="Cambria" pitchFamily="18" charset="0"/>
              </a:rPr>
              <a:t>Applied in parallel to each group, which in turn produces a collection of values in the same domain.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endParaRPr lang="en-US" sz="1000" dirty="0" smtClean="0">
              <a:latin typeface="Cambria" pitchFamily="18" charset="0"/>
            </a:endParaRPr>
          </a:p>
          <a:p>
            <a:r>
              <a:rPr lang="en-US" b="1" i="1" dirty="0" smtClean="0">
                <a:latin typeface="Cambria" pitchFamily="18" charset="0"/>
              </a:rPr>
              <a:t>Eclipse IDE, plug-in :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ambria" pitchFamily="18" charset="0"/>
              </a:rPr>
              <a:t>Graphical Interface</a:t>
            </a:r>
          </a:p>
          <a:p>
            <a:pPr lvl="2"/>
            <a:r>
              <a:rPr lang="en-US" dirty="0" smtClean="0">
                <a:latin typeface="Cambria" pitchFamily="18" charset="0"/>
              </a:rPr>
              <a:t>Utilize Eclipse framework to provide friendly configuration interface and programming (debugging) environment.</a:t>
            </a:r>
            <a:br>
              <a:rPr lang="en-US" dirty="0" smtClean="0">
                <a:latin typeface="Cambria" pitchFamily="18" charset="0"/>
              </a:rPr>
            </a:br>
            <a:endParaRPr lang="en-US" sz="1000" dirty="0" smtClean="0">
              <a:latin typeface="Cambria" pitchFamily="18" charset="0"/>
            </a:endParaRPr>
          </a:p>
          <a:p>
            <a:r>
              <a:rPr lang="en-US" b="1" i="1" dirty="0" smtClean="0">
                <a:latin typeface="Cambria" pitchFamily="18" charset="0"/>
              </a:rPr>
              <a:t>System Monitoring :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Web-based system status display.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PaaS</a:t>
            </a:r>
            <a:r>
              <a:rPr lang="en-US" dirty="0" smtClean="0"/>
              <a:t> : Summary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07988" y="1090613"/>
            <a:ext cx="8397875" cy="4799012"/>
          </a:xfrm>
          <a:prstGeom prst="rect">
            <a:avLst/>
          </a:prstGeom>
        </p:spPr>
        <p:txBody>
          <a:bodyPr/>
          <a:lstStyle/>
          <a:p>
            <a:pPr marL="190500" marR="0" lvl="0" indent="-190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000" b="1" kern="0" dirty="0" smtClean="0">
                <a:latin typeface="Cambria" pitchFamily="18" charset="0"/>
              </a:rPr>
              <a:t>P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aaS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is the development platform that abstract the infrastructure, OS,</a:t>
            </a:r>
            <a:r>
              <a:rPr kumimoji="0" lang="en-US" sz="2000" b="1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and middleware to drive developer productivity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.</a:t>
            </a:r>
            <a:b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190500" marR="0" lvl="0" indent="-190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Enabling technique:</a:t>
            </a:r>
            <a:r>
              <a:rPr kumimoji="0" lang="en-US" sz="20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Runtime</a:t>
            </a:r>
            <a:r>
              <a:rPr lang="en-US" sz="2000" i="1" kern="0" dirty="0" smtClean="0">
                <a:latin typeface="Cambria" pitchFamily="18" charset="0"/>
              </a:rPr>
              <a:t> Environment</a:t>
            </a:r>
            <a:endParaRPr kumimoji="0" lang="en-US" sz="1800" b="0" i="1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lang="en-US" i="1" kern="0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Dynamic provisioning</a:t>
            </a:r>
            <a:endParaRPr kumimoji="0" lang="en-US" sz="1800" b="0" i="1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Fault</a:t>
            </a:r>
            <a:r>
              <a:rPr kumimoji="0" lang="en-US" sz="1800" b="0" i="1" u="none" strike="noStrike" kern="0" cap="none" spc="0" normalizeH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 tolerance</a:t>
            </a: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lang="en-US" i="1" kern="0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Load balancing</a:t>
            </a: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lang="en-US" i="1" kern="0" noProof="0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Resource Management</a:t>
            </a: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ambria" pitchFamily="18" charset="0"/>
              </a:rPr>
              <a:t/>
            </a:r>
            <a:b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ambria" pitchFamily="18" charset="0"/>
              </a:rPr>
            </a:b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</a:endParaRPr>
          </a:p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en-US" altLang="zh-TW" sz="2000" dirty="0" smtClean="0">
                <a:latin typeface="Cambria" pitchFamily="18" charset="0"/>
              </a:rPr>
              <a:t>Exploit the runtime environment to provide :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Scalability</a:t>
            </a: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lang="en-US" i="1" kern="0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Availability</a:t>
            </a: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kumimoji="0" lang="en-US" sz="18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</a:rPr>
              <a:t>Performance</a:t>
            </a: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r>
              <a:rPr lang="en-US" i="1" kern="0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Manageability</a:t>
            </a:r>
            <a:endParaRPr kumimoji="0" lang="en-US" sz="1800" b="0" i="1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Cambria" pitchFamily="18" charset="0"/>
            </a:endParaRPr>
          </a:p>
          <a:p>
            <a:pPr marL="381000" marR="0" lvl="1" indent="-1889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Char char="-"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76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hangingPunct="0">
              <a:spcBef>
                <a:spcPct val="20000"/>
              </a:spcBef>
            </a:pPr>
            <a:r>
              <a:rPr lang="en-US" altLang="zh-TW" dirty="0" err="1" smtClean="0"/>
              <a:t>SaaS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sz="2400" cap="none" dirty="0" smtClean="0">
                <a:solidFill>
                  <a:srgbClr val="000000"/>
                </a:solidFill>
                <a:ea typeface="+mn-ea"/>
                <a:cs typeface="+mn-cs"/>
              </a:rPr>
              <a:t>Software as a Service</a:t>
            </a:r>
            <a:endParaRPr lang="zh-TW" altLang="en-US" sz="2400" cap="none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/>
            <a:r>
              <a:rPr lang="en-US" altLang="zh-TW" sz="2800" b="1" i="1" dirty="0" smtClean="0">
                <a:solidFill>
                  <a:srgbClr val="7030A0"/>
                </a:solidFill>
                <a:latin typeface="Cambria" pitchFamily="18" charset="0"/>
              </a:rPr>
              <a:t>live in a hotel</a:t>
            </a:r>
          </a:p>
          <a:p>
            <a:endParaRPr lang="en-US" altLang="zh-TW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77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SaaS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Software as a Service</a:t>
            </a:r>
            <a:endParaRPr lang="en-US" sz="2400" dirty="0">
              <a:solidFill>
                <a:srgbClr val="C00000"/>
              </a:solidFill>
              <a:latin typeface="Cambria" pitchFamily="18" charset="0"/>
            </a:endParaRPr>
          </a:p>
        </p:txBody>
      </p:sp>
      <p:sp>
        <p:nvSpPr>
          <p:cNvPr id="43" name="Content Placeholder 42"/>
          <p:cNvSpPr>
            <a:spLocks noGrp="1"/>
          </p:cNvSpPr>
          <p:nvPr>
            <p:ph idx="1"/>
          </p:nvPr>
        </p:nvSpPr>
        <p:spPr>
          <a:xfrm>
            <a:off x="407988" y="992188"/>
            <a:ext cx="8397875" cy="4799012"/>
          </a:xfrm>
        </p:spPr>
        <p:txBody>
          <a:bodyPr/>
          <a:lstStyle/>
          <a:p>
            <a:r>
              <a:rPr lang="en-GB" b="1" dirty="0" smtClean="0">
                <a:latin typeface="Cambria" pitchFamily="18" charset="0"/>
              </a:rPr>
              <a:t>Software as a Service (</a:t>
            </a:r>
            <a:r>
              <a:rPr lang="en-GB" b="1" dirty="0" err="1" smtClean="0">
                <a:latin typeface="Cambria" pitchFamily="18" charset="0"/>
              </a:rPr>
              <a:t>SaaS</a:t>
            </a:r>
            <a:r>
              <a:rPr lang="en-GB" b="1" dirty="0" smtClean="0">
                <a:latin typeface="Cambria" pitchFamily="18" charset="0"/>
              </a:rPr>
              <a:t>)</a:t>
            </a:r>
            <a:r>
              <a:rPr lang="en-GB" dirty="0" smtClean="0">
                <a:latin typeface="Cambria" pitchFamily="18" charset="0"/>
              </a:rPr>
              <a:t> deliver software as a service over the Internet, eliminating the need to install and run the application on the customer's own computers and simplifying maintenance and support.</a:t>
            </a:r>
            <a:br>
              <a:rPr lang="en-GB" dirty="0" smtClean="0">
                <a:latin typeface="Cambria" pitchFamily="18" charset="0"/>
              </a:rPr>
            </a:br>
            <a:endParaRPr lang="en-GB" dirty="0" smtClean="0">
              <a:latin typeface="Cambria" pitchFamily="18" charset="0"/>
            </a:endParaRPr>
          </a:p>
          <a:p>
            <a:r>
              <a:rPr lang="en-GB" dirty="0" smtClean="0">
                <a:latin typeface="Cambria" pitchFamily="18" charset="0"/>
              </a:rPr>
              <a:t>Examples :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SalesForce.com</a:t>
            </a:r>
          </a:p>
          <a:p>
            <a:pPr lvl="1"/>
            <a:r>
              <a:rPr lang="en-US" dirty="0" smtClean="0">
                <a:latin typeface="Cambria" pitchFamily="18" charset="0"/>
              </a:rPr>
              <a:t>Google Docs</a:t>
            </a:r>
          </a:p>
          <a:p>
            <a:pPr lvl="1"/>
            <a:r>
              <a:rPr lang="en-US" dirty="0" err="1" smtClean="0">
                <a:latin typeface="Cambria" pitchFamily="18" charset="0"/>
              </a:rPr>
              <a:t>EyeOS</a:t>
            </a:r>
            <a:endParaRPr lang="en-US" dirty="0" smtClean="0">
              <a:latin typeface="Cambria" pitchFamily="18" charset="0"/>
            </a:endParaRPr>
          </a:p>
          <a:p>
            <a:pPr lvl="1"/>
            <a:r>
              <a:rPr lang="en-US" dirty="0" smtClean="0">
                <a:latin typeface="Cambria" pitchFamily="18" charset="0"/>
              </a:rPr>
              <a:t>etc.</a:t>
            </a:r>
          </a:p>
        </p:txBody>
      </p:sp>
      <p:pic>
        <p:nvPicPr>
          <p:cNvPr id="3" name="Picture 2" descr="C:\Users\cmj\Pictures\Saa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109944"/>
            <a:ext cx="5410200" cy="4400819"/>
          </a:xfrm>
          <a:prstGeom prst="rect">
            <a:avLst/>
          </a:prstGeom>
          <a:noFill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: Enabling </a:t>
            </a:r>
            <a:r>
              <a:rPr lang="en-US" altLang="zh-TW" dirty="0" smtClean="0"/>
              <a:t>Techniques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7988" y="1066800"/>
            <a:ext cx="8736012" cy="5233987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en-US" altLang="zh-TW" sz="2600" b="1" i="1" kern="1200" dirty="0" smtClean="0">
                <a:solidFill>
                  <a:schemeClr val="bg2">
                    <a:lumMod val="50000"/>
                  </a:schemeClr>
                </a:solidFill>
                <a:ea typeface="新細明體" pitchFamily="18" charset="-120"/>
              </a:rPr>
              <a:t>Web Service refers to a method of communication, integration and cooperation between services. </a:t>
            </a:r>
            <a:endParaRPr lang="en-GB" altLang="zh-TW" sz="2600" b="1" i="1" kern="1200" dirty="0" smtClean="0">
              <a:solidFill>
                <a:schemeClr val="bg2">
                  <a:lumMod val="50000"/>
                </a:schemeClr>
              </a:solidFill>
              <a:ea typeface="新細明體" pitchFamily="18" charset="-120"/>
            </a:endParaRPr>
          </a:p>
          <a:p>
            <a:pPr marL="0">
              <a:buNone/>
            </a:pPr>
            <a:endParaRPr lang="en-US" altLang="zh-TW" sz="1500" b="1" dirty="0" smtClean="0">
              <a:latin typeface="Cambria" pitchFamily="18" charset="0"/>
            </a:endParaRPr>
          </a:p>
          <a:p>
            <a:r>
              <a:rPr lang="en-US" altLang="zh-TW" sz="2200" b="1" dirty="0" smtClean="0">
                <a:latin typeface="Cambria" pitchFamily="18" charset="0"/>
              </a:rPr>
              <a:t>Reuse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Each service in the Internet can be used repeatedly.</a:t>
            </a:r>
          </a:p>
          <a:p>
            <a:pPr lvl="1"/>
            <a:r>
              <a:rPr lang="en-US" altLang="zh-TW" sz="1900" dirty="0" smtClean="0">
                <a:latin typeface="Cambria" pitchFamily="18" charset="0"/>
              </a:rPr>
              <a:t>Service abstraction provides high availability with the hidden of extra information.</a:t>
            </a:r>
          </a:p>
          <a:p>
            <a:r>
              <a:rPr lang="en-US" altLang="zh-TW" b="1" dirty="0" smtClean="0">
                <a:latin typeface="Cambria" pitchFamily="18" charset="0"/>
              </a:rPr>
              <a:t>Communication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A standard interface using for the communication between different systems.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Vendors exchange messages and services using any language that supports REST or SOAP.</a:t>
            </a:r>
          </a:p>
          <a:p>
            <a:r>
              <a:rPr lang="en-US" altLang="zh-TW" b="1" dirty="0" smtClean="0">
                <a:latin typeface="Cambria" pitchFamily="18" charset="0"/>
              </a:rPr>
              <a:t>Integration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Services are flexible to be modified or integrated into a new service.</a:t>
            </a:r>
          </a:p>
          <a:p>
            <a:r>
              <a:rPr lang="en-US" altLang="zh-TW" b="1" dirty="0" smtClean="0">
                <a:latin typeface="Cambria" pitchFamily="18" charset="0"/>
              </a:rPr>
              <a:t>Cooperation 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Vendors are easy to cooperate with other companies to provide rich services.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79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</a:t>
            </a:r>
            <a:r>
              <a:rPr lang="en-US" altLang="zh-TW" dirty="0"/>
              <a:t>: </a:t>
            </a:r>
            <a:r>
              <a:rPr lang="en-US" altLang="zh-TW" dirty="0" smtClean="0"/>
              <a:t>Provide </a:t>
            </a:r>
            <a:r>
              <a:rPr lang="en-US" altLang="zh-TW" dirty="0" smtClean="0"/>
              <a:t>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219200"/>
            <a:ext cx="8397875" cy="5029200"/>
          </a:xfrm>
        </p:spPr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On-demand software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On-demand: </a:t>
            </a:r>
            <a:r>
              <a:rPr lang="en-US" altLang="zh-TW" dirty="0" smtClean="0">
                <a:latin typeface="Cambria" pitchFamily="18" charset="0"/>
              </a:rPr>
              <a:t>users are easy to make use of applications, like office suite, to do the daily work.</a:t>
            </a:r>
          </a:p>
          <a:p>
            <a:pPr lvl="1"/>
            <a:r>
              <a:rPr lang="en-US" altLang="zh-TW" b="1" i="1" dirty="0" err="1" smtClean="0">
                <a:latin typeface="Cambria" pitchFamily="18" charset="0"/>
              </a:rPr>
              <a:t>Mashup</a:t>
            </a:r>
            <a:r>
              <a:rPr lang="en-US" altLang="zh-TW" b="1" i="1" dirty="0" smtClean="0">
                <a:latin typeface="Cambria" pitchFamily="18" charset="0"/>
              </a:rPr>
              <a:t>: </a:t>
            </a:r>
            <a:r>
              <a:rPr lang="en-US" altLang="zh-TW" dirty="0" smtClean="0">
                <a:latin typeface="Cambria" pitchFamily="18" charset="0"/>
              </a:rPr>
              <a:t>users can make up services as what they want if in need.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Accessibility: </a:t>
            </a:r>
            <a:r>
              <a:rPr lang="en-US" altLang="zh-TW" dirty="0" smtClean="0">
                <a:latin typeface="Cambria" pitchFamily="18" charset="0"/>
              </a:rPr>
              <a:t>users can access service via the portal (e.g., web sites or application widgets) with the variety of devices that can connect to the Internet.</a:t>
            </a:r>
            <a:endParaRPr lang="en-US" altLang="zh-TW" b="1" i="1" dirty="0" smtClean="0">
              <a:latin typeface="Cambria" pitchFamily="18" charset="0"/>
            </a:endParaRPr>
          </a:p>
          <a:p>
            <a:pPr lvl="1"/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Desktop-like environment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Friendly interface: </a:t>
            </a:r>
            <a:r>
              <a:rPr lang="en-US" altLang="zh-TW" dirty="0" smtClean="0">
                <a:latin typeface="Cambria" pitchFamily="18" charset="0"/>
              </a:rPr>
              <a:t>web-based interface is friendly and familiar to users that can reduce the learning curve and need not install extra software.</a:t>
            </a:r>
          </a:p>
          <a:p>
            <a:pPr lvl="1"/>
            <a:r>
              <a:rPr lang="en-US" altLang="zh-TW" b="1" i="1" dirty="0" smtClean="0">
                <a:latin typeface="Cambria" pitchFamily="18" charset="0"/>
              </a:rPr>
              <a:t>Desktop-like: </a:t>
            </a:r>
            <a:r>
              <a:rPr lang="en-US" altLang="zh-TW" dirty="0" smtClean="0">
                <a:latin typeface="Cambria" pitchFamily="18" charset="0"/>
              </a:rPr>
              <a:t>users make use of software without learning the new interface and  the new operating method.</a:t>
            </a:r>
          </a:p>
          <a:p>
            <a:pPr lvl="1"/>
            <a:endParaRPr lang="en-US" altLang="zh-TW" b="1" dirty="0" smtClean="0">
              <a:solidFill>
                <a:schemeClr val="bg2">
                  <a:lumMod val="50000"/>
                </a:schemeClr>
              </a:solidFill>
              <a:latin typeface="Cambria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5600" y="3201075"/>
            <a:ext cx="4150800" cy="311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Properties &amp; Characteristics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Accessibility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Users can access services using variety of devices via browser or application widget and do not need to care about the system or platform operating.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Web 2.0 provides friendly interface that can improve the human-computer interaction.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Interoperability</a:t>
            </a:r>
            <a:r>
              <a:rPr lang="en-US" altLang="zh-TW" dirty="0" smtClean="0">
                <a:latin typeface="Cambria" pitchFamily="18" charset="0"/>
              </a:rPr>
              <a:t> 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Providers should consider the reusability of existing service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or the integration with other services</a:t>
            </a:r>
          </a:p>
          <a:p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</a:rPr>
              <a:t>Reliability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Users need to prevent from accessing each </a:t>
            </a:r>
            <a:br>
              <a:rPr lang="en-US" altLang="zh-TW" dirty="0" smtClean="0">
                <a:latin typeface="Cambria" pitchFamily="18" charset="0"/>
              </a:rPr>
            </a:br>
            <a:r>
              <a:rPr lang="en-US" altLang="zh-TW" dirty="0" smtClean="0">
                <a:latin typeface="Cambria" pitchFamily="18" charset="0"/>
              </a:rPr>
              <a:t>service which may be the phishing.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81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intergrund"/>
          <p:cNvPicPr>
            <a:picLocks noChangeAspect="1" noChangeArrowheads="1"/>
          </p:cNvPicPr>
          <p:nvPr/>
        </p:nvPicPr>
        <p:blipFill>
          <a:blip r:embed="rId2" cstate="print"/>
          <a:srcRect b="7220"/>
          <a:stretch>
            <a:fillRect/>
          </a:stretch>
        </p:blipFill>
        <p:spPr bwMode="auto">
          <a:xfrm>
            <a:off x="0" y="0"/>
            <a:ext cx="9144000" cy="636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SaaS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Breakdown the technique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82</a:t>
            </a:fld>
            <a:endParaRPr lang="zh-TW" altLang="en-US" dirty="0"/>
          </a:p>
        </p:txBody>
      </p:sp>
      <p:pic>
        <p:nvPicPr>
          <p:cNvPr id="9" name="Picture 4" descr="C:\Users\5g\AppData\Local\Microsoft\Windows\Temporary Internet Files\Content.IE5\8HKFLZ3Q\MC90007875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3886200" y="1323975"/>
            <a:ext cx="2743201" cy="2562225"/>
          </a:xfrm>
          <a:prstGeom prst="rect">
            <a:avLst/>
          </a:prstGeom>
          <a:noFill/>
          <a:effectLst>
            <a:reflection blurRad="6350" stA="50000" endA="300" endPos="90000" dist="50800" dir="5400000" sy="-100000" algn="bl" rotWithShape="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Three basic parts :</a:t>
            </a:r>
          </a:p>
          <a:p>
            <a:pPr lvl="1"/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rPr>
              <a:t>WSDL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The description of web service, include the service name, functionality, company’s name, access method…etc.</a:t>
            </a:r>
          </a:p>
          <a:p>
            <a:pPr lvl="1"/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rPr>
              <a:t>SOAP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The communication method used to exchange messages between two nodes.</a:t>
            </a:r>
          </a:p>
          <a:p>
            <a:pPr lvl="1"/>
            <a:r>
              <a:rPr lang="en-US" altLang="zh-TW" b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rPr>
              <a:t>UDDI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A register center which can collection, integration and discovery web services.</a:t>
            </a:r>
            <a:endParaRPr lang="zh-TW" altLang="en-US" dirty="0">
              <a:latin typeface="Cambria" pitchFamily="18" charset="0"/>
            </a:endParaRPr>
          </a:p>
        </p:txBody>
      </p:sp>
      <p:pic>
        <p:nvPicPr>
          <p:cNvPr id="5" name="Picture 2" descr="C:\Users\cmj\Pictures\圖片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3886200"/>
            <a:ext cx="4038600" cy="2353905"/>
          </a:xfrm>
          <a:prstGeom prst="rect">
            <a:avLst/>
          </a:prstGeom>
          <a:noFill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83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2.0 &amp; Browser as a Platform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Cambria" pitchFamily="18" charset="0"/>
              </a:rPr>
              <a:t>Web 2.0 is the trend of using the full potential of the web</a:t>
            </a:r>
          </a:p>
          <a:p>
            <a:pPr lvl="1"/>
            <a:r>
              <a:rPr lang="en-GB" dirty="0" smtClean="0">
                <a:latin typeface="Cambria" pitchFamily="18" charset="0"/>
              </a:rPr>
              <a:t>Viewing the Internet as a computing platform</a:t>
            </a:r>
          </a:p>
          <a:p>
            <a:pPr lvl="1"/>
            <a:r>
              <a:rPr lang="en-GB" dirty="0" smtClean="0">
                <a:latin typeface="Cambria" pitchFamily="18" charset="0"/>
              </a:rPr>
              <a:t>Running interactive applications through a web browser</a:t>
            </a:r>
          </a:p>
          <a:p>
            <a:pPr lvl="1"/>
            <a:r>
              <a:rPr lang="en-GB" dirty="0" smtClean="0">
                <a:latin typeface="Cambria" pitchFamily="18" charset="0"/>
              </a:rPr>
              <a:t>Leveraging interconnectivity and mobility of devices</a:t>
            </a:r>
          </a:p>
          <a:p>
            <a:pPr lvl="1"/>
            <a:r>
              <a:rPr lang="en-GB" dirty="0" smtClean="0">
                <a:latin typeface="Cambria" pitchFamily="18" charset="0"/>
              </a:rPr>
              <a:t>Enhanced effectiveness with greater human participation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3903" y="2819400"/>
            <a:ext cx="5250297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Service-oriented architecture (SOA) is a concept that is used for reducing the cost of money, human resource and development time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Reuse the completed services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Open and standard interface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Service abstract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Loosely coupled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etc.</a:t>
            </a:r>
          </a:p>
          <a:p>
            <a:pPr lvl="1"/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dirty="0" smtClean="0">
                <a:latin typeface="Cambria" pitchFamily="18" charset="0"/>
              </a:rPr>
              <a:t>Example: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Food evaluation website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Blog 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Map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Like button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etc.</a:t>
            </a:r>
          </a:p>
          <a:p>
            <a:pPr lvl="1"/>
            <a:endParaRPr lang="zh-TW" altLang="en-US" dirty="0">
              <a:latin typeface="Cambria" pitchFamily="18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5925344" y="3522712"/>
            <a:ext cx="1152128" cy="432048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service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2" descr="D:\Slide\Graph\m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5384" y="5322912"/>
            <a:ext cx="546784" cy="631900"/>
          </a:xfrm>
          <a:prstGeom prst="rect">
            <a:avLst/>
          </a:prstGeom>
          <a:noFill/>
        </p:spPr>
      </p:pic>
      <p:sp>
        <p:nvSpPr>
          <p:cNvPr id="8" name="橢圓 7"/>
          <p:cNvSpPr/>
          <p:nvPr/>
        </p:nvSpPr>
        <p:spPr>
          <a:xfrm>
            <a:off x="5277272" y="4746848"/>
            <a:ext cx="1368152" cy="43204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service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5133256" y="2514600"/>
            <a:ext cx="1224136" cy="432048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service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7077472" y="2586608"/>
            <a:ext cx="1152128" cy="432048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service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5133256" y="4098776"/>
            <a:ext cx="1152128" cy="432048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service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4053136" y="3450704"/>
            <a:ext cx="1152128" cy="432048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service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13" name="直線接點 12"/>
          <p:cNvCxnSpPr>
            <a:stCxn id="5" idx="0"/>
            <a:endCxn id="9" idx="2"/>
          </p:cNvCxnSpPr>
          <p:nvPr/>
        </p:nvCxnSpPr>
        <p:spPr>
          <a:xfrm rot="16200000" flipV="1">
            <a:off x="5835334" y="2856638"/>
            <a:ext cx="576064" cy="756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5" idx="3"/>
            <a:endCxn id="10" idx="2"/>
          </p:cNvCxnSpPr>
          <p:nvPr/>
        </p:nvCxnSpPr>
        <p:spPr>
          <a:xfrm flipV="1">
            <a:off x="7077472" y="3018656"/>
            <a:ext cx="576064" cy="720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9" idx="3"/>
            <a:endCxn id="10" idx="1"/>
          </p:cNvCxnSpPr>
          <p:nvPr/>
        </p:nvCxnSpPr>
        <p:spPr>
          <a:xfrm>
            <a:off x="6357392" y="2730624"/>
            <a:ext cx="72008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11" idx="3"/>
            <a:endCxn id="5" idx="2"/>
          </p:cNvCxnSpPr>
          <p:nvPr/>
        </p:nvCxnSpPr>
        <p:spPr>
          <a:xfrm flipV="1">
            <a:off x="6285384" y="3954760"/>
            <a:ext cx="216024" cy="3600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1" idx="1"/>
            <a:endCxn id="12" idx="2"/>
          </p:cNvCxnSpPr>
          <p:nvPr/>
        </p:nvCxnSpPr>
        <p:spPr>
          <a:xfrm rot="10800000">
            <a:off x="4629200" y="3882752"/>
            <a:ext cx="504056" cy="4320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1" idx="2"/>
            <a:endCxn id="8" idx="0"/>
          </p:cNvCxnSpPr>
          <p:nvPr/>
        </p:nvCxnSpPr>
        <p:spPr>
          <a:xfrm rot="16200000" flipH="1">
            <a:off x="5727322" y="4512822"/>
            <a:ext cx="216024" cy="2520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7" idx="1"/>
            <a:endCxn id="8" idx="4"/>
          </p:cNvCxnSpPr>
          <p:nvPr/>
        </p:nvCxnSpPr>
        <p:spPr>
          <a:xfrm rot="10800000">
            <a:off x="5961348" y="5178896"/>
            <a:ext cx="324036" cy="459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Authentication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In cloud, user usually use a variety of services at the same time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Key-in username and password repeatedly is annoying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Too many id-password pairs is easy to confusion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Using the same id and password in many web site poses a security risk</a:t>
            </a:r>
          </a:p>
          <a:p>
            <a:endParaRPr lang="en-US" altLang="zh-TW" dirty="0" smtClean="0">
              <a:latin typeface="Cambria" pitchFamily="18" charset="0"/>
            </a:endParaRPr>
          </a:p>
          <a:p>
            <a:pPr lvl="1"/>
            <a:r>
              <a:rPr lang="en-US" altLang="zh-TW" b="1" dirty="0" err="1" smtClean="0">
                <a:solidFill>
                  <a:srgbClr val="C00000"/>
                </a:solidFill>
                <a:latin typeface="Cambria" pitchFamily="18" charset="0"/>
              </a:rPr>
              <a:t>OpenID</a:t>
            </a:r>
            <a:endParaRPr lang="en-US" altLang="zh-TW" b="1" dirty="0" smtClean="0">
              <a:solidFill>
                <a:srgbClr val="C00000"/>
              </a:solidFill>
              <a:latin typeface="Cambria" pitchFamily="18" charset="0"/>
            </a:endParaRPr>
          </a:p>
          <a:p>
            <a:pPr lvl="2"/>
            <a:r>
              <a:rPr lang="en-US" altLang="zh-TW" dirty="0" err="1" smtClean="0">
                <a:latin typeface="Cambria" pitchFamily="18" charset="0"/>
              </a:rPr>
              <a:t>OpenID</a:t>
            </a:r>
            <a:r>
              <a:rPr lang="en-US" altLang="zh-TW" dirty="0" smtClean="0">
                <a:latin typeface="Cambria" pitchFamily="18" charset="0"/>
              </a:rPr>
              <a:t> is a standard that can access many web sites or web services by the same identity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Service provider authenticates the user by the </a:t>
            </a:r>
            <a:r>
              <a:rPr lang="en-US" altLang="zh-TW" dirty="0" err="1" smtClean="0">
                <a:latin typeface="Cambria" pitchFamily="18" charset="0"/>
              </a:rPr>
              <a:t>IdP</a:t>
            </a:r>
            <a:r>
              <a:rPr lang="en-US" altLang="zh-TW" dirty="0" smtClean="0">
                <a:latin typeface="Cambria" pitchFamily="18" charset="0"/>
              </a:rPr>
              <a:t> (identity Provider)</a:t>
            </a:r>
          </a:p>
          <a:p>
            <a:pPr lvl="1"/>
            <a:r>
              <a:rPr lang="en-US" altLang="zh-TW" b="1" dirty="0" smtClean="0">
                <a:solidFill>
                  <a:srgbClr val="C00000"/>
                </a:solidFill>
                <a:latin typeface="Cambria" pitchFamily="18" charset="0"/>
              </a:rPr>
              <a:t>SSO (Single Sign-on)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SSO is an access control of multiple independent service but in the same domain or service vendor</a:t>
            </a:r>
          </a:p>
          <a:p>
            <a:pPr lvl="2"/>
            <a:r>
              <a:rPr lang="en-US" altLang="zh-TW" dirty="0" smtClean="0">
                <a:latin typeface="Cambria" pitchFamily="18" charset="0"/>
              </a:rPr>
              <a:t>User can login once and gains access of all service</a:t>
            </a:r>
            <a:endParaRPr lang="zh-TW" altLang="en-US" dirty="0">
              <a:latin typeface="Cambria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86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SaaS</a:t>
            </a:r>
            <a:r>
              <a:rPr lang="en-US" altLang="zh-TW" dirty="0"/>
              <a:t> : Case Study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latin typeface="Cambria" pitchFamily="18" charset="0"/>
              </a:rPr>
              <a:t>Google products</a:t>
            </a:r>
            <a:r>
              <a:rPr lang="en-US" altLang="zh-TW" dirty="0" smtClean="0">
                <a:latin typeface="Cambria" pitchFamily="18" charset="0"/>
              </a:rPr>
              <a:t> are web-based services </a:t>
            </a:r>
          </a:p>
          <a:p>
            <a:pPr lvl="1"/>
            <a:endParaRPr lang="zh-TW" altLang="en-US" dirty="0">
              <a:latin typeface="Cambria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07988" y="1905000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SaaS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Architecture of Google products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33863" t="18627" r="35661" b="71961"/>
          <a:stretch>
            <a:fillRect/>
          </a:stretch>
        </p:blipFill>
        <p:spPr bwMode="auto">
          <a:xfrm>
            <a:off x="6781800" y="228600"/>
            <a:ext cx="2057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C:\Users\cmj\Pictures\圖片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4650" y="2432050"/>
            <a:ext cx="8393113" cy="4121150"/>
          </a:xfrm>
          <a:prstGeom prst="rect">
            <a:avLst/>
          </a:prstGeom>
          <a:noFill/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87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Mainly written by JavaScript to provide many kinds of office suites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11765" r="1799" b="34902"/>
          <a:stretch>
            <a:fillRect/>
          </a:stretch>
        </p:blipFill>
        <p:spPr bwMode="auto">
          <a:xfrm>
            <a:off x="152400" y="1676400"/>
            <a:ext cx="5096435" cy="2987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SaaS</a:t>
            </a:r>
            <a:r>
              <a:rPr lang="en-US" altLang="zh-TW" dirty="0"/>
              <a:t> : Case Study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l="33863" t="18627" r="35661" b="71961"/>
          <a:stretch>
            <a:fillRect/>
          </a:stretch>
        </p:blipFill>
        <p:spPr bwMode="auto">
          <a:xfrm>
            <a:off x="6781800" y="228600"/>
            <a:ext cx="2057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3163887"/>
            <a:ext cx="5108575" cy="299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22725" y="1676400"/>
            <a:ext cx="5121275" cy="301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88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Web 2.0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Interactive interface with desktop-like environment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Intuitive operation which can ignore the </a:t>
            </a:r>
          </a:p>
          <a:p>
            <a:pPr lvl="1">
              <a:buNone/>
            </a:pPr>
            <a:r>
              <a:rPr lang="en-US" altLang="zh-TW" dirty="0" smtClean="0">
                <a:latin typeface="Cambria" pitchFamily="18" charset="0"/>
              </a:rPr>
              <a:t>	limitation of platform</a:t>
            </a:r>
          </a:p>
          <a:p>
            <a:pPr lvl="1"/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dirty="0" smtClean="0">
                <a:latin typeface="Cambria" pitchFamily="18" charset="0"/>
              </a:rPr>
              <a:t>SOA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Composed of many daily and useful applications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Easy to extend new features without change original </a:t>
            </a:r>
          </a:p>
          <a:p>
            <a:pPr lvl="1">
              <a:buNone/>
            </a:pPr>
            <a:r>
              <a:rPr lang="en-US" altLang="zh-TW" dirty="0" smtClean="0">
                <a:latin typeface="Cambria" pitchFamily="18" charset="0"/>
              </a:rPr>
              <a:t>	architecture</a:t>
            </a:r>
          </a:p>
          <a:p>
            <a:pPr lvl="1"/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dirty="0" smtClean="0">
                <a:latin typeface="Cambria" pitchFamily="18" charset="0"/>
              </a:rPr>
              <a:t>SSO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Reduce the times of log-in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Avoid the phishing to steal passwords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SaaS</a:t>
            </a:r>
            <a:r>
              <a:rPr lang="en-US" altLang="zh-TW" dirty="0"/>
              <a:t> : Case Study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pic>
        <p:nvPicPr>
          <p:cNvPr id="5" name="Picture 2" descr="D:\Slide\Graph\m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3581400"/>
            <a:ext cx="546784" cy="63190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1551" t="24286" r="82551" b="64833"/>
          <a:stretch>
            <a:fillRect/>
          </a:stretch>
        </p:blipFill>
        <p:spPr bwMode="auto">
          <a:xfrm>
            <a:off x="6477000" y="2971800"/>
            <a:ext cx="781049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 t="22530" r="82339" b="70711"/>
          <a:stretch>
            <a:fillRect/>
          </a:stretch>
        </p:blipFill>
        <p:spPr bwMode="auto">
          <a:xfrm>
            <a:off x="5334000" y="3886200"/>
            <a:ext cx="1117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 cstate="print"/>
          <a:srcRect l="1132" t="23624" r="81509" b="70022"/>
          <a:stretch>
            <a:fillRect/>
          </a:stretch>
        </p:blipFill>
        <p:spPr bwMode="auto">
          <a:xfrm>
            <a:off x="7467600" y="3886200"/>
            <a:ext cx="116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群組 20"/>
          <p:cNvGrpSpPr/>
          <p:nvPr/>
        </p:nvGrpSpPr>
        <p:grpSpPr>
          <a:xfrm>
            <a:off x="4724400" y="4419600"/>
            <a:ext cx="2743200" cy="1449481"/>
            <a:chOff x="4343400" y="4800600"/>
            <a:chExt cx="2743200" cy="1449481"/>
          </a:xfrm>
        </p:grpSpPr>
        <p:sp>
          <p:nvSpPr>
            <p:cNvPr id="20" name="雲朵形 19"/>
            <p:cNvSpPr/>
            <p:nvPr/>
          </p:nvSpPr>
          <p:spPr bwMode="auto">
            <a:xfrm>
              <a:off x="4343400" y="4953000"/>
              <a:ext cx="2743200" cy="1219200"/>
            </a:xfrm>
            <a:prstGeom prst="cloud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876800" y="4953000"/>
              <a:ext cx="735013" cy="735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562600" y="5638800"/>
              <a:ext cx="663305" cy="611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096000" y="4800600"/>
              <a:ext cx="687388" cy="687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9" name="群組 16"/>
          <p:cNvGrpSpPr/>
          <p:nvPr/>
        </p:nvGrpSpPr>
        <p:grpSpPr>
          <a:xfrm>
            <a:off x="5638800" y="1524000"/>
            <a:ext cx="2743200" cy="1219200"/>
            <a:chOff x="5638800" y="1447800"/>
            <a:chExt cx="2743200" cy="1219200"/>
          </a:xfrm>
        </p:grpSpPr>
        <p:sp>
          <p:nvSpPr>
            <p:cNvPr id="16" name="雲朵形 15"/>
            <p:cNvSpPr/>
            <p:nvPr/>
          </p:nvSpPr>
          <p:spPr bwMode="auto">
            <a:xfrm>
              <a:off x="5638800" y="1447800"/>
              <a:ext cx="2743200" cy="1219200"/>
            </a:xfrm>
            <a:prstGeom prst="cloud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248400" y="1752600"/>
              <a:ext cx="630238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80" name="Picture 8" descr="D:\Slide\Graph\email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7086600" y="1676400"/>
              <a:ext cx="609600" cy="609600"/>
            </a:xfrm>
            <a:prstGeom prst="rect">
              <a:avLst/>
            </a:prstGeom>
            <a:noFill/>
          </p:spPr>
        </p:pic>
      </p:grpSp>
      <p:cxnSp>
        <p:nvCxnSpPr>
          <p:cNvPr id="19" name="直線接點 18"/>
          <p:cNvCxnSpPr>
            <a:stCxn id="6" idx="0"/>
            <a:endCxn id="16" idx="1"/>
          </p:cNvCxnSpPr>
          <p:nvPr/>
        </p:nvCxnSpPr>
        <p:spPr bwMode="auto">
          <a:xfrm rot="5400000" flipH="1" flipV="1">
            <a:off x="6824013" y="2785414"/>
            <a:ext cx="229898" cy="1428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7" idx="2"/>
            <a:endCxn id="20" idx="3"/>
          </p:cNvCxnSpPr>
          <p:nvPr/>
        </p:nvCxnSpPr>
        <p:spPr bwMode="auto">
          <a:xfrm rot="16200000" flipH="1">
            <a:off x="5769046" y="4314754"/>
            <a:ext cx="450709" cy="203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6" idx="2"/>
            <a:endCxn id="5" idx="0"/>
          </p:cNvCxnSpPr>
          <p:nvPr/>
        </p:nvCxnSpPr>
        <p:spPr bwMode="auto">
          <a:xfrm rot="5400000">
            <a:off x="6732759" y="3446634"/>
            <a:ext cx="228600" cy="4093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5" idx="3"/>
            <a:endCxn id="8" idx="1"/>
          </p:cNvCxnSpPr>
          <p:nvPr/>
        </p:nvCxnSpPr>
        <p:spPr bwMode="auto">
          <a:xfrm>
            <a:off x="7099984" y="3897350"/>
            <a:ext cx="367616" cy="1412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5" idx="1"/>
            <a:endCxn id="7" idx="3"/>
          </p:cNvCxnSpPr>
          <p:nvPr/>
        </p:nvCxnSpPr>
        <p:spPr bwMode="auto">
          <a:xfrm rot="10800000" flipV="1">
            <a:off x="6451600" y="3897350"/>
            <a:ext cx="101600" cy="1412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1" cstate="print"/>
          <a:srcRect l="33863" t="18627" r="35661" b="71961"/>
          <a:stretch>
            <a:fillRect/>
          </a:stretch>
        </p:blipFill>
        <p:spPr bwMode="auto">
          <a:xfrm>
            <a:off x="6781800" y="228600"/>
            <a:ext cx="2057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投影片編號版面配置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89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981200"/>
            <a:ext cx="8397875" cy="585787"/>
          </a:xfrm>
        </p:spPr>
        <p:txBody>
          <a:bodyPr/>
          <a:lstStyle/>
          <a:p>
            <a:pPr algn="ctr">
              <a:buNone/>
            </a:pPr>
            <a:r>
              <a:rPr lang="en-US" sz="2800" b="1" dirty="0" err="1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SaaS</a:t>
            </a:r>
            <a:r>
              <a:rPr lang="en-US" sz="2800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 </a:t>
            </a:r>
            <a:r>
              <a:rPr lang="en-US" altLang="zh-TW" sz="2800" b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Architecture of </a:t>
            </a:r>
            <a:r>
              <a:rPr lang="en-US" altLang="zh-TW" sz="2800" b="1" dirty="0" err="1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</a:rPr>
              <a:t>EyeOS</a:t>
            </a:r>
            <a:endParaRPr lang="en-US" sz="2800" b="1" dirty="0" smtClean="0">
              <a:solidFill>
                <a:schemeClr val="bg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3225" y="230188"/>
            <a:ext cx="5945188" cy="600075"/>
          </a:xfrm>
        </p:spPr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SaaS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2</a:t>
            </a:r>
            <a:endParaRPr lang="en-US" sz="2400" dirty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0"/>
            <a:ext cx="2438400" cy="933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7988" y="1090613"/>
            <a:ext cx="8397875" cy="119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EyeOS</a:t>
            </a:r>
            <a:r>
              <a:rPr kumimoji="0" lang="en-GB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is an open source web desktop following the cloud computing concept that leverages collaboration and communication among users.</a:t>
            </a:r>
          </a:p>
        </p:txBody>
      </p:sp>
      <p:pic>
        <p:nvPicPr>
          <p:cNvPr id="2050" name="Picture 2" descr="C:\Users\cmj\Pictures\圖片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4650" y="2438400"/>
            <a:ext cx="8393113" cy="4121150"/>
          </a:xfrm>
          <a:prstGeom prst="rect">
            <a:avLst/>
          </a:prstGeom>
          <a:noFill/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90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88" y="1090613"/>
            <a:ext cx="8397875" cy="1195387"/>
          </a:xfrm>
        </p:spPr>
        <p:txBody>
          <a:bodyPr/>
          <a:lstStyle/>
          <a:p>
            <a:r>
              <a:rPr lang="en-US" dirty="0" smtClean="0">
                <a:latin typeface="Cambria" pitchFamily="18" charset="0"/>
              </a:rPr>
              <a:t>Mainly written by PHP, XML, and JavaScript. </a:t>
            </a:r>
          </a:p>
          <a:p>
            <a:r>
              <a:rPr lang="en-US" dirty="0" smtClean="0">
                <a:latin typeface="Cambria" pitchFamily="18" charset="0"/>
              </a:rPr>
              <a:t>Acts as a platform </a:t>
            </a:r>
            <a:r>
              <a:rPr lang="en-GB" dirty="0" smtClean="0">
                <a:latin typeface="Cambria" pitchFamily="18" charset="0"/>
              </a:rPr>
              <a:t>including a Desktop environment with several web applications and system utilities.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 smtClean="0">
                <a:solidFill>
                  <a:srgbClr val="C00000"/>
                </a:solidFill>
                <a:latin typeface="Cambria" pitchFamily="18" charset="0"/>
              </a:rPr>
              <a:t>SaaS</a:t>
            </a:r>
            <a:r>
              <a:rPr lang="en-US" sz="2400" dirty="0" smtClean="0">
                <a:solidFill>
                  <a:srgbClr val="C00000"/>
                </a:solidFill>
                <a:latin typeface="Cambria" pitchFamily="18" charset="0"/>
              </a:rPr>
              <a:t> : Case Study 2</a:t>
            </a:r>
            <a:endParaRPr lang="en-US" sz="2400" dirty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0"/>
            <a:ext cx="2438400" cy="933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t="17756" r="176"/>
          <a:stretch>
            <a:fillRect/>
          </a:stretch>
        </p:blipFill>
        <p:spPr bwMode="auto">
          <a:xfrm>
            <a:off x="381000" y="2362200"/>
            <a:ext cx="5369644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 l="40417" t="20769" r="41250" b="42308"/>
          <a:stretch>
            <a:fillRect/>
          </a:stretch>
        </p:blipFill>
        <p:spPr bwMode="auto">
          <a:xfrm>
            <a:off x="5105400" y="2057400"/>
            <a:ext cx="3352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 l="8750" t="21481" r="32500" b="17037"/>
          <a:stretch>
            <a:fillRect/>
          </a:stretch>
        </p:blipFill>
        <p:spPr bwMode="auto">
          <a:xfrm>
            <a:off x="1447800" y="2286000"/>
            <a:ext cx="6629400" cy="390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91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SaaS</a:t>
            </a:r>
            <a:r>
              <a:rPr lang="en-US" dirty="0" smtClean="0"/>
              <a:t> : Summary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latin typeface="Cambria" pitchFamily="18" charset="0"/>
              </a:rPr>
              <a:t>SaaS</a:t>
            </a:r>
            <a:r>
              <a:rPr lang="en-US" b="1" dirty="0" smtClean="0">
                <a:latin typeface="Cambria" pitchFamily="18" charset="0"/>
              </a:rPr>
              <a:t> is the finished applications that you rent and customize.</a:t>
            </a:r>
            <a:br>
              <a:rPr lang="en-US" b="1" dirty="0" smtClean="0">
                <a:latin typeface="Cambria" pitchFamily="18" charset="0"/>
              </a:rPr>
            </a:br>
            <a:endParaRPr lang="en-US" b="1" dirty="0" smtClean="0">
              <a:latin typeface="Cambria" pitchFamily="18" charset="0"/>
            </a:endParaRPr>
          </a:p>
          <a:p>
            <a:r>
              <a:rPr lang="en-US" dirty="0" smtClean="0">
                <a:latin typeface="Cambria" pitchFamily="18" charset="0"/>
              </a:rPr>
              <a:t>Enabling technique : </a:t>
            </a:r>
            <a:r>
              <a:rPr lang="en-US" i="1" dirty="0" smtClean="0">
                <a:latin typeface="Cambria" pitchFamily="18" charset="0"/>
              </a:rPr>
              <a:t>Web Service</a:t>
            </a:r>
          </a:p>
          <a:p>
            <a:pPr lvl="1">
              <a:defRPr/>
            </a:pPr>
            <a:r>
              <a:rPr lang="en-US" i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rPr>
              <a:t>Reuse </a:t>
            </a:r>
          </a:p>
          <a:p>
            <a:pPr lvl="1">
              <a:defRPr/>
            </a:pPr>
            <a:r>
              <a:rPr lang="en-US" i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rPr>
              <a:t>Communication </a:t>
            </a:r>
          </a:p>
          <a:p>
            <a:pPr lvl="1">
              <a:defRPr/>
            </a:pPr>
            <a:r>
              <a:rPr lang="en-US" i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rPr>
              <a:t>Integration </a:t>
            </a:r>
          </a:p>
          <a:p>
            <a:pPr lvl="1">
              <a:defRPr/>
            </a:pPr>
            <a:r>
              <a:rPr lang="en-US" i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rPr>
              <a:t>Cooperation</a:t>
            </a:r>
            <a:r>
              <a:rPr lang="en-US" dirty="0" smtClean="0">
                <a:latin typeface="Cambria" pitchFamily="18" charset="0"/>
              </a:rPr>
              <a:t/>
            </a:r>
            <a:br>
              <a:rPr lang="en-US" dirty="0" smtClean="0">
                <a:latin typeface="Cambria" pitchFamily="18" charset="0"/>
              </a:rPr>
            </a:br>
            <a:endParaRPr lang="en-US" dirty="0" smtClean="0">
              <a:latin typeface="Cambria" pitchFamily="18" charset="0"/>
            </a:endParaRPr>
          </a:p>
          <a:p>
            <a:r>
              <a:rPr lang="en-US" dirty="0" smtClean="0">
                <a:latin typeface="Cambria" pitchFamily="18" charset="0"/>
              </a:rPr>
              <a:t>Exploit the web service to provide :</a:t>
            </a:r>
          </a:p>
          <a:p>
            <a:pPr lvl="1"/>
            <a:r>
              <a:rPr lang="en-US" i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rPr>
              <a:t>Service composition and mash-up</a:t>
            </a:r>
          </a:p>
          <a:p>
            <a:pPr lvl="1"/>
            <a:r>
              <a:rPr lang="en-US" i="1" dirty="0" smtClean="0">
                <a:solidFill>
                  <a:schemeClr val="bg2">
                    <a:lumMod val="75000"/>
                  </a:schemeClr>
                </a:solidFill>
                <a:latin typeface="Cambria" pitchFamily="18" charset="0"/>
                <a:ea typeface="+mn-ea"/>
                <a:cs typeface="+mn-cs"/>
              </a:rPr>
              <a:t>Accessing services from any where and cross platform</a:t>
            </a:r>
          </a:p>
          <a:p>
            <a:pPr lvl="1"/>
            <a:endParaRPr lang="en-US" i="1" dirty="0" smtClean="0">
              <a:solidFill>
                <a:schemeClr val="bg2">
                  <a:lumMod val="75000"/>
                </a:schemeClr>
              </a:solidFill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92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7988" y="1524000"/>
            <a:ext cx="4392612" cy="1524000"/>
          </a:xfrm>
        </p:spPr>
        <p:txBody>
          <a:bodyPr/>
          <a:lstStyle/>
          <a:p>
            <a:r>
              <a:rPr lang="en-US" altLang="zh-TW" dirty="0" smtClean="0">
                <a:latin typeface="Cambria" pitchFamily="18" charset="0"/>
              </a:rPr>
              <a:t>Lower IT operating and capital costs</a:t>
            </a:r>
          </a:p>
          <a:p>
            <a:r>
              <a:rPr lang="en-US" altLang="zh-TW" dirty="0" smtClean="0">
                <a:latin typeface="Cambria" pitchFamily="18" charset="0"/>
              </a:rPr>
              <a:t>Fine grained and rapid provisioning</a:t>
            </a:r>
          </a:p>
          <a:p>
            <a:r>
              <a:rPr lang="en-US" altLang="zh-TW" dirty="0" smtClean="0">
                <a:latin typeface="Cambria" pitchFamily="18" charset="0"/>
              </a:rPr>
              <a:t>Removing IT complexity</a:t>
            </a:r>
          </a:p>
          <a:p>
            <a:r>
              <a:rPr lang="en-US" altLang="zh-TW" dirty="0" smtClean="0">
                <a:latin typeface="Cambria" pitchFamily="18" charset="0"/>
              </a:rPr>
              <a:t>Pay for what is used</a:t>
            </a:r>
            <a:endParaRPr lang="zh-TW" altLang="en-US" dirty="0">
              <a:latin typeface="Cambria" pitchFamily="18" charset="0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403225" y="1143000"/>
            <a:ext cx="57531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0168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zh-TW" sz="2400" b="1" i="1" dirty="0" smtClean="0">
                <a:solidFill>
                  <a:schemeClr val="bg2">
                    <a:lumMod val="50000"/>
                  </a:schemeClr>
                </a:solidFill>
                <a:ea typeface="新細明體" pitchFamily="18" charset="-120"/>
              </a:rPr>
              <a:t>Values and Effects 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32217" y="2438400"/>
            <a:ext cx="528798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投影片編號版面配置區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93</a:t>
            </a:fld>
            <a:endParaRPr lang="zh-TW" altLang="en-US" dirty="0"/>
          </a:p>
        </p:txBody>
      </p:sp>
      <p:sp>
        <p:nvSpPr>
          <p:cNvPr id="12" name="內容版面配置區 2"/>
          <p:cNvSpPr txBox="1">
            <a:spLocks/>
          </p:cNvSpPr>
          <p:nvPr/>
        </p:nvSpPr>
        <p:spPr bwMode="auto">
          <a:xfrm>
            <a:off x="381000" y="3536949"/>
            <a:ext cx="4392612" cy="29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000" kern="0" dirty="0" smtClean="0">
                <a:latin typeface="Cambria" pitchFamily="18" charset="0"/>
              </a:rPr>
              <a:t>Upstream – </a:t>
            </a:r>
            <a:r>
              <a:rPr lang="en-US" altLang="zh-TW" sz="2000" kern="0" dirty="0" err="1" smtClean="0">
                <a:latin typeface="Cambria" pitchFamily="18" charset="0"/>
              </a:rPr>
              <a:t>IaaS</a:t>
            </a:r>
            <a:r>
              <a:rPr lang="en-US" altLang="zh-TW" sz="2000" kern="0" dirty="0" smtClean="0">
                <a:latin typeface="Cambria" pitchFamily="18" charset="0"/>
              </a:rPr>
              <a:t> provider</a:t>
            </a:r>
          </a:p>
          <a:p>
            <a:pPr marL="647700" lvl="1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kern="0" dirty="0" smtClean="0">
                <a:latin typeface="Cambria" pitchFamily="18" charset="0"/>
              </a:rPr>
              <a:t>Amazon EC2, CHT </a:t>
            </a:r>
            <a:r>
              <a:rPr lang="en-US" altLang="zh-TW" kern="0" dirty="0" err="1" smtClean="0">
                <a:latin typeface="Cambria" pitchFamily="18" charset="0"/>
              </a:rPr>
              <a:t>hicloud</a:t>
            </a:r>
            <a:r>
              <a:rPr lang="en-US" altLang="zh-TW" kern="0" dirty="0" smtClean="0">
                <a:latin typeface="Cambria" pitchFamily="18" charset="0"/>
              </a:rPr>
              <a:t>, </a:t>
            </a:r>
            <a:r>
              <a:rPr lang="en-US" altLang="zh-TW" kern="0" dirty="0" err="1" smtClean="0">
                <a:latin typeface="Cambria" pitchFamily="18" charset="0"/>
              </a:rPr>
              <a:t>ect</a:t>
            </a:r>
            <a:r>
              <a:rPr lang="en-US" altLang="zh-TW" kern="0" dirty="0" smtClean="0">
                <a:latin typeface="Cambria" pitchFamily="18" charset="0"/>
              </a:rPr>
              <a:t>.</a:t>
            </a:r>
          </a:p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000" kern="0" dirty="0" smtClean="0">
                <a:latin typeface="Cambria" pitchFamily="18" charset="0"/>
              </a:rPr>
              <a:t>Midstream – </a:t>
            </a:r>
            <a:r>
              <a:rPr lang="en-US" altLang="zh-TW" sz="2000" kern="0" dirty="0" err="1" smtClean="0">
                <a:latin typeface="Cambria" pitchFamily="18" charset="0"/>
              </a:rPr>
              <a:t>PaaS</a:t>
            </a:r>
            <a:r>
              <a:rPr lang="en-US" altLang="zh-TW" sz="2000" kern="0" dirty="0" smtClean="0">
                <a:latin typeface="Cambria" pitchFamily="18" charset="0"/>
              </a:rPr>
              <a:t> provider</a:t>
            </a:r>
          </a:p>
          <a:p>
            <a:pPr marL="647700" lvl="1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kern="0" dirty="0" smtClean="0">
                <a:latin typeface="Cambria" pitchFamily="18" charset="0"/>
              </a:rPr>
              <a:t>Google GAE, Windows Azure, etc.</a:t>
            </a:r>
          </a:p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000" kern="0" dirty="0" smtClean="0">
                <a:latin typeface="Cambria" pitchFamily="18" charset="0"/>
              </a:rPr>
              <a:t>Downstream – </a:t>
            </a:r>
            <a:r>
              <a:rPr lang="en-US" altLang="zh-TW" sz="2000" kern="0" dirty="0" err="1" smtClean="0">
                <a:latin typeface="Cambria" pitchFamily="18" charset="0"/>
              </a:rPr>
              <a:t>SaaS</a:t>
            </a:r>
            <a:r>
              <a:rPr lang="en-US" altLang="zh-TW" sz="2000" kern="0" dirty="0" smtClean="0">
                <a:latin typeface="Cambria" pitchFamily="18" charset="0"/>
              </a:rPr>
              <a:t> provider</a:t>
            </a:r>
          </a:p>
          <a:p>
            <a:pPr marL="647700" lvl="1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kern="0" dirty="0" smtClean="0">
                <a:latin typeface="Cambria" pitchFamily="18" charset="0"/>
              </a:rPr>
              <a:t>Saleforce.com, Google docs, etc.</a:t>
            </a:r>
          </a:p>
          <a:p>
            <a:pPr marL="190500" lvl="0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sz="2000" kern="0" dirty="0" smtClean="0">
                <a:latin typeface="Cambria" pitchFamily="18" charset="0"/>
              </a:rPr>
              <a:t>End Users</a:t>
            </a:r>
          </a:p>
          <a:p>
            <a:pPr marL="647700" lvl="1" indent="-1905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zh-TW" kern="0" dirty="0" smtClean="0">
                <a:latin typeface="Cambria" pitchFamily="18" charset="0"/>
              </a:rPr>
              <a:t>Thin client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76237" y="3124200"/>
            <a:ext cx="3205163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0168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zh-TW" sz="2400" b="1" i="1" dirty="0" smtClean="0">
                <a:solidFill>
                  <a:schemeClr val="bg2">
                    <a:lumMod val="50000"/>
                  </a:schemeClr>
                </a:solidFill>
                <a:ea typeface="新細明體" pitchFamily="18" charset="-120"/>
              </a:rPr>
              <a:t>Supply Chain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07988" y="1752600"/>
            <a:ext cx="4122737" cy="4137024"/>
          </a:xfrm>
        </p:spPr>
        <p:txBody>
          <a:bodyPr>
            <a:normAutofit/>
          </a:bodyPr>
          <a:lstStyle/>
          <a:p>
            <a:r>
              <a:rPr lang="en-US" altLang="zh-TW" sz="2000" b="1" i="1" dirty="0" smtClean="0">
                <a:latin typeface="Cambria" pitchFamily="18" charset="0"/>
              </a:rPr>
              <a:t>Data governance</a:t>
            </a:r>
          </a:p>
          <a:p>
            <a:pPr lvl="1"/>
            <a:r>
              <a:rPr lang="en-US" altLang="zh-TW" sz="1800" dirty="0" smtClean="0">
                <a:latin typeface="Cambria" pitchFamily="18" charset="0"/>
                <a:ea typeface="+mn-ea"/>
                <a:cs typeface="+mn-cs"/>
              </a:rPr>
              <a:t>Conflicts of data access policies</a:t>
            </a:r>
          </a:p>
          <a:p>
            <a:r>
              <a:rPr lang="en-US" altLang="zh-TW" sz="2000" b="1" i="1" dirty="0" smtClean="0">
                <a:latin typeface="Cambria" pitchFamily="18" charset="0"/>
              </a:rPr>
              <a:t>Virtualization security</a:t>
            </a:r>
          </a:p>
          <a:p>
            <a:pPr lvl="1"/>
            <a:r>
              <a:rPr lang="en-US" altLang="zh-TW" sz="1800" dirty="0" smtClean="0">
                <a:latin typeface="Cambria" pitchFamily="18" charset="0"/>
                <a:ea typeface="+mn-ea"/>
                <a:cs typeface="+mn-cs"/>
              </a:rPr>
              <a:t>Secure control/monitoring of VMs</a:t>
            </a:r>
          </a:p>
          <a:p>
            <a:r>
              <a:rPr lang="en-US" altLang="zh-TW" sz="2000" b="1" i="1" dirty="0" smtClean="0">
                <a:latin typeface="Cambria" pitchFamily="18" charset="0"/>
              </a:rPr>
              <a:t>Reliability and availability</a:t>
            </a:r>
          </a:p>
          <a:p>
            <a:pPr lvl="1"/>
            <a:r>
              <a:rPr lang="en-US" altLang="zh-TW" sz="1800" dirty="0" smtClean="0">
                <a:latin typeface="Cambria" pitchFamily="18" charset="0"/>
                <a:ea typeface="+mn-ea"/>
                <a:cs typeface="+mn-cs"/>
              </a:rPr>
              <a:t>Quality-of-service &amp; charging</a:t>
            </a:r>
          </a:p>
          <a:p>
            <a:r>
              <a:rPr lang="en-US" altLang="zh-TW" sz="2000" b="1" i="1" dirty="0" smtClean="0">
                <a:latin typeface="Cambria" pitchFamily="18" charset="0"/>
              </a:rPr>
              <a:t>Performance Issue</a:t>
            </a:r>
          </a:p>
          <a:p>
            <a:pPr lvl="1"/>
            <a:r>
              <a:rPr lang="en-US" altLang="zh-TW" sz="1800" dirty="0" smtClean="0">
                <a:latin typeface="Cambria" pitchFamily="18" charset="0"/>
                <a:ea typeface="+mn-ea"/>
                <a:cs typeface="+mn-cs"/>
              </a:rPr>
              <a:t>Virtualization and automation</a:t>
            </a:r>
            <a:endParaRPr lang="zh-TW" altLang="en-US" sz="1800" dirty="0" smtClean="0">
              <a:latin typeface="Cambria" pitchFamily="18" charset="0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17" name="內容版面配置區 16"/>
          <p:cNvSpPr>
            <a:spLocks noGrp="1"/>
          </p:cNvSpPr>
          <p:nvPr>
            <p:ph sz="half" idx="2"/>
          </p:nvPr>
        </p:nvSpPr>
        <p:spPr>
          <a:xfrm>
            <a:off x="4683125" y="1752600"/>
            <a:ext cx="4122738" cy="4137024"/>
          </a:xfrm>
        </p:spPr>
        <p:txBody>
          <a:bodyPr>
            <a:normAutofit/>
          </a:bodyPr>
          <a:lstStyle/>
          <a:p>
            <a:r>
              <a:rPr lang="en-US" altLang="zh-TW" sz="2000" b="1" i="1" dirty="0" smtClean="0">
                <a:latin typeface="Cambria" pitchFamily="18" charset="0"/>
              </a:rPr>
              <a:t>Everything in the cloud?</a:t>
            </a:r>
          </a:p>
          <a:p>
            <a:pPr lvl="1"/>
            <a:r>
              <a:rPr lang="en-US" altLang="zh-TW" sz="1800" dirty="0" smtClean="0">
                <a:latin typeface="Cambria" pitchFamily="18" charset="0"/>
                <a:ea typeface="+mn-ea"/>
                <a:cs typeface="+mn-cs"/>
              </a:rPr>
              <a:t>Security- or SLA-sensitive applications</a:t>
            </a:r>
          </a:p>
          <a:p>
            <a:pPr lvl="2"/>
            <a:r>
              <a:rPr lang="en-US" altLang="zh-TW" sz="1600" dirty="0" smtClean="0">
                <a:latin typeface="Cambria" pitchFamily="18" charset="0"/>
                <a:ea typeface="+mn-ea"/>
                <a:cs typeface="+mn-cs"/>
              </a:rPr>
              <a:t>e.g., banking system</a:t>
            </a:r>
          </a:p>
          <a:p>
            <a:r>
              <a:rPr lang="en-US" altLang="zh-TW" sz="2000" b="1" i="1" dirty="0" smtClean="0">
                <a:latin typeface="Cambria" pitchFamily="18" charset="0"/>
              </a:rPr>
              <a:t>WAN-sensitive cloud</a:t>
            </a:r>
          </a:p>
          <a:p>
            <a:pPr lvl="1"/>
            <a:r>
              <a:rPr lang="en-US" altLang="zh-TW" sz="1800" dirty="0" smtClean="0">
                <a:latin typeface="Cambria" pitchFamily="18" charset="0"/>
                <a:ea typeface="+mn-ea"/>
                <a:cs typeface="+mn-cs"/>
              </a:rPr>
              <a:t>Large data communication required</a:t>
            </a:r>
          </a:p>
          <a:p>
            <a:r>
              <a:rPr lang="en-US" altLang="zh-TW" sz="2000" b="1" i="1" dirty="0" smtClean="0">
                <a:latin typeface="Cambria" pitchFamily="18" charset="0"/>
              </a:rPr>
              <a:t>Inter-Cloud service</a:t>
            </a:r>
          </a:p>
          <a:p>
            <a:pPr lvl="1"/>
            <a:r>
              <a:rPr lang="en-US" altLang="zh-TW" sz="1800" dirty="0" smtClean="0">
                <a:latin typeface="Cambria" pitchFamily="18" charset="0"/>
                <a:ea typeface="+mn-ea"/>
                <a:cs typeface="+mn-cs"/>
              </a:rPr>
              <a:t>No common protocol between cloud vendors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403225" y="1241425"/>
            <a:ext cx="4092575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0168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zh-TW" sz="2400" b="1" i="1" dirty="0" smtClean="0">
                <a:solidFill>
                  <a:schemeClr val="bg2">
                    <a:lumMod val="50000"/>
                  </a:schemeClr>
                </a:solidFill>
                <a:ea typeface="新細明體" pitchFamily="18" charset="-120"/>
              </a:rPr>
              <a:t>Challenges 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94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dirty="0" smtClean="0">
                <a:latin typeface="Cambria" pitchFamily="18" charset="0"/>
              </a:rPr>
              <a:t>Long divided, must unite; long united, must divide</a:t>
            </a:r>
          </a:p>
          <a:p>
            <a:endParaRPr lang="en-US" altLang="zh-TW" dirty="0" smtClean="0">
              <a:latin typeface="Cambria" pitchFamily="18" charset="0"/>
            </a:endParaRPr>
          </a:p>
          <a:p>
            <a:r>
              <a:rPr lang="en-US" altLang="zh-TW" dirty="0" smtClean="0">
                <a:latin typeface="Cambria" pitchFamily="18" charset="0"/>
              </a:rPr>
              <a:t>Cloud computing is a new paradigm shift of computing</a:t>
            </a:r>
            <a:r>
              <a:rPr lang="zh-TW" altLang="en-US" dirty="0" smtClean="0">
                <a:latin typeface="Cambria" pitchFamily="18" charset="0"/>
              </a:rPr>
              <a:t> </a:t>
            </a:r>
            <a:r>
              <a:rPr lang="en-US" altLang="zh-TW" dirty="0" smtClean="0">
                <a:latin typeface="Cambria" pitchFamily="18" charset="0"/>
              </a:rPr>
              <a:t>based on enabling techniques to provide services that can be used to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Rent fundamental computing resources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Deploy and develop customer-created applications on clouds </a:t>
            </a:r>
          </a:p>
          <a:p>
            <a:pPr lvl="1"/>
            <a:r>
              <a:rPr lang="en-US" altLang="zh-TW" dirty="0" smtClean="0">
                <a:latin typeface="Cambria" pitchFamily="18" charset="0"/>
              </a:rPr>
              <a:t>Access provider’s applications over network (wired or wireless)</a:t>
            </a:r>
          </a:p>
          <a:p>
            <a:endParaRPr lang="en-GB" altLang="zh-TW" dirty="0" smtClean="0">
              <a:latin typeface="Cambria" pitchFamily="18" charset="0"/>
            </a:endParaRPr>
          </a:p>
          <a:p>
            <a:r>
              <a:rPr lang="en-GB" altLang="zh-TW" dirty="0" smtClean="0">
                <a:latin typeface="Cambria" pitchFamily="18" charset="0"/>
              </a:rPr>
              <a:t>Ensure interoperability, ease of integration and portability between services from different vendors</a:t>
            </a:r>
          </a:p>
          <a:p>
            <a:pPr lvl="1"/>
            <a:r>
              <a:rPr lang="en-GB" altLang="zh-TW" dirty="0" smtClean="0">
                <a:latin typeface="Cambria" pitchFamily="18" charset="0"/>
              </a:rPr>
              <a:t>Open standards</a:t>
            </a:r>
          </a:p>
          <a:p>
            <a:endParaRPr lang="en-US" altLang="zh-TW" sz="6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95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7" descr="Hintergru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Line 22"/>
          <p:cNvSpPr>
            <a:spLocks noChangeShapeType="1"/>
          </p:cNvSpPr>
          <p:nvPr/>
        </p:nvSpPr>
        <p:spPr bwMode="auto">
          <a:xfrm>
            <a:off x="676275" y="3695700"/>
            <a:ext cx="3114675" cy="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61" name="Rectangle 26">
            <a:hlinkClick r:id="rId4"/>
          </p:cNvPr>
          <p:cNvSpPr>
            <a:spLocks noChangeArrowheads="1"/>
          </p:cNvSpPr>
          <p:nvPr/>
        </p:nvSpPr>
        <p:spPr bwMode="auto">
          <a:xfrm>
            <a:off x="4533900" y="5100638"/>
            <a:ext cx="2066925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TW">
              <a:ea typeface="新細明體" pitchFamily="18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74982" y="2810470"/>
            <a:ext cx="172354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5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Arial" charset="0"/>
              </a:rPr>
              <a:t>Q&amp;A</a:t>
            </a:r>
            <a:endParaRPr lang="zh-TW" altLang="en-US" sz="54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381000" y="1752600"/>
            <a:ext cx="57531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01688">
              <a:defRPr/>
            </a:pPr>
            <a:r>
              <a:rPr lang="de-DE" altLang="zh-TW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新細明體" charset="-120"/>
              </a:rPr>
              <a:t>Thank you for your participation !!</a:t>
            </a:r>
          </a:p>
        </p:txBody>
      </p:sp>
      <p:pic>
        <p:nvPicPr>
          <p:cNvPr id="8" name="Picture 2" descr="C:\Documents and Settings\5G\Local Settings\Temporary Internet Files\Content.IE5\05I38XQJ\MCj02982830000[1]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3600" y="2971800"/>
            <a:ext cx="577850" cy="866775"/>
          </a:xfrm>
          <a:prstGeom prst="rect">
            <a:avLst/>
          </a:prstGeom>
          <a:noFill/>
        </p:spPr>
      </p:pic>
      <p:pic>
        <p:nvPicPr>
          <p:cNvPr id="9" name="Picture 4" descr="C:\Documents and Settings\5G\Local Settings\Temporary Internet Files\Content.IE5\4TUVSL27\MCj0383550000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1000" y="4343400"/>
            <a:ext cx="567971" cy="1247878"/>
          </a:xfrm>
          <a:prstGeom prst="rect">
            <a:avLst/>
          </a:prstGeom>
          <a:noFill/>
        </p:spPr>
      </p:pic>
      <p:sp>
        <p:nvSpPr>
          <p:cNvPr id="10" name="投影片編號版面配置區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TW" smtClean="0"/>
              <a:t>Page </a:t>
            </a:r>
            <a:fld id="{73DA0BB7-265A-403C-9275-D587AB510EDC}" type="slidenum">
              <a:rPr lang="zh-TW" altLang="en-US" smtClean="0"/>
              <a:pPr/>
              <a:t>96</a:t>
            </a:fld>
            <a:endParaRPr lang="zh-TW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tandarddesign">
  <a:themeElements>
    <a:clrScheme name="1_Standarddesign 1">
      <a:dk1>
        <a:srgbClr val="000000"/>
      </a:dk1>
      <a:lt1>
        <a:srgbClr val="FFFFFF"/>
      </a:lt1>
      <a:dk2>
        <a:srgbClr val="494949"/>
      </a:dk2>
      <a:lt2>
        <a:srgbClr val="3E7EA6"/>
      </a:lt2>
      <a:accent1>
        <a:srgbClr val="6E6E6E"/>
      </a:accent1>
      <a:accent2>
        <a:srgbClr val="9B9B9B"/>
      </a:accent2>
      <a:accent3>
        <a:srgbClr val="FFFFFF"/>
      </a:accent3>
      <a:accent4>
        <a:srgbClr val="000000"/>
      </a:accent4>
      <a:accent5>
        <a:srgbClr val="BABABA"/>
      </a:accent5>
      <a:accent6>
        <a:srgbClr val="8C8C8C"/>
      </a:accent6>
      <a:hlink>
        <a:srgbClr val="C1C1C1"/>
      </a:hlink>
      <a:folHlink>
        <a:srgbClr val="E6E6E6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494949"/>
        </a:dk2>
        <a:lt2>
          <a:srgbClr val="3E7EA6"/>
        </a:lt2>
        <a:accent1>
          <a:srgbClr val="6E6E6E"/>
        </a:accent1>
        <a:accent2>
          <a:srgbClr val="9B9B9B"/>
        </a:accent2>
        <a:accent3>
          <a:srgbClr val="FFFFFF"/>
        </a:accent3>
        <a:accent4>
          <a:srgbClr val="000000"/>
        </a:accent4>
        <a:accent5>
          <a:srgbClr val="BABABA"/>
        </a:accent5>
        <a:accent6>
          <a:srgbClr val="8C8C8C"/>
        </a:accent6>
        <a:hlink>
          <a:srgbClr val="C1C1C1"/>
        </a:hlink>
        <a:folHlink>
          <a:srgbClr val="E6E6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Standarddesign">
  <a:themeElements>
    <a:clrScheme name="1_Standarddesign 1">
      <a:dk1>
        <a:srgbClr val="000000"/>
      </a:dk1>
      <a:lt1>
        <a:srgbClr val="FFFFFF"/>
      </a:lt1>
      <a:dk2>
        <a:srgbClr val="494949"/>
      </a:dk2>
      <a:lt2>
        <a:srgbClr val="3E7EA6"/>
      </a:lt2>
      <a:accent1>
        <a:srgbClr val="6E6E6E"/>
      </a:accent1>
      <a:accent2>
        <a:srgbClr val="9B9B9B"/>
      </a:accent2>
      <a:accent3>
        <a:srgbClr val="FFFFFF"/>
      </a:accent3>
      <a:accent4>
        <a:srgbClr val="000000"/>
      </a:accent4>
      <a:accent5>
        <a:srgbClr val="BABABA"/>
      </a:accent5>
      <a:accent6>
        <a:srgbClr val="8C8C8C"/>
      </a:accent6>
      <a:hlink>
        <a:srgbClr val="C1C1C1"/>
      </a:hlink>
      <a:folHlink>
        <a:srgbClr val="E6E6E6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494949"/>
        </a:dk2>
        <a:lt2>
          <a:srgbClr val="3E7EA6"/>
        </a:lt2>
        <a:accent1>
          <a:srgbClr val="6E6E6E"/>
        </a:accent1>
        <a:accent2>
          <a:srgbClr val="9B9B9B"/>
        </a:accent2>
        <a:accent3>
          <a:srgbClr val="FFFFFF"/>
        </a:accent3>
        <a:accent4>
          <a:srgbClr val="000000"/>
        </a:accent4>
        <a:accent5>
          <a:srgbClr val="BABABA"/>
        </a:accent5>
        <a:accent6>
          <a:srgbClr val="8C8C8C"/>
        </a:accent6>
        <a:hlink>
          <a:srgbClr val="C1C1C1"/>
        </a:hlink>
        <a:folHlink>
          <a:srgbClr val="E6E6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Metal-Silver</Template>
  <TotalTime>10814</TotalTime>
  <Words>3682</Words>
  <Application>Microsoft Office PowerPoint</Application>
  <PresentationFormat>如螢幕大小 (4:3)</PresentationFormat>
  <Paragraphs>820</Paragraphs>
  <Slides>96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96</vt:i4>
      </vt:variant>
    </vt:vector>
  </HeadingPairs>
  <TitlesOfParts>
    <vt:vector size="98" baseType="lpstr">
      <vt:lpstr>1_Standarddesign</vt:lpstr>
      <vt:lpstr>2_Standarddesign</vt:lpstr>
      <vt:lpstr>Cloud Computing : Break Down the Techniques</vt:lpstr>
      <vt:lpstr>Outline </vt:lpstr>
      <vt:lpstr>In Our Humble Opinion</vt:lpstr>
      <vt:lpstr>Long divided, must unite; long united, must divide.</vt:lpstr>
      <vt:lpstr>Hardware</vt:lpstr>
      <vt:lpstr>Software Stack</vt:lpstr>
      <vt:lpstr>Dissimilarity</vt:lpstr>
      <vt:lpstr>Cloud computing inside</vt:lpstr>
      <vt:lpstr>Cloud Service Model : Overview</vt:lpstr>
      <vt:lpstr>Cloud Service Model : Looking Inside</vt:lpstr>
      <vt:lpstr>IaaS Infrastructure as a Service</vt:lpstr>
      <vt:lpstr>IaaS : Infrastructure as a Service</vt:lpstr>
      <vt:lpstr>IaaS : Enabling Techniques</vt:lpstr>
      <vt:lpstr>IaaS: Provide Services</vt:lpstr>
      <vt:lpstr>Properties &amp; Characteristics</vt:lpstr>
      <vt:lpstr>IaaS</vt:lpstr>
      <vt:lpstr>IaaS : Resource Virtualization</vt:lpstr>
      <vt:lpstr>IaaS : Virtual Machine Monitor</vt:lpstr>
      <vt:lpstr>IaaS : Full Virtualization</vt:lpstr>
      <vt:lpstr>IaaS : Para Virtualization</vt:lpstr>
      <vt:lpstr>IaaS : Xen vs. KVM + QEMU</vt:lpstr>
      <vt:lpstr>IaaS : Server Virtualization – CPU Virtualization</vt:lpstr>
      <vt:lpstr>IaaS : Server Virtualization – CPU Virtualization</vt:lpstr>
      <vt:lpstr>IaaS : Server Virtualization – CPU Virtualization</vt:lpstr>
      <vt:lpstr>IaaS : Server Virtualization – CPU Virtualization</vt:lpstr>
      <vt:lpstr>IaaS : Server Virtualization – CPU Virtualization</vt:lpstr>
      <vt:lpstr>IaaS : Server Virtualization – Memory Virtualization</vt:lpstr>
      <vt:lpstr>IaaS : Server Virtualization – Memory Virtualization</vt:lpstr>
      <vt:lpstr>IaaS : Server Virtualization – Memory Virtualization</vt:lpstr>
      <vt:lpstr>IaaS : Server Virtualization – Memory Virtualization</vt:lpstr>
      <vt:lpstr>IaaS : Server Virtualization – IO Virtualization</vt:lpstr>
      <vt:lpstr>IaaS : Server Virtualization – IO Virtualization</vt:lpstr>
      <vt:lpstr>IaaS : Server Virtualization – IO Virtualization</vt:lpstr>
      <vt:lpstr>IaaS : Server Virtualization – IO Virtualization</vt:lpstr>
      <vt:lpstr>IaaS : Storage Virtualization</vt:lpstr>
      <vt:lpstr>IaaS : Storage Virtualization</vt:lpstr>
      <vt:lpstr>IaaS : Storage Virtualization</vt:lpstr>
      <vt:lpstr>IaaS : Storage Virtualization</vt:lpstr>
      <vt:lpstr>IaaS : Storage Virtualization</vt:lpstr>
      <vt:lpstr>IaaS : Storage Virtualization</vt:lpstr>
      <vt:lpstr>IaaS : Network Virtualization</vt:lpstr>
      <vt:lpstr>IaaS : Network Virtualization</vt:lpstr>
      <vt:lpstr>IaaS : Network Virtualization – External NV</vt:lpstr>
      <vt:lpstr>IaaS : Network Virtualization – Internal NV</vt:lpstr>
      <vt:lpstr>IaaS : Network Virtualization – Internal NV</vt:lpstr>
      <vt:lpstr>IaaS : Network Virtualization – Internal NV</vt:lpstr>
      <vt:lpstr>IaaS : Network Virtualization – Internal NV</vt:lpstr>
      <vt:lpstr>IaaS : Case Study 1</vt:lpstr>
      <vt:lpstr>IaaS : Case Study 1</vt:lpstr>
      <vt:lpstr>IaaS : Case Study 2</vt:lpstr>
      <vt:lpstr>IaaS : Case Study 2</vt:lpstr>
      <vt:lpstr>IaaS : Case Study 2</vt:lpstr>
      <vt:lpstr>IaaS : Case Study 2</vt:lpstr>
      <vt:lpstr>IaaS : Case Study 2</vt:lpstr>
      <vt:lpstr>IaaS : Case Study 2</vt:lpstr>
      <vt:lpstr>IaaS : Case Study 2</vt:lpstr>
      <vt:lpstr>IaaS : Summary</vt:lpstr>
      <vt:lpstr>PaaS Platform as a Service</vt:lpstr>
      <vt:lpstr>PaaS : Platform as a Service</vt:lpstr>
      <vt:lpstr>PaaS : Enabling Techniques</vt:lpstr>
      <vt:lpstr>PaaS : Provide Services</vt:lpstr>
      <vt:lpstr>Properties &amp; Characteristics</vt:lpstr>
      <vt:lpstr>PaaS</vt:lpstr>
      <vt:lpstr>PaaS : Google vs. Open Source</vt:lpstr>
      <vt:lpstr>PaaS : Case Study 1</vt:lpstr>
      <vt:lpstr>PaaS : Case Study 1</vt:lpstr>
      <vt:lpstr>PaaS : Case Study 1</vt:lpstr>
      <vt:lpstr>PaaS : Case Study 1</vt:lpstr>
      <vt:lpstr>PaaS : Case Study 1</vt:lpstr>
      <vt:lpstr>PaaS : Case Study 1</vt:lpstr>
      <vt:lpstr>PaaS : Case Study 1</vt:lpstr>
      <vt:lpstr>PaaS : Case Study 1</vt:lpstr>
      <vt:lpstr>PaaS : Case Study 1</vt:lpstr>
      <vt:lpstr>PaaS : Case Study 1</vt:lpstr>
      <vt:lpstr>PaaS : Case Study 1</vt:lpstr>
      <vt:lpstr>PaaS : Summary</vt:lpstr>
      <vt:lpstr>SaaS Software as a Service</vt:lpstr>
      <vt:lpstr>SaaS : Software as a Service</vt:lpstr>
      <vt:lpstr>SaaS : Enabling Techniques</vt:lpstr>
      <vt:lpstr>SaaS : Provide Services</vt:lpstr>
      <vt:lpstr>Properties &amp; Characteristics</vt:lpstr>
      <vt:lpstr>SaaS</vt:lpstr>
      <vt:lpstr>Web Service</vt:lpstr>
      <vt:lpstr>Web 2.0 &amp; Browser as a Platform</vt:lpstr>
      <vt:lpstr>SOA</vt:lpstr>
      <vt:lpstr>Authentication </vt:lpstr>
      <vt:lpstr>SaaS : Case Study 1</vt:lpstr>
      <vt:lpstr>SaaS : Case Study 1</vt:lpstr>
      <vt:lpstr>SaaS : Case Study 1</vt:lpstr>
      <vt:lpstr>SaaS : Case Study 2</vt:lpstr>
      <vt:lpstr>SaaS : Case Study 2</vt:lpstr>
      <vt:lpstr>SaaS : Summary</vt:lpstr>
      <vt:lpstr>Cloud Computing</vt:lpstr>
      <vt:lpstr>Cloud Computing</vt:lpstr>
      <vt:lpstr>Summary </vt:lpstr>
      <vt:lpstr>投影片 96</vt:lpstr>
    </vt:vector>
  </TitlesOfParts>
  <Company>cloud.sslab.nthu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: Break Down the Techniques</dc:title>
  <dc:creator>5g</dc:creator>
  <cp:lastModifiedBy>Yeh-Ching Chung</cp:lastModifiedBy>
  <cp:revision>768</cp:revision>
  <dcterms:created xsi:type="dcterms:W3CDTF">2006-08-16T00:00:00Z</dcterms:created>
  <dcterms:modified xsi:type="dcterms:W3CDTF">2011-06-17T11:51:58Z</dcterms:modified>
</cp:coreProperties>
</file>