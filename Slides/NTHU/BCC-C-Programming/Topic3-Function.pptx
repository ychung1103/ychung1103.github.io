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  <p:sldMasterId id="2147483694" r:id="rId2"/>
    <p:sldMasterId id="2147483695" r:id="rId3"/>
  </p:sldMasterIdLst>
  <p:notesMasterIdLst>
    <p:notesMasterId r:id="rId38"/>
  </p:notesMasterIdLst>
  <p:sldIdLst>
    <p:sldId id="256" r:id="rId4"/>
    <p:sldId id="259" r:id="rId5"/>
    <p:sldId id="260" r:id="rId6"/>
    <p:sldId id="261" r:id="rId7"/>
    <p:sldId id="262" r:id="rId8"/>
    <p:sldId id="286" r:id="rId9"/>
    <p:sldId id="263" r:id="rId10"/>
    <p:sldId id="264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65" r:id="rId19"/>
    <p:sldId id="266" r:id="rId20"/>
    <p:sldId id="267" r:id="rId21"/>
    <p:sldId id="268" r:id="rId22"/>
    <p:sldId id="269" r:id="rId23"/>
    <p:sldId id="277" r:id="rId24"/>
    <p:sldId id="274" r:id="rId25"/>
    <p:sldId id="275" r:id="rId26"/>
    <p:sldId id="278" r:id="rId27"/>
    <p:sldId id="297" r:id="rId28"/>
    <p:sldId id="279" r:id="rId29"/>
    <p:sldId id="270" r:id="rId30"/>
    <p:sldId id="271" r:id="rId31"/>
    <p:sldId id="272" r:id="rId32"/>
    <p:sldId id="283" r:id="rId33"/>
    <p:sldId id="285" r:id="rId34"/>
    <p:sldId id="280" r:id="rId35"/>
    <p:sldId id="282" r:id="rId36"/>
    <p:sldId id="296" r:id="rId37"/>
  </p:sldIdLst>
  <p:sldSz cx="13004800" cy="97536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-922" y="-77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43679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664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184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917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2" name="Shape 1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39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5969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406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5543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6977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7073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28" name="Shape 2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881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996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588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593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1983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8199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474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8433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697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121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5593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7438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180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8157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5291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obj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063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742950" indent="-14922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1430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6002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0574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Head" type="secHead">
  <p:cSld name="secHea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1027112" y="6267450"/>
            <a:ext cx="11053761" cy="1936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 sz="4000" b="1" cap="small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1027112" y="4133850"/>
            <a:ext cx="11053761" cy="213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000"/>
            </a:lvl1pPr>
            <a:lvl2pPr marL="457200" indent="0" rtl="0">
              <a:buFont typeface="Lato"/>
              <a:buNone/>
              <a:defRPr sz="1800"/>
            </a:lvl2pPr>
            <a:lvl3pPr marL="914400" indent="0" rtl="0">
              <a:buFont typeface="Lato"/>
              <a:buNone/>
              <a:defRPr sz="1600"/>
            </a:lvl3pPr>
            <a:lvl4pPr marL="1371600" indent="0" rtl="0">
              <a:buFont typeface="Lato"/>
              <a:buNone/>
              <a:defRPr sz="1400"/>
            </a:lvl4pPr>
            <a:lvl5pPr marL="1828800" indent="0" rtl="0">
              <a:buFont typeface="Lato"/>
              <a:buNone/>
              <a:defRPr sz="1400"/>
            </a:lvl5pPr>
            <a:lvl6pPr marL="2286000" indent="0" rtl="0">
              <a:buFont typeface="Lato"/>
              <a:buNone/>
              <a:defRPr sz="1400"/>
            </a:lvl6pPr>
            <a:lvl7pPr marL="2743200" indent="0" rtl="0">
              <a:buFont typeface="Lato"/>
              <a:buNone/>
              <a:defRPr sz="1400"/>
            </a:lvl7pPr>
            <a:lvl8pPr marL="3200400" indent="0" rtl="0">
              <a:buFont typeface="Lato"/>
              <a:buNone/>
              <a:defRPr sz="1400"/>
            </a:lvl8pPr>
            <a:lvl9pPr marL="3657600" indent="0" rtl="0">
              <a:buFont typeface="Lato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Obj" type="twoObj">
  <p:cSld name="twoObj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5156199" cy="113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2"/>
          </p:nvPr>
        </p:nvSpPr>
        <p:spPr>
          <a:xfrm>
            <a:off x="6578600" y="5029200"/>
            <a:ext cx="5156199" cy="113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TxTwoObj" type="twoTxTwoObj">
  <p:cSld name="twoTxTwoObj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650875" y="2182813"/>
            <a:ext cx="5745162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50875" y="3092450"/>
            <a:ext cx="5745162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3"/>
          </p:nvPr>
        </p:nvSpPr>
        <p:spPr>
          <a:xfrm>
            <a:off x="6605588" y="2182813"/>
            <a:ext cx="5748336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4"/>
          </p:nvPr>
        </p:nvSpPr>
        <p:spPr>
          <a:xfrm>
            <a:off x="6605588" y="3092450"/>
            <a:ext cx="5748336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Tx" type="objTx">
  <p:cSld name="objTx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650875" y="388937"/>
            <a:ext cx="4278312" cy="16525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5084762" y="388937"/>
            <a:ext cx="7269161" cy="83232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 sz="3200"/>
            </a:lvl1pPr>
            <a:lvl2pPr rtl="0">
              <a:defRPr sz="2800"/>
            </a:lvl2pPr>
            <a:lvl3pPr rtl="0">
              <a:defRPr sz="2400"/>
            </a:lvl3pPr>
            <a:lvl4pPr rtl="0">
              <a:defRPr sz="2000"/>
            </a:lvl4pPr>
            <a:lvl5pPr rtl="0">
              <a:defRPr sz="2000"/>
            </a:lvl5pPr>
            <a:lvl6pPr rtl="0">
              <a:defRPr sz="2000"/>
            </a:lvl6pPr>
            <a:lvl7pPr rtl="0">
              <a:defRPr sz="2000"/>
            </a:lvl7pPr>
            <a:lvl8pPr rtl="0">
              <a:defRPr sz="2000"/>
            </a:lvl8pPr>
            <a:lvl9pPr rtl="0">
              <a:defRPr sz="20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50875" y="2041525"/>
            <a:ext cx="4278312" cy="66706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x" type="picTx">
  <p:cSld name="picTx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x" type="vertTx">
  <p:cSld name="vertTx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 rot="5400000">
            <a:off x="5937249" y="361949"/>
            <a:ext cx="1130299" cy="1046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063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742950" indent="-14922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1430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6002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0574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itleAndTx" type="vertTitleAndTx">
  <p:cSld name="vertTitleAndTx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 rot="5400000">
            <a:off x="8166100" y="2590799"/>
            <a:ext cx="4521199" cy="26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 rot="5400000">
            <a:off x="2857500" y="50800"/>
            <a:ext cx="4521199" cy="7696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2063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742950" indent="-14922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1430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6002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05740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3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572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9144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3716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288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2860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7432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2004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657600" marR="0" indent="0" algn="ctr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obj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Head" type="secHead">
  <p:cSld name="secHead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1027112" y="6267450"/>
            <a:ext cx="11053761" cy="1936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 sz="4000" b="1" cap="small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1027112" y="4133850"/>
            <a:ext cx="11053761" cy="213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000"/>
            </a:lvl1pPr>
            <a:lvl2pPr marL="457200" indent="0" rtl="0">
              <a:buFont typeface="Lato"/>
              <a:buNone/>
              <a:defRPr sz="1800"/>
            </a:lvl2pPr>
            <a:lvl3pPr marL="914400" indent="0" rtl="0">
              <a:buFont typeface="Lato"/>
              <a:buNone/>
              <a:defRPr sz="1600"/>
            </a:lvl3pPr>
            <a:lvl4pPr marL="1371600" indent="0" rtl="0">
              <a:buFont typeface="Lato"/>
              <a:buNone/>
              <a:defRPr sz="1400"/>
            </a:lvl4pPr>
            <a:lvl5pPr marL="1828800" indent="0" rtl="0">
              <a:buFont typeface="Lato"/>
              <a:buNone/>
              <a:defRPr sz="1400"/>
            </a:lvl5pPr>
            <a:lvl6pPr marL="2286000" indent="0" rtl="0">
              <a:buFont typeface="Lato"/>
              <a:buNone/>
              <a:defRPr sz="1400"/>
            </a:lvl6pPr>
            <a:lvl7pPr marL="2743200" indent="0" rtl="0">
              <a:buFont typeface="Lato"/>
              <a:buNone/>
              <a:defRPr sz="1400"/>
            </a:lvl7pPr>
            <a:lvl8pPr marL="3200400" indent="0" rtl="0">
              <a:buFont typeface="Lato"/>
              <a:buNone/>
              <a:defRPr sz="1400"/>
            </a:lvl8pPr>
            <a:lvl9pPr marL="3657600" indent="0" rtl="0">
              <a:buFont typeface="Lato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Obj" type="twoObj">
  <p:cSld name="twoObj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5156199" cy="571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body" idx="2"/>
          </p:nvPr>
        </p:nvSpPr>
        <p:spPr>
          <a:xfrm>
            <a:off x="6578600" y="2768600"/>
            <a:ext cx="5156199" cy="571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TxTwoObj" type="twoTxTwoObj">
  <p:cSld name="twoTxTwoObj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50875" y="2182813"/>
            <a:ext cx="5745162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2"/>
          </p:nvPr>
        </p:nvSpPr>
        <p:spPr>
          <a:xfrm>
            <a:off x="650875" y="3092450"/>
            <a:ext cx="5745162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body" idx="3"/>
          </p:nvPr>
        </p:nvSpPr>
        <p:spPr>
          <a:xfrm>
            <a:off x="6605588" y="2182813"/>
            <a:ext cx="5748336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4"/>
          </p:nvPr>
        </p:nvSpPr>
        <p:spPr>
          <a:xfrm>
            <a:off x="6605588" y="3092450"/>
            <a:ext cx="5748336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Tx" type="objTx">
  <p:cSld name="objTx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title"/>
          </p:nvPr>
        </p:nvSpPr>
        <p:spPr>
          <a:xfrm>
            <a:off x="650875" y="388937"/>
            <a:ext cx="4278312" cy="16525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5084762" y="388937"/>
            <a:ext cx="7269161" cy="83232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3200"/>
            </a:lvl1pPr>
            <a:lvl2pPr rtl="0">
              <a:defRPr sz="2800"/>
            </a:lvl2pPr>
            <a:lvl3pPr rtl="0">
              <a:defRPr sz="2400"/>
            </a:lvl3pPr>
            <a:lvl4pPr rtl="0">
              <a:defRPr sz="2000"/>
            </a:lvl4pPr>
            <a:lvl5pPr rtl="0">
              <a:defRPr sz="2000"/>
            </a:lvl5pPr>
            <a:lvl6pPr rtl="0">
              <a:defRPr sz="2000"/>
            </a:lvl6pPr>
            <a:lvl7pPr rtl="0">
              <a:defRPr sz="2000"/>
            </a:lvl7pPr>
            <a:lvl8pPr rtl="0">
              <a:defRPr sz="2000"/>
            </a:lvl8pPr>
            <a:lvl9pPr rtl="0">
              <a:defRPr sz="2000"/>
            </a:lvl9pPr>
          </a:lstStyle>
          <a:p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body" idx="2"/>
          </p:nvPr>
        </p:nvSpPr>
        <p:spPr>
          <a:xfrm>
            <a:off x="650875" y="2041525"/>
            <a:ext cx="4278312" cy="66706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x" type="picTx">
  <p:cSld name="picTx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x" type="vertTx">
  <p:cSld name="vertTx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 rot="5400000">
            <a:off x="3644899" y="393699"/>
            <a:ext cx="5714999" cy="1046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itleAndTx" type="vertTitleAndTx">
  <p:cSld name="vertTitleAndT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 rot="5400000">
            <a:off x="6311899" y="3060700"/>
            <a:ext cx="8229600" cy="26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 rot="5400000">
            <a:off x="1003300" y="520700"/>
            <a:ext cx="8229600" cy="7696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572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9144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3716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18288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2860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27432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2004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3657600" marR="0" indent="0" algn="ctr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Lato"/>
              <a:buNone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" type="obj">
  <p:cSld name="obj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Head" type="secHead">
  <p:cSld name="secHead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1027112" y="6267450"/>
            <a:ext cx="11053761" cy="1936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defRPr sz="4000" b="1" cap="small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1027112" y="4133850"/>
            <a:ext cx="11053761" cy="213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000"/>
            </a:lvl1pPr>
            <a:lvl2pPr marL="457200" indent="0" rtl="0">
              <a:buFont typeface="Lato"/>
              <a:buNone/>
              <a:defRPr sz="1800"/>
            </a:lvl2pPr>
            <a:lvl3pPr marL="914400" indent="0" rtl="0">
              <a:buFont typeface="Lato"/>
              <a:buNone/>
              <a:defRPr sz="1600"/>
            </a:lvl3pPr>
            <a:lvl4pPr marL="1371600" indent="0" rtl="0">
              <a:buFont typeface="Lato"/>
              <a:buNone/>
              <a:defRPr sz="1400"/>
            </a:lvl4pPr>
            <a:lvl5pPr marL="1828800" indent="0" rtl="0">
              <a:buFont typeface="Lato"/>
              <a:buNone/>
              <a:defRPr sz="1400"/>
            </a:lvl5pPr>
            <a:lvl6pPr marL="2286000" indent="0" rtl="0">
              <a:buFont typeface="Lato"/>
              <a:buNone/>
              <a:defRPr sz="1400"/>
            </a:lvl6pPr>
            <a:lvl7pPr marL="2743200" indent="0" rtl="0">
              <a:buFont typeface="Lato"/>
              <a:buNone/>
              <a:defRPr sz="1400"/>
            </a:lvl7pPr>
            <a:lvl8pPr marL="3200400" indent="0" rtl="0">
              <a:buFont typeface="Lato"/>
              <a:buNone/>
              <a:defRPr sz="1400"/>
            </a:lvl8pPr>
            <a:lvl9pPr marL="3657600" indent="0" rtl="0">
              <a:buFont typeface="Lato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Obj" type="twoObj">
  <p:cSld name="twoObj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5156199" cy="721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body" idx="2"/>
          </p:nvPr>
        </p:nvSpPr>
        <p:spPr>
          <a:xfrm>
            <a:off x="6578600" y="1270000"/>
            <a:ext cx="5156199" cy="721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TxTwoObj" type="twoTxTwoObj">
  <p:cSld name="twoTxTwoObj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50875" y="2182813"/>
            <a:ext cx="5745162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body" idx="2"/>
          </p:nvPr>
        </p:nvSpPr>
        <p:spPr>
          <a:xfrm>
            <a:off x="650875" y="3092450"/>
            <a:ext cx="5745162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  <p:sp>
        <p:nvSpPr>
          <p:cNvPr id="137" name="Shape 137"/>
          <p:cNvSpPr txBox="1">
            <a:spLocks noGrp="1"/>
          </p:cNvSpPr>
          <p:nvPr>
            <p:ph type="body" idx="3"/>
          </p:nvPr>
        </p:nvSpPr>
        <p:spPr>
          <a:xfrm>
            <a:off x="6605588" y="2182813"/>
            <a:ext cx="5748336" cy="9096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buFont typeface="Lato"/>
              <a:buNone/>
              <a:defRPr sz="2400" b="1"/>
            </a:lvl1pPr>
            <a:lvl2pPr marL="457200" indent="0" rtl="0">
              <a:buFont typeface="Lato"/>
              <a:buNone/>
              <a:defRPr sz="2000" b="1"/>
            </a:lvl2pPr>
            <a:lvl3pPr marL="914400" indent="0" rtl="0">
              <a:buFont typeface="Lato"/>
              <a:buNone/>
              <a:defRPr sz="1800" b="1"/>
            </a:lvl3pPr>
            <a:lvl4pPr marL="1371600" indent="0" rtl="0">
              <a:buFont typeface="Lato"/>
              <a:buNone/>
              <a:defRPr sz="1600" b="1"/>
            </a:lvl4pPr>
            <a:lvl5pPr marL="1828800" indent="0" rtl="0">
              <a:buFont typeface="Lato"/>
              <a:buNone/>
              <a:defRPr sz="1600" b="1"/>
            </a:lvl5pPr>
            <a:lvl6pPr marL="2286000" indent="0" rtl="0">
              <a:buFont typeface="Lato"/>
              <a:buNone/>
              <a:defRPr sz="1600" b="1"/>
            </a:lvl6pPr>
            <a:lvl7pPr marL="2743200" indent="0" rtl="0">
              <a:buFont typeface="Lato"/>
              <a:buNone/>
              <a:defRPr sz="1600" b="1"/>
            </a:lvl7pPr>
            <a:lvl8pPr marL="3200400" indent="0" rtl="0">
              <a:buFont typeface="Lato"/>
              <a:buNone/>
              <a:defRPr sz="1600" b="1"/>
            </a:lvl8pPr>
            <a:lvl9pPr marL="3657600" indent="0" rtl="0">
              <a:buFont typeface="Lato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Shape 138"/>
          <p:cNvSpPr txBox="1">
            <a:spLocks noGrp="1"/>
          </p:cNvSpPr>
          <p:nvPr>
            <p:ph type="body" idx="4"/>
          </p:nvPr>
        </p:nvSpPr>
        <p:spPr>
          <a:xfrm>
            <a:off x="6605588" y="3092450"/>
            <a:ext cx="5748336" cy="5619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Only" type="titleOnly">
  <p:cSld name="title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Tx" type="objTx">
  <p:cSld name="objTx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650875" y="388937"/>
            <a:ext cx="4278312" cy="16525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5084762" y="388937"/>
            <a:ext cx="7269161" cy="83232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defRPr sz="3200"/>
            </a:lvl1pPr>
            <a:lvl2pPr rtl="0">
              <a:defRPr sz="2800"/>
            </a:lvl2pPr>
            <a:lvl3pPr rtl="0">
              <a:defRPr sz="2400"/>
            </a:lvl3pPr>
            <a:lvl4pPr rtl="0">
              <a:defRPr sz="2000"/>
            </a:lvl4pPr>
            <a:lvl5pPr rtl="0">
              <a:defRPr sz="2000"/>
            </a:lvl5pPr>
            <a:lvl6pPr rtl="0">
              <a:defRPr sz="2000"/>
            </a:lvl6pPr>
            <a:lvl7pPr rtl="0">
              <a:defRPr sz="2000"/>
            </a:lvl7pPr>
            <a:lvl8pPr rtl="0">
              <a:defRPr sz="2000"/>
            </a:lvl8pPr>
            <a:lvl9pPr rtl="0">
              <a:defRPr sz="2000"/>
            </a:lvl9pPr>
          </a:lstStyle>
          <a:p>
            <a:endParaRPr/>
          </a:p>
        </p:txBody>
      </p:sp>
      <p:sp>
        <p:nvSpPr>
          <p:cNvPr id="145" name="Shape 145"/>
          <p:cNvSpPr txBox="1">
            <a:spLocks noGrp="1"/>
          </p:cNvSpPr>
          <p:nvPr>
            <p:ph type="body" idx="2"/>
          </p:nvPr>
        </p:nvSpPr>
        <p:spPr>
          <a:xfrm>
            <a:off x="650875" y="2041525"/>
            <a:ext cx="4278312" cy="66706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x" type="picTx">
  <p:cSld name="picTx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defRPr sz="20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/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buFont typeface="Lato"/>
              <a:buNone/>
              <a:defRPr sz="1400"/>
            </a:lvl1pPr>
            <a:lvl2pPr marL="457200" indent="0" rtl="0">
              <a:buFont typeface="Lato"/>
              <a:buNone/>
              <a:defRPr sz="1200"/>
            </a:lvl2pPr>
            <a:lvl3pPr marL="914400" indent="0" rtl="0">
              <a:buFont typeface="Lato"/>
              <a:buNone/>
              <a:defRPr sz="1000"/>
            </a:lvl3pPr>
            <a:lvl4pPr marL="1371600" indent="0" rtl="0">
              <a:buFont typeface="Lato"/>
              <a:buNone/>
              <a:defRPr sz="900"/>
            </a:lvl4pPr>
            <a:lvl5pPr marL="1828800" indent="0" rtl="0">
              <a:buFont typeface="Lato"/>
              <a:buNone/>
              <a:defRPr sz="900"/>
            </a:lvl5pPr>
            <a:lvl6pPr marL="2286000" indent="0" rtl="0">
              <a:buFont typeface="Lato"/>
              <a:buNone/>
              <a:defRPr sz="900"/>
            </a:lvl6pPr>
            <a:lvl7pPr marL="2743200" indent="0" rtl="0">
              <a:buFont typeface="Lato"/>
              <a:buNone/>
              <a:defRPr sz="900"/>
            </a:lvl7pPr>
            <a:lvl8pPr marL="3200400" indent="0" rtl="0">
              <a:buFont typeface="Lato"/>
              <a:buNone/>
              <a:defRPr sz="900"/>
            </a:lvl8pPr>
            <a:lvl9pPr marL="3657600" indent="0" rtl="0">
              <a:buFont typeface="Lato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x" type="vertTx">
  <p:cSld name="vertTx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650875" y="390525"/>
            <a:ext cx="11703050" cy="162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 rot="5400000">
            <a:off x="2895599" y="-355599"/>
            <a:ext cx="7213600" cy="1046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TitleAndTx" type="vertTitleAndTx">
  <p:cSld name="vertTitleAndTx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 rot="5400000">
            <a:off x="6844506" y="2974181"/>
            <a:ext cx="8093075" cy="29257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 sz="8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 rot="5400000">
            <a:off x="916781" y="124618"/>
            <a:ext cx="8093075" cy="8624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2063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742950" marR="0" indent="-14922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143000" marR="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600200" marR="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057400" marR="0" indent="-9207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36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marR="0" indent="-29845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8382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827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7272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1717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6162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0734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5306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9878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445000" marR="0" indent="-29845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42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8400" b="0" i="0" u="none" strike="noStrike" cap="none" baseline="0" dirty="0">
                <a:solidFill>
                  <a:schemeClr val="dk1"/>
                </a:solidFill>
                <a:latin typeface="+mj-lt"/>
                <a:ea typeface="Lato"/>
                <a:cs typeface="Lato"/>
                <a:sym typeface="Lato"/>
              </a:rPr>
              <a:t>Function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246447" y="383232"/>
            <a:ext cx="7886700" cy="924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&lt;string.h&gt;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#define NAME "NTHU CS"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#define ADDRESS "101, Sec. 2, Kuang Fu Rd."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#define PLACE "Hsinchu, 300 Taiwan"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#define WIDTH 40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#define SPACE ' '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show_n_char(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spaces;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'*'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WIDTH);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putchar(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'\n'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17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"%s\n"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NAME);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spaces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(WIDTH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-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strlen(ADDRESS))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2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spaces);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"%s\n"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ADDRESS);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(WIDTH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-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strlen(PLACE))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2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"%s\n"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PLACE);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'*'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WIDTH);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putchar(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'\n'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show_n_char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count;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for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(count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 count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&lt;=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num; count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putchar(ch);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177" name="Shape 177"/>
          <p:cNvSpPr/>
          <p:nvPr/>
        </p:nvSpPr>
        <p:spPr>
          <a:xfrm>
            <a:off x="6083300" y="2038350"/>
            <a:ext cx="6667500" cy="2463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8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  <a:sym typeface="Courier New"/>
              </a:rPr>
              <a:t>輸出：</a:t>
            </a:r>
          </a:p>
          <a:p>
            <a:endParaRPr lang="zh-TW" sz="2000" b="1" i="0" u="none" strike="noStrike" cap="none" baseline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****************************************</a:t>
            </a: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NTHU CS</a:t>
            </a: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101, Sec. 2, Kuang Fu Rd.</a:t>
            </a: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Hsinchu, 300 Taiwan</a:t>
            </a: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****************************************</a:t>
            </a:r>
          </a:p>
          <a:p>
            <a:endParaRPr lang="zh-TW" sz="2000" b="1" i="0" u="none" strike="noStrike" cap="none" baseline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3300" y="9168714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3-1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1344140" y="3799359"/>
            <a:ext cx="10464800" cy="54483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我們用自訂的 show_n_char()來輸出一長條以相同字元組成的字串,我們希望 show_n_char()要傳入兩個參數,分別用來指定輸出的字元以及長度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它做的事情很簡單,只要一個 for 迴圈就可以辦到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宣告 (prototype) 的地方要寫</a:t>
            </a:r>
            <a:b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</a:b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void show_n_char(char ch, int num);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表示第一個參數的型別是 char,第二個參數的型別是 int。傳回值的型別則還是寫 void,表示不需要回傳任何值</a:t>
            </a:r>
          </a:p>
        </p:txBody>
      </p:sp>
      <p:sp>
        <p:nvSpPr>
          <p:cNvPr id="183" name="Shape 183"/>
          <p:cNvSpPr/>
          <p:nvPr/>
        </p:nvSpPr>
        <p:spPr>
          <a:xfrm>
            <a:off x="2209800" y="584200"/>
            <a:ext cx="6388099" cy="2870200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show_n_char(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{...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en-US" altLang="zh-TW" sz="24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1" i="0" u="none" strike="noStrike" cap="none" baseline="0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show_n_char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count;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for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(count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 count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num; count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putchar(ch);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1232930" y="4295689"/>
            <a:ext cx="10464800" cy="4477608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其實在宣告的時候,變數名稱並不重要,重要的是型別要寫對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所以 function 宣告也可以寫成</a:t>
            </a:r>
            <a:b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</a:b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void show_n_char(char , int );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因為宣告的時候,還不需要真正產生變數。要等到定義的時候,才需要產生變數,那時候就一定要寫變數名稱。</a:t>
            </a:r>
          </a:p>
        </p:txBody>
      </p:sp>
      <p:sp>
        <p:nvSpPr>
          <p:cNvPr id="189" name="Shape 189"/>
          <p:cNvSpPr/>
          <p:nvPr/>
        </p:nvSpPr>
        <p:spPr>
          <a:xfrm>
            <a:off x="2172730" y="1053757"/>
            <a:ext cx="6388099" cy="2870200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show_n_char(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{...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en-US" altLang="zh-TW" sz="24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1" i="0" u="none" strike="noStrike" cap="none" baseline="0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show_n_char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char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ch, 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count;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for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(count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 count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num; count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putchar(ch);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1344140" y="3227173"/>
            <a:ext cx="10464800" cy="5664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97222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使用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show_n_char()只要把我們想要顯示的字元和數量當參數傳進去,show_n_char()就可以依照它們來顯示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這些不同的寫法,最後做的動作其實都一樣,因為最後其實傳的是 int 值。 像 show_n_char(SPACE, (WIDTH - strlen(PLACE)) / 2); 其實會先把 (WIDTH - strlen(PLACE)) / 2 算出來 得到10,然後把10這個值當參數傳給show_n_char()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show_n_char()並不需要知道外面究竟做了什麼事,只要知道傳進來的第二個參數的值是 10就夠了。若以 show_n_char(SPACE, spaces); 這個例子來說,傳進去的也是當時變數 spaces 的值 (值為 7 )。</a:t>
            </a:r>
          </a:p>
        </p:txBody>
      </p:sp>
      <p:sp>
        <p:nvSpPr>
          <p:cNvPr id="195" name="Shape 195"/>
          <p:cNvSpPr/>
          <p:nvPr/>
        </p:nvSpPr>
        <p:spPr>
          <a:xfrm>
            <a:off x="1853170" y="971551"/>
            <a:ext cx="8719580" cy="2533649"/>
          </a:xfrm>
          <a:prstGeom prst="rect">
            <a:avLst/>
          </a:prstGeom>
          <a:noFill/>
          <a:ln w="127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'*'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WIDTH);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17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spaces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(WIDTH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-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strlen(ADDRESS))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2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spaces);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show_n_char(SPACE, (WIDTH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-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strlen(PLACE))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2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show_n_char(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'*'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WIDTH);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/>
          </p:cNvSpPr>
          <p:nvPr/>
        </p:nvSpPr>
        <p:spPr bwMode="auto">
          <a:xfrm>
            <a:off x="257373" y="941885"/>
            <a:ext cx="9733434" cy="520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smtClean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</a:t>
            </a: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include &lt;</a:t>
            </a:r>
            <a:r>
              <a:rPr lang="en-US" altLang="zh-TW" sz="2000" b="1" dirty="0" err="1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lang="en-US" altLang="zh-TW" sz="2000" b="1" dirty="0">
                <a:solidFill>
                  <a:srgbClr val="8787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  <a:endParaRPr lang="en-US" altLang="zh-TW" sz="2000" dirty="0"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power(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n, 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p);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2000" dirty="0"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main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x,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xpow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exp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"Enter a number and the positive integer power\n"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 to which the number will be raised. Enter q to quit.\n"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while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scanf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</a:t>
            </a:r>
            <a:r>
              <a:rPr lang="en-US" altLang="zh-TW" sz="2000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lf%d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x,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&amp;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exp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2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xpow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power(x,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exp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"%.3f to the power %d is %.5f\n"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x,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exp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,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xpow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"Enter next pair of numbers or q to quit.\n"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"\</a:t>
            </a:r>
            <a:r>
              <a:rPr lang="en-US" altLang="zh-TW" sz="2000" dirty="0" err="1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nBye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!\n"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0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" name="Rectangle 2"/>
          <p:cNvSpPr>
            <a:spLocks/>
          </p:cNvSpPr>
          <p:nvPr/>
        </p:nvSpPr>
        <p:spPr bwMode="auto">
          <a:xfrm>
            <a:off x="8377272" y="197709"/>
            <a:ext cx="4435337" cy="3077766"/>
          </a:xfrm>
          <a:prstGeom prst="rect">
            <a:avLst/>
          </a:prstGeom>
          <a:noFill/>
          <a:ln w="127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solidFill>
                  <a:srgbClr val="87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power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n, 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p)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double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 err="1">
                <a:solidFill>
                  <a:srgbClr val="334076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sz="2000" dirty="0"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for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(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>
                <a:solidFill>
                  <a:srgbClr val="008887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&lt;=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p;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++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 {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    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*=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n;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 </a:t>
            </a:r>
            <a:r>
              <a:rPr lang="en-US" altLang="zh-TW" sz="2000" b="1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pow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44033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561618" y="6349456"/>
            <a:ext cx="10883880" cy="3072341"/>
          </a:xfrm>
        </p:spPr>
        <p:txBody>
          <a:bodyPr anchor="t">
            <a:normAutofit/>
          </a:bodyPr>
          <a:lstStyle/>
          <a:p>
            <a:pPr marL="888591">
              <a:lnSpc>
                <a:spcPct val="120000"/>
              </a:lnSpc>
              <a:spcBef>
                <a:spcPts val="1200"/>
              </a:spcBef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自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定的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function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取名為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power()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，用來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計算某個數的整數次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方，由</a:t>
            </a:r>
            <a:r>
              <a:rPr lang="zh-TW" altLang="en-US" sz="24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宣告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可以看出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power()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要傳入兩個參數，分別是型別為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double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的底數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n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以及型別為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int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的指數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Courier New Bold" pitchFamily="-84" charset="0"/>
              </a:rPr>
              <a:t>p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。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888591">
              <a:lnSpc>
                <a:spcPct val="120000"/>
              </a:lnSpc>
              <a:spcBef>
                <a:spcPts val="1200"/>
              </a:spcBef>
            </a:pP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function </a:t>
            </a:r>
            <a:r>
              <a:rPr lang="zh-TW" altLang="en-US" sz="24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主體</a:t>
            </a:r>
            <a:r>
              <a:rPr lang="en-US" altLang="zh-TW" sz="24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(definition)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的部份則在右上角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，用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了迴圈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來計算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次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方。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  <a:sym typeface="Helvetica" pitchFamily="-84" charset="0"/>
            </a:endParaRPr>
          </a:p>
          <a:p>
            <a:pPr marL="888591">
              <a:lnSpc>
                <a:spcPct val="120000"/>
              </a:lnSpc>
              <a:spcBef>
                <a:spcPts val="1200"/>
              </a:spcBef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這樣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的模組化程式設計方式是我們學習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 C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sym typeface="Helvetica" pitchFamily="-84" charset="0"/>
              </a:rPr>
              <a:t>語言要多加練習的重點之一。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4646189" y="1229454"/>
            <a:ext cx="1525278" cy="398699"/>
            <a:chOff x="4794470" y="990640"/>
            <a:chExt cx="1525278" cy="398699"/>
          </a:xfrm>
        </p:grpSpPr>
        <p:sp>
          <p:nvSpPr>
            <p:cNvPr id="6" name="Line 3"/>
            <p:cNvSpPr>
              <a:spLocks noChangeShapeType="1"/>
            </p:cNvSpPr>
            <p:nvPr/>
          </p:nvSpPr>
          <p:spPr bwMode="auto">
            <a:xfrm>
              <a:off x="4794470" y="1189990"/>
              <a:ext cx="830857" cy="0"/>
            </a:xfrm>
            <a:prstGeom prst="line">
              <a:avLst/>
            </a:prstGeom>
            <a:noFill/>
            <a:ln w="76200">
              <a:solidFill>
                <a:srgbClr val="D90B00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9pPr>
            </a:lstStyle>
            <a:p>
              <a:endParaRPr lang="zh-TW" altLang="en-US" sz="1991">
                <a:solidFill>
                  <a:srgbClr val="000000"/>
                </a:solidFill>
              </a:endParaRPr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625327" y="990640"/>
              <a:ext cx="694421" cy="398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991" dirty="0">
                  <a:latin typeface="微軟正黑體" pitchFamily="34" charset="-120"/>
                  <a:ea typeface="微軟正黑體" pitchFamily="34" charset="-120"/>
                </a:rPr>
                <a:t>宣告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6633855" y="197709"/>
            <a:ext cx="1655600" cy="398699"/>
            <a:chOff x="7202262" y="177910"/>
            <a:chExt cx="1655600" cy="398699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 flipH="1">
              <a:off x="7896683" y="370699"/>
              <a:ext cx="961179" cy="0"/>
            </a:xfrm>
            <a:prstGeom prst="line">
              <a:avLst/>
            </a:prstGeom>
            <a:noFill/>
            <a:ln w="76200">
              <a:solidFill>
                <a:srgbClr val="D90B00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Calibri" pitchFamily="34" charset="0"/>
                  <a:ea typeface="新細明體" charset="-120"/>
                  <a:cs typeface="+mn-cs"/>
                </a:defRPr>
              </a:lvl9pPr>
            </a:lstStyle>
            <a:p>
              <a:endParaRPr lang="zh-TW" altLang="en-US" sz="1991">
                <a:solidFill>
                  <a:srgbClr val="000000"/>
                </a:solidFill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7202262" y="177910"/>
              <a:ext cx="694421" cy="398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991" dirty="0">
                  <a:latin typeface="微軟正黑體" pitchFamily="34" charset="-120"/>
                  <a:ea typeface="微軟正黑體" pitchFamily="34" charset="-120"/>
                </a:rPr>
                <a:t>主體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8894080" y="5415003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3-2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69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1270000" y="1714500"/>
            <a:ext cx="10464800" cy="67691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把 function 想成一個黑盒子,使用 function 的時候可以不管它裡面到底怎麼做的,只要確定它可以辦 到我們想要做的事情,然後知道要傳什麼樣的參數就夠了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由於這種黑盒子的特性,我們不必擔心定義在 function 裡面的變數是否會和外部的變數衝突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假設 main() 裡面有個變數叫做 x,然後某個 function f() 裡也有個變數 x, 則更改f() 裡的x並不會改變main()裡的x。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再重複強調一次,當參數傳入 function 時,只有值會被複製傳入,所以在 function 裡對參數做修改,同樣也是不會影響外部的變數值</a:t>
            </a:r>
          </a:p>
        </p:txBody>
      </p:sp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1346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6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黑盒子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1054100" y="6045200"/>
            <a:ext cx="11004550" cy="34417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一開始在main()裡面x的值被設為 1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然後把x當參數傳入f(),在 functionf()裡 的 local variable 也叫做 x ,這個 x 因為接收傳入的參數,所以 值也是 1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8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 f() 裡做了 x++; 所以 x 的值變成 2,然後 f() 結束回到 main(),這時 main() 裡的 x 和呼叫 f() 前沒有兩樣,所以值還是 1</a:t>
            </a:r>
          </a:p>
        </p:txBody>
      </p:sp>
      <p:sp>
        <p:nvSpPr>
          <p:cNvPr id="207" name="Shape 207"/>
          <p:cNvSpPr/>
          <p:nvPr/>
        </p:nvSpPr>
        <p:spPr>
          <a:xfrm>
            <a:off x="1295400" y="404685"/>
            <a:ext cx="5076825" cy="5651499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f(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x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f(x);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x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"f: %d\n"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208" name="Shape 208"/>
          <p:cNvSpPr/>
          <p:nvPr/>
        </p:nvSpPr>
        <p:spPr>
          <a:xfrm>
            <a:off x="7759700" y="2101850"/>
            <a:ext cx="1854200" cy="1866900"/>
          </a:xfrm>
          <a:prstGeom prst="rect">
            <a:avLst/>
          </a:prstGeom>
          <a:noFill/>
          <a:ln w="12700" cap="flat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輸出：</a:t>
            </a:r>
          </a:p>
          <a:p>
            <a:endParaRPr lang="zh-TW" sz="2400" b="1" i="0" u="none" strike="noStrike" cap="none" baseline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main: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f: 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main: 1</a:t>
            </a:r>
          </a:p>
        </p:txBody>
      </p:sp>
      <p:sp>
        <p:nvSpPr>
          <p:cNvPr id="5" name="矩形 4"/>
          <p:cNvSpPr/>
          <p:nvPr/>
        </p:nvSpPr>
        <p:spPr>
          <a:xfrm>
            <a:off x="5275498" y="5686852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3-3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 txBox="1">
            <a:spLocks noChangeArrowheads="1"/>
          </p:cNvSpPr>
          <p:nvPr/>
        </p:nvSpPr>
        <p:spPr bwMode="auto">
          <a:xfrm>
            <a:off x="1101725" y="3797300"/>
            <a:ext cx="1123315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8400" dirty="0">
                <a:solidFill>
                  <a:schemeClr val="tx1"/>
                </a:solidFill>
                <a:latin typeface="文泉驛微米黑" pitchFamily="34" charset="-120"/>
                <a:ea typeface="文泉驛微米黑" pitchFamily="34" charset="-120"/>
              </a:rPr>
              <a:t>Function </a:t>
            </a:r>
            <a:r>
              <a:rPr kumimoji="0" lang="zh-TW" altLang="en-US" sz="8400" dirty="0">
                <a:solidFill>
                  <a:schemeClr val="tx1"/>
                </a:solidFill>
                <a:latin typeface="文泉驛微米黑" pitchFamily="34" charset="-120"/>
                <a:ea typeface="文泉驛微米黑" pitchFamily="34" charset="-120"/>
              </a:rPr>
              <a:t>程式執行行為</a:t>
            </a:r>
          </a:p>
        </p:txBody>
      </p:sp>
    </p:spTree>
    <p:extLst>
      <p:ext uri="{BB962C8B-B14F-4D97-AF65-F5344CB8AC3E}">
        <p14:creationId xmlns:p14="http://schemas.microsoft.com/office/powerpoint/2010/main" val="134023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1"/>
          <p:cNvSpPr>
            <a:spLocks/>
          </p:cNvSpPr>
          <p:nvPr/>
        </p:nvSpPr>
        <p:spPr bwMode="auto">
          <a:xfrm>
            <a:off x="1030288" y="339725"/>
            <a:ext cx="6108700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main(void)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fun_1();</a:t>
            </a:r>
          </a:p>
          <a:p>
            <a:pPr lvl="1"/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goodbye\n");  </a:t>
            </a:r>
          </a:p>
          <a:p>
            <a:pPr lvl="1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fun_2(</a:t>
            </a:r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algn="l"/>
            <a:r>
              <a:rPr kumimoji="0"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	</a:t>
            </a:r>
            <a:r>
              <a:rPr kumimoji="0" lang="en-US" altLang="zh-TW" sz="2400" dirty="0" err="1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b = a;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94210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4211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4799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/>
          </p:cNvSpPr>
          <p:nvPr/>
        </p:nvSpPr>
        <p:spPr bwMode="auto">
          <a:xfrm>
            <a:off x="981075" y="444500"/>
            <a:ext cx="5867400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main()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fun_1();</a:t>
            </a:r>
          </a:p>
          <a:p>
            <a:pPr lvl="1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goodbye\n");  </a:t>
            </a:r>
          </a:p>
          <a:p>
            <a:pPr lvl="1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 smtClean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  <a:endParaRPr kumimoji="0" lang="en-US" altLang="zh-TW" sz="2400" dirty="0">
              <a:solidFill>
                <a:srgbClr val="D90B00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algn="l"/>
            <a:r>
              <a:rPr kumimoji="0" lang="en-US" altLang="zh-TW" sz="2400" dirty="0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	</a:t>
            </a:r>
            <a:r>
              <a:rPr kumimoji="0" lang="en-US" altLang="zh-TW" sz="2400" dirty="0" err="1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b = a;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95234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5235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95236" name="AutoShape 4"/>
          <p:cNvSpPr>
            <a:spLocks/>
          </p:cNvSpPr>
          <p:nvPr/>
        </p:nvSpPr>
        <p:spPr bwMode="auto">
          <a:xfrm>
            <a:off x="6908800" y="12065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main()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238125" y="1852613"/>
            <a:ext cx="574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rgbClr val="9B2C01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endParaRPr kumimoji="0" lang="en-US" altLang="zh-TW">
              <a:solidFill>
                <a:srgbClr val="9B2C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49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7059E-7 -7.0184E-7 L -6.27059E-7 0.0776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656E-6 0.07764 L 0.0166 0.077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/>
      <p:bldP spid="5427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"/>
          <p:cNvSpPr>
            <a:spLocks/>
          </p:cNvSpPr>
          <p:nvPr/>
        </p:nvSpPr>
        <p:spPr bwMode="auto">
          <a:xfrm>
            <a:off x="957263" y="412750"/>
            <a:ext cx="5905500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urier" pitchFamily="-84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 main()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b="1" dirty="0">
                <a:solidFill>
                  <a:srgbClr val="3F691E"/>
                </a:solidFill>
                <a:latin typeface="Courier" pitchFamily="-84" charset="0"/>
                <a:sym typeface="Courier" pitchFamily="-84" charset="0"/>
              </a:rPr>
              <a:t>fun_1();</a:t>
            </a:r>
          </a:p>
          <a:p>
            <a:pPr lvl="1"/>
            <a:r>
              <a:rPr kumimoji="0" lang="en-US" altLang="zh-TW" sz="2400" dirty="0" err="1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("goodbye goodbye\n");  </a:t>
            </a:r>
          </a:p>
          <a:p>
            <a:pPr lvl="1"/>
            <a:r>
              <a:rPr kumimoji="0" lang="en-US" altLang="zh-TW" sz="2400" dirty="0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urier" pitchFamily="-84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fun_2(</a:t>
            </a:r>
            <a:r>
              <a:rPr kumimoji="0" lang="en-US" altLang="zh-TW" sz="2400" dirty="0" err="1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urier" pitchFamily="-84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 b = a;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urier" pitchFamily="-84" charset="0"/>
                <a:sym typeface="Courier" pitchFamily="-84" charset="0"/>
              </a:rPr>
              <a:t>}</a:t>
            </a:r>
          </a:p>
        </p:txBody>
      </p:sp>
      <p:sp>
        <p:nvSpPr>
          <p:cNvPr id="96258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6259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96260" name="AutoShape 4"/>
          <p:cNvSpPr>
            <a:spLocks/>
          </p:cNvSpPr>
          <p:nvPr/>
        </p:nvSpPr>
        <p:spPr bwMode="auto">
          <a:xfrm>
            <a:off x="6908800" y="12065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main()</a:t>
            </a:r>
          </a:p>
        </p:txBody>
      </p:sp>
      <p:sp>
        <p:nvSpPr>
          <p:cNvPr id="96261" name="AutoShape 5"/>
          <p:cNvSpPr>
            <a:spLocks/>
          </p:cNvSpPr>
          <p:nvPr/>
        </p:nvSpPr>
        <p:spPr bwMode="auto">
          <a:xfrm>
            <a:off x="6908800" y="26289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00804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fun_1()</a:t>
            </a:r>
          </a:p>
        </p:txBody>
      </p:sp>
      <p:sp>
        <p:nvSpPr>
          <p:cNvPr id="8" name="Rectangle 5"/>
          <p:cNvSpPr>
            <a:spLocks/>
          </p:cNvSpPr>
          <p:nvPr/>
        </p:nvSpPr>
        <p:spPr bwMode="auto">
          <a:xfrm>
            <a:off x="0" y="4516438"/>
            <a:ext cx="574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rgbClr val="9B2C01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endParaRPr kumimoji="0" lang="en-US" altLang="zh-TW">
              <a:solidFill>
                <a:srgbClr val="9B2C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40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656E-6 -2.1875E-6 L 0.00171 0.092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" y="46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1 0.09261 L 0.03492 0.0924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0" y="-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1"/>
          <p:cNvSpPr>
            <a:spLocks/>
          </p:cNvSpPr>
          <p:nvPr/>
        </p:nvSpPr>
        <p:spPr bwMode="auto">
          <a:xfrm>
            <a:off x="957263" y="412750"/>
            <a:ext cx="5832475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main()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>
                <a:solidFill>
                  <a:srgbClr val="3F691E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fun_1();</a:t>
            </a:r>
          </a:p>
          <a:p>
            <a:pPr lvl="1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goodbye\n");  </a:t>
            </a:r>
          </a:p>
          <a:p>
            <a:pPr lvl="1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b="1" dirty="0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fun_2(</a:t>
            </a:r>
            <a:r>
              <a:rPr kumimoji="0" lang="en-US" altLang="zh-TW" sz="2400" b="1" dirty="0" err="1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b="1" dirty="0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algn="l"/>
            <a:r>
              <a:rPr kumimoji="0" lang="en-US" altLang="zh-TW" sz="2400" dirty="0" smtClean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	</a:t>
            </a:r>
            <a:r>
              <a:rPr kumimoji="0" lang="en-US" altLang="zh-TW" sz="2400" dirty="0" err="1" smtClean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 smtClean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b = a;</a:t>
            </a:r>
          </a:p>
          <a:p>
            <a:pPr algn="l"/>
            <a:r>
              <a:rPr kumimoji="0" lang="en-US" altLang="zh-TW" sz="2400" dirty="0">
                <a:solidFill>
                  <a:srgbClr val="003DCC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97282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7283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97284" name="AutoShape 4"/>
          <p:cNvSpPr>
            <a:spLocks/>
          </p:cNvSpPr>
          <p:nvPr/>
        </p:nvSpPr>
        <p:spPr bwMode="auto">
          <a:xfrm>
            <a:off x="6908800" y="12065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main()</a:t>
            </a:r>
          </a:p>
        </p:txBody>
      </p:sp>
      <p:sp>
        <p:nvSpPr>
          <p:cNvPr id="97285" name="AutoShape 5"/>
          <p:cNvSpPr>
            <a:spLocks/>
          </p:cNvSpPr>
          <p:nvPr/>
        </p:nvSpPr>
        <p:spPr bwMode="auto">
          <a:xfrm>
            <a:off x="6908800" y="26289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00804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fun_1()</a:t>
            </a:r>
          </a:p>
        </p:txBody>
      </p:sp>
      <p:sp>
        <p:nvSpPr>
          <p:cNvPr id="97286" name="AutoShape 6"/>
          <p:cNvSpPr>
            <a:spLocks/>
          </p:cNvSpPr>
          <p:nvPr/>
        </p:nvSpPr>
        <p:spPr bwMode="auto">
          <a:xfrm>
            <a:off x="6908800" y="42418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00408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fun_2()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0" y="7037388"/>
            <a:ext cx="574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rgbClr val="9B2C01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endParaRPr kumimoji="0" lang="en-US" altLang="zh-TW">
              <a:solidFill>
                <a:srgbClr val="9B2C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1094E-6 -3.54167E-6 L 0.00171 0.062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" y="3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1 0.06283 L 0.03492 0.062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0" y="-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1"/>
          <p:cNvSpPr>
            <a:spLocks/>
          </p:cNvSpPr>
          <p:nvPr/>
        </p:nvSpPr>
        <p:spPr bwMode="auto">
          <a:xfrm>
            <a:off x="957263" y="412750"/>
            <a:ext cx="5761037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main()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algn="l"/>
            <a:r>
              <a:rPr kumimoji="0" lang="en-US" altLang="zh-TW" sz="2400" dirty="0">
                <a:solidFill>
                  <a:srgbClr val="3F691E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fun_1();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goodbye\n");  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b="1" dirty="0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fun_2(</a:t>
            </a:r>
            <a:r>
              <a:rPr kumimoji="0" lang="en-US" altLang="zh-TW" sz="2400" b="1" dirty="0" err="1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b="1" dirty="0">
                <a:solidFill>
                  <a:srgbClr val="002D99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rgbClr val="00804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algn="l"/>
            <a:r>
              <a:rPr kumimoji="0" lang="en-US" altLang="zh-TW" sz="2400" dirty="0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	</a:t>
            </a:r>
            <a:r>
              <a:rPr kumimoji="0" lang="en-US" altLang="zh-TW" sz="2400" dirty="0" err="1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 smtClean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b = a;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98306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8307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98308" name="AutoShape 4"/>
          <p:cNvSpPr>
            <a:spLocks/>
          </p:cNvSpPr>
          <p:nvPr/>
        </p:nvSpPr>
        <p:spPr bwMode="auto">
          <a:xfrm>
            <a:off x="6908800" y="12065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main()</a:t>
            </a:r>
          </a:p>
        </p:txBody>
      </p:sp>
      <p:sp>
        <p:nvSpPr>
          <p:cNvPr id="98309" name="AutoShape 5"/>
          <p:cNvSpPr>
            <a:spLocks/>
          </p:cNvSpPr>
          <p:nvPr/>
        </p:nvSpPr>
        <p:spPr bwMode="auto">
          <a:xfrm>
            <a:off x="6908800" y="26289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00804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fun_1()</a:t>
            </a:r>
          </a:p>
        </p:txBody>
      </p:sp>
      <p:sp>
        <p:nvSpPr>
          <p:cNvPr id="8" name="Rectangle 5"/>
          <p:cNvSpPr>
            <a:spLocks/>
          </p:cNvSpPr>
          <p:nvPr/>
        </p:nvSpPr>
        <p:spPr bwMode="auto">
          <a:xfrm>
            <a:off x="165100" y="5453063"/>
            <a:ext cx="576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rgbClr val="9B2C01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endParaRPr kumimoji="0" lang="en-US" altLang="zh-TW">
              <a:solidFill>
                <a:srgbClr val="9B2C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6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0625E-8 -2.39583E-6 L 0.00012 0.04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2 0.04069 L 0.02222 0.0406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"/>
          <p:cNvSpPr>
            <a:spLocks/>
          </p:cNvSpPr>
          <p:nvPr/>
        </p:nvSpPr>
        <p:spPr bwMode="auto">
          <a:xfrm>
            <a:off x="957263" y="339725"/>
            <a:ext cx="5832475" cy="820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#include &lt;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stdio.h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&gt;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  </a:t>
            </a:r>
          </a:p>
          <a:p>
            <a:pPr algn="l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main()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>
                <a:solidFill>
                  <a:srgbClr val="3F691E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fun_1();</a:t>
            </a:r>
          </a:p>
          <a:p>
            <a:pPr lvl="1"/>
            <a:r>
              <a:rPr kumimoji="0" lang="en-US" altLang="zh-TW" sz="2400" dirty="0" err="1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goodbye\n");  </a:t>
            </a:r>
          </a:p>
          <a:p>
            <a:pPr lvl="1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return 0;</a:t>
            </a:r>
          </a:p>
          <a:p>
            <a:pPr algn="l"/>
            <a:r>
              <a:rPr kumimoji="0" lang="en-US" altLang="zh-TW" sz="2400" dirty="0">
                <a:solidFill>
                  <a:srgbClr val="D90B00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fun_1(void)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=1;</a:t>
            </a:r>
          </a:p>
          <a:p>
            <a:pPr lvl="1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imidate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);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printf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("goodbye fun_1\n");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  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void fun_2(</a:t>
            </a:r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a)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{</a:t>
            </a:r>
          </a:p>
          <a:p>
            <a:pPr lvl="1"/>
            <a:r>
              <a:rPr kumimoji="0" lang="en-US" altLang="zh-TW" sz="2400" dirty="0" err="1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int</a:t>
            </a:r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 b = a;</a:t>
            </a:r>
          </a:p>
          <a:p>
            <a:pPr algn="l"/>
            <a:r>
              <a:rPr kumimoji="0" lang="en-US" altLang="zh-TW" sz="2400" dirty="0">
                <a:solidFill>
                  <a:srgbClr val="B3B3B3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}</a:t>
            </a:r>
          </a:p>
        </p:txBody>
      </p:sp>
      <p:sp>
        <p:nvSpPr>
          <p:cNvPr id="99330" name="AutoShape 2"/>
          <p:cNvSpPr>
            <a:spLocks/>
          </p:cNvSpPr>
          <p:nvPr/>
        </p:nvSpPr>
        <p:spPr bwMode="auto">
          <a:xfrm>
            <a:off x="6908800" y="635000"/>
            <a:ext cx="5511800" cy="7835900"/>
          </a:xfrm>
          <a:prstGeom prst="roundRect">
            <a:avLst>
              <a:gd name="adj" fmla="val 3454"/>
            </a:avLst>
          </a:prstGeom>
          <a:solidFill>
            <a:schemeClr val="accent1">
              <a:alpha val="6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endParaRPr kumimoji="0" lang="zh-TW" altLang="en-US"/>
          </a:p>
        </p:txBody>
      </p:sp>
      <p:sp>
        <p:nvSpPr>
          <p:cNvPr id="99331" name="Rectangle 3"/>
          <p:cNvSpPr>
            <a:spLocks/>
          </p:cNvSpPr>
          <p:nvPr/>
        </p:nvSpPr>
        <p:spPr bwMode="auto">
          <a:xfrm>
            <a:off x="8783638" y="8724900"/>
            <a:ext cx="20780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chemeClr val="tx1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99332" name="AutoShape 4"/>
          <p:cNvSpPr>
            <a:spLocks/>
          </p:cNvSpPr>
          <p:nvPr/>
        </p:nvSpPr>
        <p:spPr bwMode="auto">
          <a:xfrm>
            <a:off x="6908800" y="1206500"/>
            <a:ext cx="5511800" cy="1270000"/>
          </a:xfrm>
          <a:prstGeom prst="roundRect">
            <a:avLst>
              <a:gd name="adj" fmla="val 1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ADADAD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 sz="4300">
                <a:solidFill>
                  <a:srgbClr val="FFFFFF"/>
                </a:solidFill>
                <a:ea typeface="新細明體" panose="02020500000000000000" pitchFamily="18" charset="-120"/>
              </a:rPr>
              <a:t>Frame for main()</a:t>
            </a:r>
          </a:p>
        </p:txBody>
      </p:sp>
      <p:sp>
        <p:nvSpPr>
          <p:cNvPr id="7" name="Rectangle 5"/>
          <p:cNvSpPr>
            <a:spLocks/>
          </p:cNvSpPr>
          <p:nvPr/>
        </p:nvSpPr>
        <p:spPr bwMode="auto">
          <a:xfrm>
            <a:off x="165100" y="2500313"/>
            <a:ext cx="576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1pPr>
            <a:lvl2pPr marL="742950" indent="-28575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2pPr>
            <a:lvl3pPr marL="11430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3pPr>
            <a:lvl4pPr marL="16002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4pPr>
            <a:lvl5pPr marL="2057400" indent="-228600"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4200">
                <a:solidFill>
                  <a:srgbClr val="000000"/>
                </a:solidFill>
                <a:latin typeface="Gill Sans" pitchFamily="-84" charset="0"/>
                <a:ea typeface="Heiti TC Light" pitchFamily="-84" charset="-120"/>
                <a:sym typeface="Gill Sans" pitchFamily="-84" charset="0"/>
              </a:defRPr>
            </a:lvl9pPr>
          </a:lstStyle>
          <a:p>
            <a:r>
              <a:rPr kumimoji="0" lang="en-US" altLang="zh-TW">
                <a:solidFill>
                  <a:srgbClr val="9B2C01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</a:t>
            </a:r>
            <a:endParaRPr kumimoji="0" lang="en-US" altLang="zh-TW">
              <a:solidFill>
                <a:srgbClr val="9B2C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72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0625E-8 -2.39583E-6 L 0.00012 0.04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2 0.04069 L 0.02222 0.0406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8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Function 回傳值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/>
        </p:nvSpPr>
        <p:spPr>
          <a:xfrm>
            <a:off x="716775" y="609650"/>
            <a:ext cx="9536670" cy="7752946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imin(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evil1, evil2;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"Enter a pair of integers 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0 0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to quit)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:</a:t>
            </a:r>
            <a:r>
              <a:rPr lang="en-US" alt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en-US" alt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while(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scanf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"%d %d"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&amp;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evil1,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&amp;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evil2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  <a:r>
              <a:rPr lang="en-US" altLang="zh-TW" sz="2100" b="0" i="0" u="none" strike="noStrike" cap="none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&amp;&amp; </a:t>
            </a:r>
            <a:b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</a:b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	!(evil1 == 0 &amp;&amp; evil2 == 0)</a:t>
            </a:r>
            <a:r>
              <a:rPr lang="en-US" altLang="zh-TW" sz="2100" b="0" i="0" u="none" strike="noStrike" cap="none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 {</a:t>
            </a:r>
            <a:endParaRPr lang="zh-TW" sz="21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en-US" alt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printf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"The lesser of %d and %d is %d.\n"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</a:t>
            </a:r>
          </a:p>
          <a:p>
            <a:pPr lvl="1">
              <a:buSzPct val="25000"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 </a:t>
            </a:r>
            <a:r>
              <a:rPr lang="en-US" alt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vil1, evil2, imin(evil1, evil2));</a:t>
            </a:r>
          </a:p>
          <a:p>
            <a:pPr lvl="1">
              <a:buSzPct val="25000"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en-US" alt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printf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"Enter a pair of integers 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en-US" altLang="zh-TW" sz="2100" b="0" i="0" u="none" strike="noStrike" cap="none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0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to quit)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:</a:t>
            </a:r>
            <a:r>
              <a:rPr lang="en-US" alt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  <a:endParaRPr lang="en-US" altLang="zh-TW" sz="21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en-US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}</a:t>
            </a:r>
            <a:endParaRPr lang="zh-TW" sz="21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"Bye.\n"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imin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n, 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min;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 { min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n; 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else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{ min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m; 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min;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219" name="Shape 219"/>
          <p:cNvSpPr/>
          <p:nvPr/>
        </p:nvSpPr>
        <p:spPr>
          <a:xfrm>
            <a:off x="5005001" y="5290863"/>
            <a:ext cx="7999799" cy="2476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輸出：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a pair of integers 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alt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0 0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quit): 300 200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lesser of 300 and 200 is 200.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a pair of integers 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alt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altLang="zh-TW" sz="2100" b="1" i="0" u="none" strike="noStrike" cap="none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quit): -8 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lesser of -8 and 9 is -8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lang="en-US" altLang="zh-TW" sz="2100" b="1" i="0" u="none" strike="noStrike" cap="none" baseline="0" dirty="0" smtClean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ct val="25000"/>
            </a:pPr>
            <a:r>
              <a:rPr lang="zh-TW" altLang="zh-TW" sz="21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a pair of integers </a:t>
            </a:r>
            <a:r>
              <a:rPr lang="zh-TW" altLang="zh-TW" sz="21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altLang="zh-TW" sz="21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0 0</a:t>
            </a:r>
            <a:r>
              <a:rPr lang="zh-TW" altLang="zh-TW" sz="21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altLang="zh-TW" sz="21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quit): </a:t>
            </a:r>
            <a:r>
              <a:rPr lang="en-US" altLang="zh-TW" sz="21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0 0</a:t>
            </a:r>
            <a:endParaRPr lang="en-US" altLang="zh-TW" sz="2100" b="1" i="0" u="none" strike="noStrike" cap="none" baseline="0" dirty="0" smtClean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21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Bye.</a:t>
            </a:r>
            <a:endParaRPr lang="zh-TW" sz="2100" b="1" i="0" u="none" strike="noStrike" cap="none" baseline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6498" y="8243284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3-4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1246187" y="628650"/>
            <a:ext cx="10464800" cy="8424862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輸入兩個整數之後就會用 imin() 來判斷出兩者中較小的數</a:t>
            </a: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imin() 的 prototype 宣告成 int imin(int, int); </a:t>
            </a:r>
            <a:b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</a:b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代表會傳入兩個 int 參數,然後要回傳一個 int。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我們希望回傳值等於傳入參數值中較小的那ㄧ個值,這只要用 if else 就可以辦到。 在 imin() 的 definition 的最後,必須用 return 把結果傳回去,在這個範例的寫法就是 return min; 表示要把變數 min 的當時的值傳回去</a:t>
            </a:r>
          </a:p>
          <a:p>
            <a:pPr marL="889000" marR="0" lvl="0" indent="-571500" algn="l" rtl="0"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 main() 裡面呼叫 imin(evil1, evil2) 這個 expression 的值會等於 imin() 做完之 後 return 傳回來的值。譬如 imin(5, 3) 的值就等於 3</a:t>
            </a:r>
          </a:p>
        </p:txBody>
      </p:sp>
      <p:sp>
        <p:nvSpPr>
          <p:cNvPr id="225" name="Shape 225"/>
          <p:cNvSpPr/>
          <p:nvPr/>
        </p:nvSpPr>
        <p:spPr>
          <a:xfrm>
            <a:off x="2254250" y="1924050"/>
            <a:ext cx="4300538" cy="2349499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imin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n, 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min;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 { min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n; 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else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{ min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m; 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min;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1270000" y="4940300"/>
            <a:ext cx="10464800" cy="3924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634"/>
              <a:buFont typeface="Arial"/>
              <a:buChar char="•"/>
            </a:pPr>
            <a:r>
              <a:rPr lang="zh-TW" sz="42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由於 what_if() 宣告的回傳值型別是 int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634"/>
              <a:buFont typeface="Arial"/>
              <a:buChar char="•"/>
            </a:pPr>
            <a:r>
              <a:rPr lang="zh-TW" sz="42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雖然 z 是 double,但是在 return 的時候會被強制轉成 int</a:t>
            </a:r>
          </a:p>
        </p:txBody>
      </p:sp>
      <p:sp>
        <p:nvSpPr>
          <p:cNvPr id="231" name="Shape 231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3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8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轉型</a:t>
            </a:r>
          </a:p>
        </p:txBody>
      </p:sp>
      <p:sp>
        <p:nvSpPr>
          <p:cNvPr id="232" name="Shape 232"/>
          <p:cNvSpPr/>
          <p:nvPr/>
        </p:nvSpPr>
        <p:spPr>
          <a:xfrm>
            <a:off x="2159000" y="3248025"/>
            <a:ext cx="6669088" cy="1847849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what_if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double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z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100.0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double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 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z;    </a:t>
            </a:r>
            <a:r>
              <a:rPr lang="zh-TW" sz="2400" b="0" i="1" u="none" strike="noStrike" cap="none" baseline="0" dirty="0">
                <a:solidFill>
                  <a:srgbClr val="878874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/* what happens? */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8636353" y="4726542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3-5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1270000" y="52388"/>
            <a:ext cx="10464800" cy="1295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6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return</a:t>
            </a:r>
          </a:p>
        </p:txBody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1270000" y="1447800"/>
            <a:ext cx="10464800" cy="56896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634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return有一個效果是讓目前的 function 結束,直接跳回到原來呼叫者的程式碼片段。所以其實return不一定要在程式的最後面</a:t>
            </a: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634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程式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最後一行的 printf() 永遠不會被執行。 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634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如果 function 的不需要回傳值 (也就是宣告成 void),那麼也可以用return; 讓 function 在中途跳回去,寫法就是 return 直接加分號 ; 不傳回任何值 (因為是 void),只讓 function就此結束執行。</a:t>
            </a:r>
          </a:p>
        </p:txBody>
      </p:sp>
      <p:sp>
        <p:nvSpPr>
          <p:cNvPr id="239" name="Shape 239"/>
          <p:cNvSpPr/>
          <p:nvPr/>
        </p:nvSpPr>
        <p:spPr>
          <a:xfrm>
            <a:off x="2260600" y="2362200"/>
            <a:ext cx="5419724" cy="2666999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imin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n, 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(n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else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m;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"You can't see me.\n"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240" name="Shape 240"/>
          <p:cNvSpPr/>
          <p:nvPr/>
        </p:nvSpPr>
        <p:spPr>
          <a:xfrm>
            <a:off x="2374900" y="7188200"/>
            <a:ext cx="3979863" cy="2349499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show_postive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(x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else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"%d\n"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x);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7816248" y="4469367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3-6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83597" y="9168367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3-7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8400" b="0" i="0" u="none" strike="noStrike" cap="none" baseline="0" dirty="0" smtClean="0">
                <a:solidFill>
                  <a:schemeClr val="dk1"/>
                </a:solidFill>
                <a:latin typeface="+mj-lt"/>
                <a:ea typeface="Lato"/>
                <a:cs typeface="Lato"/>
                <a:sym typeface="Lato"/>
              </a:rPr>
              <a:t>Main</a:t>
            </a:r>
            <a:endParaRPr lang="zh-TW" sz="8400" b="0" i="0" u="none" strike="noStrike" cap="none" baseline="0" dirty="0">
              <a:solidFill>
                <a:schemeClr val="dk1"/>
              </a:solidFill>
              <a:latin typeface="+mj-lt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7812669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990600" y="3904736"/>
            <a:ext cx="11292016" cy="5544064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C 程式可以看成是許多 functions 的集合</a:t>
            </a:r>
          </a:p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每個 function 會負責某項工作,依照輸入的參數對資料作處理, 然後將結果傳回</a:t>
            </a:r>
          </a:p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其中最重要的而且一定要包含的 function 就是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,它是你的程式的進入點</a:t>
            </a:r>
          </a:p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當你的程式開始執行時,首先就會執行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,然後在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裡面再去呼叫其他 functions</a:t>
            </a:r>
          </a:p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前面的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int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表示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結束後回傳值 (return value) 的型別是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,也就是整數 (integer)</a:t>
            </a:r>
          </a:p>
          <a:p>
            <a:pPr marL="811213" marR="0" lvl="0" indent="-493713" algn="l" rtl="0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171296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括號中的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void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表示這個程式的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main()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在呼叫時不需要傳入任何參數</a:t>
            </a:r>
          </a:p>
        </p:txBody>
      </p:sp>
      <p:cxnSp>
        <p:nvCxnSpPr>
          <p:cNvPr id="163" name="Shape 163"/>
          <p:cNvCxnSpPr/>
          <p:nvPr/>
        </p:nvCxnSpPr>
        <p:spPr>
          <a:xfrm rot="10800000">
            <a:off x="767835" y="1142487"/>
            <a:ext cx="1066799" cy="0"/>
          </a:xfrm>
          <a:prstGeom prst="straightConnector1">
            <a:avLst/>
          </a:prstGeom>
          <a:noFill/>
          <a:ln w="76200" cap="flat">
            <a:solidFill>
              <a:srgbClr val="D90B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64" name="Shape 164"/>
          <p:cNvSpPr/>
          <p:nvPr/>
        </p:nvSpPr>
        <p:spPr>
          <a:xfrm>
            <a:off x="1948935" y="501137"/>
            <a:ext cx="9182099" cy="340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 smtClean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 </a:t>
            </a:r>
            <a:r>
              <a:rPr lang="zh-TW" sz="2400" b="0" i="1" u="none" strike="noStrike" cap="none" baseline="0" dirty="0" smtClean="0">
                <a:solidFill>
                  <a:srgbClr val="878874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/* display an integer on screen */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num </a:t>
            </a:r>
            <a:r>
              <a:rPr lang="zh-TW" sz="24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40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4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"The number is %d.\n"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num);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30957" y="3180323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3-8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9201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990600" y="4533900"/>
            <a:ext cx="10655299" cy="49910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11213" marR="0" lvl="0" indent="-493713" algn="l" rtl="0">
              <a:spcBef>
                <a:spcPts val="3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main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的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回傳值通常做為判別程式是否正常執行的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error code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255713" lvl="1" indent="-493713">
              <a:spcBef>
                <a:spcPts val="3800"/>
              </a:spcBef>
              <a:buSzPct val="170138"/>
            </a:pP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慣例上，</a:t>
            </a: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0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代表正常，非</a:t>
            </a: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0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的數字代表錯誤或某個狀態</a:t>
            </a:r>
            <a:endParaRPr lang="en-US" altLang="zh-TW" sz="2800" b="0" i="0" u="none" strike="noStrike" cap="none" baseline="0" dirty="0" smtClean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2159000" y="1225550"/>
            <a:ext cx="9182099" cy="340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 </a:t>
            </a:r>
            <a:r>
              <a:rPr lang="zh-TW" sz="2400" b="0" i="1" u="none" strike="noStrike" cap="none" baseline="0" dirty="0">
                <a:solidFill>
                  <a:srgbClr val="878874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/* display an integer on screen */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num;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num 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40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4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"The number is %d.\n"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num);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4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24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cxnSp>
        <p:nvCxnSpPr>
          <p:cNvPr id="171" name="Shape 171"/>
          <p:cNvCxnSpPr/>
          <p:nvPr/>
        </p:nvCxnSpPr>
        <p:spPr>
          <a:xfrm rot="10800000">
            <a:off x="1040028" y="3869381"/>
            <a:ext cx="1066799" cy="0"/>
          </a:xfrm>
          <a:prstGeom prst="straightConnector1">
            <a:avLst/>
          </a:prstGeom>
          <a:noFill/>
          <a:ln w="76200" cap="flat">
            <a:solidFill>
              <a:srgbClr val="D90B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0555082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656066"/>
            <a:ext cx="10818341" cy="407845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11213" marR="0" lvl="0" indent="-493713" algn="l" rtl="0">
              <a:spcBef>
                <a:spcPts val="38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main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的參數有兩種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255713" lvl="1" indent="-493713">
              <a:spcBef>
                <a:spcPts val="3800"/>
              </a:spcBef>
              <a:buSzPct val="170138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oid</a:t>
            </a:r>
          </a:p>
          <a:p>
            <a:pPr marL="1255713" lvl="1" indent="-493713">
              <a:spcBef>
                <a:spcPts val="3800"/>
              </a:spcBef>
              <a:buSzPct val="170138"/>
            </a:pP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argc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char *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argv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[]</a:t>
            </a:r>
          </a:p>
          <a:p>
            <a:pPr marL="1700213" lvl="2" indent="-493713">
              <a:spcBef>
                <a:spcPts val="3800"/>
              </a:spcBef>
              <a:buSzPct val="170138"/>
            </a:pP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argc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紀錄參數的數量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00213" lvl="2" indent="-493713">
              <a:spcBef>
                <a:spcPts val="3800"/>
              </a:spcBef>
              <a:buSzPct val="170138"/>
            </a:pP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argv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儲存了每個參數的字串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685800" y="4906618"/>
            <a:ext cx="8532340" cy="36800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1">
              <a:buSzPct val="25000"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lvl="1">
              <a:buSzPct val="25000"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2000" b="1" dirty="0" err="1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en-US" altLang="zh-TW" sz="20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b="1" dirty="0" err="1" smtClean="0">
                <a:solidFill>
                  <a:schemeClr val="tx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argc</a:t>
            </a:r>
            <a:r>
              <a:rPr lang="en-US" altLang="zh-TW" sz="20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char* </a:t>
            </a:r>
            <a:r>
              <a:rPr lang="en-US" altLang="zh-TW" sz="2000" b="1" dirty="0" err="1" smtClean="0">
                <a:solidFill>
                  <a:schemeClr val="tx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argv</a:t>
            </a:r>
            <a:r>
              <a:rPr lang="en-US" altLang="zh-TW" sz="2000" b="1" dirty="0" smtClean="0">
                <a:solidFill>
                  <a:schemeClr val="tx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[]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  <a:endParaRPr lang="zh-TW" sz="2000" b="0" i="1" u="none" strike="noStrike" cap="none" baseline="0" dirty="0" smtClean="0">
              <a:solidFill>
                <a:srgbClr val="878874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  <a:endParaRPr lang="zh-TW" sz="20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0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b="0" i="0" u="none" strike="noStrike" cap="none" baseline="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lvl="1">
              <a:buSzPct val="25000"/>
            </a:pPr>
            <a:r>
              <a:rPr lang="en-US" altLang="zh-TW" sz="20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</a:t>
            </a: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printf(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en-US" altLang="zh-TW" sz="20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number of arguments </a:t>
            </a:r>
            <a:r>
              <a:rPr lang="en-US" altLang="zh-TW" sz="200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 </a:t>
            </a:r>
            <a:r>
              <a:rPr lang="en-US" altLang="zh-TW" sz="20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%d\n</a:t>
            </a:r>
            <a:r>
              <a:rPr lang="zh-TW" altLang="zh-TW" sz="20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zh-TW" altLang="zh-TW" sz="20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en-US" altLang="zh-TW" sz="20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argc</a:t>
            </a: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  <a:endParaRPr lang="en-US" altLang="zh-TW" sz="200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for(</a:t>
            </a:r>
            <a:r>
              <a:rPr lang="en-US" altLang="zh-TW" sz="20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= 0; </a:t>
            </a:r>
            <a:r>
              <a:rPr lang="en-US" altLang="zh-TW" sz="20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&lt; </a:t>
            </a:r>
            <a:r>
              <a:rPr lang="en-US" altLang="zh-TW" sz="20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argc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 </a:t>
            </a:r>
            <a:r>
              <a:rPr lang="en-US" altLang="zh-TW" sz="20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++) {</a:t>
            </a:r>
            <a:endParaRPr lang="zh-TW" sz="20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en-US" alt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printf(</a:t>
            </a:r>
            <a:r>
              <a:rPr lang="en-US" altLang="zh-TW" sz="20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en-US" altLang="zh-TW" sz="2000" b="0" i="0" u="none" strike="noStrike" cap="none" baseline="0" dirty="0" err="1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argv</a:t>
            </a:r>
            <a:r>
              <a:rPr lang="en-US" altLang="zh-TW" sz="20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[</a:t>
            </a:r>
            <a:r>
              <a:rPr lang="en-US" altLang="zh-TW" sz="2000" b="0" i="0" u="none" strike="noStrike" cap="none" baseline="0" dirty="0" err="1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en-US" altLang="zh-TW" sz="20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] = %s\n</a:t>
            </a:r>
            <a:r>
              <a:rPr lang="zh-TW" sz="20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en-US" altLang="zh-TW" sz="2000" b="0" i="0" u="none" strike="noStrike" cap="none" baseline="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argv</a:t>
            </a:r>
            <a:r>
              <a:rPr lang="en-US" alt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[</a:t>
            </a:r>
            <a:r>
              <a:rPr lang="en-US" altLang="zh-TW" sz="2000" b="0" i="0" u="none" strike="noStrike" cap="none" baseline="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en-US" alt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]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  <a:endParaRPr lang="en-US" altLang="zh-TW" sz="20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en-US" altLang="zh-TW" sz="20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}</a:t>
            </a:r>
            <a:endParaRPr lang="zh-TW" sz="20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0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lvl="1">
              <a:buSzPct val="25000"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20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4" name="Shape 253"/>
          <p:cNvSpPr/>
          <p:nvPr/>
        </p:nvSpPr>
        <p:spPr>
          <a:xfrm>
            <a:off x="8328454" y="4734526"/>
            <a:ext cx="4361936" cy="4161824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在</a:t>
            </a: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console</a:t>
            </a: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中執行</a:t>
            </a: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&gt;</a:t>
            </a: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 </a:t>
            </a: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./3-8.exe</a:t>
            </a:r>
            <a:r>
              <a:rPr lang="en-US" altLang="zh-TW" sz="2400" b="0" i="0" u="none" strike="noStrike" cap="none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 first second </a:t>
            </a:r>
            <a:r>
              <a:rPr lang="en-US" altLang="zh-TW" sz="2400" b="0" i="0" u="none" strike="noStrike" cap="none" dirty="0" err="1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abc</a:t>
            </a:r>
            <a:endParaRPr lang="en-US" altLang="zh-TW" sz="2400" b="0" i="0" u="none" strike="noStrike" cap="none" dirty="0" smtClean="0">
              <a:solidFill>
                <a:schemeClr val="dk1"/>
              </a:solidFill>
              <a:latin typeface="Consolas" panose="020B0609020204030204" pitchFamily="49" charset="0"/>
              <a:ea typeface="Lato"/>
              <a:cs typeface="Consolas" panose="020B0609020204030204" pitchFamily="49" charset="0"/>
              <a:sym typeface="Lat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SzPct val="25000"/>
            </a:pPr>
            <a:endParaRPr lang="en-US" altLang="zh-TW" sz="2400" baseline="0" dirty="0" smtClean="0">
              <a:solidFill>
                <a:schemeClr val="dk1"/>
              </a:solidFill>
              <a:latin typeface="Consolas" panose="020B0609020204030204" pitchFamily="49" charset="0"/>
              <a:ea typeface="Lato"/>
              <a:cs typeface="Consolas" panose="020B0609020204030204" pitchFamily="49" charset="0"/>
              <a:sym typeface="Lat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TW" altLang="en-US" sz="2400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輸出</a:t>
            </a:r>
            <a:r>
              <a:rPr lang="en-US" altLang="zh-TW" sz="2400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:</a:t>
            </a:r>
          </a:p>
          <a:p>
            <a:pPr lvl="0">
              <a:buSzPct val="25000"/>
            </a:pP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number of arguments = 4</a:t>
            </a:r>
            <a:endParaRPr lang="en-US" altLang="zh-TW" sz="2400" dirty="0" smtClean="0">
              <a:solidFill>
                <a:schemeClr val="tx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en-US" altLang="zh-TW" sz="2400" b="0" i="0" u="none" strike="noStrike" cap="none" baseline="0" dirty="0" err="1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argv</a:t>
            </a:r>
            <a:r>
              <a:rPr lang="en-US" altLang="zh-TW" sz="2400" b="0" i="0" u="none" strike="noStrike" cap="none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[0] = ./3-8.exe</a:t>
            </a:r>
          </a:p>
          <a:p>
            <a:pPr lvl="0">
              <a:buSzPct val="25000"/>
            </a:pPr>
            <a:r>
              <a:rPr lang="en-US" altLang="zh-TW" sz="2400" b="0" i="0" u="none" strike="noStrike" cap="none" baseline="0" dirty="0" err="1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argv</a:t>
            </a:r>
            <a:r>
              <a:rPr lang="en-US" altLang="zh-TW" sz="2400" b="0" i="0" u="none" strike="noStrike" cap="none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[1] = first</a:t>
            </a:r>
          </a:p>
          <a:p>
            <a:pPr>
              <a:buSzPct val="25000"/>
            </a:pPr>
            <a:r>
              <a:rPr lang="en-US" altLang="zh-TW" sz="2400" dirty="0" err="1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argv</a:t>
            </a:r>
            <a:r>
              <a:rPr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[2] 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= </a:t>
            </a:r>
            <a:r>
              <a:rPr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second</a:t>
            </a:r>
          </a:p>
          <a:p>
            <a:pPr lvl="0">
              <a:buSzPct val="25000"/>
            </a:pPr>
            <a:r>
              <a:rPr lang="en-US" altLang="zh-TW" sz="2400" dirty="0" err="1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argv</a:t>
            </a:r>
            <a:r>
              <a:rPr lang="en-US" altLang="zh-TW" sz="2400" dirty="0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[3] </a:t>
            </a:r>
            <a:r>
              <a:rPr lang="en-US" altLang="zh-TW" sz="2400" dirty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= </a:t>
            </a:r>
            <a:r>
              <a:rPr lang="en-US" altLang="zh-TW" sz="2400" dirty="0" err="1" smtClean="0">
                <a:solidFill>
                  <a:schemeClr val="tx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abc</a:t>
            </a:r>
            <a:endParaRPr lang="en-US" altLang="zh-TW" sz="2400" dirty="0">
              <a:solidFill>
                <a:schemeClr val="tx1"/>
              </a:solidFill>
              <a:latin typeface="Consolas" panose="020B0609020204030204" pitchFamily="49" charset="0"/>
              <a:ea typeface="Lato"/>
              <a:cs typeface="Consolas" panose="020B0609020204030204" pitchFamily="49" charset="0"/>
              <a:sym typeface="Lato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20076" y="7908325"/>
            <a:ext cx="109672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3-9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7707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1270000" y="52388"/>
            <a:ext cx="10464800" cy="1295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6000" b="1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exit</a:t>
            </a:r>
            <a:endParaRPr lang="zh-TW" sz="6000" b="1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</p:txBody>
      </p:sp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>
          <a:xfrm>
            <a:off x="1270000" y="1378228"/>
            <a:ext cx="10464800" cy="3188045"/>
          </a:xfrm>
        </p:spPr>
        <p:txBody>
          <a:bodyPr/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stdlib.h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中有個函式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，效果是直接離開程式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</a:rPr>
              <a:t>void exit (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</a:rPr>
              <a:t> status);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Consolas" panose="020B0609020204030204" pitchFamily="49" charset="0"/>
            </a:endParaRPr>
          </a:p>
          <a:p>
            <a:pPr lvl="1"/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status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main function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return value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同義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預設有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define EXIT_SUCCESS, EXIT_FAILURE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兩個常數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可以在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中呼叫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，直接結束程式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170"/>
          <p:cNvSpPr/>
          <p:nvPr/>
        </p:nvSpPr>
        <p:spPr>
          <a:xfrm>
            <a:off x="4473149" y="4596713"/>
            <a:ext cx="5165122" cy="50086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1">
              <a:buSzPct val="25000"/>
            </a:pPr>
            <a:r>
              <a:rPr lang="zh-TW" sz="21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</a:t>
            </a:r>
            <a:r>
              <a:rPr lang="zh-TW" sz="2100" b="1" i="0" u="none" strike="noStrike" cap="none" baseline="0" dirty="0" smtClean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&gt;</a:t>
            </a:r>
            <a:endParaRPr lang="en-US" altLang="zh-TW" sz="2100" b="1" i="0" u="none" strike="noStrike" cap="none" baseline="0" dirty="0" smtClean="0">
              <a:solidFill>
                <a:srgbClr val="878787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altLang="zh-TW" sz="2100" b="1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</a:t>
            </a:r>
            <a:r>
              <a:rPr lang="zh-TW" altLang="zh-TW" sz="2100" b="1" dirty="0" smtClean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&lt;std</a:t>
            </a:r>
            <a:r>
              <a:rPr lang="en-US" altLang="zh-TW" sz="2100" b="1" dirty="0" smtClean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lib</a:t>
            </a:r>
            <a:r>
              <a:rPr lang="zh-TW" altLang="zh-TW" sz="2100" b="1" dirty="0" smtClean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.h&gt;</a:t>
            </a:r>
            <a:endParaRPr lang="en-US" altLang="zh-TW" sz="2100" b="1" i="0" u="none" strike="noStrike" cap="none" baseline="0" dirty="0" smtClean="0">
              <a:solidFill>
                <a:srgbClr val="878787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zh-TW" altLang="zh-TW" sz="2100" b="1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b="1" dirty="0" err="1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one_or_exit</a:t>
            </a:r>
            <a:r>
              <a:rPr lang="zh-TW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altLang="zh-TW" sz="21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x)</a:t>
            </a: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altLang="zh-TW" sz="2100" b="1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if</a:t>
            </a: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(x </a:t>
            </a:r>
            <a:r>
              <a:rPr lang="en-US" altLang="zh-TW" sz="21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==</a:t>
            </a:r>
            <a:r>
              <a:rPr lang="zh-TW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zh-TW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  <a:endParaRPr lang="zh-TW" altLang="zh-TW" sz="21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</a:t>
            </a:r>
            <a:r>
              <a:rPr lang="zh-TW" altLang="zh-TW" sz="2100" b="1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zh-TW" altLang="zh-TW" sz="2100" b="1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else</a:t>
            </a: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  </a:t>
            </a: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exit(EXIT_FAILURE);</a:t>
            </a:r>
            <a:endParaRPr lang="zh-TW" altLang="zh-TW" sz="21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zh-TW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lvl="1">
              <a:buSzPct val="25000"/>
            </a:pPr>
            <a:endParaRPr lang="zh-TW" sz="2100" b="1" i="0" u="none" strike="noStrike" cap="none" baseline="0" dirty="0">
              <a:solidFill>
                <a:srgbClr val="878787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  <a:endParaRPr lang="zh-TW" sz="2100" b="0" i="1" u="none" strike="noStrike" cap="none" baseline="0" dirty="0" smtClean="0">
              <a:solidFill>
                <a:srgbClr val="878874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  <a:endParaRPr lang="zh-TW" sz="21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1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b="0" i="0" u="none" strike="noStrike" cap="none" baseline="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  <a:endParaRPr lang="en-US" altLang="zh-TW" sz="21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en-US" altLang="zh-TW" sz="21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</a:t>
            </a:r>
            <a:r>
              <a:rPr lang="en-US" altLang="zh-TW" sz="2100" dirty="0" err="1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one_or_exit</a:t>
            </a:r>
            <a:r>
              <a:rPr lang="en-US" altLang="zh-TW" sz="21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(0);</a:t>
            </a:r>
            <a:endParaRPr lang="zh-TW" sz="21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1">
              <a:buSzPct val="25000"/>
            </a:pP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1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lvl="1">
              <a:buSzPct val="25000"/>
            </a:pPr>
            <a:r>
              <a:rPr lang="zh-TW" sz="21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21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6492804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8400" b="0" i="0" u="none" strike="noStrike" cap="none" baseline="0" dirty="0" smtClean="0">
                <a:solidFill>
                  <a:schemeClr val="dk1"/>
                </a:solidFill>
                <a:latin typeface="+mj-lt"/>
                <a:ea typeface="Lato"/>
                <a:cs typeface="Lato"/>
                <a:sym typeface="Lato"/>
              </a:rPr>
              <a:t>Scope</a:t>
            </a:r>
            <a:endParaRPr lang="zh-TW" sz="8400" b="0" i="0" u="none" strike="noStrike" cap="none" baseline="0" dirty="0">
              <a:solidFill>
                <a:schemeClr val="dk1"/>
              </a:solidFill>
              <a:latin typeface="+mj-lt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7684045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12445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6400" b="1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Local </a:t>
            </a:r>
            <a:r>
              <a:rPr lang="zh-TW" sz="6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&amp; Global</a:t>
            </a:r>
          </a:p>
        </p:txBody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1270000" y="1511300"/>
            <a:ext cx="10464800" cy="75945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依照變數的有效或可見範圍,我們可以把它們劃分成 local variables 和 global variables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local：定義在 function 裡面 的變數只有那個 function 可以看得到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global：定義在整個程式最前面,在所有 functions 外面的變數,則是全部的 functions 都看得到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在命名方面,同一個 scope 裡同一個名字當然不能用兩次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譬如</a:t>
            </a:r>
            <a:endParaRPr lang="en-US" altLang="zh-TW" sz="2400" b="0" i="0" u="none" strike="noStrike" cap="none" baseline="0" dirty="0" smtClean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pPr marL="317500" marR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None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	</a:t>
            </a: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a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;</a:t>
            </a:r>
            <a:endParaRPr lang="en-US" altLang="zh-TW" sz="24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微軟正黑體" panose="020B0604030504040204" pitchFamily="34" charset="-120"/>
              <a:cs typeface="Consolas" panose="020B0609020204030204" pitchFamily="49" charset="0"/>
              <a:sym typeface="Courier New"/>
            </a:endParaRPr>
          </a:p>
          <a:p>
            <a:pPr marL="317500" marR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None/>
            </a:pPr>
            <a:r>
              <a:rPr lang="en-US" altLang="zh-TW" sz="2400" dirty="0"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	</a:t>
            </a:r>
            <a:r>
              <a:rPr lang="zh-TW" sz="24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double</a:t>
            </a: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Consolas" panose="020B0609020204030204" pitchFamily="49" charset="0"/>
                <a:sym typeface="Courier New"/>
              </a:rPr>
              <a:t>a;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但是在 function 裡的 local variable 可以和 global variable 同名,這種情況global variable 在那個 function 裡面會被當作不存在。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1270000" y="5726671"/>
            <a:ext cx="10464800" cy="3174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上面的例子顯示了變數存在於記憶體的時間長短。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 local variables 只有當 function 被呼叫的時候才會自動出現在記憶體 (stack) 中,而當 function 結束後就不見。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 global variables 則是在整個程式執行過程都會一直存在。</a:t>
            </a:r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2254250" y="800100"/>
            <a:ext cx="5100638" cy="4889500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aa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100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aa 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3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"f: %d\n"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1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f();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1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f();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1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1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</p:txBody>
      </p:sp>
      <p:sp>
        <p:nvSpPr>
          <p:cNvPr id="253" name="Shape 253"/>
          <p:cNvSpPr/>
          <p:nvPr/>
        </p:nvSpPr>
        <p:spPr>
          <a:xfrm>
            <a:off x="8331200" y="2644775"/>
            <a:ext cx="2851149" cy="1939925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輸出：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main: 100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f: 3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main: 101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1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Lato"/>
                <a:cs typeface="Consolas" panose="020B0609020204030204" pitchFamily="49" charset="0"/>
                <a:sym typeface="Lato"/>
              </a:rPr>
              <a:t>f: 3</a:t>
            </a:r>
          </a:p>
        </p:txBody>
      </p:sp>
      <p:sp>
        <p:nvSpPr>
          <p:cNvPr id="5" name="矩形 4"/>
          <p:cNvSpPr/>
          <p:nvPr/>
        </p:nvSpPr>
        <p:spPr>
          <a:xfrm>
            <a:off x="6017741" y="5320268"/>
            <a:ext cx="133714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3-10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title"/>
          </p:nvPr>
        </p:nvSpPr>
        <p:spPr>
          <a:xfrm>
            <a:off x="1270000" y="-19050"/>
            <a:ext cx="10464800" cy="12445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6400" b="1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static</a:t>
            </a:r>
          </a:p>
        </p:txBody>
      </p:sp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1270000" y="1511300"/>
            <a:ext cx="10464800" cy="78485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如何讓 Function 裡面的變數一直存在?</a:t>
            </a:r>
            <a:b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</a:b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就是在變數的型別前面加上 static</a:t>
            </a:r>
          </a:p>
          <a:p>
            <a:endParaRPr lang="zh-TW" sz="2400" b="0" i="0" u="none" strike="noStrike" cap="none" baseline="0" dirty="0" smtClean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你可以用 static 變數來記錄 function 被呼叫了幾次。</a:t>
            </a:r>
          </a:p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如果你想持續記錄某些資料,但是又不想像 global variables 一樣可以被全部的 functions 隨意修改,就可以用 static va</a:t>
            </a:r>
            <a:r>
              <a:rPr lang="zh-TW" sz="2400" b="0" i="0" u="sng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r</a:t>
            </a: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iables,只透過某個特定的 function 來修改。</a:t>
            </a:r>
          </a:p>
        </p:txBody>
      </p:sp>
      <p:sp>
        <p:nvSpPr>
          <p:cNvPr id="260" name="Shape 260"/>
          <p:cNvSpPr/>
          <p:nvPr/>
        </p:nvSpPr>
        <p:spPr>
          <a:xfrm>
            <a:off x="2181225" y="2638425"/>
            <a:ext cx="4532313" cy="4676775"/>
          </a:xfrm>
          <a:prstGeom prst="rect">
            <a:avLst/>
          </a:prstGeom>
          <a:solidFill>
            <a:schemeClr val="lt1"/>
          </a:solidFill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aa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100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static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aa 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=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3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"f: %d\n"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aa;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20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f();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2000" b="0" i="0" u="none" strike="noStrike" cap="none" baseline="0" dirty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"main: %d\n"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aa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++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f();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20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2000" b="0" i="0" u="none" strike="noStrike" cap="none" baseline="0" dirty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20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0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20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261" name="Shape 261"/>
          <p:cNvSpPr/>
          <p:nvPr/>
        </p:nvSpPr>
        <p:spPr>
          <a:xfrm>
            <a:off x="8331200" y="3894137"/>
            <a:ext cx="2851149" cy="1939925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  <a:sym typeface="Lato"/>
              </a:rPr>
              <a:t>輸出：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  <a:sym typeface="Lato"/>
              </a:rPr>
              <a:t>main: 100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  <a:sym typeface="Lato"/>
              </a:rPr>
              <a:t>f: 3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  <a:sym typeface="Lato"/>
              </a:rPr>
              <a:t>main: 101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2400" b="0" i="0" u="none" strike="noStrike" cap="none" baseline="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 panose="020B0609020204030204" pitchFamily="49" charset="0"/>
                <a:sym typeface="Lato"/>
              </a:rPr>
              <a:t>f: 4</a:t>
            </a:r>
          </a:p>
        </p:txBody>
      </p:sp>
      <p:sp>
        <p:nvSpPr>
          <p:cNvPr id="7" name="矩形 6"/>
          <p:cNvSpPr/>
          <p:nvPr/>
        </p:nvSpPr>
        <p:spPr>
          <a:xfrm>
            <a:off x="5511115" y="6945868"/>
            <a:ext cx="1202424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3-11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1270000" y="1596982"/>
            <a:ext cx="10464800" cy="2177878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static global variable</a:t>
            </a: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 static function</a:t>
            </a:r>
          </a:p>
          <a:p>
            <a:pPr marL="1333500" lvl="1" indent="-571500">
              <a:buSzPct val="170138"/>
            </a:pP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當在一個全域變數或是</a:t>
            </a: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function</a:t>
            </a: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的宣告前面加上</a:t>
            </a:r>
            <a:r>
              <a:rPr lang="en-US" altLang="zh-TW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static</a:t>
            </a:r>
            <a:r>
              <a:rPr lang="zh-TW" altLang="en-US" sz="24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，就可以將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它的有效範圍限制在這份程式碼內，也就是有多份程式碼一起編譯時，存在於其他檔案中的程式無法存取這個變數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/function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sz="2400" b="0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</p:txBody>
      </p:sp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1346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6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static (cont.)</a:t>
            </a:r>
            <a:endParaRPr lang="zh-TW" sz="6400" b="1" i="0" u="none" strike="noStrike" cap="none" baseline="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</p:txBody>
      </p:sp>
      <p:sp>
        <p:nvSpPr>
          <p:cNvPr id="14" name="Shape 260"/>
          <p:cNvSpPr/>
          <p:nvPr/>
        </p:nvSpPr>
        <p:spPr>
          <a:xfrm>
            <a:off x="738658" y="3768810"/>
            <a:ext cx="5402649" cy="3193965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lvl="0">
              <a:buSzPct val="25000"/>
            </a:pPr>
            <a:r>
              <a:rPr lang="zh-TW" altLang="zh-TW" sz="19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static</a:t>
            </a:r>
            <a:r>
              <a:rPr lang="zh-TW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1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add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1900" b="1" dirty="0" err="1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a, </a:t>
            </a:r>
            <a:r>
              <a:rPr lang="en-US" altLang="zh-TW" sz="1900" b="1" dirty="0" err="1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en-US" alt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b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  <a:endParaRPr lang="zh-TW" sz="19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1900" b="1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 + b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19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19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printf(</a:t>
            </a:r>
            <a:r>
              <a:rPr lang="zh-TW" sz="19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“</a:t>
            </a:r>
            <a:r>
              <a:rPr lang="en-US" altLang="zh-TW" sz="19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1</a:t>
            </a:r>
            <a:r>
              <a:rPr lang="en-US" altLang="zh-TW" sz="1900" b="0" i="0" u="none" strike="noStrike" cap="none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+ 1 =</a:t>
            </a:r>
            <a:r>
              <a:rPr lang="zh-TW" sz="1900" b="0" i="0" u="none" strike="noStrike" cap="none" baseline="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%d\n"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en-US" alt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add(1, 1)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  <a:endParaRPr lang="en-US" altLang="zh-TW" sz="1900" b="0" i="0" u="none" strike="noStrike" cap="none" baseline="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19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call();</a:t>
            </a:r>
            <a:endParaRPr lang="en-US" altLang="zh-TW" sz="19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19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19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15" name="Shape 260"/>
          <p:cNvSpPr/>
          <p:nvPr/>
        </p:nvSpPr>
        <p:spPr>
          <a:xfrm>
            <a:off x="6672649" y="3707089"/>
            <a:ext cx="5402649" cy="1544663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>
              <a:buSzPct val="25000"/>
            </a:pPr>
            <a:r>
              <a:rPr lang="zh-TW" altLang="zh-TW" sz="20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static</a:t>
            </a: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000" b="1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call</a:t>
            </a: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()</a:t>
            </a:r>
          </a:p>
          <a:p>
            <a:pPr lvl="0">
              <a:buSzPct val="25000"/>
            </a:pP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  <a:endParaRPr lang="zh-TW" altLang="zh-TW" sz="20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zh-TW" altLang="zh-TW" sz="20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en-US" altLang="zh-TW" sz="20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add(1, 1);</a:t>
            </a:r>
            <a:endParaRPr lang="zh-TW" altLang="zh-TW" sz="2000" dirty="0" smtClean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lvl="0">
              <a:buSzPct val="25000"/>
            </a:pPr>
            <a:r>
              <a:rPr lang="zh-TW" altLang="zh-TW" sz="20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altLang="zh-TW" sz="20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08" y="7535562"/>
            <a:ext cx="10421061" cy="221803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893276" y="6593443"/>
            <a:ext cx="1248031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3-12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02374" y="7064503"/>
            <a:ext cx="1248031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 smtClean="0">
                <a:solidFill>
                  <a:schemeClr val="tx1"/>
                </a:solidFill>
                <a:latin typeface="Courier" pitchFamily="-84" charset="0"/>
                <a:sym typeface="Courier" pitchFamily="-84" charset="0"/>
              </a:rPr>
              <a:t>編譯失敗</a:t>
            </a:r>
            <a:endParaRPr lang="en-US" altLang="zh-TW" sz="1800" b="1" dirty="0">
              <a:solidFill>
                <a:schemeClr val="tx1"/>
              </a:solidFill>
              <a:latin typeface="Courier" pitchFamily="-84" charset="0"/>
              <a:sym typeface="Courier" pitchFamily="-8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13903" y="6962775"/>
            <a:ext cx="1248031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err="1" smtClean="0">
                <a:solidFill>
                  <a:schemeClr val="tx1"/>
                </a:solidFill>
                <a:latin typeface="Calibri" panose="020F0502020204030204" pitchFamily="34" charset="0"/>
                <a:sym typeface="Courier" pitchFamily="-84" charset="0"/>
              </a:rPr>
              <a:t>main.c</a:t>
            </a:r>
            <a:endParaRPr lang="en-US" altLang="zh-TW" sz="2000" b="1" dirty="0">
              <a:solidFill>
                <a:schemeClr val="tx1"/>
              </a:solidFill>
              <a:latin typeface="Calibri" panose="020F0502020204030204" pitchFamily="34" charset="0"/>
              <a:sym typeface="Courier" pitchFamily="-8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749957" y="5255101"/>
            <a:ext cx="1248031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err="1" smtClean="0">
                <a:solidFill>
                  <a:schemeClr val="tx1"/>
                </a:solidFill>
                <a:latin typeface="Calibri" panose="020F0502020204030204" pitchFamily="34" charset="0"/>
                <a:sym typeface="Courier" pitchFamily="-84" charset="0"/>
              </a:rPr>
              <a:t>another.c</a:t>
            </a:r>
            <a:endParaRPr lang="en-US" altLang="zh-TW" sz="2000" b="1" dirty="0">
              <a:solidFill>
                <a:schemeClr val="tx1"/>
              </a:solidFill>
              <a:latin typeface="Calibri" panose="020F0502020204030204" pitchFamily="34" charset="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4333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1270000" y="1680517"/>
            <a:ext cx="10464800" cy="2245154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889000" marR="0" lvl="0" indent="-57150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170138"/>
              <a:buFont typeface="Arial"/>
              <a:buChar char="•"/>
            </a:pP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在一個變數宣告前加上</a:t>
            </a: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extern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，聲明此變數在其他位置</a:t>
            </a: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(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檔案</a:t>
            </a:r>
            <a:r>
              <a:rPr lang="en-US" altLang="zh-TW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)</a:t>
            </a:r>
            <a:r>
              <a:rPr lang="zh-TW" altLang="en-US" sz="2800" b="0" i="0" u="none" strike="noStrike" cap="none" baseline="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Lato"/>
              </a:rPr>
              <a:t>被定義。</a:t>
            </a:r>
            <a:endParaRPr lang="en-US" altLang="zh-TW" sz="2800" b="0" i="0" u="none" strike="noStrike" cap="none" baseline="0" dirty="0" smtClean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Lato"/>
            </a:endParaRPr>
          </a:p>
          <a:p>
            <a:pPr marL="1333500" lvl="1" indent="-571500">
              <a:buSzPct val="170138"/>
            </a:pP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要注意的是，不可同時使用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extern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與指定其初始值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因為此變數是在其他位置定義的。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260"/>
          <p:cNvSpPr/>
          <p:nvPr/>
        </p:nvSpPr>
        <p:spPr>
          <a:xfrm>
            <a:off x="1097004" y="4497858"/>
            <a:ext cx="5402649" cy="3193965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1" i="0" u="none" strike="noStrike" cap="none" baseline="0" dirty="0">
                <a:solidFill>
                  <a:srgbClr val="8787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#include &lt;stdio.h&gt;</a:t>
            </a:r>
          </a:p>
          <a:p>
            <a:pPr lvl="0">
              <a:buSzPct val="25000"/>
            </a:pPr>
            <a:r>
              <a:rPr lang="zh-TW" altLang="zh-TW" sz="19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static</a:t>
            </a:r>
            <a:r>
              <a:rPr lang="zh-TW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1" dirty="0" smtClean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add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en-US" altLang="zh-TW" sz="1900" b="1" dirty="0" err="1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a, </a:t>
            </a:r>
            <a:r>
              <a:rPr lang="en-US" altLang="zh-TW" sz="1900" b="1" dirty="0" err="1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en-US" alt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b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19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 + b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1" i="0" u="none" strike="noStrike" cap="none" baseline="0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1" i="0" u="none" strike="noStrike" cap="none" baseline="0" dirty="0">
                <a:solidFill>
                  <a:srgbClr val="870000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main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(</a:t>
            </a:r>
            <a:r>
              <a:rPr lang="zh-TW" sz="1900" b="1" i="0" u="none" strike="noStrike" cap="none" baseline="0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void</a:t>
            </a: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{</a:t>
            </a:r>
          </a:p>
          <a:p>
            <a:pPr lvl="0">
              <a:buSzPct val="25000"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</a:t>
            </a:r>
            <a:r>
              <a:rPr lang="en-US" altLang="zh-TW" sz="1900" b="1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extern </a:t>
            </a:r>
            <a:r>
              <a:rPr lang="en-US" altLang="zh-TW" sz="1900" b="1" dirty="0" err="1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1900" b="1" dirty="0" smtClean="0">
                <a:solidFill>
                  <a:schemeClr val="tx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</a:t>
            </a:r>
            <a:r>
              <a:rPr lang="en-US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;</a:t>
            </a:r>
          </a:p>
          <a:p>
            <a:pPr lvl="0">
              <a:buSzPct val="25000"/>
            </a:pPr>
            <a:r>
              <a:rPr lang="en-US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   </a:t>
            </a:r>
            <a:r>
              <a:rPr lang="zh-TW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printf(</a:t>
            </a:r>
            <a:r>
              <a:rPr lang="en-US" altLang="zh-TW" sz="19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"a = %d</a:t>
            </a:r>
            <a:r>
              <a:rPr lang="zh-TW" altLang="zh-TW" sz="1900" dirty="0" smtClean="0">
                <a:solidFill>
                  <a:srgbClr val="D4003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"</a:t>
            </a:r>
            <a:r>
              <a:rPr lang="zh-TW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, </a:t>
            </a:r>
            <a:r>
              <a:rPr lang="en-US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</a:t>
            </a:r>
            <a:r>
              <a:rPr lang="zh-TW" altLang="zh-TW" sz="190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);</a:t>
            </a:r>
            <a:r>
              <a:rPr lang="en-US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/>
            </a:r>
            <a:br>
              <a:rPr lang="en-US" altLang="zh-TW" sz="1900" b="1" dirty="0" smtClean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</a:b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    </a:t>
            </a:r>
            <a:r>
              <a:rPr lang="zh-TW" sz="1900" b="1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return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zh-TW" sz="1900" b="0" i="0" u="none" strike="noStrike" cap="none" baseline="0" dirty="0" smtClean="0">
                <a:solidFill>
                  <a:srgbClr val="008887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0</a:t>
            </a: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zh-TW" sz="1900" b="0" i="0" u="none" strike="noStrike" cap="none" baseline="0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}</a:t>
            </a:r>
            <a:endParaRPr lang="zh-TW" sz="1900" b="0" i="0" u="none" strike="noStrike" cap="none" baseline="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7" name="Shape 260"/>
          <p:cNvSpPr/>
          <p:nvPr/>
        </p:nvSpPr>
        <p:spPr>
          <a:xfrm>
            <a:off x="6981568" y="4550177"/>
            <a:ext cx="5402649" cy="1010363"/>
          </a:xfrm>
          <a:prstGeom prst="rect">
            <a:avLst/>
          </a:prstGeom>
          <a:solidFill>
            <a:schemeClr val="lt1"/>
          </a:solidFill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>
              <a:buSzPct val="25000"/>
            </a:pPr>
            <a:r>
              <a:rPr lang="en-US" altLang="zh-TW" sz="2400" b="1" dirty="0" err="1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int</a:t>
            </a:r>
            <a:r>
              <a:rPr lang="zh-TW" altLang="zh-TW" sz="2400" b="1" dirty="0">
                <a:solidFill>
                  <a:srgbClr val="334076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altLang="zh-TW" sz="2400" b="1" dirty="0" smtClean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a = 100;</a:t>
            </a:r>
            <a:endParaRPr lang="zh-TW" altLang="zh-TW" sz="24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10" name="Shape 201"/>
          <p:cNvSpPr txBox="1">
            <a:spLocks/>
          </p:cNvSpPr>
          <p:nvPr/>
        </p:nvSpPr>
        <p:spPr>
          <a:xfrm>
            <a:off x="1270000" y="254000"/>
            <a:ext cx="10464800" cy="1346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rtl val="0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rtl val="0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8400" b="0" i="0" u="none" strike="noStrike" cap="none" baseline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SzPct val="25000"/>
            </a:pPr>
            <a:r>
              <a:rPr lang="en-US" altLang="zh-TW" sz="6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extern</a:t>
            </a:r>
            <a:endParaRPr lang="zh-TW" sz="6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14552" y="7322491"/>
            <a:ext cx="1285102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1800" b="1" dirty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範例</a:t>
            </a:r>
            <a:r>
              <a:rPr lang="en-US" altLang="zh-TW" sz="1800" b="1" dirty="0" smtClean="0">
                <a:solidFill>
                  <a:srgbClr val="FF0000"/>
                </a:solidFill>
                <a:latin typeface="Courier" pitchFamily="-84" charset="0"/>
                <a:sym typeface="Courier" pitchFamily="-84" charset="0"/>
              </a:rPr>
              <a:t>3-13</a:t>
            </a:r>
            <a:endParaRPr lang="en-US" altLang="zh-TW" sz="1800" b="1" dirty="0">
              <a:solidFill>
                <a:srgbClr val="FF0000"/>
              </a:solidFill>
              <a:latin typeface="Courier" pitchFamily="-84" charset="0"/>
              <a:sym typeface="Courier" pitchFamily="-8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81568" y="6404312"/>
            <a:ext cx="1857632" cy="95410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TW" altLang="en-US" sz="2800" b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輸出</a:t>
            </a:r>
            <a:r>
              <a:rPr lang="en-US" altLang="zh-TW" sz="2800" b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b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Courier" pitchFamily="-84" charset="0"/>
              </a:rPr>
              <a:t>a = 100</a:t>
            </a:r>
            <a:endParaRPr lang="en-US" altLang="zh-TW" sz="28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Courier" pitchFamily="-8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61038" y="7710100"/>
            <a:ext cx="1248031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err="1" smtClean="0">
                <a:solidFill>
                  <a:schemeClr val="tx1"/>
                </a:solidFill>
                <a:latin typeface="Calibri" panose="020F0502020204030204" pitchFamily="34" charset="0"/>
                <a:sym typeface="Courier" pitchFamily="-84" charset="0"/>
              </a:rPr>
              <a:t>main.c</a:t>
            </a:r>
            <a:endParaRPr lang="en-US" altLang="zh-TW" sz="2000" b="1" dirty="0">
              <a:solidFill>
                <a:schemeClr val="tx1"/>
              </a:solidFill>
              <a:latin typeface="Calibri" panose="020F0502020204030204" pitchFamily="34" charset="0"/>
              <a:sym typeface="Courier" pitchFamily="-8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85189" y="5594156"/>
            <a:ext cx="1248031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b="1" dirty="0" err="1" smtClean="0">
                <a:solidFill>
                  <a:schemeClr val="tx1"/>
                </a:solidFill>
                <a:latin typeface="Calibri" panose="020F0502020204030204" pitchFamily="34" charset="0"/>
                <a:sym typeface="Courier" pitchFamily="-84" charset="0"/>
              </a:rPr>
              <a:t>another.c</a:t>
            </a:r>
            <a:endParaRPr lang="en-US" altLang="zh-TW" sz="2000" b="1" dirty="0">
              <a:solidFill>
                <a:schemeClr val="tx1"/>
              </a:solidFill>
              <a:latin typeface="Calibri" panose="020F0502020204030204" pitchFamily="34" charset="0"/>
              <a:sym typeface="Courier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82287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1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altLang="zh-TW" sz="8400" b="0" i="0" u="none" strike="noStrike" cap="none" baseline="0" dirty="0" smtClean="0">
                <a:solidFill>
                  <a:schemeClr val="dk1"/>
                </a:solidFill>
                <a:latin typeface="+mj-lt"/>
                <a:ea typeface="Lato"/>
                <a:cs typeface="Lato"/>
                <a:sym typeface="Lato"/>
              </a:rPr>
              <a:t>Ap</a:t>
            </a:r>
            <a:r>
              <a:rPr lang="en-US" altLang="zh-TW" dirty="0" smtClean="0">
                <a:latin typeface="+mj-lt"/>
              </a:rPr>
              <a:t>pendix</a:t>
            </a:r>
            <a:endParaRPr lang="zh-TW" sz="8400" b="0" i="0" u="none" strike="noStrike" cap="none" baseline="0" dirty="0">
              <a:solidFill>
                <a:schemeClr val="dk1"/>
              </a:solidFill>
              <a:latin typeface="+mj-lt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3883150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672137"/>
          </a:xfrm>
        </p:spPr>
        <p:txBody>
          <a:bodyPr/>
          <a:lstStyle/>
          <a:p>
            <a:r>
              <a:rPr kumimoji="1"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參數列輸入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1" lang="en-US" altLang="zh-TW" sz="5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argc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kumimoji="1" lang="en-US" altLang="zh-TW" sz="5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argv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4382" y="2090575"/>
            <a:ext cx="10464800" cy="3224427"/>
          </a:xfrm>
        </p:spPr>
        <p:txBody>
          <a:bodyPr/>
          <a:lstStyle/>
          <a:p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要使用參數列輸入，需要在命令提示字元下執行</a:t>
            </a:r>
            <a:endParaRPr kumimoji="1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r>
              <a:rPr kumimoji="1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所有程式</a:t>
            </a:r>
            <a:r>
              <a:rPr kumimoji="1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附屬應用程式</a:t>
            </a:r>
            <a:r>
              <a:rPr kumimoji="1"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</a:t>
            </a:r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命令提示字元</a:t>
            </a:r>
            <a:endParaRPr kumimoji="1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以拖拉方式將程式路徑填入命令提示字元</a:t>
            </a:r>
            <a:endParaRPr kumimoji="1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kumimoji="1"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在路徑後面即可寫入需要的參數</a:t>
            </a:r>
            <a:endParaRPr kumimoji="1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089" y="2274296"/>
            <a:ext cx="2061422" cy="4254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22" y="5852978"/>
            <a:ext cx="9771910" cy="351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332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1672137"/>
          </a:xfrm>
        </p:spPr>
        <p:txBody>
          <a:bodyPr/>
          <a:lstStyle/>
          <a:p>
            <a:r>
              <a:rPr kumimoji="1" lang="zh-TW" altLang="en-US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參數列輸入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kumimoji="1" lang="en-US" altLang="zh-TW" sz="5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argc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kumimoji="1" lang="en-US" altLang="zh-TW" sz="5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argv</a:t>
            </a:r>
            <a:r>
              <a:rPr kumimoji="1" lang="en-US" altLang="zh-TW" sz="5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4382" y="2090575"/>
            <a:ext cx="10464800" cy="3224427"/>
          </a:xfrm>
        </p:spPr>
        <p:txBody>
          <a:bodyPr/>
          <a:lstStyle/>
          <a:p>
            <a:r>
              <a:rPr kumimoji="1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以範例</a:t>
            </a:r>
            <a:r>
              <a:rPr kumimoji="1"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3-9</a:t>
            </a:r>
            <a:r>
              <a:rPr kumimoji="1"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為例</a:t>
            </a:r>
            <a:endParaRPr kumimoji="1"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87" y="4687072"/>
            <a:ext cx="64484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標題與副標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標題與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項目符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2086</Words>
  <Application>Microsoft Office PowerPoint</Application>
  <PresentationFormat>自訂</PresentationFormat>
  <Paragraphs>555</Paragraphs>
  <Slides>34</Slides>
  <Notes>24</Notes>
  <HiddenSlides>0</HiddenSlides>
  <MMClips>0</MMClips>
  <ScaleCrop>false</ScaleCrop>
  <HeadingPairs>
    <vt:vector size="4" baseType="variant">
      <vt:variant>
        <vt:lpstr>佈景主題</vt:lpstr>
      </vt:variant>
      <vt:variant>
        <vt:i4>3</vt:i4>
      </vt:variant>
      <vt:variant>
        <vt:lpstr>投影片標題</vt:lpstr>
      </vt:variant>
      <vt:variant>
        <vt:i4>34</vt:i4>
      </vt:variant>
    </vt:vector>
  </HeadingPairs>
  <TitlesOfParts>
    <vt:vector size="37" baseType="lpstr">
      <vt:lpstr/>
      <vt:lpstr/>
      <vt:lpstr/>
      <vt:lpstr>Function</vt:lpstr>
      <vt:lpstr>PowerPoint 簡報</vt:lpstr>
      <vt:lpstr>PowerPoint 簡報</vt:lpstr>
      <vt:lpstr>PowerPoint 簡報</vt:lpstr>
      <vt:lpstr>PowerPoint 簡報</vt:lpstr>
      <vt:lpstr>PowerPoint 簡報</vt:lpstr>
      <vt:lpstr>黑盒子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Function 回傳值</vt:lpstr>
      <vt:lpstr>PowerPoint 簡報</vt:lpstr>
      <vt:lpstr>PowerPoint 簡報</vt:lpstr>
      <vt:lpstr>轉型</vt:lpstr>
      <vt:lpstr>return</vt:lpstr>
      <vt:lpstr>Main</vt:lpstr>
      <vt:lpstr>PowerPoint 簡報</vt:lpstr>
      <vt:lpstr>PowerPoint 簡報</vt:lpstr>
      <vt:lpstr>PowerPoint 簡報</vt:lpstr>
      <vt:lpstr>exit</vt:lpstr>
      <vt:lpstr>Scope</vt:lpstr>
      <vt:lpstr>Local &amp; Global</vt:lpstr>
      <vt:lpstr>PowerPoint 簡報</vt:lpstr>
      <vt:lpstr>static</vt:lpstr>
      <vt:lpstr>static (cont.)</vt:lpstr>
      <vt:lpstr>PowerPoint 簡報</vt:lpstr>
      <vt:lpstr>Appendix</vt:lpstr>
      <vt:lpstr>參數列輸入(argc, argv)</vt:lpstr>
      <vt:lpstr>參數列輸入(argc, argv)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</dc:title>
  <dc:creator>shuming</dc:creator>
  <cp:lastModifiedBy>Yeh-Ching Chung</cp:lastModifiedBy>
  <cp:revision>44</cp:revision>
  <dcterms:modified xsi:type="dcterms:W3CDTF">2013-10-18T00:05:20Z</dcterms:modified>
</cp:coreProperties>
</file>