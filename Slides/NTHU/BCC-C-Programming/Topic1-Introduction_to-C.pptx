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2"/>
    <p:sldMasterId id="2147483650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  <p:sldMasterId id="2147483660" r:id="rId12"/>
    <p:sldMasterId id="2147483661" r:id="rId13"/>
  </p:sldMasterIdLst>
  <p:notesMasterIdLst>
    <p:notesMasterId r:id="rId68"/>
  </p:notesMasterIdLst>
  <p:sldIdLst>
    <p:sldId id="256" r:id="rId14"/>
    <p:sldId id="357" r:id="rId15"/>
    <p:sldId id="269" r:id="rId16"/>
    <p:sldId id="258" r:id="rId17"/>
    <p:sldId id="259" r:id="rId18"/>
    <p:sldId id="261" r:id="rId19"/>
    <p:sldId id="263" r:id="rId20"/>
    <p:sldId id="265" r:id="rId21"/>
    <p:sldId id="266" r:id="rId22"/>
    <p:sldId id="267" r:id="rId23"/>
    <p:sldId id="268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7" r:id="rId36"/>
    <p:sldId id="288" r:id="rId37"/>
    <p:sldId id="289" r:id="rId38"/>
    <p:sldId id="351" r:id="rId39"/>
    <p:sldId id="352" r:id="rId40"/>
    <p:sldId id="353" r:id="rId41"/>
    <p:sldId id="354" r:id="rId42"/>
    <p:sldId id="301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3" r:id="rId52"/>
    <p:sldId id="355" r:id="rId53"/>
    <p:sldId id="318" r:id="rId54"/>
    <p:sldId id="322" r:id="rId55"/>
    <p:sldId id="324" r:id="rId56"/>
    <p:sldId id="348" r:id="rId57"/>
    <p:sldId id="349" r:id="rId58"/>
    <p:sldId id="347" r:id="rId59"/>
    <p:sldId id="264" r:id="rId60"/>
    <p:sldId id="286" r:id="rId61"/>
    <p:sldId id="290" r:id="rId62"/>
    <p:sldId id="293" r:id="rId63"/>
    <p:sldId id="311" r:id="rId64"/>
    <p:sldId id="312" r:id="rId65"/>
    <p:sldId id="350" r:id="rId66"/>
    <p:sldId id="356" r:id="rId67"/>
  </p:sldIdLst>
  <p:sldSz cx="13004800" cy="9753600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Heiti TC Light" charset="0"/>
        <a:cs typeface="Heiti TC Light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Heiti TC Light" charset="0"/>
        <a:cs typeface="Heiti TC Light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Heiti TC Light" charset="0"/>
        <a:cs typeface="Heiti TC Light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Heiti TC Light" charset="0"/>
        <a:cs typeface="Heiti TC Light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Heiti TC Light" charset="0"/>
        <a:cs typeface="Heiti TC Light" charset="0"/>
        <a:sym typeface="Gill Sans" charset="0"/>
      </a:defRPr>
    </a:lvl5pPr>
    <a:lvl6pPr marL="22860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Heiti TC Light" charset="0"/>
        <a:cs typeface="Heiti TC Light" charset="0"/>
        <a:sym typeface="Gill Sans" charset="0"/>
      </a:defRPr>
    </a:lvl6pPr>
    <a:lvl7pPr marL="27432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Heiti TC Light" charset="0"/>
        <a:cs typeface="Heiti TC Light" charset="0"/>
        <a:sym typeface="Gill Sans" charset="0"/>
      </a:defRPr>
    </a:lvl7pPr>
    <a:lvl8pPr marL="32004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Heiti TC Light" charset="0"/>
        <a:cs typeface="Heiti TC Light" charset="0"/>
        <a:sym typeface="Gill Sans" charset="0"/>
      </a:defRPr>
    </a:lvl8pPr>
    <a:lvl9pPr marL="36576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Heiti TC Light" charset="0"/>
        <a:cs typeface="Heiti TC Light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624" y="42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slide" Target="slides/slide37.xml"/><Relationship Id="rId55" Type="http://schemas.openxmlformats.org/officeDocument/2006/relationships/slide" Target="slides/slide42.xml"/><Relationship Id="rId63" Type="http://schemas.openxmlformats.org/officeDocument/2006/relationships/slide" Target="slides/slide50.xml"/><Relationship Id="rId68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slide" Target="slides/slide40.xml"/><Relationship Id="rId58" Type="http://schemas.openxmlformats.org/officeDocument/2006/relationships/slide" Target="slides/slide45.xml"/><Relationship Id="rId66" Type="http://schemas.openxmlformats.org/officeDocument/2006/relationships/slide" Target="slides/slide5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openxmlformats.org/officeDocument/2006/relationships/slide" Target="slides/slide44.xml"/><Relationship Id="rId61" Type="http://schemas.openxmlformats.org/officeDocument/2006/relationships/slide" Target="slides/slide48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slide" Target="slides/slide39.xml"/><Relationship Id="rId60" Type="http://schemas.openxmlformats.org/officeDocument/2006/relationships/slide" Target="slides/slide47.xml"/><Relationship Id="rId65" Type="http://schemas.openxmlformats.org/officeDocument/2006/relationships/slide" Target="slides/slide5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openxmlformats.org/officeDocument/2006/relationships/slide" Target="slides/slide43.xml"/><Relationship Id="rId64" Type="http://schemas.openxmlformats.org/officeDocument/2006/relationships/slide" Target="slides/slide51.xml"/><Relationship Id="rId69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59" Type="http://schemas.openxmlformats.org/officeDocument/2006/relationships/slide" Target="slides/slide46.xml"/><Relationship Id="rId67" Type="http://schemas.openxmlformats.org/officeDocument/2006/relationships/slide" Target="slides/slide54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slide" Target="slides/slide41.xml"/><Relationship Id="rId62" Type="http://schemas.openxmlformats.org/officeDocument/2006/relationships/slide" Target="slides/slide49.xml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9DFF76-C319-4385-A54E-5E0F4881303A}" type="datetimeFigureOut">
              <a:rPr lang="zh-TW" altLang="en-US" smtClean="0"/>
              <a:pPr/>
              <a:t>2013/9/9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BD5C0-69C6-400D-A6BA-85BF1E3850C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79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EBD5C0-69C6-400D-A6BA-85BF1E3850C0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7404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858007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682021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0780153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2700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786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476002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972708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934976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11121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618983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9126505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203384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18600" y="1638300"/>
            <a:ext cx="2616200" cy="45212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70000" y="1638300"/>
            <a:ext cx="7696200" cy="45212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15763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811645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81348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0586275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7724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98298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06057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112172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299456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09957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9041203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89326343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87891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2846040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1521063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58178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07620486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3331384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8366160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057107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855255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10218810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03670814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732724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764225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 vert="horz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0556151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1824329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95582750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2700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786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515952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98398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0506810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85617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63064661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32284790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1503889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09307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09307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7236910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0546967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1434900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38589277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9540346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890199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242125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736036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99705331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79723099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4978469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2050696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641640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9480044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25437884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3070774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5841039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9174693"/>
      </p:ext>
    </p:extLst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480792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42611643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65261849"/>
      </p:ext>
    </p:extLst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4983996"/>
      </p:ext>
    </p:extLst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213804"/>
      </p:ext>
    </p:extLst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95338"/>
      </p:ext>
    </p:extLst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964883"/>
      </p:ext>
    </p:extLst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64343578"/>
      </p:ext>
    </p:extLst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80466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152002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049541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139540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51946857"/>
      </p:ext>
    </p:extLst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4849840"/>
      </p:ext>
    </p:extLst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39211"/>
      </p:ext>
    </p:extLst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190050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0207978"/>
      </p:ext>
    </p:extLst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6845185"/>
      </p:ext>
    </p:extLst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0035259"/>
      </p:ext>
    </p:extLst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8021564"/>
      </p:ext>
    </p:extLst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0480917"/>
      </p:ext>
    </p:extLst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54363"/>
      </p:ext>
    </p:extLst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3165818"/>
      </p:ext>
    </p:extLst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024097102"/>
      </p:ext>
    </p:extLst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27434829"/>
      </p:ext>
    </p:extLst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2146932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428163" y="254000"/>
            <a:ext cx="2925762" cy="84582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50875" y="254000"/>
            <a:ext cx="8624888" cy="845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0771832"/>
      </p:ext>
    </p:extLst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6376197"/>
      </p:ext>
    </p:extLst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836476"/>
      </p:ext>
    </p:extLst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71051622"/>
      </p:ext>
    </p:extLst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5598293"/>
      </p:ext>
    </p:extLst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3696913"/>
      </p:ext>
    </p:extLst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9716087"/>
      </p:ext>
    </p:extLst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811101"/>
      </p:ext>
    </p:extLst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93611707"/>
      </p:ext>
    </p:extLst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542700"/>
      </p:ext>
    </p:extLst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857136"/>
      </p:ext>
    </p:extLst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5262458"/>
      </p:ext>
    </p:extLst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6920640"/>
      </p:ext>
    </p:extLst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7147241"/>
      </p:ext>
    </p:extLst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70502139"/>
      </p:ext>
    </p:extLst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2455474"/>
      </p:ext>
    </p:extLst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7966593"/>
      </p:ext>
    </p:extLst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925607"/>
      </p:ext>
    </p:extLst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882715"/>
      </p:ext>
    </p:extLst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86625037"/>
      </p:ext>
    </p:extLst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75007588"/>
      </p:ext>
    </p:extLst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0035754"/>
      </p:ext>
    </p:extLst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2942347"/>
      </p:ext>
    </p:extLst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2843569"/>
      </p:ext>
    </p:extLst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1588482"/>
      </p:ext>
    </p:extLst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49438099"/>
      </p:ext>
    </p:extLst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4182340"/>
      </p:ext>
    </p:extLst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7771799"/>
      </p:ext>
    </p:extLst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438687"/>
      </p:ext>
    </p:extLst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080911"/>
      </p:ext>
    </p:extLst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69324053"/>
      </p:ext>
    </p:extLst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06006262"/>
      </p:ext>
    </p:extLst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3787790"/>
      </p:ext>
    </p:extLst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7405725"/>
      </p:ext>
    </p:extLst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7402636"/>
      </p:ext>
    </p:extLst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0017577"/>
      </p:ext>
    </p:extLst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94903397"/>
      </p:ext>
    </p:extLst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0647500"/>
      </p:ext>
    </p:extLst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753216"/>
      </p:ext>
    </p:extLst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772527"/>
      </p:ext>
    </p:extLst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890283"/>
      </p:ext>
    </p:extLst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05458444"/>
      </p:ext>
    </p:extLst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68659722"/>
      </p:ext>
    </p:extLst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9654909"/>
      </p:ext>
    </p:extLst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4357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474304"/>
      </p:ext>
    </p:extLst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4395362"/>
      </p:ext>
    </p:extLst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725210"/>
      </p:ext>
    </p:extLst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50789794"/>
      </p:ext>
    </p:extLst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254799"/>
      </p:ext>
    </p:extLst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473256"/>
      </p:ext>
    </p:extLst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831768"/>
      </p:ext>
    </p:extLst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2848777"/>
      </p:ext>
    </p:extLst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73793728"/>
      </p:ext>
    </p:extLst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92246895"/>
      </p:ext>
    </p:extLst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3672968"/>
      </p:ext>
    </p:extLst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326202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text styles</a:t>
            </a:r>
          </a:p>
          <a:p>
            <a:pPr lvl="1"/>
            <a:r>
              <a:rPr lang="en-US" altLang="zh-TW">
                <a:sym typeface="Gill Sans" charset="0"/>
              </a:rPr>
              <a:t>Second level</a:t>
            </a:r>
          </a:p>
          <a:p>
            <a:pPr lvl="2"/>
            <a:r>
              <a:rPr lang="en-US" altLang="zh-TW">
                <a:sym typeface="Gill Sans" charset="0"/>
              </a:rPr>
              <a:t>Third level</a:t>
            </a:r>
          </a:p>
          <a:p>
            <a:pPr lvl="3"/>
            <a:r>
              <a:rPr lang="en-US" altLang="zh-TW">
                <a:sym typeface="Gill Sans" charset="0"/>
              </a:rPr>
              <a:t>Fourth level</a:t>
            </a:r>
          </a:p>
          <a:p>
            <a:pPr lvl="4"/>
            <a:r>
              <a:rPr lang="en-US" altLang="zh-TW">
                <a:sym typeface="Gill Sans" charset="0"/>
              </a:rPr>
              <a:t>Fifth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72400" y="2768600"/>
            <a:ext cx="39624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text styles</a:t>
            </a:r>
          </a:p>
          <a:p>
            <a:pPr lvl="1"/>
            <a:r>
              <a:rPr lang="en-US" altLang="zh-TW">
                <a:sym typeface="Gill Sans" charset="0"/>
              </a:rPr>
              <a:t>Second level</a:t>
            </a:r>
          </a:p>
          <a:p>
            <a:pPr lvl="2"/>
            <a:r>
              <a:rPr lang="en-US" altLang="zh-TW">
                <a:sym typeface="Gill Sans" charset="0"/>
              </a:rPr>
              <a:t>Third level</a:t>
            </a:r>
          </a:p>
          <a:p>
            <a:pPr lvl="3"/>
            <a:r>
              <a:rPr lang="en-US" altLang="zh-TW">
                <a:sym typeface="Gill Sans" charset="0"/>
              </a:rPr>
              <a:t>Fourth level</a:t>
            </a:r>
          </a:p>
          <a:p>
            <a:pPr lvl="4"/>
            <a:r>
              <a:rPr lang="en-US" altLang="zh-TW">
                <a:sym typeface="Gill Sans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29956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text styles</a:t>
            </a:r>
          </a:p>
          <a:p>
            <a:pPr lvl="1"/>
            <a:r>
              <a:rPr lang="en-US" altLang="zh-TW">
                <a:sym typeface="Gill Sans" charset="0"/>
              </a:rPr>
              <a:t>Second level</a:t>
            </a:r>
          </a:p>
          <a:p>
            <a:pPr lvl="2"/>
            <a:r>
              <a:rPr lang="en-US" altLang="zh-TW">
                <a:sym typeface="Gill Sans" charset="0"/>
              </a:rPr>
              <a:t>Third level</a:t>
            </a:r>
          </a:p>
          <a:p>
            <a:pPr lvl="3"/>
            <a:r>
              <a:rPr lang="en-US" altLang="zh-TW">
                <a:sym typeface="Gill Sans" charset="0"/>
              </a:rPr>
              <a:t>Fourth level</a:t>
            </a:r>
          </a:p>
          <a:p>
            <a:pPr lvl="4"/>
            <a:r>
              <a:rPr lang="en-US" altLang="zh-TW">
                <a:sym typeface="Gill Sans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282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727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171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616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30734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1270000"/>
            <a:ext cx="10464800" cy="721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text styles</a:t>
            </a:r>
          </a:p>
          <a:p>
            <a:pPr lvl="1"/>
            <a:r>
              <a:rPr lang="en-US" altLang="zh-TW">
                <a:sym typeface="Gill Sans" charset="0"/>
              </a:rPr>
              <a:t>Second level</a:t>
            </a:r>
          </a:p>
          <a:p>
            <a:pPr lvl="2"/>
            <a:r>
              <a:rPr lang="en-US" altLang="zh-TW">
                <a:sym typeface="Gill Sans" charset="0"/>
              </a:rPr>
              <a:t>Third level</a:t>
            </a:r>
          </a:p>
          <a:p>
            <a:pPr lvl="3"/>
            <a:r>
              <a:rPr lang="en-US" altLang="zh-TW">
                <a:sym typeface="Gill Sans" charset="0"/>
              </a:rPr>
              <a:t>Fourth level</a:t>
            </a:r>
          </a:p>
          <a:p>
            <a:pPr lvl="4"/>
            <a:r>
              <a:rPr lang="en-US" altLang="zh-TW">
                <a:sym typeface="Gill Sans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282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727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171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616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30734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text styles</a:t>
            </a:r>
          </a:p>
          <a:p>
            <a:pPr lvl="1"/>
            <a:r>
              <a:rPr lang="en-US" altLang="zh-TW">
                <a:sym typeface="Gill Sans" charset="0"/>
              </a:rPr>
              <a:t>Second level</a:t>
            </a:r>
          </a:p>
          <a:p>
            <a:pPr lvl="2"/>
            <a:r>
              <a:rPr lang="en-US" altLang="zh-TW">
                <a:sym typeface="Gill Sans" charset="0"/>
              </a:rPr>
              <a:t>Third level</a:t>
            </a:r>
          </a:p>
          <a:p>
            <a:pPr lvl="3"/>
            <a:r>
              <a:rPr lang="en-US" altLang="zh-TW">
                <a:sym typeface="Gill Sans" charset="0"/>
              </a:rPr>
              <a:t>Fourth level</a:t>
            </a:r>
          </a:p>
          <a:p>
            <a:pPr lvl="4"/>
            <a:r>
              <a:rPr lang="en-US" altLang="zh-TW">
                <a:sym typeface="Gill Sans" charset="0"/>
              </a:rPr>
              <a:t>Fifth level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70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kumimoji="1"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kumimoji="1"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kumimoji="1"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kumimoji="1"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kumimoji="1"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text styles</a:t>
            </a:r>
          </a:p>
          <a:p>
            <a:pPr lvl="1"/>
            <a:r>
              <a:rPr lang="en-US" altLang="zh-TW">
                <a:sym typeface="Gill Sans" charset="0"/>
              </a:rPr>
              <a:t>Second level</a:t>
            </a:r>
          </a:p>
          <a:p>
            <a:pPr lvl="2"/>
            <a:r>
              <a:rPr lang="en-US" altLang="zh-TW">
                <a:sym typeface="Gill Sans" charset="0"/>
              </a:rPr>
              <a:t>Third level</a:t>
            </a:r>
          </a:p>
          <a:p>
            <a:pPr lvl="3"/>
            <a:r>
              <a:rPr lang="en-US" altLang="zh-TW">
                <a:sym typeface="Gill Sans" charset="0"/>
              </a:rPr>
              <a:t>Fourth level</a:t>
            </a:r>
          </a:p>
          <a:p>
            <a:pPr lvl="4"/>
            <a:r>
              <a:rPr lang="en-US" altLang="zh-TW">
                <a:sym typeface="Gill Sans" charset="0"/>
              </a:rPr>
              <a:t>Fifth level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70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kumimoji="1"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kumimoji="1"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kumimoji="1"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kumimoji="1"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kumimoji="1"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kumimoji="1"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31242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text styles</a:t>
            </a:r>
          </a:p>
          <a:p>
            <a:pPr lvl="1"/>
            <a:r>
              <a:rPr lang="en-US" altLang="zh-TW">
                <a:sym typeface="Gill Sans" charset="0"/>
              </a:rPr>
              <a:t>Second level</a:t>
            </a:r>
          </a:p>
          <a:p>
            <a:pPr lvl="2"/>
            <a:r>
              <a:rPr lang="en-US" altLang="zh-TW">
                <a:sym typeface="Gill Sans" charset="0"/>
              </a:rPr>
              <a:t>Third level</a:t>
            </a:r>
          </a:p>
          <a:p>
            <a:pPr lvl="3"/>
            <a:r>
              <a:rPr lang="en-US" altLang="zh-TW">
                <a:sym typeface="Gill Sans" charset="0"/>
              </a:rPr>
              <a:t>Fourth level</a:t>
            </a:r>
          </a:p>
          <a:p>
            <a:pPr lvl="4"/>
            <a:r>
              <a:rPr lang="en-US" altLang="zh-TW">
                <a:sym typeface="Gill Sans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29956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text styles</a:t>
            </a:r>
          </a:p>
          <a:p>
            <a:pPr lvl="1"/>
            <a:r>
              <a:rPr lang="en-US" altLang="zh-TW">
                <a:sym typeface="Gill Sans" charset="0"/>
              </a:rPr>
              <a:t>Second level</a:t>
            </a:r>
          </a:p>
          <a:p>
            <a:pPr lvl="2"/>
            <a:r>
              <a:rPr lang="en-US" altLang="zh-TW">
                <a:sym typeface="Gill Sans" charset="0"/>
              </a:rPr>
              <a:t>Third level</a:t>
            </a:r>
          </a:p>
          <a:p>
            <a:pPr lvl="3"/>
            <a:r>
              <a:rPr lang="en-US" altLang="zh-TW">
                <a:sym typeface="Gill Sans" charset="0"/>
              </a:rPr>
              <a:t>Fourth level</a:t>
            </a:r>
          </a:p>
          <a:p>
            <a:pPr lvl="4"/>
            <a:r>
              <a:rPr lang="en-US" altLang="zh-TW">
                <a:sym typeface="Gill Sans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29956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971800"/>
            <a:ext cx="10464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kumimoji="1"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text styles</a:t>
            </a:r>
          </a:p>
          <a:p>
            <a:pPr lvl="1"/>
            <a:r>
              <a:rPr lang="en-US" altLang="zh-TW">
                <a:sym typeface="Gill Sans" charset="0"/>
              </a:rPr>
              <a:t>Second level</a:t>
            </a:r>
          </a:p>
          <a:p>
            <a:pPr lvl="2"/>
            <a:r>
              <a:rPr lang="en-US" altLang="zh-TW">
                <a:sym typeface="Gill Sans" charset="0"/>
              </a:rPr>
              <a:t>Third level</a:t>
            </a:r>
          </a:p>
          <a:p>
            <a:pPr lvl="3"/>
            <a:r>
              <a:rPr lang="en-US" altLang="zh-TW">
                <a:sym typeface="Gill Sans" charset="0"/>
              </a:rPr>
              <a:t>Fourth level</a:t>
            </a:r>
          </a:p>
          <a:p>
            <a:pPr lvl="4"/>
            <a:r>
              <a:rPr lang="en-US" altLang="zh-TW">
                <a:sym typeface="Gill Sans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29956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en-US" altLang="zh-TW">
                <a:latin typeface="Gill Sans" charset="0"/>
                <a:ea typeface="Heiti TC Light" charset="0"/>
                <a:cs typeface="Heiti TC Light" charset="0"/>
              </a:rPr>
              <a:t>Basic Concepts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endParaRPr kumimoji="0" lang="zh-TW" altLang="en-US">
              <a:latin typeface="Gill Sans" charset="0"/>
              <a:ea typeface="Heiti TC Light" charset="0"/>
              <a:cs typeface="Heiti TC Light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en-US" altLang="zh-TW">
                <a:latin typeface="Gill Sans" charset="0"/>
                <a:ea typeface="Heiti TC Light" charset="0"/>
                <a:cs typeface="Heiti TC Light" charset="0"/>
              </a:rPr>
              <a:t>C</a:t>
            </a:r>
            <a:r>
              <a:rPr kumimoji="0" lang="zh-TW" altLang="en-US">
                <a:latin typeface="Gill Sans" charset="0"/>
                <a:ea typeface="Heiti TC Light" charset="0"/>
                <a:cs typeface="Heiti TC Light" charset="0"/>
              </a:rPr>
              <a:t>語言簡介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endParaRPr kumimoji="0" lang="zh-TW" altLang="en-US">
              <a:latin typeface="Gill Sans" charset="0"/>
              <a:ea typeface="Heiti TC Light" charset="0"/>
              <a:cs typeface="Heiti TC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8668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最基本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C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程式結構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02200" y="2428528"/>
            <a:ext cx="7416824" cy="6055072"/>
          </a:xfrm>
        </p:spPr>
        <p:txBody>
          <a:bodyPr/>
          <a:lstStyle/>
          <a:p>
            <a:pPr marL="811213" eaLnBrk="1" hangingPunct="1"/>
            <a:r>
              <a:rPr kumimoji="0"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剛開始學寫程式</a:t>
            </a:r>
            <a:r>
              <a:rPr kumimoji="0"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都有一些固定的模式可以套用</a:t>
            </a:r>
            <a:endParaRPr kumimoji="0" lang="en-US" altLang="zh-TW" sz="40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照著固定的將程式碼填入</a:t>
            </a:r>
            <a:r>
              <a:rPr kumimoji="0"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就可以</a:t>
            </a:r>
            <a:endParaRPr kumimoji="0" lang="en-US" altLang="zh-TW" sz="40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真正需要變動</a:t>
            </a:r>
            <a:r>
              <a:rPr kumimoji="0"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設計</a:t>
            </a:r>
            <a:r>
              <a:rPr kumimoji="0"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 </a:t>
            </a:r>
            <a:r>
              <a:rPr kumimoji="0"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的部份是</a:t>
            </a:r>
            <a:r>
              <a:rPr kumimoji="0"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&lt;statements&gt; </a:t>
            </a:r>
            <a:r>
              <a:rPr kumimoji="0"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那一段</a:t>
            </a:r>
          </a:p>
        </p:txBody>
      </p:sp>
      <p:sp>
        <p:nvSpPr>
          <p:cNvPr id="28675" name="Rectangle 3"/>
          <p:cNvSpPr>
            <a:spLocks/>
          </p:cNvSpPr>
          <p:nvPr/>
        </p:nvSpPr>
        <p:spPr bwMode="auto">
          <a:xfrm>
            <a:off x="1749872" y="3292624"/>
            <a:ext cx="5112568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 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&lt;statements&gt;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}</a:t>
            </a:r>
          </a:p>
          <a:p>
            <a:endParaRPr lang="zh-TW" altLang="en-US" sz="2400" dirty="0">
              <a:solidFill>
                <a:schemeClr val="tx1"/>
              </a:solidFill>
              <a:ea typeface="新細明體" charset="0"/>
              <a:cs typeface="新細明體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990600" y="4864100"/>
            <a:ext cx="10655300" cy="4368800"/>
          </a:xfrm>
        </p:spPr>
        <p:txBody>
          <a:bodyPr/>
          <a:lstStyle/>
          <a:p>
            <a:pPr marL="811213" eaLnBrk="1" hangingPunct="1"/>
            <a:r>
              <a:rPr kumimoji="0"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這個簡單的程式會在螢幕上顯示一串文字</a:t>
            </a:r>
            <a:r>
              <a:rPr kumimoji="0"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/>
            </a:r>
            <a:br>
              <a:rPr kumimoji="0"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/>
            </a:r>
            <a:br>
              <a:rPr kumimoji="0"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The number is 40.</a:t>
            </a:r>
          </a:p>
        </p:txBody>
      </p:sp>
      <p:sp>
        <p:nvSpPr>
          <p:cNvPr id="17410" name="Line 2"/>
          <p:cNvSpPr>
            <a:spLocks noChangeShapeType="1"/>
          </p:cNvSpPr>
          <p:nvPr/>
        </p:nvSpPr>
        <p:spPr bwMode="auto">
          <a:xfrm flipH="1">
            <a:off x="885776" y="3292624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17411" name="Rectangle 3"/>
          <p:cNvSpPr>
            <a:spLocks/>
          </p:cNvSpPr>
          <p:nvPr/>
        </p:nvSpPr>
        <p:spPr bwMode="auto">
          <a:xfrm>
            <a:off x="1461840" y="1060376"/>
            <a:ext cx="9694664" cy="383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 </a:t>
            </a:r>
            <a:r>
              <a:rPr lang="en-US" altLang="zh-TW" sz="2400" i="1" dirty="0">
                <a:solidFill>
                  <a:srgbClr val="878874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/* display an integer on screen */</a:t>
            </a:r>
            <a:endParaRPr lang="en-US" altLang="zh-TW" sz="2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num;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num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40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"The number is %d.\n"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num);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  <a:p>
            <a:pPr algn="l"/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>
              <a:lnSpc>
                <a:spcPts val="1600"/>
              </a:lnSpc>
            </a:pPr>
            <a:endParaRPr lang="en-US" altLang="zh-TW" sz="2400" dirty="0" smtClean="0">
              <a:solidFill>
                <a:srgbClr val="FF0000"/>
              </a:solidFill>
              <a:ea typeface="新細明體" charset="0"/>
              <a:cs typeface="新細明體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651763" y="3868688"/>
            <a:ext cx="1067920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173808" y="3800624"/>
            <a:ext cx="10655300" cy="5952976"/>
          </a:xfrm>
        </p:spPr>
        <p:txBody>
          <a:bodyPr/>
          <a:lstStyle/>
          <a:p>
            <a:pPr marL="811213"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使用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#include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來將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stdio.h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檔案的內容加到你的</a:t>
            </a:r>
            <a:r>
              <a:rPr kumimoji="0"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程式</a:t>
            </a:r>
            <a:endParaRPr kumimoji="0"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stdio.h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檔案裡包含了許多和輸入輸出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(I/O)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有關的東西</a:t>
            </a:r>
            <a:endParaRPr kumimoji="0"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需要用到標準的輸入輸出功能時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只要用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#include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的方式把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stdio.h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引入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就不用重打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stdio.h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的內容</a:t>
            </a:r>
            <a:endParaRPr kumimoji="0"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stdio.h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這個檔案包含在你安裝的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 compiler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中</a:t>
            </a:r>
          </a:p>
        </p:txBody>
      </p:sp>
      <p:sp>
        <p:nvSpPr>
          <p:cNvPr id="18434" name="Rectangle 2"/>
          <p:cNvSpPr>
            <a:spLocks/>
          </p:cNvSpPr>
          <p:nvPr/>
        </p:nvSpPr>
        <p:spPr bwMode="auto">
          <a:xfrm>
            <a:off x="2159000" y="1225550"/>
            <a:ext cx="9398000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 </a:t>
            </a:r>
            <a:r>
              <a:rPr lang="en-US" altLang="zh-TW" sz="2400" i="1" dirty="0">
                <a:solidFill>
                  <a:srgbClr val="878874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/* display an integer on screen */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num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num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40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"The number is %d.\n"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num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}</a:t>
            </a:r>
          </a:p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					</a:t>
            </a:r>
            <a:endParaRPr lang="zh-TW" altLang="en-US" sz="2400" dirty="0">
              <a:solidFill>
                <a:schemeClr val="tx1"/>
              </a:solidFill>
              <a:ea typeface="新細明體" charset="0"/>
              <a:cs typeface="新細明體" charset="0"/>
            </a:endParaRPr>
          </a:p>
        </p:txBody>
      </p:sp>
      <p:sp>
        <p:nvSpPr>
          <p:cNvPr id="18435" name="Line 3"/>
          <p:cNvSpPr>
            <a:spLocks noChangeShapeType="1"/>
          </p:cNvSpPr>
          <p:nvPr/>
        </p:nvSpPr>
        <p:spPr bwMode="auto">
          <a:xfrm flipH="1">
            <a:off x="957784" y="1348408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5651763" y="3868688"/>
            <a:ext cx="1067920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957784" y="3724672"/>
            <a:ext cx="11449272" cy="5668888"/>
          </a:xfrm>
        </p:spPr>
        <p:txBody>
          <a:bodyPr/>
          <a:lstStyle/>
          <a:p>
            <a:pPr marL="811213" eaLnBrk="1" hangingPunct="1"/>
            <a:endParaRPr kumimoji="0" lang="en-US" altLang="zh-TW" sz="25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微軟正黑體" charset="0"/>
              <a:sym typeface="微軟正黑體" charset="0"/>
            </a:endParaRPr>
          </a:p>
          <a:p>
            <a:pPr marL="811213" eaLnBrk="1" hangingPunct="1"/>
            <a:endParaRPr kumimoji="0" lang="en-US" altLang="zh-TW" sz="2500" dirty="0">
              <a:latin typeface="微軟正黑體" panose="020B0604030504040204" pitchFamily="34" charset="-120"/>
              <a:ea typeface="微軟正黑體" panose="020B0604030504040204" pitchFamily="34" charset="-120"/>
              <a:cs typeface="微軟正黑體" charset="0"/>
              <a:sym typeface="微軟正黑體" charset="0"/>
            </a:endParaRPr>
          </a:p>
          <a:p>
            <a:pPr marL="811213" eaLnBrk="1" hangingPunct="1"/>
            <a:endParaRPr kumimoji="0"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微軟正黑體" charset="0"/>
              <a:sym typeface="微軟正黑體" charset="0"/>
            </a:endParaRPr>
          </a:p>
          <a:p>
            <a:pPr marL="811213" eaLnBrk="1" hangingPunct="1"/>
            <a:endParaRPr kumimoji="0"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微軟正黑體" charset="0"/>
              <a:sym typeface="微軟正黑體" charset="0"/>
            </a:endParaRPr>
          </a:p>
          <a:p>
            <a:pPr marL="811213" eaLnBrk="1" hangingPunct="1"/>
            <a:endParaRPr kumimoji="0"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微軟正黑體" charset="0"/>
              <a:sym typeface="微軟正黑體" charset="0"/>
            </a:endParaRPr>
          </a:p>
          <a:p>
            <a:pPr marL="811213" eaLnBrk="1" hangingPunct="1"/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這個範例包含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了註解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Times" charset="0"/>
              </a:rPr>
              <a:t>/* display an integer on screen */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儷宋 Pro" charset="0"/>
              <a:sym typeface="Times" charset="0"/>
            </a:endParaRPr>
          </a:p>
          <a:p>
            <a:pPr marL="811213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所有被包含在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Times" charset="0"/>
              </a:rPr>
              <a:t>/*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和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Times" charset="0"/>
              </a:rPr>
              <a:t>*/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之間的文字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都會被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 C compiler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忽略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儷宋 Pro" charset="0"/>
              <a:sym typeface="Times" charset="0"/>
            </a:endParaRPr>
          </a:p>
          <a:p>
            <a:pPr marL="811213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註解的主要作用讓我們能在程式碼片段中夾雜文字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說明。幫助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charset="0"/>
                <a:sym typeface="微軟正黑體" charset="0"/>
              </a:rPr>
              <a:t>撰寫或修改程式的人看懂程式碼</a:t>
            </a:r>
          </a:p>
          <a:p>
            <a:pPr marL="811213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大括號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{ ... }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中間夾著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main()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的內容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大括號的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作用是標示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出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main() 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的範圍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當你的程式還有其他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functions 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時 也是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{ }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來決定每個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function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涵蓋的範圍</a:t>
            </a:r>
          </a:p>
          <a:p>
            <a:pPr marL="811213" eaLnBrk="1" hangingPunct="1"/>
            <a:endParaRPr kumimoji="0" lang="en-US" altLang="zh-TW" sz="25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微軟正黑體" charset="0"/>
              <a:sym typeface="微軟正黑體" charset="0"/>
            </a:endParaRPr>
          </a:p>
          <a:p>
            <a:pPr marL="811213" eaLnBrk="1" hangingPunct="1"/>
            <a:endParaRPr kumimoji="0" lang="en-US" altLang="zh-TW" sz="2500" dirty="0">
              <a:latin typeface="微軟正黑體" panose="020B0604030504040204" pitchFamily="34" charset="-120"/>
              <a:ea typeface="微軟正黑體" panose="020B0604030504040204" pitchFamily="34" charset="-120"/>
              <a:cs typeface="微軟正黑體" charset="0"/>
              <a:sym typeface="微軟正黑體" charset="0"/>
            </a:endParaRPr>
          </a:p>
          <a:p>
            <a:pPr marL="811213" eaLnBrk="1" hangingPunct="1"/>
            <a:endParaRPr kumimoji="0" lang="en-US" altLang="zh-TW" sz="25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微軟正黑體" charset="0"/>
              <a:sym typeface="微軟正黑體" charset="0"/>
            </a:endParaRPr>
          </a:p>
          <a:p>
            <a:pPr marL="811213" eaLnBrk="1" hangingPunct="1"/>
            <a:endParaRPr kumimoji="0" lang="en-US" altLang="zh-TW" sz="2500" dirty="0">
              <a:latin typeface="微軟正黑體" panose="020B0604030504040204" pitchFamily="34" charset="-120"/>
              <a:ea typeface="微軟正黑體" panose="020B0604030504040204" pitchFamily="34" charset="-120"/>
              <a:cs typeface="微軟正黑體" charset="0"/>
              <a:sym typeface="微軟正黑體" charset="0"/>
            </a:endParaRPr>
          </a:p>
          <a:p>
            <a:pPr marL="811213" eaLnBrk="1" hangingPunct="1"/>
            <a:endParaRPr kumimoji="0" lang="zh-TW" altLang="en-US" sz="2500" dirty="0">
              <a:latin typeface="微軟正黑體" panose="020B0604030504040204" pitchFamily="34" charset="-120"/>
              <a:ea typeface="微軟正黑體" panose="020B0604030504040204" pitchFamily="34" charset="-120"/>
              <a:cs typeface="微軟正黑體" charset="0"/>
              <a:sym typeface="微軟正黑體" charset="0"/>
            </a:endParaRPr>
          </a:p>
        </p:txBody>
      </p:sp>
      <p:sp>
        <p:nvSpPr>
          <p:cNvPr id="20482" name="Line 2"/>
          <p:cNvSpPr>
            <a:spLocks noChangeShapeType="1"/>
          </p:cNvSpPr>
          <p:nvPr/>
        </p:nvSpPr>
        <p:spPr bwMode="auto">
          <a:xfrm rot="10800000" flipH="1">
            <a:off x="6214368" y="196280"/>
            <a:ext cx="0" cy="693737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0483" name="Rectangle 3"/>
          <p:cNvSpPr>
            <a:spLocks/>
          </p:cNvSpPr>
          <p:nvPr/>
        </p:nvSpPr>
        <p:spPr bwMode="auto">
          <a:xfrm>
            <a:off x="1533848" y="412304"/>
            <a:ext cx="9182100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 </a:t>
            </a:r>
            <a:r>
              <a:rPr lang="en-US" altLang="zh-TW" sz="2400" i="1" dirty="0">
                <a:solidFill>
                  <a:srgbClr val="878874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/* display an integer on screen */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num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num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40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"The number is %d.\n"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num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}					</a:t>
            </a:r>
            <a:endParaRPr lang="zh-TW" altLang="en-US" sz="2400" dirty="0">
              <a:solidFill>
                <a:schemeClr val="tx1"/>
              </a:solidFill>
              <a:ea typeface="新細明體" charset="0"/>
              <a:cs typeface="新細明體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0408" y="3078680"/>
            <a:ext cx="1067920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597744" y="3796680"/>
            <a:ext cx="11377264" cy="5544616"/>
          </a:xfrm>
        </p:spPr>
        <p:txBody>
          <a:bodyPr/>
          <a:lstStyle/>
          <a:p>
            <a:pPr marL="811213" eaLnBrk="1" hangingPunct="1"/>
            <a:r>
              <a:rPr kumimoji="0"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num;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為變數宣告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讓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compiler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知道在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{ }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範圍內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將會用到一個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整數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(integer)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變數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num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num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則是我們自己取的變數名稱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屬於的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 keywords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之一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而每個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keyword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都有特殊的意義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/>
            </a:r>
            <a:b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所以在替變數取名時要注意不要和這些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keywords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重複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裡面每個被用到的變數都必須先宣告過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如果忘了先宣告變數就直接使用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compile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的時候就會出錯</a:t>
            </a:r>
          </a:p>
        </p:txBody>
      </p:sp>
      <p:sp>
        <p:nvSpPr>
          <p:cNvPr id="22530" name="Rectangle 2"/>
          <p:cNvSpPr>
            <a:spLocks/>
          </p:cNvSpPr>
          <p:nvPr/>
        </p:nvSpPr>
        <p:spPr bwMode="auto">
          <a:xfrm>
            <a:off x="2037904" y="412304"/>
            <a:ext cx="9182100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 </a:t>
            </a:r>
            <a:r>
              <a:rPr lang="en-US" altLang="zh-TW" sz="2400" i="1" dirty="0">
                <a:solidFill>
                  <a:srgbClr val="878874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/* display an integer on screen */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num;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num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40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"The number is %d.\n"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num);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}					</a:t>
            </a:r>
            <a:endParaRPr lang="zh-TW" altLang="en-US" sz="2400" dirty="0">
              <a:solidFill>
                <a:schemeClr val="tx1"/>
              </a:solidFill>
              <a:ea typeface="新細明體" charset="0"/>
              <a:cs typeface="新細明體" charset="0"/>
            </a:endParaRPr>
          </a:p>
        </p:txBody>
      </p:sp>
      <p:sp>
        <p:nvSpPr>
          <p:cNvPr id="22531" name="Line 3"/>
          <p:cNvSpPr>
            <a:spLocks noChangeShapeType="1"/>
          </p:cNvSpPr>
          <p:nvPr/>
        </p:nvSpPr>
        <p:spPr bwMode="auto">
          <a:xfrm flipH="1">
            <a:off x="1029792" y="1780456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5926336" y="3148608"/>
            <a:ext cx="1067920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669752" y="3436640"/>
            <a:ext cx="11521280" cy="5616624"/>
          </a:xfrm>
        </p:spPr>
        <p:txBody>
          <a:bodyPr/>
          <a:lstStyle/>
          <a:p>
            <a:pPr marL="811213" eaLnBrk="1" hangingPunct="1"/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num = 40;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這個敘述是所謂的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assignment statement</a:t>
            </a:r>
          </a:p>
          <a:p>
            <a:pPr marL="811213"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變數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num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</a:t>
            </a:r>
            <a:r>
              <a:rPr kumimoji="0"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值變成</a:t>
            </a:r>
            <a:r>
              <a:rPr kumimoji="0"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40</a:t>
            </a:r>
            <a:endParaRPr kumimoji="0"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因為已經宣告過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num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是個整數變數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在記憶體會有個位置存放它的值</a:t>
            </a:r>
            <a:endParaRPr kumimoji="0"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等號的意義就是把右邊的值放到左邊的變數裡</a:t>
            </a:r>
            <a:endParaRPr kumimoji="0"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整個敘述句後面要用分號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;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來結尾，不能省略</a:t>
            </a:r>
          </a:p>
        </p:txBody>
      </p:sp>
      <p:sp>
        <p:nvSpPr>
          <p:cNvPr id="24578" name="Rectangle 2"/>
          <p:cNvSpPr>
            <a:spLocks/>
          </p:cNvSpPr>
          <p:nvPr/>
        </p:nvSpPr>
        <p:spPr bwMode="auto">
          <a:xfrm>
            <a:off x="1965896" y="340296"/>
            <a:ext cx="9182100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 </a:t>
            </a:r>
            <a:r>
              <a:rPr lang="en-US" altLang="zh-TW" sz="2400" i="1" dirty="0">
                <a:solidFill>
                  <a:srgbClr val="878874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/* display an integer on screen */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num;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num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40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"The number is %d.\n"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num);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}				</a:t>
            </a:r>
            <a:r>
              <a:rPr lang="en-US" altLang="zh-TW" sz="2400" dirty="0" smtClean="0">
                <a:solidFill>
                  <a:schemeClr val="tx1"/>
                </a:solidFill>
                <a:ea typeface="新細明體" charset="0"/>
                <a:cs typeface="新細明體" charset="0"/>
              </a:rPr>
              <a:t> 	</a:t>
            </a:r>
            <a:endParaRPr lang="zh-TW" altLang="en-US" sz="2400" dirty="0">
              <a:solidFill>
                <a:schemeClr val="tx1"/>
              </a:solidFill>
              <a:ea typeface="新細明體" charset="0"/>
              <a:cs typeface="新細明體" charset="0"/>
            </a:endParaRPr>
          </a:p>
        </p:txBody>
      </p:sp>
      <p:sp>
        <p:nvSpPr>
          <p:cNvPr id="24579" name="Line 3"/>
          <p:cNvSpPr>
            <a:spLocks noChangeShapeType="1"/>
          </p:cNvSpPr>
          <p:nvPr/>
        </p:nvSpPr>
        <p:spPr bwMode="auto">
          <a:xfrm flipH="1">
            <a:off x="957784" y="2068488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6142360" y="3036530"/>
            <a:ext cx="1067920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381720" y="3148608"/>
            <a:ext cx="11521280" cy="5976664"/>
          </a:xfrm>
        </p:spPr>
        <p:txBody>
          <a:bodyPr/>
          <a:lstStyle/>
          <a:p>
            <a:pPr marL="811213" eaLnBrk="1" hangingPunct="1"/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這個敘述句呼叫了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0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function</a:t>
            </a:r>
            <a:r>
              <a:rPr kumimoji="0"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。在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剛開始學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 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的階段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 </a:t>
            </a:r>
            <a:r>
              <a:rPr kumimoji="0" lang="en-US" altLang="zh-TW" sz="30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會是我們最常用到的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function 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之</a:t>
            </a:r>
            <a:r>
              <a:rPr kumimoji="0"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一</a:t>
            </a:r>
            <a:r>
              <a:rPr kumimoji="0" lang="en-US" altLang="zh-TW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它的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作用是把文字顯示在螢幕上</a:t>
            </a:r>
            <a:endParaRPr kumimoji="0" lang="en-US" altLang="zh-TW" sz="30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必須把想要顯示的字串當作參數傳給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0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在這個例子</a:t>
            </a:r>
            <a:r>
              <a:rPr kumimoji="0"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裡我們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傳了兩個參數給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0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兩個參數用逗號隔開</a:t>
            </a:r>
            <a:r>
              <a:rPr kumimoji="0"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。第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一個參數是</a:t>
            </a:r>
            <a:r>
              <a:rPr kumimoji="0"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“</a:t>
            </a:r>
            <a:r>
              <a:rPr kumimoji="0"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The number is %d.\n</a:t>
            </a:r>
            <a:r>
              <a:rPr kumimoji="0" lang="zh-TW" altLang="en-US" sz="3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” 。</a:t>
            </a:r>
            <a:r>
              <a:rPr kumimoji="0"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第二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個參數則是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num</a:t>
            </a:r>
            <a:endParaRPr kumimoji="0" lang="en-US" altLang="zh-TW" sz="30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en-US" altLang="zh-TW" sz="30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會把這兩個參數做適當的結合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把第一個參數裡的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%d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用</a:t>
            </a:r>
            <a:r>
              <a:rPr kumimoji="0"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num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變數目前的值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40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取代</a:t>
            </a:r>
            <a:r>
              <a:rPr kumimoji="0"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再把結果顯示在螢幕上</a:t>
            </a:r>
          </a:p>
        </p:txBody>
      </p:sp>
      <p:sp>
        <p:nvSpPr>
          <p:cNvPr id="25602" name="Rectangle 2"/>
          <p:cNvSpPr>
            <a:spLocks/>
          </p:cNvSpPr>
          <p:nvPr/>
        </p:nvSpPr>
        <p:spPr bwMode="auto">
          <a:xfrm>
            <a:off x="2181920" y="340296"/>
            <a:ext cx="9182100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 </a:t>
            </a:r>
            <a:r>
              <a:rPr lang="en-US" altLang="zh-TW" sz="2400" i="1" dirty="0">
                <a:solidFill>
                  <a:srgbClr val="878874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/* display an integer on screen */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num;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num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40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"The number is %d.\n"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num);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}					</a:t>
            </a:r>
            <a:endParaRPr lang="en-US" altLang="zh-TW" sz="2400" dirty="0">
              <a:solidFill>
                <a:srgbClr val="FF0000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endParaRPr lang="zh-TW" altLang="en-US" sz="2400" dirty="0">
              <a:solidFill>
                <a:schemeClr val="tx1"/>
              </a:solidFill>
              <a:ea typeface="新細明體" charset="0"/>
              <a:cs typeface="新細明體" charset="0"/>
            </a:endParaRPr>
          </a:p>
        </p:txBody>
      </p:sp>
      <p:sp>
        <p:nvSpPr>
          <p:cNvPr id="25603" name="Line 3"/>
          <p:cNvSpPr>
            <a:spLocks noChangeShapeType="1"/>
          </p:cNvSpPr>
          <p:nvPr/>
        </p:nvSpPr>
        <p:spPr bwMode="auto">
          <a:xfrm flipH="1">
            <a:off x="957784" y="2500536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6430392" y="2860576"/>
            <a:ext cx="1067920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525736" y="3364632"/>
            <a:ext cx="11593288" cy="5688632"/>
          </a:xfrm>
        </p:spPr>
        <p:txBody>
          <a:bodyPr/>
          <a:lstStyle/>
          <a:p>
            <a:pPr marL="811213"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第一個字串參數裡還有一個奇怪的東西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\n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它代表換行字元</a:t>
            </a:r>
            <a:endParaRPr kumimoji="0"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\n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是為了描述一些難以輸入的字元而設計的變通表示法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稱作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escape sequence)</a:t>
            </a:r>
          </a:p>
          <a:p>
            <a:pPr marL="811213"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類似的字元還有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\t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表示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tab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空格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 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\b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表示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backspace,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\"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表示雙引號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\\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表示反斜線</a:t>
            </a:r>
            <a:endParaRPr kumimoji="0"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%d </a:t>
            </a:r>
            <a:r>
              <a:rPr kumimoji="0"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作用是告訴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這個地方將會顯示一個整數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而且要用十進位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(decimal)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方式顯示。這樣的用法稱作格式化輸出</a:t>
            </a:r>
          </a:p>
        </p:txBody>
      </p:sp>
      <p:sp>
        <p:nvSpPr>
          <p:cNvPr id="26626" name="Rectangle 2"/>
          <p:cNvSpPr>
            <a:spLocks/>
          </p:cNvSpPr>
          <p:nvPr/>
        </p:nvSpPr>
        <p:spPr bwMode="auto">
          <a:xfrm>
            <a:off x="2037904" y="268288"/>
            <a:ext cx="9182100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 </a:t>
            </a:r>
            <a:r>
              <a:rPr lang="en-US" altLang="zh-TW" sz="2400" i="1" dirty="0">
                <a:solidFill>
                  <a:srgbClr val="878874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/* display an integer on screen */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num;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num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40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"The number is %d.\n"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num);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}					</a:t>
            </a:r>
            <a:endParaRPr lang="zh-TW" altLang="en-US" sz="2400" dirty="0">
              <a:solidFill>
                <a:schemeClr val="tx1"/>
              </a:solidFill>
              <a:ea typeface="新細明體" charset="0"/>
              <a:cs typeface="新細明體" charset="0"/>
            </a:endParaRPr>
          </a:p>
        </p:txBody>
      </p:sp>
      <p:sp>
        <p:nvSpPr>
          <p:cNvPr id="26627" name="Line 3"/>
          <p:cNvSpPr>
            <a:spLocks noChangeShapeType="1"/>
          </p:cNvSpPr>
          <p:nvPr/>
        </p:nvSpPr>
        <p:spPr bwMode="auto">
          <a:xfrm flipH="1">
            <a:off x="957784" y="2428528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6325126" y="2964522"/>
            <a:ext cx="1067920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741760" y="3796680"/>
            <a:ext cx="10655300" cy="4991100"/>
          </a:xfrm>
        </p:spPr>
        <p:txBody>
          <a:bodyPr/>
          <a:lstStyle/>
          <a:p>
            <a:pPr marL="811213"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前面說過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main()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需要回傳一個整數給作業系統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這也是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main()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前面的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所代表的意義</a:t>
            </a:r>
            <a:endParaRPr kumimoji="0"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既然指定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要回傳整數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所以在程式結束時要用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return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keyword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來指出我們要回傳</a:t>
            </a:r>
            <a:r>
              <a:rPr kumimoji="0"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的值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是多少。在這個例子回傳值是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</a:t>
            </a:r>
            <a:endParaRPr kumimoji="0"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eaLnBrk="1" hangingPunct="1"/>
            <a:r>
              <a:rPr kumimoji="0"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它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所代表的意義我們後續會再做介紹</a:t>
            </a:r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2109912" y="628328"/>
            <a:ext cx="9182100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 </a:t>
            </a:r>
            <a:r>
              <a:rPr lang="en-US" altLang="zh-TW" sz="2400" i="1" dirty="0">
                <a:solidFill>
                  <a:srgbClr val="878874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/* display an integer on screen */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num;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num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40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"The number is %d.\n"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num);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}					</a:t>
            </a:r>
            <a:endParaRPr lang="zh-TW" altLang="en-US" sz="2400" dirty="0">
              <a:solidFill>
                <a:schemeClr val="tx1"/>
              </a:solidFill>
              <a:ea typeface="新細明體" charset="0"/>
              <a:cs typeface="新細明體" charset="0"/>
            </a:endParaRPr>
          </a:p>
        </p:txBody>
      </p:sp>
      <p:sp>
        <p:nvSpPr>
          <p:cNvPr id="27651" name="Line 3"/>
          <p:cNvSpPr>
            <a:spLocks noChangeShapeType="1"/>
          </p:cNvSpPr>
          <p:nvPr/>
        </p:nvSpPr>
        <p:spPr bwMode="auto">
          <a:xfrm flipH="1">
            <a:off x="957784" y="3076600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6167002" y="3396570"/>
            <a:ext cx="1067920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基本輸入輸出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605856" y="5020816"/>
            <a:ext cx="10464800" cy="4000500"/>
          </a:xfrm>
        </p:spPr>
        <p:txBody>
          <a:bodyPr/>
          <a:lstStyle/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這個簡單的程式會讓使用者輸入自責分和投球局數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然後算出防禦率並顯示在螢幕上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新東西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變數宣告的地方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出現了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float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這個沒看過的型別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之前是用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</a:t>
            </a:r>
          </a:p>
          <a:p>
            <a:pPr marL="1333500" lvl="1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新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function: </a:t>
            </a:r>
            <a:r>
              <a:rPr kumimoji="0"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/>
            <a:r>
              <a:rPr kumimoji="0"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的字串參數裡還出現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%.2f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的格式</a:t>
            </a:r>
          </a:p>
        </p:txBody>
      </p:sp>
      <p:sp>
        <p:nvSpPr>
          <p:cNvPr id="35842" name="Rectangle 2"/>
          <p:cNvSpPr>
            <a:spLocks/>
          </p:cNvSpPr>
          <p:nvPr/>
        </p:nvSpPr>
        <p:spPr bwMode="auto">
          <a:xfrm>
            <a:off x="1536700" y="285750"/>
            <a:ext cx="104648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 </a:t>
            </a:r>
            <a:r>
              <a:rPr lang="en-US" altLang="zh-TW" sz="2400" i="1" dirty="0">
                <a:solidFill>
                  <a:srgbClr val="878874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/* calculate earned run average */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float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er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ip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era;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"How many earned runs did you give up?\n"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scanf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"%f"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&amp;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er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"How many innings did you pitch?\n"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scanf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"%f"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&amp;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ip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era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9.0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*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er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/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ip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"ERA = %.2f\n"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era);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}						</a:t>
            </a:r>
            <a:endParaRPr lang="zh-TW" altLang="en-US" sz="5400" dirty="0">
              <a:solidFill>
                <a:schemeClr val="tx1"/>
              </a:solidFill>
              <a:ea typeface="新細明體" charset="0"/>
              <a:cs typeface="新細明體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02599" y="4300736"/>
            <a:ext cx="1067921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1-2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270000" y="5016500"/>
            <a:ext cx="10464800" cy="4000500"/>
          </a:xfrm>
        </p:spPr>
        <p:txBody>
          <a:bodyPr/>
          <a:lstStyle/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為了計算的精確度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可以把變數宣告成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float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浮點數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</a:t>
            </a: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在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這個例子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中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由於我們要計算的數值包含小數點後的位數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所以不適合再用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整數型別來儲存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數值要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用能夠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表示更精細數值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的浮點數型別變數。整數和浮點數儲存數值的方式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不一樣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之後再做更詳細的介紹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目前暫時先記得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處理整數的資料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變數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;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處理有小數點的資料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float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</a:t>
            </a:r>
          </a:p>
        </p:txBody>
      </p:sp>
      <p:sp>
        <p:nvSpPr>
          <p:cNvPr id="36866" name="Rectangle 2"/>
          <p:cNvSpPr>
            <a:spLocks/>
          </p:cNvSpPr>
          <p:nvPr/>
        </p:nvSpPr>
        <p:spPr bwMode="auto">
          <a:xfrm>
            <a:off x="1270000" y="285750"/>
            <a:ext cx="104648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 </a:t>
            </a:r>
            <a:r>
              <a:rPr lang="en-US" altLang="zh-TW" sz="2400" i="1" dirty="0">
                <a:solidFill>
                  <a:srgbClr val="878874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/* calculate earned run average */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float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er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ip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era;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"How many earned runs did you give up?\n"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scanf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"%f"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&amp;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er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"How many innings did you pitch?\n"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scanf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"%f"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&amp;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ip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era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9.0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*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er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/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ip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"ERA = %.2f\n"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era);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}						</a:t>
            </a:r>
            <a:endParaRPr lang="zh-TW" altLang="en-US" sz="5400" dirty="0">
              <a:solidFill>
                <a:schemeClr val="tx1"/>
              </a:solidFill>
              <a:ea typeface="新細明體" charset="0"/>
              <a:cs typeface="新細明體" charset="0"/>
            </a:endParaRPr>
          </a:p>
        </p:txBody>
      </p:sp>
      <p:sp>
        <p:nvSpPr>
          <p:cNvPr id="36867" name="AutoShape 3"/>
          <p:cNvSpPr>
            <a:spLocks/>
          </p:cNvSpPr>
          <p:nvPr/>
        </p:nvSpPr>
        <p:spPr bwMode="auto">
          <a:xfrm>
            <a:off x="1852613" y="1780456"/>
            <a:ext cx="1193800" cy="406400"/>
          </a:xfrm>
          <a:prstGeom prst="roundRect">
            <a:avLst>
              <a:gd name="adj" fmla="val 46875"/>
            </a:avLst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7798544" y="4372744"/>
            <a:ext cx="1067921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1-2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270000" y="5016500"/>
            <a:ext cx="10464800" cy="4000500"/>
          </a:xfrm>
        </p:spPr>
        <p:txBody>
          <a:bodyPr/>
          <a:lstStyle/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先前看過的例子都沒讓使用者自己輸入變數的值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變數值都在程式碼裡面設定所以每次更改數值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都要重新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compile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程式再執行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才能得到新的結果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這是很不方便的操作方式</a:t>
            </a:r>
            <a:endParaRPr kumimoji="0"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Medium" charset="0"/>
            </a:endParaRPr>
          </a:p>
          <a:p>
            <a:pPr marL="889000" eaLnBrk="1" hangingPunct="1"/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scanf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()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用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來讀取使用者鍵盤輸入的數值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的使用方法和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類似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都要先用第一個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參數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指定格式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然後剩下的參數就是對應的變數。不一樣的地方是變數名稱前面多了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&amp;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符號</a:t>
            </a:r>
          </a:p>
        </p:txBody>
      </p:sp>
      <p:sp>
        <p:nvSpPr>
          <p:cNvPr id="37890" name="Rectangle 2"/>
          <p:cNvSpPr>
            <a:spLocks/>
          </p:cNvSpPr>
          <p:nvPr/>
        </p:nvSpPr>
        <p:spPr bwMode="auto">
          <a:xfrm>
            <a:off x="1270000" y="285750"/>
            <a:ext cx="104648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 </a:t>
            </a:r>
            <a:r>
              <a:rPr lang="en-US" altLang="zh-TW" sz="2400" i="1" dirty="0">
                <a:solidFill>
                  <a:srgbClr val="878874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/* calculate earned run average */</a:t>
            </a:r>
            <a:endParaRPr lang="en-US" altLang="zh-TW" sz="2400" dirty="0">
              <a:solidFill>
                <a:schemeClr val="tx1"/>
              </a:solidFill>
              <a:latin typeface="Courier" charset="0"/>
              <a:ea typeface="新細明體" charset="0"/>
              <a:cs typeface="新細明體" charset="0"/>
              <a:sym typeface="Courier" charset="0"/>
            </a:endParaRP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rgbClr val="334076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float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er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ip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era;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"How many earned runs did you give up?\n"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scanf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"%f"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&amp;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er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"How many innings did you pitch?\n"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scanf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"%f"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&amp;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ip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era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9.0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*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er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/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ip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"ERA = %.2f\n"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, era);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Courier" charset="0"/>
                <a:ea typeface="新細明體" charset="0"/>
                <a:cs typeface="新細明體" charset="0"/>
                <a:sym typeface="Courier" charset="0"/>
              </a:rPr>
              <a:t>}						</a:t>
            </a:r>
            <a:endParaRPr lang="zh-TW" altLang="en-US" sz="5400" dirty="0">
              <a:solidFill>
                <a:schemeClr val="tx1"/>
              </a:solidFill>
              <a:ea typeface="新細明體" charset="0"/>
              <a:cs typeface="新細明體" charset="0"/>
            </a:endParaRPr>
          </a:p>
        </p:txBody>
      </p:sp>
      <p:sp>
        <p:nvSpPr>
          <p:cNvPr id="37891" name="AutoShape 3"/>
          <p:cNvSpPr>
            <a:spLocks/>
          </p:cNvSpPr>
          <p:nvPr/>
        </p:nvSpPr>
        <p:spPr bwMode="auto">
          <a:xfrm>
            <a:off x="1893888" y="2212975"/>
            <a:ext cx="3327400" cy="406400"/>
          </a:xfrm>
          <a:prstGeom prst="roundRect">
            <a:avLst>
              <a:gd name="adj" fmla="val 46875"/>
            </a:avLst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7942560" y="4156720"/>
            <a:ext cx="1067921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1-2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560992" cy="2174528"/>
          </a:xfrm>
        </p:spPr>
        <p:txBody>
          <a:bodyPr/>
          <a:lstStyle/>
          <a:p>
            <a:pPr eaLnBrk="1" hangingPunct="1"/>
            <a:r>
              <a:rPr kumimoji="0" lang="en-US" altLang="zh-TW" sz="6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" charset="0"/>
              </a:rPr>
              <a:t>scanf</a:t>
            </a:r>
            <a:r>
              <a:rPr kumimoji="0" lang="en-US" altLang="zh-TW" sz="6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" charset="0"/>
              </a:rPr>
              <a:t>(</a:t>
            </a:r>
            <a:r>
              <a:rPr kumimoji="0" lang="zh-TW" altLang="en-US" sz="6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" charset="0"/>
              </a:rPr>
              <a:t>“</a:t>
            </a:r>
            <a:r>
              <a:rPr kumimoji="0" lang="en-US" altLang="zh-TW" sz="6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" charset="0"/>
              </a:rPr>
              <a:t>%f</a:t>
            </a:r>
            <a:r>
              <a:rPr kumimoji="0" lang="zh-TW" altLang="en-US" sz="6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" charset="0"/>
              </a:rPr>
              <a:t>”</a:t>
            </a:r>
            <a:r>
              <a:rPr kumimoji="0" lang="en-US" altLang="zh-TW" sz="6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" charset="0"/>
              </a:rPr>
              <a:t>, &amp;</a:t>
            </a:r>
            <a:r>
              <a:rPr kumimoji="0" lang="en-US" altLang="zh-TW" sz="6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" charset="0"/>
              </a:rPr>
              <a:t>er</a:t>
            </a:r>
            <a:r>
              <a:rPr kumimoji="0" lang="en-US" altLang="zh-TW" sz="6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" charset="0"/>
              </a:rPr>
              <a:t>)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57784" y="2068488"/>
            <a:ext cx="11233248" cy="7128792"/>
          </a:xfrm>
        </p:spPr>
        <p:txBody>
          <a:bodyPr/>
          <a:lstStyle/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使用者輸入的數值存入變數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er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中。讀取的格式為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float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因此用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%f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告訴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要讀取的資料的格式是浮點數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為什麼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傳參數的時候要多一個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&amp;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?</a:t>
            </a:r>
          </a:p>
          <a:p>
            <a:pPr marL="1333500" lvl="1" eaLnBrk="1" hangingPunct="1"/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如果把變數想成一個盒子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則變數名稱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譬如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er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就是寫在盒子上的標籤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用來和其他盒子區別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而盒子裡的東西就是那個變數所儲存的數值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/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當我們要將變數當作參數傳給某個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function (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譬如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的時候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,C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語言的作法就是把盒子裡的東西拿出來交給那個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function</a:t>
            </a:r>
          </a:p>
          <a:p>
            <a:pPr marL="1333500" lvl="1" eaLnBrk="1" hangingPunct="1"/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但是對於像是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這樣功能的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function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來說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它要的並不是盒子裡的東西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而是要整個盒子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因為它要把使用者輸入的數值放進盒子裡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/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要達到把整個盒子當參數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而不是把盒子裡的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東西當參數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的這個目的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作法就是</a:t>
            </a:r>
            <a:r>
              <a:rPr kumimoji="0"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在變數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前加上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&amp;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告訴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compiler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要把整個盒子傳給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初學者最常犯的錯誤就是在使用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讀取整數或浮點數變數的時候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忘了在變數前面加上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&amp;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2102520"/>
          </a:xfrm>
        </p:spPr>
        <p:txBody>
          <a:bodyPr/>
          <a:lstStyle/>
          <a:p>
            <a:pPr eaLnBrk="1" hangingPunct="1"/>
            <a:r>
              <a:rPr kumimoji="0" lang="zh-TW" altLang="en-US" sz="51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整數</a:t>
            </a:r>
            <a:r>
              <a:rPr kumimoji="0" lang="en-US" altLang="zh-TW" sz="51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 </a:t>
            </a:r>
            <a:r>
              <a:rPr kumimoji="0" lang="en-US" altLang="zh-TW" sz="51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int</a:t>
            </a:r>
            <a:r>
              <a:rPr kumimoji="0" lang="en-US" altLang="zh-TW" sz="51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 </a:t>
            </a:r>
            <a:r>
              <a:rPr kumimoji="0" lang="zh-TW" altLang="en-US" sz="51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型別和浮點數</a:t>
            </a:r>
            <a:r>
              <a:rPr kumimoji="0" lang="en-US" altLang="zh-TW" sz="51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 float </a:t>
            </a:r>
            <a:r>
              <a:rPr kumimoji="0" lang="zh-TW" altLang="en-US" sz="51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型別</a:t>
            </a:r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57784" y="2356520"/>
            <a:ext cx="11089232" cy="6840760"/>
          </a:xfrm>
        </p:spPr>
        <p:txBody>
          <a:bodyPr/>
          <a:lstStyle/>
          <a:p>
            <a:pPr marL="889000" eaLnBrk="1" hangingPunct="1"/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C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語言裡面當你的數值有小數點的時候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就不適合再用整數來儲存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而要用浮點數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當你寫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3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的時候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這個數會被當成是整數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當你寫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3.0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就變會被認為是浮點數。除了直接寫出整個數值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浮點數還可以用以十為底的科學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記號來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表示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譬如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: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2.5e-4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就相當於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2.5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乘上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10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-4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次方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也就是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0.00025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浮點數和整數在電腦裡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的儲存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格式不一樣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整數會完全用二進位編碼來儲存整個數值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浮點數則會拆成幾個部份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包括正負號、底數、指數三個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組成元素。用這樣的方式來儲存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讓我們可以用浮點數來表達更大範圍的數值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譬如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-2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後面接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50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個零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這麼大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的數只要寫成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-2e50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所以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只要記錄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 </a:t>
            </a:r>
            <a:r>
              <a:rPr kumimoji="0"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是個負數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,ii)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底數是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2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 iii)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指數是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50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就夠了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</a:t>
            </a:r>
          </a:p>
          <a:p>
            <a:pPr marL="889000" eaLnBrk="1" hangingPunct="1"/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浮點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數的精確度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仍舊是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有限的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所以有時候浮點運算結果可能和你預期的結果之間會有點誤差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譬如你覺得算出來的答案應該是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1.0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但是實際上儲存的浮點數可能是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0.999999</a:t>
            </a:r>
            <a:endParaRPr kumimoji="0"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Medium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1600200"/>
          </a:xfrm>
        </p:spPr>
        <p:txBody>
          <a:bodyPr/>
          <a:lstStyle/>
          <a:p>
            <a:pPr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整數型別</a:t>
            </a:r>
            <a:r>
              <a:rPr kumimoji="0"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endParaRPr kumimoji="0"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70000" y="1778000"/>
            <a:ext cx="10464800" cy="7708900"/>
          </a:xfrm>
        </p:spPr>
        <p:txBody>
          <a:bodyPr/>
          <a:lstStyle/>
          <a:p>
            <a:pPr marL="889000" eaLnBrk="1" hangingPunct="1"/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大多數的電腦用的是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32-bit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整數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但是隨著轉換到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64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位元處理器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整數長度也會跟著更改成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64-bit</a:t>
            </a:r>
          </a:p>
          <a:p>
            <a:pPr marL="889000" eaLnBrk="1" hangingPunct="1"/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位元長度決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定整數可以表示的數值的大小範圍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用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長度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32-bit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的空間來儲存一個整數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那麼可以表達的整數值範圍就是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-2</a:t>
            </a:r>
            <a:r>
              <a:rPr kumimoji="0" lang="en-US" altLang="zh-TW" sz="2400" baseline="22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31 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~2</a:t>
            </a:r>
            <a:r>
              <a:rPr kumimoji="0" lang="en-US" altLang="zh-TW" sz="2400" baseline="220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31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-1(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包含了負數和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0)</a:t>
            </a:r>
          </a:p>
          <a:p>
            <a:pPr marL="889000" eaLnBrk="1" hangingPunct="1"/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初始化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(initialization)</a:t>
            </a:r>
          </a:p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/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第二行如果寫成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r>
              <a:rPr kumimoji="0"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cats, dogs = 2;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則只有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dogs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會做初始化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/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整個宣告加初始化做的就是右圖所表示的動作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在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程式裡面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5, 8, -32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這樣的直接寫出來的整數稱作常數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不需用要變數來儲存的數值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。前面提過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如果寫成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5.0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就會被當成浮點數常數</a:t>
            </a:r>
          </a:p>
        </p:txBody>
      </p:sp>
      <p:sp>
        <p:nvSpPr>
          <p:cNvPr id="40963" name="Rectangle 3"/>
          <p:cNvSpPr>
            <a:spLocks/>
          </p:cNvSpPr>
          <p:nvPr/>
        </p:nvSpPr>
        <p:spPr bwMode="auto">
          <a:xfrm>
            <a:off x="2613968" y="5092824"/>
            <a:ext cx="4470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birds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cats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3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dogs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2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680" y="6893024"/>
            <a:ext cx="3632200" cy="161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270000" y="482600"/>
            <a:ext cx="10464800" cy="8915400"/>
          </a:xfrm>
        </p:spPr>
        <p:txBody>
          <a:bodyPr/>
          <a:lstStyle/>
          <a:p>
            <a:pPr marL="889000" eaLnBrk="1" hangingPunct="1"/>
            <a:r>
              <a:rPr kumimoji="0"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的第一個參數可以搭配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"%d"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來指定輸出格式為十進位整數。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要注意的是格式的部份要由程式設計者負責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如果對應錯誤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出來的結果就會是錯的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程式輸出的結果可能是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/>
            </a:r>
            <a:b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10 minus 2 is 8</a:t>
            </a:r>
            <a:b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10 minus 2 is 8</a:t>
            </a:r>
          </a:p>
          <a:p>
            <a:pPr marL="889000" eaLnBrk="1" hangingPunct="1"/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少了兩個參數竟然還會跑出結果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!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這只是湊巧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因為當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%d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找不到對應的參數時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取得的就是當時記憶體中剛好在本來預期的位置裡存放的數值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至於裡面會有什麼值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就要看你的運氣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在這個例子缺少的兩個參數所對應到的記憶體位置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裡面湊巧存放的是</a:t>
            </a:r>
            <a:r>
              <a:rPr kumimoji="0"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2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和</a:t>
            </a:r>
            <a:r>
              <a:rPr kumimoji="0"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8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。類似的情況會讓你以為程式沒有錯誤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要特別小心這種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bugs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</a:t>
            </a:r>
          </a:p>
        </p:txBody>
      </p:sp>
      <p:sp>
        <p:nvSpPr>
          <p:cNvPr id="41986" name="Rectangle 2"/>
          <p:cNvSpPr>
            <a:spLocks/>
          </p:cNvSpPr>
          <p:nvPr/>
        </p:nvSpPr>
        <p:spPr bwMode="auto">
          <a:xfrm>
            <a:off x="2095500" y="2482850"/>
            <a:ext cx="92964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1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1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1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1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1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1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ten </a:t>
            </a:r>
            <a:r>
              <a:rPr lang="en-US" altLang="zh-TW" sz="21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10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1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two </a:t>
            </a:r>
            <a:r>
              <a:rPr lang="en-US" altLang="zh-TW" sz="21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2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"%d minus %d is %d\n"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ten, two, ten </a:t>
            </a:r>
            <a:r>
              <a:rPr lang="en-US" altLang="zh-TW" sz="21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-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two);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"%d minus %d is %d\n"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ten); </a:t>
            </a:r>
            <a:r>
              <a:rPr lang="en-US" altLang="zh-TW" sz="2100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/* </a:t>
            </a:r>
            <a:r>
              <a:rPr lang="zh-TW" altLang="en-US" sz="2100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少了兩個參數</a:t>
            </a:r>
            <a:r>
              <a:rPr lang="en-US" altLang="zh-TW" sz="2100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 */</a:t>
            </a:r>
            <a:endParaRPr lang="en-US" altLang="zh-TW" sz="21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6209739" y="5054540"/>
            <a:ext cx="1067921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1-3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270000" y="844352"/>
            <a:ext cx="10464800" cy="7639248"/>
          </a:xfrm>
        </p:spPr>
        <p:txBody>
          <a:bodyPr/>
          <a:lstStyle/>
          <a:p>
            <a:pPr marL="889000" eaLnBrk="1" hangingPunct="1"/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還可以用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"%x"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十六進位表示法來顯示整數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譬如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0x1f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表示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十進位的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31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=1*16+15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這樣的表示法常用在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binary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資料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輸出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/>
            </a:r>
            <a:b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decimal: 100, hexadecimal: 64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/>
            </a:r>
            <a:b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</a:b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decimal: 100, hexadecimal: 0x64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第二個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"%#x"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只是會在顯示的數值前面多加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0x</a:t>
            </a:r>
            <a:endParaRPr kumimoji="0"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Medium" charset="0"/>
            </a:endParaRPr>
          </a:p>
        </p:txBody>
      </p:sp>
      <p:sp>
        <p:nvSpPr>
          <p:cNvPr id="43010" name="Rectangle 2"/>
          <p:cNvSpPr>
            <a:spLocks/>
          </p:cNvSpPr>
          <p:nvPr/>
        </p:nvSpPr>
        <p:spPr bwMode="auto">
          <a:xfrm>
            <a:off x="2181920" y="2600682"/>
            <a:ext cx="7668766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altLang="zh-TW" sz="21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1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1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1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1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1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x </a:t>
            </a:r>
            <a:r>
              <a:rPr lang="en-US" altLang="zh-TW" sz="21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100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"decimal: %d, hexadecimal: %x\n"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x, x);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"decimal: %d, hexadecimal: %#x\n"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x, x);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1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5782320" y="4839771"/>
            <a:ext cx="1067921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1-4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除了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之外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,C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程式裡面還可以把變數宣告成其他種類的整數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包括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不同長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度的型別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: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short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long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long </a:t>
            </a:r>
            <a:r>
              <a:rPr kumimoji="0"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long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可以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在整數型別前面加上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unsigned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用來表示這個整數變數不包含負數的部份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如果你很確定變數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x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的值不會是負的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就可以把它宣告成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unsigned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這樣原本用來表達負數所需的空間就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可以拿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來表達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更大的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正數。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譬如同樣使用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32 bits,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原本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如果範圍是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-2,147,483,648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~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2,147,483,647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宣告成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unsigned </a:t>
            </a:r>
            <a:r>
              <a:rPr kumimoji="0"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範圍就變成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~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4,294,967,295</a:t>
            </a:r>
            <a:endParaRPr kumimoji="0"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Medium" charset="0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2174528"/>
          </a:xfrm>
        </p:spPr>
        <p:txBody>
          <a:bodyPr/>
          <a:lstStyle/>
          <a:p>
            <a:pPr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其它整數型別</a:t>
            </a:r>
          </a:p>
        </p:txBody>
      </p:sp>
      <p:sp>
        <p:nvSpPr>
          <p:cNvPr id="44035" name="Rectangle 3"/>
          <p:cNvSpPr>
            <a:spLocks/>
          </p:cNvSpPr>
          <p:nvPr/>
        </p:nvSpPr>
        <p:spPr bwMode="auto">
          <a:xfrm>
            <a:off x="2181920" y="4948808"/>
            <a:ext cx="45593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>
              <a:lnSpc>
                <a:spcPts val="1600"/>
              </a:lnSpc>
            </a:pP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unsigned </a:t>
            </a: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birds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20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317824" y="916360"/>
            <a:ext cx="10464800" cy="7937500"/>
          </a:xfrm>
        </p:spPr>
        <p:txBody>
          <a:bodyPr/>
          <a:lstStyle/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輸出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/>
            </a:r>
            <a:b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un = 3000000000 and not -1294967296</a:t>
            </a:r>
            <a:b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small = 200 and 200</a:t>
            </a:r>
            <a:b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big = 65537 and not 1</a:t>
            </a: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輸出時要配合型別設定顯示格式才能得到正確的輸出結果</a:t>
            </a:r>
          </a:p>
        </p:txBody>
      </p:sp>
      <p:sp>
        <p:nvSpPr>
          <p:cNvPr id="45058" name="Rectangle 2"/>
          <p:cNvSpPr>
            <a:spLocks/>
          </p:cNvSpPr>
          <p:nvPr/>
        </p:nvSpPr>
        <p:spPr bwMode="auto">
          <a:xfrm>
            <a:off x="1821880" y="412304"/>
            <a:ext cx="8928100" cy="488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unsigned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un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3000000000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 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short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small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200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long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big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65537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"un = %u and not %d\n"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un, un);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"small = %</a:t>
            </a:r>
            <a:r>
              <a:rPr lang="en-US" altLang="zh-TW" sz="2400" dirty="0" err="1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hd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and %d\n"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small, small);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"big = %ld and not %</a:t>
            </a:r>
            <a:r>
              <a:rPr lang="en-US" altLang="zh-TW" sz="2400" dirty="0" err="1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hd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big, big);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6016263" y="4885110"/>
            <a:ext cx="1067921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1-5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1384300"/>
          </a:xfrm>
        </p:spPr>
        <p:txBody>
          <a:bodyPr/>
          <a:lstStyle/>
          <a:p>
            <a:pPr eaLnBrk="1" hangingPunct="1"/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char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型別</a:t>
            </a: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77864" y="3868688"/>
            <a:ext cx="10873208" cy="5884912"/>
          </a:xfrm>
        </p:spPr>
        <p:txBody>
          <a:bodyPr/>
          <a:lstStyle/>
          <a:p>
            <a:pPr marL="889000" eaLnBrk="1" hangingPunct="1"/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要使用者輸入一個字元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然後程式會把對應的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ASCII 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編碼秀出來</a:t>
            </a:r>
            <a:endParaRPr kumimoji="0" lang="en-US" altLang="zh-TW" sz="26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Medium" charset="0"/>
            </a:endParaRPr>
          </a:p>
          <a:p>
            <a:pPr marL="889000" eaLnBrk="1" hangingPunct="1"/>
            <a:r>
              <a:rPr kumimoji="0"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char 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型別會用到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8-bit 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的記憶體空間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靠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8 bits 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所儲存的數值來表達字元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譬如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'A', 'e', '7' 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等等單一的英文字母或數字</a:t>
            </a:r>
            <a:endParaRPr kumimoji="0" lang="en-US" altLang="zh-TW" sz="26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要將數值對應到字元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我們需要特定的編碼方式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通常會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有一個編碼的對照表來對應數值和字元。最常用的是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ASCII code 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編碼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可以把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 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到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127 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的數值對應到不同的字元</a:t>
            </a:r>
            <a:endParaRPr kumimoji="0" lang="en-US" altLang="zh-TW" sz="26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範例裡的</a:t>
            </a:r>
            <a:r>
              <a:rPr kumimoji="0" lang="en-US" altLang="zh-TW" sz="26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和</a:t>
            </a:r>
            <a:r>
              <a:rPr kumimoji="0" lang="en-US" altLang="zh-TW" sz="26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還用到了</a:t>
            </a:r>
            <a:r>
              <a:rPr kumimoji="0"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%c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。對於</a:t>
            </a:r>
            <a:r>
              <a:rPr kumimoji="0" lang="en-US" altLang="zh-TW" sz="26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來說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使用</a:t>
            </a:r>
            <a:r>
              <a:rPr kumimoji="0"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%c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的格式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表示輸入的資料會被當成字元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譬如輸入的是</a:t>
            </a:r>
            <a:r>
              <a:rPr kumimoji="0"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7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就會把</a:t>
            </a:r>
            <a:r>
              <a:rPr kumimoji="0"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7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當成字元而不是整數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7</a:t>
            </a:r>
            <a:endParaRPr kumimoji="0" lang="en-US" altLang="zh-TW" sz="26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en-US" altLang="zh-TW" sz="26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裡用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%c 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的格式</a:t>
            </a:r>
            <a:r>
              <a:rPr kumimoji="0"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也是要把傳入的參數的數值所對應的字元顯示出來</a:t>
            </a:r>
          </a:p>
        </p:txBody>
      </p:sp>
      <p:sp>
        <p:nvSpPr>
          <p:cNvPr id="47107" name="Rectangle 3"/>
          <p:cNvSpPr>
            <a:spLocks/>
          </p:cNvSpPr>
          <p:nvPr/>
        </p:nvSpPr>
        <p:spPr bwMode="auto">
          <a:xfrm>
            <a:off x="1677864" y="1204392"/>
            <a:ext cx="9499600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1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1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1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1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1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char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 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("Please enter a character: ");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scanf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"%c"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21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&amp;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"ASCII code for '%c' is %d.\n"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  <a:endParaRPr lang="en-US" altLang="zh-TW" sz="2100" dirty="0">
              <a:solidFill>
                <a:srgbClr val="D4003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0246816" y="3364632"/>
            <a:ext cx="1067921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1-6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1384300"/>
          </a:xfrm>
        </p:spPr>
        <p:txBody>
          <a:bodyPr/>
          <a:lstStyle/>
          <a:p>
            <a:pPr eaLnBrk="1" hangingPunct="1"/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%c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與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%d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1200" y="4924424"/>
            <a:ext cx="10464800" cy="3408759"/>
          </a:xfrm>
        </p:spPr>
        <p:txBody>
          <a:bodyPr/>
          <a:lstStyle/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在數字或字母兩邊加上單引號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' '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，就表示要把它當成字元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還有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一種八進位表示法，譬如十進位的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55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寫成八進位就是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067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，也可以寫成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'\067'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來表示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'7'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</a:t>
            </a:r>
          </a:p>
        </p:txBody>
      </p:sp>
      <p:sp>
        <p:nvSpPr>
          <p:cNvPr id="48131" name="Rectangle 3"/>
          <p:cNvSpPr>
            <a:spLocks/>
          </p:cNvSpPr>
          <p:nvPr/>
        </p:nvSpPr>
        <p:spPr bwMode="auto">
          <a:xfrm>
            <a:off x="800100" y="2443393"/>
            <a:ext cx="875665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zh-TW" sz="21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1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1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1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1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"character: %c  ASCII code: %d\n"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21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55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'7'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0632" y="1924472"/>
            <a:ext cx="3731527" cy="2944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406056" y="4182330"/>
            <a:ext cx="1067921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1-7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1384300"/>
          </a:xfrm>
        </p:spPr>
        <p:txBody>
          <a:bodyPr/>
          <a:lstStyle/>
          <a:p>
            <a:pPr eaLnBrk="1" hangingPunct="1"/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float, Double</a:t>
            </a: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1200" y="6005513"/>
            <a:ext cx="10464800" cy="2616200"/>
          </a:xfrm>
        </p:spPr>
        <p:txBody>
          <a:bodyPr/>
          <a:lstStyle/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輸出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/>
            </a:r>
            <a:b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12345.000000 or 1.234500e+004</a:t>
            </a:r>
            <a:b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2340000000000.000000 or 2.340000e+012</a:t>
            </a:r>
          </a:p>
          <a:p>
            <a:pPr marL="889000" eaLnBrk="1" hangingPunct="1"/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用</a:t>
            </a:r>
            <a:r>
              <a:rPr kumimoji="0"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%f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格式或是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%e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科學記號格式來表示浮點數。</a:t>
            </a:r>
          </a:p>
        </p:txBody>
      </p:sp>
      <p:sp>
        <p:nvSpPr>
          <p:cNvPr id="49155" name="Rectangle 3"/>
          <p:cNvSpPr>
            <a:spLocks/>
          </p:cNvSpPr>
          <p:nvPr/>
        </p:nvSpPr>
        <p:spPr bwMode="auto">
          <a:xfrm>
            <a:off x="1651000" y="2100263"/>
            <a:ext cx="59690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float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x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12345.0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double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y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2.34e12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endParaRPr lang="en-US" altLang="zh-TW" sz="2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"%f or %e\n"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x, x);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"%f or %e\n"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y, y);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4875679" y="5484753"/>
            <a:ext cx="1067921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1-8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1"/>
          <p:cNvSpPr>
            <a:spLocks noGrp="1" noChangeArrowheads="1"/>
          </p:cNvSpPr>
          <p:nvPr>
            <p:ph type="title"/>
          </p:nvPr>
        </p:nvSpPr>
        <p:spPr>
          <a:xfrm>
            <a:off x="1245816" y="340296"/>
            <a:ext cx="10464800" cy="2016224"/>
          </a:xfrm>
        </p:spPr>
        <p:txBody>
          <a:bodyPr/>
          <a:lstStyle/>
          <a:p>
            <a:pPr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型別轉換</a:t>
            </a: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58800" y="2428528"/>
            <a:ext cx="11887200" cy="6552728"/>
          </a:xfrm>
        </p:spPr>
        <p:txBody>
          <a:bodyPr/>
          <a:lstStyle/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當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expression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或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statement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中所出現的變數或常數之間的型別不同時，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C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會做型別轉換將變數或常數轉成相同型別。底下是型別轉換的基本規則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  <a:sym typeface="Helvetica" charset="0"/>
            </a:endParaRPr>
          </a:p>
          <a:p>
            <a:pPr marL="1333500" lvl="1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expression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中的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Courier New Bold" charset="0"/>
                <a:sym typeface="Courier New Bold" charset="0"/>
              </a:rPr>
              <a:t>char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會轉換成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Courier New Bold" charset="0"/>
                <a:sym typeface="Courier New Bold" charset="0"/>
              </a:rPr>
              <a:t>int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，譬如我們前面看到的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>i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> &lt; 'Z'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>。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Medium" charset="0"/>
              <a:sym typeface="Courier New Bold" charset="0"/>
            </a:endParaRPr>
          </a:p>
          <a:p>
            <a:pPr marL="1333500" lvl="1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當兩種型別混用時，位階較低的型別會轉成位階較高的；位階高低順序如下：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Courier New Bold" charset="0"/>
                <a:sym typeface="Courier New Bold" charset="0"/>
              </a:rPr>
              <a:t>double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lvetica" charset="0"/>
                <a:sym typeface="Helvetica" charset="0"/>
              </a:rPr>
              <a:t>,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Courier New Bold" charset="0"/>
                <a:sym typeface="Courier New Bold" charset="0"/>
              </a:rPr>
              <a:t>float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lvetica" charset="0"/>
                <a:sym typeface="Helvetica" charset="0"/>
              </a:rPr>
              <a:t>,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Courier New Bold" charset="0"/>
                <a:sym typeface="Courier New Bold" charset="0"/>
              </a:rPr>
              <a:t>unsigned long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lvetica" charset="0"/>
                <a:sym typeface="Helvetica" charset="0"/>
              </a:rPr>
              <a:t>,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Courier New Bold" charset="0"/>
                <a:sym typeface="Courier New Bold" charset="0"/>
              </a:rPr>
              <a:t>long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lvetica" charset="0"/>
                <a:sym typeface="Helvetica" charset="0"/>
              </a:rPr>
              <a:t>,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Courier New Bold" charset="0"/>
                <a:sym typeface="Courier New Bold" charset="0"/>
              </a:rPr>
              <a:t>unsigned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lvetica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Courier New Bold" charset="0"/>
                <a:sym typeface="Courier New Bold" charset="0"/>
              </a:rPr>
              <a:t>int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lvetica" charset="0"/>
                <a:sym typeface="Helvetica" charset="0"/>
              </a:rPr>
              <a:t> ,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Courier New Bold" charset="0"/>
                <a:sym typeface="Courier New Bold" charset="0"/>
              </a:rPr>
              <a:t>int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。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  <a:sym typeface="Helvetica" charset="0"/>
            </a:endParaRPr>
          </a:p>
          <a:p>
            <a:pPr marL="1333500" lvl="1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在等式的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statement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中，型別會被轉換成等號左邊的變數的型別。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  <a:sym typeface="Helvetica" charset="0"/>
            </a:endParaRPr>
          </a:p>
          <a:p>
            <a:pPr marL="1333500" lvl="1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在傳參數到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function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的時候，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Courier New Bold" charset="0"/>
                <a:sym typeface="Courier New Bold" charset="0"/>
              </a:rPr>
              <a:t>char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會被轉成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Courier New Bold" charset="0"/>
                <a:sym typeface="Courier New Bold" charset="0"/>
              </a:rPr>
              <a:t>int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，而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Courier New Bold" charset="0"/>
                <a:sym typeface="Courier New Bold" charset="0"/>
              </a:rPr>
              <a:t>float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會被轉成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Courier New Bold" charset="0"/>
                <a:sym typeface="Courier New Bold" charset="0"/>
              </a:rPr>
              <a:t>double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。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通常，第三個規則所造成的型別轉換有可能會讓我們不小心寫出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bug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385103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101600"/>
            <a:ext cx="10464800" cy="1422400"/>
          </a:xfrm>
        </p:spPr>
        <p:txBody>
          <a:bodyPr/>
          <a:lstStyle/>
          <a:p>
            <a:pPr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型別轉換</a:t>
            </a:r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5740896"/>
            <a:ext cx="12090400" cy="3136900"/>
          </a:xfrm>
        </p:spPr>
        <p:txBody>
          <a:bodyPr anchor="t"/>
          <a:lstStyle/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程式輸出的結果如下：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  <a:sym typeface="Helvetica" charset="0"/>
            </a:endParaRPr>
          </a:p>
          <a:p>
            <a:pPr marL="889000" eaLnBrk="1" hangingPunct="1"/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  <a:sym typeface="Helvetica" charset="0"/>
            </a:endParaRPr>
          </a:p>
          <a:p>
            <a:pPr marL="889000" eaLnBrk="1" hangingPunct="1"/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第七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行把字元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'C'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存在變數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ch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中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(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只佔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1 byte)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，接下來轉成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int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存在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i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中，再轉成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float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存在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fl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中。第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12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行的運算，由於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ch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的值是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'C'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(ASCII code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67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)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會被轉成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int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來運算，然後得到的結果會被轉成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float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再和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fl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相加，最後再降成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int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存到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i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之中。第十三行道理相同，只是最終都轉成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float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。</a:t>
            </a:r>
          </a:p>
        </p:txBody>
      </p:sp>
      <p:sp>
        <p:nvSpPr>
          <p:cNvPr id="90115" name="Rectangle 3"/>
          <p:cNvSpPr>
            <a:spLocks/>
          </p:cNvSpPr>
          <p:nvPr/>
        </p:nvSpPr>
        <p:spPr bwMode="auto">
          <a:xfrm>
            <a:off x="1317824" y="1348408"/>
            <a:ext cx="9323834" cy="43924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lang="en-US" altLang="zh-TW" sz="18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18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18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char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float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fl;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'C'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                                           </a:t>
            </a:r>
            <a:r>
              <a:rPr lang="en-US" altLang="zh-TW" sz="1800" i="1" dirty="0">
                <a:solidFill>
                  <a:srgbClr val="878874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/* line 7 */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                                             </a:t>
            </a:r>
            <a:r>
              <a:rPr lang="en-US" altLang="zh-TW" sz="1800" i="1" dirty="0">
                <a:solidFill>
                  <a:srgbClr val="878874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/* line 8 */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fl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                                             </a:t>
            </a:r>
            <a:r>
              <a:rPr lang="en-US" altLang="zh-TW" sz="1800" i="1" dirty="0">
                <a:solidFill>
                  <a:srgbClr val="878874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/* line 9 */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</a:t>
            </a:r>
            <a:r>
              <a:rPr lang="en-US" altLang="zh-TW" sz="1800" dirty="0" err="1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= %c, </a:t>
            </a:r>
            <a:r>
              <a:rPr lang="en-US" altLang="zh-TW" sz="1800" dirty="0" err="1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= %d, fl = %2.2f\n"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fl); </a:t>
            </a:r>
            <a:r>
              <a:rPr lang="en-US" altLang="zh-TW" sz="1800" i="1" dirty="0">
                <a:solidFill>
                  <a:srgbClr val="878874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/* line 10 */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                                        </a:t>
            </a:r>
            <a:r>
              <a:rPr lang="en-US" altLang="zh-TW" sz="1800" i="1" dirty="0">
                <a:solidFill>
                  <a:srgbClr val="878874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/* line 11 */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fl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2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*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                                    </a:t>
            </a:r>
            <a:r>
              <a:rPr lang="en-US" altLang="zh-TW" sz="1800" i="1" dirty="0">
                <a:solidFill>
                  <a:srgbClr val="878874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/* line 12 */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fl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2.0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*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                                  </a:t>
            </a:r>
            <a:r>
              <a:rPr lang="en-US" altLang="zh-TW" sz="1800" i="1" dirty="0">
                <a:solidFill>
                  <a:srgbClr val="878874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/* line 13 */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</a:t>
            </a:r>
            <a:r>
              <a:rPr lang="en-US" altLang="zh-TW" sz="1800" dirty="0" err="1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= %c, </a:t>
            </a:r>
            <a:r>
              <a:rPr lang="en-US" altLang="zh-TW" sz="1800" dirty="0" err="1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= %d, fl = %2.2f\n"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fl); </a:t>
            </a:r>
            <a:r>
              <a:rPr lang="en-US" altLang="zh-TW" sz="1800" i="1" dirty="0">
                <a:solidFill>
                  <a:srgbClr val="878874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/* line 14 */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sp>
        <p:nvSpPr>
          <p:cNvPr id="90116" name="Rectangle 4"/>
          <p:cNvSpPr>
            <a:spLocks/>
          </p:cNvSpPr>
          <p:nvPr/>
        </p:nvSpPr>
        <p:spPr bwMode="auto">
          <a:xfrm>
            <a:off x="1965896" y="6296636"/>
            <a:ext cx="6336704" cy="738664"/>
          </a:xfrm>
          <a:prstGeom prst="rect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marL="457200" algn="l">
              <a:defRPr/>
            </a:pPr>
            <a:r>
              <a:rPr lang="en-US" altLang="zh-TW" sz="2400" dirty="0" err="1">
                <a:solidFill>
                  <a:schemeClr val="tx1"/>
                </a:solidFill>
                <a:latin typeface="Courier New Bold" charset="0"/>
                <a:ea typeface="新細明體" charset="0"/>
                <a:cs typeface="Courier New Bold" charset="0"/>
                <a:sym typeface="Courier New Bold" charset="0"/>
              </a:rPr>
              <a:t>ch</a:t>
            </a:r>
            <a:r>
              <a:rPr lang="en-US" altLang="zh-TW" sz="2400" dirty="0">
                <a:solidFill>
                  <a:schemeClr val="tx1"/>
                </a:solidFill>
                <a:latin typeface="Courier New Bold" charset="0"/>
                <a:ea typeface="新細明體" charset="0"/>
                <a:cs typeface="Courier New Bold" charset="0"/>
                <a:sym typeface="Courier New Bold" charset="0"/>
              </a:rPr>
              <a:t> = C, </a:t>
            </a:r>
            <a:r>
              <a:rPr lang="en-US" altLang="zh-TW" sz="2400" dirty="0" err="1">
                <a:solidFill>
                  <a:schemeClr val="tx1"/>
                </a:solidFill>
                <a:latin typeface="Courier New Bold" charset="0"/>
                <a:ea typeface="新細明體" charset="0"/>
                <a:cs typeface="Courier New Bold" charset="0"/>
                <a:sym typeface="Courier New Bold" charset="0"/>
              </a:rPr>
              <a:t>i</a:t>
            </a:r>
            <a:r>
              <a:rPr lang="en-US" altLang="zh-TW" sz="2400" dirty="0">
                <a:solidFill>
                  <a:schemeClr val="tx1"/>
                </a:solidFill>
                <a:latin typeface="Courier New Bold" charset="0"/>
                <a:ea typeface="新細明體" charset="0"/>
                <a:cs typeface="Courier New Bold" charset="0"/>
                <a:sym typeface="Courier New Bold" charset="0"/>
              </a:rPr>
              <a:t> = 67, </a:t>
            </a:r>
            <a:r>
              <a:rPr lang="en-US" altLang="zh-TW" sz="2400" dirty="0" err="1">
                <a:solidFill>
                  <a:schemeClr val="tx1"/>
                </a:solidFill>
                <a:latin typeface="Courier New Bold" charset="0"/>
                <a:ea typeface="新細明體" charset="0"/>
                <a:cs typeface="Courier New Bold" charset="0"/>
                <a:sym typeface="Courier New Bold" charset="0"/>
              </a:rPr>
              <a:t>fl</a:t>
            </a:r>
            <a:r>
              <a:rPr lang="en-US" altLang="zh-TW" sz="2400" dirty="0">
                <a:solidFill>
                  <a:schemeClr val="tx1"/>
                </a:solidFill>
                <a:latin typeface="Courier New Bold" charset="0"/>
                <a:ea typeface="新細明體" charset="0"/>
                <a:cs typeface="Courier New Bold" charset="0"/>
                <a:sym typeface="Courier New Bold" charset="0"/>
              </a:rPr>
              <a:t> = 67.00</a:t>
            </a:r>
          </a:p>
          <a:p>
            <a:pPr marL="457200" algn="l">
              <a:defRPr/>
            </a:pPr>
            <a:r>
              <a:rPr lang="en-US" altLang="zh-TW" sz="2400" dirty="0" err="1">
                <a:solidFill>
                  <a:schemeClr val="tx1"/>
                </a:solidFill>
                <a:latin typeface="Courier New Bold" charset="0"/>
                <a:ea typeface="新細明體" charset="0"/>
                <a:cs typeface="Courier New Bold" charset="0"/>
                <a:sym typeface="Courier New Bold" charset="0"/>
              </a:rPr>
              <a:t>ch</a:t>
            </a:r>
            <a:r>
              <a:rPr lang="en-US" altLang="zh-TW" sz="2400" dirty="0">
                <a:solidFill>
                  <a:schemeClr val="tx1"/>
                </a:solidFill>
                <a:latin typeface="Courier New Bold" charset="0"/>
                <a:ea typeface="新細明體" charset="0"/>
                <a:cs typeface="Courier New Bold" charset="0"/>
                <a:sym typeface="Courier New Bold" charset="0"/>
              </a:rPr>
              <a:t> = D, </a:t>
            </a:r>
            <a:r>
              <a:rPr lang="en-US" altLang="zh-TW" sz="2400" dirty="0" err="1">
                <a:solidFill>
                  <a:schemeClr val="tx1"/>
                </a:solidFill>
                <a:latin typeface="Courier New Bold" charset="0"/>
                <a:ea typeface="新細明體" charset="0"/>
                <a:cs typeface="Courier New Bold" charset="0"/>
                <a:sym typeface="Courier New Bold" charset="0"/>
              </a:rPr>
              <a:t>i</a:t>
            </a:r>
            <a:r>
              <a:rPr lang="en-US" altLang="zh-TW" sz="2400" dirty="0">
                <a:solidFill>
                  <a:schemeClr val="tx1"/>
                </a:solidFill>
                <a:latin typeface="Courier New Bold" charset="0"/>
                <a:ea typeface="新細明體" charset="0"/>
                <a:cs typeface="Courier New Bold" charset="0"/>
                <a:sym typeface="Courier New Bold" charset="0"/>
              </a:rPr>
              <a:t> = 203, </a:t>
            </a:r>
            <a:r>
              <a:rPr lang="en-US" altLang="zh-TW" sz="2400" dirty="0" err="1">
                <a:solidFill>
                  <a:schemeClr val="tx1"/>
                </a:solidFill>
                <a:latin typeface="Courier New Bold" charset="0"/>
                <a:ea typeface="新細明體" charset="0"/>
                <a:cs typeface="Courier New Bold" charset="0"/>
                <a:sym typeface="Courier New Bold" charset="0"/>
              </a:rPr>
              <a:t>fl</a:t>
            </a:r>
            <a:r>
              <a:rPr lang="en-US" altLang="zh-TW" sz="2400" dirty="0">
                <a:solidFill>
                  <a:schemeClr val="tx1"/>
                </a:solidFill>
                <a:latin typeface="Courier New Bold" charset="0"/>
                <a:ea typeface="新細明體" charset="0"/>
                <a:cs typeface="Courier New Bold" charset="0"/>
                <a:sym typeface="Courier New Bold" charset="0"/>
              </a:rPr>
              <a:t> = 339.00</a:t>
            </a:r>
          </a:p>
        </p:txBody>
      </p:sp>
      <p:sp>
        <p:nvSpPr>
          <p:cNvPr id="6" name="矩形 5"/>
          <p:cNvSpPr/>
          <p:nvPr/>
        </p:nvSpPr>
        <p:spPr>
          <a:xfrm>
            <a:off x="7366496" y="5464767"/>
            <a:ext cx="1067921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1-9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0803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強制轉型</a:t>
            </a:r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body" idx="1"/>
          </p:nvPr>
        </p:nvSpPr>
        <p:spPr/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889000" eaLnBrk="1" hangingPunct="1">
              <a:defRPr/>
            </a:pP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除了自動做型別轉換之外，還可以透過下面的方式來強制做型別轉換，做法是在數值或變數前面加上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(</a:t>
            </a:r>
            <a:r>
              <a:rPr kumimoji="0" lang="zh-TW" altLang="en-US" sz="3200" i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型別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)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，也就是用括號將型別括起來的形式，其中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i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型別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可以替換為我們想要強制轉換的型別：</a:t>
            </a:r>
            <a:endParaRPr kumimoji="0" lang="en-US" altLang="zh-TW" sz="3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  <a:sym typeface="Helvetica" charset="0"/>
            </a:endParaRPr>
          </a:p>
          <a:p>
            <a:pPr marL="889000" eaLnBrk="1" hangingPunct="1">
              <a:defRPr/>
            </a:pPr>
            <a:endParaRPr kumimoji="0" lang="en-US" altLang="zh-TW" sz="3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>
              <a:defRPr/>
            </a:pP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假設已經宣告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x;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則整數變數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x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得到的結果會是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4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，因為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2.3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被轉成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變成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2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，而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2.8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被轉成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也變成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2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，所以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2+2 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就得到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4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。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(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如果是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x = 2.3 + 2.8;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則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x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的值會是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5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，因為會先計算出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5.1 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然後無條件捨去轉換成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</a:t>
            </a:r>
            <a:r>
              <a:rPr kumimoji="0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。</a:t>
            </a:r>
            <a:r>
              <a:rPr kumimoji="0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)</a:t>
            </a:r>
          </a:p>
        </p:txBody>
      </p:sp>
      <p:sp>
        <p:nvSpPr>
          <p:cNvPr id="91139" name="Rectangle 3"/>
          <p:cNvSpPr>
            <a:spLocks/>
          </p:cNvSpPr>
          <p:nvPr/>
        </p:nvSpPr>
        <p:spPr bwMode="auto">
          <a:xfrm>
            <a:off x="2253928" y="5110940"/>
            <a:ext cx="4752528" cy="42329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108000" tIns="108000" rIns="108000" bIns="108000" anchor="ctr" anchorCtr="0">
            <a:spAutoFit/>
          </a:bodyPr>
          <a:lstStyle/>
          <a:p>
            <a:pPr algn="l">
              <a:lnSpc>
                <a:spcPts val="1600"/>
              </a:lnSpc>
              <a:defRPr/>
            </a:pP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x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(</a:t>
            </a: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2.3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(</a:t>
            </a: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2.8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919581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1"/>
          <p:cNvSpPr>
            <a:spLocks/>
          </p:cNvSpPr>
          <p:nvPr/>
        </p:nvSpPr>
        <p:spPr bwMode="auto">
          <a:xfrm>
            <a:off x="355600" y="209550"/>
            <a:ext cx="9893300" cy="932180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l">
              <a:defRPr/>
            </a:pPr>
            <a:r>
              <a:rPr lang="en-US" altLang="zh-TW" sz="18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18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18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#define S_PER_M 60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#define S_PER_H 3600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double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length,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dist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speed;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laps;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hour, min, sec;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time,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laptime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avmin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avsec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>
              <a:defRPr/>
            </a:pP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"Please enter the length of the track (km): 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scanf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"%lf"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&amp;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length); </a:t>
            </a:r>
            <a:r>
              <a:rPr lang="en-US" altLang="zh-TW" sz="1800" i="1" dirty="0">
                <a:solidFill>
                  <a:srgbClr val="878874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/* lf for type double */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"Enter the number of laps for this GP: 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scanf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"%d"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&amp;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laps);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</a:t>
            </a:r>
            <a:r>
              <a:rPr lang="en-US" altLang="zh-TW" sz="1800" dirty="0" err="1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Enger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the time in hours, minutes, and seconds.\n"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"hours: 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scanf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"%d"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&amp;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hour);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"minutes: 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scanf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"%d"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&amp;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min);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"seconds: 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scanf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"%d"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&amp;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sec);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time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S_PER_H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*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hour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S_PER_M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*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min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sec;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dist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length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*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laps;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speed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dist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/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time;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laptime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(</a:t>
            </a:r>
            <a:r>
              <a:rPr lang="en-US" altLang="zh-TW" sz="18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 (length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/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speed);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avmin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laptime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/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S_PER_M;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avsec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laptime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%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S_PER_M;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"The average speed is %5.2f km/h\n"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speed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*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S_PER_H);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"The average time for one lap is %d min %d sec\n"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avmin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avsec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sp>
        <p:nvSpPr>
          <p:cNvPr id="92162" name="Rectangle 2"/>
          <p:cNvSpPr>
            <a:spLocks/>
          </p:cNvSpPr>
          <p:nvPr/>
        </p:nvSpPr>
        <p:spPr bwMode="auto">
          <a:xfrm>
            <a:off x="7150472" y="4588768"/>
            <a:ext cx="5616624" cy="288032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l"/>
            <a:r>
              <a:rPr lang="zh-TW" altLang="en-US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Helvetica" charset="0"/>
              </a:rPr>
              <a:t>程式要使用者輸入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Helvetica" charset="0"/>
              </a:rPr>
              <a:t> F1 </a:t>
            </a:r>
            <a:r>
              <a:rPr lang="zh-TW" altLang="en-US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Helvetica" charset="0"/>
              </a:rPr>
              <a:t>賽道單圈長度，然後輸入比賽圈數，接著輸入跑完整場比賽花了幾小時幾分幾秒。</a:t>
            </a:r>
            <a:r>
              <a:rPr lang="zh-TW" altLang="en-US" sz="2200" spc="3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Helvetica" charset="0"/>
              </a:rPr>
              <a:t>程式就會依照這些數據算</a:t>
            </a:r>
            <a:r>
              <a:rPr lang="zh-TW" altLang="en-US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Helvetica" charset="0"/>
              </a:rPr>
              <a:t>出平均速度，以及單圈平均時間。程式裡面包含了一些自動型別轉換以及強制型別轉換，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Helvetica" charset="0"/>
              </a:rPr>
              <a:t> </a:t>
            </a:r>
            <a:r>
              <a:rPr lang="zh-TW" altLang="en-US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Helvetica" charset="0"/>
              </a:rPr>
              <a:t>也用到了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Helvetica" charset="0"/>
              </a:rPr>
              <a:t> 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0"/>
                <a:sym typeface="Courier New Bold" charset="0"/>
              </a:rPr>
              <a:t>%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Helvetica" charset="0"/>
              </a:rPr>
              <a:t> (modulus) </a:t>
            </a:r>
            <a:r>
              <a:rPr lang="zh-TW" altLang="en-US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Helvetica" charset="0"/>
              </a:rPr>
              <a:t>運算。其餘的算式意義應該都很明確，大家可以用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Helvetica" charset="0"/>
              </a:rPr>
              <a:t> debugger </a:t>
            </a:r>
            <a:r>
              <a:rPr lang="zh-TW" altLang="en-US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Helvetica" charset="0"/>
              </a:rPr>
              <a:t>逐行檢查每個變數算出來的值是否正確。</a:t>
            </a:r>
          </a:p>
        </p:txBody>
      </p:sp>
      <p:sp>
        <p:nvSpPr>
          <p:cNvPr id="92163" name="Text Box 8"/>
          <p:cNvSpPr txBox="1">
            <a:spLocks noChangeArrowheads="1"/>
          </p:cNvSpPr>
          <p:nvPr/>
        </p:nvSpPr>
        <p:spPr bwMode="auto">
          <a:xfrm>
            <a:off x="5997575" y="484188"/>
            <a:ext cx="6833722" cy="2308324"/>
          </a:xfrm>
          <a:prstGeom prst="rect">
            <a:avLst/>
          </a:prstGeom>
          <a:noFill/>
          <a:ln w="9525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9pPr>
          </a:lstStyle>
          <a:p>
            <a:pPr algn="l"/>
            <a:r>
              <a:rPr kumimoji="0" lang="en-US" altLang="zh-TW" sz="1800" b="1" dirty="0">
                <a:latin typeface="Courier New" charset="0"/>
                <a:ea typeface="微軟正黑體" charset="0"/>
                <a:cs typeface="微軟正黑體" charset="0"/>
              </a:rPr>
              <a:t>Please enter the length of the track (km): </a:t>
            </a:r>
            <a:r>
              <a:rPr kumimoji="0" lang="en-US" altLang="zh-TW" sz="1800" b="1" u="sng" dirty="0">
                <a:latin typeface="Courier New" charset="0"/>
                <a:ea typeface="微軟正黑體" charset="0"/>
                <a:cs typeface="微軟正黑體" charset="0"/>
              </a:rPr>
              <a:t>5.338</a:t>
            </a:r>
          </a:p>
          <a:p>
            <a:pPr algn="l"/>
            <a:r>
              <a:rPr kumimoji="0" lang="en-US" altLang="zh-TW" sz="1800" b="1" dirty="0">
                <a:latin typeface="Courier New" charset="0"/>
                <a:ea typeface="微軟正黑體" charset="0"/>
                <a:cs typeface="微軟正黑體" charset="0"/>
              </a:rPr>
              <a:t>Enter the number of laps for this GP: </a:t>
            </a:r>
            <a:r>
              <a:rPr kumimoji="0" lang="en-US" altLang="zh-TW" sz="1800" b="1" u="sng" dirty="0">
                <a:latin typeface="Courier New" charset="0"/>
                <a:ea typeface="微軟正黑體" charset="0"/>
                <a:cs typeface="微軟正黑體" charset="0"/>
              </a:rPr>
              <a:t>58</a:t>
            </a:r>
          </a:p>
          <a:p>
            <a:pPr algn="l"/>
            <a:r>
              <a:rPr kumimoji="0" lang="en-US" altLang="zh-TW" sz="1800" b="1" dirty="0" err="1">
                <a:latin typeface="Courier New" charset="0"/>
                <a:ea typeface="微軟正黑體" charset="0"/>
                <a:cs typeface="微軟正黑體" charset="0"/>
              </a:rPr>
              <a:t>Enger</a:t>
            </a:r>
            <a:r>
              <a:rPr kumimoji="0" lang="en-US" altLang="zh-TW" sz="1800" b="1" dirty="0">
                <a:latin typeface="Courier New" charset="0"/>
                <a:ea typeface="微軟正黑體" charset="0"/>
                <a:cs typeface="微軟正黑體" charset="0"/>
              </a:rPr>
              <a:t> the time in hours, minutes, and seconds.</a:t>
            </a:r>
          </a:p>
          <a:p>
            <a:pPr algn="l"/>
            <a:r>
              <a:rPr kumimoji="0" lang="en-US" altLang="zh-TW" sz="1800" b="1" dirty="0">
                <a:latin typeface="Courier New" charset="0"/>
                <a:ea typeface="微軟正黑體" charset="0"/>
                <a:cs typeface="微軟正黑體" charset="0"/>
              </a:rPr>
              <a:t>hours: </a:t>
            </a:r>
            <a:r>
              <a:rPr kumimoji="0" lang="en-US" altLang="zh-TW" sz="1800" b="1" u="sng" dirty="0">
                <a:latin typeface="Courier New" charset="0"/>
                <a:ea typeface="微軟正黑體" charset="0"/>
                <a:cs typeface="微軟正黑體" charset="0"/>
              </a:rPr>
              <a:t>1</a:t>
            </a:r>
          </a:p>
          <a:p>
            <a:pPr algn="l"/>
            <a:r>
              <a:rPr kumimoji="0" lang="en-US" altLang="zh-TW" sz="1800" b="1" dirty="0">
                <a:latin typeface="Courier New" charset="0"/>
                <a:ea typeface="微軟正黑體" charset="0"/>
                <a:cs typeface="微軟正黑體" charset="0"/>
              </a:rPr>
              <a:t>minutes: </a:t>
            </a:r>
            <a:r>
              <a:rPr kumimoji="0" lang="en-US" altLang="zh-TW" sz="1800" b="1" u="sng" dirty="0">
                <a:latin typeface="Courier New" charset="0"/>
                <a:ea typeface="微軟正黑體" charset="0"/>
                <a:cs typeface="微軟正黑體" charset="0"/>
              </a:rPr>
              <a:t>26</a:t>
            </a:r>
          </a:p>
          <a:p>
            <a:pPr algn="l"/>
            <a:r>
              <a:rPr kumimoji="0" lang="en-US" altLang="zh-TW" sz="1800" b="1" dirty="0">
                <a:latin typeface="Courier New" charset="0"/>
                <a:ea typeface="微軟正黑體" charset="0"/>
                <a:cs typeface="微軟正黑體" charset="0"/>
              </a:rPr>
              <a:t>seconds: </a:t>
            </a:r>
            <a:r>
              <a:rPr kumimoji="0" lang="en-US" altLang="zh-TW" sz="1800" b="1" u="sng" dirty="0">
                <a:latin typeface="Courier New" charset="0"/>
                <a:ea typeface="微軟正黑體" charset="0"/>
                <a:cs typeface="微軟正黑體" charset="0"/>
              </a:rPr>
              <a:t>42</a:t>
            </a:r>
          </a:p>
          <a:p>
            <a:pPr algn="l"/>
            <a:r>
              <a:rPr kumimoji="0" lang="en-US" altLang="zh-TW" sz="1800" b="1" dirty="0">
                <a:latin typeface="Courier New" charset="0"/>
                <a:ea typeface="微軟正黑體" charset="0"/>
                <a:cs typeface="微軟正黑體" charset="0"/>
              </a:rPr>
              <a:t>The average speed is 214.26 km/h</a:t>
            </a:r>
          </a:p>
          <a:p>
            <a:pPr algn="l"/>
            <a:r>
              <a:rPr kumimoji="0" lang="en-US" altLang="zh-TW" sz="1800" b="1" dirty="0">
                <a:latin typeface="Courier New" charset="0"/>
                <a:ea typeface="微軟正黑體" charset="0"/>
                <a:cs typeface="微軟正黑體" charset="0"/>
              </a:rPr>
              <a:t>The average time for one lap is 1 min 29 </a:t>
            </a:r>
            <a:r>
              <a:rPr kumimoji="0" lang="en-US" altLang="zh-TW" sz="1800" b="1" dirty="0" smtClean="0">
                <a:latin typeface="Courier New" charset="0"/>
                <a:ea typeface="微軟正黑體" charset="0"/>
                <a:cs typeface="微軟正黑體" charset="0"/>
              </a:rPr>
              <a:t>sec</a:t>
            </a:r>
            <a:endParaRPr kumimoji="0" lang="en-US" altLang="zh-TW" sz="1800" b="1" dirty="0">
              <a:latin typeface="Courier New" charset="0"/>
              <a:ea typeface="微軟正黑體" charset="0"/>
              <a:cs typeface="微軟正黑體" charset="0"/>
            </a:endParaRPr>
          </a:p>
        </p:txBody>
      </p:sp>
      <p:sp>
        <p:nvSpPr>
          <p:cNvPr id="92164" name="Text Box 9"/>
          <p:cNvSpPr txBox="1">
            <a:spLocks noChangeArrowheads="1"/>
          </p:cNvSpPr>
          <p:nvPr/>
        </p:nvSpPr>
        <p:spPr bwMode="auto">
          <a:xfrm>
            <a:off x="5358498" y="123825"/>
            <a:ext cx="14670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charset="0"/>
                <a:ea typeface="Heiti TC Light" charset="0"/>
                <a:cs typeface="Heiti TC Light" charset="0"/>
                <a:sym typeface="Gill Sans" charset="0"/>
              </a:defRPr>
            </a:lvl9pPr>
          </a:lstStyle>
          <a:p>
            <a:r>
              <a:rPr kumimoji="0" lang="zh-TW" altLang="en-US" sz="2000" dirty="0">
                <a:ea typeface="微軟正黑體" charset="0"/>
                <a:cs typeface="微軟正黑體" charset="0"/>
              </a:rPr>
              <a:t>輸入輸出：</a:t>
            </a:r>
          </a:p>
        </p:txBody>
      </p:sp>
      <p:sp>
        <p:nvSpPr>
          <p:cNvPr id="6" name="矩形 5"/>
          <p:cNvSpPr/>
          <p:nvPr/>
        </p:nvSpPr>
        <p:spPr>
          <a:xfrm>
            <a:off x="3910786" y="8981256"/>
            <a:ext cx="121058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1-10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7286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270000" y="1562100"/>
            <a:ext cx="10464800" cy="7635180"/>
          </a:xfrm>
        </p:spPr>
        <p:txBody>
          <a:bodyPr/>
          <a:lstStyle/>
          <a:p>
            <a:pPr marL="889000" eaLnBrk="1" hangingPunct="1"/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#define SPEED 0.083</a:t>
            </a:r>
            <a:endParaRPr kumimoji="0"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Medium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這一行的作用是告訴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 preprocessor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要在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compile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之前，先把程式碼裡面出現的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SPEED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字眼都取代成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0.083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它的主要功能是為了寫程式方便，因為你的程式可能會在許多地方用到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0.083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這個數據來做計算，為了避免打錯或是忘記，可以把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0.083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取名作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SPEED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，程式裡只要直接使用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SPEED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就可以，等到要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compile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的時候，會有前處理的動作先幫你把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SPEED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都換成實際上需要的數值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0.083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還有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一個方便的地方是當你想要更改數據，譬如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0.083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改成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0.082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，你只需要改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#define SPEED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0.082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這個地方，其餘的程式碼都不需要更改。假如你不是用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#define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而是直接把數字寫死，你就要自己找出每個出現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0.083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的地方，然後把它改成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0.082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，這樣做不但麻煩而且容易出錯。所以當你的程式用到某些常數時，最好不要直接使用常數的數值，而應該替它取個代名詞</a:t>
            </a:r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1270000"/>
          </a:xfrm>
        </p:spPr>
        <p:txBody>
          <a:bodyPr/>
          <a:lstStyle/>
          <a:p>
            <a:pPr eaLnBrk="1" hangingPunct="1"/>
            <a:r>
              <a:rPr kumimoji="0" lang="en-US" altLang="zh-TW" sz="5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Constants and the C Preprocessor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909638" y="5164832"/>
            <a:ext cx="11353800" cy="3902968"/>
          </a:xfrm>
        </p:spPr>
        <p:txBody>
          <a:bodyPr/>
          <a:lstStyle/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執行結果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/>
            </a:r>
            <a:b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Number of bits in the mantissa of a float: 24</a:t>
            </a:r>
            <a:b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Minimum number of significant decimal digits for a float: 6</a:t>
            </a:r>
            <a:b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Minimum value for a positive float retaining full precision: 1.175494e-38</a:t>
            </a:r>
            <a:b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Maximum value for a positive float: 3.402823e+38</a:t>
            </a:r>
            <a:b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Difference between 1.00 and the least float value greater than 1.00: 1.192093e-07</a:t>
            </a:r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381000" y="660400"/>
            <a:ext cx="12242800" cy="593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0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0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0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0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0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0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float.h</a:t>
            </a:r>
            <a:r>
              <a:rPr lang="en-US" altLang="zh-TW" sz="20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0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0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0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0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/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/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0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"Number of bits in the mantissa of a float: %d\n"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FLT_MANT_DIG);</a:t>
            </a:r>
          </a:p>
          <a:p>
            <a:pPr algn="l"/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0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"Minimum number of significant decimal digits for a float: %d\n"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FLT_DIG);</a:t>
            </a:r>
          </a:p>
          <a:p>
            <a:pPr algn="l"/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0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"Minimum value for a positive float retaining full precision: %e\n"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FLT_MIN);</a:t>
            </a:r>
          </a:p>
          <a:p>
            <a:pPr algn="l"/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0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"Maximum value for a positive float: %e\n"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FLT_MAX);</a:t>
            </a:r>
          </a:p>
          <a:p>
            <a:pPr algn="l"/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0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"Difference between 1.00 and the least float value greater than 1.00: %e\n"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</a:t>
            </a:r>
          </a:p>
          <a:p>
            <a:pPr algn="l"/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  FLT_EPSILON);</a:t>
            </a:r>
          </a:p>
          <a:p>
            <a:pPr algn="l"/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0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0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  <a:p>
            <a:endParaRPr lang="zh-TW" altLang="en-US" sz="20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27746" y="4660776"/>
            <a:ext cx="1191545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1-11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270000" y="1854200"/>
            <a:ext cx="10464800" cy="6629400"/>
          </a:xfrm>
        </p:spPr>
        <p:txBody>
          <a:bodyPr/>
          <a:lstStyle/>
          <a:p>
            <a:pPr marL="889000" eaLnBrk="1" hangingPunct="1"/>
            <a:r>
              <a:rPr kumimoji="0"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(control-string, item1, item2, ...);</a:t>
            </a: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其中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control-string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是用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"..."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指定的那一連串輸出格式設定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item1, item2,...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就是你要輸出的資料。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要特別小心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control-string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裡的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%d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之類的輸出格式設定要和後面傳入的參數有一對一的對應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譬如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(“: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%d ft %d </a:t>
            </a:r>
            <a:r>
              <a:rPr kumimoji="0"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in\n”, “</a:t>
            </a:r>
            <a:r>
              <a:rPr kumimoji="0" lang="en-US" altLang="zh-TW" sz="3200" dirty="0" err="1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LeBron</a:t>
            </a:r>
            <a:r>
              <a:rPr kumimoji="0"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James”,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foot, inches</a:t>
            </a:r>
            <a:r>
              <a:rPr kumimoji="0"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);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是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錯的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因為少了一個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%s,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對應到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"</a:t>
            </a:r>
            <a:r>
              <a:rPr kumimoji="0"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LeBron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James"</a:t>
            </a:r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1511300"/>
          </a:xfrm>
        </p:spPr>
        <p:txBody>
          <a:bodyPr/>
          <a:lstStyle/>
          <a:p>
            <a:pPr eaLnBrk="1" hangingPunct="1"/>
            <a:r>
              <a:rPr kumimoji="0" lang="en-US" altLang="zh-TW" sz="7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prinf</a:t>
            </a:r>
            <a:r>
              <a:rPr kumimoji="0" lang="en-US" altLang="zh-TW" sz="7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zh-TW" altLang="en-US" sz="7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格式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5206256" y="556320"/>
            <a:ext cx="7296448" cy="8352928"/>
          </a:xfrm>
        </p:spPr>
        <p:txBody>
          <a:bodyPr/>
          <a:lstStyle/>
          <a:p>
            <a:pPr marL="889000" eaLnBrk="1" hangingPunct="1"/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%4.2f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：表示最少要顯示出四個字元寬度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而小數點後要顯示二位小數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%3.1f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：最少要顯示出三個字元寬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而小數點後只顯示一位小數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這麼做會使得原本的數字被自動四捨五入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%10.3f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：最少要顯示十個字元寬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不足的會補空白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然後小數點後顯示三位小數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%-10.3f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：意思和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%10.3f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相同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差別只是變成要向左靠齊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這是加了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–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號的效果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</a:t>
            </a:r>
          </a:p>
          <a:p>
            <a:pPr marL="889000" eaLnBrk="1" hangingPunct="1"/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%12.3e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：總寬度是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12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個字元，不足的也會用空白來填補，由於小數點後只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顯示三位小數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所以無法完整表示成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1.49999e+003,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會被自動四捨五入成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1.500e+003</a:t>
            </a:r>
          </a:p>
          <a:p>
            <a:pPr marL="889000" eaLnBrk="1" hangingPunct="1"/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%+4.2f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多了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+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號只是表示要在數字前面顯示正負號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因為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1499.99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是個正數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所以就多顯示了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+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號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%010.2f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意思是要顯示最少十個字元寬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不足個地方不再是用空白來補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而是改成補零</a:t>
            </a:r>
          </a:p>
        </p:txBody>
      </p:sp>
      <p:sp>
        <p:nvSpPr>
          <p:cNvPr id="65538" name="Rectangle 2"/>
          <p:cNvSpPr>
            <a:spLocks/>
          </p:cNvSpPr>
          <p:nvPr/>
        </p:nvSpPr>
        <p:spPr bwMode="auto">
          <a:xfrm>
            <a:off x="165696" y="348605"/>
            <a:ext cx="4866717" cy="4847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altLang="zh-TW" sz="21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1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1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1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1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#define ENGINE 1499.99</a:t>
            </a:r>
            <a:endParaRPr lang="en-US" altLang="zh-TW" sz="21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1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"~%f~\n"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ENGINE);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"~%e~\n"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ENGINE);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"~%4.2f~\n"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ENGINE);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"~%3.1f~\n"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ENGINE);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"~%10.3f~\n"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ENGINE);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"~%-10.3f~\n"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ENGINE);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"~%12.3e~\n"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ENGINE);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"~%+4.2f~\n"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ENGINE);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"~%010.2f~\n"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ENGINE);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sp>
        <p:nvSpPr>
          <p:cNvPr id="65539" name="Rectangle 3"/>
          <p:cNvSpPr>
            <a:spLocks/>
          </p:cNvSpPr>
          <p:nvPr/>
        </p:nvSpPr>
        <p:spPr bwMode="auto">
          <a:xfrm>
            <a:off x="1749872" y="5169947"/>
            <a:ext cx="2765181" cy="406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>輸出：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/>
            </a:r>
            <a:b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</a:b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/>
            </a:r>
            <a:b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</a:b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>~1499.990000~</a:t>
            </a:r>
          </a:p>
          <a:p>
            <a:pPr algn="l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>~1.499990e+003~</a:t>
            </a:r>
          </a:p>
          <a:p>
            <a:pPr algn="l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>~1499.99~</a:t>
            </a:r>
          </a:p>
          <a:p>
            <a:pPr algn="l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>~1500.0~</a:t>
            </a:r>
          </a:p>
          <a:p>
            <a:pPr algn="l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>~  1499.990~</a:t>
            </a:r>
          </a:p>
          <a:p>
            <a:pPr algn="l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>~1499.990  ~</a:t>
            </a:r>
          </a:p>
          <a:p>
            <a:pPr algn="l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>~  1.500e+003~</a:t>
            </a:r>
          </a:p>
          <a:p>
            <a:pPr algn="l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>~+1499.99~</a:t>
            </a:r>
          </a:p>
          <a:p>
            <a:pPr algn="l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  <a:sym typeface="Courier New Bold" charset="0"/>
              </a:rPr>
              <a:t>~0001499.99~</a:t>
            </a:r>
          </a:p>
        </p:txBody>
      </p:sp>
      <p:sp>
        <p:nvSpPr>
          <p:cNvPr id="5" name="矩形 4"/>
          <p:cNvSpPr/>
          <p:nvPr/>
        </p:nvSpPr>
        <p:spPr>
          <a:xfrm>
            <a:off x="3262040" y="4804286"/>
            <a:ext cx="121058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1-12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885776" y="556320"/>
            <a:ext cx="11737304" cy="8674100"/>
          </a:xfrm>
        </p:spPr>
        <p:txBody>
          <a:bodyPr/>
          <a:lstStyle/>
          <a:p>
            <a:pPr marL="889000" eaLnBrk="1" hangingPunct="1">
              <a:spcBef>
                <a:spcPts val="3000"/>
              </a:spcBef>
            </a:pP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電腦是用二進位表示法來儲存資料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它記錄的只是一堆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0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與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1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bits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/>
            </a:r>
            <a:b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譬如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76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這個十進位數字用二進位表示是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01001100</a:t>
            </a:r>
          </a:p>
          <a:p>
            <a:pPr marL="889000" eaLnBrk="1" hangingPunct="1">
              <a:spcBef>
                <a:spcPts val="3000"/>
              </a:spcBef>
            </a:pP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假設某個變數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x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它對應到的記憶體空間裡儲存著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01001100,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這樣的資料究竟代表什麼意義要看我們怎麼解讀這些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bits</a:t>
            </a:r>
          </a:p>
          <a:p>
            <a:pPr marL="889000" eaLnBrk="1" hangingPunct="1">
              <a:spcBef>
                <a:spcPts val="3000"/>
              </a:spcBef>
            </a:pP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假設我們想要把它當作十進位整數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它的值就等於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76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。而當我們想把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76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這個數字顯示到螢幕上時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如果使用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%d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格式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做的事情就變成要先顯示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「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7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」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這個字元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然後再顯示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「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6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」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這個字元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 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「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7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」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ASCII code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是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55, 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「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6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」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是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54)</a:t>
            </a:r>
          </a:p>
          <a:p>
            <a:pPr marL="889000" eaLnBrk="1" hangingPunct="1">
              <a:spcBef>
                <a:spcPts val="3000"/>
              </a:spcBef>
            </a:pP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如果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我們把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01001100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當作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ASCII code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來解讀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使用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%c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把它顯示出來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它就變成對應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到「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L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」這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個字元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>
              <a:spcBef>
                <a:spcPts val="3000"/>
              </a:spcBef>
            </a:pP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這些差異其實不難理解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雖然乍看之下很容易讓人混淆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但只要掌握一個原則就是二進位表示是資料真正的本質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至於如何解讀這些二進位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bits,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就要看我們的需求和意圖來決定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>
              <a:spcBef>
                <a:spcPts val="3000"/>
              </a:spcBef>
            </a:pP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簡單地說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(“%d”, x);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的動作就是把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x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的值當成十進位整數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然後把每個位數取出來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一個個用字元顯示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到螢幕上。至於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(“%c”, x);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的動作則是把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x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當成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ASCII code,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把這個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ASCII code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對應的字元顯示到螢幕上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1181100"/>
          </a:xfrm>
        </p:spPr>
        <p:txBody>
          <a:bodyPr/>
          <a:lstStyle/>
          <a:p>
            <a:pPr eaLnBrk="1" hangingPunct="1"/>
            <a:r>
              <a:rPr kumimoji="0" lang="en-US" altLang="zh-TW" sz="720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scanf()</a:t>
            </a:r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70000" y="1689100"/>
            <a:ext cx="10464800" cy="7436172"/>
          </a:xfrm>
        </p:spPr>
        <p:txBody>
          <a:bodyPr/>
          <a:lstStyle/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我們要輸入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2008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這個數目到電腦裡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我們會依次按下鍵盤上的數字鍵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2 0 0 8,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每個鍵送出的資訊相當於一個字元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所以我們有四個字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元「</a:t>
            </a:r>
            <a:r>
              <a:rPr kumimoji="0"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2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」「</a:t>
            </a:r>
            <a:r>
              <a:rPr kumimoji="0"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」「</a:t>
            </a:r>
            <a:r>
              <a:rPr kumimoji="0"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0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」「</a:t>
            </a:r>
            <a:r>
              <a:rPr kumimoji="0"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8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」。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如果我們想要的是把這四個數字合在一起看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當作是一個數值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兩千零八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這時候就需要用到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幫我們把這一連串字元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轉成一個整數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同時再把轉換的結果存進某個變數裡面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譬如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/>
            </a:r>
            <a:b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("%d", &amp;x);</a:t>
            </a:r>
          </a:p>
          <a:p>
            <a:pPr marL="889000" eaLnBrk="1" hangingPunct="1"/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輸入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的資料要存入一般的變數中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變數前面要加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&amp;</a:t>
            </a:r>
          </a:p>
          <a:p>
            <a:pPr marL="889000" eaLnBrk="1" hangingPunct="1"/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輸入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的是字串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要存入字元陣列中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陣列名稱前不需要加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&amp; </a:t>
            </a:r>
          </a:p>
          <a:p>
            <a:pPr marL="1333500" lvl="1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所以如果是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char name[10];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就只要</a:t>
            </a:r>
            <a:r>
              <a:rPr kumimoji="0"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("%s", name);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4414168" y="340296"/>
            <a:ext cx="8064896" cy="8803704"/>
          </a:xfrm>
        </p:spPr>
        <p:txBody>
          <a:bodyPr/>
          <a:lstStyle/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如果先輸入一堆空白字元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例如按下空白鍵或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Enter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鍵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然後再輸入一個數字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接著再打一堆空白字元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然後輸入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一串字母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得到的結果會像下面這樣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加底線的是使用者輸入的資料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):</a:t>
            </a:r>
          </a:p>
          <a:p>
            <a:pPr marL="889000" eaLnBrk="1" hangingPunct="1"/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假如沒有輸入數字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而是直接先輸入一串字母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則會得到類似下面的結果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:</a:t>
            </a:r>
            <a:b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/>
            </a:r>
            <a:b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假如輸入數字但是緊接著又輸入字母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則會得到出四個字元寬度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而小數點後要顯示兩位小數。</a:t>
            </a:r>
          </a:p>
        </p:txBody>
      </p:sp>
      <p:sp>
        <p:nvSpPr>
          <p:cNvPr id="68610" name="Rectangle 2"/>
          <p:cNvSpPr>
            <a:spLocks/>
          </p:cNvSpPr>
          <p:nvPr/>
        </p:nvSpPr>
        <p:spPr bwMode="auto">
          <a:xfrm>
            <a:off x="309712" y="2644552"/>
            <a:ext cx="4656832" cy="359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char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name[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];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x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-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scanf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"%d"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&amp;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x);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scanf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"%s"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name);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"x = %d\n"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x);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"name: '%s'\n"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name);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sp>
        <p:nvSpPr>
          <p:cNvPr id="68611" name="Rectangle 3"/>
          <p:cNvSpPr>
            <a:spLocks/>
          </p:cNvSpPr>
          <p:nvPr/>
        </p:nvSpPr>
        <p:spPr bwMode="auto">
          <a:xfrm>
            <a:off x="5494288" y="3220616"/>
            <a:ext cx="40005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endParaRPr lang="en-US" altLang="zh-TW" sz="2100" dirty="0">
              <a:solidFill>
                <a:schemeClr val="tx1"/>
              </a:solidFill>
              <a:latin typeface="Helvetica" charset="0"/>
              <a:ea typeface="新細明體" charset="0"/>
              <a:cs typeface="新細明體" charset="0"/>
              <a:sym typeface="Helvetica" charset="0"/>
            </a:endParaRPr>
          </a:p>
          <a:p>
            <a:pPr algn="l"/>
            <a:r>
              <a:rPr lang="en-US" altLang="zh-TW" sz="2100" u="sng" dirty="0">
                <a:solidFill>
                  <a:schemeClr val="tx1"/>
                </a:solidFill>
                <a:latin typeface="Courier New Bold" charset="0"/>
                <a:ea typeface="新細明體" charset="0"/>
                <a:cs typeface="新細明體" charset="0"/>
                <a:sym typeface="Courier New Bold" charset="0"/>
              </a:rPr>
              <a:t>         89    James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urier New Bold" charset="0"/>
                <a:ea typeface="新細明體" charset="0"/>
                <a:cs typeface="新細明體" charset="0"/>
                <a:sym typeface="Courier New Bold" charset="0"/>
              </a:rPr>
              <a:t>x = 89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urier New Bold" charset="0"/>
                <a:ea typeface="新細明體" charset="0"/>
                <a:cs typeface="新細明體" charset="0"/>
                <a:sym typeface="Courier New Bold" charset="0"/>
              </a:rPr>
              <a:t>name: 'James'</a:t>
            </a:r>
          </a:p>
        </p:txBody>
      </p:sp>
      <p:sp>
        <p:nvSpPr>
          <p:cNvPr id="68612" name="Rectangle 4"/>
          <p:cNvSpPr>
            <a:spLocks/>
          </p:cNvSpPr>
          <p:nvPr/>
        </p:nvSpPr>
        <p:spPr bwMode="auto">
          <a:xfrm>
            <a:off x="6214368" y="5308848"/>
            <a:ext cx="2490788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algn="l"/>
            <a:endParaRPr lang="en-US" altLang="zh-TW" sz="2100" dirty="0">
              <a:solidFill>
                <a:schemeClr val="tx1"/>
              </a:solidFill>
              <a:latin typeface="Helvetica" charset="0"/>
              <a:ea typeface="新細明體" charset="0"/>
              <a:cs typeface="新細明體" charset="0"/>
              <a:sym typeface="Helvetica" charset="0"/>
            </a:endParaRPr>
          </a:p>
          <a:p>
            <a:pPr algn="l"/>
            <a:r>
              <a:rPr lang="en-US" altLang="zh-TW" sz="2100" u="sng" dirty="0">
                <a:solidFill>
                  <a:schemeClr val="tx1"/>
                </a:solidFill>
                <a:latin typeface="Courier New Bold" charset="0"/>
                <a:ea typeface="新細明體" charset="0"/>
                <a:cs typeface="新細明體" charset="0"/>
                <a:sym typeface="Courier New Bold" charset="0"/>
              </a:rPr>
              <a:t>Andy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urier New Bold" charset="0"/>
                <a:ea typeface="新細明體" charset="0"/>
                <a:cs typeface="新細明體" charset="0"/>
                <a:sym typeface="Courier New Bold" charset="0"/>
              </a:rPr>
              <a:t>x = -1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urier New Bold" charset="0"/>
                <a:ea typeface="新細明體" charset="0"/>
                <a:cs typeface="新細明體" charset="0"/>
                <a:sym typeface="Courier New Bold" charset="0"/>
              </a:rPr>
              <a:t>name: 'Andy'</a:t>
            </a:r>
          </a:p>
          <a:p>
            <a:endParaRPr lang="zh-TW" altLang="en-US" sz="2100" dirty="0">
              <a:solidFill>
                <a:schemeClr val="tx1"/>
              </a:solidFill>
              <a:ea typeface="新細明體" charset="0"/>
              <a:cs typeface="新細明體" charset="0"/>
            </a:endParaRPr>
          </a:p>
        </p:txBody>
      </p:sp>
      <p:sp>
        <p:nvSpPr>
          <p:cNvPr id="68613" name="Rectangle 5"/>
          <p:cNvSpPr>
            <a:spLocks/>
          </p:cNvSpPr>
          <p:nvPr/>
        </p:nvSpPr>
        <p:spPr bwMode="auto">
          <a:xfrm>
            <a:off x="6070352" y="8045152"/>
            <a:ext cx="2811463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marL="457200" algn="l"/>
            <a:r>
              <a:rPr lang="en-US" altLang="zh-TW" sz="2100" u="sng" dirty="0">
                <a:solidFill>
                  <a:schemeClr val="tx1"/>
                </a:solidFill>
                <a:latin typeface="Courier New Bold" charset="0"/>
                <a:ea typeface="新細明體" charset="0"/>
                <a:cs typeface="新細明體" charset="0"/>
                <a:sym typeface="Courier New Bold" charset="0"/>
              </a:rPr>
              <a:t>789Alex13 R</a:t>
            </a:r>
          </a:p>
          <a:p>
            <a:pPr marL="457200" algn="l"/>
            <a:r>
              <a:rPr lang="en-US" altLang="zh-TW" sz="2100" dirty="0">
                <a:solidFill>
                  <a:schemeClr val="tx1"/>
                </a:solidFill>
                <a:latin typeface="Courier New Bold" charset="0"/>
                <a:ea typeface="新細明體" charset="0"/>
                <a:cs typeface="新細明體" charset="0"/>
                <a:sym typeface="Courier New Bold" charset="0"/>
              </a:rPr>
              <a:t>x = 789</a:t>
            </a:r>
          </a:p>
          <a:p>
            <a:pPr marL="457200" algn="l"/>
            <a:r>
              <a:rPr lang="en-US" altLang="zh-TW" sz="2100" dirty="0">
                <a:solidFill>
                  <a:schemeClr val="tx1"/>
                </a:solidFill>
                <a:latin typeface="Courier New Bold" charset="0"/>
                <a:ea typeface="新細明體" charset="0"/>
                <a:cs typeface="新細明體" charset="0"/>
                <a:sym typeface="Courier New Bold" charset="0"/>
              </a:rPr>
              <a:t>name: 'Alex13'</a:t>
            </a:r>
          </a:p>
          <a:p>
            <a:pPr marL="457200"/>
            <a:endParaRPr lang="zh-TW" altLang="en-US" sz="2100" dirty="0">
              <a:solidFill>
                <a:schemeClr val="tx1"/>
              </a:solidFill>
              <a:ea typeface="新細明體" charset="0"/>
              <a:cs typeface="新細明體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81920" y="6261259"/>
            <a:ext cx="121058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1-13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885776" y="700336"/>
            <a:ext cx="11161240" cy="8303964"/>
          </a:xfrm>
        </p:spPr>
        <p:txBody>
          <a:bodyPr/>
          <a:lstStyle/>
          <a:p>
            <a:pPr marL="889000" eaLnBrk="1" hangingPunct="1">
              <a:spcBef>
                <a:spcPts val="3600"/>
              </a:spcBef>
            </a:pPr>
            <a:r>
              <a:rPr kumimoji="0"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整個運作的原則其實很單純。對於</a:t>
            </a:r>
            <a:r>
              <a:rPr kumimoji="0"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%d</a:t>
            </a:r>
            <a:r>
              <a:rPr kumimoji="0" lang="zh-TW" altLang="en-US" sz="36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來說，</a:t>
            </a:r>
            <a:r>
              <a:rPr kumimoji="0" lang="en-US" altLang="zh-TW" sz="3600" dirty="0" err="1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</a:p>
          <a:p>
            <a:pPr marL="1333500" lvl="1" eaLnBrk="1" hangingPunct="1">
              <a:spcBef>
                <a:spcPts val="3600"/>
              </a:spcBef>
            </a:pP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會忽略一開始輸入的空白字元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期待第一個數字出現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>
              <a:spcBef>
                <a:spcPts val="3600"/>
              </a:spcBef>
            </a:pP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開始讀取數字，一直到出現非數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字的字元就停止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>
              <a:spcBef>
                <a:spcPts val="3600"/>
              </a:spcBef>
            </a:pP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把數字所表示的十進位數值存到變數裡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>
              <a:spcBef>
                <a:spcPts val="3600"/>
              </a:spcBef>
            </a:pPr>
            <a:r>
              <a:rPr kumimoji="0"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對於</a:t>
            </a:r>
            <a:r>
              <a:rPr kumimoji="0"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%s </a:t>
            </a:r>
            <a:r>
              <a:rPr kumimoji="0"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來說</a:t>
            </a:r>
            <a:endParaRPr kumimoji="0"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>
              <a:spcBef>
                <a:spcPts val="3600"/>
              </a:spcBef>
            </a:pP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從第一個非空白字元開始讀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直到出現空白字元為止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>
              <a:spcBef>
                <a:spcPts val="3600"/>
              </a:spcBef>
            </a:pP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把這中間所有字元當作一個字串存入字元陣列裡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>
              <a:spcBef>
                <a:spcPts val="3600"/>
              </a:spcBef>
            </a:pP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還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會在最後多加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一個「</a:t>
            </a:r>
            <a:r>
              <a:rPr kumimoji="0"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\0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」放入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字元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陣列中，表示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字串的結尾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957784" y="5020816"/>
            <a:ext cx="11305256" cy="4392488"/>
          </a:xfrm>
        </p:spPr>
        <p:txBody>
          <a:bodyPr/>
          <a:lstStyle/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先讓使用者輸入想要顯示的浮點數的寬度和精確度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小數點後的位數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，把這兩個數據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存在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width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和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precision 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中，例如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使用者輸入的分別是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8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和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3</a:t>
            </a:r>
          </a:p>
          <a:p>
            <a:pPr marL="889000" eaLnBrk="1" hangingPunct="1"/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在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%*.*f 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的方式，按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照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width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和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precision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指定的格式來顯示浮點數。所以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%*.*f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裡的兩個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*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號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會被取代成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%8.3f,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所以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rate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這個變數就會顯示成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' 123.450'</a:t>
            </a: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這樣的功能提供了更大的彈性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讓我們的程式可以動態地決定如何顯示資料</a:t>
            </a:r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1397000"/>
          </a:xfrm>
        </p:spPr>
        <p:txBody>
          <a:bodyPr/>
          <a:lstStyle/>
          <a:p>
            <a:pPr eaLnBrk="1" hangingPunct="1"/>
            <a:r>
              <a:rPr kumimoji="0" lang="en-US" altLang="zh-TW" sz="7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%* - </a:t>
            </a:r>
            <a:r>
              <a:rPr kumimoji="0" lang="en-US" altLang="zh-TW" sz="7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7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</a:p>
        </p:txBody>
      </p:sp>
      <p:sp>
        <p:nvSpPr>
          <p:cNvPr id="70659" name="Rectangle 3"/>
          <p:cNvSpPr>
            <a:spLocks/>
          </p:cNvSpPr>
          <p:nvPr/>
        </p:nvSpPr>
        <p:spPr bwMode="auto">
          <a:xfrm>
            <a:off x="1461840" y="1399505"/>
            <a:ext cx="900567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width, precision;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double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rate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123.45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"Enter a width and a precision: 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scanf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"%d %d"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&amp;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width,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&amp;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precision);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"rate: '%*.*f'\n"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width, precision, rate);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6502400" y="4444752"/>
            <a:ext cx="121058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1-14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Operator, expression and Statement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1"/>
          <p:cNvSpPr>
            <a:spLocks noGrp="1" noChangeArrowheads="1"/>
          </p:cNvSpPr>
          <p:nvPr>
            <p:ph type="title"/>
          </p:nvPr>
        </p:nvSpPr>
        <p:spPr>
          <a:xfrm>
            <a:off x="1101800" y="772344"/>
            <a:ext cx="10464800" cy="1798340"/>
          </a:xfrm>
        </p:spPr>
        <p:txBody>
          <a:bodyPr/>
          <a:lstStyle/>
          <a:p>
            <a:pPr eaLnBrk="1" hangingPunct="1"/>
            <a:r>
              <a:rPr kumimoji="0"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Expressions &amp;  Statements</a:t>
            </a:r>
            <a:endParaRPr kumimoji="0" lang="en-US" altLang="zh-TW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Medium" charset="0"/>
            </a:endParaRPr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18072" y="2921484"/>
            <a:ext cx="10464800" cy="5256584"/>
          </a:xfrm>
        </p:spPr>
        <p:txBody>
          <a:bodyPr/>
          <a:lstStyle/>
          <a:p>
            <a:pPr marL="889000" algn="l" eaLnBrk="1" hangingPunct="1"/>
            <a:r>
              <a:rPr kumimoji="0"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C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語言語法裡兩個常用的名詞：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expression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與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statement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。底下的運算式都是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expression</a:t>
            </a:r>
          </a:p>
          <a:p>
            <a:pPr marL="889000" algn="l" eaLnBrk="1" hangingPunct="1"/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  <a:sym typeface="Helvetica" charset="0"/>
            </a:endParaRPr>
          </a:p>
          <a:p>
            <a:pPr marL="889000" algn="l" eaLnBrk="1" hangingPunct="1"/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  <a:sym typeface="Helvetica" charset="0"/>
            </a:endParaRPr>
          </a:p>
          <a:p>
            <a:pPr marL="889000" algn="l" eaLnBrk="1" hangingPunct="1"/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algn="l" eaLnBrk="1" hangingPunct="1"/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要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記得的觀念是每個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expression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都代表某個值，譬如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b = 1 + 2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的值是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3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，甚至條件判斷式也有值，譬如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5 &gt; 3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的值就是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1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裡面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1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代表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true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，而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0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代表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false)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。至於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statement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簡單的說就是以</a:t>
            </a:r>
            <a:r>
              <a:rPr kumimoji="0"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分號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結尾的句子，譬如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x = 3 * 4;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</a:t>
            </a:r>
            <a:endParaRPr kumimoji="0"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algn="l" eaLnBrk="1" hangingPunct="1"/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稍微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知道這兩個名詞的意思，往後我們提到的時候就會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有概念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，解釋起來也會比較方便。</a:t>
            </a:r>
          </a:p>
        </p:txBody>
      </p:sp>
      <p:sp>
        <p:nvSpPr>
          <p:cNvPr id="88067" name="Rectangle 3"/>
          <p:cNvSpPr>
            <a:spLocks/>
          </p:cNvSpPr>
          <p:nvPr/>
        </p:nvSpPr>
        <p:spPr bwMode="auto">
          <a:xfrm>
            <a:off x="5134248" y="4156720"/>
            <a:ext cx="2304256" cy="1008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marL="457200" algn="l"/>
            <a:r>
              <a:rPr lang="en-US" altLang="zh-TW" sz="2000" dirty="0">
                <a:solidFill>
                  <a:schemeClr val="tx1"/>
                </a:solidFill>
                <a:latin typeface="Courier New Bold" charset="0"/>
                <a:ea typeface="新細明體" charset="0"/>
                <a:cs typeface="新細明體" charset="0"/>
                <a:sym typeface="Courier New Bold" charset="0"/>
              </a:rPr>
              <a:t>a + 5</a:t>
            </a:r>
          </a:p>
          <a:p>
            <a:pPr marL="457200" algn="l"/>
            <a:r>
              <a:rPr lang="en-US" altLang="zh-TW" sz="2000" dirty="0">
                <a:solidFill>
                  <a:schemeClr val="tx1"/>
                </a:solidFill>
                <a:latin typeface="Courier New Bold" charset="0"/>
                <a:ea typeface="新細明體" charset="0"/>
                <a:cs typeface="新細明體" charset="0"/>
                <a:sym typeface="Courier New Bold" charset="0"/>
              </a:rPr>
              <a:t>x = 3 * 4</a:t>
            </a:r>
          </a:p>
          <a:p>
            <a:pPr marL="457200" algn="l"/>
            <a:r>
              <a:rPr lang="en-US" altLang="zh-TW" sz="2000" dirty="0">
                <a:solidFill>
                  <a:schemeClr val="tx1"/>
                </a:solidFill>
                <a:latin typeface="Courier New Bold" charset="0"/>
                <a:ea typeface="新細明體" charset="0"/>
                <a:cs typeface="新細明體" charset="0"/>
                <a:sym typeface="Courier New Bold" charset="0"/>
              </a:rPr>
              <a:t>k &gt; 3</a:t>
            </a:r>
          </a:p>
        </p:txBody>
      </p:sp>
    </p:spTree>
    <p:extLst>
      <p:ext uri="{BB962C8B-B14F-4D97-AF65-F5344CB8AC3E}">
        <p14:creationId xmlns:p14="http://schemas.microsoft.com/office/powerpoint/2010/main" val="4143819950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運算符號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Operators</a:t>
            </a:r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70000" y="2184400"/>
            <a:ext cx="10464800" cy="5715000"/>
          </a:xfrm>
        </p:spPr>
        <p:txBody>
          <a:bodyPr/>
          <a:lstStyle/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基本的運算符號大家其實都已經看過，包括加減乘除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 + - * /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，以及把值設定給變數時要用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 =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。其中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=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是最需要再特別解釋的符號。標準用法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像是把</a:t>
            </a:r>
            <a:r>
              <a:rPr kumimoji="0"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1000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設定給變數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count</a:t>
            </a:r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。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  <a:sym typeface="Helvetica" charset="0"/>
            </a:endParaRPr>
          </a:p>
          <a:p>
            <a:pPr marL="889000" eaLnBrk="1" hangingPunct="1"/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另外一種常用的情況是把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變數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count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的值加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1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之後在存回相同的變數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count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。</a:t>
            </a:r>
          </a:p>
        </p:txBody>
      </p:sp>
      <p:sp>
        <p:nvSpPr>
          <p:cNvPr id="78851" name="Rectangle 3"/>
          <p:cNvSpPr>
            <a:spLocks/>
          </p:cNvSpPr>
          <p:nvPr/>
        </p:nvSpPr>
        <p:spPr bwMode="auto">
          <a:xfrm>
            <a:off x="2253928" y="5179486"/>
            <a:ext cx="2208938" cy="23307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algn="l">
              <a:lnSpc>
                <a:spcPts val="1600"/>
              </a:lnSpc>
              <a:defRPr/>
            </a:pP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count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1000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</p:txBody>
      </p:sp>
      <p:sp>
        <p:nvSpPr>
          <p:cNvPr id="78852" name="Rectangle 4"/>
          <p:cNvSpPr>
            <a:spLocks/>
          </p:cNvSpPr>
          <p:nvPr/>
        </p:nvSpPr>
        <p:spPr bwMode="auto">
          <a:xfrm>
            <a:off x="2253928" y="7191896"/>
            <a:ext cx="3058530" cy="205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algn="l">
              <a:lnSpc>
                <a:spcPts val="1600"/>
              </a:lnSpc>
              <a:defRPr/>
            </a:pP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count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count </a:t>
            </a:r>
            <a:r>
              <a:rPr lang="en-US" altLang="zh-TW" sz="2400" b="1" dirty="0" smtClean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 </a:t>
            </a:r>
            <a:r>
              <a:rPr lang="en-US" altLang="zh-TW" sz="2400" dirty="0" smtClean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</p:txBody>
      </p:sp>
      <p:pic>
        <p:nvPicPr>
          <p:cNvPr id="788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7848600"/>
            <a:ext cx="6959600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4" name="Rectangle 6"/>
          <p:cNvSpPr>
            <a:spLocks/>
          </p:cNvSpPr>
          <p:nvPr/>
        </p:nvSpPr>
        <p:spPr bwMode="auto">
          <a:xfrm>
            <a:off x="1507232" y="8217584"/>
            <a:ext cx="215443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示意圖：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270000" y="7325072"/>
            <a:ext cx="10464800" cy="1958628"/>
          </a:xfrm>
        </p:spPr>
        <p:txBody>
          <a:bodyPr anchor="t"/>
          <a:lstStyle/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這個程式使用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%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符號來把秒數換算成幾分幾秒。另外還用了一個新的程式技巧，透過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while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迴圈讓使用者不斷輸入資料，當使用者輸入的資料小於或等於零，迴圈就停止。</a:t>
            </a:r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54100" y="25400"/>
            <a:ext cx="11645900" cy="1689100"/>
          </a:xfrm>
        </p:spPr>
        <p:txBody>
          <a:bodyPr/>
          <a:lstStyle/>
          <a:p>
            <a:pPr eaLnBrk="1" hangingPunct="1"/>
            <a:r>
              <a:rPr kumimoji="0"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求餘數要用</a:t>
            </a:r>
            <a:r>
              <a:rPr kumimoji="0"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 % </a:t>
            </a:r>
            <a:r>
              <a:rPr kumimoji="0"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符號</a:t>
            </a:r>
            <a:r>
              <a:rPr kumimoji="0"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 (Modulus Operator)</a:t>
            </a:r>
          </a:p>
        </p:txBody>
      </p:sp>
      <p:sp>
        <p:nvSpPr>
          <p:cNvPr id="82947" name="Rectangle 3"/>
          <p:cNvSpPr>
            <a:spLocks/>
          </p:cNvSpPr>
          <p:nvPr/>
        </p:nvSpPr>
        <p:spPr bwMode="auto">
          <a:xfrm>
            <a:off x="1677864" y="1564432"/>
            <a:ext cx="10225136" cy="5715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l">
              <a:defRPr/>
            </a:pPr>
            <a:r>
              <a:rPr lang="en-US" altLang="zh-TW" sz="18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18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18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#define SEC_PER_MIN 60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sec, min, left;</a:t>
            </a:r>
          </a:p>
          <a:p>
            <a:pPr algn="l">
              <a:defRPr/>
            </a:pP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"Convert seconds to minutes and seconds!\n"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"Enter the number of seconds (&lt;=0 to quit):\n"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scanf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"%d"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&amp;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sec);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while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(sec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 {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  min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sec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/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SEC_PER_MIN;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  left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sec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%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SEC_PER_MIN;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"%d seconds is %d minutes, %d seconds.\n"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sec, min, left);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"Enter next value (&lt;=0 to quit):\n"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scanf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"%d"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&amp;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sec);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}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18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"Done!\n"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18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18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>
              <a:defRPr/>
            </a:pP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6070352" y="6100936"/>
            <a:ext cx="121058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1-15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0"/>
            <a:ext cx="10464800" cy="2438400"/>
          </a:xfrm>
        </p:spPr>
        <p:txBody>
          <a:bodyPr/>
          <a:lstStyle/>
          <a:p>
            <a:pPr eaLnBrk="1" hangingPunct="1"/>
            <a:r>
              <a:rPr kumimoji="0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累加符號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 ++ </a:t>
            </a:r>
            <a:r>
              <a:rPr kumimoji="0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與</a:t>
            </a:r>
            <a:r>
              <a:rPr kumimoji="0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 --</a:t>
            </a:r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73808" y="6244952"/>
            <a:ext cx="10464800" cy="2729508"/>
          </a:xfrm>
        </p:spPr>
        <p:txBody>
          <a:bodyPr anchor="t"/>
          <a:lstStyle/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兩種寫法都達到了把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a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和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b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的值增加一的效果。但是從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aplus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和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plusb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的值可以看出來，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a++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和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++b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的時間點稍有不同。如果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++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寫在後面，相當於先做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aplus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 = a;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然後再做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a = a + 1;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。而如果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++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寫在後面，相當於先做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b = b + 1;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再做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plusb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 = b;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的動作。</a:t>
            </a:r>
          </a:p>
        </p:txBody>
      </p:sp>
      <p:sp>
        <p:nvSpPr>
          <p:cNvPr id="84995" name="Rectangle 3"/>
          <p:cNvSpPr>
            <a:spLocks/>
          </p:cNvSpPr>
          <p:nvPr/>
        </p:nvSpPr>
        <p:spPr bwMode="auto">
          <a:xfrm>
            <a:off x="2757984" y="2050680"/>
            <a:ext cx="8579544" cy="39025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l">
              <a:defRPr/>
            </a:pPr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>
              <a:defRPr/>
            </a:pP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>
              <a:defRPr/>
            </a:pP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a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b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>
              <a:defRPr/>
            </a:pP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aplus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plusb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>
              <a:defRPr/>
            </a:pP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aplus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a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++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>
              <a:defRPr/>
            </a:pP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plusb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++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b;</a:t>
            </a:r>
          </a:p>
          <a:p>
            <a:pPr algn="l">
              <a:defRPr/>
            </a:pP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"a   </a:t>
            </a:r>
            <a:r>
              <a:rPr lang="en-US" altLang="zh-TW" sz="2400" dirty="0" err="1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aplus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  b   </a:t>
            </a:r>
            <a:r>
              <a:rPr lang="en-US" altLang="zh-TW" sz="2400" dirty="0" err="1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plusb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"%1d%6d%6d%6d\n"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a, 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aplus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b, 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plusb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>
              <a:defRPr/>
            </a:pP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6862440" y="5546220"/>
            <a:ext cx="121058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1-16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33900"/>
            <a:ext cx="10655300" cy="49911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0" bIns="45720" numCol="1" anchor="ctr" anchorCtr="0" compatLnSpc="1">
            <a:prstTxWarp prst="textNoShape">
              <a:avLst/>
            </a:prstTxWarp>
          </a:bodyPr>
          <a:lstStyle/>
          <a:p>
            <a:pPr marL="811213" indent="-493713" eaLnBrk="1" hangingPunct="1"/>
            <a:r>
              <a:rPr kumimoji="0"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這個範例還多了乘法和加法運算</a:t>
            </a:r>
            <a:r>
              <a:rPr kumimoji="0"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把英制呎吋換算成公分</a:t>
            </a:r>
            <a:endParaRPr kumimoji="0"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indent="-493713" eaLnBrk="1" hangingPunct="1">
              <a:spcBef>
                <a:spcPts val="3800"/>
              </a:spcBef>
            </a:pPr>
            <a:r>
              <a:rPr kumimoji="0"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變數宣告的部份</a:t>
            </a:r>
            <a:r>
              <a:rPr kumimoji="0"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由於三個變數都是整數</a:t>
            </a:r>
            <a:r>
              <a:rPr kumimoji="0"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/>
            </a:r>
            <a:br>
              <a:rPr kumimoji="0"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可以用另一種寫法</a:t>
            </a:r>
            <a:r>
              <a:rPr kumimoji="0"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把它們合在一起宣告</a:t>
            </a:r>
            <a:endParaRPr kumimoji="0"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indent="-493713" eaLnBrk="1" hangingPunct="1">
              <a:spcBef>
                <a:spcPts val="3800"/>
              </a:spcBef>
            </a:pPr>
            <a:r>
              <a:rPr kumimoji="0" lang="zh-TW" altLang="en-US" sz="36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變數</a:t>
            </a:r>
            <a:r>
              <a:rPr kumimoji="0"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之間是用逗號隔開</a:t>
            </a:r>
            <a:r>
              <a:rPr kumimoji="0"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最後再用分號結束</a:t>
            </a:r>
          </a:p>
        </p:txBody>
      </p:sp>
      <p:sp>
        <p:nvSpPr>
          <p:cNvPr id="29698" name="Rectangle 2"/>
          <p:cNvSpPr>
            <a:spLocks/>
          </p:cNvSpPr>
          <p:nvPr/>
        </p:nvSpPr>
        <p:spPr bwMode="auto">
          <a:xfrm>
            <a:off x="1587500" y="831850"/>
            <a:ext cx="1067554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 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feet, inches, centimeters;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feet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6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inches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3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centimeters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(feet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*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12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inches)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*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2.54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"%d feet %d inches = %d centimeters.\n</a:t>
            </a:r>
            <a:r>
              <a:rPr lang="en-US" altLang="zh-TW" sz="2400" dirty="0" smtClean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</a:t>
            </a:r>
            <a:r>
              <a:rPr lang="en-US" altLang="zh-TW" sz="2400" dirty="0" smtClean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feet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inches, centimeters);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  <a:p>
            <a:endParaRPr lang="zh-TW" altLang="en-US" sz="5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</a:endParaRPr>
          </a:p>
        </p:txBody>
      </p:sp>
      <p:sp>
        <p:nvSpPr>
          <p:cNvPr id="29699" name="Line 3"/>
          <p:cNvSpPr>
            <a:spLocks noChangeShapeType="1"/>
          </p:cNvSpPr>
          <p:nvPr/>
        </p:nvSpPr>
        <p:spPr bwMode="auto">
          <a:xfrm flipH="1">
            <a:off x="1101800" y="1852464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6318250" y="3724672"/>
            <a:ext cx="121058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1-17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1826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012704"/>
            <a:ext cx="10912400" cy="5512296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0" bIns="45720" numCol="1" anchor="ctr" anchorCtr="0" compatLnSpc="1">
            <a:prstTxWarp prst="textNoShape">
              <a:avLst/>
            </a:prstTxWarp>
          </a:bodyPr>
          <a:lstStyle/>
          <a:p>
            <a:pPr marL="811213" indent="-493713" eaLnBrk="1" hangingPunct="1"/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主程式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&lt;statements&gt; 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的部份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首先是設定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feet 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和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inches 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的值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然後再依照換算公式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星號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* 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代表乘法運算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),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一呎等於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12 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吋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一吋等於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2.54 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公分</a:t>
            </a:r>
            <a:endParaRPr kumimoji="0" lang="en-US" altLang="zh-TW" sz="25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indent="-493713" eaLnBrk="1" hangingPunct="1">
              <a:spcBef>
                <a:spcPts val="3800"/>
              </a:spcBef>
            </a:pPr>
            <a:r>
              <a:rPr kumimoji="0" lang="zh-TW" altLang="en-US" sz="25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運算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的結果設定給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centimeters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所以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centimeters 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就會記錄著換算出來的公分是多少</a:t>
            </a:r>
            <a:endParaRPr kumimoji="0" lang="en-US" altLang="zh-TW" sz="25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indent="-493713" eaLnBrk="1" hangingPunct="1">
              <a:spcBef>
                <a:spcPts val="3800"/>
              </a:spcBef>
            </a:pPr>
            <a:r>
              <a:rPr kumimoji="0" lang="zh-TW" altLang="en-US" sz="25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呼叫</a:t>
            </a:r>
            <a:r>
              <a:rPr kumimoji="0" lang="en-US" altLang="zh-TW" sz="25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5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把結果顯示在螢幕上。這次為了顯示三個變數值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總共需要傳四個參數給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5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endParaRPr kumimoji="0" lang="en-US" altLang="zh-TW" sz="25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11213" indent="-493713" eaLnBrk="1" hangingPunct="1">
              <a:spcBef>
                <a:spcPts val="3800"/>
              </a:spcBef>
            </a:pP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第一個是描述顯示格式的字串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裡面包含了三個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%d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分別對應到後面三個參數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feet, inches, centimeters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到時候這三個變數所儲存的值就會顯示在對應的位置</a:t>
            </a:r>
            <a:r>
              <a:rPr kumimoji="0"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而且都是以十進位方式顯示</a:t>
            </a:r>
          </a:p>
        </p:txBody>
      </p:sp>
      <p:sp>
        <p:nvSpPr>
          <p:cNvPr id="30722" name="Rectangle 2"/>
          <p:cNvSpPr>
            <a:spLocks/>
          </p:cNvSpPr>
          <p:nvPr/>
        </p:nvSpPr>
        <p:spPr bwMode="auto">
          <a:xfrm>
            <a:off x="1389832" y="412304"/>
            <a:ext cx="1096327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 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feet, inches, centimeters;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feet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6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inches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3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centimeters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(feet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*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12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inches)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*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2.54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“%d feet %d inches = %d centimeters.\n”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</a:t>
            </a:r>
            <a:r>
              <a:rPr lang="zh-TW" altLang="en-US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feet, inches, centimeters);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  <a:p>
            <a:endParaRPr lang="zh-TW" altLang="en-US" sz="5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</a:endParaRPr>
          </a:p>
        </p:txBody>
      </p:sp>
      <p:sp>
        <p:nvSpPr>
          <p:cNvPr id="30723" name="Line 3"/>
          <p:cNvSpPr>
            <a:spLocks noChangeShapeType="1"/>
          </p:cNvSpPr>
          <p:nvPr/>
        </p:nvSpPr>
        <p:spPr bwMode="auto">
          <a:xfrm flipH="1">
            <a:off x="813768" y="2860576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5854328" y="3246837"/>
            <a:ext cx="121058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1-17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99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Appendix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09333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zh-TW" altLang="en-US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變數命名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70000" y="2768600"/>
            <a:ext cx="10464800" cy="6413500"/>
          </a:xfrm>
        </p:spPr>
        <p:txBody>
          <a:bodyPr/>
          <a:lstStyle/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不能和已有的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keywords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重複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變數的名稱只能包含連續的大小寫英文字母、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_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底線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、以及數字等三類字元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只能用英文字母或底線當作第一個字元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開頭不能用數字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變數名稱的長度最長不能超過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63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個字元（只有前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31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個字元是有效的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超過的部份會被忽略）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C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語言會區分字母的大小寫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所以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u2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和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U2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代表兩個不同變數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可以上網搜尋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"Naming Conventions (programming)"</a:t>
            </a:r>
            <a:b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參考慣用的規則來替變數和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function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取名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270000" y="2768600"/>
            <a:ext cx="10464800" cy="5996632"/>
          </a:xfrm>
        </p:spPr>
        <p:txBody>
          <a:bodyPr/>
          <a:lstStyle/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輸出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/>
            </a:r>
            <a:b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2147483647 -2147483648 -2147483647</a:t>
            </a:r>
            <a:b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4294967295 0 1</a:t>
            </a:r>
            <a:b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</a:b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Integer Overflow</a:t>
            </a:r>
          </a:p>
        </p:txBody>
      </p:sp>
      <p:sp>
        <p:nvSpPr>
          <p:cNvPr id="46083" name="Rectangle 3"/>
          <p:cNvSpPr>
            <a:spLocks/>
          </p:cNvSpPr>
          <p:nvPr/>
        </p:nvSpPr>
        <p:spPr bwMode="auto">
          <a:xfrm>
            <a:off x="2119313" y="2501900"/>
            <a:ext cx="7124700" cy="494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2147483647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 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unsigned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j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4294967295U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"%d %d %d\n"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i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i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2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"%u %u %u\n"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j, j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j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2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  <a:p>
            <a:endParaRPr lang="zh-TW" altLang="en-US" sz="5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91927" y="5884912"/>
            <a:ext cx="1255472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1-18</a:t>
            </a:r>
            <a:endParaRPr lang="zh-TW" altLang="en-US" sz="2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-19050"/>
            <a:ext cx="10464800" cy="2438400"/>
          </a:xfrm>
        </p:spPr>
        <p:txBody>
          <a:bodyPr/>
          <a:lstStyle/>
          <a:p>
            <a:pPr eaLnBrk="1" hangingPunct="1"/>
            <a:r>
              <a:rPr kumimoji="0" lang="zh-TW" altLang="en-US" dirty="0">
                <a:latin typeface="Gill Sans" charset="0"/>
                <a:ea typeface="Heiti TC Light" charset="0"/>
                <a:cs typeface="Heiti TC Light" charset="0"/>
              </a:rPr>
              <a:t>浮點數</a:t>
            </a:r>
            <a:r>
              <a:rPr kumimoji="0" lang="en-US" altLang="zh-TW" dirty="0">
                <a:latin typeface="Gill Sans" charset="0"/>
                <a:ea typeface="Heiti TC Light" charset="0"/>
                <a:cs typeface="Heiti TC Light" charset="0"/>
              </a:rPr>
              <a:t>overflow</a:t>
            </a: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889000" eaLnBrk="1" hangingPunct="1"/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由於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3.4e38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已經接近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float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可容許的範圍的邊緣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再乘上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10.0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之後就爆掉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所以會得到輸出結果是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1.#INF00e+000,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表示無限大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使用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浮點數另外有一個要注意的是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round-off error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的問題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>
              <a:buNone/>
            </a:pP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答案應該是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1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後面接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12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個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0,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但是實際上會得到奇怪的數字。這是因為要對兩個大小差很多的數目做運算時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只用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float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並不足夠同時精確表達兩個數目</a:t>
            </a:r>
          </a:p>
        </p:txBody>
      </p:sp>
      <p:sp>
        <p:nvSpPr>
          <p:cNvPr id="50179" name="Rectangle 3"/>
          <p:cNvSpPr>
            <a:spLocks/>
          </p:cNvSpPr>
          <p:nvPr/>
        </p:nvSpPr>
        <p:spPr bwMode="auto">
          <a:xfrm>
            <a:off x="4486176" y="4229283"/>
            <a:ext cx="407803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float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s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3.4e38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*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10.0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"%e\n"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s);</a:t>
            </a:r>
          </a:p>
        </p:txBody>
      </p:sp>
      <p:sp>
        <p:nvSpPr>
          <p:cNvPr id="50180" name="Rectangle 4"/>
          <p:cNvSpPr>
            <a:spLocks/>
          </p:cNvSpPr>
          <p:nvPr/>
        </p:nvSpPr>
        <p:spPr bwMode="auto">
          <a:xfrm>
            <a:off x="4486176" y="6100460"/>
            <a:ext cx="305853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float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a, b;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b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1.0e12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+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1.0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a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b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-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1.0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/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"%f\n"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a);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1803400"/>
          </a:xfrm>
        </p:spPr>
        <p:txBody>
          <a:bodyPr/>
          <a:lstStyle/>
          <a:p>
            <a:pPr eaLnBrk="1" hangingPunct="1"/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Flushing the Buffer</a:t>
            </a: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70000" y="2540000"/>
            <a:ext cx="10464800" cy="5676900"/>
          </a:xfrm>
        </p:spPr>
        <p:txBody>
          <a:bodyPr/>
          <a:lstStyle/>
          <a:p>
            <a:pPr marL="889000" eaLnBrk="1" hangingPunct="1"/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當使用</a:t>
            </a:r>
            <a:r>
              <a:rPr kumimoji="0"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把資料顯示到螢幕上時，其實並不會立即顯示在螢幕上，而是先送到所謂的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buffer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裡。要等到下列幾種情況才會做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flushing the buffer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的動作，把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buffer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裡的資料沖到螢幕上：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/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當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buffer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滿的時候；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/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ii)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當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'\n'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字元出現的時候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1333500" lvl="1" eaLnBrk="1" hangingPunct="1"/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iii)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當接下來是做輸入的動作的時候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譬如遇到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)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有時候為了讓資料能立刻顯示到螢幕上，可以用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fflush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強迫把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buffer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裡的東西送出。當你發現有時候輸入或輸出的顯示順序會亂掉，可以試著在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之後用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fflush</a:t>
            </a:r>
            <a:r>
              <a:rPr kumimoji="0"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來確保資料不會被卡在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buffer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270000" y="4927600"/>
            <a:ext cx="10464800" cy="3644900"/>
          </a:xfrm>
        </p:spPr>
        <p:txBody>
          <a:bodyPr/>
          <a:lstStyle/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程式要求使用者輸入三個整數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但是在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裡面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前兩個位置是用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%*d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格式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意思是忽略這兩個被輸入的整數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只有第三個格式是標準的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%d,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所以它才是真正對應到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&amp;x,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整個程式也只有記錄第三個被輸入的整數</a:t>
            </a:r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1397000"/>
          </a:xfrm>
        </p:spPr>
        <p:txBody>
          <a:bodyPr/>
          <a:lstStyle/>
          <a:p>
            <a:pPr eaLnBrk="1" hangingPunct="1"/>
            <a:r>
              <a:rPr kumimoji="0" lang="en-US" altLang="zh-TW" sz="7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%* - </a:t>
            </a:r>
            <a:r>
              <a:rPr kumimoji="0" lang="en-US" altLang="zh-TW" sz="7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7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</a:t>
            </a:r>
          </a:p>
        </p:txBody>
      </p:sp>
      <p:sp>
        <p:nvSpPr>
          <p:cNvPr id="71683" name="Rectangle 3"/>
          <p:cNvSpPr>
            <a:spLocks/>
          </p:cNvSpPr>
          <p:nvPr/>
        </p:nvSpPr>
        <p:spPr bwMode="auto">
          <a:xfrm>
            <a:off x="2070100" y="1803400"/>
            <a:ext cx="8851900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1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1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1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1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1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x;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"Please enter three integers:\n"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scanf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"%*d %*d %d"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sz="21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&amp;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x);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1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"Only the last one is stored: %d\n"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x);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1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1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;</a:t>
            </a:r>
          </a:p>
          <a:p>
            <a:pPr algn="l"/>
            <a:r>
              <a:rPr lang="en-US" altLang="zh-TW" sz="21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5285461" y="4362390"/>
            <a:ext cx="121058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1-19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5422280" y="1852464"/>
            <a:ext cx="5952480" cy="6792044"/>
          </a:xfrm>
        </p:spPr>
        <p:txBody>
          <a:bodyPr/>
          <a:lstStyle/>
          <a:p>
            <a:pPr marL="889000" eaLnBrk="1" hangingPunct="1"/>
            <a:r>
              <a:rPr kumimoji="0"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printf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裡面用了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%.4s </a:t>
            </a:r>
          </a:p>
          <a:p>
            <a:pPr marL="889000" eaLnBrk="1" hangingPunct="1"/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對照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浮點數的用法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%.4f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表示顯示時精確度是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4</a:t>
            </a:r>
          </a:p>
          <a:p>
            <a:pPr marL="889000" eaLnBrk="1" hangingPunct="1"/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套用到字串上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意思變成只要顯示前四個字元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螢幕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上會顯示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Miss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四個字元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,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而不是整個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word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字串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Mississippi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。</a:t>
            </a:r>
            <a:endParaRPr kumimoji="0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scanf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()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裡面用到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%45s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則是表示輸入的字串最長不超過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45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個字元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(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第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46 </a:t>
            </a:r>
            <a:r>
              <a:rPr kumimoji="0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個要留給</a:t>
            </a:r>
            <a:r>
              <a:rPr kumimoji="0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'\0')</a:t>
            </a:r>
          </a:p>
        </p:txBody>
      </p:sp>
      <p:sp>
        <p:nvSpPr>
          <p:cNvPr id="72706" name="Rectangle 2"/>
          <p:cNvSpPr>
            <a:spLocks/>
          </p:cNvSpPr>
          <p:nvPr/>
        </p:nvSpPr>
        <p:spPr bwMode="auto">
          <a:xfrm>
            <a:off x="1173808" y="2860576"/>
            <a:ext cx="61087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4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4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4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/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char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word[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46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];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scanf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"%45s"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word);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4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"%.4s\n"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word);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 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4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;</a:t>
            </a:r>
          </a:p>
          <a:p>
            <a:pPr algn="l"/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2829992" y="5708521"/>
            <a:ext cx="121058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1-20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1"/>
          <p:cNvSpPr>
            <a:spLocks noGrp="1" noChangeArrowheads="1"/>
          </p:cNvSpPr>
          <p:nvPr>
            <p:ph type="title"/>
          </p:nvPr>
        </p:nvSpPr>
        <p:spPr>
          <a:xfrm>
            <a:off x="508000" y="203200"/>
            <a:ext cx="12484100" cy="2235200"/>
          </a:xfrm>
        </p:spPr>
        <p:txBody>
          <a:bodyPr/>
          <a:lstStyle/>
          <a:p>
            <a:pPr eaLnBrk="1" hangingPunct="1"/>
            <a:r>
              <a:rPr kumimoji="0" lang="zh-TW" altLang="en-US" sz="71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運算符號</a:t>
            </a:r>
            <a:r>
              <a:rPr kumimoji="0" lang="en-US" altLang="zh-TW" sz="71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 </a:t>
            </a:r>
            <a:r>
              <a:rPr kumimoji="0" lang="en-US" altLang="zh-TW" sz="71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sizeof</a:t>
            </a:r>
            <a:r>
              <a:rPr kumimoji="0" lang="en-US" altLang="zh-TW" sz="71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 </a:t>
            </a:r>
            <a:r>
              <a:rPr kumimoji="0" lang="zh-TW" altLang="en-US" sz="71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以及型別</a:t>
            </a:r>
            <a:r>
              <a:rPr kumimoji="0" lang="en-US" altLang="zh-TW" sz="71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 </a:t>
            </a:r>
            <a:r>
              <a:rPr kumimoji="0" lang="en-US" altLang="zh-TW" sz="71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Medium" charset="0"/>
              </a:rPr>
              <a:t>size_t</a:t>
            </a:r>
            <a:endParaRPr kumimoji="0" lang="en-US" altLang="zh-TW" sz="71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Medium" charset="0"/>
            </a:endParaRPr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84300" y="5956920"/>
            <a:ext cx="10464800" cy="3312368"/>
          </a:xfrm>
        </p:spPr>
        <p:txBody>
          <a:bodyPr anchor="t"/>
          <a:lstStyle/>
          <a:p>
            <a:pPr marL="889000" eaLnBrk="1" hangingPunct="1"/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intsize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是一個宣告成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size_t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型別的變數，用來儲存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sizeof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 (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int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)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所計算出來的值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。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</a:p>
          <a:p>
            <a:pPr marL="889000" eaLnBrk="1" hangingPunct="1"/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%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u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代表顯示的格式是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unsigned decimal integer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。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</a:p>
          <a:p>
            <a:pPr marL="889000" eaLnBrk="1" hangingPunct="1"/>
            <a:r>
              <a:rPr kumimoji="0"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size_t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這個型別只是透過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typedef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的方式，來將它變成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unsigned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int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的同義辭。當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compiler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遇到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size_t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的時候，它就會想起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size_t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就是</a:t>
            </a:r>
            <a:r>
              <a:rPr kumimoji="0"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Helvetica" charset="0"/>
              </a:rPr>
              <a:t> 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unsigned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  <a:sym typeface="Courier New Bold" charset="0"/>
              </a:rPr>
              <a:t>int</a:t>
            </a:r>
            <a:endParaRPr kumimoji="0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  <a:sym typeface="Helvetica" charset="0"/>
            </a:endParaRPr>
          </a:p>
        </p:txBody>
      </p:sp>
      <p:sp>
        <p:nvSpPr>
          <p:cNvPr id="80899" name="Rectangle 3"/>
          <p:cNvSpPr>
            <a:spLocks/>
          </p:cNvSpPr>
          <p:nvPr/>
        </p:nvSpPr>
        <p:spPr bwMode="auto">
          <a:xfrm>
            <a:off x="596900" y="2857500"/>
            <a:ext cx="12026900" cy="309942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l">
              <a:defRPr/>
            </a:pPr>
            <a:r>
              <a:rPr lang="en-US" altLang="zh-TW" sz="20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#include &lt;</a:t>
            </a:r>
            <a:r>
              <a:rPr lang="en-US" altLang="zh-TW" sz="2000" b="1" dirty="0" err="1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stdio.h</a:t>
            </a:r>
            <a:r>
              <a:rPr lang="en-US" altLang="zh-TW" sz="2000" b="1" dirty="0">
                <a:solidFill>
                  <a:srgbClr val="8787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&gt;</a:t>
            </a:r>
            <a:endParaRPr lang="en-US" altLang="zh-TW" sz="20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20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000" b="1" dirty="0">
                <a:solidFill>
                  <a:srgbClr val="870000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main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000" b="1" dirty="0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void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</a:t>
            </a:r>
          </a:p>
          <a:p>
            <a:pPr algn="l">
              <a:defRPr/>
            </a:pP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{</a:t>
            </a:r>
          </a:p>
          <a:p>
            <a:pPr algn="l">
              <a:defRPr/>
            </a:pP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0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n </a:t>
            </a:r>
            <a:r>
              <a:rPr lang="en-US" altLang="zh-TW" sz="20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0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>
              <a:defRPr/>
            </a:pP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0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size_t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intsize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>
              <a:defRPr/>
            </a:pP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</a:t>
            </a:r>
          </a:p>
          <a:p>
            <a:pPr algn="l">
              <a:defRPr/>
            </a:pP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0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intsize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000" b="1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sizeof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(</a:t>
            </a:r>
            <a:r>
              <a:rPr lang="en-US" altLang="zh-TW" sz="2000" b="1" dirty="0" err="1">
                <a:solidFill>
                  <a:srgbClr val="334076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0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printf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"n = %d, n has %u bytes; all </a:t>
            </a:r>
            <a:r>
              <a:rPr lang="en-US" altLang="zh-TW" sz="2000" dirty="0" err="1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ints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have %u bytes.\n"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, n, </a:t>
            </a:r>
            <a:r>
              <a:rPr lang="en-US" altLang="zh-TW" sz="2000" b="1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sizeof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(n), </a:t>
            </a:r>
            <a:r>
              <a:rPr lang="en-US" altLang="zh-TW" sz="2000" dirty="0" err="1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intsize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);</a:t>
            </a:r>
          </a:p>
          <a:p>
            <a:pPr algn="l">
              <a:defRPr/>
            </a:pPr>
            <a:endParaRPr lang="en-US" altLang="zh-TW" sz="20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  <a:sym typeface="Courier" charset="0"/>
            </a:endParaRPr>
          </a:p>
          <a:p>
            <a:pPr algn="l">
              <a:defRPr/>
            </a:pP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   </a:t>
            </a:r>
            <a:r>
              <a:rPr lang="en-US" altLang="zh-TW" sz="2000" b="1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return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sz="2000" dirty="0">
                <a:solidFill>
                  <a:srgbClr val="008887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algn="l">
              <a:defRPr/>
            </a:pP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  <a:ea typeface="新細明體" charset="0"/>
                <a:cs typeface="Consolas" panose="020B0609020204030204" pitchFamily="49" charset="0"/>
                <a:sym typeface="Courier" charset="0"/>
              </a:rPr>
              <a:t>}</a:t>
            </a:r>
          </a:p>
          <a:p>
            <a:pPr>
              <a:defRPr/>
            </a:pPr>
            <a:endParaRPr lang="zh-TW" altLang="en-US" sz="2000" dirty="0">
              <a:solidFill>
                <a:schemeClr val="tx1"/>
              </a:solidFill>
              <a:latin typeface="Consolas" panose="020B0609020204030204" pitchFamily="49" charset="0"/>
              <a:ea typeface="新細明體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98144" y="5147205"/>
            <a:ext cx="121058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範例</a:t>
            </a:r>
            <a:r>
              <a:rPr lang="en-US" altLang="zh-TW" sz="2000" dirty="0" smtClean="0">
                <a:solidFill>
                  <a:srgbClr val="FF0000"/>
                </a:solidFill>
              </a:rPr>
              <a:t>1-21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7296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關於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limits.h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與</a:t>
            </a:r>
            <a:r>
              <a: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float.h</a:t>
            </a:r>
            <a:endParaRPr kumimoji="0"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70000" y="2898204"/>
            <a:ext cx="10464800" cy="6515100"/>
          </a:xfrm>
        </p:spPr>
        <p:txBody>
          <a:bodyPr/>
          <a:lstStyle/>
          <a:p>
            <a:pPr marL="889000" eaLnBrk="1" hangingPunct="1"/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進入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你的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compiler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軟體所在的目錄裡的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include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資料夾，裡面會有一個叫做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limits.h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的檔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用文字編輯器打開檔案你會發現裡面用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#define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設定了很多常數值，譬如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#define LONG_MAX 2147483647L</a:t>
            </a:r>
            <a:endParaRPr kumimoji="0"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Medium" charset="0"/>
            </a:endParaRPr>
          </a:p>
          <a:p>
            <a:pPr marL="889000" eaLnBrk="1" hangingPunct="1"/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這些常數值和型別的範圍有關。假如你想知道整數最大可以到多大，可以使用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INT_MAX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來表示。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相較於把數字都寫定在程式碼裡面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，使用這些常數帶來的額外好處是，假如你的程式拿到另外一台不同的電腦上要執行，只需要重新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compile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就可以取得相對應的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INT_MAX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，程式碼完全不必更改，因為那台電腦也會有對應的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INT_MAX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，縱使這個常數值和原本電腦上的有所差異也不會產生問題。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float.h</a:t>
            </a:r>
            <a:r>
              <a:rPr kumimoji="0"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 </a:t>
            </a:r>
            <a:r>
              <a:rPr kumimoji="0"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 charset="0"/>
              </a:rPr>
              <a:t>檔也設定了類似的常數</a:t>
            </a:r>
            <a:endParaRPr kumimoji="0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  <a:p>
            <a:pPr marL="889000" eaLnBrk="1" hangingPunct="1"/>
            <a:endParaRPr kumimoji="0"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5313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標題與副標題">
  <a:themeElements>
    <a:clrScheme name="標題與副標題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題與副標題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標題與副標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標題與項目符號 - 右側">
  <a:themeElements>
    <a:clrScheme name="標題與項目符號 - 右側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題與項目符號 - 右側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標題與項目符號 - 右側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標題與項目符號">
  <a:themeElements>
    <a:clrScheme name="標題與項目符號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題與項目符號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標題與項目符號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項目符號">
  <a:themeElements>
    <a:clrScheme name="項目符號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項目符號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項目符號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照片 - 水平反射">
  <a:themeElements>
    <a:clrScheme name="照片 - 水平反射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照片 - 水平反射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照片 - 水平反射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照片 - 直式">
  <a:themeElements>
    <a:clrScheme name="照片 - 直式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照片 - 直式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照片 - 直式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照片 - 垂直反射">
  <a:themeElements>
    <a:clrScheme name="照片 - 垂直反射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照片 - 垂直反射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照片 - 垂直反射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標題 - 上方">
  <a:themeElements>
    <a:clrScheme name="標題 - 上方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題 - 上方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標題 - 上方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照片 - 橫式">
  <a:themeElements>
    <a:clrScheme name="照片 - 橫式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照片 - 橫式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照片 - 橫式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標題與項目符號 - 左側">
  <a:themeElements>
    <a:clrScheme name="標題與項目符號 - 左側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題與項目符號 - 左側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標題與項目符號 - 左側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標題與項目符號 - 2 欄">
  <a:themeElements>
    <a:clrScheme name="標題與項目符號 - 2 欄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題與項目符號 - 2 欄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標題與項目符號 - 2 欄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標題 - 中央">
  <a:themeElements>
    <a:clrScheme name="標題 - 中央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題 - 中央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標題 - 中央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標題、項目符號與照片">
  <a:themeElements>
    <a:clrScheme name="標題、項目符號與照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題、項目符號與照片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標題、項目符號與照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Pages>0</Pages>
  <Words>5284</Words>
  <Characters>0</Characters>
  <Application>Microsoft Office PowerPoint</Application>
  <PresentationFormat>自訂</PresentationFormat>
  <Lines>0</Lines>
  <Paragraphs>676</Paragraphs>
  <Slides>54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13</vt:i4>
      </vt:variant>
      <vt:variant>
        <vt:lpstr>投影片標題</vt:lpstr>
      </vt:variant>
      <vt:variant>
        <vt:i4>54</vt:i4>
      </vt:variant>
    </vt:vector>
  </HeadingPairs>
  <TitlesOfParts>
    <vt:vector size="80" baseType="lpstr">
      <vt:lpstr>Courier</vt:lpstr>
      <vt:lpstr>Gill Sans</vt:lpstr>
      <vt:lpstr>Heiti TC Light</vt:lpstr>
      <vt:lpstr>Heiti TC Medium</vt:lpstr>
      <vt:lpstr>微軟正黑體</vt:lpstr>
      <vt:lpstr>新細明體</vt:lpstr>
      <vt:lpstr>儷宋 Pro</vt:lpstr>
      <vt:lpstr>Calibri</vt:lpstr>
      <vt:lpstr>Consolas</vt:lpstr>
      <vt:lpstr>Courier New</vt:lpstr>
      <vt:lpstr>Courier New Bold</vt:lpstr>
      <vt:lpstr>Helvetica</vt:lpstr>
      <vt:lpstr>Times</vt:lpstr>
      <vt:lpstr>標題與副標題</vt:lpstr>
      <vt:lpstr>標題與項目符號 - 右側</vt:lpstr>
      <vt:lpstr>標題與項目符號</vt:lpstr>
      <vt:lpstr>項目符號</vt:lpstr>
      <vt:lpstr>照片 - 水平反射</vt:lpstr>
      <vt:lpstr>照片 - 直式</vt:lpstr>
      <vt:lpstr>照片 - 垂直反射</vt:lpstr>
      <vt:lpstr>標題 - 上方</vt:lpstr>
      <vt:lpstr>照片 - 橫式</vt:lpstr>
      <vt:lpstr>標題與項目符號 - 左側</vt:lpstr>
      <vt:lpstr>標題與項目符號 - 2 欄</vt:lpstr>
      <vt:lpstr>標題 - 中央</vt:lpstr>
      <vt:lpstr>標題、項目符號與照片</vt:lpstr>
      <vt:lpstr>Basic Concepts</vt:lpstr>
      <vt:lpstr>C語言簡介</vt:lpstr>
      <vt:lpstr>最基本C程式結構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基本輸入輸出</vt:lpstr>
      <vt:lpstr>PowerPoint 簡報</vt:lpstr>
      <vt:lpstr>PowerPoint 簡報</vt:lpstr>
      <vt:lpstr>PowerPoint 簡報</vt:lpstr>
      <vt:lpstr>scanf(“%f”, &amp;er)</vt:lpstr>
      <vt:lpstr>整數 int 型別和浮點數 float 型別</vt:lpstr>
      <vt:lpstr>整數型別int</vt:lpstr>
      <vt:lpstr>PowerPoint 簡報</vt:lpstr>
      <vt:lpstr>PowerPoint 簡報</vt:lpstr>
      <vt:lpstr>其它整數型別</vt:lpstr>
      <vt:lpstr>PowerPoint 簡報</vt:lpstr>
      <vt:lpstr>char型別</vt:lpstr>
      <vt:lpstr>%c與%d</vt:lpstr>
      <vt:lpstr>float, Double</vt:lpstr>
      <vt:lpstr>型別轉換</vt:lpstr>
      <vt:lpstr>型別轉換</vt:lpstr>
      <vt:lpstr>強制轉型</vt:lpstr>
      <vt:lpstr>PowerPoint 簡報</vt:lpstr>
      <vt:lpstr>Constants and the C Preprocessor</vt:lpstr>
      <vt:lpstr>PowerPoint 簡報</vt:lpstr>
      <vt:lpstr>prinf()格式</vt:lpstr>
      <vt:lpstr>PowerPoint 簡報</vt:lpstr>
      <vt:lpstr>PowerPoint 簡報</vt:lpstr>
      <vt:lpstr>scanf()</vt:lpstr>
      <vt:lpstr>PowerPoint 簡報</vt:lpstr>
      <vt:lpstr>PowerPoint 簡報</vt:lpstr>
      <vt:lpstr>%* - printf()</vt:lpstr>
      <vt:lpstr>Operator, expression and Statement</vt:lpstr>
      <vt:lpstr>Expressions &amp;  Statements</vt:lpstr>
      <vt:lpstr>運算符號 Operators</vt:lpstr>
      <vt:lpstr>求餘數要用 % 符號 (Modulus Operator)</vt:lpstr>
      <vt:lpstr>累加符號 ++ 與 --</vt:lpstr>
      <vt:lpstr>PowerPoint 簡報</vt:lpstr>
      <vt:lpstr>PowerPoint 簡報</vt:lpstr>
      <vt:lpstr>Appendix</vt:lpstr>
      <vt:lpstr>變數命名</vt:lpstr>
      <vt:lpstr>Integer Overflow</vt:lpstr>
      <vt:lpstr>浮點數overflow</vt:lpstr>
      <vt:lpstr>Flushing the Buffer</vt:lpstr>
      <vt:lpstr>%* - scanf()</vt:lpstr>
      <vt:lpstr>PowerPoint 簡報</vt:lpstr>
      <vt:lpstr>運算符號 sizeof 以及型別 size_t</vt:lpstr>
      <vt:lpstr>關於 limits.h 與 float.h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Concepts</dc:title>
  <dc:subject/>
  <dc:creator/>
  <cp:keywords/>
  <dc:description/>
  <cp:lastModifiedBy>Tubou</cp:lastModifiedBy>
  <cp:revision>117</cp:revision>
  <dcterms:modified xsi:type="dcterms:W3CDTF">2013-09-09T09:30:55Z</dcterms:modified>
</cp:coreProperties>
</file>