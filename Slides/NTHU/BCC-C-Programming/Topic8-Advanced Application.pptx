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52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305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84" r:id="rId33"/>
    <p:sldId id="286" r:id="rId34"/>
    <p:sldId id="287" r:id="rId35"/>
    <p:sldId id="289" r:id="rId36"/>
    <p:sldId id="288" r:id="rId37"/>
    <p:sldId id="291" r:id="rId38"/>
    <p:sldId id="290" r:id="rId39"/>
    <p:sldId id="292" r:id="rId40"/>
    <p:sldId id="293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4" r:id="rId50"/>
    <p:sldId id="303" r:id="rId5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-12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notesMaster" Target="notesMasters/notesMaster1.xml"/><Relationship Id="rId53" Type="http://schemas.openxmlformats.org/officeDocument/2006/relationships/printerSettings" Target="printerSettings/printerSettings1.bin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86685-6CEE-4258-B306-35C5E820342A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E8CD4-6468-4E96-8011-0F9D8550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306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CF3D6-91F3-4587-AB39-412999EFABB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569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EBBE7-8784-443D-BE99-C81DA16E0195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5DECC-5D4A-45D1-A651-D5567DAFD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73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EBBE7-8784-443D-BE99-C81DA16E0195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5DECC-5D4A-45D1-A651-D5567DAFD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12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EBBE7-8784-443D-BE99-C81DA16E0195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5DECC-5D4A-45D1-A651-D5567DAFD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6330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EBBE7-8784-443D-BE99-C81DA16E0195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5DECC-5D4A-45D1-A651-D5567DAFD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7028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EBBE7-8784-443D-BE99-C81DA16E0195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5DECC-5D4A-45D1-A651-D5567DAFD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4534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EBBE7-8784-443D-BE99-C81DA16E0195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5DECC-5D4A-45D1-A651-D5567DAFD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17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EBBE7-8784-443D-BE99-C81DA16E0195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5DECC-5D4A-45D1-A651-D5567DAFD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496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EBBE7-8784-443D-BE99-C81DA16E0195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5DECC-5D4A-45D1-A651-D5567DAFD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26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EBBE7-8784-443D-BE99-C81DA16E0195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5DECC-5D4A-45D1-A651-D5567DAFD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28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EBBE7-8784-443D-BE99-C81DA16E0195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5DECC-5D4A-45D1-A651-D5567DAFD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960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EBBE7-8784-443D-BE99-C81DA16E0195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5DECC-5D4A-45D1-A651-D5567DAFD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752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378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431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482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014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024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738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03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174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1495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584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980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472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6692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420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813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2503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5948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0039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522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7778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1973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05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EBBE7-8784-443D-BE99-C81DA16E0195}" type="datetimeFigureOut">
              <a:rPr lang="zh-TW" altLang="en-US" smtClean="0"/>
              <a:t>13/9/11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5DECC-5D4A-45D1-A651-D5567DAFD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851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086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E4E13-A8EB-4ADD-99F2-13DE09F8B7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C71DC-12D0-4FD1-9335-A46F95E0C20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83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Heiti TC Light"/>
                <a:ea typeface="Heiti TC Light"/>
                <a:cs typeface="Heiti TC Light"/>
              </a:rPr>
              <a:t>Pointer Application</a:t>
            </a:r>
            <a:endParaRPr lang="zh-TW" altLang="en-US" b="1" dirty="0">
              <a:latin typeface="Heiti TC Light"/>
              <a:ea typeface="Heiti TC Light"/>
              <a:cs typeface="Heiti TC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28716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指向二維陣列的指標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z[4][2]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是一個二維陣列，也代表一個「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包含兩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個整數元素的陣列」的位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址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我們可以宣告一個指向「包含兩個整數元素的陣列」的指標，用來儲存這個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陣列的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址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(*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pz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)[2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];</a:t>
            </a:r>
          </a:p>
          <a:p>
            <a:pPr lvl="1"/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pz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是一個指到整數陣列的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指標，它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所指到的陣列包含了兩個整數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元素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若不加括號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pz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[2]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代表的是有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的陣列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pz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z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把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pz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這個指標當作二維陣列來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例如：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pz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[2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][1]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就相當於是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z[2][1]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03226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傳二維陣列給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00687" y="1690689"/>
            <a:ext cx="3501645" cy="4960646"/>
          </a:xfrm>
        </p:spPr>
        <p:txBody>
          <a:bodyPr>
            <a:noAutofit/>
          </a:bodyPr>
          <a:lstStyle/>
          <a:p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指標</a:t>
            </a:r>
            <a:r>
              <a:rPr lang="en-US" altLang="zh-TW" sz="2200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(*</a:t>
            </a:r>
            <a:r>
              <a:rPr lang="en-US" altLang="zh-TW" sz="22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ap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)[COLS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2200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arr2[ROWS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][COLS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這個二維陣列具有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同樣的型別，都是一個包含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COLS 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個元素的陣列的起始位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址</a:t>
            </a:r>
            <a:endParaRPr lang="en-US" altLang="zh-TW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[COLS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一定要寫，因為這樣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compiler 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才知道指標指到的是一個「包含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了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COLS 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個元素的整數陣列」</a:t>
            </a:r>
            <a:endParaRPr lang="en-US" altLang="zh-TW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假如兩個指標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 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22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pb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指到的陣列的大小不一樣，則這兩個指標的型別就不一樣，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pa+1 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pb+1 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效果是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不同的</a:t>
            </a:r>
            <a:endParaRPr lang="en-US" altLang="zh-TW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" y="1643063"/>
            <a:ext cx="5019675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481012" y="1300287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8-1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650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指標陣列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1024" y="4905374"/>
            <a:ext cx="7772401" cy="1838325"/>
          </a:xfrm>
        </p:spPr>
        <p:txBody>
          <a:bodyPr>
            <a:no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用指標陣列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每個陣列的元素都是指標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來把一維陣列轉變成二維陣列來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由於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aPtr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[0])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的意義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相當於</a:t>
            </a:r>
            <a:r>
              <a:rPr lang="en-US" altLang="zh-TW" sz="2400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aPtr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[0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][0]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，又或者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aPtr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[5]+2)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的意義相當於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aPtr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[5][2]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，所以我們可以把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aPtr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當作二維陣列使用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" y="1285875"/>
            <a:ext cx="4505325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群組 3"/>
          <p:cNvGrpSpPr/>
          <p:nvPr/>
        </p:nvGrpSpPr>
        <p:grpSpPr>
          <a:xfrm>
            <a:off x="5648478" y="1557772"/>
            <a:ext cx="2877331" cy="2759076"/>
            <a:chOff x="5429250" y="1351756"/>
            <a:chExt cx="2877331" cy="2759076"/>
          </a:xfrm>
        </p:grpSpPr>
        <p:grpSp>
          <p:nvGrpSpPr>
            <p:cNvPr id="5" name="Group 64"/>
            <p:cNvGrpSpPr>
              <a:grpSpLocks/>
            </p:cNvGrpSpPr>
            <p:nvPr/>
          </p:nvGrpSpPr>
          <p:grpSpPr bwMode="auto">
            <a:xfrm>
              <a:off x="5430034" y="1351756"/>
              <a:ext cx="2876547" cy="2759076"/>
              <a:chOff x="2422" y="4093"/>
              <a:chExt cx="1812" cy="1738"/>
            </a:xfrm>
          </p:grpSpPr>
          <p:sp>
            <p:nvSpPr>
              <p:cNvPr id="45" name="Text Box 62"/>
              <p:cNvSpPr txBox="1">
                <a:spLocks noChangeArrowheads="1"/>
              </p:cNvSpPr>
              <p:nvPr/>
            </p:nvSpPr>
            <p:spPr bwMode="auto">
              <a:xfrm>
                <a:off x="2832" y="4416"/>
                <a:ext cx="1402" cy="1415"/>
              </a:xfrm>
              <a:prstGeom prst="rect">
                <a:avLst/>
              </a:prstGeom>
              <a:noFill/>
              <a:ln w="9525">
                <a:solidFill>
                  <a:srgbClr val="B2B2B2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r>
                  <a:rPr lang="en-US" altLang="zh-TW" sz="1400" b="1" dirty="0">
                    <a:latin typeface="Courier New" pitchFamily="49" charset="0"/>
                    <a:ea typeface="微軟正黑體" pitchFamily="34" charset="-120"/>
                  </a:rPr>
                  <a:t>  0   1   2   3   4</a:t>
                </a:r>
              </a:p>
              <a:p>
                <a:r>
                  <a:rPr lang="en-US" altLang="zh-TW" sz="1400" b="1" dirty="0">
                    <a:latin typeface="Courier New" pitchFamily="49" charset="0"/>
                    <a:ea typeface="微軟正黑體" pitchFamily="34" charset="-120"/>
                  </a:rPr>
                  <a:t>  5   6   7   8   9</a:t>
                </a:r>
              </a:p>
              <a:p>
                <a:r>
                  <a:rPr lang="en-US" altLang="zh-TW" sz="1400" b="1" dirty="0">
                    <a:latin typeface="Courier New" pitchFamily="49" charset="0"/>
                    <a:ea typeface="微軟正黑體" pitchFamily="34" charset="-120"/>
                  </a:rPr>
                  <a:t> 10  11  12  13  14</a:t>
                </a:r>
              </a:p>
              <a:p>
                <a:r>
                  <a:rPr lang="en-US" altLang="zh-TW" sz="1400" b="1" dirty="0">
                    <a:latin typeface="Courier New" pitchFamily="49" charset="0"/>
                    <a:ea typeface="微軟正黑體" pitchFamily="34" charset="-120"/>
                  </a:rPr>
                  <a:t> 15  16  17  18  19</a:t>
                </a:r>
              </a:p>
              <a:p>
                <a:r>
                  <a:rPr lang="en-US" altLang="zh-TW" sz="1400" b="1" dirty="0">
                    <a:latin typeface="Courier New" pitchFamily="49" charset="0"/>
                    <a:ea typeface="微軟正黑體" pitchFamily="34" charset="-120"/>
                  </a:rPr>
                  <a:t> 20  21  22  23  24</a:t>
                </a:r>
              </a:p>
              <a:p>
                <a:r>
                  <a:rPr lang="en-US" altLang="zh-TW" sz="1400" b="1" dirty="0">
                    <a:latin typeface="Courier New" pitchFamily="49" charset="0"/>
                    <a:ea typeface="微軟正黑體" pitchFamily="34" charset="-120"/>
                  </a:rPr>
                  <a:t> 25  26  27  28  29</a:t>
                </a:r>
              </a:p>
              <a:p>
                <a:r>
                  <a:rPr lang="en-US" altLang="zh-TW" sz="1400" b="1" dirty="0">
                    <a:latin typeface="Courier New" pitchFamily="49" charset="0"/>
                    <a:ea typeface="微軟正黑體" pitchFamily="34" charset="-120"/>
                  </a:rPr>
                  <a:t> 30  31  32  33  34</a:t>
                </a:r>
              </a:p>
              <a:p>
                <a:r>
                  <a:rPr lang="en-US" altLang="zh-TW" sz="1400" b="1" dirty="0">
                    <a:latin typeface="Courier New" pitchFamily="49" charset="0"/>
                    <a:ea typeface="微軟正黑體" pitchFamily="34" charset="-120"/>
                  </a:rPr>
                  <a:t> 35  36  37  38  39</a:t>
                </a:r>
              </a:p>
              <a:p>
                <a:r>
                  <a:rPr lang="en-US" altLang="zh-TW" sz="1400" b="1" dirty="0">
                    <a:latin typeface="Courier New" pitchFamily="49" charset="0"/>
                    <a:ea typeface="微軟正黑體" pitchFamily="34" charset="-120"/>
                  </a:rPr>
                  <a:t> 40  41  42  43  44</a:t>
                </a:r>
              </a:p>
              <a:p>
                <a:r>
                  <a:rPr lang="en-US" altLang="zh-TW" sz="1400" b="1" dirty="0">
                    <a:latin typeface="Courier New" pitchFamily="49" charset="0"/>
                    <a:ea typeface="微軟正黑體" pitchFamily="34" charset="-120"/>
                  </a:rPr>
                  <a:t> 45  46  47  48  49</a:t>
                </a:r>
              </a:p>
            </p:txBody>
          </p:sp>
          <p:sp>
            <p:nvSpPr>
              <p:cNvPr id="46" name="Text Box 63"/>
              <p:cNvSpPr txBox="1">
                <a:spLocks noChangeArrowheads="1"/>
              </p:cNvSpPr>
              <p:nvPr/>
            </p:nvSpPr>
            <p:spPr bwMode="auto">
              <a:xfrm>
                <a:off x="2422" y="4093"/>
                <a:ext cx="55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r>
                  <a:rPr lang="zh-TW" altLang="en-US" b="1" u="sng" dirty="0">
                    <a:ea typeface="微軟正黑體" pitchFamily="34" charset="-120"/>
                  </a:rPr>
                  <a:t>輸出：</a:t>
                </a:r>
              </a:p>
            </p:txBody>
          </p:sp>
        </p:grpSp>
        <p:grpSp>
          <p:nvGrpSpPr>
            <p:cNvPr id="6" name="Group 110"/>
            <p:cNvGrpSpPr>
              <a:grpSpLocks/>
            </p:cNvGrpSpPr>
            <p:nvPr/>
          </p:nvGrpSpPr>
          <p:grpSpPr bwMode="auto">
            <a:xfrm>
              <a:off x="5429250" y="1932780"/>
              <a:ext cx="575470" cy="2123359"/>
              <a:chOff x="2883" y="4183"/>
              <a:chExt cx="189" cy="910"/>
            </a:xfrm>
          </p:grpSpPr>
          <p:grpSp>
            <p:nvGrpSpPr>
              <p:cNvPr id="7" name="Group 67"/>
              <p:cNvGrpSpPr>
                <a:grpSpLocks/>
              </p:cNvGrpSpPr>
              <p:nvPr/>
            </p:nvGrpSpPr>
            <p:grpSpPr bwMode="auto">
              <a:xfrm rot="-5400000">
                <a:off x="2464" y="4602"/>
                <a:ext cx="910" cy="72"/>
                <a:chOff x="1344" y="3792"/>
                <a:chExt cx="2688" cy="143"/>
              </a:xfrm>
            </p:grpSpPr>
            <p:sp>
              <p:nvSpPr>
                <p:cNvPr id="19" name="Rectangle 68"/>
                <p:cNvSpPr>
                  <a:spLocks noChangeArrowheads="1"/>
                </p:cNvSpPr>
                <p:nvPr/>
              </p:nvSpPr>
              <p:spPr bwMode="auto">
                <a:xfrm>
                  <a:off x="3494" y="3792"/>
                  <a:ext cx="269" cy="1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eaVert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20" name="Rectangle 69"/>
                <p:cNvSpPr>
                  <a:spLocks noChangeArrowheads="1"/>
                </p:cNvSpPr>
                <p:nvPr/>
              </p:nvSpPr>
              <p:spPr bwMode="auto">
                <a:xfrm>
                  <a:off x="3763" y="3792"/>
                  <a:ext cx="269" cy="1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eaVert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21" name="Rectangle 70"/>
                <p:cNvSpPr>
                  <a:spLocks noChangeArrowheads="1"/>
                </p:cNvSpPr>
                <p:nvPr/>
              </p:nvSpPr>
              <p:spPr bwMode="auto">
                <a:xfrm>
                  <a:off x="3226" y="3792"/>
                  <a:ext cx="268" cy="1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eaVert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22" name="Rectangle 71"/>
                <p:cNvSpPr>
                  <a:spLocks noChangeArrowheads="1"/>
                </p:cNvSpPr>
                <p:nvPr/>
              </p:nvSpPr>
              <p:spPr bwMode="auto">
                <a:xfrm>
                  <a:off x="2957" y="3792"/>
                  <a:ext cx="269" cy="1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eaVert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23" name="Rectangle 72"/>
                <p:cNvSpPr>
                  <a:spLocks noChangeArrowheads="1"/>
                </p:cNvSpPr>
                <p:nvPr/>
              </p:nvSpPr>
              <p:spPr bwMode="auto">
                <a:xfrm>
                  <a:off x="2688" y="3792"/>
                  <a:ext cx="269" cy="1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eaVert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24" name="Line 73"/>
                <p:cNvSpPr>
                  <a:spLocks noChangeShapeType="1"/>
                </p:cNvSpPr>
                <p:nvPr/>
              </p:nvSpPr>
              <p:spPr bwMode="auto">
                <a:xfrm>
                  <a:off x="2688" y="3792"/>
                  <a:ext cx="134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25" name="Line 74"/>
                <p:cNvSpPr>
                  <a:spLocks noChangeShapeType="1"/>
                </p:cNvSpPr>
                <p:nvPr/>
              </p:nvSpPr>
              <p:spPr bwMode="auto">
                <a:xfrm>
                  <a:off x="2688" y="3935"/>
                  <a:ext cx="134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26" name="Line 75"/>
                <p:cNvSpPr>
                  <a:spLocks noChangeShapeType="1"/>
                </p:cNvSpPr>
                <p:nvPr/>
              </p:nvSpPr>
              <p:spPr bwMode="auto">
                <a:xfrm>
                  <a:off x="2688" y="3792"/>
                  <a:ext cx="0" cy="143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27" name="Line 76"/>
                <p:cNvSpPr>
                  <a:spLocks noChangeShapeType="1"/>
                </p:cNvSpPr>
                <p:nvPr/>
              </p:nvSpPr>
              <p:spPr bwMode="auto">
                <a:xfrm>
                  <a:off x="2957" y="3792"/>
                  <a:ext cx="0" cy="1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28" name="Line 77"/>
                <p:cNvSpPr>
                  <a:spLocks noChangeShapeType="1"/>
                </p:cNvSpPr>
                <p:nvPr/>
              </p:nvSpPr>
              <p:spPr bwMode="auto">
                <a:xfrm>
                  <a:off x="3226" y="3792"/>
                  <a:ext cx="0" cy="1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29" name="Line 78"/>
                <p:cNvSpPr>
                  <a:spLocks noChangeShapeType="1"/>
                </p:cNvSpPr>
                <p:nvPr/>
              </p:nvSpPr>
              <p:spPr bwMode="auto">
                <a:xfrm>
                  <a:off x="3494" y="3792"/>
                  <a:ext cx="0" cy="1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30" name="Line 79"/>
                <p:cNvSpPr>
                  <a:spLocks noChangeShapeType="1"/>
                </p:cNvSpPr>
                <p:nvPr/>
              </p:nvSpPr>
              <p:spPr bwMode="auto">
                <a:xfrm>
                  <a:off x="4032" y="3792"/>
                  <a:ext cx="0" cy="143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31" name="Line 80"/>
                <p:cNvSpPr>
                  <a:spLocks noChangeShapeType="1"/>
                </p:cNvSpPr>
                <p:nvPr/>
              </p:nvSpPr>
              <p:spPr bwMode="auto">
                <a:xfrm>
                  <a:off x="3763" y="3792"/>
                  <a:ext cx="0" cy="1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32" name="Rectangle 81"/>
                <p:cNvSpPr>
                  <a:spLocks noChangeArrowheads="1"/>
                </p:cNvSpPr>
                <p:nvPr/>
              </p:nvSpPr>
              <p:spPr bwMode="auto">
                <a:xfrm>
                  <a:off x="2150" y="3792"/>
                  <a:ext cx="269" cy="1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eaVert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33" name="Rectangle 82"/>
                <p:cNvSpPr>
                  <a:spLocks noChangeArrowheads="1"/>
                </p:cNvSpPr>
                <p:nvPr/>
              </p:nvSpPr>
              <p:spPr bwMode="auto">
                <a:xfrm>
                  <a:off x="2419" y="3792"/>
                  <a:ext cx="269" cy="1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eaVert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34" name="Rectangle 83"/>
                <p:cNvSpPr>
                  <a:spLocks noChangeArrowheads="1"/>
                </p:cNvSpPr>
                <p:nvPr/>
              </p:nvSpPr>
              <p:spPr bwMode="auto">
                <a:xfrm>
                  <a:off x="1882" y="3792"/>
                  <a:ext cx="268" cy="1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eaVert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35" name="Rectangle 84"/>
                <p:cNvSpPr>
                  <a:spLocks noChangeArrowheads="1"/>
                </p:cNvSpPr>
                <p:nvPr/>
              </p:nvSpPr>
              <p:spPr bwMode="auto">
                <a:xfrm>
                  <a:off x="1613" y="3792"/>
                  <a:ext cx="269" cy="1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eaVert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36" name="Rectangle 85"/>
                <p:cNvSpPr>
                  <a:spLocks noChangeArrowheads="1"/>
                </p:cNvSpPr>
                <p:nvPr/>
              </p:nvSpPr>
              <p:spPr bwMode="auto">
                <a:xfrm>
                  <a:off x="1344" y="3792"/>
                  <a:ext cx="269" cy="1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eaVert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37" name="Line 86"/>
                <p:cNvSpPr>
                  <a:spLocks noChangeShapeType="1"/>
                </p:cNvSpPr>
                <p:nvPr/>
              </p:nvSpPr>
              <p:spPr bwMode="auto">
                <a:xfrm>
                  <a:off x="1344" y="3792"/>
                  <a:ext cx="134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38" name="Line 87"/>
                <p:cNvSpPr>
                  <a:spLocks noChangeShapeType="1"/>
                </p:cNvSpPr>
                <p:nvPr/>
              </p:nvSpPr>
              <p:spPr bwMode="auto">
                <a:xfrm>
                  <a:off x="1344" y="3935"/>
                  <a:ext cx="134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39" name="Line 88"/>
                <p:cNvSpPr>
                  <a:spLocks noChangeShapeType="1"/>
                </p:cNvSpPr>
                <p:nvPr/>
              </p:nvSpPr>
              <p:spPr bwMode="auto">
                <a:xfrm>
                  <a:off x="1344" y="3792"/>
                  <a:ext cx="0" cy="143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40" name="Line 89"/>
                <p:cNvSpPr>
                  <a:spLocks noChangeShapeType="1"/>
                </p:cNvSpPr>
                <p:nvPr/>
              </p:nvSpPr>
              <p:spPr bwMode="auto">
                <a:xfrm>
                  <a:off x="1613" y="3792"/>
                  <a:ext cx="0" cy="1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41" name="Line 90"/>
                <p:cNvSpPr>
                  <a:spLocks noChangeShapeType="1"/>
                </p:cNvSpPr>
                <p:nvPr/>
              </p:nvSpPr>
              <p:spPr bwMode="auto">
                <a:xfrm>
                  <a:off x="1882" y="3792"/>
                  <a:ext cx="0" cy="1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42" name="Line 91"/>
                <p:cNvSpPr>
                  <a:spLocks noChangeShapeType="1"/>
                </p:cNvSpPr>
                <p:nvPr/>
              </p:nvSpPr>
              <p:spPr bwMode="auto">
                <a:xfrm>
                  <a:off x="2150" y="3792"/>
                  <a:ext cx="0" cy="1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43" name="Line 92"/>
                <p:cNvSpPr>
                  <a:spLocks noChangeShapeType="1"/>
                </p:cNvSpPr>
                <p:nvPr/>
              </p:nvSpPr>
              <p:spPr bwMode="auto">
                <a:xfrm>
                  <a:off x="2688" y="3792"/>
                  <a:ext cx="0" cy="143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44" name="Line 93"/>
                <p:cNvSpPr>
                  <a:spLocks noChangeShapeType="1"/>
                </p:cNvSpPr>
                <p:nvPr/>
              </p:nvSpPr>
              <p:spPr bwMode="auto">
                <a:xfrm>
                  <a:off x="2419" y="3792"/>
                  <a:ext cx="0" cy="1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</p:grpSp>
          <p:grpSp>
            <p:nvGrpSpPr>
              <p:cNvPr id="8" name="Group 109"/>
              <p:cNvGrpSpPr>
                <a:grpSpLocks/>
              </p:cNvGrpSpPr>
              <p:nvPr/>
            </p:nvGrpSpPr>
            <p:grpSpPr bwMode="auto">
              <a:xfrm>
                <a:off x="2928" y="4223"/>
                <a:ext cx="144" cy="821"/>
                <a:chOff x="2928" y="4223"/>
                <a:chExt cx="96" cy="821"/>
              </a:xfrm>
            </p:grpSpPr>
            <p:sp>
              <p:nvSpPr>
                <p:cNvPr id="9" name="Line 95"/>
                <p:cNvSpPr>
                  <a:spLocks noChangeShapeType="1"/>
                </p:cNvSpPr>
                <p:nvPr/>
              </p:nvSpPr>
              <p:spPr bwMode="auto">
                <a:xfrm rot="-5400000">
                  <a:off x="2976" y="4175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10" name="Line 99"/>
                <p:cNvSpPr>
                  <a:spLocks noChangeShapeType="1"/>
                </p:cNvSpPr>
                <p:nvPr/>
              </p:nvSpPr>
              <p:spPr bwMode="auto">
                <a:xfrm rot="-5400000">
                  <a:off x="2976" y="426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11" name="Line 100"/>
                <p:cNvSpPr>
                  <a:spLocks noChangeShapeType="1"/>
                </p:cNvSpPr>
                <p:nvPr/>
              </p:nvSpPr>
              <p:spPr bwMode="auto">
                <a:xfrm rot="-5400000">
                  <a:off x="2976" y="4357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12" name="Line 101"/>
                <p:cNvSpPr>
                  <a:spLocks noChangeShapeType="1"/>
                </p:cNvSpPr>
                <p:nvPr/>
              </p:nvSpPr>
              <p:spPr bwMode="auto">
                <a:xfrm rot="-5400000">
                  <a:off x="2976" y="4449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13" name="Line 102"/>
                <p:cNvSpPr>
                  <a:spLocks noChangeShapeType="1"/>
                </p:cNvSpPr>
                <p:nvPr/>
              </p:nvSpPr>
              <p:spPr bwMode="auto">
                <a:xfrm rot="-5400000">
                  <a:off x="2976" y="45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14" name="Line 103"/>
                <p:cNvSpPr>
                  <a:spLocks noChangeShapeType="1"/>
                </p:cNvSpPr>
                <p:nvPr/>
              </p:nvSpPr>
              <p:spPr bwMode="auto">
                <a:xfrm rot="-5400000">
                  <a:off x="2976" y="4631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15" name="Line 104"/>
                <p:cNvSpPr>
                  <a:spLocks noChangeShapeType="1"/>
                </p:cNvSpPr>
                <p:nvPr/>
              </p:nvSpPr>
              <p:spPr bwMode="auto">
                <a:xfrm rot="-5400000">
                  <a:off x="2976" y="472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16" name="Line 105"/>
                <p:cNvSpPr>
                  <a:spLocks noChangeShapeType="1"/>
                </p:cNvSpPr>
                <p:nvPr/>
              </p:nvSpPr>
              <p:spPr bwMode="auto">
                <a:xfrm rot="-5400000">
                  <a:off x="2976" y="481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17" name="Line 106"/>
                <p:cNvSpPr>
                  <a:spLocks noChangeShapeType="1"/>
                </p:cNvSpPr>
                <p:nvPr/>
              </p:nvSpPr>
              <p:spPr bwMode="auto">
                <a:xfrm rot="-5400000">
                  <a:off x="2976" y="4905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  <p:sp>
              <p:nvSpPr>
                <p:cNvPr id="18" name="Line 107"/>
                <p:cNvSpPr>
                  <a:spLocks noChangeShapeType="1"/>
                </p:cNvSpPr>
                <p:nvPr/>
              </p:nvSpPr>
              <p:spPr bwMode="auto">
                <a:xfrm rot="-5400000">
                  <a:off x="2976" y="499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 sz="4400"/>
                </a:p>
              </p:txBody>
            </p:sp>
          </p:grpSp>
        </p:grpSp>
      </p:grpSp>
      <p:sp>
        <p:nvSpPr>
          <p:cNvPr id="48" name="文字方塊 47"/>
          <p:cNvSpPr txBox="1"/>
          <p:nvPr/>
        </p:nvSpPr>
        <p:spPr>
          <a:xfrm>
            <a:off x="628650" y="909222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8-2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7426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動態取得記憶體：使用</a:t>
            </a:r>
            <a:r>
              <a:rPr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malloc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 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free()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799" y="1562099"/>
            <a:ext cx="7772401" cy="5114925"/>
          </a:xfrm>
        </p:spPr>
        <p:txBody>
          <a:bodyPr>
            <a:normAutofit/>
          </a:bodyPr>
          <a:lstStyle/>
          <a:p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stdlib.h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提供了兩個常用來管理記憶體的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functions</a:t>
            </a:r>
          </a:p>
          <a:p>
            <a:pPr lvl="1"/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malloc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記憶體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free()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釋放記憶體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malloc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參數是想要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取得的記憶體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(bytes)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回傳值的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是指向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void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型別的指標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，所以必須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依照想要的型別，對指標做強制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*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ptr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*)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malloc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array_size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sizeof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));</a:t>
            </a: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free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參數是指向想要釋放記憶體位置的指標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free(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ptr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);</a:t>
            </a:r>
          </a:p>
          <a:p>
            <a:pPr lvl="1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39120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2" y="365000"/>
            <a:ext cx="5038725" cy="4746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958846" y="5111375"/>
            <a:ext cx="8107367" cy="1693711"/>
          </a:xfrm>
        </p:spPr>
        <p:txBody>
          <a:bodyPr>
            <a:noAutofit/>
          </a:bodyPr>
          <a:lstStyle/>
          <a:p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附註：程式如果不斷取得記憶體，但沒有正確地用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free()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釋放不再用到的空間，一但原本用來記錄位址的指標變數的值被改變，例如指到了別的地方，則原本那塊記憶體就沒有人能找得到，也就沒人能再使用它，這會造成所謂的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memory leak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問題。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5368924" y="235662"/>
            <a:ext cx="3697290" cy="1922464"/>
            <a:chOff x="2640" y="2478"/>
            <a:chExt cx="2329" cy="1211"/>
          </a:xfrm>
        </p:grpSpPr>
        <p:sp>
          <p:nvSpPr>
            <p:cNvPr id="8" name="Text Box 48"/>
            <p:cNvSpPr txBox="1">
              <a:spLocks noChangeArrowheads="1"/>
            </p:cNvSpPr>
            <p:nvPr/>
          </p:nvSpPr>
          <p:spPr bwMode="auto">
            <a:xfrm>
              <a:off x="2688" y="2681"/>
              <a:ext cx="2281" cy="1008"/>
            </a:xfrm>
            <a:prstGeom prst="rect">
              <a:avLst/>
            </a:prstGeom>
            <a:noFill/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r>
                <a:rPr lang="en-US" altLang="zh-TW" sz="1400" b="1" dirty="0">
                  <a:latin typeface="Courier New" pitchFamily="49" charset="0"/>
                  <a:ea typeface="微軟正黑體" pitchFamily="34" charset="-120"/>
                </a:rPr>
                <a:t>How many doubles do you want? </a:t>
              </a:r>
              <a:r>
                <a:rPr lang="en-US" altLang="zh-TW" sz="1400" b="1" u="sng" dirty="0">
                  <a:latin typeface="Courier New" pitchFamily="49" charset="0"/>
                  <a:ea typeface="微軟正黑體" pitchFamily="34" charset="-120"/>
                </a:rPr>
                <a:t>10</a:t>
              </a:r>
            </a:p>
            <a:p>
              <a:r>
                <a:rPr lang="en-US" altLang="zh-TW" sz="1400" b="1" dirty="0">
                  <a:latin typeface="Courier New" pitchFamily="49" charset="0"/>
                  <a:ea typeface="微軟正黑體" pitchFamily="34" charset="-120"/>
                </a:rPr>
                <a:t>1: 0.563585</a:t>
              </a:r>
            </a:p>
            <a:p>
              <a:r>
                <a:rPr lang="en-US" altLang="zh-TW" sz="1400" b="1" dirty="0">
                  <a:latin typeface="Courier New" pitchFamily="49" charset="0"/>
                  <a:ea typeface="微軟正黑體" pitchFamily="34" charset="-120"/>
                </a:rPr>
                <a:t>3: 0.808741</a:t>
              </a:r>
            </a:p>
            <a:p>
              <a:r>
                <a:rPr lang="en-US" altLang="zh-TW" sz="1400" b="1" dirty="0">
                  <a:latin typeface="Courier New" pitchFamily="49" charset="0"/>
                  <a:ea typeface="微軟正黑體" pitchFamily="34" charset="-120"/>
                </a:rPr>
                <a:t>4: 0.585009</a:t>
              </a:r>
            </a:p>
            <a:p>
              <a:r>
                <a:rPr lang="en-US" altLang="zh-TW" sz="1400" b="1" dirty="0">
                  <a:latin typeface="Courier New" pitchFamily="49" charset="0"/>
                  <a:ea typeface="微軟正黑體" pitchFamily="34" charset="-120"/>
                </a:rPr>
                <a:t>7: 0.895962</a:t>
              </a:r>
            </a:p>
            <a:p>
              <a:r>
                <a:rPr lang="en-US" altLang="zh-TW" sz="1400" b="1" dirty="0">
                  <a:latin typeface="Courier New" pitchFamily="49" charset="0"/>
                  <a:ea typeface="微軟正黑體" pitchFamily="34" charset="-120"/>
                </a:rPr>
                <a:t>8: 0.822840</a:t>
              </a:r>
            </a:p>
            <a:p>
              <a:r>
                <a:rPr lang="en-US" altLang="zh-TW" sz="1400" b="1" dirty="0">
                  <a:latin typeface="Courier New" pitchFamily="49" charset="0"/>
                  <a:ea typeface="微軟正黑體" pitchFamily="34" charset="-120"/>
                </a:rPr>
                <a:t>9: 0.746605</a:t>
              </a:r>
            </a:p>
          </p:txBody>
        </p:sp>
        <p:sp>
          <p:nvSpPr>
            <p:cNvPr id="9" name="Text Box 49"/>
            <p:cNvSpPr txBox="1">
              <a:spLocks noChangeArrowheads="1"/>
            </p:cNvSpPr>
            <p:nvPr/>
          </p:nvSpPr>
          <p:spPr bwMode="auto">
            <a:xfrm>
              <a:off x="2640" y="2478"/>
              <a:ext cx="55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r>
                <a:rPr lang="zh-TW" altLang="en-US" b="1" u="sng" dirty="0">
                  <a:ea typeface="微軟正黑體" pitchFamily="34" charset="-120"/>
                </a:rPr>
                <a:t>輸出：</a:t>
              </a:r>
            </a:p>
          </p:txBody>
        </p:sp>
      </p:grpSp>
      <p:sp>
        <p:nvSpPr>
          <p:cNvPr id="6" name="向左箭號 5"/>
          <p:cNvSpPr/>
          <p:nvPr/>
        </p:nvSpPr>
        <p:spPr>
          <a:xfrm>
            <a:off x="3719507" y="2461963"/>
            <a:ext cx="1173166" cy="23812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4941889" y="2399800"/>
            <a:ext cx="4124325" cy="2308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exit(EXIT_FAILURE)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結束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程式並傳回錯誤訊息給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作業系統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exit()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這個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function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和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EXIT_FALURE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常數也都是 </a:t>
            </a:r>
            <a:r>
              <a:rPr lang="en-US" altLang="zh-TW" sz="2400" dirty="0" err="1">
                <a:latin typeface="微軟正黑體" pitchFamily="34" charset="-120"/>
                <a:ea typeface="微軟正黑體" pitchFamily="34" charset="-120"/>
              </a:rPr>
              <a:t>stdlib.h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提供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的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84165" y="26446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8-3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63182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247774"/>
            <a:ext cx="6806561" cy="4328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不定長度陣列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4350" y="5709165"/>
            <a:ext cx="8420100" cy="1148835"/>
          </a:xfrm>
        </p:spPr>
        <p:txBody>
          <a:bodyPr>
            <a:normAutofit fontScale="92500"/>
          </a:bodyPr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有效率分配記憶體，把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所有字串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都存起來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字串需使用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strlen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(buffer)+1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bytes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('\0'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所需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5362575" y="1391603"/>
            <a:ext cx="35718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u="sng" dirty="0" smtClean="0"/>
              <a:t>輸入</a:t>
            </a:r>
            <a:r>
              <a:rPr lang="en-US" altLang="zh-TW" sz="2400" b="1" u="sng" dirty="0"/>
              <a:t>/</a:t>
            </a:r>
            <a:r>
              <a:rPr lang="zh-TW" altLang="en-US" sz="2400" b="1" u="sng" dirty="0"/>
              <a:t>輸出</a:t>
            </a:r>
            <a:endParaRPr lang="en-US" altLang="zh-TW" sz="2400" b="1" u="sng" dirty="0"/>
          </a:p>
          <a:p>
            <a:r>
              <a:rPr lang="en-US" altLang="zh-TW" sz="2000" dirty="0"/>
              <a:t>A</a:t>
            </a:r>
          </a:p>
          <a:p>
            <a:r>
              <a:rPr lang="en-US" altLang="zh-TW" sz="2000" dirty="0"/>
              <a:t>b</a:t>
            </a:r>
          </a:p>
          <a:p>
            <a:r>
              <a:rPr lang="en-US" altLang="zh-TW" sz="2000" dirty="0"/>
              <a:t>Peter</a:t>
            </a:r>
          </a:p>
          <a:p>
            <a:r>
              <a:rPr lang="en-US" altLang="zh-TW" sz="2000" dirty="0"/>
              <a:t>Jim</a:t>
            </a:r>
            <a:br>
              <a:rPr lang="en-US" altLang="zh-TW" sz="2000" dirty="0"/>
            </a:br>
            <a:r>
              <a:rPr lang="en-US" altLang="zh-TW" sz="2000" dirty="0" err="1"/>
              <a:t>yaaaaaaaaaaaaaaaaaaaaaaaa</a:t>
            </a: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614363" y="858630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8-4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08524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87" y="1832513"/>
            <a:ext cx="6236780" cy="4906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6445" y="80010"/>
            <a:ext cx="7772401" cy="1325562"/>
          </a:xfrm>
        </p:spPr>
        <p:txBody>
          <a:bodyPr/>
          <a:lstStyle/>
          <a:p>
            <a:pPr algn="ctr"/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pointer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91879" y="1208559"/>
            <a:ext cx="5184576" cy="2474899"/>
          </a:xfrm>
        </p:spPr>
        <p:txBody>
          <a:bodyPr>
            <a:noAutofit/>
          </a:bodyPr>
          <a:lstStyle/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左邊這個例子使用了一個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指標依序儲存了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func1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func2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的位址。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pointer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能指向具有特定特徵的函數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。因而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所有被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同一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ointer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指向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函數必須具有相同的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參數和回傳型態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 flipH="1">
            <a:off x="114297" y="3683458"/>
            <a:ext cx="57214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3891879" y="5615081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 smtClean="0"/>
              <a:t>輸出</a:t>
            </a:r>
            <a:r>
              <a:rPr lang="en-US" altLang="zh-TW" sz="2400" b="1" dirty="0" smtClean="0"/>
              <a:t>:</a:t>
            </a:r>
            <a:endParaRPr lang="zh-TW" altLang="en-US" sz="24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4870900" y="5720803"/>
            <a:ext cx="3165517" cy="707886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dirty="0" err="1">
                <a:latin typeface="Consolas" pitchFamily="49" charset="0"/>
                <a:ea typeface="標楷體" pitchFamily="65" charset="-120"/>
                <a:cs typeface="Consolas" pitchFamily="49" charset="0"/>
              </a:rPr>
              <a:t>f</a:t>
            </a:r>
            <a:r>
              <a:rPr lang="en-US" altLang="zh-TW" sz="2000" dirty="0" err="1" smtClean="0">
                <a:latin typeface="Consolas" pitchFamily="49" charset="0"/>
                <a:ea typeface="標楷體" pitchFamily="65" charset="-120"/>
                <a:cs typeface="Consolas" pitchFamily="49" charset="0"/>
              </a:rPr>
              <a:t>un_ptr</a:t>
            </a:r>
            <a:r>
              <a:rPr lang="zh-TW" altLang="en-US" sz="2000" dirty="0" smtClean="0">
                <a:latin typeface="Consolas" pitchFamily="49" charset="0"/>
                <a:ea typeface="標楷體" pitchFamily="65" charset="-120"/>
                <a:cs typeface="Consolas" pitchFamily="49" charset="0"/>
              </a:rPr>
              <a:t>指向</a:t>
            </a:r>
            <a:r>
              <a:rPr lang="en-US" altLang="zh-TW" sz="2000" dirty="0" smtClean="0">
                <a:latin typeface="Consolas" pitchFamily="49" charset="0"/>
                <a:ea typeface="標楷體" pitchFamily="65" charset="-120"/>
                <a:cs typeface="Consolas" pitchFamily="49" charset="0"/>
              </a:rPr>
              <a:t>fun1 : 10</a:t>
            </a:r>
          </a:p>
          <a:p>
            <a:r>
              <a:rPr lang="en-US" altLang="zh-TW" sz="2000" dirty="0" err="1">
                <a:latin typeface="Consolas" pitchFamily="49" charset="0"/>
                <a:ea typeface="標楷體" pitchFamily="65" charset="-120"/>
                <a:cs typeface="Consolas" pitchFamily="49" charset="0"/>
              </a:rPr>
              <a:t>fun_ptr</a:t>
            </a:r>
            <a:r>
              <a:rPr lang="zh-TW" altLang="en-US" sz="2000" dirty="0">
                <a:latin typeface="Consolas" pitchFamily="49" charset="0"/>
                <a:ea typeface="標楷體" pitchFamily="65" charset="-120"/>
                <a:cs typeface="Consolas" pitchFamily="49" charset="0"/>
              </a:rPr>
              <a:t>指向</a:t>
            </a:r>
            <a:r>
              <a:rPr lang="en-US" altLang="zh-TW" sz="2000" dirty="0" smtClean="0">
                <a:latin typeface="Consolas" pitchFamily="49" charset="0"/>
                <a:ea typeface="標楷體" pitchFamily="65" charset="-120"/>
                <a:cs typeface="Consolas" pitchFamily="49" charset="0"/>
              </a:rPr>
              <a:t>fun2 : 4</a:t>
            </a:r>
            <a:endParaRPr lang="en-US" altLang="zh-TW" sz="2000" dirty="0">
              <a:latin typeface="Consolas" pitchFamily="49" charset="0"/>
              <a:ea typeface="標楷體" pitchFamily="65" charset="-120"/>
              <a:cs typeface="Consolas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91879" y="5517231"/>
            <a:ext cx="3813846" cy="9883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9" name="Line 3"/>
          <p:cNvSpPr>
            <a:spLocks noChangeShapeType="1"/>
          </p:cNvSpPr>
          <p:nvPr/>
        </p:nvSpPr>
        <p:spPr bwMode="auto">
          <a:xfrm flipH="1">
            <a:off x="114298" y="4181344"/>
            <a:ext cx="57214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247387" y="1442154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8-5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8791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void*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void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型態的指標沒有任何的型態資訊，所以只用來持有位址資訊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void 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可以指向任何類型的數據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您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不可以使用*運算子對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void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型態指標提取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</a:t>
            </a:r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(dereference)</a:t>
            </a: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必須轉型至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對應的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型態，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才能進行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以下以</a:t>
            </a:r>
            <a:r>
              <a:rPr lang="en-US" altLang="zh-TW" sz="32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stdlib.h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中的</a:t>
            </a:r>
            <a:r>
              <a:rPr lang="en-US" altLang="zh-TW" sz="32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qsort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函式為例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74066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qsort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4851" y="1735471"/>
            <a:ext cx="8603087" cy="503237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當我們要排序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(sort)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陣列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內的元素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時，可以自己實作各種排序演算法，也可以直接使用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qsort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qsort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函式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宣告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void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qsort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 void * base,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size_t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num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size_t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size,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 *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compar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) (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const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void *,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const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void * ) );</a:t>
            </a:r>
          </a:p>
          <a:p>
            <a:pPr lvl="1">
              <a:lnSpc>
                <a:spcPct val="12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第一個參數為所欲排序的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陣列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第二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個參數為該陣列的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個數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第三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個參數為利用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sizeof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計算陣列元素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所佔的記憶體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空間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第四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個參數為函數指標，須自行定義排序陣列的排序比較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方式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5213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3109" y="326490"/>
            <a:ext cx="7997781" cy="1325563"/>
          </a:xfrm>
        </p:spPr>
        <p:txBody>
          <a:bodyPr>
            <a:normAutofit/>
          </a:bodyPr>
          <a:lstStyle/>
          <a:p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 ( *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compar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 ) (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 void *,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 void * )</a:t>
            </a:r>
            <a:endParaRPr lang="zh-TW" alt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qsort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希望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使用者傳入一個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，藉此決定如何比較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參數分別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為兩個陣列元素的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元素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1,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元素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2)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當兩個元素相等時，回傳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當元素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應在元素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之前時，回傳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負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當元素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應在元素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之後時，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回傳正值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pointer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前面加 </a:t>
            </a:r>
            <a:r>
              <a:rPr lang="en-US" altLang="zh-TW" b="1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const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代表不會改變所指向的變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數值。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30648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00650" y="1781175"/>
            <a:ext cx="3771900" cy="4398963"/>
          </a:xfrm>
        </p:spPr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藉由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pointer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void*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讓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qsort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可以排序各種型態的元素。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886508"/>
            <a:ext cx="3800475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5272088" y="725268"/>
            <a:ext cx="27813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u="sng" dirty="0" smtClean="0"/>
              <a:t>輸出</a:t>
            </a:r>
            <a:endParaRPr lang="en-US" altLang="zh-TW" sz="3200" b="1" u="sng" dirty="0" smtClean="0"/>
          </a:p>
          <a:p>
            <a:r>
              <a:rPr lang="en-US" altLang="zh-TW" sz="2400" dirty="0" smtClean="0"/>
              <a:t>1 2 3 4 5 6 </a:t>
            </a:r>
            <a:endParaRPr lang="zh-TW" altLang="en-US" sz="24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785813" y="416362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8-6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06852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strcmp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在進入字串的排序之前，先補充一個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字串的函式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strcmp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strcmp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const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char*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str1,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const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char*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str2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);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此函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式會從第一個字元逐一比對，若相等則繼續直到有字元不相等或遇到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’\0’</a:t>
            </a: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回傳值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兩字串相等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等於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0: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第一個不相等字元的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ascii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code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相減的值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35119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排序字串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以下介紹如何排序字串來統整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pointer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的概念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在交換字串值時，我們不需要使用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strcpy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直接交換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char*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更有效率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</a:p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前面，當我們排序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的陣列時，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qsort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compare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函式傳入的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所以現在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char*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的陣列時，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qsort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compare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函式傳入的是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char*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的指標，也就是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char**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0160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76250"/>
            <a:ext cx="6629400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10100" y="3819525"/>
            <a:ext cx="4324350" cy="2636838"/>
          </a:xfrm>
        </p:spPr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要改變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char*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，也就是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address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，要使用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char**</a:t>
            </a: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利用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strcmp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，可以讓字串依照字典順序排序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a~z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5353050" y="772296"/>
            <a:ext cx="1102481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u="sng" dirty="0" smtClean="0"/>
              <a:t>輸入</a:t>
            </a:r>
            <a:endParaRPr lang="en-US" altLang="zh-TW" sz="2400" b="1" u="sng" dirty="0" smtClean="0"/>
          </a:p>
          <a:p>
            <a:r>
              <a:rPr lang="en-US" altLang="zh-TW" sz="2000" dirty="0" err="1" smtClean="0"/>
              <a:t>zaqq</a:t>
            </a:r>
            <a:endParaRPr lang="en-US" altLang="zh-TW" sz="2000" dirty="0"/>
          </a:p>
          <a:p>
            <a:r>
              <a:rPr lang="en-US" altLang="zh-TW" sz="2000" dirty="0" err="1"/>
              <a:t>Abc</a:t>
            </a:r>
            <a:endParaRPr lang="en-US" altLang="zh-TW" sz="2000" dirty="0"/>
          </a:p>
          <a:p>
            <a:r>
              <a:rPr lang="en-US" altLang="zh-TW" sz="2000" dirty="0"/>
              <a:t>ccc</a:t>
            </a:r>
          </a:p>
          <a:p>
            <a:r>
              <a:rPr lang="en-US" altLang="zh-TW" sz="2000" dirty="0" err="1" smtClean="0"/>
              <a:t>aaaaaa</a:t>
            </a:r>
            <a:endParaRPr lang="en-US" altLang="zh-TW" sz="2000" dirty="0" smtClean="0"/>
          </a:p>
          <a:p>
            <a:r>
              <a:rPr lang="en-US" altLang="zh-TW" sz="2000" dirty="0" err="1" smtClean="0"/>
              <a:t>wwwww</a:t>
            </a:r>
            <a:endParaRPr lang="en-US" altLang="zh-TW" sz="2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7145827" y="762772"/>
            <a:ext cx="1102481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u="sng" dirty="0"/>
              <a:t>輸出</a:t>
            </a:r>
            <a:endParaRPr lang="en-US" altLang="zh-TW" sz="2000" b="1" u="sng" dirty="0"/>
          </a:p>
          <a:p>
            <a:r>
              <a:rPr lang="en-US" altLang="zh-TW" sz="2000" dirty="0" err="1"/>
              <a:t>Abc</a:t>
            </a:r>
            <a:endParaRPr lang="en-US" altLang="zh-TW" sz="2000" dirty="0"/>
          </a:p>
          <a:p>
            <a:r>
              <a:rPr lang="en-US" altLang="zh-TW" sz="2000" dirty="0" err="1"/>
              <a:t>aaaaaa</a:t>
            </a:r>
            <a:endParaRPr lang="en-US" altLang="zh-TW" sz="2000" dirty="0"/>
          </a:p>
          <a:p>
            <a:r>
              <a:rPr lang="en-US" altLang="zh-TW" sz="2000" dirty="0"/>
              <a:t>ccc</a:t>
            </a:r>
          </a:p>
          <a:p>
            <a:r>
              <a:rPr lang="en-US" altLang="zh-TW" sz="2000" dirty="0" err="1"/>
              <a:t>wwwww</a:t>
            </a:r>
            <a:endParaRPr lang="en-US" altLang="zh-TW" sz="2000" dirty="0"/>
          </a:p>
          <a:p>
            <a:r>
              <a:rPr lang="en-US" altLang="zh-TW" sz="2000" dirty="0" err="1" smtClean="0"/>
              <a:t>zaqq</a:t>
            </a:r>
            <a:endParaRPr lang="zh-TW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1308100" y="3619500"/>
            <a:ext cx="127000" cy="24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59428" y="63083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8-7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75146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6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Recursion</a:t>
            </a:r>
            <a:endParaRPr lang="zh-TW" altLang="en-US" sz="6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46075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Recursion(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遞迴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Recursion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簡單的說就是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在執行的時候呼叫自己。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程式中使用到迴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圈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for,while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地方通常都可以改成用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recursion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方式來做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遞迴與迴圈一樣最重要的是終止條件。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 use recursion?</a:t>
            </a:r>
          </a:p>
          <a:p>
            <a:pPr marL="0" indent="0">
              <a:buNone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程式行數較少，方便撰寫。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迴圈好還是遞迴好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29876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三種遞迴方式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直接遞迴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(direct recursion)</a:t>
            </a:r>
            <a:b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最基本的遞迴，在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的中間呼叫自己。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間接遞迴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(indirect recursion)</a:t>
            </a:r>
            <a:b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先呼叫另一個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，再從那個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呼叫原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尾端遞迴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(tail recursion)</a:t>
            </a:r>
            <a:b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在程式的最後呼叫自己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沒什麼意義，不如用循序的方式寫。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36909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失敗的遞迴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5266928" cy="4557713"/>
          </a:xfrm>
        </p:spPr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如果遞迴程式如同右邊一樣，不給予任何終止條件，此程式將會產生執行錯誤。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628800"/>
            <a:ext cx="2448272" cy="2340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65341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遞迴範例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階乘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，左邊為遞迴寫法，右邊為迴圈寫法</a:t>
            </a: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420888"/>
            <a:ext cx="2552700" cy="415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506" y="2924944"/>
            <a:ext cx="2578100" cy="256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110506" y="2586390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8-8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724128" y="2090738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8-9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91494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遞迴範例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1(Cont.)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" y="1600200"/>
            <a:ext cx="3972292" cy="4104172"/>
          </a:xfrm>
        </p:spPr>
        <p:txBody>
          <a:bodyPr>
            <a:normAutofit/>
          </a:bodyPr>
          <a:lstStyle/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輸入輸出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出現錯誤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!??</a:t>
            </a: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linux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可能就會顯示下面訊息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也就是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“segmentation fault”</a:t>
            </a:r>
          </a:p>
          <a:p>
            <a:pPr marL="0" indent="0">
              <a:buNone/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670" y="1340768"/>
            <a:ext cx="5144297" cy="4019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80" y="3274159"/>
            <a:ext cx="3748087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3788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segmentation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fault?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898776" cy="4925144"/>
          </a:xfrm>
        </p:spPr>
        <p:txBody>
          <a:bodyPr>
            <a:normAutofit fontScale="77500" lnSpcReduction="20000"/>
          </a:bodyPr>
          <a:lstStyle/>
          <a:p>
            <a:pPr marL="285750" indent="-285750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所謂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segmentation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是指二進位檔案內的區域，所有某種特定型別資訊被保存在裡面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當程式在執行時，會給予一塊記憶體位置給程式做暫存用。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當你的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存取到不屬於他的區段時就會產生錯誤。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在上面範例中是因為輸入值過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大造成過多的遞迴次數，使得本身的記憶體區段不夠用，而存取到別的區段造成錯誤。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6156176" y="1841350"/>
            <a:ext cx="2016224" cy="4320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56176" y="3859311"/>
            <a:ext cx="2016224" cy="792088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prstClr val="white"/>
                </a:solidFill>
              </a:rPr>
              <a:t>DATA</a:t>
            </a:r>
            <a:endParaRPr lang="zh-TW" altLang="en-US" dirty="0">
              <a:solidFill>
                <a:prstClr val="white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6156176" y="2492896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6156176" y="2924944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6110039" y="4651399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6156176" y="3859311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6156176" y="5085184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156176" y="5517232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4863962" y="5332566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</a:rPr>
              <a:t>0x0001600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886404" y="4900518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</a:rPr>
              <a:t>0x00016FF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863962" y="4509120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</a:rPr>
              <a:t>0x0001800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86404" y="367464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</a:rPr>
              <a:t>0x00019FF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863962" y="274027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</a:rPr>
              <a:t>0x0002000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886404" y="230823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</a:rPr>
              <a:t>0x00020FF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20" name="直線單箭頭接點 19"/>
          <p:cNvCxnSpPr/>
          <p:nvPr/>
        </p:nvCxnSpPr>
        <p:spPr>
          <a:xfrm>
            <a:off x="4431914" y="4693786"/>
            <a:ext cx="43204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4902644" y="3109610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?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6453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07407E-6 L -0.00052 -0.037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375 L -3.33333E-6 -0.0585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5856 L -0.00052 -0.079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794 L -0.00052 -0.1215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2153 L -3.33333E-6 -0.2055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遞迴範例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以</a:t>
            </a:r>
            <a:r>
              <a:rPr lang="en-US" altLang="zh-TW" dirty="0" err="1" smtClean="0"/>
              <a:t>fibonacci</a:t>
            </a:r>
            <a:r>
              <a:rPr lang="zh-TW" altLang="en-US" dirty="0" smtClean="0"/>
              <a:t>數列做範例，左邊為遞迴寫法，右邊為迴圈寫法</a:t>
            </a:r>
            <a:endParaRPr lang="zh-TW" alt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523" y="2808122"/>
            <a:ext cx="3494087" cy="372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933" y="2808122"/>
            <a:ext cx="2794000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89256" y="2852934"/>
            <a:ext cx="1050288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8-10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522666" y="2852934"/>
            <a:ext cx="1050288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8-11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02141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遞迴</a:t>
            </a:r>
            <a:r>
              <a:rPr lang="zh-TW" altLang="en-US" dirty="0" smtClean="0"/>
              <a:t>範例</a:t>
            </a:r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4402832" cy="4525963"/>
          </a:xfrm>
        </p:spPr>
        <p:txBody>
          <a:bodyPr/>
          <a:lstStyle/>
          <a:p>
            <a:r>
              <a:rPr lang="zh-TW" altLang="en-US" dirty="0" smtClean="0"/>
              <a:t>這個</a:t>
            </a:r>
            <a:r>
              <a:rPr lang="zh-TW" altLang="en-US" smtClean="0"/>
              <a:t>範例是將</a:t>
            </a:r>
            <a:r>
              <a:rPr lang="zh-TW" altLang="en-US" dirty="0" smtClean="0"/>
              <a:t>字串所有的排列組合</a:t>
            </a:r>
            <a:r>
              <a:rPr lang="zh-TW" altLang="en-US" dirty="0"/>
              <a:t>印</a:t>
            </a:r>
            <a:r>
              <a:rPr lang="zh-TW" altLang="en-US" dirty="0" smtClean="0"/>
              <a:t>出。</a:t>
            </a:r>
            <a:endParaRPr lang="en-US" altLang="zh-TW" dirty="0" smtClean="0"/>
          </a:p>
          <a:p>
            <a:r>
              <a:rPr lang="en-US" altLang="zh-TW" dirty="0" smtClean="0"/>
              <a:t>list[]=“</a:t>
            </a:r>
            <a:r>
              <a:rPr lang="en-US" altLang="zh-TW" dirty="0" err="1" smtClean="0"/>
              <a:t>abc</a:t>
            </a:r>
            <a:r>
              <a:rPr lang="en-US" altLang="zh-TW" dirty="0" smtClean="0"/>
              <a:t>”,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=0,n=2</a:t>
            </a:r>
          </a:p>
          <a:p>
            <a:r>
              <a:rPr lang="zh-TW" altLang="en-US" dirty="0" smtClean="0"/>
              <a:t>輸出如下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616471"/>
            <a:ext cx="3836987" cy="480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9" y="4017564"/>
            <a:ext cx="3248025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5076056" y="1261646"/>
            <a:ext cx="1050288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8-12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99320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2555776" y="4869160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609279" y="6163024"/>
            <a:ext cx="1810593" cy="20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1605806" y="6056996"/>
            <a:ext cx="1810593" cy="172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經典範例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河內塔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308932"/>
          </a:xfrm>
        </p:spPr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根棍子，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個圓盤，每個圓盤大小都不一樣，一開始圓盤全部放在最左邊，從上到下為小到大，最終需將全部圓盤移動到最右邊，計算總共移動次數。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移動條件：一次移動一個，大圓盤不能在小圓盤上。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47553" y="5957871"/>
            <a:ext cx="1356295" cy="20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1844080" y="5851843"/>
            <a:ext cx="1356295" cy="172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23728" y="5767276"/>
            <a:ext cx="864096" cy="1820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2123728" y="5661248"/>
            <a:ext cx="864096" cy="21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14" name="直線接點 13"/>
          <p:cNvCxnSpPr/>
          <p:nvPr/>
        </p:nvCxnSpPr>
        <p:spPr>
          <a:xfrm>
            <a:off x="4716016" y="4775962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6732240" y="4798576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2366842" y="642760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A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557158" y="642760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B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577390" y="64353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C</a:t>
            </a:r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0829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線接點 10"/>
          <p:cNvCxnSpPr/>
          <p:nvPr/>
        </p:nvCxnSpPr>
        <p:spPr>
          <a:xfrm>
            <a:off x="4716016" y="2492896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6732240" y="2515510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經典範例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河內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塔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(Cont.)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7931224" cy="748680"/>
          </a:xfrm>
        </p:spPr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在這裡以三個圓盤做動畫範例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" name="直線接點 3"/>
          <p:cNvCxnSpPr/>
          <p:nvPr/>
        </p:nvCxnSpPr>
        <p:spPr>
          <a:xfrm>
            <a:off x="2555776" y="2586094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609279" y="3879958"/>
            <a:ext cx="1810593" cy="20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>
            <a:off x="1605806" y="3773930"/>
            <a:ext cx="1810593" cy="172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47553" y="3674805"/>
            <a:ext cx="1356295" cy="20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1844080" y="3568777"/>
            <a:ext cx="1356295" cy="172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23728" y="3484210"/>
            <a:ext cx="864096" cy="1820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2123728" y="3378182"/>
            <a:ext cx="864096" cy="21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366842" y="414908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A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557158" y="414908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B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577390" y="41568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C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7" name="內容版面配置區 2"/>
          <p:cNvSpPr txBox="1">
            <a:spLocks/>
          </p:cNvSpPr>
          <p:nvPr/>
        </p:nvSpPr>
        <p:spPr>
          <a:xfrm>
            <a:off x="395536" y="5128592"/>
            <a:ext cx="7931224" cy="748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共移動七次</a:t>
            </a:r>
            <a:endParaRPr lang="zh-TW" altLang="en-US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89060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04 -0.03727 0.00139 -0.05116 0.00469 -0.08125 C 0.00521 -0.1125 -0.0033 -0.1463 0.00625 -0.175 C 0.01007 -0.18658 0.02517 -0.17338 0.03438 -0.17084 C 0.05226 -0.16598 0.07083 -0.16412 0.08906 -0.1625 C 0.18194 -0.16366 0.23125 -0.16598 0.30938 -0.17084 C 0.33889 -0.17639 0.36128 -0.17986 0.39219 -0.18125 C 0.42778 -0.19074 0.40243 -0.18565 0.46875 -0.18334 C 0.47448 -0.17199 0.46927 -0.16204 0.46719 -0.15 C 0.46319 -0.12662 0.46215 -0.10255 0.45781 -0.07917 C 0.45712 -0.06736 0.45469 -0.05556 0.45469 -0.04375 C 0.45469 -0.00834 0.45781 0.01967 0.45781 0.05208 " pathEditMode="relative" ptsTypes="fffffffffff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04 -0.03727 0.00139 -0.05116 0.00469 -0.08125 C 0.00521 -0.1125 -0.0033 -0.1463 0.00625 -0.175 C 0.01007 -0.18658 0.02517 -0.17338 0.03438 -0.17084 C 0.05226 -0.16598 0.07083 -0.16412 0.08906 -0.1625 C 0.18194 -0.16366 0.23125 -0.16598 0.30938 -0.17084 C 0.33889 -0.17639 0.36128 -0.17986 0.39219 -0.18125 C 0.42778 -0.19074 0.40243 -0.18565 0.46875 -0.18334 C 0.47448 -0.17199 0.46927 -0.16204 0.46719 -0.15 C 0.46319 -0.12662 0.46215 -0.10255 0.45781 -0.07917 C 0.45712 -0.06736 0.45469 -0.05556 0.45469 -0.04375 C 0.45469 -0.00834 0.45781 0.01967 0.45781 0.05208 " pathEditMode="relative" ptsTypes="fffffffffffA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99 -0.03704 0.01059 -0.07338 0.01406 -0.11042 C 0.01284 -0.14722 0.01111 -0.16019 0.00781 -0.19167 C 0.00833 -0.20069 0.0026 -0.21736 0.00937 -0.21875 C 0.05069 -0.22778 0.09409 -0.22083 0.13594 -0.21458 C 0.15989 -0.19329 0.23941 -0.20023 0.25 -0.2 C 0.24861 -0.16019 0.24982 -0.16759 0.24687 -0.14167 C 0.24514 -0.12593 0.246 -0.13194 0.24219 -0.11667 C 0.24166 -0.11458 0.24062 -0.11042 0.24062 -0.11042 C 0.24236 -0.08796 0.24531 -0.0662 0.24687 -0.04375 C 0.24635 -0.02569 0.24531 0.01042 0.24531 0.01042 " pathEditMode="relative" ptsTypes="ffffffffff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99 -0.03704 0.01059 -0.07338 0.01406 -0.11042 C 0.01284 -0.14722 0.01111 -0.16019 0.00781 -0.19167 C 0.00833 -0.20069 0.0026 -0.21736 0.00937 -0.21875 C 0.05069 -0.22778 0.09409 -0.22083 0.13594 -0.21458 C 0.15989 -0.19329 0.23941 -0.20023 0.25 -0.2 C 0.24861 -0.16019 0.24982 -0.16759 0.24687 -0.14167 C 0.24514 -0.12593 0.246 -0.13194 0.24219 -0.11667 C 0.24166 -0.11458 0.24062 -0.11042 0.24062 -0.11042 C 0.24236 -0.08796 0.24531 -0.0662 0.24687 -0.04375 C 0.24635 -0.02569 0.24531 0.01042 0.24531 0.01042 " pathEditMode="relative" ptsTypes="ffffffffff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782 0.04166 C 0.46355 -0.01991 0.4533 -0.08287 0.4625 -0.14375 C 0.46146 -0.16598 0.46181 -0.18843 0.45938 -0.21042 C 0.45903 -0.21389 0.44132 -0.21875 0.44063 -0.21875 C 0.42188 -0.21991 0.40313 -0.22014 0.38438 -0.22084 C 0.34653 -0.22593 0.3099 -0.22431 0.27188 -0.22292 C 0.2448 -0.21389 0.26997 -0.22361 0.25313 -0.21459 C 0.25 -0.21297 0.24375 -0.21042 0.24375 -0.21019 C 0.23577 -0.19445 0.23907 -0.20324 0.23907 -0.16667 C 0.23907 -0.11111 0.21268 0.03935 0.24219 3.7037E-6 " pathEditMode="relative" rAng="0" ptsTypes="fffffffff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79" y="-1338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782 0.03889 C 0.46355 -0.02268 0.4533 -0.08565 0.4625 -0.14653 C 0.46146 -0.16875 0.46181 -0.1912 0.45938 -0.21319 C 0.45903 -0.21666 0.44132 -0.22153 0.44063 -0.22153 C 0.42188 -0.22268 0.40313 -0.22291 0.38438 -0.22361 C 0.34653 -0.2287 0.3099 -0.22708 0.27188 -0.22569 C 0.2448 -0.21666 0.26997 -0.22639 0.25313 -0.21736 C 0.25 -0.21574 0.24375 -0.21319 0.24375 -0.21296 C 0.23577 -0.19722 0.23907 -0.20602 0.23907 -0.16944 C 0.23907 -0.11389 0.21268 0.03658 0.24219 -0.00278 " pathEditMode="relative" rAng="0" ptsTypes="fffffffff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79" y="-13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1365 C 0.00347 -0.00926 0.00139 -0.00047 0.00469 -0.01343 C 0.00903 -0.05394 0.0066 -0.09653 0.0125 -0.13635 C 0.01302 -0.16065 0.01285 -0.18496 0.01406 -0.20926 C 0.01493 -0.22732 0.00729 -0.25348 0.01875 -0.26343 C 0.03403 -0.27685 0.05521 -0.26204 0.07344 -0.26135 C 0.14271 -0.24584 0.21667 -0.25 0.28594 -0.24885 C 0.30122 -0.24653 0.31406 -0.24398 0.32969 -0.2426 C 0.35538 -0.23403 0.31875 -0.2456 0.39063 -0.23843 C 0.3934 -0.2382 0.39566 -0.23496 0.39844 -0.23426 C 0.41233 -0.23102 0.42674 -0.23102 0.44063 -0.22801 C 0.45 -0.22871 0.45938 -0.22894 0.46875 -0.2301 C 0.47031 -0.23033 0.47205 -0.23357 0.47344 -0.23218 C 0.47517 -0.23056 0.47448 -0.22662 0.475 -0.22385 C 0.46927 -0.2007 0.47135 -0.17593 0.46563 -0.15301 C 0.46649 -0.10625 0.47031 -0.05996 0.47031 -0.01343 " pathEditMode="relative" rAng="0" ptsTypes="fffffffffffffffA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50" y="-1453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0.01366 C 0.00348 -0.00926 0.00139 -0.00046 0.00469 -0.01342 C 0.00903 -0.05393 0.0066 -0.09653 0.0125 -0.13634 C 0.01302 -0.16065 0.01285 -0.18495 0.01407 -0.20926 C 0.01493 -0.22731 0.00729 -0.25347 0.01875 -0.26342 C 0.03403 -0.27685 0.05521 -0.26204 0.07344 -0.26134 C 0.14271 -0.24583 0.21667 -0.25 0.28594 -0.24884 C 0.30122 -0.24653 0.31407 -0.24398 0.32969 -0.24259 C 0.35538 -0.23403 0.31875 -0.2456 0.39063 -0.23842 C 0.39341 -0.23819 0.39566 -0.23495 0.39844 -0.23426 C 0.41233 -0.23102 0.42674 -0.23102 0.44063 -0.22801 C 0.45 -0.2287 0.45938 -0.22893 0.46875 -0.23009 C 0.47032 -0.23032 0.47205 -0.23356 0.47344 -0.23217 C 0.47518 -0.23055 0.47448 -0.22662 0.475 -0.22384 C 0.46927 -0.20069 0.47136 -0.17592 0.46563 -0.15301 C 0.4665 -0.10625 0.47032 -0.05995 0.47032 -0.01342 " pathEditMode="relative" rAng="0" ptsTypes="fffffffffffffffA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50" y="-1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438 3.7037E-6 C 0.23577 -0.02107 0.23681 -0.0419 0.24063 -0.0625 C 0.23959 -0.1632 0.24254 -0.17084 0.23282 -0.23542 C 0.22188 -0.2257 0.23195 -0.23311 0.20782 -0.22917 C 0.18612 -0.22547 0.16285 -0.22477 0.14063 -0.22292 C 0.11146 -0.21644 0.14427 -0.22292 0.07657 -0.22292 C 0.05365 -0.22292 0.03073 -0.22153 0.00782 -0.22084 C 0.01372 -0.17431 0.00643 -0.12894 0.00157 -0.08334 C -0.00034 -0.06528 -0.00138 -0.04676 -0.00468 -0.02917 C -0.00555 -0.01667 -0.00781 -0.00417 -0.00781 0.00833 C -0.00781 0.0243 -0.00625 0.05625 -0.00625 0.05648 " pathEditMode="relative" rAng="0" ptsTypes="ffffffffffA">
                                      <p:cBhvr>
                                        <p:cTn id="3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01" y="-895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438 -1.85185E-6 C 0.23577 -0.02106 0.23681 -0.0419 0.24063 -0.0625 C 0.23959 -0.16319 0.24254 -0.17083 0.23282 -0.23541 C 0.22188 -0.22569 0.23195 -0.2331 0.20782 -0.22916 C 0.18612 -0.22546 0.16285 -0.22477 0.14063 -0.22291 C 0.11146 -0.21643 0.14427 -0.22291 0.07657 -0.22291 C 0.05365 -0.22291 0.03073 -0.22153 0.00782 -0.22083 C 0.01372 -0.1743 0.00643 -0.12893 0.00157 -0.08333 C -0.00034 -0.06528 -0.00138 -0.04676 -0.00468 -0.02916 C -0.00555 -0.01666 -0.00781 -0.00416 -0.00781 0.00834 C -0.00781 0.02431 -0.00625 0.05625 -0.00625 0.05648 " pathEditMode="relative" rAng="0" ptsTypes="ffffffffffA">
                                      <p:cBhvr>
                                        <p:cTn id="3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01" y="-8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993 4.07407E-6 C 0.24079 -0.05996 0.24357 -0.10625 0.24618 -0.1625 C 0.24739 -0.1875 0.24357 -0.21366 0.2493 -0.2375 C 0.25086 -0.24422 0.25972 -0.23889 0.26493 -0.23959 C 0.43107 -0.23774 0.39045 -0.24954 0.46336 -0.23334 C 0.4618 -0.23195 0.45972 -0.23125 0.45868 -0.22917 C 0.45746 -0.22686 0.45763 -0.22362 0.45711 -0.22084 C 0.45486 -0.21042 0.45243 -0.20024 0.45086 -0.18959 C 0.45138 -0.16737 0.45156 -0.14514 0.45243 -0.12292 C 0.45295 -0.10857 0.4585 -0.09653 0.4618 -0.08334 C 0.46684 -0.0632 0.46493 -0.03704 0.46493 -0.01667 " pathEditMode="relative" rAng="0" ptsTypes="ffffffffffA">
                                      <p:cBhvr>
                                        <p:cTn id="3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37" y="-12477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993 -3.7037E-7 C 0.2408 -0.05995 0.24357 -0.10625 0.24618 -0.1625 C 0.24739 -0.1875 0.24357 -0.21366 0.2493 -0.2375 C 0.25087 -0.24421 0.25972 -0.23889 0.26493 -0.23958 C 0.43107 -0.23773 0.39045 -0.24954 0.46337 -0.23333 C 0.4618 -0.23194 0.45972 -0.23125 0.45868 -0.22917 C 0.45746 -0.22685 0.45764 -0.22361 0.45712 -0.22083 C 0.45486 -0.21042 0.45243 -0.20023 0.45087 -0.18958 C 0.45139 -0.16736 0.45156 -0.14514 0.45243 -0.12292 C 0.45295 -0.10856 0.45851 -0.09653 0.4618 -0.08333 C 0.46684 -0.06319 0.46493 -0.03704 0.46493 -0.01667 " pathEditMode="relative" rAng="0" ptsTypes="ffffffffffA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37" y="-1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29 0.03773 C -0.00607 -0.00834 -0.00503 -0.05371 -0.00885 -0.09977 C -0.00781 -0.14213 -0.02361 -0.1919 -0.00573 -0.22686 C -0.00468 -0.22871 0.10695 -0.22084 0.11459 -0.22061 C 0.15209 -0.20811 0.19862 -0.2132 0.2349 -0.21227 C 0.31129 -0.19954 0.39046 -0.20903 0.46771 -0.20602 C 0.46563 -0.19491 0.4658 -0.18357 0.46302 -0.17269 C 0.46355 -0.12269 0.46459 -0.02269 0.46459 -0.02246 " pathEditMode="relative" rAng="0" ptsTypes="fffffff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-1333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29 0.03773 C -0.00607 -0.00833 -0.00503 -0.0537 -0.00885 -0.09977 C -0.00781 -0.14213 -0.02361 -0.1919 -0.00573 -0.22685 C -0.00468 -0.2287 0.10695 -0.22083 0.11459 -0.2206 C 0.15209 -0.2081 0.19862 -0.21319 0.2349 -0.21227 C 0.31129 -0.19954 0.39046 -0.20903 0.46771 -0.20602 C 0.46563 -0.19491 0.4658 -0.18356 0.46302 -0.17268 C 0.46355 -0.12268 0.46459 -0.02268 0.46459 -0.02245 " pathEditMode="relative" rAng="0" ptsTypes="fffffff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-1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經典範例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河內塔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(Cont.)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如何用遞迴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Step1: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把較小兩個從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移動到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Step2: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把最大的從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移動到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Step3: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把較小兩個從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移動到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79652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經典範例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河內塔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(Cont.)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558240" cy="4525963"/>
          </a:xfrm>
        </p:spPr>
        <p:txBody>
          <a:bodyPr>
            <a:normAutofit fontScale="92500"/>
          </a:bodyPr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範例程式將移動次數紀錄下來。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Step1: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把較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n-1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移動到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Step2: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把最大的從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移動到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Step3: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把較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n-1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移動到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708795"/>
            <a:ext cx="4326759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線單箭頭接點 5"/>
          <p:cNvCxnSpPr/>
          <p:nvPr/>
        </p:nvCxnSpPr>
        <p:spPr>
          <a:xfrm>
            <a:off x="4716016" y="4005064"/>
            <a:ext cx="8640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4716016" y="4221088"/>
            <a:ext cx="8640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4716016" y="4437112"/>
            <a:ext cx="8640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4015440" y="3820398"/>
            <a:ext cx="78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step1</a:t>
            </a:r>
            <a:endParaRPr lang="zh-TW" altLang="en-US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001805" y="4036422"/>
            <a:ext cx="78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step2</a:t>
            </a:r>
            <a:endParaRPr lang="zh-TW" altLang="en-US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001805" y="4252446"/>
            <a:ext cx="78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step3</a:t>
            </a:r>
            <a:endParaRPr lang="zh-TW" altLang="en-US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716016" y="1373461"/>
            <a:ext cx="1050288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8-13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60090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Modular</a:t>
            </a:r>
            <a:r>
              <a:rPr lang="zh-TW" altLang="en-US" sz="4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Programming</a:t>
            </a:r>
            <a:r>
              <a:rPr lang="zh-TW" altLang="en-US" sz="4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13957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5770927"/>
            <a:ext cx="4861775" cy="10183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1759"/>
            <a:ext cx="6072390" cy="20809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2374581"/>
            <a:ext cx="4861774" cy="33963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字方塊 7"/>
          <p:cNvSpPr txBox="1"/>
          <p:nvPr/>
        </p:nvSpPr>
        <p:spPr>
          <a:xfrm>
            <a:off x="6529590" y="7709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m</a:t>
            </a:r>
            <a:r>
              <a:rPr lang="en-US" altLang="zh-TW" dirty="0" err="1" smtClean="0"/>
              <a:t>ain.c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5331855" y="2342747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hanoi.c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31855" y="5770927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hanoi.h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626642" y="549213"/>
            <a:ext cx="1050288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8-14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345194" y="2374581"/>
            <a:ext cx="25628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當程式越寫越大的時候，我們會希望程式能夠模組化，最基本的就是把一些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抽出來放在另外一個檔案裡面。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並使用一個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header file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讓其他檔案要使用該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的時候可以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include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它。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左邊為一個基本的範例。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74804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5770927"/>
            <a:ext cx="4861775" cy="10183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1759"/>
            <a:ext cx="6072390" cy="20809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2374581"/>
            <a:ext cx="4861774" cy="33963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字方塊 7"/>
          <p:cNvSpPr txBox="1"/>
          <p:nvPr/>
        </p:nvSpPr>
        <p:spPr>
          <a:xfrm>
            <a:off x="6529590" y="7709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m</a:t>
            </a:r>
            <a:r>
              <a:rPr lang="en-US" altLang="zh-TW" dirty="0" err="1" smtClean="0"/>
              <a:t>ain.c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5331855" y="2342747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hanoi.c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31855" y="5770927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hanoi.h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626642" y="549213"/>
            <a:ext cx="1050288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8-14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345194" y="2374581"/>
            <a:ext cx="25628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此範例是由範例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8-13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修改的，執行結果同範例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8-13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此範例單純將本來範例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8-13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的一個檔案分成三個。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2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hanoi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這個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的宣告在</a:t>
            </a:r>
            <a:r>
              <a:rPr lang="en-US" altLang="zh-TW" sz="2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hanoi.h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裡面，所以</a:t>
            </a:r>
            <a:r>
              <a:rPr lang="en-US" altLang="zh-TW" sz="2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main.c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需要在最前面的地方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include </a:t>
            </a:r>
            <a:r>
              <a:rPr lang="en-US" altLang="zh-TW" sz="2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hanoi.h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才可以使用它。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Line 3"/>
          <p:cNvSpPr>
            <a:spLocks noChangeShapeType="1"/>
          </p:cNvSpPr>
          <p:nvPr/>
        </p:nvSpPr>
        <p:spPr bwMode="auto">
          <a:xfrm flipH="1">
            <a:off x="-114945" y="644044"/>
            <a:ext cx="57214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15" name="Line 3"/>
          <p:cNvSpPr>
            <a:spLocks noChangeShapeType="1"/>
          </p:cNvSpPr>
          <p:nvPr/>
        </p:nvSpPr>
        <p:spPr bwMode="auto">
          <a:xfrm flipH="1" flipV="1">
            <a:off x="3515931" y="1193784"/>
            <a:ext cx="364900" cy="324903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16" name="Line 3"/>
          <p:cNvSpPr>
            <a:spLocks noChangeShapeType="1"/>
          </p:cNvSpPr>
          <p:nvPr/>
        </p:nvSpPr>
        <p:spPr bwMode="auto">
          <a:xfrm flipH="1">
            <a:off x="-114946" y="6383728"/>
            <a:ext cx="57214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160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5770927"/>
            <a:ext cx="4861775" cy="10183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1759"/>
            <a:ext cx="6072390" cy="20809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2374581"/>
            <a:ext cx="4861774" cy="33963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字方塊 7"/>
          <p:cNvSpPr txBox="1"/>
          <p:nvPr/>
        </p:nvSpPr>
        <p:spPr>
          <a:xfrm>
            <a:off x="6529590" y="7709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m</a:t>
            </a:r>
            <a:r>
              <a:rPr lang="en-US" altLang="zh-TW" dirty="0" err="1" smtClean="0"/>
              <a:t>ain.c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5331855" y="2342747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hanoi.c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31855" y="5770927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hanoi.h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626642" y="549213"/>
            <a:ext cx="1050288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8-14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345194" y="2374581"/>
            <a:ext cx="268289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由於在多檔案的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project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中，可能會有多個檔案同時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include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到同一個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header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hanoi.h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最前面的兩行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1)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是告訴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compiler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不要重覆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include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到同一個檔案。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請記得在最後面加上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#</a:t>
            </a:r>
            <a:r>
              <a:rPr lang="en-US" altLang="zh-TW" sz="2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endif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Line 3"/>
          <p:cNvSpPr>
            <a:spLocks noChangeShapeType="1"/>
          </p:cNvSpPr>
          <p:nvPr/>
        </p:nvSpPr>
        <p:spPr bwMode="auto">
          <a:xfrm flipH="1">
            <a:off x="-114945" y="6023120"/>
            <a:ext cx="57214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8929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5770927"/>
            <a:ext cx="4861775" cy="10183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1759"/>
            <a:ext cx="6072390" cy="20809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2374581"/>
            <a:ext cx="4861774" cy="33963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字方塊 7"/>
          <p:cNvSpPr txBox="1"/>
          <p:nvPr/>
        </p:nvSpPr>
        <p:spPr>
          <a:xfrm>
            <a:off x="6529590" y="7709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m</a:t>
            </a:r>
            <a:r>
              <a:rPr lang="en-US" altLang="zh-TW" dirty="0" err="1" smtClean="0"/>
              <a:t>ain.c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5331855" y="2342747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hanoi.c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31855" y="5770927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hanoi.h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626642" y="549213"/>
            <a:ext cx="1050288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8-14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529590" y="1015405"/>
            <a:ext cx="254739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我們提供的範例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code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是用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code::blocks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project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做範例，所以將此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project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打開就可以直接做編譯及執行。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其餘的程式編輯軟體也都是使用類似的方式。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而使用指令列或</a:t>
            </a:r>
            <a:r>
              <a:rPr lang="en-US" altLang="zh-TW" sz="2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linux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相關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OS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，需要使用下面的指令做編譯。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其餘細節會另外做補充。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Line 3"/>
          <p:cNvSpPr>
            <a:spLocks noChangeShapeType="1"/>
          </p:cNvSpPr>
          <p:nvPr/>
        </p:nvSpPr>
        <p:spPr bwMode="auto">
          <a:xfrm flipH="1">
            <a:off x="-114945" y="6023120"/>
            <a:ext cx="57214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6412213" y="5401595"/>
            <a:ext cx="2664768" cy="369332"/>
          </a:xfrm>
          <a:prstGeom prst="rect">
            <a:avLst/>
          </a:prstGeom>
          <a:noFill/>
          <a:ln>
            <a:solidFill>
              <a:srgbClr val="D90B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err="1"/>
              <a:t>g</a:t>
            </a:r>
            <a:r>
              <a:rPr lang="en-US" altLang="zh-TW" dirty="0" err="1" smtClean="0"/>
              <a:t>cc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main.c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hanoi.c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hanoi.h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91468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－引用防護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3014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在開發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語言專案時，我們通常在每一個標頭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(header file)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開始與結尾，使用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ifndef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#define #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endif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的方式防止重複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引用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(include)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在某些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語言編譯器中，提供了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#pragma once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這樣的編譯指引，可以避免冗長的引用防護撰寫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語法。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523053" y="6468929"/>
            <a:ext cx="4122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參考資料：</a:t>
            </a:r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http://ccckmit.wikidot.com/cp:includeguard</a:t>
            </a:r>
            <a:endParaRPr lang="zh-TW" altLang="en-US" sz="1200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9656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條件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747752" y="1417638"/>
            <a:ext cx="5306096" cy="5336846"/>
          </a:xfrm>
        </p:spPr>
        <p:txBody>
          <a:bodyPr wrap="square">
            <a:spAutoFit/>
          </a:bodyPr>
          <a:lstStyle/>
          <a:p>
            <a:pPr indent="-360000">
              <a:lnSpc>
                <a:spcPct val="120000"/>
              </a:lnSpc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當你所編譯的程式需要在不同的平台或不同的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OS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上編譯，這時候就需要使用旗標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(flags)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來達到條件編譯。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60000">
              <a:lnSpc>
                <a:spcPct val="120000"/>
              </a:lnSpc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左邊為簡單的範例。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60000">
              <a:lnSpc>
                <a:spcPct val="120000"/>
              </a:lnSpc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當編譯的時候加上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-Dx86_64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的時候，輸出會是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x86_64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60000">
              <a:lnSpc>
                <a:spcPct val="120000"/>
              </a:lnSpc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同理，編譯的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flags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就是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-D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後面接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define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的名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稱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60000">
              <a:lnSpc>
                <a:spcPct val="120000"/>
              </a:lnSpc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60000">
              <a:lnSpc>
                <a:spcPct val="120000"/>
              </a:lnSpc>
            </a:pP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Code::blocks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的設定方式會在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appendix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說明。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57200" y="1170365"/>
            <a:ext cx="1050288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8-15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H="1">
            <a:off x="-1" y="2764764"/>
            <a:ext cx="418563" cy="4193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H="1">
            <a:off x="-2920" y="3264894"/>
            <a:ext cx="418563" cy="4193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8" name="Line 3"/>
          <p:cNvSpPr>
            <a:spLocks noChangeShapeType="1"/>
          </p:cNvSpPr>
          <p:nvPr/>
        </p:nvSpPr>
        <p:spPr bwMode="auto">
          <a:xfrm flipH="1">
            <a:off x="-2921" y="3790782"/>
            <a:ext cx="418563" cy="4193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9" name="Line 3"/>
          <p:cNvSpPr>
            <a:spLocks noChangeShapeType="1"/>
          </p:cNvSpPr>
          <p:nvPr/>
        </p:nvSpPr>
        <p:spPr bwMode="auto">
          <a:xfrm flipH="1">
            <a:off x="-2922" y="4327514"/>
            <a:ext cx="418563" cy="4193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10" name="Line 3"/>
          <p:cNvSpPr>
            <a:spLocks noChangeShapeType="1"/>
          </p:cNvSpPr>
          <p:nvPr/>
        </p:nvSpPr>
        <p:spPr bwMode="auto">
          <a:xfrm flipH="1">
            <a:off x="0" y="4849209"/>
            <a:ext cx="418563" cy="4193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726546" y="5282596"/>
            <a:ext cx="2691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 smtClean="0"/>
              <a:t>例：</a:t>
            </a:r>
            <a:r>
              <a:rPr lang="en-US" altLang="zh-TW" sz="2000" dirty="0" err="1" smtClean="0"/>
              <a:t>gcc</a:t>
            </a:r>
            <a:r>
              <a:rPr lang="en-US" altLang="zh-TW" sz="2000" dirty="0" smtClean="0"/>
              <a:t> 8-15.c –D</a:t>
            </a:r>
            <a:r>
              <a:rPr lang="en-US" altLang="zh-TW" sz="2000" dirty="0" smtClean="0">
                <a:solidFill>
                  <a:srgbClr val="FF0000"/>
                </a:solidFill>
              </a:rPr>
              <a:t>ARM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41" y="1637285"/>
            <a:ext cx="3011988" cy="395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28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6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Appendix</a:t>
            </a:r>
            <a:endParaRPr lang="zh-TW" altLang="en-US" sz="6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16688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pragma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一個編譯程式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定向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(pragma)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由程式師嵌入於原始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程式碼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(source code)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資料，以告知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編譯器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如何編譯，其他原始程式碼則告知編譯器應當編譯什麼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不同的編譯器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(compiler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有不同的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pragma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實作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以下簡介如何在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Code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</a:t>
            </a:r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裡面設定編譯旗標。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79098" y="6378777"/>
            <a:ext cx="8785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參考資料：</a:t>
            </a:r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http://zh.wikipedia.org/wiki/%E7%B7%A8%E8%AD%AF%E7%A8%8B%E5%BC%8F%E5%AE%9A%E5%90%91</a:t>
            </a:r>
            <a:endParaRPr lang="zh-TW" altLang="en-US" sz="1200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0631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compile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的旗標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(flags)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00955"/>
            <a:ext cx="7527701" cy="627846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tep1(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以範例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8-15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96" y="1828801"/>
            <a:ext cx="8608470" cy="458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156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compile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的旗標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(flags)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00955"/>
            <a:ext cx="7527701" cy="627846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step2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628" y="1417638"/>
            <a:ext cx="5776241" cy="526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221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compile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的旗標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(flags)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00955"/>
            <a:ext cx="7527701" cy="627846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step3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099" y="1417638"/>
            <a:ext cx="5792184" cy="531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493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compile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的旗標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(flags)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00955"/>
            <a:ext cx="7527701" cy="627846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step4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923" y="1311167"/>
            <a:ext cx="5984849" cy="543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875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compile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的旗標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(flags)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00955"/>
            <a:ext cx="7527701" cy="1077218"/>
          </a:xfrm>
        </p:spPr>
        <p:txBody>
          <a:bodyPr>
            <a:spAutoFit/>
          </a:bodyPr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step5</a:t>
            </a:r>
            <a:b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編譯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94050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Standard library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stdio.h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18269"/>
          </a:xfrm>
        </p:spPr>
        <p:txBody>
          <a:bodyPr>
            <a:spAutoFit/>
          </a:bodyPr>
          <a:lstStyle/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remove(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const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char∗ ﬁlename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移除檔案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rename(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const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char∗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oldname,const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char∗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newname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修改檔案名稱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FILE∗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tmpﬁle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(void)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建立一個暫存檔，其模式是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wb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char∗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tmpnam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(char s[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L_tmpnam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])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建立一個暫存名稱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99926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Standard library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ctype.h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16344" cy="4721292"/>
          </a:xfrm>
        </p:spPr>
        <p:txBody>
          <a:bodyPr>
            <a:spAutoFit/>
          </a:bodyPr>
          <a:lstStyle/>
          <a:p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isalnum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(c)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─判斷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isalpha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(c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||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isdigit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(c) </a:t>
            </a: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iscntrl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─判斷是否為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control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characters </a:t>
            </a: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isdigit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(c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─判斷是否為數字字元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isprint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─判斷是否為可印出字元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包含空格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ispunct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─判斷是否為標點符號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isspace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(c)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─判斷是否為空格、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或換行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返回值非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True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，返回值為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則為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False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95685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Standard library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stdlib.h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void∗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bsearch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const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void∗ key ,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const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void∗ base ,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size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_t n, size _t size ,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(∗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cmp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) (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const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void∗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keyval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,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const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void∗ datum ) ); 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二元搜尋，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base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為欲搜尋之字元集合之指標，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key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為被搜尋之字串或數列之指標。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87249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Standard library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assert.h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void assert(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expression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對程式是否繼續執行做判斷，避免程式的參數或指標等被惡意修改造成程式出錯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86843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Standard library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assert.h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clock_t</a:t>
            </a:r>
            <a:r>
              <a:rPr lang="en-US" altLang="zh-TW" dirty="0"/>
              <a:t> clock</a:t>
            </a:r>
            <a:r>
              <a:rPr lang="en-US" altLang="zh-TW" dirty="0" smtClean="0"/>
              <a:t>()</a:t>
            </a:r>
            <a:r>
              <a:rPr lang="zh-TW" altLang="en-US" dirty="0" smtClean="0"/>
              <a:t>─回傳</a:t>
            </a:r>
            <a:r>
              <a:rPr lang="en-US" altLang="zh-TW" dirty="0" err="1" smtClean="0"/>
              <a:t>cpu</a:t>
            </a:r>
            <a:r>
              <a:rPr lang="zh-TW" altLang="en-US" dirty="0" smtClean="0"/>
              <a:t>時間。</a:t>
            </a:r>
            <a:endParaRPr lang="en-US" altLang="zh-TW" dirty="0" smtClean="0"/>
          </a:p>
          <a:p>
            <a:r>
              <a:rPr lang="en-US" altLang="zh-TW" dirty="0" err="1"/>
              <a:t>time_t</a:t>
            </a:r>
            <a:r>
              <a:rPr lang="en-US" altLang="zh-TW" dirty="0"/>
              <a:t> time(</a:t>
            </a:r>
            <a:r>
              <a:rPr lang="en-US" altLang="zh-TW" dirty="0" err="1"/>
              <a:t>time_t</a:t>
            </a:r>
            <a:r>
              <a:rPr lang="en-US" altLang="zh-TW" dirty="0"/>
              <a:t> ∗ </a:t>
            </a:r>
            <a:r>
              <a:rPr lang="en-US" altLang="zh-TW" dirty="0" err="1"/>
              <a:t>tp</a:t>
            </a:r>
            <a:r>
              <a:rPr lang="en-US" altLang="zh-TW" dirty="0" smtClean="0"/>
              <a:t>)</a:t>
            </a:r>
            <a:r>
              <a:rPr lang="zh-TW" altLang="en-US" dirty="0" smtClean="0"/>
              <a:t>─回傳從</a:t>
            </a:r>
            <a:r>
              <a:rPr lang="en-US" altLang="zh-TW" dirty="0" smtClean="0"/>
              <a:t>1970/1/1</a:t>
            </a:r>
            <a:r>
              <a:rPr lang="zh-TW" altLang="en-US" dirty="0" smtClean="0"/>
              <a:t>到現在的秒數時間。</a:t>
            </a:r>
            <a:endParaRPr lang="en-US" altLang="zh-TW" dirty="0" smtClean="0"/>
          </a:p>
          <a:p>
            <a:r>
              <a:rPr lang="en-US" altLang="zh-TW" dirty="0"/>
              <a:t>double </a:t>
            </a:r>
            <a:r>
              <a:rPr lang="en-US" altLang="zh-TW" dirty="0" err="1"/>
              <a:t>difftime</a:t>
            </a:r>
            <a:r>
              <a:rPr lang="en-US" altLang="zh-TW" dirty="0"/>
              <a:t>(</a:t>
            </a:r>
            <a:r>
              <a:rPr lang="en-US" altLang="zh-TW" dirty="0" err="1"/>
              <a:t>time_t</a:t>
            </a:r>
            <a:r>
              <a:rPr lang="en-US" altLang="zh-TW" dirty="0"/>
              <a:t> t1,time_t t2</a:t>
            </a:r>
            <a:r>
              <a:rPr lang="en-US" altLang="zh-TW" dirty="0" smtClean="0"/>
              <a:t>)</a:t>
            </a:r>
            <a:r>
              <a:rPr lang="zh-TW" altLang="en-US" dirty="0" smtClean="0"/>
              <a:t>─計算時間差。</a:t>
            </a:r>
            <a:endParaRPr lang="en-US" altLang="zh-TW" dirty="0" smtClean="0"/>
          </a:p>
          <a:p>
            <a:r>
              <a:rPr lang="en-US" altLang="zh-TW" dirty="0"/>
              <a:t>char∗ </a:t>
            </a:r>
            <a:r>
              <a:rPr lang="en-US" altLang="zh-TW" dirty="0" err="1"/>
              <a:t>asctime</a:t>
            </a:r>
            <a:r>
              <a:rPr lang="en-US" altLang="zh-TW" dirty="0"/>
              <a:t>(</a:t>
            </a:r>
            <a:r>
              <a:rPr lang="en-US" altLang="zh-TW" dirty="0" err="1"/>
              <a:t>const</a:t>
            </a:r>
            <a:r>
              <a:rPr lang="en-US" altLang="zh-TW" dirty="0"/>
              <a:t> </a:t>
            </a:r>
            <a:r>
              <a:rPr lang="en-US" altLang="zh-TW" dirty="0" err="1"/>
              <a:t>struct</a:t>
            </a:r>
            <a:r>
              <a:rPr lang="en-US" altLang="zh-TW" dirty="0"/>
              <a:t> tm∗ </a:t>
            </a:r>
            <a:r>
              <a:rPr lang="en-US" altLang="zh-TW" dirty="0" err="1"/>
              <a:t>tp</a:t>
            </a:r>
            <a:r>
              <a:rPr lang="en-US" altLang="zh-TW" dirty="0" smtClean="0"/>
              <a:t>)</a:t>
            </a:r>
            <a:r>
              <a:rPr lang="zh-TW" altLang="en-US" dirty="0" smtClean="0"/>
              <a:t>─用字串格式顯示時間。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973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gcc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定義好的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macro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13735"/>
          </a:xfrm>
        </p:spPr>
        <p:txBody>
          <a:bodyPr>
            <a:spAutoFit/>
          </a:bodyPr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__FILE__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：印出檔案路徑及名稱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__LINE__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：印出當前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source code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位置的行數。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__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__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：印出當前在哪個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裡面。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__DATE__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：印出編譯時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的日期。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__TIME__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：印出編譯時的時間。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__VERSION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__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：印出編譯的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gcc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版本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請注意大小寫。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7431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467</TotalTime>
  <Words>2087</Words>
  <Application>Microsoft Macintosh PowerPoint</Application>
  <PresentationFormat>如螢幕大小 (4:3)</PresentationFormat>
  <Paragraphs>295</Paragraphs>
  <Slides>48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3</vt:i4>
      </vt:variant>
      <vt:variant>
        <vt:lpstr>投影片標題</vt:lpstr>
      </vt:variant>
      <vt:variant>
        <vt:i4>48</vt:i4>
      </vt:variant>
    </vt:vector>
  </HeadingPairs>
  <TitlesOfParts>
    <vt:vector size="51" baseType="lpstr">
      <vt:lpstr>Office 佈景主題</vt:lpstr>
      <vt:lpstr>1_Office 佈景主題</vt:lpstr>
      <vt:lpstr>2_Office 佈景主題</vt:lpstr>
      <vt:lpstr>Pointer Application</vt:lpstr>
      <vt:lpstr>指向二維陣列的指標</vt:lpstr>
      <vt:lpstr>傳二維陣列給function</vt:lpstr>
      <vt:lpstr>指標陣列</vt:lpstr>
      <vt:lpstr>動態取得記憶體：使用malloc() 和free()</vt:lpstr>
      <vt:lpstr>PowerPoint 簡報</vt:lpstr>
      <vt:lpstr>不定長度陣列</vt:lpstr>
      <vt:lpstr>Function pointer</vt:lpstr>
      <vt:lpstr>void*</vt:lpstr>
      <vt:lpstr>qsort</vt:lpstr>
      <vt:lpstr>int ( * compar ) ( const void *, const void * )</vt:lpstr>
      <vt:lpstr>PowerPoint 簡報</vt:lpstr>
      <vt:lpstr>strcmp</vt:lpstr>
      <vt:lpstr>排序字串</vt:lpstr>
      <vt:lpstr>PowerPoint 簡報</vt:lpstr>
      <vt:lpstr>Recursion</vt:lpstr>
      <vt:lpstr>Recursion(遞迴)</vt:lpstr>
      <vt:lpstr>三種遞迴方式</vt:lpstr>
      <vt:lpstr>失敗的遞迴</vt:lpstr>
      <vt:lpstr>遞迴範例1</vt:lpstr>
      <vt:lpstr>遞迴範例1(Cont.)</vt:lpstr>
      <vt:lpstr>Why segmentation fault?</vt:lpstr>
      <vt:lpstr>遞迴範例2</vt:lpstr>
      <vt:lpstr>遞迴範例3</vt:lpstr>
      <vt:lpstr>經典範例-河內塔</vt:lpstr>
      <vt:lpstr>經典範例-河內塔(Cont.)</vt:lpstr>
      <vt:lpstr>經典範例-河內塔(Cont.)</vt:lpstr>
      <vt:lpstr>經典範例-河內塔(Cont.)</vt:lpstr>
      <vt:lpstr>Modular Programming </vt:lpstr>
      <vt:lpstr>PowerPoint 簡報</vt:lpstr>
      <vt:lpstr>PowerPoint 簡報</vt:lpstr>
      <vt:lpstr>PowerPoint 簡報</vt:lpstr>
      <vt:lpstr>PowerPoint 簡報</vt:lpstr>
      <vt:lpstr>註1－引用防護</vt:lpstr>
      <vt:lpstr>條件編譯</vt:lpstr>
      <vt:lpstr>Appendix</vt:lpstr>
      <vt:lpstr>pragma</vt:lpstr>
      <vt:lpstr>設定compile的旗標(flags)</vt:lpstr>
      <vt:lpstr>設定compile的旗標(flags)</vt:lpstr>
      <vt:lpstr>設定compile的旗標(flags)</vt:lpstr>
      <vt:lpstr>設定compile的旗標(flags)</vt:lpstr>
      <vt:lpstr>設定compile的旗標(flags)</vt:lpstr>
      <vt:lpstr>Standard library補充(stdio.h)</vt:lpstr>
      <vt:lpstr>Standard library補充(ctype.h)</vt:lpstr>
      <vt:lpstr>Standard library補充(stdlib.h)</vt:lpstr>
      <vt:lpstr>Standard library補充(assert.h)</vt:lpstr>
      <vt:lpstr>Standard library補充(assert.h)</vt:lpstr>
      <vt:lpstr>gcc定義好的macro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 Application</dc:title>
  <dc:creator>Tubou</dc:creator>
  <cp:lastModifiedBy>秉浩 張</cp:lastModifiedBy>
  <cp:revision>154</cp:revision>
  <dcterms:created xsi:type="dcterms:W3CDTF">2013-09-01T13:36:51Z</dcterms:created>
  <dcterms:modified xsi:type="dcterms:W3CDTF">2013-09-11T08:00:26Z</dcterms:modified>
</cp:coreProperties>
</file>