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7" r:id="rId4"/>
    <p:sldId id="261" r:id="rId5"/>
    <p:sldId id="260" r:id="rId6"/>
    <p:sldId id="269" r:id="rId7"/>
    <p:sldId id="259" r:id="rId8"/>
    <p:sldId id="270" r:id="rId9"/>
    <p:sldId id="265" r:id="rId10"/>
    <p:sldId id="266" r:id="rId11"/>
    <p:sldId id="267" r:id="rId12"/>
    <p:sldId id="268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122" autoAdjust="0"/>
  </p:normalViewPr>
  <p:slideViewPr>
    <p:cSldViewPr>
      <p:cViewPr varScale="1">
        <p:scale>
          <a:sx n="53" d="100"/>
          <a:sy n="53" d="100"/>
        </p:scale>
        <p:origin x="-979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638D6-8961-421A-B7ED-3AFC56FDDD66}" type="datetimeFigureOut">
              <a:rPr lang="zh-TW" altLang="en-US" smtClean="0"/>
              <a:t>2012/12/25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79D48A-3145-4AB8-8C19-34D7F37AEB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4335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79D48A-3145-4AB8-8C19-34D7F37AEBD4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2744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792C3-192B-4A59-B747-2BBF7AEDF03B}" type="datetimeFigureOut">
              <a:rPr lang="zh-TW" altLang="en-US" smtClean="0"/>
              <a:t>2012/12/25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BE77-A1AA-4C63-927B-4AECDA376E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3662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792C3-192B-4A59-B747-2BBF7AEDF03B}" type="datetimeFigureOut">
              <a:rPr lang="zh-TW" altLang="en-US" smtClean="0"/>
              <a:t>2012/12/25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BE77-A1AA-4C63-927B-4AECDA376E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639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792C3-192B-4A59-B747-2BBF7AEDF03B}" type="datetimeFigureOut">
              <a:rPr lang="zh-TW" altLang="en-US" smtClean="0"/>
              <a:t>2012/12/25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BE77-A1AA-4C63-927B-4AECDA376E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7926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792C3-192B-4A59-B747-2BBF7AEDF03B}" type="datetimeFigureOut">
              <a:rPr lang="zh-TW" altLang="en-US" smtClean="0"/>
              <a:t>2012/12/25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BE77-A1AA-4C63-927B-4AECDA376E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6713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792C3-192B-4A59-B747-2BBF7AEDF03B}" type="datetimeFigureOut">
              <a:rPr lang="zh-TW" altLang="en-US" smtClean="0"/>
              <a:t>2012/12/25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BE77-A1AA-4C63-927B-4AECDA376E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9619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792C3-192B-4A59-B747-2BBF7AEDF03B}" type="datetimeFigureOut">
              <a:rPr lang="zh-TW" altLang="en-US" smtClean="0"/>
              <a:t>2012/12/25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BE77-A1AA-4C63-927B-4AECDA376E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4769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792C3-192B-4A59-B747-2BBF7AEDF03B}" type="datetimeFigureOut">
              <a:rPr lang="zh-TW" altLang="en-US" smtClean="0"/>
              <a:t>2012/12/25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BE77-A1AA-4C63-927B-4AECDA376E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832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792C3-192B-4A59-B747-2BBF7AEDF03B}" type="datetimeFigureOut">
              <a:rPr lang="zh-TW" altLang="en-US" smtClean="0"/>
              <a:t>2012/12/25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BE77-A1AA-4C63-927B-4AECDA376E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2333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792C3-192B-4A59-B747-2BBF7AEDF03B}" type="datetimeFigureOut">
              <a:rPr lang="zh-TW" altLang="en-US" smtClean="0"/>
              <a:t>2012/12/25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BE77-A1AA-4C63-927B-4AECDA376E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4439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792C3-192B-4A59-B747-2BBF7AEDF03B}" type="datetimeFigureOut">
              <a:rPr lang="zh-TW" altLang="en-US" smtClean="0"/>
              <a:t>2012/12/25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BE77-A1AA-4C63-927B-4AECDA376E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747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792C3-192B-4A59-B747-2BBF7AEDF03B}" type="datetimeFigureOut">
              <a:rPr lang="zh-TW" altLang="en-US" smtClean="0"/>
              <a:t>2012/12/25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BE77-A1AA-4C63-927B-4AECDA376E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617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792C3-192B-4A59-B747-2BBF7AEDF03B}" type="datetimeFigureOut">
              <a:rPr lang="zh-TW" altLang="en-US" smtClean="0"/>
              <a:t>2012/12/25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CABE77-A1AA-4C63-927B-4AECDA376E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5259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emf"/><Relationship Id="rId4" Type="http://schemas.openxmlformats.org/officeDocument/2006/relationships/package" Target="../embeddings/Microsoft_Excel____1.xlsx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運算子優先序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00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運算式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運算式裡分別有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運算子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及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運算元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。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在做運算時，首先要區別出</a:t>
            </a:r>
            <a:r>
              <a:rPr lang="zh-TW" altLang="en-US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運算子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及</a:t>
            </a:r>
            <a:r>
              <a:rPr lang="zh-TW" altLang="en-US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運算元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，再依據</a:t>
            </a:r>
            <a:r>
              <a:rPr lang="zh-TW" altLang="en-US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運算子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之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優先順序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做運算。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計算時可用</a:t>
            </a:r>
            <a:r>
              <a:rPr lang="zh-TW" altLang="en-US" b="1" dirty="0" smtClean="0">
                <a:latin typeface="微軟正黑體" pitchFamily="34" charset="-120"/>
                <a:ea typeface="微軟正黑體" pitchFamily="34" charset="-120"/>
              </a:rPr>
              <a:t>括號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隔開每個需要計算之計算子，以分辨計算之優先順序。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下面將以簡表列出常見之運算之優先順序。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最後一頁會附上所有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C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語言遇到之運算子的優先順序。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79637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優先序簡表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1" name="內容版面配置區 10"/>
          <p:cNvSpPr>
            <a:spLocks noGrp="1"/>
          </p:cNvSpPr>
          <p:nvPr>
            <p:ph idx="1"/>
          </p:nvPr>
        </p:nvSpPr>
        <p:spPr>
          <a:xfrm>
            <a:off x="611560" y="6165304"/>
            <a:ext cx="8229600" cy="536923"/>
          </a:xfrm>
        </p:spPr>
        <p:txBody>
          <a:bodyPr>
            <a:normAutofit lnSpcReduction="10000"/>
          </a:bodyPr>
          <a:lstStyle/>
          <a:p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同優先順序之細分請參見最後一頁的附錄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。</a:t>
            </a:r>
          </a:p>
        </p:txBody>
      </p:sp>
      <p:graphicFrame>
        <p:nvGraphicFramePr>
          <p:cNvPr id="12" name="物件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6951893"/>
              </p:ext>
            </p:extLst>
          </p:nvPr>
        </p:nvGraphicFramePr>
        <p:xfrm>
          <a:off x="107504" y="1124744"/>
          <a:ext cx="8896350" cy="4883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" name="工作表" r:id="rId4" imgW="8896441" imgH="3286171" progId="Excel.Sheet.12">
                  <p:embed/>
                </p:oleObj>
              </mc:Choice>
              <mc:Fallback>
                <p:oleObj name="工作表" r:id="rId4" imgW="8896441" imgH="328617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7504" y="1124744"/>
                        <a:ext cx="8896350" cy="48834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47209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運算子分類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算術運算子：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+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-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、* 、 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/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%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++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--</a:t>
            </a:r>
          </a:p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關係運算子：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&gt;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&lt;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==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&gt;=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&lt;=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!=</a:t>
            </a:r>
          </a:p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邏輯運算子：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&amp;&amp;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||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!</a:t>
            </a:r>
          </a:p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位元運算子：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&amp;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|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~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^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&lt;&lt;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&gt;&gt;</a:t>
            </a:r>
          </a:p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除</a:t>
            </a:r>
            <a:r>
              <a:rPr lang="zh-TW" altLang="en-US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左移與右移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以外，一般的優先順序為：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/>
            </a:r>
            <a:b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</a:b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算術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&gt;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關係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&gt;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位元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&gt;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邏輯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0482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</a:rPr>
              <a:t>1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139952" y="1600200"/>
            <a:ext cx="4546848" cy="4565104"/>
          </a:xfrm>
        </p:spPr>
        <p:txBody>
          <a:bodyPr/>
          <a:lstStyle/>
          <a:p>
            <a:r>
              <a:rPr lang="zh-TW" altLang="en-US" dirty="0" smtClean="0"/>
              <a:t>輸出結果：</a:t>
            </a:r>
            <a:r>
              <a:rPr lang="en-US" altLang="zh-TW" dirty="0" smtClean="0"/>
              <a:t>S=75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zh-TW" altLang="en-US" dirty="0" smtClean="0"/>
              <a:t>運算元優先順序：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 smtClean="0">
                <a:solidFill>
                  <a:srgbClr val="FF0000"/>
                </a:solidFill>
              </a:rPr>
              <a:t>*       </a:t>
            </a:r>
            <a:r>
              <a:rPr lang="en-US" altLang="zh-TW" dirty="0" smtClean="0">
                <a:solidFill>
                  <a:srgbClr val="FF0000"/>
                </a:solidFill>
              </a:rPr>
              <a:t>+</a:t>
            </a:r>
            <a:r>
              <a:rPr lang="zh-TW" altLang="en-US" dirty="0" smtClean="0"/>
              <a:t>        </a:t>
            </a:r>
            <a:r>
              <a:rPr lang="en-US" altLang="zh-TW" dirty="0" smtClean="0">
                <a:solidFill>
                  <a:srgbClr val="FF0000"/>
                </a:solidFill>
              </a:rPr>
              <a:t>|</a:t>
            </a:r>
          </a:p>
          <a:p>
            <a:endParaRPr lang="en-US" altLang="zh-TW" dirty="0">
              <a:solidFill>
                <a:srgbClr val="FF0000"/>
              </a:solidFill>
            </a:endParaRPr>
          </a:p>
          <a:p>
            <a:r>
              <a:rPr lang="zh-TW" altLang="en-US" dirty="0" smtClean="0"/>
              <a:t>運算式分解</a:t>
            </a:r>
            <a:r>
              <a:rPr lang="en-US" altLang="zh-TW" dirty="0" smtClean="0"/>
              <a:t>:</a:t>
            </a:r>
            <a:br>
              <a:rPr lang="en-US" altLang="zh-TW" dirty="0" smtClean="0"/>
            </a:br>
            <a:r>
              <a:rPr lang="en-US" altLang="zh-TW" dirty="0" smtClean="0"/>
              <a:t>S=((a+(b*c))|d)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9" y="1556792"/>
            <a:ext cx="3643539" cy="4320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向右箭號 3"/>
          <p:cNvSpPr/>
          <p:nvPr/>
        </p:nvSpPr>
        <p:spPr>
          <a:xfrm>
            <a:off x="4860032" y="4005064"/>
            <a:ext cx="504056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向右箭號 5"/>
          <p:cNvSpPr/>
          <p:nvPr/>
        </p:nvSpPr>
        <p:spPr>
          <a:xfrm>
            <a:off x="5796136" y="4005064"/>
            <a:ext cx="504056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8187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範例</a:t>
            </a:r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427984" y="1600200"/>
            <a:ext cx="4258816" cy="4925144"/>
          </a:xfrm>
        </p:spPr>
        <p:txBody>
          <a:bodyPr/>
          <a:lstStyle/>
          <a:p>
            <a:r>
              <a:rPr lang="zh-TW" altLang="en-US" dirty="0" smtClean="0"/>
              <a:t>輸出結果：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S=1</a:t>
            </a:r>
          </a:p>
          <a:p>
            <a:endParaRPr lang="en-US" altLang="zh-TW" dirty="0"/>
          </a:p>
          <a:p>
            <a:r>
              <a:rPr lang="zh-TW" altLang="en-US" dirty="0" smtClean="0"/>
              <a:t>運算式分解</a:t>
            </a:r>
            <a:r>
              <a:rPr lang="en-US" altLang="zh-TW" dirty="0" smtClean="0"/>
              <a:t>:</a:t>
            </a:r>
            <a:br>
              <a:rPr lang="en-US" altLang="zh-TW" dirty="0" smtClean="0"/>
            </a:br>
            <a:r>
              <a:rPr lang="en-US" altLang="zh-TW" dirty="0" smtClean="0"/>
              <a:t>S=a &amp;&amp; (b-c) || d</a:t>
            </a:r>
            <a:endParaRPr lang="zh-TW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556792"/>
            <a:ext cx="3757298" cy="4680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90636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範例</a:t>
            </a:r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283968" y="1628800"/>
            <a:ext cx="4402832" cy="1108720"/>
          </a:xfrm>
        </p:spPr>
        <p:txBody>
          <a:bodyPr>
            <a:normAutofit/>
          </a:bodyPr>
          <a:lstStyle/>
          <a:p>
            <a:r>
              <a:rPr lang="zh-TW" altLang="en-US" dirty="0" smtClean="0"/>
              <a:t>輸出結果</a:t>
            </a:r>
            <a:r>
              <a:rPr lang="en-US" altLang="zh-TW" dirty="0" smtClean="0"/>
              <a:t>:</a:t>
            </a:r>
            <a:br>
              <a:rPr lang="en-US" altLang="zh-TW" dirty="0" smtClean="0"/>
            </a:br>
            <a:r>
              <a:rPr lang="en-US" altLang="zh-TW" dirty="0" smtClean="0"/>
              <a:t>S=24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1" y="1376772"/>
            <a:ext cx="3519391" cy="4968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內容版面配置區 2"/>
          <p:cNvSpPr txBox="1">
            <a:spLocks/>
          </p:cNvSpPr>
          <p:nvPr/>
        </p:nvSpPr>
        <p:spPr>
          <a:xfrm>
            <a:off x="4294838" y="4581128"/>
            <a:ext cx="4041449" cy="1108720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5100" dirty="0"/>
              <a:t>運</a:t>
            </a:r>
            <a:r>
              <a:rPr lang="zh-TW" altLang="en-US" sz="5100" dirty="0" smtClean="0"/>
              <a:t>算式分解</a:t>
            </a:r>
            <a:r>
              <a:rPr lang="en-US" altLang="zh-TW" sz="5100" dirty="0" smtClean="0"/>
              <a:t>:</a:t>
            </a:r>
            <a:br>
              <a:rPr lang="en-US" altLang="zh-TW" sz="5100" dirty="0" smtClean="0"/>
            </a:br>
            <a:r>
              <a:rPr lang="en-US" altLang="zh-TW" sz="5100" dirty="0" smtClean="0"/>
              <a:t>S=-a*</a:t>
            </a:r>
            <a:r>
              <a:rPr lang="en-US" altLang="zh-TW" sz="5100" dirty="0" err="1" smtClean="0"/>
              <a:t>b+c&amp;d%e</a:t>
            </a:r>
            <a:r>
              <a:rPr lang="en-US" altLang="zh-TW" sz="5100" dirty="0" smtClean="0"/>
              <a:t>|*f-g&lt;&lt;2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endParaRPr lang="en-US" altLang="zh-TW" sz="44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611560" y="6043566"/>
            <a:ext cx="8388424" cy="707886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4000" dirty="0" smtClean="0"/>
              <a:t>S=</a:t>
            </a:r>
            <a:r>
              <a:rPr lang="en-US" altLang="zh-TW" sz="4000" dirty="0" smtClean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n-US" altLang="zh-TW" sz="4000" dirty="0" smtClean="0">
                <a:solidFill>
                  <a:srgbClr val="FF0000"/>
                </a:solidFill>
              </a:rPr>
              <a:t>(</a:t>
            </a:r>
            <a:r>
              <a:rPr lang="en-US" altLang="zh-TW" sz="4000" dirty="0" smtClean="0">
                <a:solidFill>
                  <a:srgbClr val="00B0F0"/>
                </a:solidFill>
              </a:rPr>
              <a:t>(</a:t>
            </a:r>
            <a:r>
              <a:rPr lang="en-US" altLang="zh-TW" sz="4000" dirty="0" smtClean="0">
                <a:solidFill>
                  <a:srgbClr val="FFFF00"/>
                </a:solidFill>
              </a:rPr>
              <a:t>(</a:t>
            </a:r>
            <a:r>
              <a:rPr lang="en-US" altLang="zh-TW" sz="4000" dirty="0" smtClean="0">
                <a:solidFill>
                  <a:srgbClr val="002060"/>
                </a:solidFill>
              </a:rPr>
              <a:t>(-</a:t>
            </a:r>
            <a:r>
              <a:rPr lang="en-US" altLang="zh-TW" sz="4000" dirty="0" smtClean="0"/>
              <a:t>a</a:t>
            </a:r>
            <a:r>
              <a:rPr lang="en-US" altLang="zh-TW" sz="4000" dirty="0" smtClean="0">
                <a:solidFill>
                  <a:srgbClr val="002060"/>
                </a:solidFill>
              </a:rPr>
              <a:t>)</a:t>
            </a:r>
            <a:r>
              <a:rPr lang="en-US" altLang="zh-TW" sz="4000" dirty="0" smtClean="0">
                <a:solidFill>
                  <a:srgbClr val="FFFF00"/>
                </a:solidFill>
              </a:rPr>
              <a:t>*</a:t>
            </a:r>
            <a:r>
              <a:rPr lang="en-US" altLang="zh-TW" sz="4000" dirty="0" smtClean="0"/>
              <a:t>b</a:t>
            </a:r>
            <a:r>
              <a:rPr lang="en-US" altLang="zh-TW" sz="4000" dirty="0" smtClean="0">
                <a:solidFill>
                  <a:srgbClr val="FFFF00"/>
                </a:solidFill>
              </a:rPr>
              <a:t>)</a:t>
            </a:r>
            <a:r>
              <a:rPr lang="en-US" altLang="zh-TW" sz="4000" dirty="0" smtClean="0">
                <a:solidFill>
                  <a:srgbClr val="00B0F0"/>
                </a:solidFill>
              </a:rPr>
              <a:t>+</a:t>
            </a:r>
            <a:r>
              <a:rPr lang="en-US" altLang="zh-TW" sz="4000" dirty="0" smtClean="0"/>
              <a:t>c</a:t>
            </a:r>
            <a:r>
              <a:rPr lang="en-US" altLang="zh-TW" sz="4000" dirty="0" smtClean="0">
                <a:solidFill>
                  <a:srgbClr val="00B0F0"/>
                </a:solidFill>
              </a:rPr>
              <a:t>)</a:t>
            </a:r>
            <a:r>
              <a:rPr lang="en-US" altLang="zh-TW" sz="4000" dirty="0" smtClean="0">
                <a:solidFill>
                  <a:srgbClr val="FF0000"/>
                </a:solidFill>
              </a:rPr>
              <a:t>&amp;</a:t>
            </a:r>
            <a:r>
              <a:rPr lang="en-US" altLang="zh-TW" sz="4000" dirty="0" smtClean="0">
                <a:solidFill>
                  <a:srgbClr val="00B0F0"/>
                </a:solidFill>
              </a:rPr>
              <a:t>(</a:t>
            </a:r>
            <a:r>
              <a:rPr lang="en-US" altLang="zh-TW" sz="4000" dirty="0" err="1" smtClean="0"/>
              <a:t>d</a:t>
            </a:r>
            <a:r>
              <a:rPr lang="en-US" altLang="zh-TW" sz="4000" dirty="0" err="1" smtClean="0">
                <a:solidFill>
                  <a:srgbClr val="00B0F0"/>
                </a:solidFill>
              </a:rPr>
              <a:t>%</a:t>
            </a:r>
            <a:r>
              <a:rPr lang="en-US" altLang="zh-TW" sz="4000" dirty="0" err="1" smtClean="0"/>
              <a:t>e</a:t>
            </a:r>
            <a:r>
              <a:rPr lang="en-US" altLang="zh-TW" sz="4000" dirty="0" smtClean="0">
                <a:solidFill>
                  <a:srgbClr val="00B0F0"/>
                </a:solidFill>
              </a:rPr>
              <a:t>)</a:t>
            </a:r>
            <a:r>
              <a:rPr lang="en-US" altLang="zh-TW" sz="4000" dirty="0" smtClean="0">
                <a:solidFill>
                  <a:srgbClr val="FF0000"/>
                </a:solidFill>
              </a:rPr>
              <a:t>)</a:t>
            </a:r>
            <a:r>
              <a:rPr lang="en-US" altLang="zh-TW" sz="4000" dirty="0" smtClean="0">
                <a:solidFill>
                  <a:schemeClr val="bg2">
                    <a:lumMod val="50000"/>
                  </a:schemeClr>
                </a:solidFill>
              </a:rPr>
              <a:t>|</a:t>
            </a:r>
            <a:r>
              <a:rPr lang="en-US" altLang="zh-TW" sz="4000" dirty="0" smtClean="0">
                <a:solidFill>
                  <a:srgbClr val="FF0000"/>
                </a:solidFill>
              </a:rPr>
              <a:t>(</a:t>
            </a:r>
            <a:r>
              <a:rPr lang="en-US" altLang="zh-TW" sz="4000" dirty="0" smtClean="0">
                <a:solidFill>
                  <a:srgbClr val="00B0F0"/>
                </a:solidFill>
              </a:rPr>
              <a:t>(</a:t>
            </a:r>
            <a:r>
              <a:rPr lang="en-US" altLang="zh-TW" sz="4000" dirty="0" smtClean="0">
                <a:solidFill>
                  <a:srgbClr val="FFFF00"/>
                </a:solidFill>
              </a:rPr>
              <a:t>(*</a:t>
            </a:r>
            <a:r>
              <a:rPr lang="en-US" altLang="zh-TW" sz="4000" dirty="0" smtClean="0"/>
              <a:t>f</a:t>
            </a:r>
            <a:r>
              <a:rPr lang="en-US" altLang="zh-TW" sz="4000" dirty="0" smtClean="0">
                <a:solidFill>
                  <a:srgbClr val="FFFF00"/>
                </a:solidFill>
              </a:rPr>
              <a:t>)</a:t>
            </a:r>
            <a:r>
              <a:rPr lang="en-US" altLang="zh-TW" sz="4000" dirty="0" smtClean="0">
                <a:solidFill>
                  <a:srgbClr val="00B0F0"/>
                </a:solidFill>
              </a:rPr>
              <a:t>-</a:t>
            </a:r>
            <a:r>
              <a:rPr lang="en-US" altLang="zh-TW" sz="4000" dirty="0" smtClean="0"/>
              <a:t>g</a:t>
            </a:r>
            <a:r>
              <a:rPr lang="en-US" altLang="zh-TW" sz="4000" dirty="0" smtClean="0">
                <a:solidFill>
                  <a:srgbClr val="00B0F0"/>
                </a:solidFill>
              </a:rPr>
              <a:t>)</a:t>
            </a:r>
            <a:r>
              <a:rPr lang="en-US" altLang="zh-TW" sz="4000" dirty="0" smtClean="0">
                <a:solidFill>
                  <a:srgbClr val="FF0000"/>
                </a:solidFill>
              </a:rPr>
              <a:t>&lt;&lt;</a:t>
            </a:r>
            <a:r>
              <a:rPr lang="en-US" altLang="zh-TW" sz="4000" dirty="0" smtClean="0"/>
              <a:t>2</a:t>
            </a:r>
            <a:r>
              <a:rPr lang="en-US" altLang="zh-TW" sz="4000" dirty="0" smtClean="0">
                <a:solidFill>
                  <a:srgbClr val="FF0000"/>
                </a:solidFill>
              </a:rPr>
              <a:t>)</a:t>
            </a:r>
            <a:r>
              <a:rPr lang="en-US" altLang="zh-TW" sz="4000" dirty="0" smtClean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zh-TW" altLang="en-US" sz="4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向下箭號 4"/>
          <p:cNvSpPr/>
          <p:nvPr/>
        </p:nvSpPr>
        <p:spPr>
          <a:xfrm>
            <a:off x="5580112" y="5401381"/>
            <a:ext cx="933854" cy="576934"/>
          </a:xfrm>
          <a:prstGeom prst="downArrow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860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1746562"/>
            <a:ext cx="5132610" cy="4829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範例</a:t>
            </a:r>
            <a:r>
              <a:rPr lang="en-US" altLang="zh-TW" dirty="0" smtClean="0"/>
              <a:t>3(Cont.)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199" y="1600200"/>
            <a:ext cx="5266929" cy="4525963"/>
          </a:xfrm>
        </p:spPr>
        <p:txBody>
          <a:bodyPr/>
          <a:lstStyle/>
          <a:p>
            <a:r>
              <a:rPr lang="zh-TW" altLang="en-US" dirty="0" smtClean="0"/>
              <a:t>補充：此為上例之運算優先順序二元樹。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78632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複合指定運算子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+=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-=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、*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=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/=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%=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&lt;&lt;=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&gt;&gt;=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&amp;=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^=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|=</a:t>
            </a:r>
          </a:p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複合指定運算子為右結合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複合指定運算子之運算式例子：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a+=b            a=</a:t>
            </a:r>
            <a:r>
              <a:rPr lang="en-US" altLang="zh-TW" dirty="0" err="1" smtClean="0">
                <a:latin typeface="微軟正黑體" pitchFamily="34" charset="-120"/>
                <a:ea typeface="微軟正黑體" pitchFamily="34" charset="-120"/>
              </a:rPr>
              <a:t>a+b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;</a:t>
            </a:r>
          </a:p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下面為複合指定運算子及一般運算子之混合範例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endParaRPr lang="zh-TW" altLang="en-US" dirty="0"/>
          </a:p>
        </p:txBody>
      </p:sp>
      <p:sp>
        <p:nvSpPr>
          <p:cNvPr id="4" name="向右箭號 3"/>
          <p:cNvSpPr/>
          <p:nvPr/>
        </p:nvSpPr>
        <p:spPr>
          <a:xfrm>
            <a:off x="2195736" y="4005064"/>
            <a:ext cx="864096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0812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1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459034" y="1600200"/>
            <a:ext cx="5227766" cy="4997152"/>
          </a:xfrm>
        </p:spPr>
        <p:txBody>
          <a:bodyPr>
            <a:noAutofit/>
          </a:bodyPr>
          <a:lstStyle/>
          <a:p>
            <a:r>
              <a:rPr lang="zh-TW" altLang="en-US" sz="4000" dirty="0" smtClean="0"/>
              <a:t>輸出結果：</a:t>
            </a:r>
            <a:r>
              <a:rPr lang="en-US" altLang="zh-TW" sz="4000" dirty="0" smtClean="0"/>
              <a:t/>
            </a:r>
            <a:br>
              <a:rPr lang="en-US" altLang="zh-TW" sz="4000" dirty="0" smtClean="0"/>
            </a:br>
            <a:r>
              <a:rPr lang="en-US" altLang="zh-TW" sz="4000" dirty="0" smtClean="0"/>
              <a:t>S=-5</a:t>
            </a:r>
          </a:p>
          <a:p>
            <a:endParaRPr lang="en-US" altLang="zh-TW" sz="4000" dirty="0"/>
          </a:p>
          <a:p>
            <a:endParaRPr lang="en-US" altLang="zh-TW" sz="4000" dirty="0" smtClean="0"/>
          </a:p>
          <a:p>
            <a:endParaRPr lang="en-US" altLang="zh-TW" sz="4000" dirty="0"/>
          </a:p>
          <a:p>
            <a:r>
              <a:rPr lang="zh-TW" altLang="en-US" sz="4000" dirty="0" smtClean="0"/>
              <a:t>運算式分解：</a:t>
            </a:r>
            <a:r>
              <a:rPr lang="en-US" altLang="zh-TW" sz="4000" dirty="0" smtClean="0"/>
              <a:t/>
            </a:r>
            <a:br>
              <a:rPr lang="en-US" altLang="zh-TW" sz="4000" dirty="0" smtClean="0"/>
            </a:br>
            <a:r>
              <a:rPr lang="en-US" altLang="zh-TW" sz="4000" dirty="0" smtClean="0"/>
              <a:t>S=</a:t>
            </a:r>
            <a:r>
              <a:rPr lang="en-US" altLang="zh-TW" sz="4000" dirty="0" smtClean="0">
                <a:solidFill>
                  <a:srgbClr val="00B050"/>
                </a:solidFill>
              </a:rPr>
              <a:t>(</a:t>
            </a:r>
            <a:r>
              <a:rPr lang="en-US" altLang="zh-TW" sz="4000" dirty="0" smtClean="0"/>
              <a:t>S</a:t>
            </a:r>
            <a:r>
              <a:rPr lang="en-US" altLang="zh-TW" sz="4000" dirty="0" smtClean="0">
                <a:solidFill>
                  <a:srgbClr val="00B050"/>
                </a:solidFill>
              </a:rPr>
              <a:t>+</a:t>
            </a:r>
            <a:r>
              <a:rPr lang="en-US" altLang="zh-TW" sz="4000" dirty="0" smtClean="0">
                <a:solidFill>
                  <a:srgbClr val="00B0F0"/>
                </a:solidFill>
              </a:rPr>
              <a:t>(</a:t>
            </a:r>
            <a:r>
              <a:rPr lang="en-US" altLang="zh-TW" sz="4000" dirty="0" smtClean="0"/>
              <a:t>a</a:t>
            </a:r>
            <a:r>
              <a:rPr lang="en-US" altLang="zh-TW" sz="4000" dirty="0" smtClean="0">
                <a:solidFill>
                  <a:srgbClr val="00B0F0"/>
                </a:solidFill>
              </a:rPr>
              <a:t>-</a:t>
            </a:r>
            <a:r>
              <a:rPr lang="en-US" altLang="zh-TW" sz="4000" dirty="0" smtClean="0">
                <a:solidFill>
                  <a:srgbClr val="FF0000"/>
                </a:solidFill>
              </a:rPr>
              <a:t>(</a:t>
            </a:r>
            <a:r>
              <a:rPr lang="en-US" altLang="zh-TW" sz="4000" dirty="0" smtClean="0"/>
              <a:t>b</a:t>
            </a:r>
            <a:r>
              <a:rPr lang="en-US" altLang="zh-TW" sz="4000" dirty="0" smtClean="0">
                <a:solidFill>
                  <a:srgbClr val="FF0000"/>
                </a:solidFill>
              </a:rPr>
              <a:t>*</a:t>
            </a:r>
            <a:r>
              <a:rPr lang="en-US" altLang="zh-TW" sz="4000" dirty="0" smtClean="0"/>
              <a:t>c</a:t>
            </a:r>
            <a:r>
              <a:rPr lang="en-US" altLang="zh-TW" sz="4000" dirty="0" smtClean="0">
                <a:solidFill>
                  <a:srgbClr val="FF0000"/>
                </a:solidFill>
              </a:rPr>
              <a:t>)</a:t>
            </a:r>
            <a:r>
              <a:rPr lang="en-US" altLang="zh-TW" sz="4000" dirty="0" smtClean="0">
                <a:solidFill>
                  <a:srgbClr val="00B0F0"/>
                </a:solidFill>
              </a:rPr>
              <a:t>)</a:t>
            </a:r>
            <a:r>
              <a:rPr lang="en-US" altLang="zh-TW" sz="4000" dirty="0" smtClean="0">
                <a:solidFill>
                  <a:srgbClr val="00B050"/>
                </a:solidFill>
              </a:rPr>
              <a:t>)</a:t>
            </a:r>
            <a:endParaRPr lang="zh-TW" altLang="en-US" sz="4000" dirty="0">
              <a:solidFill>
                <a:srgbClr val="00B050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700808"/>
            <a:ext cx="3279522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4473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</a:rPr>
              <a:t>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55976" y="1600200"/>
            <a:ext cx="4330824" cy="4853136"/>
          </a:xfrm>
        </p:spPr>
        <p:txBody>
          <a:bodyPr>
            <a:normAutofit lnSpcReduction="10000"/>
          </a:bodyPr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輸出結果：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/>
            </a:r>
            <a:b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</a:b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S=15</a:t>
            </a:r>
          </a:p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由於複合指定運算子為右結合，所以運算式計算順序為：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c=c%5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b=b*c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a=</a:t>
            </a:r>
            <a:r>
              <a:rPr lang="en-US" altLang="zh-TW" dirty="0" err="1" smtClean="0">
                <a:latin typeface="微軟正黑體" pitchFamily="34" charset="-120"/>
                <a:ea typeface="微軟正黑體" pitchFamily="34" charset="-120"/>
              </a:rPr>
              <a:t>a|b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S=</a:t>
            </a:r>
            <a:r>
              <a:rPr lang="en-US" altLang="zh-TW" dirty="0" err="1" smtClean="0">
                <a:latin typeface="微軟正黑體" pitchFamily="34" charset="-120"/>
                <a:ea typeface="微軟正黑體" pitchFamily="34" charset="-120"/>
              </a:rPr>
              <a:t>S+a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556792"/>
            <a:ext cx="3599787" cy="475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向下箭號 3"/>
          <p:cNvSpPr/>
          <p:nvPr/>
        </p:nvSpPr>
        <p:spPr>
          <a:xfrm>
            <a:off x="6444208" y="3949030"/>
            <a:ext cx="216024" cy="216024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1082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 smtClean="0">
                <a:latin typeface="標楷體" pitchFamily="65" charset="-120"/>
                <a:ea typeface="標楷體" pitchFamily="65" charset="-120"/>
              </a:rPr>
              <a:t>範例練習</a:t>
            </a:r>
            <a:endParaRPr lang="zh-TW" altLang="en-US" b="1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a=5,b=12,c=6,d=8,e=7,f=9,S=2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 S=</a:t>
            </a:r>
            <a:r>
              <a:rPr lang="en-US" altLang="zh-TW" dirty="0" err="1" smtClean="0"/>
              <a:t>a+b</a:t>
            </a:r>
            <a:r>
              <a:rPr lang="en-US" altLang="zh-TW" dirty="0" smtClean="0"/>
              <a:t>/</a:t>
            </a:r>
            <a:r>
              <a:rPr lang="en-US" altLang="zh-TW" dirty="0" err="1" smtClean="0"/>
              <a:t>c&amp;d</a:t>
            </a:r>
            <a:r>
              <a:rPr lang="en-US" altLang="zh-TW" dirty="0" smtClean="0"/>
              <a:t>&lt;&lt;2|e%f</a:t>
            </a:r>
            <a:r>
              <a:rPr lang="zh-TW" altLang="en-US" dirty="0" smtClean="0"/>
              <a:t>，</a:t>
            </a:r>
            <a:r>
              <a:rPr lang="en-US" altLang="zh-TW" dirty="0" smtClean="0"/>
              <a:t>S=?</a:t>
            </a:r>
          </a:p>
          <a:p>
            <a:pPr marL="0" indent="0">
              <a:buNone/>
            </a:pPr>
            <a:r>
              <a:rPr lang="en-US" altLang="zh-TW" dirty="0" smtClean="0"/>
              <a:t>	Ans:7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US" altLang="zh-TW" dirty="0" smtClean="0"/>
              <a:t> S*=a-b&lt;&lt;</a:t>
            </a:r>
            <a:r>
              <a:rPr lang="en-US" altLang="zh-TW" dirty="0" err="1" smtClean="0"/>
              <a:t>c|d</a:t>
            </a:r>
            <a:r>
              <a:rPr lang="en-US" altLang="zh-TW" dirty="0" smtClean="0"/>
              <a:t>*</a:t>
            </a:r>
            <a:r>
              <a:rPr lang="en-US" altLang="zh-TW" dirty="0" err="1" smtClean="0"/>
              <a:t>e+f</a:t>
            </a:r>
            <a:r>
              <a:rPr lang="zh-TW" altLang="en-US" dirty="0" smtClean="0"/>
              <a:t>，</a:t>
            </a:r>
            <a:r>
              <a:rPr lang="en-US" altLang="zh-TW" dirty="0" smtClean="0"/>
              <a:t>S=?</a:t>
            </a:r>
          </a:p>
          <a:p>
            <a:pPr marL="0" indent="0">
              <a:buNone/>
            </a:pPr>
            <a:r>
              <a:rPr lang="en-US" altLang="zh-TW" dirty="0" smtClean="0"/>
              <a:t>	</a:t>
            </a:r>
            <a:r>
              <a:rPr lang="en-US" altLang="zh-TW" dirty="0" err="1" smtClean="0"/>
              <a:t>Ans</a:t>
            </a:r>
            <a:r>
              <a:rPr lang="en-US" altLang="zh-TW" dirty="0" smtClean="0"/>
              <a:t>:-894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US" altLang="zh-TW" dirty="0" smtClean="0"/>
              <a:t>S^=</a:t>
            </a:r>
            <a:r>
              <a:rPr lang="en-US" altLang="zh-TW" dirty="0" err="1" smtClean="0"/>
              <a:t>a+b|c%d</a:t>
            </a:r>
            <a:r>
              <a:rPr lang="en-US" altLang="zh-TW" dirty="0" smtClean="0"/>
              <a:t>*e</a:t>
            </a:r>
            <a:r>
              <a:rPr lang="zh-TW" altLang="en-US" dirty="0" smtClean="0"/>
              <a:t>，</a:t>
            </a:r>
            <a:r>
              <a:rPr lang="en-US" altLang="zh-TW" dirty="0" smtClean="0"/>
              <a:t>S=?</a:t>
            </a:r>
          </a:p>
          <a:p>
            <a:pPr marL="0" indent="0">
              <a:buNone/>
            </a:pPr>
            <a:r>
              <a:rPr lang="en-US" altLang="zh-TW" dirty="0" smtClean="0"/>
              <a:t>	Ans:57</a:t>
            </a:r>
          </a:p>
          <a:p>
            <a:pPr marL="514350" indent="-514350">
              <a:buFont typeface="+mj-lt"/>
              <a:buAutoNum type="arabicPeriod"/>
            </a:pP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77414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9552" y="-243408"/>
            <a:ext cx="8229600" cy="1143000"/>
          </a:xfrm>
        </p:spPr>
        <p:txBody>
          <a:bodyPr/>
          <a:lstStyle/>
          <a:p>
            <a:r>
              <a:rPr lang="zh-TW" altLang="en-US" b="1" dirty="0" smtClean="0">
                <a:latin typeface="標楷體" pitchFamily="65" charset="-120"/>
                <a:ea typeface="標楷體" pitchFamily="65" charset="-120"/>
              </a:rPr>
              <a:t>附錄</a:t>
            </a:r>
            <a:endParaRPr lang="zh-TW" altLang="en-US" b="1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764703"/>
            <a:ext cx="5760640" cy="608118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1411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-243408"/>
            <a:ext cx="8229600" cy="1143000"/>
          </a:xfrm>
        </p:spPr>
        <p:txBody>
          <a:bodyPr/>
          <a:lstStyle/>
          <a:p>
            <a:r>
              <a:rPr lang="zh-TW" altLang="en-US" b="1" dirty="0" smtClean="0">
                <a:latin typeface="標楷體" pitchFamily="65" charset="-120"/>
                <a:ea typeface="標楷體" pitchFamily="65" charset="-120"/>
              </a:rPr>
              <a:t>附錄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764704"/>
            <a:ext cx="5480061" cy="5976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77166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12627" y="-243408"/>
            <a:ext cx="8229600" cy="1143000"/>
          </a:xfrm>
        </p:spPr>
        <p:txBody>
          <a:bodyPr/>
          <a:lstStyle/>
          <a:p>
            <a:r>
              <a:rPr lang="zh-TW" altLang="en-US" b="1" dirty="0" smtClean="0">
                <a:latin typeface="標楷體" pitchFamily="65" charset="-120"/>
                <a:ea typeface="標楷體" pitchFamily="65" charset="-120"/>
              </a:rPr>
              <a:t>附錄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052736"/>
            <a:ext cx="8678192" cy="5256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6414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275</Words>
  <Application>Microsoft Office PowerPoint</Application>
  <PresentationFormat>如螢幕大小 (4:3)</PresentationFormat>
  <Paragraphs>64</Paragraphs>
  <Slides>15</Slides>
  <Notes>1</Notes>
  <HiddenSlides>0</HiddenSlides>
  <MMClips>0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7" baseType="lpstr">
      <vt:lpstr>Office 佈景主題</vt:lpstr>
      <vt:lpstr>工作表</vt:lpstr>
      <vt:lpstr>運算子優先序</vt:lpstr>
      <vt:lpstr>運算式</vt:lpstr>
      <vt:lpstr>優先序簡表</vt:lpstr>
      <vt:lpstr>運算子分類</vt:lpstr>
      <vt:lpstr>範例1</vt:lpstr>
      <vt:lpstr>範例2</vt:lpstr>
      <vt:lpstr>範例3</vt:lpstr>
      <vt:lpstr>範例3(Cont.)</vt:lpstr>
      <vt:lpstr>複合指定運算子</vt:lpstr>
      <vt:lpstr>範例1</vt:lpstr>
      <vt:lpstr>範例2</vt:lpstr>
      <vt:lpstr>範例練習</vt:lpstr>
      <vt:lpstr>附錄</vt:lpstr>
      <vt:lpstr>附錄</vt:lpstr>
      <vt:lpstr>附錄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運算子優先序</dc:title>
  <dc:creator>Tubou</dc:creator>
  <cp:lastModifiedBy>Yeh-Ching Chung</cp:lastModifiedBy>
  <cp:revision>54</cp:revision>
  <dcterms:created xsi:type="dcterms:W3CDTF">2012-12-19T07:43:43Z</dcterms:created>
  <dcterms:modified xsi:type="dcterms:W3CDTF">2012-12-25T00:48:28Z</dcterms:modified>
</cp:coreProperties>
</file>