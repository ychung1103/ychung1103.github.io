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6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6DB25-1AAB-4733-A4E3-A604FBF6CED6}" type="datetimeFigureOut">
              <a:rPr lang="zh-TW" altLang="en-US" smtClean="0"/>
              <a:t>2013/8/28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D7C02-45DC-4A48-9CB3-98D793514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06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488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A6A92-9871-45FB-B3E6-4ACEB4F2D907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2EEAE-903C-4D8A-8687-7FC01A4B50A4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63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CD0D1-1E28-49B0-8F7A-106CE0CA4148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5D2B2-8FAD-453F-94CB-1D201E795A9E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66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A0C7A-A9F8-4447-848A-5594CAE9375C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127FA-7076-475F-A422-F6756A0EE617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02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D5401-AA97-4D13-8580-3AC07F94D4D9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44471-C5A1-4037-B9EC-FD062F448B72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5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0ECB6-81A3-4A03-9F5F-3532DC5080E5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08728-C5EC-48DB-ACDC-7FADD8A24AA8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03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FADD9-CEDE-4677-B159-990B2CAF1A32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B5BD9-36CF-46E8-A490-7C18EF408047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61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7C7DC4-D10F-4717-A91B-FEC8B1B2A24A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B3840-FA68-4AB8-B2DF-44AA267CB359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3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70F7A-D128-40B1-96A2-DB345E2F0A31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23F3E-A0DE-48E2-A709-A4E275726696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83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9D564-EE9C-4F57-95E4-EE71912420FE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DC6E7-0B24-4F36-90FB-5D565CF461F0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3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BAABB-66DF-48BA-9EFC-C3A63C5B189A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DDA7A-A1B5-4001-8208-4E8B67475A91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1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29891-F22C-44B6-B561-09114992A793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2AFE8-8240-4B49-9CEF-4B6F6ECD6E73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478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marR="0" indent="0" algn="ctr" rtl="0">
              <a:spcBef>
                <a:spcPts val="0"/>
              </a:spcBef>
              <a:spcAft>
                <a:spcPts val="0"/>
              </a:spcAft>
              <a:defRPr sz="5906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ubTitle" idx="1"/>
          </p:nvPr>
        </p:nvSpPr>
        <p:spPr>
          <a:xfrm>
            <a:off x="1371824" y="3886647"/>
            <a:ext cx="6400354" cy="1752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321457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642915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964372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285829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1607287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1928744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250201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2571659" marR="0" indent="0" algn="ctr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2953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2348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obj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7358063" cy="171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892969" y="1946672"/>
            <a:ext cx="7358063" cy="40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58933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01866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214394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5269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3945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16090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482365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8038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12528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804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Head" type="secHead">
  <p:cSld name="secHead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722188" y="4406801"/>
            <a:ext cx="7772176" cy="13617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 sz="2812" b="1" cap="small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722188" y="2906614"/>
            <a:ext cx="7772176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1406"/>
            </a:lvl1pPr>
            <a:lvl2pPr marL="321457" indent="0" rtl="0">
              <a:buFont typeface="Lato"/>
              <a:buNone/>
              <a:defRPr sz="1266"/>
            </a:lvl2pPr>
            <a:lvl3pPr marL="642915" indent="0" rtl="0">
              <a:buFont typeface="Lato"/>
              <a:buNone/>
              <a:defRPr sz="1125"/>
            </a:lvl3pPr>
            <a:lvl4pPr marL="964372" indent="0" rtl="0">
              <a:buFont typeface="Lato"/>
              <a:buNone/>
              <a:defRPr sz="984"/>
            </a:lvl4pPr>
            <a:lvl5pPr marL="1285829" indent="0" rtl="0">
              <a:buFont typeface="Lato"/>
              <a:buNone/>
              <a:defRPr sz="984"/>
            </a:lvl5pPr>
            <a:lvl6pPr marL="1607287" indent="0" rtl="0">
              <a:buFont typeface="Lato"/>
              <a:buNone/>
              <a:defRPr sz="984"/>
            </a:lvl6pPr>
            <a:lvl7pPr marL="1928744" indent="0" rtl="0">
              <a:buFont typeface="Lato"/>
              <a:buNone/>
              <a:defRPr sz="984"/>
            </a:lvl7pPr>
            <a:lvl8pPr marL="2250201" indent="0" rtl="0">
              <a:buFont typeface="Lato"/>
              <a:buNone/>
              <a:defRPr sz="984"/>
            </a:lvl8pPr>
            <a:lvl9pPr marL="2571659" indent="0" rtl="0">
              <a:buFont typeface="Lato"/>
              <a:buNone/>
              <a:defRPr sz="984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3411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Obj" type="twoObj">
  <p:cSld name="twoObj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7358063" cy="171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892969" y="1946672"/>
            <a:ext cx="3625452" cy="40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1969"/>
            </a:lvl1pPr>
            <a:lvl2pPr rtl="0">
              <a:defRPr sz="1687"/>
            </a:lvl2pPr>
            <a:lvl3pPr rtl="0">
              <a:defRPr sz="1406"/>
            </a:lvl3pPr>
            <a:lvl4pPr rtl="0">
              <a:defRPr sz="1266"/>
            </a:lvl4pPr>
            <a:lvl5pPr rtl="0">
              <a:defRPr sz="1266"/>
            </a:lvl5pPr>
            <a:lvl6pPr rtl="0">
              <a:defRPr sz="1266"/>
            </a:lvl6pPr>
            <a:lvl7pPr rtl="0">
              <a:defRPr sz="1266"/>
            </a:lvl7pPr>
            <a:lvl8pPr rtl="0">
              <a:defRPr sz="1266"/>
            </a:lvl8pPr>
            <a:lvl9pPr rtl="0">
              <a:defRPr sz="1266"/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body" idx="2"/>
          </p:nvPr>
        </p:nvSpPr>
        <p:spPr>
          <a:xfrm>
            <a:off x="4625579" y="1946672"/>
            <a:ext cx="3625452" cy="40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1969"/>
            </a:lvl1pPr>
            <a:lvl2pPr rtl="0">
              <a:defRPr sz="1687"/>
            </a:lvl2pPr>
            <a:lvl3pPr rtl="0">
              <a:defRPr sz="1406"/>
            </a:lvl3pPr>
            <a:lvl4pPr rtl="0">
              <a:defRPr sz="1266"/>
            </a:lvl4pPr>
            <a:lvl5pPr rtl="0">
              <a:defRPr sz="1266"/>
            </a:lvl5pPr>
            <a:lvl6pPr rtl="0">
              <a:defRPr sz="1266"/>
            </a:lvl6pPr>
            <a:lvl7pPr rtl="0">
              <a:defRPr sz="1266"/>
            </a:lvl7pPr>
            <a:lvl8pPr rtl="0">
              <a:defRPr sz="1266"/>
            </a:lvl8pPr>
            <a:lvl9pPr rtl="0">
              <a:defRPr sz="1266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367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TxTwoObj" type="twoTxTwoObj">
  <p:cSld name="twoTxTwoObj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457647" y="274588"/>
            <a:ext cx="8228707" cy="1142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457647" y="1534791"/>
            <a:ext cx="4039567" cy="6395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1687" b="1"/>
            </a:lvl1pPr>
            <a:lvl2pPr marL="321457" indent="0" rtl="0">
              <a:buFont typeface="Lato"/>
              <a:buNone/>
              <a:defRPr sz="1406" b="1"/>
            </a:lvl2pPr>
            <a:lvl3pPr marL="642915" indent="0" rtl="0">
              <a:buFont typeface="Lato"/>
              <a:buNone/>
              <a:defRPr sz="1266" b="1"/>
            </a:lvl3pPr>
            <a:lvl4pPr marL="964372" indent="0" rtl="0">
              <a:buFont typeface="Lato"/>
              <a:buNone/>
              <a:defRPr sz="1125" b="1"/>
            </a:lvl4pPr>
            <a:lvl5pPr marL="1285829" indent="0" rtl="0">
              <a:buFont typeface="Lato"/>
              <a:buNone/>
              <a:defRPr sz="1125" b="1"/>
            </a:lvl5pPr>
            <a:lvl6pPr marL="1607287" indent="0" rtl="0">
              <a:buFont typeface="Lato"/>
              <a:buNone/>
              <a:defRPr sz="1125" b="1"/>
            </a:lvl6pPr>
            <a:lvl7pPr marL="1928744" indent="0" rtl="0">
              <a:buFont typeface="Lato"/>
              <a:buNone/>
              <a:defRPr sz="1125" b="1"/>
            </a:lvl7pPr>
            <a:lvl8pPr marL="2250201" indent="0" rtl="0">
              <a:buFont typeface="Lato"/>
              <a:buNone/>
              <a:defRPr sz="1125" b="1"/>
            </a:lvl8pPr>
            <a:lvl9pPr marL="2571659" indent="0" rtl="0">
              <a:buFont typeface="Lato"/>
              <a:buNone/>
              <a:defRPr sz="1125" b="1"/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2"/>
          </p:nvPr>
        </p:nvSpPr>
        <p:spPr>
          <a:xfrm>
            <a:off x="457647" y="2174379"/>
            <a:ext cx="4039567" cy="39513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1687"/>
            </a:lvl1pPr>
            <a:lvl2pPr rtl="0">
              <a:defRPr sz="1406"/>
            </a:lvl2pPr>
            <a:lvl3pPr rtl="0">
              <a:defRPr sz="1266"/>
            </a:lvl3pPr>
            <a:lvl4pPr rtl="0">
              <a:defRPr sz="1125"/>
            </a:lvl4pPr>
            <a:lvl5pPr rtl="0">
              <a:defRPr sz="1125"/>
            </a:lvl5pPr>
            <a:lvl6pPr rtl="0">
              <a:defRPr sz="1125"/>
            </a:lvl6pPr>
            <a:lvl7pPr rtl="0">
              <a:defRPr sz="1125"/>
            </a:lvl7pPr>
            <a:lvl8pPr rtl="0">
              <a:defRPr sz="1125"/>
            </a:lvl8pPr>
            <a:lvl9pPr rtl="0">
              <a:defRPr sz="1125"/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body" idx="3"/>
          </p:nvPr>
        </p:nvSpPr>
        <p:spPr>
          <a:xfrm>
            <a:off x="4644554" y="1534791"/>
            <a:ext cx="4041799" cy="6395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1687" b="1"/>
            </a:lvl1pPr>
            <a:lvl2pPr marL="321457" indent="0" rtl="0">
              <a:buFont typeface="Lato"/>
              <a:buNone/>
              <a:defRPr sz="1406" b="1"/>
            </a:lvl2pPr>
            <a:lvl3pPr marL="642915" indent="0" rtl="0">
              <a:buFont typeface="Lato"/>
              <a:buNone/>
              <a:defRPr sz="1266" b="1"/>
            </a:lvl3pPr>
            <a:lvl4pPr marL="964372" indent="0" rtl="0">
              <a:buFont typeface="Lato"/>
              <a:buNone/>
              <a:defRPr sz="1125" b="1"/>
            </a:lvl4pPr>
            <a:lvl5pPr marL="1285829" indent="0" rtl="0">
              <a:buFont typeface="Lato"/>
              <a:buNone/>
              <a:defRPr sz="1125" b="1"/>
            </a:lvl5pPr>
            <a:lvl6pPr marL="1607287" indent="0" rtl="0">
              <a:buFont typeface="Lato"/>
              <a:buNone/>
              <a:defRPr sz="1125" b="1"/>
            </a:lvl6pPr>
            <a:lvl7pPr marL="1928744" indent="0" rtl="0">
              <a:buFont typeface="Lato"/>
              <a:buNone/>
              <a:defRPr sz="1125" b="1"/>
            </a:lvl7pPr>
            <a:lvl8pPr marL="2250201" indent="0" rtl="0">
              <a:buFont typeface="Lato"/>
              <a:buNone/>
              <a:defRPr sz="1125" b="1"/>
            </a:lvl8pPr>
            <a:lvl9pPr marL="2571659" indent="0" rtl="0">
              <a:buFont typeface="Lato"/>
              <a:buNone/>
              <a:defRPr sz="1125" b="1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4"/>
          </p:nvPr>
        </p:nvSpPr>
        <p:spPr>
          <a:xfrm>
            <a:off x="4644554" y="2174379"/>
            <a:ext cx="4041799" cy="39513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1687"/>
            </a:lvl1pPr>
            <a:lvl2pPr rtl="0">
              <a:defRPr sz="1406"/>
            </a:lvl2pPr>
            <a:lvl3pPr rtl="0">
              <a:defRPr sz="1266"/>
            </a:lvl3pPr>
            <a:lvl4pPr rtl="0">
              <a:defRPr sz="1125"/>
            </a:lvl4pPr>
            <a:lvl5pPr rtl="0">
              <a:defRPr sz="1125"/>
            </a:lvl5pPr>
            <a:lvl6pPr rtl="0">
              <a:defRPr sz="1125"/>
            </a:lvl6pPr>
            <a:lvl7pPr rtl="0">
              <a:defRPr sz="1125"/>
            </a:lvl7pPr>
            <a:lvl8pPr rtl="0">
              <a:defRPr sz="1125"/>
            </a:lvl8pPr>
            <a:lvl9pPr rtl="0">
              <a:defRPr sz="1125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2522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7358063" cy="171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466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05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Tx" type="objTx">
  <p:cSld name="objTx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title"/>
          </p:nvPr>
        </p:nvSpPr>
        <p:spPr>
          <a:xfrm>
            <a:off x="457647" y="273471"/>
            <a:ext cx="3008188" cy="1161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1406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3575224" y="273471"/>
            <a:ext cx="5111129" cy="585229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250"/>
            </a:lvl1pPr>
            <a:lvl2pPr rtl="0">
              <a:defRPr sz="1969"/>
            </a:lvl2pPr>
            <a:lvl3pPr rtl="0">
              <a:defRPr sz="1687"/>
            </a:lvl3pPr>
            <a:lvl4pPr rtl="0">
              <a:defRPr sz="1406"/>
            </a:lvl4pPr>
            <a:lvl5pPr rtl="0">
              <a:defRPr sz="1406"/>
            </a:lvl5pPr>
            <a:lvl6pPr rtl="0">
              <a:defRPr sz="1406"/>
            </a:lvl6pPr>
            <a:lvl7pPr rtl="0">
              <a:defRPr sz="1406"/>
            </a:lvl7pPr>
            <a:lvl8pPr rtl="0">
              <a:defRPr sz="1406"/>
            </a:lvl8pPr>
            <a:lvl9pPr rtl="0">
              <a:defRPr sz="1406"/>
            </a:lvl9pPr>
          </a:lstStyle>
          <a:p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body" idx="2"/>
          </p:nvPr>
        </p:nvSpPr>
        <p:spPr>
          <a:xfrm>
            <a:off x="457647" y="1435448"/>
            <a:ext cx="3008188" cy="46903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984"/>
            </a:lvl1pPr>
            <a:lvl2pPr marL="321457" indent="0" rtl="0">
              <a:buFont typeface="Lato"/>
              <a:buNone/>
              <a:defRPr sz="844"/>
            </a:lvl2pPr>
            <a:lvl3pPr marL="642915" indent="0" rtl="0">
              <a:buFont typeface="Lato"/>
              <a:buNone/>
              <a:defRPr sz="703"/>
            </a:lvl3pPr>
            <a:lvl4pPr marL="964372" indent="0" rtl="0">
              <a:buFont typeface="Lato"/>
              <a:buNone/>
              <a:defRPr sz="633"/>
            </a:lvl4pPr>
            <a:lvl5pPr marL="1285829" indent="0" rtl="0">
              <a:buFont typeface="Lato"/>
              <a:buNone/>
              <a:defRPr sz="633"/>
            </a:lvl5pPr>
            <a:lvl6pPr marL="1607287" indent="0" rtl="0">
              <a:buFont typeface="Lato"/>
              <a:buNone/>
              <a:defRPr sz="633"/>
            </a:lvl6pPr>
            <a:lvl7pPr marL="1928744" indent="0" rtl="0">
              <a:buFont typeface="Lato"/>
              <a:buNone/>
              <a:defRPr sz="633"/>
            </a:lvl7pPr>
            <a:lvl8pPr marL="2250201" indent="0" rtl="0">
              <a:buFont typeface="Lato"/>
              <a:buNone/>
              <a:defRPr sz="633"/>
            </a:lvl8pPr>
            <a:lvl9pPr marL="2571659" indent="0" rtl="0">
              <a:buFont typeface="Lato"/>
              <a:buNone/>
              <a:defRPr sz="6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1862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x" type="picTx">
  <p:cSld name="picTx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1792635" y="4800824"/>
            <a:ext cx="5486177" cy="5670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1406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1792635" y="5367859"/>
            <a:ext cx="5486177" cy="804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984"/>
            </a:lvl1pPr>
            <a:lvl2pPr marL="321457" indent="0" rtl="0">
              <a:buFont typeface="Lato"/>
              <a:buNone/>
              <a:defRPr sz="844"/>
            </a:lvl2pPr>
            <a:lvl3pPr marL="642915" indent="0" rtl="0">
              <a:buFont typeface="Lato"/>
              <a:buNone/>
              <a:defRPr sz="703"/>
            </a:lvl3pPr>
            <a:lvl4pPr marL="964372" indent="0" rtl="0">
              <a:buFont typeface="Lato"/>
              <a:buNone/>
              <a:defRPr sz="633"/>
            </a:lvl4pPr>
            <a:lvl5pPr marL="1285829" indent="0" rtl="0">
              <a:buFont typeface="Lato"/>
              <a:buNone/>
              <a:defRPr sz="633"/>
            </a:lvl5pPr>
            <a:lvl6pPr marL="1607287" indent="0" rtl="0">
              <a:buFont typeface="Lato"/>
              <a:buNone/>
              <a:defRPr sz="633"/>
            </a:lvl6pPr>
            <a:lvl7pPr marL="1928744" indent="0" rtl="0">
              <a:buFont typeface="Lato"/>
              <a:buNone/>
              <a:defRPr sz="633"/>
            </a:lvl7pPr>
            <a:lvl8pPr marL="2250201" indent="0" rtl="0">
              <a:buFont typeface="Lato"/>
              <a:buNone/>
              <a:defRPr sz="633"/>
            </a:lvl8pPr>
            <a:lvl9pPr marL="2571659" indent="0" rtl="0">
              <a:buFont typeface="Lato"/>
              <a:buNone/>
              <a:defRPr sz="6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9507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x" type="vertTx">
  <p:cSld name="vertTx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7358063" cy="171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 rot="5400000">
            <a:off x="2562820" y="276819"/>
            <a:ext cx="4018359" cy="7358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58933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01866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214394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5269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3945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16090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482365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8038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12528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207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itleAndTx" type="vertTitleAndTx">
  <p:cSld name="vertTitleAndT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 rot="5400000">
            <a:off x="4438054" y="2152055"/>
            <a:ext cx="5786438" cy="18395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21457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642915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964372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285829" algn="ctr" rtl="0">
              <a:spcBef>
                <a:spcPts val="0"/>
              </a:spcBef>
              <a:spcAft>
                <a:spcPts val="0"/>
              </a:spcAft>
              <a:defRPr sz="590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 rot="5400000">
            <a:off x="705445" y="366118"/>
            <a:ext cx="5786438" cy="54113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58933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01866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214394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5269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3945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160908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482365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2803822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125280" indent="-209840" algn="l" rtl="0">
              <a:spcBef>
                <a:spcPts val="1687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95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123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40191F-24E8-476C-9B24-6EF4E18FEE2F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2013/8/28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37ACA1-2B8B-4B2F-9F19-373D531914C0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3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7358063" cy="171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892969" y="1946672"/>
            <a:ext cx="7358063" cy="40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0719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984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8400" smtClean="0">
                <a:latin typeface="Consolas" pitchFamily="49" charset="0"/>
                <a:cs typeface="Consolas" pitchFamily="49" charset="0"/>
              </a:rPr>
              <a:t>Branch</a:t>
            </a:r>
            <a:endParaRPr lang="zh-TW" altLang="en-US" sz="840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043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98550"/>
            <a:ext cx="7194550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文字方塊 3"/>
          <p:cNvSpPr txBox="1">
            <a:spLocks noChangeArrowheads="1"/>
          </p:cNvSpPr>
          <p:nvPr/>
        </p:nvSpPr>
        <p:spPr bwMode="auto">
          <a:xfrm>
            <a:off x="539750" y="404813"/>
            <a:ext cx="8135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4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Statement</a:t>
            </a:r>
            <a:endParaRPr lang="zh-TW" altLang="en-US" sz="4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文字方塊 4"/>
          <p:cNvSpPr txBox="1">
            <a:spLocks noChangeArrowheads="1"/>
          </p:cNvSpPr>
          <p:nvPr/>
        </p:nvSpPr>
        <p:spPr bwMode="auto">
          <a:xfrm>
            <a:off x="2771775" y="5805488"/>
            <a:ext cx="6243638" cy="922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Please enter the hours of sleep per night during the past few days.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 to quit): 4 4 5 3 4.5 q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80.0% of the time you didn't sleep enough.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66963" y="5410200"/>
            <a:ext cx="3395662" cy="395288"/>
          </a:xfrm>
        </p:spPr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TW" altLang="en-US" sz="1800" b="1" dirty="0">
                <a:latin typeface="微軟正黑體" pitchFamily="34" charset="-120"/>
                <a:ea typeface="微軟正黑體" pitchFamily="34" charset="-120"/>
              </a:rPr>
              <a:t>這個程式執行起來像底下這樣：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391833" y="836712"/>
            <a:ext cx="920445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139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內容版面配置區 2"/>
          <p:cNvSpPr>
            <a:spLocks noGrp="1"/>
          </p:cNvSpPr>
          <p:nvPr>
            <p:ph idx="1"/>
          </p:nvPr>
        </p:nvSpPr>
        <p:spPr>
          <a:xfrm>
            <a:off x="611188" y="5229225"/>
            <a:ext cx="8353425" cy="863600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TW" altLang="en-US" sz="2400" smtClean="0">
                <a:latin typeface="微軟正黑體" pitchFamily="34" charset="-120"/>
                <a:ea typeface="微軟正黑體" pitchFamily="34" charset="-120"/>
              </a:rPr>
              <a:t>迴圈</a:t>
            </a:r>
            <a:r>
              <a:rPr lang="en-US" altLang="zh-TW" sz="2400" b="1" smtClean="0"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 sz="2400" smtClean="0">
                <a:latin typeface="微軟正黑體" pitchFamily="34" charset="-120"/>
                <a:ea typeface="微軟正黑體" pitchFamily="34" charset="-120"/>
              </a:rPr>
              <a:t>用來讓使用者反覆輸入睡眠時數，直到輸入</a:t>
            </a:r>
            <a:r>
              <a:rPr lang="en-US" altLang="zh-TW" sz="2400" b="1" smtClean="0">
                <a:latin typeface="微軟正黑體" pitchFamily="34" charset="-120"/>
                <a:ea typeface="微軟正黑體" pitchFamily="34" charset="-120"/>
              </a:rPr>
              <a:t>'q' </a:t>
            </a:r>
            <a:r>
              <a:rPr lang="zh-TW" altLang="en-US" sz="2400" smtClean="0">
                <a:latin typeface="微軟正黑體" pitchFamily="34" charset="-120"/>
                <a:ea typeface="微軟正黑體" pitchFamily="34" charset="-120"/>
              </a:rPr>
              <a:t>才結束。</a:t>
            </a:r>
            <a:endParaRPr lang="en-US" altLang="zh-TW" sz="240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0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8913"/>
            <a:ext cx="6811963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Line 3"/>
          <p:cNvSpPr>
            <a:spLocks noChangeShapeType="1"/>
          </p:cNvSpPr>
          <p:nvPr/>
        </p:nvSpPr>
        <p:spPr bwMode="auto">
          <a:xfrm flipH="1">
            <a:off x="722313" y="1916113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2453" y="204233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169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8913"/>
            <a:ext cx="6811963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Line 3"/>
          <p:cNvSpPr>
            <a:spLocks noChangeShapeType="1"/>
          </p:cNvSpPr>
          <p:nvPr/>
        </p:nvSpPr>
        <p:spPr bwMode="auto">
          <a:xfrm flipH="1">
            <a:off x="1042988" y="2492375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1188" y="5084763"/>
            <a:ext cx="7566025" cy="184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迴圈裡用一個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if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來判斷輸入的睡眠時數是否低於標準值，如果低於標準就把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tired_days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的值加一。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同時在迴圈中會累計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all_days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，來計算總共輸入了幾筆資料。</a:t>
            </a:r>
            <a:endParaRPr lang="en-US" altLang="zh-TW" sz="2400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>
              <a:defRPr/>
            </a:pP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2453" y="204233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816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內容版面配置區 2"/>
          <p:cNvSpPr>
            <a:spLocks noGrp="1"/>
          </p:cNvSpPr>
          <p:nvPr>
            <p:ph idx="1"/>
          </p:nvPr>
        </p:nvSpPr>
        <p:spPr>
          <a:xfrm>
            <a:off x="468313" y="4533900"/>
            <a:ext cx="8351837" cy="1919288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在迴圈結束後也有兩個</a:t>
            </a:r>
            <a:r>
              <a:rPr lang="en-US" altLang="zh-TW" sz="2400" b="1" dirty="0" smtClean="0">
                <a:latin typeface="微軟正黑體" pitchFamily="34" charset="-120"/>
                <a:ea typeface="微軟正黑體" pitchFamily="34" charset="-120"/>
              </a:rPr>
              <a:t>if 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判斷式，它們用來判斷使用者是否輸入了任何數字，如果有就把低於標準值的比率印出來，如果使用者沒有輸入任何資料而只是直接打</a:t>
            </a:r>
            <a:r>
              <a:rPr lang="en-US" altLang="zh-TW" sz="2400" b="1" dirty="0" smtClean="0">
                <a:latin typeface="微軟正黑體" pitchFamily="34" charset="-120"/>
                <a:ea typeface="微軟正黑體" pitchFamily="34" charset="-120"/>
              </a:rPr>
              <a:t>'q'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，則會因為完全沒進入迴圈，所以</a:t>
            </a:r>
            <a:r>
              <a:rPr lang="en-US" altLang="zh-TW" sz="2400" b="1" dirty="0" err="1" smtClean="0">
                <a:latin typeface="微軟正黑體" pitchFamily="34" charset="-120"/>
                <a:ea typeface="微軟正黑體" pitchFamily="34" charset="-120"/>
              </a:rPr>
              <a:t>all_days</a:t>
            </a:r>
            <a:r>
              <a:rPr lang="en-US" altLang="zh-TW" sz="2400" b="1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的值還是零，這時就要印出</a:t>
            </a:r>
            <a:r>
              <a:rPr lang="en-US" altLang="zh-TW" sz="2400" b="1" dirty="0" smtClean="0">
                <a:latin typeface="微軟正黑體" pitchFamily="34" charset="-120"/>
                <a:ea typeface="微軟正黑體" pitchFamily="34" charset="-120"/>
              </a:rPr>
              <a:t>"No data entered!"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sz="2400" b="1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8913"/>
            <a:ext cx="6811963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8" name="Line 3"/>
          <p:cNvSpPr>
            <a:spLocks noChangeShapeType="1"/>
          </p:cNvSpPr>
          <p:nvPr/>
        </p:nvSpPr>
        <p:spPr bwMode="auto">
          <a:xfrm flipH="1">
            <a:off x="722313" y="3357563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149" name="Line 3"/>
          <p:cNvSpPr>
            <a:spLocks noChangeShapeType="1"/>
          </p:cNvSpPr>
          <p:nvPr/>
        </p:nvSpPr>
        <p:spPr bwMode="auto">
          <a:xfrm flipH="1">
            <a:off x="722313" y="3860800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453" y="204233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42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內容版面配置區 2"/>
          <p:cNvSpPr>
            <a:spLocks noGrp="1"/>
          </p:cNvSpPr>
          <p:nvPr>
            <p:ph idx="1"/>
          </p:nvPr>
        </p:nvSpPr>
        <p:spPr>
          <a:xfrm>
            <a:off x="468313" y="4533900"/>
            <a:ext cx="8351837" cy="2208213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en-US" altLang="zh-TW" sz="22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if </a:t>
            </a:r>
            <a:r>
              <a:rPr lang="zh-TW" altLang="en-US" sz="22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的語法就是 </a:t>
            </a:r>
            <a:endParaRPr lang="en-US" altLang="zh-TW" sz="22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>
              <a:buFont typeface="Wingdings" pitchFamily="2" charset="2"/>
              <a:buChar char="l"/>
            </a:pP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其中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expression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是用來做判斷的條件，如果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expression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得到的值不為零</a:t>
            </a:r>
            <a: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(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代表</a:t>
            </a:r>
            <a: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true)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，則就會執行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statement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所包含的動作，如果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expression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的值是零</a:t>
            </a:r>
            <a: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(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代表</a:t>
            </a:r>
            <a: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false)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，則略過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statement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，進行</a:t>
            </a:r>
            <a:r>
              <a:rPr lang="en-US" altLang="zh-TW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if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之後的程式。</a:t>
            </a:r>
            <a:endParaRPr lang="en-US" altLang="zh-TW" sz="19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>
              <a:buFont typeface="Wingdings" pitchFamily="2" charset="2"/>
              <a:buChar char="l"/>
            </a:pP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注意，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expression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外面一定要用括號</a:t>
            </a:r>
            <a:r>
              <a:rPr lang="en-US" altLang="zh-TW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( )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包住。</a:t>
            </a:r>
            <a:endParaRPr lang="en-US" altLang="zh-TW" sz="19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>
              <a:buFont typeface="Wingdings" pitchFamily="2" charset="2"/>
              <a:buChar char="l"/>
            </a:pP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在</a:t>
            </a:r>
            <a:r>
              <a:rPr lang="en-US" altLang="zh-TW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if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的用法裡，最標準的</a:t>
            </a:r>
            <a:r>
              <a:rPr lang="en-US" altLang="zh-TW" sz="1900" i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expression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是</a:t>
            </a:r>
            <a:r>
              <a:rPr lang="zh-TW" altLang="en-US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關係判斷式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</a:t>
            </a:r>
            <a: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/>
            </a:r>
            <a:br>
              <a:rPr lang="en-US" altLang="zh-TW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</a:b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譬如： </a:t>
            </a:r>
            <a:r>
              <a:rPr lang="en-US" altLang="zh-TW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a &gt; b 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或</a:t>
            </a:r>
            <a:r>
              <a:rPr lang="en-US" altLang="zh-TW" sz="1900" b="1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c == 3</a:t>
            </a:r>
            <a:r>
              <a:rPr lang="zh-TW" altLang="en-US" sz="19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。</a:t>
            </a:r>
            <a:endParaRPr lang="en-US" altLang="zh-TW" sz="19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>
              <a:buFont typeface="Wingdings" pitchFamily="2" charset="2"/>
              <a:buChar char="l"/>
            </a:pPr>
            <a:endParaRPr lang="zh-TW" altLang="en-US" sz="1800" b="1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8913"/>
            <a:ext cx="6811963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508500"/>
            <a:ext cx="34544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92453" y="204233"/>
            <a:ext cx="928459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058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8313" y="1212850"/>
            <a:ext cx="8229600" cy="892175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當</a:t>
            </a:r>
            <a:r>
              <a:rPr lang="en-US" altLang="zh-TW" sz="1800" b="1" dirty="0">
                <a:latin typeface="微軟正黑體" pitchFamily="34" charset="-120"/>
                <a:ea typeface="微軟正黑體" pitchFamily="34" charset="-120"/>
              </a:rPr>
              <a:t>if 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條件只有兩種可能的情況時，譬如</a:t>
            </a:r>
            <a:r>
              <a:rPr lang="en-US" altLang="zh-TW" sz="1800" b="1" dirty="0">
                <a:latin typeface="微軟正黑體" pitchFamily="34" charset="-120"/>
                <a:ea typeface="微軟正黑體" pitchFamily="34" charset="-120"/>
              </a:rPr>
              <a:t>a == 0 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或</a:t>
            </a:r>
            <a:r>
              <a:rPr lang="en-US" altLang="zh-TW" sz="1800" b="1" dirty="0">
                <a:latin typeface="微軟正黑體" pitchFamily="34" charset="-120"/>
                <a:ea typeface="微軟正黑體" pitchFamily="34" charset="-120"/>
              </a:rPr>
              <a:t>a != 0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，一但其中一個條件成立，另一個一定就不會成立。</a:t>
            </a:r>
            <a:r>
              <a:rPr lang="zh-TW" altLang="en-US" sz="1800" dirty="0" smtClean="0">
                <a:latin typeface="微軟正黑體" pitchFamily="34" charset="-120"/>
                <a:ea typeface="微軟正黑體" pitchFamily="34" charset="-120"/>
              </a:rPr>
              <a:t>這時候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可以用</a:t>
            </a:r>
            <a:r>
              <a:rPr lang="en-US" altLang="zh-TW" sz="1800" b="1" dirty="0">
                <a:latin typeface="微軟正黑體" pitchFamily="34" charset="-120"/>
                <a:ea typeface="微軟正黑體" pitchFamily="34" charset="-120"/>
              </a:rPr>
              <a:t>if ... else .. </a:t>
            </a:r>
            <a:r>
              <a:rPr lang="zh-TW" altLang="en-US" sz="1800" dirty="0">
                <a:latin typeface="微軟正黑體" pitchFamily="34" charset="-120"/>
                <a:ea typeface="微軟正黑體" pitchFamily="34" charset="-120"/>
              </a:rPr>
              <a:t>的寫法，會比較省事。</a:t>
            </a:r>
          </a:p>
        </p:txBody>
      </p:sp>
      <p:sp>
        <p:nvSpPr>
          <p:cNvPr id="8195" name="文字方塊 3"/>
          <p:cNvSpPr txBox="1">
            <a:spLocks noChangeArrowheads="1"/>
          </p:cNvSpPr>
          <p:nvPr/>
        </p:nvSpPr>
        <p:spPr bwMode="auto">
          <a:xfrm>
            <a:off x="525463" y="333375"/>
            <a:ext cx="7921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48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if ... else ...</a:t>
            </a:r>
            <a:endParaRPr lang="zh-TW" altLang="en-US" sz="48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8196" name="內容版面配置區 2"/>
          <p:cNvSpPr txBox="1">
            <a:spLocks/>
          </p:cNvSpPr>
          <p:nvPr/>
        </p:nvSpPr>
        <p:spPr bwMode="auto">
          <a:xfrm>
            <a:off x="468313" y="2105025"/>
            <a:ext cx="15113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譬如範例</a:t>
            </a:r>
          </a:p>
        </p:txBody>
      </p:sp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2420938"/>
            <a:ext cx="4967287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8" name="內容版面配置區 2"/>
          <p:cNvSpPr txBox="1">
            <a:spLocks/>
          </p:cNvSpPr>
          <p:nvPr/>
        </p:nvSpPr>
        <p:spPr bwMode="auto">
          <a:xfrm>
            <a:off x="468313" y="3313113"/>
            <a:ext cx="15113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可以寫成</a:t>
            </a:r>
          </a:p>
        </p:txBody>
      </p:sp>
      <p:sp>
        <p:nvSpPr>
          <p:cNvPr id="8199" name="內容版面配置區 2"/>
          <p:cNvSpPr txBox="1">
            <a:spLocks/>
          </p:cNvSpPr>
          <p:nvPr/>
        </p:nvSpPr>
        <p:spPr bwMode="auto">
          <a:xfrm>
            <a:off x="500063" y="4652963"/>
            <a:ext cx="79216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因為只要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all_days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!= 0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成立， 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all_days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== 0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其實可以完全不用再測試，一定會成立。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200" name="內容版面配置區 2"/>
          <p:cNvSpPr txBox="1">
            <a:spLocks/>
          </p:cNvSpPr>
          <p:nvPr/>
        </p:nvSpPr>
        <p:spPr bwMode="auto">
          <a:xfrm>
            <a:off x="493713" y="5408613"/>
            <a:ext cx="7920037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</a:rPr>
              <a:t>從上面的例子應該可以觀察到，</a:t>
            </a:r>
            <a:r>
              <a:rPr lang="en-US" altLang="zh-TW" sz="2400">
                <a:solidFill>
                  <a:prstClr val="black"/>
                </a:solidFill>
              </a:rPr>
              <a:t/>
            </a:r>
            <a:br>
              <a:rPr lang="en-US" altLang="zh-TW" sz="2400">
                <a:solidFill>
                  <a:prstClr val="black"/>
                </a:solidFill>
              </a:rPr>
            </a:br>
            <a:r>
              <a:rPr lang="en-US" altLang="zh-TW" sz="2400" b="1">
                <a:solidFill>
                  <a:prstClr val="black"/>
                </a:solidFill>
              </a:rPr>
              <a:t>if ... else ... </a:t>
            </a:r>
            <a:r>
              <a:rPr lang="zh-TW" altLang="en-US" sz="2400">
                <a:solidFill>
                  <a:prstClr val="black"/>
                </a:solidFill>
              </a:rPr>
              <a:t>的語法就是</a:t>
            </a:r>
            <a:endParaRPr lang="zh-TW" altLang="en-US" sz="2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20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38" y="5876925"/>
            <a:ext cx="1617662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2" name="Line 3"/>
          <p:cNvSpPr>
            <a:spLocks noChangeShapeType="1"/>
          </p:cNvSpPr>
          <p:nvPr/>
        </p:nvSpPr>
        <p:spPr bwMode="auto">
          <a:xfrm flipH="1">
            <a:off x="503238" y="4316413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8203" name="Line 3"/>
          <p:cNvSpPr>
            <a:spLocks noChangeShapeType="1"/>
          </p:cNvSpPr>
          <p:nvPr/>
        </p:nvSpPr>
        <p:spPr bwMode="auto">
          <a:xfrm flipH="1">
            <a:off x="500063" y="3119438"/>
            <a:ext cx="10668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pic>
        <p:nvPicPr>
          <p:cNvPr id="820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3649663"/>
            <a:ext cx="5106988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30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ctype.h </a:t>
            </a:r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中用來處理字元的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functions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55650" y="1784350"/>
            <a:ext cx="8208963" cy="5110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l"/>
              <a:defRPr/>
            </a:pPr>
            <a:r>
              <a:rPr lang="en-US" altLang="zh-TW" sz="28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isalpha</a:t>
            </a:r>
            <a:r>
              <a:rPr lang="en-US" altLang="zh-TW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</a:t>
            </a:r>
            <a:r>
              <a:rPr lang="zh-TW" altLang="en-US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用來判斷字元是否是英文字母。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endParaRPr lang="en-US" altLang="zh-TW" sz="2800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r>
              <a:rPr lang="en-US" altLang="zh-TW" sz="28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isupper</a:t>
            </a:r>
            <a:r>
              <a:rPr lang="en-US" altLang="zh-TW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</a:t>
            </a:r>
            <a:r>
              <a:rPr lang="zh-TW" altLang="en-US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用來判斷字元是否是大寫英文字母。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endParaRPr lang="en-US" altLang="zh-TW" sz="2800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r>
              <a:rPr lang="en-US" altLang="zh-TW" sz="28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islower</a:t>
            </a:r>
            <a:r>
              <a:rPr lang="en-US" altLang="zh-TW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</a:t>
            </a:r>
            <a:r>
              <a:rPr lang="zh-TW" altLang="en-US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：</a:t>
            </a: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用來判斷字元是否是小寫英文字母。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endParaRPr lang="en-US" altLang="zh-TW" sz="2800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r>
              <a:rPr lang="en-US" altLang="zh-TW" sz="28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tolower</a:t>
            </a:r>
            <a:r>
              <a:rPr lang="en-US" altLang="zh-TW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</a:t>
            </a:r>
            <a:r>
              <a:rPr lang="zh-TW" altLang="en-US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用來將大寫字母轉成小寫字母。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r>
              <a:rPr lang="en-US" altLang="zh-TW" sz="28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toupper</a:t>
            </a:r>
            <a:r>
              <a:rPr lang="en-US" altLang="zh-TW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</a:t>
            </a:r>
            <a:r>
              <a:rPr lang="zh-TW" altLang="en-US" sz="28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用來將小寫字母轉成大寫字母。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  <a:defRPr/>
            </a:pPr>
            <a:r>
              <a:rPr lang="zh-TW" altLang="en-US" sz="28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將以下面範例舉出用法。</a:t>
            </a:r>
            <a:endParaRPr lang="en-US" altLang="zh-TW" sz="28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zh-TW" altLang="en-US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202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else if ...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73163"/>
            <a:ext cx="5957888" cy="478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4" name="文字方塊 3"/>
          <p:cNvSpPr txBox="1">
            <a:spLocks noChangeArrowheads="1"/>
          </p:cNvSpPr>
          <p:nvPr/>
        </p:nvSpPr>
        <p:spPr bwMode="auto">
          <a:xfrm>
            <a:off x="4067175" y="508476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>
                <a:solidFill>
                  <a:prstClr val="black"/>
                </a:solidFill>
              </a:rPr>
              <a:t>輸出：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4427538" y="5589588"/>
            <a:ext cx="4525962" cy="64611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 Control Statements: Branching!</a:t>
            </a:r>
          </a:p>
          <a:p>
            <a:pPr>
              <a:defRPr/>
            </a:pP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 </a:t>
            </a:r>
            <a:r>
              <a:rPr lang="en-US" altLang="zh-TW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cONTROL</a:t>
            </a: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sTATEMENTS</a:t>
            </a: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: </a:t>
            </a:r>
            <a:r>
              <a:rPr lang="en-US" altLang="zh-TW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bRANCHING</a:t>
            </a: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!</a:t>
            </a:r>
            <a:endParaRPr lang="zh-TW" altLang="en-US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23850" y="89942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4-2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792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>
          <a:xfrm>
            <a:off x="403225" y="-4763"/>
            <a:ext cx="8229600" cy="1143001"/>
          </a:xfrm>
        </p:spPr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else if ...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08050"/>
            <a:ext cx="5016500" cy="402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8" name="文字方塊 2"/>
          <p:cNvSpPr txBox="1">
            <a:spLocks noChangeArrowheads="1"/>
          </p:cNvSpPr>
          <p:nvPr/>
        </p:nvSpPr>
        <p:spPr bwMode="auto">
          <a:xfrm>
            <a:off x="2995613" y="4076700"/>
            <a:ext cx="615632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進入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迴圈之後，有三種可能的狀況，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1)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是大寫字母， 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isupper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得到非零值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代表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true)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，就把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轉成小寫。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2)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不是大寫，就會進入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else if (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islower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))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的判斷，檢查看看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是否為小寫字母，如果是就把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轉成大寫。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3)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最後如果不是大寫也不是小寫，就什麼轉換都不做，所以我們就直接把原本該有的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else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的部份省略。</a:t>
            </a:r>
          </a:p>
        </p:txBody>
      </p:sp>
      <p:sp>
        <p:nvSpPr>
          <p:cNvPr id="11269" name="文字方塊 5"/>
          <p:cNvSpPr txBox="1">
            <a:spLocks noChangeArrowheads="1"/>
          </p:cNvSpPr>
          <p:nvPr/>
        </p:nvSpPr>
        <p:spPr bwMode="auto">
          <a:xfrm>
            <a:off x="5508625" y="2276475"/>
            <a:ext cx="36004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首先把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assignment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和條件判斷寫在一起，先取得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，再比較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是否等於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'\n'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</a:p>
        </p:txBody>
      </p:sp>
      <p:sp>
        <p:nvSpPr>
          <p:cNvPr id="11270" name="Line 3"/>
          <p:cNvSpPr>
            <a:spLocks noChangeShapeType="1"/>
          </p:cNvSpPr>
          <p:nvPr/>
        </p:nvSpPr>
        <p:spPr bwMode="auto">
          <a:xfrm flipH="1">
            <a:off x="179388" y="2349500"/>
            <a:ext cx="681037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pic>
        <p:nvPicPr>
          <p:cNvPr id="1127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973263"/>
            <a:ext cx="9001125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2276475"/>
            <a:ext cx="8664575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3" name="Line 3"/>
          <p:cNvSpPr>
            <a:spLocks noChangeShapeType="1"/>
          </p:cNvSpPr>
          <p:nvPr/>
        </p:nvSpPr>
        <p:spPr bwMode="auto">
          <a:xfrm flipH="1">
            <a:off x="576263" y="2895600"/>
            <a:ext cx="68262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1274" name="Line 3"/>
          <p:cNvSpPr>
            <a:spLocks noChangeShapeType="1"/>
          </p:cNvSpPr>
          <p:nvPr/>
        </p:nvSpPr>
        <p:spPr bwMode="auto">
          <a:xfrm flipH="1">
            <a:off x="576263" y="3302000"/>
            <a:ext cx="68262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pic>
        <p:nvPicPr>
          <p:cNvPr id="112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076700"/>
            <a:ext cx="8575675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2919413"/>
            <a:ext cx="8575675" cy="37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323850" y="62068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4-2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321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smtClean="0">
                <a:latin typeface="微軟正黑體" pitchFamily="34" charset="-120"/>
                <a:ea typeface="微軟正黑體" pitchFamily="34" charset="-120"/>
              </a:rPr>
              <a:t>程式範例</a:t>
            </a:r>
          </a:p>
        </p:txBody>
      </p:sp>
      <p:sp>
        <p:nvSpPr>
          <p:cNvPr id="12292" name="文字方塊 4"/>
          <p:cNvSpPr txBox="1">
            <a:spLocks noChangeArrowheads="1"/>
          </p:cNvSpPr>
          <p:nvPr/>
        </p:nvSpPr>
        <p:spPr bwMode="auto">
          <a:xfrm>
            <a:off x="5364163" y="2349500"/>
            <a:ext cx="37084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來看看左邊這個有點複雜的範例。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程式會列出輸入之正整數除了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1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和該正整數本身以外的所有因數。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如果無法因數分解，則程式就會顯示這個正整數是質數。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333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5" name="文字方塊 4"/>
          <p:cNvSpPr txBox="1">
            <a:spLocks noChangeArrowheads="1"/>
          </p:cNvSpPr>
          <p:nvPr/>
        </p:nvSpPr>
        <p:spPr bwMode="auto">
          <a:xfrm>
            <a:off x="5364163" y="2349500"/>
            <a:ext cx="37084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在主程式一開始的地方我們宣告了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兩個型別為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unsigned long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的變數， 以及一個整數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isPrime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我們會把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isPrime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當作</a:t>
            </a:r>
            <a:r>
              <a:rPr lang="en-US" altLang="zh-TW" sz="2400" i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flag</a:t>
            </a:r>
            <a:r>
              <a:rPr lang="en-US" altLang="zh-TW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來使用，用來記錄正整數是否是質數。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331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3317" name="Line 3"/>
          <p:cNvSpPr>
            <a:spLocks noChangeShapeType="1"/>
          </p:cNvSpPr>
          <p:nvPr/>
        </p:nvSpPr>
        <p:spPr bwMode="auto">
          <a:xfrm flipH="1">
            <a:off x="-12700" y="1916113"/>
            <a:ext cx="5334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3318" name="Line 3"/>
          <p:cNvSpPr>
            <a:spLocks noChangeShapeType="1"/>
          </p:cNvSpPr>
          <p:nvPr/>
        </p:nvSpPr>
        <p:spPr bwMode="auto">
          <a:xfrm flipH="1">
            <a:off x="-12700" y="2076450"/>
            <a:ext cx="5334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37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364163" y="2349500"/>
            <a:ext cx="37084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scanf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()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讀取使用者輸入的正整數並存放在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zh-TW" altLang="en-US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Wingdings" pitchFamily="2" charset="2"/>
              <a:buChar char="l"/>
              <a:defRPr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如果確實有讀到一個正整數，就可以進入迴圈，接著就要檢查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是否可以因數分解。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434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4341" name="Line 3"/>
          <p:cNvSpPr>
            <a:spLocks noChangeShapeType="1"/>
          </p:cNvSpPr>
          <p:nvPr/>
        </p:nvSpPr>
        <p:spPr bwMode="auto">
          <a:xfrm flipH="1">
            <a:off x="-50800" y="2636838"/>
            <a:ext cx="5334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493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364163" y="2349500"/>
            <a:ext cx="3708400" cy="33226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檢查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可否分解要靠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for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</a:t>
            </a:r>
            <a:r>
              <a:rPr lang="zh-TW" altLang="en-US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Wingdings" pitchFamily="2" charset="2"/>
              <a:buChar char="l"/>
              <a:defRPr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285750" indent="-285750">
              <a:buFont typeface="Wingdings" pitchFamily="2" charset="2"/>
              <a:buChar char="l"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變數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代表除數，一開始設為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，我們會用迴圈不斷增加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</a:t>
            </a:r>
            <a:r>
              <a:rPr lang="en-US" altLang="zh-TW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div++</a:t>
            </a:r>
            <a:r>
              <a:rPr lang="en-US" altLang="zh-TW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，直到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div*div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超過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為止。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536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5365" name="Line 3"/>
          <p:cNvSpPr>
            <a:spLocks noChangeShapeType="1"/>
          </p:cNvSpPr>
          <p:nvPr/>
        </p:nvSpPr>
        <p:spPr bwMode="auto">
          <a:xfrm flipH="1">
            <a:off x="107950" y="3008313"/>
            <a:ext cx="74295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88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文字方塊 4"/>
          <p:cNvSpPr txBox="1">
            <a:spLocks noChangeArrowheads="1"/>
          </p:cNvSpPr>
          <p:nvPr/>
        </p:nvSpPr>
        <p:spPr bwMode="auto">
          <a:xfrm>
            <a:off x="5364163" y="1773238"/>
            <a:ext cx="3708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我們用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isPrime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來記錄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是否不可以被整除，一開始設為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，也就是先假定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是個質數</a:t>
            </a:r>
            <a:r>
              <a:rPr lang="zh-TW" altLang="en-US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等到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for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迴圈進行中發現某個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可以整除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，則我們原先的假定就破滅，那時候就把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isPrime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設為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0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for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迴圈進行完後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isPrime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都還能維持值是</a:t>
            </a:r>
            <a:r>
              <a:rPr lang="en-US" altLang="zh-TW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，表示我們完全無法找到可以整除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，也就表示</a:t>
            </a:r>
            <a:r>
              <a:rPr lang="en-US" altLang="zh-TW" sz="20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0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是個質數。</a:t>
            </a:r>
            <a:endParaRPr lang="en-US" altLang="zh-TW" sz="2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638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2627313" y="3101975"/>
            <a:ext cx="649287" cy="288925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6390" name="Line 3"/>
          <p:cNvSpPr>
            <a:spLocks noChangeShapeType="1"/>
          </p:cNvSpPr>
          <p:nvPr/>
        </p:nvSpPr>
        <p:spPr bwMode="auto">
          <a:xfrm flipH="1">
            <a:off x="827088" y="4437063"/>
            <a:ext cx="649287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354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412875"/>
            <a:ext cx="52593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文字方塊 4"/>
          <p:cNvSpPr txBox="1">
            <a:spLocks noChangeArrowheads="1"/>
          </p:cNvSpPr>
          <p:nvPr/>
        </p:nvSpPr>
        <p:spPr bwMode="auto">
          <a:xfrm>
            <a:off x="5364163" y="1558925"/>
            <a:ext cx="370840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檢查是否可以整除，用的方法是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% div == 0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另外，為了避免完全平方的情況出現時，同一個因數會被列出兩次，所以我們又判斷是否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div*div !=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的平方，這時候只要印出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div </a:t>
            </a:r>
            <a:r>
              <a:rPr lang="zh-TW" altLang="en-US" sz="2400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就夠了，不用印</a:t>
            </a:r>
            <a:r>
              <a:rPr lang="en-US" altLang="zh-TW" sz="2400" b="1" dirty="0" err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num</a:t>
            </a:r>
            <a:r>
              <a:rPr lang="en-US" altLang="zh-TW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/div</a:t>
            </a:r>
            <a:r>
              <a:rPr lang="zh-TW" altLang="en-US" sz="24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741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7413" name="Line 3"/>
          <p:cNvSpPr>
            <a:spLocks noChangeShapeType="1"/>
          </p:cNvSpPr>
          <p:nvPr/>
        </p:nvSpPr>
        <p:spPr bwMode="auto">
          <a:xfrm flipH="1">
            <a:off x="503238" y="3357563"/>
            <a:ext cx="6477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7414" name="Line 3"/>
          <p:cNvSpPr>
            <a:spLocks noChangeShapeType="1"/>
          </p:cNvSpPr>
          <p:nvPr/>
        </p:nvSpPr>
        <p:spPr bwMode="auto">
          <a:xfrm flipH="1">
            <a:off x="827088" y="3716338"/>
            <a:ext cx="649287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7504" y="1047725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368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? : </a:t>
            </a:r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語法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435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7283450" cy="388938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TW" altLang="en-US" sz="2400" smtClean="0">
                <a:latin typeface="微軟正黑體" pitchFamily="34" charset="-120"/>
                <a:ea typeface="微軟正黑體" pitchFamily="34" charset="-120"/>
              </a:rPr>
              <a:t>你可能會看到別人寫的</a:t>
            </a:r>
            <a:r>
              <a:rPr lang="en-US" altLang="zh-TW" sz="2400" smtClean="0">
                <a:latin typeface="微軟正黑體" pitchFamily="34" charset="-120"/>
                <a:ea typeface="微軟正黑體" pitchFamily="34" charset="-120"/>
              </a:rPr>
              <a:t>C </a:t>
            </a:r>
            <a:r>
              <a:rPr lang="zh-TW" altLang="en-US" sz="2400" smtClean="0">
                <a:latin typeface="微軟正黑體" pitchFamily="34" charset="-120"/>
                <a:ea typeface="微軟正黑體" pitchFamily="34" charset="-120"/>
              </a:rPr>
              <a:t>程式裡有下面這樣的語法</a:t>
            </a:r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989138"/>
            <a:ext cx="27559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7" name="內容版面配置區 2"/>
          <p:cNvSpPr txBox="1">
            <a:spLocks/>
          </p:cNvSpPr>
          <p:nvPr/>
        </p:nvSpPr>
        <p:spPr bwMode="auto">
          <a:xfrm>
            <a:off x="468313" y="2420938"/>
            <a:ext cx="266382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它的意義相當於</a:t>
            </a:r>
          </a:p>
        </p:txBody>
      </p:sp>
      <p:pic>
        <p:nvPicPr>
          <p:cNvPr id="1843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3" y="2835275"/>
            <a:ext cx="14605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9" name="內容版面配置區 2"/>
          <p:cNvSpPr txBox="1">
            <a:spLocks/>
          </p:cNvSpPr>
          <p:nvPr/>
        </p:nvSpPr>
        <p:spPr bwMode="auto">
          <a:xfrm>
            <a:off x="620713" y="4149725"/>
            <a:ext cx="83439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也就是說，如果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y &lt; 0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則把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x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的值設成問號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?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後面的值</a:t>
            </a:r>
            <a:endParaRPr lang="en-US" altLang="zh-TW" sz="2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y &lt; 0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不成立，就把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x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的值設成冒號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: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後面的值</a:t>
            </a:r>
            <a:endParaRPr lang="en-US" altLang="zh-TW" sz="2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這樣的寫法確實比較簡單扼要，但是依照自己的習慣就好，不見得一定要用這樣的語法。</a:t>
            </a:r>
          </a:p>
        </p:txBody>
      </p:sp>
    </p:spTree>
    <p:extLst>
      <p:ext uri="{BB962C8B-B14F-4D97-AF65-F5344CB8AC3E}">
        <p14:creationId xmlns:p14="http://schemas.microsoft.com/office/powerpoint/2010/main" val="413211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continue </a:t>
            </a:r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break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9459" name="內容版面配置區 2"/>
          <p:cNvSpPr>
            <a:spLocks noGrp="1"/>
          </p:cNvSpPr>
          <p:nvPr>
            <p:ph idx="1"/>
          </p:nvPr>
        </p:nvSpPr>
        <p:spPr>
          <a:xfrm>
            <a:off x="468313" y="1412875"/>
            <a:ext cx="8218487" cy="604838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TW" altLang="en-US" sz="2000" dirty="0" smtClean="0"/>
              <a:t>在迴圈裡面我們可以用</a:t>
            </a:r>
            <a:r>
              <a:rPr lang="en-US" altLang="zh-TW" sz="2000" b="1" dirty="0" smtClean="0"/>
              <a:t>continue </a:t>
            </a:r>
            <a:r>
              <a:rPr lang="zh-TW" altLang="en-US" sz="2000" dirty="0" smtClean="0"/>
              <a:t>和</a:t>
            </a:r>
            <a:r>
              <a:rPr lang="en-US" altLang="zh-TW" sz="2000" b="1" dirty="0" smtClean="0"/>
              <a:t>break </a:t>
            </a:r>
            <a:r>
              <a:rPr lang="zh-TW" altLang="en-US" sz="2000" dirty="0" smtClean="0"/>
              <a:t>來改變迴圈原有的進行步驟。比較底下範例左右兩邊的輸出。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2060575"/>
            <a:ext cx="2608262" cy="322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135188"/>
            <a:ext cx="2519362" cy="312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2" name="文字方塊 3"/>
          <p:cNvSpPr txBox="1">
            <a:spLocks noChangeArrowheads="1"/>
          </p:cNvSpPr>
          <p:nvPr/>
        </p:nvSpPr>
        <p:spPr bwMode="auto">
          <a:xfrm>
            <a:off x="3654425" y="4292600"/>
            <a:ext cx="709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輸出</a:t>
            </a:r>
            <a:r>
              <a:rPr lang="en-US" altLang="zh-TW">
                <a:solidFill>
                  <a:prstClr val="black"/>
                </a:solidFill>
              </a:rPr>
              <a:t>:</a:t>
            </a:r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979863" y="4662488"/>
            <a:ext cx="766762" cy="36988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prstClr val="black"/>
                </a:solidFill>
              </a:rPr>
              <a:t>ABDE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9464" name="文字方塊 7"/>
          <p:cNvSpPr txBox="1">
            <a:spLocks noChangeArrowheads="1"/>
          </p:cNvSpPr>
          <p:nvPr/>
        </p:nvSpPr>
        <p:spPr bwMode="auto">
          <a:xfrm>
            <a:off x="7826375" y="4292600"/>
            <a:ext cx="708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輸出</a:t>
            </a:r>
            <a:r>
              <a:rPr lang="en-US" altLang="zh-TW">
                <a:solidFill>
                  <a:prstClr val="black"/>
                </a:solidFill>
              </a:rPr>
              <a:t>:</a:t>
            </a:r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131175" y="4662488"/>
            <a:ext cx="496888" cy="36988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prstClr val="black"/>
                </a:solidFill>
              </a:rPr>
              <a:t>AB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9466" name="內容版面配置區 2"/>
          <p:cNvSpPr txBox="1">
            <a:spLocks/>
          </p:cNvSpPr>
          <p:nvPr/>
        </p:nvSpPr>
        <p:spPr bwMode="auto">
          <a:xfrm>
            <a:off x="487363" y="5311775"/>
            <a:ext cx="836295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左邊的程式，本來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迴圈應該要顯示從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‘A’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到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‘E’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的字元，但是因為用了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continue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，當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等於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‘C’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的時候，會跳過接下來的步驟</a:t>
            </a:r>
            <a:r>
              <a:rPr lang="en-US" altLang="zh-TW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也就是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printf(“%c”,i);)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直接進行下一次迴圈。</a:t>
            </a:r>
            <a:endParaRPr lang="en-US" altLang="zh-TW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右邊的情況則是當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等於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'C'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的時候，因為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break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，所以程式就直接跳到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while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之外，也就是</a:t>
            </a:r>
            <a:r>
              <a:rPr lang="en-US" altLang="zh-TW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return 0; </a:t>
            </a:r>
            <a:r>
              <a:rPr lang="zh-TW" altLang="en-US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的地方。</a:t>
            </a:r>
          </a:p>
        </p:txBody>
      </p:sp>
      <p:sp>
        <p:nvSpPr>
          <p:cNvPr id="19467" name="Line 3"/>
          <p:cNvSpPr>
            <a:spLocks noChangeShapeType="1"/>
          </p:cNvSpPr>
          <p:nvPr/>
        </p:nvSpPr>
        <p:spPr bwMode="auto">
          <a:xfrm flipH="1">
            <a:off x="1187450" y="3933825"/>
            <a:ext cx="100012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9468" name="Line 3"/>
          <p:cNvSpPr>
            <a:spLocks noChangeShapeType="1"/>
          </p:cNvSpPr>
          <p:nvPr/>
        </p:nvSpPr>
        <p:spPr bwMode="auto">
          <a:xfrm flipH="1">
            <a:off x="5191125" y="3933825"/>
            <a:ext cx="1001713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5496" y="2127836"/>
            <a:ext cx="816496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rIns="36000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920548" y="213518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4-5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95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539750" y="65088"/>
            <a:ext cx="8229600" cy="1143000"/>
          </a:xfrm>
        </p:spPr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4800" b="1" smtClean="0">
                <a:latin typeface="微軟正黑體" pitchFamily="34" charset="-120"/>
                <a:ea typeface="微軟正黑體" pitchFamily="34" charset="-120"/>
              </a:rPr>
              <a:t>switch ... case ... break</a:t>
            </a:r>
            <a:endParaRPr lang="zh-TW" altLang="en-US" sz="480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268413"/>
            <a:ext cx="5340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716463" y="3573463"/>
            <a:ext cx="4319587" cy="2800350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Give me a letter of the alphabet, and I will give an animal name</a:t>
            </a:r>
            <a:r>
              <a:rPr lang="zh-TW" altLang="en-US" sz="1600" b="1" dirty="0">
                <a:solidFill>
                  <a:prstClr val="black"/>
                </a:solidFill>
              </a:rPr>
              <a:t> </a:t>
            </a:r>
            <a:r>
              <a:rPr lang="en-US" altLang="zh-TW" sz="1600" b="1" dirty="0">
                <a:solidFill>
                  <a:prstClr val="black"/>
                </a:solidFill>
              </a:rPr>
              <a:t>beginning with that letter.</a:t>
            </a:r>
          </a:p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Please type in a letter; type # to quit.</a:t>
            </a:r>
          </a:p>
          <a:p>
            <a:pPr>
              <a:defRPr/>
            </a:pPr>
            <a:r>
              <a:rPr lang="en-US" altLang="zh-TW" sz="1600" b="1" u="sng" dirty="0">
                <a:solidFill>
                  <a:prstClr val="black"/>
                </a:solidFill>
              </a:rPr>
              <a:t>b</a:t>
            </a:r>
          </a:p>
          <a:p>
            <a:pPr>
              <a:defRPr/>
            </a:pPr>
            <a:r>
              <a:rPr lang="en-US" altLang="zh-TW" sz="1600" b="1" dirty="0" err="1">
                <a:solidFill>
                  <a:prstClr val="black"/>
                </a:solidFill>
              </a:rPr>
              <a:t>babirusa</a:t>
            </a:r>
            <a:r>
              <a:rPr lang="en-US" altLang="zh-TW" sz="1600" b="1" dirty="0">
                <a:solidFill>
                  <a:prstClr val="black"/>
                </a:solidFill>
              </a:rPr>
              <a:t>, a wild pig of Malay</a:t>
            </a:r>
          </a:p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Please type another letter or a #.</a:t>
            </a:r>
          </a:p>
          <a:p>
            <a:pPr>
              <a:defRPr/>
            </a:pPr>
            <a:r>
              <a:rPr lang="en-US" altLang="zh-TW" sz="1600" b="1" u="sng" dirty="0" err="1">
                <a:solidFill>
                  <a:prstClr val="black"/>
                </a:solidFill>
              </a:rPr>
              <a:t>ab</a:t>
            </a:r>
            <a:endParaRPr lang="en-US" altLang="zh-TW" sz="1600" b="1" u="sng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argali, a wild sheep of Asia</a:t>
            </a:r>
          </a:p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Please type another letter or a #.</a:t>
            </a:r>
          </a:p>
          <a:p>
            <a:pPr>
              <a:defRPr/>
            </a:pPr>
            <a:r>
              <a:rPr lang="en-US" altLang="zh-TW" sz="1600" b="1" u="sng" dirty="0">
                <a:solidFill>
                  <a:prstClr val="black"/>
                </a:solidFill>
              </a:rPr>
              <a:t>#</a:t>
            </a:r>
          </a:p>
          <a:p>
            <a:pPr>
              <a:defRPr/>
            </a:pPr>
            <a:r>
              <a:rPr lang="en-US" altLang="zh-TW" sz="1600" b="1" dirty="0">
                <a:solidFill>
                  <a:prstClr val="black"/>
                </a:solidFill>
              </a:rPr>
              <a:t>Bye!</a:t>
            </a:r>
            <a:endParaRPr lang="zh-TW" altLang="en-US" sz="1600" dirty="0">
              <a:solidFill>
                <a:prstClr val="black"/>
              </a:solidFill>
            </a:endParaRPr>
          </a:p>
        </p:txBody>
      </p:sp>
      <p:sp>
        <p:nvSpPr>
          <p:cNvPr id="20485" name="文字方塊 5"/>
          <p:cNvSpPr txBox="1">
            <a:spLocks noChangeArrowheads="1"/>
          </p:cNvSpPr>
          <p:nvPr/>
        </p:nvSpPr>
        <p:spPr bwMode="auto">
          <a:xfrm>
            <a:off x="4643438" y="2584450"/>
            <a:ext cx="4392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0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這個範例很長，但是其實並沒有做太複雜的事情。</a:t>
            </a:r>
            <a:endParaRPr lang="en-US" altLang="zh-TW" sz="20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0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它執行起來的結果像底下這樣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07950" y="89942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912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字方塊 5"/>
          <p:cNvSpPr txBox="1">
            <a:spLocks noChangeArrowheads="1"/>
          </p:cNvSpPr>
          <p:nvPr/>
        </p:nvSpPr>
        <p:spPr bwMode="auto">
          <a:xfrm>
            <a:off x="5580063" y="1196975"/>
            <a:ext cx="3476625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</a:rPr>
              <a:t>程式主要的部分被包在一個大的</a:t>
            </a:r>
            <a:r>
              <a:rPr lang="en-US" altLang="zh-TW" sz="2400" b="1">
                <a:solidFill>
                  <a:prstClr val="black"/>
                </a:solidFill>
              </a:rPr>
              <a:t>while </a:t>
            </a:r>
            <a:r>
              <a:rPr lang="zh-TW" altLang="en-US" sz="2400">
                <a:solidFill>
                  <a:prstClr val="black"/>
                </a:solidFill>
              </a:rPr>
              <a:t>迴圈裡。</a:t>
            </a:r>
            <a:endParaRPr lang="en-US" altLang="zh-TW" sz="240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240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</a:rPr>
              <a:t>每次迴圈會用</a:t>
            </a:r>
            <a:r>
              <a:rPr lang="en-US" altLang="zh-TW" sz="2400">
                <a:solidFill>
                  <a:prstClr val="black"/>
                </a:solidFill>
              </a:rPr>
              <a:t>scanf</a:t>
            </a:r>
            <a:r>
              <a:rPr lang="en-US" altLang="zh-TW" sz="2400" b="1">
                <a:solidFill>
                  <a:prstClr val="black"/>
                </a:solidFill>
              </a:rPr>
              <a:t>() </a:t>
            </a:r>
            <a:r>
              <a:rPr lang="zh-TW" altLang="en-US" sz="2400">
                <a:solidFill>
                  <a:prstClr val="black"/>
                </a:solidFill>
              </a:rPr>
              <a:t>讀一個字元存到變數</a:t>
            </a:r>
            <a:r>
              <a:rPr lang="en-US" altLang="zh-TW" sz="2400" b="1">
                <a:solidFill>
                  <a:prstClr val="black"/>
                </a:solidFill>
              </a:rPr>
              <a:t>ch</a:t>
            </a:r>
            <a:r>
              <a:rPr lang="zh-TW" altLang="en-US" sz="2400" b="1">
                <a:solidFill>
                  <a:prstClr val="black"/>
                </a:solidFill>
              </a:rPr>
              <a:t>，</a:t>
            </a:r>
            <a:r>
              <a:rPr lang="zh-TW" altLang="en-US" sz="2400">
                <a:solidFill>
                  <a:prstClr val="black"/>
                </a:solidFill>
              </a:rPr>
              <a:t>如果</a:t>
            </a:r>
            <a:r>
              <a:rPr lang="en-US" altLang="zh-TW" sz="2400" b="1">
                <a:solidFill>
                  <a:prstClr val="black"/>
                </a:solidFill>
              </a:rPr>
              <a:t>ch </a:t>
            </a:r>
            <a:r>
              <a:rPr lang="zh-TW" altLang="en-US" sz="2400">
                <a:solidFill>
                  <a:prstClr val="black"/>
                </a:solidFill>
              </a:rPr>
              <a:t>不等於</a:t>
            </a:r>
            <a:r>
              <a:rPr lang="en-US" altLang="zh-TW" sz="2400" b="1">
                <a:solidFill>
                  <a:prstClr val="black"/>
                </a:solidFill>
              </a:rPr>
              <a:t>'#' </a:t>
            </a:r>
            <a:r>
              <a:rPr lang="zh-TW" altLang="en-US" sz="2400">
                <a:solidFill>
                  <a:prstClr val="black"/>
                </a:solidFill>
              </a:rPr>
              <a:t>就繼續跑迴圈，否則迴圈就結束。</a:t>
            </a:r>
            <a:endParaRPr lang="en-US" altLang="zh-TW" sz="240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en-US" altLang="zh-TW" sz="140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zh-TW" altLang="en-US" sz="1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285875"/>
            <a:ext cx="5340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08" name="Line 3"/>
          <p:cNvSpPr>
            <a:spLocks noChangeShapeType="1"/>
          </p:cNvSpPr>
          <p:nvPr/>
        </p:nvSpPr>
        <p:spPr bwMode="auto">
          <a:xfrm flipH="1">
            <a:off x="0" y="2822575"/>
            <a:ext cx="44608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07950" y="89942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844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3"/>
          <p:cNvSpPr>
            <a:spLocks noChangeShapeType="1"/>
          </p:cNvSpPr>
          <p:nvPr/>
        </p:nvSpPr>
        <p:spPr bwMode="auto">
          <a:xfrm flipH="1">
            <a:off x="511175" y="2636838"/>
            <a:ext cx="512763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500188"/>
            <a:ext cx="2663825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04849"/>
            <a:ext cx="5248275" cy="5307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3" name="文字方塊 6"/>
          <p:cNvSpPr txBox="1">
            <a:spLocks noChangeArrowheads="1"/>
          </p:cNvSpPr>
          <p:nvPr/>
        </p:nvSpPr>
        <p:spPr bwMode="auto">
          <a:xfrm>
            <a:off x="4448175" y="3141663"/>
            <a:ext cx="46958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其中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[optional]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的意思是可以沒有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statements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2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這個用法的意思是以</a:t>
            </a: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switch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後面接的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integer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expression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為參考標準，然後逐一檢查後續的</a:t>
            </a: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</a:t>
            </a:r>
            <a:r>
              <a:rPr lang="zh-TW" altLang="en-US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200" b="1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integer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expression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的值等於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constant1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，就做底下的</a:t>
            </a:r>
            <a:r>
              <a:rPr lang="en-US" altLang="zh-TW" sz="2200" i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statements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integer expression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的值不等於</a:t>
            </a:r>
            <a:r>
              <a:rPr lang="en-US" altLang="zh-TW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constant1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，就繼續看下一個</a:t>
            </a: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</a:p>
        </p:txBody>
      </p:sp>
      <p:sp>
        <p:nvSpPr>
          <p:cNvPr id="22534" name="Line 3"/>
          <p:cNvSpPr>
            <a:spLocks noChangeShapeType="1"/>
          </p:cNvSpPr>
          <p:nvPr/>
        </p:nvSpPr>
        <p:spPr bwMode="auto">
          <a:xfrm flipH="1">
            <a:off x="288925" y="3644900"/>
            <a:ext cx="44608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22535" name="文字方塊 5"/>
          <p:cNvSpPr txBox="1">
            <a:spLocks noChangeArrowheads="1"/>
          </p:cNvSpPr>
          <p:nvPr/>
        </p:nvSpPr>
        <p:spPr bwMode="auto">
          <a:xfrm>
            <a:off x="4627563" y="549275"/>
            <a:ext cx="4516437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程式用</a:t>
            </a: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switch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的語法來檢查</a:t>
            </a: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ch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的值。</a:t>
            </a:r>
            <a:endParaRPr lang="en-US" altLang="zh-TW" sz="22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en-US" altLang="zh-TW" sz="22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switch </a:t>
            </a:r>
            <a:r>
              <a:rPr lang="zh-TW" altLang="en-US" sz="22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的語法如下</a:t>
            </a:r>
            <a:endParaRPr lang="en-US" altLang="zh-TW" sz="22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endParaRPr lang="zh-TW" altLang="en-US" sz="1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07950" y="89942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8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3"/>
          <p:cNvSpPr>
            <a:spLocks noChangeShapeType="1"/>
          </p:cNvSpPr>
          <p:nvPr/>
        </p:nvSpPr>
        <p:spPr bwMode="auto">
          <a:xfrm flipH="1">
            <a:off x="511175" y="2636838"/>
            <a:ext cx="512763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412875"/>
            <a:ext cx="5240337" cy="529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6" name="文字方塊 6"/>
          <p:cNvSpPr txBox="1">
            <a:spLocks noChangeArrowheads="1"/>
          </p:cNvSpPr>
          <p:nvPr/>
        </p:nvSpPr>
        <p:spPr bwMode="auto">
          <a:xfrm>
            <a:off x="4448175" y="3206750"/>
            <a:ext cx="46958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如果每個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都不成立，就做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default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底下的</a:t>
            </a:r>
            <a:r>
              <a:rPr lang="en-US" altLang="zh-TW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statements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40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由於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會一個個被檢驗，所以通常當某個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符合，做完其</a:t>
            </a:r>
            <a:r>
              <a:rPr lang="en-US" altLang="zh-TW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之後，我們會用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break;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結束這組</a:t>
            </a:r>
            <a:r>
              <a:rPr lang="en-US" altLang="zh-TW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statement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，這樣就可以直接跳到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switch 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外面，不用再繼續檢查後面的</a:t>
            </a:r>
            <a:r>
              <a:rPr lang="en-US" altLang="zh-TW" sz="2400" b="1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case</a:t>
            </a: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</a:p>
        </p:txBody>
      </p:sp>
      <p:sp>
        <p:nvSpPr>
          <p:cNvPr id="23557" name="Line 3"/>
          <p:cNvSpPr>
            <a:spLocks noChangeShapeType="1"/>
          </p:cNvSpPr>
          <p:nvPr/>
        </p:nvSpPr>
        <p:spPr bwMode="auto">
          <a:xfrm flipH="1">
            <a:off x="288925" y="3644900"/>
            <a:ext cx="44608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7950" y="89942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6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smtClean="0">
                <a:latin typeface="微軟正黑體" pitchFamily="34" charset="-120"/>
                <a:ea typeface="微軟正黑體" pitchFamily="34" charset="-120"/>
              </a:rPr>
              <a:t>亂數產生</a:t>
            </a:r>
          </a:p>
        </p:txBody>
      </p:sp>
      <p:sp>
        <p:nvSpPr>
          <p:cNvPr id="245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srand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() 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rand() 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來產生亂數，前面要先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include </a:t>
            </a:r>
            <a:r>
              <a:rPr lang="en-US" altLang="zh-TW" sz="2800" b="1" i="1" dirty="0" err="1" smtClean="0">
                <a:latin typeface="Consolas" pitchFamily="49" charset="0"/>
                <a:cs typeface="Consolas" pitchFamily="49" charset="0"/>
              </a:rPr>
              <a:t>stdlib.h</a:t>
            </a:r>
            <a:endParaRPr lang="en-US" altLang="zh-TW" sz="2800" b="1" i="1" dirty="0" smtClean="0">
              <a:latin typeface="Consolas" pitchFamily="49" charset="0"/>
              <a:ea typeface="微軟正黑體" pitchFamily="34" charset="-120"/>
              <a:cs typeface="Consolas" pitchFamily="49" charset="0"/>
            </a:endParaRPr>
          </a:p>
          <a:p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time()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來產生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srand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() 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所需的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seed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，前面要先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include </a:t>
            </a:r>
            <a:r>
              <a:rPr lang="en-US" altLang="zh-TW" sz="2800" b="1" i="1" dirty="0" err="1" smtClean="0">
                <a:latin typeface="Consolas" pitchFamily="49" charset="0"/>
                <a:cs typeface="Consolas" pitchFamily="49" charset="0"/>
              </a:rPr>
              <a:t>time.h</a:t>
            </a:r>
            <a:endParaRPr lang="en-US" altLang="zh-TW" sz="2800" b="1" i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zh-TW" altLang="en-US" sz="2800" dirty="0" smtClean="0">
                <a:latin typeface="Consolas" pitchFamily="49" charset="0"/>
                <a:ea typeface="微軟正黑體" pitchFamily="34" charset="-120"/>
              </a:rPr>
              <a:t>下面為亂數產生之程式範例</a:t>
            </a:r>
            <a:r>
              <a:rPr lang="en-US" altLang="zh-TW" sz="2800" dirty="0" smtClean="0">
                <a:latin typeface="Consolas" pitchFamily="49" charset="0"/>
                <a:ea typeface="微軟正黑體" pitchFamily="34" charset="-120"/>
              </a:rPr>
              <a:t>:</a:t>
            </a:r>
            <a:endParaRPr lang="zh-TW" altLang="en-US" sz="2800" dirty="0" smtClean="0">
              <a:latin typeface="Consolas" pitchFamily="49" charset="0"/>
              <a:ea typeface="微軟正黑體" pitchFamily="34" charset="-120"/>
            </a:endParaRPr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63" y="3284538"/>
            <a:ext cx="3625850" cy="356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7788577" y="311955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4-7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276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579563"/>
            <a:ext cx="3625850" cy="356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4" name="Line 3"/>
          <p:cNvSpPr>
            <a:spLocks noChangeShapeType="1"/>
          </p:cNvSpPr>
          <p:nvPr/>
        </p:nvSpPr>
        <p:spPr bwMode="auto">
          <a:xfrm flipH="1">
            <a:off x="179388" y="3344863"/>
            <a:ext cx="48895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prstClr val="black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63938" y="1601788"/>
            <a:ext cx="5472112" cy="5113337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由於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rand()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是用所謂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pseudorandom-number 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generator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方式產生，它產生的是一連串看起來很亂但是順序卻是固定的數列，所以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我們還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需要用</a:t>
            </a:r>
            <a:r>
              <a:rPr lang="en-US" altLang="zh-TW" sz="2800" b="1" dirty="0" err="1">
                <a:latin typeface="微軟正黑體" pitchFamily="34" charset="-120"/>
                <a:ea typeface="微軟正黑體" pitchFamily="34" charset="-120"/>
              </a:rPr>
              <a:t>srand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()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來產生一個不同的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"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種子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" (seed)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，讓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rand()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不會每次都產生同一組數列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800" dirty="0" smtClean="0">
              <a:latin typeface="微軟正黑體" pitchFamily="34" charset="-120"/>
              <a:ea typeface="微軟正黑體" pitchFamily="34" charset="-120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當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seed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固定時亂數也會是固定數列，此範例使用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time()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，也就是時間當做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seed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，這可以在不同時間時產生不同的亂數數列。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56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5684838"/>
            <a:ext cx="1663700" cy="17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6053138"/>
            <a:ext cx="1652587" cy="16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6402388"/>
            <a:ext cx="1663700" cy="14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9" name="文字方塊 6"/>
          <p:cNvSpPr txBox="1">
            <a:spLocks noChangeArrowheads="1"/>
          </p:cNvSpPr>
          <p:nvPr/>
        </p:nvSpPr>
        <p:spPr bwMode="auto">
          <a:xfrm>
            <a:off x="171450" y="5195888"/>
            <a:ext cx="2011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三次不同的</a:t>
            </a:r>
            <a:r>
              <a:rPr lang="en-US" altLang="zh-TW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240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輸出結果：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107504" y="1259468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4-7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608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892969" y="1151930"/>
            <a:ext cx="7358063" cy="2321718"/>
          </a:xfrm>
          <a:prstGeom prst="rect">
            <a:avLst/>
          </a:prstGeom>
          <a:noFill/>
          <a:ln>
            <a:noFill/>
          </a:ln>
        </p:spPr>
        <p:txBody>
          <a:bodyPr lIns="35719" tIns="35719" rIns="35719" bIns="35719" anchor="b" anchorCtr="0">
            <a:noAutofit/>
          </a:bodyPr>
          <a:lstStyle/>
          <a:p>
            <a:pPr>
              <a:buSzPct val="25000"/>
            </a:pPr>
            <a:r>
              <a:rPr lang="en-US" altLang="zh-TW" dirty="0">
                <a:latin typeface="+mj-lt"/>
              </a:rPr>
              <a:t>Ap</a:t>
            </a:r>
            <a:r>
              <a:rPr lang="en-US" altLang="zh-TW" dirty="0" smtClean="0">
                <a:latin typeface="+mj-lt"/>
              </a:rPr>
              <a:t>pendix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282146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b="1" dirty="0" err="1" smtClean="0">
                <a:latin typeface="微軟正黑體" pitchFamily="34" charset="-120"/>
                <a:ea typeface="微軟正黑體" pitchFamily="34" charset="-120"/>
              </a:rPr>
              <a:t>goto</a:t>
            </a:r>
            <a:endParaRPr lang="zh-TW" altLang="en-US" sz="4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45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goto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的語法為 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goto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LABEL;</a:t>
            </a:r>
            <a:br>
              <a:rPr lang="en-US" altLang="zh-TW" sz="2800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LABEL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為自定的標籤名稱，可以在同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的任何一個地方，後面加上冒號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goto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break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continue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類似，不過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goto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是可以跳到程式的任何一個地方，很容易使邏輯錯亂，所以，除非必要不建議使用。下面以簡單的例子介紹其用法。</a:t>
            </a:r>
          </a:p>
        </p:txBody>
      </p:sp>
    </p:spTree>
    <p:extLst>
      <p:ext uri="{BB962C8B-B14F-4D97-AF65-F5344CB8AC3E}">
        <p14:creationId xmlns:p14="http://schemas.microsoft.com/office/powerpoint/2010/main" val="369120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489928"/>
            <a:ext cx="8229600" cy="1636235"/>
          </a:xfrm>
        </p:spPr>
        <p:txBody>
          <a:bodyPr/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上面兩個範例都是一樣的，當輸入的數字為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的倍數則程式結束，否則繼續。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左邊有用到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goto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，而右邊是用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迴圈加上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break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實作，一般來說較建議使用右邊的方式來實作。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31314"/>
            <a:ext cx="4176464" cy="381122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05778" y="44624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4-8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1314"/>
            <a:ext cx="4458960" cy="362867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4496289" y="44624"/>
            <a:ext cx="92044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4-9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9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訂設計">
  <a:themeElements>
    <a:clrScheme name="標題與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1553</Words>
  <Application>Microsoft Office PowerPoint</Application>
  <PresentationFormat>如螢幕大小 (4:3)</PresentationFormat>
  <Paragraphs>139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27</vt:i4>
      </vt:variant>
    </vt:vector>
  </HeadingPairs>
  <TitlesOfParts>
    <vt:vector size="37" baseType="lpstr">
      <vt:lpstr>Lato</vt:lpstr>
      <vt:lpstr>微軟正黑體</vt:lpstr>
      <vt:lpstr>新細明體</vt:lpstr>
      <vt:lpstr>Arial</vt:lpstr>
      <vt:lpstr>Calibri</vt:lpstr>
      <vt:lpstr>Consolas</vt:lpstr>
      <vt:lpstr>Times New Roman</vt:lpstr>
      <vt:lpstr>Wingdings</vt:lpstr>
      <vt:lpstr>1_Office 佈景主題</vt:lpstr>
      <vt:lpstr>自訂設計</vt:lpstr>
      <vt:lpstr>Branch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使用ctype.h 中用來處理字元的functions</vt:lpstr>
      <vt:lpstr>使用else if ...</vt:lpstr>
      <vt:lpstr>使用else if ...</vt:lpstr>
      <vt:lpstr>程式範例</vt:lpstr>
      <vt:lpstr>PowerPoint 簡報</vt:lpstr>
      <vt:lpstr>PowerPoint 簡報</vt:lpstr>
      <vt:lpstr>PowerPoint 簡報</vt:lpstr>
      <vt:lpstr>PowerPoint 簡報</vt:lpstr>
      <vt:lpstr>PowerPoint 簡報</vt:lpstr>
      <vt:lpstr>使用? : 語法</vt:lpstr>
      <vt:lpstr>使用continue 和break</vt:lpstr>
      <vt:lpstr>使用switch ... case ... break</vt:lpstr>
      <vt:lpstr>PowerPoint 簡報</vt:lpstr>
      <vt:lpstr>PowerPoint 簡報</vt:lpstr>
      <vt:lpstr>PowerPoint 簡報</vt:lpstr>
      <vt:lpstr>亂數產生</vt:lpstr>
      <vt:lpstr>PowerPoint 簡報</vt:lpstr>
      <vt:lpstr>Appendix</vt:lpstr>
      <vt:lpstr>goto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</dc:title>
  <dc:creator>Tubou</dc:creator>
  <cp:lastModifiedBy>Tubou</cp:lastModifiedBy>
  <cp:revision>39</cp:revision>
  <dcterms:created xsi:type="dcterms:W3CDTF">2013-08-19T07:14:30Z</dcterms:created>
  <dcterms:modified xsi:type="dcterms:W3CDTF">2013-08-28T06:35:13Z</dcterms:modified>
</cp:coreProperties>
</file>