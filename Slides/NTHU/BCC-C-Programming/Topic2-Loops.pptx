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20" r:id="rId5"/>
    <p:sldMasterId id="2147483732" r:id="rId6"/>
  </p:sldMasterIdLst>
  <p:notesMasterIdLst>
    <p:notesMasterId r:id="rId43"/>
  </p:notesMasterIdLst>
  <p:sldIdLst>
    <p:sldId id="257" r:id="rId7"/>
    <p:sldId id="287" r:id="rId8"/>
    <p:sldId id="259" r:id="rId9"/>
    <p:sldId id="288" r:id="rId10"/>
    <p:sldId id="289" r:id="rId11"/>
    <p:sldId id="291" r:id="rId12"/>
    <p:sldId id="262" r:id="rId13"/>
    <p:sldId id="263" r:id="rId14"/>
    <p:sldId id="264" r:id="rId15"/>
    <p:sldId id="292" r:id="rId16"/>
    <p:sldId id="293" r:id="rId17"/>
    <p:sldId id="265" r:id="rId18"/>
    <p:sldId id="266" r:id="rId19"/>
    <p:sldId id="267" r:id="rId20"/>
    <p:sldId id="268" r:id="rId21"/>
    <p:sldId id="269" r:id="rId22"/>
    <p:sldId id="270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95" r:id="rId37"/>
    <p:sldId id="296" r:id="rId38"/>
    <p:sldId id="285" r:id="rId39"/>
    <p:sldId id="297" r:id="rId40"/>
    <p:sldId id="299" r:id="rId41"/>
    <p:sldId id="298" r:id="rId42"/>
  </p:sldIdLst>
  <p:sldSz cx="9144000" cy="6858000" type="screen4x3"/>
  <p:notesSz cx="6858000" cy="9144000"/>
  <p:defaultTextStyle>
    <a:defPPr>
      <a:defRPr lang="zh-TW"/>
    </a:defPPr>
    <a:lvl1pPr marL="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26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3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4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44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5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ABB80-8A77-4E58-91D8-B64B5C760DDB}" type="datetimeFigureOut">
              <a:rPr lang="zh-TW" altLang="en-US" smtClean="0"/>
              <a:t>2013/9/9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3FD5B-7B6E-489E-9DB8-08C83DB513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361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824" y="3886651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391" indent="0" algn="ctr">
              <a:buNone/>
              <a:defRPr/>
            </a:lvl2pPr>
            <a:lvl3pPr marL="642783" indent="0" algn="ctr">
              <a:buNone/>
              <a:defRPr/>
            </a:lvl3pPr>
            <a:lvl4pPr marL="964174" indent="0" algn="ctr">
              <a:buNone/>
              <a:defRPr/>
            </a:lvl4pPr>
            <a:lvl5pPr marL="1285565" indent="0" algn="ctr">
              <a:buNone/>
              <a:defRPr/>
            </a:lvl5pPr>
            <a:lvl6pPr marL="1606959" indent="0" algn="ctr">
              <a:buNone/>
              <a:defRPr/>
            </a:lvl6pPr>
            <a:lvl7pPr marL="1928348" indent="0" algn="ctr">
              <a:buNone/>
              <a:defRPr/>
            </a:lvl7pPr>
            <a:lvl8pPr marL="2249741" indent="0" algn="ctr">
              <a:buNone/>
              <a:defRPr/>
            </a:lvl8pPr>
            <a:lvl9pPr marL="2571133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658766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7503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391" indent="0">
              <a:buNone/>
              <a:defRPr sz="1300"/>
            </a:lvl2pPr>
            <a:lvl3pPr marL="642783" indent="0">
              <a:buNone/>
              <a:defRPr sz="1100"/>
            </a:lvl3pPr>
            <a:lvl4pPr marL="964174" indent="0">
              <a:buNone/>
              <a:defRPr sz="1000"/>
            </a:lvl4pPr>
            <a:lvl5pPr marL="1285565" indent="0">
              <a:buNone/>
              <a:defRPr sz="1000"/>
            </a:lvl5pPr>
            <a:lvl6pPr marL="1606959" indent="0">
              <a:buNone/>
              <a:defRPr sz="1000"/>
            </a:lvl6pPr>
            <a:lvl7pPr marL="1928348" indent="0">
              <a:buNone/>
              <a:defRPr sz="1000"/>
            </a:lvl7pPr>
            <a:lvl8pPr marL="2249741" indent="0">
              <a:buNone/>
              <a:defRPr sz="1000"/>
            </a:lvl8pPr>
            <a:lvl9pPr marL="2571133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5450312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92970" y="3536156"/>
            <a:ext cx="3625453" cy="79474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5578" y="3536156"/>
            <a:ext cx="3625453" cy="79474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27811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91" indent="0">
              <a:buNone/>
              <a:defRPr sz="1400" b="1"/>
            </a:lvl2pPr>
            <a:lvl3pPr marL="642783" indent="0">
              <a:buNone/>
              <a:defRPr sz="1300" b="1"/>
            </a:lvl3pPr>
            <a:lvl4pPr marL="964174" indent="0">
              <a:buNone/>
              <a:defRPr sz="1100" b="1"/>
            </a:lvl4pPr>
            <a:lvl5pPr marL="1285565" indent="0">
              <a:buNone/>
              <a:defRPr sz="1100" b="1"/>
            </a:lvl5pPr>
            <a:lvl6pPr marL="1606959" indent="0">
              <a:buNone/>
              <a:defRPr sz="1100" b="1"/>
            </a:lvl6pPr>
            <a:lvl7pPr marL="1928348" indent="0">
              <a:buNone/>
              <a:defRPr sz="1100" b="1"/>
            </a:lvl7pPr>
            <a:lvl8pPr marL="2249741" indent="0">
              <a:buNone/>
              <a:defRPr sz="1100" b="1"/>
            </a:lvl8pPr>
            <a:lvl9pPr marL="2571133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91" indent="0">
              <a:buNone/>
              <a:defRPr sz="1400" b="1"/>
            </a:lvl2pPr>
            <a:lvl3pPr marL="642783" indent="0">
              <a:buNone/>
              <a:defRPr sz="1300" b="1"/>
            </a:lvl3pPr>
            <a:lvl4pPr marL="964174" indent="0">
              <a:buNone/>
              <a:defRPr sz="1100" b="1"/>
            </a:lvl4pPr>
            <a:lvl5pPr marL="1285565" indent="0">
              <a:buNone/>
              <a:defRPr sz="1100" b="1"/>
            </a:lvl5pPr>
            <a:lvl6pPr marL="1606959" indent="0">
              <a:buNone/>
              <a:defRPr sz="1100" b="1"/>
            </a:lvl6pPr>
            <a:lvl7pPr marL="1928348" indent="0">
              <a:buNone/>
              <a:defRPr sz="1100" b="1"/>
            </a:lvl7pPr>
            <a:lvl8pPr marL="2249741" indent="0">
              <a:buNone/>
              <a:defRPr sz="1100" b="1"/>
            </a:lvl8pPr>
            <a:lvl9pPr marL="2571133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3068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58554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1498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51" y="273477"/>
            <a:ext cx="3008189" cy="116197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651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391" indent="0">
              <a:buNone/>
              <a:defRPr sz="800"/>
            </a:lvl2pPr>
            <a:lvl3pPr marL="642783" indent="0">
              <a:buNone/>
              <a:defRPr sz="700"/>
            </a:lvl3pPr>
            <a:lvl4pPr marL="964174" indent="0">
              <a:buNone/>
              <a:defRPr sz="600"/>
            </a:lvl4pPr>
            <a:lvl5pPr marL="1285565" indent="0">
              <a:buNone/>
              <a:defRPr sz="600"/>
            </a:lvl5pPr>
            <a:lvl6pPr marL="1606959" indent="0">
              <a:buNone/>
              <a:defRPr sz="600"/>
            </a:lvl6pPr>
            <a:lvl7pPr marL="1928348" indent="0">
              <a:buNone/>
              <a:defRPr sz="600"/>
            </a:lvl7pPr>
            <a:lvl8pPr marL="2249741" indent="0">
              <a:buNone/>
              <a:defRPr sz="600"/>
            </a:lvl8pPr>
            <a:lvl9pPr marL="2571133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8301211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639" y="4800824"/>
            <a:ext cx="5486177" cy="567035"/>
          </a:xfrm>
        </p:spPr>
        <p:txBody>
          <a:bodyPr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639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391" indent="0">
              <a:buNone/>
              <a:defRPr sz="2000"/>
            </a:lvl2pPr>
            <a:lvl3pPr marL="642783" indent="0">
              <a:buNone/>
              <a:defRPr sz="1700"/>
            </a:lvl3pPr>
            <a:lvl4pPr marL="964174" indent="0">
              <a:buNone/>
              <a:defRPr sz="1400"/>
            </a:lvl4pPr>
            <a:lvl5pPr marL="1285565" indent="0">
              <a:buNone/>
              <a:defRPr sz="1400"/>
            </a:lvl5pPr>
            <a:lvl6pPr marL="1606959" indent="0">
              <a:buNone/>
              <a:defRPr sz="1400"/>
            </a:lvl6pPr>
            <a:lvl7pPr marL="1928348" indent="0">
              <a:buNone/>
              <a:defRPr sz="1400"/>
            </a:lvl7pPr>
            <a:lvl8pPr marL="2249741" indent="0">
              <a:buNone/>
              <a:defRPr sz="1400"/>
            </a:lvl8pPr>
            <a:lvl9pPr marL="2571133" indent="0">
              <a:buNone/>
              <a:defRPr sz="14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639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391" indent="0">
              <a:buNone/>
              <a:defRPr sz="800"/>
            </a:lvl2pPr>
            <a:lvl3pPr marL="642783" indent="0">
              <a:buNone/>
              <a:defRPr sz="700"/>
            </a:lvl3pPr>
            <a:lvl4pPr marL="964174" indent="0">
              <a:buNone/>
              <a:defRPr sz="600"/>
            </a:lvl4pPr>
            <a:lvl5pPr marL="1285565" indent="0">
              <a:buNone/>
              <a:defRPr sz="600"/>
            </a:lvl5pPr>
            <a:lvl6pPr marL="1606959" indent="0">
              <a:buNone/>
              <a:defRPr sz="600"/>
            </a:lvl6pPr>
            <a:lvl7pPr marL="1928348" indent="0">
              <a:buNone/>
              <a:defRPr sz="600"/>
            </a:lvl7pPr>
            <a:lvl8pPr marL="2249741" indent="0">
              <a:buNone/>
              <a:defRPr sz="600"/>
            </a:lvl8pPr>
            <a:lvl9pPr marL="2571133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3413846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20420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411515" y="1151930"/>
            <a:ext cx="1839516" cy="3178969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92973" y="1151930"/>
            <a:ext cx="5411391" cy="3178969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5975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824" y="3886652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374" indent="0" algn="ctr">
              <a:buNone/>
              <a:defRPr/>
            </a:lvl2pPr>
            <a:lvl3pPr marL="642750" indent="0" algn="ctr">
              <a:buNone/>
              <a:defRPr/>
            </a:lvl3pPr>
            <a:lvl4pPr marL="964124" indent="0" algn="ctr">
              <a:buNone/>
              <a:defRPr/>
            </a:lvl4pPr>
            <a:lvl5pPr marL="1285500" indent="0" algn="ctr">
              <a:buNone/>
              <a:defRPr/>
            </a:lvl5pPr>
            <a:lvl6pPr marL="1606877" indent="0" algn="ctr">
              <a:buNone/>
              <a:defRPr/>
            </a:lvl6pPr>
            <a:lvl7pPr marL="1928250" indent="0" algn="ctr">
              <a:buNone/>
              <a:defRPr/>
            </a:lvl7pPr>
            <a:lvl8pPr marL="2249626" indent="0" algn="ctr">
              <a:buNone/>
              <a:defRPr/>
            </a:lvl8pPr>
            <a:lvl9pPr marL="2571001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8084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6345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374" indent="0">
              <a:buNone/>
              <a:defRPr sz="1300"/>
            </a:lvl2pPr>
            <a:lvl3pPr marL="642750" indent="0">
              <a:buNone/>
              <a:defRPr sz="1100"/>
            </a:lvl3pPr>
            <a:lvl4pPr marL="964124" indent="0">
              <a:buNone/>
              <a:defRPr sz="1000"/>
            </a:lvl4pPr>
            <a:lvl5pPr marL="1285500" indent="0">
              <a:buNone/>
              <a:defRPr sz="1000"/>
            </a:lvl5pPr>
            <a:lvl6pPr marL="1606877" indent="0">
              <a:buNone/>
              <a:defRPr sz="1000"/>
            </a:lvl6pPr>
            <a:lvl7pPr marL="1928250" indent="0">
              <a:buNone/>
              <a:defRPr sz="1000"/>
            </a:lvl7pPr>
            <a:lvl8pPr marL="2249626" indent="0">
              <a:buNone/>
              <a:defRPr sz="1000"/>
            </a:lvl8pPr>
            <a:lvl9pPr marL="2571001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7710037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464970" y="1946677"/>
            <a:ext cx="1339453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911578" y="1946677"/>
            <a:ext cx="1339453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62540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74" indent="0">
              <a:buNone/>
              <a:defRPr sz="1400" b="1"/>
            </a:lvl2pPr>
            <a:lvl3pPr marL="642750" indent="0">
              <a:buNone/>
              <a:defRPr sz="1300" b="1"/>
            </a:lvl3pPr>
            <a:lvl4pPr marL="964124" indent="0">
              <a:buNone/>
              <a:defRPr sz="1100" b="1"/>
            </a:lvl4pPr>
            <a:lvl5pPr marL="1285500" indent="0">
              <a:buNone/>
              <a:defRPr sz="1100" b="1"/>
            </a:lvl5pPr>
            <a:lvl6pPr marL="1606877" indent="0">
              <a:buNone/>
              <a:defRPr sz="1100" b="1"/>
            </a:lvl6pPr>
            <a:lvl7pPr marL="1928250" indent="0">
              <a:buNone/>
              <a:defRPr sz="1100" b="1"/>
            </a:lvl7pPr>
            <a:lvl8pPr marL="2249626" indent="0">
              <a:buNone/>
              <a:defRPr sz="1100" b="1"/>
            </a:lvl8pPr>
            <a:lvl9pPr marL="2571001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74" indent="0">
              <a:buNone/>
              <a:defRPr sz="1400" b="1"/>
            </a:lvl2pPr>
            <a:lvl3pPr marL="642750" indent="0">
              <a:buNone/>
              <a:defRPr sz="1300" b="1"/>
            </a:lvl3pPr>
            <a:lvl4pPr marL="964124" indent="0">
              <a:buNone/>
              <a:defRPr sz="1100" b="1"/>
            </a:lvl4pPr>
            <a:lvl5pPr marL="1285500" indent="0">
              <a:buNone/>
              <a:defRPr sz="1100" b="1"/>
            </a:lvl5pPr>
            <a:lvl6pPr marL="1606877" indent="0">
              <a:buNone/>
              <a:defRPr sz="1100" b="1"/>
            </a:lvl6pPr>
            <a:lvl7pPr marL="1928250" indent="0">
              <a:buNone/>
              <a:defRPr sz="1100" b="1"/>
            </a:lvl7pPr>
            <a:lvl8pPr marL="2249626" indent="0">
              <a:buNone/>
              <a:defRPr sz="1100" b="1"/>
            </a:lvl8pPr>
            <a:lvl9pPr marL="2571001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804690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33587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9465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52" y="273478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652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374" indent="0">
              <a:buNone/>
              <a:defRPr sz="800"/>
            </a:lvl2pPr>
            <a:lvl3pPr marL="642750" indent="0">
              <a:buNone/>
              <a:defRPr sz="700"/>
            </a:lvl3pPr>
            <a:lvl4pPr marL="964124" indent="0">
              <a:buNone/>
              <a:defRPr sz="600"/>
            </a:lvl4pPr>
            <a:lvl5pPr marL="1285500" indent="0">
              <a:buNone/>
              <a:defRPr sz="600"/>
            </a:lvl5pPr>
            <a:lvl6pPr marL="1606877" indent="0">
              <a:buNone/>
              <a:defRPr sz="600"/>
            </a:lvl6pPr>
            <a:lvl7pPr marL="1928250" indent="0">
              <a:buNone/>
              <a:defRPr sz="600"/>
            </a:lvl7pPr>
            <a:lvl8pPr marL="2249626" indent="0">
              <a:buNone/>
              <a:defRPr sz="600"/>
            </a:lvl8pPr>
            <a:lvl9pPr marL="2571001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9223307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640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640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374" indent="0">
              <a:buNone/>
              <a:defRPr sz="2000"/>
            </a:lvl2pPr>
            <a:lvl3pPr marL="642750" indent="0">
              <a:buNone/>
              <a:defRPr sz="1700"/>
            </a:lvl3pPr>
            <a:lvl4pPr marL="964124" indent="0">
              <a:buNone/>
              <a:defRPr sz="1400"/>
            </a:lvl4pPr>
            <a:lvl5pPr marL="1285500" indent="0">
              <a:buNone/>
              <a:defRPr sz="1400"/>
            </a:lvl5pPr>
            <a:lvl6pPr marL="1606877" indent="0">
              <a:buNone/>
              <a:defRPr sz="1400"/>
            </a:lvl6pPr>
            <a:lvl7pPr marL="1928250" indent="0">
              <a:buNone/>
              <a:defRPr sz="1400"/>
            </a:lvl7pPr>
            <a:lvl8pPr marL="2249626" indent="0">
              <a:buNone/>
              <a:defRPr sz="1400"/>
            </a:lvl8pPr>
            <a:lvl9pPr marL="2571001" indent="0">
              <a:buNone/>
              <a:defRPr sz="14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640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374" indent="0">
              <a:buNone/>
              <a:defRPr sz="800"/>
            </a:lvl2pPr>
            <a:lvl3pPr marL="642750" indent="0">
              <a:buNone/>
              <a:defRPr sz="700"/>
            </a:lvl3pPr>
            <a:lvl4pPr marL="964124" indent="0">
              <a:buNone/>
              <a:defRPr sz="600"/>
            </a:lvl4pPr>
            <a:lvl5pPr marL="1285500" indent="0">
              <a:buNone/>
              <a:defRPr sz="600"/>
            </a:lvl5pPr>
            <a:lvl6pPr marL="1606877" indent="0">
              <a:buNone/>
              <a:defRPr sz="600"/>
            </a:lvl6pPr>
            <a:lvl7pPr marL="1928250" indent="0">
              <a:buNone/>
              <a:defRPr sz="600"/>
            </a:lvl7pPr>
            <a:lvl8pPr marL="2249626" indent="0">
              <a:buNone/>
              <a:defRPr sz="600"/>
            </a:lvl8pPr>
            <a:lvl9pPr marL="2571001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5093293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90136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411515" y="178594"/>
            <a:ext cx="1839516" cy="57864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92974" y="178594"/>
            <a:ext cx="5411391" cy="57864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68664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824" y="3886653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357" indent="0" algn="ctr">
              <a:buNone/>
              <a:defRPr/>
            </a:lvl2pPr>
            <a:lvl3pPr marL="642717" indent="0" algn="ctr">
              <a:buNone/>
              <a:defRPr/>
            </a:lvl3pPr>
            <a:lvl4pPr marL="964075" indent="0" algn="ctr">
              <a:buNone/>
              <a:defRPr/>
            </a:lvl4pPr>
            <a:lvl5pPr marL="1285434" indent="0" algn="ctr">
              <a:buNone/>
              <a:defRPr/>
            </a:lvl5pPr>
            <a:lvl6pPr marL="1606794" indent="0" algn="ctr">
              <a:buNone/>
              <a:defRPr/>
            </a:lvl6pPr>
            <a:lvl7pPr marL="1928151" indent="0" algn="ctr">
              <a:buNone/>
              <a:defRPr/>
            </a:lvl7pPr>
            <a:lvl8pPr marL="2249511" indent="0" algn="ctr">
              <a:buNone/>
              <a:defRPr/>
            </a:lvl8pPr>
            <a:lvl9pPr marL="2570870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19664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313415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  <a:prstGeom prst="rect">
            <a:avLst/>
          </a:prstGeom>
        </p:spPr>
        <p:txBody>
          <a:bodyPr vert="horz" lIns="64270" tIns="32135" rIns="64270" bIns="32135" anchor="t"/>
          <a:lstStyle>
            <a:lvl1pPr algn="l">
              <a:defRPr sz="28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357" indent="0">
              <a:buNone/>
              <a:defRPr sz="1300"/>
            </a:lvl2pPr>
            <a:lvl3pPr marL="642717" indent="0">
              <a:buNone/>
              <a:defRPr sz="1100"/>
            </a:lvl3pPr>
            <a:lvl4pPr marL="964075" indent="0">
              <a:buNone/>
              <a:defRPr sz="1000"/>
            </a:lvl4pPr>
            <a:lvl5pPr marL="1285434" indent="0">
              <a:buNone/>
              <a:defRPr sz="1000"/>
            </a:lvl5pPr>
            <a:lvl6pPr marL="1606794" indent="0">
              <a:buNone/>
              <a:defRPr sz="1000"/>
            </a:lvl6pPr>
            <a:lvl7pPr marL="1928151" indent="0">
              <a:buNone/>
              <a:defRPr sz="1000"/>
            </a:lvl7pPr>
            <a:lvl8pPr marL="2249511" indent="0">
              <a:buNone/>
              <a:defRPr sz="1000"/>
            </a:lvl8pPr>
            <a:lvl9pPr marL="257087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57445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92970" y="892975"/>
            <a:ext cx="3625453" cy="507206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5578" y="892975"/>
            <a:ext cx="3625453" cy="507206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33727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57" indent="0">
              <a:buNone/>
              <a:defRPr sz="1400" b="1"/>
            </a:lvl2pPr>
            <a:lvl3pPr marL="642717" indent="0">
              <a:buNone/>
              <a:defRPr sz="1300" b="1"/>
            </a:lvl3pPr>
            <a:lvl4pPr marL="964075" indent="0">
              <a:buNone/>
              <a:defRPr sz="1100" b="1"/>
            </a:lvl4pPr>
            <a:lvl5pPr marL="1285434" indent="0">
              <a:buNone/>
              <a:defRPr sz="1100" b="1"/>
            </a:lvl5pPr>
            <a:lvl6pPr marL="1606794" indent="0">
              <a:buNone/>
              <a:defRPr sz="1100" b="1"/>
            </a:lvl6pPr>
            <a:lvl7pPr marL="1928151" indent="0">
              <a:buNone/>
              <a:defRPr sz="1100" b="1"/>
            </a:lvl7pPr>
            <a:lvl8pPr marL="2249511" indent="0">
              <a:buNone/>
              <a:defRPr sz="1100" b="1"/>
            </a:lvl8pPr>
            <a:lvl9pPr marL="2570870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57" indent="0">
              <a:buNone/>
              <a:defRPr sz="1400" b="1"/>
            </a:lvl2pPr>
            <a:lvl3pPr marL="642717" indent="0">
              <a:buNone/>
              <a:defRPr sz="1300" b="1"/>
            </a:lvl3pPr>
            <a:lvl4pPr marL="964075" indent="0">
              <a:buNone/>
              <a:defRPr sz="1100" b="1"/>
            </a:lvl4pPr>
            <a:lvl5pPr marL="1285434" indent="0">
              <a:buNone/>
              <a:defRPr sz="1100" b="1"/>
            </a:lvl5pPr>
            <a:lvl6pPr marL="1606794" indent="0">
              <a:buNone/>
              <a:defRPr sz="1100" b="1"/>
            </a:lvl6pPr>
            <a:lvl7pPr marL="1928151" indent="0">
              <a:buNone/>
              <a:defRPr sz="1100" b="1"/>
            </a:lvl7pPr>
            <a:lvl8pPr marL="2249511" indent="0">
              <a:buNone/>
              <a:defRPr sz="1100" b="1"/>
            </a:lvl8pPr>
            <a:lvl9pPr marL="2570870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532187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18576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749014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53" y="273479"/>
            <a:ext cx="3008189" cy="1161975"/>
          </a:xfrm>
          <a:prstGeom prst="rect">
            <a:avLst/>
          </a:prstGeom>
        </p:spPr>
        <p:txBody>
          <a:bodyPr vert="horz" lIns="64270" tIns="32135" rIns="64270" bIns="32135"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653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357" indent="0">
              <a:buNone/>
              <a:defRPr sz="800"/>
            </a:lvl2pPr>
            <a:lvl3pPr marL="642717" indent="0">
              <a:buNone/>
              <a:defRPr sz="700"/>
            </a:lvl3pPr>
            <a:lvl4pPr marL="964075" indent="0">
              <a:buNone/>
              <a:defRPr sz="600"/>
            </a:lvl4pPr>
            <a:lvl5pPr marL="1285434" indent="0">
              <a:buNone/>
              <a:defRPr sz="600"/>
            </a:lvl5pPr>
            <a:lvl6pPr marL="1606794" indent="0">
              <a:buNone/>
              <a:defRPr sz="600"/>
            </a:lvl6pPr>
            <a:lvl7pPr marL="1928151" indent="0">
              <a:buNone/>
              <a:defRPr sz="600"/>
            </a:lvl7pPr>
            <a:lvl8pPr marL="2249511" indent="0">
              <a:buNone/>
              <a:defRPr sz="600"/>
            </a:lvl8pPr>
            <a:lvl9pPr marL="2570870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00939648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641" y="4800824"/>
            <a:ext cx="5486177" cy="567035"/>
          </a:xfrm>
          <a:prstGeom prst="rect">
            <a:avLst/>
          </a:prstGeom>
        </p:spPr>
        <p:txBody>
          <a:bodyPr vert="horz" lIns="64270" tIns="32135" rIns="64270" bIns="32135"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641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357" indent="0">
              <a:buNone/>
              <a:defRPr sz="2000"/>
            </a:lvl2pPr>
            <a:lvl3pPr marL="642717" indent="0">
              <a:buNone/>
              <a:defRPr sz="1700"/>
            </a:lvl3pPr>
            <a:lvl4pPr marL="964075" indent="0">
              <a:buNone/>
              <a:defRPr sz="1400"/>
            </a:lvl4pPr>
            <a:lvl5pPr marL="1285434" indent="0">
              <a:buNone/>
              <a:defRPr sz="1400"/>
            </a:lvl5pPr>
            <a:lvl6pPr marL="1606794" indent="0">
              <a:buNone/>
              <a:defRPr sz="1400"/>
            </a:lvl6pPr>
            <a:lvl7pPr marL="1928151" indent="0">
              <a:buNone/>
              <a:defRPr sz="1400"/>
            </a:lvl7pPr>
            <a:lvl8pPr marL="2249511" indent="0">
              <a:buNone/>
              <a:defRPr sz="1400"/>
            </a:lvl8pPr>
            <a:lvl9pPr marL="2570870" indent="0">
              <a:buNone/>
              <a:defRPr sz="14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641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357" indent="0">
              <a:buNone/>
              <a:defRPr sz="800"/>
            </a:lvl2pPr>
            <a:lvl3pPr marL="642717" indent="0">
              <a:buNone/>
              <a:defRPr sz="700"/>
            </a:lvl3pPr>
            <a:lvl4pPr marL="964075" indent="0">
              <a:buNone/>
              <a:defRPr sz="600"/>
            </a:lvl4pPr>
            <a:lvl5pPr marL="1285434" indent="0">
              <a:buNone/>
              <a:defRPr sz="600"/>
            </a:lvl5pPr>
            <a:lvl6pPr marL="1606794" indent="0">
              <a:buNone/>
              <a:defRPr sz="600"/>
            </a:lvl6pPr>
            <a:lvl7pPr marL="1928151" indent="0">
              <a:buNone/>
              <a:defRPr sz="600"/>
            </a:lvl7pPr>
            <a:lvl8pPr marL="2249511" indent="0">
              <a:buNone/>
              <a:defRPr sz="600"/>
            </a:lvl8pPr>
            <a:lvl9pPr marL="2570870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61245143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70" tIns="32135" rIns="64270" bIns="32135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764931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177" y="274588"/>
            <a:ext cx="2057176" cy="5690443"/>
          </a:xfrm>
          <a:prstGeom prst="rect">
            <a:avLst/>
          </a:prstGeom>
        </p:spPr>
        <p:txBody>
          <a:bodyPr vert="eaVert" lIns="64270" tIns="32135" rIns="64270" bIns="32135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647" y="274588"/>
            <a:ext cx="6064374" cy="569044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179050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824" y="3886654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341" indent="0" algn="ctr">
              <a:buNone/>
              <a:defRPr/>
            </a:lvl2pPr>
            <a:lvl3pPr marL="642684" indent="0" algn="ctr">
              <a:buNone/>
              <a:defRPr/>
            </a:lvl3pPr>
            <a:lvl4pPr marL="964025" indent="0" algn="ctr">
              <a:buNone/>
              <a:defRPr/>
            </a:lvl4pPr>
            <a:lvl5pPr marL="1285368" indent="0" algn="ctr">
              <a:buNone/>
              <a:defRPr/>
            </a:lvl5pPr>
            <a:lvl6pPr marL="1606711" indent="0" algn="ctr">
              <a:buNone/>
              <a:defRPr/>
            </a:lvl6pPr>
            <a:lvl7pPr marL="1928052" indent="0" algn="ctr">
              <a:buNone/>
              <a:defRPr/>
            </a:lvl7pPr>
            <a:lvl8pPr marL="2249396" indent="0" algn="ctr">
              <a:buNone/>
              <a:defRPr/>
            </a:lvl8pPr>
            <a:lvl9pPr marL="2570738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0817808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885359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341" indent="0">
              <a:buNone/>
              <a:defRPr sz="1300"/>
            </a:lvl2pPr>
            <a:lvl3pPr marL="642684" indent="0">
              <a:buNone/>
              <a:defRPr sz="1100"/>
            </a:lvl3pPr>
            <a:lvl4pPr marL="964025" indent="0">
              <a:buNone/>
              <a:defRPr sz="1000"/>
            </a:lvl4pPr>
            <a:lvl5pPr marL="1285368" indent="0">
              <a:buNone/>
              <a:defRPr sz="1000"/>
            </a:lvl5pPr>
            <a:lvl6pPr marL="1606711" indent="0">
              <a:buNone/>
              <a:defRPr sz="1000"/>
            </a:lvl6pPr>
            <a:lvl7pPr marL="1928052" indent="0">
              <a:buNone/>
              <a:defRPr sz="1000"/>
            </a:lvl7pPr>
            <a:lvl8pPr marL="2249396" indent="0">
              <a:buNone/>
              <a:defRPr sz="1000"/>
            </a:lvl8pPr>
            <a:lvl9pPr marL="2570738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0057173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92970" y="1946679"/>
            <a:ext cx="3625453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5578" y="1946679"/>
            <a:ext cx="3625453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36622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41" indent="0">
              <a:buNone/>
              <a:defRPr sz="1400" b="1"/>
            </a:lvl2pPr>
            <a:lvl3pPr marL="642684" indent="0">
              <a:buNone/>
              <a:defRPr sz="1300" b="1"/>
            </a:lvl3pPr>
            <a:lvl4pPr marL="964025" indent="0">
              <a:buNone/>
              <a:defRPr sz="1100" b="1"/>
            </a:lvl4pPr>
            <a:lvl5pPr marL="1285368" indent="0">
              <a:buNone/>
              <a:defRPr sz="1100" b="1"/>
            </a:lvl5pPr>
            <a:lvl6pPr marL="1606711" indent="0">
              <a:buNone/>
              <a:defRPr sz="1100" b="1"/>
            </a:lvl6pPr>
            <a:lvl7pPr marL="1928052" indent="0">
              <a:buNone/>
              <a:defRPr sz="1100" b="1"/>
            </a:lvl7pPr>
            <a:lvl8pPr marL="2249396" indent="0">
              <a:buNone/>
              <a:defRPr sz="1100" b="1"/>
            </a:lvl8pPr>
            <a:lvl9pPr marL="2570738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341" indent="0">
              <a:buNone/>
              <a:defRPr sz="1400" b="1"/>
            </a:lvl2pPr>
            <a:lvl3pPr marL="642684" indent="0">
              <a:buNone/>
              <a:defRPr sz="1300" b="1"/>
            </a:lvl3pPr>
            <a:lvl4pPr marL="964025" indent="0">
              <a:buNone/>
              <a:defRPr sz="1100" b="1"/>
            </a:lvl4pPr>
            <a:lvl5pPr marL="1285368" indent="0">
              <a:buNone/>
              <a:defRPr sz="1100" b="1"/>
            </a:lvl5pPr>
            <a:lvl6pPr marL="1606711" indent="0">
              <a:buNone/>
              <a:defRPr sz="1100" b="1"/>
            </a:lvl6pPr>
            <a:lvl7pPr marL="1928052" indent="0">
              <a:buNone/>
              <a:defRPr sz="1100" b="1"/>
            </a:lvl7pPr>
            <a:lvl8pPr marL="2249396" indent="0">
              <a:buNone/>
              <a:defRPr sz="1100" b="1"/>
            </a:lvl8pPr>
            <a:lvl9pPr marL="2570738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1823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460130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55910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54" y="273480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654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341" indent="0">
              <a:buNone/>
              <a:defRPr sz="800"/>
            </a:lvl2pPr>
            <a:lvl3pPr marL="642684" indent="0">
              <a:buNone/>
              <a:defRPr sz="700"/>
            </a:lvl3pPr>
            <a:lvl4pPr marL="964025" indent="0">
              <a:buNone/>
              <a:defRPr sz="600"/>
            </a:lvl4pPr>
            <a:lvl5pPr marL="1285368" indent="0">
              <a:buNone/>
              <a:defRPr sz="600"/>
            </a:lvl5pPr>
            <a:lvl6pPr marL="1606711" indent="0">
              <a:buNone/>
              <a:defRPr sz="600"/>
            </a:lvl6pPr>
            <a:lvl7pPr marL="1928052" indent="0">
              <a:buNone/>
              <a:defRPr sz="600"/>
            </a:lvl7pPr>
            <a:lvl8pPr marL="2249396" indent="0">
              <a:buNone/>
              <a:defRPr sz="600"/>
            </a:lvl8pPr>
            <a:lvl9pPr marL="2570738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43684838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642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642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341" indent="0">
              <a:buNone/>
              <a:defRPr sz="2000"/>
            </a:lvl2pPr>
            <a:lvl3pPr marL="642684" indent="0">
              <a:buNone/>
              <a:defRPr sz="1700"/>
            </a:lvl3pPr>
            <a:lvl4pPr marL="964025" indent="0">
              <a:buNone/>
              <a:defRPr sz="1400"/>
            </a:lvl4pPr>
            <a:lvl5pPr marL="1285368" indent="0">
              <a:buNone/>
              <a:defRPr sz="1400"/>
            </a:lvl5pPr>
            <a:lvl6pPr marL="1606711" indent="0">
              <a:buNone/>
              <a:defRPr sz="1400"/>
            </a:lvl6pPr>
            <a:lvl7pPr marL="1928052" indent="0">
              <a:buNone/>
              <a:defRPr sz="1400"/>
            </a:lvl7pPr>
            <a:lvl8pPr marL="2249396" indent="0">
              <a:buNone/>
              <a:defRPr sz="1400"/>
            </a:lvl8pPr>
            <a:lvl9pPr marL="2570738" indent="0">
              <a:buNone/>
              <a:defRPr sz="14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642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341" indent="0">
              <a:buNone/>
              <a:defRPr sz="800"/>
            </a:lvl2pPr>
            <a:lvl3pPr marL="642684" indent="0">
              <a:buNone/>
              <a:defRPr sz="700"/>
            </a:lvl3pPr>
            <a:lvl4pPr marL="964025" indent="0">
              <a:buNone/>
              <a:defRPr sz="600"/>
            </a:lvl4pPr>
            <a:lvl5pPr marL="1285368" indent="0">
              <a:buNone/>
              <a:defRPr sz="600"/>
            </a:lvl5pPr>
            <a:lvl6pPr marL="1606711" indent="0">
              <a:buNone/>
              <a:defRPr sz="600"/>
            </a:lvl6pPr>
            <a:lvl7pPr marL="1928052" indent="0">
              <a:buNone/>
              <a:defRPr sz="600"/>
            </a:lvl7pPr>
            <a:lvl8pPr marL="2249396" indent="0">
              <a:buNone/>
              <a:defRPr sz="600"/>
            </a:lvl8pPr>
            <a:lvl9pPr marL="2570738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23242445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845108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411515" y="178594"/>
            <a:ext cx="1839516" cy="57864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92976" y="178594"/>
            <a:ext cx="5411391" cy="57864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944171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824" y="3886648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440" indent="0" algn="ctr">
              <a:buNone/>
              <a:defRPr/>
            </a:lvl2pPr>
            <a:lvl3pPr marL="642882" indent="0" algn="ctr">
              <a:buNone/>
              <a:defRPr/>
            </a:lvl3pPr>
            <a:lvl4pPr marL="964323" indent="0" algn="ctr">
              <a:buNone/>
              <a:defRPr/>
            </a:lvl4pPr>
            <a:lvl5pPr marL="1285763" indent="0" algn="ctr">
              <a:buNone/>
              <a:defRPr/>
            </a:lvl5pPr>
            <a:lvl6pPr marL="1607205" indent="0" algn="ctr">
              <a:buNone/>
              <a:defRPr/>
            </a:lvl6pPr>
            <a:lvl7pPr marL="1928645" indent="0" algn="ctr">
              <a:buNone/>
              <a:defRPr/>
            </a:lvl7pPr>
            <a:lvl8pPr marL="2250086" indent="0" algn="ctr">
              <a:buNone/>
              <a:defRPr/>
            </a:lvl8pPr>
            <a:lvl9pPr marL="2571527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0579437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703640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440" indent="0">
              <a:buNone/>
              <a:defRPr sz="1300"/>
            </a:lvl2pPr>
            <a:lvl3pPr marL="642882" indent="0">
              <a:buNone/>
              <a:defRPr sz="1100"/>
            </a:lvl3pPr>
            <a:lvl4pPr marL="964323" indent="0">
              <a:buNone/>
              <a:defRPr sz="1000"/>
            </a:lvl4pPr>
            <a:lvl5pPr marL="1285763" indent="0">
              <a:buNone/>
              <a:defRPr sz="1000"/>
            </a:lvl5pPr>
            <a:lvl6pPr marL="1607205" indent="0">
              <a:buNone/>
              <a:defRPr sz="1000"/>
            </a:lvl6pPr>
            <a:lvl7pPr marL="1928645" indent="0">
              <a:buNone/>
              <a:defRPr sz="1000"/>
            </a:lvl7pPr>
            <a:lvl8pPr marL="2250086" indent="0">
              <a:buNone/>
              <a:defRPr sz="1000"/>
            </a:lvl8pPr>
            <a:lvl9pPr marL="2571527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428456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92970" y="1946673"/>
            <a:ext cx="3625453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5578" y="1946673"/>
            <a:ext cx="3625453" cy="401835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25346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440" indent="0">
              <a:buNone/>
              <a:defRPr sz="1400" b="1"/>
            </a:lvl2pPr>
            <a:lvl3pPr marL="642882" indent="0">
              <a:buNone/>
              <a:defRPr sz="1300" b="1"/>
            </a:lvl3pPr>
            <a:lvl4pPr marL="964323" indent="0">
              <a:buNone/>
              <a:defRPr sz="1100" b="1"/>
            </a:lvl4pPr>
            <a:lvl5pPr marL="1285763" indent="0">
              <a:buNone/>
              <a:defRPr sz="1100" b="1"/>
            </a:lvl5pPr>
            <a:lvl6pPr marL="1607205" indent="0">
              <a:buNone/>
              <a:defRPr sz="1100" b="1"/>
            </a:lvl6pPr>
            <a:lvl7pPr marL="1928645" indent="0">
              <a:buNone/>
              <a:defRPr sz="1100" b="1"/>
            </a:lvl7pPr>
            <a:lvl8pPr marL="2250086" indent="0">
              <a:buNone/>
              <a:defRPr sz="1100" b="1"/>
            </a:lvl8pPr>
            <a:lvl9pPr marL="2571527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440" indent="0">
              <a:buNone/>
              <a:defRPr sz="1400" b="1"/>
            </a:lvl2pPr>
            <a:lvl3pPr marL="642882" indent="0">
              <a:buNone/>
              <a:defRPr sz="1300" b="1"/>
            </a:lvl3pPr>
            <a:lvl4pPr marL="964323" indent="0">
              <a:buNone/>
              <a:defRPr sz="1100" b="1"/>
            </a:lvl4pPr>
            <a:lvl5pPr marL="1285763" indent="0">
              <a:buNone/>
              <a:defRPr sz="1100" b="1"/>
            </a:lvl5pPr>
            <a:lvl6pPr marL="1607205" indent="0">
              <a:buNone/>
              <a:defRPr sz="1100" b="1"/>
            </a:lvl6pPr>
            <a:lvl7pPr marL="1928645" indent="0">
              <a:buNone/>
              <a:defRPr sz="1100" b="1"/>
            </a:lvl7pPr>
            <a:lvl8pPr marL="2250086" indent="0">
              <a:buNone/>
              <a:defRPr sz="1100" b="1"/>
            </a:lvl8pPr>
            <a:lvl9pPr marL="2571527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595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5192861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334452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8" y="273474"/>
            <a:ext cx="3008189" cy="116197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648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440" indent="0">
              <a:buNone/>
              <a:defRPr sz="800"/>
            </a:lvl2pPr>
            <a:lvl3pPr marL="642882" indent="0">
              <a:buNone/>
              <a:defRPr sz="700"/>
            </a:lvl3pPr>
            <a:lvl4pPr marL="964323" indent="0">
              <a:buNone/>
              <a:defRPr sz="600"/>
            </a:lvl4pPr>
            <a:lvl5pPr marL="1285763" indent="0">
              <a:buNone/>
              <a:defRPr sz="600"/>
            </a:lvl5pPr>
            <a:lvl6pPr marL="1607205" indent="0">
              <a:buNone/>
              <a:defRPr sz="600"/>
            </a:lvl6pPr>
            <a:lvl7pPr marL="1928645" indent="0">
              <a:buNone/>
              <a:defRPr sz="600"/>
            </a:lvl7pPr>
            <a:lvl8pPr marL="2250086" indent="0">
              <a:buNone/>
              <a:defRPr sz="600"/>
            </a:lvl8pPr>
            <a:lvl9pPr marL="2571527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8901666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636" y="4800824"/>
            <a:ext cx="5486177" cy="567035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636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440" indent="0">
              <a:buNone/>
              <a:defRPr sz="2000"/>
            </a:lvl2pPr>
            <a:lvl3pPr marL="642882" indent="0">
              <a:buNone/>
              <a:defRPr sz="1700"/>
            </a:lvl3pPr>
            <a:lvl4pPr marL="964323" indent="0">
              <a:buNone/>
              <a:defRPr sz="1400"/>
            </a:lvl4pPr>
            <a:lvl5pPr marL="1285763" indent="0">
              <a:buNone/>
              <a:defRPr sz="1400"/>
            </a:lvl5pPr>
            <a:lvl6pPr marL="1607205" indent="0">
              <a:buNone/>
              <a:defRPr sz="1400"/>
            </a:lvl6pPr>
            <a:lvl7pPr marL="1928645" indent="0">
              <a:buNone/>
              <a:defRPr sz="1400"/>
            </a:lvl7pPr>
            <a:lvl8pPr marL="2250086" indent="0">
              <a:buNone/>
              <a:defRPr sz="1400"/>
            </a:lvl8pPr>
            <a:lvl9pPr marL="2571527" indent="0">
              <a:buNone/>
              <a:defRPr sz="14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636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440" indent="0">
              <a:buNone/>
              <a:defRPr sz="800"/>
            </a:lvl2pPr>
            <a:lvl3pPr marL="642882" indent="0">
              <a:buNone/>
              <a:defRPr sz="700"/>
            </a:lvl3pPr>
            <a:lvl4pPr marL="964323" indent="0">
              <a:buNone/>
              <a:defRPr sz="600"/>
            </a:lvl4pPr>
            <a:lvl5pPr marL="1285763" indent="0">
              <a:buNone/>
              <a:defRPr sz="600"/>
            </a:lvl5pPr>
            <a:lvl6pPr marL="1607205" indent="0">
              <a:buNone/>
              <a:defRPr sz="600"/>
            </a:lvl6pPr>
            <a:lvl7pPr marL="1928645" indent="0">
              <a:buNone/>
              <a:defRPr sz="600"/>
            </a:lvl7pPr>
            <a:lvl8pPr marL="2250086" indent="0">
              <a:buNone/>
              <a:defRPr sz="600"/>
            </a:lvl8pPr>
            <a:lvl9pPr marL="2571527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61840938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922177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411515" y="178594"/>
            <a:ext cx="1839516" cy="57864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92970" y="178594"/>
            <a:ext cx="5411391" cy="57864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537078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354" y="2130848"/>
            <a:ext cx="7773293" cy="1470049"/>
          </a:xfrm>
          <a:prstGeom prst="rect">
            <a:avLst/>
          </a:prstGeom>
        </p:spPr>
        <p:txBody>
          <a:bodyPr vert="horz" lIns="64288" tIns="32144" rIns="64288" bIns="32144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824" y="3886648"/>
            <a:ext cx="6400354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440" indent="0" algn="ctr">
              <a:buNone/>
              <a:defRPr/>
            </a:lvl2pPr>
            <a:lvl3pPr marL="642882" indent="0" algn="ctr">
              <a:buNone/>
              <a:defRPr/>
            </a:lvl3pPr>
            <a:lvl4pPr marL="964323" indent="0" algn="ctr">
              <a:buNone/>
              <a:defRPr/>
            </a:lvl4pPr>
            <a:lvl5pPr marL="1285763" indent="0" algn="ctr">
              <a:buNone/>
              <a:defRPr/>
            </a:lvl5pPr>
            <a:lvl6pPr marL="1607205" indent="0" algn="ctr">
              <a:buNone/>
              <a:defRPr/>
            </a:lvl6pPr>
            <a:lvl7pPr marL="1928645" indent="0" algn="ctr">
              <a:buNone/>
              <a:defRPr/>
            </a:lvl7pPr>
            <a:lvl8pPr marL="2250086" indent="0" algn="ctr">
              <a:buNone/>
              <a:defRPr/>
            </a:lvl8pPr>
            <a:lvl9pPr marL="2571527" indent="0" algn="ctr">
              <a:buNone/>
              <a:defRPr/>
            </a:lvl9pPr>
          </a:lstStyle>
          <a:p>
            <a:r>
              <a:rPr lang="zh-TW" altLang="en-US" smtClean="0"/>
              <a:t> 按一下以編輯母片子標題樣式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271550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88" tIns="32144" rIns="64288" bIns="32144"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2183805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189" y="4406802"/>
            <a:ext cx="7772176" cy="1361777"/>
          </a:xfrm>
          <a:prstGeom prst="rect">
            <a:avLst/>
          </a:prstGeom>
        </p:spPr>
        <p:txBody>
          <a:bodyPr vert="horz" lIns="64288" tIns="32144" rIns="64288" bIns="32144" anchor="t"/>
          <a:lstStyle>
            <a:lvl1pPr algn="l">
              <a:defRPr sz="28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189" y="2906613"/>
            <a:ext cx="7772176" cy="1500188"/>
          </a:xfrm>
        </p:spPr>
        <p:txBody>
          <a:bodyPr anchor="b"/>
          <a:lstStyle>
            <a:lvl1pPr marL="0" indent="0">
              <a:buNone/>
              <a:defRPr sz="1400"/>
            </a:lvl1pPr>
            <a:lvl2pPr marL="321440" indent="0">
              <a:buNone/>
              <a:defRPr sz="1300"/>
            </a:lvl2pPr>
            <a:lvl3pPr marL="642882" indent="0">
              <a:buNone/>
              <a:defRPr sz="1100"/>
            </a:lvl3pPr>
            <a:lvl4pPr marL="964323" indent="0">
              <a:buNone/>
              <a:defRPr sz="1000"/>
            </a:lvl4pPr>
            <a:lvl5pPr marL="1285763" indent="0">
              <a:buNone/>
              <a:defRPr sz="1000"/>
            </a:lvl5pPr>
            <a:lvl6pPr marL="1607205" indent="0">
              <a:buNone/>
              <a:defRPr sz="1000"/>
            </a:lvl6pPr>
            <a:lvl7pPr marL="1928645" indent="0">
              <a:buNone/>
              <a:defRPr sz="1000"/>
            </a:lvl7pPr>
            <a:lvl8pPr marL="2250086" indent="0">
              <a:buNone/>
              <a:defRPr sz="1000"/>
            </a:lvl8pPr>
            <a:lvl9pPr marL="2571527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0570445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88" tIns="32144" rIns="64288" bIns="32144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92970" y="892970"/>
            <a:ext cx="3625453" cy="507206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5578" y="892970"/>
            <a:ext cx="3625453" cy="5072063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6404577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88" tIns="32144" rIns="64288" bIns="32144"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647" y="1534791"/>
            <a:ext cx="4039568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440" indent="0">
              <a:buNone/>
              <a:defRPr sz="1400" b="1"/>
            </a:lvl2pPr>
            <a:lvl3pPr marL="642882" indent="0">
              <a:buNone/>
              <a:defRPr sz="1300" b="1"/>
            </a:lvl3pPr>
            <a:lvl4pPr marL="964323" indent="0">
              <a:buNone/>
              <a:defRPr sz="1100" b="1"/>
            </a:lvl4pPr>
            <a:lvl5pPr marL="1285763" indent="0">
              <a:buNone/>
              <a:defRPr sz="1100" b="1"/>
            </a:lvl5pPr>
            <a:lvl6pPr marL="1607205" indent="0">
              <a:buNone/>
              <a:defRPr sz="1100" b="1"/>
            </a:lvl6pPr>
            <a:lvl7pPr marL="1928645" indent="0">
              <a:buNone/>
              <a:defRPr sz="1100" b="1"/>
            </a:lvl7pPr>
            <a:lvl8pPr marL="2250086" indent="0">
              <a:buNone/>
              <a:defRPr sz="1100" b="1"/>
            </a:lvl8pPr>
            <a:lvl9pPr marL="2571527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47" y="2174379"/>
            <a:ext cx="4039568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4555" y="1534791"/>
            <a:ext cx="4041799" cy="639589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1440" indent="0">
              <a:buNone/>
              <a:defRPr sz="1400" b="1"/>
            </a:lvl2pPr>
            <a:lvl3pPr marL="642882" indent="0">
              <a:buNone/>
              <a:defRPr sz="1300" b="1"/>
            </a:lvl3pPr>
            <a:lvl4pPr marL="964323" indent="0">
              <a:buNone/>
              <a:defRPr sz="1100" b="1"/>
            </a:lvl4pPr>
            <a:lvl5pPr marL="1285763" indent="0">
              <a:buNone/>
              <a:defRPr sz="1100" b="1"/>
            </a:lvl5pPr>
            <a:lvl6pPr marL="1607205" indent="0">
              <a:buNone/>
              <a:defRPr sz="1100" b="1"/>
            </a:lvl6pPr>
            <a:lvl7pPr marL="1928645" indent="0">
              <a:buNone/>
              <a:defRPr sz="1100" b="1"/>
            </a:lvl7pPr>
            <a:lvl8pPr marL="2250086" indent="0">
              <a:buNone/>
              <a:defRPr sz="1100" b="1"/>
            </a:lvl8pPr>
            <a:lvl9pPr marL="2571527" indent="0">
              <a:buNone/>
              <a:defRPr sz="11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4555" y="2174379"/>
            <a:ext cx="4041799" cy="395138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1698370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88" tIns="32144" rIns="64288" bIns="32144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887306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100050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8" y="273474"/>
            <a:ext cx="3008189" cy="1161975"/>
          </a:xfrm>
          <a:prstGeom prst="rect">
            <a:avLst/>
          </a:prstGeom>
        </p:spPr>
        <p:txBody>
          <a:bodyPr vert="horz" lIns="64288" tIns="32144" rIns="64288" bIns="32144"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224" y="273473"/>
            <a:ext cx="5111130" cy="58522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648" y="1435448"/>
            <a:ext cx="3008189" cy="4690318"/>
          </a:xfrm>
        </p:spPr>
        <p:txBody>
          <a:bodyPr/>
          <a:lstStyle>
            <a:lvl1pPr marL="0" indent="0">
              <a:buNone/>
              <a:defRPr sz="1000"/>
            </a:lvl1pPr>
            <a:lvl2pPr marL="321440" indent="0">
              <a:buNone/>
              <a:defRPr sz="800"/>
            </a:lvl2pPr>
            <a:lvl3pPr marL="642882" indent="0">
              <a:buNone/>
              <a:defRPr sz="700"/>
            </a:lvl3pPr>
            <a:lvl4pPr marL="964323" indent="0">
              <a:buNone/>
              <a:defRPr sz="600"/>
            </a:lvl4pPr>
            <a:lvl5pPr marL="1285763" indent="0">
              <a:buNone/>
              <a:defRPr sz="600"/>
            </a:lvl5pPr>
            <a:lvl6pPr marL="1607205" indent="0">
              <a:buNone/>
              <a:defRPr sz="600"/>
            </a:lvl6pPr>
            <a:lvl7pPr marL="1928645" indent="0">
              <a:buNone/>
              <a:defRPr sz="600"/>
            </a:lvl7pPr>
            <a:lvl8pPr marL="2250086" indent="0">
              <a:buNone/>
              <a:defRPr sz="600"/>
            </a:lvl8pPr>
            <a:lvl9pPr marL="2571527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96680671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636" y="4800824"/>
            <a:ext cx="5486177" cy="567035"/>
          </a:xfrm>
          <a:prstGeom prst="rect">
            <a:avLst/>
          </a:prstGeom>
        </p:spPr>
        <p:txBody>
          <a:bodyPr vert="horz" lIns="64288" tIns="32144" rIns="64288" bIns="32144" anchor="b"/>
          <a:lstStyle>
            <a:lvl1pPr algn="l">
              <a:defRPr sz="14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636" y="612800"/>
            <a:ext cx="5486177" cy="4114354"/>
          </a:xfrm>
        </p:spPr>
        <p:txBody>
          <a:bodyPr/>
          <a:lstStyle>
            <a:lvl1pPr marL="0" indent="0">
              <a:buNone/>
              <a:defRPr sz="2200"/>
            </a:lvl1pPr>
            <a:lvl2pPr marL="321440" indent="0">
              <a:buNone/>
              <a:defRPr sz="2000"/>
            </a:lvl2pPr>
            <a:lvl3pPr marL="642882" indent="0">
              <a:buNone/>
              <a:defRPr sz="1700"/>
            </a:lvl3pPr>
            <a:lvl4pPr marL="964323" indent="0">
              <a:buNone/>
              <a:defRPr sz="1400"/>
            </a:lvl4pPr>
            <a:lvl5pPr marL="1285763" indent="0">
              <a:buNone/>
              <a:defRPr sz="1400"/>
            </a:lvl5pPr>
            <a:lvl6pPr marL="1607205" indent="0">
              <a:buNone/>
              <a:defRPr sz="1400"/>
            </a:lvl6pPr>
            <a:lvl7pPr marL="1928645" indent="0">
              <a:buNone/>
              <a:defRPr sz="1400"/>
            </a:lvl7pPr>
            <a:lvl8pPr marL="2250086" indent="0">
              <a:buNone/>
              <a:defRPr sz="1400"/>
            </a:lvl8pPr>
            <a:lvl9pPr marL="2571527" indent="0">
              <a:buNone/>
              <a:defRPr sz="1400"/>
            </a:lvl9pPr>
          </a:lstStyle>
          <a:p>
            <a:pPr lvl="0"/>
            <a:endParaRPr lang="zh-TW" altLang="en-US" noProof="0" smtClean="0">
              <a:sym typeface="Gill Sans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636" y="5367860"/>
            <a:ext cx="5486177" cy="804788"/>
          </a:xfrm>
        </p:spPr>
        <p:txBody>
          <a:bodyPr/>
          <a:lstStyle>
            <a:lvl1pPr marL="0" indent="0">
              <a:buNone/>
              <a:defRPr sz="1000"/>
            </a:lvl1pPr>
            <a:lvl2pPr marL="321440" indent="0">
              <a:buNone/>
              <a:defRPr sz="800"/>
            </a:lvl2pPr>
            <a:lvl3pPr marL="642882" indent="0">
              <a:buNone/>
              <a:defRPr sz="700"/>
            </a:lvl3pPr>
            <a:lvl4pPr marL="964323" indent="0">
              <a:buNone/>
              <a:defRPr sz="600"/>
            </a:lvl4pPr>
            <a:lvl5pPr marL="1285763" indent="0">
              <a:buNone/>
              <a:defRPr sz="600"/>
            </a:lvl5pPr>
            <a:lvl6pPr marL="1607205" indent="0">
              <a:buNone/>
              <a:defRPr sz="600"/>
            </a:lvl6pPr>
            <a:lvl7pPr marL="1928645" indent="0">
              <a:buNone/>
              <a:defRPr sz="600"/>
            </a:lvl7pPr>
            <a:lvl8pPr marL="2250086" indent="0">
              <a:buNone/>
              <a:defRPr sz="600"/>
            </a:lvl8pPr>
            <a:lvl9pPr marL="2571527" indent="0">
              <a:buNone/>
              <a:defRPr sz="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93290983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647" y="274588"/>
            <a:ext cx="8228707" cy="1143000"/>
          </a:xfrm>
          <a:prstGeom prst="rect">
            <a:avLst/>
          </a:prstGeom>
        </p:spPr>
        <p:txBody>
          <a:bodyPr vert="horz" lIns="64288" tIns="32144" rIns="64288" bIns="32144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1489424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177" y="274588"/>
            <a:ext cx="2057176" cy="5690443"/>
          </a:xfrm>
          <a:prstGeom prst="rect">
            <a:avLst/>
          </a:prstGeom>
        </p:spPr>
        <p:txBody>
          <a:bodyPr vert="eaVert" lIns="64288" tIns="32144" rIns="64288" bIns="32144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647" y="274588"/>
            <a:ext cx="6064374" cy="569044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499425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2973" y="3536156"/>
            <a:ext cx="7358063" cy="794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9" tIns="35709" rIns="35709" bIns="3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2973" y="1151930"/>
            <a:ext cx="7358063" cy="2321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9" tIns="35709" rIns="35709" bIns="35709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183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+mj-lt"/>
          <a:ea typeface="+mj-ea"/>
          <a:cs typeface="+mj-cs"/>
          <a:sym typeface="Gill Sans" pitchFamily="-84" charset="0"/>
        </a:defRPr>
      </a:lvl1pPr>
      <a:lvl2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2pPr>
      <a:lvl3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3pPr>
      <a:lvl4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4pPr>
      <a:lvl5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5pPr>
      <a:lvl6pPr marL="321391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642783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96417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28556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241044" indent="-241044" algn="ctr" rtl="0" fontAlgn="base">
        <a:spcBef>
          <a:spcPct val="0"/>
        </a:spcBef>
        <a:spcAft>
          <a:spcPct val="0"/>
        </a:spcAft>
        <a:defRPr kumimoji="1" sz="25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1pPr>
      <a:lvl2pPr marL="522261" indent="-200870" algn="ctr" rtl="0" fontAlgn="base">
        <a:spcBef>
          <a:spcPct val="0"/>
        </a:spcBef>
        <a:spcAft>
          <a:spcPct val="0"/>
        </a:spcAft>
        <a:defRPr kumimoji="1" sz="25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2pPr>
      <a:lvl3pPr marL="803479" indent="-160696" algn="ctr" rtl="0" fontAlgn="base">
        <a:spcBef>
          <a:spcPct val="0"/>
        </a:spcBef>
        <a:spcAft>
          <a:spcPct val="0"/>
        </a:spcAft>
        <a:defRPr kumimoji="1" sz="25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3pPr>
      <a:lvl4pPr marL="1124872" indent="-160696" algn="ctr" rtl="0" fontAlgn="base">
        <a:spcBef>
          <a:spcPct val="0"/>
        </a:spcBef>
        <a:spcAft>
          <a:spcPct val="0"/>
        </a:spcAft>
        <a:defRPr kumimoji="1" sz="25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4pPr>
      <a:lvl5pPr marL="1446262" indent="-160696" algn="ctr" rtl="0" fontAlgn="base">
        <a:spcBef>
          <a:spcPct val="0"/>
        </a:spcBef>
        <a:spcAft>
          <a:spcPct val="0"/>
        </a:spcAft>
        <a:defRPr kumimoji="1" sz="25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5pPr>
      <a:lvl6pPr marL="321391" algn="ctr" rtl="0" fontAlgn="base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642783" algn="ctr" rtl="0" fontAlgn="base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964174" algn="ctr" rtl="0" fontAlgn="base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285565" algn="ctr" rtl="0" fontAlgn="base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1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83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74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65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59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48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41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33" algn="l" defTabSz="32139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92974" y="178594"/>
            <a:ext cx="7358063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7" tIns="35707" rIns="35707" bIns="3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64974" y="1946677"/>
            <a:ext cx="2786063" cy="401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7" tIns="35707" rIns="35707" bIns="3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386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+mj-lt"/>
          <a:ea typeface="+mj-ea"/>
          <a:cs typeface="+mj-cs"/>
          <a:sym typeface="Gill Sans" pitchFamily="-84" charset="0"/>
        </a:defRPr>
      </a:lvl1pPr>
      <a:lvl2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2pPr>
      <a:lvl3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3pPr>
      <a:lvl4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4pPr>
      <a:lvl5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5pPr>
      <a:lvl6pPr marL="32137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64275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96412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28550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534510" indent="-347040" algn="l" rtl="0" fontAlgn="base">
        <a:spcBef>
          <a:spcPts val="2672"/>
        </a:spcBef>
        <a:spcAft>
          <a:spcPct val="0"/>
        </a:spcAft>
        <a:buSzPct val="171000"/>
        <a:buFont typeface="Gill Sans" pitchFamily="-84" charset="0"/>
        <a:buChar char="•"/>
        <a:defRPr kumimoji="1" sz="22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1pPr>
      <a:lvl2pPr marL="846958" indent="-347040" algn="l" rtl="0" fontAlgn="base">
        <a:spcBef>
          <a:spcPts val="2672"/>
        </a:spcBef>
        <a:spcAft>
          <a:spcPct val="0"/>
        </a:spcAft>
        <a:buSzPct val="171000"/>
        <a:buFont typeface="Gill Sans" pitchFamily="-84" charset="0"/>
        <a:buChar char="•"/>
        <a:defRPr kumimoji="1" sz="22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2pPr>
      <a:lvl3pPr marL="1159406" indent="-347040" algn="l" rtl="0" fontAlgn="base">
        <a:spcBef>
          <a:spcPts val="2672"/>
        </a:spcBef>
        <a:spcAft>
          <a:spcPct val="0"/>
        </a:spcAft>
        <a:buSzPct val="171000"/>
        <a:buFont typeface="Gill Sans" pitchFamily="-84" charset="0"/>
        <a:buChar char="•"/>
        <a:defRPr kumimoji="1" sz="22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3pPr>
      <a:lvl4pPr marL="1471855" indent="-347040" algn="l" rtl="0" fontAlgn="base">
        <a:spcBef>
          <a:spcPts val="2672"/>
        </a:spcBef>
        <a:spcAft>
          <a:spcPct val="0"/>
        </a:spcAft>
        <a:buSzPct val="171000"/>
        <a:buFont typeface="Gill Sans" pitchFamily="-84" charset="0"/>
        <a:buChar char="•"/>
        <a:defRPr kumimoji="1" sz="22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4pPr>
      <a:lvl5pPr marL="1784302" indent="-347040" algn="l" rtl="0" fontAlgn="base">
        <a:spcBef>
          <a:spcPts val="2672"/>
        </a:spcBef>
        <a:spcAft>
          <a:spcPct val="0"/>
        </a:spcAft>
        <a:buSzPct val="171000"/>
        <a:buFont typeface="Gill Sans" pitchFamily="-84" charset="0"/>
        <a:buChar char="•"/>
        <a:defRPr kumimoji="1" sz="22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5pPr>
      <a:lvl6pPr marL="2105677" indent="-347040" algn="l" rtl="0" fontAlgn="base">
        <a:spcBef>
          <a:spcPts val="2672"/>
        </a:spcBef>
        <a:spcAft>
          <a:spcPct val="0"/>
        </a:spcAft>
        <a:buSzPct val="171000"/>
        <a:buFont typeface="Gill Sans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2427052" indent="-347040" algn="l" rtl="0" fontAlgn="base">
        <a:spcBef>
          <a:spcPts val="2672"/>
        </a:spcBef>
        <a:spcAft>
          <a:spcPct val="0"/>
        </a:spcAft>
        <a:buSzPct val="171000"/>
        <a:buFont typeface="Gill Sans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2748427" indent="-347040" algn="l" rtl="0" fontAlgn="base">
        <a:spcBef>
          <a:spcPts val="2672"/>
        </a:spcBef>
        <a:spcAft>
          <a:spcPct val="0"/>
        </a:spcAft>
        <a:buSzPct val="171000"/>
        <a:buFont typeface="Gill Sans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3069802" indent="-347040" algn="l" rtl="0" fontAlgn="base">
        <a:spcBef>
          <a:spcPts val="2672"/>
        </a:spcBef>
        <a:spcAft>
          <a:spcPct val="0"/>
        </a:spcAft>
        <a:buSzPct val="171000"/>
        <a:buFont typeface="Gill Sans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74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50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24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00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877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250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626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001" algn="l" defTabSz="321374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2975" y="892975"/>
            <a:ext cx="7358063" cy="507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5" tIns="35705" rIns="35705" bIns="357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329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+mj-lt"/>
          <a:ea typeface="+mj-ea"/>
          <a:cs typeface="+mj-cs"/>
          <a:sym typeface="Gill Sans" pitchFamily="-84" charset="0"/>
        </a:defRPr>
      </a:lvl1pPr>
      <a:lvl2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2pPr>
      <a:lvl3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3pPr>
      <a:lvl4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4pPr>
      <a:lvl5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5pPr>
      <a:lvl6pPr marL="321357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642717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96407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28543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589158" indent="-401697" algn="l" rtl="0" fontAlgn="base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1pPr>
      <a:lvl2pPr marL="901590" indent="-401697" algn="l" rtl="0" fontAlgn="base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2pPr>
      <a:lvl3pPr marL="1214022" indent="-401697" algn="l" rtl="0" fontAlgn="base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3pPr>
      <a:lvl4pPr marL="1526454" indent="-401697" algn="l" rtl="0" fontAlgn="base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4pPr>
      <a:lvl5pPr marL="1838886" indent="-401697" algn="l" rtl="0" fontAlgn="base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5pPr>
      <a:lvl6pPr marL="2160243" indent="-401697" algn="l" rtl="0" fontAlgn="base">
        <a:spcBef>
          <a:spcPts val="3375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2481603" indent="-401697" algn="l" rtl="0" fontAlgn="base">
        <a:spcBef>
          <a:spcPts val="3375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2802961" indent="-401697" algn="l" rtl="0" fontAlgn="base">
        <a:spcBef>
          <a:spcPts val="3375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3124320" indent="-401697" algn="l" rtl="0" fontAlgn="base">
        <a:spcBef>
          <a:spcPts val="3375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57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17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75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434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94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151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511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870" algn="l" defTabSz="3213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92976" y="178594"/>
            <a:ext cx="7358063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3" tIns="35703" rIns="35703" bIns="3570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title style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2976" y="1946679"/>
            <a:ext cx="7358063" cy="401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3" tIns="35703" rIns="35703" bIns="3570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zh-TW">
                <a:sym typeface="Gill Sans" charset="0"/>
              </a:rPr>
              <a:t>Second level</a:t>
            </a:r>
          </a:p>
          <a:p>
            <a:pPr lvl="2"/>
            <a:r>
              <a:rPr lang="en-US" altLang="zh-TW">
                <a:sym typeface="Gill Sans" charset="0"/>
              </a:rPr>
              <a:t>Third level</a:t>
            </a:r>
          </a:p>
          <a:p>
            <a:pPr lvl="3"/>
            <a:r>
              <a:rPr lang="en-US" altLang="zh-TW">
                <a:sym typeface="Gill Sans" charset="0"/>
              </a:rPr>
              <a:t>Fourth level</a:t>
            </a:r>
          </a:p>
          <a:p>
            <a:pPr lvl="4"/>
            <a:r>
              <a:rPr lang="en-US" altLang="zh-TW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655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+mj-lt"/>
          <a:ea typeface="+mj-ea"/>
          <a:cs typeface="+mj-cs"/>
          <a:sym typeface="Gill Sans" pitchFamily="-84" charset="0"/>
        </a:defRPr>
      </a:lvl1pPr>
      <a:lvl2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2pPr>
      <a:lvl3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3pPr>
      <a:lvl4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4pPr>
      <a:lvl5pPr algn="ctr" rtl="0" fontAlgn="base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5pPr>
      <a:lvl6pPr marL="321341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64268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96402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285368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589128" indent="-401676" algn="l" rtl="0" fontAlgn="base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1pPr>
      <a:lvl2pPr marL="901544" indent="-401676" algn="l" rtl="0" fontAlgn="base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2pPr>
      <a:lvl3pPr marL="1213960" indent="-401676" algn="l" rtl="0" fontAlgn="base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3pPr>
      <a:lvl4pPr marL="1526376" indent="-401676" algn="l" rtl="0" fontAlgn="base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4pPr>
      <a:lvl5pPr marL="1838792" indent="-401676" algn="l" rtl="0" fontAlgn="base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5pPr>
      <a:lvl6pPr marL="2160133" indent="-401676" algn="l" rtl="0" fontAlgn="base">
        <a:spcBef>
          <a:spcPts val="1687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2481476" indent="-401676" algn="l" rtl="0" fontAlgn="base">
        <a:spcBef>
          <a:spcPts val="1687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2802817" indent="-401676" algn="l" rtl="0" fontAlgn="base">
        <a:spcBef>
          <a:spcPts val="1687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3124160" indent="-401676" algn="l" rtl="0" fontAlgn="base">
        <a:spcBef>
          <a:spcPts val="1687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1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84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25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68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11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52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396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38" algn="l" defTabSz="32134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92970" y="178594"/>
            <a:ext cx="7358063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15" tIns="35715" rIns="35715" bIns="3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>
                <a:sym typeface="Gill Sans" pitchFamily="-84" charset="0"/>
              </a:rPr>
              <a:t>Click to edit Master title style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2970" y="1946673"/>
            <a:ext cx="7358063" cy="401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15" tIns="35715" rIns="35715" bIns="3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>
                <a:sym typeface="Gill Sans" pitchFamily="-84" charset="0"/>
              </a:rPr>
              <a:t>Click to edit Master text styles</a:t>
            </a:r>
          </a:p>
          <a:p>
            <a:pPr lvl="1"/>
            <a:r>
              <a:rPr lang="en-US" altLang="zh-TW" smtClean="0">
                <a:sym typeface="Gill Sans" pitchFamily="-84" charset="0"/>
              </a:rPr>
              <a:t>Second level</a:t>
            </a:r>
          </a:p>
          <a:p>
            <a:pPr lvl="2"/>
            <a:r>
              <a:rPr lang="en-US" altLang="zh-TW" smtClean="0">
                <a:sym typeface="Gill Sans" pitchFamily="-84" charset="0"/>
              </a:rPr>
              <a:t>Third level</a:t>
            </a:r>
          </a:p>
          <a:p>
            <a:pPr lvl="3"/>
            <a:r>
              <a:rPr lang="en-US" altLang="zh-TW" smtClean="0">
                <a:sym typeface="Gill Sans" pitchFamily="-84" charset="0"/>
              </a:rPr>
              <a:t>Fourth level</a:t>
            </a:r>
          </a:p>
          <a:p>
            <a:pPr lvl="4"/>
            <a:r>
              <a:rPr lang="en-US" altLang="zh-TW" smtClean="0">
                <a:sym typeface="Gill Sans" pitchFamily="-84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63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+mj-lt"/>
          <a:ea typeface="+mj-ea"/>
          <a:cs typeface="+mj-cs"/>
          <a:sym typeface="Gill Sans" pitchFamily="-8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5pPr>
      <a:lvl6pPr marL="32144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642882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964323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285763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589308" indent="-401801" algn="l" rtl="0" eaLnBrk="0" fontAlgn="base" hangingPunct="0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1pPr>
      <a:lvl2pPr marL="901820" indent="-401801" algn="l" rtl="0" eaLnBrk="0" fontAlgn="base" hangingPunct="0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2pPr>
      <a:lvl3pPr marL="1214332" indent="-401801" algn="l" rtl="0" eaLnBrk="0" fontAlgn="base" hangingPunct="0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3pPr>
      <a:lvl4pPr marL="1526844" indent="-401801" algn="l" rtl="0" eaLnBrk="0" fontAlgn="base" hangingPunct="0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4pPr>
      <a:lvl5pPr marL="1839356" indent="-401801" algn="l" rtl="0" eaLnBrk="0" fontAlgn="base" hangingPunct="0">
        <a:spcBef>
          <a:spcPts val="1687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5pPr>
      <a:lvl6pPr marL="2160797" indent="-401801" algn="l" rtl="0" fontAlgn="base">
        <a:spcBef>
          <a:spcPts val="1687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2482238" indent="-401801" algn="l" rtl="0" fontAlgn="base">
        <a:spcBef>
          <a:spcPts val="1687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2803679" indent="-401801" algn="l" rtl="0" fontAlgn="base">
        <a:spcBef>
          <a:spcPts val="1687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3125120" indent="-401801" algn="l" rtl="0" fontAlgn="base">
        <a:spcBef>
          <a:spcPts val="1687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40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82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323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763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205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645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086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527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2970" y="892970"/>
            <a:ext cx="7358063" cy="507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15" tIns="35715" rIns="35715" bIns="3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>
                <a:sym typeface="Gill Sans" pitchFamily="-84" charset="0"/>
              </a:rPr>
              <a:t>Click to edit Master text styles</a:t>
            </a:r>
          </a:p>
          <a:p>
            <a:pPr lvl="1"/>
            <a:r>
              <a:rPr lang="en-US" altLang="zh-TW" smtClean="0">
                <a:sym typeface="Gill Sans" pitchFamily="-84" charset="0"/>
              </a:rPr>
              <a:t>Second level</a:t>
            </a:r>
          </a:p>
          <a:p>
            <a:pPr lvl="2"/>
            <a:r>
              <a:rPr lang="en-US" altLang="zh-TW" smtClean="0">
                <a:sym typeface="Gill Sans" pitchFamily="-84" charset="0"/>
              </a:rPr>
              <a:t>Third level</a:t>
            </a:r>
          </a:p>
          <a:p>
            <a:pPr lvl="3"/>
            <a:r>
              <a:rPr lang="en-US" altLang="zh-TW" smtClean="0">
                <a:sym typeface="Gill Sans" pitchFamily="-84" charset="0"/>
              </a:rPr>
              <a:t>Fourth level</a:t>
            </a:r>
          </a:p>
          <a:p>
            <a:pPr lvl="4"/>
            <a:r>
              <a:rPr lang="en-US" altLang="zh-TW" smtClean="0">
                <a:sym typeface="Gill Sans" pitchFamily="-84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15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+mj-lt"/>
          <a:ea typeface="+mj-ea"/>
          <a:cs typeface="+mj-cs"/>
          <a:sym typeface="Gill Sans" pitchFamily="-8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pitchFamily="-84" charset="0"/>
        </a:defRPr>
      </a:lvl5pPr>
      <a:lvl6pPr marL="32144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6pPr>
      <a:lvl7pPr marL="642882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7pPr>
      <a:lvl8pPr marL="964323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8pPr>
      <a:lvl9pPr marL="1285763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Gill Sans" charset="0"/>
          <a:ea typeface="Heiti TC Light" charset="0"/>
          <a:cs typeface="Heiti TC Light" charset="0"/>
          <a:sym typeface="Gill Sans" charset="0"/>
        </a:defRPr>
      </a:lvl9pPr>
    </p:titleStyle>
    <p:bodyStyle>
      <a:lvl1pPr marL="589308" indent="-401801" algn="l" rtl="0" eaLnBrk="0" fontAlgn="base" hangingPunct="0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1pPr>
      <a:lvl2pPr marL="901820" indent="-401801" algn="l" rtl="0" eaLnBrk="0" fontAlgn="base" hangingPunct="0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2pPr>
      <a:lvl3pPr marL="1214332" indent="-401801" algn="l" rtl="0" eaLnBrk="0" fontAlgn="base" hangingPunct="0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3pPr>
      <a:lvl4pPr marL="1526844" indent="-401801" algn="l" rtl="0" eaLnBrk="0" fontAlgn="base" hangingPunct="0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4pPr>
      <a:lvl5pPr marL="1839356" indent="-401801" algn="l" rtl="0" eaLnBrk="0" fontAlgn="base" hangingPunct="0">
        <a:spcBef>
          <a:spcPts val="3375"/>
        </a:spcBef>
        <a:spcAft>
          <a:spcPct val="0"/>
        </a:spcAft>
        <a:buSzPct val="171000"/>
        <a:buFont typeface="Gill Sans" pitchFamily="-84" charset="0"/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  <a:sym typeface="Gill Sans" pitchFamily="-84" charset="0"/>
        </a:defRPr>
      </a:lvl5pPr>
      <a:lvl6pPr marL="2160797" indent="-401801" algn="l" rtl="0" fontAlgn="base">
        <a:spcBef>
          <a:spcPts val="3375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2482238" indent="-401801" algn="l" rtl="0" fontAlgn="base">
        <a:spcBef>
          <a:spcPts val="3375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2803679" indent="-401801" algn="l" rtl="0" fontAlgn="base">
        <a:spcBef>
          <a:spcPts val="3375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3125120" indent="-401801" algn="l" rtl="0" fontAlgn="base">
        <a:spcBef>
          <a:spcPts val="3375"/>
        </a:spcBef>
        <a:spcAft>
          <a:spcPct val="0"/>
        </a:spcAft>
        <a:buSzPct val="171000"/>
        <a:buFont typeface="Gill Sans" charset="0"/>
        <a:buChar char="•"/>
        <a:defRPr sz="3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zh-TW"/>
      </a:defPPr>
      <a:lvl1pPr marL="0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40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82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323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763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205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645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086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527" algn="l" defTabSz="32144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0" lang="en-US" altLang="zh-TW" dirty="0" smtClean="0">
                <a:sym typeface="Gill Sans" charset="0"/>
              </a:rPr>
              <a:t>Loops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/>
            </a:pPr>
            <a:endParaRPr kumimoji="0" lang="zh-TW" altLang="en-US" smtClean="0"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4116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0" lang="en-US" altLang="zh-TW" dirty="0" smtClean="0">
                <a:sym typeface="Gill Sans" charset="0"/>
              </a:rPr>
              <a:t>while loop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/>
            </a:pPr>
            <a:endParaRPr kumimoji="0" lang="zh-TW" altLang="en-US" smtClean="0"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6163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48019" y="73643"/>
            <a:ext cx="9031298" cy="573162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status;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an integer to be summed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"(q to quit):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%</a:t>
            </a:r>
            <a:r>
              <a:rPr lang="en-US" altLang="zh-TW" i="1" dirty="0" err="1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for long, status is the return value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      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== means "is equal to"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next integer (q to quit):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"Those integers sum to %ld.\n"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sum);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17412" name="矩形 2"/>
          <p:cNvSpPr>
            <a:spLocks noChangeArrowheads="1"/>
          </p:cNvSpPr>
          <p:nvPr/>
        </p:nvSpPr>
        <p:spPr bwMode="auto">
          <a:xfrm>
            <a:off x="2771800" y="5035382"/>
            <a:ext cx="6336704" cy="185000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4270" tIns="32135" rIns="64270" bIns="32135">
            <a:spAutoFit/>
          </a:bodyPr>
          <a:lstStyle/>
          <a:p>
            <a:pPr marL="321357"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Please enter an integer to be summed (q to quit): </a:t>
            </a:r>
            <a:r>
              <a:rPr lang="en-US" altLang="zh-TW" sz="1600" b="1" u="sng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12</a:t>
            </a:r>
          </a:p>
          <a:p>
            <a:pPr marL="321357"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Please enter next integer (q to quit): </a:t>
            </a:r>
            <a:r>
              <a:rPr lang="en-US" altLang="zh-TW" sz="1600" b="1" u="sng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34</a:t>
            </a:r>
          </a:p>
          <a:p>
            <a:pPr marL="321357"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Please enter next integer (q to quit): </a:t>
            </a:r>
            <a:r>
              <a:rPr lang="en-US" altLang="zh-TW" sz="1600" b="1" u="sng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-56</a:t>
            </a:r>
          </a:p>
          <a:p>
            <a:pPr marL="321357"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Please enter next integer (q to quit): </a:t>
            </a:r>
            <a:r>
              <a:rPr lang="en-US" altLang="zh-TW" sz="1600" b="1" u="sng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789</a:t>
            </a:r>
          </a:p>
          <a:p>
            <a:pPr marL="321357"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Please enter next integer (q to quit): </a:t>
            </a:r>
            <a:r>
              <a:rPr lang="en-US" altLang="zh-TW" sz="1600" b="1" u="sng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q</a:t>
            </a:r>
          </a:p>
          <a:p>
            <a:pPr marL="321357"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solidFill>
                  <a:srgbClr val="000000"/>
                </a:solidFill>
                <a:latin typeface="Courier New" pitchFamily="49" charset="0"/>
                <a:ea typeface="微軟正黑體" pitchFamily="34" charset="-120"/>
                <a:sym typeface="Gill Sans" pitchFamily="-84" charset="0"/>
              </a:rPr>
              <a:t>Those integers sum to 779.</a:t>
            </a:r>
          </a:p>
        </p:txBody>
      </p:sp>
      <p:sp>
        <p:nvSpPr>
          <p:cNvPr id="1740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4126430" y="476672"/>
            <a:ext cx="4952887" cy="1440160"/>
          </a:xfrm>
        </p:spPr>
        <p:txBody>
          <a:bodyPr anchor="t"/>
          <a:lstStyle/>
          <a:p>
            <a:pPr marL="570189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這個程式會不斷要求使用者輸入整數，然後當使用者輸入的資料不是數字時，迴圈就會結束，並且把所有數目的總和算出來。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264713" y="5654330"/>
            <a:ext cx="2507757" cy="707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7" tIns="35707" rIns="35707" bIns="35707" numCol="1" anchor="t" anchorCtr="0" compatLnSpc="1">
            <a:prstTxWarp prst="textNoShape">
              <a:avLst/>
            </a:prstTxWarp>
          </a:bodyPr>
          <a:lstStyle>
            <a:lvl1pPr marL="53461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1pPr>
            <a:lvl2pPr marL="847131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2pPr>
            <a:lvl3pPr marL="1159643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3pPr>
            <a:lvl4pPr marL="1472155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4pPr>
            <a:lvl5pPr marL="1784667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5pPr>
            <a:lvl6pPr marL="2106108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6pPr>
            <a:lvl7pPr marL="242754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7pPr>
            <a:lvl8pPr marL="274899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8pPr>
            <a:lvl9pPr marL="307043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9pPr>
          </a:lstStyle>
          <a:p>
            <a:pPr marL="223148" indent="0">
              <a:buNone/>
            </a:pPr>
            <a:r>
              <a:rPr kumimoji="0" lang="zh-TW" altLang="en-US" sz="36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範例輸出：</a:t>
            </a:r>
          </a:p>
        </p:txBody>
      </p:sp>
      <p:sp>
        <p:nvSpPr>
          <p:cNvPr id="7" name="矩形 6"/>
          <p:cNvSpPr/>
          <p:nvPr/>
        </p:nvSpPr>
        <p:spPr>
          <a:xfrm>
            <a:off x="54790" y="56655"/>
            <a:ext cx="844035" cy="32873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515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48019" y="116632"/>
            <a:ext cx="8204628" cy="573162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status;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an integer to be summed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"(q to quit):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%</a:t>
            </a:r>
            <a:r>
              <a:rPr lang="en-US" altLang="zh-TW" i="1" dirty="0" err="1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for long, status is the return value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      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== means "is equal to"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next integer (q to quit):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"Those integers sum to %ld.\n"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sum);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2836240" y="116636"/>
            <a:ext cx="6307760" cy="208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7" tIns="35707" rIns="35707" bIns="35707" numCol="1" anchor="ctr" anchorCtr="0" compatLnSpc="1">
            <a:prstTxWarp prst="textNoShape">
              <a:avLst/>
            </a:prstTxWarp>
          </a:bodyPr>
          <a:lstStyle>
            <a:lvl1pPr marL="53461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1pPr>
            <a:lvl2pPr marL="847131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2pPr>
            <a:lvl3pPr marL="1159643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3pPr>
            <a:lvl4pPr marL="1472155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4pPr>
            <a:lvl5pPr marL="1784667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5pPr>
            <a:lvl6pPr marL="2106108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6pPr>
            <a:lvl7pPr marL="242754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7pPr>
            <a:lvl8pPr marL="274899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8pPr>
            <a:lvl9pPr marL="307043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9pPr>
          </a:lstStyle>
          <a:p>
            <a:pPr marL="624832"/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宣告為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long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的變數可以儲存更大範圍的整數值。因為要讀的是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long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，所以用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%</a:t>
            </a:r>
            <a:r>
              <a:rPr kumimoji="0" lang="en-US" altLang="zh-TW" sz="2000" kern="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ld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。另外有個新東西是我們用到了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的回傳值。其實每次呼叫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，它除了把輸入的資料存入參數之外，還會回傳一個整數值給呼叫者，回傳的是它成功讀取的資料數目。</a:t>
            </a:r>
            <a:endParaRPr kumimoji="0" lang="en-US" altLang="zh-TW" sz="2000" kern="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</p:txBody>
      </p:sp>
      <p:sp>
        <p:nvSpPr>
          <p:cNvPr id="8" name="Rectangle 1"/>
          <p:cNvSpPr txBox="1">
            <a:spLocks noChangeArrowheads="1"/>
          </p:cNvSpPr>
          <p:nvPr/>
        </p:nvSpPr>
        <p:spPr bwMode="auto">
          <a:xfrm>
            <a:off x="2697535" y="5157192"/>
            <a:ext cx="6480720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7" tIns="35707" rIns="35707" bIns="35707" numCol="1" anchor="ctr" anchorCtr="0" compatLnSpc="1">
            <a:prstTxWarp prst="textNoShape">
              <a:avLst/>
            </a:prstTxWarp>
          </a:bodyPr>
          <a:lstStyle>
            <a:lvl1pPr marL="53461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1pPr>
            <a:lvl2pPr marL="847131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2pPr>
            <a:lvl3pPr marL="1159643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3pPr>
            <a:lvl4pPr marL="1472155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4pPr>
            <a:lvl5pPr marL="1784667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5pPr>
            <a:lvl6pPr marL="2106108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6pPr>
            <a:lvl7pPr marL="242754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7pPr>
            <a:lvl8pPr marL="274899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8pPr>
            <a:lvl9pPr marL="307043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9pPr>
          </a:lstStyle>
          <a:p>
            <a:pPr marL="624832"/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以這個例子來說，如果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能成功讀到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1 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個長整數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(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對應到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%</a:t>
            </a:r>
            <a:r>
              <a:rPr kumimoji="0" lang="en-US" altLang="zh-TW" sz="2000" kern="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ld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)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，它就會回傳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，如果使用者輸入的不是整數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(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譬如輸入英文字母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'q'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)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，則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會回傳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</a:t>
            </a:r>
            <a:r>
              <a:rPr kumimoji="0" lang="en-US" altLang="zh-TW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kern="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表示沒有讀到任何整數。</a:t>
            </a:r>
          </a:p>
        </p:txBody>
      </p:sp>
      <p:sp>
        <p:nvSpPr>
          <p:cNvPr id="5" name="矩形 4"/>
          <p:cNvSpPr/>
          <p:nvPr/>
        </p:nvSpPr>
        <p:spPr>
          <a:xfrm>
            <a:off x="54790" y="56655"/>
            <a:ext cx="844035" cy="32873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6569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48019" y="44624"/>
            <a:ext cx="8204628" cy="573162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status;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an integer to be summed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"(q to quit):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%</a:t>
            </a:r>
            <a:r>
              <a:rPr lang="en-US" altLang="zh-TW" i="1" dirty="0" err="1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for long, status is the return value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      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== means "is equal to"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sum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next integer (q to quit):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status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"Those integers sum to %ld.\n"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sum);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2836240" y="116636"/>
            <a:ext cx="6307760" cy="208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7" tIns="35707" rIns="35707" bIns="35707" numCol="1" anchor="ctr" anchorCtr="0" compatLnSpc="1">
            <a:prstTxWarp prst="textNoShape">
              <a:avLst/>
            </a:prstTxWarp>
          </a:bodyPr>
          <a:lstStyle>
            <a:lvl1pPr marL="53461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1pPr>
            <a:lvl2pPr marL="847131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2pPr>
            <a:lvl3pPr marL="1159643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3pPr>
            <a:lvl4pPr marL="1472155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4pPr>
            <a:lvl5pPr marL="1784667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5pPr>
            <a:lvl6pPr marL="2106108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6pPr>
            <a:lvl7pPr marL="242754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7pPr>
            <a:lvl8pPr marL="274899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8pPr>
            <a:lvl9pPr marL="307043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9pPr>
          </a:lstStyle>
          <a:p>
            <a:pPr marL="624832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當進入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while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迴圈的時候，會先判斷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status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是否等於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，等於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才表示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有讀到整數資料。在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語言裡判斷兩個數是否相等要用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==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符號，也就是兩個等號連在一起。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</a:p>
        </p:txBody>
      </p:sp>
      <p:sp>
        <p:nvSpPr>
          <p:cNvPr id="8" name="Rectangle 1"/>
          <p:cNvSpPr txBox="1">
            <a:spLocks noChangeArrowheads="1"/>
          </p:cNvSpPr>
          <p:nvPr/>
        </p:nvSpPr>
        <p:spPr bwMode="auto">
          <a:xfrm>
            <a:off x="2697535" y="4869160"/>
            <a:ext cx="6480720" cy="1988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7" tIns="35707" rIns="35707" bIns="35707" numCol="1" anchor="ctr" anchorCtr="0" compatLnSpc="1">
            <a:prstTxWarp prst="textNoShape">
              <a:avLst/>
            </a:prstTxWarp>
          </a:bodyPr>
          <a:lstStyle>
            <a:lvl1pPr marL="53461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1pPr>
            <a:lvl2pPr marL="847131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2pPr>
            <a:lvl3pPr marL="1159643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3pPr>
            <a:lvl4pPr marL="1472155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4pPr>
            <a:lvl5pPr marL="1784667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5pPr>
            <a:lvl6pPr marL="2106108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6pPr>
            <a:lvl7pPr marL="2427549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7pPr>
            <a:lvl8pPr marL="274899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8pPr>
            <a:lvl9pPr marL="3070430" indent="-347112" algn="l" rtl="0" fontAlgn="base">
              <a:spcBef>
                <a:spcPts val="2672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9pPr>
          </a:lstStyle>
          <a:p>
            <a:pPr marL="624832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注意！千萬不要錯用成一個等號，因為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=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的意義是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i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assignment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，也就是設定變數值，</a:t>
            </a:r>
            <a:r>
              <a:rPr kumimoji="0" lang="zh-TW" altLang="en-US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剛開始學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 </a:t>
            </a:r>
            <a:r>
              <a:rPr kumimoji="0" lang="zh-TW" altLang="en-US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語言最常犯的錯誤之一就是把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==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寫成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=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，大多數時候如果有這樣的誤用，程式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compile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還是會通過，而且也可以執行，但是意義完全不同，所以得到的結果會是錯的。</a:t>
            </a:r>
            <a:endParaRPr kumimoji="0" lang="zh-TW" altLang="en-US" sz="2000" kern="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790" y="3917"/>
            <a:ext cx="844035" cy="32873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4852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27588" y="1556792"/>
            <a:ext cx="7358063" cy="5400600"/>
          </a:xfrm>
        </p:spPr>
        <p:txBody>
          <a:bodyPr anchor="t"/>
          <a:lstStyle/>
          <a:p>
            <a:pPr marL="624800"/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&amp;&amp;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與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&amp;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、││與│的差別？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邏輯運算子：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&amp;&amp;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、││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937216" lvl="1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運算結果只會有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1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跟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0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兩種情況，做為判斷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True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or 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False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937216" lvl="1">
              <a:lnSpc>
                <a:spcPts val="3000"/>
              </a:lnSpc>
              <a:spcAft>
                <a:spcPts val="0"/>
              </a:spcAft>
            </a:pP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例如：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while(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i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&gt; 10 &amp;&amp;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i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&lt; 20)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，這是當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10&lt;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i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&lt;20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的時候會繼續執行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while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迴圈，反之則跳出迴圈。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位元運算子：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&amp;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、│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937216" lvl="1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位元運算則是將運算子兩邊的運算元的每個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bit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做運算。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937216" lvl="1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例如：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a = 7 &amp; 2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，則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a = 2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359925" lvl="1" indent="0">
              <a:lnSpc>
                <a:spcPts val="3000"/>
              </a:lnSpc>
              <a:buNone/>
            </a:pPr>
            <a:r>
              <a:rPr kumimoji="0" lang="zh-TW" altLang="en-US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邏輯運算子大部份應用在需要做判斷的情況，例如迴圈的判斷，而位元運算子則大部份做為一般的計算。更多的應用將會往後的例子中提到。</a:t>
            </a:r>
            <a:endParaRPr kumimoji="0" lang="en-US" altLang="zh-TW" sz="2000" b="1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92977" y="276829"/>
            <a:ext cx="7358063" cy="1160859"/>
          </a:xfrm>
        </p:spPr>
        <p:txBody>
          <a:bodyPr/>
          <a:lstStyle/>
          <a:p>
            <a:pPr>
              <a:defRPr/>
            </a:pPr>
            <a:r>
              <a:rPr kumimoji="0"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Gill Sans" charset="0"/>
              </a:rPr>
              <a:t>邏輯運算跟位元運算</a:t>
            </a:r>
            <a:endParaRPr kumimoji="0"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Gill Sans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3995937" y="4077072"/>
            <a:ext cx="5044768" cy="3736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none" lIns="91421" tIns="45711" rIns="91421" bIns="45711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注意不要將位元運算的</a:t>
            </a:r>
            <a:r>
              <a:rPr lang="en-US" altLang="zh-TW" dirty="0" smtClean="0">
                <a:solidFill>
                  <a:srgbClr val="FF0000"/>
                </a:solidFill>
              </a:rPr>
              <a:t>&amp;</a:t>
            </a:r>
            <a:r>
              <a:rPr lang="zh-TW" altLang="en-US" dirty="0" smtClean="0">
                <a:solidFill>
                  <a:srgbClr val="FF0000"/>
                </a:solidFill>
              </a:rPr>
              <a:t>與</a:t>
            </a:r>
            <a:r>
              <a:rPr lang="en-US" altLang="zh-TW" dirty="0" err="1" smtClean="0">
                <a:solidFill>
                  <a:srgbClr val="FF0000"/>
                </a:solidFill>
              </a:rPr>
              <a:t>scanf</a:t>
            </a:r>
            <a:r>
              <a:rPr lang="zh-TW" altLang="en-US" dirty="0" smtClean="0">
                <a:solidFill>
                  <a:srgbClr val="FF0000"/>
                </a:solidFill>
              </a:rPr>
              <a:t>用到的</a:t>
            </a:r>
            <a:r>
              <a:rPr lang="en-US" altLang="zh-TW" dirty="0" smtClean="0">
                <a:solidFill>
                  <a:srgbClr val="FF0000"/>
                </a:solidFill>
              </a:rPr>
              <a:t>&amp;</a:t>
            </a:r>
            <a:r>
              <a:rPr lang="zh-TW" altLang="en-US" dirty="0" smtClean="0">
                <a:solidFill>
                  <a:srgbClr val="FF0000"/>
                </a:solidFill>
              </a:rPr>
              <a:t>搞混</a:t>
            </a:r>
            <a:r>
              <a:rPr lang="zh-TW" altLang="en-US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722009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92977" y="276829"/>
            <a:ext cx="7358063" cy="1160859"/>
          </a:xfrm>
        </p:spPr>
        <p:txBody>
          <a:bodyPr/>
          <a:lstStyle/>
          <a:p>
            <a:pPr>
              <a:defRPr/>
            </a:pPr>
            <a:r>
              <a:rPr kumimoji="0"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Gill Sans" charset="0"/>
              </a:rPr>
              <a:t>C-style loop</a:t>
            </a:r>
          </a:p>
        </p:txBody>
      </p:sp>
      <p:sp>
        <p:nvSpPr>
          <p:cNvPr id="20483" name="Rectangle 3"/>
          <p:cNvSpPr>
            <a:spLocks/>
          </p:cNvSpPr>
          <p:nvPr/>
        </p:nvSpPr>
        <p:spPr bwMode="auto">
          <a:xfrm>
            <a:off x="1535908" y="1975856"/>
            <a:ext cx="4970561" cy="168796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status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(status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urier" pitchFamily="-84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sum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sum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"Please enter next integer (q to quit): "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status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}</a:t>
            </a:r>
          </a:p>
        </p:txBody>
      </p:sp>
      <p:sp>
        <p:nvSpPr>
          <p:cNvPr id="20484" name="Rectangle 4"/>
          <p:cNvSpPr>
            <a:spLocks/>
          </p:cNvSpPr>
          <p:nvPr/>
        </p:nvSpPr>
        <p:spPr bwMode="auto">
          <a:xfrm>
            <a:off x="1619674" y="4068416"/>
            <a:ext cx="4970561" cy="11253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(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"%</a:t>
            </a:r>
            <a:r>
              <a:rPr lang="en-US" altLang="zh-TW" dirty="0" err="1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ld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urier" pitchFamily="-84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 {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sum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sum </a:t>
            </a: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"Please enter next integer (q to quit): "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}</a:t>
            </a:r>
          </a:p>
        </p:txBody>
      </p:sp>
      <p:sp>
        <p:nvSpPr>
          <p:cNvPr id="2048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9596" y="1620269"/>
            <a:ext cx="7502079" cy="4833069"/>
          </a:xfrm>
        </p:spPr>
        <p:txBody>
          <a:bodyPr/>
          <a:lstStyle/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前面範例的迴圈，在寫法上通常會被簡化。譬如，原來是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會習慣寫成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這樣的寫法可以省去變數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status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。這樣的用法等於一次做兩個動作，先利用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讀入資料，同時判斷回傳值是否等於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。熟練之後，這樣的寫法會蠻簡潔方便。如果還不熟練，寫的時候就要稍微小心不要造成迴圈停不下來。</a:t>
            </a:r>
          </a:p>
        </p:txBody>
      </p:sp>
    </p:spTree>
    <p:extLst>
      <p:ext uri="{BB962C8B-B14F-4D97-AF65-F5344CB8AC3E}">
        <p14:creationId xmlns:p14="http://schemas.microsoft.com/office/powerpoint/2010/main" val="284301845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77" y="285751"/>
            <a:ext cx="7358063" cy="1009055"/>
          </a:xfrm>
        </p:spPr>
        <p:txBody>
          <a:bodyPr/>
          <a:lstStyle/>
          <a:p>
            <a:pPr>
              <a:defRPr/>
            </a:pPr>
            <a:r>
              <a:rPr kumimoji="0" lang="zh-TW" altLang="en-US" dirty="0" smtClean="0">
                <a:latin typeface="微軟正黑體" pitchFamily="34" charset="-120"/>
                <a:ea typeface="微軟正黑體" pitchFamily="34" charset="-120"/>
                <a:sym typeface="Gill Sans" charset="0"/>
              </a:rPr>
              <a:t>注意停止條件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2977" y="1384102"/>
            <a:ext cx="7358063" cy="513457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624800"/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使用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while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迴圈要注意停止條件，看看底下這個錯誤示範</a:t>
            </a:r>
            <a:endParaRPr kumimoji="0" lang="en-US" altLang="zh-TW" sz="2000" dirty="0">
              <a:solidFill>
                <a:srgbClr val="000000"/>
              </a:solidFill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solidFill>
                <a:srgbClr val="000000"/>
              </a:solidFill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solidFill>
                <a:srgbClr val="000000"/>
              </a:solidFill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執行這個程式會發生什麼事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? </a:t>
            </a:r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迴圈裡面完全沒有更改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i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的值，所以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i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&lt; 5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的條件會一直成立，迴圈無法停下來，只能用暴力手段把程式停掉。而如果程式改成</a:t>
            </a:r>
            <a:endParaRPr kumimoji="0" lang="en-US" altLang="zh-TW" sz="2000" dirty="0">
              <a:solidFill>
                <a:srgbClr val="000000"/>
              </a:solidFill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solidFill>
                <a:srgbClr val="000000"/>
              </a:solidFill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solidFill>
                <a:srgbClr val="000000"/>
              </a:solidFill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程式還是錯的，但是有可能會自己停止。當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i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</a:t>
            </a:r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不斷遞減變成絕對值越來越大的負數，到了極限之後反而變成絕對值最大的正數，等於繞了一圈循環回來，所以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i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</a:t>
            </a:r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的值就比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5</a:t>
            </a:r>
            <a:r>
              <a:rPr kumimoji="0" lang="en-US" altLang="zh-TW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大，迴圈就停止了。下頁的程式碼可以看出循環的現象。</a:t>
            </a:r>
          </a:p>
        </p:txBody>
      </p:sp>
      <p:sp>
        <p:nvSpPr>
          <p:cNvPr id="21507" name="Rectangle 3"/>
          <p:cNvSpPr>
            <a:spLocks/>
          </p:cNvSpPr>
          <p:nvPr/>
        </p:nvSpPr>
        <p:spPr bwMode="auto">
          <a:xfrm>
            <a:off x="1535906" y="1816949"/>
            <a:ext cx="2786019" cy="110799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5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"Hello!\n"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21508" name="Rectangle 4"/>
          <p:cNvSpPr>
            <a:spLocks/>
          </p:cNvSpPr>
          <p:nvPr/>
        </p:nvSpPr>
        <p:spPr bwMode="auto">
          <a:xfrm>
            <a:off x="1533675" y="4049196"/>
            <a:ext cx="2786019" cy="110799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--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5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"Hello!\n"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375684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77" y="285751"/>
            <a:ext cx="7358063" cy="1009055"/>
          </a:xfrm>
        </p:spPr>
        <p:txBody>
          <a:bodyPr/>
          <a:lstStyle/>
          <a:p>
            <a:pPr>
              <a:defRPr/>
            </a:pPr>
            <a:r>
              <a:rPr kumimoji="0" lang="zh-TW" altLang="en-US" dirty="0" smtClean="0">
                <a:latin typeface="微軟正黑體" pitchFamily="34" charset="-120"/>
                <a:ea typeface="微軟正黑體" pitchFamily="34" charset="-120"/>
                <a:sym typeface="Gill Sans" charset="0"/>
              </a:rPr>
              <a:t>注意停止條件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44711" y="1384102"/>
            <a:ext cx="8045648" cy="5134570"/>
          </a:xfrm>
        </p:spPr>
        <p:txBody>
          <a:bodyPr anchor="t"/>
          <a:lstStyle/>
          <a:p>
            <a:pPr marL="223122" indent="0">
              <a:buNone/>
            </a:pPr>
            <a:endParaRPr kumimoji="0" lang="en-US" altLang="zh-TW" sz="1700" dirty="0">
              <a:latin typeface="Helvetica" pitchFamily="-84" charset="0"/>
              <a:sym typeface="Helvetica" pitchFamily="-84" charset="0"/>
            </a:endParaRPr>
          </a:p>
          <a:p>
            <a:pPr marL="223122" indent="0">
              <a:buNone/>
            </a:pPr>
            <a:endParaRPr kumimoji="0" lang="en-US" altLang="zh-TW" sz="1700" dirty="0">
              <a:latin typeface="Helvetica" pitchFamily="-84" charset="0"/>
              <a:sym typeface="Helvetica" pitchFamily="-84" charset="0"/>
            </a:endParaRPr>
          </a:p>
          <a:p>
            <a:pPr marL="223122" indent="0">
              <a:buNone/>
            </a:pPr>
            <a:endParaRPr kumimoji="0" lang="en-US" altLang="zh-TW" sz="17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17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17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17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17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1700" dirty="0">
              <a:latin typeface="Helvetica" pitchFamily="-84" charset="0"/>
              <a:sym typeface="Helvetica" pitchFamily="-84" charset="0"/>
            </a:endParaRPr>
          </a:p>
          <a:p>
            <a:pPr marL="624800"/>
            <a:r>
              <a:rPr kumimoji="0"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上面的三個範例可看出循環的現象。</a:t>
            </a:r>
            <a:endParaRPr kumimoji="0" lang="en-US" altLang="zh-TW" sz="2400" dirty="0" smtClean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由於</a:t>
            </a:r>
            <a:r>
              <a:rPr kumimoji="0" lang="en-US" altLang="zh-TW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char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型別只佔一個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byte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所以可以比較快停下來。如果換成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int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就要跑比較久</a:t>
            </a:r>
            <a:r>
              <a:rPr kumimoji="0" lang="zh-TW" altLang="en-US" sz="17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</a:p>
        </p:txBody>
      </p:sp>
      <p:sp>
        <p:nvSpPr>
          <p:cNvPr id="22531" name="Rectangle 3"/>
          <p:cNvSpPr>
            <a:spLocks/>
          </p:cNvSpPr>
          <p:nvPr/>
        </p:nvSpPr>
        <p:spPr bwMode="auto">
          <a:xfrm>
            <a:off x="35496" y="2141191"/>
            <a:ext cx="3050989" cy="2462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sz="16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--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22532" name="Rectangle 4"/>
          <p:cNvSpPr>
            <a:spLocks/>
          </p:cNvSpPr>
          <p:nvPr/>
        </p:nvSpPr>
        <p:spPr bwMode="auto">
          <a:xfrm>
            <a:off x="3131840" y="2141191"/>
            <a:ext cx="2925676" cy="2462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sz="16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22533" name="Rectangle 5"/>
          <p:cNvSpPr>
            <a:spLocks/>
          </p:cNvSpPr>
          <p:nvPr/>
        </p:nvSpPr>
        <p:spPr bwMode="auto">
          <a:xfrm>
            <a:off x="6156176" y="2139821"/>
            <a:ext cx="2915815" cy="2462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sz="16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unsigned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63079" y="1778773"/>
            <a:ext cx="844035" cy="32873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2-2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31840" y="1778773"/>
            <a:ext cx="844035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2-3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56176" y="1778773"/>
            <a:ext cx="844035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2-4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35273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323528" y="4365104"/>
            <a:ext cx="8640960" cy="2348880"/>
          </a:xfrm>
        </p:spPr>
        <p:txBody>
          <a:bodyPr anchor="t"/>
          <a:lstStyle/>
          <a:p>
            <a:pPr marL="624800"/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我們來看看如果是上面的範例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(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把範例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2-1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更改了一個小地方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)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，執行結果會如何。</a:t>
            </a:r>
            <a:endParaRPr kumimoji="0" lang="en-US" altLang="zh-TW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當我們輸入整數時，程式看起來還正常，但是當我們輸入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‘q’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則程式就掉進了無止境的迴圈，自己不停的印出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printf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裡的資訊。</a:t>
            </a:r>
            <a:endParaRPr kumimoji="0" lang="en-US" altLang="zh-TW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</p:txBody>
      </p:sp>
      <p:sp>
        <p:nvSpPr>
          <p:cNvPr id="5" name="Rectangle 2"/>
          <p:cNvSpPr>
            <a:spLocks/>
          </p:cNvSpPr>
          <p:nvPr/>
        </p:nvSpPr>
        <p:spPr bwMode="auto">
          <a:xfrm>
            <a:off x="632892" y="44624"/>
            <a:ext cx="8331596" cy="387798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b="1" dirty="0">
                <a:solidFill>
                  <a:srgbClr val="878787"/>
                </a:solidFill>
                <a:latin typeface="Courier" pitchFamily="-84" charset="0"/>
                <a:sym typeface="Courier" pitchFamily="-84" charset="0"/>
              </a:rPr>
              <a:t>#include &lt;</a:t>
            </a:r>
            <a:r>
              <a:rPr lang="en-US" altLang="zh-TW" sz="1400" b="1" dirty="0" err="1">
                <a:solidFill>
                  <a:srgbClr val="878787"/>
                </a:solidFill>
                <a:latin typeface="Courier" pitchFamily="-84" charset="0"/>
                <a:sym typeface="Courier" pitchFamily="-84" charset="0"/>
              </a:rPr>
              <a:t>stdio.h</a:t>
            </a:r>
            <a:r>
              <a:rPr lang="en-US" altLang="zh-TW" sz="1400" b="1" dirty="0">
                <a:solidFill>
                  <a:srgbClr val="878787"/>
                </a:solidFill>
                <a:latin typeface="Courier" pitchFamily="-84" charset="0"/>
                <a:sym typeface="Courier" pitchFamily="-84" charset="0"/>
              </a:rPr>
              <a:t>&gt;</a:t>
            </a:r>
            <a:endParaRPr lang="en-US" altLang="zh-TW" sz="1400" dirty="0">
              <a:solidFill>
                <a:srgbClr val="000000"/>
              </a:solidFill>
              <a:latin typeface="Courier" pitchFamily="-84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b="1" dirty="0" err="1">
                <a:solidFill>
                  <a:srgbClr val="334076"/>
                </a:solidFill>
                <a:latin typeface="Courier" pitchFamily="-84" charset="0"/>
                <a:sym typeface="Courier" pitchFamily="-84" charset="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sz="1400" b="1" dirty="0">
                <a:solidFill>
                  <a:srgbClr val="870000"/>
                </a:solidFill>
                <a:latin typeface="Courier" pitchFamily="-84" charset="0"/>
                <a:sym typeface="Courier" pitchFamily="-84" charset="0"/>
              </a:rPr>
              <a:t>main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sz="1400" b="1" dirty="0">
                <a:solidFill>
                  <a:srgbClr val="334076"/>
                </a:solidFill>
                <a:latin typeface="Courier" pitchFamily="-84" charset="0"/>
                <a:sym typeface="Courier" pitchFamily="-84" charset="0"/>
              </a:rPr>
              <a:t>void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sz="1400" b="1" dirty="0">
                <a:solidFill>
                  <a:srgbClr val="334076"/>
                </a:solidFill>
                <a:latin typeface="Courier" pitchFamily="-84" charset="0"/>
                <a:sym typeface="Courier" pitchFamily="-84" charset="0"/>
              </a:rPr>
              <a:t>long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sz="1400" b="1" dirty="0">
                <a:solidFill>
                  <a:srgbClr val="334076"/>
                </a:solidFill>
                <a:latin typeface="Courier" pitchFamily="-84" charset="0"/>
                <a:sym typeface="Courier" pitchFamily="-84" charset="0"/>
              </a:rPr>
              <a:t>long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sum 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sz="1400" dirty="0">
                <a:solidFill>
                  <a:srgbClr val="008887"/>
                </a:solidFill>
                <a:latin typeface="Courier" pitchFamily="-84" charset="0"/>
                <a:sym typeface="Courier" pitchFamily="-84" charset="0"/>
              </a:rPr>
              <a:t>0L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sz="1400" b="1" dirty="0" err="1">
                <a:solidFill>
                  <a:srgbClr val="334076"/>
                </a:solidFill>
                <a:latin typeface="Courier" pitchFamily="-84" charset="0"/>
                <a:sym typeface="Courier" pitchFamily="-84" charset="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status;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sz="1400" dirty="0">
              <a:solidFill>
                <a:srgbClr val="000000"/>
              </a:solidFill>
              <a:latin typeface="Courier" pitchFamily="-84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"Please enter an integer to be summed "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"(q to quit): "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status 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scanf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"%</a:t>
            </a:r>
            <a:r>
              <a:rPr lang="en-US" altLang="zh-TW" sz="1400" dirty="0" err="1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ld</a:t>
            </a:r>
            <a:r>
              <a:rPr lang="en-US" altLang="zh-TW" sz="1400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, 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&amp;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 </a:t>
            </a:r>
            <a:r>
              <a:rPr lang="en-US" altLang="zh-TW" sz="1400" i="1" dirty="0">
                <a:solidFill>
                  <a:srgbClr val="878874"/>
                </a:solidFill>
                <a:latin typeface="Courier" pitchFamily="-84" charset="0"/>
                <a:sym typeface="Courier" pitchFamily="-84" charset="0"/>
              </a:rPr>
              <a:t>/* %</a:t>
            </a:r>
            <a:r>
              <a:rPr lang="en-US" altLang="zh-TW" sz="1400" i="1" dirty="0" err="1">
                <a:solidFill>
                  <a:srgbClr val="878874"/>
                </a:solidFill>
                <a:latin typeface="Courier" pitchFamily="-84" charset="0"/>
                <a:sym typeface="Courier" pitchFamily="-84" charset="0"/>
              </a:rPr>
              <a:t>ld</a:t>
            </a:r>
            <a:r>
              <a:rPr lang="en-US" altLang="zh-TW" sz="1400" i="1" dirty="0">
                <a:solidFill>
                  <a:srgbClr val="878874"/>
                </a:solidFill>
                <a:latin typeface="Courier" pitchFamily="-84" charset="0"/>
                <a:sym typeface="Courier" pitchFamily="-84" charset="0"/>
              </a:rPr>
              <a:t> for long, status is the return value */</a:t>
            </a:r>
            <a:endParaRPr lang="en-US" altLang="zh-TW" sz="1400" dirty="0">
              <a:solidFill>
                <a:srgbClr val="000000"/>
              </a:solidFill>
              <a:latin typeface="Courier" pitchFamily="-84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while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(status 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sz="1400" dirty="0">
                <a:solidFill>
                  <a:srgbClr val="008887"/>
                </a:solidFill>
                <a:latin typeface="Courier" pitchFamily="-84" charset="0"/>
                <a:sym typeface="Courier" pitchFamily="-84" charset="0"/>
              </a:rPr>
              <a:t>1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 {        </a:t>
            </a:r>
            <a:r>
              <a:rPr lang="en-US" altLang="zh-TW" sz="1400" i="1" dirty="0">
                <a:solidFill>
                  <a:srgbClr val="878874"/>
                </a:solidFill>
                <a:latin typeface="Courier" pitchFamily="-84" charset="0"/>
                <a:sym typeface="Courier" pitchFamily="-84" charset="0"/>
              </a:rPr>
              <a:t>/* == means "is equal to" */</a:t>
            </a:r>
            <a:endParaRPr lang="en-US" altLang="zh-TW" sz="1400" dirty="0">
              <a:solidFill>
                <a:srgbClr val="000000"/>
              </a:solidFill>
              <a:latin typeface="Courier" pitchFamily="-84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  sum 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sum 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+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  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"Please enter next integer (q to quit): "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  status 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scanf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"%</a:t>
            </a:r>
            <a:r>
              <a:rPr lang="en-US" altLang="zh-TW" sz="1400" dirty="0" err="1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ld</a:t>
            </a:r>
            <a:r>
              <a:rPr lang="en-US" altLang="zh-TW" sz="1400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, 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&amp;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num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sz="1400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"Those integers sum to %ld.\n"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, sum);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sz="1400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return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lang="en-US" altLang="zh-TW" sz="1400" dirty="0">
                <a:solidFill>
                  <a:srgbClr val="008887"/>
                </a:solidFill>
                <a:latin typeface="Courier" pitchFamily="-84" charset="0"/>
                <a:sym typeface="Courier" pitchFamily="-84" charset="0"/>
              </a:rPr>
              <a:t>0</a:t>
            </a: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}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366192" y="2276872"/>
            <a:ext cx="5334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83139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-180528" y="3933056"/>
            <a:ext cx="9145016" cy="2924944"/>
          </a:xfrm>
        </p:spPr>
        <p:txBody>
          <a:bodyPr anchor="t"/>
          <a:lstStyle/>
          <a:p>
            <a:pPr marL="624800">
              <a:spcBef>
                <a:spcPts val="1200"/>
              </a:spcBef>
            </a:pP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這個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while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迴圈跟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while(1)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沒兩樣，會不斷要求輸入整數。當你在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的地方輸入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‘q’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的時候，雖然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會回傳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給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status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，但是到了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while (status = 1)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的地方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status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又被設成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1200"/>
              </a:spcBef>
            </a:pP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而為什麼程式會開始不再等待使用者輸入一直做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printf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，這就和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有關。當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讀不到要讀的東西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(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此範例為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long)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它會把讀到但格式不符的資料丟回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buffer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，暫時保留在那裡下次再處理。所以下次再呼叫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的時候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‘q’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依舊在那裡，而依舊回傳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ourier New" pitchFamily="49" charset="0"/>
                <a:sym typeface="Courier New" pitchFamily="49" charset="0"/>
              </a:rPr>
              <a:t>0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1200"/>
              </a:spcBef>
            </a:pP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總之，在寫停止條件時要特別小心，尤其是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==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=</a:t>
            </a:r>
            <a:r>
              <a:rPr kumimoji="0"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不要錯用。</a:t>
            </a: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</p:txBody>
      </p:sp>
      <p:sp>
        <p:nvSpPr>
          <p:cNvPr id="28674" name="Rectangle 2"/>
          <p:cNvSpPr>
            <a:spLocks/>
          </p:cNvSpPr>
          <p:nvPr/>
        </p:nvSpPr>
        <p:spPr bwMode="auto">
          <a:xfrm>
            <a:off x="632892" y="44624"/>
            <a:ext cx="8331596" cy="387798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#include &lt;</a:t>
            </a:r>
            <a:r>
              <a:rPr lang="en-US" altLang="zh-TW" sz="14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14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4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4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4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long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4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long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sum 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4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0L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4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status;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an integer to be summed "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"(q to quit): "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status 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sz="1400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sz="14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 </a:t>
            </a:r>
            <a:r>
              <a:rPr lang="en-US" altLang="zh-TW" sz="1400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%</a:t>
            </a:r>
            <a:r>
              <a:rPr lang="en-US" altLang="zh-TW" sz="1400" i="1" dirty="0" err="1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sz="1400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for long, status is the return value */</a:t>
            </a:r>
            <a:endParaRPr lang="en-US" altLang="zh-TW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(status 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4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       </a:t>
            </a:r>
            <a:r>
              <a:rPr lang="en-US" altLang="zh-TW" sz="1400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== means "is equal to" */</a:t>
            </a:r>
            <a:endParaRPr lang="en-US" altLang="zh-TW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sum 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sum 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next integer (q to quit): "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status 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sz="1400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ld</a:t>
            </a:r>
            <a:r>
              <a:rPr lang="en-US" altLang="zh-TW" sz="14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4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"Those integers sum to %ld.\n"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sum);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4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 flipH="1">
            <a:off x="366192" y="2276872"/>
            <a:ext cx="533400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17162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6234" y="290215"/>
            <a:ext cx="7358063" cy="1147465"/>
          </a:xfrm>
        </p:spPr>
        <p:txBody>
          <a:bodyPr/>
          <a:lstStyle/>
          <a:p>
            <a:pPr>
              <a:defRPr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  <a:sym typeface="Gill Sans" charset="0"/>
              </a:rPr>
              <a:t>註：變數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  <a:sym typeface="Gill Sans" charset="0"/>
              </a:rPr>
              <a:t>size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  <a:sym typeface="Gill Sans" charset="0"/>
              </a:rPr>
              <a:t>大小</a:t>
            </a:r>
            <a:endParaRPr lang="zh-TW" altLang="en-US" dirty="0">
              <a:latin typeface="微軟正黑體" pitchFamily="34" charset="-120"/>
              <a:ea typeface="微軟正黑體" pitchFamily="34" charset="-120"/>
              <a:sym typeface="Gill Sans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999836"/>
              </p:ext>
            </p:extLst>
          </p:nvPr>
        </p:nvGraphicFramePr>
        <p:xfrm>
          <a:off x="892977" y="1484784"/>
          <a:ext cx="7358063" cy="4850159"/>
        </p:xfrm>
        <a:graphic>
          <a:graphicData uri="http://schemas.openxmlformats.org/drawingml/2006/table">
            <a:tbl>
              <a:tblPr/>
              <a:tblGrid>
                <a:gridCol w="2008064"/>
                <a:gridCol w="5349999"/>
              </a:tblGrid>
              <a:tr h="582662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char</a:t>
                      </a:r>
                      <a:endParaRPr kumimoji="0" lang="zh-TW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8</a:t>
                      </a:r>
                      <a:r>
                        <a:rPr kumimoji="0" lang="zh-TW" altLang="en-US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bit</a:t>
                      </a:r>
                      <a:r>
                        <a:rPr kumimoji="0" lang="zh-TW" altLang="en-US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=</a:t>
                      </a:r>
                      <a:r>
                        <a:rPr kumimoji="0" lang="zh-TW" altLang="en-US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1</a:t>
                      </a:r>
                      <a:r>
                        <a:rPr kumimoji="0" lang="zh-TW" altLang="en-US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byte</a:t>
                      </a:r>
                      <a:endParaRPr kumimoji="0" lang="zh-TW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82662">
                <a:tc rowSpan="3"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int</a:t>
                      </a:r>
                      <a:endParaRPr kumimoji="0" lang="zh-TW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16 bit in 16-bit OS</a:t>
                      </a:r>
                      <a:endParaRPr kumimoji="0" lang="zh-TW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8266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32 bit in 32-bit OS</a:t>
                      </a:r>
                      <a:endParaRPr kumimoji="0" lang="zh-TW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8266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32 bit in 64-bit OS</a:t>
                      </a:r>
                      <a:endParaRPr kumimoji="0" lang="zh-TW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771525">
                <a:tc rowSpan="2"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long</a:t>
                      </a:r>
                      <a:endParaRPr kumimoji="0" lang="zh-TW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32 bit in 32-bit OS</a:t>
                      </a:r>
                      <a:b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</a:b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32</a:t>
                      </a:r>
                      <a:r>
                        <a:rPr kumimoji="0" lang="zh-TW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bit</a:t>
                      </a:r>
                      <a:r>
                        <a:rPr kumimoji="0" lang="zh-TW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in</a:t>
                      </a:r>
                      <a:r>
                        <a:rPr kumimoji="0" lang="zh-TW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64-bit</a:t>
                      </a:r>
                      <a:r>
                        <a:rPr kumimoji="0" lang="zh-TW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Windows</a:t>
                      </a:r>
                      <a:r>
                        <a:rPr kumimoji="0" lang="zh-TW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and</a:t>
                      </a:r>
                      <a:r>
                        <a:rPr kumimoji="0" lang="zh-TW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Mac</a:t>
                      </a:r>
                      <a:r>
                        <a:rPr kumimoji="0" lang="zh-TW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 </a:t>
                      </a: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8266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64 bit in 64-bit Linux</a:t>
                      </a:r>
                      <a:endParaRPr kumimoji="0" lang="zh-TW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82662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long long</a:t>
                      </a:r>
                      <a:endParaRPr kumimoji="0" lang="zh-TW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64 bit</a:t>
                      </a:r>
                      <a:endParaRPr kumimoji="0" lang="zh-TW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82662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short </a:t>
                      </a:r>
                      <a:endParaRPr kumimoji="0" lang="zh-TW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Heiti TC Light" pitchFamily="-84" charset="-120"/>
                          <a:cs typeface="Arial" pitchFamily="34" charset="0"/>
                          <a:sym typeface="Gill Sans" pitchFamily="-84" charset="0"/>
                        </a:rPr>
                        <a:t>16 bit in 32-bit OS</a:t>
                      </a:r>
                      <a:endParaRPr kumimoji="0" lang="zh-TW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Heiti TC Light" pitchFamily="-84" charset="-120"/>
                        <a:cs typeface="Arial" pitchFamily="34" charset="0"/>
                        <a:sym typeface="Gill Sans" pitchFamily="-84" charset="0"/>
                      </a:endParaRPr>
                    </a:p>
                  </a:txBody>
                  <a:tcPr marL="64294" marR="64294" marT="32147" marB="3214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691680" y="6412687"/>
            <a:ext cx="5634876" cy="400110"/>
          </a:xfrm>
          <a:prstGeom prst="rect">
            <a:avLst/>
          </a:prstGeom>
          <a:noFill/>
        </p:spPr>
        <p:txBody>
          <a:bodyPr wrap="none" lIns="91421" tIns="45711" rIns="91421" bIns="45711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compiler(</a:t>
            </a:r>
            <a:r>
              <a:rPr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編譯器</a:t>
            </a:r>
            <a:r>
              <a:rPr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也會決定</a:t>
            </a:r>
            <a:r>
              <a:rPr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type(</a:t>
            </a:r>
            <a:r>
              <a:rPr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型別</a:t>
            </a:r>
            <a:r>
              <a:rPr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size</a:t>
            </a:r>
            <a:r>
              <a:rPr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大小</a:t>
            </a:r>
          </a:p>
        </p:txBody>
      </p:sp>
    </p:spTree>
    <p:extLst>
      <p:ext uri="{BB962C8B-B14F-4D97-AF65-F5344CB8AC3E}">
        <p14:creationId xmlns:p14="http://schemas.microsoft.com/office/powerpoint/2010/main" val="67762915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0" lang="zh-TW" altLang="en-US" dirty="0" smtClean="0">
                <a:latin typeface="微軟正黑體" pitchFamily="34" charset="-120"/>
                <a:ea typeface="微軟正黑體" pitchFamily="34" charset="-120"/>
                <a:sym typeface="Gill Sans" charset="0"/>
              </a:rPr>
              <a:t>迴圈何時停止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2977" y="5011266"/>
            <a:ext cx="7358063" cy="1874118"/>
          </a:xfrm>
        </p:spPr>
        <p:txBody>
          <a:bodyPr anchor="t"/>
          <a:lstStyle/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當程式第二次執行到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n++;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之後，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的值變成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3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，雖然已經不再滿足迴圈預期的條件，但是迴圈並不會在這個時候立刻停止，要等到執行完接下來的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printf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("Now n = %d\n", n);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然後回到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while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的開頭，再次判斷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(n &lt; 3)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時，條件不成立，才會整個跳出被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{ }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所包含的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while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區域。</a:t>
            </a:r>
          </a:p>
        </p:txBody>
      </p:sp>
      <p:sp>
        <p:nvSpPr>
          <p:cNvPr id="23555" name="Rectangle 3"/>
          <p:cNvSpPr>
            <a:spLocks/>
          </p:cNvSpPr>
          <p:nvPr/>
        </p:nvSpPr>
        <p:spPr bwMode="auto">
          <a:xfrm>
            <a:off x="830461" y="1689189"/>
            <a:ext cx="4812215" cy="332398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n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(n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3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"n = %d\n"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n);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n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"Now n = %d\n"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n);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"The loop has finished.\n"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23556" name="Text Box 8"/>
          <p:cNvSpPr txBox="1">
            <a:spLocks noChangeArrowheads="1"/>
          </p:cNvSpPr>
          <p:nvPr/>
        </p:nvSpPr>
        <p:spPr bwMode="auto">
          <a:xfrm>
            <a:off x="5508104" y="1844824"/>
            <a:ext cx="3515352" cy="1603789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000" b="1" dirty="0">
                <a:latin typeface="Courier New" pitchFamily="49" charset="0"/>
                <a:ea typeface="微軟正黑體" pitchFamily="34" charset="-120"/>
              </a:rPr>
              <a:t>n = 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000" b="1" dirty="0">
                <a:latin typeface="Courier New" pitchFamily="49" charset="0"/>
                <a:ea typeface="微軟正黑體" pitchFamily="34" charset="-120"/>
              </a:rPr>
              <a:t>Now n = 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000" b="1" dirty="0">
                <a:latin typeface="Courier New" pitchFamily="49" charset="0"/>
                <a:ea typeface="微軟正黑體" pitchFamily="34" charset="-120"/>
              </a:rPr>
              <a:t>n = 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000" b="1" dirty="0">
                <a:latin typeface="Courier New" pitchFamily="49" charset="0"/>
                <a:ea typeface="微軟正黑體" pitchFamily="34" charset="-120"/>
              </a:rPr>
              <a:t>Now n =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000" b="1" dirty="0">
                <a:latin typeface="Courier New" pitchFamily="49" charset="0"/>
                <a:ea typeface="微軟正黑體" pitchFamily="34" charset="-120"/>
              </a:rPr>
              <a:t>The loop has finished.</a:t>
            </a:r>
          </a:p>
        </p:txBody>
      </p:sp>
      <p:sp>
        <p:nvSpPr>
          <p:cNvPr id="23557" name="Text Box 9"/>
          <p:cNvSpPr txBox="1">
            <a:spLocks noChangeArrowheads="1"/>
          </p:cNvSpPr>
          <p:nvPr/>
        </p:nvSpPr>
        <p:spPr bwMode="auto">
          <a:xfrm>
            <a:off x="4355976" y="1772816"/>
            <a:ext cx="1347992" cy="43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2400" dirty="0">
                <a:latin typeface="Courier New" pitchFamily="49" charset="0"/>
                <a:ea typeface="微軟正黑體" pitchFamily="34" charset="-120"/>
              </a:rPr>
              <a:t>輸出：</a:t>
            </a:r>
          </a:p>
        </p:txBody>
      </p:sp>
      <p:sp>
        <p:nvSpPr>
          <p:cNvPr id="7" name="矩形 6"/>
          <p:cNvSpPr/>
          <p:nvPr/>
        </p:nvSpPr>
        <p:spPr>
          <a:xfrm>
            <a:off x="830461" y="1360450"/>
            <a:ext cx="844035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2-5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93533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0"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Gill Sans" charset="0"/>
              </a:rPr>
              <a:t>條件式判斷符號</a:t>
            </a:r>
          </a:p>
        </p:txBody>
      </p:sp>
      <p:sp>
        <p:nvSpPr>
          <p:cNvPr id="24579" name="Rectangle 3"/>
          <p:cNvSpPr>
            <a:spLocks/>
          </p:cNvSpPr>
          <p:nvPr/>
        </p:nvSpPr>
        <p:spPr bwMode="auto">
          <a:xfrm>
            <a:off x="1589485" y="3933056"/>
            <a:ext cx="1646285" cy="27699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b="1" dirty="0" smtClean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double</a:t>
            </a:r>
            <a:r>
              <a:rPr lang="en-US" altLang="zh-TW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a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;</a:t>
            </a:r>
          </a:p>
        </p:txBody>
      </p:sp>
      <p:sp>
        <p:nvSpPr>
          <p:cNvPr id="24580" name="Rectangle 4"/>
          <p:cNvSpPr>
            <a:spLocks/>
          </p:cNvSpPr>
          <p:nvPr/>
        </p:nvSpPr>
        <p:spPr bwMode="auto">
          <a:xfrm>
            <a:off x="1589485" y="4217434"/>
            <a:ext cx="2659382" cy="83099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(a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!=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1.0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a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a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1.0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6.0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611560" y="3974172"/>
            <a:ext cx="844035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2-6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2977" y="1628800"/>
            <a:ext cx="7358063" cy="5112568"/>
          </a:xfrm>
        </p:spPr>
        <p:txBody>
          <a:bodyPr anchor="t"/>
          <a:lstStyle/>
          <a:p>
            <a:pPr marL="624800"/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總共有六種：小於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&lt; 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小於等於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&lt;= 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相等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==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  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大於等於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&gt;=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 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大於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&gt;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  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不相等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!=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。在比較兩個數值的大小關係時，如果比較的是</a:t>
            </a:r>
            <a:r>
              <a:rPr kumimoji="0" lang="zh-TW" altLang="en-US" sz="2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浮點數</a:t>
            </a:r>
            <a:r>
              <a:rPr kumimoji="0" lang="en-US" altLang="zh-TW" sz="2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(float</a:t>
            </a:r>
            <a:r>
              <a:rPr kumimoji="0" lang="zh-TW" altLang="en-US" sz="2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kumimoji="0" lang="en-US" altLang="zh-TW" sz="2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double)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，要特別注意，只能使用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&gt;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cs typeface="Courier New" pitchFamily="49" charset="0"/>
                <a:sym typeface="Courier New" pitchFamily="49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&lt;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，因為經過一些數學運算，兩個浮點數是否還能完全相等往往會出乎我們意料之外。譬如</a:t>
            </a:r>
            <a:endParaRPr kumimoji="0" lang="en-US" altLang="zh-TW" sz="2400" dirty="0">
              <a:latin typeface="微軟正黑體" pitchFamily="34" charset="-120"/>
              <a:ea typeface="微軟正黑體" pitchFamily="34" charset="-120"/>
            </a:endParaRPr>
          </a:p>
          <a:p>
            <a:pPr marL="624800"/>
            <a:endParaRPr kumimoji="0" lang="en-US" altLang="zh-TW" sz="2400" dirty="0">
              <a:latin typeface="微軟正黑體" pitchFamily="34" charset="-120"/>
              <a:ea typeface="微軟正黑體" pitchFamily="34" charset="-120"/>
            </a:endParaRPr>
          </a:p>
          <a:p>
            <a:pPr marL="624800"/>
            <a:endParaRPr kumimoji="0" lang="en-US" altLang="zh-TW" sz="2400" dirty="0">
              <a:latin typeface="微軟正黑體" pitchFamily="34" charset="-120"/>
              <a:ea typeface="微軟正黑體" pitchFamily="34" charset="-120"/>
            </a:endParaRPr>
          </a:p>
          <a:p>
            <a:pPr marL="624800"/>
            <a:r>
              <a:rPr kumimoji="0" lang="zh-TW" altLang="en-US" sz="2400" dirty="0" smtClean="0">
                <a:latin typeface="微軟正黑體" pitchFamily="34" charset="-120"/>
                <a:ea typeface="微軟正黑體" pitchFamily="34" charset="-120"/>
              </a:rPr>
              <a:t>基本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迴圈是</a:t>
            </a:r>
            <a:r>
              <a:rPr kumimoji="0" lang="zh-TW" altLang="en-US" sz="24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停不下來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的，照理說只要執行六次迴圈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a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cs typeface="Courier New" pitchFamily="49" charset="0"/>
                <a:sym typeface="Courier New" pitchFamily="49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的值就會累加到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1.0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，但是由於是以數值來儲存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1.0/6.0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，所以會有誤差，最後使得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a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cs typeface="Courier New" pitchFamily="49" charset="0"/>
                <a:sym typeface="Courier New" pitchFamily="49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不能精確地等於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1.0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7486711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79513" y="114973"/>
            <a:ext cx="8712968" cy="6743027"/>
          </a:xfrm>
        </p:spPr>
        <p:txBody>
          <a:bodyPr anchor="t"/>
          <a:lstStyle/>
          <a:p>
            <a:pPr marL="624800">
              <a:spcBef>
                <a:spcPts val="3200"/>
              </a:spcBef>
            </a:pP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既然使用浮點數無法精確得到相等的數值，我們就只能用近似的方式，當兩個數值的差異小於某個可容忍範圍，就應該接受，讓迴圈停止。在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math.h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檔裡有宣告一個叫做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fabs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function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，可以用來計算浮點數的絕對值。我們用它來算兩個浮點數相減的絕對值。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3200"/>
              </a:spcBef>
            </a:pP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3200"/>
              </a:spcBef>
            </a:pP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3200"/>
              </a:spcBef>
            </a:pP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3200"/>
              </a:spcBef>
            </a:pP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3200"/>
              </a:spcBef>
            </a:pP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3200"/>
              </a:spcBef>
            </a:pP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>
              <a:spcBef>
                <a:spcPts val="3200"/>
              </a:spcBef>
            </a:pP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當使用者輸入的值和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3.14159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的差異超過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0.0001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，迴圈就會繼續要求使用者輸入，直到誤差小於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0.0001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才能結束迴圈。</a:t>
            </a:r>
          </a:p>
        </p:txBody>
      </p:sp>
      <p:sp>
        <p:nvSpPr>
          <p:cNvPr id="25602" name="Rectangle 2"/>
          <p:cNvSpPr>
            <a:spLocks/>
          </p:cNvSpPr>
          <p:nvPr/>
        </p:nvSpPr>
        <p:spPr bwMode="auto">
          <a:xfrm>
            <a:off x="2555780" y="1844824"/>
            <a:ext cx="5698676" cy="415498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#include 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math.h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#define ANSWER 3.14159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response</a:t>
            </a:r>
            <a:r>
              <a:rPr lang="en-US" altLang="zh-TW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"What is the value of pi?\n"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"%lf"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response);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fabs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(response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-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ANSWER)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0.0001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"Try again!\n"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"%lf"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response);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"Close enough!\n"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2532522" y="1408448"/>
            <a:ext cx="844035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2-7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85291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2977" y="3358728"/>
            <a:ext cx="7999507" cy="3598664"/>
          </a:xfrm>
        </p:spPr>
        <p:txBody>
          <a:bodyPr anchor="t"/>
          <a:lstStyle/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這個程式的目的是要觀察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true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false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對應的整數值到底是多少。描述兩個數值關係的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expression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如果成立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(true)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，則可以用整數值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來表示，如果關係不成立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(false)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值就是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。所以在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程式裡我們可以用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來代表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true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而用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來代表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false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。有時候程式為了製造無窮迴圈，會用下面的寫法：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其實在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程式裡不只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可以代表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true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，任何非零的數都代表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true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，但是只有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代表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false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。看看下一頁的範例</a:t>
            </a:r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312543" y="382012"/>
            <a:ext cx="7471597" cy="30469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true_val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false_val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true_val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2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false_val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2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"true = %d; false = %d 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true_val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false_val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26627" name="Rectangle 4"/>
          <p:cNvSpPr>
            <a:spLocks/>
          </p:cNvSpPr>
          <p:nvPr/>
        </p:nvSpPr>
        <p:spPr bwMode="auto">
          <a:xfrm>
            <a:off x="1585024" y="4967779"/>
            <a:ext cx="1082027" cy="84398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(</a:t>
            </a:r>
            <a:r>
              <a:rPr lang="en-US" altLang="zh-TW" dirty="0">
                <a:solidFill>
                  <a:srgbClr val="008887"/>
                </a:solidFill>
                <a:latin typeface="Courier" pitchFamily="-84" charset="0"/>
                <a:sym typeface="Courier" pitchFamily="-84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...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}</a:t>
            </a:r>
          </a:p>
        </p:txBody>
      </p:sp>
      <p:sp>
        <p:nvSpPr>
          <p:cNvPr id="26628" name="Text Box 10"/>
          <p:cNvSpPr txBox="1">
            <a:spLocks noChangeArrowheads="1"/>
          </p:cNvSpPr>
          <p:nvPr/>
        </p:nvSpPr>
        <p:spPr bwMode="auto">
          <a:xfrm>
            <a:off x="5849315" y="1081746"/>
            <a:ext cx="3240360" cy="372682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000" b="1" dirty="0">
                <a:latin typeface="Courier New" pitchFamily="49" charset="0"/>
                <a:ea typeface="微軟正黑體" pitchFamily="34" charset="-120"/>
              </a:rPr>
              <a:t>true = 1; false = 0</a:t>
            </a:r>
          </a:p>
        </p:txBody>
      </p:sp>
      <p:sp>
        <p:nvSpPr>
          <p:cNvPr id="26629" name="Text Box 11"/>
          <p:cNvSpPr txBox="1">
            <a:spLocks noChangeArrowheads="1"/>
          </p:cNvSpPr>
          <p:nvPr/>
        </p:nvSpPr>
        <p:spPr bwMode="auto">
          <a:xfrm>
            <a:off x="5844155" y="673184"/>
            <a:ext cx="1099988" cy="43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7" name="矩形 6"/>
          <p:cNvSpPr/>
          <p:nvPr/>
        </p:nvSpPr>
        <p:spPr>
          <a:xfrm>
            <a:off x="312543" y="44624"/>
            <a:ext cx="844035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2-8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0577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2977" y="4804172"/>
            <a:ext cx="7358063" cy="1214438"/>
          </a:xfrm>
        </p:spPr>
        <p:txBody>
          <a:bodyPr/>
          <a:lstStyle/>
          <a:p>
            <a:pPr marL="624800"/>
            <a:r>
              <a:rPr kumimoji="0" lang="zh-TW" altLang="en-US" dirty="0" smtClean="0">
                <a:latin typeface="Helvetica" pitchFamily="-84" charset="0"/>
                <a:sym typeface="Helvetica" pitchFamily="-84" charset="0"/>
              </a:rPr>
              <a:t>只要</a:t>
            </a:r>
            <a:r>
              <a:rPr kumimoji="0" lang="en-US" altLang="zh-TW" dirty="0" smtClean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en-US" altLang="zh-TW" dirty="0" smtClean="0">
                <a:latin typeface="Courier New Bold" pitchFamily="-84" charset="0"/>
                <a:sym typeface="Courier New Bold" pitchFamily="-84" charset="0"/>
              </a:rPr>
              <a:t>while</a:t>
            </a:r>
            <a:r>
              <a:rPr kumimoji="0" lang="en-US" altLang="zh-TW" dirty="0" smtClean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zh-TW" altLang="en-US" dirty="0" smtClean="0">
                <a:latin typeface="Helvetica" pitchFamily="-84" charset="0"/>
                <a:sym typeface="Helvetica" pitchFamily="-84" charset="0"/>
              </a:rPr>
              <a:t>迴圈繼續，就表示</a:t>
            </a:r>
            <a:r>
              <a:rPr kumimoji="0" lang="en-US" altLang="zh-TW" dirty="0" smtClean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en-US" altLang="zh-TW" dirty="0" smtClean="0">
                <a:latin typeface="Courier New Bold" pitchFamily="-84" charset="0"/>
                <a:sym typeface="Courier New Bold" pitchFamily="-84" charset="0"/>
              </a:rPr>
              <a:t>n</a:t>
            </a:r>
            <a:r>
              <a:rPr kumimoji="0" lang="en-US" altLang="zh-TW" dirty="0" smtClean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zh-TW" altLang="en-US" dirty="0" smtClean="0">
                <a:latin typeface="Helvetica" pitchFamily="-84" charset="0"/>
                <a:sym typeface="Helvetica" pitchFamily="-84" charset="0"/>
              </a:rPr>
              <a:t>的值相當於</a:t>
            </a:r>
            <a:r>
              <a:rPr kumimoji="0" lang="en-US" altLang="zh-TW" dirty="0" smtClean="0">
                <a:latin typeface="Helvetica" pitchFamily="-84" charset="0"/>
                <a:sym typeface="Helvetica" pitchFamily="-84" charset="0"/>
              </a:rPr>
              <a:t> true</a:t>
            </a:r>
            <a:r>
              <a:rPr kumimoji="0" lang="zh-TW" altLang="en-US" dirty="0" smtClean="0">
                <a:latin typeface="Helvetica" pitchFamily="-84" charset="0"/>
                <a:sym typeface="Helvetica" pitchFamily="-84" charset="0"/>
              </a:rPr>
              <a:t>。</a:t>
            </a:r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696519" y="1473165"/>
            <a:ext cx="4432304" cy="332398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n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3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(n)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"%2d is true\n"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n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--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"%2d is false\n"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n);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27651" name="Text Box 12"/>
          <p:cNvSpPr txBox="1">
            <a:spLocks noChangeArrowheads="1"/>
          </p:cNvSpPr>
          <p:nvPr/>
        </p:nvSpPr>
        <p:spPr bwMode="auto">
          <a:xfrm>
            <a:off x="6018460" y="2039356"/>
            <a:ext cx="2715217" cy="1788454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800" b="1">
                <a:latin typeface="Courier New" pitchFamily="49" charset="0"/>
                <a:ea typeface="微軟正黑體" pitchFamily="34" charset="-120"/>
              </a:rPr>
              <a:t> 3 is true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800" b="1">
                <a:latin typeface="Courier New" pitchFamily="49" charset="0"/>
                <a:ea typeface="微軟正黑體" pitchFamily="34" charset="-120"/>
              </a:rPr>
              <a:t> 2 is true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800" b="1">
                <a:latin typeface="Courier New" pitchFamily="49" charset="0"/>
                <a:ea typeface="微軟正黑體" pitchFamily="34" charset="-120"/>
              </a:rPr>
              <a:t> 1 is true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800" b="1">
                <a:latin typeface="Courier New" pitchFamily="49" charset="0"/>
                <a:ea typeface="微軟正黑體" pitchFamily="34" charset="-120"/>
              </a:rPr>
              <a:t> 0 is false</a:t>
            </a:r>
          </a:p>
        </p:txBody>
      </p:sp>
      <p:sp>
        <p:nvSpPr>
          <p:cNvPr id="27652" name="Text Box 13"/>
          <p:cNvSpPr txBox="1">
            <a:spLocks noChangeArrowheads="1"/>
          </p:cNvSpPr>
          <p:nvPr/>
        </p:nvSpPr>
        <p:spPr bwMode="auto">
          <a:xfrm>
            <a:off x="5364374" y="1412776"/>
            <a:ext cx="1308175" cy="61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36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6" name="矩形 5"/>
          <p:cNvSpPr/>
          <p:nvPr/>
        </p:nvSpPr>
        <p:spPr>
          <a:xfrm>
            <a:off x="706685" y="1154241"/>
            <a:ext cx="844035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2-9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59433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24800"/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假如我們一開始就知道迴圈將會執行多少次，可以使用</a:t>
            </a:r>
            <a:r>
              <a:rPr kumimoji="0" lang="en-US" altLang="zh-TW" sz="28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8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for</a:t>
            </a:r>
            <a:r>
              <a:rPr kumimoji="0" lang="en-US" altLang="zh-TW" sz="28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迴圈來達到反覆計算的效果，使用上會比較方便。最標準的狀況就是使用一個</a:t>
            </a:r>
            <a:r>
              <a:rPr kumimoji="0" lang="en-US" altLang="zh-TW" sz="28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counter </a:t>
            </a:r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來計算迴圈執行次數，當</a:t>
            </a:r>
            <a:r>
              <a:rPr kumimoji="0" lang="en-US" altLang="zh-TW" sz="28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counter </a:t>
            </a:r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達到預定的次數迴圈就停止。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0" lang="en-US" altLang="zh-TW" dirty="0" smtClean="0">
                <a:sym typeface="Gill Sans" charset="0"/>
              </a:rPr>
              <a:t>for-loop</a:t>
            </a:r>
          </a:p>
        </p:txBody>
      </p:sp>
    </p:spTree>
    <p:extLst>
      <p:ext uri="{BB962C8B-B14F-4D97-AF65-F5344CB8AC3E}">
        <p14:creationId xmlns:p14="http://schemas.microsoft.com/office/powerpoint/2010/main" val="315177395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/>
          </p:cNvSpPr>
          <p:nvPr/>
        </p:nvSpPr>
        <p:spPr bwMode="auto">
          <a:xfrm>
            <a:off x="35496" y="629974"/>
            <a:ext cx="4064835" cy="3447098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sz="16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"Enter an integer: 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"$"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3072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3373496" y="1800200"/>
            <a:ext cx="5770504" cy="4941168"/>
          </a:xfrm>
        </p:spPr>
        <p:txBody>
          <a:bodyPr anchor="t"/>
          <a:lstStyle/>
          <a:p>
            <a:pPr marL="624800"/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由於已經用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2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讓使用者輸入迴圈執行的次數，所以我們知道迴圈將會執行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</a:t>
            </a:r>
            <a:r>
              <a:rPr kumimoji="0" lang="en-US" altLang="zh-TW" sz="22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num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所代表的次數。假設我們用變數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cs typeface="Courier New" pitchFamily="49" charset="0"/>
                <a:sym typeface="Courier New" pitchFamily="49" charset="0"/>
              </a:rPr>
              <a:t> </a:t>
            </a:r>
            <a:r>
              <a:rPr kumimoji="0" lang="en-US" altLang="zh-TW" sz="22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i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 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當作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counter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，變數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2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num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是要反覆執行的次數，則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for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迴圈的語法就是</a:t>
            </a:r>
            <a:endParaRPr kumimoji="0" lang="en-US" altLang="zh-TW" sz="22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2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這個語法包含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三個部份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，用兩個分號隔開成三個區域，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第一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個部份用來設定</a:t>
            </a:r>
            <a:r>
              <a:rPr kumimoji="0" lang="en-US" altLang="zh-TW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counter 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初值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第二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個部份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判斷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是否應該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繼續執行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第三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個部分可用來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更改</a:t>
            </a:r>
            <a:r>
              <a:rPr kumimoji="0" lang="en-US" altLang="zh-TW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counter </a:t>
            </a:r>
            <a:r>
              <a:rPr kumimoji="0" lang="zh-TW" altLang="en-US" sz="22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的值</a:t>
            </a:r>
            <a:r>
              <a:rPr kumimoji="0" lang="zh-TW" altLang="en-US" sz="2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，每跑回一次迴圈就會再被執行一次。</a:t>
            </a:r>
          </a:p>
        </p:txBody>
      </p:sp>
      <p:sp>
        <p:nvSpPr>
          <p:cNvPr id="30723" name="Rectangle 3"/>
          <p:cNvSpPr>
            <a:spLocks/>
          </p:cNvSpPr>
          <p:nvPr/>
        </p:nvSpPr>
        <p:spPr bwMode="auto">
          <a:xfrm>
            <a:off x="4499992" y="3711515"/>
            <a:ext cx="3600400" cy="830997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...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30724" name="Text Box 6"/>
          <p:cNvSpPr txBox="1">
            <a:spLocks noChangeArrowheads="1"/>
          </p:cNvSpPr>
          <p:nvPr/>
        </p:nvSpPr>
        <p:spPr bwMode="auto">
          <a:xfrm>
            <a:off x="4857850" y="803151"/>
            <a:ext cx="4322662" cy="908885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800" b="1" dirty="0">
                <a:latin typeface="微軟正黑體" pitchFamily="34" charset="-120"/>
                <a:ea typeface="微軟正黑體" pitchFamily="34" charset="-120"/>
              </a:rPr>
              <a:t>Enter an integer: 30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800" b="1" dirty="0">
                <a:latin typeface="微軟正黑體" pitchFamily="34" charset="-120"/>
                <a:ea typeface="微軟正黑體" pitchFamily="34" charset="-120"/>
              </a:rPr>
              <a:t>$$$$$$$$$$$$$$$$$$$$$$$$$$$$$$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0" lang="en-US" altLang="zh-TW" sz="18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0725" name="Text Box 7"/>
          <p:cNvSpPr txBox="1">
            <a:spLocks noChangeArrowheads="1"/>
          </p:cNvSpPr>
          <p:nvPr/>
        </p:nvSpPr>
        <p:spPr bwMode="auto">
          <a:xfrm>
            <a:off x="4219196" y="188640"/>
            <a:ext cx="1360916" cy="55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32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7" name="矩形 6"/>
          <p:cNvSpPr/>
          <p:nvPr/>
        </p:nvSpPr>
        <p:spPr>
          <a:xfrm>
            <a:off x="35496" y="301764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2-10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0584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203266" y="116633"/>
            <a:ext cx="8940735" cy="432048"/>
          </a:xfrm>
        </p:spPr>
        <p:txBody>
          <a:bodyPr anchor="t"/>
          <a:lstStyle/>
          <a:p>
            <a:pPr marL="624800">
              <a:buFont typeface="Gill Sans" charset="0"/>
              <a:buChar char="•"/>
              <a:defRPr/>
            </a:pP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底下這些範例做的事情都很容易理解，主要是讓大家熟悉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ourier New Bold" charset="0"/>
                <a:sym typeface="Courier New Bold" charset="0"/>
              </a:rPr>
              <a:t>for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的語法。</a:t>
            </a:r>
          </a:p>
        </p:txBody>
      </p:sp>
      <p:sp>
        <p:nvSpPr>
          <p:cNvPr id="31746" name="Rectangle 2"/>
          <p:cNvSpPr>
            <a:spLocks/>
          </p:cNvSpPr>
          <p:nvPr/>
        </p:nvSpPr>
        <p:spPr bwMode="auto">
          <a:xfrm>
            <a:off x="35496" y="784449"/>
            <a:ext cx="5038924" cy="276998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n;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(n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2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n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60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n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n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13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 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n);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31748" name="Text Box 9"/>
          <p:cNvSpPr txBox="1">
            <a:spLocks noChangeArrowheads="1"/>
          </p:cNvSpPr>
          <p:nvPr/>
        </p:nvSpPr>
        <p:spPr bwMode="auto">
          <a:xfrm>
            <a:off x="5292080" y="624618"/>
            <a:ext cx="1360916" cy="55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32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6" name="Rectangle 2"/>
          <p:cNvSpPr>
            <a:spLocks/>
          </p:cNvSpPr>
          <p:nvPr/>
        </p:nvSpPr>
        <p:spPr bwMode="auto">
          <a:xfrm>
            <a:off x="35496" y="3960926"/>
            <a:ext cx="5387052" cy="2708434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sz="16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'a'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'z'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"The ASCII value for %c is %d.\n"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388007" y="4012203"/>
            <a:ext cx="1360916" cy="55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32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712" y="483672"/>
            <a:ext cx="569258" cy="175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712" y="2322387"/>
            <a:ext cx="2592288" cy="4540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35496" y="476672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2-11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496" y="3614132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2-12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0089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611564" y="188644"/>
            <a:ext cx="7358063" cy="6142509"/>
          </a:xfrm>
        </p:spPr>
        <p:txBody>
          <a:bodyPr/>
          <a:lstStyle/>
          <a:p>
            <a:pPr marL="624800"/>
            <a:r>
              <a:rPr kumimoji="0" lang="zh-TW" altLang="en-US" sz="3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所以</a:t>
            </a:r>
            <a:r>
              <a:rPr kumimoji="0" lang="en-US" altLang="zh-TW" sz="3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32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for</a:t>
            </a:r>
            <a:r>
              <a:rPr kumimoji="0" lang="en-US" altLang="zh-TW" sz="3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3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迴圈的語法就是</a:t>
            </a:r>
            <a:endParaRPr kumimoji="0" lang="en-US" altLang="zh-TW" sz="32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32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3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其中三個區域的每個區域所做的事情還可稍加變化。譬如如果什麼都不做，寫成</a:t>
            </a:r>
            <a:endParaRPr kumimoji="0" lang="en-US" altLang="zh-TW" sz="32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32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32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作用則相當於無窮迴圈。</a:t>
            </a:r>
          </a:p>
        </p:txBody>
      </p:sp>
      <p:sp>
        <p:nvSpPr>
          <p:cNvPr id="32771" name="Rectangle 3"/>
          <p:cNvSpPr>
            <a:spLocks/>
          </p:cNvSpPr>
          <p:nvPr/>
        </p:nvSpPr>
        <p:spPr bwMode="auto">
          <a:xfrm>
            <a:off x="971600" y="1217528"/>
            <a:ext cx="7776864" cy="110799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( </a:t>
            </a:r>
            <a:r>
              <a:rPr lang="zh-TW" altLang="en-US" dirty="0">
                <a:solidFill>
                  <a:srgbClr val="95000D"/>
                </a:solidFill>
                <a:latin typeface="Courier" pitchFamily="-84" charset="0"/>
                <a:sym typeface="Courier" pitchFamily="-84" charset="0"/>
              </a:rPr>
              <a:t>初始化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initialize ; </a:t>
            </a:r>
            <a:r>
              <a:rPr lang="zh-TW" altLang="en-US" dirty="0">
                <a:solidFill>
                  <a:srgbClr val="95000D"/>
                </a:solidFill>
                <a:latin typeface="Courier" pitchFamily="-84" charset="0"/>
                <a:sym typeface="Courier" pitchFamily="-84" charset="0"/>
              </a:rPr>
              <a:t>是否繼續執行的條件判斷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test ; </a:t>
            </a:r>
            <a:r>
              <a:rPr lang="zh-TW" altLang="en-US" dirty="0">
                <a:solidFill>
                  <a:srgbClr val="95000D"/>
                </a:solidFill>
                <a:latin typeface="Courier" pitchFamily="-84" charset="0"/>
                <a:sym typeface="Courier" pitchFamily="-84" charset="0"/>
              </a:rPr>
              <a:t>更新變數值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update ) {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  ...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}</a:t>
            </a:r>
          </a:p>
        </p:txBody>
      </p:sp>
      <p:sp>
        <p:nvSpPr>
          <p:cNvPr id="32772" name="Rectangle 4"/>
          <p:cNvSpPr>
            <a:spLocks/>
          </p:cNvSpPr>
          <p:nvPr/>
        </p:nvSpPr>
        <p:spPr bwMode="auto">
          <a:xfrm>
            <a:off x="2123728" y="4149084"/>
            <a:ext cx="4680519" cy="83099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 ( ; ; 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urier" pitchFamily="-84" charset="0"/>
                <a:sym typeface="Courier" pitchFamily="-84" charset="0"/>
              </a:rPr>
              <a:t>"Do something.\n"</a:t>
            </a: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);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urier" pitchFamily="-84" charset="0"/>
                <a:sym typeface="Courier" pitchFamily="-8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134740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27584" y="144016"/>
            <a:ext cx="8187132" cy="6741368"/>
          </a:xfrm>
        </p:spPr>
        <p:txBody>
          <a:bodyPr anchor="t"/>
          <a:lstStyle/>
          <a:p>
            <a:pPr marL="624800"/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</a:rPr>
              <a:t>底下的範例是另一種</a:t>
            </a:r>
            <a:r>
              <a:rPr kumimoji="0" lang="en-US" altLang="zh-TW" sz="2800" dirty="0">
                <a:latin typeface="微軟正黑體" pitchFamily="34" charset="-120"/>
                <a:ea typeface="微軟正黑體" pitchFamily="34" charset="-120"/>
              </a:rPr>
              <a:t>for</a:t>
            </a:r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</a:rPr>
              <a:t>迴圈的無窮迴圈寫法：</a:t>
            </a:r>
            <a:endParaRPr kumimoji="0" lang="en-US" altLang="zh-TW" sz="2800" dirty="0">
              <a:latin typeface="微軟正黑體" pitchFamily="34" charset="-120"/>
              <a:ea typeface="微軟正黑體" pitchFamily="34" charset="-120"/>
            </a:endParaRPr>
          </a:p>
          <a:p>
            <a:pPr marL="624800"/>
            <a:endParaRPr kumimoji="0" lang="en-US" altLang="zh-TW" sz="2800" dirty="0">
              <a:latin typeface="微軟正黑體" pitchFamily="34" charset="-120"/>
              <a:ea typeface="微軟正黑體" pitchFamily="34" charset="-120"/>
            </a:endParaRPr>
          </a:p>
          <a:p>
            <a:pPr marL="624800"/>
            <a:endParaRPr kumimoji="0" lang="en-US" altLang="zh-TW" sz="2800" dirty="0">
              <a:latin typeface="微軟正黑體" pitchFamily="34" charset="-120"/>
              <a:ea typeface="微軟正黑體" pitchFamily="34" charset="-120"/>
            </a:endParaRPr>
          </a:p>
          <a:p>
            <a:pPr marL="624800"/>
            <a:endParaRPr kumimoji="0" lang="en-US" altLang="zh-TW" sz="2800" dirty="0">
              <a:latin typeface="微軟正黑體" pitchFamily="34" charset="-120"/>
              <a:ea typeface="微軟正黑體" pitchFamily="34" charset="-120"/>
            </a:endParaRPr>
          </a:p>
          <a:p>
            <a:pPr marL="624800"/>
            <a:endParaRPr kumimoji="0" lang="en-US" altLang="zh-TW" sz="2800" dirty="0">
              <a:latin typeface="微軟正黑體" pitchFamily="34" charset="-120"/>
              <a:ea typeface="微軟正黑體" pitchFamily="34" charset="-120"/>
            </a:endParaRPr>
          </a:p>
          <a:p>
            <a:pPr marL="624800"/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這個程式會不斷讓使用者輸入數字，直到使用者猜到密碼是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7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為止。在初始化的地方偷渡了一個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printf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的動作，所以剛進入迴圈時會顯示一次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"Keep entering numbers!"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。第二部份條件判斷檢查是否輸入的數字等於預設密碼。第三部份則沒有東西，因為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num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靠迴圈裡的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來做更新的動作。</a:t>
            </a:r>
          </a:p>
        </p:txBody>
      </p:sp>
      <p:sp>
        <p:nvSpPr>
          <p:cNvPr id="33794" name="Rectangle 2"/>
          <p:cNvSpPr>
            <a:spLocks/>
          </p:cNvSpPr>
          <p:nvPr/>
        </p:nvSpPr>
        <p:spPr bwMode="auto">
          <a:xfrm>
            <a:off x="395537" y="836126"/>
            <a:ext cx="6048671" cy="3600986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#define CODE 7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"Keep entering numbers!\n"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!=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CODE; 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"Bingo!\n"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33795" name="Text Box 10"/>
          <p:cNvSpPr txBox="1">
            <a:spLocks noChangeArrowheads="1"/>
          </p:cNvSpPr>
          <p:nvPr/>
        </p:nvSpPr>
        <p:spPr bwMode="auto">
          <a:xfrm>
            <a:off x="6588224" y="2518173"/>
            <a:ext cx="2492636" cy="1357567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400" b="1" dirty="0">
                <a:latin typeface="Courier New" pitchFamily="49" charset="0"/>
                <a:ea typeface="微軟正黑體" pitchFamily="34" charset="-120"/>
              </a:rPr>
              <a:t>Keep entering numbers!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400" b="1" u="sng" dirty="0">
                <a:latin typeface="Courier New" pitchFamily="49" charset="0"/>
                <a:ea typeface="微軟正黑體" pitchFamily="34" charset="-120"/>
              </a:rPr>
              <a:t>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400" b="1" u="sng" dirty="0">
                <a:latin typeface="Courier New" pitchFamily="49" charset="0"/>
                <a:ea typeface="微軟正黑體" pitchFamily="34" charset="-120"/>
              </a:rPr>
              <a:t>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400" b="1" u="sng" dirty="0">
                <a:latin typeface="Courier New" pitchFamily="49" charset="0"/>
                <a:ea typeface="微軟正黑體" pitchFamily="34" charset="-120"/>
              </a:rPr>
              <a:t>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400" b="1" u="sng" dirty="0">
                <a:latin typeface="Courier New" pitchFamily="49" charset="0"/>
                <a:ea typeface="微軟正黑體" pitchFamily="34" charset="-120"/>
              </a:rPr>
              <a:t>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400" b="1" dirty="0">
                <a:latin typeface="Courier New" pitchFamily="49" charset="0"/>
                <a:ea typeface="微軟正黑體" pitchFamily="34" charset="-120"/>
              </a:rPr>
              <a:t>Bingo!</a:t>
            </a:r>
          </a:p>
        </p:txBody>
      </p:sp>
      <p:sp>
        <p:nvSpPr>
          <p:cNvPr id="33796" name="Text Box 11"/>
          <p:cNvSpPr txBox="1">
            <a:spLocks noChangeArrowheads="1"/>
          </p:cNvSpPr>
          <p:nvPr/>
        </p:nvSpPr>
        <p:spPr bwMode="auto">
          <a:xfrm>
            <a:off x="6698390" y="2011414"/>
            <a:ext cx="1207027" cy="49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6" name="矩形 5"/>
          <p:cNvSpPr/>
          <p:nvPr/>
        </p:nvSpPr>
        <p:spPr>
          <a:xfrm>
            <a:off x="395537" y="548680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2-13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65677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9592" y="1844824"/>
            <a:ext cx="7639467" cy="4074612"/>
          </a:xfrm>
        </p:spPr>
        <p:txBody>
          <a:bodyPr/>
          <a:lstStyle/>
          <a:p>
            <a:pPr marL="624800"/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這些可看成是簡寫的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assignment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符號，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x += 5;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相當於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x = x + 5;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而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y %= 7;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相當於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y = y % 7;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以此類推。在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for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迴圈的第三部份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(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更新變數值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)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用這樣的寫法會比較簡潔，但你不一定要用這樣的寫法，只要順著自己的習慣就可以。</a:t>
            </a:r>
            <a:endParaRPr kumimoji="0" lang="en-US" altLang="zh-TW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for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迴圈的第一部份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(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初始化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)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和第三部份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(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更新變數值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，其實允許我們做兩個以上的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</a:rPr>
              <a:t> statements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</a:rPr>
              <a:t>，詳見下頁範例。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kumimoji="0" lang="zh-TW" altLang="en-US" sz="4900" b="1">
                <a:ea typeface="Heiti TC Medium" charset="0"/>
                <a:cs typeface="Heiti TC Medium" charset="0"/>
                <a:sym typeface="Gill Sans" charset="0"/>
              </a:rPr>
              <a:t>其他</a:t>
            </a:r>
            <a:r>
              <a:rPr kumimoji="0" lang="en-US" altLang="zh-TW" sz="4900" b="1">
                <a:ea typeface="Heiti TC Medium" charset="0"/>
                <a:cs typeface="Heiti TC Medium" charset="0"/>
                <a:sym typeface="Gill Sans" charset="0"/>
              </a:rPr>
              <a:t> Assignment </a:t>
            </a:r>
            <a:r>
              <a:rPr kumimoji="0" lang="zh-TW" altLang="en-US" sz="4900" b="1">
                <a:ea typeface="Heiti TC Medium" charset="0"/>
                <a:cs typeface="Heiti TC Medium" charset="0"/>
                <a:sym typeface="Gill Sans" charset="0"/>
              </a:rPr>
              <a:t>符號：</a:t>
            </a:r>
            <a:r>
              <a:rPr kumimoji="0" lang="en-US" altLang="zh-TW" sz="4900" b="1">
                <a:ea typeface="Heiti TC Medium" charset="0"/>
                <a:cs typeface="Heiti TC Medium" charset="0"/>
                <a:sym typeface="Gill Sans" charset="0"/>
              </a:rPr>
              <a:t> +=</a:t>
            </a:r>
            <a:r>
              <a:rPr kumimoji="0" lang="zh-TW" altLang="en-US" sz="4900" b="1">
                <a:ea typeface="Heiti TC Medium" charset="0"/>
                <a:cs typeface="Heiti TC Medium" charset="0"/>
                <a:sym typeface="Gill Sans" charset="0"/>
              </a:rPr>
              <a:t>，</a:t>
            </a:r>
            <a:r>
              <a:rPr kumimoji="0" lang="en-US" altLang="zh-TW" sz="4900" b="1">
                <a:ea typeface="Heiti TC Medium" charset="0"/>
                <a:cs typeface="Heiti TC Medium" charset="0"/>
                <a:sym typeface="Gill Sans" charset="0"/>
              </a:rPr>
              <a:t>-=</a:t>
            </a:r>
            <a:r>
              <a:rPr kumimoji="0" lang="zh-TW" altLang="en-US" sz="4900" b="1">
                <a:ea typeface="Heiti TC Medium" charset="0"/>
                <a:cs typeface="Heiti TC Medium" charset="0"/>
                <a:sym typeface="Gill Sans" charset="0"/>
              </a:rPr>
              <a:t>，</a:t>
            </a:r>
            <a:r>
              <a:rPr kumimoji="0" lang="en-US" altLang="zh-TW" sz="4900" b="1">
                <a:ea typeface="Heiti TC Medium" charset="0"/>
                <a:cs typeface="Heiti TC Medium" charset="0"/>
                <a:sym typeface="Gill Sans" charset="0"/>
              </a:rPr>
              <a:t>*=</a:t>
            </a:r>
            <a:r>
              <a:rPr kumimoji="0" lang="zh-TW" altLang="en-US" sz="4900" b="1">
                <a:ea typeface="Heiti TC Medium" charset="0"/>
                <a:cs typeface="Heiti TC Medium" charset="0"/>
                <a:sym typeface="Gill Sans" charset="0"/>
              </a:rPr>
              <a:t>，</a:t>
            </a:r>
            <a:r>
              <a:rPr kumimoji="0" lang="en-US" altLang="zh-TW" sz="4900" b="1">
                <a:ea typeface="Heiti TC Medium" charset="0"/>
                <a:cs typeface="Heiti TC Medium" charset="0"/>
                <a:sym typeface="Gill Sans" charset="0"/>
              </a:rPr>
              <a:t>/=</a:t>
            </a:r>
            <a:r>
              <a:rPr kumimoji="0" lang="zh-TW" altLang="en-US" sz="4900" b="1">
                <a:ea typeface="Heiti TC Medium" charset="0"/>
                <a:cs typeface="Heiti TC Medium" charset="0"/>
                <a:sym typeface="Gill Sans" charset="0"/>
              </a:rPr>
              <a:t>，</a:t>
            </a:r>
            <a:r>
              <a:rPr kumimoji="0" lang="en-US" altLang="zh-TW" sz="4900" b="1">
                <a:ea typeface="Heiti TC Medium" charset="0"/>
                <a:cs typeface="Heiti TC Medium" charset="0"/>
                <a:sym typeface="Gill Sans" charset="0"/>
              </a:rPr>
              <a:t>%=</a:t>
            </a:r>
          </a:p>
        </p:txBody>
      </p:sp>
    </p:spTree>
    <p:extLst>
      <p:ext uri="{BB962C8B-B14F-4D97-AF65-F5344CB8AC3E}">
        <p14:creationId xmlns:p14="http://schemas.microsoft.com/office/powerpoint/2010/main" val="101741247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79512" y="4138514"/>
            <a:ext cx="8610162" cy="2564904"/>
          </a:xfrm>
        </p:spPr>
        <p:txBody>
          <a:bodyPr/>
          <a:lstStyle/>
          <a:p>
            <a:pPr marL="624800"/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在初始化的部份做了兩個動作，兩個動作用</a:t>
            </a:r>
            <a:r>
              <a:rPr kumimoji="0" lang="zh-TW" altLang="en-US" sz="24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逗號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分開，分別是設定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b="1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n=1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以及設定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b="1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cost=FIRST_PACK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。更新變數值的部份也做了兩個動作，先做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b="1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n++</a:t>
            </a:r>
            <a:r>
              <a:rPr kumimoji="0" lang="en-US" altLang="zh-TW" sz="2400" b="1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接著做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b="1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cost+=NEXT_PACK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，這樣就能讓變數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的值被加一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(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負責累計迴圈反覆次數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)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，而且也累計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cost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值。在這裡用逗號隔開的兩個動作是以循序方式執行，也就是做完第一個動作才做第二個。</a:t>
            </a:r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179512" y="692696"/>
            <a:ext cx="6768752" cy="2954655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sz="16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#define FIRST_PACK 7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#define NEXT_PACK 5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n, cost;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 packs   costs\n"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(n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cost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FIRST_PACK; n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&lt;=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n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cost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NEXT_PACK)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"%5d     $%-5d\n"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n, cost);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35843" name="Text Box 10"/>
          <p:cNvSpPr txBox="1">
            <a:spLocks noChangeArrowheads="1"/>
          </p:cNvSpPr>
          <p:nvPr/>
        </p:nvSpPr>
        <p:spPr bwMode="auto">
          <a:xfrm>
            <a:off x="7191940" y="914604"/>
            <a:ext cx="1865552" cy="2802428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packs   costs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1     $7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2     $12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3     $17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4     $22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5     $27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6     $32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7     $37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8     $42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 9     $47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600" b="1" dirty="0">
                <a:latin typeface="Courier New" pitchFamily="49" charset="0"/>
                <a:ea typeface="微軟正黑體" pitchFamily="34" charset="-120"/>
              </a:rPr>
              <a:t>   10     $52</a:t>
            </a:r>
          </a:p>
        </p:txBody>
      </p:sp>
      <p:sp>
        <p:nvSpPr>
          <p:cNvPr id="35844" name="Text Box 11"/>
          <p:cNvSpPr txBox="1">
            <a:spLocks noChangeArrowheads="1"/>
          </p:cNvSpPr>
          <p:nvPr/>
        </p:nvSpPr>
        <p:spPr bwMode="auto">
          <a:xfrm>
            <a:off x="6948264" y="404664"/>
            <a:ext cx="1207021" cy="49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144215" y="2564904"/>
            <a:ext cx="323329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9512" y="373772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2-14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12245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251520" y="1196752"/>
            <a:ext cx="8784976" cy="4750594"/>
          </a:xfrm>
        </p:spPr>
        <p:txBody>
          <a:bodyPr anchor="t"/>
          <a:lstStyle/>
          <a:p>
            <a:pPr marL="624800"/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某些情況下，迴圈會保證至少被執行一次，這時候就適合用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do ... while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迴圈，它的效果是先做迴圈內容，最後在判斷條件是否要繼續，譬如下面的例子，要求使用者要輸入密碼，直到輸入正確為止。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要</a:t>
            </a:r>
            <a:r>
              <a:rPr kumimoji="0" lang="zh-TW" altLang="en-US" sz="24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charset="0"/>
              </a:rPr>
              <a:t>注意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cs typeface="Courier New Bold" charset="0"/>
                <a:sym typeface="Courier New Bold" charset="0"/>
              </a:rPr>
              <a:t>while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的條件判斷之後有個分號。</a:t>
            </a:r>
            <a:endParaRPr kumimoji="0" lang="zh-TW" altLang="en-US" sz="24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-315416"/>
            <a:ext cx="7849195" cy="1714500"/>
          </a:xfrm>
        </p:spPr>
        <p:txBody>
          <a:bodyPr/>
          <a:lstStyle/>
          <a:p>
            <a:pPr algn="l">
              <a:defRPr/>
            </a:pPr>
            <a:r>
              <a:rPr kumimoji="0" lang="zh-TW" altLang="en-US" b="1" dirty="0" smtClean="0">
                <a:ea typeface="Heiti TC Medium" charset="0"/>
                <a:cs typeface="Heiti TC Medium" charset="0"/>
                <a:sym typeface="Gill Sans" charset="0"/>
              </a:rPr>
              <a:t>使用</a:t>
            </a:r>
            <a:r>
              <a:rPr kumimoji="0" lang="en-US" altLang="zh-TW" b="1" dirty="0" smtClean="0">
                <a:ea typeface="Heiti TC Medium" charset="0"/>
                <a:cs typeface="Heiti TC Medium" charset="0"/>
                <a:sym typeface="Gill Sans" charset="0"/>
              </a:rPr>
              <a:t> do ... while </a:t>
            </a:r>
            <a:r>
              <a:rPr kumimoji="0" lang="zh-TW" altLang="en-US" b="1" dirty="0" smtClean="0">
                <a:ea typeface="Heiti TC Medium" charset="0"/>
                <a:cs typeface="Heiti TC Medium" charset="0"/>
                <a:sym typeface="Gill Sans" charset="0"/>
              </a:rPr>
              <a:t>迴圈</a:t>
            </a:r>
          </a:p>
        </p:txBody>
      </p:sp>
      <p:sp>
        <p:nvSpPr>
          <p:cNvPr id="36867" name="Rectangle 3"/>
          <p:cNvSpPr>
            <a:spLocks/>
          </p:cNvSpPr>
          <p:nvPr/>
        </p:nvSpPr>
        <p:spPr bwMode="auto">
          <a:xfrm>
            <a:off x="1907704" y="3068374"/>
            <a:ext cx="6838410" cy="3600986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#define CODE 13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code_entered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do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the secret code number: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code_entered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code_entered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!=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CODE);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"Bingo!\n"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 flipH="1">
            <a:off x="1547666" y="5733256"/>
            <a:ext cx="675829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新細明體" charset="-120"/>
                <a:cs typeface="+mn-cs"/>
              </a:defRPr>
            </a:lvl9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07704" y="2751790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2-15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73843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2975" y="692696"/>
            <a:ext cx="7358063" cy="5616624"/>
          </a:xfrm>
        </p:spPr>
        <p:txBody>
          <a:bodyPr anchor="t"/>
          <a:lstStyle/>
          <a:p>
            <a:pPr marL="624800">
              <a:buFont typeface="Gill Sans" charset="0"/>
              <a:buChar char="•"/>
              <a:defRPr/>
            </a:pP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這是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cs typeface="Courier New Bold" charset="0"/>
                <a:sym typeface="Courier New Bold" charset="0"/>
              </a:rPr>
              <a:t>do ... while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和標準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cs typeface="Courier New Bold" charset="0"/>
                <a:sym typeface="Courier New Bold" charset="0"/>
              </a:rPr>
              <a:t>while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的語法不同之處。可以比較看看，如果用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cs typeface="Courier New Bold" charset="0"/>
                <a:sym typeface="Courier New Bold" charset="0"/>
              </a:rPr>
              <a:t>while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而不是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 </a:t>
            </a:r>
            <a:r>
              <a:rPr kumimoji="0" lang="en-US" altLang="zh-TW" sz="2400" dirty="0">
                <a:latin typeface="微軟正黑體" pitchFamily="34" charset="-120"/>
                <a:ea typeface="微軟正黑體" pitchFamily="34" charset="-120"/>
                <a:cs typeface="Courier New Bold" charset="0"/>
                <a:sym typeface="Courier New Bold" charset="0"/>
              </a:rPr>
              <a:t>do ... while</a:t>
            </a:r>
            <a:r>
              <a:rPr kumimoji="0" lang="zh-TW" altLang="en-US" sz="2400" dirty="0">
                <a:latin typeface="微軟正黑體" pitchFamily="34" charset="-120"/>
                <a:ea typeface="微軟正黑體" pitchFamily="34" charset="-120"/>
                <a:sym typeface="Helvetica" charset="0"/>
              </a:rPr>
              <a:t>，寫起來會有點累贅：</a:t>
            </a:r>
          </a:p>
        </p:txBody>
      </p:sp>
      <p:sp>
        <p:nvSpPr>
          <p:cNvPr id="37890" name="Rectangle 2"/>
          <p:cNvSpPr>
            <a:spLocks/>
          </p:cNvSpPr>
          <p:nvPr/>
        </p:nvSpPr>
        <p:spPr bwMode="auto">
          <a:xfrm>
            <a:off x="1803799" y="2298352"/>
            <a:ext cx="6838410" cy="4154984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#define CODE 13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code_entered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the secret code number: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code_entered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code_entered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!=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CODE)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"Please enter the secret code number: 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"%d"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code_entered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"Bingo!\n"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1810177" y="1979428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2-16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37128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2977" y="1196578"/>
            <a:ext cx="7358063" cy="5313164"/>
          </a:xfrm>
        </p:spPr>
        <p:txBody>
          <a:bodyPr anchor="t"/>
          <a:lstStyle/>
          <a:p>
            <a:pPr marL="624800"/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更複雜的迴圈使用方法是用一個迴圈包住另一層迴圈。使用雙重迴圈最常用來處理以二維或表格方式呈現的資料。譬如我們想要輸出一個用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Courier New Bold" pitchFamily="-84" charset="0"/>
                <a:sym typeface="Courier New Bold" pitchFamily="-84" charset="0"/>
              </a:rPr>
              <a:t>*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號填滿的長方形，寬和高分別是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Courier New Bold" pitchFamily="-84" charset="0"/>
                <a:sym typeface="Courier New Bold" pitchFamily="-84" charset="0"/>
              </a:rPr>
              <a:t>25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和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Courier New Bold" pitchFamily="-84" charset="0"/>
                <a:sym typeface="Courier New Bold" pitchFamily="-84" charset="0"/>
              </a:rPr>
              <a:t>7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。我們已經學過用一層迴圈反覆輸出，所以要印出一排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25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個星號可以用下面的寫法</a:t>
            </a:r>
            <a:endParaRPr kumimoji="0" lang="en-US" altLang="zh-TW" sz="20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Helvetica" pitchFamily="-84" charset="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顯示了一串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25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個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Courier New Bold" pitchFamily="-84" charset="0"/>
                <a:sym typeface="Courier New Bold" pitchFamily="-84" charset="0"/>
              </a:rPr>
              <a:t>*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之後，再用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Courier New Bold" pitchFamily="-84" charset="0"/>
                <a:sym typeface="Courier New Bold" pitchFamily="-84" charset="0"/>
              </a:rPr>
              <a:t>printf</a:t>
            </a:r>
            <a:r>
              <a:rPr kumimoji="0" lang="en-US" altLang="zh-TW" sz="2000" dirty="0">
                <a:latin typeface="Courier New Bold" pitchFamily="-84" charset="0"/>
                <a:sym typeface="Courier New Bold" pitchFamily="-84" charset="0"/>
              </a:rPr>
              <a:t>("\n");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換行。接下來如果我們再用一個迴圈把上面的程式碼包起來，變成</a:t>
            </a:r>
            <a:endParaRPr kumimoji="0" lang="en-US" altLang="zh-TW" sz="20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Helvetica" pitchFamily="-84" charset="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Courier New Bold" pitchFamily="-84" charset="0"/>
              <a:ea typeface="Heiti TC Medium" pitchFamily="-84" charset="-120"/>
              <a:sym typeface="Courier New Bold" pitchFamily="-84" charset="0"/>
            </a:endParaRPr>
          </a:p>
          <a:p>
            <a:pPr marL="624800"/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就會重複做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7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次，而每次都會顯示一排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25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個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Courier New Bold" pitchFamily="-84" charset="0"/>
                <a:sym typeface="Courier New Bold" pitchFamily="-84" charset="0"/>
              </a:rPr>
              <a:t>*</a:t>
            </a:r>
            <a:r>
              <a:rPr kumimoji="0" lang="en-US" altLang="zh-TW" sz="2000" dirty="0">
                <a:latin typeface="Helvetica" pitchFamily="-84" charset="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Helvetica" pitchFamily="-84" charset="0"/>
                <a:sym typeface="Helvetica" pitchFamily="-84" charset="0"/>
              </a:rPr>
              <a:t>號。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92977" y="-151805"/>
            <a:ext cx="7358063" cy="1714500"/>
          </a:xfrm>
        </p:spPr>
        <p:txBody>
          <a:bodyPr/>
          <a:lstStyle/>
          <a:p>
            <a:pPr algn="l">
              <a:defRPr/>
            </a:pPr>
            <a:r>
              <a:rPr kumimoji="0" lang="en-US" altLang="zh-TW" sz="5100" b="1" dirty="0">
                <a:ea typeface="Heiti TC Medium" charset="0"/>
                <a:cs typeface="Heiti TC Medium" charset="0"/>
                <a:sym typeface="Gill Sans" charset="0"/>
              </a:rPr>
              <a:t>Nested Loops </a:t>
            </a:r>
            <a:r>
              <a:rPr kumimoji="0" lang="zh-TW" altLang="en-US" sz="5100" b="1" dirty="0">
                <a:ea typeface="Heiti TC Medium" charset="0"/>
                <a:cs typeface="Heiti TC Medium" charset="0"/>
                <a:sym typeface="Gill Sans" charset="0"/>
              </a:rPr>
              <a:t>多重迴圈</a:t>
            </a:r>
          </a:p>
        </p:txBody>
      </p:sp>
      <p:sp>
        <p:nvSpPr>
          <p:cNvPr id="38915" name="Rectangle 3"/>
          <p:cNvSpPr>
            <a:spLocks/>
          </p:cNvSpPr>
          <p:nvPr/>
        </p:nvSpPr>
        <p:spPr bwMode="auto">
          <a:xfrm>
            <a:off x="5004048" y="2717576"/>
            <a:ext cx="3292568" cy="1107996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(j </a:t>
            </a:r>
            <a:r>
              <a:rPr lang="en-US" altLang="zh-TW" b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j </a:t>
            </a:r>
            <a:r>
              <a:rPr lang="en-US" altLang="zh-TW" b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25</a:t>
            </a: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j</a:t>
            </a:r>
            <a:r>
              <a:rPr lang="en-US" altLang="zh-TW" b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printf(</a:t>
            </a:r>
            <a:r>
              <a:rPr lang="en-US" altLang="zh-TW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"*"</a:t>
            </a: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printf(</a:t>
            </a:r>
            <a:r>
              <a:rPr lang="en-US" altLang="zh-TW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"\n"</a:t>
            </a:r>
            <a:r>
              <a:rPr lang="en-US" altLang="zh-TW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</p:txBody>
      </p:sp>
      <p:sp>
        <p:nvSpPr>
          <p:cNvPr id="38916" name="Rectangle 4"/>
          <p:cNvSpPr>
            <a:spLocks/>
          </p:cNvSpPr>
          <p:nvPr/>
        </p:nvSpPr>
        <p:spPr bwMode="auto">
          <a:xfrm>
            <a:off x="1331640" y="4666120"/>
            <a:ext cx="3799117" cy="1661993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7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(j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j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25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j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"*"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850" y="4744886"/>
            <a:ext cx="2798654" cy="150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5237187" y="4688594"/>
            <a:ext cx="1207021" cy="49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28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9" name="矩形 8"/>
          <p:cNvSpPr/>
          <p:nvPr/>
        </p:nvSpPr>
        <p:spPr>
          <a:xfrm>
            <a:off x="208533" y="4665140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2-17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83619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2974" y="5313164"/>
            <a:ext cx="7783482" cy="1356196"/>
          </a:xfrm>
        </p:spPr>
        <p:txBody>
          <a:bodyPr anchor="t"/>
          <a:lstStyle/>
          <a:p>
            <a:pPr marL="624800"/>
            <a:r>
              <a:rPr kumimoji="0" lang="zh-TW" altLang="en-US" sz="2800" dirty="0">
                <a:latin typeface="Helvetica" pitchFamily="-84" charset="0"/>
                <a:sym typeface="Helvetica" pitchFamily="-84" charset="0"/>
              </a:rPr>
              <a:t>外層迴圈負責反覆六次印出六行字串，內層迴圈則負責在每一行顯示連續的英文字母，每一行顯示的字母範圍都不一樣。</a:t>
            </a:r>
          </a:p>
        </p:txBody>
      </p:sp>
      <p:sp>
        <p:nvSpPr>
          <p:cNvPr id="39938" name="Rectangle 2"/>
          <p:cNvSpPr>
            <a:spLocks/>
          </p:cNvSpPr>
          <p:nvPr/>
        </p:nvSpPr>
        <p:spPr bwMode="auto">
          <a:xfrm>
            <a:off x="181862" y="786184"/>
            <a:ext cx="6838410" cy="4154984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row;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(row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row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6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row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'A'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row);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'A'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"%c"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ch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"\n"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39939" name="Text Box 10"/>
          <p:cNvSpPr txBox="1">
            <a:spLocks noChangeArrowheads="1"/>
          </p:cNvSpPr>
          <p:nvPr/>
        </p:nvSpPr>
        <p:spPr bwMode="auto">
          <a:xfrm>
            <a:off x="7135247" y="2264801"/>
            <a:ext cx="1973257" cy="2280893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1">
                <a:latin typeface="Courier New" pitchFamily="49" charset="0"/>
                <a:ea typeface="微軟正黑體" pitchFamily="34" charset="-120"/>
              </a:rPr>
              <a:t>ABCDEFGHIJ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1">
                <a:latin typeface="Courier New" pitchFamily="49" charset="0"/>
                <a:ea typeface="微軟正黑體" pitchFamily="34" charset="-120"/>
              </a:rPr>
              <a:t>BCDEFGHIJ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1">
                <a:latin typeface="Courier New" pitchFamily="49" charset="0"/>
                <a:ea typeface="微軟正黑體" pitchFamily="34" charset="-120"/>
              </a:rPr>
              <a:t>CDEFGHIJ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1">
                <a:latin typeface="Courier New" pitchFamily="49" charset="0"/>
                <a:ea typeface="微軟正黑體" pitchFamily="34" charset="-120"/>
              </a:rPr>
              <a:t>DEFGHIJ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1">
                <a:latin typeface="Courier New" pitchFamily="49" charset="0"/>
                <a:ea typeface="微軟正黑體" pitchFamily="34" charset="-120"/>
              </a:rPr>
              <a:t>EFGHIJ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2400" b="1">
                <a:latin typeface="Courier New" pitchFamily="49" charset="0"/>
                <a:ea typeface="微軟正黑體" pitchFamily="34" charset="-120"/>
              </a:rPr>
              <a:t>FGHIJ</a:t>
            </a:r>
          </a:p>
        </p:txBody>
      </p:sp>
      <p:sp>
        <p:nvSpPr>
          <p:cNvPr id="39940" name="Text Box 11"/>
          <p:cNvSpPr txBox="1">
            <a:spLocks noChangeArrowheads="1"/>
          </p:cNvSpPr>
          <p:nvPr/>
        </p:nvSpPr>
        <p:spPr bwMode="auto">
          <a:xfrm>
            <a:off x="7171530" y="1653594"/>
            <a:ext cx="1360910" cy="55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32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6" name="矩形 5"/>
          <p:cNvSpPr/>
          <p:nvPr/>
        </p:nvSpPr>
        <p:spPr>
          <a:xfrm>
            <a:off x="181862" y="479025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2-18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1751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526305" y="908720"/>
            <a:ext cx="7358063" cy="5976664"/>
          </a:xfrm>
        </p:spPr>
        <p:txBody>
          <a:bodyPr/>
          <a:lstStyle/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我們在後面的課程會詳細介紹陣列。但是這裡我們先簡介陣列的使用方法。陣列就是一連串相同型別的資料存放在連續的空間中，整個陣列的內容只需要用一個名字來統稱，而其中每個元素可以藉由索引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index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方式取出。宣告陣列的方法如下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這樣就表示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nums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是一個陣列，包含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20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個元素，每個元素可用來記錄一個型別為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float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的數值。陣列的第一個元素叫做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nums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[0]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，第二個元素是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nums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[1]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，以此類推，最後一個元素是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nums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[19]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。所以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的陣列編號方式是</a:t>
            </a:r>
            <a:r>
              <a:rPr kumimoji="0"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從</a:t>
            </a:r>
            <a:r>
              <a:rPr kumimoji="0"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</a:t>
            </a:r>
            <a:r>
              <a:rPr kumimoji="0"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開始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編號而不是從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1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開始，這一點要特別注意。每個元素可以當作一個變數來使用，譬如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或是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92969" y="178595"/>
            <a:ext cx="7608094" cy="937617"/>
          </a:xfrm>
        </p:spPr>
        <p:txBody>
          <a:bodyPr/>
          <a:lstStyle/>
          <a:p>
            <a:pPr algn="l">
              <a:defRPr/>
            </a:pPr>
            <a:r>
              <a:rPr kumimoji="0" lang="zh-TW" altLang="en-US" sz="4500" b="1">
                <a:ea typeface="Heiti TC Medium" charset="0"/>
                <a:cs typeface="Heiti TC Medium" charset="0"/>
                <a:sym typeface="Gill Sans" charset="0"/>
              </a:rPr>
              <a:t>陣列</a:t>
            </a:r>
            <a:r>
              <a:rPr kumimoji="0" lang="en-US" altLang="zh-TW" sz="4500" b="1">
                <a:ea typeface="Heiti TC Medium" charset="0"/>
                <a:cs typeface="Heiti TC Medium" charset="0"/>
                <a:sym typeface="Gill Sans" charset="0"/>
              </a:rPr>
              <a:t> (Arrays) </a:t>
            </a:r>
            <a:r>
              <a:rPr kumimoji="0" lang="zh-TW" altLang="en-US" sz="4500" b="1">
                <a:ea typeface="Heiti TC Medium" charset="0"/>
                <a:cs typeface="Heiti TC Medium" charset="0"/>
                <a:sym typeface="Gill Sans" charset="0"/>
              </a:rPr>
              <a:t>使用方法簡介</a:t>
            </a:r>
          </a:p>
        </p:txBody>
      </p:sp>
      <p:sp>
        <p:nvSpPr>
          <p:cNvPr id="40963" name="Rectangle 3"/>
          <p:cNvSpPr>
            <a:spLocks/>
          </p:cNvSpPr>
          <p:nvPr/>
        </p:nvSpPr>
        <p:spPr bwMode="auto">
          <a:xfrm>
            <a:off x="2051720" y="2897870"/>
            <a:ext cx="1989327" cy="27699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b="1" dirty="0">
                <a:solidFill>
                  <a:srgbClr val="334076"/>
                </a:solidFill>
                <a:latin typeface="Courier" charset="0"/>
                <a:cs typeface="Courier" charset="0"/>
                <a:sym typeface="Courier" charset="0"/>
              </a:rPr>
              <a:t>float</a:t>
            </a:r>
            <a:r>
              <a:rPr lang="en-US" altLang="zh-TW" dirty="0">
                <a:solidFill>
                  <a:srgbClr val="000000"/>
                </a:solidFill>
                <a:latin typeface="Courier" charset="0"/>
                <a:cs typeface="Courier" charset="0"/>
                <a:sym typeface="Courier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nums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[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Courier" charset="0"/>
                <a:cs typeface="Courier" charset="0"/>
                <a:sym typeface="Courier" charset="0"/>
              </a:rPr>
              <a:t>];</a:t>
            </a:r>
          </a:p>
        </p:txBody>
      </p:sp>
      <p:sp>
        <p:nvSpPr>
          <p:cNvPr id="40964" name="Rectangle 4"/>
          <p:cNvSpPr>
            <a:spLocks/>
          </p:cNvSpPr>
          <p:nvPr/>
        </p:nvSpPr>
        <p:spPr bwMode="auto">
          <a:xfrm>
            <a:off x="3779912" y="5233528"/>
            <a:ext cx="1899559" cy="553998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nums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[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3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]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3.4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nums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[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9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]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18.5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;</a:t>
            </a:r>
          </a:p>
        </p:txBody>
      </p:sp>
      <p:sp>
        <p:nvSpPr>
          <p:cNvPr id="40965" name="Rectangle 5"/>
          <p:cNvSpPr>
            <a:spLocks/>
          </p:cNvSpPr>
          <p:nvPr/>
        </p:nvSpPr>
        <p:spPr bwMode="auto">
          <a:xfrm>
            <a:off x="1763688" y="6167469"/>
            <a:ext cx="7134967" cy="27699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(</a:t>
            </a:r>
            <a:r>
              <a:rPr lang="en-US" altLang="zh-TW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"%f"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,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&amp;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nums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[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4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]);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/* </a:t>
            </a:r>
            <a:r>
              <a:rPr lang="zh-TW" altLang="en-US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讀入一個小數存放在第五個元素裡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charset="0"/>
              </a:rPr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7392344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2977" y="332657"/>
            <a:ext cx="7358063" cy="5464969"/>
          </a:xfrm>
        </p:spPr>
        <p:txBody>
          <a:bodyPr anchor="t"/>
          <a:lstStyle/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由於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並不會去檢查我們給的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index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是否超出當初宣告的陣列大小範圍，所以可能會寫出下面有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bug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的程式而沒有察覺，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compiler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也不會跟我們說程式有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error</a:t>
            </a: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程式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compile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之後，執行到像是上面那兩行的時候，程式非常可能就會當掉，因為它試圖去讀取錯誤的記憶體位置中的東西。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我們還可以宣告其他類型的陣列，譬如：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endParaRPr kumimoji="0" lang="en-US" altLang="zh-TW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這裡順便複習一下，字元陣列和字串的差別只在最後是否有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'\0'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結束符號，如果要當作字串來使用，字元陣列要加入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'\0'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當作結束字元。不同型別的陣列佔用的記憶體空間也不同，例如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int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陣列每個元素佔用四個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bytes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char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陣列每個元素只佔一個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byte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</a:p>
        </p:txBody>
      </p:sp>
      <p:sp>
        <p:nvSpPr>
          <p:cNvPr id="41986" name="Rectangle 2"/>
          <p:cNvSpPr>
            <a:spLocks/>
          </p:cNvSpPr>
          <p:nvPr/>
        </p:nvSpPr>
        <p:spPr bwMode="auto">
          <a:xfrm>
            <a:off x="2307328" y="1459154"/>
            <a:ext cx="3419206" cy="553998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nums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[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]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2.5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A BUG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nums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[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30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]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3.6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i="1" dirty="0">
                <a:solidFill>
                  <a:srgbClr val="878874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/* A BUG */</a:t>
            </a:r>
          </a:p>
        </p:txBody>
      </p:sp>
      <p:sp>
        <p:nvSpPr>
          <p:cNvPr id="41987" name="Rectangle 3"/>
          <p:cNvSpPr>
            <a:spLocks/>
          </p:cNvSpPr>
          <p:nvPr/>
        </p:nvSpPr>
        <p:spPr bwMode="auto">
          <a:xfrm>
            <a:off x="1034601" y="4221816"/>
            <a:ext cx="2097239" cy="830997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b="1" dirty="0" err="1">
                <a:solidFill>
                  <a:srgbClr val="334076"/>
                </a:solidFill>
                <a:latin typeface="Courier" charset="0"/>
                <a:cs typeface="Courier" charset="0"/>
                <a:sym typeface="Courier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urier" charset="0"/>
                <a:cs typeface="Courier" charset="0"/>
                <a:sym typeface="Courier" charset="0"/>
              </a:rPr>
              <a:t> a[</a:t>
            </a:r>
            <a:r>
              <a:rPr lang="en-US" altLang="zh-TW" dirty="0">
                <a:solidFill>
                  <a:srgbClr val="008887"/>
                </a:solidFill>
                <a:latin typeface="Courier" charset="0"/>
                <a:cs typeface="Courier" charset="0"/>
                <a:sym typeface="Courier" charset="0"/>
              </a:rPr>
              <a:t>3</a:t>
            </a:r>
            <a:r>
              <a:rPr lang="en-US" altLang="zh-TW" dirty="0">
                <a:solidFill>
                  <a:srgbClr val="000000"/>
                </a:solidFill>
                <a:latin typeface="Courier" charset="0"/>
                <a:cs typeface="Courier" charset="0"/>
                <a:sym typeface="Courier" charset="0"/>
              </a:rPr>
              <a:t>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b="1" dirty="0" smtClean="0">
                <a:solidFill>
                  <a:srgbClr val="334076"/>
                </a:solidFill>
                <a:latin typeface="Courier" charset="0"/>
                <a:cs typeface="Courier" charset="0"/>
                <a:sym typeface="Courier" charset="0"/>
              </a:rPr>
              <a:t>long </a:t>
            </a:r>
            <a:r>
              <a:rPr lang="en-US" altLang="zh-TW" b="1" dirty="0" err="1" smtClean="0">
                <a:solidFill>
                  <a:srgbClr val="334076"/>
                </a:solidFill>
                <a:latin typeface="Courier" charset="0"/>
                <a:cs typeface="Courier" charset="0"/>
                <a:sym typeface="Courier" charset="0"/>
              </a:rPr>
              <a:t>long</a:t>
            </a:r>
            <a:r>
              <a:rPr lang="en-US" altLang="zh-TW" dirty="0" smtClean="0">
                <a:solidFill>
                  <a:srgbClr val="000000"/>
                </a:solidFill>
                <a:latin typeface="Courier" charset="0"/>
                <a:cs typeface="Courier" charset="0"/>
                <a:sym typeface="Courier" charset="0"/>
              </a:rPr>
              <a:t> c[</a:t>
            </a:r>
            <a:r>
              <a:rPr lang="en-US" altLang="zh-TW" dirty="0">
                <a:solidFill>
                  <a:srgbClr val="008887"/>
                </a:solidFill>
                <a:latin typeface="Courier" charset="0"/>
                <a:cs typeface="Courier" charset="0"/>
                <a:sym typeface="Courier" charset="0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Courier" charset="0"/>
                <a:cs typeface="Courier" charset="0"/>
                <a:sym typeface="Courier" charset="0"/>
              </a:rPr>
              <a:t>];</a:t>
            </a:r>
            <a:endParaRPr lang="en-US" altLang="zh-TW" dirty="0">
              <a:solidFill>
                <a:srgbClr val="000000"/>
              </a:solidFill>
              <a:latin typeface="Courier" charset="0"/>
              <a:cs typeface="Courier" charset="0"/>
              <a:sym typeface="Courier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b="1" dirty="0">
                <a:solidFill>
                  <a:srgbClr val="334076"/>
                </a:solidFill>
                <a:latin typeface="Courier" charset="0"/>
                <a:cs typeface="Courier" charset="0"/>
                <a:sym typeface="Courier" charset="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Courier" charset="0"/>
                <a:cs typeface="Courier" charset="0"/>
                <a:sym typeface="Courier" charset="0"/>
              </a:rPr>
              <a:t> b[</a:t>
            </a:r>
            <a:r>
              <a:rPr lang="en-US" altLang="zh-TW" dirty="0">
                <a:solidFill>
                  <a:srgbClr val="008887"/>
                </a:solidFill>
                <a:latin typeface="Courier" charset="0"/>
                <a:cs typeface="Courier" charset="0"/>
                <a:sym typeface="Courier" charset="0"/>
              </a:rPr>
              <a:t>3</a:t>
            </a:r>
            <a:r>
              <a:rPr lang="en-US" altLang="zh-TW" dirty="0">
                <a:solidFill>
                  <a:srgbClr val="000000"/>
                </a:solidFill>
                <a:latin typeface="Courier" charset="0"/>
                <a:cs typeface="Courier" charset="0"/>
                <a:sym typeface="Courier" charset="0"/>
              </a:rPr>
              <a:t>];</a:t>
            </a:r>
          </a:p>
        </p:txBody>
      </p:sp>
      <p:grpSp>
        <p:nvGrpSpPr>
          <p:cNvPr id="41988" name="群組 32"/>
          <p:cNvGrpSpPr>
            <a:grpSpLocks/>
          </p:cNvGrpSpPr>
          <p:nvPr/>
        </p:nvGrpSpPr>
        <p:grpSpPr bwMode="auto">
          <a:xfrm>
            <a:off x="3235978" y="4149080"/>
            <a:ext cx="5734568" cy="289267"/>
            <a:chOff x="3066405" y="5105400"/>
            <a:chExt cx="3632832" cy="228600"/>
          </a:xfrm>
        </p:grpSpPr>
        <p:sp>
          <p:nvSpPr>
            <p:cNvPr id="41999" name="Rectangle 13"/>
            <p:cNvSpPr>
              <a:spLocks noChangeArrowheads="1"/>
            </p:cNvSpPr>
            <p:nvPr/>
          </p:nvSpPr>
          <p:spPr bwMode="auto">
            <a:xfrm>
              <a:off x="5488293" y="5105400"/>
              <a:ext cx="1210944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TW" sz="1600" dirty="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a[2]</a:t>
              </a:r>
            </a:p>
          </p:txBody>
        </p:sp>
        <p:sp>
          <p:nvSpPr>
            <p:cNvPr id="42000" name="Rectangle 12"/>
            <p:cNvSpPr>
              <a:spLocks noChangeArrowheads="1"/>
            </p:cNvSpPr>
            <p:nvPr/>
          </p:nvSpPr>
          <p:spPr bwMode="auto">
            <a:xfrm>
              <a:off x="4277349" y="5105400"/>
              <a:ext cx="1210944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TW" dirty="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a[1]</a:t>
              </a:r>
            </a:p>
          </p:txBody>
        </p:sp>
        <p:sp>
          <p:nvSpPr>
            <p:cNvPr id="42001" name="Rectangle 11"/>
            <p:cNvSpPr>
              <a:spLocks noChangeArrowheads="1"/>
            </p:cNvSpPr>
            <p:nvPr/>
          </p:nvSpPr>
          <p:spPr bwMode="auto">
            <a:xfrm>
              <a:off x="3066405" y="5105400"/>
              <a:ext cx="1210944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TW" dirty="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a[0]</a:t>
              </a:r>
            </a:p>
          </p:txBody>
        </p:sp>
        <p:sp>
          <p:nvSpPr>
            <p:cNvPr id="42002" name="Line 15"/>
            <p:cNvSpPr>
              <a:spLocks noChangeShapeType="1"/>
            </p:cNvSpPr>
            <p:nvPr/>
          </p:nvSpPr>
          <p:spPr bwMode="auto">
            <a:xfrm>
              <a:off x="3066405" y="5105400"/>
              <a:ext cx="36328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2003" name="Line 16"/>
            <p:cNvSpPr>
              <a:spLocks noChangeShapeType="1"/>
            </p:cNvSpPr>
            <p:nvPr/>
          </p:nvSpPr>
          <p:spPr bwMode="auto">
            <a:xfrm>
              <a:off x="3066405" y="5334000"/>
              <a:ext cx="363283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2004" name="Line 17"/>
            <p:cNvSpPr>
              <a:spLocks noChangeShapeType="1"/>
            </p:cNvSpPr>
            <p:nvPr/>
          </p:nvSpPr>
          <p:spPr bwMode="auto">
            <a:xfrm>
              <a:off x="3066405" y="5105400"/>
              <a:ext cx="0" cy="228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2005" name="Line 18"/>
            <p:cNvSpPr>
              <a:spLocks noChangeShapeType="1"/>
            </p:cNvSpPr>
            <p:nvPr/>
          </p:nvSpPr>
          <p:spPr bwMode="auto">
            <a:xfrm>
              <a:off x="4277349" y="510540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2006" name="Line 19"/>
            <p:cNvSpPr>
              <a:spLocks noChangeShapeType="1"/>
            </p:cNvSpPr>
            <p:nvPr/>
          </p:nvSpPr>
          <p:spPr bwMode="auto">
            <a:xfrm>
              <a:off x="5488293" y="510540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2007" name="Line 21"/>
            <p:cNvSpPr>
              <a:spLocks noChangeShapeType="1"/>
            </p:cNvSpPr>
            <p:nvPr/>
          </p:nvSpPr>
          <p:spPr bwMode="auto">
            <a:xfrm>
              <a:off x="6699237" y="5105400"/>
              <a:ext cx="0" cy="228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</p:grpSp>
      <p:grpSp>
        <p:nvGrpSpPr>
          <p:cNvPr id="41989" name="群組 33"/>
          <p:cNvGrpSpPr>
            <a:grpSpLocks/>
          </p:cNvGrpSpPr>
          <p:nvPr/>
        </p:nvGrpSpPr>
        <p:grpSpPr bwMode="auto">
          <a:xfrm>
            <a:off x="3245838" y="4837332"/>
            <a:ext cx="1542189" cy="319860"/>
            <a:chOff x="3066405" y="5410200"/>
            <a:chExt cx="1207505" cy="228600"/>
          </a:xfrm>
        </p:grpSpPr>
        <p:sp>
          <p:nvSpPr>
            <p:cNvPr id="41990" name="Line 28"/>
            <p:cNvSpPr>
              <a:spLocks noChangeShapeType="1"/>
            </p:cNvSpPr>
            <p:nvPr/>
          </p:nvSpPr>
          <p:spPr bwMode="auto">
            <a:xfrm>
              <a:off x="3066405" y="5410200"/>
              <a:ext cx="12075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1991" name="Rectangle 25"/>
            <p:cNvSpPr>
              <a:spLocks noChangeArrowheads="1"/>
            </p:cNvSpPr>
            <p:nvPr/>
          </p:nvSpPr>
          <p:spPr bwMode="auto">
            <a:xfrm>
              <a:off x="3871408" y="5410200"/>
              <a:ext cx="402501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TW" sz="140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b[2]</a:t>
              </a:r>
            </a:p>
          </p:txBody>
        </p:sp>
        <p:sp>
          <p:nvSpPr>
            <p:cNvPr id="41992" name="Rectangle 26"/>
            <p:cNvSpPr>
              <a:spLocks noChangeArrowheads="1"/>
            </p:cNvSpPr>
            <p:nvPr/>
          </p:nvSpPr>
          <p:spPr bwMode="auto">
            <a:xfrm>
              <a:off x="3468906" y="5410200"/>
              <a:ext cx="402501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TW" sz="140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b[1]</a:t>
              </a:r>
            </a:p>
          </p:txBody>
        </p:sp>
        <p:sp>
          <p:nvSpPr>
            <p:cNvPr id="41993" name="Rectangle 27"/>
            <p:cNvSpPr>
              <a:spLocks noChangeArrowheads="1"/>
            </p:cNvSpPr>
            <p:nvPr/>
          </p:nvSpPr>
          <p:spPr bwMode="auto">
            <a:xfrm>
              <a:off x="3066405" y="5410200"/>
              <a:ext cx="402501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TW" sz="140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b[0]</a:t>
              </a:r>
            </a:p>
          </p:txBody>
        </p:sp>
        <p:sp>
          <p:nvSpPr>
            <p:cNvPr id="41994" name="Line 29"/>
            <p:cNvSpPr>
              <a:spLocks noChangeShapeType="1"/>
            </p:cNvSpPr>
            <p:nvPr/>
          </p:nvSpPr>
          <p:spPr bwMode="auto">
            <a:xfrm>
              <a:off x="3066406" y="5638800"/>
              <a:ext cx="12075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1995" name="Line 30"/>
            <p:cNvSpPr>
              <a:spLocks noChangeShapeType="1"/>
            </p:cNvSpPr>
            <p:nvPr/>
          </p:nvSpPr>
          <p:spPr bwMode="auto">
            <a:xfrm>
              <a:off x="3066405" y="5410200"/>
              <a:ext cx="0" cy="228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1996" name="Line 31"/>
            <p:cNvSpPr>
              <a:spLocks noChangeShapeType="1"/>
            </p:cNvSpPr>
            <p:nvPr/>
          </p:nvSpPr>
          <p:spPr bwMode="auto">
            <a:xfrm>
              <a:off x="3468906" y="541020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1997" name="Line 32"/>
            <p:cNvSpPr>
              <a:spLocks noChangeShapeType="1"/>
            </p:cNvSpPr>
            <p:nvPr/>
          </p:nvSpPr>
          <p:spPr bwMode="auto">
            <a:xfrm>
              <a:off x="3871408" y="541020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41998" name="Line 34"/>
            <p:cNvSpPr>
              <a:spLocks noChangeShapeType="1"/>
            </p:cNvSpPr>
            <p:nvPr/>
          </p:nvSpPr>
          <p:spPr bwMode="auto">
            <a:xfrm>
              <a:off x="4273909" y="5410200"/>
              <a:ext cx="0" cy="228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4400">
                <a:solidFill>
                  <a:srgbClr val="000000"/>
                </a:solidFill>
                <a:sym typeface="Gill Sans" pitchFamily="-84" charset="0"/>
              </a:endParaRPr>
            </a:p>
          </p:txBody>
        </p:sp>
      </p:grpSp>
      <p:grpSp>
        <p:nvGrpSpPr>
          <p:cNvPr id="25" name="群組 32"/>
          <p:cNvGrpSpPr>
            <a:grpSpLocks/>
          </p:cNvGrpSpPr>
          <p:nvPr/>
        </p:nvGrpSpPr>
        <p:grpSpPr bwMode="auto">
          <a:xfrm>
            <a:off x="3245837" y="4492589"/>
            <a:ext cx="5724704" cy="265617"/>
            <a:chOff x="3066405" y="5105400"/>
            <a:chExt cx="1823124" cy="228600"/>
          </a:xfrm>
        </p:grpSpPr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4277349" y="5105401"/>
              <a:ext cx="612180" cy="202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TW" sz="1400" dirty="0" smtClean="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c[1</a:t>
              </a:r>
              <a:r>
                <a:rPr lang="en-US" altLang="zh-TW" sz="1400" dirty="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]</a:t>
              </a:r>
            </a:p>
          </p:txBody>
        </p:sp>
        <p:sp>
          <p:nvSpPr>
            <p:cNvPr id="28" name="Rectangle 11"/>
            <p:cNvSpPr>
              <a:spLocks noChangeArrowheads="1"/>
            </p:cNvSpPr>
            <p:nvPr/>
          </p:nvSpPr>
          <p:spPr bwMode="auto">
            <a:xfrm>
              <a:off x="3066405" y="5105400"/>
              <a:ext cx="1210944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altLang="zh-TW" sz="1400" dirty="0" smtClean="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c[0</a:t>
              </a:r>
              <a:r>
                <a:rPr lang="en-US" altLang="zh-TW" sz="1400" dirty="0">
                  <a:solidFill>
                    <a:srgbClr val="000000"/>
                  </a:solidFill>
                  <a:latin typeface="Courier New" pitchFamily="49" charset="0"/>
                  <a:ea typeface="微軟正黑體" pitchFamily="34" charset="-120"/>
                  <a:sym typeface="Gill Sans" pitchFamily="-84" charset="0"/>
                </a:rPr>
                <a:t>]</a:t>
              </a:r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3066405" y="5105400"/>
              <a:ext cx="182312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36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30" name="Line 16"/>
            <p:cNvSpPr>
              <a:spLocks noChangeShapeType="1"/>
            </p:cNvSpPr>
            <p:nvPr/>
          </p:nvSpPr>
          <p:spPr bwMode="auto">
            <a:xfrm>
              <a:off x="3066405" y="5334000"/>
              <a:ext cx="182312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36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3066405" y="5105400"/>
              <a:ext cx="0" cy="228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3600">
                <a:solidFill>
                  <a:srgbClr val="000000"/>
                </a:solidFill>
                <a:sym typeface="Gill Sans" pitchFamily="-84" charset="0"/>
              </a:endParaRP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>
              <a:off x="4277349" y="510540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3600">
                <a:solidFill>
                  <a:srgbClr val="000000"/>
                </a:solidFill>
                <a:sym typeface="Gill Sans" pitchFamily="-84" charset="0"/>
              </a:endParaRPr>
            </a:p>
          </p:txBody>
        </p:sp>
      </p:grpSp>
      <p:sp>
        <p:nvSpPr>
          <p:cNvPr id="2" name="流程圖: 打孔紙帶 1"/>
          <p:cNvSpPr/>
          <p:nvPr/>
        </p:nvSpPr>
        <p:spPr bwMode="auto">
          <a:xfrm rot="16200000" flipV="1">
            <a:off x="8668062" y="4589521"/>
            <a:ext cx="400220" cy="95399"/>
          </a:xfrm>
          <a:prstGeom prst="flowChartPunchedTap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45720" rIns="3600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Heiti TC Light" charset="0"/>
              <a:cs typeface="Heiti TC Light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119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71" y="178594"/>
            <a:ext cx="7358063" cy="919758"/>
          </a:xfrm>
        </p:spPr>
        <p:txBody>
          <a:bodyPr/>
          <a:lstStyle/>
          <a:p>
            <a:pPr eaLnBrk="1" hangingPunct="1"/>
            <a:r>
              <a:rPr kumimoji="0" lang="zh-TW" altLang="en-US" sz="3800" dirty="0">
                <a:latin typeface="文泉驛微米黑" pitchFamily="34" charset="-120"/>
                <a:ea typeface="文泉驛微米黑" pitchFamily="34" charset="-120"/>
              </a:rPr>
              <a:t>字元陣列</a:t>
            </a:r>
            <a:r>
              <a:rPr kumimoji="0" lang="en-US" altLang="zh-TW" sz="3800" dirty="0">
                <a:latin typeface="文泉驛微米黑" pitchFamily="34" charset="-120"/>
                <a:ea typeface="文泉驛微米黑" pitchFamily="34" charset="-120"/>
              </a:rPr>
              <a:t> character </a:t>
            </a:r>
            <a:r>
              <a:rPr kumimoji="0" lang="en-US" altLang="zh-TW" sz="3800" dirty="0" smtClean="0">
                <a:latin typeface="文泉驛微米黑" pitchFamily="34" charset="-120"/>
                <a:ea typeface="文泉驛微米黑" pitchFamily="34" charset="-120"/>
              </a:rPr>
              <a:t>array </a:t>
            </a:r>
            <a:r>
              <a:rPr kumimoji="0" lang="zh-TW" altLang="en-US" sz="3800" dirty="0">
                <a:latin typeface="文泉驛微米黑" pitchFamily="34" charset="-120"/>
                <a:ea typeface="文泉驛微米黑" pitchFamily="34" charset="-120"/>
              </a:rPr>
              <a:t>與字串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2971" y="1107281"/>
            <a:ext cx="7358063" cy="4857750"/>
          </a:xfrm>
        </p:spPr>
        <p:txBody>
          <a:bodyPr/>
          <a:lstStyle/>
          <a:p>
            <a:pPr marL="624992" eaLnBrk="1" hangingPunct="1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字串裡的字元必須連續地存放在記憶體中，所以剛好可以用陣列來儲存，因為陣列就是一連串的記憶體空間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cs typeface="Calibri" pitchFamily="34" charset="0"/>
            </a:endParaRPr>
          </a:p>
          <a:p>
            <a:pPr marL="624992" eaLnBrk="1" hangingPunct="1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字元陣列的每一格空間可以存放一個字元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(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char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)</a:t>
            </a:r>
          </a:p>
          <a:p>
            <a:pPr marL="624992" eaLnBrk="1" hangingPunct="1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當我們宣告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char name[10];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表示要保留十格空間存放十個字元，每一格可以容納一個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char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型別的資料</a:t>
            </a:r>
            <a:endParaRPr kumimoji="0" lang="en-US" altLang="zh-TW" sz="2000" dirty="0">
              <a:latin typeface="微軟正黑體" pitchFamily="34" charset="-120"/>
              <a:ea typeface="微軟正黑體" pitchFamily="34" charset="-120"/>
              <a:cs typeface="Calibri" pitchFamily="34" charset="0"/>
            </a:endParaRPr>
          </a:p>
          <a:p>
            <a:pPr marL="624992" eaLnBrk="1" hangingPunct="1"/>
            <a:r>
              <a:rPr kumimoji="0" lang="zh-TW" altLang="en-US" sz="2000" dirty="0" smtClean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為了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標記整個字串究竟在哪裡算是結尾，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C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語言使用一個特殊的字元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'\0'</a:t>
            </a:r>
            <a:r>
              <a:rPr kumimoji="0"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來表示字串結尾。字元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'\0'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對應到的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ASCII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值是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0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。我們也可以用整數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0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來代替字元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'\0'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，但為了有所區別，當字元使用時最好寫成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 </a:t>
            </a:r>
            <a:r>
              <a:rPr kumimoji="0" lang="en-US" altLang="zh-TW" sz="2000" b="1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'\0'</a:t>
            </a:r>
          </a:p>
          <a:p>
            <a:pPr marL="624992" eaLnBrk="1" hangingPunct="1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cs typeface="Calibri" pitchFamily="34" charset="0"/>
              </a:rPr>
              <a:t>宣告一個字元變數和宣告一個陣列的差別可以用下圖來表示</a:t>
            </a:r>
          </a:p>
        </p:txBody>
      </p:sp>
      <p:pic>
        <p:nvPicPr>
          <p:cNvPr id="4710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894426"/>
            <a:ext cx="7007176" cy="774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Rectangle 5"/>
          <p:cNvSpPr>
            <a:spLocks/>
          </p:cNvSpPr>
          <p:nvPr/>
        </p:nvSpPr>
        <p:spPr bwMode="auto">
          <a:xfrm>
            <a:off x="1043608" y="5877272"/>
            <a:ext cx="10050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 defTabSz="642882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200">
                <a:solidFill>
                  <a:srgbClr val="000000"/>
                </a:solidFill>
                <a:ea typeface="新細明體" pitchFamily="18" charset="-120"/>
                <a:sym typeface="Gill Sans" pitchFamily="-84" charset="0"/>
              </a:rPr>
              <a:t>char ch;</a:t>
            </a:r>
          </a:p>
        </p:txBody>
      </p:sp>
      <p:sp>
        <p:nvSpPr>
          <p:cNvPr id="47111" name="Rectangle 6"/>
          <p:cNvSpPr>
            <a:spLocks/>
          </p:cNvSpPr>
          <p:nvPr/>
        </p:nvSpPr>
        <p:spPr bwMode="auto">
          <a:xfrm>
            <a:off x="251520" y="6330419"/>
            <a:ext cx="18851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 defTabSz="642882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200">
                <a:solidFill>
                  <a:srgbClr val="000000"/>
                </a:solidFill>
                <a:ea typeface="新細明體" pitchFamily="18" charset="-120"/>
                <a:sym typeface="Gill Sans" pitchFamily="-84" charset="0"/>
              </a:rPr>
              <a:t>char name[10];</a:t>
            </a:r>
          </a:p>
        </p:txBody>
      </p:sp>
    </p:spTree>
    <p:extLst>
      <p:ext uri="{BB962C8B-B14F-4D97-AF65-F5344CB8AC3E}">
        <p14:creationId xmlns:p14="http://schemas.microsoft.com/office/powerpoint/2010/main" val="12601920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892970" y="476672"/>
            <a:ext cx="7358063" cy="6048672"/>
          </a:xfrm>
        </p:spPr>
        <p:txBody>
          <a:bodyPr/>
          <a:lstStyle/>
          <a:p>
            <a:pPr marL="624992" eaLnBrk="1" hangingPunct="1">
              <a:spcBef>
                <a:spcPts val="2000"/>
              </a:spcBef>
            </a:pPr>
            <a:r>
              <a:rPr kumimoji="0" lang="zh-TW" altLang="en-US" sz="2400" dirty="0">
                <a:cs typeface="Calibri" pitchFamily="34" charset="0"/>
              </a:rPr>
              <a:t>宣告陣列產生一個可以容納十個字元的</a:t>
            </a:r>
            <a:r>
              <a:rPr kumimoji="0" lang="en-US" altLang="zh-TW" sz="2400" dirty="0">
                <a:cs typeface="Calibri" pitchFamily="34" charset="0"/>
              </a:rPr>
              <a:t> array</a:t>
            </a:r>
            <a:r>
              <a:rPr kumimoji="0" lang="zh-TW" altLang="en-US" sz="2400" dirty="0">
                <a:cs typeface="Calibri" pitchFamily="34" charset="0"/>
              </a:rPr>
              <a:t>，準備用來記錄使用者輸入</a:t>
            </a:r>
            <a:r>
              <a:rPr kumimoji="0" lang="zh-TW" altLang="en-US" sz="2400" dirty="0" smtClean="0">
                <a:cs typeface="Calibri" pitchFamily="34" charset="0"/>
              </a:rPr>
              <a:t>的，因為</a:t>
            </a:r>
            <a:r>
              <a:rPr kumimoji="0" lang="zh-TW" altLang="en-US" sz="2400" dirty="0">
                <a:cs typeface="Calibri" pitchFamily="34" charset="0"/>
              </a:rPr>
              <a:t>要保留一格給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en-US" altLang="zh-TW" sz="2400" b="1" dirty="0" smtClean="0">
                <a:cs typeface="Calibri" pitchFamily="34" charset="0"/>
              </a:rPr>
              <a:t>‘\0’</a:t>
            </a:r>
            <a:r>
              <a:rPr kumimoji="0" lang="en-US" altLang="zh-TW" sz="2400" dirty="0" smtClean="0">
                <a:cs typeface="Calibri" pitchFamily="34" charset="0"/>
              </a:rPr>
              <a:t> </a:t>
            </a:r>
            <a:r>
              <a:rPr kumimoji="0" lang="zh-TW" altLang="en-US" sz="2400" dirty="0">
                <a:cs typeface="Calibri" pitchFamily="34" charset="0"/>
              </a:rPr>
              <a:t>字元來標示字串結尾，所以其實真正能用來</a:t>
            </a:r>
            <a:r>
              <a:rPr kumimoji="0" lang="zh-TW" altLang="en-US" sz="2400" dirty="0" smtClean="0">
                <a:cs typeface="Calibri" pitchFamily="34" charset="0"/>
              </a:rPr>
              <a:t>記錄字串的長度</a:t>
            </a:r>
            <a:r>
              <a:rPr kumimoji="0" lang="zh-TW" altLang="en-US" sz="2400" dirty="0">
                <a:cs typeface="Calibri" pitchFamily="34" charset="0"/>
              </a:rPr>
              <a:t>，最多只能包含九個字元。</a:t>
            </a:r>
            <a:endParaRPr kumimoji="0" lang="en-US" altLang="zh-TW" sz="2400" dirty="0">
              <a:cs typeface="Calibri" pitchFamily="34" charset="0"/>
            </a:endParaRPr>
          </a:p>
          <a:p>
            <a:pPr marL="624992" eaLnBrk="1" hangingPunct="1">
              <a:spcBef>
                <a:spcPts val="2000"/>
              </a:spcBef>
            </a:pPr>
            <a:r>
              <a:rPr kumimoji="0" lang="zh-TW" altLang="en-US" sz="2400" dirty="0">
                <a:cs typeface="Calibri" pitchFamily="34" charset="0"/>
              </a:rPr>
              <a:t>如何把字串存入陣列中呢？</a:t>
            </a:r>
            <a:r>
              <a:rPr kumimoji="0" lang="en-US" altLang="zh-TW" sz="2400" dirty="0">
                <a:cs typeface="Calibri" pitchFamily="34" charset="0"/>
              </a:rPr>
              <a:t/>
            </a:r>
            <a:br>
              <a:rPr kumimoji="0" lang="en-US" altLang="zh-TW" sz="2400" dirty="0">
                <a:cs typeface="Calibri" pitchFamily="34" charset="0"/>
              </a:rPr>
            </a:br>
            <a:r>
              <a:rPr kumimoji="0" lang="zh-TW" altLang="en-US" sz="2400" dirty="0" smtClean="0">
                <a:cs typeface="Calibri" pitchFamily="34" charset="0"/>
              </a:rPr>
              <a:t>最簡單的</a:t>
            </a:r>
            <a:r>
              <a:rPr kumimoji="0" lang="zh-TW" altLang="en-US" sz="2400" dirty="0">
                <a:cs typeface="Calibri" pitchFamily="34" charset="0"/>
              </a:rPr>
              <a:t>方法是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en-US" altLang="zh-TW" sz="2400" b="1" dirty="0" err="1">
                <a:cs typeface="Calibri" pitchFamily="34" charset="0"/>
              </a:rPr>
              <a:t>scanf</a:t>
            </a:r>
            <a:r>
              <a:rPr kumimoji="0" lang="en-US" altLang="zh-TW" sz="2400" b="1" dirty="0">
                <a:cs typeface="Calibri" pitchFamily="34" charset="0"/>
              </a:rPr>
              <a:t>("%s", name); </a:t>
            </a:r>
            <a:br>
              <a:rPr kumimoji="0" lang="en-US" altLang="zh-TW" sz="2400" b="1" dirty="0">
                <a:cs typeface="Calibri" pitchFamily="34" charset="0"/>
              </a:rPr>
            </a:br>
            <a:r>
              <a:rPr kumimoji="0" lang="zh-TW" altLang="en-US" sz="2400" dirty="0">
                <a:cs typeface="Calibri" pitchFamily="34" charset="0"/>
              </a:rPr>
              <a:t>讀取使用者輸入的字串</a:t>
            </a:r>
            <a:r>
              <a:rPr kumimoji="0" lang="zh-TW" altLang="en-US" sz="2400" dirty="0" smtClean="0">
                <a:cs typeface="Calibri" pitchFamily="34" charset="0"/>
              </a:rPr>
              <a:t>。所以</a:t>
            </a:r>
            <a:r>
              <a:rPr kumimoji="0" lang="en-US" altLang="zh-TW" sz="2400" dirty="0" smtClean="0">
                <a:cs typeface="Calibri" pitchFamily="34" charset="0"/>
              </a:rPr>
              <a:t> </a:t>
            </a:r>
            <a:r>
              <a:rPr kumimoji="0" lang="en-US" altLang="zh-TW" sz="2400" b="1" dirty="0">
                <a:cs typeface="Calibri" pitchFamily="34" charset="0"/>
              </a:rPr>
              <a:t>%s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zh-TW" altLang="en-US" sz="2400" dirty="0">
                <a:cs typeface="Calibri" pitchFamily="34" charset="0"/>
              </a:rPr>
              <a:t>就表示要把使用者輸入的東西當作</a:t>
            </a:r>
            <a:r>
              <a:rPr kumimoji="0" lang="en-US" altLang="zh-TW" sz="2400" dirty="0">
                <a:cs typeface="Calibri" pitchFamily="34" charset="0"/>
              </a:rPr>
              <a:t> "</a:t>
            </a:r>
            <a:r>
              <a:rPr kumimoji="0" lang="zh-TW" altLang="en-US" sz="2400" dirty="0">
                <a:cs typeface="Calibri" pitchFamily="34" charset="0"/>
              </a:rPr>
              <a:t>字串</a:t>
            </a:r>
            <a:r>
              <a:rPr kumimoji="0" lang="en-US" altLang="zh-TW" sz="2400" dirty="0">
                <a:cs typeface="Calibri" pitchFamily="34" charset="0"/>
              </a:rPr>
              <a:t>" </a:t>
            </a:r>
            <a:r>
              <a:rPr kumimoji="0" lang="zh-TW" altLang="en-US" sz="2400" dirty="0">
                <a:cs typeface="Calibri" pitchFamily="34" charset="0"/>
              </a:rPr>
              <a:t>讀進來，然後參數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en-US" altLang="zh-TW" sz="2400" b="1" dirty="0">
                <a:cs typeface="Calibri" pitchFamily="34" charset="0"/>
              </a:rPr>
              <a:t>name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zh-TW" altLang="en-US" sz="2400" dirty="0">
                <a:cs typeface="Calibri" pitchFamily="34" charset="0"/>
              </a:rPr>
              <a:t>就是要存放字串的陣列名稱，這個名稱所代表的意義是整個字串的開頭位址。因此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en-US" altLang="zh-TW" sz="2400" b="1" dirty="0" err="1">
                <a:cs typeface="Calibri" pitchFamily="34" charset="0"/>
              </a:rPr>
              <a:t>scanf</a:t>
            </a:r>
            <a:r>
              <a:rPr kumimoji="0" lang="en-US" altLang="zh-TW" sz="2400" b="1" dirty="0">
                <a:cs typeface="Calibri" pitchFamily="34" charset="0"/>
              </a:rPr>
              <a:t>()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zh-TW" altLang="en-US" sz="2400" dirty="0">
                <a:cs typeface="Calibri" pitchFamily="34" charset="0"/>
              </a:rPr>
              <a:t>就能由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en-US" altLang="zh-TW" sz="2400" b="1" dirty="0">
                <a:cs typeface="Calibri" pitchFamily="34" charset="0"/>
              </a:rPr>
              <a:t>name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zh-TW" altLang="en-US" sz="2400" dirty="0">
                <a:cs typeface="Calibri" pitchFamily="34" charset="0"/>
              </a:rPr>
              <a:t>找到陣列開頭位址，一格一格把字元填進去，而且會自動在最後加上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en-US" altLang="zh-TW" sz="2400" b="1" dirty="0">
                <a:cs typeface="Calibri" pitchFamily="34" charset="0"/>
              </a:rPr>
              <a:t>'\0'</a:t>
            </a:r>
            <a:r>
              <a:rPr kumimoji="0" lang="en-US" altLang="zh-TW" sz="2400" dirty="0">
                <a:cs typeface="Calibri" pitchFamily="34" charset="0"/>
              </a:rPr>
              <a:t> </a:t>
            </a:r>
            <a:r>
              <a:rPr kumimoji="0" lang="zh-TW" altLang="en-US" sz="2400" dirty="0">
                <a:cs typeface="Calibri" pitchFamily="34" charset="0"/>
              </a:rPr>
              <a:t>當作結束</a:t>
            </a:r>
            <a:r>
              <a:rPr kumimoji="0" lang="zh-TW" altLang="en-US" sz="2400" dirty="0" smtClean="0">
                <a:cs typeface="Calibri" pitchFamily="34" charset="0"/>
              </a:rPr>
              <a:t>。</a:t>
            </a:r>
            <a:endParaRPr kumimoji="0" lang="en-US" altLang="zh-TW" sz="2400" dirty="0" smtClean="0">
              <a:cs typeface="Calibri" pitchFamily="34" charset="0"/>
            </a:endParaRPr>
          </a:p>
          <a:p>
            <a:pPr marL="624992" eaLnBrk="1" hangingPunct="1">
              <a:spcBef>
                <a:spcPts val="2000"/>
              </a:spcBef>
            </a:pPr>
            <a:r>
              <a:rPr kumimoji="0" lang="zh-TW" altLang="en-US" sz="2400" dirty="0">
                <a:sym typeface="Helvetica" pitchFamily="-84" charset="0"/>
              </a:rPr>
              <a:t>字元陣列和</a:t>
            </a:r>
            <a:r>
              <a:rPr kumimoji="0" lang="zh-TW" altLang="en-US" sz="2400" dirty="0" smtClean="0">
                <a:sym typeface="Helvetica" pitchFamily="-84" charset="0"/>
              </a:rPr>
              <a:t>字串陣列的</a:t>
            </a:r>
            <a:r>
              <a:rPr kumimoji="0" lang="zh-TW" altLang="en-US" sz="2400" dirty="0">
                <a:sym typeface="Helvetica" pitchFamily="-84" charset="0"/>
              </a:rPr>
              <a:t>差別只在最後是否有</a:t>
            </a:r>
            <a:r>
              <a:rPr kumimoji="0" lang="en-US" altLang="zh-TW" sz="2400" dirty="0">
                <a:sym typeface="Helvetica" pitchFamily="-84" charset="0"/>
              </a:rPr>
              <a:t> </a:t>
            </a:r>
            <a:r>
              <a:rPr kumimoji="0" lang="en-US" altLang="zh-TW" sz="2400" dirty="0">
                <a:sym typeface="Courier New Bold" pitchFamily="-84" charset="0"/>
              </a:rPr>
              <a:t>'\0'</a:t>
            </a:r>
            <a:r>
              <a:rPr kumimoji="0" lang="en-US" altLang="zh-TW" sz="2400" dirty="0">
                <a:sym typeface="Helvetica" pitchFamily="-84" charset="0"/>
              </a:rPr>
              <a:t> </a:t>
            </a:r>
            <a:r>
              <a:rPr kumimoji="0" lang="zh-TW" altLang="en-US" sz="2400" dirty="0">
                <a:sym typeface="Helvetica" pitchFamily="-84" charset="0"/>
              </a:rPr>
              <a:t>結束</a:t>
            </a:r>
            <a:r>
              <a:rPr kumimoji="0" lang="zh-TW" altLang="en-US" sz="2400" dirty="0" smtClean="0">
                <a:sym typeface="Helvetica" pitchFamily="-84" charset="0"/>
              </a:rPr>
              <a:t>符號。</a:t>
            </a:r>
            <a:r>
              <a:rPr kumimoji="0" lang="zh-TW" altLang="en-US" sz="2400" dirty="0">
                <a:sym typeface="Helvetica" pitchFamily="-84" charset="0"/>
              </a:rPr>
              <a:t>不同型別的陣列佔用的記憶體空間也不同，例如</a:t>
            </a:r>
            <a:r>
              <a:rPr kumimoji="0" lang="en-US" altLang="zh-TW" sz="2400" dirty="0">
                <a:sym typeface="Helvetica" pitchFamily="-84" charset="0"/>
              </a:rPr>
              <a:t> </a:t>
            </a:r>
            <a:r>
              <a:rPr kumimoji="0" lang="en-US" altLang="zh-TW" sz="2400" dirty="0" err="1">
                <a:sym typeface="Courier New Bold" pitchFamily="-84" charset="0"/>
              </a:rPr>
              <a:t>int</a:t>
            </a:r>
            <a:r>
              <a:rPr kumimoji="0" lang="en-US" altLang="zh-TW" sz="2400" dirty="0">
                <a:sym typeface="Helvetica" pitchFamily="-84" charset="0"/>
              </a:rPr>
              <a:t> </a:t>
            </a:r>
            <a:r>
              <a:rPr kumimoji="0" lang="zh-TW" altLang="en-US" sz="2400" dirty="0">
                <a:sym typeface="Helvetica" pitchFamily="-84" charset="0"/>
              </a:rPr>
              <a:t>陣列每個元素佔用四個</a:t>
            </a:r>
            <a:r>
              <a:rPr kumimoji="0" lang="en-US" altLang="zh-TW" sz="2400" dirty="0">
                <a:sym typeface="Helvetica" pitchFamily="-84" charset="0"/>
              </a:rPr>
              <a:t> bytes</a:t>
            </a:r>
            <a:r>
              <a:rPr kumimoji="0" lang="zh-TW" altLang="en-US" sz="2400" dirty="0">
                <a:sym typeface="Helvetica" pitchFamily="-84" charset="0"/>
              </a:rPr>
              <a:t>，而</a:t>
            </a:r>
            <a:r>
              <a:rPr kumimoji="0" lang="en-US" altLang="zh-TW" sz="2400" dirty="0">
                <a:sym typeface="Helvetica" pitchFamily="-84" charset="0"/>
              </a:rPr>
              <a:t> </a:t>
            </a:r>
            <a:r>
              <a:rPr kumimoji="0" lang="en-US" altLang="zh-TW" sz="2400" dirty="0">
                <a:sym typeface="Courier New Bold" pitchFamily="-84" charset="0"/>
              </a:rPr>
              <a:t>char</a:t>
            </a:r>
            <a:r>
              <a:rPr kumimoji="0" lang="en-US" altLang="zh-TW" sz="2400" dirty="0">
                <a:sym typeface="Helvetica" pitchFamily="-84" charset="0"/>
              </a:rPr>
              <a:t> </a:t>
            </a:r>
            <a:r>
              <a:rPr kumimoji="0" lang="zh-TW" altLang="en-US" sz="2400" dirty="0">
                <a:sym typeface="Helvetica" pitchFamily="-84" charset="0"/>
              </a:rPr>
              <a:t>陣列每個元素只佔一個</a:t>
            </a:r>
            <a:r>
              <a:rPr kumimoji="0" lang="en-US" altLang="zh-TW" sz="2400" dirty="0">
                <a:sym typeface="Helvetica" pitchFamily="-84" charset="0"/>
              </a:rPr>
              <a:t> byte</a:t>
            </a:r>
            <a:r>
              <a:rPr kumimoji="0" lang="zh-TW" altLang="en-US" sz="2400" dirty="0" smtClean="0">
                <a:sym typeface="Helvetica" pitchFamily="-84" charset="0"/>
              </a:rPr>
              <a:t>。</a:t>
            </a:r>
            <a:endParaRPr kumimoji="0" lang="zh-TW" altLang="en-US" sz="2400" dirty="0">
              <a:sym typeface="Helvetic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2487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5004048" y="1988840"/>
            <a:ext cx="3999260" cy="4797152"/>
          </a:xfrm>
        </p:spPr>
        <p:txBody>
          <a:bodyPr/>
          <a:lstStyle/>
          <a:p>
            <a:pPr marL="624800"/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此範例先用迴圈讓使用者輸入七個</a:t>
            </a:r>
            <a:r>
              <a:rPr kumimoji="0" lang="zh-TW" altLang="en-US" sz="20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數字存在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陣列裡，然後再用迴圈一一把陣列裡的元素再顯示出來，然後再用迴圈把元素的值累加起來，最後計算出平均值</a:t>
            </a:r>
            <a:r>
              <a:rPr kumimoji="0" lang="zh-TW" altLang="en-US" sz="20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  <a:endParaRPr kumimoji="0" lang="en-US" altLang="zh-TW" sz="2000" dirty="0" smtClean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624800"/>
            <a:r>
              <a:rPr kumimoji="0" lang="zh-TW" altLang="en-US" sz="20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有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幾個要注意的地方，第一是迴圈裡的用來當陣列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index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的變數要從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開始；第二是用來累加總和並計算平均的變數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average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要先設定初值等於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0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；第三是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scanf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()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裡陣列元素的寫法，當我們要把值存入某個陣列元素時，別忘了加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&amp;</a:t>
            </a:r>
            <a:r>
              <a:rPr kumimoji="0" lang="en-US" altLang="zh-TW" sz="20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kumimoji="0" lang="zh-TW" altLang="en-US" sz="20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符號。</a:t>
            </a:r>
            <a:endParaRPr kumimoji="0" lang="zh-TW" altLang="en-US" sz="2000" dirty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92977" y="178594"/>
            <a:ext cx="7358063" cy="696516"/>
          </a:xfrm>
        </p:spPr>
        <p:txBody>
          <a:bodyPr/>
          <a:lstStyle/>
          <a:p>
            <a:pPr>
              <a:defRPr/>
            </a:pPr>
            <a:r>
              <a:rPr kumimoji="0" lang="zh-TW" altLang="en-US" sz="4500" dirty="0">
                <a:sym typeface="Gill Sans" charset="0"/>
              </a:rPr>
              <a:t>搭配陣列來使用迴圈</a:t>
            </a:r>
          </a:p>
        </p:txBody>
      </p:sp>
      <p:sp>
        <p:nvSpPr>
          <p:cNvPr id="43011" name="Rectangle 3"/>
          <p:cNvSpPr>
            <a:spLocks/>
          </p:cNvSpPr>
          <p:nvPr/>
        </p:nvSpPr>
        <p:spPr bwMode="auto">
          <a:xfrm>
            <a:off x="217662" y="904066"/>
            <a:ext cx="5074418" cy="590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sz="16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16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float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hours[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7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], average;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"Enter the hours of sleep per night last week\n"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7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"%f"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hours[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"The numbers you entered are as follows:\n"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7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  %4.1f"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hours[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average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7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average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hours[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average 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/=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7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16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"Your average hours of sleep per night were %.1f hours.\n"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average);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16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43012" name="Text Box 49"/>
          <p:cNvSpPr txBox="1">
            <a:spLocks noChangeArrowheads="1"/>
          </p:cNvSpPr>
          <p:nvPr/>
        </p:nvSpPr>
        <p:spPr bwMode="auto">
          <a:xfrm>
            <a:off x="4051090" y="928611"/>
            <a:ext cx="5057414" cy="988221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200" b="1" dirty="0">
                <a:latin typeface="Courier New" pitchFamily="49" charset="0"/>
                <a:ea typeface="微軟正黑體" pitchFamily="34" charset="-120"/>
              </a:rPr>
              <a:t>Enter the hours of sleep per night last week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200" b="1" dirty="0">
                <a:latin typeface="Courier New" pitchFamily="49" charset="0"/>
                <a:ea typeface="微軟正黑體" pitchFamily="34" charset="-120"/>
              </a:rPr>
              <a:t>9 10 4 12 13 14 3.5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200" b="1" dirty="0">
                <a:latin typeface="Courier New" pitchFamily="49" charset="0"/>
                <a:ea typeface="微軟正黑體" pitchFamily="34" charset="-120"/>
              </a:rPr>
              <a:t>The numbers you entered are as follows: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200" b="1" dirty="0">
                <a:latin typeface="Courier New" pitchFamily="49" charset="0"/>
                <a:ea typeface="微軟正黑體" pitchFamily="34" charset="-120"/>
              </a:rPr>
              <a:t>   9.0  10.0   4.0  12.0  13.0  14.0   3.5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 sz="1200" b="1" dirty="0">
                <a:latin typeface="Courier New" pitchFamily="49" charset="0"/>
                <a:ea typeface="微軟正黑體" pitchFamily="34" charset="-120"/>
              </a:rPr>
              <a:t>Your average hours of sleep per night were 9.4 hours.</a:t>
            </a:r>
          </a:p>
        </p:txBody>
      </p:sp>
      <p:sp>
        <p:nvSpPr>
          <p:cNvPr id="43013" name="Text Box 50"/>
          <p:cNvSpPr txBox="1">
            <a:spLocks noChangeArrowheads="1"/>
          </p:cNvSpPr>
          <p:nvPr/>
        </p:nvSpPr>
        <p:spPr bwMode="auto">
          <a:xfrm>
            <a:off x="3173656" y="1169823"/>
            <a:ext cx="822280" cy="341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4" tIns="32132" rIns="64264" bIns="32132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1800" dirty="0">
                <a:latin typeface="微軟正黑體" pitchFamily="34" charset="-120"/>
                <a:ea typeface="微軟正黑體" pitchFamily="34" charset="-120"/>
              </a:rPr>
              <a:t>輸出：</a:t>
            </a:r>
          </a:p>
        </p:txBody>
      </p:sp>
      <p:sp>
        <p:nvSpPr>
          <p:cNvPr id="7" name="矩形 6"/>
          <p:cNvSpPr/>
          <p:nvPr/>
        </p:nvSpPr>
        <p:spPr>
          <a:xfrm>
            <a:off x="217662" y="589796"/>
            <a:ext cx="1008112" cy="3189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46800" tIns="36000" rIns="46800" bIns="3600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ourier" pitchFamily="-84" charset="0"/>
              </a:rPr>
              <a:t>2-19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63544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for or while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1600" y="1412776"/>
            <a:ext cx="7416824" cy="5216079"/>
          </a:xfrm>
        </p:spPr>
        <p:txBody>
          <a:bodyPr anchor="t"/>
          <a:lstStyle/>
          <a:p>
            <a:pPr>
              <a:spcBef>
                <a:spcPts val="2500"/>
              </a:spcBef>
            </a:pP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在一開始使用迴圈時，一定會對於要用哪一種迴圈產生疑惑，以下對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for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與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while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做一個分析。</a:t>
            </a:r>
            <a:endParaRPr lang="en-US" altLang="zh-TW" sz="28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spcBef>
                <a:spcPts val="2500"/>
              </a:spcBef>
            </a:pP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f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or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－在確定迴圈執行次數時使用。</a:t>
            </a:r>
            <a:endParaRPr lang="en-US" altLang="zh-TW" sz="28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spcBef>
                <a:spcPts val="2500"/>
              </a:spcBef>
            </a:pP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w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hile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－在不確定迴圈執行次數，而結束點為判斷某參數之值的時候使用。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比較像是在等待某個未知的事件被達成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)</a:t>
            </a:r>
          </a:p>
          <a:p>
            <a:pPr>
              <a:spcBef>
                <a:spcPts val="2500"/>
              </a:spcBef>
            </a:pP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結論是，如果在結束時機點是已知的時候使用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for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，如果結束的時機點未知的時候使用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while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206560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0"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Gill Sans" charset="0"/>
              </a:rPr>
              <a:t>Appendix</a:t>
            </a:r>
            <a:endParaRPr kumimoji="0"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sym typeface="Gill Sans" charset="0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/>
            </a:pPr>
            <a:endParaRPr kumimoji="0" lang="zh-TW" altLang="en-US" smtClean="0"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21758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的特殊語法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83668" y="2774181"/>
            <a:ext cx="2304256" cy="508843"/>
          </a:xfrm>
        </p:spPr>
        <p:txBody>
          <a:bodyPr anchor="t"/>
          <a:lstStyle/>
          <a:p>
            <a:pPr marL="187461" indent="0">
              <a:buNone/>
            </a:pP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也可以寫為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829462" y="1434648"/>
            <a:ext cx="23391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srgbClr val="0070C0"/>
                </a:solidFill>
              </a:rPr>
              <a:t>i</a:t>
            </a:r>
            <a:r>
              <a:rPr lang="en-US" altLang="zh-TW" dirty="0" err="1" smtClean="0">
                <a:solidFill>
                  <a:srgbClr val="0070C0"/>
                </a:solidFill>
              </a:rPr>
              <a:t>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>
                <a:solidFill>
                  <a:srgbClr val="00B050"/>
                </a:solidFill>
              </a:rPr>
              <a:t>for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= 0; </a:t>
            </a:r>
            <a:r>
              <a:rPr lang="en-US" altLang="zh-TW" dirty="0" err="1"/>
              <a:t>i</a:t>
            </a:r>
            <a:r>
              <a:rPr lang="en-US" altLang="zh-TW" dirty="0"/>
              <a:t> &lt; 10; </a:t>
            </a:r>
            <a:r>
              <a:rPr lang="en-US" altLang="zh-TW" dirty="0" err="1"/>
              <a:t>i</a:t>
            </a:r>
            <a:r>
              <a:rPr lang="en-US" altLang="zh-TW" dirty="0" smtClean="0"/>
              <a:t>++) {</a:t>
            </a:r>
          </a:p>
          <a:p>
            <a:r>
              <a:rPr lang="en-US" altLang="zh-TW" dirty="0"/>
              <a:t>	</a:t>
            </a:r>
            <a:r>
              <a:rPr lang="en-US" altLang="zh-TW" dirty="0" smtClean="0"/>
              <a:t>…</a:t>
            </a:r>
          </a:p>
          <a:p>
            <a:r>
              <a:rPr lang="en-US" altLang="zh-TW" dirty="0"/>
              <a:t>}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1829462" y="3422228"/>
            <a:ext cx="3491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</a:rPr>
              <a:t>for</a:t>
            </a:r>
            <a:r>
              <a:rPr lang="en-US" altLang="zh-TW" dirty="0"/>
              <a:t>(</a:t>
            </a:r>
            <a:r>
              <a:rPr lang="en-US" altLang="zh-TW" dirty="0" err="1">
                <a:solidFill>
                  <a:srgbClr val="0070C0"/>
                </a:solidFill>
              </a:rPr>
              <a:t>int</a:t>
            </a:r>
            <a:r>
              <a:rPr lang="en-US" altLang="zh-TW" dirty="0"/>
              <a:t> </a:t>
            </a:r>
            <a:r>
              <a:rPr lang="en-US" altLang="zh-TW" dirty="0" err="1"/>
              <a:t>i</a:t>
            </a:r>
            <a:r>
              <a:rPr lang="en-US" altLang="zh-TW" dirty="0"/>
              <a:t> = 0; </a:t>
            </a:r>
            <a:r>
              <a:rPr lang="en-US" altLang="zh-TW" dirty="0" err="1"/>
              <a:t>i</a:t>
            </a:r>
            <a:r>
              <a:rPr lang="en-US" altLang="zh-TW" dirty="0"/>
              <a:t> &lt; 10; </a:t>
            </a:r>
            <a:r>
              <a:rPr lang="en-US" altLang="zh-TW" dirty="0" err="1"/>
              <a:t>i</a:t>
            </a:r>
            <a:r>
              <a:rPr lang="en-US" altLang="zh-TW" dirty="0" smtClean="0"/>
              <a:t>++) {</a:t>
            </a:r>
          </a:p>
          <a:p>
            <a:r>
              <a:rPr lang="en-US" altLang="zh-TW" dirty="0" smtClean="0"/>
              <a:t>	…</a:t>
            </a:r>
            <a:endParaRPr lang="en-US" altLang="zh-TW" dirty="0"/>
          </a:p>
          <a:p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 bwMode="auto">
          <a:xfrm>
            <a:off x="1547664" y="4606906"/>
            <a:ext cx="5616624" cy="50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5705" tIns="35705" rIns="35705" bIns="35705" numCol="1" anchor="t" anchorCtr="0" compatLnSpc="1">
            <a:prstTxWarp prst="textNoShape">
              <a:avLst/>
            </a:prstTxWarp>
          </a:bodyPr>
          <a:lstStyle>
            <a:lvl1pPr marL="589158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1pPr>
            <a:lvl2pPr marL="901590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2pPr>
            <a:lvl3pPr marL="1214022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3pPr>
            <a:lvl4pPr marL="1526454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4pPr>
            <a:lvl5pPr marL="1838886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pitchFamily="-84" charset="0"/>
              <a:buChar char="•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itchFamily="-84" charset="0"/>
              </a:defRPr>
            </a:lvl5pPr>
            <a:lvl6pPr marL="2160243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6pPr>
            <a:lvl7pPr marL="2481603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7pPr>
            <a:lvl8pPr marL="2802961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8pPr>
            <a:lvl9pPr marL="3124320" indent="-401697" algn="l" rtl="0" fontAlgn="base">
              <a:spcBef>
                <a:spcPts val="3375"/>
              </a:spcBef>
              <a:spcAft>
                <a:spcPct val="0"/>
              </a:spcAft>
              <a:buSzPct val="171000"/>
              <a:buFont typeface="Gill Sans" charset="0"/>
              <a:buChar char="•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charset="0"/>
              </a:defRPr>
            </a:lvl9pPr>
          </a:lstStyle>
          <a:p>
            <a:pPr defTabSz="914400">
              <a:buFont typeface="Wingdings" panose="05000000000000000000" pitchFamily="2" charset="2"/>
              <a:buChar char="l"/>
            </a:pPr>
            <a:endParaRPr lang="zh-TW" altLang="en-US" sz="28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583668" y="4656460"/>
            <a:ext cx="58326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當參數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只在此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迴圈使用的時候，下面的寫法會讓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compiler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將記憶體空間做較好的分配。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不過這僅限於</a:t>
            </a:r>
            <a:r>
              <a:rPr lang="en-US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C99</a:t>
            </a:r>
            <a:r>
              <a:rPr lang="zh-TW" altLang="en-US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以後的標準</a:t>
            </a:r>
            <a:r>
              <a:rPr lang="zh-TW" altLang="en-US" sz="2800" kern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8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3645825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標題與副標題">
  <a:themeElements>
    <a:clrScheme name="標題與副標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副標題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副標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標題與項目符號 - 右側">
  <a:themeElements>
    <a:clrScheme name="標題與項目符號 - 右側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項目符號 - 右側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項目符號 - 右側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項目符號">
  <a:themeElements>
    <a:clrScheme name="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項目符號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項目符號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標題與項目符號">
  <a:themeElements>
    <a:clrScheme name="標題與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項目符號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項目符號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標題與項目符號">
  <a:themeElements>
    <a:clrScheme name="標題與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題與項目符號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標題與項目符號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項目符號">
  <a:themeElements>
    <a:clrScheme name="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項目符號">
      <a:majorFont>
        <a:latin typeface="Gill Sans"/>
        <a:ea typeface="Heiti TC Light"/>
        <a:cs typeface="Heiti TC Light"/>
      </a:majorFont>
      <a:minorFont>
        <a:latin typeface="Gill Sans"/>
        <a:ea typeface="Heiti TC Light"/>
        <a:cs typeface="Heiti T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Heiti TC Light" charset="0"/>
            <a:cs typeface="Heiti TC Light" charset="0"/>
            <a:sym typeface="Gill Sans" charset="0"/>
          </a:defRPr>
        </a:defPPr>
      </a:lstStyle>
    </a:lnDef>
  </a:objectDefaults>
  <a:extraClrSchemeLst>
    <a:extraClrScheme>
      <a:clrScheme name="項目符號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3805</Words>
  <Application>Microsoft Office PowerPoint</Application>
  <PresentationFormat>如螢幕大小 (4:3)</PresentationFormat>
  <Paragraphs>599</Paragraphs>
  <Slides>36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36</vt:i4>
      </vt:variant>
    </vt:vector>
  </HeadingPairs>
  <TitlesOfParts>
    <vt:vector size="56" baseType="lpstr">
      <vt:lpstr>Courier</vt:lpstr>
      <vt:lpstr>Gill Sans</vt:lpstr>
      <vt:lpstr>Heiti TC Light</vt:lpstr>
      <vt:lpstr>Heiti TC Medium</vt:lpstr>
      <vt:lpstr>文泉驛微米黑</vt:lpstr>
      <vt:lpstr>微軟正黑體</vt:lpstr>
      <vt:lpstr>新細明體</vt:lpstr>
      <vt:lpstr>Arial</vt:lpstr>
      <vt:lpstr>Calibri</vt:lpstr>
      <vt:lpstr>Consolas</vt:lpstr>
      <vt:lpstr>Courier New</vt:lpstr>
      <vt:lpstr>Courier New Bold</vt:lpstr>
      <vt:lpstr>Helvetica</vt:lpstr>
      <vt:lpstr>Wingdings</vt:lpstr>
      <vt:lpstr>標題與副標題</vt:lpstr>
      <vt:lpstr>標題與項目符號 - 右側</vt:lpstr>
      <vt:lpstr>項目符號</vt:lpstr>
      <vt:lpstr>標題與項目符號</vt:lpstr>
      <vt:lpstr>2_標題與項目符號</vt:lpstr>
      <vt:lpstr>1_項目符號</vt:lpstr>
      <vt:lpstr>Loops</vt:lpstr>
      <vt:lpstr>while loop</vt:lpstr>
      <vt:lpstr>PowerPoint 簡報</vt:lpstr>
      <vt:lpstr>PowerPoint 簡報</vt:lpstr>
      <vt:lpstr>PowerPoint 簡報</vt:lpstr>
      <vt:lpstr>邏輯運算跟位元運算</vt:lpstr>
      <vt:lpstr>C-style loop</vt:lpstr>
      <vt:lpstr>注意停止條件</vt:lpstr>
      <vt:lpstr>注意停止條件</vt:lpstr>
      <vt:lpstr>PowerPoint 簡報</vt:lpstr>
      <vt:lpstr>PowerPoint 簡報</vt:lpstr>
      <vt:lpstr>註：變數size大小</vt:lpstr>
      <vt:lpstr>迴圈何時停止</vt:lpstr>
      <vt:lpstr>條件式判斷符號</vt:lpstr>
      <vt:lpstr>PowerPoint 簡報</vt:lpstr>
      <vt:lpstr>PowerPoint 簡報</vt:lpstr>
      <vt:lpstr>PowerPoint 簡報</vt:lpstr>
      <vt:lpstr>for-loop</vt:lpstr>
      <vt:lpstr>PowerPoint 簡報</vt:lpstr>
      <vt:lpstr>PowerPoint 簡報</vt:lpstr>
      <vt:lpstr>PowerPoint 簡報</vt:lpstr>
      <vt:lpstr>PowerPoint 簡報</vt:lpstr>
      <vt:lpstr>其他 Assignment 符號： +=，-=，*=，/=，%=</vt:lpstr>
      <vt:lpstr>PowerPoint 簡報</vt:lpstr>
      <vt:lpstr>使用 do ... while 迴圈</vt:lpstr>
      <vt:lpstr>PowerPoint 簡報</vt:lpstr>
      <vt:lpstr>Nested Loops 多重迴圈</vt:lpstr>
      <vt:lpstr>PowerPoint 簡報</vt:lpstr>
      <vt:lpstr>陣列 (Arrays) 使用方法簡介</vt:lpstr>
      <vt:lpstr>PowerPoint 簡報</vt:lpstr>
      <vt:lpstr>字元陣列 character array 與字串</vt:lpstr>
      <vt:lpstr>PowerPoint 簡報</vt:lpstr>
      <vt:lpstr>搭配陣列來使用迴圈</vt:lpstr>
      <vt:lpstr>使用for or while</vt:lpstr>
      <vt:lpstr>Appendix</vt:lpstr>
      <vt:lpstr>for的特殊語法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Tubou</dc:creator>
  <cp:lastModifiedBy>Tubou</cp:lastModifiedBy>
  <cp:revision>164</cp:revision>
  <dcterms:created xsi:type="dcterms:W3CDTF">2013-08-14T08:06:36Z</dcterms:created>
  <dcterms:modified xsi:type="dcterms:W3CDTF">2013-09-09T09:51:11Z</dcterms:modified>
</cp:coreProperties>
</file>