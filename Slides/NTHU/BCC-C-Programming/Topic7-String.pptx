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65" r:id="rId3"/>
    <p:sldId id="257" r:id="rId4"/>
    <p:sldId id="259" r:id="rId5"/>
    <p:sldId id="260" r:id="rId6"/>
    <p:sldId id="261" r:id="rId7"/>
    <p:sldId id="262" r:id="rId8"/>
    <p:sldId id="258" r:id="rId9"/>
    <p:sldId id="263" r:id="rId10"/>
    <p:sldId id="264" r:id="rId11"/>
    <p:sldId id="266" r:id="rId12"/>
    <p:sldId id="277" r:id="rId13"/>
    <p:sldId id="268" r:id="rId14"/>
    <p:sldId id="267" r:id="rId15"/>
    <p:sldId id="269" r:id="rId16"/>
    <p:sldId id="270" r:id="rId17"/>
    <p:sldId id="272" r:id="rId18"/>
    <p:sldId id="271" r:id="rId19"/>
    <p:sldId id="273" r:id="rId20"/>
    <p:sldId id="274" r:id="rId21"/>
    <p:sldId id="275" r:id="rId22"/>
    <p:sldId id="278" r:id="rId23"/>
    <p:sldId id="279" r:id="rId24"/>
    <p:sldId id="280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90" r:id="rId33"/>
    <p:sldId id="289" r:id="rId34"/>
    <p:sldId id="291" r:id="rId35"/>
    <p:sldId id="293" r:id="rId36"/>
    <p:sldId id="292" r:id="rId37"/>
    <p:sldId id="295" r:id="rId38"/>
    <p:sldId id="296" r:id="rId39"/>
    <p:sldId id="297" r:id="rId40"/>
    <p:sldId id="300" r:id="rId41"/>
    <p:sldId id="301" r:id="rId42"/>
    <p:sldId id="299" r:id="rId43"/>
    <p:sldId id="302" r:id="rId44"/>
  </p:sldIdLst>
  <p:sldSz cx="9144000" cy="6858000" type="screen4x3"/>
  <p:notesSz cx="6858000" cy="9144000"/>
  <p:defaultTextStyle>
    <a:defPPr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84DA3789-793D-436F-9796-6B70CD2ABC3F}">
          <p14:sldIdLst>
            <p14:sldId id="256"/>
            <p14:sldId id="265"/>
            <p14:sldId id="257"/>
            <p14:sldId id="259"/>
            <p14:sldId id="260"/>
            <p14:sldId id="261"/>
            <p14:sldId id="262"/>
            <p14:sldId id="258"/>
            <p14:sldId id="263"/>
            <p14:sldId id="264"/>
            <p14:sldId id="266"/>
            <p14:sldId id="277"/>
            <p14:sldId id="268"/>
            <p14:sldId id="267"/>
            <p14:sldId id="269"/>
            <p14:sldId id="270"/>
            <p14:sldId id="272"/>
            <p14:sldId id="271"/>
            <p14:sldId id="273"/>
            <p14:sldId id="274"/>
            <p14:sldId id="275"/>
            <p14:sldId id="278"/>
            <p14:sldId id="279"/>
            <p14:sldId id="280"/>
            <p14:sldId id="281"/>
            <p14:sldId id="283"/>
            <p14:sldId id="284"/>
            <p14:sldId id="285"/>
            <p14:sldId id="286"/>
            <p14:sldId id="287"/>
            <p14:sldId id="288"/>
            <p14:sldId id="290"/>
            <p14:sldId id="289"/>
            <p14:sldId id="291"/>
            <p14:sldId id="293"/>
            <p14:sldId id="292"/>
            <p14:sldId id="295"/>
            <p14:sldId id="296"/>
            <p14:sldId id="297"/>
            <p14:sldId id="300"/>
            <p14:sldId id="301"/>
            <p14:sldId id="299"/>
            <p14:sldId id="302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8" d="100"/>
          <a:sy n="128" d="100"/>
        </p:scale>
        <p:origin x="-304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interSettings" Target="printerSettings/printerSettings1.bin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2BF22-D590-4099-BB07-AC92A98BD5EB}" type="datetimeFigureOut">
              <a:rPr lang="zh-TW" altLang="en-US" smtClean="0"/>
              <a:t>13/9/5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6C59D-5644-4CD5-ACE4-D6625BF503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3672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8633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090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39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2908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7066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2443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0579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735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5625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4385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3485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4278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8712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7980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78726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79866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9605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97917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95432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03110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2043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7759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19600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48039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85269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91414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5459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0374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4829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48474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88710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219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47374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60491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947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39469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35892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04076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6C59D-5644-4CD5-ACE4-D6625BF50387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28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 smtClean="0"/>
              <a:t> 按一下以編輯母片子標題樣式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ECE7-0BBB-E449-B420-BE5973252217}" type="datetimeFigureOut">
              <a:rPr kumimoji="1" lang="zh-TW" altLang="en-US" smtClean="0"/>
              <a:pPr/>
              <a:t>13/9/5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90256-3DB7-3145-B972-14A5CB36973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2232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ECE7-0BBB-E449-B420-BE5973252217}" type="datetimeFigureOut">
              <a:rPr kumimoji="1" lang="zh-TW" altLang="en-US" smtClean="0"/>
              <a:pPr/>
              <a:t>13/9/5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90256-3DB7-3145-B972-14A5CB36973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397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ECE7-0BBB-E449-B420-BE5973252217}" type="datetimeFigureOut">
              <a:rPr kumimoji="1" lang="zh-TW" altLang="en-US" smtClean="0"/>
              <a:pPr/>
              <a:t>13/9/5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90256-3DB7-3145-B972-14A5CB36973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3943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ECE7-0BBB-E449-B420-BE5973252217}" type="datetimeFigureOut">
              <a:rPr kumimoji="1" lang="zh-TW" altLang="en-US" smtClean="0"/>
              <a:pPr/>
              <a:t>13/9/5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90256-3DB7-3145-B972-14A5CB36973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27259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ECE7-0BBB-E449-B420-BE5973252217}" type="datetimeFigureOut">
              <a:rPr kumimoji="1" lang="zh-TW" altLang="en-US" smtClean="0"/>
              <a:pPr/>
              <a:t>13/9/5</a:t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90256-3DB7-3145-B972-14A5CB36973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35842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ECE7-0BBB-E449-B420-BE5973252217}" type="datetimeFigureOut">
              <a:rPr kumimoji="1" lang="zh-TW" altLang="en-US" smtClean="0"/>
              <a:pPr/>
              <a:t>13/9/5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90256-3DB7-3145-B972-14A5CB36973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1935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ECE7-0BBB-E449-B420-BE5973252217}" type="datetimeFigureOut">
              <a:rPr kumimoji="1" lang="zh-TW" altLang="en-US" smtClean="0"/>
              <a:pPr/>
              <a:t>13/9/5</a:t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90256-3DB7-3145-B972-14A5CB36973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5610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ECE7-0BBB-E449-B420-BE5973252217}" type="datetimeFigureOut">
              <a:rPr kumimoji="1" lang="zh-TW" altLang="en-US" smtClean="0"/>
              <a:pPr/>
              <a:t>13/9/5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90256-3DB7-3145-B972-14A5CB36973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3876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ECE7-0BBB-E449-B420-BE5973252217}" type="datetimeFigureOut">
              <a:rPr kumimoji="1" lang="zh-TW" altLang="en-US" smtClean="0"/>
              <a:pPr/>
              <a:t>13/9/5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90256-3DB7-3145-B972-14A5CB36973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9451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ECE7-0BBB-E449-B420-BE5973252217}" type="datetimeFigureOut">
              <a:rPr kumimoji="1" lang="zh-TW" altLang="en-US" smtClean="0"/>
              <a:pPr/>
              <a:t>13/9/5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90256-3DB7-3145-B972-14A5CB36973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095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CECE7-0BBB-E449-B420-BE5973252217}" type="datetimeFigureOut">
              <a:rPr kumimoji="1" lang="zh-TW" altLang="en-US" smtClean="0"/>
              <a:pPr/>
              <a:t>13/9/5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90256-3DB7-3145-B972-14A5CB36973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945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CECE7-0BBB-E449-B420-BE5973252217}" type="datetimeFigureOut">
              <a:rPr kumimoji="1" lang="zh-TW" altLang="en-US" smtClean="0"/>
              <a:pPr/>
              <a:t>13/9/5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90256-3DB7-3145-B972-14A5CB36973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39009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pubs.opengroup.org/onlinepubs/7908799/xsh/string.h.html" TargetMode="External"/><Relationship Id="rId4" Type="http://schemas.openxmlformats.org/officeDocument/2006/relationships/hyperlink" Target="http://en.wikibooks.org/wiki/C_Programming/Strings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TW" dirty="0" smtClean="0"/>
              <a:t>String</a:t>
            </a:r>
            <a:endParaRPr kumimoji="1" lang="zh-TW" altLang="en-US" dirty="0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Topic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7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字串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055936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字串簡介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 smtClean="0"/>
              <a:t>Topic</a:t>
            </a:r>
            <a:r>
              <a:rPr kumimoji="1" lang="zh-TW" altLang="en-US" dirty="0" smtClean="0"/>
              <a:t> </a:t>
            </a:r>
            <a:r>
              <a:rPr kumimoji="1" lang="en-US" altLang="zh-TW" dirty="0"/>
              <a:t>7</a:t>
            </a:r>
            <a:r>
              <a:rPr kumimoji="1" lang="en-US" altLang="zh-TW" dirty="0" smtClean="0"/>
              <a:t>-1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76374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什麼是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String(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)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？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在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C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語言裡面，字串就是字元陣列（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Character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Array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）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[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註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]</a:t>
            </a: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例如下面這個例子：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就是利用一個長度為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1</a:t>
            </a:r>
            <a:r>
              <a:rPr kumimoji="1" lang="zh-TW" altLang="en-US" dirty="0">
                <a:latin typeface="微軟正黑體"/>
                <a:ea typeface="微軟正黑體"/>
                <a:cs typeface="微軟正黑體"/>
              </a:rPr>
              <a:t>4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的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char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array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來把字串存起來。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27941" y="6009849"/>
            <a:ext cx="905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[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註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] 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在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C++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、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Java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等更高階的語言當中，有些有獨立的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String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資料形態，但在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C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語言當中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並沒有一種叫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string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的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data type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。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6" name="圖片 5" descr="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8" y="3581870"/>
            <a:ext cx="58039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809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字串的結束符號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為什麼明明只有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13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個字元，但是卻用了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14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個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char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去存呢？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因為在每個字串的最後，都會有一個結束符號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’\0’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，表示這個字串結束了，否則在存取字串陣列的時候，很有可能會存取到其他無關的記憶體空間，會出現預期之外的程式行為，十分危險。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824594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字串的結束符號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我們也可以使用字串的結束符號來把字串切短。例如下面這個程式：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1028" name="Picture 4" descr="C:\Users\Peter\Pictures\未命名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022" y="2755922"/>
            <a:ext cx="7720778" cy="361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4066092" y="6187831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範例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7-1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4728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361258"/>
            <a:ext cx="8229600" cy="3764905"/>
          </a:xfrm>
        </p:spPr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先宣告了一個</a:t>
            </a:r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c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har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a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rray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，存了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”I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am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a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string”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，然後先印出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string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的內容與其長度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執行第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8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行的輸出結果為：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我們可以看到此字串的長度為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13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562972" y="4594297"/>
            <a:ext cx="6266033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Print </a:t>
            </a:r>
            <a:r>
              <a:rPr kumimoji="1" lang="en-US" altLang="zh-TW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string:I</a:t>
            </a:r>
            <a:r>
              <a:rPr kumimoji="1"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am a string, its </a:t>
            </a:r>
            <a:r>
              <a:rPr kumimoji="1" lang="en-US" altLang="zh-TW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kumimoji="1"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is 13</a:t>
            </a:r>
            <a:endParaRPr kumimoji="1" lang="zh-TW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Picture 4" descr="C:\Users\Peter\Pictures\未命名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54" b="45340"/>
          <a:stretch/>
        </p:blipFill>
        <p:spPr bwMode="auto">
          <a:xfrm>
            <a:off x="89338" y="893379"/>
            <a:ext cx="8972796" cy="113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3763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27482"/>
            <a:ext cx="8229600" cy="4948296"/>
          </a:xfrm>
        </p:spPr>
        <p:txBody>
          <a:bodyPr>
            <a:norm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在第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10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行的時候，把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string[5]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的內容改寫為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’\0’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（字串的結束符號）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執行第</a:t>
            </a:r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1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2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行的輸出結果為：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我們可以看到此字串的長度為</a:t>
            </a:r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5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，內容也只剩下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string[0]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到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string[4]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的內容而已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由此我們可以看出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\0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是程式判定字串結尾的符號，也可透過插入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\0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的方式，來切斷字串、改變字串長度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16000" y="3447633"/>
            <a:ext cx="4992914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Print </a:t>
            </a:r>
            <a:r>
              <a:rPr kumimoji="1" lang="en-US" altLang="zh-TW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string:I</a:t>
            </a:r>
            <a:r>
              <a:rPr kumimoji="1"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am , its </a:t>
            </a:r>
            <a:r>
              <a:rPr kumimoji="1" lang="en-US" altLang="zh-TW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kumimoji="1"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is 5</a:t>
            </a:r>
            <a:endParaRPr kumimoji="1" lang="zh-TW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Picture 4" descr="C:\Users\Peter\Pictures\未命名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19" b="19475"/>
          <a:stretch/>
        </p:blipFill>
        <p:spPr bwMode="auto">
          <a:xfrm>
            <a:off x="76613" y="462455"/>
            <a:ext cx="8972794" cy="90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6756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未直接寫定長度的字串宣告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除了剛才提到的字串宣告方式之外，還有其它幾種宣告方式，列舉於下：</a:t>
            </a:r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宣告時未直接寫定長度的字串：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範例：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這種宣告方式在宣告時未先指定長度，但是會在宣告時直接指定字串初值，其字串長度即為字串初值的長度，在這個例子當中，就是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”I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am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also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a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string”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的長度，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19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個字原加一個結束符號，總長共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20</a:t>
            </a:r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  <a:p>
            <a:pPr lvl="1"/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6" name="圖片 5" descr="undef_len_stri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986" y="3628626"/>
            <a:ext cx="7253111" cy="37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136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未直接寫定長度的字串宣告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要小心的是，如果要用剛才未直接寫定長度的字串宣告，必須要在宣告時就指定字串初值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像下面的寫法是不行的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但我們確實會有未定長度字串宣告的需求，此部分待「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Pointer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Application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」的主題再詳加討論，在這裡先不作論述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4" name="圖片 3" descr="undef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84" y="3809999"/>
            <a:ext cx="19431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389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空字串宣告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99764"/>
            <a:ext cx="8229600" cy="5100755"/>
          </a:xfrm>
        </p:spPr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如果是宣告時指定大小的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char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array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，如同一般的陣列宣告一樣，可以在宣告時給定初值，亦可不給定初值，待後續程式再給定，如同下面的程式碼：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是先宣告一個空的</a:t>
            </a:r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C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har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array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，然後再透過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scanf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把使用者輸入的東西寫到字串中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7" name="圖片 6" descr="scanf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667" y="3533657"/>
            <a:ext cx="66675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320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空字串宣告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99764"/>
            <a:ext cx="8229600" cy="5100755"/>
          </a:xfrm>
        </p:spPr>
        <p:txBody>
          <a:bodyPr>
            <a:normAutofit lnSpcReduction="10000"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亦可一個一個把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Char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填入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Char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array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當中，如下面的程式碼：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其輸出為：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4" name="圖片 3" descr="one-by-on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73" y="2455332"/>
            <a:ext cx="4519554" cy="3147013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3066815" y="5673005"/>
            <a:ext cx="3734741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string:</a:t>
            </a:r>
          </a:p>
          <a:p>
            <a:r>
              <a:rPr kumimoji="1" lang="zh-TW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kumimoji="1" lang="en-US" altLang="zh-TW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tring</a:t>
            </a:r>
            <a:r>
              <a:rPr kumimoji="1"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kumimoji="1" lang="zh-TW" altLang="en-US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endParaRPr kumimoji="1" lang="zh-TW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6623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空字串宣告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99764"/>
            <a:ext cx="8229600" cy="5100755"/>
          </a:xfrm>
        </p:spPr>
        <p:txBody>
          <a:bodyPr>
            <a:norm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但是如同一般的變數宣告，如果你一開始沒有指定初值，編譯器有可能會先幫你把初值填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0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，但初值也有可能是亂碼，故若要確保宣告的字串內容是完全空白的，可以像下面的方式宣告：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5" name="圖片 4" descr="char_emp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42" y="4233569"/>
            <a:ext cx="34671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181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366888"/>
            <a:ext cx="8229600" cy="5907853"/>
          </a:xfrm>
        </p:spPr>
        <p:txBody>
          <a:bodyPr>
            <a:normAutofit fontScale="92500" lnSpcReduction="10000"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接下來介紹幾個常用的字串處理函式，大部份的字串處理相關函式都在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string.h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當中，少部分如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sprintf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、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scanf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等是在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stdio.h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當中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我們在課堂上不會將所有在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string.h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的函式都講過，只會講較常用者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但如果對字串處理有興趣的同學，可以參考下列網址，自行研讀其他上課未提到的函式：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en-US" altLang="zh-TW" dirty="0" smtClean="0">
                <a:latin typeface="微軟正黑體"/>
                <a:ea typeface="微軟正黑體"/>
                <a:cs typeface="微軟正黑體"/>
                <a:hlinkClick r:id="rId3"/>
              </a:rPr>
              <a:t>http://pubs.opengroup.org/onlinepubs/7908799/xsh/string.h.html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en-US" altLang="zh-TW" dirty="0">
                <a:latin typeface="微軟正黑體"/>
                <a:ea typeface="微軟正黑體"/>
                <a:cs typeface="微軟正黑體"/>
                <a:hlinkClick r:id="rId4"/>
              </a:rPr>
              <a:t>http://en.wikibooks.org/wiki/C_Programming/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  <a:hlinkClick r:id="rId4"/>
              </a:rPr>
              <a:t>Strings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664866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字串複製：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strcpy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>
                <a:latin typeface="微軟正黑體"/>
                <a:ea typeface="微軟正黑體"/>
                <a:cs typeface="微軟正黑體"/>
              </a:rPr>
              <a:t>7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-2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672733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/>
              <a:t>strcpy</a:t>
            </a:r>
            <a:endParaRPr kumimoji="1"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目的：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針對把</a:t>
            </a:r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S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字串的內容複製到</a:t>
            </a:r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T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arget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字串的函式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參數：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s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trcpy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(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T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arget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字串，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 );</a:t>
            </a: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須知：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使用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strcpy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時，請注意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strcpy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只能完完整整的把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字串的內容複製，我們不能透過傳參數的方式修改要寫入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Target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字串的內容，若要自由修改寫入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Target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字串的內容，須用後面講的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sprintf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743913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strcpy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範例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4" name="內容版面配置區 3" descr="strcpy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29" b="13429"/>
          <a:stretch>
            <a:fillRect/>
          </a:stretch>
        </p:blipFill>
        <p:spPr>
          <a:xfrm>
            <a:off x="118533" y="1417638"/>
            <a:ext cx="6070769" cy="3338689"/>
          </a:xfrm>
        </p:spPr>
      </p:pic>
      <p:sp>
        <p:nvSpPr>
          <p:cNvPr id="5" name="文字方塊 4"/>
          <p:cNvSpPr txBox="1"/>
          <p:nvPr/>
        </p:nvSpPr>
        <p:spPr>
          <a:xfrm>
            <a:off x="6252056" y="3926294"/>
            <a:ext cx="2784592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Before </a:t>
            </a:r>
            <a:r>
              <a:rPr kumimoji="1" lang="en-US" altLang="zh-TW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First string: Hello world!</a:t>
            </a:r>
          </a:p>
          <a:p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Second string: </a:t>
            </a:r>
          </a:p>
          <a:p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After </a:t>
            </a:r>
            <a:r>
              <a:rPr kumimoji="1" lang="en-US" altLang="zh-TW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First string: Hello world!</a:t>
            </a:r>
          </a:p>
          <a:p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Second string: Hello world!</a:t>
            </a:r>
            <a:endParaRPr kumimoji="1" lang="zh-TW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895630" y="3318297"/>
            <a:ext cx="116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輸出結果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044413" y="4796753"/>
            <a:ext cx="2144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未複製前是空的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-&gt;</a:t>
            </a:r>
            <a:endParaRPr kumimoji="1" lang="zh-TW" altLang="en-US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65464" y="5899327"/>
            <a:ext cx="6086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複製後就把</a:t>
            </a:r>
            <a:r>
              <a:rPr kumimoji="1" lang="en-US" altLang="zh-TW" dirty="0" err="1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first_string</a:t>
            </a:r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的內容複製到</a:t>
            </a:r>
            <a:r>
              <a:rPr kumimoji="1" lang="en-US" altLang="zh-TW" dirty="0" err="1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second_string</a:t>
            </a:r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來了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-&gt;</a:t>
            </a:r>
            <a:endParaRPr kumimoji="1" lang="zh-TW" altLang="en-US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88949" y="4569557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範例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7-2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1980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/>
              <a:t>str</a:t>
            </a:r>
            <a:r>
              <a:rPr kumimoji="1" lang="en-US" altLang="zh-TW" dirty="0" err="1" smtClean="0">
                <a:solidFill>
                  <a:srgbClr val="FF0000"/>
                </a:solidFill>
              </a:rPr>
              <a:t>n</a:t>
            </a:r>
            <a:r>
              <a:rPr kumimoji="1" lang="en-US" altLang="zh-TW" dirty="0" err="1" smtClean="0"/>
              <a:t>cpy</a:t>
            </a:r>
            <a:endParaRPr kumimoji="1"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目的：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針對把</a:t>
            </a:r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S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字串的內容</a:t>
            </a:r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前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n</a:t>
            </a:r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個字元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複製到</a:t>
            </a:r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T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arget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字串的函式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參數：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s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tr</a:t>
            </a:r>
            <a:r>
              <a:rPr kumimoji="1" lang="en-US" altLang="zh-TW" dirty="0" err="1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n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cpy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(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T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arget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字串，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n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556330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65886"/>
          </a:xfrm>
        </p:spPr>
        <p:txBody>
          <a:bodyPr/>
          <a:lstStyle/>
          <a:p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strncpy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範例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008519" y="3832297"/>
            <a:ext cx="116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輸出結果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044413" y="4987245"/>
            <a:ext cx="2144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未複製前是空的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-&gt;</a:t>
            </a:r>
            <a:endParaRPr kumimoji="1" lang="zh-TW" altLang="en-US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663954" y="5840570"/>
            <a:ext cx="4064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複製後就把</a:t>
            </a:r>
            <a:r>
              <a:rPr kumimoji="1" lang="en-US" altLang="zh-TW" dirty="0" err="1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first_string</a:t>
            </a:r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的內容的前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項</a:t>
            </a:r>
            <a:endParaRPr kumimoji="1" lang="en-US" altLang="zh-TW" dirty="0" smtClean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複製到</a:t>
            </a:r>
            <a:r>
              <a:rPr kumimoji="1" lang="en-US" altLang="zh-TW" dirty="0" err="1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second_string</a:t>
            </a:r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來了</a:t>
            </a:r>
            <a:endParaRPr kumimoji="1" lang="en-US" altLang="zh-TW" dirty="0" smtClean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78205" y="5843377"/>
            <a:ext cx="454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-&gt;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40524"/>
            <a:ext cx="6032700" cy="3946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6084112" y="4220766"/>
            <a:ext cx="2784592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Before </a:t>
            </a:r>
            <a:r>
              <a:rPr kumimoji="1" lang="en-US" altLang="zh-TW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strncpy</a:t>
            </a:r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First string: Hello world!</a:t>
            </a:r>
          </a:p>
          <a:p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Second string: </a:t>
            </a:r>
          </a:p>
          <a:p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After </a:t>
            </a:r>
            <a:r>
              <a:rPr kumimoji="1" lang="en-US" altLang="zh-TW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strncpy</a:t>
            </a:r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First string: Hello world!</a:t>
            </a:r>
          </a:p>
          <a:p>
            <a:r>
              <a:rPr kumimoji="1" lang="en-US" altLang="zh-TW" dirty="0" smtClean="0">
                <a:latin typeface="Consolas" panose="020B0609020204030204" pitchFamily="49" charset="0"/>
                <a:cs typeface="Consolas" panose="020B0609020204030204" pitchFamily="49" charset="0"/>
              </a:rPr>
              <a:t>Second string: Hello</a:t>
            </a:r>
            <a:endParaRPr kumimoji="1" lang="zh-TW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58046" y="4859909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範例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7-3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8900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字串輸出入：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sprintf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,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sscanf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>
                <a:latin typeface="微軟正黑體"/>
                <a:ea typeface="微軟正黑體"/>
                <a:cs typeface="微軟正黑體"/>
              </a:rPr>
              <a:t>7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-3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580203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/>
              <a:t>sprintf</a:t>
            </a:r>
            <a:endParaRPr kumimoji="1"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目的：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目的與行為皆與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printf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相仿，只是輸出的結果不是到螢幕上，而是寫到字串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參數：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s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printf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(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輸出字串，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”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待輸入內容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”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，參數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… );</a:t>
            </a: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所在函式庫：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st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dio.h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（注意不是在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string.h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裡）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219417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</a:t>
            </a:r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p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rintf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範例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0595"/>
            <a:ext cx="8946444" cy="2619630"/>
          </a:xfrm>
        </p:spPr>
      </p:pic>
      <p:sp>
        <p:nvSpPr>
          <p:cNvPr id="5" name="文字方塊 4"/>
          <p:cNvSpPr txBox="1"/>
          <p:nvPr/>
        </p:nvSpPr>
        <p:spPr>
          <a:xfrm>
            <a:off x="910102" y="4959771"/>
            <a:ext cx="7121406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output=</a:t>
            </a:r>
          </a:p>
          <a:p>
            <a:r>
              <a:rPr kumimoji="1" lang="en-US" altLang="zh-TW" sz="2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output=hello, I can type number 55. And I can also type variable 66</a:t>
            </a:r>
            <a:endParaRPr kumimoji="1" lang="zh-TW" alt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800592" y="4334372"/>
            <a:ext cx="116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輸出結果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00764" y="3804171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範例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7-4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6640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/>
              <a:t>sscanf</a:t>
            </a:r>
            <a:endParaRPr kumimoji="1"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目的：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與</a:t>
            </a:r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s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canf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相仿，只是不是從使用者輸入取得資料，而是從字串取得資料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參數：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ss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canf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(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輸出字串，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”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待讀入內容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”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，參數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… );</a:t>
            </a: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須知：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讀進來的參數是用空白做切割不同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variable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，然後讀到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\n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時就會停止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scan</a:t>
            </a: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所在函式庫：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st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dio.h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（注意不是在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string.h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裡）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362797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</a:t>
            </a:r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s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canf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範例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61" y="1417638"/>
            <a:ext cx="8143139" cy="3257256"/>
          </a:xfrm>
        </p:spPr>
      </p:pic>
      <p:sp>
        <p:nvSpPr>
          <p:cNvPr id="5" name="文字方塊 4"/>
          <p:cNvSpPr txBox="1"/>
          <p:nvPr/>
        </p:nvSpPr>
        <p:spPr>
          <a:xfrm>
            <a:off x="785390" y="5710240"/>
            <a:ext cx="2474145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Hello, are we 5566?</a:t>
            </a:r>
            <a:endParaRPr kumimoji="1" lang="zh-TW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392295" y="5265705"/>
            <a:ext cx="116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輸出結果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3447394" y="4337208"/>
            <a:ext cx="5423338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我們把本來的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”Hello,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 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we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 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are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 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5566….”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透過</a:t>
            </a:r>
            <a:r>
              <a:rPr kumimoji="1" lang="en-US" altLang="zh-TW" dirty="0" err="1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sscanf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讀入後切割成</a:t>
            </a:r>
            <a:endParaRPr kumimoji="1" lang="en-US" altLang="zh-TW" dirty="0" smtClean="0">
              <a:latin typeface="Consolas" panose="020B0609020204030204" pitchFamily="49" charset="0"/>
              <a:ea typeface="微軟正黑體"/>
              <a:cs typeface="Consolas" panose="020B0609020204030204" pitchFamily="49" charset="0"/>
            </a:endParaRPr>
          </a:p>
          <a:p>
            <a:r>
              <a:rPr kumimoji="1" lang="zh-TW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s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tring_1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 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=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 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Hello,</a:t>
            </a:r>
          </a:p>
          <a:p>
            <a:r>
              <a:rPr kumimoji="1" lang="zh-TW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s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tring_2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 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=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 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we</a:t>
            </a:r>
          </a:p>
          <a:p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string_3 = are</a:t>
            </a:r>
          </a:p>
          <a:p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string_4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 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=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 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5566</a:t>
            </a:r>
          </a:p>
          <a:p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然後因為</a:t>
            </a:r>
            <a:r>
              <a:rPr kumimoji="1" lang="en-US" altLang="zh-TW" dirty="0" err="1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scanf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只有要輸入四個參數，而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5566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後面的「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…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」又不是</a:t>
            </a:r>
            <a:r>
              <a:rPr kumimoji="1" lang="zh-TW" altLang="en-US" dirty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數字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所以停止</a:t>
            </a:r>
            <a:r>
              <a:rPr kumimoji="1" lang="en-US" altLang="zh-TW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scan</a:t>
            </a:r>
            <a:r>
              <a:rPr kumimoji="1" lang="zh-TW" altLang="en-US" dirty="0" smtClean="0">
                <a:latin typeface="Consolas" panose="020B0609020204030204" pitchFamily="49" charset="0"/>
                <a:ea typeface="微軟正黑體"/>
                <a:cs typeface="Consolas" panose="020B0609020204030204" pitchFamily="49" charset="0"/>
              </a:rPr>
              <a:t>了</a:t>
            </a:r>
            <a:endParaRPr kumimoji="1" lang="zh-TW" altLang="en-US" dirty="0">
              <a:latin typeface="Consolas" panose="020B0609020204030204" pitchFamily="49" charset="0"/>
              <a:ea typeface="微軟正黑體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85381" y="4527830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範例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7-5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1025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66149"/>
            <a:ext cx="8229600" cy="2718740"/>
          </a:xfrm>
        </p:spPr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事實上，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sprintf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和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sscanf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也都有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</a:t>
            </a:r>
            <a:r>
              <a:rPr kumimoji="1" lang="en-US" altLang="zh-TW" dirty="0" err="1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n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printf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等等，後面會提的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strcmp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也有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</a:t>
            </a:r>
            <a:r>
              <a:rPr kumimoji="1" lang="en-US" altLang="zh-TW" dirty="0" err="1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n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cmp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，但是都是針對前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n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個做處理，觀念與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</a:t>
            </a:r>
            <a:r>
              <a:rPr kumimoji="1" lang="en-US" altLang="zh-TW" dirty="0" err="1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n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cpy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之於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strcpy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一樣，故不再另外介紹，有興趣者可參考投影片一開始的參考網頁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7181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字串長度：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strlen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7</a:t>
            </a:r>
            <a:r>
              <a:rPr kumimoji="1" lang="en-US" altLang="zh-TW" dirty="0" smtClean="0"/>
              <a:t>-4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42160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/>
              <a:t>strlen</a:t>
            </a:r>
            <a:endParaRPr kumimoji="1"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目的：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去看說這個字串長度多長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參數：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s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trlen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(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);</a:t>
            </a: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回傳值格式：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unsigned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long</a:t>
            </a:r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486267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strlen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範例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838223" y="41016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 smtClean="0"/>
              <a:t>輸出結果</a:t>
            </a:r>
            <a:endParaRPr kumimoji="1"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288815" y="4678963"/>
            <a:ext cx="6604000" cy="5847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sz="3200" dirty="0" smtClean="0"/>
              <a:t>Print </a:t>
            </a:r>
            <a:r>
              <a:rPr kumimoji="1" lang="en-US" altLang="zh-TW" sz="3200" dirty="0" err="1" smtClean="0"/>
              <a:t>string:I</a:t>
            </a:r>
            <a:r>
              <a:rPr kumimoji="1" lang="en-US" altLang="zh-TW" sz="3200" dirty="0" smtClean="0"/>
              <a:t> am a string, its </a:t>
            </a:r>
            <a:r>
              <a:rPr kumimoji="1" lang="en-US" altLang="zh-TW" sz="3200" dirty="0" err="1" smtClean="0"/>
              <a:t>len</a:t>
            </a:r>
            <a:r>
              <a:rPr kumimoji="1" lang="en-US" altLang="zh-TW" sz="3200" dirty="0" smtClean="0"/>
              <a:t> is 13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u="sng" dirty="0"/>
          </a:p>
        </p:txBody>
      </p:sp>
      <p:pic>
        <p:nvPicPr>
          <p:cNvPr id="7" name="Picture 4" descr="C:\Users\Peter\Pictures\未命名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67" b="41564"/>
          <a:stretch/>
        </p:blipFill>
        <p:spPr bwMode="auto">
          <a:xfrm>
            <a:off x="60203" y="2060028"/>
            <a:ext cx="8664035" cy="1545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3560185" y="3539357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範例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7-6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8607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字串進階處理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7</a:t>
            </a:r>
            <a:r>
              <a:rPr kumimoji="1" lang="en-US" altLang="zh-TW" dirty="0" smtClean="0"/>
              <a:t>-5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69878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/>
              <a:t>strstr</a:t>
            </a:r>
            <a:endParaRPr kumimoji="1"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目的：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在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字串當中，找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target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字串出現的位置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參數：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s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trstr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(source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字串，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target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);</a:t>
            </a: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回傳值：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回傳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target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字串在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字串第一次出現位置的指標</a:t>
            </a:r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354603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strstr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範例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50" y="1417638"/>
            <a:ext cx="7855936" cy="3205743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762963" y="47581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 smtClean="0"/>
              <a:t>輸出結果</a:t>
            </a:r>
            <a:endParaRPr kumimoji="1"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702739" y="5241144"/>
            <a:ext cx="5409261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本來的字串：永和有永和路，中和也有永和路</a:t>
            </a:r>
          </a:p>
          <a:p>
            <a:endParaRPr kumimoji="1" lang="zh-TW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TW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第一次「中和」出現的位置：中和也有永和路</a:t>
            </a:r>
            <a:endParaRPr kumimoji="1" lang="en-US" altLang="zh-TW" sz="2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685886" y="3986083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範例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7-7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0010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/>
              <a:t>strtok</a:t>
            </a:r>
            <a:endParaRPr kumimoji="1"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目的：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利用某關鍵字串去切割另外一個字串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參數：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zh-TW" dirty="0" smtClean="0">
                <a:latin typeface="微軟正黑體"/>
                <a:ea typeface="微軟正黑體"/>
                <a:cs typeface="微軟正黑體"/>
              </a:rPr>
              <a:t>s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trtok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(source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字串，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target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);</a:t>
            </a: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程式行為：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利用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target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字串的內容，去切割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回傳值：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切好的部分字串</a:t>
            </a:r>
            <a:endParaRPr kumimoji="1" lang="en-US" altLang="zh-TW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346687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使用方式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一開始先呼叫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(</a:t>
            </a:r>
            <a:r>
              <a:rPr kumimoji="1" lang="en-US" altLang="zh-TW" dirty="0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source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,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 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target)</a:t>
            </a: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但他回傳值只會把在遇到第一個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token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以前的東西切出來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pPr lvl="1"/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那字串還有剩下的東西沒切完怎麼辦？要用後面的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while loop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來補完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再來重複呼叫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(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NULL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, target)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，直到沒有東西可以切出來為止</a:t>
            </a:r>
            <a:endParaRPr kumimoji="1" lang="en-US" altLang="zh-TW" dirty="0" smtClean="0">
              <a:latin typeface="微軟正黑體"/>
              <a:ea typeface="微軟正黑體"/>
              <a:cs typeface="微軟正黑體"/>
            </a:endParaRP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之所以使用方式如此特別的原因，在範例之後會有原理解釋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326473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範例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17" y="1565969"/>
            <a:ext cx="6073840" cy="4441444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7250430" y="35900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 smtClean="0"/>
              <a:t>輸出結果</a:t>
            </a:r>
            <a:endParaRPr kumimoji="1"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6788075" y="4069814"/>
            <a:ext cx="2196821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No.1 string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</a:p>
          <a:p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No.2 string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saw</a:t>
            </a:r>
          </a:p>
          <a:p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No.3 string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  <a:p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No.4 string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saw</a:t>
            </a:r>
          </a:p>
          <a:p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No.5 string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saw</a:t>
            </a:r>
          </a:p>
          <a:p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No.6 string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  <a:p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No.7 string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saw</a:t>
            </a:r>
          </a:p>
          <a:p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No.8 string</a:t>
            </a:r>
            <a:r>
              <a:rPr kumimoji="1"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</a:t>
            </a:r>
            <a:r>
              <a:rPr kumimoji="1"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(null)</a:t>
            </a:r>
            <a:endParaRPr kumimoji="1" lang="en-US" altLang="zh-TW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062202" y="6090850"/>
            <a:ext cx="5571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 smtClean="0"/>
              <a:t>用空格當分界，把每個空格間的字串切出來</a:t>
            </a:r>
            <a:r>
              <a:rPr kumimoji="1" lang="en-US" altLang="zh-TW" sz="2000" dirty="0" smtClean="0"/>
              <a:t>  ----&gt;</a:t>
            </a:r>
            <a:endParaRPr kumimoji="1" lang="zh-TW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2986229" y="5626929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範例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7-8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2193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原理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之所以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的使用方式如此特別，是因為他在用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token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去切字串的時候，內部程式行為的緣故，我們將前面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的範例中，對字串切割處理的過程，整理成下面幾張圖，方便大家理解。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39468" y="6360448"/>
            <a:ext cx="571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 smtClean="0"/>
              <a:t>參考資料：</a:t>
            </a:r>
            <a:r>
              <a:rPr kumimoji="1" lang="en-US" altLang="zh-TW" dirty="0"/>
              <a:t>http://</a:t>
            </a:r>
            <a:r>
              <a:rPr kumimoji="1" lang="en-US" altLang="zh-TW" dirty="0" err="1"/>
              <a:t>support.microsoft.com</a:t>
            </a:r>
            <a:r>
              <a:rPr kumimoji="1" lang="en-US" altLang="zh-TW" dirty="0"/>
              <a:t>/kb/51327/</a:t>
            </a:r>
            <a:r>
              <a:rPr kumimoji="1" lang="en-US" altLang="zh-TW" dirty="0" err="1"/>
              <a:t>zh-tw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1223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原理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6462802"/>
              </p:ext>
            </p:extLst>
          </p:nvPr>
        </p:nvGraphicFramePr>
        <p:xfrm>
          <a:off x="250298" y="2488153"/>
          <a:ext cx="872938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  <a:gridCol w="39679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\0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1885175" y="2055762"/>
            <a:ext cx="476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這是在還沒呼叫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之前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字串的狀況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92308" y="1677997"/>
            <a:ext cx="1492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4000" dirty="0" smtClean="0"/>
              <a:t>Step</a:t>
            </a:r>
            <a:r>
              <a:rPr kumimoji="1" lang="zh-TW" altLang="en-US" sz="4000" dirty="0" smtClean="0"/>
              <a:t> </a:t>
            </a:r>
            <a:r>
              <a:rPr kumimoji="1" lang="en-US" altLang="zh-TW" sz="4000" dirty="0" smtClean="0"/>
              <a:t>0</a:t>
            </a:r>
            <a:endParaRPr kumimoji="1" lang="zh-TW" altLang="en-US" sz="4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250298" y="3449696"/>
            <a:ext cx="1594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4000" dirty="0" smtClean="0"/>
              <a:t>Step</a:t>
            </a:r>
            <a:r>
              <a:rPr kumimoji="1" lang="zh-TW" altLang="en-US" sz="4000" dirty="0" smtClean="0"/>
              <a:t> </a:t>
            </a:r>
            <a:r>
              <a:rPr kumimoji="1" lang="en-US" altLang="zh-TW" sz="4000" dirty="0" smtClean="0"/>
              <a:t>1</a:t>
            </a:r>
            <a:endParaRPr kumimoji="1" lang="zh-TW" altLang="en-US" sz="4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844792" y="3895412"/>
            <a:ext cx="7276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呼叫第一次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，看到第一個空白，就把它補上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\0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，切出第一個字串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11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8676555"/>
              </p:ext>
            </p:extLst>
          </p:nvPr>
        </p:nvGraphicFramePr>
        <p:xfrm>
          <a:off x="250298" y="4290737"/>
          <a:ext cx="860283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  <a:gridCol w="39103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\0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-466130" y="4661577"/>
            <a:ext cx="1292662" cy="13257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TW" sz="3600" dirty="0" smtClean="0">
                <a:solidFill>
                  <a:srgbClr val="008000"/>
                </a:solidFill>
                <a:sym typeface="Wingdings"/>
              </a:rPr>
              <a:t>&lt;-</a:t>
            </a:r>
            <a:r>
              <a:rPr kumimoji="1" lang="zh-TW" altLang="en-US" sz="3600" dirty="0" smtClean="0">
                <a:solidFill>
                  <a:srgbClr val="008000"/>
                </a:solidFill>
                <a:sym typeface="Wingdings"/>
              </a:rPr>
              <a:t> </a:t>
            </a:r>
            <a:r>
              <a:rPr kumimoji="1" lang="en-US" altLang="zh-TW" sz="3600" dirty="0" smtClean="0">
                <a:solidFill>
                  <a:srgbClr val="008000"/>
                </a:solidFill>
                <a:sym typeface="Wingdings"/>
              </a:rPr>
              <a:t>----</a:t>
            </a:r>
            <a:r>
              <a:rPr kumimoji="1" lang="zh-TW" altLang="en-US" sz="3600" dirty="0" smtClean="0">
                <a:solidFill>
                  <a:srgbClr val="008000"/>
                </a:solidFill>
                <a:sym typeface="Wingdings"/>
              </a:rPr>
              <a:t> </a:t>
            </a:r>
            <a:r>
              <a:rPr kumimoji="1" lang="en-US" altLang="zh-TW" sz="3600" dirty="0" smtClean="0">
                <a:solidFill>
                  <a:srgbClr val="008000"/>
                </a:solidFill>
                <a:sym typeface="Wingdings"/>
              </a:rPr>
              <a:t>-</a:t>
            </a:r>
            <a:r>
              <a:rPr kumimoji="1" lang="zh-TW" altLang="en-US" sz="3600" dirty="0" smtClean="0">
                <a:solidFill>
                  <a:srgbClr val="008000"/>
                </a:solidFill>
                <a:sym typeface="Wingdings"/>
              </a:rPr>
              <a:t> </a:t>
            </a:r>
            <a:endParaRPr kumimoji="1" lang="zh-TW" altLang="en-US" sz="3600" dirty="0">
              <a:solidFill>
                <a:srgbClr val="008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50298" y="5402511"/>
            <a:ext cx="694977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 smtClean="0">
                <a:solidFill>
                  <a:srgbClr val="008000"/>
                </a:solidFill>
                <a:latin typeface="微軟正黑體"/>
                <a:ea typeface="微軟正黑體"/>
                <a:cs typeface="微軟正黑體"/>
              </a:rPr>
              <a:t>---</a:t>
            </a:r>
            <a:r>
              <a:rPr kumimoji="1" lang="zh-TW" altLang="en-US" sz="3200" dirty="0" smtClean="0">
                <a:solidFill>
                  <a:srgbClr val="008000"/>
                </a:solidFill>
                <a:latin typeface="微軟正黑體"/>
                <a:ea typeface="微軟正黑體"/>
                <a:cs typeface="微軟正黑體"/>
              </a:rPr>
              <a:t>  第一次</a:t>
            </a:r>
            <a:r>
              <a:rPr kumimoji="1" lang="en-US" altLang="zh-TW" sz="3200" dirty="0" err="1" smtClean="0">
                <a:solidFill>
                  <a:srgbClr val="008000"/>
                </a:solidFill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sz="3200" dirty="0" smtClean="0">
                <a:solidFill>
                  <a:srgbClr val="008000"/>
                </a:solidFill>
                <a:latin typeface="微軟正黑體"/>
                <a:ea typeface="微軟正黑體"/>
                <a:cs typeface="微軟正黑體"/>
              </a:rPr>
              <a:t>回傳的字串指標位置</a:t>
            </a:r>
            <a:endParaRPr kumimoji="1" lang="zh-TW" altLang="en-US" sz="3200" dirty="0">
              <a:solidFill>
                <a:srgbClr val="008000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4" name="圖片 3" descr="step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739" y="1691098"/>
            <a:ext cx="5970078" cy="364664"/>
          </a:xfrm>
          <a:prstGeom prst="rect">
            <a:avLst/>
          </a:prstGeom>
        </p:spPr>
      </p:pic>
      <p:pic>
        <p:nvPicPr>
          <p:cNvPr id="10" name="圖片 9" descr="step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576" y="3534164"/>
            <a:ext cx="4746398" cy="361248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457200" y="4661577"/>
            <a:ext cx="738664" cy="58477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TW" sz="3600" dirty="0" smtClean="0">
                <a:solidFill>
                  <a:srgbClr val="FF0000"/>
                </a:solidFill>
                <a:sym typeface="Wingdings"/>
              </a:rPr>
              <a:t>&lt;-</a:t>
            </a:r>
            <a:r>
              <a:rPr kumimoji="1" lang="zh-TW" altLang="en-US" sz="3600" dirty="0" smtClean="0">
                <a:solidFill>
                  <a:srgbClr val="FF0000"/>
                </a:solidFill>
                <a:sym typeface="Wingdings"/>
              </a:rPr>
              <a:t>  </a:t>
            </a:r>
            <a:endParaRPr kumimoji="1"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826532" y="4788316"/>
            <a:ext cx="694977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---</a:t>
            </a:r>
            <a:r>
              <a:rPr kumimoji="1" lang="zh-TW" altLang="en-US" sz="3200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 第一次加</a:t>
            </a:r>
            <a:r>
              <a:rPr kumimoji="1" lang="en-US" altLang="zh-TW" sz="3200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\0</a:t>
            </a:r>
            <a:r>
              <a:rPr kumimoji="1" lang="zh-TW" altLang="en-US" sz="3200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來切斷程式碼</a:t>
            </a:r>
            <a:endParaRPr kumimoji="1" lang="zh-TW" altLang="en-US" sz="320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048739" y="6118661"/>
            <a:ext cx="586610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3200" dirty="0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所以第一次的</a:t>
            </a:r>
            <a:r>
              <a:rPr kumimoji="1" lang="en-US" altLang="zh-TW" sz="3200" dirty="0" err="1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str_tmp</a:t>
            </a:r>
            <a:r>
              <a:rPr kumimoji="1" lang="zh-TW" altLang="en-US" sz="3200" dirty="0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裡面只有</a:t>
            </a:r>
            <a:r>
              <a:rPr kumimoji="1" lang="en-US" altLang="zh-TW" sz="3200" dirty="0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I</a:t>
            </a:r>
            <a:endParaRPr kumimoji="1" lang="zh-TW" altLang="en-US" sz="3200" dirty="0">
              <a:solidFill>
                <a:srgbClr val="0000FF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908348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原理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884796"/>
              </p:ext>
            </p:extLst>
          </p:nvPr>
        </p:nvGraphicFramePr>
        <p:xfrm>
          <a:off x="154224" y="2488153"/>
          <a:ext cx="86989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TW" alt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\0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392308" y="1554887"/>
            <a:ext cx="1492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4000" dirty="0" smtClean="0"/>
              <a:t>Step</a:t>
            </a:r>
            <a:r>
              <a:rPr kumimoji="1" lang="zh-TW" altLang="en-US" sz="4000" dirty="0" smtClean="0"/>
              <a:t> </a:t>
            </a:r>
            <a:r>
              <a:rPr kumimoji="1" lang="en-US" altLang="zh-TW" sz="4000" dirty="0" smtClean="0"/>
              <a:t>1</a:t>
            </a:r>
            <a:endParaRPr kumimoji="1" lang="zh-TW" altLang="en-US" sz="4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768179" y="1893441"/>
            <a:ext cx="7276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呼叫第一次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，看到第一個空白，就把它補上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\0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，切出第一個字串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11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3935498"/>
              </p:ext>
            </p:extLst>
          </p:nvPr>
        </p:nvGraphicFramePr>
        <p:xfrm>
          <a:off x="154224" y="4290737"/>
          <a:ext cx="86989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  <a:gridCol w="39540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\0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66580" y="4710237"/>
            <a:ext cx="738664" cy="13257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TW" sz="3600" dirty="0" smtClean="0">
                <a:solidFill>
                  <a:srgbClr val="008000"/>
                </a:solidFill>
                <a:sym typeface="Wingdings"/>
              </a:rPr>
              <a:t>&lt;-</a:t>
            </a:r>
            <a:r>
              <a:rPr kumimoji="1" lang="zh-TW" altLang="en-US" sz="3600" dirty="0" smtClean="0">
                <a:solidFill>
                  <a:srgbClr val="008000"/>
                </a:solidFill>
                <a:sym typeface="Wingdings"/>
              </a:rPr>
              <a:t> </a:t>
            </a:r>
            <a:r>
              <a:rPr kumimoji="1" lang="en-US" altLang="zh-TW" sz="3600" dirty="0" smtClean="0">
                <a:solidFill>
                  <a:srgbClr val="008000"/>
                </a:solidFill>
                <a:sym typeface="Wingdings"/>
              </a:rPr>
              <a:t>-</a:t>
            </a:r>
            <a:r>
              <a:rPr kumimoji="1" lang="zh-TW" altLang="en-US" sz="3600" dirty="0" smtClean="0">
                <a:solidFill>
                  <a:srgbClr val="008000"/>
                </a:solidFill>
                <a:sym typeface="Wingdings"/>
              </a:rPr>
              <a:t> </a:t>
            </a:r>
            <a:r>
              <a:rPr kumimoji="1" lang="en-US" altLang="zh-TW" sz="3600" dirty="0" smtClean="0">
                <a:solidFill>
                  <a:srgbClr val="008000"/>
                </a:solidFill>
                <a:sym typeface="Wingdings"/>
              </a:rPr>
              <a:t>-</a:t>
            </a:r>
            <a:r>
              <a:rPr kumimoji="1" lang="zh-TW" altLang="en-US" sz="3600" dirty="0" smtClean="0">
                <a:solidFill>
                  <a:srgbClr val="008000"/>
                </a:solidFill>
                <a:sym typeface="Wingdings"/>
              </a:rPr>
              <a:t> </a:t>
            </a:r>
            <a:endParaRPr kumimoji="1" lang="zh-TW" altLang="en-US" sz="3600" dirty="0">
              <a:solidFill>
                <a:srgbClr val="008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66580" y="5451171"/>
            <a:ext cx="694977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200" dirty="0" smtClean="0">
                <a:solidFill>
                  <a:srgbClr val="008000"/>
                </a:solidFill>
                <a:latin typeface="微軟正黑體"/>
                <a:ea typeface="微軟正黑體"/>
                <a:cs typeface="微軟正黑體"/>
              </a:rPr>
              <a:t>第二次</a:t>
            </a:r>
            <a:r>
              <a:rPr kumimoji="1" lang="en-US" altLang="zh-TW" sz="3200" dirty="0" err="1" smtClean="0">
                <a:solidFill>
                  <a:srgbClr val="008000"/>
                </a:solidFill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sz="3200" dirty="0" smtClean="0">
                <a:solidFill>
                  <a:srgbClr val="008000"/>
                </a:solidFill>
                <a:latin typeface="微軟正黑體"/>
                <a:ea typeface="微軟正黑體"/>
                <a:cs typeface="微軟正黑體"/>
              </a:rPr>
              <a:t>回傳的字串指標位置</a:t>
            </a:r>
            <a:endParaRPr kumimoji="1" lang="zh-TW" altLang="en-US" sz="3200" dirty="0">
              <a:solidFill>
                <a:srgbClr val="008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54232" y="3035605"/>
            <a:ext cx="19507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5400" dirty="0" smtClean="0"/>
              <a:t>Step</a:t>
            </a:r>
            <a:r>
              <a:rPr kumimoji="1" lang="zh-TW" altLang="en-US" sz="5400" dirty="0" smtClean="0"/>
              <a:t> </a:t>
            </a:r>
            <a:r>
              <a:rPr kumimoji="1" lang="en-US" altLang="zh-TW" sz="5400" dirty="0" smtClean="0"/>
              <a:t>2</a:t>
            </a:r>
            <a:endParaRPr kumimoji="1" lang="zh-TW" altLang="en-US" sz="5400" dirty="0"/>
          </a:p>
        </p:txBody>
      </p:sp>
      <p:pic>
        <p:nvPicPr>
          <p:cNvPr id="15" name="圖片 14" descr="step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062" y="1532193"/>
            <a:ext cx="4746398" cy="361248"/>
          </a:xfrm>
          <a:prstGeom prst="rect">
            <a:avLst/>
          </a:prstGeom>
        </p:spPr>
      </p:pic>
      <p:sp>
        <p:nvSpPr>
          <p:cNvPr id="16" name="文字方塊 15"/>
          <p:cNvSpPr txBox="1"/>
          <p:nvPr/>
        </p:nvSpPr>
        <p:spPr>
          <a:xfrm>
            <a:off x="2104969" y="3604087"/>
            <a:ext cx="6841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呼叫第二次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，仍然用之前的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，所以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端填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NULL</a:t>
            </a:r>
          </a:p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就把它補上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\0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，切出第一個字串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17" name="圖片 16" descr="step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21" y="3184987"/>
            <a:ext cx="5613400" cy="419100"/>
          </a:xfrm>
          <a:prstGeom prst="rect">
            <a:avLst/>
          </a:prstGeom>
        </p:spPr>
      </p:pic>
      <p:sp>
        <p:nvSpPr>
          <p:cNvPr id="18" name="文字方塊 17"/>
          <p:cNvSpPr txBox="1"/>
          <p:nvPr/>
        </p:nvSpPr>
        <p:spPr>
          <a:xfrm>
            <a:off x="2048739" y="4661577"/>
            <a:ext cx="738664" cy="6528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TW" sz="3600" dirty="0" smtClean="0">
                <a:solidFill>
                  <a:srgbClr val="FF0000"/>
                </a:solidFill>
                <a:sym typeface="Wingdings"/>
              </a:rPr>
              <a:t>&lt;-</a:t>
            </a:r>
            <a:r>
              <a:rPr kumimoji="1" lang="zh-TW" altLang="en-US" sz="3600" dirty="0" smtClean="0">
                <a:solidFill>
                  <a:srgbClr val="FF0000"/>
                </a:solidFill>
                <a:sym typeface="Wingdings"/>
              </a:rPr>
              <a:t>  </a:t>
            </a:r>
            <a:endParaRPr kumimoji="1"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300657" y="4788316"/>
            <a:ext cx="694977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---</a:t>
            </a:r>
            <a:r>
              <a:rPr kumimoji="1" lang="zh-TW" altLang="en-US" sz="3200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 第二次加</a:t>
            </a:r>
            <a:r>
              <a:rPr kumimoji="1" lang="en-US" altLang="zh-TW" sz="3200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\0</a:t>
            </a:r>
            <a:r>
              <a:rPr kumimoji="1" lang="zh-TW" altLang="en-US" sz="3200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來切斷程式碼</a:t>
            </a:r>
            <a:endParaRPr kumimoji="1" lang="zh-TW" altLang="en-US" sz="3200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2048739" y="6118661"/>
            <a:ext cx="648126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3200" dirty="0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所以第二次的</a:t>
            </a:r>
            <a:r>
              <a:rPr kumimoji="1" lang="en-US" altLang="zh-TW" sz="3200" dirty="0" err="1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str_tmp</a:t>
            </a:r>
            <a:r>
              <a:rPr kumimoji="1" lang="zh-TW" altLang="en-US" sz="3200" dirty="0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裡面只有</a:t>
            </a:r>
            <a:r>
              <a:rPr kumimoji="1" lang="en-US" altLang="zh-TW" sz="3200" dirty="0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saw</a:t>
            </a:r>
            <a:endParaRPr kumimoji="1" lang="zh-TW" altLang="en-US" sz="3200" dirty="0">
              <a:solidFill>
                <a:srgbClr val="0000FF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096817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8" grpId="0"/>
      <p:bldP spid="19" grpId="0"/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原理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 smtClean="0"/>
              <a:t>以此類推，直到最後一個</a:t>
            </a:r>
            <a:r>
              <a:rPr kumimoji="1" lang="en-US" altLang="zh-TW" dirty="0" smtClean="0"/>
              <a:t>Step</a:t>
            </a:r>
            <a:r>
              <a:rPr kumimoji="1" lang="zh-TW" altLang="en-US" dirty="0" smtClean="0"/>
              <a:t>為止</a:t>
            </a:r>
            <a:endParaRPr kumimoji="1" lang="zh-TW" altLang="en-US" dirty="0"/>
          </a:p>
        </p:txBody>
      </p:sp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0241161"/>
              </p:ext>
            </p:extLst>
          </p:nvPr>
        </p:nvGraphicFramePr>
        <p:xfrm>
          <a:off x="252455" y="3711885"/>
          <a:ext cx="874900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  <a:gridCol w="39768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TW" alt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\0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\0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\0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52454" y="2401982"/>
            <a:ext cx="2066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4000" dirty="0" smtClean="0"/>
              <a:t>Last</a:t>
            </a:r>
            <a:r>
              <a:rPr kumimoji="1" lang="zh-TW" altLang="en-US" sz="4000" dirty="0" smtClean="0"/>
              <a:t> </a:t>
            </a:r>
            <a:r>
              <a:rPr kumimoji="1" lang="en-US" altLang="zh-TW" sz="4000" dirty="0" smtClean="0"/>
              <a:t>Step</a:t>
            </a:r>
            <a:endParaRPr kumimoji="1" lang="zh-TW" altLang="en-US" sz="4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1916504" y="3117173"/>
            <a:ext cx="5331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切到最後的時候，回傳的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的回傳值會是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NULL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405336" y="4218889"/>
            <a:ext cx="738664" cy="13257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TW" sz="3600" dirty="0" smtClean="0">
                <a:solidFill>
                  <a:srgbClr val="008000"/>
                </a:solidFill>
                <a:sym typeface="Wingdings"/>
              </a:rPr>
              <a:t>&lt;-</a:t>
            </a:r>
            <a:r>
              <a:rPr kumimoji="1" lang="zh-TW" altLang="en-US" sz="3600" dirty="0" smtClean="0">
                <a:solidFill>
                  <a:srgbClr val="008000"/>
                </a:solidFill>
                <a:sym typeface="Wingdings"/>
              </a:rPr>
              <a:t> </a:t>
            </a:r>
            <a:r>
              <a:rPr kumimoji="1" lang="en-US" altLang="zh-TW" sz="3600" dirty="0" smtClean="0">
                <a:solidFill>
                  <a:srgbClr val="008000"/>
                </a:solidFill>
                <a:sym typeface="Wingdings"/>
              </a:rPr>
              <a:t>-</a:t>
            </a:r>
            <a:r>
              <a:rPr kumimoji="1" lang="zh-TW" altLang="en-US" sz="3600" dirty="0" smtClean="0">
                <a:solidFill>
                  <a:srgbClr val="008000"/>
                </a:solidFill>
                <a:sym typeface="Wingdings"/>
              </a:rPr>
              <a:t> </a:t>
            </a:r>
            <a:r>
              <a:rPr kumimoji="1" lang="en-US" altLang="zh-TW" sz="3600" dirty="0" smtClean="0">
                <a:solidFill>
                  <a:srgbClr val="008000"/>
                </a:solidFill>
                <a:sym typeface="Wingdings"/>
              </a:rPr>
              <a:t>-</a:t>
            </a:r>
            <a:r>
              <a:rPr kumimoji="1" lang="zh-TW" altLang="en-US" sz="3600" dirty="0" smtClean="0">
                <a:solidFill>
                  <a:srgbClr val="008000"/>
                </a:solidFill>
                <a:sym typeface="Wingdings"/>
              </a:rPr>
              <a:t> </a:t>
            </a:r>
            <a:endParaRPr kumimoji="1" lang="zh-TW" altLang="en-US" sz="3600" dirty="0">
              <a:solidFill>
                <a:srgbClr val="008000"/>
              </a:solidFill>
            </a:endParaRPr>
          </a:p>
        </p:txBody>
      </p:sp>
      <p:pic>
        <p:nvPicPr>
          <p:cNvPr id="9" name="圖片 8" descr="step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146" y="2554579"/>
            <a:ext cx="5613400" cy="419100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8405336" y="3109868"/>
            <a:ext cx="738664" cy="53610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TW" sz="3600" dirty="0" smtClean="0">
                <a:solidFill>
                  <a:srgbClr val="FF0000"/>
                </a:solidFill>
                <a:sym typeface="Wingdings"/>
              </a:rPr>
              <a:t>-&gt;</a:t>
            </a:r>
            <a:r>
              <a:rPr kumimoji="1" lang="zh-TW" altLang="en-US" sz="3600" dirty="0" smtClean="0">
                <a:solidFill>
                  <a:srgbClr val="FF0000"/>
                </a:solidFill>
                <a:sym typeface="Wingdings"/>
              </a:rPr>
              <a:t>  </a:t>
            </a:r>
            <a:endParaRPr kumimoji="1"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629676" y="4959823"/>
            <a:ext cx="729901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200" dirty="0" smtClean="0">
                <a:solidFill>
                  <a:srgbClr val="008000"/>
                </a:solidFill>
                <a:latin typeface="微軟正黑體"/>
                <a:ea typeface="微軟正黑體"/>
                <a:cs typeface="微軟正黑體"/>
              </a:rPr>
              <a:t>切到最後</a:t>
            </a:r>
            <a:r>
              <a:rPr kumimoji="1" lang="en-US" altLang="zh-TW" sz="3200" dirty="0" err="1" smtClean="0">
                <a:solidFill>
                  <a:srgbClr val="008000"/>
                </a:solidFill>
                <a:latin typeface="微軟正黑體"/>
                <a:ea typeface="微軟正黑體"/>
                <a:cs typeface="微軟正黑體"/>
              </a:rPr>
              <a:t>strtok</a:t>
            </a:r>
            <a:r>
              <a:rPr kumimoji="1" lang="zh-TW" altLang="en-US" sz="3200" dirty="0" smtClean="0">
                <a:solidFill>
                  <a:srgbClr val="008000"/>
                </a:solidFill>
                <a:latin typeface="微軟正黑體"/>
                <a:ea typeface="微軟正黑體"/>
                <a:cs typeface="微軟正黑體"/>
              </a:rPr>
              <a:t>回傳的字串指標位置</a:t>
            </a:r>
            <a:r>
              <a:rPr kumimoji="1" lang="en-US" altLang="zh-TW" sz="3200" dirty="0" smtClean="0">
                <a:solidFill>
                  <a:srgbClr val="008000"/>
                </a:solidFill>
                <a:latin typeface="微軟正黑體"/>
                <a:ea typeface="微軟正黑體"/>
                <a:cs typeface="微軟正黑體"/>
              </a:rPr>
              <a:t> ---</a:t>
            </a:r>
            <a:endParaRPr kumimoji="1" lang="zh-TW" altLang="en-US" sz="3200" dirty="0">
              <a:solidFill>
                <a:srgbClr val="008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792835" y="5833775"/>
            <a:ext cx="720862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3200" dirty="0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所以切到最後的</a:t>
            </a:r>
            <a:r>
              <a:rPr kumimoji="1" lang="en-US" altLang="zh-TW" sz="3200" dirty="0" err="1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str_tmp</a:t>
            </a:r>
            <a:r>
              <a:rPr kumimoji="1" lang="zh-TW" altLang="en-US" sz="3200" dirty="0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裡面只有</a:t>
            </a:r>
            <a:r>
              <a:rPr kumimoji="1" lang="en-US" altLang="zh-TW" sz="3200" dirty="0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NULL</a:t>
            </a:r>
            <a:endParaRPr kumimoji="1" lang="zh-TW" altLang="en-US" sz="3200" dirty="0">
              <a:solidFill>
                <a:srgbClr val="0000FF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069445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記憶體應用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 smtClean="0"/>
              <a:t>7-6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41749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memcpy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memcpy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 </a:t>
            </a:r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targetStr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sourceStr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number of byte )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25" y="2583029"/>
            <a:ext cx="7474458" cy="4140264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183154" y="5917430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kumimoji="1" lang="zh-TW" altLang="en-US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範例</a:t>
            </a:r>
            <a:r>
              <a:rPr kumimoji="1" lang="en-US" altLang="zh-TW" dirty="0" smtClean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7-9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9500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memcpy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原理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885175" y="2055762"/>
            <a:ext cx="507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這是在還沒呼叫</a:t>
            </a:r>
            <a:r>
              <a:rPr kumimoji="1" lang="en-US" altLang="zh-TW" dirty="0" err="1" smtClean="0">
                <a:latin typeface="微軟正黑體"/>
                <a:ea typeface="微軟正黑體"/>
                <a:cs typeface="微軟正黑體"/>
              </a:rPr>
              <a:t>memcpy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之前</a:t>
            </a:r>
            <a:r>
              <a:rPr kumimoji="1" lang="en-US" altLang="zh-TW" dirty="0" smtClean="0">
                <a:latin typeface="微軟正黑體"/>
                <a:ea typeface="微軟正黑體"/>
                <a:cs typeface="微軟正黑體"/>
              </a:rPr>
              <a:t>source</a:t>
            </a:r>
            <a:r>
              <a:rPr kumimoji="1" lang="zh-TW" altLang="en-US" dirty="0" smtClean="0">
                <a:latin typeface="微軟正黑體"/>
                <a:ea typeface="微軟正黑體"/>
                <a:cs typeface="微軟正黑體"/>
              </a:rPr>
              <a:t>字串的狀況</a:t>
            </a:r>
            <a:endParaRPr kumimoji="1" lang="zh-TW" altLang="en-US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92308" y="1677997"/>
            <a:ext cx="14928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4000" dirty="0" smtClean="0"/>
              <a:t>Step</a:t>
            </a:r>
            <a:r>
              <a:rPr kumimoji="1" lang="zh-TW" altLang="en-US" sz="4000" dirty="0" smtClean="0"/>
              <a:t> </a:t>
            </a:r>
            <a:r>
              <a:rPr kumimoji="1" lang="en-US" altLang="zh-TW" sz="4000" dirty="0" smtClean="0"/>
              <a:t>0</a:t>
            </a:r>
            <a:endParaRPr kumimoji="1" lang="zh-TW" altLang="en-US" sz="4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212944" y="2987017"/>
            <a:ext cx="1594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4000" dirty="0" smtClean="0"/>
              <a:t>Step</a:t>
            </a:r>
            <a:r>
              <a:rPr kumimoji="1" lang="zh-TW" altLang="en-US" sz="4000" dirty="0" smtClean="0"/>
              <a:t> </a:t>
            </a:r>
            <a:r>
              <a:rPr kumimoji="1" lang="en-US" altLang="zh-TW" sz="4000" dirty="0" smtClean="0"/>
              <a:t>1</a:t>
            </a:r>
            <a:endParaRPr kumimoji="1" lang="zh-TW" altLang="en-US" sz="4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885175" y="3567500"/>
            <a:ext cx="711028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2300" dirty="0" smtClean="0">
                <a:latin typeface="微軟正黑體"/>
                <a:ea typeface="微軟正黑體"/>
                <a:cs typeface="微軟正黑體"/>
              </a:rPr>
              <a:t>呼叫</a:t>
            </a:r>
            <a:r>
              <a:rPr kumimoji="1" lang="en-US" altLang="zh-TW" sz="2300" dirty="0" err="1" smtClean="0">
                <a:latin typeface="微軟正黑體"/>
                <a:ea typeface="微軟正黑體"/>
                <a:cs typeface="微軟正黑體"/>
              </a:rPr>
              <a:t>memcpy</a:t>
            </a:r>
            <a:r>
              <a:rPr kumimoji="1" lang="zh-TW" altLang="en-US" sz="2300" dirty="0" smtClean="0">
                <a:latin typeface="微軟正黑體"/>
                <a:ea typeface="微軟正黑體"/>
                <a:cs typeface="微軟正黑體"/>
              </a:rPr>
              <a:t>，把</a:t>
            </a:r>
            <a:r>
              <a:rPr kumimoji="1" lang="en-US" altLang="zh-TW" sz="2300" dirty="0" smtClean="0">
                <a:latin typeface="微軟正黑體"/>
                <a:ea typeface="微軟正黑體"/>
                <a:cs typeface="微軟正黑體"/>
              </a:rPr>
              <a:t>destination</a:t>
            </a:r>
            <a:r>
              <a:rPr kumimoji="1" lang="zh-TW" altLang="en-US" sz="2300" dirty="0" smtClean="0">
                <a:latin typeface="微軟正黑體"/>
                <a:ea typeface="微軟正黑體"/>
                <a:cs typeface="微軟正黑體"/>
              </a:rPr>
              <a:t>字串複製到</a:t>
            </a:r>
            <a:r>
              <a:rPr kumimoji="1" lang="en-US" altLang="zh-TW" sz="2300" dirty="0" smtClean="0">
                <a:latin typeface="微軟正黑體"/>
                <a:ea typeface="微軟正黑體"/>
                <a:cs typeface="微軟正黑體"/>
              </a:rPr>
              <a:t>source</a:t>
            </a:r>
            <a:r>
              <a:rPr kumimoji="1" lang="zh-TW" altLang="en-US" sz="2300" dirty="0">
                <a:latin typeface="微軟正黑體"/>
                <a:ea typeface="微軟正黑體"/>
                <a:cs typeface="微軟正黑體"/>
              </a:rPr>
              <a:t>字串</a:t>
            </a:r>
          </a:p>
        </p:txBody>
      </p:sp>
      <p:sp>
        <p:nvSpPr>
          <p:cNvPr id="16" name="文字方塊 15"/>
          <p:cNvSpPr txBox="1"/>
          <p:nvPr/>
        </p:nvSpPr>
        <p:spPr>
          <a:xfrm>
            <a:off x="2538379" y="4925555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2400" dirty="0" smtClean="0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覆蓋原本的記憶體內容</a:t>
            </a:r>
            <a:endParaRPr kumimoji="1" lang="zh-TW" altLang="en-US" sz="2400" dirty="0">
              <a:solidFill>
                <a:srgbClr val="0000FF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516" y="1616053"/>
            <a:ext cx="4674682" cy="434450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926" y="3217295"/>
            <a:ext cx="7305752" cy="3821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250298" y="4981757"/>
            <a:ext cx="1557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TW" dirty="0">
                <a:latin typeface="微軟正黑體"/>
                <a:ea typeface="微軟正黑體"/>
                <a:cs typeface="微軟正黑體"/>
              </a:rPr>
              <a:t>source</a:t>
            </a:r>
            <a:r>
              <a:rPr kumimoji="1" lang="zh-TW" altLang="en-US" dirty="0">
                <a:latin typeface="微軟正黑體"/>
                <a:ea typeface="微軟正黑體"/>
                <a:cs typeface="微軟正黑體"/>
              </a:rPr>
              <a:t>字串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231594" y="3902743"/>
            <a:ext cx="1867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>
                <a:latin typeface="微軟正黑體"/>
                <a:ea typeface="微軟正黑體"/>
                <a:cs typeface="微軟正黑體"/>
              </a:rPr>
              <a:t>destination</a:t>
            </a:r>
            <a:r>
              <a:rPr kumimoji="1" lang="zh-TW" altLang="en-US" dirty="0">
                <a:latin typeface="微軟正黑體"/>
                <a:ea typeface="微軟正黑體"/>
                <a:cs typeface="微軟正黑體"/>
              </a:rPr>
              <a:t>字串</a:t>
            </a:r>
            <a:endParaRPr lang="zh-TW" altLang="en-US" dirty="0"/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503" y="4319828"/>
            <a:ext cx="4305931" cy="605727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503" y="2476092"/>
            <a:ext cx="4305931" cy="533363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82" y="5674900"/>
            <a:ext cx="4201352" cy="520409"/>
          </a:xfrm>
          <a:prstGeom prst="rect">
            <a:avLst/>
          </a:prstGeom>
        </p:spPr>
      </p:pic>
      <p:pic>
        <p:nvPicPr>
          <p:cNvPr id="29" name="圖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9413" y="4836152"/>
            <a:ext cx="478829" cy="77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517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memcpy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注意事項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記得</a:t>
            </a:r>
            <a:r>
              <a:rPr lang="en-US" altLang="zh-TW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source</a:t>
            </a:r>
            <a:r>
              <a:rPr lang="zh-TW" altLang="en-US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字串的長度一定要夠長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，才 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不會附蓋到其他記憶體的內容。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複製的</a:t>
            </a:r>
            <a:r>
              <a:rPr lang="zh-TW" altLang="en-US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長度需為</a:t>
            </a:r>
            <a:r>
              <a:rPr lang="en-US" altLang="zh-TW" dirty="0" err="1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destinatio</a:t>
            </a:r>
            <a:r>
              <a:rPr lang="zh-TW" altLang="en-US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字串的長度</a:t>
            </a:r>
            <a:r>
              <a:rPr lang="en-US" altLang="zh-TW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+1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   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千萬不要忘了</a:t>
            </a:r>
            <a:r>
              <a:rPr lang="en-US" altLang="zh-TW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“\0”</a:t>
            </a:r>
            <a:endParaRPr lang="zh-TW" altLang="en-US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37339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memcmp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929" y="2694432"/>
            <a:ext cx="5447281" cy="3970052"/>
          </a:xfrm>
          <a:prstGeom prst="rect">
            <a:avLst/>
          </a:prstGeom>
        </p:spPr>
      </p:pic>
      <p:sp>
        <p:nvSpPr>
          <p:cNvPr id="7" name="內容版面配置區 4"/>
          <p:cNvSpPr txBox="1">
            <a:spLocks/>
          </p:cNvSpPr>
          <p:nvPr/>
        </p:nvSpPr>
        <p:spPr>
          <a:xfrm>
            <a:off x="457200" y="166057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err="1" smtClean="0">
                <a:solidFill>
                  <a:srgbClr val="0070C0"/>
                </a:solidFill>
              </a:rPr>
              <a:t>int</a:t>
            </a:r>
            <a:r>
              <a:rPr lang="zh-TW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TW" dirty="0" err="1" smtClean="0">
                <a:solidFill>
                  <a:srgbClr val="0070C0"/>
                </a:solidFill>
              </a:rPr>
              <a:t>memcmp</a:t>
            </a:r>
            <a:r>
              <a:rPr lang="en-US" altLang="zh-TW" dirty="0" smtClean="0">
                <a:solidFill>
                  <a:srgbClr val="0070C0"/>
                </a:solidFill>
              </a:rPr>
              <a:t>(buffer1,</a:t>
            </a:r>
            <a:r>
              <a:rPr lang="zh-TW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TW" dirty="0" smtClean="0">
                <a:solidFill>
                  <a:srgbClr val="0070C0"/>
                </a:solidFill>
              </a:rPr>
              <a:t>buffer2,</a:t>
            </a:r>
            <a:r>
              <a:rPr lang="zh-TW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TW" dirty="0" smtClean="0">
                <a:solidFill>
                  <a:srgbClr val="0070C0"/>
                </a:solidFill>
              </a:rPr>
              <a:t>sizeofbuffer1)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2127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memcmp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此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  <a:r>
              <a:rPr lang="zh-TW" altLang="en-US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會回傳一個</a:t>
            </a:r>
            <a:r>
              <a:rPr lang="en-US" altLang="zh-TW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integer</a:t>
            </a:r>
            <a:r>
              <a:rPr lang="zh-TW" altLang="en-US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值</a:t>
            </a:r>
            <a:endParaRPr lang="en-US" altLang="zh-TW" dirty="0" smtClean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如果兩個字串</a:t>
            </a:r>
            <a:r>
              <a:rPr lang="zh-TW" altLang="en-US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一模一樣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，則會</a:t>
            </a:r>
            <a:r>
              <a:rPr lang="en-US" altLang="zh-TW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return</a:t>
            </a:r>
            <a:r>
              <a:rPr lang="zh-TW" altLang="en-US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如果兩個字串不一樣，則會</a:t>
            </a:r>
            <a:r>
              <a:rPr lang="zh-TW" altLang="en-US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比較第一個不同字元的</a:t>
            </a:r>
            <a:r>
              <a:rPr lang="en-US" altLang="zh-TW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ASCII</a:t>
            </a:r>
            <a:r>
              <a:rPr lang="zh-TW" altLang="en-US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碼大小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以上例而言，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ASCII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code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103.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                 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ASCII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71		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         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所以</a:t>
            </a:r>
            <a:r>
              <a:rPr lang="zh-TW" altLang="en-US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回傳</a:t>
            </a:r>
            <a:r>
              <a:rPr lang="en-US" altLang="zh-TW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&gt;0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的值，固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output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r>
              <a:rPr lang="en-US" altLang="zh-TW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‘DWgaOtP12df0’ 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is greater </a:t>
            </a:r>
            <a:r>
              <a:rPr lang="en-US" altLang="zh-TW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than</a:t>
            </a:r>
            <a:r>
              <a:rPr lang="zh-TW" altLang="en-US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5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'DWGAOTP12DF0</a:t>
            </a:r>
            <a:r>
              <a:rPr lang="en-US" altLang="zh-TW" sz="25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'.</a:t>
            </a:r>
          </a:p>
          <a:p>
            <a:pPr lvl="1"/>
            <a:endParaRPr lang="en-US" altLang="zh-TW" dirty="0" smtClean="0"/>
          </a:p>
          <a:p>
            <a:pPr marL="3200400" lvl="7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0500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1790</Words>
  <Application>Microsoft Macintosh PowerPoint</Application>
  <PresentationFormat>如螢幕大小 (4:3)</PresentationFormat>
  <Paragraphs>380</Paragraphs>
  <Slides>43</Slides>
  <Notes>39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44" baseType="lpstr">
      <vt:lpstr>Office 佈景主題</vt:lpstr>
      <vt:lpstr>String</vt:lpstr>
      <vt:lpstr>字串簡介</vt:lpstr>
      <vt:lpstr>什麼是String(字串)？</vt:lpstr>
      <vt:lpstr>字串的結束符號</vt:lpstr>
      <vt:lpstr>字串的結束符號</vt:lpstr>
      <vt:lpstr>PowerPoint 簡報</vt:lpstr>
      <vt:lpstr>PowerPoint 簡報</vt:lpstr>
      <vt:lpstr>未直接寫定長度的字串宣告</vt:lpstr>
      <vt:lpstr>未直接寫定長度的字串宣告</vt:lpstr>
      <vt:lpstr>空字串宣告</vt:lpstr>
      <vt:lpstr>空字串宣告</vt:lpstr>
      <vt:lpstr>空字串宣告</vt:lpstr>
      <vt:lpstr>PowerPoint 簡報</vt:lpstr>
      <vt:lpstr>字串複製：strcpy</vt:lpstr>
      <vt:lpstr>strcpy</vt:lpstr>
      <vt:lpstr>strcpy 範例</vt:lpstr>
      <vt:lpstr>strncpy</vt:lpstr>
      <vt:lpstr>strncpy範例</vt:lpstr>
      <vt:lpstr>字串輸出入：sprintf, sscanf</vt:lpstr>
      <vt:lpstr>sprintf</vt:lpstr>
      <vt:lpstr>sprintf 範例</vt:lpstr>
      <vt:lpstr>sscanf</vt:lpstr>
      <vt:lpstr>sscanf 範例</vt:lpstr>
      <vt:lpstr>PowerPoint 簡報</vt:lpstr>
      <vt:lpstr>字串長度：strlen</vt:lpstr>
      <vt:lpstr>strlen</vt:lpstr>
      <vt:lpstr>strlen範例</vt:lpstr>
      <vt:lpstr>字串進階處理</vt:lpstr>
      <vt:lpstr>strstr</vt:lpstr>
      <vt:lpstr>strstr範例</vt:lpstr>
      <vt:lpstr>strtok</vt:lpstr>
      <vt:lpstr>strtok使用方式</vt:lpstr>
      <vt:lpstr>strtok範例</vt:lpstr>
      <vt:lpstr>strtok原理</vt:lpstr>
      <vt:lpstr>strtok原理</vt:lpstr>
      <vt:lpstr>strtok原理</vt:lpstr>
      <vt:lpstr>strtok原理</vt:lpstr>
      <vt:lpstr>記憶體應用</vt:lpstr>
      <vt:lpstr>memcpy</vt:lpstr>
      <vt:lpstr>memcpy原理</vt:lpstr>
      <vt:lpstr>memcpy注意事項</vt:lpstr>
      <vt:lpstr>memcmp</vt:lpstr>
      <vt:lpstr>memcmp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</dc:title>
  <dc:creator>PING HAO CHANG</dc:creator>
  <cp:lastModifiedBy>秉浩 張</cp:lastModifiedBy>
  <cp:revision>106</cp:revision>
  <dcterms:created xsi:type="dcterms:W3CDTF">2012-10-30T17:08:51Z</dcterms:created>
  <dcterms:modified xsi:type="dcterms:W3CDTF">2013-09-05T08:12:23Z</dcterms:modified>
</cp:coreProperties>
</file>