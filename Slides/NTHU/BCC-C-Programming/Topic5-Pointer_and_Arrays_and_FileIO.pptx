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47"/>
  </p:notesMasterIdLst>
  <p:handoutMasterIdLst>
    <p:handoutMasterId r:id="rId48"/>
  </p:handoutMasterIdLst>
  <p:sldIdLst>
    <p:sldId id="256" r:id="rId4"/>
    <p:sldId id="257" r:id="rId5"/>
    <p:sldId id="259" r:id="rId6"/>
    <p:sldId id="261" r:id="rId7"/>
    <p:sldId id="260" r:id="rId8"/>
    <p:sldId id="262" r:id="rId9"/>
    <p:sldId id="258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97" r:id="rId30"/>
    <p:sldId id="283" r:id="rId31"/>
    <p:sldId id="284" r:id="rId32"/>
    <p:sldId id="285" r:id="rId33"/>
    <p:sldId id="299" r:id="rId34"/>
    <p:sldId id="286" r:id="rId35"/>
    <p:sldId id="287" r:id="rId36"/>
    <p:sldId id="288" r:id="rId37"/>
    <p:sldId id="29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2813" autoAdjust="0"/>
  </p:normalViewPr>
  <p:slideViewPr>
    <p:cSldViewPr snapToGrid="0">
      <p:cViewPr varScale="1">
        <p:scale>
          <a:sx n="75" d="100"/>
          <a:sy n="75" d="100"/>
        </p:scale>
        <p:origin x="-994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3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-174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6EB59-C039-40D7-BD48-D02C4D7FB2FC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13E90-E61B-4434-9B6A-2EEFAC324C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190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D7731-8297-4CE2-BA21-E843D12ADCA6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7C7FE-A234-462E-ABBA-8CA33D1A8E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7636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2A7F3-B4A4-441D-AF5A-6DF648F44379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536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4530"/>
            <a:ext cx="77724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zh-TW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189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280035"/>
            <a:ext cx="7772401" cy="1325562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9" y="1743075"/>
            <a:ext cx="7772401" cy="4437063"/>
          </a:xfrm>
        </p:spPr>
        <p:txBody>
          <a:bodyPr/>
          <a:lstStyle/>
          <a:p>
            <a:pPr lvl="0"/>
            <a:r>
              <a:rPr lang="en-US" altLang="zh-TW" dirty="0" smtClean="0"/>
              <a:t>Click to edit Master text styles</a:t>
            </a:r>
          </a:p>
          <a:p>
            <a:pPr lvl="1"/>
            <a:r>
              <a:rPr lang="en-US" altLang="zh-TW" dirty="0" smtClean="0"/>
              <a:t>Second level</a:t>
            </a:r>
          </a:p>
          <a:p>
            <a:pPr lvl="2"/>
            <a:r>
              <a:rPr lang="en-US" altLang="zh-TW" dirty="0" smtClean="0"/>
              <a:t>Third level</a:t>
            </a:r>
          </a:p>
          <a:p>
            <a:pPr lvl="3"/>
            <a:r>
              <a:rPr lang="en-US" altLang="zh-TW" dirty="0" smtClean="0"/>
              <a:t>Fourth level</a:t>
            </a:r>
          </a:p>
          <a:p>
            <a:pPr lvl="4"/>
            <a:r>
              <a:rPr lang="en-US" altLang="zh-TW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5607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12423"/>
            <a:ext cx="77724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55263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4038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828801"/>
            <a:ext cx="3834246" cy="4351337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29050" cy="4351337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65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681851"/>
            <a:ext cx="3815196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799" y="2507551"/>
            <a:ext cx="3815196" cy="3680525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851"/>
            <a:ext cx="3829050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7551"/>
            <a:ext cx="3829050" cy="3680525"/>
          </a:xfrm>
        </p:spPr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0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5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85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77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799" y="1828802"/>
            <a:ext cx="7772401" cy="4351336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546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14525" cy="5811838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799" y="360364"/>
            <a:ext cx="5743576" cy="5811836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268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603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55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753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85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046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417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343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842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969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868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7585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025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1099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7782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7371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410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1235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471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0695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3011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4789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77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799" y="365760"/>
            <a:ext cx="7772401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28801"/>
            <a:ext cx="7772401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79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1E1ABFF-99A6-4A4A-B19C-436493B8D700}" type="datetimeFigureOut">
              <a:rPr lang="zh-TW" altLang="en-US" smtClean="0"/>
              <a:t>2013/11/5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31547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008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D4463-FF01-4A9E-98C7-7BE7D10BF1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894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4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A40E6-E165-4654-A058-06A4F07A423E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2013/11/5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BC293-F02F-4A21-83A6-C250E90F928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00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" pitchFamily="34" charset="0"/>
                <a:cs typeface="Arial" pitchFamily="34" charset="0"/>
              </a:rPr>
              <a:t>Pointer and Arrays</a:t>
            </a:r>
            <a:endParaRPr lang="zh-TW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494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8873" y="443345"/>
            <a:ext cx="7779327" cy="6072865"/>
          </a:xfrm>
        </p:spPr>
        <p:txBody>
          <a:bodyPr>
            <a:noAutofit/>
          </a:bodyPr>
          <a:lstStyle/>
          <a:p>
            <a:r>
              <a:rPr lang="zh-TW" altLang="en-US" sz="2200" dirty="0" smtClean="0"/>
              <a:t>陣列是</a:t>
            </a:r>
            <a:r>
              <a:rPr lang="zh-TW" altLang="en-US" sz="2200" dirty="0"/>
              <a:t>一連串相同型別的元素，放置</a:t>
            </a:r>
            <a:r>
              <a:rPr lang="zh-TW" altLang="en-US" sz="2200" dirty="0" smtClean="0"/>
              <a:t>在連續</a:t>
            </a:r>
            <a:r>
              <a:rPr lang="zh-TW" altLang="en-US" sz="2200" dirty="0"/>
              <a:t>的</a:t>
            </a:r>
            <a:r>
              <a:rPr lang="zh-TW" altLang="en-US" sz="2200" dirty="0" smtClean="0"/>
              <a:t>位置</a:t>
            </a:r>
            <a:endParaRPr lang="en-US" altLang="zh-TW" sz="2200" dirty="0" smtClean="0"/>
          </a:p>
          <a:p>
            <a:r>
              <a:rPr lang="zh-TW" altLang="en-US" sz="2200" dirty="0" smtClean="0"/>
              <a:t>因此陣列</a:t>
            </a:r>
            <a:r>
              <a:rPr lang="zh-TW" altLang="en-US" sz="2200" dirty="0"/>
              <a:t>的宣告必須告訴</a:t>
            </a:r>
            <a:r>
              <a:rPr lang="en-US" altLang="zh-TW" sz="2200" dirty="0"/>
              <a:t>compiler </a:t>
            </a:r>
            <a:r>
              <a:rPr lang="zh-TW" altLang="en-US" sz="2200" dirty="0"/>
              <a:t>這個陣列的組成元素的型別以及總共包含多少</a:t>
            </a:r>
            <a:r>
              <a:rPr lang="zh-TW" altLang="en-US" sz="2200" dirty="0" smtClean="0"/>
              <a:t>元素</a:t>
            </a:r>
            <a:endParaRPr lang="en-US" altLang="zh-TW" sz="2200" dirty="0" smtClean="0"/>
          </a:p>
          <a:p>
            <a:r>
              <a:rPr lang="zh-TW" altLang="en-US" sz="2200" dirty="0"/>
              <a:t>例如</a:t>
            </a:r>
            <a:endParaRPr lang="en-US" altLang="zh-TW" sz="2200" dirty="0" smtClean="0"/>
          </a:p>
          <a:p>
            <a:endParaRPr lang="en-US" altLang="zh-TW" sz="2200" dirty="0"/>
          </a:p>
          <a:p>
            <a:endParaRPr lang="en-US" altLang="zh-TW" sz="2200" dirty="0" smtClean="0"/>
          </a:p>
          <a:p>
            <a:endParaRPr lang="en-US" altLang="zh-TW" sz="2200" dirty="0"/>
          </a:p>
          <a:p>
            <a:endParaRPr lang="en-US" altLang="zh-TW" sz="2200" dirty="0" smtClean="0"/>
          </a:p>
          <a:p>
            <a:endParaRPr lang="en-US" altLang="zh-TW" sz="2200" dirty="0"/>
          </a:p>
          <a:p>
            <a:r>
              <a:rPr lang="zh-TW" altLang="en-US" sz="2200" dirty="0"/>
              <a:t>方</a:t>
            </a:r>
            <a:r>
              <a:rPr lang="zh-TW" altLang="en-US" sz="2200" dirty="0" smtClean="0"/>
              <a:t>括號</a:t>
            </a:r>
            <a:r>
              <a:rPr lang="en-US" altLang="zh-TW" sz="2200" b="1" dirty="0" smtClean="0"/>
              <a:t>[</a:t>
            </a:r>
            <a:r>
              <a:rPr lang="zh-TW" altLang="en-US" sz="2200" b="1" dirty="0" smtClean="0"/>
              <a:t> </a:t>
            </a:r>
            <a:r>
              <a:rPr lang="en-US" altLang="zh-TW" sz="2200" b="1" dirty="0" smtClean="0"/>
              <a:t>]</a:t>
            </a:r>
            <a:r>
              <a:rPr lang="zh-TW" altLang="en-US" sz="2200" dirty="0" smtClean="0"/>
              <a:t>用來</a:t>
            </a:r>
            <a:r>
              <a:rPr lang="zh-TW" altLang="en-US" sz="2200" dirty="0"/>
              <a:t>表示</a:t>
            </a:r>
            <a:r>
              <a:rPr lang="en-US" altLang="zh-TW" sz="2200" b="1" dirty="0"/>
              <a:t>signal </a:t>
            </a:r>
            <a:r>
              <a:rPr lang="zh-TW" altLang="en-US" sz="2200" dirty="0"/>
              <a:t>是個陣列，括號裡的數字代表陣列的大小，而每個元素的型別都是</a:t>
            </a:r>
            <a:r>
              <a:rPr lang="en-US" altLang="zh-TW" sz="2200" b="1" dirty="0" smtClean="0"/>
              <a:t>float</a:t>
            </a:r>
            <a:endParaRPr lang="en-US" altLang="zh-TW" sz="2200" dirty="0" smtClean="0"/>
          </a:p>
          <a:p>
            <a:r>
              <a:rPr lang="zh-TW" altLang="en-US" sz="2200" dirty="0" smtClean="0"/>
              <a:t>陣列</a:t>
            </a:r>
            <a:r>
              <a:rPr lang="zh-TW" altLang="en-US" sz="2200" dirty="0"/>
              <a:t>的每</a:t>
            </a:r>
            <a:r>
              <a:rPr lang="zh-TW" altLang="en-US" sz="2200" dirty="0" smtClean="0"/>
              <a:t>個元素</a:t>
            </a:r>
            <a:r>
              <a:rPr lang="zh-TW" altLang="en-US" sz="2200" dirty="0"/>
              <a:t>可以被單獨</a:t>
            </a:r>
            <a:r>
              <a:rPr lang="zh-TW" altLang="en-US" sz="2200" dirty="0" smtClean="0"/>
              <a:t>存取，但是要特別注意，</a:t>
            </a:r>
            <a:r>
              <a:rPr lang="zh-TW" altLang="en-US" sz="2200" dirty="0"/>
              <a:t>陣列的編號從</a:t>
            </a:r>
            <a:r>
              <a:rPr lang="en-US" altLang="zh-TW" sz="2200" b="1" dirty="0" smtClean="0"/>
              <a:t>0</a:t>
            </a:r>
            <a:r>
              <a:rPr lang="zh-TW" altLang="en-US" sz="2200" dirty="0" smtClean="0"/>
              <a:t>開始</a:t>
            </a:r>
            <a:endParaRPr lang="en-US" altLang="zh-TW" sz="2200" dirty="0"/>
          </a:p>
          <a:p>
            <a:r>
              <a:rPr lang="zh-TW" altLang="en-US" sz="2200" dirty="0" smtClean="0"/>
              <a:t>在</a:t>
            </a:r>
            <a:r>
              <a:rPr lang="zh-TW" altLang="en-US" sz="2200" dirty="0"/>
              <a:t>上面的例子裡</a:t>
            </a:r>
            <a:r>
              <a:rPr lang="en-US" altLang="zh-TW" sz="2200" b="1" dirty="0"/>
              <a:t>signal[0] </a:t>
            </a:r>
            <a:r>
              <a:rPr lang="zh-TW" altLang="en-US" sz="2200" dirty="0"/>
              <a:t>是第一個</a:t>
            </a:r>
            <a:r>
              <a:rPr lang="zh-TW" altLang="en-US" sz="2200" dirty="0" smtClean="0"/>
              <a:t>元素</a:t>
            </a:r>
            <a:r>
              <a:rPr lang="en-US" altLang="zh-TW" sz="2200" dirty="0" smtClean="0"/>
              <a:t/>
            </a:r>
            <a:br>
              <a:rPr lang="en-US" altLang="zh-TW" sz="2200" dirty="0" smtClean="0"/>
            </a:br>
            <a:r>
              <a:rPr lang="zh-TW" altLang="en-US" sz="2200" dirty="0" smtClean="0"/>
              <a:t>而</a:t>
            </a:r>
            <a:r>
              <a:rPr lang="en-US" altLang="zh-TW" sz="2200" b="1" dirty="0" smtClean="0"/>
              <a:t>signal[99</a:t>
            </a:r>
            <a:r>
              <a:rPr lang="en-US" altLang="zh-TW" sz="2200" b="1" dirty="0"/>
              <a:t>] </a:t>
            </a:r>
            <a:r>
              <a:rPr lang="zh-TW" altLang="en-US" sz="2200" dirty="0"/>
              <a:t>是最後一個元素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443" y="2036938"/>
            <a:ext cx="2745365" cy="2125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354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8873" y="352098"/>
            <a:ext cx="7779327" cy="5828041"/>
          </a:xfrm>
        </p:spPr>
        <p:txBody>
          <a:bodyPr>
            <a:normAutofit/>
          </a:bodyPr>
          <a:lstStyle/>
          <a:p>
            <a:endParaRPr lang="en-US" altLang="zh-TW" sz="2200" dirty="0" smtClean="0"/>
          </a:p>
          <a:p>
            <a:endParaRPr lang="en-US" altLang="zh-TW" sz="2200" dirty="0"/>
          </a:p>
          <a:p>
            <a:endParaRPr lang="en-US" altLang="zh-TW" sz="2200" dirty="0" smtClean="0"/>
          </a:p>
          <a:p>
            <a:endParaRPr lang="en-US" altLang="zh-TW" sz="2200" dirty="0"/>
          </a:p>
          <a:p>
            <a:endParaRPr lang="en-US" altLang="zh-TW" sz="2400" dirty="0" smtClean="0"/>
          </a:p>
          <a:p>
            <a:endParaRPr lang="en-US" altLang="zh-TW" sz="2200" dirty="0"/>
          </a:p>
          <a:p>
            <a:endParaRPr lang="en-US" altLang="zh-TW" sz="2200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先把陣列裡面的元素設定好，也就是所謂的初始化</a:t>
            </a:r>
            <a:r>
              <a:rPr lang="en-US" altLang="zh-TW" dirty="0" smtClean="0"/>
              <a:t>(initialization)</a:t>
            </a:r>
          </a:p>
          <a:p>
            <a:r>
              <a:rPr lang="zh-TW" altLang="en-US" dirty="0" smtClean="0"/>
              <a:t>對</a:t>
            </a:r>
            <a:r>
              <a:rPr lang="zh-TW" altLang="en-US" dirty="0"/>
              <a:t>陣列做初始化的</a:t>
            </a:r>
            <a:r>
              <a:rPr lang="zh-TW" altLang="en-US" dirty="0" smtClean="0"/>
              <a:t>語法是</a:t>
            </a:r>
            <a:r>
              <a:rPr lang="zh-TW" altLang="en-US" dirty="0"/>
              <a:t>在陣列宣告之後用等號來指定，然後用波浪括號包住元素的值，每個值用逗號</a:t>
            </a:r>
            <a:r>
              <a:rPr lang="zh-TW" altLang="en-US" dirty="0" smtClean="0"/>
              <a:t>隔開</a:t>
            </a:r>
            <a:endParaRPr lang="en-US" altLang="zh-TW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78" y="523343"/>
            <a:ext cx="4709178" cy="296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5842660" y="352098"/>
            <a:ext cx="2912496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900" dirty="0"/>
              <a:t>執行結果</a:t>
            </a:r>
            <a:endParaRPr lang="en-US" altLang="zh-TW" sz="1900" dirty="0"/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[0] 3 ***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[1] 5 *****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[2] 2 **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[3] 1 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[4] 8 ********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[5] 3 ***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[6] 1 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[7] 5 *****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[8] 4 ****</a:t>
            </a:r>
          </a:p>
          <a:p>
            <a:pPr lvl="1"/>
            <a:r>
              <a:rPr lang="en-US" altLang="zh-TW" sz="1900" dirty="0">
                <a:latin typeface="Consolas" pitchFamily="49" charset="0"/>
                <a:cs typeface="Consolas" pitchFamily="49" charset="0"/>
              </a:rPr>
              <a:t>[9] 3 ***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	</a:t>
            </a:r>
            <a:endParaRPr lang="zh-TW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21377" y="3266118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5-1</a:t>
            </a:r>
          </a:p>
        </p:txBody>
      </p:sp>
    </p:spTree>
    <p:extLst>
      <p:ext uri="{BB962C8B-B14F-4D97-AF65-F5344CB8AC3E}">
        <p14:creationId xmlns:p14="http://schemas.microsoft.com/office/powerpoint/2010/main" val="409819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8873" y="605642"/>
            <a:ext cx="7779327" cy="5574496"/>
          </a:xfrm>
        </p:spPr>
        <p:txBody>
          <a:bodyPr>
            <a:noAutofit/>
          </a:bodyPr>
          <a:lstStyle/>
          <a:p>
            <a:r>
              <a:rPr lang="zh-TW" altLang="de-DE" sz="2400" dirty="0"/>
              <a:t>把宣告改成</a:t>
            </a:r>
            <a:r>
              <a:rPr lang="de-DE" altLang="zh-TW" sz="2400" b="1" dirty="0"/>
              <a:t>int hist[NBIN]; </a:t>
            </a:r>
            <a:endParaRPr lang="de-DE" altLang="zh-TW" sz="2400" b="1" dirty="0" smtClean="0"/>
          </a:p>
          <a:p>
            <a:r>
              <a:rPr lang="zh-TW" altLang="en-US" sz="2400" dirty="0" smtClean="0"/>
              <a:t>也就是去掉</a:t>
            </a:r>
            <a:r>
              <a:rPr lang="zh-TW" altLang="en-US" sz="2400" dirty="0"/>
              <a:t>初始化之後的程式執行結果</a:t>
            </a:r>
            <a:endParaRPr lang="en-US" altLang="zh-TW" sz="2400" dirty="0" smtClean="0"/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[0] 2009095316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[1] 2008948848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[2] -1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[3] 2009055971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[4] 2009118740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[5] 4008912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[6] 4008880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[7] 8 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[8] 2009116333 *****************************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[9] 28 ****************************</a:t>
            </a:r>
            <a:endParaRPr lang="en-US" altLang="zh-TW" sz="1800" dirty="0">
              <a:latin typeface="Consolas" pitchFamily="49" charset="0"/>
              <a:cs typeface="Consolas" pitchFamily="49" charset="0"/>
            </a:endParaRPr>
          </a:p>
          <a:p>
            <a:endParaRPr lang="en-US" altLang="zh-TW" sz="2400" dirty="0" smtClean="0"/>
          </a:p>
          <a:p>
            <a:r>
              <a:rPr lang="zh-TW" altLang="en-US" sz="2400" dirty="0" smtClean="0"/>
              <a:t>沒有</a:t>
            </a:r>
            <a:r>
              <a:rPr lang="zh-TW" altLang="en-US" sz="2400" dirty="0"/>
              <a:t>經過初始化的陣列，裡面會有什麼東西我們無法控制，完全看當時記憶體中有什麼內容而決定</a:t>
            </a:r>
            <a:endParaRPr lang="en-US" altLang="zh-TW" sz="2400" dirty="0" smtClean="0"/>
          </a:p>
        </p:txBody>
      </p:sp>
    </p:spTree>
    <p:extLst>
      <p:ext uri="{BB962C8B-B14F-4D97-AF65-F5344CB8AC3E}">
        <p14:creationId xmlns:p14="http://schemas.microsoft.com/office/powerpoint/2010/main" val="273199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8873" y="605641"/>
            <a:ext cx="7779327" cy="5866179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把</a:t>
            </a:r>
            <a:r>
              <a:rPr lang="zh-TW" altLang="en-US" sz="2400" dirty="0" smtClean="0"/>
              <a:t>宣</a:t>
            </a:r>
            <a:r>
              <a:rPr lang="zh-TW" altLang="de-DE" sz="2400" dirty="0" smtClean="0"/>
              <a:t>告</a:t>
            </a:r>
            <a:r>
              <a:rPr lang="zh-TW" altLang="de-DE" sz="2400" dirty="0"/>
              <a:t>改成</a:t>
            </a:r>
            <a:r>
              <a:rPr lang="de-DE" altLang="zh-TW" sz="2400" b="1" dirty="0"/>
              <a:t>int hist[NBIN] = {3, 5</a:t>
            </a:r>
            <a:r>
              <a:rPr lang="de-DE" altLang="zh-TW" sz="2400" b="1" dirty="0" smtClean="0"/>
              <a:t>}</a:t>
            </a:r>
          </a:p>
          <a:p>
            <a:r>
              <a:rPr lang="zh-TW" altLang="en-US" sz="2400" dirty="0"/>
              <a:t>也就是</a:t>
            </a:r>
            <a:r>
              <a:rPr lang="zh-TW" altLang="en-US" sz="2400" dirty="0" smtClean="0"/>
              <a:t>只</a:t>
            </a:r>
            <a:r>
              <a:rPr lang="zh-TW" altLang="en-US" sz="2400" dirty="0"/>
              <a:t>設定前兩個元素的初</a:t>
            </a:r>
            <a:r>
              <a:rPr lang="zh-TW" altLang="en-US" sz="2400" dirty="0" smtClean="0"/>
              <a:t>值的執行結果</a:t>
            </a:r>
            <a:endParaRPr lang="en-US" altLang="zh-TW" sz="2400" dirty="0" smtClean="0"/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[0] 3 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[1] 5 *****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[2] 0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[3] 0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[4] 0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[5] 0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[6] 0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[7] 0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[8] 0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Consolas" pitchFamily="49" charset="0"/>
                <a:cs typeface="Consolas" pitchFamily="49" charset="0"/>
              </a:rPr>
              <a:t>[9] </a:t>
            </a:r>
            <a:r>
              <a:rPr lang="en-US" altLang="zh-TW" sz="2000" dirty="0" smtClean="0">
                <a:latin typeface="Consolas" pitchFamily="49" charset="0"/>
                <a:cs typeface="Consolas" pitchFamily="49" charset="0"/>
              </a:rPr>
              <a:t>0</a:t>
            </a:r>
          </a:p>
          <a:p>
            <a:r>
              <a:rPr lang="zh-TW" altLang="en-US" sz="2400" dirty="0"/>
              <a:t>如果我們只對陣列的部份元素設定初值，則其餘的元素會被自動設為</a:t>
            </a:r>
            <a:r>
              <a:rPr lang="en-US" altLang="zh-TW" sz="2400" b="1" dirty="0" smtClean="0"/>
              <a:t>0</a:t>
            </a:r>
          </a:p>
          <a:p>
            <a:r>
              <a:rPr lang="zh-TW" altLang="en-US" sz="2400" dirty="0"/>
              <a:t>要</a:t>
            </a:r>
            <a:r>
              <a:rPr lang="zh-TW" altLang="en-US" sz="2400" dirty="0" smtClean="0"/>
              <a:t>讓</a:t>
            </a:r>
            <a:r>
              <a:rPr lang="en-US" altLang="zh-TW" sz="2400" b="1" dirty="0" err="1" smtClean="0"/>
              <a:t>hist</a:t>
            </a:r>
            <a:r>
              <a:rPr lang="en-US" altLang="zh-TW" sz="2400" b="1" dirty="0" smtClean="0"/>
              <a:t> </a:t>
            </a:r>
            <a:r>
              <a:rPr lang="zh-TW" altLang="en-US" sz="2400" dirty="0"/>
              <a:t>每個元素的初值都變成</a:t>
            </a:r>
            <a:r>
              <a:rPr lang="en-US" altLang="zh-TW" sz="2400" b="1" dirty="0"/>
              <a:t>0</a:t>
            </a:r>
            <a:r>
              <a:rPr lang="zh-TW" altLang="en-US" sz="2400" dirty="0"/>
              <a:t>，只要寫</a:t>
            </a:r>
            <a:r>
              <a:rPr lang="en-US" altLang="zh-TW" sz="2400" b="1" dirty="0" err="1"/>
              <a:t>int</a:t>
            </a:r>
            <a:r>
              <a:rPr lang="en-US" altLang="zh-TW" sz="2400" b="1" dirty="0"/>
              <a:t> </a:t>
            </a:r>
            <a:r>
              <a:rPr lang="en-US" altLang="zh-TW" sz="2400" b="1" dirty="0" err="1"/>
              <a:t>hist</a:t>
            </a:r>
            <a:r>
              <a:rPr lang="en-US" altLang="zh-TW" sz="2400" b="1" dirty="0"/>
              <a:t>[NBIN] = {0} </a:t>
            </a:r>
            <a:r>
              <a:rPr lang="zh-TW" altLang="en-US" sz="2400" dirty="0"/>
              <a:t>就可以辦到</a:t>
            </a:r>
            <a:endParaRPr lang="en-US" altLang="zh-TW" sz="2400" dirty="0" smtClean="0"/>
          </a:p>
          <a:p>
            <a:pPr marL="457200" lvl="1" indent="0">
              <a:buNone/>
            </a:pPr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3140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設定初值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799" y="1605597"/>
            <a:ext cx="7772401" cy="4750815"/>
          </a:xfrm>
        </p:spPr>
        <p:txBody>
          <a:bodyPr>
            <a:noAutofit/>
          </a:bodyPr>
          <a:lstStyle/>
          <a:p>
            <a:r>
              <a:rPr lang="zh-TW" altLang="en-US" dirty="0"/>
              <a:t>假如我們在設定初</a:t>
            </a:r>
            <a:r>
              <a:rPr lang="zh-TW" altLang="en-US" dirty="0" smtClean="0"/>
              <a:t>值時</a:t>
            </a:r>
            <a:r>
              <a:rPr lang="zh-TW" altLang="en-US" dirty="0"/>
              <a:t>，列出的初值數量超過宣告的元素</a:t>
            </a:r>
            <a:r>
              <a:rPr lang="zh-TW" altLang="en-US" dirty="0" smtClean="0"/>
              <a:t>個數，譬如</a:t>
            </a:r>
            <a:r>
              <a:rPr lang="en-US" altLang="zh-TW" b="1" dirty="0" err="1"/>
              <a:t>int</a:t>
            </a:r>
            <a:r>
              <a:rPr lang="en-US" altLang="zh-TW" b="1" dirty="0"/>
              <a:t> </a:t>
            </a:r>
            <a:r>
              <a:rPr lang="en-US" altLang="zh-TW" b="1" dirty="0" err="1"/>
              <a:t>hist</a:t>
            </a:r>
            <a:r>
              <a:rPr lang="en-US" altLang="zh-TW" b="1" dirty="0"/>
              <a:t>[3] = {1,2,3,4</a:t>
            </a:r>
            <a:r>
              <a:rPr lang="en-US" altLang="zh-TW" b="1" dirty="0" smtClean="0"/>
              <a:t>};</a:t>
            </a:r>
            <a:endParaRPr lang="en-US" altLang="zh-TW" dirty="0" smtClean="0"/>
          </a:p>
          <a:p>
            <a:r>
              <a:rPr lang="zh-TW" altLang="en-US" dirty="0" smtClean="0"/>
              <a:t>陣列大小是</a:t>
            </a:r>
            <a:r>
              <a:rPr lang="en-US" altLang="zh-TW" b="1" dirty="0" smtClean="0"/>
              <a:t>3</a:t>
            </a:r>
            <a:r>
              <a:rPr lang="zh-TW" altLang="en-US" dirty="0"/>
              <a:t>，但是設了四個初值，這樣的寫法是不被允許的，在</a:t>
            </a:r>
            <a:r>
              <a:rPr lang="en-US" altLang="zh-TW" dirty="0" smtClean="0"/>
              <a:t>compile</a:t>
            </a:r>
            <a:r>
              <a:rPr lang="zh-TW" altLang="en-US" dirty="0" smtClean="0"/>
              <a:t>時</a:t>
            </a:r>
            <a:r>
              <a:rPr lang="zh-TW" altLang="en-US" dirty="0"/>
              <a:t>就會</a:t>
            </a:r>
            <a:r>
              <a:rPr lang="zh-TW" altLang="en-US" dirty="0" smtClean="0"/>
              <a:t>出錯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遇到</a:t>
            </a:r>
            <a:r>
              <a:rPr lang="zh-TW" altLang="en-US" dirty="0"/>
              <a:t>這種</a:t>
            </a:r>
            <a:r>
              <a:rPr lang="zh-TW" altLang="en-US" dirty="0" smtClean="0"/>
              <a:t>情況</a:t>
            </a:r>
            <a:r>
              <a:rPr lang="zh-TW" altLang="en-US" dirty="0"/>
              <a:t>要</a:t>
            </a:r>
            <a:r>
              <a:rPr lang="zh-TW" altLang="en-US" dirty="0" smtClean="0"/>
              <a:t>改成</a:t>
            </a:r>
            <a:r>
              <a:rPr lang="en-US" altLang="zh-TW" b="1" dirty="0" err="1" smtClean="0"/>
              <a:t>int</a:t>
            </a:r>
            <a:r>
              <a:rPr lang="en-US" altLang="zh-TW" b="1" dirty="0" smtClean="0"/>
              <a:t> </a:t>
            </a:r>
            <a:r>
              <a:rPr lang="en-US" altLang="zh-TW" b="1" dirty="0" err="1" smtClean="0"/>
              <a:t>hist</a:t>
            </a:r>
            <a:r>
              <a:rPr lang="en-US" altLang="zh-TW" b="1" dirty="0"/>
              <a:t>[] = {1,2,3,4}; </a:t>
            </a:r>
            <a:endParaRPr lang="en-US" altLang="zh-TW" b="1" dirty="0" smtClean="0"/>
          </a:p>
          <a:p>
            <a:r>
              <a:rPr lang="zh-TW" altLang="en-US" dirty="0" smtClean="0"/>
              <a:t>使用</a:t>
            </a:r>
            <a:r>
              <a:rPr lang="zh-TW" altLang="en-US" dirty="0"/>
              <a:t>這種寫法，我們就不必自己指定陣列大小，而讓</a:t>
            </a:r>
            <a:r>
              <a:rPr lang="en-US" altLang="zh-TW" dirty="0"/>
              <a:t>compiler </a:t>
            </a:r>
            <a:r>
              <a:rPr lang="zh-TW" altLang="en-US" dirty="0"/>
              <a:t>依照我們</a:t>
            </a:r>
            <a:r>
              <a:rPr lang="zh-TW" altLang="en-US" dirty="0" smtClean="0"/>
              <a:t>給的</a:t>
            </a:r>
            <a:r>
              <a:rPr lang="zh-TW" altLang="en-US" dirty="0"/>
              <a:t>初值個數決定陣列要多大</a:t>
            </a:r>
            <a:endParaRPr lang="en-US" altLang="zh-TW" dirty="0" smtClean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6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配合迴圈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40890" y="1618372"/>
            <a:ext cx="3417310" cy="5039880"/>
          </a:xfrm>
        </p:spPr>
        <p:txBody>
          <a:bodyPr>
            <a:noAutofit/>
          </a:bodyPr>
          <a:lstStyle/>
          <a:p>
            <a:r>
              <a:rPr lang="en-US" altLang="zh-TW" sz="21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</a:p>
          <a:p>
            <a:pPr marL="0" indent="0">
              <a:buNone/>
            </a:pPr>
            <a:r>
              <a:rPr lang="en-US" altLang="zh-TW" sz="2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1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 1 </a:t>
            </a:r>
            <a:r>
              <a:rPr lang="en-US" altLang="zh-TW" sz="2100" dirty="0">
                <a:latin typeface="Consolas" panose="020B0609020204030204" pitchFamily="49" charset="0"/>
                <a:cs typeface="Consolas" panose="020B0609020204030204" pitchFamily="49" charset="0"/>
              </a:rPr>
              <a:t>3 2 4 8 3 3 2 2</a:t>
            </a:r>
            <a:endParaRPr lang="en-US" altLang="zh-TW" sz="21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100" b="1" dirty="0" smtClean="0"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[0] 1 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1] 3 ***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2] 2 **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3] 4 ****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4] 8 ********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5] 3 ***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6] 3 ***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7] 2 **</a:t>
            </a:r>
          </a:p>
          <a:p>
            <a:pPr marL="0" indent="0">
              <a:buNone/>
            </a:pPr>
            <a:r>
              <a:rPr lang="en-US" altLang="zh-TW" sz="2100" dirty="0" smtClean="0">
                <a:latin typeface="Consolas" pitchFamily="49" charset="0"/>
                <a:cs typeface="Consolas" pitchFamily="49" charset="0"/>
              </a:rPr>
              <a:t> [</a:t>
            </a:r>
            <a:r>
              <a:rPr lang="en-US" altLang="zh-TW" sz="2100" dirty="0">
                <a:latin typeface="Consolas" pitchFamily="49" charset="0"/>
                <a:cs typeface="Consolas" pitchFamily="49" charset="0"/>
              </a:rPr>
              <a:t>8] 2 **</a:t>
            </a:r>
            <a:endParaRPr lang="en-US" altLang="zh-TW" sz="2100" dirty="0" smtClean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65" y="1832697"/>
            <a:ext cx="4429125" cy="393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166271" y="5628253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5-2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027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799" y="356261"/>
            <a:ext cx="7772401" cy="5823878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C </a:t>
            </a:r>
            <a:r>
              <a:rPr lang="zh-TW" altLang="en-US" sz="3200" dirty="0"/>
              <a:t>語言本身並沒有提供把一個陣列整個設給另一個陣列的</a:t>
            </a:r>
            <a:r>
              <a:rPr lang="zh-TW" altLang="en-US" sz="3200" dirty="0" smtClean="0"/>
              <a:t>功能</a:t>
            </a:r>
            <a:endParaRPr lang="en-US" altLang="zh-TW" sz="3200" dirty="0" smtClean="0"/>
          </a:p>
          <a:p>
            <a:endParaRPr lang="en-US" altLang="zh-TW" sz="3200" dirty="0" smtClean="0"/>
          </a:p>
          <a:p>
            <a:r>
              <a:rPr lang="zh-TW" altLang="en-US" sz="3200" dirty="0" smtClean="0"/>
              <a:t>所以</a:t>
            </a:r>
            <a:r>
              <a:rPr lang="zh-TW" altLang="en-US" sz="3200" dirty="0"/>
              <a:t>不能</a:t>
            </a:r>
            <a:r>
              <a:rPr lang="zh-TW" altLang="en-US" sz="3200" dirty="0" smtClean="0"/>
              <a:t>用下面</a:t>
            </a:r>
            <a:r>
              <a:rPr lang="zh-TW" altLang="en-US" sz="3200" dirty="0"/>
              <a:t>這樣的寫法來</a:t>
            </a:r>
            <a:r>
              <a:rPr lang="zh-TW" altLang="en-US" sz="3200" dirty="0" smtClean="0"/>
              <a:t>複製</a:t>
            </a:r>
            <a:r>
              <a:rPr lang="zh-TW" altLang="en-US" sz="3200" dirty="0"/>
              <a:t>陣列的</a:t>
            </a:r>
            <a:r>
              <a:rPr lang="zh-TW" altLang="en-US" sz="3200" dirty="0" smtClean="0"/>
              <a:t>內容</a:t>
            </a:r>
            <a:endParaRPr lang="en-US" altLang="zh-TW" sz="3200" dirty="0" smtClean="0"/>
          </a:p>
          <a:p>
            <a:endParaRPr lang="en-US" altLang="zh-TW" sz="3200" dirty="0"/>
          </a:p>
          <a:p>
            <a:endParaRPr lang="en-US" altLang="zh-TW" sz="3200" dirty="0" smtClean="0"/>
          </a:p>
          <a:p>
            <a:r>
              <a:rPr lang="zh-TW" altLang="en-US" sz="3200" dirty="0" smtClean="0"/>
              <a:t>要透過</a:t>
            </a:r>
            <a:r>
              <a:rPr lang="zh-TW" altLang="en-US" sz="3200" dirty="0"/>
              <a:t>迴圈，對每個元素以逐一存取的方式，把一個陣列的內容複製到另一個陣列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305" y="2617397"/>
            <a:ext cx="4253539" cy="1206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305" y="5151438"/>
            <a:ext cx="3642948" cy="1457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319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45" y="1533030"/>
            <a:ext cx="5495925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越界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723366" y="1912374"/>
            <a:ext cx="32253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Consolas" pitchFamily="49" charset="0"/>
                <a:cs typeface="Consolas" pitchFamily="49" charset="0"/>
              </a:rPr>
              <a:t>執行</a:t>
            </a:r>
            <a:r>
              <a:rPr lang="zh-TW" altLang="en-US" sz="2000" b="1" dirty="0" smtClean="0">
                <a:latin typeface="Consolas" pitchFamily="49" charset="0"/>
                <a:cs typeface="Consolas" pitchFamily="49" charset="0"/>
              </a:rPr>
              <a:t>結果</a:t>
            </a:r>
            <a:r>
              <a:rPr lang="en-US" altLang="zh-TW" sz="2000" b="1" dirty="0" smtClean="0">
                <a:latin typeface="Consolas" pitchFamily="49" charset="0"/>
                <a:cs typeface="Consolas" pitchFamily="49" charset="0"/>
              </a:rPr>
              <a:t>:</a:t>
            </a: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value1 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= 55, value2 = 66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[-1] = -1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[0] = 1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[1] = 3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[2] = 5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[3] = 7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[4] = 9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[5] = 28</a:t>
            </a:r>
          </a:p>
          <a:p>
            <a:r>
              <a:rPr lang="en-US" altLang="zh-TW" dirty="0" err="1">
                <a:latin typeface="Consolas" pitchFamily="49" charset="0"/>
                <a:cs typeface="Consolas" pitchFamily="49" charset="0"/>
              </a:rPr>
              <a:t>arr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[6] = 0</a:t>
            </a:r>
          </a:p>
          <a:p>
            <a:r>
              <a:rPr lang="en-US" altLang="zh-TW" dirty="0">
                <a:latin typeface="Consolas" pitchFamily="49" charset="0"/>
                <a:cs typeface="Consolas" pitchFamily="49" charset="0"/>
              </a:rPr>
              <a:t>value1 = 55, value2 = -1</a:t>
            </a:r>
            <a:endParaRPr lang="zh-TW" alt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63892" y="5520314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5-3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4399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799" y="1258783"/>
            <a:ext cx="7772401" cy="4921355"/>
          </a:xfrm>
        </p:spPr>
        <p:txBody>
          <a:bodyPr/>
          <a:lstStyle/>
          <a:p>
            <a:r>
              <a:rPr lang="zh-TW" altLang="en-US" dirty="0"/>
              <a:t>由前面得到的執行結果，我們可以推測這個</a:t>
            </a:r>
            <a:r>
              <a:rPr lang="en-US" altLang="zh-TW" dirty="0"/>
              <a:t>compiler </a:t>
            </a:r>
            <a:r>
              <a:rPr lang="zh-TW" altLang="en-US" dirty="0"/>
              <a:t>似乎是把</a:t>
            </a:r>
            <a:r>
              <a:rPr lang="en-US" altLang="zh-TW" b="1" dirty="0"/>
              <a:t>value2 </a:t>
            </a:r>
            <a:r>
              <a:rPr lang="zh-TW" altLang="en-US" dirty="0"/>
              <a:t>放在</a:t>
            </a:r>
            <a:r>
              <a:rPr lang="en-US" altLang="zh-TW" b="1" dirty="0" err="1"/>
              <a:t>arr</a:t>
            </a:r>
            <a:r>
              <a:rPr lang="en-US" altLang="zh-TW" b="1" dirty="0"/>
              <a:t> </a:t>
            </a:r>
            <a:r>
              <a:rPr lang="zh-TW" altLang="en-US" dirty="0"/>
              <a:t>陣列的</a:t>
            </a:r>
            <a:r>
              <a:rPr lang="zh-TW" altLang="en-US" dirty="0" smtClean="0"/>
              <a:t>前面</a:t>
            </a:r>
            <a:endParaRPr lang="en-US" altLang="zh-TW" dirty="0" smtClean="0"/>
          </a:p>
          <a:p>
            <a:r>
              <a:rPr lang="zh-TW" altLang="en-US" dirty="0"/>
              <a:t>也就是說在記憶體中</a:t>
            </a:r>
            <a:r>
              <a:rPr lang="zh-TW" altLang="en-US" dirty="0" smtClean="0"/>
              <a:t>，</a:t>
            </a:r>
            <a:r>
              <a:rPr lang="en-US" altLang="zh-TW" b="1" dirty="0" smtClean="0"/>
              <a:t>value2 </a:t>
            </a:r>
            <a:r>
              <a:rPr lang="zh-TW" altLang="en-US" dirty="0"/>
              <a:t>的位址正好和</a:t>
            </a:r>
            <a:r>
              <a:rPr lang="en-US" altLang="zh-TW" b="1" dirty="0" err="1"/>
              <a:t>arr</a:t>
            </a:r>
            <a:r>
              <a:rPr lang="en-US" altLang="zh-TW" b="1" dirty="0"/>
              <a:t>[-1] </a:t>
            </a:r>
            <a:r>
              <a:rPr lang="zh-TW" altLang="en-US" dirty="0"/>
              <a:t>的位址重疊，所以當我們用不正當的方式，把超出陣列合法位置的元素</a:t>
            </a:r>
            <a:r>
              <a:rPr lang="en-US" altLang="zh-TW" b="1" dirty="0" err="1"/>
              <a:t>arr</a:t>
            </a:r>
            <a:r>
              <a:rPr lang="en-US" altLang="zh-TW" b="1" dirty="0"/>
              <a:t>[-1] </a:t>
            </a:r>
            <a:r>
              <a:rPr lang="zh-TW" altLang="en-US" dirty="0"/>
              <a:t>的</a:t>
            </a:r>
            <a:r>
              <a:rPr lang="zh-TW" altLang="en-US" dirty="0" smtClean="0"/>
              <a:t>值設定</a:t>
            </a:r>
            <a:r>
              <a:rPr lang="zh-TW" altLang="en-US" dirty="0"/>
              <a:t>成</a:t>
            </a:r>
            <a:r>
              <a:rPr lang="en-US" altLang="zh-TW" b="1" dirty="0"/>
              <a:t>-1</a:t>
            </a:r>
            <a:r>
              <a:rPr lang="zh-TW" altLang="en-US" dirty="0"/>
              <a:t>，就會把</a:t>
            </a:r>
            <a:r>
              <a:rPr lang="en-US" altLang="zh-TW" b="1" dirty="0"/>
              <a:t>value2 </a:t>
            </a:r>
            <a:r>
              <a:rPr lang="zh-TW" altLang="en-US" dirty="0"/>
              <a:t>原有的值蓋掉，讓</a:t>
            </a:r>
            <a:r>
              <a:rPr lang="en-US" altLang="zh-TW" b="1" dirty="0"/>
              <a:t>value2 </a:t>
            </a:r>
            <a:r>
              <a:rPr lang="zh-TW" altLang="en-US" dirty="0"/>
              <a:t>變成了</a:t>
            </a:r>
            <a:r>
              <a:rPr lang="en-US" altLang="zh-TW" b="1" dirty="0"/>
              <a:t>-</a:t>
            </a:r>
            <a:r>
              <a:rPr lang="en-US" altLang="zh-TW" b="1" dirty="0" smtClean="0"/>
              <a:t>1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不同</a:t>
            </a:r>
            <a:r>
              <a:rPr lang="zh-TW" altLang="en-US" dirty="0"/>
              <a:t>的</a:t>
            </a:r>
            <a:r>
              <a:rPr lang="en-US" altLang="zh-TW" dirty="0"/>
              <a:t>compiler </a:t>
            </a:r>
            <a:r>
              <a:rPr lang="zh-TW" altLang="en-US" dirty="0"/>
              <a:t>對於變數會有不同的放置</a:t>
            </a:r>
            <a:r>
              <a:rPr lang="zh-TW" altLang="en-US" dirty="0" smtClean="0"/>
              <a:t>方式</a:t>
            </a:r>
            <a:endParaRPr lang="en-US" altLang="zh-TW" dirty="0" smtClean="0"/>
          </a:p>
          <a:p>
            <a:r>
              <a:rPr lang="zh-TW" altLang="en-US" dirty="0" smtClean="0"/>
              <a:t>所以</a:t>
            </a:r>
            <a:r>
              <a:rPr lang="zh-TW" altLang="en-US" dirty="0"/>
              <a:t>在別的電腦上重新</a:t>
            </a:r>
            <a:r>
              <a:rPr lang="en-US" altLang="zh-TW" dirty="0"/>
              <a:t>compile </a:t>
            </a:r>
            <a:r>
              <a:rPr lang="zh-TW" altLang="en-US" dirty="0"/>
              <a:t>再執行，得到的結果可能會和前面的</a:t>
            </a:r>
            <a:r>
              <a:rPr lang="zh-TW" altLang="en-US" dirty="0" smtClean="0"/>
              <a:t>情況不同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170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為什麼不</a:t>
            </a:r>
            <a:r>
              <a:rPr lang="zh-TW" altLang="en-US" dirty="0" smtClean="0"/>
              <a:t>檢查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zh-TW" dirty="0" smtClean="0"/>
          </a:p>
          <a:p>
            <a:r>
              <a:rPr lang="en-US" altLang="zh-TW" dirty="0" smtClean="0"/>
              <a:t>C </a:t>
            </a:r>
            <a:r>
              <a:rPr lang="zh-TW" altLang="en-US" dirty="0"/>
              <a:t>語言</a:t>
            </a:r>
            <a:r>
              <a:rPr lang="zh-TW" altLang="en-US" dirty="0" smtClean="0"/>
              <a:t>相信程式</a:t>
            </a:r>
            <a:r>
              <a:rPr lang="zh-TW" altLang="en-US" dirty="0"/>
              <a:t>設計者知道自己在做</a:t>
            </a:r>
            <a:r>
              <a:rPr lang="zh-TW" altLang="en-US" dirty="0" smtClean="0"/>
              <a:t>什麼</a:t>
            </a:r>
            <a:endParaRPr lang="en-US" altLang="zh-TW" dirty="0" smtClean="0"/>
          </a:p>
          <a:p>
            <a:r>
              <a:rPr lang="zh-TW" altLang="en-US" dirty="0" smtClean="0"/>
              <a:t>陣列</a:t>
            </a:r>
            <a:r>
              <a:rPr lang="zh-TW" altLang="en-US" dirty="0"/>
              <a:t>的索引是否超出</a:t>
            </a:r>
            <a:r>
              <a:rPr lang="zh-TW" altLang="en-US" dirty="0" smtClean="0"/>
              <a:t>範圍</a:t>
            </a:r>
            <a:r>
              <a:rPr lang="zh-TW" altLang="en-US" dirty="0"/>
              <a:t>並不是在</a:t>
            </a:r>
            <a:r>
              <a:rPr lang="en-US" altLang="zh-TW" dirty="0" smtClean="0"/>
              <a:t>compile</a:t>
            </a:r>
            <a:r>
              <a:rPr lang="zh-TW" altLang="en-US" dirty="0" smtClean="0"/>
              <a:t>時就能</a:t>
            </a:r>
            <a:r>
              <a:rPr lang="zh-TW" altLang="en-US" dirty="0"/>
              <a:t>完全偵測</a:t>
            </a:r>
            <a:r>
              <a:rPr lang="zh-TW" altLang="en-US" dirty="0" smtClean="0"/>
              <a:t>出來，多數</a:t>
            </a:r>
            <a:r>
              <a:rPr lang="zh-TW" altLang="en-US" dirty="0"/>
              <a:t>情況下必須</a:t>
            </a:r>
            <a:r>
              <a:rPr lang="zh-TW" altLang="en-US" dirty="0" smtClean="0"/>
              <a:t>到</a:t>
            </a:r>
            <a:r>
              <a:rPr lang="en-US" altLang="zh-TW" dirty="0" smtClean="0"/>
              <a:t>runtime</a:t>
            </a:r>
            <a:r>
              <a:rPr lang="zh-TW" altLang="en-US" dirty="0" smtClean="0"/>
              <a:t>才能發現超出範圍，</a:t>
            </a:r>
            <a:r>
              <a:rPr lang="zh-TW" altLang="en-US" dirty="0"/>
              <a:t>為了要在執行時</a:t>
            </a:r>
            <a:r>
              <a:rPr lang="zh-TW" altLang="en-US" dirty="0" smtClean="0"/>
              <a:t>能夠檢查超出</a:t>
            </a:r>
            <a:r>
              <a:rPr lang="zh-TW" altLang="en-US" dirty="0"/>
              <a:t>範圍，</a:t>
            </a:r>
            <a:r>
              <a:rPr lang="en-US" altLang="zh-TW" dirty="0"/>
              <a:t>compiler </a:t>
            </a:r>
            <a:r>
              <a:rPr lang="zh-TW" altLang="en-US" dirty="0"/>
              <a:t>必須在程式裡額外加入一些負責檢查範圍的程式碼，但這樣一來就會讓程式</a:t>
            </a:r>
            <a:r>
              <a:rPr lang="zh-TW" altLang="en-US" dirty="0" smtClean="0"/>
              <a:t>的執行速度變慢</a:t>
            </a:r>
            <a:endParaRPr lang="en-US" altLang="zh-TW" dirty="0" smtClean="0"/>
          </a:p>
          <a:p>
            <a:r>
              <a:rPr lang="zh-TW" altLang="en-US" dirty="0" smtClean="0"/>
              <a:t>給予自由，換</a:t>
            </a:r>
            <a:r>
              <a:rPr lang="zh-TW" altLang="en-US" dirty="0"/>
              <a:t>來執行速度變快的</a:t>
            </a:r>
            <a:r>
              <a:rPr lang="zh-TW" altLang="en-US" dirty="0" smtClean="0"/>
              <a:t>優勢</a:t>
            </a:r>
            <a:endParaRPr lang="en-US" altLang="zh-TW" dirty="0" smtClean="0"/>
          </a:p>
          <a:p>
            <a:r>
              <a:rPr lang="zh-TW" altLang="en-US" dirty="0"/>
              <a:t>程式</a:t>
            </a:r>
            <a:r>
              <a:rPr lang="zh-TW" altLang="en-US" dirty="0" smtClean="0"/>
              <a:t>設計者必須對自己程式負責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729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二維陣列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799" y="1743075"/>
            <a:ext cx="7772401" cy="4604459"/>
          </a:xfrm>
        </p:spPr>
        <p:txBody>
          <a:bodyPr>
            <a:normAutofit fontScale="92500"/>
          </a:bodyPr>
          <a:lstStyle/>
          <a:p>
            <a:r>
              <a:rPr lang="en-US" altLang="zh-TW" dirty="0" err="1"/>
              <a:t>int</a:t>
            </a:r>
            <a:r>
              <a:rPr lang="en-US" altLang="zh-TW" dirty="0"/>
              <a:t> a[3][4</a:t>
            </a:r>
            <a:r>
              <a:rPr lang="en-US" altLang="zh-TW" dirty="0" smtClean="0"/>
              <a:t>];</a:t>
            </a:r>
          </a:p>
          <a:p>
            <a:endParaRPr lang="en-US" altLang="zh-TW" dirty="0"/>
          </a:p>
          <a:p>
            <a:endParaRPr lang="en-US" altLang="zh-TW" sz="2600" dirty="0" smtClean="0"/>
          </a:p>
          <a:p>
            <a:r>
              <a:rPr lang="zh-TW" altLang="en-US" sz="2600" dirty="0" smtClean="0"/>
              <a:t>設定</a:t>
            </a:r>
            <a:r>
              <a:rPr lang="zh-TW" altLang="en-US" sz="2600" dirty="0"/>
              <a:t>初</a:t>
            </a:r>
            <a:r>
              <a:rPr lang="zh-TW" altLang="en-US" sz="2600" dirty="0" smtClean="0"/>
              <a:t>值</a:t>
            </a:r>
            <a:endParaRPr lang="en-US" altLang="zh-TW" sz="2600" dirty="0" smtClean="0"/>
          </a:p>
          <a:p>
            <a:pPr lvl="1"/>
            <a:r>
              <a:rPr lang="en-US" altLang="zh-TW" sz="17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TW" sz="1700" dirty="0">
                <a:latin typeface="Consolas" pitchFamily="49" charset="0"/>
                <a:cs typeface="Consolas" pitchFamily="49" charset="0"/>
              </a:rPr>
              <a:t> a[3][4] = { {1, 2, 3, 4}, {5, 6, 7, 8}, {9, 10, 11, 12} </a:t>
            </a:r>
            <a:r>
              <a:rPr lang="en-US" altLang="zh-TW" sz="1700" dirty="0" smtClean="0">
                <a:latin typeface="Consolas" pitchFamily="49" charset="0"/>
                <a:cs typeface="Consolas" pitchFamily="49" charset="0"/>
              </a:rPr>
              <a:t>};</a:t>
            </a:r>
          </a:p>
          <a:p>
            <a:pPr lvl="1"/>
            <a:r>
              <a:rPr lang="zh-TW" altLang="en-US" sz="1700" dirty="0" smtClean="0"/>
              <a:t>或是 </a:t>
            </a:r>
            <a:r>
              <a:rPr lang="en-US" altLang="zh-TW" sz="17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TW" sz="1700" dirty="0">
                <a:latin typeface="Consolas" pitchFamily="49" charset="0"/>
                <a:cs typeface="Consolas" pitchFamily="49" charset="0"/>
              </a:rPr>
              <a:t> a[3][4] = { 1, 2, 3, 4, 5, 6, 7, 8, 9, 10, 11, 12 };</a:t>
            </a:r>
            <a:endParaRPr lang="en-US" altLang="zh-TW" sz="1700" dirty="0" smtClean="0">
              <a:latin typeface="Consolas" pitchFamily="49" charset="0"/>
              <a:cs typeface="Consolas" pitchFamily="49" charset="0"/>
            </a:endParaRPr>
          </a:p>
          <a:p>
            <a:r>
              <a:rPr lang="zh-TW" altLang="en-US" sz="2600" dirty="0"/>
              <a:t>把資料排列方式想像成二維，但是實際上電腦是用循序的方式來儲存</a:t>
            </a:r>
            <a:r>
              <a:rPr lang="zh-TW" altLang="en-US" sz="2600" dirty="0" smtClean="0"/>
              <a:t>資料</a:t>
            </a:r>
            <a:endParaRPr lang="en-US" altLang="zh-TW" sz="2600" dirty="0" smtClean="0"/>
          </a:p>
          <a:p>
            <a:r>
              <a:rPr lang="zh-TW" altLang="en-US" sz="2600" dirty="0"/>
              <a:t>每個二維陣列裡的資料是</a:t>
            </a:r>
            <a:r>
              <a:rPr lang="zh-TW" altLang="en-US" sz="2600" b="1" dirty="0"/>
              <a:t>一列接著一列</a:t>
            </a:r>
            <a:r>
              <a:rPr lang="zh-TW" altLang="en-US" sz="2600" dirty="0"/>
              <a:t>放置在記憶體</a:t>
            </a:r>
            <a:r>
              <a:rPr lang="zh-TW" altLang="en-US" sz="2600" dirty="0" smtClean="0"/>
              <a:t>裡</a:t>
            </a:r>
            <a:endParaRPr lang="en-US" altLang="zh-TW" sz="2600" dirty="0" smtClean="0"/>
          </a:p>
          <a:p>
            <a:r>
              <a:rPr lang="zh-TW" altLang="en-US" sz="2600" dirty="0"/>
              <a:t>使用二維陣列表示</a:t>
            </a:r>
            <a:r>
              <a:rPr lang="zh-TW" altLang="en-US" sz="2600" dirty="0" smtClean="0"/>
              <a:t>法是為了</a:t>
            </a:r>
            <a:r>
              <a:rPr lang="zh-TW" altLang="en-US" sz="2600" dirty="0"/>
              <a:t>方便我們在寫程式時可以用比較直觀的方式思考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448798"/>
              </p:ext>
            </p:extLst>
          </p:nvPr>
        </p:nvGraphicFramePr>
        <p:xfrm>
          <a:off x="2924794" y="1879187"/>
          <a:ext cx="362989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7473"/>
                <a:gridCol w="907473"/>
                <a:gridCol w="907473"/>
                <a:gridCol w="907473"/>
              </a:tblGrid>
              <a:tr h="2943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a[0][0]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a[0][1]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a[0][2]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a[0][3]</a:t>
                      </a:r>
                      <a:endParaRPr lang="zh-TW" altLang="en-US" dirty="0"/>
                    </a:p>
                  </a:txBody>
                  <a:tcPr/>
                </a:tc>
              </a:tr>
              <a:tr h="2943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a[1][0]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a[1][1]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a[1][2]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a[1][3]</a:t>
                      </a:r>
                      <a:endParaRPr lang="zh-TW" altLang="en-US" dirty="0"/>
                    </a:p>
                  </a:txBody>
                  <a:tcPr/>
                </a:tc>
              </a:tr>
              <a:tr h="2943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a[2][0]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a[2][1]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a[2][2]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a[2][3]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23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59" y="361950"/>
            <a:ext cx="5572125" cy="613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6315075" y="623887"/>
            <a:ext cx="209223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Consolas" pitchFamily="49" charset="0"/>
                <a:cs typeface="Consolas" pitchFamily="49" charset="0"/>
              </a:rPr>
              <a:t>執行結果</a:t>
            </a:r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:</a:t>
            </a:r>
          </a:p>
          <a:p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a</a:t>
            </a:r>
            <a:r>
              <a:rPr lang="en-US" altLang="zh-TW" sz="1600" dirty="0">
                <a:latin typeface="Consolas" pitchFamily="49" charset="0"/>
                <a:cs typeface="Consolas" pitchFamily="49" charset="0"/>
              </a:rPr>
              <a:t>: </a:t>
            </a:r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     48 </a:t>
            </a:r>
            <a:r>
              <a:rPr lang="en-US" altLang="zh-TW" sz="1600" dirty="0">
                <a:latin typeface="Consolas" pitchFamily="49" charset="0"/>
                <a:cs typeface="Consolas" pitchFamily="49" charset="0"/>
              </a:rPr>
              <a:t>bytes</a:t>
            </a:r>
          </a:p>
          <a:p>
            <a:r>
              <a:rPr lang="en-US" altLang="zh-TW" sz="1600" dirty="0">
                <a:latin typeface="Consolas" pitchFamily="49" charset="0"/>
                <a:cs typeface="Consolas" pitchFamily="49" charset="0"/>
              </a:rPr>
              <a:t>a[0]: </a:t>
            </a:r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  16 </a:t>
            </a:r>
            <a:r>
              <a:rPr lang="en-US" altLang="zh-TW" sz="1600" dirty="0">
                <a:latin typeface="Consolas" pitchFamily="49" charset="0"/>
                <a:cs typeface="Consolas" pitchFamily="49" charset="0"/>
              </a:rPr>
              <a:t>bytes</a:t>
            </a:r>
          </a:p>
          <a:p>
            <a:r>
              <a:rPr lang="en-US" altLang="zh-TW" sz="1600" dirty="0">
                <a:latin typeface="Consolas" pitchFamily="49" charset="0"/>
                <a:cs typeface="Consolas" pitchFamily="49" charset="0"/>
              </a:rPr>
              <a:t>a[0][0]: 4 </a:t>
            </a:r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bytes</a:t>
            </a:r>
          </a:p>
          <a:p>
            <a:endParaRPr lang="en-US" altLang="zh-TW" sz="16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 1   2   3   4</a:t>
            </a:r>
            <a:endParaRPr lang="en-US" altLang="zh-TW" sz="16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 5   6   0   0</a:t>
            </a:r>
            <a:endParaRPr lang="en-US" altLang="zh-TW" sz="16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 9  10  11  12</a:t>
            </a:r>
          </a:p>
          <a:p>
            <a:endParaRPr lang="en-US" altLang="zh-TW" sz="16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 1   2   3   4</a:t>
            </a:r>
            <a:endParaRPr lang="en-US" altLang="zh-TW" sz="16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 5   6   9  10</a:t>
            </a:r>
            <a:endParaRPr lang="en-US" altLang="zh-TW" sz="1600" dirty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sz="1600" dirty="0" smtClean="0">
                <a:latin typeface="Consolas" pitchFamily="49" charset="0"/>
                <a:cs typeface="Consolas" pitchFamily="49" charset="0"/>
              </a:rPr>
              <a:t> 11  12   0   0</a:t>
            </a:r>
            <a:endParaRPr lang="zh-TW" altLang="en-US" sz="1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95850" y="4029074"/>
            <a:ext cx="3895725" cy="2097644"/>
          </a:xfrm>
        </p:spPr>
        <p:txBody>
          <a:bodyPr>
            <a:noAutofit/>
          </a:bodyPr>
          <a:lstStyle/>
          <a:p>
            <a:r>
              <a:rPr lang="en-US" altLang="zh-TW" sz="1800" dirty="0" err="1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TW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zh-TW" altLang="en-US" sz="1800" dirty="0">
                <a:latin typeface="Consolas" pitchFamily="49" charset="0"/>
                <a:cs typeface="Consolas" pitchFamily="49" charset="0"/>
              </a:rPr>
              <a:t>來顯示出二維陣列的</a:t>
            </a:r>
            <a:r>
              <a:rPr lang="zh-TW" altLang="en-US" sz="1800" dirty="0" smtClean="0">
                <a:latin typeface="Consolas" pitchFamily="49" charset="0"/>
                <a:cs typeface="Consolas" pitchFamily="49" charset="0"/>
              </a:rPr>
              <a:t>大小</a:t>
            </a:r>
            <a:endParaRPr lang="en-US" altLang="zh-TW" sz="18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sz="1800" dirty="0" err="1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TW" sz="1800" dirty="0">
                <a:latin typeface="Consolas" pitchFamily="49" charset="0"/>
                <a:cs typeface="Consolas" pitchFamily="49" charset="0"/>
              </a:rPr>
              <a:t>(a[0</a:t>
            </a: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])</a:t>
            </a:r>
            <a:r>
              <a:rPr lang="zh-TW" altLang="en-US" sz="18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=</a:t>
            </a:r>
            <a:r>
              <a:rPr lang="zh-TW" altLang="en-US" sz="18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TW" sz="1800" dirty="0" err="1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TW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TW" sz="18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TW" sz="1800" dirty="0">
                <a:latin typeface="Consolas" pitchFamily="49" charset="0"/>
                <a:cs typeface="Consolas" pitchFamily="49" charset="0"/>
              </a:rPr>
              <a:t>)*</a:t>
            </a: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4</a:t>
            </a:r>
          </a:p>
          <a:p>
            <a:r>
              <a:rPr lang="en-US" altLang="zh-TW" sz="1800" dirty="0" err="1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TW" sz="1800" dirty="0">
                <a:latin typeface="Consolas" pitchFamily="49" charset="0"/>
                <a:cs typeface="Consolas" pitchFamily="49" charset="0"/>
              </a:rPr>
              <a:t>(a</a:t>
            </a: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= </a:t>
            </a:r>
            <a:r>
              <a:rPr lang="en-US" altLang="zh-TW" sz="1800" dirty="0" err="1" smtClean="0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(a[0</a:t>
            </a:r>
            <a:r>
              <a:rPr lang="en-US" altLang="zh-TW" sz="1800" dirty="0">
                <a:latin typeface="Consolas" pitchFamily="49" charset="0"/>
                <a:cs typeface="Consolas" pitchFamily="49" charset="0"/>
              </a:rPr>
              <a:t>])*</a:t>
            </a: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3</a:t>
            </a:r>
          </a:p>
          <a:p>
            <a:pPr marL="0" indent="0">
              <a:buNone/>
            </a:pP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=</a:t>
            </a:r>
            <a:r>
              <a:rPr lang="zh-TW" altLang="en-US" sz="1800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TW" sz="1800" dirty="0" err="1" smtClean="0">
                <a:latin typeface="Consolas" pitchFamily="49" charset="0"/>
                <a:cs typeface="Consolas" pitchFamily="49" charset="0"/>
              </a:rPr>
              <a:t>sizeof</a:t>
            </a:r>
            <a:r>
              <a:rPr lang="en-US" altLang="zh-TW" sz="1800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TW" sz="1800" dirty="0" err="1" smtClean="0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TW" sz="1800" dirty="0">
                <a:latin typeface="Consolas" pitchFamily="49" charset="0"/>
                <a:cs typeface="Consolas" pitchFamily="49" charset="0"/>
              </a:rPr>
              <a:t>)*4*3</a:t>
            </a:r>
            <a:endParaRPr lang="zh-TW" altLang="en-US" sz="1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68616" y="6126718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5-4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546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490" y="1743075"/>
            <a:ext cx="2842598" cy="1914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陣列的陣列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將二維陣列想成</a:t>
            </a:r>
            <a:r>
              <a:rPr lang="en-US" altLang="zh-TW" dirty="0"/>
              <a:t>"</a:t>
            </a:r>
            <a:r>
              <a:rPr lang="zh-TW" altLang="en-US" dirty="0"/>
              <a:t>陣列的</a:t>
            </a:r>
            <a:r>
              <a:rPr lang="zh-TW" altLang="en-US" dirty="0" smtClean="0"/>
              <a:t>陣列</a:t>
            </a:r>
            <a:r>
              <a:rPr lang="en-US" altLang="zh-TW" dirty="0" smtClean="0"/>
              <a:t>"</a:t>
            </a:r>
          </a:p>
          <a:p>
            <a:pPr marL="457200" lvl="1" indent="0">
              <a:buNone/>
            </a:pPr>
            <a:r>
              <a:rPr lang="en-US" altLang="zh-TW" dirty="0" err="1">
                <a:cs typeface="Consolas" pitchFamily="49" charset="0"/>
              </a:rPr>
              <a:t>typedef</a:t>
            </a:r>
            <a:r>
              <a:rPr lang="en-US" altLang="zh-TW" dirty="0">
                <a:cs typeface="Consolas" pitchFamily="49" charset="0"/>
              </a:rPr>
              <a:t> </a:t>
            </a:r>
            <a:r>
              <a:rPr lang="en-US" altLang="zh-TW" dirty="0" err="1">
                <a:cs typeface="Consolas" pitchFamily="49" charset="0"/>
              </a:rPr>
              <a:t>int</a:t>
            </a:r>
            <a:r>
              <a:rPr lang="en-US" altLang="zh-TW" dirty="0">
                <a:cs typeface="Consolas" pitchFamily="49" charset="0"/>
              </a:rPr>
              <a:t> </a:t>
            </a:r>
            <a:r>
              <a:rPr lang="en-US" altLang="zh-TW" dirty="0" err="1">
                <a:cs typeface="Consolas" pitchFamily="49" charset="0"/>
              </a:rPr>
              <a:t>row_vector</a:t>
            </a:r>
            <a:r>
              <a:rPr lang="en-US" altLang="zh-TW" dirty="0">
                <a:cs typeface="Consolas" pitchFamily="49" charset="0"/>
              </a:rPr>
              <a:t> [5];</a:t>
            </a:r>
          </a:p>
          <a:p>
            <a:pPr marL="457200" lvl="1" indent="0">
              <a:buNone/>
            </a:pPr>
            <a:r>
              <a:rPr lang="en-US" altLang="zh-TW" dirty="0" err="1">
                <a:cs typeface="Consolas" pitchFamily="49" charset="0"/>
              </a:rPr>
              <a:t>row_vector</a:t>
            </a:r>
            <a:r>
              <a:rPr lang="en-US" altLang="zh-TW" dirty="0">
                <a:cs typeface="Consolas" pitchFamily="49" charset="0"/>
              </a:rPr>
              <a:t> matrix[4</a:t>
            </a:r>
            <a:r>
              <a:rPr lang="en-US" altLang="zh-TW" dirty="0" smtClean="0">
                <a:cs typeface="Consolas" pitchFamily="49" charset="0"/>
              </a:rPr>
              <a:t>];</a:t>
            </a:r>
          </a:p>
          <a:p>
            <a:r>
              <a:rPr lang="zh-TW" altLang="en-US" dirty="0"/>
              <a:t>上面的程式碼相當於</a:t>
            </a: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 err="1"/>
              <a:t>int</a:t>
            </a:r>
            <a:r>
              <a:rPr lang="en-US" altLang="zh-TW" dirty="0"/>
              <a:t> matrix[4][5];</a:t>
            </a:r>
          </a:p>
          <a:p>
            <a:r>
              <a:rPr lang="en-US" altLang="zh-TW" b="1" dirty="0" err="1"/>
              <a:t>row_vector</a:t>
            </a:r>
            <a:r>
              <a:rPr lang="en-US" altLang="zh-TW" b="1" dirty="0"/>
              <a:t> </a:t>
            </a:r>
            <a:r>
              <a:rPr lang="zh-TW" altLang="en-US" dirty="0"/>
              <a:t>是一種包含五個元素的</a:t>
            </a:r>
            <a:r>
              <a:rPr lang="zh-TW" altLang="en-US" dirty="0" smtClean="0"/>
              <a:t>陣列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把</a:t>
            </a:r>
            <a:r>
              <a:rPr lang="zh-TW" altLang="en-US" dirty="0"/>
              <a:t>這樣的東西用</a:t>
            </a:r>
            <a:r>
              <a:rPr lang="en-US" altLang="zh-TW" b="1" dirty="0" err="1"/>
              <a:t>typedef</a:t>
            </a:r>
            <a:r>
              <a:rPr lang="en-US" altLang="zh-TW" b="1" dirty="0"/>
              <a:t> </a:t>
            </a:r>
            <a:r>
              <a:rPr lang="zh-TW" altLang="en-US" dirty="0"/>
              <a:t>定成一種新的型</a:t>
            </a:r>
            <a:r>
              <a:rPr lang="zh-TW" altLang="en-US" dirty="0" smtClean="0"/>
              <a:t>別</a:t>
            </a:r>
            <a:endParaRPr lang="en-US" altLang="zh-TW" dirty="0"/>
          </a:p>
          <a:p>
            <a:r>
              <a:rPr lang="en-US" altLang="zh-TW" b="1" dirty="0" smtClean="0"/>
              <a:t>matrix</a:t>
            </a:r>
            <a:r>
              <a:rPr lang="zh-TW" altLang="en-US" dirty="0" smtClean="0"/>
              <a:t>就是</a:t>
            </a:r>
            <a:r>
              <a:rPr lang="zh-TW" altLang="en-US" dirty="0"/>
              <a:t>一個由四個</a:t>
            </a:r>
            <a:r>
              <a:rPr lang="en-US" altLang="zh-TW" b="1" dirty="0" err="1" smtClean="0"/>
              <a:t>row_vector</a:t>
            </a:r>
            <a:r>
              <a:rPr lang="zh-TW" altLang="en-US" dirty="0" smtClean="0"/>
              <a:t>組成</a:t>
            </a:r>
            <a:r>
              <a:rPr lang="zh-TW" altLang="en-US" dirty="0"/>
              <a:t>的陣列</a:t>
            </a:r>
            <a:endParaRPr lang="en-US" altLang="zh-TW" dirty="0" smtClean="0"/>
          </a:p>
          <a:p>
            <a:pPr marL="457200" lvl="1" indent="0">
              <a:buNone/>
            </a:pPr>
            <a:r>
              <a:rPr lang="en-US" altLang="zh-TW" b="1" dirty="0">
                <a:latin typeface="Consolas" pitchFamily="49" charset="0"/>
                <a:cs typeface="Consolas" pitchFamily="49" charset="0"/>
              </a:rPr>
              <a:t>	</a:t>
            </a:r>
            <a:endParaRPr lang="zh-TW" altLang="en-US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11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Pointer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653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指標變數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799" y="1562100"/>
            <a:ext cx="7772401" cy="4646613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/>
              <a:t>指標變數</a:t>
            </a:r>
            <a:r>
              <a:rPr lang="zh-TW" altLang="en-US" b="1" dirty="0"/>
              <a:t>專門用來儲存位</a:t>
            </a:r>
            <a:r>
              <a:rPr lang="zh-TW" altLang="en-US" b="1" dirty="0" smtClean="0"/>
              <a:t>址</a:t>
            </a:r>
            <a:endParaRPr lang="en-US" altLang="zh-TW" b="1" dirty="0" smtClean="0"/>
          </a:p>
          <a:p>
            <a:pPr lvl="1"/>
            <a:r>
              <a:rPr lang="en-US" altLang="zh-TW" b="1" dirty="0" err="1" smtClean="0"/>
              <a:t>ptr</a:t>
            </a:r>
            <a:r>
              <a:rPr lang="en-US" altLang="zh-TW" b="1" dirty="0" smtClean="0"/>
              <a:t> = &amp;y;</a:t>
            </a:r>
          </a:p>
          <a:p>
            <a:pPr lvl="1"/>
            <a:r>
              <a:rPr lang="en-US" altLang="zh-TW" b="1" dirty="0"/>
              <a:t>y </a:t>
            </a:r>
            <a:r>
              <a:rPr lang="zh-TW" altLang="en-US" dirty="0"/>
              <a:t>的位址用</a:t>
            </a:r>
            <a:r>
              <a:rPr lang="en-US" altLang="zh-TW" b="1" dirty="0" err="1"/>
              <a:t>ptr</a:t>
            </a:r>
            <a:r>
              <a:rPr lang="en-US" altLang="zh-TW" b="1" dirty="0"/>
              <a:t> </a:t>
            </a:r>
            <a:r>
              <a:rPr lang="zh-TW" altLang="en-US" dirty="0"/>
              <a:t>記下</a:t>
            </a:r>
            <a:r>
              <a:rPr lang="zh-TW" altLang="en-US" dirty="0" smtClean="0"/>
              <a:t>來</a:t>
            </a:r>
            <a:r>
              <a:rPr lang="en-US" altLang="zh-TW" dirty="0" smtClean="0"/>
              <a:t>(</a:t>
            </a:r>
            <a:r>
              <a:rPr lang="zh-TW" altLang="en-US" dirty="0"/>
              <a:t>把</a:t>
            </a:r>
            <a:r>
              <a:rPr lang="en-US" altLang="zh-TW" b="1" dirty="0" err="1"/>
              <a:t>ptr</a:t>
            </a:r>
            <a:r>
              <a:rPr lang="en-US" altLang="zh-TW" b="1" dirty="0"/>
              <a:t> </a:t>
            </a:r>
            <a:r>
              <a:rPr lang="zh-TW" altLang="en-US" dirty="0"/>
              <a:t>指向</a:t>
            </a:r>
            <a:r>
              <a:rPr lang="en-US" altLang="zh-TW" b="1" dirty="0" smtClean="0"/>
              <a:t>y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b="1" dirty="0"/>
              <a:t>&amp;y </a:t>
            </a:r>
            <a:r>
              <a:rPr lang="zh-TW" altLang="en-US" dirty="0"/>
              <a:t>是一個</a:t>
            </a:r>
            <a:r>
              <a:rPr lang="en-US" altLang="zh-TW" dirty="0" smtClean="0"/>
              <a:t>constant</a:t>
            </a:r>
            <a:r>
              <a:rPr lang="zh-TW" altLang="en-US" dirty="0" smtClean="0"/>
              <a:t>，</a:t>
            </a:r>
            <a:r>
              <a:rPr lang="zh-TW" altLang="en-US" dirty="0"/>
              <a:t>它的值就是</a:t>
            </a:r>
            <a:r>
              <a:rPr lang="en-US" altLang="zh-TW" b="1" dirty="0"/>
              <a:t>y </a:t>
            </a:r>
            <a:r>
              <a:rPr lang="zh-TW" altLang="en-US" dirty="0"/>
              <a:t>的位址，是個固定的值不能</a:t>
            </a:r>
            <a:r>
              <a:rPr lang="zh-TW" altLang="en-US" dirty="0" smtClean="0"/>
              <a:t>改變</a:t>
            </a:r>
            <a:endParaRPr lang="en-US" altLang="zh-TW" dirty="0" smtClean="0"/>
          </a:p>
          <a:p>
            <a:pPr lvl="1"/>
            <a:r>
              <a:rPr lang="en-US" altLang="zh-TW" b="1" dirty="0" err="1"/>
              <a:t>ptr</a:t>
            </a:r>
            <a:r>
              <a:rPr lang="en-US" altLang="zh-TW" b="1" dirty="0"/>
              <a:t> </a:t>
            </a:r>
            <a:r>
              <a:rPr lang="zh-TW" altLang="en-US" dirty="0"/>
              <a:t>是個</a:t>
            </a:r>
            <a:r>
              <a:rPr lang="zh-TW" altLang="en-US" b="1" dirty="0"/>
              <a:t>變數</a:t>
            </a:r>
            <a:r>
              <a:rPr lang="zh-TW" altLang="en-US" dirty="0"/>
              <a:t>，</a:t>
            </a:r>
            <a:r>
              <a:rPr lang="zh-TW" altLang="en-US" dirty="0" smtClean="0"/>
              <a:t>所以可以</a:t>
            </a:r>
            <a:r>
              <a:rPr lang="zh-TW" altLang="en-US" dirty="0"/>
              <a:t>改變</a:t>
            </a:r>
            <a:r>
              <a:rPr lang="en-US" altLang="zh-TW" b="1" dirty="0" err="1"/>
              <a:t>ptr</a:t>
            </a:r>
            <a:r>
              <a:rPr lang="en-US" altLang="zh-TW" b="1" dirty="0"/>
              <a:t> </a:t>
            </a:r>
            <a:r>
              <a:rPr lang="zh-TW" altLang="en-US" dirty="0"/>
              <a:t>的值，拿它來記錄別的位</a:t>
            </a:r>
            <a:r>
              <a:rPr lang="zh-TW" altLang="en-US" dirty="0" smtClean="0"/>
              <a:t>址 ，例如：</a:t>
            </a:r>
            <a:r>
              <a:rPr lang="en-US" altLang="zh-TW" b="1" dirty="0" err="1" smtClean="0"/>
              <a:t>ptr</a:t>
            </a:r>
            <a:r>
              <a:rPr lang="en-US" altLang="zh-TW" b="1" dirty="0" smtClean="0"/>
              <a:t> </a:t>
            </a:r>
            <a:r>
              <a:rPr lang="en-US" altLang="zh-TW" b="1" dirty="0"/>
              <a:t>= &amp;z</a:t>
            </a:r>
            <a:r>
              <a:rPr lang="en-US" altLang="zh-TW" b="1" dirty="0" smtClean="0"/>
              <a:t>;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(</a:t>
            </a:r>
            <a:r>
              <a:rPr lang="zh-TW" altLang="en-US" b="1" dirty="0" smtClean="0"/>
              <a:t>改指向</a:t>
            </a:r>
            <a:r>
              <a:rPr lang="en-US" altLang="zh-TW" b="1" dirty="0" smtClean="0"/>
              <a:t>z)</a:t>
            </a:r>
          </a:p>
          <a:p>
            <a:r>
              <a:rPr lang="en-US" altLang="zh-TW" dirty="0" smtClean="0"/>
              <a:t>dereferencing</a:t>
            </a:r>
          </a:p>
          <a:p>
            <a:pPr lvl="1"/>
            <a:r>
              <a:rPr lang="en-US" altLang="zh-TW" b="1" dirty="0"/>
              <a:t>x = *</a:t>
            </a:r>
            <a:r>
              <a:rPr lang="en-US" altLang="zh-TW" b="1" dirty="0" err="1" smtClean="0"/>
              <a:t>ptr</a:t>
            </a:r>
            <a:r>
              <a:rPr lang="en-US" altLang="zh-TW" b="1" dirty="0" smtClean="0"/>
              <a:t>;</a:t>
            </a:r>
            <a:endParaRPr lang="en-US" altLang="zh-TW" dirty="0"/>
          </a:p>
          <a:p>
            <a:pPr lvl="1"/>
            <a:r>
              <a:rPr lang="zh-TW" altLang="en-US" dirty="0" smtClean="0"/>
              <a:t>把</a:t>
            </a:r>
            <a:r>
              <a:rPr lang="en-US" altLang="zh-TW" b="1" dirty="0" err="1" smtClean="0"/>
              <a:t>ptr</a:t>
            </a:r>
            <a:r>
              <a:rPr lang="en-US" altLang="zh-TW" b="1" dirty="0" smtClean="0"/>
              <a:t> </a:t>
            </a:r>
            <a:r>
              <a:rPr lang="zh-TW" altLang="en-US" dirty="0"/>
              <a:t>記錄的位址裡面所儲存的值取出</a:t>
            </a:r>
            <a:r>
              <a:rPr lang="zh-TW" altLang="en-US" dirty="0" smtClean="0"/>
              <a:t>來</a:t>
            </a:r>
            <a:endParaRPr lang="en-US" altLang="zh-TW" dirty="0"/>
          </a:p>
          <a:p>
            <a:pPr lvl="1"/>
            <a:r>
              <a:rPr lang="zh-TW" altLang="en-US" dirty="0"/>
              <a:t>使用</a:t>
            </a:r>
            <a:r>
              <a:rPr lang="zh-TW" altLang="en-US" b="1" dirty="0"/>
              <a:t>* </a:t>
            </a:r>
            <a:r>
              <a:rPr lang="zh-TW" altLang="en-US" dirty="0"/>
              <a:t>符號加在指標變數前面，可以取得</a:t>
            </a:r>
            <a:r>
              <a:rPr lang="en-US" altLang="zh-TW" b="1" dirty="0" err="1"/>
              <a:t>ptr</a:t>
            </a:r>
            <a:r>
              <a:rPr lang="en-US" altLang="zh-TW" b="1" dirty="0"/>
              <a:t> </a:t>
            </a:r>
            <a:r>
              <a:rPr lang="zh-TW" altLang="en-US" dirty="0"/>
              <a:t>代表的位址裡所存放的</a:t>
            </a:r>
            <a:r>
              <a:rPr lang="zh-TW" altLang="en-US" dirty="0" smtClean="0"/>
              <a:t>數值</a:t>
            </a:r>
            <a:endParaRPr lang="en-US" altLang="zh-TW" dirty="0" smtClean="0"/>
          </a:p>
          <a:p>
            <a:r>
              <a:rPr lang="en-US" altLang="zh-TW" b="1" dirty="0" err="1"/>
              <a:t>ptr</a:t>
            </a:r>
            <a:r>
              <a:rPr lang="en-US" altLang="zh-TW" b="1" dirty="0"/>
              <a:t> = &amp;z; </a:t>
            </a:r>
            <a:r>
              <a:rPr lang="zh-TW" altLang="en-US" dirty="0"/>
              <a:t>和</a:t>
            </a:r>
            <a:r>
              <a:rPr lang="en-US" altLang="zh-TW" b="1" dirty="0"/>
              <a:t>x </a:t>
            </a:r>
            <a:r>
              <a:rPr lang="en-US" altLang="zh-TW" b="1" dirty="0" smtClean="0"/>
              <a:t>=</a:t>
            </a:r>
            <a:r>
              <a:rPr lang="zh-TW" altLang="en-US" b="1" dirty="0" smtClean="0"/>
              <a:t>*</a:t>
            </a:r>
            <a:r>
              <a:rPr lang="en-US" altLang="zh-TW" b="1" dirty="0" err="1"/>
              <a:t>ptr</a:t>
            </a:r>
            <a:r>
              <a:rPr lang="en-US" altLang="zh-TW" b="1" dirty="0"/>
              <a:t>; </a:t>
            </a:r>
            <a:r>
              <a:rPr lang="zh-TW" altLang="en-US" dirty="0"/>
              <a:t>得到的效果</a:t>
            </a:r>
            <a:r>
              <a:rPr lang="zh-TW" altLang="en-US" dirty="0" smtClean="0"/>
              <a:t>相當於</a:t>
            </a:r>
            <a:r>
              <a:rPr lang="en-US" altLang="zh-TW" b="1" dirty="0" smtClean="0"/>
              <a:t>x </a:t>
            </a:r>
            <a:r>
              <a:rPr lang="en-US" altLang="zh-TW" b="1" dirty="0"/>
              <a:t>= z</a:t>
            </a:r>
            <a:r>
              <a:rPr lang="en-US" altLang="zh-TW" b="1" dirty="0" smtClean="0"/>
              <a:t>;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47680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宣告</a:t>
            </a:r>
            <a:r>
              <a:rPr lang="zh-TW" altLang="en-US" dirty="0" smtClean="0"/>
              <a:t>指標變數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latin typeface="+mn-ea"/>
              </a:rPr>
              <a:t>要</a:t>
            </a:r>
            <a:r>
              <a:rPr lang="zh-TW" altLang="en-US" dirty="0" smtClean="0">
                <a:latin typeface="+mn-ea"/>
              </a:rPr>
              <a:t>知道指標所</a:t>
            </a:r>
            <a:r>
              <a:rPr lang="zh-TW" altLang="en-US" dirty="0">
                <a:latin typeface="+mn-ea"/>
              </a:rPr>
              <a:t>記錄的位址裡，儲存的資料型別是</a:t>
            </a:r>
            <a:r>
              <a:rPr lang="zh-TW" altLang="en-US" dirty="0" smtClean="0">
                <a:latin typeface="+mn-ea"/>
              </a:rPr>
              <a:t>什麼</a:t>
            </a:r>
            <a:endParaRPr lang="en-US" altLang="zh-TW" dirty="0" smtClean="0">
              <a:latin typeface="+mn-ea"/>
            </a:endParaRPr>
          </a:p>
          <a:p>
            <a:r>
              <a:rPr lang="zh-TW" altLang="en-US" dirty="0" smtClean="0">
                <a:latin typeface="+mn-ea"/>
              </a:rPr>
              <a:t>因為不同</a:t>
            </a:r>
            <a:r>
              <a:rPr lang="zh-TW" altLang="en-US" dirty="0">
                <a:latin typeface="+mn-ea"/>
              </a:rPr>
              <a:t>型別的資料在記憶體裡面需要的空間</a:t>
            </a:r>
            <a:r>
              <a:rPr lang="zh-TW" altLang="en-US" dirty="0" smtClean="0">
                <a:latin typeface="+mn-ea"/>
              </a:rPr>
              <a:t>不同</a:t>
            </a:r>
            <a:endParaRPr lang="en-US" altLang="zh-TW" dirty="0" smtClean="0">
              <a:latin typeface="+mn-ea"/>
            </a:endParaRPr>
          </a:p>
          <a:p>
            <a:pPr marL="0" indent="0">
              <a:buNone/>
            </a:pPr>
            <a:endParaRPr lang="en-US" altLang="zh-TW" sz="2400" dirty="0" smtClean="0"/>
          </a:p>
          <a:p>
            <a:pPr marL="457200" lvl="1" indent="0">
              <a:buNone/>
            </a:pPr>
            <a:r>
              <a:rPr lang="en-US" altLang="zh-TW" dirty="0" smtClean="0"/>
              <a:t>/* </a:t>
            </a:r>
            <a:r>
              <a:rPr lang="en-US" altLang="zh-TW" dirty="0"/>
              <a:t>pi is a pointer to an integer variable */</a:t>
            </a:r>
          </a:p>
          <a:p>
            <a:pPr marL="457200" lvl="1" indent="0">
              <a:buNone/>
            </a:pPr>
            <a:r>
              <a:rPr lang="en-US" altLang="zh-TW" dirty="0" err="1">
                <a:solidFill>
                  <a:srgbClr val="0000FF"/>
                </a:solidFill>
              </a:rPr>
              <a:t>int</a:t>
            </a:r>
            <a:r>
              <a:rPr lang="en-US" altLang="zh-TW" dirty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*</a:t>
            </a:r>
            <a:r>
              <a:rPr lang="en-US" altLang="zh-TW" dirty="0" smtClean="0"/>
              <a:t>pi;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/* pc is a pointer to a character variable */</a:t>
            </a:r>
          </a:p>
          <a:p>
            <a:pPr marL="457200" lvl="1" indent="0">
              <a:buNone/>
            </a:pPr>
            <a:r>
              <a:rPr lang="en-US" altLang="zh-TW" dirty="0">
                <a:solidFill>
                  <a:srgbClr val="0000FF"/>
                </a:solidFill>
              </a:rPr>
              <a:t>char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*</a:t>
            </a:r>
            <a:r>
              <a:rPr lang="en-US" altLang="zh-TW" dirty="0" smtClean="0"/>
              <a:t>pc;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r>
              <a:rPr lang="en-US" altLang="zh-TW" dirty="0"/>
              <a:t>/* </a:t>
            </a:r>
            <a:r>
              <a:rPr lang="en-US" altLang="zh-TW" dirty="0" err="1"/>
              <a:t>pf</a:t>
            </a:r>
            <a:r>
              <a:rPr lang="en-US" altLang="zh-TW" dirty="0"/>
              <a:t> and </a:t>
            </a:r>
            <a:r>
              <a:rPr lang="en-US" altLang="zh-TW" dirty="0" err="1"/>
              <a:t>pg</a:t>
            </a:r>
            <a:r>
              <a:rPr lang="en-US" altLang="zh-TW" dirty="0"/>
              <a:t> are pointers to float variables */</a:t>
            </a:r>
          </a:p>
          <a:p>
            <a:pPr marL="457200" lvl="1" indent="0">
              <a:buNone/>
            </a:pPr>
            <a:r>
              <a:rPr lang="en-US" altLang="zh-TW" dirty="0">
                <a:solidFill>
                  <a:srgbClr val="0000FF"/>
                </a:solidFill>
              </a:rPr>
              <a:t>float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*</a:t>
            </a:r>
            <a:r>
              <a:rPr lang="en-US" altLang="zh-TW" dirty="0" err="1" smtClean="0"/>
              <a:t>pf</a:t>
            </a:r>
            <a:r>
              <a:rPr lang="en-US" altLang="zh-TW" dirty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*</a:t>
            </a:r>
            <a:r>
              <a:rPr lang="en-US" altLang="zh-TW" dirty="0" err="1" smtClean="0"/>
              <a:t>pg</a:t>
            </a:r>
            <a:r>
              <a:rPr lang="en-US" altLang="zh-TW" dirty="0" smtClean="0"/>
              <a:t>;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733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指標與記憶體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4" y="3262313"/>
            <a:ext cx="8277225" cy="252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文字方塊 35"/>
          <p:cNvSpPr txBox="1"/>
          <p:nvPr/>
        </p:nvSpPr>
        <p:spPr>
          <a:xfrm>
            <a:off x="1019175" y="1890415"/>
            <a:ext cx="6076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TW" dirty="0" err="1" smtClean="0">
                <a:latin typeface="Consolas" pitchFamily="49" charset="0"/>
                <a:cs typeface="Consolas" pitchFamily="49" charset="0"/>
              </a:rPr>
              <a:t>ch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 = 'G';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short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TW" dirty="0" err="1" smtClean="0">
                <a:latin typeface="Consolas" pitchFamily="49" charset="0"/>
                <a:cs typeface="Consolas" pitchFamily="49" charset="0"/>
              </a:rPr>
              <a:t>num</a:t>
            </a:r>
            <a:r>
              <a:rPr lang="zh-TW" alt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=</a:t>
            </a:r>
            <a:r>
              <a:rPr lang="zh-TW" altLang="en-US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7776;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 sun = 2.015e30</a:t>
            </a:r>
          </a:p>
        </p:txBody>
      </p:sp>
    </p:spTree>
    <p:extLst>
      <p:ext uri="{BB962C8B-B14F-4D97-AF65-F5344CB8AC3E}">
        <p14:creationId xmlns:p14="http://schemas.microsoft.com/office/powerpoint/2010/main" val="248902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交換變數值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85913"/>
            <a:ext cx="6389742" cy="378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581650" y="5372100"/>
            <a:ext cx="57567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Consolas" pitchFamily="49" charset="0"/>
                <a:cs typeface="Consolas" pitchFamily="49" charset="0"/>
              </a:rPr>
              <a:t>執行結果</a:t>
            </a:r>
            <a:r>
              <a:rPr lang="zh-TW" altLang="en-US" sz="1600" dirty="0">
                <a:latin typeface="Consolas" pitchFamily="49" charset="0"/>
                <a:cs typeface="Consolas" pitchFamily="49" charset="0"/>
              </a:rPr>
              <a:t>：</a:t>
            </a:r>
            <a:endParaRPr lang="en-US" altLang="zh-TW" sz="1600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Before </a:t>
            </a:r>
            <a:r>
              <a:rPr lang="en-US" altLang="zh-TW" dirty="0">
                <a:latin typeface="Consolas" pitchFamily="49" charset="0"/>
                <a:cs typeface="Consolas" pitchFamily="49" charset="0"/>
              </a:rPr>
              <a:t>calling swap(), y = 2 and z = 5.</a:t>
            </a:r>
          </a:p>
          <a:p>
            <a:r>
              <a:rPr lang="en-US" altLang="zh-TW" dirty="0">
                <a:latin typeface="Consolas" pitchFamily="49" charset="0"/>
                <a:cs typeface="Consolas" pitchFamily="49" charset="0"/>
              </a:rPr>
              <a:t>In swap(), before swapping, u = 2 and v = 5.</a:t>
            </a:r>
          </a:p>
          <a:p>
            <a:r>
              <a:rPr lang="en-US" altLang="zh-TW" dirty="0">
                <a:latin typeface="Consolas" pitchFamily="49" charset="0"/>
                <a:cs typeface="Consolas" pitchFamily="49" charset="0"/>
              </a:rPr>
              <a:t>In swap(), after swapping, u = 5 and v = </a:t>
            </a:r>
            <a:r>
              <a:rPr lang="en-US" altLang="zh-TW" dirty="0" smtClean="0">
                <a:latin typeface="Consolas" pitchFamily="49" charset="0"/>
                <a:cs typeface="Consolas" pitchFamily="49" charset="0"/>
              </a:rPr>
              <a:t>2.</a:t>
            </a:r>
          </a:p>
          <a:p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After calling swap(), y </a:t>
            </a:r>
            <a:r>
              <a:rPr lang="en-US" altLang="zh-TW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TW" smtClean="0">
                <a:latin typeface="Consolas" panose="020B0609020204030204" pitchFamily="49" charset="0"/>
                <a:cs typeface="Consolas" panose="020B0609020204030204" pitchFamily="49" charset="0"/>
              </a:rPr>
              <a:t>5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and z </a:t>
            </a:r>
            <a:r>
              <a:rPr lang="en-US" altLang="zh-TW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TW" smtClean="0">
                <a:latin typeface="Consolas" panose="020B0609020204030204" pitchFamily="49" charset="0"/>
                <a:cs typeface="Consolas" panose="020B0609020204030204" pitchFamily="49" charset="0"/>
              </a:rPr>
              <a:t>2.</a:t>
            </a:r>
            <a:endParaRPr lang="en-US" altLang="zh-TW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向左箭號 4"/>
          <p:cNvSpPr/>
          <p:nvPr/>
        </p:nvSpPr>
        <p:spPr>
          <a:xfrm>
            <a:off x="4037833" y="1794383"/>
            <a:ext cx="1057275" cy="20002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229225" y="1709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傳入位置</a:t>
            </a:r>
            <a:endParaRPr lang="zh-TW" altLang="en-US" dirty="0"/>
          </a:p>
        </p:txBody>
      </p:sp>
      <p:sp>
        <p:nvSpPr>
          <p:cNvPr id="8" name="向左箭號 7"/>
          <p:cNvSpPr/>
          <p:nvPr/>
        </p:nvSpPr>
        <p:spPr>
          <a:xfrm>
            <a:off x="3085333" y="4480432"/>
            <a:ext cx="1057275" cy="20002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4429125" y="4414828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交換變數的</a:t>
            </a:r>
            <a:r>
              <a:rPr lang="en-US" altLang="zh-TW" dirty="0" smtClean="0"/>
              <a:t>“</a:t>
            </a:r>
            <a:r>
              <a:rPr lang="zh-TW" altLang="en-US" dirty="0" smtClean="0"/>
              <a:t>值</a:t>
            </a:r>
            <a:r>
              <a:rPr lang="en-US" altLang="zh-TW" dirty="0" smtClean="0"/>
              <a:t>”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914617" y="5102781"/>
            <a:ext cx="1029015" cy="30777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400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sz="1400" dirty="0" smtClean="0">
                <a:solidFill>
                  <a:srgbClr val="FF0000"/>
                </a:solidFill>
                <a:latin typeface="+mn-ea"/>
              </a:rPr>
              <a:t>5-5</a:t>
            </a:r>
            <a:endParaRPr lang="en-US" altLang="zh-TW" sz="1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901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印出位置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86386" y="1449526"/>
            <a:ext cx="2976562" cy="5157787"/>
          </a:xfrm>
        </p:spPr>
        <p:txBody>
          <a:bodyPr>
            <a:normAutofit/>
          </a:bodyPr>
          <a:lstStyle/>
          <a:p>
            <a:r>
              <a:rPr lang="en-US" altLang="zh-TW" sz="2400" b="1" dirty="0"/>
              <a:t>%p </a:t>
            </a:r>
            <a:r>
              <a:rPr lang="zh-TW" altLang="en-US" sz="2400" dirty="0"/>
              <a:t>格式專門用來顯示指標變數所儲存的的值</a:t>
            </a:r>
            <a:r>
              <a:rPr lang="en-US" altLang="zh-TW" sz="2400" dirty="0"/>
              <a:t>(</a:t>
            </a:r>
            <a:r>
              <a:rPr lang="zh-TW" altLang="en-US" sz="2400" dirty="0"/>
              <a:t>代表某個位址</a:t>
            </a:r>
            <a:r>
              <a:rPr lang="en-US" altLang="zh-TW" sz="2400" dirty="0" smtClean="0"/>
              <a:t>)</a:t>
            </a:r>
          </a:p>
          <a:p>
            <a:r>
              <a:rPr lang="zh-TW" altLang="en-US" sz="2400" dirty="0"/>
              <a:t>從</a:t>
            </a:r>
            <a:r>
              <a:rPr lang="en-US" altLang="zh-TW" sz="2400" b="1" dirty="0" err="1"/>
              <a:t>ptc</a:t>
            </a:r>
            <a:r>
              <a:rPr lang="en-US" altLang="zh-TW" sz="2400" b="1" dirty="0"/>
              <a:t> </a:t>
            </a:r>
            <a:r>
              <a:rPr lang="zh-TW" altLang="en-US" sz="2400" dirty="0"/>
              <a:t>變成</a:t>
            </a:r>
            <a:r>
              <a:rPr lang="en-US" altLang="zh-TW" sz="2400" b="1" dirty="0"/>
              <a:t>ptc+1 </a:t>
            </a:r>
            <a:r>
              <a:rPr lang="zh-TW" altLang="en-US" sz="2400" dirty="0"/>
              <a:t>和從</a:t>
            </a:r>
            <a:r>
              <a:rPr lang="en-US" altLang="zh-TW" sz="2400" b="1" dirty="0" err="1"/>
              <a:t>pti</a:t>
            </a:r>
            <a:r>
              <a:rPr lang="en-US" altLang="zh-TW" sz="2400" b="1" dirty="0"/>
              <a:t> </a:t>
            </a:r>
            <a:r>
              <a:rPr lang="zh-TW" altLang="en-US" sz="2400" dirty="0"/>
              <a:t>變成</a:t>
            </a:r>
            <a:r>
              <a:rPr lang="en-US" altLang="zh-TW" sz="2400" b="1" dirty="0"/>
              <a:t>pti+1 </a:t>
            </a:r>
            <a:r>
              <a:rPr lang="zh-TW" altLang="en-US" sz="2400" dirty="0"/>
              <a:t>的記憶體位址變化量</a:t>
            </a:r>
            <a:r>
              <a:rPr lang="zh-TW" altLang="en-US" sz="2400" dirty="0" smtClean="0"/>
              <a:t>不一樣</a:t>
            </a:r>
            <a:endParaRPr lang="en-US" altLang="zh-TW" sz="2400" dirty="0" smtClean="0"/>
          </a:p>
          <a:p>
            <a:r>
              <a:rPr lang="zh-TW" altLang="en-US" sz="2400" dirty="0"/>
              <a:t>對</a:t>
            </a:r>
            <a:r>
              <a:rPr lang="en-US" altLang="zh-TW" sz="2400" b="1" dirty="0"/>
              <a:t>char </a:t>
            </a:r>
            <a:r>
              <a:rPr lang="zh-TW" altLang="en-US" sz="2400" dirty="0"/>
              <a:t>指標來說，</a:t>
            </a:r>
            <a:r>
              <a:rPr lang="en-US" altLang="zh-TW" sz="2400" b="1" dirty="0"/>
              <a:t>ptc+1 </a:t>
            </a:r>
            <a:r>
              <a:rPr lang="zh-TW" altLang="en-US" sz="2400" dirty="0"/>
              <a:t>會讓</a:t>
            </a:r>
            <a:r>
              <a:rPr lang="zh-TW" altLang="en-US" sz="2400" dirty="0" smtClean="0"/>
              <a:t>記憶體</a:t>
            </a:r>
            <a:r>
              <a:rPr lang="zh-TW" altLang="en-US" sz="2400" dirty="0"/>
              <a:t>位址多</a:t>
            </a:r>
            <a:r>
              <a:rPr lang="en-US" altLang="zh-TW" sz="2400" b="1" dirty="0"/>
              <a:t>1 </a:t>
            </a:r>
            <a:r>
              <a:rPr lang="en-US" altLang="zh-TW" sz="2400" dirty="0"/>
              <a:t>(byte)</a:t>
            </a:r>
            <a:r>
              <a:rPr lang="zh-TW" altLang="en-US" sz="2400" dirty="0"/>
              <a:t>，但是對</a:t>
            </a:r>
            <a:r>
              <a:rPr lang="en-US" altLang="zh-TW" sz="2400" b="1" dirty="0" err="1"/>
              <a:t>int</a:t>
            </a:r>
            <a:r>
              <a:rPr lang="en-US" altLang="zh-TW" sz="2400" b="1" dirty="0"/>
              <a:t> </a:t>
            </a:r>
            <a:r>
              <a:rPr lang="zh-TW" altLang="en-US" sz="2400" dirty="0"/>
              <a:t>指標來說</a:t>
            </a:r>
            <a:r>
              <a:rPr lang="en-US" altLang="zh-TW" sz="2400" b="1" dirty="0"/>
              <a:t>pti+1 </a:t>
            </a:r>
            <a:r>
              <a:rPr lang="zh-TW" altLang="en-US" sz="2400" dirty="0"/>
              <a:t>則是讓記憶體位址移動了</a:t>
            </a:r>
            <a:r>
              <a:rPr lang="en-US" altLang="zh-TW" sz="2400" b="1" dirty="0"/>
              <a:t>4 </a:t>
            </a:r>
            <a:r>
              <a:rPr lang="en-US" altLang="zh-TW" sz="2400" dirty="0"/>
              <a:t>(bytes)</a:t>
            </a:r>
            <a:endParaRPr lang="zh-TW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449526"/>
            <a:ext cx="501967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5510213"/>
            <a:ext cx="4791075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366713" y="5305425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Consolas" pitchFamily="49" charset="0"/>
                <a:cs typeface="Consolas" pitchFamily="49" charset="0"/>
              </a:rPr>
              <a:t>執行結果：</a:t>
            </a:r>
            <a:endParaRPr lang="en-US" altLang="zh-TW" sz="16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70642" y="4813131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5-6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959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625" y="1095376"/>
            <a:ext cx="3467100" cy="1904999"/>
          </a:xfrm>
        </p:spPr>
        <p:txBody>
          <a:bodyPr/>
          <a:lstStyle/>
          <a:p>
            <a:r>
              <a:rPr lang="zh-TW" altLang="en-US" dirty="0" smtClean="0"/>
              <a:t>各種</a:t>
            </a:r>
            <a:r>
              <a:rPr lang="zh-TW" altLang="en-US" dirty="0"/>
              <a:t>方式取得陣列第</a:t>
            </a:r>
            <a:r>
              <a:rPr lang="en-US" altLang="zh-TW" b="1" dirty="0"/>
              <a:t>k </a:t>
            </a:r>
            <a:r>
              <a:rPr lang="zh-TW" altLang="en-US" dirty="0" smtClean="0"/>
              <a:t>個</a:t>
            </a:r>
            <a:r>
              <a:rPr lang="zh-TW" altLang="en-US" dirty="0"/>
              <a:t>元素的</a:t>
            </a:r>
            <a:r>
              <a:rPr lang="zh-TW" altLang="en-US" dirty="0" smtClean="0"/>
              <a:t>值</a:t>
            </a:r>
            <a:endParaRPr lang="en-US" altLang="zh-TW" dirty="0" smtClean="0"/>
          </a:p>
          <a:p>
            <a:r>
              <a:rPr lang="en-US" altLang="zh-TW" dirty="0" err="1"/>
              <a:t>idata</a:t>
            </a:r>
            <a:r>
              <a:rPr lang="en-US" altLang="zh-TW" dirty="0"/>
              <a:t>[k] </a:t>
            </a:r>
            <a:r>
              <a:rPr lang="zh-TW" altLang="en-US" dirty="0" smtClean="0"/>
              <a:t>與</a:t>
            </a:r>
            <a:r>
              <a:rPr lang="en-US" altLang="zh-TW" dirty="0" smtClean="0"/>
              <a:t>*(</a:t>
            </a:r>
            <a:r>
              <a:rPr lang="en-US" altLang="zh-TW" dirty="0" err="1"/>
              <a:t>idata</a:t>
            </a:r>
            <a:r>
              <a:rPr lang="en-US" altLang="zh-TW" dirty="0"/>
              <a:t> + k</a:t>
            </a:r>
            <a:r>
              <a:rPr lang="en-US" altLang="zh-TW" dirty="0" smtClean="0"/>
              <a:t>)</a:t>
            </a:r>
            <a:r>
              <a:rPr lang="zh-TW" altLang="en-US" dirty="0" smtClean="0"/>
              <a:t> 同義</a:t>
            </a:r>
            <a:endParaRPr lang="en-US" altLang="zh-TW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5238749" y="3192899"/>
            <a:ext cx="293370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輸出</a:t>
            </a:r>
            <a:endParaRPr lang="en-US" altLang="zh-TW" dirty="0" smtClean="0"/>
          </a:p>
          <a:p>
            <a:r>
              <a:rPr lang="en-US" altLang="zh-TW" sz="2400" b="1" dirty="0"/>
              <a:t>1 1 1 1 </a:t>
            </a:r>
            <a:r>
              <a:rPr lang="en-US" altLang="zh-TW" sz="2400" b="1" dirty="0" smtClean="0"/>
              <a:t>1</a:t>
            </a:r>
            <a:endParaRPr lang="en-US" altLang="zh-TW" sz="2400" b="1" dirty="0"/>
          </a:p>
          <a:p>
            <a:r>
              <a:rPr lang="en-US" altLang="zh-TW" sz="2400" b="1" dirty="0"/>
              <a:t>2 2 2 2 </a:t>
            </a:r>
            <a:r>
              <a:rPr lang="en-US" altLang="zh-TW" sz="2400" b="1" dirty="0" smtClean="0"/>
              <a:t>2</a:t>
            </a:r>
            <a:endParaRPr lang="en-US" altLang="zh-TW" sz="2400" b="1" dirty="0"/>
          </a:p>
          <a:p>
            <a:r>
              <a:rPr lang="en-US" altLang="zh-TW" sz="2400" b="1" dirty="0"/>
              <a:t>3 3 3 3 </a:t>
            </a:r>
            <a:r>
              <a:rPr lang="en-US" altLang="zh-TW" sz="2400" b="1" dirty="0" smtClean="0"/>
              <a:t>3</a:t>
            </a:r>
            <a:endParaRPr lang="en-US" altLang="zh-TW" sz="2400" b="1" dirty="0"/>
          </a:p>
          <a:p>
            <a:r>
              <a:rPr lang="en-US" altLang="zh-TW" sz="2400" b="1" dirty="0"/>
              <a:t>4 4 4 4 </a:t>
            </a:r>
            <a:r>
              <a:rPr lang="en-US" altLang="zh-TW" sz="2400" b="1" dirty="0" smtClean="0"/>
              <a:t>4</a:t>
            </a:r>
            <a:endParaRPr lang="zh-TW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028700"/>
            <a:ext cx="3876675" cy="377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2246169" y="4549352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5-7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750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陣列作為參數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int</a:t>
            </a:r>
            <a:r>
              <a:rPr lang="en-US" altLang="zh-TW" dirty="0"/>
              <a:t> a[10] = {1, 1, 2, 3, 5, 8, 13, 21, 34, 55</a:t>
            </a:r>
            <a:r>
              <a:rPr lang="en-US" altLang="zh-TW" dirty="0" smtClean="0"/>
              <a:t>};</a:t>
            </a:r>
          </a:p>
          <a:p>
            <a:r>
              <a:rPr lang="zh-TW" altLang="en-US" dirty="0" smtClean="0"/>
              <a:t>撰寫</a:t>
            </a:r>
            <a:r>
              <a:rPr lang="zh-TW" altLang="en-US" dirty="0"/>
              <a:t>一個取得陣列</a:t>
            </a:r>
            <a:r>
              <a:rPr lang="zh-TW" altLang="en-US" dirty="0" smtClean="0"/>
              <a:t>總和的</a:t>
            </a:r>
            <a:r>
              <a:rPr lang="en-US" altLang="zh-TW" dirty="0" smtClean="0"/>
              <a:t>function</a:t>
            </a:r>
          </a:p>
          <a:p>
            <a:r>
              <a:rPr lang="zh-TW" altLang="en-US" dirty="0" smtClean="0"/>
              <a:t>陣列</a:t>
            </a:r>
            <a:r>
              <a:rPr lang="zh-TW" altLang="en-US" dirty="0"/>
              <a:t>的名稱可以用來代表整個陣列的起始位</a:t>
            </a:r>
            <a:r>
              <a:rPr lang="zh-TW" altLang="en-US" dirty="0" smtClean="0"/>
              <a:t>址</a:t>
            </a:r>
            <a:endParaRPr lang="en-US" altLang="zh-TW" dirty="0" smtClean="0"/>
          </a:p>
          <a:p>
            <a:r>
              <a:rPr lang="zh-TW" altLang="en-US" dirty="0" smtClean="0"/>
              <a:t>位址可以</a:t>
            </a:r>
            <a:r>
              <a:rPr lang="zh-TW" altLang="en-US" dirty="0"/>
              <a:t>用「指向</a:t>
            </a:r>
            <a:r>
              <a:rPr lang="en-US" altLang="zh-TW" b="1" dirty="0" err="1"/>
              <a:t>int</a:t>
            </a:r>
            <a:r>
              <a:rPr lang="en-US" altLang="zh-TW" b="1" dirty="0"/>
              <a:t> </a:t>
            </a:r>
            <a:r>
              <a:rPr lang="zh-TW" altLang="en-US" dirty="0"/>
              <a:t>的指標」來儲存或</a:t>
            </a:r>
            <a:r>
              <a:rPr lang="zh-TW" altLang="en-US" dirty="0" smtClean="0"/>
              <a:t>傳遞</a:t>
            </a:r>
            <a:endParaRPr lang="en-US" altLang="zh-TW" dirty="0" smtClean="0"/>
          </a:p>
          <a:p>
            <a:r>
              <a:rPr lang="zh-TW" altLang="en-US" dirty="0" smtClean="0"/>
              <a:t>除了起始位置，還需要知道陣列有多大</a:t>
            </a:r>
            <a:endParaRPr lang="en-US" altLang="zh-TW" dirty="0" smtClean="0"/>
          </a:p>
          <a:p>
            <a:r>
              <a:rPr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Function prototype</a:t>
            </a:r>
          </a:p>
          <a:p>
            <a:pPr lvl="1"/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 sum(</a:t>
            </a:r>
            <a:r>
              <a:rPr lang="en-US" altLang="zh-TW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ap</a:t>
            </a:r>
            <a:r>
              <a:rPr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n);</a:t>
            </a:r>
          </a:p>
          <a:p>
            <a:pPr lvl="1"/>
            <a:r>
              <a:rPr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sum(</a:t>
            </a:r>
            <a:r>
              <a:rPr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ap</a:t>
            </a:r>
            <a:r>
              <a:rPr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[], </a:t>
            </a:r>
            <a:r>
              <a:rPr lang="en-US" altLang="zh-TW" sz="20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TW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n);</a:t>
            </a:r>
          </a:p>
          <a:p>
            <a:pPr lvl="1"/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898" y="4296931"/>
            <a:ext cx="3260302" cy="1883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363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95324" y="-1587"/>
            <a:ext cx="7772401" cy="1325562"/>
          </a:xfrm>
        </p:spPr>
        <p:txBody>
          <a:bodyPr/>
          <a:lstStyle/>
          <a:p>
            <a:r>
              <a:rPr lang="zh-TW" altLang="en-US" dirty="0"/>
              <a:t>傳</a:t>
            </a:r>
            <a:r>
              <a:rPr lang="zh-TW" altLang="en-US" dirty="0" smtClean="0"/>
              <a:t>入起始、結束位置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695951" y="1316036"/>
            <a:ext cx="3248024" cy="4970464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b="1" dirty="0" smtClean="0"/>
              <a:t>while</a:t>
            </a:r>
            <a:r>
              <a:rPr lang="zh-TW" altLang="en-US" dirty="0" smtClean="0"/>
              <a:t>進行條件是</a:t>
            </a:r>
            <a:r>
              <a:rPr lang="zh-TW" altLang="en-US" dirty="0"/>
              <a:t>比較兩個指標變數裡面儲存的位址的</a:t>
            </a:r>
            <a:r>
              <a:rPr lang="zh-TW" altLang="en-US" dirty="0" smtClean="0"/>
              <a:t>大小</a:t>
            </a:r>
            <a:endParaRPr lang="en-US" altLang="zh-TW" dirty="0" smtClean="0"/>
          </a:p>
          <a:p>
            <a:r>
              <a:rPr lang="en-US" altLang="zh-TW" b="1" dirty="0"/>
              <a:t>start++ </a:t>
            </a:r>
            <a:r>
              <a:rPr lang="zh-TW" altLang="en-US" dirty="0"/>
              <a:t>把指標</a:t>
            </a:r>
            <a:r>
              <a:rPr lang="zh-TW" altLang="en-US" dirty="0" smtClean="0"/>
              <a:t>移到下一</a:t>
            </a:r>
            <a:r>
              <a:rPr lang="zh-TW" altLang="en-US" dirty="0"/>
              <a:t>個位</a:t>
            </a:r>
            <a:r>
              <a:rPr lang="zh-TW" altLang="en-US" dirty="0" smtClean="0"/>
              <a:t>址</a:t>
            </a:r>
            <a:endParaRPr lang="en-US" altLang="zh-TW" dirty="0" smtClean="0"/>
          </a:p>
          <a:p>
            <a:r>
              <a:rPr lang="zh-TW" altLang="en-US" dirty="0" smtClean="0"/>
              <a:t>對於</a:t>
            </a:r>
            <a:r>
              <a:rPr lang="en-US" altLang="zh-TW" dirty="0" err="1" smtClean="0"/>
              <a:t>int</a:t>
            </a:r>
            <a:r>
              <a:rPr lang="zh-TW" altLang="en-US" dirty="0" smtClean="0"/>
              <a:t>指標就是把</a:t>
            </a:r>
            <a:r>
              <a:rPr lang="zh-TW" altLang="en-US" dirty="0"/>
              <a:t>指標的值加</a:t>
            </a:r>
            <a:r>
              <a:rPr lang="en-US" altLang="zh-TW" b="1" dirty="0"/>
              <a:t>4</a:t>
            </a:r>
            <a:r>
              <a:rPr lang="zh-TW" altLang="en-US" dirty="0"/>
              <a:t>，因為一個整數會佔用四個</a:t>
            </a:r>
            <a:r>
              <a:rPr lang="en-US" altLang="zh-TW" dirty="0" smtClean="0"/>
              <a:t>bytes</a:t>
            </a:r>
          </a:p>
          <a:p>
            <a:r>
              <a:rPr lang="zh-TW" altLang="en-US" dirty="0" smtClean="0"/>
              <a:t>如果</a:t>
            </a:r>
            <a:r>
              <a:rPr lang="en-US" altLang="zh-TW" b="1" dirty="0" smtClean="0"/>
              <a:t>start</a:t>
            </a:r>
            <a:r>
              <a:rPr lang="en-US" altLang="zh-TW" dirty="0" smtClean="0"/>
              <a:t> &lt; </a:t>
            </a:r>
            <a:r>
              <a:rPr lang="en-US" altLang="zh-TW" b="1" dirty="0" smtClean="0"/>
              <a:t>end</a:t>
            </a:r>
            <a:r>
              <a:rPr lang="zh-TW" altLang="en-US" dirty="0" smtClean="0"/>
              <a:t>表示</a:t>
            </a:r>
            <a:r>
              <a:rPr lang="en-US" altLang="zh-TW" b="1" dirty="0"/>
              <a:t>start </a:t>
            </a:r>
            <a:r>
              <a:rPr lang="zh-TW" altLang="en-US" dirty="0"/>
              <a:t>還沒到達陣列的結尾位址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085850"/>
            <a:ext cx="5257800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" t="11644" b="11644"/>
          <a:stretch/>
        </p:blipFill>
        <p:spPr bwMode="auto">
          <a:xfrm>
            <a:off x="209550" y="5753100"/>
            <a:ext cx="45529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192905" y="5269468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5-8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723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指標與二維陣列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b="1" dirty="0" err="1"/>
              <a:t>int</a:t>
            </a:r>
            <a:r>
              <a:rPr lang="en-US" altLang="zh-TW" b="1" dirty="0"/>
              <a:t> z[4][2] = {{1,2}, {3,4}, {5,6}, {7,8</a:t>
            </a:r>
            <a:r>
              <a:rPr lang="en-US" altLang="zh-TW" b="1" dirty="0" smtClean="0"/>
              <a:t>}};</a:t>
            </a:r>
          </a:p>
          <a:p>
            <a:r>
              <a:rPr lang="en-US" altLang="zh-TW" b="1" dirty="0"/>
              <a:t>z </a:t>
            </a:r>
            <a:r>
              <a:rPr lang="zh-TW" altLang="en-US" dirty="0"/>
              <a:t>本身是一個陣列，總共有四個元素，而其中的每個元素本身也都是一個「包含了兩個元素的陣列</a:t>
            </a:r>
            <a:r>
              <a:rPr lang="zh-TW" altLang="en-US" dirty="0" smtClean="0"/>
              <a:t>」</a:t>
            </a:r>
            <a:endParaRPr lang="en-US" altLang="zh-TW" dirty="0" smtClean="0"/>
          </a:p>
          <a:p>
            <a:r>
              <a:rPr lang="en-US" altLang="zh-TW" dirty="0" smtClean="0"/>
              <a:t>z, </a:t>
            </a:r>
            <a:r>
              <a:rPr lang="en-US" altLang="zh-TW" dirty="0"/>
              <a:t>&amp;z[0</a:t>
            </a:r>
            <a:r>
              <a:rPr lang="en-US" altLang="zh-TW" dirty="0" smtClean="0"/>
              <a:t>], </a:t>
            </a:r>
            <a:r>
              <a:rPr lang="en-US" altLang="zh-TW" dirty="0"/>
              <a:t>&amp;z[0][0</a:t>
            </a:r>
            <a:r>
              <a:rPr lang="en-US" altLang="zh-TW" dirty="0" smtClean="0"/>
              <a:t>] </a:t>
            </a:r>
            <a:r>
              <a:rPr lang="zh-TW" altLang="en-US" dirty="0" smtClean="0"/>
              <a:t>所代表的位置都一樣，</a:t>
            </a:r>
            <a:r>
              <a:rPr lang="zh-TW" altLang="en-US" dirty="0"/>
              <a:t>都是整個二維陣列最前面的</a:t>
            </a:r>
            <a:r>
              <a:rPr lang="zh-TW" altLang="en-US" dirty="0" smtClean="0"/>
              <a:t>那個元素</a:t>
            </a:r>
            <a:r>
              <a:rPr lang="zh-TW" altLang="en-US" dirty="0"/>
              <a:t>的位</a:t>
            </a:r>
            <a:r>
              <a:rPr lang="zh-TW" altLang="en-US" dirty="0" smtClean="0"/>
              <a:t>址</a:t>
            </a:r>
            <a:endParaRPr lang="en-US" altLang="zh-TW" dirty="0" smtClean="0"/>
          </a:p>
          <a:p>
            <a:r>
              <a:rPr lang="zh-TW" altLang="en-US" dirty="0" smtClean="0"/>
              <a:t>由於</a:t>
            </a:r>
            <a:r>
              <a:rPr lang="en-US" altLang="zh-TW" b="1" dirty="0"/>
              <a:t>z </a:t>
            </a:r>
            <a:r>
              <a:rPr lang="zh-TW" altLang="en-US" dirty="0"/>
              <a:t>和</a:t>
            </a:r>
            <a:r>
              <a:rPr lang="en-US" altLang="zh-TW" b="1" dirty="0"/>
              <a:t>z[0] </a:t>
            </a:r>
            <a:r>
              <a:rPr lang="zh-TW" altLang="en-US" dirty="0"/>
              <a:t>是不同型別的指標，所以對他們做位址</a:t>
            </a:r>
            <a:r>
              <a:rPr lang="zh-TW" altLang="en-US" dirty="0" smtClean="0"/>
              <a:t>加一</a:t>
            </a:r>
            <a:r>
              <a:rPr lang="zh-TW" altLang="en-US" dirty="0"/>
              <a:t>的動作，不論是在意義上或是造成的效果，都不相同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en-US" altLang="zh-TW" b="1" dirty="0"/>
              <a:t>z+1</a:t>
            </a:r>
            <a:r>
              <a:rPr lang="zh-TW" altLang="en-US" dirty="0"/>
              <a:t>，在這個例子裡得到的位址變化是</a:t>
            </a:r>
            <a:r>
              <a:rPr lang="zh-TW" altLang="en-US" dirty="0" smtClean="0"/>
              <a:t>增加</a:t>
            </a:r>
            <a:r>
              <a:rPr lang="en-US" altLang="zh-TW" dirty="0" smtClean="0"/>
              <a:t>8</a:t>
            </a:r>
            <a:r>
              <a:rPr lang="zh-TW" altLang="en-US" dirty="0" smtClean="0"/>
              <a:t> </a:t>
            </a:r>
            <a:r>
              <a:rPr lang="en-US" altLang="zh-TW" dirty="0" smtClean="0"/>
              <a:t>bytes(</a:t>
            </a:r>
            <a:r>
              <a:rPr lang="zh-TW" altLang="en-US" dirty="0" smtClean="0"/>
              <a:t>兩</a:t>
            </a:r>
            <a:r>
              <a:rPr lang="zh-TW" altLang="en-US" dirty="0"/>
              <a:t>個整數的</a:t>
            </a:r>
            <a:r>
              <a:rPr lang="zh-TW" altLang="en-US" dirty="0" smtClean="0"/>
              <a:t>大小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/>
              <a:t>如果計算</a:t>
            </a:r>
            <a:r>
              <a:rPr lang="en-US" altLang="zh-TW" b="1" dirty="0"/>
              <a:t>z[0]+1</a:t>
            </a:r>
            <a:r>
              <a:rPr lang="zh-TW" altLang="en-US" dirty="0"/>
              <a:t>，則位址變化則只會增加</a:t>
            </a:r>
            <a:r>
              <a:rPr lang="en-US" altLang="zh-TW" dirty="0"/>
              <a:t>4 bytes</a:t>
            </a:r>
            <a:r>
              <a:rPr lang="zh-TW" altLang="en-US" dirty="0"/>
              <a:t>。因為意義上</a:t>
            </a:r>
            <a:r>
              <a:rPr lang="en-US" altLang="zh-TW" b="1" dirty="0"/>
              <a:t>z+1 </a:t>
            </a:r>
            <a:r>
              <a:rPr lang="zh-TW" altLang="en-US" dirty="0"/>
              <a:t>相當</a:t>
            </a:r>
            <a:r>
              <a:rPr lang="zh-TW" altLang="en-US" dirty="0" smtClean="0"/>
              <a:t>於是</a:t>
            </a:r>
            <a:r>
              <a:rPr lang="en-US" altLang="zh-TW" b="1" dirty="0" smtClean="0"/>
              <a:t>&amp;</a:t>
            </a:r>
            <a:r>
              <a:rPr lang="en-US" altLang="zh-TW" b="1" dirty="0"/>
              <a:t>z[1]</a:t>
            </a:r>
            <a:r>
              <a:rPr lang="zh-TW" altLang="en-US" dirty="0"/>
              <a:t>，而</a:t>
            </a:r>
            <a:r>
              <a:rPr lang="en-US" altLang="zh-TW" b="1" dirty="0"/>
              <a:t>z[0]+1 </a:t>
            </a:r>
            <a:r>
              <a:rPr lang="zh-TW" altLang="en-US" dirty="0"/>
              <a:t>則相當於</a:t>
            </a:r>
            <a:r>
              <a:rPr lang="en-US" altLang="zh-TW" b="1" dirty="0"/>
              <a:t>&amp;z[0][1]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440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40" y="871540"/>
            <a:ext cx="449580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5464766" y="2228851"/>
            <a:ext cx="2259633" cy="3873170"/>
            <a:chOff x="3216" y="2160"/>
            <a:chExt cx="760" cy="1673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264" y="2304"/>
              <a:ext cx="712" cy="1529"/>
            </a:xfrm>
            <a:prstGeom prst="rect">
              <a:avLst/>
            </a:prstGeom>
            <a:noFill/>
            <a:ln w="9525">
              <a:solidFill>
                <a:srgbClr val="B2B2B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zh-TW" altLang="pl-PL" sz="1400" b="1" dirty="0">
                  <a:latin typeface="Courier New" pitchFamily="49" charset="0"/>
                  <a:ea typeface="微軟正黑體" pitchFamily="34" charset="-120"/>
                </a:rPr>
                <a:t>    </a:t>
              </a:r>
              <a:r>
                <a:rPr lang="en-US" altLang="zh-TW" sz="1400" b="1" dirty="0" smtClean="0">
                  <a:latin typeface="Courier New" pitchFamily="49" charset="0"/>
                  <a:ea typeface="微軟正黑體" pitchFamily="34" charset="-120"/>
                </a:rPr>
                <a:t>   </a:t>
              </a:r>
              <a:r>
                <a:rPr lang="pl-PL" altLang="zh-TW" sz="1400" b="1" dirty="0" smtClean="0">
                  <a:latin typeface="Courier New" pitchFamily="49" charset="0"/>
                  <a:ea typeface="微軟正黑體" pitchFamily="34" charset="-120"/>
                </a:rPr>
                <a:t>z</a:t>
              </a:r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: 0022FF50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&amp;z[0]: 0022FF50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 z[0]: 0022FF50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&amp;z[0][0]: 0022FF50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z[0][0]: 1</a:t>
              </a:r>
            </a:p>
            <a:p>
              <a:endParaRPr lang="pl-PL" altLang="zh-TW" sz="1400" b="1" dirty="0">
                <a:latin typeface="Courier New" pitchFamily="49" charset="0"/>
                <a:ea typeface="微軟正黑體" pitchFamily="34" charset="-120"/>
              </a:endParaRP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  z+1: 0022FF58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&amp;z[1]: 0022FF58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z[0]+1: 0022FF54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&amp;z[0][1]: 0022FF54</a:t>
              </a:r>
            </a:p>
            <a:p>
              <a:endParaRPr lang="pl-PL" altLang="zh-TW" sz="1400" b="1" dirty="0">
                <a:latin typeface="Courier New" pitchFamily="49" charset="0"/>
                <a:ea typeface="微軟正黑體" pitchFamily="34" charset="-120"/>
              </a:endParaRP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   *z: 0022FF50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 z[0]: 0022FF50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*z[0]: 1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z[0][0]: 1</a:t>
              </a:r>
            </a:p>
            <a:p>
              <a:r>
                <a:rPr lang="pl-PL" altLang="zh-TW" sz="1400" b="1" dirty="0">
                  <a:latin typeface="Courier New" pitchFamily="49" charset="0"/>
                  <a:ea typeface="微軟正黑體" pitchFamily="34" charset="-120"/>
                </a:rPr>
                <a:t>     **z: 1</a:t>
              </a:r>
              <a:endParaRPr lang="en-US" altLang="zh-TW" sz="1400" b="1" dirty="0">
                <a:latin typeface="Courier New" pitchFamily="49" charset="0"/>
                <a:ea typeface="微軟正黑體" pitchFamily="34" charset="-12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216" y="2160"/>
              <a:ext cx="269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zh-TW" altLang="en-US" sz="1600">
                  <a:ea typeface="微軟正黑體" pitchFamily="34" charset="-120"/>
                </a:rPr>
                <a:t>輸出：</a:t>
              </a:r>
            </a:p>
          </p:txBody>
        </p:sp>
      </p:grpSp>
      <p:grpSp>
        <p:nvGrpSpPr>
          <p:cNvPr id="8" name="Group 82"/>
          <p:cNvGrpSpPr>
            <a:grpSpLocks/>
          </p:cNvGrpSpPr>
          <p:nvPr/>
        </p:nvGrpSpPr>
        <p:grpSpPr bwMode="auto">
          <a:xfrm>
            <a:off x="5356121" y="716759"/>
            <a:ext cx="3700463" cy="1071564"/>
            <a:chOff x="1968" y="1296"/>
            <a:chExt cx="2331" cy="675"/>
          </a:xfrm>
        </p:grpSpPr>
        <p:grpSp>
          <p:nvGrpSpPr>
            <p:cNvPr id="9" name="Group 55"/>
            <p:cNvGrpSpPr>
              <a:grpSpLocks/>
            </p:cNvGrpSpPr>
            <p:nvPr/>
          </p:nvGrpSpPr>
          <p:grpSpPr bwMode="auto">
            <a:xfrm>
              <a:off x="2016" y="1728"/>
              <a:ext cx="2283" cy="243"/>
              <a:chOff x="672" y="4272"/>
              <a:chExt cx="2283" cy="243"/>
            </a:xfrm>
          </p:grpSpPr>
          <p:sp>
            <p:nvSpPr>
              <p:cNvPr id="27" name="Text Box 43"/>
              <p:cNvSpPr txBox="1">
                <a:spLocks noChangeArrowheads="1"/>
              </p:cNvSpPr>
              <p:nvPr/>
            </p:nvSpPr>
            <p:spPr bwMode="auto">
              <a:xfrm>
                <a:off x="672" y="427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[0][0]</a:t>
                </a:r>
              </a:p>
            </p:txBody>
          </p:sp>
          <p:grpSp>
            <p:nvGrpSpPr>
              <p:cNvPr id="28" name="Group 47"/>
              <p:cNvGrpSpPr>
                <a:grpSpLocks/>
              </p:cNvGrpSpPr>
              <p:nvPr/>
            </p:nvGrpSpPr>
            <p:grpSpPr bwMode="auto">
              <a:xfrm>
                <a:off x="722" y="4272"/>
                <a:ext cx="2161" cy="240"/>
                <a:chOff x="1584" y="4176"/>
                <a:chExt cx="2112" cy="240"/>
              </a:xfrm>
            </p:grpSpPr>
            <p:sp>
              <p:nvSpPr>
                <p:cNvPr id="36" name="Rectangle 14"/>
                <p:cNvSpPr>
                  <a:spLocks noChangeArrowheads="1"/>
                </p:cNvSpPr>
                <p:nvPr/>
              </p:nvSpPr>
              <p:spPr bwMode="auto">
                <a:xfrm>
                  <a:off x="3432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7" name="Rectangle 15"/>
                <p:cNvSpPr>
                  <a:spLocks noChangeArrowheads="1"/>
                </p:cNvSpPr>
                <p:nvPr/>
              </p:nvSpPr>
              <p:spPr bwMode="auto">
                <a:xfrm>
                  <a:off x="3168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8" name="Rectangle 16"/>
                <p:cNvSpPr>
                  <a:spLocks noChangeArrowheads="1"/>
                </p:cNvSpPr>
                <p:nvPr/>
              </p:nvSpPr>
              <p:spPr bwMode="auto">
                <a:xfrm>
                  <a:off x="2904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39" name="Line 17"/>
                <p:cNvSpPr>
                  <a:spLocks noChangeShapeType="1"/>
                </p:cNvSpPr>
                <p:nvPr/>
              </p:nvSpPr>
              <p:spPr bwMode="auto">
                <a:xfrm>
                  <a:off x="2880" y="4177"/>
                  <a:ext cx="8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40" name="Line 18"/>
                <p:cNvSpPr>
                  <a:spLocks noChangeShapeType="1"/>
                </p:cNvSpPr>
                <p:nvPr/>
              </p:nvSpPr>
              <p:spPr bwMode="auto">
                <a:xfrm>
                  <a:off x="2880" y="4416"/>
                  <a:ext cx="816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41" name="Line 19"/>
                <p:cNvSpPr>
                  <a:spLocks noChangeShapeType="1"/>
                </p:cNvSpPr>
                <p:nvPr/>
              </p:nvSpPr>
              <p:spPr bwMode="auto">
                <a:xfrm>
                  <a:off x="2904" y="4177"/>
                  <a:ext cx="0" cy="239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42" name="Line 20"/>
                <p:cNvSpPr>
                  <a:spLocks noChangeShapeType="1"/>
                </p:cNvSpPr>
                <p:nvPr/>
              </p:nvSpPr>
              <p:spPr bwMode="auto">
                <a:xfrm>
                  <a:off x="3168" y="4177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43" name="Line 21"/>
                <p:cNvSpPr>
                  <a:spLocks noChangeShapeType="1"/>
                </p:cNvSpPr>
                <p:nvPr/>
              </p:nvSpPr>
              <p:spPr bwMode="auto">
                <a:xfrm>
                  <a:off x="3432" y="4177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44" name="Rectangle 25"/>
                <p:cNvSpPr>
                  <a:spLocks noChangeArrowheads="1"/>
                </p:cNvSpPr>
                <p:nvPr/>
              </p:nvSpPr>
              <p:spPr bwMode="auto">
                <a:xfrm>
                  <a:off x="2376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45" name="Rectangle 26"/>
                <p:cNvSpPr>
                  <a:spLocks noChangeArrowheads="1"/>
                </p:cNvSpPr>
                <p:nvPr/>
              </p:nvSpPr>
              <p:spPr bwMode="auto">
                <a:xfrm>
                  <a:off x="2640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46" name="Rectangle 27"/>
                <p:cNvSpPr>
                  <a:spLocks noChangeArrowheads="1"/>
                </p:cNvSpPr>
                <p:nvPr/>
              </p:nvSpPr>
              <p:spPr bwMode="auto">
                <a:xfrm>
                  <a:off x="2112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47" name="Rectangle 28"/>
                <p:cNvSpPr>
                  <a:spLocks noChangeArrowheads="1"/>
                </p:cNvSpPr>
                <p:nvPr/>
              </p:nvSpPr>
              <p:spPr bwMode="auto">
                <a:xfrm>
                  <a:off x="1848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48" name="Rectangle 29"/>
                <p:cNvSpPr>
                  <a:spLocks noChangeArrowheads="1"/>
                </p:cNvSpPr>
                <p:nvPr/>
              </p:nvSpPr>
              <p:spPr bwMode="auto">
                <a:xfrm>
                  <a:off x="1584" y="4177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49" name="Line 30"/>
                <p:cNvSpPr>
                  <a:spLocks noChangeShapeType="1"/>
                </p:cNvSpPr>
                <p:nvPr/>
              </p:nvSpPr>
              <p:spPr bwMode="auto">
                <a:xfrm>
                  <a:off x="1584" y="4177"/>
                  <a:ext cx="1320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0" name="Line 31"/>
                <p:cNvSpPr>
                  <a:spLocks noChangeShapeType="1"/>
                </p:cNvSpPr>
                <p:nvPr/>
              </p:nvSpPr>
              <p:spPr bwMode="auto">
                <a:xfrm>
                  <a:off x="1584" y="4416"/>
                  <a:ext cx="1320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1" name="Line 32"/>
                <p:cNvSpPr>
                  <a:spLocks noChangeShapeType="1"/>
                </p:cNvSpPr>
                <p:nvPr/>
              </p:nvSpPr>
              <p:spPr bwMode="auto">
                <a:xfrm>
                  <a:off x="1584" y="4177"/>
                  <a:ext cx="0" cy="239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2" name="Line 33"/>
                <p:cNvSpPr>
                  <a:spLocks noChangeShapeType="1"/>
                </p:cNvSpPr>
                <p:nvPr/>
              </p:nvSpPr>
              <p:spPr bwMode="auto">
                <a:xfrm>
                  <a:off x="1848" y="4177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3" name="Line 34"/>
                <p:cNvSpPr>
                  <a:spLocks noChangeShapeType="1"/>
                </p:cNvSpPr>
                <p:nvPr/>
              </p:nvSpPr>
              <p:spPr bwMode="auto">
                <a:xfrm>
                  <a:off x="2112" y="4177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4" name="Line 35"/>
                <p:cNvSpPr>
                  <a:spLocks noChangeShapeType="1"/>
                </p:cNvSpPr>
                <p:nvPr/>
              </p:nvSpPr>
              <p:spPr bwMode="auto">
                <a:xfrm>
                  <a:off x="2376" y="4177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5" name="Line 36"/>
                <p:cNvSpPr>
                  <a:spLocks noChangeShapeType="1"/>
                </p:cNvSpPr>
                <p:nvPr/>
              </p:nvSpPr>
              <p:spPr bwMode="auto">
                <a:xfrm>
                  <a:off x="2904" y="4177"/>
                  <a:ext cx="0" cy="239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6" name="Line 37"/>
                <p:cNvSpPr>
                  <a:spLocks noChangeShapeType="1"/>
                </p:cNvSpPr>
                <p:nvPr/>
              </p:nvSpPr>
              <p:spPr bwMode="auto">
                <a:xfrm>
                  <a:off x="2640" y="4177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7" name="Rectangle 44"/>
                <p:cNvSpPr>
                  <a:spLocks noChangeArrowheads="1"/>
                </p:cNvSpPr>
                <p:nvPr/>
              </p:nvSpPr>
              <p:spPr bwMode="auto">
                <a:xfrm>
                  <a:off x="3432" y="4176"/>
                  <a:ext cx="264" cy="23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TW" altLang="zh-TW" sz="900" b="1">
                    <a:latin typeface="Courier New" pitchFamily="49" charset="0"/>
                    <a:ea typeface="微軟正黑體" pitchFamily="34" charset="-120"/>
                  </a:endParaRPr>
                </a:p>
              </p:txBody>
            </p:sp>
            <p:sp>
              <p:nvSpPr>
                <p:cNvPr id="58" name="Line 45"/>
                <p:cNvSpPr>
                  <a:spLocks noChangeShapeType="1"/>
                </p:cNvSpPr>
                <p:nvPr/>
              </p:nvSpPr>
              <p:spPr bwMode="auto">
                <a:xfrm>
                  <a:off x="3432" y="4176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  <p:sp>
              <p:nvSpPr>
                <p:cNvPr id="59" name="Line 46"/>
                <p:cNvSpPr>
                  <a:spLocks noChangeShapeType="1"/>
                </p:cNvSpPr>
                <p:nvPr/>
              </p:nvSpPr>
              <p:spPr bwMode="auto">
                <a:xfrm>
                  <a:off x="3696" y="4176"/>
                  <a:ext cx="0" cy="23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kern="1200">
                      <a:solidFill>
                        <a:schemeClr val="tx1"/>
                      </a:solidFill>
                      <a:latin typeface="Arial" charset="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endParaRPr lang="zh-TW" altLang="en-US"/>
                </a:p>
              </p:txBody>
            </p:sp>
          </p:grpSp>
          <p:sp>
            <p:nvSpPr>
              <p:cNvPr id="29" name="Text Box 48"/>
              <p:cNvSpPr txBox="1">
                <a:spLocks noChangeArrowheads="1"/>
              </p:cNvSpPr>
              <p:nvPr/>
            </p:nvSpPr>
            <p:spPr bwMode="auto">
              <a:xfrm>
                <a:off x="952" y="428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 dirty="0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 dirty="0">
                    <a:latin typeface="Courier New" pitchFamily="49" charset="0"/>
                    <a:ea typeface="微軟正黑體" pitchFamily="34" charset="-120"/>
                  </a:rPr>
                  <a:t>[0][1]</a:t>
                </a:r>
              </a:p>
            </p:txBody>
          </p:sp>
          <p:sp>
            <p:nvSpPr>
              <p:cNvPr id="30" name="Text Box 49"/>
              <p:cNvSpPr txBox="1">
                <a:spLocks noChangeArrowheads="1"/>
              </p:cNvSpPr>
              <p:nvPr/>
            </p:nvSpPr>
            <p:spPr bwMode="auto">
              <a:xfrm>
                <a:off x="1222" y="427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 dirty="0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 dirty="0">
                    <a:latin typeface="Courier New" pitchFamily="49" charset="0"/>
                    <a:ea typeface="微軟正黑體" pitchFamily="34" charset="-120"/>
                  </a:rPr>
                  <a:t>[1][0]</a:t>
                </a:r>
              </a:p>
            </p:txBody>
          </p:sp>
          <p:sp>
            <p:nvSpPr>
              <p:cNvPr id="31" name="Text Box 50"/>
              <p:cNvSpPr txBox="1">
                <a:spLocks noChangeArrowheads="1"/>
              </p:cNvSpPr>
              <p:nvPr/>
            </p:nvSpPr>
            <p:spPr bwMode="auto">
              <a:xfrm>
                <a:off x="1488" y="428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[1][1]</a:t>
                </a:r>
              </a:p>
            </p:txBody>
          </p:sp>
          <p:sp>
            <p:nvSpPr>
              <p:cNvPr id="32" name="Text Box 51"/>
              <p:cNvSpPr txBox="1">
                <a:spLocks noChangeArrowheads="1"/>
              </p:cNvSpPr>
              <p:nvPr/>
            </p:nvSpPr>
            <p:spPr bwMode="auto">
              <a:xfrm>
                <a:off x="1768" y="427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[2][0]</a:t>
                </a:r>
              </a:p>
            </p:txBody>
          </p:sp>
          <p:sp>
            <p:nvSpPr>
              <p:cNvPr id="33" name="Text Box 52"/>
              <p:cNvSpPr txBox="1">
                <a:spLocks noChangeArrowheads="1"/>
              </p:cNvSpPr>
              <p:nvPr/>
            </p:nvSpPr>
            <p:spPr bwMode="auto">
              <a:xfrm>
                <a:off x="2022" y="427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[2][1]</a:t>
                </a:r>
              </a:p>
            </p:txBody>
          </p:sp>
          <p:sp>
            <p:nvSpPr>
              <p:cNvPr id="34" name="Text Box 53"/>
              <p:cNvSpPr txBox="1">
                <a:spLocks noChangeArrowheads="1"/>
              </p:cNvSpPr>
              <p:nvPr/>
            </p:nvSpPr>
            <p:spPr bwMode="auto">
              <a:xfrm>
                <a:off x="2304" y="427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[3][0]</a:t>
                </a:r>
              </a:p>
            </p:txBody>
          </p:sp>
          <p:sp>
            <p:nvSpPr>
              <p:cNvPr id="35" name="Text Box 54"/>
              <p:cNvSpPr txBox="1">
                <a:spLocks noChangeArrowheads="1"/>
              </p:cNvSpPr>
              <p:nvPr/>
            </p:nvSpPr>
            <p:spPr bwMode="auto">
              <a:xfrm>
                <a:off x="2578" y="4272"/>
                <a:ext cx="37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kern="1200">
                    <a:solidFill>
                      <a:schemeClr val="tx1"/>
                    </a:solidFill>
                    <a:latin typeface="Arial" charset="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z</a:t>
                </a:r>
              </a:p>
              <a:p>
                <a:r>
                  <a:rPr lang="en-US" altLang="zh-TW" sz="900" b="1">
                    <a:latin typeface="Courier New" pitchFamily="49" charset="0"/>
                    <a:ea typeface="微軟正黑體" pitchFamily="34" charset="-120"/>
                  </a:rPr>
                  <a:t>[3][1]</a:t>
                </a:r>
              </a:p>
            </p:txBody>
          </p:sp>
        </p:grpSp>
        <p:sp>
          <p:nvSpPr>
            <p:cNvPr id="10" name="Line 56"/>
            <p:cNvSpPr>
              <a:spLocks noChangeShapeType="1"/>
            </p:cNvSpPr>
            <p:nvPr/>
          </p:nvSpPr>
          <p:spPr bwMode="auto">
            <a:xfrm flipV="1">
              <a:off x="2604" y="16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/>
            </a:p>
          </p:txBody>
        </p:sp>
        <p:sp>
          <p:nvSpPr>
            <p:cNvPr id="11" name="Line 57"/>
            <p:cNvSpPr>
              <a:spLocks noChangeShapeType="1"/>
            </p:cNvSpPr>
            <p:nvPr/>
          </p:nvSpPr>
          <p:spPr bwMode="auto">
            <a:xfrm flipV="1">
              <a:off x="3144" y="16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/>
            </a:p>
          </p:txBody>
        </p:sp>
        <p:sp>
          <p:nvSpPr>
            <p:cNvPr id="12" name="Line 58"/>
            <p:cNvSpPr>
              <a:spLocks noChangeShapeType="1"/>
            </p:cNvSpPr>
            <p:nvPr/>
          </p:nvSpPr>
          <p:spPr bwMode="auto">
            <a:xfrm flipV="1">
              <a:off x="2064" y="16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/>
            </a:p>
          </p:txBody>
        </p:sp>
        <p:sp>
          <p:nvSpPr>
            <p:cNvPr id="13" name="Line 59"/>
            <p:cNvSpPr>
              <a:spLocks noChangeShapeType="1"/>
            </p:cNvSpPr>
            <p:nvPr/>
          </p:nvSpPr>
          <p:spPr bwMode="auto">
            <a:xfrm flipV="1">
              <a:off x="3684" y="16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/>
            </a:p>
          </p:txBody>
        </p:sp>
        <p:sp>
          <p:nvSpPr>
            <p:cNvPr id="14" name="Line 60"/>
            <p:cNvSpPr>
              <a:spLocks noChangeShapeType="1"/>
            </p:cNvSpPr>
            <p:nvPr/>
          </p:nvSpPr>
          <p:spPr bwMode="auto">
            <a:xfrm flipV="1">
              <a:off x="4224" y="160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/>
            </a:p>
          </p:txBody>
        </p:sp>
        <p:sp>
          <p:nvSpPr>
            <p:cNvPr id="15" name="Text Box 62"/>
            <p:cNvSpPr txBox="1">
              <a:spLocks noChangeArrowheads="1"/>
            </p:cNvSpPr>
            <p:nvPr/>
          </p:nvSpPr>
          <p:spPr bwMode="auto">
            <a:xfrm>
              <a:off x="2165" y="1536"/>
              <a:ext cx="33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 [0]</a:t>
              </a:r>
            </a:p>
          </p:txBody>
        </p:sp>
        <p:sp>
          <p:nvSpPr>
            <p:cNvPr id="16" name="Text Box 63"/>
            <p:cNvSpPr txBox="1">
              <a:spLocks noChangeArrowheads="1"/>
            </p:cNvSpPr>
            <p:nvPr/>
          </p:nvSpPr>
          <p:spPr bwMode="auto">
            <a:xfrm>
              <a:off x="2723" y="1536"/>
              <a:ext cx="33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 [1]</a:t>
              </a:r>
            </a:p>
          </p:txBody>
        </p:sp>
        <p:sp>
          <p:nvSpPr>
            <p:cNvPr id="17" name="Text Box 64"/>
            <p:cNvSpPr txBox="1">
              <a:spLocks noChangeArrowheads="1"/>
            </p:cNvSpPr>
            <p:nvPr/>
          </p:nvSpPr>
          <p:spPr bwMode="auto">
            <a:xfrm>
              <a:off x="3264" y="1536"/>
              <a:ext cx="33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 [2]</a:t>
              </a:r>
            </a:p>
          </p:txBody>
        </p:sp>
        <p:sp>
          <p:nvSpPr>
            <p:cNvPr id="18" name="Text Box 65"/>
            <p:cNvSpPr txBox="1">
              <a:spLocks noChangeArrowheads="1"/>
            </p:cNvSpPr>
            <p:nvPr/>
          </p:nvSpPr>
          <p:spPr bwMode="auto">
            <a:xfrm>
              <a:off x="3792" y="1536"/>
              <a:ext cx="33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 [3]</a:t>
              </a:r>
            </a:p>
          </p:txBody>
        </p:sp>
        <p:sp>
          <p:nvSpPr>
            <p:cNvPr id="19" name="Text Box 66"/>
            <p:cNvSpPr txBox="1">
              <a:spLocks noChangeArrowheads="1"/>
            </p:cNvSpPr>
            <p:nvPr/>
          </p:nvSpPr>
          <p:spPr bwMode="auto">
            <a:xfrm>
              <a:off x="1968" y="1296"/>
              <a:ext cx="159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</a:t>
              </a:r>
            </a:p>
          </p:txBody>
        </p:sp>
        <p:sp>
          <p:nvSpPr>
            <p:cNvPr id="20" name="Text Box 70"/>
            <p:cNvSpPr txBox="1">
              <a:spLocks noChangeArrowheads="1"/>
            </p:cNvSpPr>
            <p:nvPr/>
          </p:nvSpPr>
          <p:spPr bwMode="auto">
            <a:xfrm>
              <a:off x="2443" y="1296"/>
              <a:ext cx="245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z+1</a:t>
              </a:r>
            </a:p>
          </p:txBody>
        </p:sp>
        <p:sp>
          <p:nvSpPr>
            <p:cNvPr id="21" name="Text Box 73"/>
            <p:cNvSpPr txBox="1">
              <a:spLocks noChangeArrowheads="1"/>
            </p:cNvSpPr>
            <p:nvPr/>
          </p:nvSpPr>
          <p:spPr bwMode="auto">
            <a:xfrm>
              <a:off x="2976" y="1296"/>
              <a:ext cx="245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z+2</a:t>
              </a:r>
            </a:p>
          </p:txBody>
        </p:sp>
        <p:sp>
          <p:nvSpPr>
            <p:cNvPr id="22" name="Text Box 76"/>
            <p:cNvSpPr txBox="1">
              <a:spLocks noChangeArrowheads="1"/>
            </p:cNvSpPr>
            <p:nvPr/>
          </p:nvSpPr>
          <p:spPr bwMode="auto">
            <a:xfrm>
              <a:off x="3504" y="1296"/>
              <a:ext cx="245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r>
                <a:rPr lang="en-US" altLang="zh-TW" sz="900" b="1">
                  <a:latin typeface="Courier New" pitchFamily="49" charset="0"/>
                  <a:ea typeface="微軟正黑體" pitchFamily="34" charset="-120"/>
                </a:rPr>
                <a:t>z+3</a:t>
              </a:r>
            </a:p>
          </p:txBody>
        </p:sp>
        <p:sp>
          <p:nvSpPr>
            <p:cNvPr id="23" name="Freeform 77"/>
            <p:cNvSpPr>
              <a:spLocks/>
            </p:cNvSpPr>
            <p:nvPr/>
          </p:nvSpPr>
          <p:spPr bwMode="auto">
            <a:xfrm>
              <a:off x="3702" y="1392"/>
              <a:ext cx="48" cy="192"/>
            </a:xfrm>
            <a:custGeom>
              <a:avLst/>
              <a:gdLst>
                <a:gd name="T0" fmla="*/ 0 w 48"/>
                <a:gd name="T1" fmla="*/ 0 h 192"/>
                <a:gd name="T2" fmla="*/ 44 w 48"/>
                <a:gd name="T3" fmla="*/ 48 h 192"/>
                <a:gd name="T4" fmla="*/ 24 w 48"/>
                <a:gd name="T5" fmla="*/ 120 h 192"/>
                <a:gd name="T6" fmla="*/ 22 w 4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192"/>
                <a:gd name="T14" fmla="*/ 48 w 4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192">
                  <a:moveTo>
                    <a:pt x="0" y="0"/>
                  </a:moveTo>
                  <a:cubicBezTo>
                    <a:pt x="20" y="12"/>
                    <a:pt x="40" y="28"/>
                    <a:pt x="44" y="48"/>
                  </a:cubicBezTo>
                  <a:cubicBezTo>
                    <a:pt x="48" y="68"/>
                    <a:pt x="28" y="96"/>
                    <a:pt x="24" y="120"/>
                  </a:cubicBezTo>
                  <a:cubicBezTo>
                    <a:pt x="20" y="144"/>
                    <a:pt x="22" y="177"/>
                    <a:pt x="22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>
                <a:ea typeface="微軟正黑體" pitchFamily="34" charset="-120"/>
              </a:endParaRPr>
            </a:p>
          </p:txBody>
        </p:sp>
        <p:sp>
          <p:nvSpPr>
            <p:cNvPr id="24" name="Freeform 79"/>
            <p:cNvSpPr>
              <a:spLocks/>
            </p:cNvSpPr>
            <p:nvPr/>
          </p:nvSpPr>
          <p:spPr bwMode="auto">
            <a:xfrm>
              <a:off x="3174" y="1392"/>
              <a:ext cx="48" cy="192"/>
            </a:xfrm>
            <a:custGeom>
              <a:avLst/>
              <a:gdLst>
                <a:gd name="T0" fmla="*/ 0 w 48"/>
                <a:gd name="T1" fmla="*/ 0 h 192"/>
                <a:gd name="T2" fmla="*/ 44 w 48"/>
                <a:gd name="T3" fmla="*/ 48 h 192"/>
                <a:gd name="T4" fmla="*/ 24 w 48"/>
                <a:gd name="T5" fmla="*/ 120 h 192"/>
                <a:gd name="T6" fmla="*/ 22 w 4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192"/>
                <a:gd name="T14" fmla="*/ 48 w 4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192">
                  <a:moveTo>
                    <a:pt x="0" y="0"/>
                  </a:moveTo>
                  <a:cubicBezTo>
                    <a:pt x="20" y="12"/>
                    <a:pt x="40" y="28"/>
                    <a:pt x="44" y="48"/>
                  </a:cubicBezTo>
                  <a:cubicBezTo>
                    <a:pt x="48" y="68"/>
                    <a:pt x="28" y="96"/>
                    <a:pt x="24" y="120"/>
                  </a:cubicBezTo>
                  <a:cubicBezTo>
                    <a:pt x="20" y="144"/>
                    <a:pt x="22" y="177"/>
                    <a:pt x="22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>
                <a:ea typeface="微軟正黑體" pitchFamily="34" charset="-120"/>
              </a:endParaRPr>
            </a:p>
          </p:txBody>
        </p:sp>
        <p:sp>
          <p:nvSpPr>
            <p:cNvPr id="25" name="Freeform 80"/>
            <p:cNvSpPr>
              <a:spLocks/>
            </p:cNvSpPr>
            <p:nvPr/>
          </p:nvSpPr>
          <p:spPr bwMode="auto">
            <a:xfrm>
              <a:off x="2646" y="1392"/>
              <a:ext cx="48" cy="192"/>
            </a:xfrm>
            <a:custGeom>
              <a:avLst/>
              <a:gdLst>
                <a:gd name="T0" fmla="*/ 0 w 48"/>
                <a:gd name="T1" fmla="*/ 0 h 192"/>
                <a:gd name="T2" fmla="*/ 44 w 48"/>
                <a:gd name="T3" fmla="*/ 48 h 192"/>
                <a:gd name="T4" fmla="*/ 24 w 48"/>
                <a:gd name="T5" fmla="*/ 120 h 192"/>
                <a:gd name="T6" fmla="*/ 22 w 4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192"/>
                <a:gd name="T14" fmla="*/ 48 w 4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192">
                  <a:moveTo>
                    <a:pt x="0" y="0"/>
                  </a:moveTo>
                  <a:cubicBezTo>
                    <a:pt x="20" y="12"/>
                    <a:pt x="40" y="28"/>
                    <a:pt x="44" y="48"/>
                  </a:cubicBezTo>
                  <a:cubicBezTo>
                    <a:pt x="48" y="68"/>
                    <a:pt x="28" y="96"/>
                    <a:pt x="24" y="120"/>
                  </a:cubicBezTo>
                  <a:cubicBezTo>
                    <a:pt x="20" y="144"/>
                    <a:pt x="22" y="177"/>
                    <a:pt x="22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>
                <a:ea typeface="微軟正黑體" pitchFamily="34" charset="-120"/>
              </a:endParaRPr>
            </a:p>
          </p:txBody>
        </p:sp>
        <p:sp>
          <p:nvSpPr>
            <p:cNvPr id="26" name="Freeform 81"/>
            <p:cNvSpPr>
              <a:spLocks/>
            </p:cNvSpPr>
            <p:nvPr/>
          </p:nvSpPr>
          <p:spPr bwMode="auto">
            <a:xfrm>
              <a:off x="2094" y="1392"/>
              <a:ext cx="48" cy="192"/>
            </a:xfrm>
            <a:custGeom>
              <a:avLst/>
              <a:gdLst>
                <a:gd name="T0" fmla="*/ 0 w 48"/>
                <a:gd name="T1" fmla="*/ 0 h 192"/>
                <a:gd name="T2" fmla="*/ 44 w 48"/>
                <a:gd name="T3" fmla="*/ 48 h 192"/>
                <a:gd name="T4" fmla="*/ 24 w 48"/>
                <a:gd name="T5" fmla="*/ 120 h 192"/>
                <a:gd name="T6" fmla="*/ 22 w 4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"/>
                <a:gd name="T13" fmla="*/ 0 h 192"/>
                <a:gd name="T14" fmla="*/ 48 w 4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" h="192">
                  <a:moveTo>
                    <a:pt x="0" y="0"/>
                  </a:moveTo>
                  <a:cubicBezTo>
                    <a:pt x="20" y="12"/>
                    <a:pt x="40" y="28"/>
                    <a:pt x="44" y="48"/>
                  </a:cubicBezTo>
                  <a:cubicBezTo>
                    <a:pt x="48" y="68"/>
                    <a:pt x="28" y="96"/>
                    <a:pt x="24" y="120"/>
                  </a:cubicBezTo>
                  <a:cubicBezTo>
                    <a:pt x="20" y="144"/>
                    <a:pt x="22" y="177"/>
                    <a:pt x="22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endParaRPr lang="zh-TW" altLang="en-US">
                <a:ea typeface="微軟正黑體" pitchFamily="34" charset="-12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432321" y="1309651"/>
            <a:ext cx="1000125" cy="555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/>
        </p:nvSpPr>
        <p:spPr>
          <a:xfrm>
            <a:off x="6311995" y="1309651"/>
            <a:ext cx="1000125" cy="555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/>
        </p:nvSpPr>
        <p:spPr>
          <a:xfrm>
            <a:off x="7189310" y="1315122"/>
            <a:ext cx="1000125" cy="555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/>
        </p:nvSpPr>
        <p:spPr>
          <a:xfrm>
            <a:off x="8013398" y="1304347"/>
            <a:ext cx="1000125" cy="5557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988717" y="5732689"/>
            <a:ext cx="101181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5-9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860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/>
              <a:t>File I/O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932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讀取</a:t>
            </a:r>
            <a:r>
              <a:rPr lang="zh-TW" altLang="en-US" b="1" dirty="0" smtClean="0"/>
              <a:t>檔案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 smtClean="0">
                <a:latin typeface="+mn-ea"/>
              </a:rPr>
              <a:t>在這裡我們介紹幾個</a:t>
            </a:r>
            <a:r>
              <a:rPr lang="en-US" altLang="zh-TW" dirty="0" smtClean="0">
                <a:latin typeface="+mn-ea"/>
              </a:rPr>
              <a:t>file I/O</a:t>
            </a:r>
            <a:r>
              <a:rPr lang="zh-TW" altLang="en-US" dirty="0" smtClean="0">
                <a:latin typeface="+mn-ea"/>
              </a:rPr>
              <a:t>常用的</a:t>
            </a:r>
            <a:r>
              <a:rPr lang="en-US" altLang="zh-TW" dirty="0" smtClean="0">
                <a:latin typeface="+mn-ea"/>
              </a:rPr>
              <a:t>function</a:t>
            </a:r>
            <a:r>
              <a:rPr lang="zh-TW" altLang="en-US" dirty="0" smtClean="0">
                <a:latin typeface="+mn-ea"/>
              </a:rPr>
              <a:t>：</a:t>
            </a:r>
            <a:r>
              <a:rPr lang="en-US" altLang="zh-TW" dirty="0" smtClean="0">
                <a:latin typeface="+mn-ea"/>
              </a:rPr>
              <a:t/>
            </a:r>
            <a:br>
              <a:rPr lang="en-US" altLang="zh-TW" dirty="0" smtClean="0">
                <a:latin typeface="+mn-ea"/>
              </a:rPr>
            </a:br>
            <a:r>
              <a:rPr lang="en-US" altLang="zh-TW" sz="3000" b="1" dirty="0" err="1" smtClean="0">
                <a:solidFill>
                  <a:srgbClr val="FF0000"/>
                </a:solidFill>
                <a:latin typeface="+mn-ea"/>
              </a:rPr>
              <a:t>fopen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(“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檔名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”,MODE)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TW" altLang="en-US" sz="3000" dirty="0" smtClean="0">
                <a:latin typeface="+mn-ea"/>
              </a:rPr>
              <a:t>開啟檔案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zh-TW" sz="3000" b="1" dirty="0" smtClean="0">
                <a:solidFill>
                  <a:srgbClr val="FF0000"/>
                </a:solidFill>
                <a:latin typeface="+mn-ea"/>
              </a:rPr>
            </a:br>
            <a:r>
              <a:rPr lang="en-US" altLang="zh-TW" sz="3000" b="1" dirty="0" err="1" smtClean="0">
                <a:solidFill>
                  <a:srgbClr val="FF0000"/>
                </a:solidFill>
                <a:latin typeface="+mn-ea"/>
              </a:rPr>
              <a:t>fclose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指標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TW" altLang="en-US" sz="3000" dirty="0" smtClean="0">
                <a:latin typeface="+mn-ea"/>
              </a:rPr>
              <a:t>關閉檔案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zh-TW" sz="3000" b="1" dirty="0" smtClean="0">
                <a:solidFill>
                  <a:srgbClr val="FF0000"/>
                </a:solidFill>
                <a:latin typeface="+mn-ea"/>
              </a:rPr>
            </a:br>
            <a:r>
              <a:rPr lang="en-US" altLang="zh-TW" sz="3000" b="1" dirty="0" err="1" smtClean="0">
                <a:solidFill>
                  <a:srgbClr val="FF0000"/>
                </a:solidFill>
                <a:latin typeface="+mn-ea"/>
              </a:rPr>
              <a:t>fscanf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指標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, “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輸入型態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(data type)”,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輸入參數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TW" altLang="en-US" sz="3000" dirty="0" smtClean="0">
                <a:latin typeface="+mn-ea"/>
              </a:rPr>
              <a:t>輸入指標指向檔案的資料存入參數中，除多了指標外，其餘用法與</a:t>
            </a:r>
            <a:r>
              <a:rPr lang="en-US" altLang="zh-TW" sz="3000" dirty="0" err="1" smtClean="0">
                <a:latin typeface="+mn-ea"/>
              </a:rPr>
              <a:t>scanf</a:t>
            </a:r>
            <a:r>
              <a:rPr lang="zh-TW" altLang="en-US" sz="3000" dirty="0" smtClean="0">
                <a:latin typeface="+mn-ea"/>
              </a:rPr>
              <a:t>相同。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/>
            </a:r>
            <a:br>
              <a:rPr lang="en-US" altLang="zh-TW" sz="3000" b="1" dirty="0" smtClean="0">
                <a:solidFill>
                  <a:srgbClr val="FF0000"/>
                </a:solidFill>
                <a:latin typeface="+mn-ea"/>
              </a:rPr>
            </a:br>
            <a:r>
              <a:rPr lang="en-US" altLang="zh-TW" sz="3000" b="1" dirty="0" err="1" smtClean="0">
                <a:solidFill>
                  <a:srgbClr val="FF0000"/>
                </a:solidFill>
                <a:latin typeface="+mn-ea"/>
              </a:rPr>
              <a:t>fprintf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指標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,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“輸出型態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(data type)”,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輸出參數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TW" altLang="en-US" sz="3000" dirty="0" smtClean="0">
                <a:latin typeface="+mn-ea"/>
              </a:rPr>
              <a:t>輸出參數資料存入指標指向的檔案中，除多了指標外，其餘用法與</a:t>
            </a:r>
            <a:r>
              <a:rPr lang="en-US" altLang="zh-TW" sz="3000" dirty="0" err="1" smtClean="0">
                <a:latin typeface="+mn-ea"/>
              </a:rPr>
              <a:t>printf</a:t>
            </a:r>
            <a:r>
              <a:rPr lang="zh-TW" altLang="en-US" sz="3000" dirty="0" smtClean="0">
                <a:latin typeface="+mn-ea"/>
              </a:rPr>
              <a:t>相同。</a:t>
            </a:r>
            <a:r>
              <a:rPr lang="en-US" altLang="zh-TW" sz="3000" dirty="0" smtClean="0">
                <a:latin typeface="+mn-ea"/>
              </a:rPr>
              <a:t/>
            </a:r>
            <a:br>
              <a:rPr lang="en-US" altLang="zh-TW" sz="3000" dirty="0" smtClean="0">
                <a:latin typeface="+mn-ea"/>
              </a:rPr>
            </a:br>
            <a:r>
              <a:rPr lang="en-US" altLang="zh-TW" sz="3000" b="1" dirty="0" err="1" smtClean="0">
                <a:solidFill>
                  <a:srgbClr val="FF0000"/>
                </a:solidFill>
                <a:latin typeface="+mn-ea"/>
              </a:rPr>
              <a:t>feof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指標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TW" altLang="en-US" sz="3000" dirty="0" smtClean="0">
                <a:latin typeface="+mn-ea"/>
              </a:rPr>
              <a:t>判斷指標是否已經讀到檔案盡頭。</a:t>
            </a:r>
            <a:r>
              <a:rPr lang="en-US" altLang="zh-TW" sz="3000" b="1" dirty="0" err="1" smtClean="0">
                <a:solidFill>
                  <a:srgbClr val="FF0000"/>
                </a:solidFill>
                <a:latin typeface="+mn-ea"/>
              </a:rPr>
              <a:t>fgetc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指標</a:t>
            </a:r>
            <a:r>
              <a:rPr lang="en-US" altLang="zh-TW" sz="3000" b="1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sz="3000" b="1" dirty="0" smtClean="0">
                <a:solidFill>
                  <a:srgbClr val="FF0000"/>
                </a:solidFill>
                <a:latin typeface="+mn-ea"/>
              </a:rPr>
              <a:t>：</a:t>
            </a:r>
            <a:r>
              <a:rPr lang="zh-TW" altLang="en-US" sz="3000" dirty="0" smtClean="0">
                <a:latin typeface="+mn-ea"/>
              </a:rPr>
              <a:t>從指標處取得一個字元並回傳。</a:t>
            </a:r>
            <a:endParaRPr lang="en-US" altLang="zh-TW" sz="2600" dirty="0" smtClean="0">
              <a:latin typeface="+mn-ea"/>
            </a:endParaRPr>
          </a:p>
          <a:p>
            <a:r>
              <a:rPr lang="zh-TW" altLang="en-US" dirty="0" smtClean="0">
                <a:latin typeface="+mn-ea"/>
              </a:rPr>
              <a:t>我們下面用一個簡短的範例程式示範如何開檔和讀檔。</a:t>
            </a:r>
            <a:endParaRPr lang="en-US" altLang="zh-TW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35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81205" y="188640"/>
            <a:ext cx="2955292" cy="6552728"/>
          </a:xfrm>
        </p:spPr>
        <p:txBody>
          <a:bodyPr>
            <a:normAutofit/>
          </a:bodyPr>
          <a:lstStyle/>
          <a:p>
            <a:endParaRPr lang="en-US" altLang="zh-TW" sz="2800" b="1" dirty="0" smtClean="0"/>
          </a:p>
          <a:p>
            <a:r>
              <a:rPr lang="en-US" altLang="zh-TW" sz="2800" b="1" dirty="0" err="1" smtClean="0"/>
              <a:t>fopen</a:t>
            </a:r>
            <a:r>
              <a:rPr lang="en-US" altLang="zh-TW" sz="2800" b="1" dirty="0"/>
              <a:t>() </a:t>
            </a:r>
            <a:r>
              <a:rPr lang="zh-TW" altLang="en-US" sz="2800" b="1" dirty="0"/>
              <a:t>的用法就是傳入檔名字串以及開檔</a:t>
            </a:r>
            <a:r>
              <a:rPr lang="zh-TW" altLang="en-US" sz="2800" b="1" dirty="0" smtClean="0"/>
              <a:t>方式</a:t>
            </a:r>
            <a:r>
              <a:rPr lang="en-US" altLang="zh-TW" sz="2800" b="1" dirty="0" smtClean="0"/>
              <a:t>“r” </a:t>
            </a:r>
            <a:r>
              <a:rPr lang="zh-TW" altLang="en-US" sz="2800" b="1" dirty="0"/>
              <a:t>表示只要讀</a:t>
            </a:r>
            <a:r>
              <a:rPr lang="zh-TW" altLang="en-US" sz="2800" b="1" dirty="0" smtClean="0"/>
              <a:t>檔。</a:t>
            </a:r>
            <a:endParaRPr lang="en-US" altLang="zh-TW" sz="2800" b="1" dirty="0" smtClean="0"/>
          </a:p>
          <a:p>
            <a:endParaRPr lang="en-US" altLang="zh-TW" sz="2800" b="1" dirty="0" smtClean="0"/>
          </a:p>
          <a:p>
            <a:r>
              <a:rPr lang="zh-TW" altLang="en-US" sz="2800" b="1" dirty="0" smtClean="0"/>
              <a:t>用</a:t>
            </a:r>
            <a:r>
              <a:rPr lang="en-US" altLang="zh-TW" sz="2800" b="1" dirty="0" err="1"/>
              <a:t>fscanf</a:t>
            </a:r>
            <a:r>
              <a:rPr lang="en-US" altLang="zh-TW" sz="2800" b="1" dirty="0"/>
              <a:t>() </a:t>
            </a:r>
            <a:r>
              <a:rPr lang="zh-TW" altLang="en-US" sz="2800" b="1" dirty="0"/>
              <a:t>把所有的單字都讀</a:t>
            </a:r>
            <a:r>
              <a:rPr lang="zh-TW" altLang="en-US" sz="2800" b="1" dirty="0" smtClean="0"/>
              <a:t>進來</a:t>
            </a:r>
            <a:r>
              <a:rPr lang="en-US" altLang="zh-TW" sz="2800" b="1" dirty="0" err="1" smtClean="0"/>
              <a:t>fscanf</a:t>
            </a:r>
            <a:r>
              <a:rPr lang="en-US" altLang="zh-TW" sz="2800" b="1" dirty="0"/>
              <a:t>() </a:t>
            </a:r>
            <a:r>
              <a:rPr lang="zh-TW" altLang="en-US" sz="2800" b="1" dirty="0"/>
              <a:t>和</a:t>
            </a:r>
            <a:r>
              <a:rPr lang="en-US" altLang="zh-TW" sz="2800" b="1" dirty="0" err="1"/>
              <a:t>scanf</a:t>
            </a:r>
            <a:r>
              <a:rPr lang="en-US" altLang="zh-TW" sz="2800" b="1" dirty="0"/>
              <a:t>() </a:t>
            </a:r>
            <a:r>
              <a:rPr lang="zh-TW" altLang="en-US" sz="2800" b="1" dirty="0"/>
              <a:t>的用法</a:t>
            </a:r>
            <a:r>
              <a:rPr lang="zh-TW" altLang="en-US" sz="2800" b="1" dirty="0" smtClean="0"/>
              <a:t>相同只是</a:t>
            </a:r>
            <a:r>
              <a:rPr lang="zh-TW" altLang="en-US" sz="2800" b="1" dirty="0"/>
              <a:t>要多傳一個參數把檔案指標傳給</a:t>
            </a:r>
            <a:r>
              <a:rPr lang="en-US" altLang="zh-TW" sz="2800" b="1" dirty="0" err="1"/>
              <a:t>fscanf</a:t>
            </a:r>
            <a:r>
              <a:rPr lang="en-US" altLang="zh-TW" sz="2800" b="1" dirty="0" smtClean="0"/>
              <a:t>()</a:t>
            </a:r>
            <a:r>
              <a:rPr lang="zh-TW" altLang="en-US" sz="2800" b="1" dirty="0" smtClean="0"/>
              <a:t>。</a:t>
            </a:r>
            <a:endParaRPr lang="zh-TW" altLang="en-US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5" y="140436"/>
            <a:ext cx="6148272" cy="3864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6" y="4005064"/>
            <a:ext cx="5129320" cy="273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Line 3"/>
          <p:cNvSpPr>
            <a:spLocks noChangeShapeType="1"/>
          </p:cNvSpPr>
          <p:nvPr/>
        </p:nvSpPr>
        <p:spPr bwMode="auto">
          <a:xfrm flipH="1" flipV="1">
            <a:off x="25610" y="2737228"/>
            <a:ext cx="462632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H="1" flipV="1">
            <a:off x="423179" y="4509120"/>
            <a:ext cx="462632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1968736" y="6371369"/>
            <a:ext cx="1144865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5-10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274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412065" y="188640"/>
            <a:ext cx="2624431" cy="6552728"/>
          </a:xfrm>
        </p:spPr>
        <p:txBody>
          <a:bodyPr>
            <a:normAutofit/>
          </a:bodyPr>
          <a:lstStyle/>
          <a:p>
            <a:r>
              <a:rPr lang="en-US" altLang="zh-TW" sz="2800" b="1" dirty="0" err="1"/>
              <a:t>feof</a:t>
            </a:r>
            <a:r>
              <a:rPr lang="en-US" altLang="zh-TW" sz="2800" b="1" dirty="0"/>
              <a:t>(</a:t>
            </a:r>
            <a:r>
              <a:rPr lang="en-US" altLang="zh-TW" sz="2800" b="1" dirty="0" err="1"/>
              <a:t>fp</a:t>
            </a:r>
            <a:r>
              <a:rPr lang="en-US" altLang="zh-TW" sz="2800" b="1" dirty="0"/>
              <a:t>) </a:t>
            </a:r>
            <a:r>
              <a:rPr lang="zh-TW" altLang="en-US" sz="2800" b="1" dirty="0"/>
              <a:t>可以判斷檔案</a:t>
            </a:r>
            <a:r>
              <a:rPr lang="en-US" altLang="zh-TW" sz="2800" b="1" dirty="0" err="1"/>
              <a:t>fp</a:t>
            </a:r>
            <a:r>
              <a:rPr lang="en-US" altLang="zh-TW" sz="2800" b="1" dirty="0"/>
              <a:t> </a:t>
            </a:r>
            <a:r>
              <a:rPr lang="zh-TW" altLang="en-US" sz="2800" b="1" dirty="0"/>
              <a:t>是否已經讀到了</a:t>
            </a:r>
            <a:r>
              <a:rPr lang="zh-TW" altLang="en-US" sz="2800" b="1" dirty="0" smtClean="0"/>
              <a:t>盡頭如果</a:t>
            </a:r>
            <a:r>
              <a:rPr lang="zh-TW" altLang="en-US" sz="2800" b="1" dirty="0"/>
              <a:t>已經到了檔案結尾</a:t>
            </a:r>
            <a:r>
              <a:rPr lang="en-US" altLang="zh-TW" sz="2800" b="1" dirty="0" err="1"/>
              <a:t>feof</a:t>
            </a:r>
            <a:r>
              <a:rPr lang="en-US" altLang="zh-TW" sz="2800" b="1" dirty="0"/>
              <a:t>(</a:t>
            </a:r>
            <a:r>
              <a:rPr lang="en-US" altLang="zh-TW" sz="2800" b="1" dirty="0" err="1"/>
              <a:t>fp</a:t>
            </a:r>
            <a:r>
              <a:rPr lang="en-US" altLang="zh-TW" sz="2800" b="1" dirty="0"/>
              <a:t>) </a:t>
            </a:r>
            <a:r>
              <a:rPr lang="zh-TW" altLang="en-US" sz="2800" b="1" dirty="0"/>
              <a:t>會傳回</a:t>
            </a:r>
            <a:r>
              <a:rPr lang="en-US" altLang="zh-TW" sz="2800" b="1" dirty="0" smtClean="0"/>
              <a:t>true</a:t>
            </a:r>
            <a:r>
              <a:rPr lang="zh-TW" altLang="en-US" sz="2800" b="1" dirty="0" smtClean="0"/>
              <a:t>。</a:t>
            </a:r>
            <a:endParaRPr lang="en-US" altLang="zh-TW" sz="2800" b="1" dirty="0" smtClean="0"/>
          </a:p>
          <a:p>
            <a:r>
              <a:rPr lang="en-US" altLang="zh-TW" sz="2800" b="1" dirty="0" err="1"/>
              <a:t>fgetc</a:t>
            </a:r>
            <a:r>
              <a:rPr lang="en-US" altLang="zh-TW" sz="2800" b="1" dirty="0"/>
              <a:t>(</a:t>
            </a:r>
            <a:r>
              <a:rPr lang="en-US" altLang="zh-TW" sz="2800" b="1" dirty="0" err="1"/>
              <a:t>fp</a:t>
            </a:r>
            <a:r>
              <a:rPr lang="en-US" altLang="zh-TW" sz="2800" b="1" dirty="0"/>
              <a:t>) </a:t>
            </a:r>
            <a:r>
              <a:rPr lang="zh-TW" altLang="en-US" sz="2800" b="1" dirty="0"/>
              <a:t>則只會讀取一個字元我們只想讀取</a:t>
            </a:r>
            <a:r>
              <a:rPr lang="zh-TW" altLang="en-US" sz="2800" b="1" dirty="0" smtClean="0"/>
              <a:t>單字所以</a:t>
            </a:r>
            <a:r>
              <a:rPr lang="zh-TW" altLang="en-US" sz="2800" b="1" dirty="0"/>
              <a:t>用</a:t>
            </a:r>
            <a:r>
              <a:rPr lang="en-US" altLang="zh-TW" sz="2800" b="1" dirty="0" err="1"/>
              <a:t>fgetc</a:t>
            </a:r>
            <a:r>
              <a:rPr lang="en-US" altLang="zh-TW" sz="2800" b="1" dirty="0"/>
              <a:t>(</a:t>
            </a:r>
            <a:r>
              <a:rPr lang="en-US" altLang="zh-TW" sz="2800" b="1" dirty="0" err="1"/>
              <a:t>fp</a:t>
            </a:r>
            <a:r>
              <a:rPr lang="en-US" altLang="zh-TW" sz="2800" b="1" dirty="0"/>
              <a:t>) </a:t>
            </a:r>
            <a:r>
              <a:rPr lang="zh-TW" altLang="en-US" sz="2800" b="1" dirty="0"/>
              <a:t>把剩下的單字解釋略過一直讀到換行再繼續讀下個</a:t>
            </a:r>
            <a:r>
              <a:rPr lang="zh-TW" altLang="en-US" sz="2800" b="1" dirty="0" smtClean="0"/>
              <a:t>單字。</a:t>
            </a:r>
            <a:endParaRPr lang="zh-TW" altLang="en-US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65" y="134855"/>
            <a:ext cx="6157150" cy="3870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64" y="4005064"/>
            <a:ext cx="5222018" cy="2785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3"/>
          <p:cNvSpPr>
            <a:spLocks noChangeShapeType="1"/>
          </p:cNvSpPr>
          <p:nvPr/>
        </p:nvSpPr>
        <p:spPr bwMode="auto">
          <a:xfrm flipH="1" flipV="1">
            <a:off x="423179" y="4725144"/>
            <a:ext cx="462632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2157940" y="6420808"/>
            <a:ext cx="1144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5-10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958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412065" y="188640"/>
            <a:ext cx="2624431" cy="6552728"/>
          </a:xfrm>
        </p:spPr>
        <p:txBody>
          <a:bodyPr>
            <a:normAutofit/>
          </a:bodyPr>
          <a:lstStyle/>
          <a:p>
            <a:endParaRPr lang="en-US" altLang="zh-TW" sz="2800" dirty="0" smtClean="0"/>
          </a:p>
          <a:p>
            <a:endParaRPr lang="en-US" altLang="zh-TW" dirty="0"/>
          </a:p>
          <a:p>
            <a:r>
              <a:rPr lang="en-US" altLang="zh-TW" sz="2800" dirty="0" err="1" smtClean="0"/>
              <a:t>fclose</a:t>
            </a: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fp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將檔案關閉，在這之後該檔案將無法再做讀取的動作。</a:t>
            </a:r>
            <a:r>
              <a:rPr lang="en-US" altLang="zh-TW" sz="2800" dirty="0" smtClean="0"/>
              <a:t> </a:t>
            </a:r>
            <a:endParaRPr lang="zh-TW" altLang="en-US" sz="28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49" y="101374"/>
            <a:ext cx="6210416" cy="3903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6" y="4005064"/>
            <a:ext cx="5155435" cy="2749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3"/>
          <p:cNvSpPr>
            <a:spLocks noChangeShapeType="1"/>
          </p:cNvSpPr>
          <p:nvPr/>
        </p:nvSpPr>
        <p:spPr bwMode="auto">
          <a:xfrm flipH="1" flipV="1">
            <a:off x="39464" y="5301208"/>
            <a:ext cx="462632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1975458" y="6372036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2164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附錄</a:t>
            </a:r>
            <a:r>
              <a:rPr lang="en-US" altLang="zh-TW" dirty="0" smtClean="0"/>
              <a:t>(</a:t>
            </a:r>
            <a:r>
              <a:rPr lang="zh-TW" altLang="en-US" dirty="0" smtClean="0"/>
              <a:t>字典範例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62" y="1825405"/>
            <a:ext cx="8908473" cy="474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0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f</a:t>
            </a:r>
            <a:r>
              <a:rPr lang="en-US" altLang="zh-TW" b="1" dirty="0" err="1" smtClean="0"/>
              <a:t>open</a:t>
            </a:r>
            <a:r>
              <a:rPr lang="zh-TW" altLang="en-US" b="1" dirty="0" smtClean="0"/>
              <a:t>的動作</a:t>
            </a:r>
            <a:endParaRPr lang="zh-TW" altLang="en-US" b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1552574"/>
            <a:ext cx="9058275" cy="4540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830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 smtClean="0"/>
              <a:t>fopen</a:t>
            </a:r>
            <a:r>
              <a:rPr lang="zh-TW" altLang="en-US" b="1" dirty="0" smtClean="0"/>
              <a:t>的動作</a:t>
            </a:r>
            <a:r>
              <a:rPr lang="en-US" altLang="zh-TW" b="1" dirty="0" smtClean="0"/>
              <a:t>(Cont.)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005064"/>
            <a:ext cx="8229600" cy="2121099"/>
          </a:xfrm>
        </p:spPr>
        <p:txBody>
          <a:bodyPr/>
          <a:lstStyle/>
          <a:p>
            <a:r>
              <a:rPr lang="en-US" altLang="zh-TW" dirty="0" smtClean="0"/>
              <a:t>Windows</a:t>
            </a:r>
            <a:r>
              <a:rPr lang="zh-TW" altLang="en-US" dirty="0" smtClean="0"/>
              <a:t>作業系統將文字檔和二進位檔案當作兩種不同的檔案，而</a:t>
            </a:r>
            <a:r>
              <a:rPr lang="en-US" altLang="zh-TW" dirty="0" smtClean="0"/>
              <a:t>Linux</a:t>
            </a:r>
            <a:r>
              <a:rPr lang="zh-TW" altLang="en-US" dirty="0" smtClean="0"/>
              <a:t>則不區別，在</a:t>
            </a:r>
            <a:r>
              <a:rPr lang="en-US" altLang="zh-TW" dirty="0" smtClean="0"/>
              <a:t>Windows</a:t>
            </a:r>
            <a:r>
              <a:rPr lang="zh-TW" altLang="en-US" dirty="0" smtClean="0"/>
              <a:t>下讀寫非文字檔案，必須加上</a:t>
            </a:r>
            <a:r>
              <a:rPr lang="en-US" altLang="zh-TW" dirty="0" smtClean="0"/>
              <a:t>b</a:t>
            </a:r>
            <a:r>
              <a:rPr lang="zh-TW" altLang="en-US" dirty="0" smtClean="0"/>
              <a:t>模式，在</a:t>
            </a:r>
            <a:r>
              <a:rPr lang="en-US" altLang="zh-TW" dirty="0" smtClean="0"/>
              <a:t>Linux</a:t>
            </a:r>
            <a:r>
              <a:rPr lang="zh-TW" altLang="en-US" dirty="0" smtClean="0"/>
              <a:t>下則會忽略</a:t>
            </a:r>
            <a:r>
              <a:rPr lang="en-US" altLang="zh-TW" dirty="0" smtClean="0"/>
              <a:t>b</a:t>
            </a:r>
            <a:r>
              <a:rPr lang="zh-TW" altLang="en-US" dirty="0" smtClean="0"/>
              <a:t>。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33061"/>
            <a:ext cx="8964488" cy="1944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841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86259"/>
            <a:ext cx="5132387" cy="531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3473"/>
            <a:ext cx="8229600" cy="833239"/>
          </a:xfrm>
        </p:spPr>
        <p:txBody>
          <a:bodyPr/>
          <a:lstStyle/>
          <a:p>
            <a:r>
              <a:rPr lang="zh-TW" altLang="en-US" b="1" dirty="0" smtClean="0"/>
              <a:t>範例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08104" y="795437"/>
            <a:ext cx="3635896" cy="2645915"/>
          </a:xfrm>
        </p:spPr>
        <p:txBody>
          <a:bodyPr/>
          <a:lstStyle/>
          <a:p>
            <a:r>
              <a:rPr lang="zh-TW" altLang="en-US" dirty="0" smtClean="0"/>
              <a:t>此範例將</a:t>
            </a:r>
            <a:r>
              <a:rPr lang="en-US" altLang="zh-TW" dirty="0" smtClean="0"/>
              <a:t>test</a:t>
            </a:r>
            <a:r>
              <a:rPr lang="zh-TW" altLang="en-US" dirty="0" smtClean="0"/>
              <a:t>檔案內之數列存入陣列</a:t>
            </a:r>
            <a:r>
              <a:rPr lang="en-US" altLang="zh-TW" dirty="0" smtClean="0"/>
              <a:t>A</a:t>
            </a:r>
            <a:r>
              <a:rPr lang="zh-TW" altLang="en-US" dirty="0" smtClean="0"/>
              <a:t>中，進行排序，再將結果印在</a:t>
            </a:r>
            <a:r>
              <a:rPr lang="en-US" altLang="zh-TW" dirty="0" smtClean="0"/>
              <a:t>test2</a:t>
            </a:r>
            <a:r>
              <a:rPr lang="zh-TW" altLang="en-US" dirty="0" smtClean="0"/>
              <a:t>檔案中。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15816" y="5631646"/>
            <a:ext cx="1170513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範例輸入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388" y="3284984"/>
            <a:ext cx="3745128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061" y="4555321"/>
            <a:ext cx="3735455" cy="131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655" y="6110732"/>
            <a:ext cx="5496793" cy="348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355777" y="5870294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390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二進位檔案</a:t>
            </a:r>
            <a:r>
              <a:rPr lang="en-US" altLang="zh-TW" b="1" dirty="0" smtClean="0"/>
              <a:t>I/O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下面有幾個在做二進位檔案存取常用的</a:t>
            </a:r>
            <a:r>
              <a:rPr lang="en-US" altLang="zh-TW" dirty="0" smtClean="0"/>
              <a:t>function</a:t>
            </a:r>
            <a:r>
              <a:rPr lang="zh-TW" altLang="en-US" dirty="0" smtClean="0"/>
              <a:t>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2800" b="1" dirty="0" err="1" smtClean="0">
                <a:solidFill>
                  <a:srgbClr val="FF0000"/>
                </a:solidFill>
              </a:rPr>
              <a:t>fread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(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輸入參數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,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資料大小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,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輸入資料數目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,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指標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)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TW" altLang="en-US" sz="2800" dirty="0" smtClean="0"/>
              <a:t>做二進位檔案資料的讀取。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b="1" dirty="0" err="1" smtClean="0">
                <a:solidFill>
                  <a:srgbClr val="FF0000"/>
                </a:solidFill>
              </a:rPr>
              <a:t>fwrite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(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輸入參數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,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資料大小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,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輸入資料數目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,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指標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)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TW" altLang="en-US" sz="2800" dirty="0" smtClean="0"/>
              <a:t>做二進位檔案資料的寫入。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b="1" dirty="0" smtClean="0">
                <a:solidFill>
                  <a:srgbClr val="FF0000"/>
                </a:solidFill>
              </a:rPr>
              <a:t>rewind(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指標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)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TW" altLang="en-US" sz="2800" dirty="0" smtClean="0"/>
              <a:t>重置游標位置。</a:t>
            </a:r>
            <a:r>
              <a:rPr lang="en-US" altLang="zh-TW" sz="2800" dirty="0" smtClean="0"/>
              <a:t/>
            </a:r>
            <a:br>
              <a:rPr lang="en-US" altLang="zh-TW" sz="2800" dirty="0" smtClean="0"/>
            </a:br>
            <a:r>
              <a:rPr lang="en-US" altLang="zh-TW" sz="2800" b="1" dirty="0" err="1" smtClean="0">
                <a:solidFill>
                  <a:srgbClr val="FF0000"/>
                </a:solidFill>
              </a:rPr>
              <a:t>fseek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(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指標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,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位移量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(offset),MODE)</a:t>
            </a:r>
            <a:r>
              <a:rPr lang="zh-TW" altLang="en-US" sz="2800" b="1" dirty="0" smtClean="0">
                <a:solidFill>
                  <a:srgbClr val="FF0000"/>
                </a:solidFill>
              </a:rPr>
              <a:t>：</a:t>
            </a:r>
            <a:r>
              <a:rPr lang="zh-TW" altLang="en-US" sz="2800" dirty="0" smtClean="0"/>
              <a:t>移動游標位置。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42606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92" y="1270972"/>
            <a:ext cx="4843709" cy="393012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08473"/>
            <a:ext cx="8229600" cy="1143000"/>
          </a:xfrm>
        </p:spPr>
        <p:txBody>
          <a:bodyPr/>
          <a:lstStyle/>
          <a:p>
            <a:r>
              <a:rPr lang="zh-TW" altLang="en-US" b="1" dirty="0" smtClean="0"/>
              <a:t>二進位檔案</a:t>
            </a:r>
            <a:r>
              <a:rPr lang="en-US" altLang="zh-TW" b="1" dirty="0" smtClean="0"/>
              <a:t>I/O(Cont.)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5373216"/>
            <a:ext cx="8435280" cy="1484784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TW" altLang="en-US" dirty="0">
                <a:latin typeface="+mn-ea"/>
              </a:rPr>
              <a:t>要讀入二進位檔案，可以使用 </a:t>
            </a:r>
            <a:r>
              <a:rPr lang="en-US" altLang="zh-TW" dirty="0" err="1">
                <a:latin typeface="+mn-ea"/>
              </a:rPr>
              <a:t>fread</a:t>
            </a:r>
            <a:r>
              <a:rPr lang="en-US" altLang="zh-TW" dirty="0">
                <a:latin typeface="+mn-ea"/>
              </a:rPr>
              <a:t>() </a:t>
            </a:r>
            <a:r>
              <a:rPr lang="zh-TW" altLang="en-US" dirty="0">
                <a:latin typeface="+mn-ea"/>
              </a:rPr>
              <a:t>函式，在讀寫時是使用位元組（</a:t>
            </a:r>
            <a:r>
              <a:rPr lang="en-US" altLang="zh-TW" dirty="0">
                <a:latin typeface="+mn-ea"/>
              </a:rPr>
              <a:t>byte</a:t>
            </a:r>
            <a:r>
              <a:rPr lang="zh-TW" altLang="en-US" dirty="0">
                <a:latin typeface="+mn-ea"/>
              </a:rPr>
              <a:t>）為單位的區塊（</a:t>
            </a:r>
            <a:r>
              <a:rPr lang="en-US" altLang="zh-TW" dirty="0">
                <a:latin typeface="+mn-ea"/>
              </a:rPr>
              <a:t>block</a:t>
            </a:r>
            <a:r>
              <a:rPr lang="zh-TW" altLang="en-US" dirty="0">
                <a:latin typeface="+mn-ea"/>
              </a:rPr>
              <a:t>）進行</a:t>
            </a:r>
            <a:r>
              <a:rPr lang="zh-TW" altLang="en-US" dirty="0" smtClean="0">
                <a:latin typeface="+mn-ea"/>
              </a:rPr>
              <a:t>讀寫。</a:t>
            </a:r>
            <a:r>
              <a:rPr lang="en-US" altLang="zh-TW" dirty="0" smtClean="0">
                <a:latin typeface="+mn-ea"/>
              </a:rPr>
              <a:t>(</a:t>
            </a:r>
            <a:r>
              <a:rPr lang="zh-TW" altLang="en-US" dirty="0" smtClean="0">
                <a:latin typeface="+mn-ea"/>
              </a:rPr>
              <a:t>由於</a:t>
            </a:r>
            <a:r>
              <a:rPr lang="en-US" altLang="zh-TW" dirty="0" err="1" smtClean="0">
                <a:latin typeface="+mn-ea"/>
              </a:rPr>
              <a:t>feof</a:t>
            </a:r>
            <a:r>
              <a:rPr lang="zh-TW" altLang="en-US" dirty="0" smtClean="0">
                <a:latin typeface="+mn-ea"/>
              </a:rPr>
              <a:t>實作問題，最後一個字元會多印一次</a:t>
            </a:r>
            <a:r>
              <a:rPr lang="en-US" altLang="zh-TW" dirty="0" smtClean="0">
                <a:latin typeface="+mn-ea"/>
              </a:rPr>
              <a:t>)</a:t>
            </a:r>
            <a:endParaRPr lang="zh-TW" altLang="en-US" dirty="0">
              <a:latin typeface="+mn-ea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558" y="4797152"/>
            <a:ext cx="5756475" cy="556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394558" y="4375398"/>
            <a:ext cx="1401346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範例輸出入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386499" y="2790081"/>
            <a:ext cx="1293687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est</a:t>
            </a:r>
            <a:r>
              <a:rPr lang="zh-TW" altLang="en-US" dirty="0" smtClean="0"/>
              <a:t>檔內容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99" y="3263280"/>
            <a:ext cx="368196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877804" y="4984385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659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87" y="860794"/>
            <a:ext cx="5832648" cy="4586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-4823"/>
            <a:ext cx="8229600" cy="1143000"/>
          </a:xfrm>
        </p:spPr>
        <p:txBody>
          <a:bodyPr/>
          <a:lstStyle/>
          <a:p>
            <a:r>
              <a:rPr lang="zh-TW" altLang="en-US" b="1" dirty="0" smtClean="0"/>
              <a:t>二進位檔案</a:t>
            </a:r>
            <a:r>
              <a:rPr lang="en-US" altLang="zh-TW" b="1" dirty="0" smtClean="0"/>
              <a:t>I/O(Cont.)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5999509"/>
            <a:ext cx="8229600" cy="792088"/>
          </a:xfrm>
        </p:spPr>
        <p:txBody>
          <a:bodyPr/>
          <a:lstStyle/>
          <a:p>
            <a:r>
              <a:rPr lang="zh-TW" altLang="en-US" dirty="0"/>
              <a:t>如果要寫入檔案，則可以使用 </a:t>
            </a:r>
            <a:r>
              <a:rPr lang="en-US" altLang="zh-TW" dirty="0" err="1"/>
              <a:t>fwrite</a:t>
            </a:r>
            <a:r>
              <a:rPr lang="en-US" altLang="zh-TW" dirty="0" smtClean="0"/>
              <a:t>()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650" y="5539475"/>
            <a:ext cx="5976664" cy="3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106650" y="5170143"/>
            <a:ext cx="1170513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範例輸入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6151720" y="964444"/>
            <a:ext cx="2797498" cy="2266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此程式將</a:t>
            </a:r>
            <a:r>
              <a:rPr lang="en-US" altLang="zh-TW" dirty="0" smtClean="0"/>
              <a:t>test</a:t>
            </a:r>
            <a:r>
              <a:rPr lang="zh-TW" altLang="en-US" dirty="0" smtClean="0"/>
              <a:t>檔案內之內容複製到</a:t>
            </a:r>
            <a:r>
              <a:rPr lang="en-US" altLang="zh-TW" dirty="0" smtClean="0"/>
              <a:t>test2</a:t>
            </a:r>
            <a:r>
              <a:rPr lang="zh-TW" altLang="en-US" dirty="0" smtClean="0"/>
              <a:t>內</a:t>
            </a:r>
            <a:r>
              <a:rPr lang="zh-TW" altLang="en-US" dirty="0"/>
              <a:t>。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1707" y="4463150"/>
            <a:ext cx="30575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1" y="3323334"/>
            <a:ext cx="3056306" cy="1075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229734" y="5215494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002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7" y="1113874"/>
            <a:ext cx="3589683" cy="562749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2618"/>
            <a:ext cx="8229600" cy="1143000"/>
          </a:xfrm>
        </p:spPr>
        <p:txBody>
          <a:bodyPr/>
          <a:lstStyle/>
          <a:p>
            <a:r>
              <a:rPr lang="zh-TW" altLang="en-US" b="1" dirty="0" smtClean="0"/>
              <a:t>回復游標位置</a:t>
            </a:r>
            <a:r>
              <a:rPr lang="en-US" altLang="zh-TW" b="1" dirty="0"/>
              <a:t>r</a:t>
            </a:r>
            <a:r>
              <a:rPr lang="en-US" altLang="zh-TW" b="1" dirty="0" smtClean="0"/>
              <a:t>ewind()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11960" y="1196752"/>
            <a:ext cx="4932040" cy="5544616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開啟檔案時，會有游標指向檔案的開頭位置，檔案經過一次讀寫游標會往後移動一次，</a:t>
            </a:r>
            <a:r>
              <a:rPr lang="en-US" altLang="zh-TW" dirty="0" smtClean="0"/>
              <a:t>rewind()</a:t>
            </a:r>
            <a:r>
              <a:rPr lang="zh-TW" altLang="en-US" dirty="0" smtClean="0"/>
              <a:t>可將游標重置到開頭位置。</a:t>
            </a:r>
            <a:endParaRPr lang="en-US" altLang="zh-TW" dirty="0" smtClean="0"/>
          </a:p>
          <a:p>
            <a:r>
              <a:rPr lang="zh-TW" altLang="en-US" dirty="0" smtClean="0"/>
              <a:t>此程式對同一個檔案做重覆讀取動作再印到另一個檔案。</a:t>
            </a:r>
            <a:endParaRPr lang="en-US" altLang="zh-TW" dirty="0" smtClean="0"/>
          </a:p>
          <a:p>
            <a:r>
              <a:rPr lang="zh-TW" altLang="en-US" dirty="0" smtClean="0"/>
              <a:t>檔案輸出如下：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39769" y="6488668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904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7" y="1113874"/>
            <a:ext cx="3589683" cy="562749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32618"/>
            <a:ext cx="8229600" cy="1143000"/>
          </a:xfrm>
        </p:spPr>
        <p:txBody>
          <a:bodyPr/>
          <a:lstStyle/>
          <a:p>
            <a:r>
              <a:rPr lang="zh-TW" altLang="en-US" b="1" dirty="0" smtClean="0"/>
              <a:t>回復游標位置</a:t>
            </a:r>
            <a:r>
              <a:rPr lang="en-US" altLang="zh-TW" b="1" dirty="0"/>
              <a:t>r</a:t>
            </a:r>
            <a:r>
              <a:rPr lang="en-US" altLang="zh-TW" b="1" dirty="0" smtClean="0"/>
              <a:t>ewind()(Cont</a:t>
            </a:r>
            <a:r>
              <a:rPr lang="en-US" altLang="zh-TW" b="1" dirty="0"/>
              <a:t>.</a:t>
            </a:r>
            <a:r>
              <a:rPr lang="en-US" altLang="zh-TW" b="1" dirty="0" smtClean="0"/>
              <a:t>)</a:t>
            </a:r>
            <a:endParaRPr lang="zh-TW" altLang="en-US" b="1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795" y="1546317"/>
            <a:ext cx="5328592" cy="35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665" y="3161826"/>
            <a:ext cx="4442767" cy="145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665" y="4581128"/>
            <a:ext cx="5024228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Line 3"/>
          <p:cNvSpPr>
            <a:spLocks noChangeShapeType="1"/>
          </p:cNvSpPr>
          <p:nvPr/>
        </p:nvSpPr>
        <p:spPr bwMode="auto">
          <a:xfrm>
            <a:off x="6529779" y="4136798"/>
            <a:ext cx="489173" cy="238597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9" name="Line 3"/>
          <p:cNvSpPr>
            <a:spLocks noChangeShapeType="1"/>
          </p:cNvSpPr>
          <p:nvPr/>
        </p:nvSpPr>
        <p:spPr bwMode="auto">
          <a:xfrm>
            <a:off x="8562772" y="5492516"/>
            <a:ext cx="489173" cy="238597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1762394" y="6488668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52" y="1145613"/>
            <a:ext cx="3434212" cy="539022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移動游標位置</a:t>
            </a:r>
            <a:r>
              <a:rPr lang="en-US" altLang="zh-TW" b="1" dirty="0" err="1" smtClean="0"/>
              <a:t>fseek</a:t>
            </a:r>
            <a:r>
              <a:rPr lang="en-US" altLang="zh-TW" b="1" dirty="0" smtClean="0"/>
              <a:t>()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139952" y="1340768"/>
            <a:ext cx="4824536" cy="2160240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同上例，把</a:t>
            </a:r>
            <a:r>
              <a:rPr lang="en-US" altLang="zh-TW" dirty="0" smtClean="0"/>
              <a:t>rewind()</a:t>
            </a:r>
            <a:r>
              <a:rPr lang="zh-TW" altLang="en-US" dirty="0" smtClean="0"/>
              <a:t>改成</a:t>
            </a:r>
            <a:r>
              <a:rPr lang="en-US" altLang="zh-TW" dirty="0" err="1" smtClean="0"/>
              <a:t>fseek</a:t>
            </a:r>
            <a:r>
              <a:rPr lang="en-US" altLang="zh-TW" dirty="0" smtClean="0"/>
              <a:t>()</a:t>
            </a:r>
            <a:r>
              <a:rPr lang="zh-TW" altLang="en-US" dirty="0" smtClean="0"/>
              <a:t>，可以做一樣的事，</a:t>
            </a:r>
            <a:r>
              <a:rPr lang="en-US" altLang="zh-TW" dirty="0" err="1" smtClean="0"/>
              <a:t>fseek</a:t>
            </a:r>
            <a:r>
              <a:rPr lang="en-US" altLang="zh-TW" dirty="0" smtClean="0"/>
              <a:t>()</a:t>
            </a:r>
            <a:r>
              <a:rPr lang="zh-TW" altLang="en-US" dirty="0" smtClean="0"/>
              <a:t>還可以將游標指到檔案任何一處。</a:t>
            </a:r>
            <a:endParaRPr lang="zh-TW" altLang="en-US" dirty="0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 flipH="1">
            <a:off x="0" y="3501008"/>
            <a:ext cx="576064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558013"/>
            <a:ext cx="3744417" cy="19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4753148" y="4134071"/>
            <a:ext cx="1170513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使用範例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87186" y="6340678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918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移動游標位置</a:t>
            </a:r>
            <a:r>
              <a:rPr lang="en-US" altLang="zh-TW" b="1" dirty="0" err="1"/>
              <a:t>fseek</a:t>
            </a:r>
            <a:r>
              <a:rPr lang="en-US" altLang="zh-TW" b="1" dirty="0" smtClean="0"/>
              <a:t>()(Cont.)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13130" y="1600200"/>
            <a:ext cx="3907342" cy="4807049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f</a:t>
            </a:r>
            <a:r>
              <a:rPr lang="en-US" altLang="zh-TW" dirty="0" err="1" smtClean="0"/>
              <a:t>seek</a:t>
            </a:r>
            <a:r>
              <a:rPr lang="en-US" altLang="zh-TW" dirty="0" smtClean="0"/>
              <a:t>()</a:t>
            </a:r>
            <a:r>
              <a:rPr lang="zh-TW" altLang="en-US" dirty="0" smtClean="0"/>
              <a:t>的使用僅限於二進位檔案讀取。</a:t>
            </a:r>
            <a:endParaRPr lang="en-US" altLang="zh-TW" dirty="0" smtClean="0"/>
          </a:p>
          <a:p>
            <a:r>
              <a:rPr lang="zh-TW" altLang="en-US" dirty="0" smtClean="0"/>
              <a:t>此程式先讀取</a:t>
            </a:r>
            <a:r>
              <a:rPr lang="en-US" altLang="zh-TW" dirty="0" smtClean="0"/>
              <a:t>test</a:t>
            </a:r>
            <a:r>
              <a:rPr lang="zh-TW" altLang="en-US" dirty="0" smtClean="0"/>
              <a:t>檔的第一個字元輸出</a:t>
            </a:r>
            <a:r>
              <a:rPr lang="en-US" altLang="zh-TW" dirty="0" smtClean="0"/>
              <a:t>ASCII</a:t>
            </a:r>
            <a:r>
              <a:rPr lang="zh-TW" altLang="en-US" dirty="0" smtClean="0"/>
              <a:t>碼，將游標往後移一個字元，再讀取下一個字元且輸出其</a:t>
            </a:r>
            <a:r>
              <a:rPr lang="en-US" altLang="zh-TW" dirty="0" smtClean="0"/>
              <a:t>ASCII</a:t>
            </a:r>
            <a:r>
              <a:rPr lang="zh-TW" altLang="en-US" dirty="0" smtClean="0"/>
              <a:t>碼。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6" y="1556792"/>
            <a:ext cx="4899365" cy="4097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6197699"/>
            <a:ext cx="3684587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716686"/>
            <a:ext cx="2943225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/>
          <p:cNvSpPr txBox="1"/>
          <p:nvPr/>
        </p:nvSpPr>
        <p:spPr>
          <a:xfrm>
            <a:off x="4427984" y="5828366"/>
            <a:ext cx="1401346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範例輸出入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55357" y="5187572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868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a</a:t>
            </a:r>
            <a:r>
              <a:rPr lang="en-US" altLang="zh-TW" b="1" dirty="0" err="1" smtClean="0"/>
              <a:t>toi</a:t>
            </a:r>
            <a:r>
              <a:rPr lang="en-US" altLang="zh-TW" b="1" dirty="0" smtClean="0"/>
              <a:t>()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0130" y="5427236"/>
            <a:ext cx="8229600" cy="1152130"/>
          </a:xfrm>
        </p:spPr>
        <p:txBody>
          <a:bodyPr/>
          <a:lstStyle/>
          <a:p>
            <a:r>
              <a:rPr lang="zh-TW" altLang="en-US" dirty="0" smtClean="0"/>
              <a:t>使用</a:t>
            </a:r>
            <a:r>
              <a:rPr lang="en-US" altLang="zh-TW" dirty="0" smtClean="0"/>
              <a:t>command line</a:t>
            </a:r>
            <a:r>
              <a:rPr lang="zh-TW" altLang="en-US" dirty="0" smtClean="0"/>
              <a:t>的輸入如果為數字，必須使用</a:t>
            </a:r>
            <a:r>
              <a:rPr lang="en-US" altLang="zh-TW" dirty="0" err="1" smtClean="0"/>
              <a:t>atoi</a:t>
            </a:r>
            <a:r>
              <a:rPr lang="en-US" altLang="zh-TW" dirty="0" smtClean="0"/>
              <a:t>()</a:t>
            </a:r>
            <a:r>
              <a:rPr lang="zh-TW" altLang="en-US" dirty="0" smtClean="0"/>
              <a:t>轉換形態。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2746"/>
            <a:ext cx="4870566" cy="2670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3"/>
          <p:cNvSpPr>
            <a:spLocks noChangeShapeType="1"/>
          </p:cNvSpPr>
          <p:nvPr/>
        </p:nvSpPr>
        <p:spPr bwMode="auto">
          <a:xfrm flipH="1" flipV="1">
            <a:off x="395536" y="3212976"/>
            <a:ext cx="790298" cy="0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>
            <a:off x="3789181" y="2459186"/>
            <a:ext cx="518835" cy="288032"/>
          </a:xfrm>
          <a:prstGeom prst="line">
            <a:avLst/>
          </a:prstGeom>
          <a:noFill/>
          <a:ln w="76200">
            <a:solidFill>
              <a:srgbClr val="D90B00"/>
            </a:solidFill>
            <a:miter lim="800000"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769558"/>
            <a:ext cx="4191372" cy="535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4308016" y="4400226"/>
            <a:ext cx="1401346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範例輸出入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575963" y="4230713"/>
            <a:ext cx="1144865" cy="369332"/>
          </a:xfrm>
          <a:prstGeom prst="rect">
            <a:avLst/>
          </a:prstGeom>
          <a:ln>
            <a:solidFill>
              <a:srgbClr val="D90B00"/>
            </a:solidFill>
          </a:ln>
        </p:spPr>
        <p:txBody>
          <a:bodyPr wrap="none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範例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5-17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797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參考資料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其餘</a:t>
            </a:r>
            <a:r>
              <a:rPr lang="en-US" altLang="zh-TW" dirty="0" smtClean="0"/>
              <a:t>file I/O</a:t>
            </a:r>
            <a:r>
              <a:rPr lang="zh-TW" altLang="en-US" dirty="0" smtClean="0"/>
              <a:t>的使用請參考下列網站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http://caterpillar.onlyfun.net/Gossip/CGossip/CGossip.html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137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I2P">
      <a:majorFont>
        <a:latin typeface="Arial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1797</TotalTime>
  <Words>2644</Words>
  <Application>Microsoft Office PowerPoint</Application>
  <PresentationFormat>如螢幕大小 (4:3)</PresentationFormat>
  <Paragraphs>336</Paragraphs>
  <Slides>43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3</vt:i4>
      </vt:variant>
      <vt:variant>
        <vt:lpstr>投影片標題</vt:lpstr>
      </vt:variant>
      <vt:variant>
        <vt:i4>43</vt:i4>
      </vt:variant>
    </vt:vector>
  </HeadingPairs>
  <TitlesOfParts>
    <vt:vector size="46" baseType="lpstr">
      <vt:lpstr>Office Theme</vt:lpstr>
      <vt:lpstr>Office 佈景主題</vt:lpstr>
      <vt:lpstr>1_Office 佈景主題</vt:lpstr>
      <vt:lpstr>Pointer and Arrays</vt:lpstr>
      <vt:lpstr>PowerPoint 簡報</vt:lpstr>
      <vt:lpstr>PowerPoint 簡報</vt:lpstr>
      <vt:lpstr>PowerPoint 簡報</vt:lpstr>
      <vt:lpstr>PowerPoint 簡報</vt:lpstr>
      <vt:lpstr>設定初值</vt:lpstr>
      <vt:lpstr>配合迴圈</vt:lpstr>
      <vt:lpstr>PowerPoint 簡報</vt:lpstr>
      <vt:lpstr>越界</vt:lpstr>
      <vt:lpstr>PowerPoint 簡報</vt:lpstr>
      <vt:lpstr>為什麼不檢查?</vt:lpstr>
      <vt:lpstr>二維陣列</vt:lpstr>
      <vt:lpstr>PowerPoint 簡報</vt:lpstr>
      <vt:lpstr>陣列的陣列</vt:lpstr>
      <vt:lpstr>Pointer</vt:lpstr>
      <vt:lpstr>指標變數</vt:lpstr>
      <vt:lpstr>宣告指標變數</vt:lpstr>
      <vt:lpstr>指標與記憶體</vt:lpstr>
      <vt:lpstr>交換變數值</vt:lpstr>
      <vt:lpstr>印出位置</vt:lpstr>
      <vt:lpstr>PowerPoint 簡報</vt:lpstr>
      <vt:lpstr>陣列作為參數</vt:lpstr>
      <vt:lpstr>傳入起始、結束位置</vt:lpstr>
      <vt:lpstr>指標與二維陣列</vt:lpstr>
      <vt:lpstr>PowerPoint 簡報</vt:lpstr>
      <vt:lpstr>File I/O</vt:lpstr>
      <vt:lpstr>讀取檔案</vt:lpstr>
      <vt:lpstr>PowerPoint 簡報</vt:lpstr>
      <vt:lpstr>PowerPoint 簡報</vt:lpstr>
      <vt:lpstr>PowerPoint 簡報</vt:lpstr>
      <vt:lpstr>附錄(字典範例)</vt:lpstr>
      <vt:lpstr>fopen的動作</vt:lpstr>
      <vt:lpstr>fopen的動作(Cont.)</vt:lpstr>
      <vt:lpstr>範例</vt:lpstr>
      <vt:lpstr>二進位檔案I/O</vt:lpstr>
      <vt:lpstr>二進位檔案I/O(Cont.)</vt:lpstr>
      <vt:lpstr>二進位檔案I/O(Cont.)</vt:lpstr>
      <vt:lpstr>回復游標位置rewind()</vt:lpstr>
      <vt:lpstr>回復游標位置rewind()(Cont.)</vt:lpstr>
      <vt:lpstr>移動游標位置fseek()</vt:lpstr>
      <vt:lpstr>移動游標位置fseek()(Cont.)</vt:lpstr>
      <vt:lpstr>atoi()</vt:lpstr>
      <vt:lpstr>參考資料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 and Arrays</dc:title>
  <dc:creator>shuming</dc:creator>
  <cp:lastModifiedBy>Yeh-Ching Chung</cp:lastModifiedBy>
  <cp:revision>81</cp:revision>
  <dcterms:created xsi:type="dcterms:W3CDTF">2012-10-03T03:06:35Z</dcterms:created>
  <dcterms:modified xsi:type="dcterms:W3CDTF">2013-11-05T00:03:24Z</dcterms:modified>
</cp:coreProperties>
</file>