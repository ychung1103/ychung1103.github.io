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262" r:id="rId3"/>
    <p:sldId id="267" r:id="rId4"/>
    <p:sldId id="263" r:id="rId5"/>
    <p:sldId id="264" r:id="rId6"/>
    <p:sldId id="265" r:id="rId7"/>
    <p:sldId id="266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0" autoAdjust="0"/>
    <p:restoredTop sz="92813" autoAdjust="0"/>
  </p:normalViewPr>
  <p:slideViewPr>
    <p:cSldViewPr snapToGrid="0">
      <p:cViewPr varScale="1">
        <p:scale>
          <a:sx n="60" d="100"/>
          <a:sy n="60" d="100"/>
        </p:scale>
        <p:origin x="-653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33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-174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A6EB59-C039-40D7-BD48-D02C4D7FB2FC}" type="datetimeFigureOut">
              <a:rPr lang="zh-TW" altLang="en-US" smtClean="0"/>
              <a:t>2012/12/24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13E90-E61B-4434-9B6A-2EEFAC324C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61904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DAA9C6-1504-4434-948A-5F8977A3C60E}" type="datetimeFigureOut">
              <a:rPr lang="zh-TW" altLang="en-US" smtClean="0"/>
              <a:t>2012/12/24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1BE944-3760-4FD8-86FB-8F474D7FF5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2789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1BE944-3760-4FD8-86FB-8F474D7FF517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07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4530"/>
            <a:ext cx="77724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altLang="zh-TW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/>
              <a:t>2012/12/24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21899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280035"/>
            <a:ext cx="7772401" cy="1325562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 altLang="zh-TW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9" y="1743075"/>
            <a:ext cx="7772401" cy="4437063"/>
          </a:xfrm>
        </p:spPr>
        <p:txBody>
          <a:bodyPr/>
          <a:lstStyle/>
          <a:p>
            <a:pPr lvl="0"/>
            <a:r>
              <a:rPr lang="en-US" altLang="zh-TW" dirty="0" smtClean="0"/>
              <a:t>Click to edit Master text styles</a:t>
            </a:r>
          </a:p>
          <a:p>
            <a:pPr lvl="1"/>
            <a:r>
              <a:rPr lang="en-US" altLang="zh-TW" dirty="0" smtClean="0"/>
              <a:t>Second level</a:t>
            </a:r>
          </a:p>
          <a:p>
            <a:pPr lvl="2"/>
            <a:r>
              <a:rPr lang="en-US" altLang="zh-TW" dirty="0" smtClean="0"/>
              <a:t>Third level</a:t>
            </a:r>
          </a:p>
          <a:p>
            <a:pPr lvl="3"/>
            <a:r>
              <a:rPr lang="en-US" altLang="zh-TW" dirty="0" smtClean="0"/>
              <a:t>Fourth level</a:t>
            </a:r>
          </a:p>
          <a:p>
            <a:pPr lvl="4"/>
            <a:r>
              <a:rPr lang="en-US" altLang="zh-TW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/>
              <a:t>2012/12/24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56070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12423"/>
            <a:ext cx="77724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55263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/>
              <a:t>2012/12/24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4038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9" y="1828801"/>
            <a:ext cx="3834246" cy="4351337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29050" cy="4351337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/>
              <a:t>2012/12/24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6596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681851"/>
            <a:ext cx="3815196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799" y="2507551"/>
            <a:ext cx="3815196" cy="3680525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851"/>
            <a:ext cx="3829050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7551"/>
            <a:ext cx="3829050" cy="3680525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/>
              <a:t>2012/12/24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609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/>
              <a:t>2012/12/24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957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/>
              <a:t>2012/12/24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185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/>
              <a:t>2012/12/24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0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/>
              <a:t>2012/12/24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7771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799" y="1828802"/>
            <a:ext cx="7772401" cy="4351336"/>
          </a:xfrm>
        </p:spPr>
        <p:txBody>
          <a:bodyPr vert="eaVert"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/>
              <a:t>2012/12/24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4546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14525" cy="5811838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799" y="360364"/>
            <a:ext cx="5743576" cy="5811836"/>
          </a:xfrm>
        </p:spPr>
        <p:txBody>
          <a:bodyPr vert="eaVert"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/>
              <a:t>2012/12/24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9268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799" y="365760"/>
            <a:ext cx="7772401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828801"/>
            <a:ext cx="7772401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79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1E1ABFF-99A6-4A4A-B19C-436493B8D700}" type="datetimeFigureOut">
              <a:rPr lang="zh-TW" altLang="en-US" smtClean="0"/>
              <a:t>2012/12/24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31547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0080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D4463-FF01-4A9E-98C7-7BE7D10B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8946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68917"/>
            <a:ext cx="7772400" cy="3065731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Arial" pitchFamily="34" charset="0"/>
                <a:cs typeface="Arial" pitchFamily="34" charset="0"/>
              </a:rPr>
              <a:t>Bitwise Operations </a:t>
            </a:r>
            <a:br>
              <a:rPr lang="en-US" altLang="zh-TW" dirty="0" smtClean="0">
                <a:latin typeface="Arial" pitchFamily="34" charset="0"/>
                <a:cs typeface="Arial" pitchFamily="34" charset="0"/>
              </a:rPr>
            </a:br>
            <a:r>
              <a:rPr lang="en-US" altLang="zh-TW" dirty="0" smtClean="0">
                <a:latin typeface="Arial" pitchFamily="34" charset="0"/>
                <a:cs typeface="Arial" pitchFamily="34" charset="0"/>
              </a:rPr>
              <a:t>and</a:t>
            </a:r>
            <a:br>
              <a:rPr lang="en-US" altLang="zh-TW" dirty="0" smtClean="0">
                <a:latin typeface="Arial" pitchFamily="34" charset="0"/>
                <a:cs typeface="Arial" pitchFamily="34" charset="0"/>
              </a:rPr>
            </a:br>
            <a:r>
              <a:rPr lang="en-US" altLang="zh-TW" dirty="0" smtClean="0">
                <a:latin typeface="Arial" pitchFamily="34" charset="0"/>
                <a:cs typeface="Arial" pitchFamily="34" charset="0"/>
              </a:rPr>
              <a:t>Operator Precedence</a:t>
            </a:r>
            <a:endParaRPr lang="zh-TW" alt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94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06" y="3377528"/>
            <a:ext cx="3505200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AND, OR, XOR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400" dirty="0" smtClean="0">
                <a:latin typeface="Consolas" pitchFamily="49" charset="0"/>
                <a:cs typeface="Consolas" pitchFamily="49" charset="0"/>
              </a:rPr>
              <a:t>AND: &amp;</a:t>
            </a:r>
          </a:p>
          <a:p>
            <a:r>
              <a:rPr lang="en-US" altLang="zh-TW" sz="2400" dirty="0" smtClean="0">
                <a:latin typeface="Consolas" pitchFamily="49" charset="0"/>
                <a:cs typeface="Consolas" pitchFamily="49" charset="0"/>
              </a:rPr>
              <a:t>OR: |</a:t>
            </a:r>
          </a:p>
          <a:p>
            <a:r>
              <a:rPr lang="en-US" altLang="zh-TW" sz="2400" dirty="0" smtClean="0">
                <a:latin typeface="Consolas" pitchFamily="49" charset="0"/>
                <a:cs typeface="Consolas" pitchFamily="49" charset="0"/>
              </a:rPr>
              <a:t>XOR: ^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3346785" y="5512428"/>
            <a:ext cx="1970842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Consolas" pitchFamily="49" charset="0"/>
                <a:cs typeface="Consolas" pitchFamily="49" charset="0"/>
              </a:rPr>
              <a:t>執行</a:t>
            </a:r>
            <a:r>
              <a:rPr lang="zh-TW" altLang="en-US" b="1" dirty="0" smtClean="0">
                <a:latin typeface="Consolas" pitchFamily="49" charset="0"/>
                <a:cs typeface="Consolas" pitchFamily="49" charset="0"/>
              </a:rPr>
              <a:t>結果</a:t>
            </a:r>
            <a:endParaRPr lang="en-US" altLang="zh-TW" b="1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zh-TW" dirty="0" smtClean="0">
                <a:latin typeface="Consolas" pitchFamily="49" charset="0"/>
                <a:cs typeface="Consolas" pitchFamily="49" charset="0"/>
              </a:rPr>
              <a:t>a &amp; b = 0x5</a:t>
            </a:r>
          </a:p>
          <a:p>
            <a:r>
              <a:rPr lang="en-US" altLang="zh-TW" dirty="0" smtClean="0">
                <a:latin typeface="Consolas" pitchFamily="49" charset="0"/>
                <a:cs typeface="Consolas" pitchFamily="49" charset="0"/>
              </a:rPr>
              <a:t>a | b = 0xFF</a:t>
            </a:r>
          </a:p>
          <a:p>
            <a:r>
              <a:rPr lang="en-US" altLang="zh-TW" dirty="0" smtClean="0">
                <a:latin typeface="Consolas" pitchFamily="49" charset="0"/>
                <a:cs typeface="Consolas" pitchFamily="49" charset="0"/>
              </a:rPr>
              <a:t>a ^ b = 0xFA</a:t>
            </a:r>
          </a:p>
        </p:txBody>
      </p:sp>
      <p:grpSp>
        <p:nvGrpSpPr>
          <p:cNvPr id="13" name="群組 12"/>
          <p:cNvGrpSpPr/>
          <p:nvPr/>
        </p:nvGrpSpPr>
        <p:grpSpPr>
          <a:xfrm>
            <a:off x="6374368" y="2076299"/>
            <a:ext cx="2165950" cy="1200329"/>
            <a:chOff x="3551070" y="1509204"/>
            <a:chExt cx="2165950" cy="1200329"/>
          </a:xfrm>
        </p:grpSpPr>
        <p:sp>
          <p:nvSpPr>
            <p:cNvPr id="14" name="文字方塊 13"/>
            <p:cNvSpPr txBox="1"/>
            <p:nvPr/>
          </p:nvSpPr>
          <p:spPr>
            <a:xfrm>
              <a:off x="3586579" y="1509204"/>
              <a:ext cx="213044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latin typeface="Consolas" pitchFamily="49" charset="0"/>
                  <a:cs typeface="Consolas" pitchFamily="49" charset="0"/>
                </a:rPr>
                <a:t>AND</a:t>
              </a:r>
            </a:p>
            <a:p>
              <a:r>
                <a:rPr lang="en-US" altLang="zh-TW" dirty="0" smtClean="0">
                  <a:latin typeface="Consolas" pitchFamily="49" charset="0"/>
                  <a:cs typeface="Consolas" pitchFamily="49" charset="0"/>
                </a:rPr>
                <a:t>  a = 01010101</a:t>
              </a:r>
              <a:endParaRPr lang="en-US" altLang="zh-TW" dirty="0">
                <a:latin typeface="Consolas" pitchFamily="49" charset="0"/>
                <a:cs typeface="Consolas" pitchFamily="49" charset="0"/>
              </a:endParaRPr>
            </a:p>
            <a:p>
              <a:r>
                <a:rPr lang="en-US" altLang="zh-TW" dirty="0" smtClean="0">
                  <a:latin typeface="Consolas" pitchFamily="49" charset="0"/>
                  <a:cs typeface="Consolas" pitchFamily="49" charset="0"/>
                </a:rPr>
                <a:t>  b = </a:t>
              </a:r>
              <a:r>
                <a:rPr lang="en-US" altLang="zh-TW" dirty="0">
                  <a:latin typeface="Consolas" pitchFamily="49" charset="0"/>
                  <a:cs typeface="Consolas" pitchFamily="49" charset="0"/>
                </a:rPr>
                <a:t>10101111</a:t>
              </a:r>
              <a:endParaRPr lang="en-US" altLang="zh-TW" dirty="0" smtClean="0">
                <a:latin typeface="Consolas" pitchFamily="49" charset="0"/>
                <a:cs typeface="Consolas" pitchFamily="49" charset="0"/>
              </a:endParaRPr>
            </a:p>
            <a:p>
              <a:r>
                <a:rPr lang="en-US" altLang="zh-TW" dirty="0" smtClean="0">
                  <a:latin typeface="Consolas" pitchFamily="49" charset="0"/>
                  <a:cs typeface="Consolas" pitchFamily="49" charset="0"/>
                </a:rPr>
                <a:t>      00000101</a:t>
              </a:r>
              <a:endParaRPr lang="en-US" altLang="zh-TW" dirty="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15" name="直線接點 14"/>
            <p:cNvCxnSpPr/>
            <p:nvPr/>
          </p:nvCxnSpPr>
          <p:spPr>
            <a:xfrm>
              <a:off x="3551070" y="2378151"/>
              <a:ext cx="2130441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" name="群組 15"/>
          <p:cNvGrpSpPr/>
          <p:nvPr/>
        </p:nvGrpSpPr>
        <p:grpSpPr>
          <a:xfrm>
            <a:off x="6392122" y="3651164"/>
            <a:ext cx="2130441" cy="1200329"/>
            <a:chOff x="3524435" y="1944210"/>
            <a:chExt cx="2130441" cy="1200329"/>
          </a:xfrm>
        </p:grpSpPr>
        <p:sp>
          <p:nvSpPr>
            <p:cNvPr id="17" name="文字方塊 16"/>
            <p:cNvSpPr txBox="1"/>
            <p:nvPr/>
          </p:nvSpPr>
          <p:spPr>
            <a:xfrm>
              <a:off x="3524435" y="1944210"/>
              <a:ext cx="213044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latin typeface="Consolas" pitchFamily="49" charset="0"/>
                  <a:cs typeface="Consolas" pitchFamily="49" charset="0"/>
                </a:rPr>
                <a:t>OR</a:t>
              </a:r>
            </a:p>
            <a:p>
              <a:r>
                <a:rPr lang="en-US" altLang="zh-TW" dirty="0" smtClean="0">
                  <a:latin typeface="Consolas" pitchFamily="49" charset="0"/>
                  <a:cs typeface="Consolas" pitchFamily="49" charset="0"/>
                </a:rPr>
                <a:t>  </a:t>
              </a:r>
              <a:r>
                <a:rPr lang="en-US" altLang="zh-TW" dirty="0">
                  <a:latin typeface="Consolas" pitchFamily="49" charset="0"/>
                  <a:cs typeface="Consolas" pitchFamily="49" charset="0"/>
                </a:rPr>
                <a:t>a = 01010101</a:t>
              </a:r>
            </a:p>
            <a:p>
              <a:r>
                <a:rPr lang="en-US" altLang="zh-TW" dirty="0">
                  <a:latin typeface="Consolas" pitchFamily="49" charset="0"/>
                  <a:cs typeface="Consolas" pitchFamily="49" charset="0"/>
                </a:rPr>
                <a:t>  b = 10101111</a:t>
              </a:r>
            </a:p>
            <a:p>
              <a:r>
                <a:rPr lang="en-US" altLang="zh-TW" dirty="0" smtClean="0">
                  <a:latin typeface="Consolas" pitchFamily="49" charset="0"/>
                  <a:cs typeface="Consolas" pitchFamily="49" charset="0"/>
                </a:rPr>
                <a:t>      11111111</a:t>
              </a:r>
              <a:endParaRPr lang="en-US" altLang="zh-TW" dirty="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18" name="直線接點 17"/>
            <p:cNvCxnSpPr/>
            <p:nvPr/>
          </p:nvCxnSpPr>
          <p:spPr>
            <a:xfrm>
              <a:off x="3524435" y="2823099"/>
              <a:ext cx="2130441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群組 18"/>
          <p:cNvGrpSpPr/>
          <p:nvPr/>
        </p:nvGrpSpPr>
        <p:grpSpPr>
          <a:xfrm>
            <a:off x="6392123" y="5247474"/>
            <a:ext cx="2130441" cy="1200329"/>
            <a:chOff x="3524435" y="1944210"/>
            <a:chExt cx="2130441" cy="1200329"/>
          </a:xfrm>
        </p:grpSpPr>
        <p:sp>
          <p:nvSpPr>
            <p:cNvPr id="20" name="文字方塊 19"/>
            <p:cNvSpPr txBox="1"/>
            <p:nvPr/>
          </p:nvSpPr>
          <p:spPr>
            <a:xfrm>
              <a:off x="3524435" y="1944210"/>
              <a:ext cx="213044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latin typeface="Consolas" pitchFamily="49" charset="0"/>
                  <a:cs typeface="Consolas" pitchFamily="49" charset="0"/>
                </a:rPr>
                <a:t>XOR</a:t>
              </a:r>
            </a:p>
            <a:p>
              <a:r>
                <a:rPr lang="en-US" altLang="zh-TW" dirty="0" smtClean="0">
                  <a:latin typeface="Consolas" pitchFamily="49" charset="0"/>
                  <a:cs typeface="Consolas" pitchFamily="49" charset="0"/>
                </a:rPr>
                <a:t>  </a:t>
              </a:r>
              <a:r>
                <a:rPr lang="en-US" altLang="zh-TW" dirty="0">
                  <a:latin typeface="Consolas" pitchFamily="49" charset="0"/>
                  <a:cs typeface="Consolas" pitchFamily="49" charset="0"/>
                </a:rPr>
                <a:t>a = 01010101</a:t>
              </a:r>
            </a:p>
            <a:p>
              <a:r>
                <a:rPr lang="en-US" altLang="zh-TW" dirty="0">
                  <a:latin typeface="Consolas" pitchFamily="49" charset="0"/>
                  <a:cs typeface="Consolas" pitchFamily="49" charset="0"/>
                </a:rPr>
                <a:t>  b = 10101111</a:t>
              </a:r>
            </a:p>
            <a:p>
              <a:r>
                <a:rPr lang="en-US" altLang="zh-TW" dirty="0" smtClean="0">
                  <a:latin typeface="Consolas" pitchFamily="49" charset="0"/>
                  <a:cs typeface="Consolas" pitchFamily="49" charset="0"/>
                </a:rPr>
                <a:t>      11111010</a:t>
              </a:r>
              <a:endParaRPr lang="en-US" altLang="zh-TW" dirty="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21" name="直線接點 20"/>
            <p:cNvCxnSpPr/>
            <p:nvPr/>
          </p:nvCxnSpPr>
          <p:spPr>
            <a:xfrm>
              <a:off x="3524435" y="2823099"/>
              <a:ext cx="2130441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23668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NOT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NOT: ~</a:t>
            </a:r>
            <a:endParaRPr lang="zh-TW" altLang="en-US" dirty="0"/>
          </a:p>
        </p:txBody>
      </p:sp>
      <p:grpSp>
        <p:nvGrpSpPr>
          <p:cNvPr id="9" name="群組 8"/>
          <p:cNvGrpSpPr/>
          <p:nvPr/>
        </p:nvGrpSpPr>
        <p:grpSpPr>
          <a:xfrm>
            <a:off x="914723" y="4106181"/>
            <a:ext cx="6560273" cy="646331"/>
            <a:chOff x="3524435" y="1944210"/>
            <a:chExt cx="2148197" cy="646331"/>
          </a:xfrm>
        </p:grpSpPr>
        <p:sp>
          <p:nvSpPr>
            <p:cNvPr id="10" name="文字方塊 9"/>
            <p:cNvSpPr txBox="1"/>
            <p:nvPr/>
          </p:nvSpPr>
          <p:spPr>
            <a:xfrm>
              <a:off x="3524435" y="1944210"/>
              <a:ext cx="2130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latin typeface="Consolas" pitchFamily="49" charset="0"/>
                  <a:cs typeface="Consolas" pitchFamily="49" charset="0"/>
                </a:rPr>
                <a:t>    a = </a:t>
              </a:r>
              <a:r>
                <a:rPr lang="en-US" altLang="zh-TW" dirty="0">
                  <a:latin typeface="Consolas" pitchFamily="49" charset="0"/>
                  <a:cs typeface="Consolas" pitchFamily="49" charset="0"/>
                </a:rPr>
                <a:t>0000 0000 0000 0000 0000 </a:t>
              </a:r>
              <a:r>
                <a:rPr lang="en-US" altLang="zh-TW" dirty="0" smtClean="0">
                  <a:latin typeface="Consolas" pitchFamily="49" charset="0"/>
                  <a:cs typeface="Consolas" pitchFamily="49" charset="0"/>
                </a:rPr>
                <a:t>0000 0101 0101</a:t>
              </a:r>
            </a:p>
            <a:p>
              <a:r>
                <a:rPr lang="en-US" altLang="zh-TW" b="1" dirty="0" smtClean="0">
                  <a:latin typeface="Consolas" pitchFamily="49" charset="0"/>
                  <a:cs typeface="Consolas" pitchFamily="49" charset="0"/>
                </a:rPr>
                <a:t>   !a</a:t>
              </a:r>
              <a:r>
                <a:rPr lang="en-US" altLang="zh-TW" dirty="0" smtClean="0">
                  <a:latin typeface="Consolas" pitchFamily="49" charset="0"/>
                  <a:cs typeface="Consolas" pitchFamily="49" charset="0"/>
                </a:rPr>
                <a:t> = 1111 1111 1111 1111 </a:t>
              </a:r>
              <a:r>
                <a:rPr lang="en-US" altLang="zh-TW" dirty="0">
                  <a:latin typeface="Consolas" pitchFamily="49" charset="0"/>
                  <a:cs typeface="Consolas" pitchFamily="49" charset="0"/>
                </a:rPr>
                <a:t>1111 </a:t>
              </a:r>
              <a:r>
                <a:rPr lang="en-US" altLang="zh-TW" dirty="0" smtClean="0">
                  <a:latin typeface="Consolas" pitchFamily="49" charset="0"/>
                  <a:cs typeface="Consolas" pitchFamily="49" charset="0"/>
                </a:rPr>
                <a:t>1111 1010 1010</a:t>
              </a:r>
              <a:endParaRPr lang="en-US" altLang="zh-TW" dirty="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11" name="直線接點 10"/>
            <p:cNvCxnSpPr/>
            <p:nvPr/>
          </p:nvCxnSpPr>
          <p:spPr>
            <a:xfrm>
              <a:off x="3542191" y="2267375"/>
              <a:ext cx="2130441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文字方塊 11"/>
          <p:cNvSpPr txBox="1"/>
          <p:nvPr/>
        </p:nvSpPr>
        <p:spPr>
          <a:xfrm>
            <a:off x="914722" y="5206413"/>
            <a:ext cx="239706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Consolas" pitchFamily="49" charset="0"/>
                <a:cs typeface="Consolas" pitchFamily="49" charset="0"/>
              </a:rPr>
              <a:t>執行</a:t>
            </a:r>
            <a:r>
              <a:rPr lang="zh-TW" altLang="en-US" b="1" dirty="0" smtClean="0">
                <a:latin typeface="Consolas" pitchFamily="49" charset="0"/>
                <a:cs typeface="Consolas" pitchFamily="49" charset="0"/>
              </a:rPr>
              <a:t>結果</a:t>
            </a:r>
            <a:endParaRPr lang="en-US" altLang="zh-TW" b="1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zh-TW" dirty="0">
                <a:latin typeface="Consolas" pitchFamily="49" charset="0"/>
                <a:cs typeface="Consolas" pitchFamily="49" charset="0"/>
              </a:rPr>
              <a:t>~a = 0xFFFFFFAA</a:t>
            </a:r>
            <a:endParaRPr lang="en-US" altLang="zh-TW" dirty="0" smtClean="0"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725" y="2419489"/>
            <a:ext cx="2867025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8885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Bit shifts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左移運算子</a:t>
            </a:r>
            <a:r>
              <a:rPr lang="en-US" altLang="zh-TW" dirty="0" smtClean="0"/>
              <a:t>(&lt;&lt;):</a:t>
            </a:r>
            <a:r>
              <a:rPr lang="zh-TW" altLang="en-US" dirty="0" smtClean="0"/>
              <a:t> 向左移</a:t>
            </a:r>
            <a:r>
              <a:rPr lang="en-US" altLang="zh-TW" dirty="0" smtClean="0"/>
              <a:t>n</a:t>
            </a:r>
            <a:r>
              <a:rPr lang="zh-TW" altLang="en-US" dirty="0" smtClean="0"/>
              <a:t>個位元</a:t>
            </a:r>
            <a:endParaRPr lang="en-US" altLang="zh-TW" dirty="0" smtClean="0"/>
          </a:p>
          <a:p>
            <a:r>
              <a:rPr lang="zh-TW" altLang="en-US" dirty="0"/>
              <a:t>右</a:t>
            </a:r>
            <a:r>
              <a:rPr lang="zh-TW" altLang="en-US" dirty="0" smtClean="0"/>
              <a:t>移</a:t>
            </a:r>
            <a:r>
              <a:rPr lang="zh-TW" altLang="en-US" dirty="0"/>
              <a:t>運算子</a:t>
            </a:r>
            <a:r>
              <a:rPr lang="en-US" altLang="zh-TW" dirty="0" smtClean="0"/>
              <a:t>(&gt;&gt;):</a:t>
            </a:r>
            <a:r>
              <a:rPr lang="zh-TW" altLang="en-US" dirty="0" smtClean="0"/>
              <a:t> 向右移</a:t>
            </a:r>
            <a:r>
              <a:rPr lang="en-US" altLang="zh-TW" dirty="0" smtClean="0"/>
              <a:t>n</a:t>
            </a:r>
            <a:r>
              <a:rPr lang="zh-TW" altLang="en-US" dirty="0"/>
              <a:t>個位元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837" y="3125124"/>
            <a:ext cx="3743325" cy="191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1082979" y="5281608"/>
            <a:ext cx="1970842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Consolas" pitchFamily="49" charset="0"/>
                <a:cs typeface="Consolas" pitchFamily="49" charset="0"/>
              </a:rPr>
              <a:t>執行</a:t>
            </a:r>
            <a:r>
              <a:rPr lang="zh-TW" altLang="en-US" b="1" dirty="0" smtClean="0">
                <a:latin typeface="Consolas" pitchFamily="49" charset="0"/>
                <a:cs typeface="Consolas" pitchFamily="49" charset="0"/>
              </a:rPr>
              <a:t>結果</a:t>
            </a:r>
            <a:endParaRPr lang="en-US" altLang="zh-TW" b="1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zh-TW" dirty="0" smtClean="0">
                <a:latin typeface="Consolas" pitchFamily="49" charset="0"/>
                <a:cs typeface="Consolas" pitchFamily="49" charset="0"/>
              </a:rPr>
              <a:t>a &lt;&lt; 1 = 0xAA</a:t>
            </a:r>
          </a:p>
          <a:p>
            <a:r>
              <a:rPr lang="en-US" altLang="zh-TW" dirty="0" smtClean="0">
                <a:latin typeface="Consolas" pitchFamily="49" charset="0"/>
                <a:cs typeface="Consolas" pitchFamily="49" charset="0"/>
              </a:rPr>
              <a:t>a &gt;&gt; 4 = 0x5</a:t>
            </a:r>
          </a:p>
        </p:txBody>
      </p:sp>
      <p:grpSp>
        <p:nvGrpSpPr>
          <p:cNvPr id="9" name="群組 8"/>
          <p:cNvGrpSpPr/>
          <p:nvPr/>
        </p:nvGrpSpPr>
        <p:grpSpPr>
          <a:xfrm>
            <a:off x="5877017" y="4393318"/>
            <a:ext cx="2503504" cy="646331"/>
            <a:chOff x="3524435" y="1944210"/>
            <a:chExt cx="2148196" cy="646331"/>
          </a:xfrm>
        </p:grpSpPr>
        <p:sp>
          <p:nvSpPr>
            <p:cNvPr id="10" name="文字方塊 9"/>
            <p:cNvSpPr txBox="1"/>
            <p:nvPr/>
          </p:nvSpPr>
          <p:spPr>
            <a:xfrm>
              <a:off x="3524435" y="1944210"/>
              <a:ext cx="2130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latin typeface="Consolas" pitchFamily="49" charset="0"/>
                  <a:cs typeface="Consolas" pitchFamily="49" charset="0"/>
                </a:rPr>
                <a:t>    a = 01010101</a:t>
              </a:r>
            </a:p>
            <a:p>
              <a:r>
                <a:rPr lang="en-US" altLang="zh-TW" b="1" dirty="0" smtClean="0">
                  <a:latin typeface="Consolas" pitchFamily="49" charset="0"/>
                  <a:cs typeface="Consolas" pitchFamily="49" charset="0"/>
                </a:rPr>
                <a:t>&gt;&gt; 4</a:t>
              </a:r>
              <a:r>
                <a:rPr lang="en-US" altLang="zh-TW" dirty="0" smtClean="0">
                  <a:latin typeface="Consolas" pitchFamily="49" charset="0"/>
                  <a:cs typeface="Consolas" pitchFamily="49" charset="0"/>
                </a:rPr>
                <a:t>    00000101</a:t>
              </a:r>
              <a:endParaRPr lang="en-US" altLang="zh-TW" dirty="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11" name="直線接點 10"/>
            <p:cNvCxnSpPr/>
            <p:nvPr/>
          </p:nvCxnSpPr>
          <p:spPr>
            <a:xfrm>
              <a:off x="3542190" y="2267375"/>
              <a:ext cx="2130441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群組 11"/>
          <p:cNvGrpSpPr/>
          <p:nvPr/>
        </p:nvGrpSpPr>
        <p:grpSpPr>
          <a:xfrm>
            <a:off x="5897709" y="3226728"/>
            <a:ext cx="2503505" cy="646331"/>
            <a:chOff x="3524435" y="1944210"/>
            <a:chExt cx="2148197" cy="646331"/>
          </a:xfrm>
        </p:grpSpPr>
        <p:sp>
          <p:nvSpPr>
            <p:cNvPr id="13" name="文字方塊 12"/>
            <p:cNvSpPr txBox="1"/>
            <p:nvPr/>
          </p:nvSpPr>
          <p:spPr>
            <a:xfrm>
              <a:off x="3524435" y="1944210"/>
              <a:ext cx="2130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latin typeface="Consolas" pitchFamily="49" charset="0"/>
                  <a:cs typeface="Consolas" pitchFamily="49" charset="0"/>
                </a:rPr>
                <a:t>    a = 01010101</a:t>
              </a:r>
            </a:p>
            <a:p>
              <a:r>
                <a:rPr lang="en-US" altLang="zh-TW" b="1" dirty="0" smtClean="0">
                  <a:latin typeface="Consolas" pitchFamily="49" charset="0"/>
                  <a:cs typeface="Consolas" pitchFamily="49" charset="0"/>
                </a:rPr>
                <a:t>&lt;&lt; 1</a:t>
              </a:r>
              <a:r>
                <a:rPr lang="en-US" altLang="zh-TW" dirty="0" smtClean="0">
                  <a:latin typeface="Consolas" pitchFamily="49" charset="0"/>
                  <a:cs typeface="Consolas" pitchFamily="49" charset="0"/>
                </a:rPr>
                <a:t>    10101010</a:t>
              </a:r>
              <a:endParaRPr lang="en-US" altLang="zh-TW" dirty="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14" name="直線接點 13"/>
            <p:cNvCxnSpPr/>
            <p:nvPr/>
          </p:nvCxnSpPr>
          <p:spPr>
            <a:xfrm>
              <a:off x="3542191" y="2267375"/>
              <a:ext cx="2130441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92501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邏輯運算子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做執行流程控制時，條件判斷使用</a:t>
            </a:r>
            <a:endParaRPr lang="en-US" altLang="zh-TW" dirty="0" smtClean="0"/>
          </a:p>
          <a:p>
            <a:r>
              <a:rPr lang="zh-TW" altLang="en-US" dirty="0" smtClean="0"/>
              <a:t>僅有</a:t>
            </a:r>
            <a:r>
              <a:rPr lang="en-US" altLang="zh-TW" dirty="0" smtClean="0"/>
              <a:t>True, False</a:t>
            </a:r>
            <a:r>
              <a:rPr lang="zh-TW" altLang="en-US" dirty="0" smtClean="0"/>
              <a:t>兩種結果，分別以</a:t>
            </a:r>
            <a:r>
              <a:rPr lang="en-US" altLang="zh-TW" dirty="0" smtClean="0"/>
              <a:t>1</a:t>
            </a:r>
            <a:r>
              <a:rPr lang="zh-TW" altLang="en-US" dirty="0" smtClean="0"/>
              <a:t>與</a:t>
            </a:r>
            <a:r>
              <a:rPr lang="en-US" altLang="zh-TW" dirty="0" smtClean="0"/>
              <a:t>0</a:t>
            </a:r>
            <a:r>
              <a:rPr lang="zh-TW" altLang="en-US" dirty="0" smtClean="0"/>
              <a:t>表示</a:t>
            </a:r>
            <a:endParaRPr lang="en-US" altLang="zh-TW" dirty="0" smtClean="0"/>
          </a:p>
          <a:p>
            <a:r>
              <a:rPr lang="zh-TW" altLang="en-US" dirty="0" smtClean="0"/>
              <a:t>在</a:t>
            </a:r>
            <a:r>
              <a:rPr lang="en-US" altLang="zh-TW" dirty="0" smtClean="0"/>
              <a:t>C</a:t>
            </a:r>
            <a:r>
              <a:rPr lang="zh-TW" altLang="en-US" dirty="0" smtClean="0"/>
              <a:t>語言中</a:t>
            </a:r>
            <a:r>
              <a:rPr lang="en-US" altLang="zh-TW" dirty="0" smtClean="0"/>
              <a:t>0</a:t>
            </a:r>
            <a:r>
              <a:rPr lang="zh-TW" altLang="en-US" dirty="0" smtClean="0"/>
              <a:t>為</a:t>
            </a:r>
            <a:r>
              <a:rPr lang="en-US" altLang="zh-TW" dirty="0" smtClean="0"/>
              <a:t>False, </a:t>
            </a:r>
            <a:r>
              <a:rPr lang="zh-TW" altLang="en-US" dirty="0" smtClean="0"/>
              <a:t>非</a:t>
            </a:r>
            <a:r>
              <a:rPr lang="en-US" altLang="zh-TW" dirty="0" smtClean="0"/>
              <a:t>0</a:t>
            </a:r>
            <a:r>
              <a:rPr lang="zh-TW" altLang="en-US" dirty="0" smtClean="0"/>
              <a:t>為</a:t>
            </a:r>
            <a:r>
              <a:rPr lang="en-US" altLang="zh-TW" dirty="0" smtClean="0"/>
              <a:t>True</a:t>
            </a:r>
          </a:p>
          <a:p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710811"/>
              </p:ext>
            </p:extLst>
          </p:nvPr>
        </p:nvGraphicFramePr>
        <p:xfrm>
          <a:off x="1568389" y="3705194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運算子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功能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用法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onsolas" pitchFamily="49" charset="0"/>
                          <a:cs typeface="Consolas" pitchFamily="49" charset="0"/>
                        </a:rPr>
                        <a:t>&amp;&amp;</a:t>
                      </a:r>
                      <a:endParaRPr lang="zh-TW" alt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onsolas" pitchFamily="49" charset="0"/>
                          <a:cs typeface="Consolas" pitchFamily="49" charset="0"/>
                        </a:rPr>
                        <a:t>AND</a:t>
                      </a:r>
                      <a:endParaRPr lang="zh-TW" alt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onsolas" pitchFamily="49" charset="0"/>
                          <a:cs typeface="Consolas" pitchFamily="49" charset="0"/>
                        </a:rPr>
                        <a:t>a &gt; b &amp;&amp; a</a:t>
                      </a:r>
                      <a:r>
                        <a:rPr lang="zh-TW" altLang="en-US" dirty="0" smtClean="0">
                          <a:latin typeface="Consolas" pitchFamily="49" charset="0"/>
                          <a:cs typeface="Consolas" pitchFamily="49" charset="0"/>
                        </a:rPr>
                        <a:t> </a:t>
                      </a:r>
                      <a:r>
                        <a:rPr lang="en-US" altLang="zh-TW" dirty="0" smtClean="0">
                          <a:latin typeface="Consolas" pitchFamily="49" charset="0"/>
                          <a:cs typeface="Consolas" pitchFamily="49" charset="0"/>
                        </a:rPr>
                        <a:t>&lt;</a:t>
                      </a:r>
                      <a:r>
                        <a:rPr lang="zh-TW" altLang="en-US" dirty="0" smtClean="0">
                          <a:latin typeface="Consolas" pitchFamily="49" charset="0"/>
                          <a:cs typeface="Consolas" pitchFamily="49" charset="0"/>
                        </a:rPr>
                        <a:t> </a:t>
                      </a:r>
                      <a:r>
                        <a:rPr lang="en-US" altLang="zh-TW" dirty="0" smtClean="0">
                          <a:latin typeface="Consolas" pitchFamily="49" charset="0"/>
                          <a:cs typeface="Consolas" pitchFamily="49" charset="0"/>
                        </a:rPr>
                        <a:t>c</a:t>
                      </a:r>
                      <a:endParaRPr lang="zh-TW" alt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onsolas" pitchFamily="49" charset="0"/>
                          <a:cs typeface="Consolas" pitchFamily="49" charset="0"/>
                        </a:rPr>
                        <a:t>||</a:t>
                      </a:r>
                      <a:endParaRPr lang="zh-TW" alt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onsolas" pitchFamily="49" charset="0"/>
                          <a:cs typeface="Consolas" pitchFamily="49" charset="0"/>
                        </a:rPr>
                        <a:t>OR</a:t>
                      </a:r>
                      <a:endParaRPr lang="zh-TW" alt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onsolas" pitchFamily="49" charset="0"/>
                          <a:cs typeface="Consolas" pitchFamily="49" charset="0"/>
                        </a:rPr>
                        <a:t>a </a:t>
                      </a:r>
                      <a:r>
                        <a:rPr lang="en-US" altLang="zh-TW" baseline="0" dirty="0" smtClean="0">
                          <a:latin typeface="Consolas" pitchFamily="49" charset="0"/>
                          <a:cs typeface="Consolas" pitchFamily="49" charset="0"/>
                        </a:rPr>
                        <a:t>&gt; b || a &lt; c</a:t>
                      </a:r>
                      <a:endParaRPr lang="zh-TW" alt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onsolas" pitchFamily="49" charset="0"/>
                          <a:cs typeface="Consolas" pitchFamily="49" charset="0"/>
                        </a:rPr>
                        <a:t>!</a:t>
                      </a:r>
                      <a:endParaRPr lang="zh-TW" alt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onsolas" pitchFamily="49" charset="0"/>
                          <a:cs typeface="Consolas" pitchFamily="49" charset="0"/>
                        </a:rPr>
                        <a:t>NOT</a:t>
                      </a:r>
                      <a:endParaRPr lang="zh-TW" alt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onsolas" pitchFamily="49" charset="0"/>
                          <a:cs typeface="Consolas" pitchFamily="49" charset="0"/>
                        </a:rPr>
                        <a:t>!(a&gt;b)</a:t>
                      </a:r>
                      <a:endParaRPr lang="zh-TW" alt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652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邏輯運算子範例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= 1</a:t>
            </a:r>
          </a:p>
          <a:p>
            <a:r>
              <a:rPr lang="en-US" altLang="zh-TW" dirty="0" smtClean="0"/>
              <a:t>b = 2</a:t>
            </a:r>
          </a:p>
          <a:p>
            <a:r>
              <a:rPr lang="en-US" altLang="zh-TW" dirty="0" smtClean="0"/>
              <a:t>c = 3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6072326" y="4062833"/>
            <a:ext cx="236146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b="1" dirty="0" smtClean="0">
                <a:latin typeface="Consolas" pitchFamily="49" charset="0"/>
                <a:cs typeface="Consolas" pitchFamily="49" charset="0"/>
              </a:rPr>
              <a:t>執行結果</a:t>
            </a:r>
            <a:endParaRPr lang="pt-BR" altLang="zh-TW" b="1" dirty="0" smtClean="0">
              <a:latin typeface="Consolas" pitchFamily="49" charset="0"/>
              <a:cs typeface="Consolas" pitchFamily="49" charset="0"/>
            </a:endParaRPr>
          </a:p>
          <a:p>
            <a:r>
              <a:rPr lang="pt-BR" altLang="zh-TW" dirty="0" smtClean="0"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TW" dirty="0" smtClean="0">
                <a:latin typeface="Consolas" pitchFamily="49" charset="0"/>
                <a:cs typeface="Consolas" pitchFamily="49" charset="0"/>
              </a:rPr>
              <a:t>&gt;</a:t>
            </a:r>
            <a:r>
              <a:rPr lang="pt-BR" altLang="zh-TW" dirty="0" smtClean="0">
                <a:latin typeface="Consolas" pitchFamily="49" charset="0"/>
                <a:cs typeface="Consolas" pitchFamily="49" charset="0"/>
              </a:rPr>
              <a:t>b </a:t>
            </a:r>
            <a:r>
              <a:rPr lang="pt-BR" altLang="zh-TW" dirty="0">
                <a:latin typeface="Consolas" pitchFamily="49" charset="0"/>
                <a:cs typeface="Consolas" pitchFamily="49" charset="0"/>
              </a:rPr>
              <a:t>&amp;&amp; b&lt;c: 0</a:t>
            </a:r>
          </a:p>
          <a:p>
            <a:r>
              <a:rPr lang="pt-BR" altLang="zh-TW" dirty="0">
                <a:latin typeface="Consolas" pitchFamily="49" charset="0"/>
                <a:cs typeface="Consolas" pitchFamily="49" charset="0"/>
              </a:rPr>
              <a:t>a&gt;b || </a:t>
            </a:r>
            <a:r>
              <a:rPr lang="pt-BR" altLang="zh-TW" dirty="0" smtClean="0">
                <a:latin typeface="Consolas" pitchFamily="49" charset="0"/>
                <a:cs typeface="Consolas" pitchFamily="49" charset="0"/>
              </a:rPr>
              <a:t>b&lt;c: </a:t>
            </a:r>
            <a:r>
              <a:rPr lang="pt-BR" altLang="zh-TW" dirty="0">
                <a:latin typeface="Consolas" pitchFamily="49" charset="0"/>
                <a:cs typeface="Consolas" pitchFamily="49" charset="0"/>
              </a:rPr>
              <a:t>1</a:t>
            </a:r>
          </a:p>
          <a:p>
            <a:r>
              <a:rPr lang="pt-BR" altLang="zh-TW" dirty="0">
                <a:latin typeface="Consolas" pitchFamily="49" charset="0"/>
                <a:cs typeface="Consolas" pitchFamily="49" charset="0"/>
              </a:rPr>
              <a:t>!(a&gt;b): 1</a:t>
            </a:r>
            <a:endParaRPr lang="zh-TW" altLang="en-US" dirty="0"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951" y="3574327"/>
            <a:ext cx="4371975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0627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條件運算子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條件運算子</a:t>
            </a:r>
            <a:r>
              <a:rPr lang="en-US" altLang="zh-TW" dirty="0" smtClean="0"/>
              <a:t>(?:)</a:t>
            </a:r>
          </a:p>
          <a:p>
            <a:r>
              <a:rPr lang="zh-TW" altLang="en-US" dirty="0" smtClean="0"/>
              <a:t>可藉由判斷式的真假值，來回傳指定的值</a:t>
            </a:r>
            <a:endParaRPr lang="en-US" altLang="zh-TW" dirty="0" smtClean="0"/>
          </a:p>
          <a:p>
            <a:r>
              <a:rPr lang="en-US" altLang="zh-TW" dirty="0" smtClean="0"/>
              <a:t>C</a:t>
            </a:r>
            <a:r>
              <a:rPr lang="zh-TW" altLang="en-US" dirty="0" smtClean="0"/>
              <a:t>語言中唯一的三元運算子</a:t>
            </a:r>
            <a:endParaRPr lang="en-US" altLang="zh-TW" dirty="0" smtClean="0"/>
          </a:p>
          <a:p>
            <a:r>
              <a:rPr lang="zh-TW" altLang="en-US" dirty="0" smtClean="0"/>
              <a:t>語法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zh-TW" altLang="en-US" dirty="0" smtClean="0">
                <a:solidFill>
                  <a:srgbClr val="FF0000"/>
                </a:solidFill>
              </a:rPr>
              <a:t>判斷式 </a:t>
            </a:r>
            <a:r>
              <a:rPr lang="en-US" altLang="zh-TW" dirty="0" smtClean="0">
                <a:solidFill>
                  <a:srgbClr val="FF0000"/>
                </a:solidFill>
              </a:rPr>
              <a:t>?</a:t>
            </a:r>
            <a:r>
              <a:rPr lang="zh-TW" altLang="en-US" dirty="0" smtClean="0">
                <a:solidFill>
                  <a:srgbClr val="FF0000"/>
                </a:solidFill>
              </a:rPr>
              <a:t> 結果為真的值 </a:t>
            </a:r>
            <a:r>
              <a:rPr lang="en-US" altLang="zh-TW" dirty="0" smtClean="0">
                <a:solidFill>
                  <a:srgbClr val="FF0000"/>
                </a:solidFill>
              </a:rPr>
              <a:t>:</a:t>
            </a:r>
            <a:r>
              <a:rPr lang="zh-TW" altLang="en-US" dirty="0" smtClean="0">
                <a:solidFill>
                  <a:srgbClr val="FF0000"/>
                </a:solidFill>
              </a:rPr>
              <a:t> 結果為假的值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92" y="4208293"/>
            <a:ext cx="2524125" cy="188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093" y="3905250"/>
            <a:ext cx="2524125" cy="295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3482808" y="4852996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/>
              <a:t>=</a:t>
            </a:r>
            <a:endParaRPr lang="zh-TW" altLang="en-US" sz="3600" b="1" dirty="0"/>
          </a:p>
        </p:txBody>
      </p:sp>
      <p:sp>
        <p:nvSpPr>
          <p:cNvPr id="7" name="文字方塊 6"/>
          <p:cNvSpPr txBox="1"/>
          <p:nvPr/>
        </p:nvSpPr>
        <p:spPr>
          <a:xfrm>
            <a:off x="6766218" y="5058459"/>
            <a:ext cx="1358284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b="1" dirty="0" smtClean="0">
                <a:latin typeface="Consolas" pitchFamily="49" charset="0"/>
                <a:cs typeface="Consolas" pitchFamily="49" charset="0"/>
              </a:rPr>
              <a:t>執行結果</a:t>
            </a:r>
            <a:endParaRPr lang="pt-BR" altLang="zh-TW" b="1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altLang="zh-TW" dirty="0" smtClean="0">
                <a:latin typeface="Consolas" pitchFamily="49" charset="0"/>
                <a:cs typeface="Consolas" pitchFamily="49" charset="0"/>
              </a:rPr>
              <a:t>n = -1</a:t>
            </a:r>
            <a:endParaRPr lang="zh-TW" altLang="en-US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673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I2P">
      <a:majorFont>
        <a:latin typeface="Arial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1945</TotalTime>
  <Words>287</Words>
  <Application>Microsoft Office PowerPoint</Application>
  <PresentationFormat>如螢幕大小 (4:3)</PresentationFormat>
  <Paragraphs>70</Paragraphs>
  <Slides>7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8" baseType="lpstr">
      <vt:lpstr>Office Theme</vt:lpstr>
      <vt:lpstr>Bitwise Operations  and Operator Precedence</vt:lpstr>
      <vt:lpstr>AND, OR, XOR</vt:lpstr>
      <vt:lpstr>NOT</vt:lpstr>
      <vt:lpstr>Bit shifts</vt:lpstr>
      <vt:lpstr>邏輯運算子</vt:lpstr>
      <vt:lpstr>邏輯運算子範例</vt:lpstr>
      <vt:lpstr>條件運算子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Pointer and Arrays</dc:title>
  <dc:creator>shuming</dc:creator>
  <cp:lastModifiedBy>Yeh-Ching Chung</cp:lastModifiedBy>
  <cp:revision>70</cp:revision>
  <dcterms:created xsi:type="dcterms:W3CDTF">2012-10-03T03:06:35Z</dcterms:created>
  <dcterms:modified xsi:type="dcterms:W3CDTF">2012-12-24T02:51:09Z</dcterms:modified>
</cp:coreProperties>
</file>