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</p:sldMasterIdLst>
  <p:notesMasterIdLst>
    <p:notesMasterId r:id="rId47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01" r:id="rId42"/>
    <p:sldId id="297" r:id="rId43"/>
    <p:sldId id="298" r:id="rId44"/>
    <p:sldId id="299" r:id="rId45"/>
    <p:sldId id="275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5082A-98BB-4D46-89AA-D206F661C91B}" type="datetimeFigureOut">
              <a:rPr lang="zh-TW" altLang="en-US" smtClean="0"/>
              <a:t>2013/9/11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2DE55-9F64-42A4-B09D-6FD2917144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60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1BE944-3760-4FD8-86FB-8F474D7FF517}" type="slidenum">
              <a:rPr lang="zh-TW" altLang="en-US" smtClean="0">
                <a:solidFill>
                  <a:prstClr val="black"/>
                </a:solidFill>
              </a:rPr>
              <a:pPr/>
              <a:t>26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9D48A-3145-4AB8-8C19-34D7F37AEBD4}" type="slidenum">
              <a:rPr lang="zh-TW" altLang="en-US" smtClean="0">
                <a:solidFill>
                  <a:prstClr val="black"/>
                </a:solidFill>
              </a:rPr>
              <a:pPr/>
              <a:t>38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03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07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7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80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61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87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08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70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48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59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08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931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530"/>
            <a:ext cx="77724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075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280035"/>
            <a:ext cx="7772401" cy="1325562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743075"/>
            <a:ext cx="7772401" cy="4437063"/>
          </a:xfrm>
        </p:spPr>
        <p:txBody>
          <a:bodyPr/>
          <a:lstStyle/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4228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12423"/>
            <a:ext cx="77724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55263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402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828801"/>
            <a:ext cx="3834246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29050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608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681851"/>
            <a:ext cx="3815196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799" y="2507551"/>
            <a:ext cx="3815196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851"/>
            <a:ext cx="3829050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7551"/>
            <a:ext cx="3829050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630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32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180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953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93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1828802"/>
            <a:ext cx="7772401" cy="43513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3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14525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360364"/>
            <a:ext cx="5743576" cy="58118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373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834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674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0766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643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880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7150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61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9306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838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63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69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B8658-86A7-40C6-B279-E2D80CE64A9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975CF-97DD-4AAD-89ED-729DB66298F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2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799" y="365760"/>
            <a:ext cx="77724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28801"/>
            <a:ext cx="77724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79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E1ABFF-99A6-4A4A-B19C-436493B8D700}" type="datetimeFigureOut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1547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008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4463-FF01-4A9E-98C7-7BE7D10BF17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29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792C3-192B-4A59-B747-2BBF7AEDF03B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2013/9/11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BE77-A1AA-4C63-927B-4AECDA376E7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56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6000" dirty="0">
                <a:latin typeface="Arial"/>
                <a:cs typeface="Arial"/>
              </a:rPr>
              <a:t> </a:t>
            </a:r>
            <a:r>
              <a:rPr lang="en-US" altLang="zh-TW" sz="6000" dirty="0" smtClean="0">
                <a:latin typeface="Arial"/>
                <a:cs typeface="Arial"/>
              </a:rPr>
              <a:t>Structure and </a:t>
            </a:r>
            <a:r>
              <a:rPr lang="en-US" altLang="zh-TW" sz="6000" smtClean="0">
                <a:latin typeface="Arial"/>
                <a:cs typeface="Arial"/>
              </a:rPr>
              <a:t>Bit Operation</a:t>
            </a:r>
            <a:endParaRPr lang="zh-TW" altLang="en-US" sz="6000" dirty="0">
              <a:latin typeface="Arial"/>
              <a:cs typeface="Arial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91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 Structures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Structures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是多個相關的變數的集合，用一個共同的名稱來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統稱。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譬如要描述平面上的點座標，可以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b="1" dirty="0" err="1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TW" b="1" dirty="0">
                <a:latin typeface="Consolas" pitchFamily="49" charset="0"/>
                <a:cs typeface="Consolas" pitchFamily="49" charset="0"/>
              </a:rPr>
              <a:t> x, y</a:t>
            </a:r>
            <a:r>
              <a:rPr lang="en-US" altLang="zh-TW" b="1" dirty="0" smtClean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若使用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structures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則可以自定一個叫做</a:t>
            </a:r>
            <a:r>
              <a:rPr lang="en-US" altLang="zh-TW" dirty="0" err="1">
                <a:latin typeface="微軟正黑體" pitchFamily="34" charset="-120"/>
                <a:ea typeface="微軟正黑體" pitchFamily="34" charset="-120"/>
              </a:rPr>
              <a:t>t_point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的資料型態，寫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成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811" y="4581128"/>
            <a:ext cx="2308451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140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 Structures(Cont.)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91880" y="1628800"/>
            <a:ext cx="5410944" cy="4525963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宣告過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之後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可以用它來定義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變數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所以</a:t>
            </a:r>
            <a:r>
              <a:rPr lang="en-US" altLang="zh-TW" b="1" dirty="0" err="1">
                <a:latin typeface="微軟正黑體" pitchFamily="34" charset="-120"/>
                <a:ea typeface="微軟正黑體" pitchFamily="34" charset="-120"/>
              </a:rPr>
              <a:t>pt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會包含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x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y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兩個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members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，要設定或更改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members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的內容，最直接的方式是使用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member operator “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>”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來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存取。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45" y="1628800"/>
            <a:ext cx="284392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 flipH="1">
            <a:off x="0" y="3501008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-1" y="4149080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>
            <a:off x="-9398" y="4509120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413" y="1705372"/>
            <a:ext cx="8664575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121595"/>
            <a:ext cx="8664575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269" y="2811400"/>
            <a:ext cx="8575675" cy="37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8" y="4136058"/>
            <a:ext cx="8575675" cy="37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74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13587"/>
            <a:ext cx="5385068" cy="3412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 Structures(Cont.)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63888" y="1600200"/>
            <a:ext cx="5122912" cy="4525963"/>
          </a:xfrm>
        </p:spPr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已經宣告過的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可以再拿來宣告另一個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structure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然後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用它來產生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變數以及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存取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members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H="1">
            <a:off x="395536" y="3717032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395536" y="4005064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343954" y="465648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,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925908" y="465648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,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186119" y="465648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686252" y="465433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755191" y="465433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255324" y="4652191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345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使用</a:t>
            </a:r>
            <a:r>
              <a:rPr lang="en-US" altLang="zh-TW" b="1" dirty="0"/>
              <a:t>C Structures </a:t>
            </a:r>
            <a:r>
              <a:rPr lang="zh-TW" altLang="en-US" b="1" dirty="0"/>
              <a:t>來做運算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Structures 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的運算可以自己寫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functions 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來達到我們想要的功能。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下面為自定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function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之範例。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760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637" y="5475801"/>
            <a:ext cx="8879634" cy="1367569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makePoint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與</a:t>
            </a:r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midPoint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為兩自定</a:t>
            </a:r>
            <a:r>
              <a:rPr lang="en-US" altLang="zh-TW" sz="2900" dirty="0" smtClean="0">
                <a:latin typeface="微軟正黑體" pitchFamily="34" charset="-120"/>
                <a:ea typeface="微軟正黑體" pitchFamily="34" charset="-120"/>
              </a:rPr>
              <a:t>function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9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makePoint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設定點的</a:t>
            </a:r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x,y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座標，</a:t>
            </a:r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midPoint</a:t>
            </a:r>
            <a:r>
              <a:rPr lang="zh-TW" altLang="en-US" sz="2900" dirty="0">
                <a:latin typeface="微軟正黑體" pitchFamily="34" charset="-120"/>
                <a:ea typeface="微軟正黑體" pitchFamily="34" charset="-120"/>
              </a:rPr>
              <a:t>為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取兩點之中點。</a:t>
            </a:r>
            <a:endParaRPr lang="en-US" altLang="zh-TW" sz="29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TW" altLang="en-US" sz="2900" dirty="0">
                <a:latin typeface="微軟正黑體" pitchFamily="34" charset="-120"/>
                <a:ea typeface="微軟正黑體" pitchFamily="34" charset="-120"/>
              </a:rPr>
              <a:t>主程式裡呼叫</a:t>
            </a:r>
            <a:r>
              <a:rPr lang="en-US" altLang="zh-TW" sz="2900" b="1" dirty="0" err="1">
                <a:latin typeface="微軟正黑體" pitchFamily="34" charset="-120"/>
                <a:ea typeface="微軟正黑體" pitchFamily="34" charset="-120"/>
              </a:rPr>
              <a:t>makePoint</a:t>
            </a:r>
            <a:r>
              <a:rPr lang="en-US" altLang="zh-TW" sz="2900" b="1" dirty="0">
                <a:latin typeface="微軟正黑體" pitchFamily="34" charset="-120"/>
                <a:ea typeface="微軟正黑體" pitchFamily="34" charset="-120"/>
              </a:rPr>
              <a:t>() </a:t>
            </a:r>
            <a:r>
              <a:rPr lang="zh-TW" altLang="en-US" sz="2900" dirty="0">
                <a:latin typeface="微軟正黑體" pitchFamily="34" charset="-120"/>
                <a:ea typeface="微軟正黑體" pitchFamily="34" charset="-120"/>
              </a:rPr>
              <a:t>來設定</a:t>
            </a:r>
            <a:r>
              <a:rPr lang="en-US" altLang="zh-TW" sz="2900" b="1" dirty="0" err="1">
                <a:latin typeface="微軟正黑體" pitchFamily="34" charset="-120"/>
                <a:ea typeface="微軟正黑體" pitchFamily="34" charset="-120"/>
              </a:rPr>
              <a:t>struct</a:t>
            </a:r>
            <a:r>
              <a:rPr lang="en-US" altLang="zh-TW" sz="29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900" b="1" dirty="0" err="1">
                <a:latin typeface="微軟正黑體" pitchFamily="34" charset="-120"/>
                <a:ea typeface="微軟正黑體" pitchFamily="34" charset="-120"/>
              </a:rPr>
              <a:t>t_point</a:t>
            </a:r>
            <a:r>
              <a:rPr lang="en-US" altLang="zh-TW" sz="29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變數。</a:t>
            </a:r>
            <a:endParaRPr lang="en-US" altLang="zh-TW" sz="29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sz="2900" dirty="0" err="1">
                <a:latin typeface="微軟正黑體" pitchFamily="34" charset="-120"/>
                <a:ea typeface="微軟正黑體" pitchFamily="34" charset="-120"/>
              </a:rPr>
              <a:t>m</a:t>
            </a:r>
            <a:r>
              <a:rPr lang="en-US" altLang="zh-TW" sz="2900" dirty="0" err="1" smtClean="0">
                <a:latin typeface="微軟正黑體" pitchFamily="34" charset="-120"/>
                <a:ea typeface="微軟正黑體" pitchFamily="34" charset="-120"/>
              </a:rPr>
              <a:t>pt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即為</a:t>
            </a:r>
            <a:r>
              <a:rPr lang="en-US" altLang="zh-TW" sz="2900" dirty="0" smtClean="0">
                <a:latin typeface="微軟正黑體" pitchFamily="34" charset="-120"/>
                <a:ea typeface="微軟正黑體" pitchFamily="34" charset="-120"/>
              </a:rPr>
              <a:t>pt1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和</a:t>
            </a:r>
            <a:r>
              <a:rPr lang="en-US" altLang="zh-TW" sz="2900" dirty="0" smtClean="0">
                <a:latin typeface="微軟正黑體" pitchFamily="34" charset="-120"/>
                <a:ea typeface="微軟正黑體" pitchFamily="34" charset="-120"/>
              </a:rPr>
              <a:t>pt2</a:t>
            </a:r>
            <a:r>
              <a:rPr lang="zh-TW" altLang="en-US" sz="2900" dirty="0" smtClean="0">
                <a:latin typeface="微軟正黑體" pitchFamily="34" charset="-120"/>
                <a:ea typeface="微軟正黑體" pitchFamily="34" charset="-120"/>
              </a:rPr>
              <a:t>的中點。</a:t>
            </a:r>
            <a:endParaRPr lang="en-US" altLang="zh-TW" sz="2900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48" y="93849"/>
            <a:ext cx="5727962" cy="5396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482" y="3212976"/>
            <a:ext cx="3760787" cy="2222500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59431"/>
            <a:ext cx="2781300" cy="2603500"/>
          </a:xfrm>
          <a:prstGeom prst="rect">
            <a:avLst/>
          </a:prstGeom>
          <a:noFill/>
          <a:ln w="254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ine 3"/>
          <p:cNvSpPr>
            <a:spLocks noChangeShapeType="1"/>
          </p:cNvSpPr>
          <p:nvPr/>
        </p:nvSpPr>
        <p:spPr bwMode="auto">
          <a:xfrm flipH="1">
            <a:off x="-1" y="836712"/>
            <a:ext cx="40354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Line 3"/>
          <p:cNvSpPr>
            <a:spLocks noChangeShapeType="1"/>
          </p:cNvSpPr>
          <p:nvPr/>
        </p:nvSpPr>
        <p:spPr bwMode="auto">
          <a:xfrm flipH="1">
            <a:off x="0" y="2276872"/>
            <a:ext cx="40354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956829" y="1444235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-1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653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Structures </a:t>
            </a:r>
            <a:r>
              <a:rPr lang="zh-TW" altLang="en-US" b="1" dirty="0"/>
              <a:t>參數的傳遞方式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傳遞</a:t>
            </a:r>
            <a:r>
              <a:rPr lang="en-US" altLang="zh-TW" dirty="0"/>
              <a:t>structure </a:t>
            </a:r>
            <a:r>
              <a:rPr lang="zh-TW" altLang="en-US" dirty="0"/>
              <a:t>變數到</a:t>
            </a:r>
            <a:r>
              <a:rPr lang="en-US" altLang="zh-TW" dirty="0"/>
              <a:t>function</a:t>
            </a:r>
            <a:r>
              <a:rPr lang="zh-TW" altLang="en-US" dirty="0"/>
              <a:t>，會用</a:t>
            </a:r>
            <a:r>
              <a:rPr lang="en-US" altLang="zh-TW" dirty="0"/>
              <a:t>call-by-value </a:t>
            </a:r>
            <a:r>
              <a:rPr lang="zh-TW" altLang="en-US" dirty="0"/>
              <a:t>方式，所以在</a:t>
            </a:r>
            <a:r>
              <a:rPr lang="en-US" altLang="zh-TW" dirty="0"/>
              <a:t>function </a:t>
            </a:r>
            <a:r>
              <a:rPr lang="zh-TW" altLang="en-US" dirty="0"/>
              <a:t>裡改變</a:t>
            </a:r>
            <a:r>
              <a:rPr lang="en-US" altLang="zh-TW" dirty="0"/>
              <a:t>structure</a:t>
            </a:r>
            <a:r>
              <a:rPr lang="zh-TW" altLang="en-US" dirty="0"/>
              <a:t>的</a:t>
            </a:r>
            <a:r>
              <a:rPr lang="en-US" altLang="zh-TW" dirty="0"/>
              <a:t>members </a:t>
            </a:r>
            <a:r>
              <a:rPr lang="zh-TW" altLang="en-US" dirty="0"/>
              <a:t>的值</a:t>
            </a:r>
            <a:r>
              <a:rPr lang="zh-TW" altLang="en-US" dirty="0" smtClean="0"/>
              <a:t>，並不</a:t>
            </a:r>
            <a:r>
              <a:rPr lang="zh-TW" altLang="en-US" dirty="0"/>
              <a:t>會影響外部的</a:t>
            </a:r>
            <a:r>
              <a:rPr lang="en-US" altLang="zh-TW" dirty="0"/>
              <a:t>structure </a:t>
            </a:r>
            <a:r>
              <a:rPr lang="zh-TW" altLang="en-US" dirty="0"/>
              <a:t>變數的內容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r>
              <a:rPr lang="en-US" altLang="zh-TW" dirty="0"/>
              <a:t>Structures </a:t>
            </a:r>
            <a:r>
              <a:rPr lang="zh-TW" altLang="en-US" dirty="0"/>
              <a:t>同樣可以用指標方式來達到</a:t>
            </a:r>
            <a:r>
              <a:rPr lang="en-US" altLang="zh-TW" dirty="0"/>
              <a:t>call-by-reference </a:t>
            </a:r>
            <a:r>
              <a:rPr lang="zh-TW" altLang="en-US" dirty="0"/>
              <a:t>的效果，通常用傳遞指標的方式會比傳遞整個</a:t>
            </a:r>
            <a:r>
              <a:rPr lang="en-US" altLang="zh-TW" dirty="0" smtClean="0"/>
              <a:t>structure</a:t>
            </a:r>
            <a:r>
              <a:rPr lang="zh-TW" altLang="en-US" dirty="0" smtClean="0"/>
              <a:t>來得</a:t>
            </a:r>
            <a:r>
              <a:rPr lang="zh-TW" altLang="en-US" dirty="0"/>
              <a:t>有效率</a:t>
            </a:r>
            <a:r>
              <a:rPr lang="en-US" altLang="zh-TW" dirty="0"/>
              <a:t>(call-by-value </a:t>
            </a:r>
            <a:r>
              <a:rPr lang="zh-TW" altLang="en-US" dirty="0"/>
              <a:t>需要複製整個</a:t>
            </a:r>
            <a:r>
              <a:rPr lang="en-US" altLang="zh-TW" dirty="0"/>
              <a:t>structure </a:t>
            </a:r>
            <a:r>
              <a:rPr lang="zh-TW" altLang="en-US" dirty="0"/>
              <a:t>變數的內容</a:t>
            </a:r>
            <a:r>
              <a:rPr lang="en-US" altLang="zh-TW" dirty="0"/>
              <a:t>) 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75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Structures </a:t>
            </a:r>
            <a:r>
              <a:rPr lang="zh-TW" altLang="en-US" b="1" dirty="0" smtClean="0"/>
              <a:t>參數的傳遞方式</a:t>
            </a:r>
            <a:r>
              <a:rPr lang="en-US" altLang="zh-TW" b="1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3000" dirty="0" smtClean="0"/>
              <a:t>C </a:t>
            </a:r>
            <a:r>
              <a:rPr lang="zh-TW" altLang="en-US" sz="3000" dirty="0"/>
              <a:t>提供</a:t>
            </a:r>
            <a:r>
              <a:rPr lang="en-US" altLang="zh-TW" sz="3000" b="1" dirty="0" err="1"/>
              <a:t>typedef</a:t>
            </a:r>
            <a:r>
              <a:rPr lang="en-US" altLang="zh-TW" sz="3000" b="1" dirty="0"/>
              <a:t> </a:t>
            </a:r>
            <a:r>
              <a:rPr lang="zh-TW" altLang="en-US" sz="3000" dirty="0"/>
              <a:t>來讓我們宣告新的型別名稱，這樣接下來宣告變數</a:t>
            </a:r>
            <a:r>
              <a:rPr lang="zh-TW" altLang="en-US" sz="3000" dirty="0" smtClean="0"/>
              <a:t>會比較</a:t>
            </a:r>
            <a:r>
              <a:rPr lang="zh-TW" altLang="en-US" sz="3000" dirty="0"/>
              <a:t>方便</a:t>
            </a:r>
            <a:r>
              <a:rPr lang="zh-TW" altLang="en-US" sz="3000" dirty="0" smtClean="0"/>
              <a:t>。</a:t>
            </a:r>
            <a:endParaRPr lang="en-US" altLang="zh-TW" sz="3000" dirty="0" smtClean="0"/>
          </a:p>
          <a:p>
            <a:endParaRPr lang="en-US" altLang="zh-TW" sz="3000" dirty="0"/>
          </a:p>
          <a:p>
            <a:endParaRPr lang="en-US" altLang="zh-TW" sz="3000" dirty="0" smtClean="0"/>
          </a:p>
          <a:p>
            <a:endParaRPr lang="en-US" altLang="zh-TW" sz="3000" dirty="0" smtClean="0"/>
          </a:p>
          <a:p>
            <a:endParaRPr lang="en-US" altLang="zh-TW" sz="3000" dirty="0"/>
          </a:p>
          <a:p>
            <a:r>
              <a:rPr lang="zh-TW" altLang="en-US" sz="3000" dirty="0"/>
              <a:t>原本產生變數必須</a:t>
            </a:r>
            <a:r>
              <a:rPr lang="zh-TW" altLang="en-US" sz="3000" dirty="0" smtClean="0"/>
              <a:t>使用</a:t>
            </a:r>
            <a:endParaRPr lang="en-US" altLang="zh-TW" sz="3000" dirty="0" smtClean="0"/>
          </a:p>
          <a:p>
            <a:endParaRPr lang="en-US" altLang="zh-TW" sz="2800" dirty="0"/>
          </a:p>
          <a:p>
            <a:r>
              <a:rPr lang="zh-TW" altLang="en-US" sz="2800" dirty="0"/>
              <a:t>現在只要</a:t>
            </a:r>
            <a:r>
              <a:rPr lang="zh-TW" altLang="en-US" sz="2800" dirty="0" smtClean="0"/>
              <a:t>用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dirty="0" smtClean="0"/>
              <a:t>  </a:t>
            </a:r>
            <a:r>
              <a:rPr lang="en-US" altLang="zh-TW" sz="2000" dirty="0" smtClean="0">
                <a:latin typeface="Consolas" pitchFamily="49" charset="0"/>
                <a:cs typeface="Consolas" pitchFamily="49" charset="0"/>
              </a:rPr>
              <a:t>Point </a:t>
            </a:r>
            <a:r>
              <a:rPr lang="en-US" altLang="zh-TW" sz="2000" dirty="0" err="1" smtClean="0">
                <a:latin typeface="Consolas" pitchFamily="49" charset="0"/>
                <a:cs typeface="Consolas" pitchFamily="49" charset="0"/>
              </a:rPr>
              <a:t>pt</a:t>
            </a:r>
            <a:r>
              <a:rPr lang="en-US" altLang="zh-TW" sz="2000" dirty="0" smtClean="0">
                <a:latin typeface="Consolas" pitchFamily="49" charset="0"/>
                <a:cs typeface="Consolas" pitchFamily="49" charset="0"/>
              </a:rPr>
              <a:t>;</a:t>
            </a:r>
            <a:endParaRPr lang="zh-TW" altLang="en-US" sz="200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92896"/>
            <a:ext cx="3997054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861760"/>
            <a:ext cx="2664296" cy="38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81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Structures </a:t>
            </a:r>
            <a:r>
              <a:rPr lang="zh-TW" altLang="en-US" b="1" dirty="0" smtClean="0"/>
              <a:t>參數的傳遞方式</a:t>
            </a:r>
            <a:r>
              <a:rPr lang="en-US" altLang="zh-TW" b="1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 lnSpcReduction="10000"/>
          </a:bodyPr>
          <a:lstStyle/>
          <a:p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所以現在</a:t>
            </a:r>
            <a:r>
              <a:rPr lang="zh-TW" altLang="en-US" sz="2600" dirty="0" smtClean="0">
                <a:latin typeface="微軟正黑體" pitchFamily="34" charset="-120"/>
                <a:ea typeface="微軟正黑體" pitchFamily="34" charset="-120"/>
              </a:rPr>
              <a:t>宣告一個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指到</a:t>
            </a:r>
            <a:r>
              <a:rPr lang="en-US" altLang="zh-TW" sz="2600" b="1" dirty="0" err="1">
                <a:latin typeface="微軟正黑體" pitchFamily="34" charset="-120"/>
                <a:ea typeface="微軟正黑體" pitchFamily="34" charset="-120"/>
              </a:rPr>
              <a:t>struct</a:t>
            </a:r>
            <a:r>
              <a:rPr lang="en-US" altLang="zh-TW" sz="2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2600" b="1" dirty="0" err="1">
                <a:latin typeface="微軟正黑體" pitchFamily="34" charset="-120"/>
                <a:ea typeface="微軟正黑體" pitchFamily="34" charset="-120"/>
              </a:rPr>
              <a:t>t_point</a:t>
            </a:r>
            <a:r>
              <a:rPr lang="en-US" altLang="zh-TW" sz="2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的指標可以</a:t>
            </a:r>
            <a:r>
              <a:rPr lang="zh-TW" altLang="en-US" sz="2600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endParaRPr lang="en-US" altLang="zh-TW" sz="2600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sz="2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把</a:t>
            </a:r>
            <a:r>
              <a:rPr lang="en-US" altLang="zh-TW" sz="2600" b="1" dirty="0" err="1">
                <a:latin typeface="微軟正黑體" pitchFamily="34" charset="-120"/>
                <a:ea typeface="微軟正黑體" pitchFamily="34" charset="-120"/>
              </a:rPr>
              <a:t>pp</a:t>
            </a:r>
            <a:r>
              <a:rPr lang="en-US" altLang="zh-TW" sz="2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指到</a:t>
            </a:r>
            <a:r>
              <a:rPr lang="en-US" altLang="zh-TW" sz="2600" b="1" dirty="0" err="1">
                <a:latin typeface="微軟正黑體" pitchFamily="34" charset="-120"/>
                <a:ea typeface="微軟正黑體" pitchFamily="34" charset="-120"/>
              </a:rPr>
              <a:t>pt</a:t>
            </a:r>
            <a:r>
              <a:rPr lang="en-US" altLang="zh-TW" sz="2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就和一般變數一樣，要</a:t>
            </a:r>
            <a:r>
              <a:rPr lang="zh-TW" altLang="en-US" sz="2600" dirty="0" smtClean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sz="2600" b="1" dirty="0" smtClean="0"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sz="2600" dirty="0" smtClean="0">
                <a:latin typeface="微軟正黑體" pitchFamily="34" charset="-120"/>
                <a:ea typeface="微軟正黑體" pitchFamily="34" charset="-120"/>
              </a:rPr>
              <a:t>來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取得</a:t>
            </a:r>
            <a:r>
              <a:rPr lang="en-US" altLang="zh-TW" sz="2600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的位</a:t>
            </a:r>
            <a:r>
              <a:rPr lang="zh-TW" altLang="en-US" sz="2600" dirty="0" smtClean="0">
                <a:latin typeface="微軟正黑體" pitchFamily="34" charset="-120"/>
                <a:ea typeface="微軟正黑體" pitchFamily="34" charset="-120"/>
              </a:rPr>
              <a:t>址</a:t>
            </a:r>
            <a:endParaRPr lang="en-US" altLang="zh-TW" sz="2600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sz="2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透過指標來存取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en-US" altLang="zh-TW" sz="2800" dirty="0">
                <a:latin typeface="微軟正黑體" pitchFamily="34" charset="-120"/>
                <a:ea typeface="微軟正黑體" pitchFamily="34" charset="-120"/>
              </a:rPr>
              <a:t>members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有兩種寫法，一種是用標準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的 </a:t>
            </a:r>
            <a:r>
              <a:rPr lang="zh-TW" altLang="en-US" sz="2800" b="1" dirty="0" smtClean="0">
                <a:latin typeface="微軟正黑體" pitchFamily="34" charset="-120"/>
                <a:ea typeface="微軟正黑體" pitchFamily="34" charset="-120"/>
              </a:rPr>
              <a:t>* 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先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找到指標指的內容，再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“</a:t>
            </a:r>
            <a:r>
              <a:rPr lang="en-US" altLang="zh-TW" sz="28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en-US" sz="2800" b="1" dirty="0" smtClean="0">
                <a:latin typeface="微軟正黑體" pitchFamily="34" charset="-120"/>
                <a:ea typeface="微軟正黑體" pitchFamily="34" charset="-120"/>
              </a:rPr>
              <a:t>”</a:t>
            </a:r>
            <a:r>
              <a:rPr lang="en-US" altLang="zh-TW" sz="2800" b="1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來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取出</a:t>
            </a:r>
            <a:r>
              <a:rPr lang="en-US" altLang="zh-TW" sz="2800" dirty="0" smtClean="0">
                <a:latin typeface="微軟正黑體" pitchFamily="34" charset="-120"/>
                <a:ea typeface="微軟正黑體" pitchFamily="34" charset="-120"/>
              </a:rPr>
              <a:t>member</a:t>
            </a:r>
          </a:p>
          <a:p>
            <a:endParaRPr lang="en-US" altLang="zh-TW" sz="2800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另一種則是用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-&gt;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符號，相當於上面的縮寫</a:t>
            </a:r>
            <a:endParaRPr lang="zh-TW" altLang="en-US" sz="26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75756"/>
            <a:ext cx="1872208" cy="34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234883"/>
            <a:ext cx="1800200" cy="40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89" y="4941168"/>
            <a:ext cx="4232957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949280"/>
            <a:ext cx="193284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3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Structures </a:t>
            </a:r>
            <a:r>
              <a:rPr lang="zh-TW" altLang="en-US" b="1" dirty="0"/>
              <a:t>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陣列的使用更能說明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structures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的必要性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以</a:t>
            </a:r>
            <a:r>
              <a:rPr lang="en-US" altLang="zh-TW" b="1" dirty="0" err="1">
                <a:latin typeface="微軟正黑體" pitchFamily="34" charset="-120"/>
                <a:ea typeface="微軟正黑體" pitchFamily="34" charset="-120"/>
              </a:rPr>
              <a:t>struct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b="1" dirty="0" err="1">
                <a:latin typeface="微軟正黑體" pitchFamily="34" charset="-120"/>
                <a:ea typeface="微軟正黑體" pitchFamily="34" charset="-120"/>
              </a:rPr>
              <a:t>t_point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為例，要產生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100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個平面上的點來記錄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100 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組座標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:</a:t>
            </a:r>
          </a:p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不使用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要寫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成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使用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變成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5" y="4005064"/>
            <a:ext cx="31115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29" y="5157191"/>
            <a:ext cx="7499619" cy="53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781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複製</a:t>
            </a:r>
            <a:r>
              <a:rPr lang="en-US" altLang="zh-TW" dirty="0" smtClean="0"/>
              <a:t>structure members</a:t>
            </a:r>
            <a:r>
              <a:rPr lang="zh-TW" altLang="en-US" dirty="0" smtClean="0"/>
              <a:t>的值</a:t>
            </a:r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48" y="1752601"/>
            <a:ext cx="4306958" cy="4828503"/>
          </a:xfrm>
          <a:prstGeom prst="rect">
            <a:avLst/>
          </a:prstGeom>
        </p:spPr>
      </p:pic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581148" y="5148861"/>
            <a:ext cx="40354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3843879" y="3382022"/>
            <a:ext cx="5139136" cy="156966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此範例為複製所有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structure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的值，將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的座標位置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assign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1148" y="1246566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6-6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305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56490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5400" b="1" dirty="0" smtClean="0"/>
              <a:t>Structure</a:t>
            </a:r>
            <a:r>
              <a:rPr lang="zh-TW" altLang="en-US" sz="5400" b="1" dirty="0" smtClean="0"/>
              <a:t>與指標的應用</a:t>
            </a:r>
            <a:endParaRPr lang="zh-TW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2192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Structure</a:t>
            </a:r>
            <a:r>
              <a:rPr lang="zh-TW" altLang="en-US" b="1" dirty="0" smtClean="0"/>
              <a:t>參數含有指標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下面的例子中的</a:t>
            </a:r>
            <a:r>
              <a:rPr lang="en-US" altLang="zh-TW" dirty="0" err="1" smtClean="0"/>
              <a:t>t_point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</a:t>
            </a:r>
            <a:r>
              <a:rPr lang="zh-TW" altLang="en-US" dirty="0" smtClean="0"/>
              <a:t>內含有一個指標</a:t>
            </a:r>
            <a:r>
              <a:rPr lang="en-US" altLang="zh-TW" dirty="0" smtClean="0"/>
              <a:t>x</a:t>
            </a:r>
            <a:r>
              <a:rPr lang="zh-TW" altLang="en-US" dirty="0" smtClean="0"/>
              <a:t>，此範例將</a:t>
            </a:r>
            <a:r>
              <a:rPr lang="en-US" altLang="zh-TW" dirty="0" err="1" smtClean="0"/>
              <a:t>link.x</a:t>
            </a:r>
            <a:r>
              <a:rPr lang="zh-TW" altLang="en-US" dirty="0" smtClean="0"/>
              <a:t>指向陣列</a:t>
            </a:r>
            <a:r>
              <a:rPr lang="en-US" altLang="zh-TW" dirty="0" smtClean="0"/>
              <a:t>A</a:t>
            </a:r>
            <a:r>
              <a:rPr lang="zh-TW" altLang="en-US" dirty="0" smtClean="0"/>
              <a:t>，代表</a:t>
            </a:r>
            <a:r>
              <a:rPr lang="en-US" altLang="zh-TW" dirty="0" err="1" smtClean="0"/>
              <a:t>link.x</a:t>
            </a:r>
            <a:r>
              <a:rPr lang="zh-TW" altLang="en-US" dirty="0" smtClean="0"/>
              <a:t>現在指在陣列</a:t>
            </a:r>
            <a:r>
              <a:rPr lang="en-US" altLang="zh-TW" dirty="0" smtClean="0"/>
              <a:t>A</a:t>
            </a:r>
            <a:r>
              <a:rPr lang="zh-TW" altLang="en-US" dirty="0" smtClean="0"/>
              <a:t>的開始位址。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7584" y="5733256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prstClr val="black"/>
                </a:solidFill>
              </a:rPr>
              <a:t>輸出</a:t>
            </a:r>
            <a:r>
              <a:rPr lang="en-US" altLang="zh-TW" dirty="0">
                <a:solidFill>
                  <a:prstClr val="black"/>
                </a:solidFill>
              </a:rPr>
              <a:t>: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536634" y="5798451"/>
            <a:ext cx="2337499" cy="646331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arrayA</a:t>
            </a:r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 : 0x22FDA0</a:t>
            </a:r>
          </a:p>
          <a:p>
            <a:r>
              <a:rPr lang="en-US" altLang="zh-TW" dirty="0" err="1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link.x</a:t>
            </a:r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 : 0x22FDA0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12976"/>
            <a:ext cx="8599487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ine 3"/>
          <p:cNvSpPr>
            <a:spLocks noChangeShapeType="1"/>
          </p:cNvSpPr>
          <p:nvPr/>
        </p:nvSpPr>
        <p:spPr bwMode="auto">
          <a:xfrm flipH="1">
            <a:off x="-1" y="4797152"/>
            <a:ext cx="46362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237149" y="5798451"/>
            <a:ext cx="3528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每次配置的位址不見得會一樣，此輸出僅供參考。</a:t>
            </a:r>
            <a:r>
              <a:rPr lang="en-US" altLang="zh-TW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31049" y="3212976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6-2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468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83235"/>
            <a:ext cx="5068887" cy="49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 smtClean="0"/>
              <a:t>利用指標指向</a:t>
            </a:r>
            <a:r>
              <a:rPr lang="en-US" altLang="zh-TW" b="1" dirty="0" smtClean="0"/>
              <a:t>structure</a:t>
            </a:r>
            <a:r>
              <a:rPr lang="zh-TW" altLang="en-US" b="1" dirty="0" smtClean="0"/>
              <a:t>參數位址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59832" y="1268760"/>
            <a:ext cx="5626967" cy="4857403"/>
          </a:xfrm>
        </p:spPr>
        <p:txBody>
          <a:bodyPr/>
          <a:lstStyle/>
          <a:p>
            <a:r>
              <a:rPr lang="zh-TW" altLang="en-US" dirty="0" smtClean="0"/>
              <a:t>此範例例用一個指標指向</a:t>
            </a:r>
            <a:r>
              <a:rPr lang="en-US" altLang="zh-TW" dirty="0" smtClean="0"/>
              <a:t>structure</a:t>
            </a:r>
            <a:r>
              <a:rPr lang="zh-TW" altLang="en-US" dirty="0" smtClean="0"/>
              <a:t>的參數</a:t>
            </a:r>
            <a:r>
              <a:rPr lang="en-US" altLang="zh-TW" dirty="0" smtClean="0"/>
              <a:t>a</a:t>
            </a:r>
            <a:r>
              <a:rPr lang="zh-TW" altLang="en-US" dirty="0" smtClean="0"/>
              <a:t>的位址。</a:t>
            </a:r>
            <a:endParaRPr lang="en-US" altLang="zh-TW" dirty="0" smtClean="0"/>
          </a:p>
          <a:p>
            <a:r>
              <a:rPr lang="zh-TW" altLang="en-US" dirty="0" smtClean="0"/>
              <a:t>再利用</a:t>
            </a:r>
            <a:r>
              <a:rPr lang="en-US" altLang="zh-TW" dirty="0" err="1" smtClean="0"/>
              <a:t>ptr</a:t>
            </a:r>
            <a:r>
              <a:rPr lang="en-US" altLang="zh-TW" dirty="0" smtClean="0"/>
              <a:t>=ptr+1</a:t>
            </a:r>
            <a:r>
              <a:rPr lang="zh-TW" altLang="en-US" dirty="0" smtClean="0"/>
              <a:t>使指標指向下一個參數</a:t>
            </a:r>
            <a:r>
              <a:rPr lang="en-US" altLang="zh-TW" dirty="0" smtClean="0"/>
              <a:t>b</a:t>
            </a:r>
            <a:r>
              <a:rPr lang="zh-TW" altLang="en-US" dirty="0" smtClean="0"/>
              <a:t>的位址。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5937311" y="5841177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prstClr val="black"/>
                </a:solidFill>
              </a:rPr>
              <a:t>輸出</a:t>
            </a:r>
            <a:r>
              <a:rPr lang="en-US" altLang="zh-TW" dirty="0">
                <a:solidFill>
                  <a:prstClr val="black"/>
                </a:solidFill>
              </a:rPr>
              <a:t>: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681048" y="5887343"/>
            <a:ext cx="1779383" cy="646331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pointer</a:t>
            </a:r>
            <a:r>
              <a:rPr lang="zh-TW" altLang="en-US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指向</a:t>
            </a:r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:a</a:t>
            </a:r>
          </a:p>
          <a:p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pointer</a:t>
            </a:r>
            <a:r>
              <a:rPr lang="zh-TW" altLang="en-US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指向</a:t>
            </a:r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ea typeface="標楷體" pitchFamily="65" charset="-120"/>
                <a:cs typeface="Consolas" pitchFamily="49" charset="0"/>
              </a:rPr>
              <a:t>:b</a:t>
            </a:r>
          </a:p>
        </p:txBody>
      </p:sp>
      <p:sp>
        <p:nvSpPr>
          <p:cNvPr id="8" name="矩形 7"/>
          <p:cNvSpPr/>
          <p:nvPr/>
        </p:nvSpPr>
        <p:spPr>
          <a:xfrm>
            <a:off x="5940152" y="5736521"/>
            <a:ext cx="2664296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 flipH="1">
            <a:off x="25758" y="5317004"/>
            <a:ext cx="572145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0" tIns="0" rIns="0" bIns="0"/>
          <a:lstStyle/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79512" y="1268760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6-3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237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2780928"/>
            <a:ext cx="8568952" cy="1143000"/>
          </a:xfrm>
        </p:spPr>
        <p:txBody>
          <a:bodyPr>
            <a:noAutofit/>
          </a:bodyPr>
          <a:lstStyle/>
          <a:p>
            <a:r>
              <a:rPr lang="en-US" altLang="zh-TW" sz="4800" b="1" dirty="0" smtClean="0"/>
              <a:t>Structure</a:t>
            </a:r>
            <a:r>
              <a:rPr lang="zh-TW" altLang="en-US" sz="4800" b="1" dirty="0" smtClean="0"/>
              <a:t>的衍生－</a:t>
            </a:r>
            <a:r>
              <a:rPr lang="en-US" altLang="zh-TW" sz="4800" b="1" dirty="0" smtClean="0"/>
              <a:t>union</a:t>
            </a:r>
            <a:r>
              <a:rPr lang="zh-TW" altLang="en-US" sz="4800" b="1" dirty="0" smtClean="0"/>
              <a:t>與</a:t>
            </a:r>
            <a:r>
              <a:rPr lang="en-US" altLang="zh-TW" sz="4800" b="1" dirty="0" err="1"/>
              <a:t>e</a:t>
            </a:r>
            <a:r>
              <a:rPr lang="en-US" altLang="zh-TW" sz="4800" b="1" dirty="0" err="1" smtClean="0"/>
              <a:t>num</a:t>
            </a:r>
            <a:endParaRPr lang="zh-TW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9654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Union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除了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structures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之外，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C 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還提供另一種衍伸型別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unions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，讓我們用</a:t>
            </a: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同一塊區域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來儲存不同類型的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資料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例如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: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541" y="3645024"/>
            <a:ext cx="26035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715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Union(Cont.)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用這樣方式產生的變數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u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會有剛好足夠的空間來儲存</a:t>
            </a:r>
            <a:r>
              <a:rPr lang="en-US" altLang="zh-TW" sz="2800" b="1" dirty="0" err="1">
                <a:latin typeface="微軟正黑體" pitchFamily="34" charset="-120"/>
                <a:ea typeface="微軟正黑體" pitchFamily="34" charset="-120"/>
              </a:rPr>
              <a:t>int</a:t>
            </a:r>
            <a:r>
              <a:rPr lang="zh-TW" altLang="en-US" sz="2800" b="1" dirty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float</a:t>
            </a:r>
            <a:r>
              <a:rPr lang="zh-TW" altLang="en-US" sz="2800" b="1" dirty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2800" b="1" dirty="0">
                <a:latin typeface="微軟正黑體" pitchFamily="34" charset="-120"/>
                <a:ea typeface="微軟正黑體" pitchFamily="34" charset="-120"/>
              </a:rPr>
              <a:t>char* </a:t>
            </a:r>
            <a:r>
              <a:rPr lang="zh-TW" altLang="en-US" sz="2800" dirty="0">
                <a:latin typeface="微軟正黑體" pitchFamily="34" charset="-120"/>
                <a:ea typeface="微軟正黑體" pitchFamily="34" charset="-120"/>
              </a:rPr>
              <a:t>三種型別中最大的型別資料</a:t>
            </a:r>
            <a:r>
              <a:rPr lang="zh-TW" altLang="en-US" sz="2800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28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800" dirty="0"/>
              <a:t>變數</a:t>
            </a:r>
            <a:r>
              <a:rPr lang="en-US" altLang="zh-TW" sz="2800" b="1" dirty="0" smtClean="0"/>
              <a:t>u</a:t>
            </a:r>
            <a:r>
              <a:rPr lang="zh-TW" altLang="en-US" sz="2800" dirty="0" smtClean="0"/>
              <a:t>每次</a:t>
            </a:r>
            <a:r>
              <a:rPr lang="zh-TW" altLang="en-US" sz="2800" dirty="0"/>
              <a:t>只能儲存三種型別資料中的</a:t>
            </a:r>
            <a:r>
              <a:rPr lang="zh-TW" altLang="en-US" sz="2800" dirty="0" smtClean="0"/>
              <a:t>一種。</a:t>
            </a:r>
            <a:endParaRPr lang="en-US" altLang="zh-TW" sz="2800" dirty="0" smtClean="0"/>
          </a:p>
          <a:p>
            <a:r>
              <a:rPr lang="zh-TW" altLang="en-US" sz="2800" dirty="0" smtClean="0"/>
              <a:t>執行下面的程式，</a:t>
            </a:r>
            <a:r>
              <a:rPr lang="zh-TW" altLang="en-US" sz="2800" dirty="0"/>
              <a:t>就會對</a:t>
            </a:r>
            <a:r>
              <a:rPr lang="en-US" altLang="zh-TW" sz="2800" b="1" dirty="0"/>
              <a:t>union </a:t>
            </a:r>
            <a:r>
              <a:rPr lang="zh-TW" altLang="en-US" sz="2800" dirty="0"/>
              <a:t>的作用更了解。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65" y="4202833"/>
            <a:ext cx="8939335" cy="2259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785769" y="4675648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6-4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919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Enum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Enum</a:t>
            </a:r>
            <a:r>
              <a:rPr lang="zh-TW" altLang="en-US" dirty="0" smtClean="0"/>
              <a:t>型別用來將一串列舉資料用常數表示。</a:t>
            </a:r>
            <a:endParaRPr lang="en-US" altLang="zh-TW" dirty="0" smtClean="0"/>
          </a:p>
          <a:p>
            <a:r>
              <a:rPr lang="zh-TW" altLang="en-US" dirty="0" smtClean="0"/>
              <a:t>預設型別中的資料代號從</a:t>
            </a:r>
            <a:r>
              <a:rPr lang="en-US" altLang="zh-TW" dirty="0" smtClean="0"/>
              <a:t>0</a:t>
            </a:r>
            <a:r>
              <a:rPr lang="zh-TW" altLang="en-US" dirty="0" smtClean="0"/>
              <a:t>開始依序遞增。</a:t>
            </a:r>
            <a:endParaRPr lang="en-US" altLang="zh-TW" dirty="0" smtClean="0"/>
          </a:p>
          <a:p>
            <a:r>
              <a:rPr lang="zh-TW" altLang="en-US" dirty="0" smtClean="0"/>
              <a:t>另外，也可以自己設定資料的代號。</a:t>
            </a:r>
            <a:endParaRPr lang="en-US" altLang="zh-TW" dirty="0" smtClean="0"/>
          </a:p>
          <a:p>
            <a:r>
              <a:rPr lang="zh-TW" altLang="en-US" dirty="0" smtClean="0"/>
              <a:t>以此為例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A=0,B=1,C=2,D=3,E=4</a:t>
            </a:r>
          </a:p>
          <a:p>
            <a:r>
              <a:rPr lang="zh-TW" altLang="en-US" dirty="0" smtClean="0"/>
              <a:t>自行設定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A=1,B=2,C=2,D=3,E=4</a:t>
            </a:r>
          </a:p>
          <a:p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501008"/>
            <a:ext cx="417988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654" y="4725144"/>
            <a:ext cx="4687887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84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7038975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283968" y="4725144"/>
            <a:ext cx="4768002" cy="50405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Enum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229200"/>
            <a:ext cx="8507288" cy="1512168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此範例將星球按照離太陽距離排序以</a:t>
            </a:r>
            <a:r>
              <a:rPr lang="en-US" altLang="zh-TW" dirty="0" err="1" smtClean="0"/>
              <a:t>enum</a:t>
            </a:r>
            <a:r>
              <a:rPr lang="zh-TW" altLang="en-US" dirty="0" smtClean="0"/>
              <a:t>型別存好，並將</a:t>
            </a:r>
            <a:r>
              <a:rPr lang="en-US" altLang="zh-TW" dirty="0" smtClean="0"/>
              <a:t>Mars</a:t>
            </a:r>
            <a:r>
              <a:rPr lang="zh-TW" altLang="en-US" dirty="0" smtClean="0"/>
              <a:t>與</a:t>
            </a:r>
            <a:r>
              <a:rPr lang="en-US" altLang="zh-TW" dirty="0" smtClean="0"/>
              <a:t>Earth</a:t>
            </a:r>
            <a:r>
              <a:rPr lang="zh-TW" altLang="en-US" dirty="0" smtClean="0"/>
              <a:t>拿來比較距離太陽之遠近。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231982" y="479692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prstClr val="black"/>
                </a:solidFill>
              </a:rPr>
              <a:t>輸出</a:t>
            </a:r>
            <a:r>
              <a:rPr lang="en-US" altLang="zh-TW" dirty="0">
                <a:solidFill>
                  <a:prstClr val="black"/>
                </a:solidFill>
              </a:rPr>
              <a:t>: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902299" y="4796929"/>
            <a:ext cx="4121641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prstClr val="black"/>
                </a:solidFill>
              </a:rPr>
              <a:t>Mars is farther from the Sun than Earth is.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681222" y="6434975"/>
            <a:ext cx="546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chemeClr val="bg1">
                    <a:lumMod val="65000"/>
                  </a:schemeClr>
                </a:solidFill>
              </a:rPr>
              <a:t>參考：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http://crasseux.com/books/ctutorial/enum.html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39552" y="1018623"/>
            <a:ext cx="928459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6-5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044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68917"/>
            <a:ext cx="7772400" cy="3065731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+mj-ea"/>
                <a:cs typeface="Arial" pitchFamily="34" charset="0"/>
              </a:rPr>
              <a:t>Bitwise Operations </a:t>
            </a:r>
            <a:br>
              <a:rPr lang="en-US" altLang="zh-TW" dirty="0" smtClean="0">
                <a:latin typeface="+mj-ea"/>
                <a:cs typeface="Arial" pitchFamily="34" charset="0"/>
              </a:rPr>
            </a:br>
            <a:r>
              <a:rPr lang="en-US" altLang="zh-TW" dirty="0" smtClean="0">
                <a:latin typeface="+mj-ea"/>
                <a:cs typeface="Arial" pitchFamily="34" charset="0"/>
              </a:rPr>
              <a:t>and</a:t>
            </a:r>
            <a:br>
              <a:rPr lang="en-US" altLang="zh-TW" dirty="0" smtClean="0">
                <a:latin typeface="+mj-ea"/>
                <a:cs typeface="Arial" pitchFamily="34" charset="0"/>
              </a:rPr>
            </a:br>
            <a:r>
              <a:rPr lang="en-US" altLang="zh-TW" dirty="0" smtClean="0">
                <a:latin typeface="+mj-ea"/>
                <a:cs typeface="Arial" pitchFamily="34" charset="0"/>
              </a:rPr>
              <a:t>Operator Precedence</a:t>
            </a:r>
            <a:endParaRPr lang="zh-TW" altLang="en-US" dirty="0">
              <a:latin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2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06" y="3377528"/>
            <a:ext cx="350520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</a:rPr>
              <a:t>AND, OR, XOR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AND: &amp;</a:t>
            </a:r>
          </a:p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OR: |</a:t>
            </a:r>
          </a:p>
          <a:p>
            <a:r>
              <a:rPr lang="en-US" altLang="zh-TW" sz="2400" dirty="0" smtClean="0">
                <a:latin typeface="Consolas" pitchFamily="49" charset="0"/>
                <a:cs typeface="Consolas" pitchFamily="49" charset="0"/>
              </a:rPr>
              <a:t>XOR: ^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346785" y="5512428"/>
            <a:ext cx="197084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 &amp; b = 0x5</a:t>
            </a: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 | b = 0xFF</a:t>
            </a: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 ^ b = 0xFA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6374368" y="2076299"/>
            <a:ext cx="2165950" cy="1200329"/>
            <a:chOff x="3551070" y="1509204"/>
            <a:chExt cx="2165950" cy="1200329"/>
          </a:xfrm>
        </p:grpSpPr>
        <p:sp>
          <p:nvSpPr>
            <p:cNvPr id="14" name="文字方塊 13"/>
            <p:cNvSpPr txBox="1"/>
            <p:nvPr/>
          </p:nvSpPr>
          <p:spPr>
            <a:xfrm>
              <a:off x="3586579" y="1509204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AND</a:t>
              </a: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a = 01010101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b = </a:t>
              </a:r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10101111</a:t>
              </a:r>
              <a:endPara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  00000101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5" name="直線接點 14"/>
            <p:cNvCxnSpPr/>
            <p:nvPr/>
          </p:nvCxnSpPr>
          <p:spPr>
            <a:xfrm>
              <a:off x="3551070" y="2378151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群組 15"/>
          <p:cNvGrpSpPr/>
          <p:nvPr/>
        </p:nvGrpSpPr>
        <p:grpSpPr>
          <a:xfrm>
            <a:off x="6392122" y="3651164"/>
            <a:ext cx="2130441" cy="1200329"/>
            <a:chOff x="3524435" y="1944210"/>
            <a:chExt cx="2130441" cy="1200329"/>
          </a:xfrm>
        </p:grpSpPr>
        <p:sp>
          <p:nvSpPr>
            <p:cNvPr id="17" name="文字方塊 16"/>
            <p:cNvSpPr txBox="1"/>
            <p:nvPr/>
          </p:nvSpPr>
          <p:spPr>
            <a:xfrm>
              <a:off x="3524435" y="1944210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OR</a:t>
              </a: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a = 01010101</a:t>
              </a:r>
            </a:p>
            <a:p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b = 10101111</a:t>
              </a: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  11111111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8" name="直線接點 17"/>
            <p:cNvCxnSpPr/>
            <p:nvPr/>
          </p:nvCxnSpPr>
          <p:spPr>
            <a:xfrm>
              <a:off x="3524435" y="2823099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6392123" y="5247474"/>
            <a:ext cx="2130441" cy="1200329"/>
            <a:chOff x="3524435" y="1944210"/>
            <a:chExt cx="2130441" cy="1200329"/>
          </a:xfrm>
        </p:grpSpPr>
        <p:sp>
          <p:nvSpPr>
            <p:cNvPr id="20" name="文字方塊 19"/>
            <p:cNvSpPr txBox="1"/>
            <p:nvPr/>
          </p:nvSpPr>
          <p:spPr>
            <a:xfrm>
              <a:off x="3524435" y="1944210"/>
              <a:ext cx="213044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XOR</a:t>
              </a: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a = 01010101</a:t>
              </a:r>
            </a:p>
            <a:p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b = 10101111</a:t>
              </a:r>
            </a:p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  11111010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1" name="直線接點 20"/>
            <p:cNvCxnSpPr/>
            <p:nvPr/>
          </p:nvCxnSpPr>
          <p:spPr>
            <a:xfrm>
              <a:off x="3524435" y="2823099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669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</a:rPr>
              <a:t>NOT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n-ea"/>
              </a:rPr>
              <a:t>NOT: ~</a:t>
            </a:r>
            <a:endParaRPr lang="zh-TW" altLang="en-US" dirty="0">
              <a:latin typeface="+mn-ea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914723" y="4106181"/>
            <a:ext cx="6560273" cy="646331"/>
            <a:chOff x="3524435" y="1944210"/>
            <a:chExt cx="2148197" cy="646331"/>
          </a:xfrm>
        </p:grpSpPr>
        <p:sp>
          <p:nvSpPr>
            <p:cNvPr id="10" name="文字方塊 9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a = </a:t>
              </a:r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0000 0000 0000 0000 0000 </a:t>
              </a:r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0000 0101 0101</a:t>
              </a:r>
            </a:p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!a</a:t>
              </a:r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= 1111 1111 1111 1111 </a:t>
              </a:r>
              <a:r>
                <a:rPr lang="en-US" altLang="zh-TW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1111 </a:t>
              </a:r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1111 1010 1010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3542191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文字方塊 11"/>
          <p:cNvSpPr txBox="1"/>
          <p:nvPr/>
        </p:nvSpPr>
        <p:spPr>
          <a:xfrm>
            <a:off x="914722" y="5206413"/>
            <a:ext cx="239706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~a = 0xFFFFFFAA</a:t>
            </a:r>
            <a:endParaRPr lang="en-US" altLang="zh-TW" dirty="0" smtClean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25" y="2419489"/>
            <a:ext cx="286702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934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</a:rPr>
              <a:t>Bit shifts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ea"/>
              </a:rPr>
              <a:t>左移運算子</a:t>
            </a:r>
            <a:r>
              <a:rPr lang="en-US" altLang="zh-TW" dirty="0" smtClean="0">
                <a:latin typeface="+mn-ea"/>
              </a:rPr>
              <a:t>(&lt;&lt;):</a:t>
            </a:r>
            <a:r>
              <a:rPr lang="zh-TW" altLang="en-US" dirty="0" smtClean="0">
                <a:latin typeface="+mn-ea"/>
              </a:rPr>
              <a:t> 向左移</a:t>
            </a:r>
            <a:r>
              <a:rPr lang="en-US" altLang="zh-TW" dirty="0" smtClean="0">
                <a:latin typeface="+mn-ea"/>
              </a:rPr>
              <a:t>n</a:t>
            </a:r>
            <a:r>
              <a:rPr lang="zh-TW" altLang="en-US" dirty="0" smtClean="0">
                <a:latin typeface="+mn-ea"/>
              </a:rPr>
              <a:t>個位元</a:t>
            </a:r>
            <a:endParaRPr lang="en-US" altLang="zh-TW" dirty="0" smtClean="0">
              <a:latin typeface="+mn-ea"/>
            </a:endParaRPr>
          </a:p>
          <a:p>
            <a:r>
              <a:rPr lang="zh-TW" altLang="en-US" dirty="0">
                <a:latin typeface="+mn-ea"/>
              </a:rPr>
              <a:t>右</a:t>
            </a:r>
            <a:r>
              <a:rPr lang="zh-TW" altLang="en-US" dirty="0" smtClean="0">
                <a:latin typeface="+mn-ea"/>
              </a:rPr>
              <a:t>移</a:t>
            </a:r>
            <a:r>
              <a:rPr lang="zh-TW" altLang="en-US" dirty="0">
                <a:latin typeface="+mn-ea"/>
              </a:rPr>
              <a:t>運算子</a:t>
            </a:r>
            <a:r>
              <a:rPr lang="en-US" altLang="zh-TW" dirty="0" smtClean="0">
                <a:latin typeface="+mn-ea"/>
              </a:rPr>
              <a:t>(&gt;&gt;):</a:t>
            </a:r>
            <a:r>
              <a:rPr lang="zh-TW" altLang="en-US" dirty="0" smtClean="0">
                <a:latin typeface="+mn-ea"/>
              </a:rPr>
              <a:t> 向右移</a:t>
            </a:r>
            <a:r>
              <a:rPr lang="en-US" altLang="zh-TW" dirty="0" smtClean="0">
                <a:latin typeface="+mn-ea"/>
              </a:rPr>
              <a:t>n</a:t>
            </a:r>
            <a:r>
              <a:rPr lang="zh-TW" altLang="en-US" dirty="0">
                <a:latin typeface="+mn-ea"/>
              </a:rPr>
              <a:t>個位元</a:t>
            </a:r>
            <a:endParaRPr lang="en-US" altLang="zh-TW" dirty="0">
              <a:latin typeface="+mn-ea"/>
            </a:endParaRPr>
          </a:p>
          <a:p>
            <a:pPr marL="0" indent="0">
              <a:buNone/>
            </a:pPr>
            <a:endParaRPr lang="zh-TW" altLang="en-US" dirty="0"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37" y="3125124"/>
            <a:ext cx="374332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082979" y="5281608"/>
            <a:ext cx="197084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b="1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結果</a:t>
            </a:r>
            <a:endParaRPr lang="en-US" altLang="zh-TW" b="1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 &lt;&lt; 1 = 0xAA</a:t>
            </a: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 &gt;&gt; 4 = 0x5</a:t>
            </a:r>
          </a:p>
        </p:txBody>
      </p:sp>
      <p:grpSp>
        <p:nvGrpSpPr>
          <p:cNvPr id="9" name="群組 8"/>
          <p:cNvGrpSpPr/>
          <p:nvPr/>
        </p:nvGrpSpPr>
        <p:grpSpPr>
          <a:xfrm>
            <a:off x="5877017" y="4393318"/>
            <a:ext cx="2503504" cy="646331"/>
            <a:chOff x="3524435" y="1944210"/>
            <a:chExt cx="2148196" cy="646331"/>
          </a:xfrm>
        </p:grpSpPr>
        <p:sp>
          <p:nvSpPr>
            <p:cNvPr id="10" name="文字方塊 9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a = 01010101</a:t>
              </a:r>
            </a:p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&gt;&gt; 4</a:t>
              </a:r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00000101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線接點 10"/>
            <p:cNvCxnSpPr/>
            <p:nvPr/>
          </p:nvCxnSpPr>
          <p:spPr>
            <a:xfrm>
              <a:off x="3542190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群組 11"/>
          <p:cNvGrpSpPr/>
          <p:nvPr/>
        </p:nvGrpSpPr>
        <p:grpSpPr>
          <a:xfrm>
            <a:off x="5897709" y="3226728"/>
            <a:ext cx="2503505" cy="646331"/>
            <a:chOff x="3524435" y="1944210"/>
            <a:chExt cx="2148197" cy="646331"/>
          </a:xfrm>
        </p:grpSpPr>
        <p:sp>
          <p:nvSpPr>
            <p:cNvPr id="13" name="文字方塊 12"/>
            <p:cNvSpPr txBox="1"/>
            <p:nvPr/>
          </p:nvSpPr>
          <p:spPr>
            <a:xfrm>
              <a:off x="3524435" y="1944210"/>
              <a:ext cx="2130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a = 01010101</a:t>
              </a:r>
            </a:p>
            <a:p>
              <a:r>
                <a:rPr lang="en-US" altLang="zh-TW" b="1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&lt;&lt; 1</a:t>
              </a:r>
              <a:r>
                <a:rPr lang="en-US" altLang="zh-TW" dirty="0" smtClean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    10101010</a:t>
              </a:r>
              <a:endParaRPr lang="en-US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4" name="直線接點 13"/>
            <p:cNvCxnSpPr/>
            <p:nvPr/>
          </p:nvCxnSpPr>
          <p:spPr>
            <a:xfrm>
              <a:off x="3542191" y="2267375"/>
              <a:ext cx="2130441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858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邏輯運算子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ea"/>
              </a:rPr>
              <a:t>做執行流程控制時，條件判斷使用</a:t>
            </a:r>
            <a:endParaRPr lang="en-US" altLang="zh-TW" dirty="0" smtClean="0">
              <a:latin typeface="+mn-ea"/>
            </a:endParaRPr>
          </a:p>
          <a:p>
            <a:r>
              <a:rPr lang="zh-TW" altLang="en-US" dirty="0" smtClean="0">
                <a:latin typeface="+mn-ea"/>
              </a:rPr>
              <a:t>僅有</a:t>
            </a:r>
            <a:r>
              <a:rPr lang="en-US" altLang="zh-TW" dirty="0" smtClean="0">
                <a:latin typeface="+mn-ea"/>
              </a:rPr>
              <a:t>True, False</a:t>
            </a:r>
            <a:r>
              <a:rPr lang="zh-TW" altLang="en-US" dirty="0" smtClean="0">
                <a:latin typeface="+mn-ea"/>
              </a:rPr>
              <a:t>兩種結果，分別以</a:t>
            </a:r>
            <a:r>
              <a:rPr lang="en-US" altLang="zh-TW" dirty="0" smtClean="0">
                <a:latin typeface="+mn-ea"/>
              </a:rPr>
              <a:t>1</a:t>
            </a:r>
            <a:r>
              <a:rPr lang="zh-TW" altLang="en-US" dirty="0" smtClean="0">
                <a:latin typeface="+mn-ea"/>
              </a:rPr>
              <a:t>與</a:t>
            </a:r>
            <a:r>
              <a:rPr lang="en-US" altLang="zh-TW" dirty="0" smtClean="0">
                <a:latin typeface="+mn-ea"/>
              </a:rPr>
              <a:t>0</a:t>
            </a:r>
            <a:r>
              <a:rPr lang="zh-TW" altLang="en-US" dirty="0" smtClean="0">
                <a:latin typeface="+mn-ea"/>
              </a:rPr>
              <a:t>表示</a:t>
            </a:r>
            <a:endParaRPr lang="en-US" altLang="zh-TW" dirty="0" smtClean="0">
              <a:latin typeface="+mn-ea"/>
            </a:endParaRPr>
          </a:p>
          <a:p>
            <a:r>
              <a:rPr lang="zh-TW" altLang="en-US" dirty="0" smtClean="0">
                <a:latin typeface="+mn-ea"/>
              </a:rPr>
              <a:t>在</a:t>
            </a:r>
            <a:r>
              <a:rPr lang="en-US" altLang="zh-TW" dirty="0" smtClean="0">
                <a:latin typeface="+mn-ea"/>
              </a:rPr>
              <a:t>C</a:t>
            </a:r>
            <a:r>
              <a:rPr lang="zh-TW" altLang="en-US" dirty="0" smtClean="0">
                <a:latin typeface="+mn-ea"/>
              </a:rPr>
              <a:t>語言中</a:t>
            </a:r>
            <a:r>
              <a:rPr lang="en-US" altLang="zh-TW" dirty="0" smtClean="0">
                <a:latin typeface="+mn-ea"/>
              </a:rPr>
              <a:t>0</a:t>
            </a:r>
            <a:r>
              <a:rPr lang="zh-TW" altLang="en-US" dirty="0" smtClean="0">
                <a:latin typeface="+mn-ea"/>
              </a:rPr>
              <a:t>為</a:t>
            </a:r>
            <a:r>
              <a:rPr lang="en-US" altLang="zh-TW" dirty="0" smtClean="0">
                <a:latin typeface="+mn-ea"/>
              </a:rPr>
              <a:t>False, </a:t>
            </a:r>
            <a:r>
              <a:rPr lang="zh-TW" altLang="en-US" dirty="0" smtClean="0">
                <a:latin typeface="+mn-ea"/>
              </a:rPr>
              <a:t>非</a:t>
            </a:r>
            <a:r>
              <a:rPr lang="en-US" altLang="zh-TW" dirty="0" smtClean="0">
                <a:latin typeface="+mn-ea"/>
              </a:rPr>
              <a:t>0</a:t>
            </a:r>
            <a:r>
              <a:rPr lang="zh-TW" altLang="en-US" dirty="0" smtClean="0">
                <a:latin typeface="+mn-ea"/>
              </a:rPr>
              <a:t>為</a:t>
            </a:r>
            <a:r>
              <a:rPr lang="en-US" altLang="zh-TW" dirty="0" smtClean="0">
                <a:latin typeface="+mn-ea"/>
              </a:rPr>
              <a:t>True</a:t>
            </a:r>
          </a:p>
          <a:p>
            <a:endParaRPr lang="zh-TW" altLang="en-US" dirty="0">
              <a:latin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1568389" y="370519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運算子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功能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用法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&amp;&amp;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AND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 &gt; b &amp;&amp; a</a:t>
                      </a:r>
                      <a:r>
                        <a:rPr lang="zh-TW" altLang="en-US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&lt;</a:t>
                      </a:r>
                      <a:r>
                        <a:rPr lang="zh-TW" altLang="en-US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c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||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OR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a </a:t>
                      </a:r>
                      <a:r>
                        <a:rPr lang="en-US" altLang="zh-TW" baseline="0" dirty="0" smtClean="0">
                          <a:latin typeface="Consolas" pitchFamily="49" charset="0"/>
                          <a:cs typeface="Consolas" pitchFamily="49" charset="0"/>
                        </a:rPr>
                        <a:t>&gt; b || a &lt; c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!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NOT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onsolas" pitchFamily="49" charset="0"/>
                          <a:cs typeface="Consolas" pitchFamily="49" charset="0"/>
                        </a:rPr>
                        <a:t>!(a&gt;b)</a:t>
                      </a:r>
                      <a:endParaRPr lang="zh-TW" altLang="en-US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523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邏輯運算子範例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n-ea"/>
              </a:rPr>
              <a:t>a = 1</a:t>
            </a:r>
          </a:p>
          <a:p>
            <a:r>
              <a:rPr lang="en-US" altLang="zh-TW" dirty="0" smtClean="0">
                <a:latin typeface="+mn-ea"/>
              </a:rPr>
              <a:t>b = 2</a:t>
            </a:r>
          </a:p>
          <a:p>
            <a:r>
              <a:rPr lang="en-US" altLang="zh-TW" dirty="0" smtClean="0">
                <a:latin typeface="+mn-ea"/>
              </a:rPr>
              <a:t>c = 3</a:t>
            </a:r>
            <a:endParaRPr lang="zh-TW" altLang="en-US" dirty="0">
              <a:latin typeface="+mn-ea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072326" y="4062833"/>
            <a:ext cx="236146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執行結果</a:t>
            </a:r>
            <a:endParaRPr lang="pt-BR" altLang="zh-TW" b="1" dirty="0" smtClean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pt-BR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b </a:t>
            </a:r>
            <a:r>
              <a:rPr lang="pt-BR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&amp;&amp; b&lt;c: 0</a:t>
            </a:r>
          </a:p>
          <a:p>
            <a:r>
              <a:rPr lang="pt-BR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a&gt;b || </a:t>
            </a:r>
            <a:r>
              <a:rPr lang="pt-BR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b&lt;c: </a:t>
            </a:r>
            <a:r>
              <a:rPr lang="pt-BR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1</a:t>
            </a:r>
          </a:p>
          <a:p>
            <a:r>
              <a:rPr lang="pt-BR" altLang="zh-TW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!(a&gt;b): 1</a:t>
            </a:r>
            <a:endParaRPr lang="zh-TW" altLang="en-US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51" y="3574327"/>
            <a:ext cx="43719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9909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條件運算子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ea"/>
              </a:rPr>
              <a:t>條件運算子</a:t>
            </a:r>
            <a:r>
              <a:rPr lang="en-US" altLang="zh-TW" dirty="0" smtClean="0">
                <a:latin typeface="+mn-ea"/>
              </a:rPr>
              <a:t>(?:)</a:t>
            </a:r>
          </a:p>
          <a:p>
            <a:r>
              <a:rPr lang="zh-TW" altLang="en-US" dirty="0" smtClean="0">
                <a:latin typeface="+mn-ea"/>
              </a:rPr>
              <a:t>可藉由判斷式的真假值，來回傳指定的值</a:t>
            </a:r>
            <a:endParaRPr lang="en-US" altLang="zh-TW" dirty="0" smtClean="0">
              <a:latin typeface="+mn-ea"/>
            </a:endParaRPr>
          </a:p>
          <a:p>
            <a:r>
              <a:rPr lang="en-US" altLang="zh-TW" dirty="0" smtClean="0">
                <a:latin typeface="+mn-ea"/>
              </a:rPr>
              <a:t>C</a:t>
            </a:r>
            <a:r>
              <a:rPr lang="zh-TW" altLang="en-US" dirty="0" smtClean="0">
                <a:latin typeface="+mn-ea"/>
              </a:rPr>
              <a:t>語言中唯一的三元運算子</a:t>
            </a:r>
            <a:endParaRPr lang="en-US" altLang="zh-TW" dirty="0" smtClean="0">
              <a:latin typeface="+mn-ea"/>
            </a:endParaRPr>
          </a:p>
          <a:p>
            <a:r>
              <a:rPr lang="zh-TW" altLang="en-US" dirty="0" smtClean="0">
                <a:latin typeface="+mn-ea"/>
              </a:rPr>
              <a:t>語法</a:t>
            </a:r>
            <a:r>
              <a:rPr lang="en-US" altLang="zh-TW" dirty="0" smtClean="0">
                <a:latin typeface="+mn-ea"/>
              </a:rPr>
              <a:t>:</a:t>
            </a:r>
            <a:r>
              <a:rPr lang="zh-TW" altLang="en-US" dirty="0" smtClean="0">
                <a:latin typeface="+mn-ea"/>
              </a:rPr>
              <a:t> 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判斷式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?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 結果為真的值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 結果為假的值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92" y="4208293"/>
            <a:ext cx="252412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093" y="3905250"/>
            <a:ext cx="252412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482808" y="4852996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>
                <a:solidFill>
                  <a:prstClr val="black"/>
                </a:solidFill>
              </a:rPr>
              <a:t>=</a:t>
            </a:r>
            <a:endParaRPr lang="zh-TW" altLang="en-US" sz="3600" b="1" dirty="0">
              <a:solidFill>
                <a:prstClr val="black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766218" y="5058459"/>
            <a:ext cx="135828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執行結果</a:t>
            </a:r>
            <a:endParaRPr lang="pt-BR" altLang="zh-TW" b="1" dirty="0" smtClean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n = -1</a:t>
            </a:r>
            <a:endParaRPr lang="zh-TW" altLang="en-US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720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運算子優先序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835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運算式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運算式裡分別有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及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運算元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在做運算時，首先要區別出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及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運算元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，再依據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運算子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之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優先順序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做運算。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計算時可用括號隔開每個需要計算之計算子，以分辨計算之優先順序。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下面將以簡表列出常見之運算之優先順序。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最後一頁會附上所有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語言遇到之運算子的優先順序。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1711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優先序簡表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611560" y="6165304"/>
            <a:ext cx="8229600" cy="536923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同優先順序之細分請參見最後一頁的附錄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。</a:t>
            </a:r>
          </a:p>
        </p:txBody>
      </p:sp>
      <p:graphicFrame>
        <p:nvGraphicFramePr>
          <p:cNvPr id="12" name="物件 11"/>
          <p:cNvGraphicFramePr>
            <a:graphicFrameLocks noChangeAspect="1"/>
          </p:cNvGraphicFramePr>
          <p:nvPr>
            <p:extLst/>
          </p:nvPr>
        </p:nvGraphicFramePr>
        <p:xfrm>
          <a:off x="107504" y="1124744"/>
          <a:ext cx="8896350" cy="488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工作表" r:id="rId3" imgW="8896441" imgH="3286171" progId="Excel.Sheet.12">
                  <p:embed/>
                </p:oleObj>
              </mc:Choice>
              <mc:Fallback>
                <p:oleObj name="工作表" r:id="rId3" imgW="8896441" imgH="328617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4" y="1124744"/>
                        <a:ext cx="8896350" cy="4883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815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運算子分類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算術運算子：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、* 、 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%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++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--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關係運算子：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==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!=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邏輯運算子：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&amp;&amp;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||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!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位元運算子：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~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^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&lt;&lt;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 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&gt;&gt;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除</a:t>
            </a:r>
            <a:r>
              <a:rPr lang="zh-TW" altLang="en-US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左移與右移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以外，一般的優先順序為：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算術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關係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位元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邏輯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931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1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139952" y="1600200"/>
            <a:ext cx="4546848" cy="4565104"/>
          </a:xfrm>
        </p:spPr>
        <p:txBody>
          <a:bodyPr/>
          <a:lstStyle/>
          <a:p>
            <a:r>
              <a:rPr lang="zh-TW" altLang="en-US" dirty="0" smtClean="0"/>
              <a:t>輸出結果：</a:t>
            </a:r>
            <a:r>
              <a:rPr lang="en-US" altLang="zh-TW" dirty="0" smtClean="0"/>
              <a:t>S=75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運算元優先順序：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>
                <a:solidFill>
                  <a:srgbClr val="FF0000"/>
                </a:solidFill>
              </a:rPr>
              <a:t>*       </a:t>
            </a:r>
            <a:r>
              <a:rPr lang="en-US" altLang="zh-TW" dirty="0" smtClean="0">
                <a:solidFill>
                  <a:srgbClr val="FF0000"/>
                </a:solidFill>
              </a:rPr>
              <a:t>+</a:t>
            </a:r>
            <a:r>
              <a:rPr lang="zh-TW" altLang="en-US" dirty="0" smtClean="0"/>
              <a:t>        </a:t>
            </a:r>
            <a:r>
              <a:rPr lang="en-US" altLang="zh-TW" dirty="0" smtClean="0">
                <a:solidFill>
                  <a:srgbClr val="FF0000"/>
                </a:solidFill>
              </a:rPr>
              <a:t>|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 smtClean="0"/>
              <a:t>運算式分解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S=((a+(b*c))|d)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556792"/>
            <a:ext cx="364353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4860032" y="4005064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向右箭號 5"/>
          <p:cNvSpPr/>
          <p:nvPr/>
        </p:nvSpPr>
        <p:spPr>
          <a:xfrm>
            <a:off x="5796136" y="4005064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64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27984" y="1600200"/>
            <a:ext cx="4258816" cy="4925144"/>
          </a:xfrm>
        </p:spPr>
        <p:txBody>
          <a:bodyPr/>
          <a:lstStyle/>
          <a:p>
            <a:r>
              <a:rPr lang="zh-TW" altLang="en-US" dirty="0" smtClean="0"/>
              <a:t>輸出結果：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S=1</a:t>
            </a:r>
          </a:p>
          <a:p>
            <a:endParaRPr lang="en-US" altLang="zh-TW" dirty="0"/>
          </a:p>
          <a:p>
            <a:r>
              <a:rPr lang="zh-TW" altLang="en-US" dirty="0" smtClean="0"/>
              <a:t>運算式分解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S=a &amp;&amp; (b-c) || d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375729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889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3968" y="1628800"/>
            <a:ext cx="4402832" cy="110872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輸出結果</a:t>
            </a:r>
            <a:r>
              <a:rPr lang="en-US" altLang="zh-TW" dirty="0" smtClean="0"/>
              <a:t>:</a:t>
            </a:r>
            <a:br>
              <a:rPr lang="en-US" altLang="zh-TW" dirty="0" smtClean="0"/>
            </a:br>
            <a:r>
              <a:rPr lang="en-US" altLang="zh-TW" dirty="0" smtClean="0"/>
              <a:t>S=24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376772"/>
            <a:ext cx="3519391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內容版面配置區 2"/>
          <p:cNvSpPr txBox="1">
            <a:spLocks/>
          </p:cNvSpPr>
          <p:nvPr/>
        </p:nvSpPr>
        <p:spPr>
          <a:xfrm>
            <a:off x="4294838" y="4581128"/>
            <a:ext cx="4041449" cy="110872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5100" dirty="0">
                <a:solidFill>
                  <a:prstClr val="black"/>
                </a:solidFill>
              </a:rPr>
              <a:t>運</a:t>
            </a:r>
            <a:r>
              <a:rPr lang="zh-TW" altLang="en-US" sz="5100" dirty="0" smtClean="0">
                <a:solidFill>
                  <a:prstClr val="black"/>
                </a:solidFill>
              </a:rPr>
              <a:t>算式分解</a:t>
            </a:r>
            <a:r>
              <a:rPr lang="en-US" altLang="zh-TW" sz="5100" dirty="0" smtClean="0">
                <a:solidFill>
                  <a:prstClr val="black"/>
                </a:solidFill>
              </a:rPr>
              <a:t>:</a:t>
            </a:r>
            <a:br>
              <a:rPr lang="en-US" altLang="zh-TW" sz="5100" dirty="0" smtClean="0">
                <a:solidFill>
                  <a:prstClr val="black"/>
                </a:solidFill>
              </a:rPr>
            </a:br>
            <a:r>
              <a:rPr lang="en-US" altLang="zh-TW" sz="5100" dirty="0" smtClean="0">
                <a:solidFill>
                  <a:prstClr val="black"/>
                </a:solidFill>
              </a:rPr>
              <a:t>S=-a*</a:t>
            </a:r>
            <a:r>
              <a:rPr lang="en-US" altLang="zh-TW" sz="5100" dirty="0" err="1" smtClean="0">
                <a:solidFill>
                  <a:prstClr val="black"/>
                </a:solidFill>
              </a:rPr>
              <a:t>b+c&amp;d%e</a:t>
            </a:r>
            <a:r>
              <a:rPr lang="en-US" altLang="zh-TW" sz="5100" dirty="0" smtClean="0">
                <a:solidFill>
                  <a:prstClr val="black"/>
                </a:solidFill>
              </a:rPr>
              <a:t>|*f-g&lt;&lt;2</a:t>
            </a:r>
            <a:r>
              <a:rPr lang="en-US" altLang="zh-TW" dirty="0" smtClean="0">
                <a:solidFill>
                  <a:prstClr val="black"/>
                </a:solidFill>
              </a:rPr>
              <a:t/>
            </a:r>
            <a:br>
              <a:rPr lang="en-US" altLang="zh-TW" dirty="0" smtClean="0">
                <a:solidFill>
                  <a:prstClr val="black"/>
                </a:solidFill>
              </a:rPr>
            </a:br>
            <a:endParaRPr lang="en-US" altLang="zh-TW" sz="4400" dirty="0">
              <a:solidFill>
                <a:prstClr val="black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11560" y="6043566"/>
            <a:ext cx="8388424" cy="70788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4000" dirty="0" smtClean="0">
                <a:solidFill>
                  <a:prstClr val="black"/>
                </a:solidFill>
              </a:rPr>
              <a:t>S=</a:t>
            </a:r>
            <a:r>
              <a:rPr lang="en-US" altLang="zh-TW" sz="4000" dirty="0" smtClean="0">
                <a:solidFill>
                  <a:srgbClr val="EEECE1">
                    <a:lumMod val="50000"/>
                  </a:srgbClr>
                </a:solidFill>
              </a:rPr>
              <a:t>(</a:t>
            </a:r>
            <a:r>
              <a:rPr lang="en-US" altLang="zh-TW" sz="4000" dirty="0" smtClean="0">
                <a:solidFill>
                  <a:srgbClr val="FF0000"/>
                </a:solidFill>
              </a:rPr>
              <a:t>(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smtClean="0">
                <a:solidFill>
                  <a:srgbClr val="FFFF00"/>
                </a:solidFill>
              </a:rPr>
              <a:t>(</a:t>
            </a:r>
            <a:r>
              <a:rPr lang="en-US" altLang="zh-TW" sz="4000" dirty="0" smtClean="0">
                <a:solidFill>
                  <a:srgbClr val="002060"/>
                </a:solidFill>
              </a:rPr>
              <a:t>(-</a:t>
            </a:r>
            <a:r>
              <a:rPr lang="en-US" altLang="zh-TW" sz="4000" dirty="0" smtClean="0">
                <a:solidFill>
                  <a:prstClr val="black"/>
                </a:solidFill>
              </a:rPr>
              <a:t>a</a:t>
            </a:r>
            <a:r>
              <a:rPr lang="en-US" altLang="zh-TW" sz="4000" dirty="0" smtClean="0">
                <a:solidFill>
                  <a:srgbClr val="002060"/>
                </a:solidFill>
              </a:rPr>
              <a:t>)</a:t>
            </a:r>
            <a:r>
              <a:rPr lang="en-US" altLang="zh-TW" sz="4000" dirty="0" smtClean="0">
                <a:solidFill>
                  <a:srgbClr val="FFFF00"/>
                </a:solidFill>
              </a:rPr>
              <a:t>*</a:t>
            </a:r>
            <a:r>
              <a:rPr lang="en-US" altLang="zh-TW" sz="4000" dirty="0" smtClean="0">
                <a:solidFill>
                  <a:prstClr val="black"/>
                </a:solidFill>
              </a:rPr>
              <a:t>b</a:t>
            </a:r>
            <a:r>
              <a:rPr lang="en-US" altLang="zh-TW" sz="4000" dirty="0" smtClean="0">
                <a:solidFill>
                  <a:srgbClr val="FFFF00"/>
                </a:solidFill>
              </a:rPr>
              <a:t>)</a:t>
            </a:r>
            <a:r>
              <a:rPr lang="en-US" altLang="zh-TW" sz="4000" dirty="0" smtClean="0">
                <a:solidFill>
                  <a:srgbClr val="00B0F0"/>
                </a:solidFill>
              </a:rPr>
              <a:t>+</a:t>
            </a:r>
            <a:r>
              <a:rPr lang="en-US" altLang="zh-TW" sz="4000" dirty="0" smtClean="0">
                <a:solidFill>
                  <a:prstClr val="black"/>
                </a:solidFill>
              </a:rPr>
              <a:t>c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&amp;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err="1" smtClean="0">
                <a:solidFill>
                  <a:prstClr val="black"/>
                </a:solidFill>
              </a:rPr>
              <a:t>d</a:t>
            </a:r>
            <a:r>
              <a:rPr lang="en-US" altLang="zh-TW" sz="4000" dirty="0" err="1" smtClean="0">
                <a:solidFill>
                  <a:srgbClr val="00B0F0"/>
                </a:solidFill>
              </a:rPr>
              <a:t>%</a:t>
            </a:r>
            <a:r>
              <a:rPr lang="en-US" altLang="zh-TW" sz="4000" dirty="0" err="1" smtClean="0">
                <a:solidFill>
                  <a:prstClr val="black"/>
                </a:solidFill>
              </a:rPr>
              <a:t>e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)</a:t>
            </a:r>
            <a:r>
              <a:rPr lang="en-US" altLang="zh-TW" sz="4000" dirty="0" smtClean="0">
                <a:solidFill>
                  <a:srgbClr val="EEECE1">
                    <a:lumMod val="50000"/>
                  </a:srgbClr>
                </a:solidFill>
              </a:rPr>
              <a:t>|</a:t>
            </a:r>
            <a:r>
              <a:rPr lang="en-US" altLang="zh-TW" sz="4000" dirty="0" smtClean="0">
                <a:solidFill>
                  <a:srgbClr val="FF0000"/>
                </a:solidFill>
              </a:rPr>
              <a:t>(</a:t>
            </a:r>
            <a:r>
              <a:rPr lang="en-US" altLang="zh-TW" sz="4000" dirty="0" smtClean="0">
                <a:solidFill>
                  <a:srgbClr val="00B0F0"/>
                </a:solidFill>
              </a:rPr>
              <a:t>(</a:t>
            </a:r>
            <a:r>
              <a:rPr lang="en-US" altLang="zh-TW" sz="4000" dirty="0" smtClean="0">
                <a:solidFill>
                  <a:srgbClr val="FFFF00"/>
                </a:solidFill>
              </a:rPr>
              <a:t>(*</a:t>
            </a:r>
            <a:r>
              <a:rPr lang="en-US" altLang="zh-TW" sz="4000" dirty="0" smtClean="0">
                <a:solidFill>
                  <a:prstClr val="black"/>
                </a:solidFill>
              </a:rPr>
              <a:t>f</a:t>
            </a:r>
            <a:r>
              <a:rPr lang="en-US" altLang="zh-TW" sz="4000" dirty="0" smtClean="0">
                <a:solidFill>
                  <a:srgbClr val="FFFF00"/>
                </a:solidFill>
              </a:rPr>
              <a:t>)</a:t>
            </a:r>
            <a:r>
              <a:rPr lang="en-US" altLang="zh-TW" sz="4000" dirty="0" smtClean="0">
                <a:solidFill>
                  <a:srgbClr val="00B0F0"/>
                </a:solidFill>
              </a:rPr>
              <a:t>-</a:t>
            </a:r>
            <a:r>
              <a:rPr lang="en-US" altLang="zh-TW" sz="4000" dirty="0" smtClean="0">
                <a:solidFill>
                  <a:prstClr val="black"/>
                </a:solidFill>
              </a:rPr>
              <a:t>g</a:t>
            </a:r>
            <a:r>
              <a:rPr lang="en-US" altLang="zh-TW" sz="4000" dirty="0" smtClean="0">
                <a:solidFill>
                  <a:srgbClr val="00B0F0"/>
                </a:solidFill>
              </a:rPr>
              <a:t>)</a:t>
            </a:r>
            <a:r>
              <a:rPr lang="en-US" altLang="zh-TW" sz="4000" dirty="0" smtClean="0">
                <a:solidFill>
                  <a:srgbClr val="FF0000"/>
                </a:solidFill>
              </a:rPr>
              <a:t>&lt;&lt;</a:t>
            </a:r>
            <a:r>
              <a:rPr lang="en-US" altLang="zh-TW" sz="4000" dirty="0" smtClean="0">
                <a:solidFill>
                  <a:prstClr val="black"/>
                </a:solidFill>
              </a:rPr>
              <a:t>2</a:t>
            </a:r>
            <a:r>
              <a:rPr lang="en-US" altLang="zh-TW" sz="4000" dirty="0" smtClean="0">
                <a:solidFill>
                  <a:srgbClr val="FF0000"/>
                </a:solidFill>
              </a:rPr>
              <a:t>)</a:t>
            </a:r>
            <a:r>
              <a:rPr lang="en-US" altLang="zh-TW" sz="4000" dirty="0" smtClean="0">
                <a:solidFill>
                  <a:srgbClr val="EEECE1">
                    <a:lumMod val="50000"/>
                  </a:srgbClr>
                </a:solidFill>
              </a:rPr>
              <a:t>)</a:t>
            </a:r>
            <a:endParaRPr lang="zh-TW" altLang="en-US" sz="4000" dirty="0">
              <a:solidFill>
                <a:srgbClr val="EEECE1">
                  <a:lumMod val="50000"/>
                </a:srgbClr>
              </a:solidFill>
            </a:endParaRPr>
          </a:p>
        </p:txBody>
      </p:sp>
      <p:sp>
        <p:nvSpPr>
          <p:cNvPr id="5" name="向下箭號 4"/>
          <p:cNvSpPr/>
          <p:nvPr/>
        </p:nvSpPr>
        <p:spPr>
          <a:xfrm>
            <a:off x="5580112" y="5401381"/>
            <a:ext cx="933854" cy="576934"/>
          </a:xfrm>
          <a:prstGeom prst="down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4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746562"/>
            <a:ext cx="5132610" cy="4829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3(Cont.)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199" y="1600200"/>
            <a:ext cx="5266929" cy="4525963"/>
          </a:xfrm>
        </p:spPr>
        <p:txBody>
          <a:bodyPr/>
          <a:lstStyle/>
          <a:p>
            <a:r>
              <a:rPr lang="zh-TW" altLang="en-US" dirty="0" smtClean="0"/>
              <a:t>此為上例之運算優先順序二元樹。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706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+=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-=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、*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/=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%=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&lt;&lt;=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&gt;&gt;=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&amp;=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^=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|=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複合指定運算子為右結合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複合指定運算子之運算式例子：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a+=b            a=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a+b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;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下面為複合指定運算子及一般運算子之混合範例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  <p:sp>
        <p:nvSpPr>
          <p:cNvPr id="4" name="向右箭號 3"/>
          <p:cNvSpPr/>
          <p:nvPr/>
        </p:nvSpPr>
        <p:spPr>
          <a:xfrm>
            <a:off x="2195736" y="4005064"/>
            <a:ext cx="86409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4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1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59034" y="1600200"/>
            <a:ext cx="5227766" cy="4525963"/>
          </a:xfrm>
        </p:spPr>
        <p:txBody>
          <a:bodyPr/>
          <a:lstStyle/>
          <a:p>
            <a:r>
              <a:rPr lang="zh-TW" altLang="en-US" dirty="0" smtClean="0"/>
              <a:t>輸出結果：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S=-5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運算式分解：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S=</a:t>
            </a:r>
            <a:r>
              <a:rPr lang="en-US" altLang="zh-TW" dirty="0" smtClean="0">
                <a:solidFill>
                  <a:srgbClr val="00B050"/>
                </a:solidFill>
              </a:rPr>
              <a:t>(</a:t>
            </a:r>
            <a:r>
              <a:rPr lang="en-US" altLang="zh-TW" dirty="0" smtClean="0"/>
              <a:t>S</a:t>
            </a:r>
            <a:r>
              <a:rPr lang="en-US" altLang="zh-TW" dirty="0" smtClean="0">
                <a:solidFill>
                  <a:srgbClr val="00B050"/>
                </a:solidFill>
              </a:rPr>
              <a:t>+</a:t>
            </a:r>
            <a:r>
              <a:rPr lang="en-US" altLang="zh-TW" dirty="0" smtClean="0">
                <a:solidFill>
                  <a:srgbClr val="00B0F0"/>
                </a:solidFill>
              </a:rPr>
              <a:t>(</a:t>
            </a:r>
            <a:r>
              <a:rPr lang="en-US" altLang="zh-TW" dirty="0" smtClean="0"/>
              <a:t>a</a:t>
            </a:r>
            <a:r>
              <a:rPr lang="en-US" altLang="zh-TW" dirty="0" smtClean="0">
                <a:solidFill>
                  <a:srgbClr val="00B0F0"/>
                </a:solidFill>
              </a:rPr>
              <a:t>-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 smtClean="0"/>
              <a:t>b</a:t>
            </a:r>
            <a:r>
              <a:rPr lang="en-US" altLang="zh-TW" dirty="0" smtClean="0">
                <a:solidFill>
                  <a:srgbClr val="FF0000"/>
                </a:solidFill>
              </a:rPr>
              <a:t>*</a:t>
            </a:r>
            <a:r>
              <a:rPr lang="en-US" altLang="zh-TW" dirty="0" smtClean="0"/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>
                <a:solidFill>
                  <a:srgbClr val="00B0F0"/>
                </a:solidFill>
              </a:rPr>
              <a:t>)</a:t>
            </a:r>
            <a:r>
              <a:rPr lang="en-US" altLang="zh-TW" dirty="0" smtClean="0">
                <a:solidFill>
                  <a:srgbClr val="00B050"/>
                </a:solidFill>
              </a:rPr>
              <a:t>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0808"/>
            <a:ext cx="327952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3935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55976" y="1600200"/>
            <a:ext cx="4330824" cy="4853136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輸出結果：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S=15</a:t>
            </a:r>
          </a:p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由於複合指定運算子為右結合，所以運算式計算順序為：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c=c%5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b=b*c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a=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a|b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S=</a:t>
            </a:r>
            <a:r>
              <a:rPr lang="en-US" altLang="zh-TW" dirty="0" err="1" smtClean="0">
                <a:latin typeface="微軟正黑體" pitchFamily="34" charset="-120"/>
                <a:ea typeface="微軟正黑體" pitchFamily="34" charset="-120"/>
              </a:rPr>
              <a:t>S+a</a:t>
            </a:r>
            <a:endParaRPr lang="en-US" altLang="zh-TW" dirty="0" smtClean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359978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向下箭號 3"/>
          <p:cNvSpPr/>
          <p:nvPr/>
        </p:nvSpPr>
        <p:spPr>
          <a:xfrm>
            <a:off x="6444208" y="3949030"/>
            <a:ext cx="216024" cy="216024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08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範例練習</a:t>
            </a:r>
            <a:endParaRPr lang="zh-TW" altLang="en-US" b="1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a=5,b=12,c=6,d=8,e=7,f=9,S=1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 S=</a:t>
            </a:r>
            <a:r>
              <a:rPr lang="en-US" altLang="zh-TW" dirty="0" err="1" smtClean="0"/>
              <a:t>a+b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c&amp;d</a:t>
            </a:r>
            <a:r>
              <a:rPr lang="en-US" altLang="zh-TW" dirty="0" smtClean="0"/>
              <a:t>&lt;&lt;2|e%f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Ans:7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altLang="zh-TW" dirty="0" smtClean="0"/>
              <a:t> S*=a-b&lt;&lt;</a:t>
            </a:r>
            <a:r>
              <a:rPr lang="en-US" altLang="zh-TW" dirty="0" err="1" smtClean="0"/>
              <a:t>c|d</a:t>
            </a:r>
            <a:r>
              <a:rPr lang="en-US" altLang="zh-TW" dirty="0" smtClean="0"/>
              <a:t>*</a:t>
            </a:r>
            <a:r>
              <a:rPr lang="en-US" altLang="zh-TW" dirty="0" err="1" smtClean="0"/>
              <a:t>e+f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Ans</a:t>
            </a:r>
            <a:r>
              <a:rPr lang="en-US" altLang="zh-TW" dirty="0" smtClean="0"/>
              <a:t>:-894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altLang="zh-TW" dirty="0" smtClean="0"/>
              <a:t>S^=</a:t>
            </a:r>
            <a:r>
              <a:rPr lang="en-US" altLang="zh-TW" dirty="0" err="1" smtClean="0"/>
              <a:t>a+b|c%d</a:t>
            </a:r>
            <a:r>
              <a:rPr lang="en-US" altLang="zh-TW" dirty="0" smtClean="0"/>
              <a:t>*e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S=?</a:t>
            </a:r>
          </a:p>
          <a:p>
            <a:pPr marL="0" indent="0">
              <a:buNone/>
            </a:pPr>
            <a:r>
              <a:rPr lang="en-US" altLang="zh-TW" dirty="0" smtClean="0"/>
              <a:t>	Ans:57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980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6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Appendix</a:t>
            </a:r>
            <a:endParaRPr lang="zh-TW" altLang="en-US" sz="6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757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b="1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764703"/>
            <a:ext cx="5760640" cy="608118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047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764704"/>
            <a:ext cx="5480061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43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2627" y="-243408"/>
            <a:ext cx="8229600" cy="1143000"/>
          </a:xfrm>
        </p:spPr>
        <p:txBody>
          <a:bodyPr/>
          <a:lstStyle/>
          <a:p>
            <a:r>
              <a:rPr lang="zh-TW" altLang="en-US" b="1" dirty="0" smtClean="0">
                <a:latin typeface="標楷體" pitchFamily="65" charset="-120"/>
                <a:ea typeface="標楷體" pitchFamily="65" charset="-120"/>
              </a:rPr>
              <a:t>附錄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67819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13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END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2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2P">
      <a:majorFont>
        <a:latin typeface="Arial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1316</Words>
  <Application>Microsoft Office PowerPoint</Application>
  <PresentationFormat>如螢幕大小 (4:3)</PresentationFormat>
  <Paragraphs>228</Paragraphs>
  <Slides>43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4" baseType="lpstr">
      <vt:lpstr>微軟正黑體</vt:lpstr>
      <vt:lpstr>新細明體</vt:lpstr>
      <vt:lpstr>標楷體</vt:lpstr>
      <vt:lpstr>Arial</vt:lpstr>
      <vt:lpstr>Calibri</vt:lpstr>
      <vt:lpstr>Consolas</vt:lpstr>
      <vt:lpstr>Wingdings 2</vt:lpstr>
      <vt:lpstr>1_Office 佈景主題</vt:lpstr>
      <vt:lpstr>Office Theme</vt:lpstr>
      <vt:lpstr>Office 佈景主題</vt:lpstr>
      <vt:lpstr>工作表</vt:lpstr>
      <vt:lpstr> Structure and Bit Operation</vt:lpstr>
      <vt:lpstr>C Structures</vt:lpstr>
      <vt:lpstr>C Structures(Cont.)</vt:lpstr>
      <vt:lpstr>C Structures(Cont.)</vt:lpstr>
      <vt:lpstr>使用C Structures 來做運算</vt:lpstr>
      <vt:lpstr>PowerPoint 簡報</vt:lpstr>
      <vt:lpstr>Structures 參數的傳遞方式</vt:lpstr>
      <vt:lpstr>Structures 參數的傳遞方式(Cont.)</vt:lpstr>
      <vt:lpstr>Structures 參數的傳遞方式(Cont.)</vt:lpstr>
      <vt:lpstr>Structures 陣列</vt:lpstr>
      <vt:lpstr>複製structure members的值</vt:lpstr>
      <vt:lpstr>Structure與指標的應用</vt:lpstr>
      <vt:lpstr>Structure參數含有指標</vt:lpstr>
      <vt:lpstr>利用指標指向structure參數位址</vt:lpstr>
      <vt:lpstr>Structure的衍生－union與enum</vt:lpstr>
      <vt:lpstr>Union</vt:lpstr>
      <vt:lpstr>Union(Cont.)</vt:lpstr>
      <vt:lpstr>Enum</vt:lpstr>
      <vt:lpstr>Enum(Cont.)</vt:lpstr>
      <vt:lpstr>Bitwise Operations  and Operator Precedence</vt:lpstr>
      <vt:lpstr>AND, OR, XOR</vt:lpstr>
      <vt:lpstr>NOT</vt:lpstr>
      <vt:lpstr>Bit shifts</vt:lpstr>
      <vt:lpstr>邏輯運算子</vt:lpstr>
      <vt:lpstr>邏輯運算子範例</vt:lpstr>
      <vt:lpstr>條件運算子</vt:lpstr>
      <vt:lpstr>運算子優先序</vt:lpstr>
      <vt:lpstr>運算式</vt:lpstr>
      <vt:lpstr>優先序簡表</vt:lpstr>
      <vt:lpstr>運算子分類</vt:lpstr>
      <vt:lpstr>範例1</vt:lpstr>
      <vt:lpstr>範例2</vt:lpstr>
      <vt:lpstr>範例3</vt:lpstr>
      <vt:lpstr>範例3(Cont.)</vt:lpstr>
      <vt:lpstr>複合指定運算子</vt:lpstr>
      <vt:lpstr>範例1</vt:lpstr>
      <vt:lpstr>範例2</vt:lpstr>
      <vt:lpstr>範例練習</vt:lpstr>
      <vt:lpstr>Appendix</vt:lpstr>
      <vt:lpstr>附錄</vt:lpstr>
      <vt:lpstr>附錄</vt:lpstr>
      <vt:lpstr>附錄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Structure</dc:title>
  <dc:creator>Tubou</dc:creator>
  <cp:lastModifiedBy>Tubou</cp:lastModifiedBy>
  <cp:revision>43</cp:revision>
  <dcterms:created xsi:type="dcterms:W3CDTF">2013-08-28T05:39:51Z</dcterms:created>
  <dcterms:modified xsi:type="dcterms:W3CDTF">2013-09-11T07:51:09Z</dcterms:modified>
</cp:coreProperties>
</file>