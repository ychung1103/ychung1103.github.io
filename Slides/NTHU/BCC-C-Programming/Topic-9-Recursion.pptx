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5" r:id="rId5"/>
    <p:sldId id="259" r:id="rId6"/>
    <p:sldId id="267" r:id="rId7"/>
    <p:sldId id="268" r:id="rId8"/>
    <p:sldId id="258" r:id="rId9"/>
    <p:sldId id="261" r:id="rId10"/>
    <p:sldId id="262" r:id="rId11"/>
    <p:sldId id="263" r:id="rId12"/>
    <p:sldId id="264" r:id="rId13"/>
    <p:sldId id="266" r:id="rId14"/>
    <p:sldId id="269" r:id="rId15"/>
    <p:sldId id="270" r:id="rId16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926" y="-8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2045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E4E13-A8EB-4ADD-99F2-13DE09F8B79F}" type="datetimeFigureOut">
              <a:rPr lang="zh-TW" altLang="en-US" smtClean="0"/>
              <a:t>2013/9/15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C71DC-12D0-4FD1-9335-A46F95E0C20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3867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E4E13-A8EB-4ADD-99F2-13DE09F8B79F}" type="datetimeFigureOut">
              <a:rPr lang="zh-TW" altLang="en-US" smtClean="0"/>
              <a:t>2013/9/15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C71DC-12D0-4FD1-9335-A46F95E0C20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7865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E4E13-A8EB-4ADD-99F2-13DE09F8B79F}" type="datetimeFigureOut">
              <a:rPr lang="zh-TW" altLang="en-US" smtClean="0"/>
              <a:t>2013/9/15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C71DC-12D0-4FD1-9335-A46F95E0C20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1985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E4E13-A8EB-4ADD-99F2-13DE09F8B79F}" type="datetimeFigureOut">
              <a:rPr lang="zh-TW" altLang="en-US" smtClean="0"/>
              <a:t>2013/9/15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C71DC-12D0-4FD1-9335-A46F95E0C20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6977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E4E13-A8EB-4ADD-99F2-13DE09F8B79F}" type="datetimeFigureOut">
              <a:rPr lang="zh-TW" altLang="en-US" smtClean="0"/>
              <a:t>2013/9/15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C71DC-12D0-4FD1-9335-A46F95E0C20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4903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E4E13-A8EB-4ADD-99F2-13DE09F8B79F}" type="datetimeFigureOut">
              <a:rPr lang="zh-TW" altLang="en-US" smtClean="0"/>
              <a:t>2013/9/15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C71DC-12D0-4FD1-9335-A46F95E0C20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9579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E4E13-A8EB-4ADD-99F2-13DE09F8B79F}" type="datetimeFigureOut">
              <a:rPr lang="zh-TW" altLang="en-US" smtClean="0"/>
              <a:t>2013/9/15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C71DC-12D0-4FD1-9335-A46F95E0C20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1512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E4E13-A8EB-4ADD-99F2-13DE09F8B79F}" type="datetimeFigureOut">
              <a:rPr lang="zh-TW" altLang="en-US" smtClean="0"/>
              <a:t>2013/9/15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C71DC-12D0-4FD1-9335-A46F95E0C20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7929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E4E13-A8EB-4ADD-99F2-13DE09F8B79F}" type="datetimeFigureOut">
              <a:rPr lang="zh-TW" altLang="en-US" smtClean="0"/>
              <a:t>2013/9/15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C71DC-12D0-4FD1-9335-A46F95E0C20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2357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E4E13-A8EB-4ADD-99F2-13DE09F8B79F}" type="datetimeFigureOut">
              <a:rPr lang="zh-TW" altLang="en-US" smtClean="0"/>
              <a:t>2013/9/15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C71DC-12D0-4FD1-9335-A46F95E0C20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4437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E4E13-A8EB-4ADD-99F2-13DE09F8B79F}" type="datetimeFigureOut">
              <a:rPr lang="zh-TW" altLang="en-US" smtClean="0"/>
              <a:t>2013/9/15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C71DC-12D0-4FD1-9335-A46F95E0C20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9928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8E4E13-A8EB-4ADD-99F2-13DE09F8B79F}" type="datetimeFigureOut">
              <a:rPr lang="zh-TW" altLang="en-US" smtClean="0"/>
              <a:t>2013/9/15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6C71DC-12D0-4FD1-9335-A46F95E0C20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6864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sz="6600" b="1" dirty="0"/>
              <a:t>Recursion</a:t>
            </a:r>
            <a:endParaRPr lang="zh-TW" altLang="en-US" sz="66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5809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Recursion(</a:t>
            </a:r>
            <a:r>
              <a:rPr lang="zh-TW" altLang="en-US" b="1" dirty="0" smtClean="0"/>
              <a:t>遞迴</a:t>
            </a:r>
            <a:r>
              <a:rPr lang="en-US" altLang="zh-TW" b="1" dirty="0" smtClean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Recursion</a:t>
            </a:r>
            <a:r>
              <a:rPr lang="zh-TW" altLang="en-US" dirty="0" smtClean="0"/>
              <a:t>簡單的說就是</a:t>
            </a:r>
            <a:r>
              <a:rPr lang="en-US" altLang="zh-TW" dirty="0" smtClean="0"/>
              <a:t>function</a:t>
            </a:r>
            <a:r>
              <a:rPr lang="zh-TW" altLang="en-US" dirty="0" smtClean="0"/>
              <a:t>在執行的時候呼叫自己。</a:t>
            </a:r>
            <a:endParaRPr lang="en-US" altLang="zh-TW" dirty="0" smtClean="0"/>
          </a:p>
          <a:p>
            <a:r>
              <a:rPr lang="zh-TW" altLang="en-US" dirty="0"/>
              <a:t>程式中使用到迴</a:t>
            </a:r>
            <a:r>
              <a:rPr lang="zh-TW" altLang="en-US" dirty="0" smtClean="0"/>
              <a:t>圈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for,while</a:t>
            </a:r>
            <a:r>
              <a:rPr lang="en-US" altLang="zh-TW" dirty="0" smtClean="0"/>
              <a:t>)</a:t>
            </a:r>
            <a:r>
              <a:rPr lang="zh-TW" altLang="en-US" dirty="0" smtClean="0"/>
              <a:t>的</a:t>
            </a:r>
            <a:r>
              <a:rPr lang="zh-TW" altLang="en-US" dirty="0"/>
              <a:t>地方通常都可以改成用</a:t>
            </a:r>
            <a:r>
              <a:rPr lang="en-US" altLang="zh-TW" dirty="0"/>
              <a:t>recursion </a:t>
            </a:r>
            <a:r>
              <a:rPr lang="zh-TW" altLang="en-US" dirty="0"/>
              <a:t>方式來做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 smtClean="0"/>
              <a:t>遞迴與迴圈一樣最重要的是終止條件。</a:t>
            </a:r>
            <a:endParaRPr lang="en-US" altLang="zh-TW" dirty="0" smtClean="0"/>
          </a:p>
          <a:p>
            <a:r>
              <a:rPr lang="en-US" altLang="zh-TW" dirty="0" smtClean="0"/>
              <a:t>Why use recursion?</a:t>
            </a:r>
          </a:p>
          <a:p>
            <a:pPr marL="0" indent="0">
              <a:buNone/>
            </a:pPr>
            <a:r>
              <a:rPr lang="zh-TW" altLang="en-US" dirty="0" smtClean="0"/>
              <a:t>     程式行數較少，方便撰寫。</a:t>
            </a:r>
            <a:endParaRPr lang="en-US" altLang="zh-TW" dirty="0" smtClean="0"/>
          </a:p>
          <a:p>
            <a:r>
              <a:rPr lang="zh-TW" altLang="en-US" dirty="0" smtClean="0"/>
              <a:t>迴圈好還是遞迴好</a:t>
            </a:r>
            <a:r>
              <a:rPr lang="en-US" altLang="zh-TW" dirty="0" smtClean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258880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三種遞迴方式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直接遞迴</a:t>
            </a:r>
            <a:r>
              <a:rPr lang="en-US" altLang="zh-TW" dirty="0" smtClean="0"/>
              <a:t>(direct recursion)</a:t>
            </a:r>
            <a:br>
              <a:rPr lang="en-US" altLang="zh-TW" dirty="0" smtClean="0"/>
            </a:br>
            <a:r>
              <a:rPr lang="zh-TW" altLang="en-US" dirty="0" smtClean="0"/>
              <a:t>最基本的遞迴，在</a:t>
            </a:r>
            <a:r>
              <a:rPr lang="en-US" altLang="zh-TW" dirty="0" smtClean="0"/>
              <a:t>function</a:t>
            </a:r>
            <a:r>
              <a:rPr lang="zh-TW" altLang="en-US" dirty="0" smtClean="0"/>
              <a:t>的中間呼叫自己。</a:t>
            </a:r>
            <a:endParaRPr lang="en-US" altLang="zh-TW" dirty="0" smtClean="0"/>
          </a:p>
          <a:p>
            <a:r>
              <a:rPr lang="zh-TW" altLang="en-US" dirty="0" smtClean="0"/>
              <a:t>間接遞迴</a:t>
            </a:r>
            <a:r>
              <a:rPr lang="en-US" altLang="zh-TW" dirty="0" smtClean="0"/>
              <a:t>(indirect recursion)</a:t>
            </a:r>
            <a:br>
              <a:rPr lang="en-US" altLang="zh-TW" dirty="0" smtClean="0"/>
            </a:br>
            <a:r>
              <a:rPr lang="zh-TW" altLang="en-US" dirty="0" smtClean="0"/>
              <a:t>原</a:t>
            </a:r>
            <a:r>
              <a:rPr lang="en-US" altLang="zh-TW" dirty="0" smtClean="0"/>
              <a:t>function</a:t>
            </a:r>
            <a:r>
              <a:rPr lang="zh-TW" altLang="en-US" dirty="0" smtClean="0"/>
              <a:t>先呼叫另一個</a:t>
            </a:r>
            <a:r>
              <a:rPr lang="en-US" altLang="zh-TW" dirty="0" smtClean="0"/>
              <a:t>function</a:t>
            </a:r>
            <a:r>
              <a:rPr lang="zh-TW" altLang="en-US" dirty="0" smtClean="0"/>
              <a:t>，再從那個</a:t>
            </a:r>
            <a:r>
              <a:rPr lang="en-US" altLang="zh-TW" dirty="0" smtClean="0"/>
              <a:t>function</a:t>
            </a:r>
            <a:r>
              <a:rPr lang="zh-TW" altLang="en-US" dirty="0" smtClean="0"/>
              <a:t>呼叫原</a:t>
            </a:r>
            <a:r>
              <a:rPr lang="en-US" altLang="zh-TW" dirty="0" smtClean="0"/>
              <a:t>function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 smtClean="0"/>
              <a:t>尾端遞迴</a:t>
            </a:r>
            <a:r>
              <a:rPr lang="en-US" altLang="zh-TW" dirty="0" smtClean="0"/>
              <a:t>(tail recursion)</a:t>
            </a:r>
            <a:br>
              <a:rPr lang="en-US" altLang="zh-TW" dirty="0" smtClean="0"/>
            </a:br>
            <a:r>
              <a:rPr lang="zh-TW" altLang="en-US" dirty="0" smtClean="0"/>
              <a:t>在程式的最後呼叫自己</a:t>
            </a:r>
            <a:r>
              <a:rPr lang="zh-TW" altLang="en-US" dirty="0"/>
              <a:t>，</a:t>
            </a:r>
            <a:r>
              <a:rPr lang="zh-TW" altLang="en-US" dirty="0" smtClean="0"/>
              <a:t>沒什麼意義，不如用循序的方式寫。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24030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失敗的遞迴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5266928" cy="4557713"/>
          </a:xfrm>
        </p:spPr>
        <p:txBody>
          <a:bodyPr/>
          <a:lstStyle/>
          <a:p>
            <a:r>
              <a:rPr lang="zh-TW" altLang="en-US" dirty="0" smtClean="0"/>
              <a:t>如果遞迴程式如同右邊一樣，不給予任何終止條件，此程式將會產生執行錯誤。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1628800"/>
            <a:ext cx="2448272" cy="23408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386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遞迴範例</a:t>
            </a:r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取</a:t>
            </a:r>
            <a:r>
              <a:rPr lang="en-US" altLang="zh-TW" dirty="0" smtClean="0"/>
              <a:t>N</a:t>
            </a:r>
            <a:r>
              <a:rPr lang="zh-TW" altLang="en-US" dirty="0" smtClean="0"/>
              <a:t>階乘</a:t>
            </a:r>
            <a:r>
              <a:rPr lang="zh-TW" altLang="en-US" dirty="0"/>
              <a:t>，左邊為遞迴寫法，右邊為迴圈寫法</a:t>
            </a:r>
          </a:p>
          <a:p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2420888"/>
            <a:ext cx="2552700" cy="4154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506" y="2924944"/>
            <a:ext cx="2578100" cy="256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53107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65322" y="0"/>
            <a:ext cx="8229600" cy="1143000"/>
          </a:xfrm>
        </p:spPr>
        <p:txBody>
          <a:bodyPr/>
          <a:lstStyle/>
          <a:p>
            <a:r>
              <a:rPr lang="zh-TW" altLang="en-US" dirty="0"/>
              <a:t>遞迴範例</a:t>
            </a:r>
            <a:r>
              <a:rPr lang="en-US" altLang="zh-TW" dirty="0" smtClean="0"/>
              <a:t>1(Cont.)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-12525" y="980728"/>
            <a:ext cx="3972292" cy="4104172"/>
          </a:xfrm>
        </p:spPr>
        <p:txBody>
          <a:bodyPr>
            <a:normAutofit/>
          </a:bodyPr>
          <a:lstStyle/>
          <a:p>
            <a:r>
              <a:rPr lang="zh-TW" altLang="en-US" sz="2800" dirty="0" smtClean="0"/>
              <a:t>輸入輸出</a:t>
            </a:r>
            <a:r>
              <a:rPr lang="en-US" altLang="zh-TW" sz="2800" dirty="0" smtClean="0"/>
              <a:t>: </a:t>
            </a:r>
            <a:r>
              <a:rPr lang="zh-TW" altLang="en-US" sz="2800" dirty="0" smtClean="0"/>
              <a:t>出現錯誤</a:t>
            </a:r>
            <a:r>
              <a:rPr lang="en-US" altLang="zh-TW" sz="2800" dirty="0" smtClean="0"/>
              <a:t>!??</a:t>
            </a:r>
          </a:p>
          <a:p>
            <a:r>
              <a:rPr lang="zh-TW" altLang="en-US" sz="2800" dirty="0" smtClean="0"/>
              <a:t>在</a:t>
            </a:r>
            <a:r>
              <a:rPr lang="en-US" altLang="zh-TW" sz="2800" dirty="0" err="1" smtClean="0"/>
              <a:t>linux</a:t>
            </a:r>
            <a:r>
              <a:rPr lang="zh-TW" altLang="en-US" sz="2800" dirty="0" smtClean="0"/>
              <a:t>可能就會顯示下面訊息</a:t>
            </a:r>
            <a:endParaRPr lang="en-US" altLang="zh-TW" sz="2800" dirty="0" smtClean="0"/>
          </a:p>
          <a:p>
            <a:endParaRPr lang="en-US" altLang="zh-TW" sz="2800" dirty="0"/>
          </a:p>
          <a:p>
            <a:endParaRPr lang="en-US" altLang="zh-TW" sz="2800" dirty="0" smtClean="0"/>
          </a:p>
          <a:p>
            <a:r>
              <a:rPr lang="zh-TW" altLang="en-US" sz="2800" dirty="0" smtClean="0"/>
              <a:t>也就是</a:t>
            </a:r>
            <a:r>
              <a:rPr lang="en-US" altLang="zh-TW" sz="2800" dirty="0" smtClean="0"/>
              <a:t/>
            </a:r>
            <a:br>
              <a:rPr lang="en-US" altLang="zh-TW" sz="2800" dirty="0" smtClean="0"/>
            </a:br>
            <a:r>
              <a:rPr lang="en-US" altLang="zh-TW" sz="2800" dirty="0" smtClean="0"/>
              <a:t>”segmentation fault”</a:t>
            </a:r>
          </a:p>
          <a:p>
            <a:pPr marL="0" indent="0">
              <a:buNone/>
            </a:pPr>
            <a:endParaRPr lang="en-US" altLang="zh-TW" dirty="0" smtClean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1190" y="839604"/>
            <a:ext cx="4872810" cy="3807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394" y="2588359"/>
            <a:ext cx="3748087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16396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Why </a:t>
            </a:r>
            <a:r>
              <a:rPr lang="en-US" altLang="zh-TW" dirty="0"/>
              <a:t>segmentation </a:t>
            </a:r>
            <a:r>
              <a:rPr lang="en-US" altLang="zh-TW" dirty="0" smtClean="0"/>
              <a:t>fault?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3898776" cy="4925144"/>
          </a:xfrm>
        </p:spPr>
        <p:txBody>
          <a:bodyPr>
            <a:normAutofit fontScale="77500" lnSpcReduction="20000"/>
          </a:bodyPr>
          <a:lstStyle/>
          <a:p>
            <a:pPr marL="285750" indent="-285750"/>
            <a:r>
              <a:rPr lang="zh-TW" altLang="en-US" dirty="0"/>
              <a:t>所謂</a:t>
            </a:r>
            <a:r>
              <a:rPr lang="en-US" altLang="zh-TW" dirty="0"/>
              <a:t>segmentation</a:t>
            </a:r>
            <a:r>
              <a:rPr lang="zh-TW" altLang="en-US" dirty="0"/>
              <a:t>是指二進位檔案內的區域，所有某種特定型別資訊被保存在裡面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marL="285750" indent="-285750"/>
            <a:r>
              <a:rPr lang="zh-TW" altLang="en-US" dirty="0" smtClean="0"/>
              <a:t>當程式在執行時，會給予一塊記憶體位置給程式做暫存用。</a:t>
            </a:r>
            <a:endParaRPr lang="en-US" altLang="zh-TW" dirty="0"/>
          </a:p>
          <a:p>
            <a:pPr marL="285750" indent="-285750"/>
            <a:r>
              <a:rPr lang="zh-TW" altLang="en-US" dirty="0"/>
              <a:t>當你的</a:t>
            </a:r>
            <a:r>
              <a:rPr lang="en-US" altLang="zh-TW" dirty="0"/>
              <a:t>data</a:t>
            </a:r>
            <a:r>
              <a:rPr lang="zh-TW" altLang="en-US" dirty="0"/>
              <a:t>存取到不屬於他的區段時就會產生錯誤。</a:t>
            </a:r>
            <a:endParaRPr lang="en-US" altLang="zh-TW" dirty="0"/>
          </a:p>
          <a:p>
            <a:pPr marL="285750" indent="-285750"/>
            <a:r>
              <a:rPr lang="zh-TW" altLang="en-US" dirty="0" smtClean="0"/>
              <a:t>在上面範例中</a:t>
            </a:r>
            <a:r>
              <a:rPr lang="zh-TW" altLang="en-US" smtClean="0"/>
              <a:t>是因為輸入值過</a:t>
            </a:r>
            <a:r>
              <a:rPr lang="zh-TW" altLang="en-US" dirty="0"/>
              <a:t>大造成過多的遞迴次數，使得本身的記憶體區段不夠用，而存取到別的區段造成錯誤。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5" name="圓角矩形 4"/>
          <p:cNvSpPr/>
          <p:nvPr/>
        </p:nvSpPr>
        <p:spPr>
          <a:xfrm>
            <a:off x="6156176" y="1841350"/>
            <a:ext cx="2016224" cy="43204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6156176" y="3859311"/>
            <a:ext cx="2016224" cy="792088"/>
          </a:xfrm>
          <a:prstGeom prst="rect">
            <a:avLst/>
          </a:prstGeom>
          <a:solidFill>
            <a:srgbClr val="FF00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bg1"/>
                </a:solidFill>
              </a:rPr>
              <a:t>DATA</a:t>
            </a:r>
            <a:endParaRPr lang="zh-TW" altLang="en-US" dirty="0">
              <a:solidFill>
                <a:schemeClr val="bg1"/>
              </a:solidFill>
            </a:endParaRPr>
          </a:p>
        </p:txBody>
      </p:sp>
      <p:cxnSp>
        <p:nvCxnSpPr>
          <p:cNvPr id="8" name="直線接點 7"/>
          <p:cNvCxnSpPr/>
          <p:nvPr/>
        </p:nvCxnSpPr>
        <p:spPr>
          <a:xfrm>
            <a:off x="6156176" y="2492896"/>
            <a:ext cx="20162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6156176" y="2924944"/>
            <a:ext cx="20162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>
            <a:off x="6110039" y="4651399"/>
            <a:ext cx="20162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6156176" y="3859311"/>
            <a:ext cx="20162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6156176" y="5085184"/>
            <a:ext cx="20162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6156176" y="5517232"/>
            <a:ext cx="20162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/>
          <p:cNvSpPr txBox="1"/>
          <p:nvPr/>
        </p:nvSpPr>
        <p:spPr>
          <a:xfrm>
            <a:off x="4863962" y="5332566"/>
            <a:ext cx="1220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0x0001600</a:t>
            </a:r>
            <a:endParaRPr lang="zh-TW" altLang="en-US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4886404" y="4900518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0x00016FF</a:t>
            </a:r>
            <a:endParaRPr lang="zh-TW" altLang="en-US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4863962" y="4509120"/>
            <a:ext cx="1220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0x0001800</a:t>
            </a:r>
            <a:endParaRPr lang="zh-TW" altLang="en-US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4886404" y="3674645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0x00019FF</a:t>
            </a:r>
            <a:endParaRPr lang="zh-TW" altLang="en-US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4863962" y="2740278"/>
            <a:ext cx="1220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0x0002000</a:t>
            </a:r>
            <a:endParaRPr lang="zh-TW" altLang="en-US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4886404" y="2308230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0x00020FF</a:t>
            </a:r>
            <a:endParaRPr lang="zh-TW" altLang="en-US" dirty="0"/>
          </a:p>
        </p:txBody>
      </p:sp>
      <p:cxnSp>
        <p:nvCxnSpPr>
          <p:cNvPr id="20" name="直線單箭頭接點 19"/>
          <p:cNvCxnSpPr/>
          <p:nvPr/>
        </p:nvCxnSpPr>
        <p:spPr>
          <a:xfrm>
            <a:off x="4431914" y="4693786"/>
            <a:ext cx="432048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23"/>
          <p:cNvSpPr txBox="1"/>
          <p:nvPr/>
        </p:nvSpPr>
        <p:spPr>
          <a:xfrm>
            <a:off x="4902644" y="3109610"/>
            <a:ext cx="327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>
                <a:solidFill>
                  <a:srgbClr val="FF0000"/>
                </a:solidFill>
              </a:rPr>
              <a:t>?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0758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4.07407E-6 L -0.00052 -0.037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" y="-187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0.0375 L -3.33333E-6 -0.0585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06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0.05856 L -0.00052 -0.0794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" y="-1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-0.0794 L -0.00052 -0.12153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1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0.12153 L -3.33333E-6 -0.20555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21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遞迴範例</a:t>
            </a:r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以</a:t>
            </a:r>
            <a:r>
              <a:rPr lang="en-US" altLang="zh-TW" dirty="0" err="1" smtClean="0"/>
              <a:t>fibonacci</a:t>
            </a:r>
            <a:r>
              <a:rPr lang="zh-TW" altLang="en-US" dirty="0" smtClean="0"/>
              <a:t>數列做範例，左邊為遞迴寫法，右邊為迴圈寫法</a:t>
            </a:r>
            <a:endParaRPr lang="zh-TW" altLang="en-US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852934"/>
            <a:ext cx="3494087" cy="3722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3068960"/>
            <a:ext cx="2794000" cy="278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47022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遞迴</a:t>
            </a:r>
            <a:r>
              <a:rPr lang="zh-TW" altLang="en-US" dirty="0" smtClean="0"/>
              <a:t>範例</a:t>
            </a:r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4402832" cy="4525963"/>
          </a:xfrm>
        </p:spPr>
        <p:txBody>
          <a:bodyPr/>
          <a:lstStyle/>
          <a:p>
            <a:r>
              <a:rPr lang="zh-TW" altLang="en-US" dirty="0" smtClean="0"/>
              <a:t>這個</a:t>
            </a:r>
            <a:r>
              <a:rPr lang="zh-TW" altLang="en-US" smtClean="0"/>
              <a:t>範例是將</a:t>
            </a:r>
            <a:r>
              <a:rPr lang="zh-TW" altLang="en-US" dirty="0" smtClean="0"/>
              <a:t>字串所有的排列組合</a:t>
            </a:r>
            <a:r>
              <a:rPr lang="zh-TW" altLang="en-US" dirty="0"/>
              <a:t>印</a:t>
            </a:r>
            <a:r>
              <a:rPr lang="zh-TW" altLang="en-US" dirty="0" smtClean="0"/>
              <a:t>出。</a:t>
            </a:r>
            <a:endParaRPr lang="en-US" altLang="zh-TW" dirty="0" smtClean="0"/>
          </a:p>
          <a:p>
            <a:r>
              <a:rPr lang="en-US" altLang="zh-TW" dirty="0" smtClean="0"/>
              <a:t>list[]=“</a:t>
            </a:r>
            <a:r>
              <a:rPr lang="en-US" altLang="zh-TW" dirty="0" err="1" smtClean="0"/>
              <a:t>abc</a:t>
            </a:r>
            <a:r>
              <a:rPr lang="en-US" altLang="zh-TW" dirty="0" smtClean="0"/>
              <a:t>”,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=0,n=2</a:t>
            </a:r>
          </a:p>
          <a:p>
            <a:r>
              <a:rPr lang="zh-TW" altLang="en-US" dirty="0" smtClean="0"/>
              <a:t>輸出如下</a:t>
            </a:r>
            <a:r>
              <a:rPr lang="en-US" altLang="zh-TW" dirty="0" smtClean="0"/>
              <a:t>: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1616471"/>
            <a:ext cx="3836987" cy="4802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39" y="4017564"/>
            <a:ext cx="3248025" cy="162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39956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/>
        </p:nvCxnSpPr>
        <p:spPr>
          <a:xfrm>
            <a:off x="2555776" y="4869160"/>
            <a:ext cx="0" cy="151216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1609279" y="6163024"/>
            <a:ext cx="1810593" cy="2074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>
            <a:off x="1605806" y="6056996"/>
            <a:ext cx="1810593" cy="1720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經典範例</a:t>
            </a:r>
            <a:r>
              <a:rPr lang="en-US" altLang="zh-TW" dirty="0" smtClean="0"/>
              <a:t>-</a:t>
            </a:r>
            <a:r>
              <a:rPr lang="zh-TW" altLang="en-US" dirty="0" smtClean="0"/>
              <a:t>河內塔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308932"/>
          </a:xfrm>
        </p:spPr>
        <p:txBody>
          <a:bodyPr/>
          <a:lstStyle/>
          <a:p>
            <a:r>
              <a:rPr lang="zh-TW" altLang="en-US" dirty="0" smtClean="0"/>
              <a:t>有</a:t>
            </a:r>
            <a:r>
              <a:rPr lang="en-US" altLang="zh-TW" dirty="0" smtClean="0"/>
              <a:t>3</a:t>
            </a:r>
            <a:r>
              <a:rPr lang="zh-TW" altLang="en-US" dirty="0" smtClean="0"/>
              <a:t>根棍子，</a:t>
            </a:r>
            <a:r>
              <a:rPr lang="en-US" altLang="zh-TW" dirty="0" smtClean="0"/>
              <a:t>n</a:t>
            </a:r>
            <a:r>
              <a:rPr lang="zh-TW" altLang="en-US" dirty="0" smtClean="0"/>
              <a:t>個圓盤，每個圓盤大小都不一樣，一開始圓盤全部放在最左邊，從上到下為小到大，最終需將全部圓盤移動到最右邊，計算總共移動次數。</a:t>
            </a:r>
            <a:endParaRPr lang="en-US" altLang="zh-TW" dirty="0" smtClean="0"/>
          </a:p>
          <a:p>
            <a:r>
              <a:rPr lang="zh-TW" altLang="en-US" dirty="0" smtClean="0"/>
              <a:t>移動條件：一次移動一個，大圓盤不能在小圓盤上。</a:t>
            </a:r>
            <a:endParaRPr lang="zh-TW" altLang="en-US" dirty="0"/>
          </a:p>
        </p:txBody>
      </p:sp>
      <p:sp>
        <p:nvSpPr>
          <p:cNvPr id="10" name="矩形 9"/>
          <p:cNvSpPr/>
          <p:nvPr/>
        </p:nvSpPr>
        <p:spPr>
          <a:xfrm>
            <a:off x="1847553" y="5957871"/>
            <a:ext cx="1356295" cy="2074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1844080" y="5851843"/>
            <a:ext cx="1356295" cy="1720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2123728" y="5767276"/>
            <a:ext cx="864096" cy="1820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2123728" y="5661248"/>
            <a:ext cx="864096" cy="212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4" name="直線接點 13"/>
          <p:cNvCxnSpPr/>
          <p:nvPr/>
        </p:nvCxnSpPr>
        <p:spPr>
          <a:xfrm>
            <a:off x="4716016" y="4775962"/>
            <a:ext cx="0" cy="151216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6732240" y="4798576"/>
            <a:ext cx="0" cy="151216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/>
          <p:cNvSpPr txBox="1"/>
          <p:nvPr/>
        </p:nvSpPr>
        <p:spPr>
          <a:xfrm>
            <a:off x="2366842" y="6427607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4557158" y="6427607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6577390" y="643536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40774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直線接點 10"/>
          <p:cNvCxnSpPr/>
          <p:nvPr/>
        </p:nvCxnSpPr>
        <p:spPr>
          <a:xfrm>
            <a:off x="4716016" y="2492896"/>
            <a:ext cx="0" cy="151216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6732240" y="2515510"/>
            <a:ext cx="0" cy="151216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經典範例</a:t>
            </a:r>
            <a:r>
              <a:rPr lang="en-US" altLang="zh-TW" dirty="0"/>
              <a:t>-</a:t>
            </a:r>
            <a:r>
              <a:rPr lang="zh-TW" altLang="en-US" dirty="0"/>
              <a:t>河內</a:t>
            </a:r>
            <a:r>
              <a:rPr lang="zh-TW" altLang="en-US" dirty="0" smtClean="0"/>
              <a:t>塔</a:t>
            </a:r>
            <a:r>
              <a:rPr lang="en-US" altLang="zh-TW" dirty="0" smtClean="0"/>
              <a:t>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1"/>
            <a:ext cx="7931224" cy="748680"/>
          </a:xfrm>
        </p:spPr>
        <p:txBody>
          <a:bodyPr/>
          <a:lstStyle/>
          <a:p>
            <a:r>
              <a:rPr lang="zh-TW" altLang="en-US" dirty="0" smtClean="0"/>
              <a:t>在這裡以三個圓盤做動畫範例</a:t>
            </a:r>
            <a:endParaRPr lang="zh-TW" altLang="en-US" dirty="0"/>
          </a:p>
        </p:txBody>
      </p:sp>
      <p:cxnSp>
        <p:nvCxnSpPr>
          <p:cNvPr id="4" name="直線接點 3"/>
          <p:cNvCxnSpPr/>
          <p:nvPr/>
        </p:nvCxnSpPr>
        <p:spPr>
          <a:xfrm>
            <a:off x="2555776" y="2586094"/>
            <a:ext cx="0" cy="151216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1609279" y="3879958"/>
            <a:ext cx="1810593" cy="2074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橢圓 5"/>
          <p:cNvSpPr/>
          <p:nvPr/>
        </p:nvSpPr>
        <p:spPr>
          <a:xfrm>
            <a:off x="1605806" y="3773930"/>
            <a:ext cx="1810593" cy="1720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1847553" y="3674805"/>
            <a:ext cx="1356295" cy="2074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1844080" y="3568777"/>
            <a:ext cx="1356295" cy="1720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2123728" y="3484210"/>
            <a:ext cx="864096" cy="1820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2123728" y="3378182"/>
            <a:ext cx="864096" cy="212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/>
          <p:cNvSpPr txBox="1"/>
          <p:nvPr/>
        </p:nvSpPr>
        <p:spPr>
          <a:xfrm>
            <a:off x="2366842" y="4149080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4557158" y="414908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6577390" y="415683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7" name="內容版面配置區 2"/>
          <p:cNvSpPr txBox="1">
            <a:spLocks/>
          </p:cNvSpPr>
          <p:nvPr/>
        </p:nvSpPr>
        <p:spPr>
          <a:xfrm>
            <a:off x="395536" y="5128592"/>
            <a:ext cx="7931224" cy="7486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 smtClean="0"/>
              <a:t>共移動七次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3304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104 -0.03727 0.00139 -0.05116 0.00469 -0.08125 C 0.00521 -0.1125 -0.0033 -0.1463 0.00625 -0.175 C 0.01007 -0.18658 0.02517 -0.17338 0.03438 -0.17084 C 0.05226 -0.16598 0.07083 -0.16412 0.08906 -0.1625 C 0.18194 -0.16366 0.23125 -0.16598 0.30938 -0.17084 C 0.33889 -0.17639 0.36128 -0.17986 0.39219 -0.18125 C 0.42778 -0.19074 0.40243 -0.18565 0.46875 -0.18334 C 0.47448 -0.17199 0.46927 -0.16204 0.46719 -0.15 C 0.46319 -0.12662 0.46215 -0.10255 0.45781 -0.07917 C 0.45712 -0.06736 0.45469 -0.05556 0.45469 -0.04375 C 0.45469 -0.00834 0.45781 0.01967 0.45781 0.05208 " pathEditMode="relative" ptsTypes="fffffffffffA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104 -0.03727 0.00139 -0.05116 0.00469 -0.08125 C 0.00521 -0.1125 -0.0033 -0.1463 0.00625 -0.175 C 0.01007 -0.18658 0.02517 -0.17338 0.03438 -0.17084 C 0.05226 -0.16598 0.07083 -0.16412 0.08906 -0.1625 C 0.18194 -0.16366 0.23125 -0.16598 0.30938 -0.17084 C 0.33889 -0.17639 0.36128 -0.17986 0.39219 -0.18125 C 0.42778 -0.19074 0.40243 -0.18565 0.46875 -0.18334 C 0.47448 -0.17199 0.46927 -0.16204 0.46719 -0.15 C 0.46319 -0.12662 0.46215 -0.10255 0.45781 -0.07917 C 0.45712 -0.06736 0.45469 -0.05556 0.45469 -0.04375 C 0.45469 -0.00834 0.45781 0.01967 0.45781 0.05208 " pathEditMode="relative" ptsTypes="fffffffffffA">
                                      <p:cBhvr>
                                        <p:cTn id="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399 -0.03704 0.01059 -0.07338 0.01406 -0.11042 C 0.01284 -0.14722 0.01111 -0.16019 0.00781 -0.19167 C 0.00833 -0.20069 0.0026 -0.21736 0.00937 -0.21875 C 0.05069 -0.22778 0.09409 -0.22083 0.13594 -0.21458 C 0.15989 -0.19329 0.23941 -0.20023 0.25 -0.2 C 0.24861 -0.16019 0.24982 -0.16759 0.24687 -0.14167 C 0.24514 -0.12593 0.246 -0.13194 0.24219 -0.11667 C 0.24166 -0.11458 0.24062 -0.11042 0.24062 -0.11042 C 0.24236 -0.08796 0.24531 -0.0662 0.24687 -0.04375 C 0.24635 -0.02569 0.24531 0.01042 0.24531 0.01042 " pathEditMode="relative" ptsTypes="ffffffffffA">
                                      <p:cBhvr>
                                        <p:cTn id="1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399 -0.03704 0.01059 -0.07338 0.01406 -0.11042 C 0.01284 -0.14722 0.01111 -0.16019 0.00781 -0.19167 C 0.00833 -0.20069 0.0026 -0.21736 0.00937 -0.21875 C 0.05069 -0.22778 0.09409 -0.22083 0.13594 -0.21458 C 0.15989 -0.19329 0.23941 -0.20023 0.25 -0.2 C 0.24861 -0.16019 0.24982 -0.16759 0.24687 -0.14167 C 0.24514 -0.12593 0.246 -0.13194 0.24219 -0.11667 C 0.24166 -0.11458 0.24062 -0.11042 0.24062 -0.11042 C 0.24236 -0.08796 0.24531 -0.0662 0.24687 -0.04375 C 0.24635 -0.02569 0.24531 0.01042 0.24531 0.01042 " pathEditMode="relative" ptsTypes="ffffffffffA">
                                      <p:cBhvr>
                                        <p:cTn id="1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5782 0.04166 C 0.46355 -0.01991 0.4533 -0.08287 0.4625 -0.14375 C 0.46146 -0.16598 0.46181 -0.18843 0.45938 -0.21042 C 0.45903 -0.21389 0.44132 -0.21875 0.44063 -0.21875 C 0.42188 -0.21991 0.40313 -0.22014 0.38438 -0.22084 C 0.34653 -0.22593 0.3099 -0.22431 0.27188 -0.22292 C 0.2448 -0.21389 0.26997 -0.22361 0.25313 -0.21459 C 0.25 -0.21297 0.24375 -0.21042 0.24375 -0.21019 C 0.23577 -0.19445 0.23907 -0.20324 0.23907 -0.16667 C 0.23907 -0.11111 0.21268 0.03935 0.24219 3.7037E-6 " pathEditMode="relative" rAng="0" ptsTypes="fffffffffA">
                                      <p:cBhvr>
                                        <p:cTn id="1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979" y="-1338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5782 0.03889 C 0.46355 -0.02268 0.4533 -0.08565 0.4625 -0.14653 C 0.46146 -0.16875 0.46181 -0.1912 0.45938 -0.21319 C 0.45903 -0.21666 0.44132 -0.22153 0.44063 -0.22153 C 0.42188 -0.22268 0.40313 -0.22291 0.38438 -0.22361 C 0.34653 -0.2287 0.3099 -0.22708 0.27188 -0.22569 C 0.2448 -0.21666 0.26997 -0.22639 0.25313 -0.21736 C 0.25 -0.21574 0.24375 -0.21319 0.24375 -0.21296 C 0.23577 -0.19722 0.23907 -0.20602 0.23907 -0.16944 C 0.23907 -0.11389 0.21268 0.03658 0.24219 -0.00278 " pathEditMode="relative" rAng="0" ptsTypes="fffffffffA">
                                      <p:cBhvr>
                                        <p:cTn id="2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979" y="-133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01365 C 0.00347 -0.00926 0.00139 -0.00047 0.00469 -0.01343 C 0.00903 -0.05394 0.0066 -0.09653 0.0125 -0.13635 C 0.01302 -0.16065 0.01285 -0.18496 0.01406 -0.20926 C 0.01493 -0.22732 0.00729 -0.25348 0.01875 -0.26343 C 0.03403 -0.27685 0.05521 -0.26204 0.07344 -0.26135 C 0.14271 -0.24584 0.21667 -0.25 0.28594 -0.24885 C 0.30122 -0.24653 0.31406 -0.24398 0.32969 -0.2426 C 0.35538 -0.23403 0.31875 -0.2456 0.39063 -0.23843 C 0.3934 -0.2382 0.39566 -0.23496 0.39844 -0.23426 C 0.41233 -0.23102 0.42674 -0.23102 0.44063 -0.22801 C 0.45 -0.22871 0.45938 -0.22894 0.46875 -0.2301 C 0.47031 -0.23033 0.47205 -0.23357 0.47344 -0.23218 C 0.47517 -0.23056 0.47448 -0.22662 0.475 -0.22385 C 0.46927 -0.2007 0.47135 -0.17593 0.46563 -0.15301 C 0.46649 -0.10625 0.47031 -0.05996 0.47031 -0.01343 " pathEditMode="relative" rAng="0" ptsTypes="fffffffffffffffA">
                                      <p:cBhvr>
                                        <p:cTn id="2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750" y="-14537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0.01366 C 0.00348 -0.00926 0.00139 -0.00046 0.00469 -0.01342 C 0.00903 -0.05393 0.0066 -0.09653 0.0125 -0.13634 C 0.01302 -0.16065 0.01285 -0.18495 0.01407 -0.20926 C 0.01493 -0.22731 0.00729 -0.25347 0.01875 -0.26342 C 0.03403 -0.27685 0.05521 -0.26204 0.07344 -0.26134 C 0.14271 -0.24583 0.21667 -0.25 0.28594 -0.24884 C 0.30122 -0.24653 0.31407 -0.24398 0.32969 -0.24259 C 0.35538 -0.23403 0.31875 -0.2456 0.39063 -0.23842 C 0.39341 -0.23819 0.39566 -0.23495 0.39844 -0.23426 C 0.41233 -0.23102 0.42674 -0.23102 0.44063 -0.22801 C 0.45 -0.2287 0.45938 -0.22893 0.46875 -0.23009 C 0.47032 -0.23032 0.47205 -0.23356 0.47344 -0.23217 C 0.47518 -0.23055 0.47448 -0.22662 0.475 -0.22384 C 0.46927 -0.20069 0.47136 -0.17592 0.46563 -0.15301 C 0.4665 -0.10625 0.47032 -0.05995 0.47032 -0.01342 " pathEditMode="relative" rAng="0" ptsTypes="fffffffffffffffA">
                                      <p:cBhvr>
                                        <p:cTn id="2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750" y="-1453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438 3.7037E-6 C 0.23577 -0.02107 0.23681 -0.0419 0.24063 -0.0625 C 0.23959 -0.1632 0.24254 -0.17084 0.23282 -0.23542 C 0.22188 -0.2257 0.23195 -0.23311 0.20782 -0.22917 C 0.18612 -0.22547 0.16285 -0.22477 0.14063 -0.22292 C 0.11146 -0.21644 0.14427 -0.22292 0.07657 -0.22292 C 0.05365 -0.22292 0.03073 -0.22153 0.00782 -0.22084 C 0.01372 -0.17431 0.00643 -0.12894 0.00157 -0.08334 C -0.00034 -0.06528 -0.00138 -0.04676 -0.00468 -0.02917 C -0.00555 -0.01667 -0.00781 -0.00417 -0.00781 0.00833 C -0.00781 0.0243 -0.00625 0.05625 -0.00625 0.05648 " pathEditMode="relative" rAng="0" ptsTypes="ffffffffffA">
                                      <p:cBhvr>
                                        <p:cTn id="3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701" y="-8958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438 -1.85185E-6 C 0.23577 -0.02106 0.23681 -0.0419 0.24063 -0.0625 C 0.23959 -0.16319 0.24254 -0.17083 0.23282 -0.23541 C 0.22188 -0.22569 0.23195 -0.2331 0.20782 -0.22916 C 0.18612 -0.22546 0.16285 -0.22477 0.14063 -0.22291 C 0.11146 -0.21643 0.14427 -0.22291 0.07657 -0.22291 C 0.05365 -0.22291 0.03073 -0.22153 0.00782 -0.22083 C 0.01372 -0.1743 0.00643 -0.12893 0.00157 -0.08333 C -0.00034 -0.06528 -0.00138 -0.04676 -0.00468 -0.02916 C -0.00555 -0.01666 -0.00781 -0.00416 -0.00781 0.00834 C -0.00781 0.02431 -0.00625 0.05625 -0.00625 0.05648 " pathEditMode="relative" rAng="0" ptsTypes="ffffffffffA">
                                      <p:cBhvr>
                                        <p:cTn id="3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701" y="-895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993 4.07407E-6 C 0.24079 -0.05996 0.24357 -0.10625 0.24618 -0.1625 C 0.24739 -0.1875 0.24357 -0.21366 0.2493 -0.2375 C 0.25086 -0.24422 0.25972 -0.23889 0.26493 -0.23959 C 0.43107 -0.23774 0.39045 -0.24954 0.46336 -0.23334 C 0.4618 -0.23195 0.45972 -0.23125 0.45868 -0.22917 C 0.45746 -0.22686 0.45763 -0.22362 0.45711 -0.22084 C 0.45486 -0.21042 0.45243 -0.20024 0.45086 -0.18959 C 0.45138 -0.16737 0.45156 -0.14514 0.45243 -0.12292 C 0.45295 -0.10857 0.4585 -0.09653 0.4618 -0.08334 C 0.46684 -0.0632 0.46493 -0.03704 0.46493 -0.01667 " pathEditMode="relative" rAng="0" ptsTypes="ffffffffffA">
                                      <p:cBhvr>
                                        <p:cTn id="3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337" y="-12477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993 -3.7037E-7 C 0.2408 -0.05995 0.24357 -0.10625 0.24618 -0.1625 C 0.24739 -0.1875 0.24357 -0.21366 0.2493 -0.2375 C 0.25087 -0.24421 0.25972 -0.23889 0.26493 -0.23958 C 0.43107 -0.23773 0.39045 -0.24954 0.46337 -0.23333 C 0.4618 -0.23194 0.45972 -0.23125 0.45868 -0.22917 C 0.45746 -0.22685 0.45764 -0.22361 0.45712 -0.22083 C 0.45486 -0.21042 0.45243 -0.20023 0.45087 -0.18958 C 0.45139 -0.16736 0.45156 -0.14514 0.45243 -0.12292 C 0.45295 -0.10856 0.45851 -0.09653 0.4618 -0.08333 C 0.46684 -0.06319 0.46493 -0.03704 0.46493 -0.01667 " pathEditMode="relative" rAng="0" ptsTypes="ffffffffffA">
                                      <p:cBhvr>
                                        <p:cTn id="3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337" y="-124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0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729 0.03773 C -0.00607 -0.00834 -0.00503 -0.05371 -0.00885 -0.09977 C -0.00781 -0.14213 -0.02361 -0.1919 -0.00573 -0.22686 C -0.00468 -0.22871 0.10695 -0.22084 0.11459 -0.22061 C 0.15209 -0.20811 0.19862 -0.2132 0.2349 -0.21227 C 0.31129 -0.19954 0.39046 -0.20903 0.46771 -0.20602 C 0.46563 -0.19491 0.4658 -0.18357 0.46302 -0.17269 C 0.46355 -0.12269 0.46459 -0.02269 0.46459 -0.02246 " pathEditMode="relative" rAng="0" ptsTypes="fffffffA">
                                      <p:cBhvr>
                                        <p:cTn id="4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934" y="-13333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729 0.03773 C -0.00607 -0.00833 -0.00503 -0.0537 -0.00885 -0.09977 C -0.00781 -0.14213 -0.02361 -0.1919 -0.00573 -0.22685 C -0.00468 -0.2287 0.10695 -0.22083 0.11459 -0.2206 C 0.15209 -0.2081 0.19862 -0.21319 0.2349 -0.21227 C 0.31129 -0.19954 0.39046 -0.20903 0.46771 -0.20602 C 0.46563 -0.19491 0.4658 -0.18356 0.46302 -0.17268 C 0.46355 -0.12268 0.46459 -0.02268 0.46459 -0.02245 " pathEditMode="relative" rAng="0" ptsTypes="fffffffA">
                                      <p:cBhvr>
                                        <p:cTn id="4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934" y="-133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9" grpId="2" animBg="1"/>
      <p:bldP spid="9" grpId="3" animBg="1"/>
      <p:bldP spid="10" grpId="0" animBg="1"/>
      <p:bldP spid="10" grpId="1" animBg="1"/>
      <p:bldP spid="10" grpId="2" animBg="1"/>
      <p:bldP spid="10" grpId="3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經典範例</a:t>
            </a:r>
            <a:r>
              <a:rPr lang="en-US" altLang="zh-TW" dirty="0"/>
              <a:t>-</a:t>
            </a:r>
            <a:r>
              <a:rPr lang="zh-TW" altLang="en-US" dirty="0"/>
              <a:t>河內塔</a:t>
            </a:r>
            <a:r>
              <a:rPr lang="en-US" altLang="zh-TW" dirty="0"/>
              <a:t>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如何用遞迴</a:t>
            </a:r>
            <a:r>
              <a:rPr lang="en-US" altLang="zh-TW" dirty="0" smtClean="0"/>
              <a:t>?</a:t>
            </a:r>
          </a:p>
          <a:p>
            <a:r>
              <a:rPr lang="en-US" altLang="zh-TW" dirty="0" smtClean="0"/>
              <a:t>Step1:</a:t>
            </a:r>
            <a:r>
              <a:rPr lang="zh-TW" altLang="en-US" dirty="0" smtClean="0"/>
              <a:t>把較小兩個從</a:t>
            </a:r>
            <a:r>
              <a:rPr lang="en-US" altLang="zh-TW" dirty="0" smtClean="0"/>
              <a:t>A</a:t>
            </a:r>
            <a:r>
              <a:rPr lang="zh-TW" altLang="en-US" dirty="0" smtClean="0"/>
              <a:t>移動到</a:t>
            </a:r>
            <a:r>
              <a:rPr lang="en-US" altLang="zh-TW" dirty="0" smtClean="0"/>
              <a:t>B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en-US" altLang="zh-TW" dirty="0" smtClean="0"/>
              <a:t>Step2:</a:t>
            </a:r>
            <a:r>
              <a:rPr lang="zh-TW" altLang="en-US" dirty="0" smtClean="0"/>
              <a:t>把最大的從</a:t>
            </a:r>
            <a:r>
              <a:rPr lang="en-US" altLang="zh-TW" dirty="0" smtClean="0"/>
              <a:t>A</a:t>
            </a:r>
            <a:r>
              <a:rPr lang="zh-TW" altLang="en-US" dirty="0" smtClean="0"/>
              <a:t>移動到</a:t>
            </a:r>
            <a:r>
              <a:rPr lang="en-US" altLang="zh-TW" dirty="0" smtClean="0"/>
              <a:t>C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en-US" altLang="zh-TW" dirty="0" smtClean="0"/>
              <a:t>Step3:</a:t>
            </a:r>
            <a:r>
              <a:rPr lang="zh-TW" altLang="en-US" dirty="0" smtClean="0"/>
              <a:t>把較小兩個從</a:t>
            </a:r>
            <a:r>
              <a:rPr lang="en-US" altLang="zh-TW" dirty="0" smtClean="0"/>
              <a:t>B</a:t>
            </a:r>
            <a:r>
              <a:rPr lang="zh-TW" altLang="en-US" dirty="0" smtClean="0"/>
              <a:t>移動到</a:t>
            </a:r>
            <a:r>
              <a:rPr lang="en-US" altLang="zh-TW" dirty="0" smtClean="0"/>
              <a:t>C</a:t>
            </a:r>
            <a:r>
              <a:rPr lang="zh-TW" altLang="en-US" dirty="0" smtClean="0"/>
              <a:t>。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1498191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經典範例</a:t>
            </a:r>
            <a:r>
              <a:rPr lang="en-US" altLang="zh-TW" dirty="0"/>
              <a:t>-</a:t>
            </a:r>
            <a:r>
              <a:rPr lang="zh-TW" altLang="en-US" dirty="0"/>
              <a:t>河內塔</a:t>
            </a:r>
            <a:r>
              <a:rPr lang="en-US" altLang="zh-TW" dirty="0"/>
              <a:t>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3558240" cy="4525963"/>
          </a:xfrm>
        </p:spPr>
        <p:txBody>
          <a:bodyPr/>
          <a:lstStyle/>
          <a:p>
            <a:r>
              <a:rPr lang="zh-TW" altLang="en-US" dirty="0" smtClean="0"/>
              <a:t>範例程式將移動次數紀錄下來。</a:t>
            </a:r>
            <a:endParaRPr lang="en-US" altLang="zh-TW" dirty="0" smtClean="0"/>
          </a:p>
          <a:p>
            <a:r>
              <a:rPr lang="en-US" altLang="zh-TW" dirty="0"/>
              <a:t>Step1:</a:t>
            </a:r>
            <a:r>
              <a:rPr lang="zh-TW" altLang="en-US" dirty="0"/>
              <a:t>把較</a:t>
            </a:r>
            <a:r>
              <a:rPr lang="zh-TW" altLang="en-US" dirty="0" smtClean="0"/>
              <a:t>小</a:t>
            </a:r>
            <a:r>
              <a:rPr lang="en-US" altLang="zh-TW" dirty="0" smtClean="0"/>
              <a:t>n-1</a:t>
            </a:r>
            <a:r>
              <a:rPr lang="zh-TW" altLang="en-US" dirty="0" smtClean="0"/>
              <a:t>個</a:t>
            </a:r>
            <a:r>
              <a:rPr lang="zh-TW" altLang="en-US" dirty="0"/>
              <a:t>從</a:t>
            </a:r>
            <a:r>
              <a:rPr lang="en-US" altLang="zh-TW" dirty="0"/>
              <a:t>A</a:t>
            </a:r>
            <a:r>
              <a:rPr lang="zh-TW" altLang="en-US" dirty="0"/>
              <a:t>移動到</a:t>
            </a:r>
            <a:r>
              <a:rPr lang="en-US" altLang="zh-TW" dirty="0"/>
              <a:t>B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en-US" altLang="zh-TW" dirty="0"/>
              <a:t>Step2:</a:t>
            </a:r>
            <a:r>
              <a:rPr lang="zh-TW" altLang="en-US" dirty="0"/>
              <a:t>把最大的從</a:t>
            </a:r>
            <a:r>
              <a:rPr lang="en-US" altLang="zh-TW" dirty="0"/>
              <a:t>A</a:t>
            </a:r>
            <a:r>
              <a:rPr lang="zh-TW" altLang="en-US" dirty="0"/>
              <a:t>移動到</a:t>
            </a:r>
            <a:r>
              <a:rPr lang="en-US" altLang="zh-TW" dirty="0"/>
              <a:t>C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en-US" altLang="zh-TW" dirty="0"/>
              <a:t>Step3:</a:t>
            </a:r>
            <a:r>
              <a:rPr lang="zh-TW" altLang="en-US" dirty="0"/>
              <a:t>把較</a:t>
            </a:r>
            <a:r>
              <a:rPr lang="zh-TW" altLang="en-US" dirty="0" smtClean="0"/>
              <a:t>小</a:t>
            </a:r>
            <a:r>
              <a:rPr lang="en-US" altLang="zh-TW" dirty="0" smtClean="0"/>
              <a:t>n-1</a:t>
            </a:r>
            <a:r>
              <a:rPr lang="zh-TW" altLang="en-US" dirty="0" smtClean="0"/>
              <a:t>個</a:t>
            </a:r>
            <a:r>
              <a:rPr lang="zh-TW" altLang="en-US" dirty="0"/>
              <a:t>從</a:t>
            </a:r>
            <a:r>
              <a:rPr lang="en-US" altLang="zh-TW" dirty="0"/>
              <a:t>B</a:t>
            </a:r>
            <a:r>
              <a:rPr lang="zh-TW" altLang="en-US" dirty="0"/>
              <a:t>移動到</a:t>
            </a:r>
            <a:r>
              <a:rPr lang="en-US" altLang="zh-TW" dirty="0"/>
              <a:t>C</a:t>
            </a:r>
            <a:r>
              <a:rPr lang="zh-TW" altLang="en-US" dirty="0"/>
              <a:t>。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1708795"/>
            <a:ext cx="4326759" cy="3744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直線單箭頭接點 5"/>
          <p:cNvCxnSpPr/>
          <p:nvPr/>
        </p:nvCxnSpPr>
        <p:spPr>
          <a:xfrm>
            <a:off x="4716016" y="4005064"/>
            <a:ext cx="864096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8"/>
          <p:cNvCxnSpPr/>
          <p:nvPr/>
        </p:nvCxnSpPr>
        <p:spPr>
          <a:xfrm>
            <a:off x="4716016" y="4221088"/>
            <a:ext cx="864096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/>
          <p:nvPr/>
        </p:nvCxnSpPr>
        <p:spPr>
          <a:xfrm>
            <a:off x="4716016" y="4437112"/>
            <a:ext cx="864096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4015440" y="3820398"/>
            <a:ext cx="700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step1</a:t>
            </a:r>
            <a:endParaRPr lang="zh-TW" altLang="en-US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4001805" y="4036422"/>
            <a:ext cx="700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step2</a:t>
            </a:r>
            <a:endParaRPr lang="zh-TW" altLang="en-US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4001805" y="4252446"/>
            <a:ext cx="700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step3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09754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4" descr="program1"/>
          <p:cNvPicPr>
            <a:picLocks noChangeAspect="1" noChangeArrowheads="1"/>
          </p:cNvPicPr>
          <p:nvPr/>
        </p:nvPicPr>
        <p:blipFill>
          <a:blip r:embed="rId2">
            <a:lum contrast="-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1268413"/>
            <a:ext cx="6337300" cy="532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9034" name="Text Box 10"/>
          <p:cNvSpPr txBox="1">
            <a:spLocks noChangeArrowheads="1"/>
          </p:cNvSpPr>
          <p:nvPr/>
        </p:nvSpPr>
        <p:spPr bwMode="auto">
          <a:xfrm>
            <a:off x="971550" y="1484313"/>
            <a:ext cx="5183188" cy="3046412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/>
            <a:r>
              <a:rPr lang="en-US" altLang="zh-TW" sz="3200">
                <a:solidFill>
                  <a:srgbClr val="0000FF"/>
                </a:solidFill>
                <a:latin typeface="Comic Sans MS" pitchFamily="66" charset="0"/>
              </a:rPr>
              <a:t>First,</a:t>
            </a:r>
          </a:p>
          <a:p>
            <a:pPr eaLnBrk="1" hangingPunct="1"/>
            <a:r>
              <a:rPr lang="en-US" altLang="zh-TW" sz="3200">
                <a:solidFill>
                  <a:srgbClr val="0000FF"/>
                </a:solidFill>
                <a:latin typeface="Comic Sans MS" pitchFamily="66" charset="0"/>
              </a:rPr>
              <a:t>We </a:t>
            </a:r>
            <a:r>
              <a:rPr lang="en-US" altLang="zh-TW" sz="3200" i="1">
                <a:solidFill>
                  <a:srgbClr val="0000FF"/>
                </a:solidFill>
                <a:latin typeface="Comic Sans MS" pitchFamily="66" charset="0"/>
              </a:rPr>
              <a:t>Permutations </a:t>
            </a:r>
            <a:r>
              <a:rPr lang="en-US" altLang="zh-TW" sz="3200">
                <a:solidFill>
                  <a:srgbClr val="0000FF"/>
                </a:solidFill>
                <a:latin typeface="Comic Sans MS" pitchFamily="66" charset="0"/>
              </a:rPr>
              <a:t>the </a:t>
            </a:r>
          </a:p>
          <a:p>
            <a:pPr eaLnBrk="1" hangingPunct="1"/>
            <a:r>
              <a:rPr lang="en-US" altLang="zh-TW" sz="3200">
                <a:solidFill>
                  <a:srgbClr val="CC0000"/>
                </a:solidFill>
                <a:latin typeface="Comic Sans MS" pitchFamily="66" charset="0"/>
              </a:rPr>
              <a:t>char *string = “abc” ;</a:t>
            </a:r>
          </a:p>
          <a:p>
            <a:pPr eaLnBrk="1" hangingPunct="1"/>
            <a:r>
              <a:rPr lang="en-US" altLang="zh-TW" sz="3200">
                <a:solidFill>
                  <a:srgbClr val="0000FF"/>
                </a:solidFill>
                <a:latin typeface="Comic Sans MS" pitchFamily="66" charset="0"/>
              </a:rPr>
              <a:t>by call </a:t>
            </a:r>
            <a:r>
              <a:rPr lang="en-US" altLang="zh-TW" sz="3200" i="1">
                <a:solidFill>
                  <a:srgbClr val="CC0000"/>
                </a:solidFill>
                <a:latin typeface="Comic Sans MS" pitchFamily="66" charset="0"/>
              </a:rPr>
              <a:t>perm(string,0,2);</a:t>
            </a:r>
          </a:p>
          <a:p>
            <a:pPr eaLnBrk="1" hangingPunct="1"/>
            <a:r>
              <a:rPr lang="en-US" altLang="zh-TW" sz="3200">
                <a:solidFill>
                  <a:srgbClr val="0000FF"/>
                </a:solidFill>
                <a:latin typeface="Comic Sans MS" pitchFamily="66" charset="0"/>
              </a:rPr>
              <a:t>0 is start index </a:t>
            </a:r>
          </a:p>
          <a:p>
            <a:pPr eaLnBrk="1" hangingPunct="1"/>
            <a:r>
              <a:rPr lang="en-US" altLang="zh-TW" sz="3200">
                <a:solidFill>
                  <a:srgbClr val="0000FF"/>
                </a:solidFill>
                <a:latin typeface="Comic Sans MS" pitchFamily="66" charset="0"/>
              </a:rPr>
              <a:t>2 is end index 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90029"/>
            <a:ext cx="6705600" cy="5746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zh-TW" altLang="en-US" dirty="0"/>
              <a:t>字串排列組合</a:t>
            </a:r>
            <a:endParaRPr lang="zh-TW" altLang="en-US" dirty="0" smtClean="0"/>
          </a:p>
        </p:txBody>
      </p:sp>
      <p:sp>
        <p:nvSpPr>
          <p:cNvPr id="129030" name="AutoShape 6"/>
          <p:cNvSpPr>
            <a:spLocks noChangeArrowheads="1"/>
          </p:cNvSpPr>
          <p:nvPr/>
        </p:nvSpPr>
        <p:spPr bwMode="auto">
          <a:xfrm>
            <a:off x="179388" y="2205038"/>
            <a:ext cx="395287" cy="144462"/>
          </a:xfrm>
          <a:prstGeom prst="rightArrow">
            <a:avLst>
              <a:gd name="adj1" fmla="val 50000"/>
              <a:gd name="adj2" fmla="val 68407"/>
            </a:avLst>
          </a:prstGeom>
          <a:solidFill>
            <a:srgbClr val="CC0000"/>
          </a:solidFill>
          <a:ln w="9525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129036" name="Rectangle 12"/>
          <p:cNvSpPr>
            <a:spLocks noChangeArrowheads="1"/>
          </p:cNvSpPr>
          <p:nvPr/>
        </p:nvSpPr>
        <p:spPr bwMode="auto">
          <a:xfrm>
            <a:off x="6804025" y="836613"/>
            <a:ext cx="2087563" cy="4318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CC0000"/>
                </a:solidFill>
              </a:rPr>
              <a:t>main</a:t>
            </a:r>
          </a:p>
        </p:txBody>
      </p:sp>
      <p:sp>
        <p:nvSpPr>
          <p:cNvPr id="129038" name="AutoShape 14"/>
          <p:cNvSpPr>
            <a:spLocks noChangeArrowheads="1"/>
          </p:cNvSpPr>
          <p:nvPr/>
        </p:nvSpPr>
        <p:spPr bwMode="auto">
          <a:xfrm>
            <a:off x="7667625" y="1268413"/>
            <a:ext cx="360363" cy="2159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CC0000"/>
          </a:solidFill>
          <a:ln w="9525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129039" name="Rectangle 15"/>
          <p:cNvSpPr>
            <a:spLocks noChangeArrowheads="1"/>
          </p:cNvSpPr>
          <p:nvPr/>
        </p:nvSpPr>
        <p:spPr bwMode="auto">
          <a:xfrm>
            <a:off x="6804025" y="1557338"/>
            <a:ext cx="2087563" cy="4318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CC0000"/>
                </a:solidFill>
              </a:rPr>
              <a:t>Perm ( string , 0 , 2 )</a:t>
            </a:r>
          </a:p>
        </p:txBody>
      </p:sp>
      <p:sp>
        <p:nvSpPr>
          <p:cNvPr id="129040" name="Rectangle 16"/>
          <p:cNvSpPr>
            <a:spLocks noChangeArrowheads="1"/>
          </p:cNvSpPr>
          <p:nvPr/>
        </p:nvSpPr>
        <p:spPr bwMode="auto">
          <a:xfrm>
            <a:off x="1116013" y="5589588"/>
            <a:ext cx="2736850" cy="43338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CC0000"/>
                </a:solidFill>
              </a:rPr>
              <a:t>I=0 J=0  N=2</a:t>
            </a:r>
          </a:p>
        </p:txBody>
      </p:sp>
      <p:sp>
        <p:nvSpPr>
          <p:cNvPr id="129041" name="Rectangle 17"/>
          <p:cNvSpPr>
            <a:spLocks noChangeArrowheads="1"/>
          </p:cNvSpPr>
          <p:nvPr/>
        </p:nvSpPr>
        <p:spPr bwMode="auto">
          <a:xfrm>
            <a:off x="4284663" y="4652963"/>
            <a:ext cx="2879725" cy="8636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CC0000"/>
                </a:solidFill>
              </a:rPr>
              <a:t>SWAP ( list[0],list[0], temp)</a:t>
            </a:r>
          </a:p>
          <a:p>
            <a:pPr algn="ctr" eaLnBrk="1" hangingPunct="1"/>
            <a:r>
              <a:rPr lang="en-US" altLang="zh-TW">
                <a:solidFill>
                  <a:srgbClr val="000000"/>
                </a:solidFill>
              </a:rPr>
              <a:t>SWAP ‘a’ </a:t>
            </a:r>
            <a:r>
              <a:rPr lang="en-US" altLang="zh-TW">
                <a:solidFill>
                  <a:srgbClr val="000000"/>
                </a:solidFill>
                <a:sym typeface="Wingdings" pitchFamily="2" charset="2"/>
              </a:rPr>
              <a:t> </a:t>
            </a:r>
            <a:r>
              <a:rPr lang="en-US" altLang="zh-TW">
                <a:solidFill>
                  <a:srgbClr val="000000"/>
                </a:solidFill>
              </a:rPr>
              <a:t>‘a’</a:t>
            </a:r>
          </a:p>
        </p:txBody>
      </p:sp>
      <p:sp>
        <p:nvSpPr>
          <p:cNvPr id="129042" name="Rectangle 18"/>
          <p:cNvSpPr>
            <a:spLocks noChangeArrowheads="1"/>
          </p:cNvSpPr>
          <p:nvPr/>
        </p:nvSpPr>
        <p:spPr bwMode="auto">
          <a:xfrm>
            <a:off x="4140200" y="5661025"/>
            <a:ext cx="2736850" cy="43338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CC0000"/>
                </a:solidFill>
              </a:rPr>
              <a:t>Call : perm ( list,1, 2)</a:t>
            </a:r>
          </a:p>
        </p:txBody>
      </p:sp>
      <p:sp>
        <p:nvSpPr>
          <p:cNvPr id="129044" name="AutoShape 20"/>
          <p:cNvSpPr>
            <a:spLocks noChangeArrowheads="1"/>
          </p:cNvSpPr>
          <p:nvPr/>
        </p:nvSpPr>
        <p:spPr bwMode="auto">
          <a:xfrm>
            <a:off x="7667625" y="1987550"/>
            <a:ext cx="360363" cy="2159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CC0000"/>
          </a:solidFill>
          <a:ln w="9525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129045" name="Rectangle 21"/>
          <p:cNvSpPr>
            <a:spLocks noChangeArrowheads="1"/>
          </p:cNvSpPr>
          <p:nvPr/>
        </p:nvSpPr>
        <p:spPr bwMode="auto">
          <a:xfrm>
            <a:off x="6804025" y="2276475"/>
            <a:ext cx="2087563" cy="4318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CC0000"/>
                </a:solidFill>
              </a:rPr>
              <a:t>Perm ( string , 1 , 2 )</a:t>
            </a:r>
          </a:p>
        </p:txBody>
      </p:sp>
      <p:sp>
        <p:nvSpPr>
          <p:cNvPr id="20494" name="Text Box 22"/>
          <p:cNvSpPr txBox="1">
            <a:spLocks noChangeArrowheads="1"/>
          </p:cNvSpPr>
          <p:nvPr/>
        </p:nvSpPr>
        <p:spPr bwMode="auto">
          <a:xfrm>
            <a:off x="6732588" y="260350"/>
            <a:ext cx="1276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/>
            <a:r>
              <a:rPr lang="en-US" altLang="zh-TW"/>
              <a:t>Call Stack:</a:t>
            </a:r>
          </a:p>
        </p:txBody>
      </p:sp>
      <p:sp>
        <p:nvSpPr>
          <p:cNvPr id="129047" name="AutoShape 23"/>
          <p:cNvSpPr>
            <a:spLocks noChangeArrowheads="1"/>
          </p:cNvSpPr>
          <p:nvPr/>
        </p:nvSpPr>
        <p:spPr bwMode="auto">
          <a:xfrm>
            <a:off x="179388" y="2205038"/>
            <a:ext cx="395287" cy="144462"/>
          </a:xfrm>
          <a:prstGeom prst="rightArrow">
            <a:avLst>
              <a:gd name="adj1" fmla="val 50000"/>
              <a:gd name="adj2" fmla="val 68407"/>
            </a:avLst>
          </a:prstGeom>
          <a:solidFill>
            <a:srgbClr val="CC0000"/>
          </a:solidFill>
          <a:ln w="9525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129048" name="Rectangle 24"/>
          <p:cNvSpPr>
            <a:spLocks noChangeArrowheads="1"/>
          </p:cNvSpPr>
          <p:nvPr/>
        </p:nvSpPr>
        <p:spPr bwMode="auto">
          <a:xfrm>
            <a:off x="1116013" y="5589588"/>
            <a:ext cx="2736850" cy="43338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CC0000"/>
                </a:solidFill>
              </a:rPr>
              <a:t>I=1 J=1  N=2</a:t>
            </a:r>
          </a:p>
        </p:txBody>
      </p:sp>
      <p:sp>
        <p:nvSpPr>
          <p:cNvPr id="129049" name="Rectangle 25"/>
          <p:cNvSpPr>
            <a:spLocks noChangeArrowheads="1"/>
          </p:cNvSpPr>
          <p:nvPr/>
        </p:nvSpPr>
        <p:spPr bwMode="auto">
          <a:xfrm>
            <a:off x="4211638" y="4581525"/>
            <a:ext cx="2879725" cy="8636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CC0000"/>
                </a:solidFill>
              </a:rPr>
              <a:t>SWAP ( list[1],list[1], temp)</a:t>
            </a:r>
          </a:p>
          <a:p>
            <a:pPr algn="ctr" eaLnBrk="1" hangingPunct="1"/>
            <a:r>
              <a:rPr lang="en-US" altLang="zh-TW">
                <a:solidFill>
                  <a:srgbClr val="000000"/>
                </a:solidFill>
              </a:rPr>
              <a:t>SWAP ‘b’ </a:t>
            </a:r>
            <a:r>
              <a:rPr lang="en-US" altLang="zh-TW">
                <a:solidFill>
                  <a:srgbClr val="000000"/>
                </a:solidFill>
                <a:sym typeface="Wingdings" pitchFamily="2" charset="2"/>
              </a:rPr>
              <a:t> </a:t>
            </a:r>
            <a:r>
              <a:rPr lang="en-US" altLang="zh-TW">
                <a:solidFill>
                  <a:srgbClr val="000000"/>
                </a:solidFill>
              </a:rPr>
              <a:t>‘b’</a:t>
            </a:r>
          </a:p>
        </p:txBody>
      </p:sp>
      <p:sp>
        <p:nvSpPr>
          <p:cNvPr id="129050" name="Rectangle 26"/>
          <p:cNvSpPr>
            <a:spLocks noChangeArrowheads="1"/>
          </p:cNvSpPr>
          <p:nvPr/>
        </p:nvSpPr>
        <p:spPr bwMode="auto">
          <a:xfrm>
            <a:off x="4140200" y="5661025"/>
            <a:ext cx="2736850" cy="43338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CC0000"/>
                </a:solidFill>
              </a:rPr>
              <a:t>Call : perm ( list,2, 2)</a:t>
            </a:r>
          </a:p>
        </p:txBody>
      </p:sp>
      <p:sp>
        <p:nvSpPr>
          <p:cNvPr id="129051" name="AutoShape 27"/>
          <p:cNvSpPr>
            <a:spLocks noChangeArrowheads="1"/>
          </p:cNvSpPr>
          <p:nvPr/>
        </p:nvSpPr>
        <p:spPr bwMode="auto">
          <a:xfrm>
            <a:off x="7667625" y="2779713"/>
            <a:ext cx="360363" cy="2159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CC0000"/>
          </a:solidFill>
          <a:ln w="9525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129052" name="Rectangle 28"/>
          <p:cNvSpPr>
            <a:spLocks noChangeArrowheads="1"/>
          </p:cNvSpPr>
          <p:nvPr/>
        </p:nvSpPr>
        <p:spPr bwMode="auto">
          <a:xfrm>
            <a:off x="6804025" y="3068638"/>
            <a:ext cx="2087563" cy="4318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CC0000"/>
                </a:solidFill>
              </a:rPr>
              <a:t>Perm ( string , 2 , 2 )</a:t>
            </a:r>
          </a:p>
        </p:txBody>
      </p:sp>
      <p:sp>
        <p:nvSpPr>
          <p:cNvPr id="129053" name="AutoShape 29"/>
          <p:cNvSpPr>
            <a:spLocks noChangeArrowheads="1"/>
          </p:cNvSpPr>
          <p:nvPr/>
        </p:nvSpPr>
        <p:spPr bwMode="auto">
          <a:xfrm>
            <a:off x="179388" y="2205038"/>
            <a:ext cx="395287" cy="144462"/>
          </a:xfrm>
          <a:prstGeom prst="rightArrow">
            <a:avLst>
              <a:gd name="adj1" fmla="val 50000"/>
              <a:gd name="adj2" fmla="val 68407"/>
            </a:avLst>
          </a:prstGeom>
          <a:solidFill>
            <a:srgbClr val="CC0000"/>
          </a:solidFill>
          <a:ln w="9525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129058" name="Rectangle 34"/>
          <p:cNvSpPr>
            <a:spLocks noChangeArrowheads="1"/>
          </p:cNvSpPr>
          <p:nvPr/>
        </p:nvSpPr>
        <p:spPr bwMode="auto">
          <a:xfrm>
            <a:off x="3563938" y="2492375"/>
            <a:ext cx="2879725" cy="57626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CC0000"/>
                </a:solidFill>
              </a:rPr>
              <a:t>Print The String</a:t>
            </a:r>
          </a:p>
          <a:p>
            <a:pPr algn="ctr" eaLnBrk="1" hangingPunct="1"/>
            <a:r>
              <a:rPr lang="en-US" altLang="zh-TW">
                <a:solidFill>
                  <a:srgbClr val="000000"/>
                </a:solidFill>
              </a:rPr>
              <a:t>“abc”</a:t>
            </a:r>
          </a:p>
        </p:txBody>
      </p:sp>
      <p:sp>
        <p:nvSpPr>
          <p:cNvPr id="129060" name="Rectangle 36"/>
          <p:cNvSpPr>
            <a:spLocks noChangeArrowheads="1"/>
          </p:cNvSpPr>
          <p:nvPr/>
        </p:nvSpPr>
        <p:spPr bwMode="auto">
          <a:xfrm>
            <a:off x="1116013" y="5589588"/>
            <a:ext cx="2736850" cy="43338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CC0000"/>
                </a:solidFill>
              </a:rPr>
              <a:t>I=1 J=1  N=2</a:t>
            </a:r>
          </a:p>
        </p:txBody>
      </p:sp>
      <p:sp>
        <p:nvSpPr>
          <p:cNvPr id="129061" name="Rectangle 37"/>
          <p:cNvSpPr>
            <a:spLocks noChangeArrowheads="1"/>
          </p:cNvSpPr>
          <p:nvPr/>
        </p:nvSpPr>
        <p:spPr bwMode="auto">
          <a:xfrm>
            <a:off x="4211638" y="4581525"/>
            <a:ext cx="2879725" cy="8636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CC0000"/>
                </a:solidFill>
              </a:rPr>
              <a:t>SWAP ( list[1],list[1], temp)</a:t>
            </a:r>
          </a:p>
          <a:p>
            <a:pPr algn="ctr" eaLnBrk="1" hangingPunct="1"/>
            <a:r>
              <a:rPr lang="en-US" altLang="zh-TW">
                <a:solidFill>
                  <a:srgbClr val="000000"/>
                </a:solidFill>
              </a:rPr>
              <a:t>SWAP ‘b’ </a:t>
            </a:r>
            <a:r>
              <a:rPr lang="en-US" altLang="zh-TW">
                <a:solidFill>
                  <a:srgbClr val="000000"/>
                </a:solidFill>
                <a:sym typeface="Wingdings" pitchFamily="2" charset="2"/>
              </a:rPr>
              <a:t> </a:t>
            </a:r>
            <a:r>
              <a:rPr lang="en-US" altLang="zh-TW">
                <a:solidFill>
                  <a:srgbClr val="000000"/>
                </a:solidFill>
              </a:rPr>
              <a:t>‘b’</a:t>
            </a:r>
          </a:p>
        </p:txBody>
      </p:sp>
      <p:sp>
        <p:nvSpPr>
          <p:cNvPr id="129065" name="Rectangle 41"/>
          <p:cNvSpPr>
            <a:spLocks noChangeArrowheads="1"/>
          </p:cNvSpPr>
          <p:nvPr/>
        </p:nvSpPr>
        <p:spPr bwMode="auto">
          <a:xfrm>
            <a:off x="1116013" y="5589588"/>
            <a:ext cx="2736850" cy="43338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CC0000"/>
                </a:solidFill>
              </a:rPr>
              <a:t>I=1 J=2  N=2</a:t>
            </a:r>
          </a:p>
        </p:txBody>
      </p:sp>
      <p:sp>
        <p:nvSpPr>
          <p:cNvPr id="129067" name="Rectangle 43"/>
          <p:cNvSpPr>
            <a:spLocks noChangeArrowheads="1"/>
          </p:cNvSpPr>
          <p:nvPr/>
        </p:nvSpPr>
        <p:spPr bwMode="auto">
          <a:xfrm>
            <a:off x="4211638" y="4581525"/>
            <a:ext cx="2879725" cy="8636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CC0000"/>
                </a:solidFill>
              </a:rPr>
              <a:t>SWAP ( list[1],list[2], temp)</a:t>
            </a:r>
          </a:p>
          <a:p>
            <a:pPr algn="ctr" eaLnBrk="1" hangingPunct="1"/>
            <a:r>
              <a:rPr lang="en-US" altLang="zh-TW">
                <a:solidFill>
                  <a:srgbClr val="000000"/>
                </a:solidFill>
              </a:rPr>
              <a:t>SWAP ‘b’ </a:t>
            </a:r>
            <a:r>
              <a:rPr lang="en-US" altLang="zh-TW">
                <a:solidFill>
                  <a:srgbClr val="000000"/>
                </a:solidFill>
                <a:sym typeface="Wingdings" pitchFamily="2" charset="2"/>
              </a:rPr>
              <a:t> </a:t>
            </a:r>
            <a:r>
              <a:rPr lang="en-US" altLang="zh-TW">
                <a:solidFill>
                  <a:srgbClr val="000000"/>
                </a:solidFill>
              </a:rPr>
              <a:t>‘c’</a:t>
            </a:r>
          </a:p>
        </p:txBody>
      </p:sp>
      <p:sp>
        <p:nvSpPr>
          <p:cNvPr id="129068" name="Rectangle 44"/>
          <p:cNvSpPr>
            <a:spLocks noChangeArrowheads="1"/>
          </p:cNvSpPr>
          <p:nvPr/>
        </p:nvSpPr>
        <p:spPr bwMode="auto">
          <a:xfrm>
            <a:off x="4140200" y="5661025"/>
            <a:ext cx="2736850" cy="43338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CC0000"/>
                </a:solidFill>
              </a:rPr>
              <a:t>Call : perm ( list,2, 2)</a:t>
            </a:r>
          </a:p>
        </p:txBody>
      </p:sp>
      <p:sp>
        <p:nvSpPr>
          <p:cNvPr id="129070" name="AutoShape 46"/>
          <p:cNvSpPr>
            <a:spLocks noChangeArrowheads="1"/>
          </p:cNvSpPr>
          <p:nvPr/>
        </p:nvSpPr>
        <p:spPr bwMode="auto">
          <a:xfrm>
            <a:off x="468313" y="5013325"/>
            <a:ext cx="395287" cy="144463"/>
          </a:xfrm>
          <a:prstGeom prst="rightArrow">
            <a:avLst>
              <a:gd name="adj1" fmla="val 50000"/>
              <a:gd name="adj2" fmla="val 68406"/>
            </a:avLst>
          </a:prstGeom>
          <a:solidFill>
            <a:srgbClr val="CC0000"/>
          </a:solidFill>
          <a:ln w="9525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129071" name="AutoShape 47"/>
          <p:cNvSpPr>
            <a:spLocks noChangeArrowheads="1"/>
          </p:cNvSpPr>
          <p:nvPr/>
        </p:nvSpPr>
        <p:spPr bwMode="auto">
          <a:xfrm>
            <a:off x="179388" y="2205038"/>
            <a:ext cx="395287" cy="144462"/>
          </a:xfrm>
          <a:prstGeom prst="rightArrow">
            <a:avLst>
              <a:gd name="adj1" fmla="val 50000"/>
              <a:gd name="adj2" fmla="val 68407"/>
            </a:avLst>
          </a:prstGeom>
          <a:solidFill>
            <a:srgbClr val="CC0000"/>
          </a:solidFill>
          <a:ln w="9525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129072" name="Rectangle 48"/>
          <p:cNvSpPr>
            <a:spLocks noChangeArrowheads="1"/>
          </p:cNvSpPr>
          <p:nvPr/>
        </p:nvSpPr>
        <p:spPr bwMode="auto">
          <a:xfrm>
            <a:off x="3563938" y="2492375"/>
            <a:ext cx="2879725" cy="57626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CC0000"/>
                </a:solidFill>
              </a:rPr>
              <a:t>Print The String</a:t>
            </a:r>
          </a:p>
          <a:p>
            <a:pPr algn="ctr" eaLnBrk="1" hangingPunct="1"/>
            <a:r>
              <a:rPr lang="en-US" altLang="zh-TW">
                <a:solidFill>
                  <a:srgbClr val="000000"/>
                </a:solidFill>
              </a:rPr>
              <a:t>“acb”</a:t>
            </a:r>
          </a:p>
        </p:txBody>
      </p:sp>
      <p:sp>
        <p:nvSpPr>
          <p:cNvPr id="129077" name="AutoShape 53"/>
          <p:cNvSpPr>
            <a:spLocks noChangeArrowheads="1"/>
          </p:cNvSpPr>
          <p:nvPr/>
        </p:nvSpPr>
        <p:spPr bwMode="auto">
          <a:xfrm>
            <a:off x="468313" y="5013325"/>
            <a:ext cx="395287" cy="144463"/>
          </a:xfrm>
          <a:prstGeom prst="rightArrow">
            <a:avLst>
              <a:gd name="adj1" fmla="val 50000"/>
              <a:gd name="adj2" fmla="val 68406"/>
            </a:avLst>
          </a:prstGeom>
          <a:solidFill>
            <a:srgbClr val="CC0000"/>
          </a:solidFill>
          <a:ln w="9525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129079" name="Rectangle 55"/>
          <p:cNvSpPr>
            <a:spLocks noChangeArrowheads="1"/>
          </p:cNvSpPr>
          <p:nvPr/>
        </p:nvSpPr>
        <p:spPr bwMode="auto">
          <a:xfrm>
            <a:off x="1116013" y="5589588"/>
            <a:ext cx="2736850" cy="43338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CC0000"/>
                </a:solidFill>
              </a:rPr>
              <a:t>I=1 J=2  N=2</a:t>
            </a:r>
          </a:p>
        </p:txBody>
      </p:sp>
      <p:sp>
        <p:nvSpPr>
          <p:cNvPr id="129080" name="Rectangle 56"/>
          <p:cNvSpPr>
            <a:spLocks noChangeArrowheads="1"/>
          </p:cNvSpPr>
          <p:nvPr/>
        </p:nvSpPr>
        <p:spPr bwMode="auto">
          <a:xfrm>
            <a:off x="4211638" y="4581525"/>
            <a:ext cx="2879725" cy="8636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CC0000"/>
                </a:solidFill>
              </a:rPr>
              <a:t>SWAP ( list[1],list[2], temp)</a:t>
            </a:r>
          </a:p>
          <a:p>
            <a:pPr algn="ctr" eaLnBrk="1" hangingPunct="1"/>
            <a:r>
              <a:rPr lang="en-US" altLang="zh-TW">
                <a:solidFill>
                  <a:srgbClr val="000000"/>
                </a:solidFill>
              </a:rPr>
              <a:t>SWAP ‘b’ </a:t>
            </a:r>
            <a:r>
              <a:rPr lang="en-US" altLang="zh-TW">
                <a:solidFill>
                  <a:srgbClr val="000000"/>
                </a:solidFill>
                <a:sym typeface="Wingdings" pitchFamily="2" charset="2"/>
              </a:rPr>
              <a:t> </a:t>
            </a:r>
            <a:r>
              <a:rPr lang="en-US" altLang="zh-TW">
                <a:solidFill>
                  <a:srgbClr val="000000"/>
                </a:solidFill>
              </a:rPr>
              <a:t>‘c’</a:t>
            </a:r>
          </a:p>
        </p:txBody>
      </p:sp>
      <p:sp>
        <p:nvSpPr>
          <p:cNvPr id="129081" name="AutoShape 57"/>
          <p:cNvSpPr>
            <a:spLocks noChangeArrowheads="1"/>
          </p:cNvSpPr>
          <p:nvPr/>
        </p:nvSpPr>
        <p:spPr bwMode="auto">
          <a:xfrm>
            <a:off x="468313" y="5013325"/>
            <a:ext cx="395287" cy="144463"/>
          </a:xfrm>
          <a:prstGeom prst="rightArrow">
            <a:avLst>
              <a:gd name="adj1" fmla="val 50000"/>
              <a:gd name="adj2" fmla="val 68406"/>
            </a:avLst>
          </a:prstGeom>
          <a:solidFill>
            <a:srgbClr val="CC0000"/>
          </a:solidFill>
          <a:ln w="9525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129082" name="Rectangle 58"/>
          <p:cNvSpPr>
            <a:spLocks noChangeArrowheads="1"/>
          </p:cNvSpPr>
          <p:nvPr/>
        </p:nvSpPr>
        <p:spPr bwMode="auto">
          <a:xfrm>
            <a:off x="1116013" y="5589588"/>
            <a:ext cx="2736850" cy="43338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CC0000"/>
                </a:solidFill>
              </a:rPr>
              <a:t>I=0 J=0  N=2</a:t>
            </a:r>
          </a:p>
        </p:txBody>
      </p:sp>
      <p:sp>
        <p:nvSpPr>
          <p:cNvPr id="129084" name="Rectangle 60"/>
          <p:cNvSpPr>
            <a:spLocks noChangeArrowheads="1"/>
          </p:cNvSpPr>
          <p:nvPr/>
        </p:nvSpPr>
        <p:spPr bwMode="auto">
          <a:xfrm>
            <a:off x="4284663" y="4581525"/>
            <a:ext cx="2879725" cy="8636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CC0000"/>
                </a:solidFill>
              </a:rPr>
              <a:t>SWAP ( list[0],list[0], temp)</a:t>
            </a:r>
          </a:p>
          <a:p>
            <a:pPr algn="ctr" eaLnBrk="1" hangingPunct="1"/>
            <a:r>
              <a:rPr lang="en-US" altLang="zh-TW">
                <a:solidFill>
                  <a:srgbClr val="000000"/>
                </a:solidFill>
              </a:rPr>
              <a:t>SWAP ‘a’ </a:t>
            </a:r>
            <a:r>
              <a:rPr lang="en-US" altLang="zh-TW">
                <a:solidFill>
                  <a:srgbClr val="000000"/>
                </a:solidFill>
                <a:sym typeface="Wingdings" pitchFamily="2" charset="2"/>
              </a:rPr>
              <a:t> </a:t>
            </a:r>
            <a:r>
              <a:rPr lang="en-US" altLang="zh-TW">
                <a:solidFill>
                  <a:srgbClr val="000000"/>
                </a:solidFill>
              </a:rPr>
              <a:t>‘a’</a:t>
            </a:r>
          </a:p>
        </p:txBody>
      </p:sp>
      <p:sp>
        <p:nvSpPr>
          <p:cNvPr id="129085" name="Rectangle 61"/>
          <p:cNvSpPr>
            <a:spLocks noChangeArrowheads="1"/>
          </p:cNvSpPr>
          <p:nvPr/>
        </p:nvSpPr>
        <p:spPr bwMode="auto">
          <a:xfrm>
            <a:off x="1116013" y="5589588"/>
            <a:ext cx="2736850" cy="43338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CC0000"/>
                </a:solidFill>
              </a:rPr>
              <a:t>I=0 J=1  N=2</a:t>
            </a:r>
          </a:p>
        </p:txBody>
      </p:sp>
      <p:sp>
        <p:nvSpPr>
          <p:cNvPr id="129086" name="Rectangle 62"/>
          <p:cNvSpPr>
            <a:spLocks noChangeArrowheads="1"/>
          </p:cNvSpPr>
          <p:nvPr/>
        </p:nvSpPr>
        <p:spPr bwMode="auto">
          <a:xfrm>
            <a:off x="4211638" y="4652963"/>
            <a:ext cx="2879725" cy="8636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CC0000"/>
                </a:solidFill>
              </a:rPr>
              <a:t>SWAP ( list[0],list[1], temp)</a:t>
            </a:r>
          </a:p>
          <a:p>
            <a:pPr algn="ctr" eaLnBrk="1" hangingPunct="1"/>
            <a:r>
              <a:rPr lang="en-US" altLang="zh-TW">
                <a:solidFill>
                  <a:srgbClr val="000000"/>
                </a:solidFill>
              </a:rPr>
              <a:t>SWAP ‘a’ </a:t>
            </a:r>
            <a:r>
              <a:rPr lang="en-US" altLang="zh-TW">
                <a:solidFill>
                  <a:srgbClr val="000000"/>
                </a:solidFill>
                <a:sym typeface="Wingdings" pitchFamily="2" charset="2"/>
              </a:rPr>
              <a:t> </a:t>
            </a:r>
            <a:r>
              <a:rPr lang="en-US" altLang="zh-TW">
                <a:solidFill>
                  <a:srgbClr val="000000"/>
                </a:solidFill>
              </a:rPr>
              <a:t>‘b’</a:t>
            </a:r>
          </a:p>
        </p:txBody>
      </p:sp>
      <p:sp>
        <p:nvSpPr>
          <p:cNvPr id="129087" name="Rectangle 63"/>
          <p:cNvSpPr>
            <a:spLocks noChangeArrowheads="1"/>
          </p:cNvSpPr>
          <p:nvPr/>
        </p:nvSpPr>
        <p:spPr bwMode="auto">
          <a:xfrm>
            <a:off x="4140200" y="5734050"/>
            <a:ext cx="2736850" cy="43338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CC0000"/>
                </a:solidFill>
              </a:rPr>
              <a:t>Call : perm ( list,1, 2)</a:t>
            </a:r>
          </a:p>
        </p:txBody>
      </p:sp>
      <p:sp>
        <p:nvSpPr>
          <p:cNvPr id="129088" name="Rectangle 64"/>
          <p:cNvSpPr>
            <a:spLocks noChangeArrowheads="1"/>
          </p:cNvSpPr>
          <p:nvPr/>
        </p:nvSpPr>
        <p:spPr bwMode="auto">
          <a:xfrm>
            <a:off x="1116013" y="5589588"/>
            <a:ext cx="2736850" cy="43338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CC0000"/>
                </a:solidFill>
              </a:rPr>
              <a:t>I=1 J=3  N=2</a:t>
            </a:r>
          </a:p>
        </p:txBody>
      </p:sp>
      <p:sp>
        <p:nvSpPr>
          <p:cNvPr id="129089" name="AutoShape 65"/>
          <p:cNvSpPr>
            <a:spLocks noChangeArrowheads="1"/>
          </p:cNvSpPr>
          <p:nvPr/>
        </p:nvSpPr>
        <p:spPr bwMode="auto">
          <a:xfrm>
            <a:off x="179388" y="2205038"/>
            <a:ext cx="395287" cy="144462"/>
          </a:xfrm>
          <a:prstGeom prst="rightArrow">
            <a:avLst>
              <a:gd name="adj1" fmla="val 50000"/>
              <a:gd name="adj2" fmla="val 68407"/>
            </a:avLst>
          </a:prstGeom>
          <a:solidFill>
            <a:srgbClr val="CC0000"/>
          </a:solidFill>
          <a:ln w="9525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129090" name="Rectangle 66"/>
          <p:cNvSpPr>
            <a:spLocks noChangeArrowheads="1"/>
          </p:cNvSpPr>
          <p:nvPr/>
        </p:nvSpPr>
        <p:spPr bwMode="auto">
          <a:xfrm>
            <a:off x="1116013" y="5589588"/>
            <a:ext cx="2736850" cy="43338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CC0000"/>
                </a:solidFill>
              </a:rPr>
              <a:t>I=1 J=1  N=2</a:t>
            </a:r>
          </a:p>
        </p:txBody>
      </p:sp>
      <p:sp>
        <p:nvSpPr>
          <p:cNvPr id="129091" name="Rectangle 67"/>
          <p:cNvSpPr>
            <a:spLocks noChangeArrowheads="1"/>
          </p:cNvSpPr>
          <p:nvPr/>
        </p:nvSpPr>
        <p:spPr bwMode="auto">
          <a:xfrm>
            <a:off x="4211638" y="4652963"/>
            <a:ext cx="2879725" cy="8636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CC0000"/>
                </a:solidFill>
              </a:rPr>
              <a:t>SWAP ( list[1],list[1], temp)</a:t>
            </a:r>
          </a:p>
          <a:p>
            <a:pPr algn="ctr" eaLnBrk="1" hangingPunct="1"/>
            <a:r>
              <a:rPr lang="en-US" altLang="zh-TW">
                <a:solidFill>
                  <a:srgbClr val="000000"/>
                </a:solidFill>
              </a:rPr>
              <a:t>SWAP ‘b’ </a:t>
            </a:r>
            <a:r>
              <a:rPr lang="en-US" altLang="zh-TW">
                <a:solidFill>
                  <a:srgbClr val="000000"/>
                </a:solidFill>
                <a:sym typeface="Wingdings" pitchFamily="2" charset="2"/>
              </a:rPr>
              <a:t> </a:t>
            </a:r>
            <a:r>
              <a:rPr lang="en-US" altLang="zh-TW">
                <a:solidFill>
                  <a:srgbClr val="000000"/>
                </a:solidFill>
              </a:rPr>
              <a:t>‘b’</a:t>
            </a:r>
          </a:p>
        </p:txBody>
      </p:sp>
      <p:sp>
        <p:nvSpPr>
          <p:cNvPr id="129092" name="Rectangle 68"/>
          <p:cNvSpPr>
            <a:spLocks noChangeArrowheads="1"/>
          </p:cNvSpPr>
          <p:nvPr/>
        </p:nvSpPr>
        <p:spPr bwMode="auto">
          <a:xfrm>
            <a:off x="4140200" y="5661025"/>
            <a:ext cx="2736850" cy="43338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CC0000"/>
                </a:solidFill>
              </a:rPr>
              <a:t>Call : perm ( list,2, 2)</a:t>
            </a:r>
          </a:p>
        </p:txBody>
      </p:sp>
      <p:sp>
        <p:nvSpPr>
          <p:cNvPr id="129093" name="AutoShape 69"/>
          <p:cNvSpPr>
            <a:spLocks noChangeArrowheads="1"/>
          </p:cNvSpPr>
          <p:nvPr/>
        </p:nvSpPr>
        <p:spPr bwMode="auto">
          <a:xfrm>
            <a:off x="179388" y="2205038"/>
            <a:ext cx="395287" cy="144462"/>
          </a:xfrm>
          <a:prstGeom prst="rightArrow">
            <a:avLst>
              <a:gd name="adj1" fmla="val 50000"/>
              <a:gd name="adj2" fmla="val 68407"/>
            </a:avLst>
          </a:prstGeom>
          <a:solidFill>
            <a:srgbClr val="CC0000"/>
          </a:solidFill>
          <a:ln w="9525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129094" name="Rectangle 70"/>
          <p:cNvSpPr>
            <a:spLocks noChangeArrowheads="1"/>
          </p:cNvSpPr>
          <p:nvPr/>
        </p:nvSpPr>
        <p:spPr bwMode="auto">
          <a:xfrm>
            <a:off x="3563938" y="2492375"/>
            <a:ext cx="2879725" cy="57626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CC0000"/>
                </a:solidFill>
              </a:rPr>
              <a:t>Print The String</a:t>
            </a:r>
          </a:p>
          <a:p>
            <a:pPr algn="ctr" eaLnBrk="1" hangingPunct="1"/>
            <a:r>
              <a:rPr lang="en-US" altLang="zh-TW">
                <a:solidFill>
                  <a:srgbClr val="000000"/>
                </a:solidFill>
              </a:rPr>
              <a:t>“bac”</a:t>
            </a:r>
          </a:p>
        </p:txBody>
      </p:sp>
      <p:sp>
        <p:nvSpPr>
          <p:cNvPr id="129095" name="AutoShape 71"/>
          <p:cNvSpPr>
            <a:spLocks noChangeArrowheads="1"/>
          </p:cNvSpPr>
          <p:nvPr/>
        </p:nvSpPr>
        <p:spPr bwMode="auto">
          <a:xfrm>
            <a:off x="468313" y="5013325"/>
            <a:ext cx="395287" cy="144463"/>
          </a:xfrm>
          <a:prstGeom prst="rightArrow">
            <a:avLst>
              <a:gd name="adj1" fmla="val 50000"/>
              <a:gd name="adj2" fmla="val 68406"/>
            </a:avLst>
          </a:prstGeom>
          <a:solidFill>
            <a:srgbClr val="CC0000"/>
          </a:solidFill>
          <a:ln w="9525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129096" name="Rectangle 72"/>
          <p:cNvSpPr>
            <a:spLocks noChangeArrowheads="1"/>
          </p:cNvSpPr>
          <p:nvPr/>
        </p:nvSpPr>
        <p:spPr bwMode="auto">
          <a:xfrm>
            <a:off x="1116013" y="5589588"/>
            <a:ext cx="2736850" cy="43338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CC0000"/>
                </a:solidFill>
              </a:rPr>
              <a:t>I=1 J=1  N=2</a:t>
            </a:r>
          </a:p>
        </p:txBody>
      </p:sp>
      <p:sp>
        <p:nvSpPr>
          <p:cNvPr id="129097" name="Rectangle 73"/>
          <p:cNvSpPr>
            <a:spLocks noChangeArrowheads="1"/>
          </p:cNvSpPr>
          <p:nvPr/>
        </p:nvSpPr>
        <p:spPr bwMode="auto">
          <a:xfrm>
            <a:off x="4211638" y="4652963"/>
            <a:ext cx="2879725" cy="8636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CC0000"/>
                </a:solidFill>
              </a:rPr>
              <a:t>SWAP ( list[1],list[1], temp)</a:t>
            </a:r>
          </a:p>
          <a:p>
            <a:pPr algn="ctr" eaLnBrk="1" hangingPunct="1"/>
            <a:r>
              <a:rPr lang="en-US" altLang="zh-TW">
                <a:solidFill>
                  <a:srgbClr val="000000"/>
                </a:solidFill>
              </a:rPr>
              <a:t>SWAP ‘b’ </a:t>
            </a:r>
            <a:r>
              <a:rPr lang="en-US" altLang="zh-TW">
                <a:solidFill>
                  <a:srgbClr val="000000"/>
                </a:solidFill>
                <a:sym typeface="Wingdings" pitchFamily="2" charset="2"/>
              </a:rPr>
              <a:t> </a:t>
            </a:r>
            <a:r>
              <a:rPr lang="en-US" altLang="zh-TW">
                <a:solidFill>
                  <a:srgbClr val="000000"/>
                </a:solidFill>
              </a:rPr>
              <a:t>‘b’</a:t>
            </a:r>
          </a:p>
        </p:txBody>
      </p:sp>
      <p:sp>
        <p:nvSpPr>
          <p:cNvPr id="129098" name="Rectangle 74"/>
          <p:cNvSpPr>
            <a:spLocks noChangeArrowheads="1"/>
          </p:cNvSpPr>
          <p:nvPr/>
        </p:nvSpPr>
        <p:spPr bwMode="auto">
          <a:xfrm>
            <a:off x="1116013" y="5589588"/>
            <a:ext cx="2736850" cy="43338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CC0000"/>
                </a:solidFill>
              </a:rPr>
              <a:t>I=1 J=2  N=2</a:t>
            </a:r>
          </a:p>
        </p:txBody>
      </p:sp>
      <p:sp>
        <p:nvSpPr>
          <p:cNvPr id="129099" name="Rectangle 75"/>
          <p:cNvSpPr>
            <a:spLocks noChangeArrowheads="1"/>
          </p:cNvSpPr>
          <p:nvPr/>
        </p:nvSpPr>
        <p:spPr bwMode="auto">
          <a:xfrm>
            <a:off x="4211638" y="4652963"/>
            <a:ext cx="2879725" cy="8636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CC0000"/>
                </a:solidFill>
              </a:rPr>
              <a:t>SWAP ( list[1],list[2], temp)</a:t>
            </a:r>
          </a:p>
          <a:p>
            <a:pPr algn="ctr" eaLnBrk="1" hangingPunct="1"/>
            <a:r>
              <a:rPr lang="en-US" altLang="zh-TW">
                <a:solidFill>
                  <a:srgbClr val="000000"/>
                </a:solidFill>
              </a:rPr>
              <a:t>SWAP ‘a’ </a:t>
            </a:r>
            <a:r>
              <a:rPr lang="en-US" altLang="zh-TW">
                <a:solidFill>
                  <a:srgbClr val="000000"/>
                </a:solidFill>
                <a:sym typeface="Wingdings" pitchFamily="2" charset="2"/>
              </a:rPr>
              <a:t> </a:t>
            </a:r>
            <a:r>
              <a:rPr lang="en-US" altLang="zh-TW">
                <a:solidFill>
                  <a:srgbClr val="000000"/>
                </a:solidFill>
              </a:rPr>
              <a:t>‘c’</a:t>
            </a:r>
          </a:p>
        </p:txBody>
      </p:sp>
      <p:sp>
        <p:nvSpPr>
          <p:cNvPr id="129100" name="Rectangle 76"/>
          <p:cNvSpPr>
            <a:spLocks noChangeArrowheads="1"/>
          </p:cNvSpPr>
          <p:nvPr/>
        </p:nvSpPr>
        <p:spPr bwMode="auto">
          <a:xfrm>
            <a:off x="4140200" y="5661025"/>
            <a:ext cx="2736850" cy="43338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CC0000"/>
                </a:solidFill>
              </a:rPr>
              <a:t>Call : perm ( list,2, 2)</a:t>
            </a:r>
          </a:p>
        </p:txBody>
      </p:sp>
      <p:sp>
        <p:nvSpPr>
          <p:cNvPr id="129101" name="AutoShape 77"/>
          <p:cNvSpPr>
            <a:spLocks noChangeArrowheads="1"/>
          </p:cNvSpPr>
          <p:nvPr/>
        </p:nvSpPr>
        <p:spPr bwMode="auto">
          <a:xfrm>
            <a:off x="179388" y="2205038"/>
            <a:ext cx="395287" cy="144462"/>
          </a:xfrm>
          <a:prstGeom prst="rightArrow">
            <a:avLst>
              <a:gd name="adj1" fmla="val 50000"/>
              <a:gd name="adj2" fmla="val 68407"/>
            </a:avLst>
          </a:prstGeom>
          <a:solidFill>
            <a:srgbClr val="CC0000"/>
          </a:solidFill>
          <a:ln w="9525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129102" name="Rectangle 78"/>
          <p:cNvSpPr>
            <a:spLocks noChangeArrowheads="1"/>
          </p:cNvSpPr>
          <p:nvPr/>
        </p:nvSpPr>
        <p:spPr bwMode="auto">
          <a:xfrm>
            <a:off x="3563938" y="2492375"/>
            <a:ext cx="2879725" cy="57626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CC0000"/>
                </a:solidFill>
              </a:rPr>
              <a:t>Print The String</a:t>
            </a:r>
          </a:p>
          <a:p>
            <a:pPr algn="ctr" eaLnBrk="1" hangingPunct="1"/>
            <a:r>
              <a:rPr lang="en-US" altLang="zh-TW">
                <a:solidFill>
                  <a:srgbClr val="000000"/>
                </a:solidFill>
              </a:rPr>
              <a:t>“bca”</a:t>
            </a:r>
          </a:p>
        </p:txBody>
      </p:sp>
      <p:sp>
        <p:nvSpPr>
          <p:cNvPr id="129103" name="AutoShape 79"/>
          <p:cNvSpPr>
            <a:spLocks noChangeArrowheads="1"/>
          </p:cNvSpPr>
          <p:nvPr/>
        </p:nvSpPr>
        <p:spPr bwMode="auto">
          <a:xfrm>
            <a:off x="468313" y="5013325"/>
            <a:ext cx="395287" cy="144463"/>
          </a:xfrm>
          <a:prstGeom prst="rightArrow">
            <a:avLst>
              <a:gd name="adj1" fmla="val 50000"/>
              <a:gd name="adj2" fmla="val 68406"/>
            </a:avLst>
          </a:prstGeom>
          <a:solidFill>
            <a:srgbClr val="CC0000"/>
          </a:solidFill>
          <a:ln w="9525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129104" name="Rectangle 80"/>
          <p:cNvSpPr>
            <a:spLocks noChangeArrowheads="1"/>
          </p:cNvSpPr>
          <p:nvPr/>
        </p:nvSpPr>
        <p:spPr bwMode="auto">
          <a:xfrm>
            <a:off x="1116013" y="5589588"/>
            <a:ext cx="2736850" cy="43338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CC0000"/>
                </a:solidFill>
              </a:rPr>
              <a:t>I=1 J=2  N=2</a:t>
            </a:r>
          </a:p>
        </p:txBody>
      </p:sp>
      <p:sp>
        <p:nvSpPr>
          <p:cNvPr id="129105" name="Rectangle 81"/>
          <p:cNvSpPr>
            <a:spLocks noChangeArrowheads="1"/>
          </p:cNvSpPr>
          <p:nvPr/>
        </p:nvSpPr>
        <p:spPr bwMode="auto">
          <a:xfrm>
            <a:off x="4211638" y="4652963"/>
            <a:ext cx="2879725" cy="8636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CC0000"/>
                </a:solidFill>
              </a:rPr>
              <a:t>SWAP ( list[1],list[2], temp)</a:t>
            </a:r>
          </a:p>
          <a:p>
            <a:pPr algn="ctr" eaLnBrk="1" hangingPunct="1"/>
            <a:r>
              <a:rPr lang="en-US" altLang="zh-TW">
                <a:solidFill>
                  <a:srgbClr val="000000"/>
                </a:solidFill>
              </a:rPr>
              <a:t>SWAP ‘a’ </a:t>
            </a:r>
            <a:r>
              <a:rPr lang="en-US" altLang="zh-TW">
                <a:solidFill>
                  <a:srgbClr val="000000"/>
                </a:solidFill>
                <a:sym typeface="Wingdings" pitchFamily="2" charset="2"/>
              </a:rPr>
              <a:t> </a:t>
            </a:r>
            <a:r>
              <a:rPr lang="en-US" altLang="zh-TW">
                <a:solidFill>
                  <a:srgbClr val="000000"/>
                </a:solidFill>
              </a:rPr>
              <a:t>‘c’</a:t>
            </a:r>
          </a:p>
        </p:txBody>
      </p:sp>
      <p:sp>
        <p:nvSpPr>
          <p:cNvPr id="129106" name="Rectangle 82"/>
          <p:cNvSpPr>
            <a:spLocks noChangeArrowheads="1"/>
          </p:cNvSpPr>
          <p:nvPr/>
        </p:nvSpPr>
        <p:spPr bwMode="auto">
          <a:xfrm>
            <a:off x="1116013" y="5589588"/>
            <a:ext cx="2736850" cy="43338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CC0000"/>
                </a:solidFill>
              </a:rPr>
              <a:t>I=1 J=3  N=2</a:t>
            </a:r>
          </a:p>
        </p:txBody>
      </p:sp>
    </p:spTree>
    <p:extLst>
      <p:ext uri="{BB962C8B-B14F-4D97-AF65-F5344CB8AC3E}">
        <p14:creationId xmlns:p14="http://schemas.microsoft.com/office/powerpoint/2010/main" val="2204205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1.85185E-6 L -8.33333E-7 0.03148 " pathEditMode="relative" ptsTypes="AA">
                                      <p:cBhvr>
                                        <p:cTn id="26" dur="2000" fill="hold"/>
                                        <p:tgtEl>
                                          <p:spTgt spid="1290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0.03149 L -3.33333E-6 0.32547 " pathEditMode="relative" ptsTypes="AA">
                                      <p:cBhvr>
                                        <p:cTn id="30" dur="2000" fill="hold"/>
                                        <p:tgtEl>
                                          <p:spTgt spid="1290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0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0.32547 L -3.33333E-6 0.35695 " pathEditMode="relative" ptsTypes="AA">
                                      <p:cBhvr>
                                        <p:cTn id="38" dur="2000" fill="hold"/>
                                        <p:tgtEl>
                                          <p:spTgt spid="1290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0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0.35694 L 3.33333E-6 0.38866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1290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74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5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1.85185E-6 L -8.33333E-7 0.03148 " pathEditMode="relative" ptsTypes="AA">
                                      <p:cBhvr>
                                        <p:cTn id="76" dur="2000" fill="hold"/>
                                        <p:tgtEl>
                                          <p:spTgt spid="1290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0.03149 L -3.33333E-6 0.32547 " pathEditMode="relative" ptsTypes="AA">
                                      <p:cBhvr>
                                        <p:cTn id="80" dur="2000" fill="hold"/>
                                        <p:tgtEl>
                                          <p:spTgt spid="1290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0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0.32547 L -3.33333E-6 0.35695 " pathEditMode="relative" ptsTypes="AA">
                                      <p:cBhvr>
                                        <p:cTn id="88" dur="2000" fill="hold"/>
                                        <p:tgtEl>
                                          <p:spTgt spid="1290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0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0.35694 L 3.33333E-6 0.38866 " pathEditMode="relative" rAng="0" ptsTypes="AA">
                                      <p:cBhvr>
                                        <p:cTn id="96" dur="2000" fill="hold"/>
                                        <p:tgtEl>
                                          <p:spTgt spid="1290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7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xit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1.85185E-6 L -8.33333E-7 0.03148 " pathEditMode="relative" ptsTypes="AA">
                                      <p:cBhvr>
                                        <p:cTn id="126" dur="2000" fill="hold"/>
                                        <p:tgtEl>
                                          <p:spTgt spid="1290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0.03149 L 1.66667E-6 0.07362 " pathEditMode="relative" rAng="0" ptsTypes="AA">
                                      <p:cBhvr>
                                        <p:cTn id="130" dur="2000" fill="hold"/>
                                        <p:tgtEl>
                                          <p:spTgt spid="1290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1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0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0.07353 L 1.38889E-6 0.56647 " pathEditMode="relative" rAng="0" ptsTypes="AA">
                                      <p:cBhvr>
                                        <p:cTn id="142" dur="2000" fill="hold"/>
                                        <p:tgtEl>
                                          <p:spTgt spid="1290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46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xit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500" tmFilter="0, 0; .2, .5; .8, .5; 1, 0"/>
                                        <p:tgtEl>
                                          <p:spTgt spid="12905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1" dur="250" autoRev="1" fill="hold"/>
                                        <p:tgtEl>
                                          <p:spTgt spid="12905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52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 tmFilter="0, 0; .2, .5; .8, .5; 1, 0"/>
                                        <p:tgtEl>
                                          <p:spTgt spid="12905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4" dur="250" autoRev="1" fill="hold"/>
                                        <p:tgtEl>
                                          <p:spTgt spid="12905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6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" dur="500" tmFilter="0, 0; .2, .5; .8, .5; 1, 0"/>
                                        <p:tgtEl>
                                          <p:spTgt spid="12904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2" dur="250" autoRev="1" fill="hold"/>
                                        <p:tgtEl>
                                          <p:spTgt spid="12904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9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1.96532E-6 L 2.77778E-6 0.03144 " pathEditMode="relative" ptsTypes="AA">
                                      <p:cBhvr>
                                        <p:cTn id="170" dur="2000" fill="hold"/>
                                        <p:tgtEl>
                                          <p:spTgt spid="1290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 nodeType="clickPar">
                      <p:stCondLst>
                        <p:cond delay="indefinite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 nodeType="clickPar">
                      <p:stCondLst>
                        <p:cond delay="indefinite"/>
                      </p:stCondLst>
                      <p:childTnLst>
                        <p:par>
                          <p:cTn id="1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 nodeType="clickPar">
                      <p:stCondLst>
                        <p:cond delay="indefinite"/>
                      </p:stCondLst>
                      <p:childTnLst>
                        <p:par>
                          <p:cTn id="1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7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66667E-6 0.03144 L 6.66667E-6 -0.09434 " pathEditMode="relative" ptsTypes="AA">
                                      <p:cBhvr>
                                        <p:cTn id="188" dur="2000" fill="hold"/>
                                        <p:tgtEl>
                                          <p:spTgt spid="1290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 nodeType="clickPar">
                      <p:stCondLst>
                        <p:cond delay="indefinite"/>
                      </p:stCondLst>
                      <p:childTnLst>
                        <p:par>
                          <p:cTn id="1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 nodeType="clickPar">
                      <p:stCondLst>
                        <p:cond delay="indefinite"/>
                      </p:stCondLst>
                      <p:childTnLst>
                        <p:par>
                          <p:cTn id="1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5" presetID="0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159 -0.08347 L -0.03159 -0.03098 " pathEditMode="relative" ptsTypes="AA">
                                      <p:cBhvr>
                                        <p:cTn id="196" dur="2000" fill="hold"/>
                                        <p:tgtEl>
                                          <p:spTgt spid="1290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 nodeType="clickPar">
                      <p:stCondLst>
                        <p:cond delay="indefinite"/>
                      </p:stCondLst>
                      <p:childTnLst>
                        <p:par>
                          <p:cTn id="1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 nodeType="clickPar">
                      <p:stCondLst>
                        <p:cond delay="indefinite"/>
                      </p:stCondLst>
                      <p:childTnLst>
                        <p:par>
                          <p:cTn id="2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 nodeType="clickPar">
                      <p:stCondLst>
                        <p:cond delay="indefinite"/>
                      </p:stCondLst>
                      <p:childTnLst>
                        <p:par>
                          <p:cTn id="2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 nodeType="clickPar">
                      <p:stCondLst>
                        <p:cond delay="indefinite"/>
                      </p:stCondLst>
                      <p:childTnLst>
                        <p:par>
                          <p:cTn id="2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 nodeType="clickPar">
                      <p:stCondLst>
                        <p:cond delay="indefinite"/>
                      </p:stCondLst>
                      <p:childTnLst>
                        <p:par>
                          <p:cTn id="2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9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 nodeType="clickPar">
                      <p:stCondLst>
                        <p:cond delay="indefinite"/>
                      </p:stCondLst>
                      <p:childTnLst>
                        <p:par>
                          <p:cTn id="2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5" presetID="26" presetClass="emph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6" dur="500" tmFilter="0, 0; .2, .5; .8, .5; 1, 0"/>
                                        <p:tgtEl>
                                          <p:spTgt spid="12905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7" dur="250" autoRev="1" fill="hold"/>
                                        <p:tgtEl>
                                          <p:spTgt spid="12905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28" presetID="26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9" dur="500" tmFilter="0, 0; .2, .5; .8, .5; 1, 0"/>
                                        <p:tgtEl>
                                          <p:spTgt spid="12905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0" dur="250" autoRev="1" fill="hold"/>
                                        <p:tgtEl>
                                          <p:spTgt spid="12905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 nodeType="clickPar">
                      <p:stCondLst>
                        <p:cond delay="indefinite"/>
                      </p:stCondLst>
                      <p:childTnLst>
                        <p:par>
                          <p:cTn id="2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 nodeType="clickPar">
                      <p:stCondLst>
                        <p:cond delay="indefinite"/>
                      </p:stCondLst>
                      <p:childTnLst>
                        <p:par>
                          <p:cTn id="2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7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1.85185E-6 L -8.33333E-7 0.03148 " pathEditMode="relative" ptsTypes="AA">
                                      <p:cBhvr>
                                        <p:cTn id="238" dur="2000" fill="hold"/>
                                        <p:tgtEl>
                                          <p:spTgt spid="1290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 nodeType="clickPar">
                      <p:stCondLst>
                        <p:cond delay="indefinite"/>
                      </p:stCondLst>
                      <p:childTnLst>
                        <p:par>
                          <p:cTn id="2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1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0.03149 L 1.66667E-6 0.07362 " pathEditMode="relative" rAng="0" ptsTypes="AA">
                                      <p:cBhvr>
                                        <p:cTn id="242" dur="2000" fill="hold"/>
                                        <p:tgtEl>
                                          <p:spTgt spid="1290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1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 nodeType="clickPar">
                      <p:stCondLst>
                        <p:cond delay="indefinite"/>
                      </p:stCondLst>
                      <p:childTnLst>
                        <p:par>
                          <p:cTn id="2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 nodeType="clickPar">
                      <p:stCondLst>
                        <p:cond delay="indefinite"/>
                      </p:stCondLst>
                      <p:childTnLst>
                        <p:par>
                          <p:cTn id="2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 nodeType="clickPar">
                      <p:stCondLst>
                        <p:cond delay="indefinite"/>
                      </p:stCondLst>
                      <p:childTnLst>
                        <p:par>
                          <p:cTn id="2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3" presetID="0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0.07352 L -1.66667E-6 0.56647 " pathEditMode="relative" rAng="0" ptsTypes="AA">
                                      <p:cBhvr>
                                        <p:cTn id="254" dur="2000" fill="hold"/>
                                        <p:tgtEl>
                                          <p:spTgt spid="1290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46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 nodeType="clickPar">
                      <p:stCondLst>
                        <p:cond delay="indefinite"/>
                      </p:stCondLst>
                      <p:childTnLst>
                        <p:par>
                          <p:cTn id="2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xit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 nodeType="clickPar">
                      <p:stCondLst>
                        <p:cond delay="indefinite"/>
                      </p:stCondLst>
                      <p:childTnLst>
                        <p:par>
                          <p:cTn id="2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1" presetID="26" presetClass="emph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2" dur="500" tmFilter="0, 0; .2, .5; .8, .5; 1, 0"/>
                                        <p:tgtEl>
                                          <p:spTgt spid="12905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3" dur="250" autoRev="1" fill="hold"/>
                                        <p:tgtEl>
                                          <p:spTgt spid="12905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64" presetID="26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5" dur="500" tmFilter="0, 0; .2, .5; .8, .5; 1, 0"/>
                                        <p:tgtEl>
                                          <p:spTgt spid="12905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6" dur="250" autoRev="1" fill="hold"/>
                                        <p:tgtEl>
                                          <p:spTgt spid="12905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8" presetID="1" presetClass="exit" presetSubtype="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 nodeType="clickPar">
                      <p:stCondLst>
                        <p:cond delay="indefinite"/>
                      </p:stCondLst>
                      <p:childTnLst>
                        <p:par>
                          <p:cTn id="2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 nodeType="clickPar">
                      <p:stCondLst>
                        <p:cond delay="indefinite"/>
                      </p:stCondLst>
                      <p:childTnLst>
                        <p:par>
                          <p:cTn id="2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8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1.96532E-6 L 2.77778E-6 0.03144 " pathEditMode="relative" ptsTypes="AA">
                                      <p:cBhvr>
                                        <p:cTn id="279" dur="2000" fill="hold"/>
                                        <p:tgtEl>
                                          <p:spTgt spid="1290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 nodeType="clickPar">
                      <p:stCondLst>
                        <p:cond delay="indefinite"/>
                      </p:stCondLst>
                      <p:childTnLst>
                        <p:par>
                          <p:cTn id="2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 nodeType="clickPar">
                      <p:stCondLst>
                        <p:cond delay="indefinite"/>
                      </p:stCondLst>
                      <p:childTnLst>
                        <p:par>
                          <p:cTn id="2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 nodeType="clickPar">
                      <p:stCondLst>
                        <p:cond delay="indefinite"/>
                      </p:stCondLst>
                      <p:childTnLst>
                        <p:par>
                          <p:cTn id="2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 nodeType="clickPar">
                      <p:stCondLst>
                        <p:cond delay="indefinite"/>
                      </p:stCondLst>
                      <p:childTnLst>
                        <p:par>
                          <p:cTn id="2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6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0.03144 L -8.33333E-7 -0.09434 " pathEditMode="relative" ptsTypes="AA">
                                      <p:cBhvr>
                                        <p:cTn id="297" dur="2000" fill="hold"/>
                                        <p:tgtEl>
                                          <p:spTgt spid="1290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 nodeType="clickPar">
                      <p:stCondLst>
                        <p:cond delay="indefinite"/>
                      </p:stCondLst>
                      <p:childTnLst>
                        <p:par>
                          <p:cTn id="2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 nodeType="clickPar">
                      <p:stCondLst>
                        <p:cond delay="indefinite"/>
                      </p:stCondLst>
                      <p:childTnLst>
                        <p:par>
                          <p:cTn id="3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" fill="hold" nodeType="clickPar">
                      <p:stCondLst>
                        <p:cond delay="indefinite"/>
                      </p:stCondLst>
                      <p:childTnLst>
                        <p:par>
                          <p:cTn id="3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8" presetID="0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0.09434 L -8.33333E-7 0.15745 " pathEditMode="relative" ptsTypes="AA">
                                      <p:cBhvr>
                                        <p:cTn id="309" dur="2000" fill="hold"/>
                                        <p:tgtEl>
                                          <p:spTgt spid="1290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0" fill="hold" nodeType="clickPar">
                      <p:stCondLst>
                        <p:cond delay="indefinite"/>
                      </p:stCondLst>
                      <p:childTnLst>
                        <p:par>
                          <p:cTn id="3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2" presetID="1" presetClass="exit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 nodeType="clickPar">
                      <p:stCondLst>
                        <p:cond delay="indefinite"/>
                      </p:stCondLst>
                      <p:childTnLst>
                        <p:par>
                          <p:cTn id="3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6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7" dur="500" tmFilter="0, 0; .2, .5; .8, .5; 1, 0"/>
                                        <p:tgtEl>
                                          <p:spTgt spid="12904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8" dur="250" autoRev="1" fill="hold"/>
                                        <p:tgtEl>
                                          <p:spTgt spid="12904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19" presetID="2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0" dur="500" tmFilter="0, 0; .2, .5; .8, .5; 1, 0"/>
                                        <p:tgtEl>
                                          <p:spTgt spid="12904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1" dur="250" autoRev="1" fill="hold"/>
                                        <p:tgtEl>
                                          <p:spTgt spid="12904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3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 nodeType="clickPar">
                      <p:stCondLst>
                        <p:cond delay="indefinite"/>
                      </p:stCondLst>
                      <p:childTnLst>
                        <p:par>
                          <p:cTn id="3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 nodeType="clickPar">
                      <p:stCondLst>
                        <p:cond delay="indefinite"/>
                      </p:stCondLst>
                      <p:childTnLst>
                        <p:par>
                          <p:cTn id="3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5" fill="hold" nodeType="clickPar">
                      <p:stCondLst>
                        <p:cond delay="indefinite"/>
                      </p:stCondLst>
                      <p:childTnLst>
                        <p:par>
                          <p:cTn id="3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7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1.96532E-6 L 2.77778E-6 0.03144 " pathEditMode="relative" ptsTypes="AA">
                                      <p:cBhvr>
                                        <p:cTn id="338" dur="2000" fill="hold"/>
                                        <p:tgtEl>
                                          <p:spTgt spid="1290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 nodeType="clickPar">
                      <p:stCondLst>
                        <p:cond delay="indefinite"/>
                      </p:stCondLst>
                      <p:childTnLst>
                        <p:par>
                          <p:cTn id="3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 nodeType="clickPar">
                      <p:stCondLst>
                        <p:cond delay="indefinite"/>
                      </p:stCondLst>
                      <p:childTnLst>
                        <p:par>
                          <p:cTn id="3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7" fill="hold" nodeType="clickPar">
                      <p:stCondLst>
                        <p:cond delay="indefinite"/>
                      </p:stCondLst>
                      <p:childTnLst>
                        <p:par>
                          <p:cTn id="3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1" fill="hold" nodeType="clickPar">
                      <p:stCondLst>
                        <p:cond delay="indefinite"/>
                      </p:stCondLst>
                      <p:childTnLst>
                        <p:par>
                          <p:cTn id="3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3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66667E-6 0.03144 L 6.66667E-6 -0.09434 " pathEditMode="relative" ptsTypes="AA">
                                      <p:cBhvr>
                                        <p:cTn id="354" dur="2000" fill="hold"/>
                                        <p:tgtEl>
                                          <p:spTgt spid="1290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5" fill="hold" nodeType="clickPar">
                      <p:stCondLst>
                        <p:cond delay="indefinite"/>
                      </p:stCondLst>
                      <p:childTnLst>
                        <p:par>
                          <p:cTn id="3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9" fill="hold" nodeType="clickPar">
                      <p:stCondLst>
                        <p:cond delay="indefinite"/>
                      </p:stCondLst>
                      <p:childTnLst>
                        <p:par>
                          <p:cTn id="3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1" presetID="0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159 -0.08347 L -0.03159 -0.03098 " pathEditMode="relative" ptsTypes="AA">
                                      <p:cBhvr>
                                        <p:cTn id="362" dur="2000" fill="hold"/>
                                        <p:tgtEl>
                                          <p:spTgt spid="1290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3" fill="hold" nodeType="clickPar">
                      <p:stCondLst>
                        <p:cond delay="indefinite"/>
                      </p:stCondLst>
                      <p:childTnLst>
                        <p:par>
                          <p:cTn id="3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7" fill="hold" nodeType="clickPar">
                      <p:stCondLst>
                        <p:cond delay="indefinite"/>
                      </p:stCondLst>
                      <p:childTnLst>
                        <p:par>
                          <p:cTn id="3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1" fill="hold" nodeType="clickPar">
                      <p:stCondLst>
                        <p:cond delay="indefinite"/>
                      </p:stCondLst>
                      <p:childTnLst>
                        <p:par>
                          <p:cTn id="3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5" fill="hold" nodeType="clickPar">
                      <p:stCondLst>
                        <p:cond delay="indefinite"/>
                      </p:stCondLst>
                      <p:childTnLst>
                        <p:par>
                          <p:cTn id="3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9" fill="hold" nodeType="clickPar">
                      <p:stCondLst>
                        <p:cond delay="indefinite"/>
                      </p:stCondLst>
                      <p:childTnLst>
                        <p:par>
                          <p:cTn id="3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3" fill="hold" nodeType="clickPar">
                      <p:stCondLst>
                        <p:cond delay="indefinite"/>
                      </p:stCondLst>
                      <p:childTnLst>
                        <p:par>
                          <p:cTn id="3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5" presetID="1" presetClass="exit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7" fill="hold" nodeType="clickPar">
                      <p:stCondLst>
                        <p:cond delay="indefinite"/>
                      </p:stCondLst>
                      <p:childTnLst>
                        <p:par>
                          <p:cTn id="3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9" presetID="4" presetClass="entr" presetSubtype="16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1" dur="500"/>
                                        <p:tgtEl>
                                          <p:spTgt spid="129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2" presetID="4" presetClass="entr" presetSubtype="16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4" dur="500"/>
                                        <p:tgtEl>
                                          <p:spTgt spid="129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5" fill="hold" nodeType="clickPar">
                      <p:stCondLst>
                        <p:cond delay="indefinite"/>
                      </p:stCondLst>
                      <p:childTnLst>
                        <p:par>
                          <p:cTn id="3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9" fill="hold" nodeType="clickPar">
                      <p:stCondLst>
                        <p:cond delay="indefinite"/>
                      </p:stCondLst>
                      <p:childTnLst>
                        <p:par>
                          <p:cTn id="4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1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1.85185E-6 L -8.33333E-7 0.03148 " pathEditMode="relative" rAng="0" ptsTypes="AA">
                                      <p:cBhvr>
                                        <p:cTn id="402" dur="2000" fill="hold"/>
                                        <p:tgtEl>
                                          <p:spTgt spid="1290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3" fill="hold" nodeType="clickPar">
                      <p:stCondLst>
                        <p:cond delay="indefinite"/>
                      </p:stCondLst>
                      <p:childTnLst>
                        <p:par>
                          <p:cTn id="4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5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0.03149 L -3.33333E-6 0.32547 " pathEditMode="relative" ptsTypes="AA">
                                      <p:cBhvr>
                                        <p:cTn id="406" dur="2000" fill="hold"/>
                                        <p:tgtEl>
                                          <p:spTgt spid="1290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7" fill="hold" nodeType="clickPar">
                      <p:stCondLst>
                        <p:cond delay="indefinite"/>
                      </p:stCondLst>
                      <p:childTnLst>
                        <p:par>
                          <p:cTn id="4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1" fill="hold" nodeType="clickPar">
                      <p:stCondLst>
                        <p:cond delay="indefinite"/>
                      </p:stCondLst>
                      <p:childTnLst>
                        <p:par>
                          <p:cTn id="4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3" presetID="0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0.32547 L -3.33333E-6 0.35695 " pathEditMode="relative" ptsTypes="AA">
                                      <p:cBhvr>
                                        <p:cTn id="414" dur="2000" fill="hold"/>
                                        <p:tgtEl>
                                          <p:spTgt spid="1290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5" fill="hold" nodeType="clickPar">
                      <p:stCondLst>
                        <p:cond delay="indefinite"/>
                      </p:stCondLst>
                      <p:childTnLst>
                        <p:par>
                          <p:cTn id="4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9" fill="hold" nodeType="clickPar">
                      <p:stCondLst>
                        <p:cond delay="indefinite"/>
                      </p:stCondLst>
                      <p:childTnLst>
                        <p:par>
                          <p:cTn id="4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1" presetID="0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0.35694 L 3.33333E-6 0.38866 " pathEditMode="relative" rAng="0" ptsTypes="AA">
                                      <p:cBhvr>
                                        <p:cTn id="422" dur="2000" fill="hold"/>
                                        <p:tgtEl>
                                          <p:spTgt spid="1290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7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3" fill="hold" nodeType="clickPar">
                      <p:stCondLst>
                        <p:cond delay="indefinite"/>
                      </p:stCondLst>
                      <p:childTnLst>
                        <p:par>
                          <p:cTn id="4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7" fill="hold" nodeType="clickPar">
                      <p:stCondLst>
                        <p:cond delay="indefinite"/>
                      </p:stCondLst>
                      <p:childTnLst>
                        <p:par>
                          <p:cTn id="4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1" fill="hold" nodeType="clickPar">
                      <p:stCondLst>
                        <p:cond delay="indefinite"/>
                      </p:stCondLst>
                      <p:childTnLst>
                        <p:par>
                          <p:cTn id="4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5" fill="hold" nodeType="clickPar">
                      <p:stCondLst>
                        <p:cond delay="indefinite"/>
                      </p:stCondLst>
                      <p:childTnLst>
                        <p:par>
                          <p:cTn id="4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7" presetID="4" presetClass="entr" presetSubtype="16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9" dur="500"/>
                                        <p:tgtEl>
                                          <p:spTgt spid="129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0" presetID="4" presetClass="entr" presetSubtype="16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2" dur="500"/>
                                        <p:tgtEl>
                                          <p:spTgt spid="129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3" fill="hold" nodeType="clickPar">
                      <p:stCondLst>
                        <p:cond delay="indefinite"/>
                      </p:stCondLst>
                      <p:childTnLst>
                        <p:par>
                          <p:cTn id="4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7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9" fill="hold" nodeType="clickPar">
                      <p:stCondLst>
                        <p:cond delay="indefinite"/>
                      </p:stCondLst>
                      <p:childTnLst>
                        <p:par>
                          <p:cTn id="4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3" fill="hold" nodeType="clickPar">
                      <p:stCondLst>
                        <p:cond delay="indefinite"/>
                      </p:stCondLst>
                      <p:childTnLst>
                        <p:par>
                          <p:cTn id="4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5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1.85185E-6 L -8.33333E-7 0.03148 " pathEditMode="relative" ptsTypes="AA">
                                      <p:cBhvr>
                                        <p:cTn id="456" dur="2000" fill="hold"/>
                                        <p:tgtEl>
                                          <p:spTgt spid="1290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7" fill="hold" nodeType="clickPar">
                      <p:stCondLst>
                        <p:cond delay="indefinite"/>
                      </p:stCondLst>
                      <p:childTnLst>
                        <p:par>
                          <p:cTn id="4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9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0.03149 L 1.66667E-6 0.07362 " pathEditMode="relative" rAng="0" ptsTypes="AA">
                                      <p:cBhvr>
                                        <p:cTn id="460" dur="2000" fill="hold"/>
                                        <p:tgtEl>
                                          <p:spTgt spid="1290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1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1" fill="hold" nodeType="clickPar">
                      <p:stCondLst>
                        <p:cond delay="indefinite"/>
                      </p:stCondLst>
                      <p:childTnLst>
                        <p:par>
                          <p:cTn id="4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5" fill="hold" nodeType="clickPar">
                      <p:stCondLst>
                        <p:cond delay="indefinite"/>
                      </p:stCondLst>
                      <p:childTnLst>
                        <p:par>
                          <p:cTn id="4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9" fill="hold" nodeType="clickPar">
                      <p:stCondLst>
                        <p:cond delay="indefinite"/>
                      </p:stCondLst>
                      <p:childTnLst>
                        <p:par>
                          <p:cTn id="4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1" presetID="0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0.07352 L -1.66667E-6 0.56647 " pathEditMode="relative" rAng="0" ptsTypes="AA">
                                      <p:cBhvr>
                                        <p:cTn id="472" dur="2000" fill="hold"/>
                                        <p:tgtEl>
                                          <p:spTgt spid="1290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46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3" fill="hold" nodeType="clickPar">
                      <p:stCondLst>
                        <p:cond delay="indefinite"/>
                      </p:stCondLst>
                      <p:childTnLst>
                        <p:par>
                          <p:cTn id="4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5" presetID="1" presetClass="exit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7" fill="hold" nodeType="clickPar">
                      <p:stCondLst>
                        <p:cond delay="indefinite"/>
                      </p:stCondLst>
                      <p:childTnLst>
                        <p:par>
                          <p:cTn id="4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9" presetID="26" presetClass="emph" presetSubtype="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0" dur="500" tmFilter="0, 0; .2, .5; .8, .5; 1, 0"/>
                                        <p:tgtEl>
                                          <p:spTgt spid="12905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81" dur="250" autoRev="1" fill="hold"/>
                                        <p:tgtEl>
                                          <p:spTgt spid="12905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82" presetID="26" presetClass="emph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3" dur="500" tmFilter="0, 0; .2, .5; .8, .5; 1, 0"/>
                                        <p:tgtEl>
                                          <p:spTgt spid="12905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84" dur="250" autoRev="1" fill="hold"/>
                                        <p:tgtEl>
                                          <p:spTgt spid="12905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6" presetID="1" presetClass="exit" presetSubtype="0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8" presetID="1" presetClass="exit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0" fill="hold" nodeType="clickPar">
                      <p:stCondLst>
                        <p:cond delay="indefinite"/>
                      </p:stCondLst>
                      <p:childTnLst>
                        <p:par>
                          <p:cTn id="4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2" presetID="26" presetClass="emph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3" dur="500" tmFilter="0, 0; .2, .5; .8, .5; 1, 0"/>
                                        <p:tgtEl>
                                          <p:spTgt spid="12904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94" dur="250" autoRev="1" fill="hold"/>
                                        <p:tgtEl>
                                          <p:spTgt spid="12904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95" presetID="26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6" dur="500" tmFilter="0, 0; .2, .5; .8, .5; 1, 0"/>
                                        <p:tgtEl>
                                          <p:spTgt spid="12904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97" dur="250" autoRev="1" fill="hold"/>
                                        <p:tgtEl>
                                          <p:spTgt spid="12904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8" fill="hold" nodeType="clickPar">
                      <p:stCondLst>
                        <p:cond delay="indefinite"/>
                      </p:stCondLst>
                      <p:childTnLst>
                        <p:par>
                          <p:cTn id="4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2" fill="hold" nodeType="clickPar">
                      <p:stCondLst>
                        <p:cond delay="indefinite"/>
                      </p:stCondLst>
                      <p:childTnLst>
                        <p:par>
                          <p:cTn id="5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6" fill="hold" nodeType="clickPar">
                      <p:stCondLst>
                        <p:cond delay="indefinite"/>
                      </p:stCondLst>
                      <p:childTnLst>
                        <p:par>
                          <p:cTn id="5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0" fill="hold" nodeType="clickPar">
                      <p:stCondLst>
                        <p:cond delay="indefinite"/>
                      </p:stCondLst>
                      <p:childTnLst>
                        <p:par>
                          <p:cTn id="5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2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1.96532E-6 L 2.77778E-6 0.03144 " pathEditMode="relative" ptsTypes="AA">
                                      <p:cBhvr>
                                        <p:cTn id="513" dur="2000" fill="hold"/>
                                        <p:tgtEl>
                                          <p:spTgt spid="1290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4" fill="hold" nodeType="clickPar">
                      <p:stCondLst>
                        <p:cond delay="indefinite"/>
                      </p:stCondLst>
                      <p:childTnLst>
                        <p:par>
                          <p:cTn id="5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8" fill="hold" nodeType="clickPar">
                      <p:stCondLst>
                        <p:cond delay="indefinite"/>
                      </p:stCondLst>
                      <p:childTnLst>
                        <p:par>
                          <p:cTn id="5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2" fill="hold" nodeType="clickPar">
                      <p:stCondLst>
                        <p:cond delay="indefinite"/>
                      </p:stCondLst>
                      <p:childTnLst>
                        <p:par>
                          <p:cTn id="5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4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66667E-6 0.03144 L 6.66667E-6 -0.09434 " pathEditMode="relative" rAng="0" ptsTypes="AA">
                                      <p:cBhvr>
                                        <p:cTn id="525" dur="2000" fill="hold"/>
                                        <p:tgtEl>
                                          <p:spTgt spid="1290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6" fill="hold" nodeType="clickPar">
                      <p:stCondLst>
                        <p:cond delay="indefinite"/>
                      </p:stCondLst>
                      <p:childTnLst>
                        <p:par>
                          <p:cTn id="5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0" fill="hold" nodeType="clickPar">
                      <p:stCondLst>
                        <p:cond delay="indefinite"/>
                      </p:stCondLst>
                      <p:childTnLst>
                        <p:par>
                          <p:cTn id="5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4" fill="hold" nodeType="clickPar">
                      <p:stCondLst>
                        <p:cond delay="indefinite"/>
                      </p:stCondLst>
                      <p:childTnLst>
                        <p:par>
                          <p:cTn id="5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6" presetID="0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159 -0.08347 L -0.03159 -0.03098 " pathEditMode="relative" ptsTypes="AA">
                                      <p:cBhvr>
                                        <p:cTn id="537" dur="2000" fill="hold"/>
                                        <p:tgtEl>
                                          <p:spTgt spid="1290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8" fill="hold" nodeType="clickPar">
                      <p:stCondLst>
                        <p:cond delay="indefinite"/>
                      </p:stCondLst>
                      <p:childTnLst>
                        <p:par>
                          <p:cTn id="5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2" fill="hold" nodeType="clickPar">
                      <p:stCondLst>
                        <p:cond delay="indefinite"/>
                      </p:stCondLst>
                      <p:childTnLst>
                        <p:par>
                          <p:cTn id="5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6" fill="hold" nodeType="clickPar">
                      <p:stCondLst>
                        <p:cond delay="indefinite"/>
                      </p:stCondLst>
                      <p:childTnLst>
                        <p:par>
                          <p:cTn id="5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2" fill="hold" nodeType="clickPar">
                      <p:stCondLst>
                        <p:cond delay="indefinite"/>
                      </p:stCondLst>
                      <p:childTnLst>
                        <p:par>
                          <p:cTn id="5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4" presetID="3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6" dur="500"/>
                                        <p:tgtEl>
                                          <p:spTgt spid="129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7" presetID="3" presetClass="entr" presetSubtype="1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9" dur="500"/>
                                        <p:tgtEl>
                                          <p:spTgt spid="129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0" fill="hold" nodeType="clickPar">
                      <p:stCondLst>
                        <p:cond delay="indefinite"/>
                      </p:stCondLst>
                      <p:childTnLst>
                        <p:par>
                          <p:cTn id="5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2" presetID="1" presetClass="exit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4" fill="hold" nodeType="clickPar">
                      <p:stCondLst>
                        <p:cond delay="indefinite"/>
                      </p:stCondLst>
                      <p:childTnLst>
                        <p:par>
                          <p:cTn id="5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8" fill="hold" nodeType="clickPar">
                      <p:stCondLst>
                        <p:cond delay="indefinite"/>
                      </p:stCondLst>
                      <p:childTnLst>
                        <p:par>
                          <p:cTn id="5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0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1.85185E-6 L -8.33333E-7 0.03148 " pathEditMode="relative" ptsTypes="AA">
                                      <p:cBhvr>
                                        <p:cTn id="571" dur="2000" fill="hold"/>
                                        <p:tgtEl>
                                          <p:spTgt spid="129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2" fill="hold" nodeType="clickPar">
                      <p:stCondLst>
                        <p:cond delay="indefinite"/>
                      </p:stCondLst>
                      <p:childTnLst>
                        <p:par>
                          <p:cTn id="5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4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0.03149 L 1.66667E-6 0.07362 " pathEditMode="relative" rAng="0" ptsTypes="AA">
                                      <p:cBhvr>
                                        <p:cTn id="575" dur="2000" fill="hold"/>
                                        <p:tgtEl>
                                          <p:spTgt spid="129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1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6" fill="hold" nodeType="clickPar">
                      <p:stCondLst>
                        <p:cond delay="indefinite"/>
                      </p:stCondLst>
                      <p:childTnLst>
                        <p:par>
                          <p:cTn id="5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0" fill="hold" nodeType="clickPar">
                      <p:stCondLst>
                        <p:cond delay="indefinite"/>
                      </p:stCondLst>
                      <p:childTnLst>
                        <p:par>
                          <p:cTn id="5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4" fill="hold" nodeType="clickPar">
                      <p:stCondLst>
                        <p:cond delay="indefinite"/>
                      </p:stCondLst>
                      <p:childTnLst>
                        <p:par>
                          <p:cTn id="5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6" presetID="0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0.07352 L -1.66667E-6 0.56647 " pathEditMode="relative" rAng="0" ptsTypes="AA">
                                      <p:cBhvr>
                                        <p:cTn id="587" dur="2000" fill="hold"/>
                                        <p:tgtEl>
                                          <p:spTgt spid="129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46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8" fill="hold" nodeType="clickPar">
                      <p:stCondLst>
                        <p:cond delay="indefinite"/>
                      </p:stCondLst>
                      <p:childTnLst>
                        <p:par>
                          <p:cTn id="5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0" presetID="1" presetClass="exit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2" fill="hold" nodeType="clickPar">
                      <p:stCondLst>
                        <p:cond delay="indefinite"/>
                      </p:stCondLst>
                      <p:childTnLst>
                        <p:par>
                          <p:cTn id="5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4" presetID="26" presetClass="emph" presetSubtype="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5" dur="500" tmFilter="0, 0; .2, .5; .8, .5; 1, 0"/>
                                        <p:tgtEl>
                                          <p:spTgt spid="12905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6" dur="250" autoRev="1" fill="hold"/>
                                        <p:tgtEl>
                                          <p:spTgt spid="12905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97" presetID="26" presetClass="emph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8" dur="500" tmFilter="0, 0; .2, .5; .8, .5; 1, 0"/>
                                        <p:tgtEl>
                                          <p:spTgt spid="12905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9" dur="250" autoRev="1" fill="hold"/>
                                        <p:tgtEl>
                                          <p:spTgt spid="12905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1" presetID="1" presetClass="exit" presetSubtype="0" fill="hold" grpId="1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3" presetID="1" presetClass="exit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5" fill="hold" nodeType="clickPar">
                      <p:stCondLst>
                        <p:cond delay="indefinite"/>
                      </p:stCondLst>
                      <p:childTnLst>
                        <p:par>
                          <p:cTn id="6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7" presetID="26" presetClass="emph" presetSubtype="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8" dur="500" tmFilter="0, 0; .2, .5; .8, .5; 1, 0"/>
                                        <p:tgtEl>
                                          <p:spTgt spid="12904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09" dur="250" autoRev="1" fill="hold"/>
                                        <p:tgtEl>
                                          <p:spTgt spid="12904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10" presetID="26" presetClass="emph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1" dur="500" tmFilter="0, 0; .2, .5; .8, .5; 1, 0"/>
                                        <p:tgtEl>
                                          <p:spTgt spid="12904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12" dur="250" autoRev="1" fill="hold"/>
                                        <p:tgtEl>
                                          <p:spTgt spid="12904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3" fill="hold" nodeType="clickPar">
                      <p:stCondLst>
                        <p:cond delay="indefinite"/>
                      </p:stCondLst>
                      <p:childTnLst>
                        <p:par>
                          <p:cTn id="6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7" fill="hold" nodeType="clickPar">
                      <p:stCondLst>
                        <p:cond delay="indefinite"/>
                      </p:stCondLst>
                      <p:childTnLst>
                        <p:par>
                          <p:cTn id="6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1" fill="hold" nodeType="clickPar">
                      <p:stCondLst>
                        <p:cond delay="indefinite"/>
                      </p:stCondLst>
                      <p:childTnLst>
                        <p:par>
                          <p:cTn id="6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5" fill="hold" nodeType="clickPar">
                      <p:stCondLst>
                        <p:cond delay="indefinite"/>
                      </p:stCondLst>
                      <p:childTnLst>
                        <p:par>
                          <p:cTn id="6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7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1.96532E-6 L 2.77778E-6 0.03144 " pathEditMode="relative" ptsTypes="AA">
                                      <p:cBhvr>
                                        <p:cTn id="628" dur="2000" fill="hold"/>
                                        <p:tgtEl>
                                          <p:spTgt spid="1291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9" fill="hold" nodeType="clickPar">
                      <p:stCondLst>
                        <p:cond delay="indefinite"/>
                      </p:stCondLst>
                      <p:childTnLst>
                        <p:par>
                          <p:cTn id="6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3" fill="hold" nodeType="clickPar">
                      <p:stCondLst>
                        <p:cond delay="indefinite"/>
                      </p:stCondLst>
                      <p:childTnLst>
                        <p:par>
                          <p:cTn id="6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7" fill="hold" nodeType="clickPar">
                      <p:stCondLst>
                        <p:cond delay="indefinite"/>
                      </p:stCondLst>
                      <p:childTnLst>
                        <p:par>
                          <p:cTn id="6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9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0.03144 L -8.33333E-7 -0.09434 " pathEditMode="relative" ptsTypes="AA">
                                      <p:cBhvr>
                                        <p:cTn id="640" dur="2000" fill="hold"/>
                                        <p:tgtEl>
                                          <p:spTgt spid="1291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1" fill="hold" nodeType="clickPar">
                      <p:stCondLst>
                        <p:cond delay="indefinite"/>
                      </p:stCondLst>
                      <p:childTnLst>
                        <p:par>
                          <p:cTn id="6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5" fill="hold" nodeType="clickPar">
                      <p:stCondLst>
                        <p:cond delay="indefinite"/>
                      </p:stCondLst>
                      <p:childTnLst>
                        <p:par>
                          <p:cTn id="6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9" fill="hold" nodeType="clickPar">
                      <p:stCondLst>
                        <p:cond delay="indefinite"/>
                      </p:stCondLst>
                      <p:childTnLst>
                        <p:par>
                          <p:cTn id="6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1" presetID="0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0.09434 L -8.33333E-7 0.15745 " pathEditMode="relative" ptsTypes="AA">
                                      <p:cBhvr>
                                        <p:cTn id="652" dur="2000" fill="hold"/>
                                        <p:tgtEl>
                                          <p:spTgt spid="1291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3" fill="hold" nodeType="clickPar">
                      <p:stCondLst>
                        <p:cond delay="indefinite"/>
                      </p:stCondLst>
                      <p:childTnLst>
                        <p:par>
                          <p:cTn id="6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5" presetID="1" presetClass="exit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7" fill="hold" nodeType="clickPar">
                      <p:stCondLst>
                        <p:cond delay="indefinite"/>
                      </p:stCondLst>
                      <p:childTnLst>
                        <p:par>
                          <p:cTn id="6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9" presetID="26" presetClass="emph" presetSubtype="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0" dur="500" tmFilter="0, 0; .2, .5; .8, .5; 1, 0"/>
                                        <p:tgtEl>
                                          <p:spTgt spid="12904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61" dur="250" autoRev="1" fill="hold"/>
                                        <p:tgtEl>
                                          <p:spTgt spid="12904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62" presetID="26" presetClass="emph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3" dur="500" tmFilter="0, 0; .2, .5; .8, .5; 1, 0"/>
                                        <p:tgtEl>
                                          <p:spTgt spid="12904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64" dur="250" autoRev="1" fill="hold"/>
                                        <p:tgtEl>
                                          <p:spTgt spid="12904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6" presetID="1" presetClass="exit" presetSubtype="0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8" presetID="1" presetClass="exit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34" grpId="0" animBg="1"/>
      <p:bldP spid="129034" grpId="1" animBg="1"/>
      <p:bldP spid="129030" grpId="0" animBg="1"/>
      <p:bldP spid="129030" grpId="1" animBg="1"/>
      <p:bldP spid="129030" grpId="2" animBg="1"/>
      <p:bldP spid="129030" grpId="3" animBg="1"/>
      <p:bldP spid="129030" grpId="4" animBg="1"/>
      <p:bldP spid="129030" grpId="5" animBg="1"/>
      <p:bldP spid="129036" grpId="0" animBg="1"/>
      <p:bldP spid="129038" grpId="0" animBg="1"/>
      <p:bldP spid="129039" grpId="0" animBg="1"/>
      <p:bldP spid="129040" grpId="0" animBg="1"/>
      <p:bldP spid="129041" grpId="0" animBg="1"/>
      <p:bldP spid="129041" grpId="1" animBg="1"/>
      <p:bldP spid="129042" grpId="0" animBg="1"/>
      <p:bldP spid="129044" grpId="0" animBg="1"/>
      <p:bldP spid="129044" grpId="1" animBg="1"/>
      <p:bldP spid="129044" grpId="2" animBg="1"/>
      <p:bldP spid="129044" grpId="3" animBg="1"/>
      <p:bldP spid="129044" grpId="4" animBg="1"/>
      <p:bldP spid="129044" grpId="5" animBg="1"/>
      <p:bldP spid="129044" grpId="6" animBg="1"/>
      <p:bldP spid="129044" grpId="7" animBg="1"/>
      <p:bldP spid="129044" grpId="8" animBg="1"/>
      <p:bldP spid="129045" grpId="0"/>
      <p:bldP spid="129045" grpId="1" animBg="1"/>
      <p:bldP spid="129045" grpId="2" animBg="1"/>
      <p:bldP spid="129045" grpId="3" animBg="1"/>
      <p:bldP spid="129045" grpId="4" animBg="1"/>
      <p:bldP spid="129045" grpId="5" animBg="1"/>
      <p:bldP spid="129045" grpId="6" animBg="1"/>
      <p:bldP spid="129045" grpId="7" animBg="1"/>
      <p:bldP spid="129045" grpId="8" animBg="1"/>
      <p:bldP spid="129047" grpId="0" animBg="1"/>
      <p:bldP spid="129047" grpId="1" animBg="1"/>
      <p:bldP spid="129047" grpId="2" animBg="1"/>
      <p:bldP spid="129047" grpId="3" animBg="1"/>
      <p:bldP spid="129047" grpId="4" animBg="1"/>
      <p:bldP spid="129047" grpId="5" animBg="1"/>
      <p:bldP spid="129048" grpId="0" animBg="1"/>
      <p:bldP spid="129048" grpId="1" animBg="1"/>
      <p:bldP spid="129049" grpId="0" animBg="1"/>
      <p:bldP spid="129050" grpId="0" animBg="1"/>
      <p:bldP spid="129051" grpId="0" animBg="1"/>
      <p:bldP spid="129051" grpId="1" animBg="1"/>
      <p:bldP spid="129051" grpId="2" animBg="1"/>
      <p:bldP spid="129051" grpId="3" animBg="1"/>
      <p:bldP spid="129051" grpId="4" animBg="1"/>
      <p:bldP spid="129051" grpId="5" animBg="1"/>
      <p:bldP spid="129051" grpId="6" animBg="1"/>
      <p:bldP spid="129051" grpId="7" animBg="1"/>
      <p:bldP spid="129051" grpId="8" animBg="1"/>
      <p:bldP spid="129051" grpId="9" animBg="1"/>
      <p:bldP spid="129051" grpId="10" animBg="1"/>
      <p:bldP spid="129051" grpId="11" animBg="1"/>
      <p:bldP spid="129051" grpId="12" animBg="1"/>
      <p:bldP spid="129052" grpId="0" animBg="1"/>
      <p:bldP spid="129052" grpId="1" animBg="1"/>
      <p:bldP spid="129052" grpId="2" animBg="1"/>
      <p:bldP spid="129052" grpId="3" animBg="1"/>
      <p:bldP spid="129052" grpId="4" animBg="1"/>
      <p:bldP spid="129052" grpId="5" animBg="1"/>
      <p:bldP spid="129052" grpId="6" animBg="1"/>
      <p:bldP spid="129052" grpId="7" animBg="1"/>
      <p:bldP spid="129052" grpId="8" animBg="1"/>
      <p:bldP spid="129052" grpId="9" animBg="1"/>
      <p:bldP spid="129052" grpId="10" animBg="1"/>
      <p:bldP spid="129052" grpId="11" animBg="1"/>
      <p:bldP spid="129053" grpId="0" animBg="1"/>
      <p:bldP spid="129053" grpId="1" animBg="1"/>
      <p:bldP spid="129053" grpId="2" animBg="1"/>
      <p:bldP spid="129053" grpId="3" animBg="1"/>
      <p:bldP spid="129053" grpId="4" animBg="1"/>
      <p:bldP spid="129058" grpId="0" animBg="1"/>
      <p:bldP spid="129060" grpId="0" animBg="1"/>
      <p:bldP spid="129060" grpId="1" animBg="1"/>
      <p:bldP spid="129061" grpId="0" animBg="1"/>
      <p:bldP spid="129065" grpId="0" animBg="1"/>
      <p:bldP spid="129065" grpId="1" animBg="1"/>
      <p:bldP spid="129067" grpId="0" animBg="1"/>
      <p:bldP spid="129068" grpId="0" animBg="1"/>
      <p:bldP spid="129070" grpId="0" animBg="1"/>
      <p:bldP spid="129070" grpId="1" animBg="1"/>
      <p:bldP spid="129070" grpId="2" animBg="1"/>
      <p:bldP spid="129070" grpId="3" animBg="1"/>
      <p:bldP spid="129070" grpId="4" animBg="1"/>
      <p:bldP spid="129071" grpId="0" animBg="1"/>
      <p:bldP spid="129071" grpId="1" animBg="1"/>
      <p:bldP spid="129071" grpId="2" animBg="1"/>
      <p:bldP spid="129071" grpId="3" animBg="1"/>
      <p:bldP spid="129071" grpId="4" animBg="1"/>
      <p:bldP spid="129072" grpId="0" animBg="1"/>
      <p:bldP spid="129077" grpId="0" animBg="1"/>
      <p:bldP spid="129077" grpId="1" animBg="1"/>
      <p:bldP spid="129077" grpId="2" animBg="1"/>
      <p:bldP spid="129077" grpId="3" animBg="1"/>
      <p:bldP spid="129077" grpId="4" animBg="1"/>
      <p:bldP spid="129079" grpId="0" animBg="1"/>
      <p:bldP spid="129079" grpId="1" animBg="1"/>
      <p:bldP spid="129080" grpId="0" animBg="1"/>
      <p:bldP spid="129081" grpId="0" animBg="1"/>
      <p:bldP spid="129081" grpId="1" animBg="1"/>
      <p:bldP spid="129081" grpId="2" animBg="1"/>
      <p:bldP spid="129081" grpId="3" animBg="1"/>
      <p:bldP spid="129081" grpId="4" animBg="1"/>
      <p:bldP spid="129082" grpId="0" animBg="1"/>
      <p:bldP spid="129082" grpId="1" animBg="1"/>
      <p:bldP spid="129084" grpId="0" animBg="1"/>
      <p:bldP spid="129085" grpId="0" animBg="1"/>
      <p:bldP spid="129085" grpId="1" animBg="1"/>
      <p:bldP spid="129086" grpId="0" animBg="1"/>
      <p:bldP spid="129087" grpId="0" animBg="1"/>
      <p:bldP spid="129088" grpId="0" animBg="1"/>
      <p:bldP spid="129088" grpId="1" animBg="1"/>
      <p:bldP spid="129089" grpId="0" animBg="1"/>
      <p:bldP spid="129089" grpId="1" animBg="1"/>
      <p:bldP spid="129089" grpId="2" animBg="1"/>
      <p:bldP spid="129089" grpId="3" animBg="1"/>
      <p:bldP spid="129089" grpId="4" animBg="1"/>
      <p:bldP spid="129089" grpId="5" animBg="1"/>
      <p:bldP spid="129090" grpId="0" animBg="1"/>
      <p:bldP spid="129090" grpId="1" animBg="1"/>
      <p:bldP spid="129091" grpId="0" animBg="1"/>
      <p:bldP spid="129092" grpId="0" animBg="1"/>
      <p:bldP spid="129093" grpId="0" animBg="1"/>
      <p:bldP spid="129093" grpId="1" animBg="1"/>
      <p:bldP spid="129093" grpId="2" animBg="1"/>
      <p:bldP spid="129093" grpId="3" animBg="1"/>
      <p:bldP spid="129093" grpId="4" animBg="1"/>
      <p:bldP spid="129094" grpId="0" animBg="1"/>
      <p:bldP spid="129095" grpId="0" animBg="1"/>
      <p:bldP spid="129095" grpId="1" animBg="1"/>
      <p:bldP spid="129095" grpId="2" animBg="1"/>
      <p:bldP spid="129095" grpId="3" animBg="1"/>
      <p:bldP spid="129095" grpId="4" animBg="1"/>
      <p:bldP spid="129096" grpId="0" animBg="1"/>
      <p:bldP spid="129096" grpId="1" animBg="1"/>
      <p:bldP spid="129097" grpId="0" animBg="1"/>
      <p:bldP spid="129098" grpId="0" animBg="1"/>
      <p:bldP spid="129098" grpId="1" animBg="1"/>
      <p:bldP spid="129099" grpId="0" animBg="1"/>
      <p:bldP spid="129100" grpId="0" animBg="1"/>
      <p:bldP spid="129101" grpId="0" animBg="1"/>
      <p:bldP spid="129101" grpId="1" animBg="1"/>
      <p:bldP spid="129101" grpId="2" animBg="1"/>
      <p:bldP spid="129101" grpId="3" animBg="1"/>
      <p:bldP spid="129101" grpId="4" animBg="1"/>
      <p:bldP spid="129102" grpId="0" animBg="1"/>
      <p:bldP spid="129103" grpId="0" animBg="1"/>
      <p:bldP spid="129103" grpId="1" animBg="1"/>
      <p:bldP spid="129103" grpId="2" animBg="1"/>
      <p:bldP spid="129103" grpId="3" animBg="1"/>
      <p:bldP spid="129103" grpId="4" animBg="1"/>
      <p:bldP spid="129104" grpId="0" animBg="1"/>
      <p:bldP spid="129104" grpId="1" animBg="1"/>
      <p:bldP spid="129105" grpId="0" animBg="1"/>
      <p:bldP spid="129106" grpId="0" animBg="1"/>
      <p:bldP spid="129106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1392238" y="115888"/>
            <a:ext cx="3971925" cy="1009650"/>
          </a:xfrm>
        </p:spPr>
        <p:txBody>
          <a:bodyPr/>
          <a:lstStyle/>
          <a:p>
            <a:pPr eaLnBrk="1" hangingPunct="1"/>
            <a:r>
              <a:rPr lang="en-US" altLang="zh-TW" smtClean="0"/>
              <a:t>`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052513"/>
            <a:ext cx="6705600" cy="480060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zh-TW" altLang="en-US" dirty="0"/>
              <a:t>字串排列組合</a:t>
            </a:r>
          </a:p>
        </p:txBody>
      </p:sp>
      <p:pic>
        <p:nvPicPr>
          <p:cNvPr id="21508" name="Picture 4" descr="program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916113"/>
            <a:ext cx="6577012" cy="4738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9" name="Text Box 5"/>
          <p:cNvSpPr txBox="1">
            <a:spLocks noChangeArrowheads="1"/>
          </p:cNvSpPr>
          <p:nvPr/>
        </p:nvSpPr>
        <p:spPr bwMode="auto">
          <a:xfrm>
            <a:off x="6911975" y="214313"/>
            <a:ext cx="2232025" cy="6370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/>
            <a:r>
              <a:rPr lang="en-US" altLang="zh-TW" sz="1200" dirty="0">
                <a:solidFill>
                  <a:srgbClr val="FF0000"/>
                </a:solidFill>
                <a:latin typeface="Lucida Console" pitchFamily="49" charset="0"/>
              </a:rPr>
              <a:t>lv0 perm: </a:t>
            </a:r>
            <a:r>
              <a:rPr lang="en-US" altLang="zh-TW" sz="1200" dirty="0" err="1">
                <a:solidFill>
                  <a:srgbClr val="FF0000"/>
                </a:solidFill>
                <a:latin typeface="Lucida Console" pitchFamily="49" charset="0"/>
              </a:rPr>
              <a:t>i</a:t>
            </a:r>
            <a:r>
              <a:rPr lang="en-US" altLang="zh-TW" sz="1200" dirty="0">
                <a:solidFill>
                  <a:srgbClr val="FF0000"/>
                </a:solidFill>
                <a:latin typeface="Lucida Console" pitchFamily="49" charset="0"/>
              </a:rPr>
              <a:t>=0, n=2 </a:t>
            </a:r>
            <a:r>
              <a:rPr lang="en-US" altLang="zh-TW" sz="1200" dirty="0" err="1">
                <a:solidFill>
                  <a:srgbClr val="FF0000"/>
                </a:solidFill>
                <a:latin typeface="Lucida Console" pitchFamily="49" charset="0"/>
              </a:rPr>
              <a:t>abc</a:t>
            </a:r>
            <a:endParaRPr lang="en-US" altLang="zh-TW" sz="1200" dirty="0">
              <a:solidFill>
                <a:srgbClr val="FF0000"/>
              </a:solidFill>
              <a:latin typeface="Lucida Console" pitchFamily="49" charset="0"/>
            </a:endParaRPr>
          </a:p>
          <a:p>
            <a:pPr eaLnBrk="1" hangingPunct="1"/>
            <a:r>
              <a:rPr lang="en-US" altLang="zh-TW" sz="1200" dirty="0">
                <a:solidFill>
                  <a:srgbClr val="FF0000"/>
                </a:solidFill>
                <a:latin typeface="Lucida Console" pitchFamily="49" charset="0"/>
              </a:rPr>
              <a:t>lv0 SWAP: </a:t>
            </a:r>
            <a:r>
              <a:rPr lang="en-US" altLang="zh-TW" sz="1200" dirty="0" err="1">
                <a:solidFill>
                  <a:srgbClr val="FF0000"/>
                </a:solidFill>
                <a:latin typeface="Lucida Console" pitchFamily="49" charset="0"/>
              </a:rPr>
              <a:t>i</a:t>
            </a:r>
            <a:r>
              <a:rPr lang="en-US" altLang="zh-TW" sz="1200" dirty="0">
                <a:solidFill>
                  <a:srgbClr val="FF0000"/>
                </a:solidFill>
                <a:latin typeface="Lucida Console" pitchFamily="49" charset="0"/>
              </a:rPr>
              <a:t>=0, j=0 </a:t>
            </a:r>
            <a:r>
              <a:rPr lang="en-US" altLang="zh-TW" sz="1200" u="sng" dirty="0" err="1">
                <a:solidFill>
                  <a:srgbClr val="FF0000"/>
                </a:solidFill>
                <a:latin typeface="Lucida Console" pitchFamily="49" charset="0"/>
              </a:rPr>
              <a:t>a</a:t>
            </a:r>
            <a:r>
              <a:rPr lang="en-US" altLang="zh-TW" sz="1200" dirty="0" err="1">
                <a:solidFill>
                  <a:srgbClr val="FF0000"/>
                </a:solidFill>
                <a:latin typeface="Lucida Console" pitchFamily="49" charset="0"/>
              </a:rPr>
              <a:t>bc</a:t>
            </a:r>
            <a:endParaRPr lang="en-US" altLang="zh-TW" sz="1200" dirty="0">
              <a:solidFill>
                <a:srgbClr val="FF0000"/>
              </a:solidFill>
              <a:latin typeface="Lucida Console" pitchFamily="49" charset="0"/>
            </a:endParaRPr>
          </a:p>
          <a:p>
            <a:pPr eaLnBrk="1" hangingPunct="1"/>
            <a:r>
              <a:rPr lang="en-US" altLang="zh-TW" sz="1200" dirty="0">
                <a:solidFill>
                  <a:srgbClr val="FF0000"/>
                </a:solidFill>
                <a:latin typeface="Lucida Console" pitchFamily="49" charset="0"/>
              </a:rPr>
              <a:t>lv1 perm: </a:t>
            </a:r>
            <a:r>
              <a:rPr lang="en-US" altLang="zh-TW" sz="1200" dirty="0" err="1">
                <a:solidFill>
                  <a:srgbClr val="FF0000"/>
                </a:solidFill>
                <a:latin typeface="Lucida Console" pitchFamily="49" charset="0"/>
              </a:rPr>
              <a:t>i</a:t>
            </a:r>
            <a:r>
              <a:rPr lang="en-US" altLang="zh-TW" sz="1200" dirty="0">
                <a:solidFill>
                  <a:srgbClr val="FF0000"/>
                </a:solidFill>
                <a:latin typeface="Lucida Console" pitchFamily="49" charset="0"/>
              </a:rPr>
              <a:t>=1, n=2 </a:t>
            </a:r>
            <a:r>
              <a:rPr lang="en-US" altLang="zh-TW" sz="1200" dirty="0" err="1">
                <a:solidFill>
                  <a:srgbClr val="FF0000"/>
                </a:solidFill>
                <a:latin typeface="Lucida Console" pitchFamily="49" charset="0"/>
              </a:rPr>
              <a:t>abc</a:t>
            </a:r>
            <a:endParaRPr lang="en-US" altLang="zh-TW" sz="1200" dirty="0">
              <a:solidFill>
                <a:srgbClr val="FF0000"/>
              </a:solidFill>
              <a:latin typeface="Lucida Console" pitchFamily="49" charset="0"/>
            </a:endParaRPr>
          </a:p>
          <a:p>
            <a:pPr eaLnBrk="1" hangingPunct="1"/>
            <a:r>
              <a:rPr lang="en-US" altLang="zh-TW" sz="1200" dirty="0">
                <a:solidFill>
                  <a:srgbClr val="FF0000"/>
                </a:solidFill>
                <a:latin typeface="Lucida Console" pitchFamily="49" charset="0"/>
              </a:rPr>
              <a:t>lv1 SWAP: </a:t>
            </a:r>
            <a:r>
              <a:rPr lang="en-US" altLang="zh-TW" sz="1200" dirty="0" err="1">
                <a:solidFill>
                  <a:srgbClr val="FF0000"/>
                </a:solidFill>
                <a:latin typeface="Lucida Console" pitchFamily="49" charset="0"/>
              </a:rPr>
              <a:t>i</a:t>
            </a:r>
            <a:r>
              <a:rPr lang="en-US" altLang="zh-TW" sz="1200" dirty="0">
                <a:solidFill>
                  <a:srgbClr val="FF0000"/>
                </a:solidFill>
                <a:latin typeface="Lucida Console" pitchFamily="49" charset="0"/>
              </a:rPr>
              <a:t>=1, j=1 </a:t>
            </a:r>
            <a:r>
              <a:rPr lang="en-US" altLang="zh-TW" sz="1200" dirty="0" err="1">
                <a:solidFill>
                  <a:srgbClr val="FF0000"/>
                </a:solidFill>
                <a:latin typeface="Lucida Console" pitchFamily="49" charset="0"/>
              </a:rPr>
              <a:t>a</a:t>
            </a:r>
            <a:r>
              <a:rPr lang="en-US" altLang="zh-TW" sz="1200" u="sng" dirty="0" err="1">
                <a:solidFill>
                  <a:srgbClr val="FF0000"/>
                </a:solidFill>
                <a:latin typeface="Lucida Console" pitchFamily="49" charset="0"/>
              </a:rPr>
              <a:t>b</a:t>
            </a:r>
            <a:r>
              <a:rPr lang="en-US" altLang="zh-TW" sz="1200" dirty="0" err="1">
                <a:solidFill>
                  <a:srgbClr val="FF0000"/>
                </a:solidFill>
                <a:latin typeface="Lucida Console" pitchFamily="49" charset="0"/>
              </a:rPr>
              <a:t>c</a:t>
            </a:r>
            <a:endParaRPr lang="en-US" altLang="zh-TW" sz="1200" dirty="0">
              <a:solidFill>
                <a:srgbClr val="FF0000"/>
              </a:solidFill>
              <a:latin typeface="Lucida Console" pitchFamily="49" charset="0"/>
            </a:endParaRPr>
          </a:p>
          <a:p>
            <a:pPr eaLnBrk="1" hangingPunct="1"/>
            <a:r>
              <a:rPr lang="en-US" altLang="zh-TW" sz="1200" dirty="0">
                <a:solidFill>
                  <a:srgbClr val="FF0000"/>
                </a:solidFill>
                <a:latin typeface="Lucida Console" pitchFamily="49" charset="0"/>
              </a:rPr>
              <a:t>lv2 perm: </a:t>
            </a:r>
            <a:r>
              <a:rPr lang="en-US" altLang="zh-TW" sz="1200" dirty="0" err="1">
                <a:solidFill>
                  <a:srgbClr val="FF0000"/>
                </a:solidFill>
                <a:latin typeface="Lucida Console" pitchFamily="49" charset="0"/>
              </a:rPr>
              <a:t>i</a:t>
            </a:r>
            <a:r>
              <a:rPr lang="en-US" altLang="zh-TW" sz="1200" dirty="0">
                <a:solidFill>
                  <a:srgbClr val="FF0000"/>
                </a:solidFill>
                <a:latin typeface="Lucida Console" pitchFamily="49" charset="0"/>
              </a:rPr>
              <a:t>=2, n=2 </a:t>
            </a:r>
            <a:r>
              <a:rPr lang="en-US" altLang="zh-TW" sz="1200" dirty="0" err="1">
                <a:solidFill>
                  <a:srgbClr val="FF0000"/>
                </a:solidFill>
                <a:latin typeface="Lucida Console" pitchFamily="49" charset="0"/>
              </a:rPr>
              <a:t>abc</a:t>
            </a:r>
            <a:endParaRPr lang="en-US" altLang="zh-TW" sz="1200" dirty="0">
              <a:solidFill>
                <a:srgbClr val="FF0000"/>
              </a:solidFill>
              <a:latin typeface="Lucida Console" pitchFamily="49" charset="0"/>
            </a:endParaRPr>
          </a:p>
          <a:p>
            <a:pPr eaLnBrk="1" hangingPunct="1"/>
            <a:r>
              <a:rPr lang="en-US" altLang="zh-TW" sz="1200" dirty="0">
                <a:solidFill>
                  <a:srgbClr val="FF0000"/>
                </a:solidFill>
                <a:latin typeface="Lucida Console" pitchFamily="49" charset="0"/>
              </a:rPr>
              <a:t>print: </a:t>
            </a:r>
            <a:r>
              <a:rPr lang="en-US" altLang="zh-TW" sz="1200" dirty="0" err="1">
                <a:solidFill>
                  <a:srgbClr val="FF0000"/>
                </a:solidFill>
                <a:latin typeface="Lucida Console" pitchFamily="49" charset="0"/>
              </a:rPr>
              <a:t>abc</a:t>
            </a:r>
            <a:endParaRPr lang="en-US" altLang="zh-TW" sz="1200" dirty="0">
              <a:solidFill>
                <a:srgbClr val="FF0000"/>
              </a:solidFill>
              <a:latin typeface="Lucida Console" pitchFamily="49" charset="0"/>
            </a:endParaRPr>
          </a:p>
          <a:p>
            <a:pPr eaLnBrk="1" hangingPunct="1"/>
            <a:r>
              <a:rPr lang="en-US" altLang="zh-TW" sz="1200" dirty="0">
                <a:solidFill>
                  <a:srgbClr val="FF0000"/>
                </a:solidFill>
                <a:latin typeface="Lucida Console" pitchFamily="49" charset="0"/>
              </a:rPr>
              <a:t>lv1 SWAP: </a:t>
            </a:r>
            <a:r>
              <a:rPr lang="en-US" altLang="zh-TW" sz="1200" dirty="0" err="1">
                <a:solidFill>
                  <a:srgbClr val="FF0000"/>
                </a:solidFill>
                <a:latin typeface="Lucida Console" pitchFamily="49" charset="0"/>
              </a:rPr>
              <a:t>i</a:t>
            </a:r>
            <a:r>
              <a:rPr lang="en-US" altLang="zh-TW" sz="1200" dirty="0">
                <a:solidFill>
                  <a:srgbClr val="FF0000"/>
                </a:solidFill>
                <a:latin typeface="Lucida Console" pitchFamily="49" charset="0"/>
              </a:rPr>
              <a:t>=1, j=1 </a:t>
            </a:r>
            <a:r>
              <a:rPr lang="en-US" altLang="zh-TW" sz="1200" dirty="0" err="1">
                <a:solidFill>
                  <a:srgbClr val="FF0000"/>
                </a:solidFill>
                <a:latin typeface="Lucida Console" pitchFamily="49" charset="0"/>
              </a:rPr>
              <a:t>a</a:t>
            </a:r>
            <a:r>
              <a:rPr lang="en-US" altLang="zh-TW" sz="1200" u="sng" dirty="0" err="1">
                <a:solidFill>
                  <a:srgbClr val="FF0000"/>
                </a:solidFill>
                <a:latin typeface="Lucida Console" pitchFamily="49" charset="0"/>
              </a:rPr>
              <a:t>b</a:t>
            </a:r>
            <a:r>
              <a:rPr lang="en-US" altLang="zh-TW" sz="1200" dirty="0" err="1">
                <a:solidFill>
                  <a:srgbClr val="FF0000"/>
                </a:solidFill>
                <a:latin typeface="Lucida Console" pitchFamily="49" charset="0"/>
              </a:rPr>
              <a:t>c</a:t>
            </a:r>
            <a:endParaRPr lang="en-US" altLang="zh-TW" sz="1200" dirty="0">
              <a:solidFill>
                <a:srgbClr val="FF0000"/>
              </a:solidFill>
              <a:latin typeface="Lucida Console" pitchFamily="49" charset="0"/>
            </a:endParaRPr>
          </a:p>
          <a:p>
            <a:pPr eaLnBrk="1" hangingPunct="1"/>
            <a:r>
              <a:rPr lang="en-US" altLang="zh-TW" sz="1200" dirty="0">
                <a:solidFill>
                  <a:srgbClr val="FF0000"/>
                </a:solidFill>
                <a:latin typeface="Lucida Console" pitchFamily="49" charset="0"/>
              </a:rPr>
              <a:t>lv1 SWAP: </a:t>
            </a:r>
            <a:r>
              <a:rPr lang="en-US" altLang="zh-TW" sz="1200" dirty="0" err="1">
                <a:solidFill>
                  <a:srgbClr val="FF0000"/>
                </a:solidFill>
                <a:latin typeface="Lucida Console" pitchFamily="49" charset="0"/>
              </a:rPr>
              <a:t>i</a:t>
            </a:r>
            <a:r>
              <a:rPr lang="en-US" altLang="zh-TW" sz="1200" dirty="0">
                <a:solidFill>
                  <a:srgbClr val="FF0000"/>
                </a:solidFill>
                <a:latin typeface="Lucida Console" pitchFamily="49" charset="0"/>
              </a:rPr>
              <a:t>=1, j=2 </a:t>
            </a:r>
            <a:r>
              <a:rPr lang="en-US" altLang="zh-TW" sz="1200" dirty="0" err="1">
                <a:solidFill>
                  <a:srgbClr val="FF0000"/>
                </a:solidFill>
                <a:latin typeface="Lucida Console" pitchFamily="49" charset="0"/>
              </a:rPr>
              <a:t>a</a:t>
            </a:r>
            <a:r>
              <a:rPr lang="en-US" altLang="zh-TW" sz="1200" u="sng" dirty="0" err="1">
                <a:solidFill>
                  <a:srgbClr val="FF0000"/>
                </a:solidFill>
                <a:latin typeface="Lucida Console" pitchFamily="49" charset="0"/>
              </a:rPr>
              <a:t>bc</a:t>
            </a:r>
            <a:endParaRPr lang="en-US" altLang="zh-TW" sz="1200" u="sng" dirty="0">
              <a:solidFill>
                <a:srgbClr val="FF0000"/>
              </a:solidFill>
              <a:latin typeface="Lucida Console" pitchFamily="49" charset="0"/>
            </a:endParaRPr>
          </a:p>
          <a:p>
            <a:pPr eaLnBrk="1" hangingPunct="1"/>
            <a:r>
              <a:rPr lang="en-US" altLang="zh-TW" sz="1200" dirty="0">
                <a:solidFill>
                  <a:srgbClr val="FF0000"/>
                </a:solidFill>
                <a:latin typeface="Lucida Console" pitchFamily="49" charset="0"/>
              </a:rPr>
              <a:t>lv2 perm: </a:t>
            </a:r>
            <a:r>
              <a:rPr lang="en-US" altLang="zh-TW" sz="1200" dirty="0" err="1">
                <a:solidFill>
                  <a:srgbClr val="FF0000"/>
                </a:solidFill>
                <a:latin typeface="Lucida Console" pitchFamily="49" charset="0"/>
              </a:rPr>
              <a:t>i</a:t>
            </a:r>
            <a:r>
              <a:rPr lang="en-US" altLang="zh-TW" sz="1200" dirty="0">
                <a:solidFill>
                  <a:srgbClr val="FF0000"/>
                </a:solidFill>
                <a:latin typeface="Lucida Console" pitchFamily="49" charset="0"/>
              </a:rPr>
              <a:t>=2, n=2 </a:t>
            </a:r>
            <a:r>
              <a:rPr lang="en-US" altLang="zh-TW" sz="1200" dirty="0" err="1">
                <a:solidFill>
                  <a:srgbClr val="FF0000"/>
                </a:solidFill>
                <a:latin typeface="Lucida Console" pitchFamily="49" charset="0"/>
              </a:rPr>
              <a:t>acb</a:t>
            </a:r>
            <a:endParaRPr lang="en-US" altLang="zh-TW" sz="1200" dirty="0">
              <a:solidFill>
                <a:srgbClr val="FF0000"/>
              </a:solidFill>
              <a:latin typeface="Lucida Console" pitchFamily="49" charset="0"/>
            </a:endParaRPr>
          </a:p>
          <a:p>
            <a:pPr eaLnBrk="1" hangingPunct="1"/>
            <a:r>
              <a:rPr lang="en-US" altLang="zh-TW" sz="1200" dirty="0">
                <a:solidFill>
                  <a:srgbClr val="FF0000"/>
                </a:solidFill>
                <a:latin typeface="Lucida Console" pitchFamily="49" charset="0"/>
              </a:rPr>
              <a:t>print: </a:t>
            </a:r>
            <a:r>
              <a:rPr lang="en-US" altLang="zh-TW" sz="1200" dirty="0" err="1">
                <a:solidFill>
                  <a:srgbClr val="FF0000"/>
                </a:solidFill>
                <a:latin typeface="Lucida Console" pitchFamily="49" charset="0"/>
              </a:rPr>
              <a:t>acb</a:t>
            </a:r>
            <a:endParaRPr lang="en-US" altLang="zh-TW" sz="1200" dirty="0">
              <a:solidFill>
                <a:srgbClr val="FF0000"/>
              </a:solidFill>
              <a:latin typeface="Lucida Console" pitchFamily="49" charset="0"/>
            </a:endParaRPr>
          </a:p>
          <a:p>
            <a:pPr eaLnBrk="1" hangingPunct="1"/>
            <a:r>
              <a:rPr lang="en-US" altLang="zh-TW" sz="1200" dirty="0">
                <a:solidFill>
                  <a:srgbClr val="FF0000"/>
                </a:solidFill>
                <a:latin typeface="Lucida Console" pitchFamily="49" charset="0"/>
              </a:rPr>
              <a:t>lv1 SWAP: </a:t>
            </a:r>
            <a:r>
              <a:rPr lang="en-US" altLang="zh-TW" sz="1200" dirty="0" err="1">
                <a:solidFill>
                  <a:srgbClr val="FF0000"/>
                </a:solidFill>
                <a:latin typeface="Lucida Console" pitchFamily="49" charset="0"/>
              </a:rPr>
              <a:t>i</a:t>
            </a:r>
            <a:r>
              <a:rPr lang="en-US" altLang="zh-TW" sz="1200" dirty="0">
                <a:solidFill>
                  <a:srgbClr val="FF0000"/>
                </a:solidFill>
                <a:latin typeface="Lucida Console" pitchFamily="49" charset="0"/>
              </a:rPr>
              <a:t>=1, j=2 </a:t>
            </a:r>
            <a:r>
              <a:rPr lang="en-US" altLang="zh-TW" sz="1200" dirty="0" err="1">
                <a:solidFill>
                  <a:srgbClr val="FF0000"/>
                </a:solidFill>
                <a:latin typeface="Lucida Console" pitchFamily="49" charset="0"/>
              </a:rPr>
              <a:t>a</a:t>
            </a:r>
            <a:r>
              <a:rPr lang="en-US" altLang="zh-TW" sz="1200" u="sng" dirty="0" err="1">
                <a:solidFill>
                  <a:srgbClr val="FF0000"/>
                </a:solidFill>
                <a:latin typeface="Lucida Console" pitchFamily="49" charset="0"/>
              </a:rPr>
              <a:t>cb</a:t>
            </a:r>
            <a:endParaRPr lang="en-US" altLang="zh-TW" sz="1200" u="sng" dirty="0">
              <a:solidFill>
                <a:srgbClr val="FF0000"/>
              </a:solidFill>
              <a:latin typeface="Lucida Console" pitchFamily="49" charset="0"/>
            </a:endParaRPr>
          </a:p>
          <a:p>
            <a:pPr eaLnBrk="1" hangingPunct="1"/>
            <a:r>
              <a:rPr lang="en-US" altLang="zh-TW" sz="1200" dirty="0">
                <a:solidFill>
                  <a:srgbClr val="FF0000"/>
                </a:solidFill>
                <a:latin typeface="Lucida Console" pitchFamily="49" charset="0"/>
              </a:rPr>
              <a:t>lv0 SWAP: </a:t>
            </a:r>
            <a:r>
              <a:rPr lang="en-US" altLang="zh-TW" sz="1200" dirty="0" err="1">
                <a:solidFill>
                  <a:srgbClr val="FF0000"/>
                </a:solidFill>
                <a:latin typeface="Lucida Console" pitchFamily="49" charset="0"/>
              </a:rPr>
              <a:t>i</a:t>
            </a:r>
            <a:r>
              <a:rPr lang="en-US" altLang="zh-TW" sz="1200" dirty="0">
                <a:solidFill>
                  <a:srgbClr val="FF0000"/>
                </a:solidFill>
                <a:latin typeface="Lucida Console" pitchFamily="49" charset="0"/>
              </a:rPr>
              <a:t>=0, j=0 </a:t>
            </a:r>
            <a:r>
              <a:rPr lang="en-US" altLang="zh-TW" sz="1200" u="sng" dirty="0" err="1">
                <a:solidFill>
                  <a:srgbClr val="FF0000"/>
                </a:solidFill>
                <a:latin typeface="Lucida Console" pitchFamily="49" charset="0"/>
              </a:rPr>
              <a:t>a</a:t>
            </a:r>
            <a:r>
              <a:rPr lang="en-US" altLang="zh-TW" sz="1200" dirty="0" err="1">
                <a:solidFill>
                  <a:srgbClr val="FF0000"/>
                </a:solidFill>
                <a:latin typeface="Lucida Console" pitchFamily="49" charset="0"/>
              </a:rPr>
              <a:t>bc</a:t>
            </a:r>
            <a:endParaRPr lang="en-US" altLang="zh-TW" sz="1200" dirty="0">
              <a:solidFill>
                <a:srgbClr val="FF0000"/>
              </a:solidFill>
              <a:latin typeface="Lucida Console" pitchFamily="49" charset="0"/>
            </a:endParaRPr>
          </a:p>
          <a:p>
            <a:pPr eaLnBrk="1" hangingPunct="1"/>
            <a:r>
              <a:rPr lang="en-US" altLang="zh-TW" sz="1200" dirty="0">
                <a:solidFill>
                  <a:srgbClr val="FF0000"/>
                </a:solidFill>
                <a:latin typeface="Lucida Console" pitchFamily="49" charset="0"/>
              </a:rPr>
              <a:t>lv0 SWAP: </a:t>
            </a:r>
            <a:r>
              <a:rPr lang="en-US" altLang="zh-TW" sz="1200" dirty="0" err="1">
                <a:solidFill>
                  <a:srgbClr val="FF0000"/>
                </a:solidFill>
                <a:latin typeface="Lucida Console" pitchFamily="49" charset="0"/>
              </a:rPr>
              <a:t>i</a:t>
            </a:r>
            <a:r>
              <a:rPr lang="en-US" altLang="zh-TW" sz="1200" dirty="0">
                <a:solidFill>
                  <a:srgbClr val="FF0000"/>
                </a:solidFill>
                <a:latin typeface="Lucida Console" pitchFamily="49" charset="0"/>
              </a:rPr>
              <a:t>=0, j=1 </a:t>
            </a:r>
            <a:r>
              <a:rPr lang="en-US" altLang="zh-TW" sz="1200" u="sng" dirty="0" err="1">
                <a:solidFill>
                  <a:srgbClr val="FF0000"/>
                </a:solidFill>
                <a:latin typeface="Lucida Console" pitchFamily="49" charset="0"/>
              </a:rPr>
              <a:t>ab</a:t>
            </a:r>
            <a:r>
              <a:rPr lang="en-US" altLang="zh-TW" sz="1200" dirty="0" err="1">
                <a:solidFill>
                  <a:srgbClr val="FF0000"/>
                </a:solidFill>
                <a:latin typeface="Lucida Console" pitchFamily="49" charset="0"/>
              </a:rPr>
              <a:t>c</a:t>
            </a:r>
            <a:endParaRPr lang="en-US" altLang="zh-TW" sz="1200" dirty="0">
              <a:solidFill>
                <a:srgbClr val="FF0000"/>
              </a:solidFill>
              <a:latin typeface="Lucida Console" pitchFamily="49" charset="0"/>
            </a:endParaRPr>
          </a:p>
          <a:p>
            <a:pPr eaLnBrk="1" hangingPunct="1"/>
            <a:r>
              <a:rPr lang="en-US" altLang="zh-TW" sz="1200" dirty="0">
                <a:solidFill>
                  <a:srgbClr val="FF0000"/>
                </a:solidFill>
                <a:latin typeface="Lucida Console" pitchFamily="49" charset="0"/>
              </a:rPr>
              <a:t>lv1 perm: </a:t>
            </a:r>
            <a:r>
              <a:rPr lang="en-US" altLang="zh-TW" sz="1200" dirty="0" err="1">
                <a:solidFill>
                  <a:srgbClr val="FF0000"/>
                </a:solidFill>
                <a:latin typeface="Lucida Console" pitchFamily="49" charset="0"/>
              </a:rPr>
              <a:t>i</a:t>
            </a:r>
            <a:r>
              <a:rPr lang="en-US" altLang="zh-TW" sz="1200" dirty="0">
                <a:solidFill>
                  <a:srgbClr val="FF0000"/>
                </a:solidFill>
                <a:latin typeface="Lucida Console" pitchFamily="49" charset="0"/>
              </a:rPr>
              <a:t>=1, n=2 </a:t>
            </a:r>
            <a:r>
              <a:rPr lang="en-US" altLang="zh-TW" sz="1200" dirty="0" err="1">
                <a:solidFill>
                  <a:srgbClr val="FF0000"/>
                </a:solidFill>
                <a:latin typeface="Lucida Console" pitchFamily="49" charset="0"/>
              </a:rPr>
              <a:t>bac</a:t>
            </a:r>
            <a:endParaRPr lang="en-US" altLang="zh-TW" sz="1200" dirty="0">
              <a:solidFill>
                <a:srgbClr val="FF0000"/>
              </a:solidFill>
              <a:latin typeface="Lucida Console" pitchFamily="49" charset="0"/>
            </a:endParaRPr>
          </a:p>
          <a:p>
            <a:pPr eaLnBrk="1" hangingPunct="1"/>
            <a:r>
              <a:rPr lang="en-US" altLang="zh-TW" sz="1200" dirty="0">
                <a:solidFill>
                  <a:srgbClr val="FF0000"/>
                </a:solidFill>
                <a:latin typeface="Lucida Console" pitchFamily="49" charset="0"/>
              </a:rPr>
              <a:t>lv1 SWAP: </a:t>
            </a:r>
            <a:r>
              <a:rPr lang="en-US" altLang="zh-TW" sz="1200" dirty="0" err="1">
                <a:solidFill>
                  <a:srgbClr val="FF0000"/>
                </a:solidFill>
                <a:latin typeface="Lucida Console" pitchFamily="49" charset="0"/>
              </a:rPr>
              <a:t>i</a:t>
            </a:r>
            <a:r>
              <a:rPr lang="en-US" altLang="zh-TW" sz="1200" dirty="0">
                <a:solidFill>
                  <a:srgbClr val="FF0000"/>
                </a:solidFill>
                <a:latin typeface="Lucida Console" pitchFamily="49" charset="0"/>
              </a:rPr>
              <a:t>=1, j=1 </a:t>
            </a:r>
            <a:r>
              <a:rPr lang="en-US" altLang="zh-TW" sz="1200" dirty="0" err="1">
                <a:solidFill>
                  <a:srgbClr val="FF0000"/>
                </a:solidFill>
                <a:latin typeface="Lucida Console" pitchFamily="49" charset="0"/>
              </a:rPr>
              <a:t>b</a:t>
            </a:r>
            <a:r>
              <a:rPr lang="en-US" altLang="zh-TW" sz="1200" u="sng" dirty="0" err="1">
                <a:solidFill>
                  <a:srgbClr val="FF0000"/>
                </a:solidFill>
                <a:latin typeface="Lucida Console" pitchFamily="49" charset="0"/>
              </a:rPr>
              <a:t>a</a:t>
            </a:r>
            <a:r>
              <a:rPr lang="en-US" altLang="zh-TW" sz="1200" dirty="0" err="1">
                <a:solidFill>
                  <a:srgbClr val="FF0000"/>
                </a:solidFill>
                <a:latin typeface="Lucida Console" pitchFamily="49" charset="0"/>
              </a:rPr>
              <a:t>c</a:t>
            </a:r>
            <a:endParaRPr lang="en-US" altLang="zh-TW" sz="1200" dirty="0">
              <a:solidFill>
                <a:srgbClr val="FF0000"/>
              </a:solidFill>
              <a:latin typeface="Lucida Console" pitchFamily="49" charset="0"/>
            </a:endParaRPr>
          </a:p>
          <a:p>
            <a:pPr eaLnBrk="1" hangingPunct="1"/>
            <a:r>
              <a:rPr lang="en-US" altLang="zh-TW" sz="1200" dirty="0">
                <a:solidFill>
                  <a:srgbClr val="FF0000"/>
                </a:solidFill>
                <a:latin typeface="Lucida Console" pitchFamily="49" charset="0"/>
              </a:rPr>
              <a:t>lv2 perm: </a:t>
            </a:r>
            <a:r>
              <a:rPr lang="en-US" altLang="zh-TW" sz="1200" dirty="0" err="1">
                <a:solidFill>
                  <a:srgbClr val="FF0000"/>
                </a:solidFill>
                <a:latin typeface="Lucida Console" pitchFamily="49" charset="0"/>
              </a:rPr>
              <a:t>i</a:t>
            </a:r>
            <a:r>
              <a:rPr lang="en-US" altLang="zh-TW" sz="1200" dirty="0">
                <a:solidFill>
                  <a:srgbClr val="FF0000"/>
                </a:solidFill>
                <a:latin typeface="Lucida Console" pitchFamily="49" charset="0"/>
              </a:rPr>
              <a:t>=2, n=2 </a:t>
            </a:r>
            <a:r>
              <a:rPr lang="en-US" altLang="zh-TW" sz="1200" dirty="0" err="1">
                <a:solidFill>
                  <a:srgbClr val="FF0000"/>
                </a:solidFill>
                <a:latin typeface="Lucida Console" pitchFamily="49" charset="0"/>
              </a:rPr>
              <a:t>bac</a:t>
            </a:r>
            <a:endParaRPr lang="en-US" altLang="zh-TW" sz="1200" dirty="0">
              <a:solidFill>
                <a:srgbClr val="FF0000"/>
              </a:solidFill>
              <a:latin typeface="Lucida Console" pitchFamily="49" charset="0"/>
            </a:endParaRPr>
          </a:p>
          <a:p>
            <a:pPr eaLnBrk="1" hangingPunct="1"/>
            <a:r>
              <a:rPr lang="en-US" altLang="zh-TW" sz="1200" dirty="0">
                <a:solidFill>
                  <a:srgbClr val="FF0000"/>
                </a:solidFill>
                <a:latin typeface="Lucida Console" pitchFamily="49" charset="0"/>
              </a:rPr>
              <a:t>print: </a:t>
            </a:r>
            <a:r>
              <a:rPr lang="en-US" altLang="zh-TW" sz="1200" dirty="0" err="1">
                <a:solidFill>
                  <a:srgbClr val="FF0000"/>
                </a:solidFill>
                <a:latin typeface="Lucida Console" pitchFamily="49" charset="0"/>
              </a:rPr>
              <a:t>bac</a:t>
            </a:r>
            <a:endParaRPr lang="en-US" altLang="zh-TW" sz="1200" dirty="0">
              <a:solidFill>
                <a:srgbClr val="FF0000"/>
              </a:solidFill>
              <a:latin typeface="Lucida Console" pitchFamily="49" charset="0"/>
            </a:endParaRPr>
          </a:p>
          <a:p>
            <a:pPr eaLnBrk="1" hangingPunct="1"/>
            <a:r>
              <a:rPr lang="en-US" altLang="zh-TW" sz="1200" dirty="0">
                <a:solidFill>
                  <a:srgbClr val="FF0000"/>
                </a:solidFill>
                <a:latin typeface="Lucida Console" pitchFamily="49" charset="0"/>
              </a:rPr>
              <a:t>lv1 SWAP: </a:t>
            </a:r>
            <a:r>
              <a:rPr lang="en-US" altLang="zh-TW" sz="1200" dirty="0" err="1">
                <a:solidFill>
                  <a:srgbClr val="FF0000"/>
                </a:solidFill>
                <a:latin typeface="Lucida Console" pitchFamily="49" charset="0"/>
              </a:rPr>
              <a:t>i</a:t>
            </a:r>
            <a:r>
              <a:rPr lang="en-US" altLang="zh-TW" sz="1200" dirty="0">
                <a:solidFill>
                  <a:srgbClr val="FF0000"/>
                </a:solidFill>
                <a:latin typeface="Lucida Console" pitchFamily="49" charset="0"/>
              </a:rPr>
              <a:t>=1, j=1 </a:t>
            </a:r>
            <a:r>
              <a:rPr lang="en-US" altLang="zh-TW" sz="1200" dirty="0" err="1">
                <a:solidFill>
                  <a:srgbClr val="FF0000"/>
                </a:solidFill>
                <a:latin typeface="Lucida Console" pitchFamily="49" charset="0"/>
              </a:rPr>
              <a:t>b</a:t>
            </a:r>
            <a:r>
              <a:rPr lang="en-US" altLang="zh-TW" sz="1200" u="sng" dirty="0" err="1">
                <a:solidFill>
                  <a:srgbClr val="FF0000"/>
                </a:solidFill>
                <a:latin typeface="Lucida Console" pitchFamily="49" charset="0"/>
              </a:rPr>
              <a:t>a</a:t>
            </a:r>
            <a:r>
              <a:rPr lang="en-US" altLang="zh-TW" sz="1200" dirty="0" err="1">
                <a:solidFill>
                  <a:srgbClr val="FF0000"/>
                </a:solidFill>
                <a:latin typeface="Lucida Console" pitchFamily="49" charset="0"/>
              </a:rPr>
              <a:t>c</a:t>
            </a:r>
            <a:endParaRPr lang="en-US" altLang="zh-TW" sz="1200" dirty="0">
              <a:solidFill>
                <a:srgbClr val="FF0000"/>
              </a:solidFill>
              <a:latin typeface="Lucida Console" pitchFamily="49" charset="0"/>
            </a:endParaRPr>
          </a:p>
          <a:p>
            <a:pPr eaLnBrk="1" hangingPunct="1"/>
            <a:r>
              <a:rPr lang="en-US" altLang="zh-TW" sz="1200" dirty="0">
                <a:solidFill>
                  <a:srgbClr val="FF0000"/>
                </a:solidFill>
                <a:latin typeface="Lucida Console" pitchFamily="49" charset="0"/>
              </a:rPr>
              <a:t>lv1 SWAP: </a:t>
            </a:r>
            <a:r>
              <a:rPr lang="en-US" altLang="zh-TW" sz="1200" dirty="0" err="1">
                <a:solidFill>
                  <a:srgbClr val="FF0000"/>
                </a:solidFill>
                <a:latin typeface="Lucida Console" pitchFamily="49" charset="0"/>
              </a:rPr>
              <a:t>i</a:t>
            </a:r>
            <a:r>
              <a:rPr lang="en-US" altLang="zh-TW" sz="1200" dirty="0">
                <a:solidFill>
                  <a:srgbClr val="FF0000"/>
                </a:solidFill>
                <a:latin typeface="Lucida Console" pitchFamily="49" charset="0"/>
              </a:rPr>
              <a:t>=1, j=2 </a:t>
            </a:r>
            <a:r>
              <a:rPr lang="en-US" altLang="zh-TW" sz="1200" dirty="0" err="1">
                <a:solidFill>
                  <a:srgbClr val="FF0000"/>
                </a:solidFill>
                <a:latin typeface="Lucida Console" pitchFamily="49" charset="0"/>
              </a:rPr>
              <a:t>b</a:t>
            </a:r>
            <a:r>
              <a:rPr lang="en-US" altLang="zh-TW" sz="1200" u="sng" dirty="0" err="1">
                <a:solidFill>
                  <a:srgbClr val="FF0000"/>
                </a:solidFill>
                <a:latin typeface="Lucida Console" pitchFamily="49" charset="0"/>
              </a:rPr>
              <a:t>ac</a:t>
            </a:r>
            <a:endParaRPr lang="en-US" altLang="zh-TW" sz="1200" u="sng" dirty="0">
              <a:solidFill>
                <a:srgbClr val="FF0000"/>
              </a:solidFill>
              <a:latin typeface="Lucida Console" pitchFamily="49" charset="0"/>
            </a:endParaRPr>
          </a:p>
          <a:p>
            <a:pPr eaLnBrk="1" hangingPunct="1"/>
            <a:r>
              <a:rPr lang="en-US" altLang="zh-TW" sz="1200" dirty="0">
                <a:solidFill>
                  <a:srgbClr val="FF0000"/>
                </a:solidFill>
                <a:latin typeface="Lucida Console" pitchFamily="49" charset="0"/>
              </a:rPr>
              <a:t>lv2 perm: </a:t>
            </a:r>
            <a:r>
              <a:rPr lang="en-US" altLang="zh-TW" sz="1200" dirty="0" err="1">
                <a:solidFill>
                  <a:srgbClr val="FF0000"/>
                </a:solidFill>
                <a:latin typeface="Lucida Console" pitchFamily="49" charset="0"/>
              </a:rPr>
              <a:t>i</a:t>
            </a:r>
            <a:r>
              <a:rPr lang="en-US" altLang="zh-TW" sz="1200" dirty="0">
                <a:solidFill>
                  <a:srgbClr val="FF0000"/>
                </a:solidFill>
                <a:latin typeface="Lucida Console" pitchFamily="49" charset="0"/>
              </a:rPr>
              <a:t>=2, n=2 </a:t>
            </a:r>
            <a:r>
              <a:rPr lang="en-US" altLang="zh-TW" sz="1200" dirty="0" err="1">
                <a:solidFill>
                  <a:srgbClr val="FF0000"/>
                </a:solidFill>
                <a:latin typeface="Lucida Console" pitchFamily="49" charset="0"/>
              </a:rPr>
              <a:t>bca</a:t>
            </a:r>
            <a:endParaRPr lang="en-US" altLang="zh-TW" sz="1200" dirty="0">
              <a:solidFill>
                <a:srgbClr val="FF0000"/>
              </a:solidFill>
              <a:latin typeface="Lucida Console" pitchFamily="49" charset="0"/>
            </a:endParaRPr>
          </a:p>
          <a:p>
            <a:pPr eaLnBrk="1" hangingPunct="1"/>
            <a:r>
              <a:rPr lang="en-US" altLang="zh-TW" sz="1200" dirty="0">
                <a:solidFill>
                  <a:srgbClr val="FF0000"/>
                </a:solidFill>
                <a:latin typeface="Lucida Console" pitchFamily="49" charset="0"/>
              </a:rPr>
              <a:t>print: </a:t>
            </a:r>
            <a:r>
              <a:rPr lang="en-US" altLang="zh-TW" sz="1200" dirty="0" err="1">
                <a:solidFill>
                  <a:srgbClr val="FF0000"/>
                </a:solidFill>
                <a:latin typeface="Lucida Console" pitchFamily="49" charset="0"/>
              </a:rPr>
              <a:t>bca</a:t>
            </a:r>
            <a:endParaRPr lang="en-US" altLang="zh-TW" sz="1200" dirty="0">
              <a:solidFill>
                <a:srgbClr val="FF0000"/>
              </a:solidFill>
              <a:latin typeface="Lucida Console" pitchFamily="49" charset="0"/>
            </a:endParaRPr>
          </a:p>
          <a:p>
            <a:pPr eaLnBrk="1" hangingPunct="1"/>
            <a:r>
              <a:rPr lang="en-US" altLang="zh-TW" sz="1200" dirty="0">
                <a:solidFill>
                  <a:srgbClr val="FF0000"/>
                </a:solidFill>
                <a:latin typeface="Lucida Console" pitchFamily="49" charset="0"/>
              </a:rPr>
              <a:t>lv1 SWAP: </a:t>
            </a:r>
            <a:r>
              <a:rPr lang="en-US" altLang="zh-TW" sz="1200" dirty="0" err="1">
                <a:solidFill>
                  <a:srgbClr val="FF0000"/>
                </a:solidFill>
                <a:latin typeface="Lucida Console" pitchFamily="49" charset="0"/>
              </a:rPr>
              <a:t>i</a:t>
            </a:r>
            <a:r>
              <a:rPr lang="en-US" altLang="zh-TW" sz="1200" dirty="0">
                <a:solidFill>
                  <a:srgbClr val="FF0000"/>
                </a:solidFill>
                <a:latin typeface="Lucida Console" pitchFamily="49" charset="0"/>
              </a:rPr>
              <a:t>=1, j=2 </a:t>
            </a:r>
            <a:r>
              <a:rPr lang="en-US" altLang="zh-TW" sz="1200" dirty="0" err="1">
                <a:solidFill>
                  <a:srgbClr val="FF0000"/>
                </a:solidFill>
                <a:latin typeface="Lucida Console" pitchFamily="49" charset="0"/>
              </a:rPr>
              <a:t>b</a:t>
            </a:r>
            <a:r>
              <a:rPr lang="en-US" altLang="zh-TW" sz="1200" u="sng" dirty="0" err="1">
                <a:solidFill>
                  <a:srgbClr val="FF0000"/>
                </a:solidFill>
                <a:latin typeface="Lucida Console" pitchFamily="49" charset="0"/>
              </a:rPr>
              <a:t>ca</a:t>
            </a:r>
            <a:endParaRPr lang="en-US" altLang="zh-TW" sz="1200" u="sng" dirty="0">
              <a:solidFill>
                <a:srgbClr val="FF0000"/>
              </a:solidFill>
              <a:latin typeface="Lucida Console" pitchFamily="49" charset="0"/>
            </a:endParaRPr>
          </a:p>
          <a:p>
            <a:pPr eaLnBrk="1" hangingPunct="1"/>
            <a:r>
              <a:rPr lang="en-US" altLang="zh-TW" sz="1200" dirty="0">
                <a:solidFill>
                  <a:srgbClr val="FF0000"/>
                </a:solidFill>
                <a:latin typeface="Lucida Console" pitchFamily="49" charset="0"/>
              </a:rPr>
              <a:t>lv0 SWAP: </a:t>
            </a:r>
            <a:r>
              <a:rPr lang="en-US" altLang="zh-TW" sz="1200" dirty="0" err="1">
                <a:solidFill>
                  <a:srgbClr val="FF0000"/>
                </a:solidFill>
                <a:latin typeface="Lucida Console" pitchFamily="49" charset="0"/>
              </a:rPr>
              <a:t>i</a:t>
            </a:r>
            <a:r>
              <a:rPr lang="en-US" altLang="zh-TW" sz="1200" dirty="0">
                <a:solidFill>
                  <a:srgbClr val="FF0000"/>
                </a:solidFill>
                <a:latin typeface="Lucida Console" pitchFamily="49" charset="0"/>
              </a:rPr>
              <a:t>=0, j=1 </a:t>
            </a:r>
            <a:r>
              <a:rPr lang="en-US" altLang="zh-TW" sz="1200" u="sng" dirty="0" err="1">
                <a:solidFill>
                  <a:srgbClr val="FF0000"/>
                </a:solidFill>
                <a:latin typeface="Lucida Console" pitchFamily="49" charset="0"/>
              </a:rPr>
              <a:t>ba</a:t>
            </a:r>
            <a:r>
              <a:rPr lang="en-US" altLang="zh-TW" sz="1200" dirty="0" err="1">
                <a:solidFill>
                  <a:srgbClr val="FF0000"/>
                </a:solidFill>
                <a:latin typeface="Lucida Console" pitchFamily="49" charset="0"/>
              </a:rPr>
              <a:t>c</a:t>
            </a:r>
            <a:endParaRPr lang="en-US" altLang="zh-TW" sz="1200" dirty="0">
              <a:solidFill>
                <a:srgbClr val="FF0000"/>
              </a:solidFill>
              <a:latin typeface="Lucida Console" pitchFamily="49" charset="0"/>
            </a:endParaRPr>
          </a:p>
          <a:p>
            <a:pPr eaLnBrk="1" hangingPunct="1"/>
            <a:r>
              <a:rPr lang="en-US" altLang="zh-TW" sz="1200" dirty="0">
                <a:solidFill>
                  <a:srgbClr val="FF0000"/>
                </a:solidFill>
                <a:latin typeface="Lucida Console" pitchFamily="49" charset="0"/>
              </a:rPr>
              <a:t>lv0 SWAP: </a:t>
            </a:r>
            <a:r>
              <a:rPr lang="en-US" altLang="zh-TW" sz="1200" dirty="0" err="1">
                <a:solidFill>
                  <a:srgbClr val="FF0000"/>
                </a:solidFill>
                <a:latin typeface="Lucida Console" pitchFamily="49" charset="0"/>
              </a:rPr>
              <a:t>i</a:t>
            </a:r>
            <a:r>
              <a:rPr lang="en-US" altLang="zh-TW" sz="1200" dirty="0">
                <a:solidFill>
                  <a:srgbClr val="FF0000"/>
                </a:solidFill>
                <a:latin typeface="Lucida Console" pitchFamily="49" charset="0"/>
              </a:rPr>
              <a:t>=0, j=2 </a:t>
            </a:r>
            <a:r>
              <a:rPr lang="en-US" altLang="zh-TW" sz="1200" u="sng" dirty="0" err="1">
                <a:solidFill>
                  <a:srgbClr val="FF0000"/>
                </a:solidFill>
                <a:latin typeface="Lucida Console" pitchFamily="49" charset="0"/>
              </a:rPr>
              <a:t>a</a:t>
            </a:r>
            <a:r>
              <a:rPr lang="en-US" altLang="zh-TW" sz="1200" dirty="0" err="1">
                <a:solidFill>
                  <a:srgbClr val="FF0000"/>
                </a:solidFill>
                <a:latin typeface="Lucida Console" pitchFamily="49" charset="0"/>
              </a:rPr>
              <a:t>b</a:t>
            </a:r>
            <a:r>
              <a:rPr lang="en-US" altLang="zh-TW" sz="1200" u="sng" dirty="0" err="1">
                <a:solidFill>
                  <a:srgbClr val="FF0000"/>
                </a:solidFill>
                <a:latin typeface="Lucida Console" pitchFamily="49" charset="0"/>
              </a:rPr>
              <a:t>c</a:t>
            </a:r>
            <a:endParaRPr lang="en-US" altLang="zh-TW" sz="1200" u="sng" dirty="0">
              <a:solidFill>
                <a:srgbClr val="FF0000"/>
              </a:solidFill>
              <a:latin typeface="Lucida Console" pitchFamily="49" charset="0"/>
            </a:endParaRPr>
          </a:p>
          <a:p>
            <a:pPr eaLnBrk="1" hangingPunct="1"/>
            <a:r>
              <a:rPr lang="en-US" altLang="zh-TW" sz="1200" dirty="0">
                <a:solidFill>
                  <a:srgbClr val="FF0000"/>
                </a:solidFill>
                <a:latin typeface="Lucida Console" pitchFamily="49" charset="0"/>
              </a:rPr>
              <a:t>lv1 perm: </a:t>
            </a:r>
            <a:r>
              <a:rPr lang="en-US" altLang="zh-TW" sz="1200" dirty="0" err="1">
                <a:solidFill>
                  <a:srgbClr val="FF0000"/>
                </a:solidFill>
                <a:latin typeface="Lucida Console" pitchFamily="49" charset="0"/>
              </a:rPr>
              <a:t>i</a:t>
            </a:r>
            <a:r>
              <a:rPr lang="en-US" altLang="zh-TW" sz="1200" dirty="0">
                <a:solidFill>
                  <a:srgbClr val="FF0000"/>
                </a:solidFill>
                <a:latin typeface="Lucida Console" pitchFamily="49" charset="0"/>
              </a:rPr>
              <a:t>=1, n=2 </a:t>
            </a:r>
            <a:r>
              <a:rPr lang="en-US" altLang="zh-TW" sz="1200" dirty="0" err="1">
                <a:solidFill>
                  <a:srgbClr val="FF0000"/>
                </a:solidFill>
                <a:latin typeface="Lucida Console" pitchFamily="49" charset="0"/>
              </a:rPr>
              <a:t>cba</a:t>
            </a:r>
            <a:endParaRPr lang="en-US" altLang="zh-TW" sz="1200" dirty="0">
              <a:solidFill>
                <a:srgbClr val="FF0000"/>
              </a:solidFill>
              <a:latin typeface="Lucida Console" pitchFamily="49" charset="0"/>
            </a:endParaRPr>
          </a:p>
          <a:p>
            <a:pPr eaLnBrk="1" hangingPunct="1"/>
            <a:r>
              <a:rPr lang="en-US" altLang="zh-TW" sz="1200" dirty="0">
                <a:solidFill>
                  <a:srgbClr val="FF0000"/>
                </a:solidFill>
                <a:latin typeface="Lucida Console" pitchFamily="49" charset="0"/>
              </a:rPr>
              <a:t>lv1 SWAP: </a:t>
            </a:r>
            <a:r>
              <a:rPr lang="en-US" altLang="zh-TW" sz="1200" dirty="0" err="1">
                <a:solidFill>
                  <a:srgbClr val="FF0000"/>
                </a:solidFill>
                <a:latin typeface="Lucida Console" pitchFamily="49" charset="0"/>
              </a:rPr>
              <a:t>i</a:t>
            </a:r>
            <a:r>
              <a:rPr lang="en-US" altLang="zh-TW" sz="1200" dirty="0">
                <a:solidFill>
                  <a:srgbClr val="FF0000"/>
                </a:solidFill>
                <a:latin typeface="Lucida Console" pitchFamily="49" charset="0"/>
              </a:rPr>
              <a:t>=1, j=1 </a:t>
            </a:r>
            <a:r>
              <a:rPr lang="en-US" altLang="zh-TW" sz="1200" dirty="0" err="1">
                <a:solidFill>
                  <a:srgbClr val="FF0000"/>
                </a:solidFill>
                <a:latin typeface="Lucida Console" pitchFamily="49" charset="0"/>
              </a:rPr>
              <a:t>c</a:t>
            </a:r>
            <a:r>
              <a:rPr lang="en-US" altLang="zh-TW" sz="1200" u="sng" dirty="0" err="1">
                <a:solidFill>
                  <a:srgbClr val="FF0000"/>
                </a:solidFill>
                <a:latin typeface="Lucida Console" pitchFamily="49" charset="0"/>
              </a:rPr>
              <a:t>b</a:t>
            </a:r>
            <a:r>
              <a:rPr lang="en-US" altLang="zh-TW" sz="1200" dirty="0" err="1">
                <a:solidFill>
                  <a:srgbClr val="FF0000"/>
                </a:solidFill>
                <a:latin typeface="Lucida Console" pitchFamily="49" charset="0"/>
              </a:rPr>
              <a:t>a</a:t>
            </a:r>
            <a:endParaRPr lang="en-US" altLang="zh-TW" sz="1200" dirty="0">
              <a:solidFill>
                <a:srgbClr val="FF0000"/>
              </a:solidFill>
              <a:latin typeface="Lucida Console" pitchFamily="49" charset="0"/>
            </a:endParaRPr>
          </a:p>
          <a:p>
            <a:pPr eaLnBrk="1" hangingPunct="1"/>
            <a:r>
              <a:rPr lang="en-US" altLang="zh-TW" sz="1200" dirty="0">
                <a:solidFill>
                  <a:srgbClr val="FF0000"/>
                </a:solidFill>
                <a:latin typeface="Lucida Console" pitchFamily="49" charset="0"/>
              </a:rPr>
              <a:t>lv2 perm: </a:t>
            </a:r>
            <a:r>
              <a:rPr lang="en-US" altLang="zh-TW" sz="1200" dirty="0" err="1">
                <a:solidFill>
                  <a:srgbClr val="FF0000"/>
                </a:solidFill>
                <a:latin typeface="Lucida Console" pitchFamily="49" charset="0"/>
              </a:rPr>
              <a:t>i</a:t>
            </a:r>
            <a:r>
              <a:rPr lang="en-US" altLang="zh-TW" sz="1200" dirty="0">
                <a:solidFill>
                  <a:srgbClr val="FF0000"/>
                </a:solidFill>
                <a:latin typeface="Lucida Console" pitchFamily="49" charset="0"/>
              </a:rPr>
              <a:t>=2, n=2 </a:t>
            </a:r>
            <a:r>
              <a:rPr lang="en-US" altLang="zh-TW" sz="1200" dirty="0" err="1">
                <a:solidFill>
                  <a:srgbClr val="FF0000"/>
                </a:solidFill>
                <a:latin typeface="Lucida Console" pitchFamily="49" charset="0"/>
              </a:rPr>
              <a:t>cba</a:t>
            </a:r>
            <a:endParaRPr lang="en-US" altLang="zh-TW" sz="1200" dirty="0">
              <a:solidFill>
                <a:srgbClr val="FF0000"/>
              </a:solidFill>
              <a:latin typeface="Lucida Console" pitchFamily="49" charset="0"/>
            </a:endParaRPr>
          </a:p>
          <a:p>
            <a:pPr eaLnBrk="1" hangingPunct="1"/>
            <a:r>
              <a:rPr lang="en-US" altLang="zh-TW" sz="1200" dirty="0">
                <a:solidFill>
                  <a:srgbClr val="FF0000"/>
                </a:solidFill>
                <a:latin typeface="Lucida Console" pitchFamily="49" charset="0"/>
              </a:rPr>
              <a:t>print: </a:t>
            </a:r>
            <a:r>
              <a:rPr lang="en-US" altLang="zh-TW" sz="1200" dirty="0" err="1">
                <a:solidFill>
                  <a:srgbClr val="FF0000"/>
                </a:solidFill>
                <a:latin typeface="Lucida Console" pitchFamily="49" charset="0"/>
              </a:rPr>
              <a:t>cba</a:t>
            </a:r>
            <a:endParaRPr lang="en-US" altLang="zh-TW" sz="1200" dirty="0">
              <a:solidFill>
                <a:srgbClr val="FF0000"/>
              </a:solidFill>
              <a:latin typeface="Lucida Console" pitchFamily="49" charset="0"/>
            </a:endParaRPr>
          </a:p>
          <a:p>
            <a:pPr eaLnBrk="1" hangingPunct="1"/>
            <a:r>
              <a:rPr lang="en-US" altLang="zh-TW" sz="1200" dirty="0">
                <a:solidFill>
                  <a:srgbClr val="FF0000"/>
                </a:solidFill>
                <a:latin typeface="Lucida Console" pitchFamily="49" charset="0"/>
              </a:rPr>
              <a:t>lv1 SWAP: </a:t>
            </a:r>
            <a:r>
              <a:rPr lang="en-US" altLang="zh-TW" sz="1200" dirty="0" err="1">
                <a:solidFill>
                  <a:srgbClr val="FF0000"/>
                </a:solidFill>
                <a:latin typeface="Lucida Console" pitchFamily="49" charset="0"/>
              </a:rPr>
              <a:t>i</a:t>
            </a:r>
            <a:r>
              <a:rPr lang="en-US" altLang="zh-TW" sz="1200" dirty="0">
                <a:solidFill>
                  <a:srgbClr val="FF0000"/>
                </a:solidFill>
                <a:latin typeface="Lucida Console" pitchFamily="49" charset="0"/>
              </a:rPr>
              <a:t>=1, j=1 </a:t>
            </a:r>
            <a:r>
              <a:rPr lang="en-US" altLang="zh-TW" sz="1200" dirty="0" err="1">
                <a:solidFill>
                  <a:srgbClr val="FF0000"/>
                </a:solidFill>
                <a:latin typeface="Lucida Console" pitchFamily="49" charset="0"/>
              </a:rPr>
              <a:t>c</a:t>
            </a:r>
            <a:r>
              <a:rPr lang="en-US" altLang="zh-TW" sz="1200" u="sng" dirty="0" err="1">
                <a:solidFill>
                  <a:srgbClr val="FF0000"/>
                </a:solidFill>
                <a:latin typeface="Lucida Console" pitchFamily="49" charset="0"/>
              </a:rPr>
              <a:t>b</a:t>
            </a:r>
            <a:r>
              <a:rPr lang="en-US" altLang="zh-TW" sz="1200" dirty="0" err="1">
                <a:solidFill>
                  <a:srgbClr val="FF0000"/>
                </a:solidFill>
                <a:latin typeface="Lucida Console" pitchFamily="49" charset="0"/>
              </a:rPr>
              <a:t>a</a:t>
            </a:r>
            <a:endParaRPr lang="en-US" altLang="zh-TW" sz="1200" dirty="0">
              <a:solidFill>
                <a:srgbClr val="FF0000"/>
              </a:solidFill>
              <a:latin typeface="Lucida Console" pitchFamily="49" charset="0"/>
            </a:endParaRPr>
          </a:p>
          <a:p>
            <a:pPr eaLnBrk="1" hangingPunct="1"/>
            <a:r>
              <a:rPr lang="en-US" altLang="zh-TW" sz="1200" dirty="0">
                <a:solidFill>
                  <a:srgbClr val="FF0000"/>
                </a:solidFill>
                <a:latin typeface="Lucida Console" pitchFamily="49" charset="0"/>
              </a:rPr>
              <a:t>lv1 SWAP: </a:t>
            </a:r>
            <a:r>
              <a:rPr lang="en-US" altLang="zh-TW" sz="1200" dirty="0" err="1">
                <a:solidFill>
                  <a:srgbClr val="FF0000"/>
                </a:solidFill>
                <a:latin typeface="Lucida Console" pitchFamily="49" charset="0"/>
              </a:rPr>
              <a:t>i</a:t>
            </a:r>
            <a:r>
              <a:rPr lang="en-US" altLang="zh-TW" sz="1200" dirty="0">
                <a:solidFill>
                  <a:srgbClr val="FF0000"/>
                </a:solidFill>
                <a:latin typeface="Lucida Console" pitchFamily="49" charset="0"/>
              </a:rPr>
              <a:t>=1, j=2 </a:t>
            </a:r>
            <a:r>
              <a:rPr lang="en-US" altLang="zh-TW" sz="1200" dirty="0" err="1">
                <a:solidFill>
                  <a:srgbClr val="FF0000"/>
                </a:solidFill>
                <a:latin typeface="Lucida Console" pitchFamily="49" charset="0"/>
              </a:rPr>
              <a:t>c</a:t>
            </a:r>
            <a:r>
              <a:rPr lang="en-US" altLang="zh-TW" sz="1200" u="sng" dirty="0" err="1">
                <a:solidFill>
                  <a:srgbClr val="FF0000"/>
                </a:solidFill>
                <a:latin typeface="Lucida Console" pitchFamily="49" charset="0"/>
              </a:rPr>
              <a:t>ba</a:t>
            </a:r>
            <a:endParaRPr lang="en-US" altLang="zh-TW" sz="1200" u="sng" dirty="0">
              <a:solidFill>
                <a:srgbClr val="FF0000"/>
              </a:solidFill>
              <a:latin typeface="Lucida Console" pitchFamily="49" charset="0"/>
            </a:endParaRPr>
          </a:p>
          <a:p>
            <a:pPr eaLnBrk="1" hangingPunct="1"/>
            <a:r>
              <a:rPr lang="en-US" altLang="zh-TW" sz="1200" dirty="0">
                <a:solidFill>
                  <a:srgbClr val="FF0000"/>
                </a:solidFill>
                <a:latin typeface="Lucida Console" pitchFamily="49" charset="0"/>
              </a:rPr>
              <a:t>lv2 perm: </a:t>
            </a:r>
            <a:r>
              <a:rPr lang="en-US" altLang="zh-TW" sz="1200" dirty="0" err="1">
                <a:solidFill>
                  <a:srgbClr val="FF0000"/>
                </a:solidFill>
                <a:latin typeface="Lucida Console" pitchFamily="49" charset="0"/>
              </a:rPr>
              <a:t>i</a:t>
            </a:r>
            <a:r>
              <a:rPr lang="en-US" altLang="zh-TW" sz="1200" dirty="0">
                <a:solidFill>
                  <a:srgbClr val="FF0000"/>
                </a:solidFill>
                <a:latin typeface="Lucida Console" pitchFamily="49" charset="0"/>
              </a:rPr>
              <a:t>=2, n=2 cab</a:t>
            </a:r>
          </a:p>
          <a:p>
            <a:pPr eaLnBrk="1" hangingPunct="1"/>
            <a:r>
              <a:rPr lang="en-US" altLang="zh-TW" sz="1200" dirty="0">
                <a:solidFill>
                  <a:srgbClr val="FF0000"/>
                </a:solidFill>
                <a:latin typeface="Lucida Console" pitchFamily="49" charset="0"/>
              </a:rPr>
              <a:t>print: cab</a:t>
            </a:r>
          </a:p>
          <a:p>
            <a:pPr eaLnBrk="1" hangingPunct="1"/>
            <a:r>
              <a:rPr lang="en-US" altLang="zh-TW" sz="1200" dirty="0">
                <a:solidFill>
                  <a:srgbClr val="FF0000"/>
                </a:solidFill>
                <a:latin typeface="Lucida Console" pitchFamily="49" charset="0"/>
              </a:rPr>
              <a:t>lv1 SWAP: </a:t>
            </a:r>
            <a:r>
              <a:rPr lang="en-US" altLang="zh-TW" sz="1200" dirty="0" err="1">
                <a:solidFill>
                  <a:srgbClr val="FF0000"/>
                </a:solidFill>
                <a:latin typeface="Lucida Console" pitchFamily="49" charset="0"/>
              </a:rPr>
              <a:t>i</a:t>
            </a:r>
            <a:r>
              <a:rPr lang="en-US" altLang="zh-TW" sz="1200" dirty="0">
                <a:solidFill>
                  <a:srgbClr val="FF0000"/>
                </a:solidFill>
                <a:latin typeface="Lucida Console" pitchFamily="49" charset="0"/>
              </a:rPr>
              <a:t>=1, j=2 c</a:t>
            </a:r>
            <a:r>
              <a:rPr lang="en-US" altLang="zh-TW" sz="1200" u="sng" dirty="0">
                <a:solidFill>
                  <a:srgbClr val="FF0000"/>
                </a:solidFill>
                <a:latin typeface="Lucida Console" pitchFamily="49" charset="0"/>
              </a:rPr>
              <a:t>ab</a:t>
            </a:r>
          </a:p>
          <a:p>
            <a:pPr eaLnBrk="1" hangingPunct="1"/>
            <a:r>
              <a:rPr lang="en-US" altLang="zh-TW" sz="1200" dirty="0">
                <a:solidFill>
                  <a:srgbClr val="FF0000"/>
                </a:solidFill>
                <a:latin typeface="Lucida Console" pitchFamily="49" charset="0"/>
              </a:rPr>
              <a:t>lv0 SWAP: </a:t>
            </a:r>
            <a:r>
              <a:rPr lang="en-US" altLang="zh-TW" sz="1200" dirty="0" err="1">
                <a:solidFill>
                  <a:srgbClr val="FF0000"/>
                </a:solidFill>
                <a:latin typeface="Lucida Console" pitchFamily="49" charset="0"/>
              </a:rPr>
              <a:t>i</a:t>
            </a:r>
            <a:r>
              <a:rPr lang="en-US" altLang="zh-TW" sz="1200" dirty="0">
                <a:solidFill>
                  <a:srgbClr val="FF0000"/>
                </a:solidFill>
                <a:latin typeface="Lucida Console" pitchFamily="49" charset="0"/>
              </a:rPr>
              <a:t>=0, j=2 </a:t>
            </a:r>
            <a:r>
              <a:rPr lang="en-US" altLang="zh-TW" sz="1200" u="sng" dirty="0" err="1">
                <a:solidFill>
                  <a:srgbClr val="FF0000"/>
                </a:solidFill>
                <a:latin typeface="Lucida Console" pitchFamily="49" charset="0"/>
              </a:rPr>
              <a:t>c</a:t>
            </a:r>
            <a:r>
              <a:rPr lang="en-US" altLang="zh-TW" sz="1200" dirty="0" err="1">
                <a:solidFill>
                  <a:srgbClr val="FF0000"/>
                </a:solidFill>
                <a:latin typeface="Lucida Console" pitchFamily="49" charset="0"/>
              </a:rPr>
              <a:t>b</a:t>
            </a:r>
            <a:r>
              <a:rPr lang="en-US" altLang="zh-TW" sz="1200" u="sng" dirty="0" err="1">
                <a:solidFill>
                  <a:srgbClr val="FF0000"/>
                </a:solidFill>
                <a:latin typeface="Lucida Console" pitchFamily="49" charset="0"/>
              </a:rPr>
              <a:t>a</a:t>
            </a:r>
            <a:endParaRPr lang="zh-TW" altLang="en-US" sz="1200" u="sng" dirty="0">
              <a:solidFill>
                <a:srgbClr val="FF0000"/>
              </a:solidFill>
              <a:latin typeface="Lucida Console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1081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690</TotalTime>
  <Words>1046</Words>
  <Application>Microsoft Office PowerPoint</Application>
  <PresentationFormat>如螢幕大小 (4:3)</PresentationFormat>
  <Paragraphs>163</Paragraphs>
  <Slides>15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16" baseType="lpstr">
      <vt:lpstr>Office 佈景主題</vt:lpstr>
      <vt:lpstr>Recursion</vt:lpstr>
      <vt:lpstr>Recursion(遞迴)</vt:lpstr>
      <vt:lpstr>三種遞迴方式</vt:lpstr>
      <vt:lpstr>失敗的遞迴</vt:lpstr>
      <vt:lpstr>遞迴範例1</vt:lpstr>
      <vt:lpstr>遞迴範例1(Cont.)</vt:lpstr>
      <vt:lpstr>Why segmentation fault?</vt:lpstr>
      <vt:lpstr>遞迴範例2</vt:lpstr>
      <vt:lpstr>遞迴範例3</vt:lpstr>
      <vt:lpstr>經典範例-河內塔</vt:lpstr>
      <vt:lpstr>經典範例-河內塔(Cont.)</vt:lpstr>
      <vt:lpstr>經典範例-河內塔(Cont.)</vt:lpstr>
      <vt:lpstr>經典範例-河內塔(Cont.)</vt:lpstr>
      <vt:lpstr>PowerPoint 簡報</vt:lpstr>
      <vt:lpstr>`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Recursion</dc:title>
  <dc:creator>Tubou</dc:creator>
  <cp:lastModifiedBy>Yeh-Ching Chung</cp:lastModifiedBy>
  <cp:revision>56</cp:revision>
  <dcterms:created xsi:type="dcterms:W3CDTF">2012-11-12T08:47:05Z</dcterms:created>
  <dcterms:modified xsi:type="dcterms:W3CDTF">2013-09-15T00:51:31Z</dcterms:modified>
</cp:coreProperties>
</file>