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404" r:id="rId2"/>
    <p:sldId id="405" r:id="rId3"/>
    <p:sldId id="303" r:id="rId4"/>
    <p:sldId id="309" r:id="rId5"/>
    <p:sldId id="310" r:id="rId6"/>
    <p:sldId id="312" r:id="rId7"/>
    <p:sldId id="311" r:id="rId8"/>
    <p:sldId id="264" r:id="rId9"/>
    <p:sldId id="314" r:id="rId10"/>
    <p:sldId id="317" r:id="rId11"/>
    <p:sldId id="328" r:id="rId12"/>
    <p:sldId id="333" r:id="rId13"/>
    <p:sldId id="335" r:id="rId14"/>
    <p:sldId id="397" r:id="rId15"/>
    <p:sldId id="334" r:id="rId16"/>
    <p:sldId id="337" r:id="rId17"/>
    <p:sldId id="336" r:id="rId18"/>
    <p:sldId id="395" r:id="rId19"/>
    <p:sldId id="396" r:id="rId20"/>
    <p:sldId id="361" r:id="rId21"/>
    <p:sldId id="343" r:id="rId22"/>
    <p:sldId id="350" r:id="rId23"/>
    <p:sldId id="402" r:id="rId24"/>
    <p:sldId id="358" r:id="rId25"/>
    <p:sldId id="403" r:id="rId26"/>
    <p:sldId id="359" r:id="rId27"/>
    <p:sldId id="406" r:id="rId28"/>
    <p:sldId id="407" r:id="rId29"/>
    <p:sldId id="408" r:id="rId30"/>
    <p:sldId id="409" r:id="rId31"/>
    <p:sldId id="410" r:id="rId32"/>
    <p:sldId id="411" r:id="rId33"/>
    <p:sldId id="412" r:id="rId34"/>
    <p:sldId id="413" r:id="rId35"/>
    <p:sldId id="414" r:id="rId36"/>
    <p:sldId id="415" r:id="rId37"/>
    <p:sldId id="416" r:id="rId38"/>
    <p:sldId id="417" r:id="rId39"/>
    <p:sldId id="418" r:id="rId40"/>
    <p:sldId id="419" r:id="rId41"/>
    <p:sldId id="420" r:id="rId42"/>
    <p:sldId id="421" r:id="rId43"/>
  </p:sldIdLst>
  <p:sldSz cx="9144000" cy="6858000" type="screen4x3"/>
  <p:notesSz cx="6769100" cy="9906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398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555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34257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A6306-94F6-4097-BC02-15C25ED75E2A}" type="datetimeFigureOut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34257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39C19-AB80-47B9-BA70-05C74A7833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CAA75-9C14-41E0-8D97-D1FBFD6490C8}" type="datetimeFigureOut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80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6910" y="4705350"/>
            <a:ext cx="541528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7ACEE-50D6-4B49-9EF8-500864D8DB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7ACEE-50D6-4B49-9EF8-500864D8DBDD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0356-8FCE-43E0-99A3-722CDBA1F444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A1E1-A6B0-425A-A5DA-56BF378A6BFD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D79FA-7B69-4A10-9045-2E3A3D1BE5C7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AF5D-730C-4DF9-86B5-1029A4F365AB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451F3-607C-4DC7-9472-DAFA0941DD7C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27044-7B10-4AC3-A683-7204DEFEE519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DBD1-A6F4-481F-977A-4E2949FFD64C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7655-DE5D-49FD-AA27-AAB1404D3317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69282-B2EC-4E9B-88B0-953042A60D2C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4D135-324B-4DE4-9B74-A447916B6F56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5203-B329-4914-BE68-E48C6F3436EA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9716F-1258-4DA7-AF58-4B3F856819C5}" type="datetime1">
              <a:rPr lang="zh-TW" altLang="en-US" smtClean="0"/>
              <a:pPr/>
              <a:t>2010/3/30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sz="2400" b="1" dirty="0" smtClean="0"/>
              <a:t>First 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=A</a:t>
            </a:r>
            <a:r>
              <a:rPr lang="en-US" altLang="zh-TW" sz="2400" b="1" dirty="0" smtClean="0">
                <a:solidFill>
                  <a:srgbClr val="0070C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/>
              <a:t>) =</a:t>
            </a:r>
            <a:r>
              <a:rPr lang="zh-TW" altLang="en-US" sz="2400" b="1" dirty="0" smtClean="0"/>
              <a:t>      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, if 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zh-TW" altLang="en-US" sz="2400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∉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altLang="zh-TW" sz="2400" b="1" dirty="0" smtClean="0">
                <a:sym typeface="Symbol" pitchFamily="18" charset="2"/>
              </a:rPr>
              <a:t>			          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– {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/>
              <a:t>} </a:t>
            </a:r>
            <a:r>
              <a:rPr lang="zh-TW" altLang="en-US" sz="2400" b="1" dirty="0" smtClean="0"/>
              <a:t>∪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0070C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), if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∈ </a:t>
            </a:r>
            <a:r>
              <a:rPr lang="en-US" altLang="zh-TW" sz="2400" b="1" dirty="0" smtClean="0">
                <a:sym typeface="Symbol" pitchFamily="18" charset="2"/>
              </a:rPr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r>
              <a:rPr lang="en-US" altLang="zh-TW" sz="2400" b="1" dirty="0" smtClean="0">
                <a:sym typeface="Symbol" pitchFamily="18" charset="2"/>
              </a:rPr>
              <a:t>We will use some examples for this operation…</a:t>
            </a:r>
          </a:p>
          <a:p>
            <a:pPr>
              <a:buNone/>
            </a:pPr>
            <a:endParaRPr lang="en-US" altLang="zh-TW" sz="2400" b="1" dirty="0" smtClean="0"/>
          </a:p>
          <a:p>
            <a:endParaRPr lang="zh-TW" altLang="en-US" dirty="0"/>
          </a:p>
        </p:txBody>
      </p:sp>
      <p:sp>
        <p:nvSpPr>
          <p:cNvPr id="6" name="左大括弧 5"/>
          <p:cNvSpPr/>
          <p:nvPr/>
        </p:nvSpPr>
        <p:spPr>
          <a:xfrm>
            <a:off x="2643174" y="164305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26985" y="2000238"/>
            <a:ext cx="6931228" cy="4154877"/>
            <a:chOff x="769" y="2112"/>
            <a:chExt cx="663" cy="1229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76" cy="1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 err="1" smtClean="0"/>
                <a:t>E</a:t>
              </a:r>
              <a:r>
                <a:rPr lang="en-US" altLang="zh-TW" sz="4400" b="1" dirty="0" err="1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err="1" smtClean="0"/>
                <a:t>Prefix</a:t>
              </a:r>
              <a:r>
                <a:rPr lang="en-US" altLang="zh-TW" sz="4400" b="1" dirty="0" smtClean="0"/>
                <a:t>(E)</a:t>
              </a:r>
            </a:p>
            <a:p>
              <a:r>
                <a:rPr lang="en-US" altLang="zh-TW" sz="4400" b="1" dirty="0" smtClean="0"/>
                <a:t>E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smtClean="0"/>
                <a:t>V Tail</a:t>
              </a:r>
            </a:p>
            <a:p>
              <a:r>
                <a:rPr lang="en-US" altLang="zh-TW" sz="4400" b="1" dirty="0" err="1" smtClean="0"/>
                <a:t>Prefix</a:t>
              </a:r>
              <a:r>
                <a:rPr lang="en-US" altLang="zh-TW" sz="4400" b="1" dirty="0" err="1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err="1" smtClean="0"/>
                <a:t>F</a:t>
              </a:r>
              <a:endParaRPr lang="en-US" altLang="zh-TW" sz="4400" b="1" dirty="0" smtClean="0"/>
            </a:p>
            <a:p>
              <a:r>
                <a:rPr lang="en-US" altLang="zh-TW" sz="4400" b="1" dirty="0" smtClean="0"/>
                <a:t>Prefix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smtClean="0">
                  <a:sym typeface="Symbol" pitchFamily="18" charset="2"/>
                </a:rPr>
                <a:t></a:t>
              </a:r>
              <a:endParaRPr lang="en-US" altLang="zh-TW" sz="4400" b="1" dirty="0" smtClean="0"/>
            </a:p>
            <a:p>
              <a:r>
                <a:rPr lang="en-US" altLang="zh-TW" sz="4400" b="1" dirty="0" smtClean="0"/>
                <a:t>Tail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4400" b="1" dirty="0" smtClean="0"/>
            </a:p>
            <a:p>
              <a:r>
                <a:rPr lang="en-US" altLang="zh-TW" sz="4400" b="1" dirty="0" smtClean="0"/>
                <a:t>Tail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b="1" dirty="0" smtClean="0">
                  <a:sym typeface="Symbol" pitchFamily="18" charset="2"/>
                </a:rPr>
                <a:t></a:t>
              </a:r>
              <a:endParaRPr lang="en-US" altLang="zh-TW" sz="4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左大括弧 8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?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Waiting operation</a:t>
            </a:r>
            <a:r>
              <a:rPr lang="en-US" altLang="zh-TW" sz="2400" b="1" dirty="0" smtClean="0"/>
              <a:t>}</a:t>
            </a:r>
          </a:p>
          <a:p>
            <a:pPr lvl="1"/>
            <a:r>
              <a:rPr lang="en-US" altLang="zh-TW" sz="2000" b="1" dirty="0" smtClean="0"/>
              <a:t>We don’t know </a:t>
            </a:r>
            <a:r>
              <a:rPr lang="en-US" altLang="zh-TW" sz="2000" b="1" dirty="0" smtClean="0">
                <a:sym typeface="Symbol" pitchFamily="18" charset="2"/>
              </a:rPr>
              <a:t>First(Prefix)</a:t>
            </a:r>
            <a:r>
              <a:rPr lang="en-US" altLang="zh-TW" sz="2000" b="1" dirty="0" smtClean="0"/>
              <a:t> at this moment.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So we keep the operation of First(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Prefix</a:t>
            </a:r>
            <a:r>
              <a:rPr lang="en-US" altLang="zh-TW" sz="2000" b="1" dirty="0" smtClean="0">
                <a:solidFill>
                  <a:schemeClr val="accent1"/>
                </a:solidFill>
                <a:sym typeface="Symbol" pitchFamily="18" charset="2"/>
              </a:rPr>
              <a:t>(E)</a:t>
            </a:r>
            <a:r>
              <a:rPr lang="en-US" altLang="zh-TW" sz="2000" b="1" dirty="0" smtClean="0">
                <a:sym typeface="Symbol" pitchFamily="18" charset="2"/>
              </a:rPr>
              <a:t>) until we know First(Prefix).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F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-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) = 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+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-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) = 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  <p:sp>
        <p:nvSpPr>
          <p:cNvPr id="11" name="左大括弧 10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?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Waiting operation</a:t>
            </a:r>
            <a:r>
              <a:rPr lang="en-US" altLang="zh-TW" sz="2400" b="1" dirty="0" smtClean="0"/>
              <a:t>}</a:t>
            </a:r>
          </a:p>
          <a:p>
            <a:pPr lvl="1"/>
            <a:r>
              <a:rPr lang="en-US" altLang="zh-TW" sz="2000" b="1" dirty="0" smtClean="0"/>
              <a:t>We don’t know </a:t>
            </a:r>
            <a:r>
              <a:rPr lang="en-US" altLang="zh-TW" sz="2000" b="1" dirty="0" smtClean="0">
                <a:sym typeface="Symbol" pitchFamily="18" charset="2"/>
              </a:rPr>
              <a:t>First(Prefix)</a:t>
            </a:r>
            <a:r>
              <a:rPr lang="en-US" altLang="zh-TW" sz="2000" b="1" dirty="0" smtClean="0"/>
              <a:t> at this moment.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So we keep the operation of First(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Prefix</a:t>
            </a:r>
            <a:r>
              <a:rPr lang="en-US" altLang="zh-TW" sz="2000" b="1" dirty="0" smtClean="0">
                <a:solidFill>
                  <a:schemeClr val="accent1"/>
                </a:solidFill>
                <a:sym typeface="Symbol" pitchFamily="18" charset="2"/>
              </a:rPr>
              <a:t>(E)</a:t>
            </a:r>
            <a:r>
              <a:rPr lang="en-US" altLang="zh-TW" sz="2000" b="1" dirty="0" smtClean="0">
                <a:sym typeface="Symbol" pitchFamily="18" charset="2"/>
              </a:rPr>
              <a:t>) until we know First(Prefix).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786182" y="5786454"/>
          <a:ext cx="52624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  <p:sp>
        <p:nvSpPr>
          <p:cNvPr id="14" name="左大括弧 13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?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Waiting operation</a:t>
            </a:r>
            <a:r>
              <a:rPr lang="en-US" altLang="zh-TW" sz="2400" b="1" dirty="0" smtClean="0"/>
              <a:t>}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In this step, we know First(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ym typeface="Symbol" pitchFamily="18" charset="2"/>
              </a:rPr>
              <a:t>). 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So we replace the First(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ym typeface="Symbol" pitchFamily="18" charset="2"/>
              </a:rPr>
              <a:t>)</a:t>
            </a:r>
            <a:r>
              <a:rPr lang="zh-TW" altLang="en-US" sz="2000" b="1" dirty="0" smtClean="0">
                <a:sym typeface="Symbol" pitchFamily="18" charset="2"/>
              </a:rPr>
              <a:t> </a:t>
            </a:r>
            <a:r>
              <a:rPr lang="en-US" altLang="zh-TW" sz="2000" b="1" dirty="0" smtClean="0">
                <a:sym typeface="Symbol" pitchFamily="18" charset="2"/>
              </a:rPr>
              <a:t>with {</a:t>
            </a:r>
            <a:r>
              <a:rPr lang="en-US" altLang="zh-TW" sz="18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2000" b="1" dirty="0" smtClean="0">
                <a:sym typeface="Symbol" pitchFamily="18" charset="2"/>
              </a:rPr>
              <a:t>}.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1" name="等於 10"/>
          <p:cNvSpPr/>
          <p:nvPr/>
        </p:nvSpPr>
        <p:spPr>
          <a:xfrm rot="2792940">
            <a:off x="7439212" y="2155540"/>
            <a:ext cx="642942" cy="50006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58148" y="2500306"/>
            <a:ext cx="9730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ym typeface="Symbol" pitchFamily="18" charset="2"/>
              </a:rPr>
              <a:t>{</a:t>
            </a:r>
            <a:r>
              <a:rPr lang="en-US" altLang="zh-TW" sz="28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3200" b="1" dirty="0" smtClean="0">
                <a:sym typeface="Symbol" pitchFamily="18" charset="2"/>
              </a:rPr>
              <a:t>}</a:t>
            </a:r>
            <a:endParaRPr lang="zh-TW" altLang="en-US" sz="2800" dirty="0"/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sp>
        <p:nvSpPr>
          <p:cNvPr id="16" name="左大括弧 15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3786182" y="5800748"/>
          <a:ext cx="52624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</a:t>
            </a:r>
            <a:r>
              <a:rPr lang="en-US" altLang="zh-TW" b="1" dirty="0" smtClean="0"/>
              <a:t>=</a:t>
            </a:r>
            <a:r>
              <a:rPr lang="en-US" altLang="zh-TW" sz="2400" b="1" dirty="0" smtClean="0"/>
              <a:t>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2400" b="1" dirty="0" smtClean="0"/>
              <a:t>} </a:t>
            </a:r>
          </a:p>
          <a:p>
            <a:pPr>
              <a:buNone/>
            </a:pPr>
            <a:r>
              <a:rPr lang="en-US" altLang="zh-TW" sz="2400" b="1" dirty="0" smtClean="0"/>
              <a:t>                                         </a:t>
            </a:r>
            <a:r>
              <a:rPr lang="en-US" altLang="zh-TW" b="1" dirty="0" smtClean="0"/>
              <a:t>=</a:t>
            </a:r>
            <a:r>
              <a:rPr lang="en-US" altLang="zh-TW" sz="2400" b="1" dirty="0" smtClean="0"/>
              <a:t>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2400" b="1" dirty="0" smtClean="0"/>
              <a:t>} -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/>
              <a:t>} </a:t>
            </a:r>
            <a:r>
              <a:rPr lang="zh-TW" altLang="en-US" sz="2400" b="1" dirty="0" smtClean="0"/>
              <a:t>∪</a:t>
            </a:r>
            <a:r>
              <a:rPr lang="en-US" altLang="zh-TW" sz="2400" b="1" dirty="0" smtClean="0"/>
              <a:t> </a:t>
            </a:r>
            <a:r>
              <a:rPr lang="en-US" altLang="zh-TW" b="1" dirty="0" smtClean="0"/>
              <a:t>First</a:t>
            </a:r>
            <a:r>
              <a:rPr lang="en-US" altLang="zh-TW" sz="2400" b="1" dirty="0" smtClean="0"/>
              <a:t>(</a:t>
            </a:r>
            <a:r>
              <a:rPr lang="en-US" altLang="zh-TW" sz="1600" b="1" dirty="0" smtClean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zh-TW" sz="1600" b="1" dirty="0" smtClean="0">
                <a:solidFill>
                  <a:srgbClr val="0070C0"/>
                </a:solidFill>
                <a:sym typeface="Symbol" pitchFamily="18" charset="2"/>
              </a:rPr>
              <a:t>E)</a:t>
            </a:r>
            <a:r>
              <a:rPr lang="en-US" altLang="zh-TW" sz="2400" b="1" dirty="0" smtClean="0"/>
              <a:t>)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(</a:t>
            </a:r>
            <a:r>
              <a:rPr lang="en-US" altLang="zh-TW" sz="2400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sp>
        <p:nvSpPr>
          <p:cNvPr id="14" name="左大括弧 13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786182" y="5800748"/>
          <a:ext cx="52624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 </a:t>
            </a:r>
            <a:r>
              <a:rPr lang="en-US" altLang="zh-TW" sz="2400" b="1" dirty="0" smtClean="0"/>
              <a:t>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(</a:t>
            </a:r>
            <a:r>
              <a:rPr lang="en-US" altLang="zh-TW" sz="2400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071934" y="5500702"/>
          <a:ext cx="504620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80"/>
                <a:gridCol w="1703070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dirty="0" smtClean="0"/>
                        <a:t> {V} ={F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(, </a:t>
                      </a:r>
                      <a:r>
                        <a:rPr lang="en-US" altLang="zh-TW" sz="1400" dirty="0" smtClean="0"/>
                        <a:t>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sp>
        <p:nvSpPr>
          <p:cNvPr id="13" name="左大括弧 12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>
                <a:sym typeface="Symbol" pitchFamily="18" charset="2"/>
              </a:rPr>
              <a:t>E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</a:t>
            </a:r>
            <a:r>
              <a:rPr lang="en-US" altLang="zh-TW" b="1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F, (</a:t>
            </a:r>
            <a:r>
              <a:rPr lang="en-US" altLang="zh-TW" b="1" dirty="0" smtClean="0">
                <a:sym typeface="Symbol" pitchFamily="18" charset="2"/>
              </a:rPr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71802" y="5143512"/>
          <a:ext cx="5956963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55"/>
                <a:gridCol w="1820445"/>
                <a:gridCol w="659957"/>
                <a:gridCol w="627728"/>
                <a:gridCol w="414386"/>
                <a:gridCol w="414386"/>
                <a:gridCol w="465293"/>
                <a:gridCol w="414655"/>
                <a:gridCol w="35715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dirty="0" smtClean="0"/>
                        <a:t> {V} ={F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(, </a:t>
                      </a:r>
                      <a:r>
                        <a:rPr lang="en-US" altLang="zh-TW" sz="1400" dirty="0" smtClean="0"/>
                        <a:t>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(, </a:t>
                      </a:r>
                      <a:r>
                        <a:rPr lang="en-US" altLang="zh-TW" sz="1400" dirty="0" smtClean="0"/>
                        <a:t>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4500562" y="3500438"/>
            <a:ext cx="4556247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If no more change…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The first set of a terminal 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symbol is itself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矩形 13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sp>
        <p:nvSpPr>
          <p:cNvPr id="16" name="左大括弧 15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26985" y="2000238"/>
            <a:ext cx="5195808" cy="4154877"/>
            <a:chOff x="769" y="2112"/>
            <a:chExt cx="497" cy="1229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10" cy="1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aSe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bBe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C</a:t>
              </a:r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cCe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d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左大括弧 8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)={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829708" cy="3757626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714744" y="5715016"/>
          <a:ext cx="519100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1285884"/>
                <a:gridCol w="491701"/>
                <a:gridCol w="312008"/>
                <a:gridCol w="312008"/>
                <a:gridCol w="365740"/>
                <a:gridCol w="35196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714744" y="5715016"/>
          <a:ext cx="519100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1285884"/>
                <a:gridCol w="491701"/>
                <a:gridCol w="312008"/>
                <a:gridCol w="312008"/>
                <a:gridCol w="365740"/>
                <a:gridCol w="35196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b, 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28925" y="5214950"/>
          <a:ext cx="597682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3"/>
                <a:gridCol w="2071702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0" baseline="0" dirty="0" smtClean="0"/>
                        <a:t> </a:t>
                      </a:r>
                      <a:r>
                        <a:rPr lang="en-US" altLang="zh-TW" sz="1400" b="0" baseline="0" dirty="0" smtClean="0"/>
                        <a:t>= {</a:t>
                      </a:r>
                      <a:r>
                        <a:rPr lang="en-US" altLang="zh-TW" sz="1400" b="0" baseline="0" dirty="0" err="1" smtClean="0"/>
                        <a:t>a,b,c,d</a:t>
                      </a:r>
                      <a:r>
                        <a:rPr lang="en-US" altLang="zh-TW" sz="1400" b="0" baseline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b, 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142977" y="5214950"/>
          <a:ext cx="776277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63"/>
                <a:gridCol w="2690752"/>
                <a:gridCol w="2134044"/>
                <a:gridCol w="649491"/>
                <a:gridCol w="371138"/>
                <a:gridCol w="371138"/>
                <a:gridCol w="371138"/>
                <a:gridCol w="340012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0" baseline="0" dirty="0" smtClean="0"/>
                        <a:t> </a:t>
                      </a:r>
                      <a:r>
                        <a:rPr lang="en-US" altLang="zh-TW" sz="1400" b="0" baseline="0" dirty="0" smtClean="0"/>
                        <a:t>= {</a:t>
                      </a:r>
                      <a:r>
                        <a:rPr lang="en-US" altLang="zh-TW" sz="1400" b="0" baseline="0" dirty="0" err="1" smtClean="0"/>
                        <a:t>a,b,c,d</a:t>
                      </a:r>
                      <a:r>
                        <a:rPr lang="en-US" altLang="zh-TW" sz="1400" b="0" baseline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{a}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{b}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{d}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4500562" y="3500438"/>
            <a:ext cx="4556247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If no more change…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The first set of a terminal 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symbol is itself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26985" y="2000237"/>
            <a:ext cx="5143536" cy="3571903"/>
            <a:chOff x="769" y="2112"/>
            <a:chExt cx="492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05" cy="1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ABc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a</a:t>
              </a:r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左大括弧 8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First(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829708" cy="347187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First(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  <a:p>
            <a:pPr>
              <a:buNone/>
            </a:pPr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714744" y="5572140"/>
          <a:ext cx="483904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928694"/>
                <a:gridCol w="848891"/>
                <a:gridCol w="312008"/>
                <a:gridCol w="312008"/>
                <a:gridCol w="365740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First(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a, </a:t>
            </a:r>
            <a:r>
              <a:rPr lang="en-US" altLang="zh-TW" b="1" dirty="0" smtClean="0"/>
              <a:t>} 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a, </a:t>
            </a:r>
            <a:r>
              <a:rPr lang="en-US" altLang="zh-TW" b="1" dirty="0" smtClean="0"/>
              <a:t>} -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First(</a:t>
            </a:r>
            <a:r>
              <a:rPr lang="en-US" altLang="zh-TW" sz="2400" b="1" dirty="0" err="1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First(</a:t>
            </a:r>
            <a:r>
              <a:rPr lang="en-US" altLang="zh-TW" sz="2400" b="1" dirty="0" err="1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162113" y="5357826"/>
          <a:ext cx="4839043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928694"/>
                <a:gridCol w="848891"/>
                <a:gridCol w="312008"/>
                <a:gridCol w="312008"/>
                <a:gridCol w="365740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 lnSpcReduction="10000"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First(</a:t>
            </a:r>
            <a:r>
              <a:rPr lang="en-US" altLang="zh-TW" sz="2400" b="1" dirty="0" err="1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 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{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b,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 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b="1" dirty="0" smtClean="0"/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{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b,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 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r>
              <a:rPr lang="en-US" altLang="zh-TW" b="1" dirty="0" smtClean="0"/>
              <a:t> -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 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{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b,c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143371" y="5191148"/>
          <a:ext cx="485778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162"/>
                <a:gridCol w="1543855"/>
                <a:gridCol w="714380"/>
                <a:gridCol w="544615"/>
                <a:gridCol w="443127"/>
                <a:gridCol w="443127"/>
                <a:gridCol w="426520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c</a:t>
                      </a:r>
                      <a:r>
                        <a:rPr lang="en-US" altLang="zh-TW" sz="1400" b="0" dirty="0" smtClean="0"/>
                        <a:t>}= {</a:t>
                      </a:r>
                      <a:r>
                        <a:rPr lang="en-US" altLang="zh-TW" sz="1400" b="0" dirty="0" err="1" smtClean="0"/>
                        <a:t>a,b,c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829708" cy="3043246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{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a,b,c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</p:txBody>
      </p:sp>
      <p:sp>
        <p:nvSpPr>
          <p:cNvPr id="15" name="左大括弧 14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590610" y="5119710"/>
          <a:ext cx="548198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1"/>
                <a:gridCol w="1704019"/>
                <a:gridCol w="867749"/>
                <a:gridCol w="785818"/>
                <a:gridCol w="500066"/>
                <a:gridCol w="500066"/>
                <a:gridCol w="48132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c</a:t>
                      </a:r>
                      <a:r>
                        <a:rPr lang="en-US" altLang="zh-TW" sz="1400" b="0" dirty="0" smtClean="0"/>
                        <a:t>}= {</a:t>
                      </a:r>
                      <a:r>
                        <a:rPr lang="en-US" altLang="zh-TW" sz="1400" b="0" dirty="0" err="1" smtClean="0"/>
                        <a:t>a,b,c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{a}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{b}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4500562" y="3529622"/>
            <a:ext cx="4556247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If no more change…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The first set of a terminal 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symbol is itself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Follow 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32" y="1814514"/>
            <a:ext cx="9429784" cy="3186122"/>
          </a:xfrm>
        </p:spPr>
        <p:txBody>
          <a:bodyPr/>
          <a:lstStyle/>
          <a:p>
            <a:r>
              <a:rPr lang="en-US" altLang="zh-TW" sz="2400" b="1" dirty="0" smtClean="0"/>
              <a:t>Follow 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=</a:t>
            </a:r>
            <a:r>
              <a:rPr lang="zh-TW" altLang="en-US" sz="2400" b="1" dirty="0" smtClean="0"/>
              <a:t>    </a:t>
            </a:r>
            <a:r>
              <a:rPr lang="en-US" altLang="zh-TW" sz="2400" b="1" dirty="0" smtClean="0"/>
              <a:t>Follow(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</a:t>
            </a:r>
            <a:r>
              <a:rPr lang="zh-TW" altLang="en-US" sz="2400" b="1" dirty="0" smtClean="0"/>
              <a:t>∪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/>
              <a:t>) , if 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zh-TW" altLang="en-US" sz="2400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∉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altLang="zh-TW" sz="2400" b="1" dirty="0" smtClean="0">
                <a:sym typeface="Symbol" pitchFamily="18" charset="2"/>
              </a:rPr>
              <a:t>			    </a:t>
            </a:r>
            <a:r>
              <a:rPr lang="en-US" altLang="zh-TW" sz="2400" b="1" dirty="0" smtClean="0"/>
              <a:t>Follow(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</a:t>
            </a:r>
            <a:r>
              <a:rPr lang="zh-TW" altLang="en-US" sz="2400" b="1" dirty="0" smtClean="0"/>
              <a:t>∪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  <a:r>
              <a:rPr lang="en-US" altLang="zh-TW" sz="2400" b="1" dirty="0" smtClean="0"/>
              <a:t> – {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/>
              <a:t>}</a:t>
            </a:r>
            <a:r>
              <a:rPr lang="zh-TW" altLang="en-US" sz="2400" b="1" dirty="0" smtClean="0"/>
              <a:t> ∪</a:t>
            </a:r>
            <a:r>
              <a:rPr lang="en-US" altLang="zh-TW" sz="2400" b="1" dirty="0" smtClean="0"/>
              <a:t>Follow(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E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  <a:r>
              <a:rPr lang="en-US" altLang="zh-TW" sz="2400" b="1" dirty="0" smtClean="0"/>
              <a:t> </a:t>
            </a:r>
            <a:r>
              <a:rPr lang="en-US" altLang="zh-TW" sz="2400" b="1" dirty="0" smtClean="0">
                <a:sym typeface="Symbol" pitchFamily="18" charset="2"/>
              </a:rPr>
              <a:t>, if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∈ </a:t>
            </a:r>
            <a:r>
              <a:rPr lang="en-US" altLang="zh-TW" sz="2400" b="1" dirty="0" smtClean="0">
                <a:sym typeface="Symbol" pitchFamily="18" charset="2"/>
              </a:rPr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r>
              <a:rPr lang="en-US" altLang="zh-TW" sz="2400" b="1" dirty="0" smtClean="0">
                <a:sym typeface="Symbol" pitchFamily="18" charset="2"/>
              </a:rPr>
              <a:t>We will use some examples for this operation…</a:t>
            </a:r>
            <a:endParaRPr lang="en-US" altLang="zh-TW" sz="2400" b="1" dirty="0" smtClean="0"/>
          </a:p>
          <a:p>
            <a:pPr>
              <a:buNone/>
            </a:pPr>
            <a:endParaRPr lang="en-US" altLang="zh-TW" sz="2400" b="1" dirty="0" smtClean="0"/>
          </a:p>
        </p:txBody>
      </p:sp>
      <p:sp>
        <p:nvSpPr>
          <p:cNvPr id="6" name="左大括弧 5"/>
          <p:cNvSpPr/>
          <p:nvPr/>
        </p:nvSpPr>
        <p:spPr>
          <a:xfrm>
            <a:off x="1928794" y="1857364"/>
            <a:ext cx="285752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34381" y="1262706"/>
            <a:ext cx="15229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Symbol" pitchFamily="18" charset="2"/>
              </a:rPr>
              <a:t>E</a:t>
            </a:r>
            <a:r>
              <a:rPr lang="en-US" altLang="zh-TW" sz="2800" b="1" dirty="0" smtClean="0">
                <a:solidFill>
                  <a:srgbClr val="C00000"/>
                </a:solidFill>
                <a:sym typeface="Symbol"/>
              </a:rPr>
              <a:t>…</a:t>
            </a:r>
            <a:r>
              <a:rPr lang="en-US" altLang="zh-TW" sz="2800" b="1" dirty="0" smtClean="0">
                <a:solidFill>
                  <a:srgbClr val="C00000"/>
                </a:solidFill>
                <a:sym typeface="Symbol" pitchFamily="18" charset="2"/>
              </a:rPr>
              <a:t>A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Step 0: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38264" y="2928934"/>
          <a:ext cx="389105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142852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14422"/>
            <a:ext cx="7758138" cy="378621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TW" b="1" dirty="0" smtClean="0"/>
              <a:t>Step 1: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(E)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) 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                           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} and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} 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VTail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                       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ym typeface="Symbol" pitchFamily="18" charset="2"/>
              </a:rPr>
              <a:t>}</a:t>
            </a:r>
            <a:r>
              <a:rPr lang="en-US" altLang="zh-TW" sz="2000" b="1" dirty="0" smtClean="0"/>
              <a:t>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“Tail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+E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                   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}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</a:t>
            </a:r>
          </a:p>
          <a:p>
            <a:pPr>
              <a:buNone/>
            </a:pPr>
            <a:endParaRPr lang="en-US" altLang="zh-TW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500042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142976" y="5143512"/>
          <a:ext cx="742955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2571768"/>
                <a:gridCol w="1857388"/>
                <a:gridCol w="221457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100002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500042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142976" y="4786322"/>
          <a:ext cx="7429552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2571768"/>
                <a:gridCol w="1857388"/>
                <a:gridCol w="221457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, }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7758138" cy="378621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TW" b="1" dirty="0" smtClean="0"/>
              <a:t>Step 2: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(E)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) 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                           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} and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} 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VTail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                       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ym typeface="Symbol" pitchFamily="18" charset="2"/>
              </a:rPr>
              <a:t>}</a:t>
            </a:r>
            <a:r>
              <a:rPr lang="en-US" altLang="zh-TW" sz="2000" b="1" dirty="0" smtClean="0"/>
              <a:t>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“Tail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+E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                   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}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</a:t>
            </a:r>
          </a:p>
          <a:p>
            <a:pPr>
              <a:buNone/>
            </a:pP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7758138" cy="10429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b="1" dirty="0" smtClean="0"/>
              <a:t>Step 3:</a:t>
            </a:r>
          </a:p>
          <a:p>
            <a:endParaRPr lang="en-US" altLang="zh-TW" sz="2000" b="1" dirty="0" smtClean="0"/>
          </a:p>
          <a:p>
            <a:pPr>
              <a:buNone/>
            </a:pPr>
            <a:endParaRPr lang="en-US" altLang="zh-TW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14348" y="2786058"/>
          <a:ext cx="74295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2571768"/>
                <a:gridCol w="1857388"/>
                <a:gridCol w="221457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, }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, }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26985" y="2000238"/>
            <a:ext cx="5195808" cy="4154877"/>
            <a:chOff x="769" y="2112"/>
            <a:chExt cx="497" cy="1229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10" cy="1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aSe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bBe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C</a:t>
              </a:r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cCe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d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sp>
        <p:nvSpPr>
          <p:cNvPr id="10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1" name="左大括弧 10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 smtClean="0"/>
              <a:t>Step 0: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38264" y="2928934"/>
          <a:ext cx="389105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1285860"/>
            <a:ext cx="1500198" cy="5000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b="1" dirty="0" smtClean="0"/>
              <a:t>Step 1: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357158" y="1714488"/>
            <a:ext cx="8643998" cy="2714644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aSe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B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zh-TW" altLang="en-US" sz="2000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bBe</a:t>
            </a:r>
            <a:r>
              <a:rPr lang="en-US" altLang="zh-TW" sz="2000" b="1" dirty="0" smtClean="0"/>
              <a:t>	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C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cCe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d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786" y="4643446"/>
          <a:ext cx="742955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643074"/>
                <a:gridCol w="2357454"/>
                <a:gridCol w="264320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e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1285860"/>
            <a:ext cx="1500198" cy="5000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b="1" dirty="0" smtClean="0"/>
              <a:t>Step 2: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357158" y="1714488"/>
            <a:ext cx="8643998" cy="2714644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aSe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B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zh-TW" altLang="en-US" sz="2000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bBe</a:t>
            </a:r>
            <a:r>
              <a:rPr lang="en-US" altLang="zh-TW" sz="2000" b="1" dirty="0" smtClean="0"/>
              <a:t>	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C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cCe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d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786" y="4643446"/>
          <a:ext cx="7429552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643074"/>
                <a:gridCol w="2357454"/>
                <a:gridCol w="264320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e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1285860"/>
            <a:ext cx="1500198" cy="5000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b="1" dirty="0" smtClean="0"/>
              <a:t>Step 3: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14348" y="2571744"/>
          <a:ext cx="74295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643074"/>
                <a:gridCol w="2357454"/>
                <a:gridCol w="264320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e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26984" y="2000237"/>
            <a:ext cx="5143536" cy="3571903"/>
            <a:chOff x="769" y="2112"/>
            <a:chExt cx="492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05" cy="1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ABc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a</a:t>
              </a:r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 smtClean="0"/>
              <a:t>Step 0: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96" y="285728"/>
            <a:ext cx="1126515" cy="1323092"/>
            <a:chOff x="769" y="2112"/>
            <a:chExt cx="474" cy="1209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187" cy="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err="1" smtClean="0"/>
                <a:t>ABc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/>
                <a:t> a</a:t>
              </a:r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>
                  <a:sym typeface="Symbol" pitchFamily="18" charset="2"/>
                </a:rPr>
                <a:t> </a:t>
              </a:r>
              <a:r>
                <a:rPr lang="en-US" altLang="zh-TW" sz="1600" dirty="0" smtClean="0"/>
                <a:t>b</a:t>
              </a:r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>
                <a:sym typeface="Symbol" pitchFamily="18" charset="2"/>
              </a:endParaRPr>
            </a:p>
          </p:txBody>
        </p:sp>
        <p:sp>
          <p:nvSpPr>
            <p:cNvPr id="12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600" b="1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80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/>
                <a:t>G</a:t>
              </a:r>
              <a:r>
                <a:rPr lang="en-US" altLang="zh-TW" sz="1600" b="1" baseline="-25000" dirty="0"/>
                <a:t>0</a:t>
              </a:r>
            </a:p>
          </p:txBody>
        </p:sp>
      </p:grpSp>
      <p:sp>
        <p:nvSpPr>
          <p:cNvPr id="14" name="內容版面配置區 2"/>
          <p:cNvSpPr txBox="1">
            <a:spLocks/>
          </p:cNvSpPr>
          <p:nvPr/>
        </p:nvSpPr>
        <p:spPr>
          <a:xfrm>
            <a:off x="142844" y="214290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5" name="左大括弧 14"/>
          <p:cNvSpPr/>
          <p:nvPr/>
        </p:nvSpPr>
        <p:spPr>
          <a:xfrm>
            <a:off x="1500166" y="585146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038264" y="2928934"/>
          <a:ext cx="389105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85860"/>
            <a:ext cx="1614470" cy="5429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TW" b="1" dirty="0" smtClean="0"/>
              <a:t>Step 1: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85720" y="1857364"/>
            <a:ext cx="8715436" cy="2786082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First (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Bc</a:t>
            </a:r>
            <a:r>
              <a:rPr lang="en-US" altLang="zh-TW" sz="2000" b="1" dirty="0" smtClean="0"/>
              <a:t>)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{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b,c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a</a:t>
            </a:r>
          </a:p>
          <a:p>
            <a:pPr marL="800100" lvl="1" indent="-342900">
              <a:spcBef>
                <a:spcPct val="20000"/>
              </a:spcBef>
              <a:buFont typeface="Symbol"/>
              <a:buChar char="Þ"/>
            </a:pPr>
            <a:r>
              <a:rPr lang="en-US" altLang="zh-TW" sz="2000" b="1" dirty="0" smtClean="0">
                <a:sym typeface="Symbol" pitchFamily="18" charset="2"/>
              </a:rPr>
              <a:t>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	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96" y="285728"/>
            <a:ext cx="1126515" cy="1323092"/>
            <a:chOff x="769" y="2112"/>
            <a:chExt cx="474" cy="1209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187" cy="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err="1" smtClean="0"/>
                <a:t>ABc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/>
                <a:t> a</a:t>
              </a:r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>
                  <a:sym typeface="Symbol" pitchFamily="18" charset="2"/>
                </a:rPr>
                <a:t> </a:t>
              </a:r>
              <a:r>
                <a:rPr lang="en-US" altLang="zh-TW" sz="1600" dirty="0" smtClean="0"/>
                <a:t>b</a:t>
              </a:r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>
                <a:sym typeface="Symbol" pitchFamily="18" charset="2"/>
              </a:endParaRPr>
            </a:p>
          </p:txBody>
        </p:sp>
        <p:sp>
          <p:nvSpPr>
            <p:cNvPr id="12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600" b="1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80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/>
                <a:t>G</a:t>
              </a:r>
              <a:r>
                <a:rPr lang="en-US" altLang="zh-TW" sz="1600" b="1" baseline="-25000" dirty="0"/>
                <a:t>0</a:t>
              </a:r>
            </a:p>
          </p:txBody>
        </p:sp>
      </p:grpSp>
      <p:sp>
        <p:nvSpPr>
          <p:cNvPr id="14" name="內容版面配置區 2"/>
          <p:cNvSpPr txBox="1">
            <a:spLocks/>
          </p:cNvSpPr>
          <p:nvPr/>
        </p:nvSpPr>
        <p:spPr>
          <a:xfrm>
            <a:off x="142844" y="214290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5" name="左大括弧 14"/>
          <p:cNvSpPr/>
          <p:nvPr/>
        </p:nvSpPr>
        <p:spPr>
          <a:xfrm>
            <a:off x="1500166" y="585146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071670" y="5067320"/>
          <a:ext cx="528641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785818"/>
                <a:gridCol w="2000264"/>
                <a:gridCol w="1714511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err="1" smtClean="0">
                          <a:solidFill>
                            <a:srgbClr val="C00000"/>
                          </a:solidFill>
                        </a:rPr>
                        <a:t>b,c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en-US" altLang="zh-TW" sz="1400" b="1" baseline="0" dirty="0" smtClean="0"/>
                        <a:t> = {</a:t>
                      </a:r>
                      <a:r>
                        <a:rPr lang="en-US" altLang="zh-TW" sz="1400" b="1" baseline="0" dirty="0" err="1" smtClean="0"/>
                        <a:t>b,c</a:t>
                      </a:r>
                      <a:r>
                        <a:rPr lang="en-US" altLang="zh-TW" sz="1400" b="1" baseline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} = 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85860"/>
            <a:ext cx="1614470" cy="5429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TW" b="1" dirty="0" smtClean="0"/>
              <a:t>Step 2: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85720" y="1857364"/>
            <a:ext cx="8715436" cy="2786082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First (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Bc</a:t>
            </a:r>
            <a:r>
              <a:rPr lang="en-US" altLang="zh-TW" sz="2000" b="1" dirty="0" smtClean="0"/>
              <a:t>)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{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b,c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a</a:t>
            </a:r>
          </a:p>
          <a:p>
            <a:pPr marL="800100" lvl="1" indent="-342900">
              <a:spcBef>
                <a:spcPct val="20000"/>
              </a:spcBef>
              <a:buFont typeface="Symbol"/>
              <a:buChar char="Þ"/>
            </a:pPr>
            <a:r>
              <a:rPr lang="en-US" altLang="zh-TW" sz="2000" b="1" dirty="0" smtClean="0">
                <a:sym typeface="Symbol" pitchFamily="18" charset="2"/>
              </a:rPr>
              <a:t>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	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96" y="285728"/>
            <a:ext cx="1126515" cy="1323092"/>
            <a:chOff x="769" y="2112"/>
            <a:chExt cx="474" cy="1209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187" cy="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err="1" smtClean="0"/>
                <a:t>ABc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/>
                <a:t> a</a:t>
              </a:r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>
                  <a:sym typeface="Symbol" pitchFamily="18" charset="2"/>
                </a:rPr>
                <a:t> </a:t>
              </a:r>
              <a:r>
                <a:rPr lang="en-US" altLang="zh-TW" sz="1600" dirty="0" smtClean="0"/>
                <a:t>b</a:t>
              </a:r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>
                <a:sym typeface="Symbol" pitchFamily="18" charset="2"/>
              </a:endParaRPr>
            </a:p>
          </p:txBody>
        </p:sp>
        <p:sp>
          <p:nvSpPr>
            <p:cNvPr id="12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600" b="1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80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/>
                <a:t>G</a:t>
              </a:r>
              <a:r>
                <a:rPr lang="en-US" altLang="zh-TW" sz="1600" b="1" baseline="-25000" dirty="0"/>
                <a:t>0</a:t>
              </a:r>
            </a:p>
          </p:txBody>
        </p:sp>
      </p:grpSp>
      <p:sp>
        <p:nvSpPr>
          <p:cNvPr id="14" name="內容版面配置區 2"/>
          <p:cNvSpPr txBox="1">
            <a:spLocks/>
          </p:cNvSpPr>
          <p:nvPr/>
        </p:nvSpPr>
        <p:spPr>
          <a:xfrm>
            <a:off x="142844" y="214290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5" name="左大括弧 14"/>
          <p:cNvSpPr/>
          <p:nvPr/>
        </p:nvSpPr>
        <p:spPr>
          <a:xfrm>
            <a:off x="1500166" y="585146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071670" y="5067320"/>
          <a:ext cx="528641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785818"/>
                <a:gridCol w="2000264"/>
                <a:gridCol w="1714511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err="1" smtClean="0">
                          <a:solidFill>
                            <a:srgbClr val="C00000"/>
                          </a:solidFill>
                        </a:rPr>
                        <a:t>b,c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en-US" altLang="zh-TW" sz="1400" b="1" baseline="0" dirty="0" smtClean="0"/>
                        <a:t> = {</a:t>
                      </a:r>
                      <a:r>
                        <a:rPr lang="en-US" altLang="zh-TW" sz="1400" b="1" baseline="0" dirty="0" err="1" smtClean="0"/>
                        <a:t>b,c</a:t>
                      </a:r>
                      <a:r>
                        <a:rPr lang="en-US" altLang="zh-TW" sz="1400" b="1" baseline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} = 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err="1" smtClean="0">
                          <a:solidFill>
                            <a:srgbClr val="C00000"/>
                          </a:solidFill>
                        </a:rPr>
                        <a:t>b,c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en-US" altLang="zh-TW" sz="1400" b="1" baseline="0" dirty="0" smtClean="0"/>
                        <a:t> = {</a:t>
                      </a:r>
                      <a:r>
                        <a:rPr lang="en-US" altLang="zh-TW" sz="1400" b="1" baseline="0" dirty="0" err="1" smtClean="0"/>
                        <a:t>b,c</a:t>
                      </a:r>
                      <a:r>
                        <a:rPr lang="en-US" altLang="zh-TW" sz="1400" b="1" baseline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} = 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3785</Words>
  <Application>Microsoft Office PowerPoint</Application>
  <PresentationFormat>如螢幕大小 (4:3)</PresentationFormat>
  <Paragraphs>1087</Paragraphs>
  <Slides>42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Office 佈景主題</vt:lpstr>
      <vt:lpstr>First Set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Another Example….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Another Example….</vt:lpstr>
      <vt:lpstr>First Set (2)</vt:lpstr>
      <vt:lpstr>First Set (2)</vt:lpstr>
      <vt:lpstr>First Set (2)</vt:lpstr>
      <vt:lpstr>First Set (2)</vt:lpstr>
      <vt:lpstr>First Set (2)</vt:lpstr>
      <vt:lpstr>First Set (2)</vt:lpstr>
      <vt:lpstr>Follow Set</vt:lpstr>
      <vt:lpstr>投影片 28</vt:lpstr>
      <vt:lpstr>投影片 29</vt:lpstr>
      <vt:lpstr>投影片 30</vt:lpstr>
      <vt:lpstr>投影片 31</vt:lpstr>
      <vt:lpstr>Another Example….</vt:lpstr>
      <vt:lpstr>投影片 33</vt:lpstr>
      <vt:lpstr>投影片 34</vt:lpstr>
      <vt:lpstr>投影片 35</vt:lpstr>
      <vt:lpstr>投影片 36</vt:lpstr>
      <vt:lpstr>投影片 37</vt:lpstr>
      <vt:lpstr>Another Example….</vt:lpstr>
      <vt:lpstr>投影片 39</vt:lpstr>
      <vt:lpstr>投影片 40</vt:lpstr>
      <vt:lpstr>投影片 41</vt:lpstr>
      <vt:lpstr>投影片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example  for First Set &amp; Follow Set</dc:title>
  <dc:creator>Yeh-Ching Chung</dc:creator>
  <cp:lastModifiedBy>Yeh-Ching Chung</cp:lastModifiedBy>
  <cp:revision>122</cp:revision>
  <dcterms:modified xsi:type="dcterms:W3CDTF">2010-03-29T21:45:26Z</dcterms:modified>
</cp:coreProperties>
</file>