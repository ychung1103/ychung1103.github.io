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9" r:id="rId1"/>
  </p:sldMasterIdLst>
  <p:notesMasterIdLst>
    <p:notesMasterId r:id="rId76"/>
  </p:notesMasterIdLst>
  <p:handoutMasterIdLst>
    <p:handoutMasterId r:id="rId77"/>
  </p:handoutMasterIdLst>
  <p:sldIdLst>
    <p:sldId id="288" r:id="rId2"/>
    <p:sldId id="603" r:id="rId3"/>
    <p:sldId id="629" r:id="rId4"/>
    <p:sldId id="630" r:id="rId5"/>
    <p:sldId id="604" r:id="rId6"/>
    <p:sldId id="634" r:id="rId7"/>
    <p:sldId id="605" r:id="rId8"/>
    <p:sldId id="606" r:id="rId9"/>
    <p:sldId id="633" r:id="rId10"/>
    <p:sldId id="636" r:id="rId11"/>
    <p:sldId id="612" r:id="rId12"/>
    <p:sldId id="635" r:id="rId13"/>
    <p:sldId id="614" r:id="rId14"/>
    <p:sldId id="703" r:id="rId15"/>
    <p:sldId id="704" r:id="rId16"/>
    <p:sldId id="615" r:id="rId17"/>
    <p:sldId id="619" r:id="rId18"/>
    <p:sldId id="628" r:id="rId19"/>
    <p:sldId id="627" r:id="rId20"/>
    <p:sldId id="637" r:id="rId21"/>
    <p:sldId id="638" r:id="rId22"/>
    <p:sldId id="655" r:id="rId23"/>
    <p:sldId id="640" r:id="rId24"/>
    <p:sldId id="657" r:id="rId25"/>
    <p:sldId id="643" r:id="rId26"/>
    <p:sldId id="656" r:id="rId27"/>
    <p:sldId id="646" r:id="rId28"/>
    <p:sldId id="649" r:id="rId29"/>
    <p:sldId id="647" r:id="rId30"/>
    <p:sldId id="652" r:id="rId31"/>
    <p:sldId id="658" r:id="rId32"/>
    <p:sldId id="684" r:id="rId33"/>
    <p:sldId id="654" r:id="rId34"/>
    <p:sldId id="666" r:id="rId35"/>
    <p:sldId id="667" r:id="rId36"/>
    <p:sldId id="668" r:id="rId37"/>
    <p:sldId id="669" r:id="rId38"/>
    <p:sldId id="706" r:id="rId39"/>
    <p:sldId id="671" r:id="rId40"/>
    <p:sldId id="705" r:id="rId41"/>
    <p:sldId id="672" r:id="rId42"/>
    <p:sldId id="674" r:id="rId43"/>
    <p:sldId id="675" r:id="rId44"/>
    <p:sldId id="676" r:id="rId45"/>
    <p:sldId id="678" r:id="rId46"/>
    <p:sldId id="679" r:id="rId47"/>
    <p:sldId id="680" r:id="rId48"/>
    <p:sldId id="683" r:id="rId49"/>
    <p:sldId id="681" r:id="rId50"/>
    <p:sldId id="685" r:id="rId51"/>
    <p:sldId id="686" r:id="rId52"/>
    <p:sldId id="687" r:id="rId53"/>
    <p:sldId id="688" r:id="rId54"/>
    <p:sldId id="692" r:id="rId55"/>
    <p:sldId id="693" r:id="rId56"/>
    <p:sldId id="695" r:id="rId57"/>
    <p:sldId id="639" r:id="rId58"/>
    <p:sldId id="621" r:id="rId59"/>
    <p:sldId id="660" r:id="rId60"/>
    <p:sldId id="661" r:id="rId61"/>
    <p:sldId id="662" r:id="rId62"/>
    <p:sldId id="663" r:id="rId63"/>
    <p:sldId id="622" r:id="rId64"/>
    <p:sldId id="623" r:id="rId65"/>
    <p:sldId id="625" r:id="rId66"/>
    <p:sldId id="665" r:id="rId67"/>
    <p:sldId id="659" r:id="rId68"/>
    <p:sldId id="696" r:id="rId69"/>
    <p:sldId id="697" r:id="rId70"/>
    <p:sldId id="698" r:id="rId71"/>
    <p:sldId id="699" r:id="rId72"/>
    <p:sldId id="700" r:id="rId73"/>
    <p:sldId id="701" r:id="rId74"/>
    <p:sldId id="702" r:id="rId75"/>
  </p:sldIdLst>
  <p:sldSz cx="9144000" cy="6858000" type="screen4x3"/>
  <p:notesSz cx="10234613" cy="70993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16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236">
          <p15:clr>
            <a:srgbClr val="A4A3A4"/>
          </p15:clr>
        </p15:guide>
        <p15:guide id="2" pos="32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ter Marwedel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9FF99"/>
    <a:srgbClr val="99CCFF"/>
    <a:srgbClr val="FFCC99"/>
    <a:srgbClr val="339933"/>
    <a:srgbClr val="33CC33"/>
    <a:srgbClr val="FFCC66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95" autoAdjust="0"/>
    <p:restoredTop sz="87363" autoAdjust="0"/>
  </p:normalViewPr>
  <p:slideViewPr>
    <p:cSldViewPr>
      <p:cViewPr varScale="1">
        <p:scale>
          <a:sx n="67" d="100"/>
          <a:sy n="67" d="100"/>
        </p:scale>
        <p:origin x="-1037" y="-82"/>
      </p:cViewPr>
      <p:guideLst>
        <p:guide orient="horz" pos="316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1693"/>
    </p:cViewPr>
  </p:sorterViewPr>
  <p:notesViewPr>
    <p:cSldViewPr>
      <p:cViewPr>
        <p:scale>
          <a:sx n="100" d="100"/>
          <a:sy n="100" d="100"/>
        </p:scale>
        <p:origin x="-58" y="1675"/>
      </p:cViewPr>
      <p:guideLst>
        <p:guide orient="horz" pos="2236"/>
        <p:guide pos="32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commentAuthors" Target="commentAuthors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FF3A61-0C49-46EE-92BD-1ED55A0717A5}" type="doc">
      <dgm:prSet loTypeId="urn:microsoft.com/office/officeart/2005/8/layout/hProcess4" loCatId="process" qsTypeId="urn:microsoft.com/office/officeart/2005/8/quickstyle/simple2" qsCatId="simple" csTypeId="urn:microsoft.com/office/officeart/2005/8/colors/accent2_3" csCatId="accent2" phldr="1"/>
      <dgm:spPr/>
      <dgm:t>
        <a:bodyPr/>
        <a:lstStyle/>
        <a:p>
          <a:endParaRPr lang="zh-TW" altLang="en-US"/>
        </a:p>
      </dgm:t>
    </dgm:pt>
    <dgm:pt modelId="{6ED55E6F-20AA-4F86-A928-7F0C87841173}">
      <dgm:prSet phldrT="[文字]" custT="1"/>
      <dgm:spPr>
        <a:ln>
          <a:solidFill>
            <a:srgbClr val="C00000"/>
          </a:solidFill>
        </a:ln>
      </dgm:spPr>
      <dgm:t>
        <a:bodyPr anchor="ctr"/>
        <a:lstStyle/>
        <a:p>
          <a:r>
            <a:rPr lang="en-US" altLang="zh-TW" sz="1800" dirty="0" smtClean="0"/>
            <a:t>Use trace generator to generate trace</a:t>
          </a:r>
          <a:endParaRPr lang="zh-TW" altLang="en-US" sz="2000" b="0" dirty="0"/>
        </a:p>
      </dgm:t>
    </dgm:pt>
    <dgm:pt modelId="{9E46768B-4505-43E2-817F-761FCB5A5D4A}" type="parTrans" cxnId="{BBE5B908-05DF-45FE-9AA7-7D3ABA0D8C82}">
      <dgm:prSet/>
      <dgm:spPr/>
      <dgm:t>
        <a:bodyPr/>
        <a:lstStyle/>
        <a:p>
          <a:endParaRPr lang="zh-TW" altLang="en-US"/>
        </a:p>
      </dgm:t>
    </dgm:pt>
    <dgm:pt modelId="{5D1B652F-72FA-4A93-BDDE-D39CEAA75155}" type="sibTrans" cxnId="{BBE5B908-05DF-45FE-9AA7-7D3ABA0D8C82}">
      <dgm:prSet/>
      <dgm:spPr/>
      <dgm:t>
        <a:bodyPr/>
        <a:lstStyle/>
        <a:p>
          <a:endParaRPr lang="zh-TW" altLang="en-US"/>
        </a:p>
      </dgm:t>
    </dgm:pt>
    <dgm:pt modelId="{7564A20F-448C-449C-A192-213F970B8F08}">
      <dgm:prSet phldrT="[文字]" custT="1"/>
      <dgm:spPr>
        <a:ln>
          <a:solidFill>
            <a:srgbClr val="C00000"/>
          </a:solidFill>
        </a:ln>
      </dgm:spPr>
      <dgm:t>
        <a:bodyPr lIns="0" tIns="0" rIns="0" bIns="0" anchor="t"/>
        <a:lstStyle/>
        <a:p>
          <a:r>
            <a:rPr lang="en-US" altLang="zh-TW" sz="1800" dirty="0" smtClean="0"/>
            <a:t>Extract trace pattern</a:t>
          </a:r>
          <a:endParaRPr lang="zh-TW" altLang="en-US" sz="1800" dirty="0"/>
        </a:p>
      </dgm:t>
    </dgm:pt>
    <dgm:pt modelId="{B98D3716-3198-4024-BDB5-76D34836C16D}" type="parTrans" cxnId="{0AE3A4C3-C986-4B24-AF8F-E14C112E063B}">
      <dgm:prSet/>
      <dgm:spPr/>
      <dgm:t>
        <a:bodyPr/>
        <a:lstStyle/>
        <a:p>
          <a:endParaRPr lang="zh-TW" altLang="en-US"/>
        </a:p>
      </dgm:t>
    </dgm:pt>
    <dgm:pt modelId="{827B106C-E597-4188-9BA3-E60899C46B72}" type="sibTrans" cxnId="{0AE3A4C3-C986-4B24-AF8F-E14C112E063B}">
      <dgm:prSet/>
      <dgm:spPr/>
      <dgm:t>
        <a:bodyPr/>
        <a:lstStyle/>
        <a:p>
          <a:endParaRPr lang="zh-TW" altLang="en-US"/>
        </a:p>
      </dgm:t>
    </dgm:pt>
    <dgm:pt modelId="{72F422FA-BA59-4533-8025-F842D27ADB9A}">
      <dgm:prSet phldrT="[文字]" custT="1"/>
      <dgm:spPr>
        <a:ln>
          <a:solidFill>
            <a:srgbClr val="C00000"/>
          </a:solidFill>
        </a:ln>
      </dgm:spPr>
      <dgm:t>
        <a:bodyPr lIns="0" tIns="0" rIns="0" bIns="0" anchor="ctr"/>
        <a:lstStyle/>
        <a:p>
          <a:r>
            <a:rPr lang="en-US" altLang="zh-TW" sz="1800" dirty="0" smtClean="0"/>
            <a:t>Derive FSM</a:t>
          </a:r>
          <a:endParaRPr lang="zh-TW" altLang="en-US" sz="1800" dirty="0"/>
        </a:p>
      </dgm:t>
    </dgm:pt>
    <dgm:pt modelId="{338957A5-5F32-4653-ADD4-79DBB0F860C7}" type="parTrans" cxnId="{2EF39646-5AE7-423A-87FA-B1D2AD7F63DB}">
      <dgm:prSet/>
      <dgm:spPr/>
      <dgm:t>
        <a:bodyPr/>
        <a:lstStyle/>
        <a:p>
          <a:endParaRPr lang="zh-TW" altLang="en-US"/>
        </a:p>
      </dgm:t>
    </dgm:pt>
    <dgm:pt modelId="{BB5ECFD2-2DD2-4C75-8180-42694BC7E6A9}" type="sibTrans" cxnId="{2EF39646-5AE7-423A-87FA-B1D2AD7F63DB}">
      <dgm:prSet/>
      <dgm:spPr/>
      <dgm:t>
        <a:bodyPr/>
        <a:lstStyle/>
        <a:p>
          <a:endParaRPr lang="zh-TW" altLang="en-US"/>
        </a:p>
      </dgm:t>
    </dgm:pt>
    <dgm:pt modelId="{E3988020-EB30-44A9-8A00-6F3F403ED33B}">
      <dgm:prSet phldrT="[文字]" custT="1"/>
      <dgm:spPr>
        <a:ln>
          <a:solidFill>
            <a:srgbClr val="C00000"/>
          </a:solidFill>
        </a:ln>
      </dgm:spPr>
      <dgm:t>
        <a:bodyPr lIns="0" tIns="0" rIns="0" bIns="0" anchor="ctr" anchorCtr="1"/>
        <a:lstStyle/>
        <a:p>
          <a:r>
            <a:rPr lang="en-US" altLang="zh-TW" sz="1600" dirty="0" smtClean="0"/>
            <a:t>Weighted random</a:t>
          </a:r>
          <a:endParaRPr lang="zh-TW" altLang="en-US" sz="1600" dirty="0"/>
        </a:p>
      </dgm:t>
    </dgm:pt>
    <dgm:pt modelId="{ED9A4F7F-1299-477C-A2C3-9857AA3ADB2F}" type="parTrans" cxnId="{D1D6785A-2F01-4EA4-961A-F071256DF2A9}">
      <dgm:prSet/>
      <dgm:spPr/>
      <dgm:t>
        <a:bodyPr/>
        <a:lstStyle/>
        <a:p>
          <a:endParaRPr lang="zh-TW" altLang="en-US"/>
        </a:p>
      </dgm:t>
    </dgm:pt>
    <dgm:pt modelId="{B0DCD201-A1C2-4C07-A8F4-783F48F2E19F}" type="sibTrans" cxnId="{D1D6785A-2F01-4EA4-961A-F071256DF2A9}">
      <dgm:prSet/>
      <dgm:spPr/>
      <dgm:t>
        <a:bodyPr/>
        <a:lstStyle/>
        <a:p>
          <a:endParaRPr lang="zh-TW" altLang="en-US"/>
        </a:p>
      </dgm:t>
    </dgm:pt>
    <dgm:pt modelId="{E0CE7D4E-E6B7-469F-BF5C-941DE4B44248}">
      <dgm:prSet phldrT="[文字]" custT="1"/>
      <dgm:spPr>
        <a:ln>
          <a:solidFill>
            <a:srgbClr val="C00000"/>
          </a:solidFill>
        </a:ln>
      </dgm:spPr>
      <dgm:t>
        <a:bodyPr lIns="0" tIns="0" rIns="0" bIns="0" anchor="ctr" anchorCtr="1"/>
        <a:lstStyle/>
        <a:p>
          <a:r>
            <a:rPr lang="en-US" altLang="zh-TW" sz="1600" dirty="0" smtClean="0"/>
            <a:t>Pattern table</a:t>
          </a:r>
          <a:endParaRPr lang="zh-TW" altLang="en-US" sz="1600" dirty="0"/>
        </a:p>
      </dgm:t>
    </dgm:pt>
    <dgm:pt modelId="{E8683932-5FD2-40E1-A516-B76B54EEADED}" type="parTrans" cxnId="{60B6AE8B-8BF3-44A9-927B-CFE22FF876C7}">
      <dgm:prSet/>
      <dgm:spPr/>
      <dgm:t>
        <a:bodyPr/>
        <a:lstStyle/>
        <a:p>
          <a:endParaRPr lang="zh-TW" altLang="en-US"/>
        </a:p>
      </dgm:t>
    </dgm:pt>
    <dgm:pt modelId="{C80424E0-49AF-496E-A58E-0AAE8A37F5D3}" type="sibTrans" cxnId="{60B6AE8B-8BF3-44A9-927B-CFE22FF876C7}">
      <dgm:prSet/>
      <dgm:spPr/>
      <dgm:t>
        <a:bodyPr/>
        <a:lstStyle/>
        <a:p>
          <a:endParaRPr lang="zh-TW" altLang="en-US"/>
        </a:p>
      </dgm:t>
    </dgm:pt>
    <dgm:pt modelId="{2E2AFF7A-2A29-4EA6-A52E-49D5803C6736}">
      <dgm:prSet phldrT="[文字]" custT="1"/>
      <dgm:spPr>
        <a:ln>
          <a:solidFill>
            <a:srgbClr val="C00000"/>
          </a:solidFill>
        </a:ln>
      </dgm:spPr>
      <dgm:t>
        <a:bodyPr lIns="0" tIns="0" rIns="0" bIns="0" anchor="ctr"/>
        <a:lstStyle/>
        <a:p>
          <a:r>
            <a:rPr lang="en-US" altLang="zh-TW" sz="1800" dirty="0" smtClean="0"/>
            <a:t>Track state transitions from merged patterns</a:t>
          </a:r>
          <a:endParaRPr lang="zh-TW" altLang="en-US" sz="1800" dirty="0"/>
        </a:p>
      </dgm:t>
    </dgm:pt>
    <dgm:pt modelId="{6AFC02C7-195D-45CD-9E97-E108588AEA6A}" type="parTrans" cxnId="{6733AE51-0E64-4AB9-ADC7-2B34ACD364E5}">
      <dgm:prSet/>
      <dgm:spPr/>
      <dgm:t>
        <a:bodyPr/>
        <a:lstStyle/>
        <a:p>
          <a:endParaRPr lang="zh-TW" altLang="en-US"/>
        </a:p>
      </dgm:t>
    </dgm:pt>
    <dgm:pt modelId="{768E161C-63E5-4675-A923-E05244EC4CEF}" type="sibTrans" cxnId="{6733AE51-0E64-4AB9-ADC7-2B34ACD364E5}">
      <dgm:prSet/>
      <dgm:spPr/>
      <dgm:t>
        <a:bodyPr/>
        <a:lstStyle/>
        <a:p>
          <a:endParaRPr lang="zh-TW" altLang="en-US"/>
        </a:p>
      </dgm:t>
    </dgm:pt>
    <dgm:pt modelId="{377DC721-8057-4E8D-BB13-2B99102905A6}">
      <dgm:prSet phldrT="[文字]" custT="1"/>
      <dgm:spPr>
        <a:ln>
          <a:solidFill>
            <a:srgbClr val="C00000"/>
          </a:solidFill>
        </a:ln>
      </dgm:spPr>
      <dgm:t>
        <a:bodyPr lIns="0" tIns="0" rIns="0" bIns="0" anchor="t"/>
        <a:lstStyle/>
        <a:p>
          <a:endParaRPr lang="zh-TW" altLang="en-US" sz="1800" dirty="0"/>
        </a:p>
      </dgm:t>
    </dgm:pt>
    <dgm:pt modelId="{7261706B-3790-437E-8A1E-FCBB5F472084}" type="parTrans" cxnId="{A7225AAF-7BA5-4D64-9F66-5A4CC999BCCD}">
      <dgm:prSet/>
      <dgm:spPr/>
      <dgm:t>
        <a:bodyPr/>
        <a:lstStyle/>
        <a:p>
          <a:endParaRPr lang="zh-TW" altLang="en-US"/>
        </a:p>
      </dgm:t>
    </dgm:pt>
    <dgm:pt modelId="{8CF30E0D-A235-41C6-BA55-72ED277CBDA8}" type="sibTrans" cxnId="{A7225AAF-7BA5-4D64-9F66-5A4CC999BCCD}">
      <dgm:prSet/>
      <dgm:spPr/>
      <dgm:t>
        <a:bodyPr/>
        <a:lstStyle/>
        <a:p>
          <a:endParaRPr lang="zh-TW" altLang="en-US"/>
        </a:p>
      </dgm:t>
    </dgm:pt>
    <dgm:pt modelId="{828896FF-8F60-44FB-BDE4-9B6F9305CECB}">
      <dgm:prSet phldrT="[文字]"/>
      <dgm:spPr>
        <a:solidFill>
          <a:srgbClr val="C00000"/>
        </a:solidFill>
      </dgm:spPr>
      <dgm:t>
        <a:bodyPr/>
        <a:lstStyle/>
        <a:p>
          <a:r>
            <a:rPr lang="en-US" altLang="zh-TW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Re-generated Trace</a:t>
          </a:r>
          <a:endParaRPr lang="zh-TW" alt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46FAC55-CA11-4721-9D4A-FBB35FF1B665}" type="sibTrans" cxnId="{EC9507F6-9A66-4AD2-9D8E-75C351B07BB9}">
      <dgm:prSet/>
      <dgm:spPr/>
      <dgm:t>
        <a:bodyPr/>
        <a:lstStyle/>
        <a:p>
          <a:endParaRPr lang="zh-TW" altLang="en-US"/>
        </a:p>
      </dgm:t>
    </dgm:pt>
    <dgm:pt modelId="{72B24D94-73F6-4652-9D51-773B2AF47A51}" type="parTrans" cxnId="{EC9507F6-9A66-4AD2-9D8E-75C351B07BB9}">
      <dgm:prSet/>
      <dgm:spPr/>
      <dgm:t>
        <a:bodyPr/>
        <a:lstStyle/>
        <a:p>
          <a:endParaRPr lang="zh-TW" altLang="en-US"/>
        </a:p>
      </dgm:t>
    </dgm:pt>
    <dgm:pt modelId="{F520BA46-D809-42FF-87B6-66929FC31F96}">
      <dgm:prSet phldrT="[文字]"/>
      <dgm:spPr>
        <a:solidFill>
          <a:srgbClr val="C00000"/>
        </a:solidFill>
      </dgm:spPr>
      <dgm:t>
        <a:bodyPr/>
        <a:lstStyle/>
        <a:p>
          <a:r>
            <a:rPr lang="en-US" altLang="zh-TW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Program Finite State Machine</a:t>
          </a:r>
          <a:endParaRPr lang="zh-TW" alt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95CA6D6-282A-4011-BA66-5989B72B6EEC}" type="sibTrans" cxnId="{27554093-3F4B-48E8-99B0-08495B989CDD}">
      <dgm:prSet/>
      <dgm:spPr>
        <a:solidFill>
          <a:srgbClr val="C00000"/>
        </a:solidFill>
      </dgm:spPr>
      <dgm:t>
        <a:bodyPr/>
        <a:lstStyle/>
        <a:p>
          <a:endParaRPr lang="zh-TW" altLang="en-US"/>
        </a:p>
      </dgm:t>
    </dgm:pt>
    <dgm:pt modelId="{C10F9B10-B274-4DE1-85A1-4339A50110BA}" type="parTrans" cxnId="{27554093-3F4B-48E8-99B0-08495B989CDD}">
      <dgm:prSet/>
      <dgm:spPr/>
      <dgm:t>
        <a:bodyPr/>
        <a:lstStyle/>
        <a:p>
          <a:endParaRPr lang="zh-TW" altLang="en-US"/>
        </a:p>
      </dgm:t>
    </dgm:pt>
    <dgm:pt modelId="{739C7DC1-78E0-47D7-855C-0D56A98C5F36}">
      <dgm:prSet phldrT="[文字]"/>
      <dgm:spPr>
        <a:solidFill>
          <a:srgbClr val="C00000"/>
        </a:solidFill>
      </dgm:spPr>
      <dgm:t>
        <a:bodyPr/>
        <a:lstStyle/>
        <a:p>
          <a:r>
            <a:rPr lang="en-US" altLang="zh-TW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Compressed Trace</a:t>
          </a:r>
          <a:endParaRPr lang="zh-TW" alt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E76FC36-440D-4043-AF43-AED594678364}" type="sibTrans" cxnId="{D595E8A1-BCED-40E3-9692-8033B50B9852}">
      <dgm:prSet/>
      <dgm:spPr>
        <a:solidFill>
          <a:srgbClr val="C00000"/>
        </a:solidFill>
        <a:ln>
          <a:solidFill>
            <a:srgbClr val="C00000"/>
          </a:solidFill>
        </a:ln>
      </dgm:spPr>
      <dgm:t>
        <a:bodyPr/>
        <a:lstStyle/>
        <a:p>
          <a:endParaRPr lang="zh-TW" altLang="en-US"/>
        </a:p>
      </dgm:t>
    </dgm:pt>
    <dgm:pt modelId="{D2D4BDFA-B501-4FE0-A325-EE58662E93FC}" type="parTrans" cxnId="{D595E8A1-BCED-40E3-9692-8033B50B9852}">
      <dgm:prSet/>
      <dgm:spPr/>
      <dgm:t>
        <a:bodyPr/>
        <a:lstStyle/>
        <a:p>
          <a:endParaRPr lang="zh-TW" altLang="en-US"/>
        </a:p>
      </dgm:t>
    </dgm:pt>
    <dgm:pt modelId="{E5A57DF6-0214-4DD1-BFD5-95C95E2E3B32}">
      <dgm:prSet phldrT="[文字]"/>
      <dgm:spPr>
        <a:solidFill>
          <a:srgbClr val="C00000"/>
        </a:solidFill>
      </dgm:spPr>
      <dgm:t>
        <a:bodyPr/>
        <a:lstStyle/>
        <a:p>
          <a:r>
            <a:rPr lang="en-US" altLang="zh-TW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Program Execution Trace</a:t>
          </a:r>
          <a:endParaRPr lang="zh-TW" alt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92256E3-A5C4-4CDF-B7B5-6AC993C00C76}" type="sibTrans" cxnId="{34049CF9-1FEB-4D1C-94A3-3F83BFDF6D0E}">
      <dgm:prSet/>
      <dgm:spPr>
        <a:solidFill>
          <a:srgbClr val="C00000"/>
        </a:solidFill>
      </dgm:spPr>
      <dgm:t>
        <a:bodyPr/>
        <a:lstStyle/>
        <a:p>
          <a:endParaRPr lang="zh-TW" altLang="en-US"/>
        </a:p>
      </dgm:t>
    </dgm:pt>
    <dgm:pt modelId="{F621A751-A3F4-4C4D-A440-C8C8CC87A511}" type="parTrans" cxnId="{34049CF9-1FEB-4D1C-94A3-3F83BFDF6D0E}">
      <dgm:prSet/>
      <dgm:spPr/>
      <dgm:t>
        <a:bodyPr/>
        <a:lstStyle/>
        <a:p>
          <a:endParaRPr lang="zh-TW" altLang="en-US"/>
        </a:p>
      </dgm:t>
    </dgm:pt>
    <dgm:pt modelId="{2FFADEC6-BF04-4322-A7CE-6CFD5A27B6AF}">
      <dgm:prSet phldrT="[文字]" custT="1"/>
      <dgm:spPr>
        <a:ln>
          <a:solidFill>
            <a:srgbClr val="C00000"/>
          </a:solidFill>
        </a:ln>
      </dgm:spPr>
      <dgm:t>
        <a:bodyPr lIns="0" tIns="0" rIns="0" bIns="0" anchor="ctr" anchorCtr="1"/>
        <a:lstStyle/>
        <a:p>
          <a:r>
            <a:rPr lang="en-US" altLang="zh-TW" sz="1800" dirty="0" smtClean="0"/>
            <a:t>Trace generator</a:t>
          </a:r>
          <a:endParaRPr lang="zh-TW" altLang="en-US" sz="1800" dirty="0"/>
        </a:p>
      </dgm:t>
    </dgm:pt>
    <dgm:pt modelId="{614E576E-8459-4182-B583-BA77E7A0D979}" type="parTrans" cxnId="{85766936-3FE8-4F7B-A7C4-68DEC0856542}">
      <dgm:prSet/>
      <dgm:spPr/>
      <dgm:t>
        <a:bodyPr/>
        <a:lstStyle/>
        <a:p>
          <a:endParaRPr lang="zh-TW" altLang="en-US"/>
        </a:p>
      </dgm:t>
    </dgm:pt>
    <dgm:pt modelId="{43A96B45-2FB2-403B-99B4-A6091DD958BD}" type="sibTrans" cxnId="{85766936-3FE8-4F7B-A7C4-68DEC0856542}">
      <dgm:prSet/>
      <dgm:spPr/>
      <dgm:t>
        <a:bodyPr/>
        <a:lstStyle/>
        <a:p>
          <a:endParaRPr lang="zh-TW" altLang="en-US"/>
        </a:p>
      </dgm:t>
    </dgm:pt>
    <dgm:pt modelId="{9CC92102-D13F-4303-A379-921D46DB25F8}">
      <dgm:prSet phldrT="[文字]" custT="1"/>
      <dgm:spPr>
        <a:ln>
          <a:solidFill>
            <a:srgbClr val="C00000"/>
          </a:solidFill>
        </a:ln>
      </dgm:spPr>
      <dgm:t>
        <a:bodyPr lIns="0" tIns="0" rIns="0" bIns="0" anchor="t"/>
        <a:lstStyle/>
        <a:p>
          <a:r>
            <a:rPr lang="en-US" altLang="zh-TW" sz="1800" dirty="0" smtClean="0"/>
            <a:t>Merge patterns</a:t>
          </a:r>
          <a:endParaRPr lang="zh-TW" altLang="en-US" sz="1800" dirty="0"/>
        </a:p>
      </dgm:t>
    </dgm:pt>
    <dgm:pt modelId="{B35049C0-D4CF-4BD5-9B96-B1550A8F97D0}" type="parTrans" cxnId="{68C5B768-76B0-426D-B4E7-E2E6C45501AD}">
      <dgm:prSet/>
      <dgm:spPr/>
      <dgm:t>
        <a:bodyPr/>
        <a:lstStyle/>
        <a:p>
          <a:endParaRPr lang="zh-TW" altLang="en-US"/>
        </a:p>
      </dgm:t>
    </dgm:pt>
    <dgm:pt modelId="{2BECBF8F-0FFA-4A31-B5A2-57C7EEFB2D04}" type="sibTrans" cxnId="{68C5B768-76B0-426D-B4E7-E2E6C45501AD}">
      <dgm:prSet/>
      <dgm:spPr/>
      <dgm:t>
        <a:bodyPr/>
        <a:lstStyle/>
        <a:p>
          <a:endParaRPr lang="zh-TW" altLang="en-US"/>
        </a:p>
      </dgm:t>
    </dgm:pt>
    <dgm:pt modelId="{721FC15E-87C1-44A3-94F5-7D7139770921}">
      <dgm:prSet phldrT="[文字]" custT="1"/>
      <dgm:spPr>
        <a:ln>
          <a:solidFill>
            <a:srgbClr val="C00000"/>
          </a:solidFill>
        </a:ln>
      </dgm:spPr>
      <dgm:t>
        <a:bodyPr lIns="0" tIns="0" rIns="0" bIns="0" anchor="t"/>
        <a:lstStyle/>
        <a:p>
          <a:endParaRPr lang="zh-TW" altLang="en-US" sz="1800" dirty="0"/>
        </a:p>
      </dgm:t>
    </dgm:pt>
    <dgm:pt modelId="{1B089A48-96FA-421F-8C6C-98C274F15DFF}" type="parTrans" cxnId="{A9880554-FD06-4596-A0E2-C1EEB256E0DE}">
      <dgm:prSet/>
      <dgm:spPr/>
      <dgm:t>
        <a:bodyPr/>
        <a:lstStyle/>
        <a:p>
          <a:endParaRPr lang="zh-TW" altLang="en-US"/>
        </a:p>
      </dgm:t>
    </dgm:pt>
    <dgm:pt modelId="{E5C3CAE9-0EDC-464F-8961-5B170EC59FF4}" type="sibTrans" cxnId="{A9880554-FD06-4596-A0E2-C1EEB256E0DE}">
      <dgm:prSet/>
      <dgm:spPr/>
      <dgm:t>
        <a:bodyPr/>
        <a:lstStyle/>
        <a:p>
          <a:endParaRPr lang="zh-TW" altLang="en-US"/>
        </a:p>
      </dgm:t>
    </dgm:pt>
    <dgm:pt modelId="{9A1A16F6-06A3-4643-A678-F6E5FBCF06C4}" type="pres">
      <dgm:prSet presAssocID="{1AFF3A61-0C49-46EE-92BD-1ED55A0717A5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0C46EC82-EB0D-4065-8360-E2541BA08F5C}" type="pres">
      <dgm:prSet presAssocID="{1AFF3A61-0C49-46EE-92BD-1ED55A0717A5}" presName="tSp" presStyleCnt="0"/>
      <dgm:spPr/>
      <dgm:t>
        <a:bodyPr/>
        <a:lstStyle/>
        <a:p>
          <a:endParaRPr lang="zh-TW" altLang="en-US"/>
        </a:p>
      </dgm:t>
    </dgm:pt>
    <dgm:pt modelId="{9E3FA6B7-966E-4E25-9D31-C333D8CF82DD}" type="pres">
      <dgm:prSet presAssocID="{1AFF3A61-0C49-46EE-92BD-1ED55A0717A5}" presName="bSp" presStyleCnt="0"/>
      <dgm:spPr/>
      <dgm:t>
        <a:bodyPr/>
        <a:lstStyle/>
        <a:p>
          <a:endParaRPr lang="zh-TW" altLang="en-US"/>
        </a:p>
      </dgm:t>
    </dgm:pt>
    <dgm:pt modelId="{15EB289D-6F26-44AE-990D-7BC23073E171}" type="pres">
      <dgm:prSet presAssocID="{1AFF3A61-0C49-46EE-92BD-1ED55A0717A5}" presName="process" presStyleCnt="0"/>
      <dgm:spPr/>
      <dgm:t>
        <a:bodyPr/>
        <a:lstStyle/>
        <a:p>
          <a:endParaRPr lang="zh-TW" altLang="en-US"/>
        </a:p>
      </dgm:t>
    </dgm:pt>
    <dgm:pt modelId="{7A571E7D-CE5C-40E4-92B8-CDA00867E50D}" type="pres">
      <dgm:prSet presAssocID="{E5A57DF6-0214-4DD1-BFD5-95C95E2E3B32}" presName="composite1" presStyleCnt="0"/>
      <dgm:spPr/>
      <dgm:t>
        <a:bodyPr/>
        <a:lstStyle/>
        <a:p>
          <a:endParaRPr lang="zh-TW" altLang="en-US"/>
        </a:p>
      </dgm:t>
    </dgm:pt>
    <dgm:pt modelId="{0A7D2C38-717A-4B15-A029-D0E22245840D}" type="pres">
      <dgm:prSet presAssocID="{E5A57DF6-0214-4DD1-BFD5-95C95E2E3B32}" presName="dummyNode1" presStyleLbl="node1" presStyleIdx="0" presStyleCnt="4"/>
      <dgm:spPr/>
      <dgm:t>
        <a:bodyPr/>
        <a:lstStyle/>
        <a:p>
          <a:endParaRPr lang="zh-TW" altLang="en-US"/>
        </a:p>
      </dgm:t>
    </dgm:pt>
    <dgm:pt modelId="{CD0124E7-0939-4E9D-A39D-F44501742278}" type="pres">
      <dgm:prSet presAssocID="{E5A57DF6-0214-4DD1-BFD5-95C95E2E3B32}" presName="childNode1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BE95768A-3158-4993-8822-9891F0F5EA9C}" type="pres">
      <dgm:prSet presAssocID="{E5A57DF6-0214-4DD1-BFD5-95C95E2E3B32}" presName="childNode1tx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BE47F129-8062-4628-A6AC-5ECE26FB23EB}" type="pres">
      <dgm:prSet presAssocID="{E5A57DF6-0214-4DD1-BFD5-95C95E2E3B32}" presName="parentNode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5DBEB9E4-E6BB-476E-BB2D-F2C4662B0749}" type="pres">
      <dgm:prSet presAssocID="{E5A57DF6-0214-4DD1-BFD5-95C95E2E3B32}" presName="connSite1" presStyleCnt="0"/>
      <dgm:spPr/>
      <dgm:t>
        <a:bodyPr/>
        <a:lstStyle/>
        <a:p>
          <a:endParaRPr lang="zh-TW" altLang="en-US"/>
        </a:p>
      </dgm:t>
    </dgm:pt>
    <dgm:pt modelId="{1BAF7624-1F86-44C8-9F0B-255A798021CB}" type="pres">
      <dgm:prSet presAssocID="{792256E3-A5C4-4CDF-B7B5-6AC993C00C76}" presName="Name9" presStyleLbl="sibTrans2D1" presStyleIdx="0" presStyleCnt="3"/>
      <dgm:spPr/>
      <dgm:t>
        <a:bodyPr/>
        <a:lstStyle/>
        <a:p>
          <a:endParaRPr lang="zh-TW" altLang="en-US"/>
        </a:p>
      </dgm:t>
    </dgm:pt>
    <dgm:pt modelId="{0053646D-0EC2-40BE-8BF4-24BD9F1C7817}" type="pres">
      <dgm:prSet presAssocID="{739C7DC1-78E0-47D7-855C-0D56A98C5F36}" presName="composite2" presStyleCnt="0"/>
      <dgm:spPr/>
      <dgm:t>
        <a:bodyPr/>
        <a:lstStyle/>
        <a:p>
          <a:endParaRPr lang="zh-TW" altLang="en-US"/>
        </a:p>
      </dgm:t>
    </dgm:pt>
    <dgm:pt modelId="{9DECC54E-D9EC-4AA4-8CCE-6435C2D4E2E5}" type="pres">
      <dgm:prSet presAssocID="{739C7DC1-78E0-47D7-855C-0D56A98C5F36}" presName="dummyNode2" presStyleLbl="node1" presStyleIdx="0" presStyleCnt="4"/>
      <dgm:spPr/>
      <dgm:t>
        <a:bodyPr/>
        <a:lstStyle/>
        <a:p>
          <a:endParaRPr lang="zh-TW" altLang="en-US"/>
        </a:p>
      </dgm:t>
    </dgm:pt>
    <dgm:pt modelId="{E06227FC-8C0C-42E7-AB01-7E8C465F2B70}" type="pres">
      <dgm:prSet presAssocID="{739C7DC1-78E0-47D7-855C-0D56A98C5F36}" presName="childNode2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BDA95978-8DDD-4F4A-99F5-EDE6EF5B731F}" type="pres">
      <dgm:prSet presAssocID="{739C7DC1-78E0-47D7-855C-0D56A98C5F36}" presName="childNode2tx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91807B58-53D6-4D07-8DF3-288856DEEF42}" type="pres">
      <dgm:prSet presAssocID="{739C7DC1-78E0-47D7-855C-0D56A98C5F36}" presName="parentNode2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EB70595E-B895-4C2C-ABF1-E796F27CE0CF}" type="pres">
      <dgm:prSet presAssocID="{739C7DC1-78E0-47D7-855C-0D56A98C5F36}" presName="connSite2" presStyleCnt="0"/>
      <dgm:spPr/>
      <dgm:t>
        <a:bodyPr/>
        <a:lstStyle/>
        <a:p>
          <a:endParaRPr lang="zh-TW" altLang="en-US"/>
        </a:p>
      </dgm:t>
    </dgm:pt>
    <dgm:pt modelId="{F436572B-E628-4178-8CB1-FAAEF276C002}" type="pres">
      <dgm:prSet presAssocID="{FE76FC36-440D-4043-AF43-AED594678364}" presName="Name18" presStyleLbl="sibTrans2D1" presStyleIdx="1" presStyleCnt="3"/>
      <dgm:spPr/>
      <dgm:t>
        <a:bodyPr/>
        <a:lstStyle/>
        <a:p>
          <a:endParaRPr lang="zh-TW" altLang="en-US"/>
        </a:p>
      </dgm:t>
    </dgm:pt>
    <dgm:pt modelId="{87280F5C-22E2-4DE5-AFBE-1D226BEB4EAC}" type="pres">
      <dgm:prSet presAssocID="{F520BA46-D809-42FF-87B6-66929FC31F96}" presName="composite1" presStyleCnt="0"/>
      <dgm:spPr/>
      <dgm:t>
        <a:bodyPr/>
        <a:lstStyle/>
        <a:p>
          <a:endParaRPr lang="zh-TW" altLang="en-US"/>
        </a:p>
      </dgm:t>
    </dgm:pt>
    <dgm:pt modelId="{EF6086DD-306E-4CD9-ABE4-E8A2188ED5F1}" type="pres">
      <dgm:prSet presAssocID="{F520BA46-D809-42FF-87B6-66929FC31F96}" presName="dummyNode1" presStyleLbl="node1" presStyleIdx="1" presStyleCnt="4"/>
      <dgm:spPr/>
      <dgm:t>
        <a:bodyPr/>
        <a:lstStyle/>
        <a:p>
          <a:endParaRPr lang="zh-TW" altLang="en-US"/>
        </a:p>
      </dgm:t>
    </dgm:pt>
    <dgm:pt modelId="{BF4CE162-D52B-4C8F-BBD8-1FD4E6206CD5}" type="pres">
      <dgm:prSet presAssocID="{F520BA46-D809-42FF-87B6-66929FC31F96}" presName="childNode1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0874E6E7-4D06-4671-AB66-935E1B0F2B7A}" type="pres">
      <dgm:prSet presAssocID="{F520BA46-D809-42FF-87B6-66929FC31F96}" presName="childNode1tx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499AD7D0-9171-4CE3-A71A-0542F4CAF868}" type="pres">
      <dgm:prSet presAssocID="{F520BA46-D809-42FF-87B6-66929FC31F96}" presName="parentNode1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16D7F79D-608F-40CE-B466-0236DAFC335D}" type="pres">
      <dgm:prSet presAssocID="{F520BA46-D809-42FF-87B6-66929FC31F96}" presName="connSite1" presStyleCnt="0"/>
      <dgm:spPr/>
      <dgm:t>
        <a:bodyPr/>
        <a:lstStyle/>
        <a:p>
          <a:endParaRPr lang="zh-TW" altLang="en-US"/>
        </a:p>
      </dgm:t>
    </dgm:pt>
    <dgm:pt modelId="{F97BBA13-759F-4B52-A6F5-D622DD4CAE74}" type="pres">
      <dgm:prSet presAssocID="{495CA6D6-282A-4011-BA66-5989B72B6EEC}" presName="Name9" presStyleLbl="sibTrans2D1" presStyleIdx="2" presStyleCnt="3"/>
      <dgm:spPr/>
      <dgm:t>
        <a:bodyPr/>
        <a:lstStyle/>
        <a:p>
          <a:endParaRPr lang="zh-TW" altLang="en-US"/>
        </a:p>
      </dgm:t>
    </dgm:pt>
    <dgm:pt modelId="{ED2EBD10-3A0B-4F10-98A2-4A4859A89B8F}" type="pres">
      <dgm:prSet presAssocID="{828896FF-8F60-44FB-BDE4-9B6F9305CECB}" presName="composite2" presStyleCnt="0"/>
      <dgm:spPr/>
      <dgm:t>
        <a:bodyPr/>
        <a:lstStyle/>
        <a:p>
          <a:endParaRPr lang="zh-TW" altLang="en-US"/>
        </a:p>
      </dgm:t>
    </dgm:pt>
    <dgm:pt modelId="{C43C259F-904B-4286-9C61-EAB6136781F9}" type="pres">
      <dgm:prSet presAssocID="{828896FF-8F60-44FB-BDE4-9B6F9305CECB}" presName="dummyNode2" presStyleLbl="node1" presStyleIdx="2" presStyleCnt="4"/>
      <dgm:spPr/>
      <dgm:t>
        <a:bodyPr/>
        <a:lstStyle/>
        <a:p>
          <a:endParaRPr lang="zh-TW" altLang="en-US"/>
        </a:p>
      </dgm:t>
    </dgm:pt>
    <dgm:pt modelId="{7C6ACF63-AAA5-4A73-A76C-C01EFD15FAF6}" type="pres">
      <dgm:prSet presAssocID="{828896FF-8F60-44FB-BDE4-9B6F9305CECB}" presName="childNode2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778C732C-A84C-4569-849F-3508953A23B1}" type="pres">
      <dgm:prSet presAssocID="{828896FF-8F60-44FB-BDE4-9B6F9305CECB}" presName="childNode2tx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511BBA5A-496D-4595-AF09-56A9B780EB99}" type="pres">
      <dgm:prSet presAssocID="{828896FF-8F60-44FB-BDE4-9B6F9305CECB}" presName="parentNode2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B29D70B7-27D3-4B3D-8409-219FE6F99105}" type="pres">
      <dgm:prSet presAssocID="{828896FF-8F60-44FB-BDE4-9B6F9305CECB}" presName="connSite2" presStyleCnt="0"/>
      <dgm:spPr/>
      <dgm:t>
        <a:bodyPr/>
        <a:lstStyle/>
        <a:p>
          <a:endParaRPr lang="zh-TW" altLang="en-US"/>
        </a:p>
      </dgm:t>
    </dgm:pt>
  </dgm:ptLst>
  <dgm:cxnLst>
    <dgm:cxn modelId="{9A32DCD9-48F6-49B8-AF1C-41A65CF17C4E}" type="presOf" srcId="{FE76FC36-440D-4043-AF43-AED594678364}" destId="{F436572B-E628-4178-8CB1-FAAEF276C002}" srcOrd="0" destOrd="0" presId="urn:microsoft.com/office/officeart/2005/8/layout/hProcess4"/>
    <dgm:cxn modelId="{38FB5F4C-21E6-4C8F-AAFF-5E99E8C308A1}" type="presOf" srcId="{9CC92102-D13F-4303-A379-921D46DB25F8}" destId="{BDA95978-8DDD-4F4A-99F5-EDE6EF5B731F}" srcOrd="1" destOrd="1" presId="urn:microsoft.com/office/officeart/2005/8/layout/hProcess4"/>
    <dgm:cxn modelId="{BC72BBCD-B694-48DF-B4A6-DEE1906A30AD}" type="presOf" srcId="{F520BA46-D809-42FF-87B6-66929FC31F96}" destId="{499AD7D0-9171-4CE3-A71A-0542F4CAF868}" srcOrd="0" destOrd="0" presId="urn:microsoft.com/office/officeart/2005/8/layout/hProcess4"/>
    <dgm:cxn modelId="{9AC8FF30-D18C-4E82-80D2-D12A44FD32FB}" type="presOf" srcId="{2E2AFF7A-2A29-4EA6-A52E-49D5803C6736}" destId="{BF4CE162-D52B-4C8F-BBD8-1FD4E6206CD5}" srcOrd="0" destOrd="0" presId="urn:microsoft.com/office/officeart/2005/8/layout/hProcess4"/>
    <dgm:cxn modelId="{63F361EB-F811-4AC9-B982-C629CE829AB4}" type="presOf" srcId="{E0CE7D4E-E6B7-469F-BF5C-941DE4B44248}" destId="{7C6ACF63-AAA5-4A73-A76C-C01EFD15FAF6}" srcOrd="0" destOrd="2" presId="urn:microsoft.com/office/officeart/2005/8/layout/hProcess4"/>
    <dgm:cxn modelId="{9669291E-D952-4EC5-8DAB-054DFA09923F}" type="presOf" srcId="{7564A20F-448C-449C-A192-213F970B8F08}" destId="{E06227FC-8C0C-42E7-AB01-7E8C465F2B70}" srcOrd="0" destOrd="0" presId="urn:microsoft.com/office/officeart/2005/8/layout/hProcess4"/>
    <dgm:cxn modelId="{A7225AAF-7BA5-4D64-9F66-5A4CC999BCCD}" srcId="{739C7DC1-78E0-47D7-855C-0D56A98C5F36}" destId="{377DC721-8057-4E8D-BB13-2B99102905A6}" srcOrd="3" destOrd="0" parTransId="{7261706B-3790-437E-8A1E-FCBB5F472084}" sibTransId="{8CF30E0D-A235-41C6-BA55-72ED277CBDA8}"/>
    <dgm:cxn modelId="{36BC0B1E-713C-4270-8A17-EDE92599345C}" type="presOf" srcId="{2FFADEC6-BF04-4322-A7CE-6CFD5A27B6AF}" destId="{7C6ACF63-AAA5-4A73-A76C-C01EFD15FAF6}" srcOrd="0" destOrd="0" presId="urn:microsoft.com/office/officeart/2005/8/layout/hProcess4"/>
    <dgm:cxn modelId="{D8096021-E635-4543-A70F-E4A25CA7DD8A}" type="presOf" srcId="{72F422FA-BA59-4533-8025-F842D27ADB9A}" destId="{BF4CE162-D52B-4C8F-BBD8-1FD4E6206CD5}" srcOrd="0" destOrd="1" presId="urn:microsoft.com/office/officeart/2005/8/layout/hProcess4"/>
    <dgm:cxn modelId="{6733AE51-0E64-4AB9-ADC7-2B34ACD364E5}" srcId="{F520BA46-D809-42FF-87B6-66929FC31F96}" destId="{2E2AFF7A-2A29-4EA6-A52E-49D5803C6736}" srcOrd="0" destOrd="0" parTransId="{6AFC02C7-195D-45CD-9E97-E108588AEA6A}" sibTransId="{768E161C-63E5-4675-A923-E05244EC4CEF}"/>
    <dgm:cxn modelId="{A0E97D15-73F8-4D13-9A59-55AA61FE6F92}" type="presOf" srcId="{721FC15E-87C1-44A3-94F5-7D7139770921}" destId="{E06227FC-8C0C-42E7-AB01-7E8C465F2B70}" srcOrd="0" destOrd="2" presId="urn:microsoft.com/office/officeart/2005/8/layout/hProcess4"/>
    <dgm:cxn modelId="{4B9F8065-512F-4A95-9338-CC48FBE43765}" type="presOf" srcId="{E3988020-EB30-44A9-8A00-6F3F403ED33B}" destId="{778C732C-A84C-4569-849F-3508953A23B1}" srcOrd="1" destOrd="1" presId="urn:microsoft.com/office/officeart/2005/8/layout/hProcess4"/>
    <dgm:cxn modelId="{68C5B768-76B0-426D-B4E7-E2E6C45501AD}" srcId="{739C7DC1-78E0-47D7-855C-0D56A98C5F36}" destId="{9CC92102-D13F-4303-A379-921D46DB25F8}" srcOrd="1" destOrd="0" parTransId="{B35049C0-D4CF-4BD5-9B96-B1550A8F97D0}" sibTransId="{2BECBF8F-0FFA-4A31-B5A2-57C7EEFB2D04}"/>
    <dgm:cxn modelId="{5D9671C3-F4BA-479B-8FD5-48BB3781A134}" type="presOf" srcId="{739C7DC1-78E0-47D7-855C-0D56A98C5F36}" destId="{91807B58-53D6-4D07-8DF3-288856DEEF42}" srcOrd="0" destOrd="0" presId="urn:microsoft.com/office/officeart/2005/8/layout/hProcess4"/>
    <dgm:cxn modelId="{A9880554-FD06-4596-A0E2-C1EEB256E0DE}" srcId="{739C7DC1-78E0-47D7-855C-0D56A98C5F36}" destId="{721FC15E-87C1-44A3-94F5-7D7139770921}" srcOrd="2" destOrd="0" parTransId="{1B089A48-96FA-421F-8C6C-98C274F15DFF}" sibTransId="{E5C3CAE9-0EDC-464F-8961-5B170EC59FF4}"/>
    <dgm:cxn modelId="{51BE054F-0BC7-4833-A2CC-4351EEA8BB34}" type="presOf" srcId="{495CA6D6-282A-4011-BA66-5989B72B6EEC}" destId="{F97BBA13-759F-4B52-A6F5-D622DD4CAE74}" srcOrd="0" destOrd="0" presId="urn:microsoft.com/office/officeart/2005/8/layout/hProcess4"/>
    <dgm:cxn modelId="{A94F038A-C8AA-465C-BA15-F1C16EDA2F51}" type="presOf" srcId="{1AFF3A61-0C49-46EE-92BD-1ED55A0717A5}" destId="{9A1A16F6-06A3-4643-A678-F6E5FBCF06C4}" srcOrd="0" destOrd="0" presId="urn:microsoft.com/office/officeart/2005/8/layout/hProcess4"/>
    <dgm:cxn modelId="{1E29C915-C3EA-47B7-AF5A-81606CA50030}" type="presOf" srcId="{2E2AFF7A-2A29-4EA6-A52E-49D5803C6736}" destId="{0874E6E7-4D06-4671-AB66-935E1B0F2B7A}" srcOrd="1" destOrd="0" presId="urn:microsoft.com/office/officeart/2005/8/layout/hProcess4"/>
    <dgm:cxn modelId="{C575EE12-1C93-4C45-BB9B-F8693ACCAEFA}" type="presOf" srcId="{377DC721-8057-4E8D-BB13-2B99102905A6}" destId="{E06227FC-8C0C-42E7-AB01-7E8C465F2B70}" srcOrd="0" destOrd="3" presId="urn:microsoft.com/office/officeart/2005/8/layout/hProcess4"/>
    <dgm:cxn modelId="{EC9507F6-9A66-4AD2-9D8E-75C351B07BB9}" srcId="{1AFF3A61-0C49-46EE-92BD-1ED55A0717A5}" destId="{828896FF-8F60-44FB-BDE4-9B6F9305CECB}" srcOrd="3" destOrd="0" parTransId="{72B24D94-73F6-4652-9D51-773B2AF47A51}" sibTransId="{346FAC55-CA11-4721-9D4A-FBB35FF1B665}"/>
    <dgm:cxn modelId="{60B6AE8B-8BF3-44A9-927B-CFE22FF876C7}" srcId="{2FFADEC6-BF04-4322-A7CE-6CFD5A27B6AF}" destId="{E0CE7D4E-E6B7-469F-BF5C-941DE4B44248}" srcOrd="1" destOrd="0" parTransId="{E8683932-5FD2-40E1-A516-B76B54EEADED}" sibTransId="{C80424E0-49AF-496E-A58E-0AAE8A37F5D3}"/>
    <dgm:cxn modelId="{2EF39646-5AE7-423A-87FA-B1D2AD7F63DB}" srcId="{F520BA46-D809-42FF-87B6-66929FC31F96}" destId="{72F422FA-BA59-4533-8025-F842D27ADB9A}" srcOrd="1" destOrd="0" parTransId="{338957A5-5F32-4653-ADD4-79DBB0F860C7}" sibTransId="{BB5ECFD2-2DD2-4C75-8180-42694BC7E6A9}"/>
    <dgm:cxn modelId="{15FBA72A-5428-46C2-A194-21CD2E3766F7}" type="presOf" srcId="{721FC15E-87C1-44A3-94F5-7D7139770921}" destId="{BDA95978-8DDD-4F4A-99F5-EDE6EF5B731F}" srcOrd="1" destOrd="2" presId="urn:microsoft.com/office/officeart/2005/8/layout/hProcess4"/>
    <dgm:cxn modelId="{D595E8A1-BCED-40E3-9692-8033B50B9852}" srcId="{1AFF3A61-0C49-46EE-92BD-1ED55A0717A5}" destId="{739C7DC1-78E0-47D7-855C-0D56A98C5F36}" srcOrd="1" destOrd="0" parTransId="{D2D4BDFA-B501-4FE0-A325-EE58662E93FC}" sibTransId="{FE76FC36-440D-4043-AF43-AED594678364}"/>
    <dgm:cxn modelId="{2E59F299-7358-4B8D-8A37-BD6170413FC2}" type="presOf" srcId="{E5A57DF6-0214-4DD1-BFD5-95C95E2E3B32}" destId="{BE47F129-8062-4628-A6AC-5ECE26FB23EB}" srcOrd="0" destOrd="0" presId="urn:microsoft.com/office/officeart/2005/8/layout/hProcess4"/>
    <dgm:cxn modelId="{F2133000-1700-4857-B8A9-32FCDB26EB35}" type="presOf" srcId="{6ED55E6F-20AA-4F86-A928-7F0C87841173}" destId="{BE95768A-3158-4993-8822-9891F0F5EA9C}" srcOrd="1" destOrd="0" presId="urn:microsoft.com/office/officeart/2005/8/layout/hProcess4"/>
    <dgm:cxn modelId="{1B8DFEF3-6D06-4028-8A46-9D8B529970CE}" type="presOf" srcId="{2FFADEC6-BF04-4322-A7CE-6CFD5A27B6AF}" destId="{778C732C-A84C-4569-849F-3508953A23B1}" srcOrd="1" destOrd="0" presId="urn:microsoft.com/office/officeart/2005/8/layout/hProcess4"/>
    <dgm:cxn modelId="{0AE3A4C3-C986-4B24-AF8F-E14C112E063B}" srcId="{739C7DC1-78E0-47D7-855C-0D56A98C5F36}" destId="{7564A20F-448C-449C-A192-213F970B8F08}" srcOrd="0" destOrd="0" parTransId="{B98D3716-3198-4024-BDB5-76D34836C16D}" sibTransId="{827B106C-E597-4188-9BA3-E60899C46B72}"/>
    <dgm:cxn modelId="{D7678141-E16B-428A-8DB8-CAADC18DC26C}" type="presOf" srcId="{E0CE7D4E-E6B7-469F-BF5C-941DE4B44248}" destId="{778C732C-A84C-4569-849F-3508953A23B1}" srcOrd="1" destOrd="2" presId="urn:microsoft.com/office/officeart/2005/8/layout/hProcess4"/>
    <dgm:cxn modelId="{582DA7E2-4759-44AC-918D-E7176CAD7D4F}" type="presOf" srcId="{72F422FA-BA59-4533-8025-F842D27ADB9A}" destId="{0874E6E7-4D06-4671-AB66-935E1B0F2B7A}" srcOrd="1" destOrd="1" presId="urn:microsoft.com/office/officeart/2005/8/layout/hProcess4"/>
    <dgm:cxn modelId="{85766936-3FE8-4F7B-A7C4-68DEC0856542}" srcId="{828896FF-8F60-44FB-BDE4-9B6F9305CECB}" destId="{2FFADEC6-BF04-4322-A7CE-6CFD5A27B6AF}" srcOrd="0" destOrd="0" parTransId="{614E576E-8459-4182-B583-BA77E7A0D979}" sibTransId="{43A96B45-2FB2-403B-99B4-A6091DD958BD}"/>
    <dgm:cxn modelId="{EA57F9A9-7620-4CB3-8D2A-44FFADBED3B4}" type="presOf" srcId="{E3988020-EB30-44A9-8A00-6F3F403ED33B}" destId="{7C6ACF63-AAA5-4A73-A76C-C01EFD15FAF6}" srcOrd="0" destOrd="1" presId="urn:microsoft.com/office/officeart/2005/8/layout/hProcess4"/>
    <dgm:cxn modelId="{82BD7D9D-520A-424A-9C7C-137DA4D181C8}" type="presOf" srcId="{7564A20F-448C-449C-A192-213F970B8F08}" destId="{BDA95978-8DDD-4F4A-99F5-EDE6EF5B731F}" srcOrd="1" destOrd="0" presId="urn:microsoft.com/office/officeart/2005/8/layout/hProcess4"/>
    <dgm:cxn modelId="{795B182F-7D51-4B5A-9627-102B79E40B58}" type="presOf" srcId="{792256E3-A5C4-4CDF-B7B5-6AC993C00C76}" destId="{1BAF7624-1F86-44C8-9F0B-255A798021CB}" srcOrd="0" destOrd="0" presId="urn:microsoft.com/office/officeart/2005/8/layout/hProcess4"/>
    <dgm:cxn modelId="{27554093-3F4B-48E8-99B0-08495B989CDD}" srcId="{1AFF3A61-0C49-46EE-92BD-1ED55A0717A5}" destId="{F520BA46-D809-42FF-87B6-66929FC31F96}" srcOrd="2" destOrd="0" parTransId="{C10F9B10-B274-4DE1-85A1-4339A50110BA}" sibTransId="{495CA6D6-282A-4011-BA66-5989B72B6EEC}"/>
    <dgm:cxn modelId="{A5C77F9D-5CA2-4212-8096-EB18237FAB2D}" type="presOf" srcId="{9CC92102-D13F-4303-A379-921D46DB25F8}" destId="{E06227FC-8C0C-42E7-AB01-7E8C465F2B70}" srcOrd="0" destOrd="1" presId="urn:microsoft.com/office/officeart/2005/8/layout/hProcess4"/>
    <dgm:cxn modelId="{BBE5B908-05DF-45FE-9AA7-7D3ABA0D8C82}" srcId="{E5A57DF6-0214-4DD1-BFD5-95C95E2E3B32}" destId="{6ED55E6F-20AA-4F86-A928-7F0C87841173}" srcOrd="0" destOrd="0" parTransId="{9E46768B-4505-43E2-817F-761FCB5A5D4A}" sibTransId="{5D1B652F-72FA-4A93-BDDE-D39CEAA75155}"/>
    <dgm:cxn modelId="{34049CF9-1FEB-4D1C-94A3-3F83BFDF6D0E}" srcId="{1AFF3A61-0C49-46EE-92BD-1ED55A0717A5}" destId="{E5A57DF6-0214-4DD1-BFD5-95C95E2E3B32}" srcOrd="0" destOrd="0" parTransId="{F621A751-A3F4-4C4D-A440-C8C8CC87A511}" sibTransId="{792256E3-A5C4-4CDF-B7B5-6AC993C00C76}"/>
    <dgm:cxn modelId="{D1D6785A-2F01-4EA4-961A-F071256DF2A9}" srcId="{2FFADEC6-BF04-4322-A7CE-6CFD5A27B6AF}" destId="{E3988020-EB30-44A9-8A00-6F3F403ED33B}" srcOrd="0" destOrd="0" parTransId="{ED9A4F7F-1299-477C-A2C3-9857AA3ADB2F}" sibTransId="{B0DCD201-A1C2-4C07-A8F4-783F48F2E19F}"/>
    <dgm:cxn modelId="{D9DF4443-DE47-4343-836D-054B1BF960B6}" type="presOf" srcId="{377DC721-8057-4E8D-BB13-2B99102905A6}" destId="{BDA95978-8DDD-4F4A-99F5-EDE6EF5B731F}" srcOrd="1" destOrd="3" presId="urn:microsoft.com/office/officeart/2005/8/layout/hProcess4"/>
    <dgm:cxn modelId="{374063FE-4858-4C3F-A626-CB00E29944EB}" type="presOf" srcId="{828896FF-8F60-44FB-BDE4-9B6F9305CECB}" destId="{511BBA5A-496D-4595-AF09-56A9B780EB99}" srcOrd="0" destOrd="0" presId="urn:microsoft.com/office/officeart/2005/8/layout/hProcess4"/>
    <dgm:cxn modelId="{3A844274-7D88-4BBE-BC16-89F4CBFD3B55}" type="presOf" srcId="{6ED55E6F-20AA-4F86-A928-7F0C87841173}" destId="{CD0124E7-0939-4E9D-A39D-F44501742278}" srcOrd="0" destOrd="0" presId="urn:microsoft.com/office/officeart/2005/8/layout/hProcess4"/>
    <dgm:cxn modelId="{F17C2970-B566-484C-AE78-1A9F7DD77CBC}" type="presParOf" srcId="{9A1A16F6-06A3-4643-A678-F6E5FBCF06C4}" destId="{0C46EC82-EB0D-4065-8360-E2541BA08F5C}" srcOrd="0" destOrd="0" presId="urn:microsoft.com/office/officeart/2005/8/layout/hProcess4"/>
    <dgm:cxn modelId="{57993B23-1B4C-4C10-9BA9-8C953A8890C7}" type="presParOf" srcId="{9A1A16F6-06A3-4643-A678-F6E5FBCF06C4}" destId="{9E3FA6B7-966E-4E25-9D31-C333D8CF82DD}" srcOrd="1" destOrd="0" presId="urn:microsoft.com/office/officeart/2005/8/layout/hProcess4"/>
    <dgm:cxn modelId="{0F72C232-1F20-45AF-B8E3-0288CA3B7315}" type="presParOf" srcId="{9A1A16F6-06A3-4643-A678-F6E5FBCF06C4}" destId="{15EB289D-6F26-44AE-990D-7BC23073E171}" srcOrd="2" destOrd="0" presId="urn:microsoft.com/office/officeart/2005/8/layout/hProcess4"/>
    <dgm:cxn modelId="{10465927-1D50-4CBE-8F11-13D3E34DBD18}" type="presParOf" srcId="{15EB289D-6F26-44AE-990D-7BC23073E171}" destId="{7A571E7D-CE5C-40E4-92B8-CDA00867E50D}" srcOrd="0" destOrd="0" presId="urn:microsoft.com/office/officeart/2005/8/layout/hProcess4"/>
    <dgm:cxn modelId="{5A6EFD58-E66E-4788-94FA-E373E584D97B}" type="presParOf" srcId="{7A571E7D-CE5C-40E4-92B8-CDA00867E50D}" destId="{0A7D2C38-717A-4B15-A029-D0E22245840D}" srcOrd="0" destOrd="0" presId="urn:microsoft.com/office/officeart/2005/8/layout/hProcess4"/>
    <dgm:cxn modelId="{08C58FEF-2482-4821-A0F2-69E88F138BD9}" type="presParOf" srcId="{7A571E7D-CE5C-40E4-92B8-CDA00867E50D}" destId="{CD0124E7-0939-4E9D-A39D-F44501742278}" srcOrd="1" destOrd="0" presId="urn:microsoft.com/office/officeart/2005/8/layout/hProcess4"/>
    <dgm:cxn modelId="{DC3AEFB5-B64B-4568-8805-57625BF263DC}" type="presParOf" srcId="{7A571E7D-CE5C-40E4-92B8-CDA00867E50D}" destId="{BE95768A-3158-4993-8822-9891F0F5EA9C}" srcOrd="2" destOrd="0" presId="urn:microsoft.com/office/officeart/2005/8/layout/hProcess4"/>
    <dgm:cxn modelId="{4B296943-7C64-4F98-AFE5-0A6DE1B37AA8}" type="presParOf" srcId="{7A571E7D-CE5C-40E4-92B8-CDA00867E50D}" destId="{BE47F129-8062-4628-A6AC-5ECE26FB23EB}" srcOrd="3" destOrd="0" presId="urn:microsoft.com/office/officeart/2005/8/layout/hProcess4"/>
    <dgm:cxn modelId="{655CFC0B-E390-4BA7-ADD1-2566B761F6CA}" type="presParOf" srcId="{7A571E7D-CE5C-40E4-92B8-CDA00867E50D}" destId="{5DBEB9E4-E6BB-476E-BB2D-F2C4662B0749}" srcOrd="4" destOrd="0" presId="urn:microsoft.com/office/officeart/2005/8/layout/hProcess4"/>
    <dgm:cxn modelId="{27290FC5-A0DE-46A9-86CF-437FA7C564BF}" type="presParOf" srcId="{15EB289D-6F26-44AE-990D-7BC23073E171}" destId="{1BAF7624-1F86-44C8-9F0B-255A798021CB}" srcOrd="1" destOrd="0" presId="urn:microsoft.com/office/officeart/2005/8/layout/hProcess4"/>
    <dgm:cxn modelId="{08AF537D-A68F-4F36-A19D-00A2DEBA5D87}" type="presParOf" srcId="{15EB289D-6F26-44AE-990D-7BC23073E171}" destId="{0053646D-0EC2-40BE-8BF4-24BD9F1C7817}" srcOrd="2" destOrd="0" presId="urn:microsoft.com/office/officeart/2005/8/layout/hProcess4"/>
    <dgm:cxn modelId="{8FA41C72-FA0B-46C6-8C1D-97CD807DD03B}" type="presParOf" srcId="{0053646D-0EC2-40BE-8BF4-24BD9F1C7817}" destId="{9DECC54E-D9EC-4AA4-8CCE-6435C2D4E2E5}" srcOrd="0" destOrd="0" presId="urn:microsoft.com/office/officeart/2005/8/layout/hProcess4"/>
    <dgm:cxn modelId="{F2F0DDA0-3043-4195-B0A8-C213FF824043}" type="presParOf" srcId="{0053646D-0EC2-40BE-8BF4-24BD9F1C7817}" destId="{E06227FC-8C0C-42E7-AB01-7E8C465F2B70}" srcOrd="1" destOrd="0" presId="urn:microsoft.com/office/officeart/2005/8/layout/hProcess4"/>
    <dgm:cxn modelId="{176A3F3D-6FA5-46BE-8DB5-FF417AF5086A}" type="presParOf" srcId="{0053646D-0EC2-40BE-8BF4-24BD9F1C7817}" destId="{BDA95978-8DDD-4F4A-99F5-EDE6EF5B731F}" srcOrd="2" destOrd="0" presId="urn:microsoft.com/office/officeart/2005/8/layout/hProcess4"/>
    <dgm:cxn modelId="{F6FEE16C-A553-4B8B-B2E1-EF916982D3C4}" type="presParOf" srcId="{0053646D-0EC2-40BE-8BF4-24BD9F1C7817}" destId="{91807B58-53D6-4D07-8DF3-288856DEEF42}" srcOrd="3" destOrd="0" presId="urn:microsoft.com/office/officeart/2005/8/layout/hProcess4"/>
    <dgm:cxn modelId="{65234956-4C0F-406D-8C00-B97022C01838}" type="presParOf" srcId="{0053646D-0EC2-40BE-8BF4-24BD9F1C7817}" destId="{EB70595E-B895-4C2C-ABF1-E796F27CE0CF}" srcOrd="4" destOrd="0" presId="urn:microsoft.com/office/officeart/2005/8/layout/hProcess4"/>
    <dgm:cxn modelId="{8868B6E7-8A01-40FB-828E-BA7717137E75}" type="presParOf" srcId="{15EB289D-6F26-44AE-990D-7BC23073E171}" destId="{F436572B-E628-4178-8CB1-FAAEF276C002}" srcOrd="3" destOrd="0" presId="urn:microsoft.com/office/officeart/2005/8/layout/hProcess4"/>
    <dgm:cxn modelId="{52501628-C244-48C0-AAF4-A4CF67A0ED37}" type="presParOf" srcId="{15EB289D-6F26-44AE-990D-7BC23073E171}" destId="{87280F5C-22E2-4DE5-AFBE-1D226BEB4EAC}" srcOrd="4" destOrd="0" presId="urn:microsoft.com/office/officeart/2005/8/layout/hProcess4"/>
    <dgm:cxn modelId="{0F115573-7D01-4D15-9A26-F8C428E05385}" type="presParOf" srcId="{87280F5C-22E2-4DE5-AFBE-1D226BEB4EAC}" destId="{EF6086DD-306E-4CD9-ABE4-E8A2188ED5F1}" srcOrd="0" destOrd="0" presId="urn:microsoft.com/office/officeart/2005/8/layout/hProcess4"/>
    <dgm:cxn modelId="{37C077E2-9B74-4FE7-BD96-EF3277AC880E}" type="presParOf" srcId="{87280F5C-22E2-4DE5-AFBE-1D226BEB4EAC}" destId="{BF4CE162-D52B-4C8F-BBD8-1FD4E6206CD5}" srcOrd="1" destOrd="0" presId="urn:microsoft.com/office/officeart/2005/8/layout/hProcess4"/>
    <dgm:cxn modelId="{C055FEDD-011D-4C3F-9A1A-9B34291BA4FF}" type="presParOf" srcId="{87280F5C-22E2-4DE5-AFBE-1D226BEB4EAC}" destId="{0874E6E7-4D06-4671-AB66-935E1B0F2B7A}" srcOrd="2" destOrd="0" presId="urn:microsoft.com/office/officeart/2005/8/layout/hProcess4"/>
    <dgm:cxn modelId="{82FDC376-128B-45D6-A49B-5A7F629C6F57}" type="presParOf" srcId="{87280F5C-22E2-4DE5-AFBE-1D226BEB4EAC}" destId="{499AD7D0-9171-4CE3-A71A-0542F4CAF868}" srcOrd="3" destOrd="0" presId="urn:microsoft.com/office/officeart/2005/8/layout/hProcess4"/>
    <dgm:cxn modelId="{E512346A-0F87-48D7-B4A9-DCC96AC6271D}" type="presParOf" srcId="{87280F5C-22E2-4DE5-AFBE-1D226BEB4EAC}" destId="{16D7F79D-608F-40CE-B466-0236DAFC335D}" srcOrd="4" destOrd="0" presId="urn:microsoft.com/office/officeart/2005/8/layout/hProcess4"/>
    <dgm:cxn modelId="{DAC3723A-34B5-4AF8-99F9-5F18887EDF22}" type="presParOf" srcId="{15EB289D-6F26-44AE-990D-7BC23073E171}" destId="{F97BBA13-759F-4B52-A6F5-D622DD4CAE74}" srcOrd="5" destOrd="0" presId="urn:microsoft.com/office/officeart/2005/8/layout/hProcess4"/>
    <dgm:cxn modelId="{1E01F1B5-AFDC-4D2D-8887-86F74CBE6A3D}" type="presParOf" srcId="{15EB289D-6F26-44AE-990D-7BC23073E171}" destId="{ED2EBD10-3A0B-4F10-98A2-4A4859A89B8F}" srcOrd="6" destOrd="0" presId="urn:microsoft.com/office/officeart/2005/8/layout/hProcess4"/>
    <dgm:cxn modelId="{F9396D5F-0CB0-42BD-8D48-2BD0B54DBCE9}" type="presParOf" srcId="{ED2EBD10-3A0B-4F10-98A2-4A4859A89B8F}" destId="{C43C259F-904B-4286-9C61-EAB6136781F9}" srcOrd="0" destOrd="0" presId="urn:microsoft.com/office/officeart/2005/8/layout/hProcess4"/>
    <dgm:cxn modelId="{6B945860-BFD4-4EAD-ACC0-F3973CC70565}" type="presParOf" srcId="{ED2EBD10-3A0B-4F10-98A2-4A4859A89B8F}" destId="{7C6ACF63-AAA5-4A73-A76C-C01EFD15FAF6}" srcOrd="1" destOrd="0" presId="urn:microsoft.com/office/officeart/2005/8/layout/hProcess4"/>
    <dgm:cxn modelId="{67976446-8E22-41E1-B472-D24339EEA9A6}" type="presParOf" srcId="{ED2EBD10-3A0B-4F10-98A2-4A4859A89B8F}" destId="{778C732C-A84C-4569-849F-3508953A23B1}" srcOrd="2" destOrd="0" presId="urn:microsoft.com/office/officeart/2005/8/layout/hProcess4"/>
    <dgm:cxn modelId="{E0B0B6B2-905D-4D17-853C-3F167F7E79D4}" type="presParOf" srcId="{ED2EBD10-3A0B-4F10-98A2-4A4859A89B8F}" destId="{511BBA5A-496D-4595-AF09-56A9B780EB99}" srcOrd="3" destOrd="0" presId="urn:microsoft.com/office/officeart/2005/8/layout/hProcess4"/>
    <dgm:cxn modelId="{572EB77A-33A4-420B-9748-F4DF7A3133B8}" type="presParOf" srcId="{ED2EBD10-3A0B-4F10-98A2-4A4859A89B8F}" destId="{B29D70B7-27D3-4B3D-8409-219FE6F99105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3888" cy="3540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568" tIns="45784" rIns="91568" bIns="45784" numCol="1" anchor="t" anchorCtr="0" compatLnSpc="1">
            <a:prstTxWarp prst="textNoShape">
              <a:avLst/>
            </a:prstTxWarp>
          </a:bodyPr>
          <a:lstStyle>
            <a:lvl1pPr defTabSz="915988" eaLnBrk="0" hangingPunct="0">
              <a:defRPr kumimoji="0" sz="1200"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2334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9138" y="0"/>
            <a:ext cx="4433887" cy="3540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568" tIns="45784" rIns="91568" bIns="45784" numCol="1" anchor="t" anchorCtr="0" compatLnSpc="1">
            <a:prstTxWarp prst="textNoShape">
              <a:avLst/>
            </a:prstTxWarp>
          </a:bodyPr>
          <a:lstStyle>
            <a:lvl1pPr algn="r" defTabSz="915988" eaLnBrk="0" hangingPunct="0">
              <a:defRPr kumimoji="0" sz="1200"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2334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3700"/>
            <a:ext cx="4433888" cy="3540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568" tIns="45784" rIns="91568" bIns="45784" numCol="1" anchor="b" anchorCtr="0" compatLnSpc="1">
            <a:prstTxWarp prst="textNoShape">
              <a:avLst/>
            </a:prstTxWarp>
          </a:bodyPr>
          <a:lstStyle>
            <a:lvl1pPr defTabSz="915988" eaLnBrk="0" hangingPunct="0">
              <a:defRPr kumimoji="0" sz="1200"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2334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9138" y="6743700"/>
            <a:ext cx="4433887" cy="3540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568" tIns="45784" rIns="91568" bIns="45784" numCol="1" anchor="b" anchorCtr="0" compatLnSpc="1">
            <a:prstTxWarp prst="textNoShape">
              <a:avLst/>
            </a:prstTxWarp>
          </a:bodyPr>
          <a:lstStyle>
            <a:lvl1pPr algn="r" defTabSz="915988" eaLnBrk="0" hangingPunct="0">
              <a:defRPr kumimoji="0" sz="1200">
                <a:latin typeface="Times New Roman" panose="02020603050405020304" pitchFamily="18" charset="0"/>
              </a:defRPr>
            </a:lvl1pPr>
          </a:lstStyle>
          <a:p>
            <a:fld id="{A0BE11CB-2C9D-418D-AA88-8D8F8A0C7AC1}" type="slidenum">
              <a:rPr lang="zh-TW" altLang="en-US"/>
              <a:pPr/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4842386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3888" cy="3540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9040" tIns="49520" rIns="99040" bIns="49520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kumimoji="1" sz="1300"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699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800725" y="0"/>
            <a:ext cx="4433888" cy="3540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9040" tIns="49520" rIns="99040" bIns="49520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kumimoji="1" sz="1300"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41688" y="533400"/>
            <a:ext cx="3549650" cy="26622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99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63663" y="3373438"/>
            <a:ext cx="7507287" cy="319246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9040" tIns="49520" rIns="99040" bIns="495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1699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5288"/>
            <a:ext cx="4433888" cy="35401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9040" tIns="49520" rIns="99040" bIns="49520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kumimoji="1" sz="1300"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699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800725" y="6745288"/>
            <a:ext cx="4433888" cy="35401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9040" tIns="49520" rIns="99040" bIns="49520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Times New Roman" panose="02020603050405020304" pitchFamily="18" charset="0"/>
              </a:defRPr>
            </a:lvl1pPr>
          </a:lstStyle>
          <a:p>
            <a:fld id="{EF6EEB13-CE12-4FF4-956E-CED59E762266}" type="slidenum">
              <a:rPr lang="zh-TW" altLang="en-US"/>
              <a:pPr/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0678358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6EEB13-CE12-4FF4-956E-CED59E762266}" type="slidenum">
              <a:rPr lang="zh-TW" altLang="en-US" smtClean="0"/>
              <a:pPr/>
              <a:t>0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336523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6EEB13-CE12-4FF4-956E-CED59E762266}" type="slidenum">
              <a:rPr lang="zh-TW" altLang="en-US" smtClean="0"/>
              <a:pPr/>
              <a:t>1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982175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6EEB13-CE12-4FF4-956E-CED59E762266}" type="slidenum">
              <a:rPr lang="zh-TW" altLang="en-US" smtClean="0"/>
              <a:pPr/>
              <a:t>4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4097862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6EEB13-CE12-4FF4-956E-CED59E762266}" type="slidenum">
              <a:rPr lang="zh-TW" altLang="en-US" smtClean="0"/>
              <a:pPr/>
              <a:t>5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222858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Full-system</a:t>
            </a:r>
            <a:r>
              <a:rPr lang="en-US" altLang="zh-TW" baseline="0" dirty="0" smtClean="0"/>
              <a:t> simulator, runtime instrument tool, emulator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0B2ED-3047-43E0-90A2-1DEBF39FD3FB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8338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6EEB13-CE12-4FF4-956E-CED59E762266}" type="slidenum">
              <a:rPr lang="zh-TW" altLang="en-US" smtClean="0"/>
              <a:pPr/>
              <a:t>8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704009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6EEB13-CE12-4FF4-956E-CED59E762266}" type="slidenum">
              <a:rPr lang="zh-TW" altLang="en-US" smtClean="0"/>
              <a:pPr/>
              <a:t>9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983510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也就是說對於</a:t>
            </a:r>
            <a:r>
              <a:rPr lang="en-US" altLang="zh-TW" dirty="0" smtClean="0"/>
              <a:t>trace-driven</a:t>
            </a:r>
            <a:r>
              <a:rPr lang="en-US" altLang="zh-TW" baseline="0" dirty="0" smtClean="0"/>
              <a:t> simulator</a:t>
            </a:r>
            <a:r>
              <a:rPr lang="zh-TW" altLang="en-US" baseline="0" dirty="0" smtClean="0"/>
              <a:t>  就是</a:t>
            </a:r>
            <a:r>
              <a:rPr lang="en-US" altLang="zh-TW" baseline="0" dirty="0" smtClean="0"/>
              <a:t>input stream</a:t>
            </a:r>
            <a:r>
              <a:rPr lang="zh-TW" altLang="en-US" baseline="0" dirty="0" smtClean="0"/>
              <a:t>要跟 </a:t>
            </a:r>
            <a:r>
              <a:rPr lang="en-US" altLang="zh-TW" baseline="0" dirty="0" smtClean="0"/>
              <a:t>output stream</a:t>
            </a:r>
            <a:r>
              <a:rPr lang="zh-TW" altLang="en-US" baseline="0" dirty="0" smtClean="0"/>
              <a:t>溝通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80B2ED-3047-43E0-90A2-1DEBF39FD3FB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57970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6EEB13-CE12-4FF4-956E-CED59E762266}" type="slidenum">
              <a:rPr lang="zh-TW" altLang="en-US" smtClean="0"/>
              <a:pPr/>
              <a:t>20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126883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Trace driven </a:t>
            </a:r>
            <a:r>
              <a:rPr lang="zh-TW" altLang="en-US" dirty="0" smtClean="0"/>
              <a:t>分成兩個</a:t>
            </a:r>
            <a:r>
              <a:rPr lang="en-US" altLang="zh-TW" dirty="0" smtClean="0"/>
              <a:t>phases,</a:t>
            </a:r>
          </a:p>
          <a:p>
            <a:r>
              <a:rPr lang="zh-TW" altLang="en-US" dirty="0" smtClean="0"/>
              <a:t>在</a:t>
            </a:r>
            <a:r>
              <a:rPr lang="en-US" altLang="zh-TW" dirty="0" smtClean="0"/>
              <a:t>trace generation </a:t>
            </a:r>
            <a:r>
              <a:rPr lang="zh-TW" altLang="en-US" dirty="0" smtClean="0"/>
              <a:t>時候，我們用 </a:t>
            </a:r>
            <a:r>
              <a:rPr lang="en-US" altLang="zh-TW" dirty="0" smtClean="0"/>
              <a:t>full system </a:t>
            </a:r>
            <a:r>
              <a:rPr lang="zh-TW" altLang="en-US" dirty="0" smtClean="0"/>
              <a:t>去插</a:t>
            </a:r>
            <a:r>
              <a:rPr lang="en-US" altLang="zh-TW" dirty="0" smtClean="0"/>
              <a:t>code </a:t>
            </a:r>
            <a:r>
              <a:rPr lang="zh-TW" altLang="en-US" dirty="0" smtClean="0"/>
              <a:t>記錄下</a:t>
            </a:r>
            <a:r>
              <a:rPr lang="en-US" altLang="zh-TW" dirty="0" smtClean="0"/>
              <a:t>trace,</a:t>
            </a:r>
          </a:p>
          <a:p>
            <a:r>
              <a:rPr lang="zh-TW" altLang="en-US" dirty="0" smtClean="0"/>
              <a:t>經過</a:t>
            </a:r>
            <a:r>
              <a:rPr lang="en-US" altLang="zh-TW" dirty="0" smtClean="0"/>
              <a:t>parser </a:t>
            </a:r>
            <a:r>
              <a:rPr lang="zh-TW" altLang="en-US" dirty="0" smtClean="0"/>
              <a:t>留下想要的資訊，再將</a:t>
            </a:r>
            <a:r>
              <a:rPr lang="en-US" altLang="zh-TW" dirty="0" smtClean="0"/>
              <a:t>trace </a:t>
            </a:r>
            <a:r>
              <a:rPr lang="zh-TW" altLang="en-US" dirty="0" smtClean="0"/>
              <a:t>餵進一個</a:t>
            </a:r>
            <a:r>
              <a:rPr lang="en-US" altLang="zh-TW" dirty="0" smtClean="0"/>
              <a:t>trace</a:t>
            </a:r>
            <a:r>
              <a:rPr lang="en-US" altLang="zh-TW" baseline="0" dirty="0" smtClean="0"/>
              <a:t> driven </a:t>
            </a:r>
            <a:r>
              <a:rPr lang="zh-TW" altLang="en-US" baseline="0" dirty="0" smtClean="0"/>
              <a:t>的 </a:t>
            </a:r>
            <a:r>
              <a:rPr lang="en-US" altLang="zh-TW" baseline="0" dirty="0" smtClean="0"/>
              <a:t>simulator.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0BACC-1D28-4ED4-8443-881A5A1BEC32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36183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在</a:t>
            </a:r>
            <a:r>
              <a:rPr lang="en-US" altLang="zh-TW" dirty="0" smtClean="0"/>
              <a:t>trace generation </a:t>
            </a:r>
            <a:r>
              <a:rPr lang="zh-TW" altLang="en-US" dirty="0" smtClean="0"/>
              <a:t>部分，左邊的圖為</a:t>
            </a:r>
            <a:r>
              <a:rPr lang="en-US" altLang="zh-TW" dirty="0" smtClean="0"/>
              <a:t>message </a:t>
            </a:r>
            <a:r>
              <a:rPr lang="zh-TW" altLang="en-US" dirty="0" smtClean="0"/>
              <a:t>的運行流程，</a:t>
            </a:r>
            <a:r>
              <a:rPr lang="en-US" altLang="zh-TW" dirty="0" smtClean="0"/>
              <a:t>CPU</a:t>
            </a:r>
            <a:r>
              <a:rPr lang="zh-TW" altLang="en-US" dirty="0" smtClean="0"/>
              <a:t>如果需要資料的時候，會發出一個</a:t>
            </a:r>
            <a:r>
              <a:rPr lang="en-US" altLang="zh-TW" dirty="0" err="1" smtClean="0"/>
              <a:t>rubyrequest</a:t>
            </a:r>
            <a:r>
              <a:rPr lang="zh-TW" altLang="en-US" dirty="0" smtClean="0"/>
              <a:t>，如果 </a:t>
            </a:r>
            <a:r>
              <a:rPr lang="en-US" altLang="zh-TW" dirty="0" smtClean="0"/>
              <a:t>L1 hit </a:t>
            </a:r>
            <a:r>
              <a:rPr lang="zh-TW" altLang="en-US" dirty="0" smtClean="0"/>
              <a:t>的話，就會結束</a:t>
            </a:r>
            <a:r>
              <a:rPr lang="en-US" altLang="zh-TW" dirty="0" smtClean="0"/>
              <a:t>. </a:t>
            </a:r>
            <a:r>
              <a:rPr lang="zh-TW" altLang="en-US" dirty="0" smtClean="0"/>
              <a:t>如果</a:t>
            </a:r>
            <a:r>
              <a:rPr lang="en-US" altLang="zh-TW" dirty="0" smtClean="0"/>
              <a:t>miss </a:t>
            </a:r>
            <a:r>
              <a:rPr lang="zh-TW" altLang="en-US" dirty="0" smtClean="0"/>
              <a:t>的話</a:t>
            </a:r>
            <a:r>
              <a:rPr lang="en-US" altLang="zh-TW" dirty="0" smtClean="0"/>
              <a:t>L1</a:t>
            </a:r>
            <a:r>
              <a:rPr lang="zh-TW" altLang="en-US" dirty="0" smtClean="0"/>
              <a:t>就會發出一個 </a:t>
            </a:r>
            <a:r>
              <a:rPr lang="en-US" altLang="zh-TW" dirty="0" smtClean="0"/>
              <a:t>request </a:t>
            </a:r>
            <a:r>
              <a:rPr lang="en-US" altLang="zh-TW" dirty="0" err="1" smtClean="0"/>
              <a:t>msg</a:t>
            </a:r>
            <a:r>
              <a:rPr lang="zh-TW" altLang="en-US" dirty="0" smtClean="0"/>
              <a:t>進入</a:t>
            </a:r>
            <a:r>
              <a:rPr lang="en-US" altLang="zh-TW" dirty="0" smtClean="0"/>
              <a:t>NOC</a:t>
            </a:r>
            <a:r>
              <a:rPr lang="zh-TW" altLang="en-US" dirty="0" smtClean="0"/>
              <a:t>，</a:t>
            </a:r>
            <a:r>
              <a:rPr lang="en-US" altLang="zh-TW" dirty="0" smtClean="0"/>
              <a:t>L2 </a:t>
            </a:r>
            <a:r>
              <a:rPr lang="zh-TW" altLang="en-US" dirty="0" smtClean="0"/>
              <a:t>發出</a:t>
            </a:r>
            <a:r>
              <a:rPr lang="en-US" altLang="zh-TW" dirty="0" smtClean="0"/>
              <a:t>response </a:t>
            </a:r>
            <a:r>
              <a:rPr lang="en-US" altLang="zh-TW" dirty="0" err="1" smtClean="0"/>
              <a:t>msg</a:t>
            </a:r>
            <a:r>
              <a:rPr lang="zh-TW" altLang="en-US" dirty="0" smtClean="0"/>
              <a:t>將資料回應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0BACC-1D28-4ED4-8443-881A5A1BEC32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1154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我們的</a:t>
            </a:r>
            <a:r>
              <a:rPr lang="en-US" altLang="zh-TW" dirty="0" smtClean="0"/>
              <a:t>trace </a:t>
            </a:r>
            <a:r>
              <a:rPr lang="zh-TW" altLang="en-US" dirty="0" smtClean="0"/>
              <a:t>會記錄 </a:t>
            </a:r>
            <a:r>
              <a:rPr lang="en-US" altLang="zh-TW" dirty="0" smtClean="0"/>
              <a:t>L1 issue request </a:t>
            </a:r>
            <a:r>
              <a:rPr lang="zh-TW" altLang="en-US" dirty="0" smtClean="0"/>
              <a:t>時間和 </a:t>
            </a:r>
            <a:r>
              <a:rPr lang="en-US" altLang="zh-TW" dirty="0" smtClean="0"/>
              <a:t>response </a:t>
            </a:r>
            <a:r>
              <a:rPr lang="en-US" altLang="zh-TW" dirty="0" err="1" smtClean="0"/>
              <a:t>msg</a:t>
            </a:r>
            <a:r>
              <a:rPr lang="en-US" altLang="zh-TW" baseline="0" dirty="0" smtClean="0"/>
              <a:t> </a:t>
            </a:r>
            <a:r>
              <a:rPr lang="zh-TW" altLang="en-US" baseline="0" dirty="0" smtClean="0"/>
              <a:t>回應的時間。</a:t>
            </a:r>
            <a:endParaRPr lang="en-US" altLang="zh-TW" baseline="0" dirty="0" smtClean="0"/>
          </a:p>
          <a:p>
            <a:r>
              <a:rPr lang="zh-TW" altLang="en-US" dirty="0" smtClean="0"/>
              <a:t>將</a:t>
            </a:r>
            <a:r>
              <a:rPr lang="en-US" altLang="zh-TW" dirty="0" smtClean="0"/>
              <a:t>full trace </a:t>
            </a:r>
            <a:r>
              <a:rPr lang="zh-TW" altLang="en-US" dirty="0" smtClean="0"/>
              <a:t>的內容</a:t>
            </a:r>
            <a:r>
              <a:rPr lang="en-US" altLang="zh-TW" dirty="0" smtClean="0"/>
              <a:t>parse</a:t>
            </a:r>
            <a:r>
              <a:rPr lang="zh-TW" altLang="en-US" dirty="0" smtClean="0"/>
              <a:t>後 留下 </a:t>
            </a:r>
            <a:r>
              <a:rPr lang="en-US" altLang="zh-TW" dirty="0" smtClean="0"/>
              <a:t>message type</a:t>
            </a:r>
            <a:r>
              <a:rPr lang="zh-TW" altLang="en-US" dirty="0" smtClean="0"/>
              <a:t>，</a:t>
            </a:r>
            <a:r>
              <a:rPr lang="en-US" altLang="zh-TW" dirty="0" smtClean="0"/>
              <a:t>address</a:t>
            </a:r>
            <a:r>
              <a:rPr lang="zh-TW" altLang="en-US" dirty="0" smtClean="0"/>
              <a:t>，</a:t>
            </a:r>
            <a:r>
              <a:rPr lang="en-US" altLang="zh-TW" dirty="0" smtClean="0"/>
              <a:t>source</a:t>
            </a:r>
            <a:r>
              <a:rPr lang="zh-TW" altLang="en-US" dirty="0" smtClean="0"/>
              <a:t>，</a:t>
            </a:r>
            <a:r>
              <a:rPr lang="en-US" altLang="zh-TW" dirty="0" smtClean="0"/>
              <a:t>time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0BACC-1D28-4ED4-8443-881A5A1BEC32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19822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Garnet standalone </a:t>
            </a:r>
            <a:r>
              <a:rPr lang="zh-TW" altLang="en-US" dirty="0" smtClean="0"/>
              <a:t>是一</a:t>
            </a:r>
            <a:r>
              <a:rPr lang="en-US" altLang="zh-TW" dirty="0" smtClean="0"/>
              <a:t>interconnection network simulator</a:t>
            </a:r>
            <a:r>
              <a:rPr lang="zh-TW" altLang="en-US" dirty="0" smtClean="0"/>
              <a:t>，但是</a:t>
            </a:r>
            <a:r>
              <a:rPr lang="en-US" altLang="zh-TW" dirty="0" smtClean="0"/>
              <a:t>garnet </a:t>
            </a:r>
            <a:r>
              <a:rPr lang="zh-TW" altLang="en-US" dirty="0" smtClean="0"/>
              <a:t>產生封包的方式是根據</a:t>
            </a:r>
            <a:r>
              <a:rPr lang="en-US" altLang="zh-TW" dirty="0" smtClean="0"/>
              <a:t>injection rate </a:t>
            </a:r>
            <a:r>
              <a:rPr lang="zh-TW" altLang="en-US" dirty="0" smtClean="0"/>
              <a:t>並使用</a:t>
            </a:r>
            <a:r>
              <a:rPr lang="en-US" altLang="zh-TW" dirty="0" smtClean="0"/>
              <a:t>random</a:t>
            </a:r>
            <a:r>
              <a:rPr lang="zh-TW" altLang="en-US" dirty="0" smtClean="0"/>
              <a:t>的方式，所以我們要將它改成根據</a:t>
            </a:r>
            <a:r>
              <a:rPr lang="en-US" altLang="zh-TW" dirty="0" smtClean="0"/>
              <a:t>trace </a:t>
            </a:r>
            <a:r>
              <a:rPr lang="zh-TW" altLang="en-US" dirty="0" smtClean="0"/>
              <a:t>的時間點發送封包，第二個問題是， </a:t>
            </a:r>
            <a:r>
              <a:rPr lang="en-US" altLang="zh-TW" dirty="0" smtClean="0"/>
              <a:t>garnet </a:t>
            </a:r>
            <a:r>
              <a:rPr lang="zh-TW" altLang="en-US" dirty="0" smtClean="0"/>
              <a:t>是一個</a:t>
            </a:r>
            <a:r>
              <a:rPr lang="en-US" altLang="zh-TW" dirty="0" smtClean="0"/>
              <a:t>one way </a:t>
            </a:r>
            <a:r>
              <a:rPr lang="zh-TW" altLang="en-US" dirty="0" smtClean="0"/>
              <a:t>的</a:t>
            </a:r>
            <a:r>
              <a:rPr lang="en-US" altLang="zh-TW" dirty="0" smtClean="0"/>
              <a:t>simulator</a:t>
            </a:r>
            <a:r>
              <a:rPr lang="zh-TW" altLang="en-US" dirty="0" smtClean="0"/>
              <a:t>，從 </a:t>
            </a:r>
            <a:r>
              <a:rPr lang="en-US" altLang="zh-TW" dirty="0" smtClean="0"/>
              <a:t>L1 cache </a:t>
            </a:r>
            <a:r>
              <a:rPr lang="zh-TW" altLang="en-US" dirty="0" smtClean="0"/>
              <a:t>產生封包根據</a:t>
            </a:r>
            <a:r>
              <a:rPr lang="en-US" altLang="zh-TW" dirty="0" smtClean="0"/>
              <a:t>address </a:t>
            </a:r>
            <a:r>
              <a:rPr lang="zh-TW" altLang="en-US" dirty="0" smtClean="0"/>
              <a:t>送到一個</a:t>
            </a:r>
            <a:r>
              <a:rPr lang="en-US" altLang="zh-TW" dirty="0" smtClean="0"/>
              <a:t>directory</a:t>
            </a:r>
            <a:r>
              <a:rPr lang="zh-TW" altLang="en-US" dirty="0" smtClean="0"/>
              <a:t>，沒有實作從目的回應封包的機制，</a:t>
            </a:r>
            <a:endParaRPr lang="en-US" altLang="zh-TW" dirty="0" smtClean="0"/>
          </a:p>
          <a:p>
            <a:r>
              <a:rPr lang="zh-TW" altLang="en-US" dirty="0" smtClean="0"/>
              <a:t>也就是說沒有像</a:t>
            </a:r>
            <a:r>
              <a:rPr lang="en-US" altLang="zh-TW" dirty="0" smtClean="0"/>
              <a:t>full system</a:t>
            </a:r>
            <a:r>
              <a:rPr lang="zh-TW" altLang="en-US" dirty="0" smtClean="0"/>
              <a:t>中的</a:t>
            </a:r>
            <a:r>
              <a:rPr lang="en-US" altLang="zh-TW" dirty="0" smtClean="0"/>
              <a:t>response</a:t>
            </a:r>
            <a:r>
              <a:rPr lang="en-US" altLang="zh-TW" baseline="0" dirty="0" smtClean="0"/>
              <a:t> </a:t>
            </a:r>
            <a:r>
              <a:rPr lang="en-US" altLang="zh-TW" baseline="0" dirty="0" err="1" smtClean="0"/>
              <a:t>msg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0BACC-1D28-4ED4-8443-881A5A1BEC32}" type="slidenum">
              <a:rPr lang="zh-TW" altLang="en-US" smtClean="0">
                <a:solidFill>
                  <a:prstClr val="black"/>
                </a:solidFill>
              </a:rPr>
              <a:pPr/>
              <a:t>26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9276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0BACC-1D28-4ED4-8443-881A5A1BEC32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44346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因此我們必須自己實作 </a:t>
            </a:r>
            <a:r>
              <a:rPr lang="en-US" altLang="zh-TW" dirty="0" smtClean="0"/>
              <a:t>response</a:t>
            </a:r>
            <a:r>
              <a:rPr lang="en-US" altLang="zh-TW" baseline="0" dirty="0" smtClean="0"/>
              <a:t> function </a:t>
            </a:r>
            <a:r>
              <a:rPr lang="zh-TW" altLang="en-US" baseline="0" dirty="0" smtClean="0"/>
              <a:t>，每個</a:t>
            </a:r>
            <a:r>
              <a:rPr lang="en-US" altLang="zh-TW" baseline="0" dirty="0" smtClean="0"/>
              <a:t>core </a:t>
            </a:r>
            <a:r>
              <a:rPr lang="zh-TW" altLang="en-US" baseline="0" dirty="0" smtClean="0"/>
              <a:t>會有自己的</a:t>
            </a:r>
            <a:r>
              <a:rPr lang="en-US" altLang="zh-TW" baseline="0" dirty="0" smtClean="0"/>
              <a:t>request buffer</a:t>
            </a:r>
            <a:r>
              <a:rPr lang="zh-TW" altLang="en-US" baseline="0" dirty="0" smtClean="0"/>
              <a:t>，當</a:t>
            </a:r>
            <a:r>
              <a:rPr lang="en-US" altLang="zh-TW" baseline="0" dirty="0" smtClean="0"/>
              <a:t>simulator</a:t>
            </a:r>
            <a:r>
              <a:rPr lang="zh-TW" altLang="en-US" baseline="0" dirty="0" smtClean="0"/>
              <a:t>的 </a:t>
            </a:r>
            <a:r>
              <a:rPr lang="en-US" altLang="zh-TW" baseline="0" dirty="0" smtClean="0"/>
              <a:t>tick </a:t>
            </a:r>
            <a:r>
              <a:rPr lang="zh-TW" altLang="en-US" baseline="0" dirty="0" smtClean="0"/>
              <a:t>數到</a:t>
            </a:r>
            <a:r>
              <a:rPr lang="en-US" altLang="zh-TW" baseline="0" dirty="0" smtClean="0"/>
              <a:t>trace event</a:t>
            </a:r>
            <a:r>
              <a:rPr lang="zh-TW" altLang="en-US" baseline="0" dirty="0" smtClean="0"/>
              <a:t>送出的時間，會送出</a:t>
            </a:r>
            <a:r>
              <a:rPr lang="en-US" altLang="zh-TW" baseline="0" dirty="0" smtClean="0"/>
              <a:t>trace</a:t>
            </a:r>
            <a:r>
              <a:rPr lang="zh-TW" altLang="en-US" baseline="0" dirty="0" smtClean="0"/>
              <a:t>，</a:t>
            </a:r>
            <a:r>
              <a:rPr lang="en-US" altLang="zh-TW" baseline="0" dirty="0" smtClean="0"/>
              <a:t>garnet standalone </a:t>
            </a:r>
            <a:r>
              <a:rPr lang="zh-TW" altLang="en-US" baseline="0" dirty="0" smtClean="0"/>
              <a:t>只負責把封包送到目的，但是沒有回應機制，所以我們必需將</a:t>
            </a:r>
            <a:r>
              <a:rPr lang="en-US" altLang="zh-TW" baseline="0" dirty="0" smtClean="0"/>
              <a:t>message </a:t>
            </a:r>
            <a:r>
              <a:rPr lang="zh-TW" altLang="en-US" baseline="0" dirty="0" smtClean="0"/>
              <a:t>的資訊</a:t>
            </a:r>
            <a:r>
              <a:rPr lang="en-US" altLang="zh-TW" baseline="0" dirty="0" smtClean="0"/>
              <a:t>(source destination)</a:t>
            </a:r>
            <a:r>
              <a:rPr lang="zh-TW" altLang="en-US" baseline="0" dirty="0" smtClean="0"/>
              <a:t>，在</a:t>
            </a:r>
            <a:r>
              <a:rPr lang="en-US" altLang="zh-TW" baseline="0" dirty="0" smtClean="0"/>
              <a:t>new </a:t>
            </a:r>
            <a:r>
              <a:rPr lang="zh-TW" altLang="en-US" baseline="0" dirty="0" smtClean="0"/>
              <a:t>一個</a:t>
            </a:r>
            <a:r>
              <a:rPr lang="en-US" altLang="zh-TW" baseline="0" dirty="0" smtClean="0"/>
              <a:t>message</a:t>
            </a:r>
            <a:r>
              <a:rPr lang="zh-TW" altLang="en-US" baseline="0" dirty="0" smtClean="0"/>
              <a:t>從 </a:t>
            </a:r>
            <a:r>
              <a:rPr lang="en-US" altLang="zh-TW" baseline="0" dirty="0" smtClean="0"/>
              <a:t>destination</a:t>
            </a:r>
            <a:r>
              <a:rPr lang="zh-TW" altLang="en-US" baseline="0" dirty="0" smtClean="0"/>
              <a:t>送回來。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0BACC-1D28-4ED4-8443-881A5A1BEC32}" type="slidenum">
              <a:rPr lang="zh-TW" altLang="en-US" smtClean="0">
                <a:solidFill>
                  <a:prstClr val="black"/>
                </a:solidFill>
              </a:rPr>
              <a:pPr/>
              <a:t>28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0460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0BACC-1D28-4ED4-8443-881A5A1BEC32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97586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6EEB13-CE12-4FF4-956E-CED59E762266}" type="slidenum">
              <a:rPr lang="zh-TW" altLang="en-US" smtClean="0"/>
              <a:pPr/>
              <a:t>30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4947660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6EEB13-CE12-4FF4-956E-CED59E762266}" type="slidenum">
              <a:rPr lang="zh-TW" altLang="en-US" smtClean="0"/>
              <a:pPr/>
              <a:t>31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8113484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6EEB13-CE12-4FF4-956E-CED59E762266}" type="slidenum">
              <a:rPr lang="zh-TW" altLang="en-US" smtClean="0"/>
              <a:pPr/>
              <a:t>34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41986869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6EEB13-CE12-4FF4-956E-CED59E762266}" type="slidenum">
              <a:rPr lang="zh-TW" altLang="en-US" smtClean="0"/>
              <a:pPr/>
              <a:t>42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1365419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6EEB13-CE12-4FF4-956E-CED59E762266}" type="slidenum">
              <a:rPr lang="zh-TW" altLang="en-US" smtClean="0"/>
              <a:pPr/>
              <a:t>49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5361450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6EEB13-CE12-4FF4-956E-CED59E762266}" type="slidenum">
              <a:rPr lang="zh-TW" altLang="en-US" smtClean="0"/>
              <a:pPr/>
              <a:t>56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42351592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6EEB13-CE12-4FF4-956E-CED59E762266}" type="slidenum">
              <a:rPr lang="zh-TW" altLang="en-US" smtClean="0"/>
              <a:pPr/>
              <a:t>59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5733554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 smtClean="0"/>
              <a:t>這張圖是在講我們目前</a:t>
            </a:r>
            <a:r>
              <a:rPr kumimoji="1" lang="en-US" altLang="zh-TW" dirty="0" smtClean="0"/>
              <a:t>trace</a:t>
            </a:r>
            <a:r>
              <a:rPr kumimoji="1" lang="zh-TW" altLang="en-US" dirty="0" smtClean="0"/>
              <a:t>到的</a:t>
            </a:r>
            <a:r>
              <a:rPr kumimoji="1" lang="zh-TW" altLang="zh-TW" dirty="0" smtClean="0"/>
              <a:t>N</a:t>
            </a:r>
            <a:r>
              <a:rPr kumimoji="1" lang="en-US" altLang="zh-TW" dirty="0" smtClean="0"/>
              <a:t>OC</a:t>
            </a:r>
            <a:r>
              <a:rPr kumimoji="1" lang="zh-TW" altLang="en-US" dirty="0" smtClean="0"/>
              <a:t>封包的產生跟結束</a:t>
            </a:r>
            <a:r>
              <a:rPr kumimoji="1" lang="en-US" altLang="zh-TW" dirty="0" smtClean="0"/>
              <a:t/>
            </a:r>
            <a:br>
              <a:rPr kumimoji="1" lang="en-US" altLang="zh-TW" dirty="0" smtClean="0"/>
            </a:br>
            <a:r>
              <a:rPr kumimoji="1" lang="zh-TW" altLang="en-US" dirty="0" smtClean="0"/>
              <a:t>一個</a:t>
            </a:r>
            <a:r>
              <a:rPr kumimoji="1" lang="en-US" altLang="zh-TW" dirty="0" smtClean="0"/>
              <a:t>memory</a:t>
            </a:r>
            <a:r>
              <a:rPr kumimoji="1" lang="zh-TW" altLang="en-US" dirty="0" smtClean="0"/>
              <a:t> </a:t>
            </a:r>
            <a:r>
              <a:rPr kumimoji="1" lang="en-US" altLang="zh-TW" dirty="0" smtClean="0"/>
              <a:t>request</a:t>
            </a:r>
            <a:r>
              <a:rPr kumimoji="1" lang="zh-TW" altLang="en-US" dirty="0" smtClean="0"/>
              <a:t>產生之後會包成 </a:t>
            </a:r>
            <a:r>
              <a:rPr kumimoji="1" lang="en-US" altLang="zh-TW" dirty="0" smtClean="0"/>
              <a:t>packet</a:t>
            </a:r>
            <a:r>
              <a:rPr kumimoji="1" lang="zh-TW" altLang="en-US" dirty="0" smtClean="0"/>
              <a:t>，再變成</a:t>
            </a:r>
            <a:r>
              <a:rPr kumimoji="1" lang="en-US" altLang="zh-TW" dirty="0" smtClean="0"/>
              <a:t>message</a:t>
            </a:r>
            <a:r>
              <a:rPr kumimoji="1" lang="zh-TW" altLang="en-US" dirty="0" smtClean="0"/>
              <a:t>再切成</a:t>
            </a:r>
            <a:r>
              <a:rPr kumimoji="1" lang="en-US" altLang="zh-TW" dirty="0" smtClean="0"/>
              <a:t>flit</a:t>
            </a:r>
            <a:r>
              <a:rPr kumimoji="1" lang="zh-TW" altLang="en-US" dirty="0" smtClean="0"/>
              <a:t>塞入</a:t>
            </a:r>
            <a:r>
              <a:rPr kumimoji="1" lang="en-US" altLang="zh-TW" dirty="0" err="1" smtClean="0"/>
              <a:t>NoC</a:t>
            </a:r>
            <a:r>
              <a:rPr kumimoji="1" lang="zh-TW" altLang="en-US" dirty="0" smtClean="0"/>
              <a:t>裡面</a:t>
            </a:r>
            <a:endParaRPr kumimoji="1" lang="en-US" altLang="zh-TW" dirty="0" smtClean="0"/>
          </a:p>
          <a:p>
            <a:r>
              <a:rPr kumimoji="1" lang="zh-TW" altLang="en-US" dirty="0" smtClean="0"/>
              <a:t>而目前就是</a:t>
            </a:r>
            <a:r>
              <a:rPr kumimoji="1" lang="en-US" altLang="zh-TW" dirty="0" smtClean="0"/>
              <a:t>packet</a:t>
            </a:r>
            <a:r>
              <a:rPr kumimoji="1" lang="zh-TW" altLang="en-US" dirty="0" smtClean="0"/>
              <a:t>轉成封包的時候還沒有抓得很清楚，是我們正在解決的問題。</a:t>
            </a:r>
            <a:endParaRPr kumimoji="1"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CDEC60-6E7E-4948-96B4-F5495162B1D5}" type="slidenum">
              <a:rPr lang="zh-TW" altLang="en-US" smtClean="0"/>
              <a:t>60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82538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6EEB13-CE12-4FF4-956E-CED59E762266}" type="slidenum">
              <a:rPr lang="zh-TW" altLang="en-US" smtClean="0"/>
              <a:pPr/>
              <a:t>66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0507104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B55794-49FB-4CE7-9A9C-541300DFA7D6}" type="slidenum">
              <a:rPr lang="zh-TW" altLang="en-US" smtClean="0"/>
              <a:t>67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11545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B55794-49FB-4CE7-9A9C-541300DFA7D6}" type="slidenum">
              <a:rPr lang="zh-TW" altLang="en-US" smtClean="0"/>
              <a:t>68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37625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6EEB13-CE12-4FF4-956E-CED59E762266}" type="slidenum">
              <a:rPr lang="zh-TW" altLang="en-US" smtClean="0"/>
              <a:pPr/>
              <a:t>69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603588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ChangeArrowheads="1"/>
          </p:cNvSpPr>
          <p:nvPr userDrawn="1"/>
        </p:nvSpPr>
        <p:spPr bwMode="auto">
          <a:xfrm>
            <a:off x="0" y="6138863"/>
            <a:ext cx="9144000" cy="719137"/>
          </a:xfrm>
          <a:prstGeom prst="rect">
            <a:avLst/>
          </a:prstGeom>
          <a:solidFill>
            <a:srgbClr val="7F1084"/>
          </a:solidFill>
          <a:ln>
            <a:noFill/>
          </a:ln>
          <a:effectLst/>
          <a:extLst/>
        </p:spPr>
        <p:txBody>
          <a:bodyPr wrap="none" anchor="ctr"/>
          <a:lstStyle/>
          <a:p>
            <a:pPr>
              <a:defRPr/>
            </a:pPr>
            <a:endParaRPr lang="zh-TW" altLang="en-US">
              <a:latin typeface="Calibri" pitchFamily="34" charset="0"/>
            </a:endParaRPr>
          </a:p>
        </p:txBody>
      </p:sp>
      <p:pic>
        <p:nvPicPr>
          <p:cNvPr id="5" name="Picture 11" descr="清大LOGO(鳥)"/>
          <p:cNvPicPr>
            <a:picLocks noChangeAspect="1" noChangeArrowheads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163"/>
            <a:ext cx="1619250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4" descr="清大書法字 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6210300"/>
            <a:ext cx="208756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15"/>
          <p:cNvSpPr txBox="1">
            <a:spLocks noChangeArrowheads="1"/>
          </p:cNvSpPr>
          <p:nvPr userDrawn="1"/>
        </p:nvSpPr>
        <p:spPr bwMode="auto">
          <a:xfrm>
            <a:off x="682625" y="6553200"/>
            <a:ext cx="2520950" cy="304800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400">
                <a:solidFill>
                  <a:schemeClr val="bg1"/>
                </a:solidFill>
                <a:latin typeface="Arial" pitchFamily="34" charset="0"/>
              </a:rPr>
              <a:t>National Tsing Hua University</a:t>
            </a:r>
          </a:p>
        </p:txBody>
      </p:sp>
      <p:pic>
        <p:nvPicPr>
          <p:cNvPr id="8" name="Picture 13" descr="清大LOGO(圓)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81725"/>
            <a:ext cx="684213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692150"/>
            <a:ext cx="8010525" cy="2382838"/>
          </a:xfrm>
        </p:spPr>
        <p:txBody>
          <a:bodyPr/>
          <a:lstStyle>
            <a:lvl1pPr algn="ctr">
              <a:lnSpc>
                <a:spcPct val="100000"/>
              </a:lnSpc>
              <a:defRPr sz="4400"/>
            </a:lvl1pPr>
          </a:lstStyle>
          <a:p>
            <a:pPr lvl="0"/>
            <a:r>
              <a:rPr lang="en-US" altLang="zh-TW" noProof="0" smtClean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55650" y="3716338"/>
            <a:ext cx="7778750" cy="1584325"/>
          </a:xfrm>
        </p:spPr>
        <p:txBody>
          <a:bodyPr/>
          <a:lstStyle>
            <a:lvl1pPr marL="0" indent="0" algn="ctr">
              <a:spcBef>
                <a:spcPct val="15000"/>
              </a:spcBef>
              <a:buFontTx/>
              <a:buNone/>
              <a:defRPr sz="3200"/>
            </a:lvl1pPr>
          </a:lstStyle>
          <a:p>
            <a:pPr lvl="0"/>
            <a:r>
              <a:rPr lang="en-US" altLang="zh-TW" noProof="0" smtClean="0"/>
              <a:t>Click to edit Master subtitle style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11200" y="6229350"/>
            <a:ext cx="1930400" cy="514350"/>
          </a:xfrm>
          <a:prstGeom prst="rect">
            <a:avLst/>
          </a:prstGeom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50000"/>
              </a:spcBef>
              <a:defRPr kumimoji="0" sz="1400">
                <a:solidFill>
                  <a:srgbClr val="5E574E"/>
                </a:solidFill>
                <a:latin typeface="Arial" panose="020B0604020202020204" pitchFamily="34" charset="0"/>
              </a:defRPr>
            </a:lvl1pPr>
          </a:lstStyle>
          <a:p>
            <a:fld id="{9FE7993C-20F2-47B6-BF44-C3A752F508AC}" type="datetime1">
              <a:rPr lang="zh-TW" altLang="en-US"/>
              <a:pPr/>
              <a:t>2015/5/24</a:t>
            </a:fld>
            <a:endParaRPr lang="zh-TW" altLang="zh-TW"/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9600" y="6229350"/>
            <a:ext cx="28448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endParaRPr lang="zh-TW" altLang="zh-TW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04000" y="6229350"/>
            <a:ext cx="1828800" cy="514350"/>
          </a:xfrm>
        </p:spPr>
        <p:txBody>
          <a:bodyPr/>
          <a:lstStyle>
            <a:lvl1pPr>
              <a:defRPr/>
            </a:lvl1pPr>
          </a:lstStyle>
          <a:p>
            <a:fld id="{ADA494F0-93F2-4833-8642-70EAF76E9F3E}" type="slidenum">
              <a:rPr lang="zh-TW" altLang="en-US"/>
              <a:pPr/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790881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F8A0A4-1A2F-4B89-B3C7-02C31CE3A532}" type="slidenum">
              <a:rPr lang="zh-TW" altLang="en-US"/>
              <a:pPr/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138177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18C6F5-E875-4294-983F-0C98D29C71E2}" type="slidenum">
              <a:rPr lang="zh-TW" altLang="en-US"/>
              <a:pPr/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888553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25450" y="1125538"/>
            <a:ext cx="4013200" cy="4967287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91050" y="1125538"/>
            <a:ext cx="4013200" cy="4967287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7B092A-BDAC-4842-B150-2BA3BE831A2E}" type="slidenum">
              <a:rPr lang="zh-TW" altLang="en-US"/>
              <a:pPr/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911140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F206AD-E6B4-4380-9510-9262C6BAD3AB}" type="slidenum">
              <a:rPr lang="zh-TW" altLang="en-US"/>
              <a:pPr/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4044420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E26518-2301-4288-8958-BDA5B1B754F8}" type="slidenum">
              <a:rPr lang="zh-TW" altLang="en-US"/>
              <a:pPr/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819582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8F8FC3-5E9A-4038-B5A8-66BD6BC00F38}" type="slidenum">
              <a:rPr lang="zh-TW" altLang="en-US"/>
              <a:pPr/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682720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CD4846-DA3B-40DF-B5CF-8C74617F3C43}" type="slidenum">
              <a:rPr lang="zh-TW" altLang="en-US"/>
              <a:pPr/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641586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8FEB29-1780-42CD-B804-8F89355597EA}" type="slidenum">
              <a:rPr lang="zh-TW" altLang="en-US"/>
              <a:pPr/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002217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23B9D-1627-428B-9DE5-1BBC89274CF2}" type="slidenum">
              <a:rPr lang="zh-TW" altLang="en-US"/>
              <a:pPr/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960954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59550" y="228600"/>
            <a:ext cx="2051050" cy="58642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06400" y="228600"/>
            <a:ext cx="6000750" cy="58642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D4166B-52E3-401C-8D9E-3D7DDDD0DC22}" type="slidenum">
              <a:rPr lang="zh-TW" altLang="en-US"/>
              <a:pPr/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501603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標題，文字及美工圖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85825" y="381000"/>
            <a:ext cx="7953375" cy="962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893763" y="1638300"/>
            <a:ext cx="3892550" cy="462915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線上圖像版面配置區 3"/>
          <p:cNvSpPr>
            <a:spLocks noGrp="1"/>
          </p:cNvSpPr>
          <p:nvPr>
            <p:ph type="clipArt" sz="half" idx="2"/>
          </p:nvPr>
        </p:nvSpPr>
        <p:spPr>
          <a:xfrm>
            <a:off x="4938713" y="1638300"/>
            <a:ext cx="3892550" cy="4629150"/>
          </a:xfrm>
        </p:spPr>
        <p:txBody>
          <a:bodyPr/>
          <a:lstStyle/>
          <a:p>
            <a:pPr lvl="0"/>
            <a:endParaRPr lang="zh-TW" altLang="en-US" noProof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838200" y="64008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0">
                <a:ea typeface="標楷體" panose="03000509000000000000" pitchFamily="65" charset="-120"/>
              </a:defRPr>
            </a:lvl1pPr>
          </a:lstStyle>
          <a:p>
            <a:fld id="{FD215782-C2A4-4679-8E64-19D568C6D59D}" type="datetime1">
              <a:rPr lang="zh-TW" altLang="en-US"/>
              <a:pPr/>
              <a:t>2015/5/24</a:t>
            </a:fld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4290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EED10BB3-AF5C-43AB-A1E2-93EE963D681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2830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38863"/>
            <a:ext cx="9144000" cy="719137"/>
          </a:xfrm>
          <a:prstGeom prst="rect">
            <a:avLst/>
          </a:prstGeom>
          <a:solidFill>
            <a:srgbClr val="7F1084"/>
          </a:solidFill>
          <a:ln>
            <a:noFill/>
          </a:ln>
          <a:effectLst/>
          <a:extLst/>
        </p:spPr>
        <p:txBody>
          <a:bodyPr wrap="none" anchor="ctr"/>
          <a:lstStyle/>
          <a:p>
            <a:pPr>
              <a:defRPr/>
            </a:pPr>
            <a:endParaRPr lang="zh-TW" altLang="en-US">
              <a:latin typeface="Calibri" pitchFamily="34" charset="0"/>
            </a:endParaRPr>
          </a:p>
        </p:txBody>
      </p:sp>
      <p:pic>
        <p:nvPicPr>
          <p:cNvPr id="124931" name="Picture 11" descr="清大LOGO(鳥)"/>
          <p:cNvPicPr>
            <a:picLocks noChangeAspect="1" noChangeArrowheads="1"/>
          </p:cNvPicPr>
          <p:nvPr userDrawn="1"/>
        </p:nvPicPr>
        <p:blipFill>
          <a:blip r:embed="rId1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163"/>
            <a:ext cx="1619250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493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228600"/>
            <a:ext cx="82042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Click to edit Master title style</a:t>
            </a:r>
          </a:p>
        </p:txBody>
      </p:sp>
      <p:sp>
        <p:nvSpPr>
          <p:cNvPr id="12493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25450" y="1035050"/>
            <a:ext cx="8178800" cy="505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0" hangingPunct="0">
              <a:spcBef>
                <a:spcPct val="50000"/>
              </a:spcBef>
              <a:defRPr kumimoji="0" sz="14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endParaRPr lang="en-US" altLang="zh-TW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1000" y="6229350"/>
            <a:ext cx="1905000" cy="45720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50000"/>
              </a:spcBef>
              <a:defRPr kumimoji="0" sz="14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00019357-62ED-46DA-9758-0BDF6BF309D1}" type="slidenum">
              <a:rPr lang="zh-TW" altLang="en-US"/>
              <a:pPr/>
              <a:t>‹#›</a:t>
            </a:fld>
            <a:endParaRPr lang="zh-TW" altLang="zh-TW"/>
          </a:p>
        </p:txBody>
      </p:sp>
      <p:sp>
        <p:nvSpPr>
          <p:cNvPr id="4105" name="Rectangle 9"/>
          <p:cNvSpPr>
            <a:spLocks noChangeArrowheads="1"/>
          </p:cNvSpPr>
          <p:nvPr userDrawn="1"/>
        </p:nvSpPr>
        <p:spPr bwMode="auto">
          <a:xfrm>
            <a:off x="0" y="908050"/>
            <a:ext cx="9144000" cy="144463"/>
          </a:xfrm>
          <a:prstGeom prst="rect">
            <a:avLst/>
          </a:prstGeom>
          <a:solidFill>
            <a:srgbClr val="7F1084"/>
          </a:solidFill>
          <a:ln>
            <a:noFill/>
          </a:ln>
          <a:effectLst/>
          <a:extLst/>
        </p:spPr>
        <p:txBody>
          <a:bodyPr wrap="none" anchor="ctr"/>
          <a:lstStyle/>
          <a:p>
            <a:pPr>
              <a:defRPr/>
            </a:pPr>
            <a:endParaRPr lang="zh-TW" altLang="en-US">
              <a:latin typeface="Calibri" pitchFamily="34" charset="0"/>
            </a:endParaRPr>
          </a:p>
        </p:txBody>
      </p:sp>
      <p:pic>
        <p:nvPicPr>
          <p:cNvPr id="124937" name="Picture 14" descr="清大書法字 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6210300"/>
            <a:ext cx="208756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11" name="Text Box 15"/>
          <p:cNvSpPr txBox="1">
            <a:spLocks noChangeArrowheads="1"/>
          </p:cNvSpPr>
          <p:nvPr userDrawn="1"/>
        </p:nvSpPr>
        <p:spPr bwMode="auto">
          <a:xfrm>
            <a:off x="682625" y="6553200"/>
            <a:ext cx="2520950" cy="304800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400">
                <a:solidFill>
                  <a:schemeClr val="bg1"/>
                </a:solidFill>
                <a:latin typeface="Arial" pitchFamily="34" charset="0"/>
              </a:rPr>
              <a:t>National Tsing Hua University</a:t>
            </a:r>
          </a:p>
        </p:txBody>
      </p:sp>
      <p:pic>
        <p:nvPicPr>
          <p:cNvPr id="124939" name="Picture 13" descr="清大LOGO(圓)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81725"/>
            <a:ext cx="684213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3" r:id="rId2"/>
    <p:sldLayoutId id="2147483662" r:id="rId3"/>
    <p:sldLayoutId id="2147483661" r:id="rId4"/>
    <p:sldLayoutId id="2147483660" r:id="rId5"/>
    <p:sldLayoutId id="2147483659" r:id="rId6"/>
    <p:sldLayoutId id="2147483658" r:id="rId7"/>
    <p:sldLayoutId id="2147483657" r:id="rId8"/>
    <p:sldLayoutId id="2147483656" r:id="rId9"/>
    <p:sldLayoutId id="2147483655" r:id="rId10"/>
    <p:sldLayoutId id="2147483654" r:id="rId11"/>
    <p:sldLayoutId id="2147483667" r:id="rId12"/>
  </p:sldLayoutIdLst>
  <p:hf hdr="0" ft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36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6pPr>
      <a:lvl7pPr marL="914400"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7pPr>
      <a:lvl8pPr marL="1371600"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8pPr>
      <a:lvl9pPr marL="1828800"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Font typeface="Symbol" panose="05050102010706020507" pitchFamily="18" charset="2"/>
        <a:buChar char="-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Char char="•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­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Char char="–"/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86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1628800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 altLang="zh-TW" dirty="0" smtClean="0">
                <a:solidFill>
                  <a:srgbClr val="C00000"/>
                </a:solidFill>
              </a:rPr>
              <a:t>Trace Processing for </a:t>
            </a:r>
            <a:br>
              <a:rPr lang="en-US" altLang="zh-TW" dirty="0" smtClean="0">
                <a:solidFill>
                  <a:srgbClr val="C00000"/>
                </a:solidFill>
              </a:rPr>
            </a:br>
            <a:r>
              <a:rPr lang="en-US" altLang="zh-TW" dirty="0" smtClean="0">
                <a:solidFill>
                  <a:srgbClr val="C00000"/>
                </a:solidFill>
              </a:rPr>
              <a:t>Exploiting Architecture Designs</a:t>
            </a:r>
            <a:endParaRPr lang="en-US" altLang="zh-TW" dirty="0">
              <a:solidFill>
                <a:srgbClr val="C00000"/>
              </a:solidFill>
            </a:endParaRPr>
          </a:p>
        </p:txBody>
      </p:sp>
      <p:sp>
        <p:nvSpPr>
          <p:cNvPr id="18434" name="Rectangle 11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altLang="zh-TW" sz="2800" dirty="0" smtClean="0"/>
              <a:t>Prof. Chung-Ta King</a:t>
            </a:r>
          </a:p>
          <a:p>
            <a:r>
              <a:rPr lang="en-US" altLang="zh-TW" sz="2400" dirty="0" smtClean="0"/>
              <a:t>Department of Computer Science</a:t>
            </a:r>
          </a:p>
          <a:p>
            <a:r>
              <a:rPr lang="en-US" altLang="zh-TW" sz="2400" dirty="0" smtClean="0"/>
              <a:t>National Tsing Hua University, Taiwan</a:t>
            </a:r>
          </a:p>
        </p:txBody>
      </p:sp>
      <p:sp>
        <p:nvSpPr>
          <p:cNvPr id="2" name="文字方塊 1"/>
          <p:cNvSpPr txBox="1"/>
          <p:nvPr/>
        </p:nvSpPr>
        <p:spPr>
          <a:xfrm>
            <a:off x="1778729" y="5589240"/>
            <a:ext cx="5657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dirty="0">
                <a:latin typeface="+mn-lt"/>
                <a:ea typeface="微軟正黑體" panose="020B0604030504040204" pitchFamily="34" charset="-120"/>
              </a:rPr>
              <a:t>(</a:t>
            </a:r>
            <a:r>
              <a:rPr lang="en-US" altLang="zh-TW" sz="2000" dirty="0" err="1" smtClean="0">
                <a:latin typeface="+mn-lt"/>
                <a:ea typeface="微軟正黑體" panose="020B0604030504040204" pitchFamily="34" charset="-120"/>
              </a:rPr>
              <a:t>Coworks</a:t>
            </a:r>
            <a:r>
              <a:rPr lang="en-US" altLang="zh-TW" sz="2000" dirty="0" smtClean="0">
                <a:latin typeface="+mn-lt"/>
                <a:ea typeface="微軟正黑體" panose="020B0604030504040204" pitchFamily="34" charset="-120"/>
              </a:rPr>
              <a:t> with </a:t>
            </a:r>
            <a:r>
              <a:rPr lang="zh-TW" altLang="en-US" sz="2000" dirty="0" smtClean="0">
                <a:latin typeface="+mn-lt"/>
                <a:ea typeface="微軟正黑體" panose="020B0604030504040204" pitchFamily="34" charset="-120"/>
              </a:rPr>
              <a:t>李荏敏、王泰元、廖柏皓、蔡昕潔</a:t>
            </a:r>
            <a:r>
              <a:rPr lang="en-US" altLang="zh-TW" sz="2000" dirty="0" smtClean="0">
                <a:latin typeface="+mn-lt"/>
                <a:ea typeface="微軟正黑體" panose="020B0604030504040204" pitchFamily="34" charset="-120"/>
              </a:rPr>
              <a:t>)</a:t>
            </a:r>
            <a:endParaRPr lang="zh-TW" altLang="en-US" sz="2000" dirty="0">
              <a:latin typeface="+mn-lt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Why trace-driven simulation for exploiting architecture designs?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Dependence-aware trace: why and how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Dependence-aware trace-driven simulation for SMP </a:t>
            </a: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NoC</a:t>
            </a:r>
            <a:endParaRPr lang="en-US" altLang="zh-TW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Dependence-aware trace-driven simulation for GPU </a:t>
            </a: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NoC</a:t>
            </a:r>
            <a:endParaRPr lang="en-US" altLang="zh-TW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FSM-based trace compression</a:t>
            </a:r>
          </a:p>
          <a:p>
            <a:endParaRPr lang="zh-TW" altLang="en-US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1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502031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 for Architecture Designs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smtClean="0"/>
              <a:t>Functional simulation </a:t>
            </a:r>
            <a:r>
              <a:rPr lang="en-US" altLang="zh-TW" dirty="0" smtClean="0"/>
              <a:t>(e.g., QEMU, </a:t>
            </a:r>
            <a:r>
              <a:rPr lang="en-US" altLang="zh-TW" dirty="0" err="1" smtClean="0"/>
              <a:t>HSAemu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Achieve </a:t>
            </a:r>
            <a:r>
              <a:rPr lang="en-US" altLang="zh-TW" dirty="0"/>
              <a:t>same function as </a:t>
            </a:r>
            <a:r>
              <a:rPr lang="en-US" altLang="zh-TW" dirty="0" smtClean="0"/>
              <a:t>modeled machine (</a:t>
            </a:r>
            <a:r>
              <a:rPr lang="en-US" altLang="zh-TW" i="1" dirty="0" smtClean="0"/>
              <a:t>emulation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Often can run OS and applications on top of the simulator and obtain the same execution results</a:t>
            </a:r>
          </a:p>
          <a:p>
            <a:pPr lvl="1"/>
            <a:r>
              <a:rPr lang="en-US" altLang="zh-TW" dirty="0" smtClean="0"/>
              <a:t>Extensively apply binary translation for speed</a:t>
            </a:r>
            <a:endParaRPr lang="zh-TW" altLang="en-US" dirty="0" smtClean="0"/>
          </a:p>
          <a:p>
            <a:r>
              <a:rPr lang="en-US" altLang="zh-TW" i="1" dirty="0" smtClean="0"/>
              <a:t>Timing simulation </a:t>
            </a:r>
            <a:r>
              <a:rPr lang="en-US" altLang="zh-TW" dirty="0" smtClean="0"/>
              <a:t>(e.g., Gem5)</a:t>
            </a:r>
          </a:p>
          <a:p>
            <a:pPr lvl="1"/>
            <a:r>
              <a:rPr lang="en-US" altLang="zh-TW" dirty="0" smtClean="0"/>
              <a:t>Accurately </a:t>
            </a:r>
            <a:r>
              <a:rPr lang="en-US" altLang="zh-TW" dirty="0"/>
              <a:t>reproduce the performance/timing </a:t>
            </a:r>
            <a:r>
              <a:rPr lang="en-US" altLang="zh-TW" dirty="0" smtClean="0"/>
              <a:t>features </a:t>
            </a:r>
            <a:r>
              <a:rPr lang="en-US" altLang="zh-TW" dirty="0"/>
              <a:t>of the </a:t>
            </a:r>
            <a:r>
              <a:rPr lang="en-US" altLang="zh-TW" dirty="0" smtClean="0"/>
              <a:t>modeled machine in </a:t>
            </a:r>
            <a:r>
              <a:rPr lang="en-US" altLang="zh-TW" dirty="0"/>
              <a:t>addition to </a:t>
            </a:r>
            <a:r>
              <a:rPr lang="en-US" altLang="zh-TW" dirty="0" smtClean="0"/>
              <a:t>its functionalities</a:t>
            </a:r>
          </a:p>
          <a:p>
            <a:pPr lvl="1"/>
            <a:r>
              <a:rPr lang="en-US" altLang="zh-TW" dirty="0" smtClean="0"/>
              <a:t>Cycle-accurate/-approximate</a:t>
            </a:r>
          </a:p>
          <a:p>
            <a:pPr lvl="1"/>
            <a:r>
              <a:rPr lang="en-US" altLang="zh-TW" i="1" dirty="0" smtClean="0"/>
              <a:t>Execution-driven</a:t>
            </a:r>
            <a:r>
              <a:rPr lang="en-US" altLang="zh-TW" dirty="0"/>
              <a:t> </a:t>
            </a:r>
            <a:r>
              <a:rPr lang="en-US" altLang="zh-TW" dirty="0" smtClean="0"/>
              <a:t>simulation</a:t>
            </a:r>
          </a:p>
          <a:p>
            <a:pPr lvl="1"/>
            <a:r>
              <a:rPr lang="en-US" altLang="zh-TW" i="1" dirty="0" smtClean="0">
                <a:solidFill>
                  <a:srgbClr val="FF0000"/>
                </a:solidFill>
              </a:rPr>
              <a:t>Trace-driven</a:t>
            </a:r>
            <a:r>
              <a:rPr lang="en-US" altLang="zh-TW" dirty="0" smtClean="0"/>
              <a:t> (TDS) or event-driven simulation</a:t>
            </a:r>
          </a:p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2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344803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Simulation for Architecture Designs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Full-system </a:t>
            </a:r>
            <a:r>
              <a:rPr lang="en-US" altLang="zh-TW" dirty="0"/>
              <a:t>simulator </a:t>
            </a:r>
            <a:r>
              <a:rPr lang="en-US" altLang="zh-TW" dirty="0" smtClean="0"/>
              <a:t>(e.g</a:t>
            </a:r>
            <a:r>
              <a:rPr lang="en-US" altLang="zh-TW" dirty="0"/>
              <a:t>., QEMU, </a:t>
            </a:r>
            <a:r>
              <a:rPr lang="en-US" altLang="zh-TW" dirty="0" smtClean="0"/>
              <a:t>Gem5)</a:t>
            </a:r>
          </a:p>
          <a:p>
            <a:pPr lvl="1"/>
            <a:r>
              <a:rPr lang="en-US" altLang="zh-TW" dirty="0" smtClean="0"/>
              <a:t>A simulator that simulates a machine at such a level of detail that complete software stacks (device drivers, OS) from real systems can run without any modification</a:t>
            </a:r>
          </a:p>
          <a:p>
            <a:pPr lvl="1"/>
            <a:r>
              <a:rPr lang="en-US" altLang="zh-TW" dirty="0" smtClean="0"/>
              <a:t>Effectively provide virtual hardware that is independent of the host computer</a:t>
            </a:r>
          </a:p>
          <a:p>
            <a:pPr lvl="1"/>
            <a:r>
              <a:rPr lang="en-US" altLang="zh-TW" dirty="0" smtClean="0"/>
              <a:t>Typically include processor cores, peripheral devices, memories, buses, and network connections</a:t>
            </a:r>
          </a:p>
          <a:p>
            <a:r>
              <a:rPr lang="en-US" altLang="zh-TW" dirty="0" smtClean="0"/>
              <a:t>Cycle-accurate simulator</a:t>
            </a:r>
          </a:p>
          <a:p>
            <a:pPr lvl="1"/>
            <a:r>
              <a:rPr lang="en-US" altLang="zh-TW" dirty="0" smtClean="0"/>
              <a:t>A computer program that simulates a microarchitecture (processor, cache, </a:t>
            </a:r>
            <a:r>
              <a:rPr lang="en-US" altLang="zh-TW" dirty="0" err="1" smtClean="0"/>
              <a:t>NoC</a:t>
            </a:r>
            <a:r>
              <a:rPr lang="en-US" altLang="zh-TW" dirty="0" smtClean="0"/>
              <a:t>, …) on a cycle-by-cycle basis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3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905733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Trace-Driven Simulation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Simulations that </a:t>
            </a:r>
            <a:r>
              <a:rPr lang="en-US" altLang="zh-TW" dirty="0" smtClean="0">
                <a:ea typeface="新細明體" panose="02020500000000000000" pitchFamily="18" charset="-120"/>
              </a:rPr>
              <a:t>use </a:t>
            </a:r>
            <a:r>
              <a:rPr lang="en-US" altLang="zh-TW" dirty="0">
                <a:ea typeface="新細明體" panose="02020500000000000000" pitchFamily="18" charset="-120"/>
              </a:rPr>
              <a:t>time-ordered record of events </a:t>
            </a:r>
            <a:r>
              <a:rPr lang="en-US" altLang="zh-TW" dirty="0" smtClean="0">
                <a:ea typeface="新細明體" panose="02020500000000000000" pitchFamily="18" charset="-120"/>
              </a:rPr>
              <a:t>collected from real machines or emulators </a:t>
            </a:r>
            <a:r>
              <a:rPr lang="en-US" altLang="zh-TW" dirty="0">
                <a:ea typeface="新細明體" panose="02020500000000000000" pitchFamily="18" charset="-120"/>
              </a:rPr>
              <a:t>as </a:t>
            </a:r>
            <a:r>
              <a:rPr lang="en-US" altLang="zh-TW" dirty="0" smtClean="0">
                <a:ea typeface="新細明體" panose="02020500000000000000" pitchFamily="18" charset="-120"/>
              </a:rPr>
              <a:t>input and simulate operations of specific modules</a:t>
            </a:r>
          </a:p>
          <a:p>
            <a:r>
              <a:rPr lang="en-US" altLang="zh-TW" dirty="0" smtClean="0">
                <a:ea typeface="新細明體" panose="02020500000000000000" pitchFamily="18" charset="-120"/>
              </a:rPr>
              <a:t>Example: want to simulate </a:t>
            </a:r>
            <a:r>
              <a:rPr lang="en-US" altLang="zh-TW" dirty="0" err="1" smtClean="0">
                <a:ea typeface="新細明體" panose="02020500000000000000" pitchFamily="18" charset="-120"/>
              </a:rPr>
              <a:t>NoC</a:t>
            </a:r>
            <a:r>
              <a:rPr lang="en-US" altLang="zh-TW" dirty="0" smtClean="0">
                <a:ea typeface="新細明體" panose="02020500000000000000" pitchFamily="18" charset="-120"/>
              </a:rPr>
              <a:t> of target machine </a:t>
            </a:r>
            <a:endParaRPr lang="en-US" altLang="zh-TW" dirty="0">
              <a:ea typeface="新細明體" panose="02020500000000000000" pitchFamily="18" charset="-120"/>
            </a:endParaRP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4</a:t>
            </a:fld>
            <a:endParaRPr lang="zh-TW" altLang="zh-TW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33127" y="3527350"/>
            <a:ext cx="330200" cy="3937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/>
        </p:spPr>
        <p:txBody>
          <a:bodyPr wrap="none" anchor="ctr"/>
          <a:lstStyle/>
          <a:p>
            <a:pPr algn="ctr"/>
            <a:r>
              <a:rPr lang="en-US" sz="2400" b="1" dirty="0"/>
              <a:t>P</a:t>
            </a:r>
          </a:p>
        </p:txBody>
      </p:sp>
      <p:grpSp>
        <p:nvGrpSpPr>
          <p:cNvPr id="10" name="Group 12"/>
          <p:cNvGrpSpPr>
            <a:grpSpLocks/>
          </p:cNvGrpSpPr>
          <p:nvPr/>
        </p:nvGrpSpPr>
        <p:grpSpPr bwMode="auto">
          <a:xfrm>
            <a:off x="2920751" y="3933750"/>
            <a:ext cx="288925" cy="49212"/>
            <a:chOff x="4128" y="1440"/>
            <a:chExt cx="336" cy="48"/>
          </a:xfrm>
        </p:grpSpPr>
        <p:sp>
          <p:nvSpPr>
            <p:cNvPr id="11" name="Oval 13"/>
            <p:cNvSpPr>
              <a:spLocks noChangeArrowheads="1"/>
            </p:cNvSpPr>
            <p:nvPr/>
          </p:nvSpPr>
          <p:spPr bwMode="auto">
            <a:xfrm>
              <a:off x="4128" y="144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Oval 14"/>
            <p:cNvSpPr>
              <a:spLocks noChangeArrowheads="1"/>
            </p:cNvSpPr>
            <p:nvPr/>
          </p:nvSpPr>
          <p:spPr bwMode="auto">
            <a:xfrm>
              <a:off x="4272" y="144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Oval 15"/>
            <p:cNvSpPr>
              <a:spLocks noChangeArrowheads="1"/>
            </p:cNvSpPr>
            <p:nvPr/>
          </p:nvSpPr>
          <p:spPr bwMode="auto">
            <a:xfrm>
              <a:off x="4416" y="144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4" name="Group 16"/>
          <p:cNvGrpSpPr>
            <a:grpSpLocks/>
          </p:cNvGrpSpPr>
          <p:nvPr/>
        </p:nvGrpSpPr>
        <p:grpSpPr bwMode="auto">
          <a:xfrm>
            <a:off x="3377951" y="3933750"/>
            <a:ext cx="288925" cy="49212"/>
            <a:chOff x="4128" y="1440"/>
            <a:chExt cx="336" cy="48"/>
          </a:xfrm>
        </p:grpSpPr>
        <p:sp>
          <p:nvSpPr>
            <p:cNvPr id="15" name="Oval 17"/>
            <p:cNvSpPr>
              <a:spLocks noChangeArrowheads="1"/>
            </p:cNvSpPr>
            <p:nvPr/>
          </p:nvSpPr>
          <p:spPr bwMode="auto">
            <a:xfrm>
              <a:off x="4128" y="144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Oval 18"/>
            <p:cNvSpPr>
              <a:spLocks noChangeArrowheads="1"/>
            </p:cNvSpPr>
            <p:nvPr/>
          </p:nvSpPr>
          <p:spPr bwMode="auto">
            <a:xfrm>
              <a:off x="4272" y="144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Oval 19"/>
            <p:cNvSpPr>
              <a:spLocks noChangeArrowheads="1"/>
            </p:cNvSpPr>
            <p:nvPr/>
          </p:nvSpPr>
          <p:spPr bwMode="auto">
            <a:xfrm>
              <a:off x="4416" y="144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" name="Line 82"/>
          <p:cNvSpPr>
            <a:spLocks noChangeShapeType="1"/>
          </p:cNvSpPr>
          <p:nvPr/>
        </p:nvSpPr>
        <p:spPr bwMode="auto">
          <a:xfrm>
            <a:off x="1710927" y="3923438"/>
            <a:ext cx="0" cy="324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0" name="Rectangle 83"/>
          <p:cNvSpPr>
            <a:spLocks noChangeArrowheads="1"/>
          </p:cNvSpPr>
          <p:nvPr/>
        </p:nvSpPr>
        <p:spPr bwMode="auto">
          <a:xfrm>
            <a:off x="2267743" y="3527350"/>
            <a:ext cx="330200" cy="3937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/>
        </p:spPr>
        <p:txBody>
          <a:bodyPr wrap="none" anchor="ctr"/>
          <a:lstStyle/>
          <a:p>
            <a:pPr algn="ctr"/>
            <a:r>
              <a:rPr lang="en-US" sz="2400" b="1"/>
              <a:t>P</a:t>
            </a:r>
          </a:p>
        </p:txBody>
      </p:sp>
      <p:sp>
        <p:nvSpPr>
          <p:cNvPr id="21" name="Line 84"/>
          <p:cNvSpPr>
            <a:spLocks noChangeShapeType="1"/>
          </p:cNvSpPr>
          <p:nvPr/>
        </p:nvSpPr>
        <p:spPr bwMode="auto">
          <a:xfrm>
            <a:off x="2445543" y="3923438"/>
            <a:ext cx="0" cy="324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" name="Rectangle 86"/>
          <p:cNvSpPr>
            <a:spLocks noChangeArrowheads="1"/>
          </p:cNvSpPr>
          <p:nvPr/>
        </p:nvSpPr>
        <p:spPr bwMode="auto">
          <a:xfrm>
            <a:off x="4572000" y="3540050"/>
            <a:ext cx="330200" cy="3937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/>
        </p:spPr>
        <p:txBody>
          <a:bodyPr wrap="none" anchor="ctr"/>
          <a:lstStyle/>
          <a:p>
            <a:pPr algn="ctr"/>
            <a:r>
              <a:rPr lang="en-US" sz="2400" b="1" dirty="0"/>
              <a:t>P</a:t>
            </a:r>
          </a:p>
        </p:txBody>
      </p:sp>
      <p:sp>
        <p:nvSpPr>
          <p:cNvPr id="24" name="Line 87"/>
          <p:cNvSpPr>
            <a:spLocks noChangeShapeType="1"/>
          </p:cNvSpPr>
          <p:nvPr/>
        </p:nvSpPr>
        <p:spPr bwMode="auto">
          <a:xfrm>
            <a:off x="4749800" y="3933096"/>
            <a:ext cx="0" cy="216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6" name="Rectangle 89"/>
          <p:cNvSpPr>
            <a:spLocks noChangeArrowheads="1"/>
          </p:cNvSpPr>
          <p:nvPr/>
        </p:nvSpPr>
        <p:spPr bwMode="auto">
          <a:xfrm>
            <a:off x="5266927" y="3540050"/>
            <a:ext cx="330200" cy="3937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/>
        </p:spPr>
        <p:txBody>
          <a:bodyPr wrap="none" anchor="ctr"/>
          <a:lstStyle/>
          <a:p>
            <a:pPr algn="ctr"/>
            <a:r>
              <a:rPr lang="en-US" sz="2400" b="1"/>
              <a:t>P</a:t>
            </a:r>
          </a:p>
        </p:txBody>
      </p:sp>
      <p:sp>
        <p:nvSpPr>
          <p:cNvPr id="27" name="Line 90"/>
          <p:cNvSpPr>
            <a:spLocks noChangeShapeType="1"/>
          </p:cNvSpPr>
          <p:nvPr/>
        </p:nvSpPr>
        <p:spPr bwMode="auto">
          <a:xfrm>
            <a:off x="5444727" y="3933056"/>
            <a:ext cx="0" cy="25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29" name="Group 92"/>
          <p:cNvGrpSpPr>
            <a:grpSpLocks/>
          </p:cNvGrpSpPr>
          <p:nvPr/>
        </p:nvGrpSpPr>
        <p:grpSpPr bwMode="auto">
          <a:xfrm>
            <a:off x="3851026" y="3933750"/>
            <a:ext cx="288925" cy="49212"/>
            <a:chOff x="4128" y="1440"/>
            <a:chExt cx="336" cy="48"/>
          </a:xfrm>
        </p:grpSpPr>
        <p:sp>
          <p:nvSpPr>
            <p:cNvPr id="30" name="Oval 93"/>
            <p:cNvSpPr>
              <a:spLocks noChangeArrowheads="1"/>
            </p:cNvSpPr>
            <p:nvPr/>
          </p:nvSpPr>
          <p:spPr bwMode="auto">
            <a:xfrm>
              <a:off x="4128" y="144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Oval 94"/>
            <p:cNvSpPr>
              <a:spLocks noChangeArrowheads="1"/>
            </p:cNvSpPr>
            <p:nvPr/>
          </p:nvSpPr>
          <p:spPr bwMode="auto">
            <a:xfrm>
              <a:off x="4272" y="144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Oval 95"/>
            <p:cNvSpPr>
              <a:spLocks noChangeArrowheads="1"/>
            </p:cNvSpPr>
            <p:nvPr/>
          </p:nvSpPr>
          <p:spPr bwMode="auto">
            <a:xfrm>
              <a:off x="4416" y="144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" name="Rectangle 97"/>
          <p:cNvSpPr>
            <a:spLocks noChangeArrowheads="1"/>
          </p:cNvSpPr>
          <p:nvPr/>
        </p:nvSpPr>
        <p:spPr bwMode="auto">
          <a:xfrm>
            <a:off x="2421829" y="5471566"/>
            <a:ext cx="1862138" cy="549722"/>
          </a:xfrm>
          <a:prstGeom prst="rect">
            <a:avLst/>
          </a:prstGeom>
          <a:solidFill>
            <a:srgbClr val="C00000"/>
          </a:solidFill>
          <a:ln w="9525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/>
        </p:spPr>
        <p:txBody>
          <a:bodyPr wrap="none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Memory</a:t>
            </a:r>
          </a:p>
        </p:txBody>
      </p:sp>
      <p:sp>
        <p:nvSpPr>
          <p:cNvPr id="34" name="Line 98"/>
          <p:cNvSpPr>
            <a:spLocks noChangeShapeType="1"/>
          </p:cNvSpPr>
          <p:nvPr/>
        </p:nvSpPr>
        <p:spPr bwMode="auto">
          <a:xfrm>
            <a:off x="3347863" y="5090566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" name="雲朵形 70"/>
          <p:cNvSpPr/>
          <p:nvPr/>
        </p:nvSpPr>
        <p:spPr bwMode="auto">
          <a:xfrm>
            <a:off x="755576" y="4060402"/>
            <a:ext cx="5472608" cy="1193800"/>
          </a:xfrm>
          <a:prstGeom prst="cloud">
            <a:avLst/>
          </a:prstGeom>
          <a:solidFill>
            <a:srgbClr val="99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dirty="0">
                <a:latin typeface="+mn-lt"/>
              </a:rPr>
              <a:t>Interconnection </a:t>
            </a:r>
            <a:r>
              <a:rPr lang="en-US" altLang="zh-TW" dirty="0" smtClean="0">
                <a:latin typeface="+mn-lt"/>
              </a:rPr>
              <a:t>Network</a:t>
            </a:r>
            <a:endParaRPr lang="en-US" altLang="zh-TW" dirty="0">
              <a:latin typeface="+mn-lt"/>
            </a:endParaRPr>
          </a:p>
        </p:txBody>
      </p:sp>
      <p:sp>
        <p:nvSpPr>
          <p:cNvPr id="72" name="流程圖: 多重文件 71"/>
          <p:cNvSpPr/>
          <p:nvPr/>
        </p:nvSpPr>
        <p:spPr bwMode="auto">
          <a:xfrm>
            <a:off x="1448025" y="2996952"/>
            <a:ext cx="531687" cy="386382"/>
          </a:xfrm>
          <a:prstGeom prst="flowChartMultidocumen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73" name="流程圖: 多重文件 72"/>
          <p:cNvSpPr/>
          <p:nvPr/>
        </p:nvSpPr>
        <p:spPr bwMode="auto">
          <a:xfrm>
            <a:off x="2195736" y="2996952"/>
            <a:ext cx="531687" cy="386382"/>
          </a:xfrm>
          <a:prstGeom prst="flowChartMultidocumen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74" name="流程圖: 多重文件 73"/>
          <p:cNvSpPr/>
          <p:nvPr/>
        </p:nvSpPr>
        <p:spPr bwMode="auto">
          <a:xfrm>
            <a:off x="4499992" y="2996952"/>
            <a:ext cx="531687" cy="386382"/>
          </a:xfrm>
          <a:prstGeom prst="flowChartMultidocumen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75" name="流程圖: 多重文件 74"/>
          <p:cNvSpPr/>
          <p:nvPr/>
        </p:nvSpPr>
        <p:spPr bwMode="auto">
          <a:xfrm>
            <a:off x="5247703" y="2996952"/>
            <a:ext cx="531687" cy="386382"/>
          </a:xfrm>
          <a:prstGeom prst="flowChartMultidocumen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6474316" y="3190143"/>
            <a:ext cx="23582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+mn-lt"/>
              </a:rPr>
              <a:t>Normal execution-driven simulation: </a:t>
            </a:r>
          </a:p>
          <a:p>
            <a:r>
              <a:rPr lang="en-US" altLang="zh-TW" dirty="0" smtClean="0">
                <a:latin typeface="+mn-lt"/>
              </a:rPr>
              <a:t>n</a:t>
            </a:r>
            <a:r>
              <a:rPr lang="en-US" dirty="0" smtClean="0">
                <a:latin typeface="+mn-lt"/>
              </a:rPr>
              <a:t>eed to simulate operations of processors and memory</a:t>
            </a:r>
            <a:endParaRPr lang="en-US" dirty="0">
              <a:latin typeface="+mn-lt"/>
            </a:endParaRPr>
          </a:p>
        </p:txBody>
      </p:sp>
      <p:cxnSp>
        <p:nvCxnSpPr>
          <p:cNvPr id="78" name="直線單箭頭接點 77"/>
          <p:cNvCxnSpPr/>
          <p:nvPr/>
        </p:nvCxnSpPr>
        <p:spPr bwMode="auto">
          <a:xfrm>
            <a:off x="1710927" y="4247438"/>
            <a:ext cx="0" cy="252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" name="直線單箭頭接點 78"/>
          <p:cNvCxnSpPr/>
          <p:nvPr/>
        </p:nvCxnSpPr>
        <p:spPr bwMode="auto">
          <a:xfrm>
            <a:off x="3275856" y="4905192"/>
            <a:ext cx="0" cy="252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" name="弧形接點 80"/>
          <p:cNvCxnSpPr/>
          <p:nvPr/>
        </p:nvCxnSpPr>
        <p:spPr bwMode="auto">
          <a:xfrm>
            <a:off x="1710927" y="4499438"/>
            <a:ext cx="1564929" cy="425068"/>
          </a:xfrm>
          <a:prstGeom prst="curvedConnector3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1835696" y="4149080"/>
            <a:ext cx="0" cy="252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4" name="直線單箭頭接點 83"/>
          <p:cNvCxnSpPr/>
          <p:nvPr/>
        </p:nvCxnSpPr>
        <p:spPr bwMode="auto">
          <a:xfrm flipV="1">
            <a:off x="3491880" y="4869160"/>
            <a:ext cx="0" cy="252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" name="弧形接點 84"/>
          <p:cNvCxnSpPr/>
          <p:nvPr/>
        </p:nvCxnSpPr>
        <p:spPr bwMode="auto">
          <a:xfrm rot="10800000">
            <a:off x="1835698" y="4421998"/>
            <a:ext cx="1666078" cy="451204"/>
          </a:xfrm>
          <a:prstGeom prst="curvedConnector3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693168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Trace-Driven Simulation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Simulations that </a:t>
            </a:r>
            <a:r>
              <a:rPr lang="en-US" altLang="zh-TW" dirty="0" smtClean="0">
                <a:ea typeface="新細明體" panose="02020500000000000000" pitchFamily="18" charset="-120"/>
              </a:rPr>
              <a:t>use </a:t>
            </a:r>
            <a:r>
              <a:rPr lang="en-US" altLang="zh-TW" dirty="0">
                <a:ea typeface="新細明體" panose="02020500000000000000" pitchFamily="18" charset="-120"/>
              </a:rPr>
              <a:t>time-ordered record of events </a:t>
            </a:r>
            <a:r>
              <a:rPr lang="en-US" altLang="zh-TW" dirty="0" smtClean="0">
                <a:ea typeface="新細明體" panose="02020500000000000000" pitchFamily="18" charset="-120"/>
              </a:rPr>
              <a:t>collected from real machines or emulators </a:t>
            </a:r>
            <a:r>
              <a:rPr lang="en-US" altLang="zh-TW" dirty="0">
                <a:ea typeface="新細明體" panose="02020500000000000000" pitchFamily="18" charset="-120"/>
              </a:rPr>
              <a:t>as </a:t>
            </a:r>
            <a:r>
              <a:rPr lang="en-US" altLang="zh-TW" dirty="0" smtClean="0">
                <a:ea typeface="新細明體" panose="02020500000000000000" pitchFamily="18" charset="-120"/>
              </a:rPr>
              <a:t>input and simulate operations of </a:t>
            </a:r>
            <a:r>
              <a:rPr lang="en-US" altLang="zh-TW" dirty="0">
                <a:ea typeface="新細明體" panose="02020500000000000000" pitchFamily="18" charset="-120"/>
              </a:rPr>
              <a:t>specific modules</a:t>
            </a:r>
            <a:endParaRPr lang="en-US" altLang="zh-TW" dirty="0" smtClean="0">
              <a:ea typeface="新細明體" panose="02020500000000000000" pitchFamily="18" charset="-120"/>
            </a:endParaRPr>
          </a:p>
          <a:p>
            <a:r>
              <a:rPr lang="en-US" altLang="zh-TW" dirty="0" smtClean="0">
                <a:ea typeface="新細明體" panose="02020500000000000000" pitchFamily="18" charset="-120"/>
              </a:rPr>
              <a:t>Example: want to simulate </a:t>
            </a:r>
            <a:r>
              <a:rPr lang="en-US" altLang="zh-TW" dirty="0" err="1" smtClean="0">
                <a:ea typeface="新細明體" panose="02020500000000000000" pitchFamily="18" charset="-120"/>
              </a:rPr>
              <a:t>NoC</a:t>
            </a:r>
            <a:r>
              <a:rPr lang="en-US" altLang="zh-TW" dirty="0" smtClean="0">
                <a:ea typeface="新細明體" panose="02020500000000000000" pitchFamily="18" charset="-120"/>
              </a:rPr>
              <a:t> of target machine</a:t>
            </a:r>
          </a:p>
          <a:p>
            <a:pPr lvl="1"/>
            <a:r>
              <a:rPr lang="en-US" altLang="zh-TW" dirty="0" smtClean="0">
                <a:ea typeface="新細明體" panose="02020500000000000000" pitchFamily="18" charset="-120"/>
              </a:rPr>
              <a:t>Use trace instead of simulating operations in proc./mem.</a:t>
            </a:r>
            <a:endParaRPr lang="en-US" altLang="zh-TW" dirty="0">
              <a:ea typeface="新細明體" panose="02020500000000000000" pitchFamily="18" charset="-120"/>
            </a:endParaRP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5</a:t>
            </a:fld>
            <a:endParaRPr lang="zh-TW" altLang="zh-TW"/>
          </a:p>
        </p:txBody>
      </p:sp>
      <p:grpSp>
        <p:nvGrpSpPr>
          <p:cNvPr id="10" name="Group 12"/>
          <p:cNvGrpSpPr>
            <a:grpSpLocks/>
          </p:cNvGrpSpPr>
          <p:nvPr/>
        </p:nvGrpSpPr>
        <p:grpSpPr bwMode="auto">
          <a:xfrm>
            <a:off x="3064767" y="3933750"/>
            <a:ext cx="288925" cy="49212"/>
            <a:chOff x="4128" y="1440"/>
            <a:chExt cx="336" cy="48"/>
          </a:xfrm>
        </p:grpSpPr>
        <p:sp>
          <p:nvSpPr>
            <p:cNvPr id="11" name="Oval 13"/>
            <p:cNvSpPr>
              <a:spLocks noChangeArrowheads="1"/>
            </p:cNvSpPr>
            <p:nvPr/>
          </p:nvSpPr>
          <p:spPr bwMode="auto">
            <a:xfrm>
              <a:off x="4128" y="144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Oval 14"/>
            <p:cNvSpPr>
              <a:spLocks noChangeArrowheads="1"/>
            </p:cNvSpPr>
            <p:nvPr/>
          </p:nvSpPr>
          <p:spPr bwMode="auto">
            <a:xfrm>
              <a:off x="4272" y="144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Oval 15"/>
            <p:cNvSpPr>
              <a:spLocks noChangeArrowheads="1"/>
            </p:cNvSpPr>
            <p:nvPr/>
          </p:nvSpPr>
          <p:spPr bwMode="auto">
            <a:xfrm>
              <a:off x="4416" y="144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4" name="Group 16"/>
          <p:cNvGrpSpPr>
            <a:grpSpLocks/>
          </p:cNvGrpSpPr>
          <p:nvPr/>
        </p:nvGrpSpPr>
        <p:grpSpPr bwMode="auto">
          <a:xfrm>
            <a:off x="3521967" y="3933750"/>
            <a:ext cx="288925" cy="49212"/>
            <a:chOff x="4128" y="1440"/>
            <a:chExt cx="336" cy="48"/>
          </a:xfrm>
        </p:grpSpPr>
        <p:sp>
          <p:nvSpPr>
            <p:cNvPr id="15" name="Oval 17"/>
            <p:cNvSpPr>
              <a:spLocks noChangeArrowheads="1"/>
            </p:cNvSpPr>
            <p:nvPr/>
          </p:nvSpPr>
          <p:spPr bwMode="auto">
            <a:xfrm>
              <a:off x="4128" y="144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Oval 18"/>
            <p:cNvSpPr>
              <a:spLocks noChangeArrowheads="1"/>
            </p:cNvSpPr>
            <p:nvPr/>
          </p:nvSpPr>
          <p:spPr bwMode="auto">
            <a:xfrm>
              <a:off x="4272" y="144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Oval 19"/>
            <p:cNvSpPr>
              <a:spLocks noChangeArrowheads="1"/>
            </p:cNvSpPr>
            <p:nvPr/>
          </p:nvSpPr>
          <p:spPr bwMode="auto">
            <a:xfrm>
              <a:off x="4416" y="144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" name="Line 82"/>
          <p:cNvSpPr>
            <a:spLocks noChangeShapeType="1"/>
          </p:cNvSpPr>
          <p:nvPr/>
        </p:nvSpPr>
        <p:spPr bwMode="auto">
          <a:xfrm>
            <a:off x="1763688" y="3923438"/>
            <a:ext cx="0" cy="324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" name="Line 84"/>
          <p:cNvSpPr>
            <a:spLocks noChangeShapeType="1"/>
          </p:cNvSpPr>
          <p:nvPr/>
        </p:nvSpPr>
        <p:spPr bwMode="auto">
          <a:xfrm>
            <a:off x="2589559" y="3923438"/>
            <a:ext cx="0" cy="324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4" name="Line 87"/>
          <p:cNvSpPr>
            <a:spLocks noChangeShapeType="1"/>
          </p:cNvSpPr>
          <p:nvPr/>
        </p:nvSpPr>
        <p:spPr bwMode="auto">
          <a:xfrm>
            <a:off x="4788024" y="3959438"/>
            <a:ext cx="0" cy="216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" name="Line 90"/>
          <p:cNvSpPr>
            <a:spLocks noChangeShapeType="1"/>
          </p:cNvSpPr>
          <p:nvPr/>
        </p:nvSpPr>
        <p:spPr bwMode="auto">
          <a:xfrm>
            <a:off x="5588743" y="3959398"/>
            <a:ext cx="0" cy="25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29" name="Group 92"/>
          <p:cNvGrpSpPr>
            <a:grpSpLocks/>
          </p:cNvGrpSpPr>
          <p:nvPr/>
        </p:nvGrpSpPr>
        <p:grpSpPr bwMode="auto">
          <a:xfrm>
            <a:off x="3995042" y="3933750"/>
            <a:ext cx="288925" cy="49212"/>
            <a:chOff x="4128" y="1440"/>
            <a:chExt cx="336" cy="48"/>
          </a:xfrm>
        </p:grpSpPr>
        <p:sp>
          <p:nvSpPr>
            <p:cNvPr id="30" name="Oval 93"/>
            <p:cNvSpPr>
              <a:spLocks noChangeArrowheads="1"/>
            </p:cNvSpPr>
            <p:nvPr/>
          </p:nvSpPr>
          <p:spPr bwMode="auto">
            <a:xfrm>
              <a:off x="4128" y="144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Oval 94"/>
            <p:cNvSpPr>
              <a:spLocks noChangeArrowheads="1"/>
            </p:cNvSpPr>
            <p:nvPr/>
          </p:nvSpPr>
          <p:spPr bwMode="auto">
            <a:xfrm>
              <a:off x="4272" y="144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Oval 95"/>
            <p:cNvSpPr>
              <a:spLocks noChangeArrowheads="1"/>
            </p:cNvSpPr>
            <p:nvPr/>
          </p:nvSpPr>
          <p:spPr bwMode="auto">
            <a:xfrm>
              <a:off x="4416" y="144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4" name="Line 98"/>
          <p:cNvSpPr>
            <a:spLocks noChangeShapeType="1"/>
          </p:cNvSpPr>
          <p:nvPr/>
        </p:nvSpPr>
        <p:spPr bwMode="auto">
          <a:xfrm>
            <a:off x="3491879" y="5090566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" name="雲朵形 70"/>
          <p:cNvSpPr/>
          <p:nvPr/>
        </p:nvSpPr>
        <p:spPr bwMode="auto">
          <a:xfrm>
            <a:off x="899592" y="4060402"/>
            <a:ext cx="5472608" cy="1193800"/>
          </a:xfrm>
          <a:prstGeom prst="cloud">
            <a:avLst/>
          </a:prstGeom>
          <a:solidFill>
            <a:srgbClr val="99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dirty="0">
                <a:latin typeface="+mn-lt"/>
              </a:rPr>
              <a:t>Interconnection </a:t>
            </a:r>
            <a:r>
              <a:rPr lang="en-US" altLang="zh-TW" dirty="0" smtClean="0">
                <a:latin typeface="+mn-lt"/>
              </a:rPr>
              <a:t>Network</a:t>
            </a:r>
            <a:endParaRPr lang="en-US" altLang="zh-TW" dirty="0">
              <a:latin typeface="+mn-lt"/>
            </a:endParaRPr>
          </a:p>
        </p:txBody>
      </p:sp>
      <p:sp>
        <p:nvSpPr>
          <p:cNvPr id="4" name="書卷 (垂直) 3"/>
          <p:cNvSpPr/>
          <p:nvPr/>
        </p:nvSpPr>
        <p:spPr bwMode="auto">
          <a:xfrm>
            <a:off x="1409502" y="3358274"/>
            <a:ext cx="748755" cy="565163"/>
          </a:xfrm>
          <a:prstGeom prst="verticalScroll">
            <a:avLst>
              <a:gd name="adj" fmla="val 20029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 smtClean="0">
                <a:latin typeface="+mn-lt"/>
              </a:rPr>
              <a:t>trace</a:t>
            </a:r>
            <a:endParaRPr lang="en-US" sz="1600" dirty="0">
              <a:latin typeface="+mn-lt"/>
            </a:endParaRPr>
          </a:p>
        </p:txBody>
      </p:sp>
      <p:sp>
        <p:nvSpPr>
          <p:cNvPr id="35" name="書卷 (垂直) 34"/>
          <p:cNvSpPr/>
          <p:nvPr/>
        </p:nvSpPr>
        <p:spPr bwMode="auto">
          <a:xfrm>
            <a:off x="2195736" y="3356992"/>
            <a:ext cx="748755" cy="565163"/>
          </a:xfrm>
          <a:prstGeom prst="verticalScroll">
            <a:avLst>
              <a:gd name="adj" fmla="val 20029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 smtClean="0">
                <a:latin typeface="+mn-lt"/>
              </a:rPr>
              <a:t>trace</a:t>
            </a:r>
            <a:endParaRPr lang="en-US" sz="1600" dirty="0">
              <a:latin typeface="+mn-lt"/>
            </a:endParaRPr>
          </a:p>
        </p:txBody>
      </p:sp>
      <p:sp>
        <p:nvSpPr>
          <p:cNvPr id="36" name="書卷 (垂直) 35"/>
          <p:cNvSpPr/>
          <p:nvPr/>
        </p:nvSpPr>
        <p:spPr bwMode="auto">
          <a:xfrm>
            <a:off x="4427984" y="3358274"/>
            <a:ext cx="748755" cy="565163"/>
          </a:xfrm>
          <a:prstGeom prst="verticalScroll">
            <a:avLst>
              <a:gd name="adj" fmla="val 20029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 smtClean="0">
                <a:latin typeface="+mn-lt"/>
              </a:rPr>
              <a:t>trace</a:t>
            </a:r>
            <a:endParaRPr lang="en-US" sz="1600" dirty="0">
              <a:latin typeface="+mn-lt"/>
            </a:endParaRPr>
          </a:p>
        </p:txBody>
      </p:sp>
      <p:sp>
        <p:nvSpPr>
          <p:cNvPr id="37" name="書卷 (垂直) 36"/>
          <p:cNvSpPr/>
          <p:nvPr/>
        </p:nvSpPr>
        <p:spPr bwMode="auto">
          <a:xfrm>
            <a:off x="5214218" y="3356992"/>
            <a:ext cx="748755" cy="565163"/>
          </a:xfrm>
          <a:prstGeom prst="verticalScroll">
            <a:avLst>
              <a:gd name="adj" fmla="val 20029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 smtClean="0">
                <a:latin typeface="+mn-lt"/>
              </a:rPr>
              <a:t>trace</a:t>
            </a:r>
            <a:endParaRPr lang="en-US" sz="1600" dirty="0">
              <a:latin typeface="+mn-lt"/>
            </a:endParaRPr>
          </a:p>
        </p:txBody>
      </p:sp>
      <p:sp>
        <p:nvSpPr>
          <p:cNvPr id="39" name="書卷 (垂直) 38"/>
          <p:cNvSpPr/>
          <p:nvPr/>
        </p:nvSpPr>
        <p:spPr bwMode="auto">
          <a:xfrm>
            <a:off x="3103165" y="5456125"/>
            <a:ext cx="748755" cy="565163"/>
          </a:xfrm>
          <a:prstGeom prst="verticalScroll">
            <a:avLst>
              <a:gd name="adj" fmla="val 20029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 smtClean="0">
                <a:latin typeface="+mn-lt"/>
              </a:rPr>
              <a:t>trace</a:t>
            </a:r>
            <a:endParaRPr lang="en-US" sz="1600" dirty="0">
              <a:latin typeface="+mn-lt"/>
            </a:endParaRPr>
          </a:p>
        </p:txBody>
      </p:sp>
      <p:sp>
        <p:nvSpPr>
          <p:cNvPr id="22" name="手繪多邊形 21"/>
          <p:cNvSpPr/>
          <p:nvPr/>
        </p:nvSpPr>
        <p:spPr bwMode="auto">
          <a:xfrm>
            <a:off x="1692326" y="4211398"/>
            <a:ext cx="1720775" cy="1042804"/>
          </a:xfrm>
          <a:custGeom>
            <a:avLst/>
            <a:gdLst>
              <a:gd name="connsiteX0" fmla="*/ 1561 w 1841512"/>
              <a:gd name="connsiteY0" fmla="*/ 0 h 1538869"/>
              <a:gd name="connsiteX1" fmla="*/ 269190 w 1841512"/>
              <a:gd name="connsiteY1" fmla="*/ 312234 h 1538869"/>
              <a:gd name="connsiteX2" fmla="*/ 1674244 w 1841512"/>
              <a:gd name="connsiteY2" fmla="*/ 1193181 h 1538869"/>
              <a:gd name="connsiteX3" fmla="*/ 1841512 w 1841512"/>
              <a:gd name="connsiteY3" fmla="*/ 1538869 h 153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1512" h="1538869">
                <a:moveTo>
                  <a:pt x="1561" y="0"/>
                </a:moveTo>
                <a:cubicBezTo>
                  <a:pt x="-4015" y="56685"/>
                  <a:pt x="-9590" y="113371"/>
                  <a:pt x="269190" y="312234"/>
                </a:cubicBezTo>
                <a:cubicBezTo>
                  <a:pt x="547970" y="511097"/>
                  <a:pt x="1412190" y="988742"/>
                  <a:pt x="1674244" y="1193181"/>
                </a:cubicBezTo>
                <a:cubicBezTo>
                  <a:pt x="1936298" y="1397620"/>
                  <a:pt x="1796907" y="1477537"/>
                  <a:pt x="1841512" y="1538869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標楷體" panose="03000509000000000000" pitchFamily="65" charset="-120"/>
            </a:endParaRPr>
          </a:p>
        </p:txBody>
      </p:sp>
      <p:sp>
        <p:nvSpPr>
          <p:cNvPr id="23" name="手繪多邊形 22"/>
          <p:cNvSpPr/>
          <p:nvPr/>
        </p:nvSpPr>
        <p:spPr bwMode="auto">
          <a:xfrm>
            <a:off x="1835051" y="4175438"/>
            <a:ext cx="1728191" cy="1078764"/>
          </a:xfrm>
          <a:custGeom>
            <a:avLst/>
            <a:gdLst>
              <a:gd name="connsiteX0" fmla="*/ 1611106 w 1623513"/>
              <a:gd name="connsiteY0" fmla="*/ 1103971 h 1103971"/>
              <a:gd name="connsiteX1" fmla="*/ 1421536 w 1623513"/>
              <a:gd name="connsiteY1" fmla="*/ 825191 h 1103971"/>
              <a:gd name="connsiteX2" fmla="*/ 217204 w 1623513"/>
              <a:gd name="connsiteY2" fmla="*/ 167269 h 1103971"/>
              <a:gd name="connsiteX3" fmla="*/ 5331 w 1623513"/>
              <a:gd name="connsiteY3" fmla="*/ 0 h 1103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3513" h="1103971">
                <a:moveTo>
                  <a:pt x="1611106" y="1103971"/>
                </a:moveTo>
                <a:cubicBezTo>
                  <a:pt x="1632479" y="1042639"/>
                  <a:pt x="1653853" y="981308"/>
                  <a:pt x="1421536" y="825191"/>
                </a:cubicBezTo>
                <a:cubicBezTo>
                  <a:pt x="1189219" y="669074"/>
                  <a:pt x="453238" y="304801"/>
                  <a:pt x="217204" y="167269"/>
                </a:cubicBezTo>
                <a:cubicBezTo>
                  <a:pt x="-18830" y="29737"/>
                  <a:pt x="-6750" y="14868"/>
                  <a:pt x="5331" y="0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標楷體" panose="03000509000000000000" pitchFamily="65" charset="-12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6516215" y="3861048"/>
            <a:ext cx="24818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Trace events: injections of memory requests and replies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67844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Two Phases of Trace-Driven Simulation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Trace generation</a:t>
            </a:r>
          </a:p>
          <a:p>
            <a:endParaRPr lang="zh-TW" altLang="en-US" dirty="0"/>
          </a:p>
        </p:txBody>
      </p:sp>
      <p:sp>
        <p:nvSpPr>
          <p:cNvPr id="22" name="投影片編號版面配置區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6</a:t>
            </a:fld>
            <a:endParaRPr lang="zh-TW" altLang="zh-TW"/>
          </a:p>
        </p:txBody>
      </p:sp>
      <p:grpSp>
        <p:nvGrpSpPr>
          <p:cNvPr id="7" name="群組 20"/>
          <p:cNvGrpSpPr/>
          <p:nvPr/>
        </p:nvGrpSpPr>
        <p:grpSpPr>
          <a:xfrm>
            <a:off x="3820464" y="3272844"/>
            <a:ext cx="1143008" cy="1143008"/>
            <a:chOff x="2714612" y="4786322"/>
            <a:chExt cx="1143008" cy="1143008"/>
          </a:xfrm>
          <a:solidFill>
            <a:srgbClr val="FFC000"/>
          </a:solidFill>
        </p:grpSpPr>
        <p:sp>
          <p:nvSpPr>
            <p:cNvPr id="17" name="矩形 16"/>
            <p:cNvSpPr/>
            <p:nvPr/>
          </p:nvSpPr>
          <p:spPr bwMode="auto">
            <a:xfrm>
              <a:off x="2714612" y="4786322"/>
              <a:ext cx="900000" cy="900000"/>
            </a:xfrm>
            <a:prstGeom prst="rect">
              <a:avLst/>
            </a:prstGeom>
            <a:grp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endParaRPr>
            </a:p>
          </p:txBody>
        </p:sp>
        <p:sp>
          <p:nvSpPr>
            <p:cNvPr id="18" name="矩形 17"/>
            <p:cNvSpPr/>
            <p:nvPr/>
          </p:nvSpPr>
          <p:spPr bwMode="auto">
            <a:xfrm>
              <a:off x="2786050" y="4857760"/>
              <a:ext cx="900000" cy="900000"/>
            </a:xfrm>
            <a:prstGeom prst="rect">
              <a:avLst/>
            </a:prstGeom>
            <a:grp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endParaRPr>
            </a:p>
          </p:txBody>
        </p:sp>
        <p:sp>
          <p:nvSpPr>
            <p:cNvPr id="19" name="矩形 18"/>
            <p:cNvSpPr/>
            <p:nvPr/>
          </p:nvSpPr>
          <p:spPr bwMode="auto">
            <a:xfrm>
              <a:off x="2867012" y="4938722"/>
              <a:ext cx="900000" cy="900000"/>
            </a:xfrm>
            <a:prstGeom prst="rect">
              <a:avLst/>
            </a:prstGeom>
            <a:grp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endParaRPr>
            </a:p>
          </p:txBody>
        </p:sp>
        <p:sp>
          <p:nvSpPr>
            <p:cNvPr id="20" name="矩形 19"/>
            <p:cNvSpPr/>
            <p:nvPr/>
          </p:nvSpPr>
          <p:spPr bwMode="auto">
            <a:xfrm>
              <a:off x="2957620" y="5029330"/>
              <a:ext cx="900000" cy="900000"/>
            </a:xfrm>
            <a:prstGeom prst="rect">
              <a:avLst/>
            </a:prstGeom>
            <a:grp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200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ea typeface="新細明體" pitchFamily="18" charset="-120"/>
                </a:rPr>
                <a:t>Trace</a:t>
              </a:r>
              <a:endParaRPr kumimoji="1" lang="zh-TW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endParaRPr>
            </a:p>
          </p:txBody>
        </p:sp>
      </p:grpSp>
      <p:cxnSp>
        <p:nvCxnSpPr>
          <p:cNvPr id="8" name="直線單箭頭接點 7"/>
          <p:cNvCxnSpPr/>
          <p:nvPr/>
        </p:nvCxnSpPr>
        <p:spPr bwMode="auto">
          <a:xfrm>
            <a:off x="3177522" y="3751538"/>
            <a:ext cx="648000" cy="0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直線單箭頭接點 8"/>
          <p:cNvCxnSpPr/>
          <p:nvPr/>
        </p:nvCxnSpPr>
        <p:spPr bwMode="auto">
          <a:xfrm>
            <a:off x="4963472" y="3772910"/>
            <a:ext cx="648000" cy="0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直線單箭頭接點 11"/>
          <p:cNvCxnSpPr>
            <a:endCxn id="32" idx="0"/>
          </p:cNvCxnSpPr>
          <p:nvPr/>
        </p:nvCxnSpPr>
        <p:spPr bwMode="auto">
          <a:xfrm flipH="1">
            <a:off x="6427951" y="2861550"/>
            <a:ext cx="224032" cy="439089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直線單箭頭接點 12"/>
          <p:cNvCxnSpPr/>
          <p:nvPr/>
        </p:nvCxnSpPr>
        <p:spPr bwMode="auto">
          <a:xfrm>
            <a:off x="7244430" y="3772910"/>
            <a:ext cx="648000" cy="0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4" name="矩形 13"/>
          <p:cNvSpPr/>
          <p:nvPr/>
        </p:nvSpPr>
        <p:spPr bwMode="auto">
          <a:xfrm>
            <a:off x="7902000" y="3272844"/>
            <a:ext cx="1080000" cy="1080000"/>
          </a:xfrm>
          <a:prstGeom prst="rect">
            <a:avLst/>
          </a:prstGeom>
          <a:solidFill>
            <a:srgbClr val="99FF99"/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Simulation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800" dirty="0" smtClean="0">
                <a:solidFill>
                  <a:schemeClr val="tx1"/>
                </a:solidFill>
                <a:ea typeface="新細明體" pitchFamily="18" charset="-120"/>
              </a:rPr>
              <a:t>output</a:t>
            </a:r>
            <a:endParaRPr kumimoji="1" lang="zh-TW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cxnSp>
        <p:nvCxnSpPr>
          <p:cNvPr id="16" name="直線單箭頭接點 15"/>
          <p:cNvCxnSpPr/>
          <p:nvPr/>
        </p:nvCxnSpPr>
        <p:spPr bwMode="auto">
          <a:xfrm rot="16200000" flipH="1">
            <a:off x="1092868" y="3326233"/>
            <a:ext cx="472270" cy="421083"/>
          </a:xfrm>
          <a:prstGeom prst="straightConnector1">
            <a:avLst/>
          </a:prstGeom>
          <a:noFill/>
          <a:ln w="38100" cap="flat" cmpd="sng" algn="ctr">
            <a:solidFill>
              <a:schemeClr val="tx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1" name="圓角矩形 20"/>
          <p:cNvSpPr/>
          <p:nvPr/>
        </p:nvSpPr>
        <p:spPr bwMode="auto">
          <a:xfrm>
            <a:off x="71406" y="1772816"/>
            <a:ext cx="5143536" cy="324036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+mn-lt"/>
              <a:ea typeface="新細明體" pitchFamily="18" charset="-120"/>
            </a:endParaRPr>
          </a:p>
        </p:txBody>
      </p:sp>
      <p:sp>
        <p:nvSpPr>
          <p:cNvPr id="29" name="流程圖: 多重文件 28"/>
          <p:cNvSpPr/>
          <p:nvPr/>
        </p:nvSpPr>
        <p:spPr bwMode="auto">
          <a:xfrm>
            <a:off x="251520" y="2496652"/>
            <a:ext cx="1282928" cy="932348"/>
          </a:xfrm>
          <a:prstGeom prst="flowChartMultidocumen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altLang="zh-TW" sz="2000" dirty="0">
                <a:latin typeface="+mn-lt"/>
              </a:rPr>
              <a:t>Program</a:t>
            </a:r>
            <a:endParaRPr kumimoji="0" 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ea typeface="標楷體" panose="03000509000000000000" pitchFamily="65" charset="-120"/>
            </a:endParaRPr>
          </a:p>
        </p:txBody>
      </p:sp>
      <p:sp>
        <p:nvSpPr>
          <p:cNvPr id="30" name="流程圖: 程序 29"/>
          <p:cNvSpPr/>
          <p:nvPr/>
        </p:nvSpPr>
        <p:spPr bwMode="auto">
          <a:xfrm>
            <a:off x="6427951" y="2132856"/>
            <a:ext cx="1240393" cy="728694"/>
          </a:xfrm>
          <a:prstGeom prst="flowChartProces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sz="2000" dirty="0">
                <a:latin typeface="+mn-lt"/>
              </a:rPr>
              <a:t>Target</a:t>
            </a:r>
          </a:p>
          <a:p>
            <a:pPr algn="ctr"/>
            <a:r>
              <a:rPr lang="en-US" altLang="zh-TW" sz="2000" dirty="0">
                <a:latin typeface="+mn-lt"/>
              </a:rPr>
              <a:t>arch. def.</a:t>
            </a:r>
            <a:endParaRPr lang="zh-TW" altLang="en-US" sz="2000" dirty="0">
              <a:latin typeface="+mn-lt"/>
            </a:endParaRPr>
          </a:p>
          <a:p>
            <a:pPr algn="ctr" eaLnBrk="0" hangingPunct="0"/>
            <a:endParaRPr lang="en-US" sz="2000" dirty="0">
              <a:latin typeface="+mn-lt"/>
            </a:endParaRPr>
          </a:p>
        </p:txBody>
      </p:sp>
      <p:sp>
        <p:nvSpPr>
          <p:cNvPr id="31" name="流程圖: 替代處理程序 30"/>
          <p:cNvSpPr/>
          <p:nvPr/>
        </p:nvSpPr>
        <p:spPr bwMode="auto">
          <a:xfrm>
            <a:off x="1534448" y="3344282"/>
            <a:ext cx="1643074" cy="1071570"/>
          </a:xfrm>
          <a:prstGeom prst="flowChartAlternateProcess">
            <a:avLst/>
          </a:prstGeom>
          <a:solidFill>
            <a:srgbClr val="99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sz="2000" dirty="0">
                <a:latin typeface="+mn-lt"/>
              </a:rPr>
              <a:t>Trace-generating </a:t>
            </a:r>
            <a:r>
              <a:rPr lang="en-US" altLang="zh-TW" sz="2000" dirty="0" smtClean="0">
                <a:latin typeface="+mn-lt"/>
              </a:rPr>
              <a:t>machine</a:t>
            </a:r>
            <a:endParaRPr lang="zh-TW" altLang="en-US" sz="2000" dirty="0">
              <a:latin typeface="+mn-lt"/>
            </a:endParaRPr>
          </a:p>
        </p:txBody>
      </p:sp>
      <p:sp>
        <p:nvSpPr>
          <p:cNvPr id="32" name="流程圖: 替代處理程序 31"/>
          <p:cNvSpPr/>
          <p:nvPr/>
        </p:nvSpPr>
        <p:spPr bwMode="auto">
          <a:xfrm>
            <a:off x="5611472" y="3300639"/>
            <a:ext cx="1632958" cy="872205"/>
          </a:xfrm>
          <a:prstGeom prst="flowChartAlternateProcess">
            <a:avLst/>
          </a:prstGeom>
          <a:solidFill>
            <a:srgbClr val="99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sz="2000" dirty="0" smtClean="0">
                <a:latin typeface="+mn-lt"/>
              </a:rPr>
              <a:t>Trace-driven simulator</a:t>
            </a:r>
            <a:endParaRPr lang="en-US" altLang="zh-TW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7081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Two Phases of Trace-Driven Simulation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/>
              <a:t>Trace-driven simulation</a:t>
            </a:r>
          </a:p>
          <a:p>
            <a:endParaRPr lang="zh-TW" altLang="en-US" dirty="0"/>
          </a:p>
        </p:txBody>
      </p:sp>
      <p:sp>
        <p:nvSpPr>
          <p:cNvPr id="22" name="投影片編號版面配置區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7</a:t>
            </a:fld>
            <a:endParaRPr lang="zh-TW" altLang="zh-TW"/>
          </a:p>
        </p:txBody>
      </p:sp>
      <p:sp>
        <p:nvSpPr>
          <p:cNvPr id="21" name="圓角矩形 20"/>
          <p:cNvSpPr/>
          <p:nvPr/>
        </p:nvSpPr>
        <p:spPr bwMode="auto">
          <a:xfrm>
            <a:off x="3714744" y="1845224"/>
            <a:ext cx="5314512" cy="3311968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grpSp>
        <p:nvGrpSpPr>
          <p:cNvPr id="26" name="群組 20"/>
          <p:cNvGrpSpPr/>
          <p:nvPr/>
        </p:nvGrpSpPr>
        <p:grpSpPr>
          <a:xfrm>
            <a:off x="3820464" y="3416860"/>
            <a:ext cx="1143008" cy="1143008"/>
            <a:chOff x="2714612" y="4786322"/>
            <a:chExt cx="1143008" cy="1143008"/>
          </a:xfrm>
          <a:solidFill>
            <a:srgbClr val="FFC000"/>
          </a:solidFill>
        </p:grpSpPr>
        <p:sp>
          <p:nvSpPr>
            <p:cNvPr id="27" name="矩形 26"/>
            <p:cNvSpPr/>
            <p:nvPr/>
          </p:nvSpPr>
          <p:spPr bwMode="auto">
            <a:xfrm>
              <a:off x="2714612" y="4786322"/>
              <a:ext cx="900000" cy="900000"/>
            </a:xfrm>
            <a:prstGeom prst="rect">
              <a:avLst/>
            </a:prstGeom>
            <a:grp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endParaRPr>
            </a:p>
          </p:txBody>
        </p:sp>
        <p:sp>
          <p:nvSpPr>
            <p:cNvPr id="28" name="矩形 27"/>
            <p:cNvSpPr/>
            <p:nvPr/>
          </p:nvSpPr>
          <p:spPr bwMode="auto">
            <a:xfrm>
              <a:off x="2786050" y="4857760"/>
              <a:ext cx="900000" cy="900000"/>
            </a:xfrm>
            <a:prstGeom prst="rect">
              <a:avLst/>
            </a:prstGeom>
            <a:grp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endParaRPr>
            </a:p>
          </p:txBody>
        </p:sp>
        <p:sp>
          <p:nvSpPr>
            <p:cNvPr id="29" name="矩形 28"/>
            <p:cNvSpPr/>
            <p:nvPr/>
          </p:nvSpPr>
          <p:spPr bwMode="auto">
            <a:xfrm>
              <a:off x="2867012" y="4938722"/>
              <a:ext cx="900000" cy="900000"/>
            </a:xfrm>
            <a:prstGeom prst="rect">
              <a:avLst/>
            </a:prstGeom>
            <a:grp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endParaRPr>
            </a:p>
          </p:txBody>
        </p:sp>
        <p:sp>
          <p:nvSpPr>
            <p:cNvPr id="30" name="矩形 29"/>
            <p:cNvSpPr/>
            <p:nvPr/>
          </p:nvSpPr>
          <p:spPr bwMode="auto">
            <a:xfrm>
              <a:off x="2957620" y="5029330"/>
              <a:ext cx="900000" cy="900000"/>
            </a:xfrm>
            <a:prstGeom prst="rect">
              <a:avLst/>
            </a:prstGeom>
            <a:grpFill/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200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ea typeface="新細明體" pitchFamily="18" charset="-120"/>
                </a:rPr>
                <a:t>Trace</a:t>
              </a:r>
              <a:endParaRPr kumimoji="1" lang="zh-TW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endParaRPr>
            </a:p>
          </p:txBody>
        </p:sp>
      </p:grpSp>
      <p:cxnSp>
        <p:nvCxnSpPr>
          <p:cNvPr id="31" name="直線單箭頭接點 30"/>
          <p:cNvCxnSpPr/>
          <p:nvPr/>
        </p:nvCxnSpPr>
        <p:spPr bwMode="auto">
          <a:xfrm>
            <a:off x="3177522" y="3895554"/>
            <a:ext cx="648000" cy="0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2" name="直線單箭頭接點 31"/>
          <p:cNvCxnSpPr/>
          <p:nvPr/>
        </p:nvCxnSpPr>
        <p:spPr bwMode="auto">
          <a:xfrm>
            <a:off x="4963472" y="3916926"/>
            <a:ext cx="648000" cy="0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直線單箭頭接點 32"/>
          <p:cNvCxnSpPr>
            <a:endCxn id="40" idx="0"/>
          </p:cNvCxnSpPr>
          <p:nvPr/>
        </p:nvCxnSpPr>
        <p:spPr bwMode="auto">
          <a:xfrm flipH="1">
            <a:off x="6427951" y="3005566"/>
            <a:ext cx="224032" cy="439089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直線單箭頭接點 33"/>
          <p:cNvCxnSpPr/>
          <p:nvPr/>
        </p:nvCxnSpPr>
        <p:spPr bwMode="auto">
          <a:xfrm>
            <a:off x="7244430" y="3916926"/>
            <a:ext cx="648000" cy="0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5" name="矩形 34"/>
          <p:cNvSpPr/>
          <p:nvPr/>
        </p:nvSpPr>
        <p:spPr bwMode="auto">
          <a:xfrm>
            <a:off x="7902000" y="3416860"/>
            <a:ext cx="1080000" cy="1080000"/>
          </a:xfrm>
          <a:prstGeom prst="rect">
            <a:avLst/>
          </a:prstGeom>
          <a:solidFill>
            <a:srgbClr val="99FF99"/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Simulation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800" dirty="0" smtClean="0">
                <a:solidFill>
                  <a:schemeClr val="tx1"/>
                </a:solidFill>
                <a:ea typeface="新細明體" pitchFamily="18" charset="-120"/>
              </a:rPr>
              <a:t>output</a:t>
            </a:r>
            <a:endParaRPr kumimoji="1" lang="zh-TW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cxnSp>
        <p:nvCxnSpPr>
          <p:cNvPr id="36" name="直線單箭頭接點 35"/>
          <p:cNvCxnSpPr/>
          <p:nvPr/>
        </p:nvCxnSpPr>
        <p:spPr bwMode="auto">
          <a:xfrm rot="16200000" flipH="1">
            <a:off x="1092868" y="3470249"/>
            <a:ext cx="472270" cy="421083"/>
          </a:xfrm>
          <a:prstGeom prst="straightConnector1">
            <a:avLst/>
          </a:prstGeom>
          <a:noFill/>
          <a:ln w="38100" cap="flat" cmpd="sng" algn="ctr">
            <a:solidFill>
              <a:schemeClr val="tx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7" name="流程圖: 多重文件 36"/>
          <p:cNvSpPr/>
          <p:nvPr/>
        </p:nvSpPr>
        <p:spPr bwMode="auto">
          <a:xfrm>
            <a:off x="251520" y="2640668"/>
            <a:ext cx="1282928" cy="932348"/>
          </a:xfrm>
          <a:prstGeom prst="flowChartMultidocumen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altLang="zh-TW" sz="2000" dirty="0">
                <a:latin typeface="+mn-lt"/>
              </a:rPr>
              <a:t>Program</a:t>
            </a:r>
            <a:endParaRPr kumimoji="0" 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ea typeface="標楷體" panose="03000509000000000000" pitchFamily="65" charset="-120"/>
            </a:endParaRPr>
          </a:p>
        </p:txBody>
      </p:sp>
      <p:sp>
        <p:nvSpPr>
          <p:cNvPr id="38" name="流程圖: 程序 37"/>
          <p:cNvSpPr/>
          <p:nvPr/>
        </p:nvSpPr>
        <p:spPr bwMode="auto">
          <a:xfrm>
            <a:off x="6427951" y="2276872"/>
            <a:ext cx="1240393" cy="728694"/>
          </a:xfrm>
          <a:prstGeom prst="flowChartProces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sz="2000" dirty="0">
                <a:latin typeface="+mn-lt"/>
              </a:rPr>
              <a:t>Target</a:t>
            </a:r>
          </a:p>
          <a:p>
            <a:pPr algn="ctr"/>
            <a:r>
              <a:rPr lang="en-US" altLang="zh-TW" sz="2000" dirty="0">
                <a:latin typeface="+mn-lt"/>
              </a:rPr>
              <a:t>arch. def.</a:t>
            </a:r>
            <a:endParaRPr lang="zh-TW" altLang="en-US" sz="2000" dirty="0">
              <a:latin typeface="+mn-lt"/>
            </a:endParaRPr>
          </a:p>
          <a:p>
            <a:pPr algn="ctr" eaLnBrk="0" hangingPunct="0"/>
            <a:endParaRPr lang="en-US" sz="2000" dirty="0">
              <a:latin typeface="+mn-lt"/>
            </a:endParaRPr>
          </a:p>
        </p:txBody>
      </p:sp>
      <p:sp>
        <p:nvSpPr>
          <p:cNvPr id="39" name="流程圖: 替代處理程序 38"/>
          <p:cNvSpPr/>
          <p:nvPr/>
        </p:nvSpPr>
        <p:spPr bwMode="auto">
          <a:xfrm>
            <a:off x="1534448" y="3488298"/>
            <a:ext cx="1643074" cy="1071570"/>
          </a:xfrm>
          <a:prstGeom prst="flowChartAlternateProcess">
            <a:avLst/>
          </a:prstGeom>
          <a:solidFill>
            <a:srgbClr val="99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sz="2000" dirty="0">
                <a:latin typeface="+mn-lt"/>
              </a:rPr>
              <a:t>Trace-generating </a:t>
            </a:r>
            <a:r>
              <a:rPr lang="en-US" altLang="zh-TW" sz="2000" dirty="0" smtClean="0">
                <a:latin typeface="+mn-lt"/>
              </a:rPr>
              <a:t>machine</a:t>
            </a:r>
            <a:endParaRPr lang="zh-TW" altLang="en-US" sz="2000" dirty="0">
              <a:latin typeface="+mn-lt"/>
            </a:endParaRPr>
          </a:p>
        </p:txBody>
      </p:sp>
      <p:sp>
        <p:nvSpPr>
          <p:cNvPr id="40" name="流程圖: 替代處理程序 39"/>
          <p:cNvSpPr/>
          <p:nvPr/>
        </p:nvSpPr>
        <p:spPr bwMode="auto">
          <a:xfrm>
            <a:off x="5611472" y="3444655"/>
            <a:ext cx="1632958" cy="872205"/>
          </a:xfrm>
          <a:prstGeom prst="flowChartAlternateProcess">
            <a:avLst/>
          </a:prstGeom>
          <a:solidFill>
            <a:srgbClr val="99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sz="2000" dirty="0" smtClean="0">
                <a:latin typeface="+mn-lt"/>
              </a:rPr>
              <a:t>Trace-driven simulator</a:t>
            </a:r>
            <a:endParaRPr lang="en-US" altLang="zh-TW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6258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Trace-Driven Simulation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Trace-driven simulation has been an important tool for exploiting design space of computer architecture</a:t>
            </a:r>
          </a:p>
          <a:p>
            <a:r>
              <a:rPr lang="en-US" altLang="zh-TW" dirty="0" smtClean="0"/>
              <a:t>Advantages:</a:t>
            </a:r>
          </a:p>
          <a:p>
            <a:pPr lvl="1"/>
            <a:r>
              <a:rPr lang="en-US" altLang="zh-TW" dirty="0" smtClean="0"/>
              <a:t>Speed (no need to simulate operations in cores)</a:t>
            </a:r>
          </a:p>
          <a:p>
            <a:pPr lvl="1"/>
            <a:r>
              <a:rPr lang="en-US" altLang="zh-TW" dirty="0" smtClean="0"/>
              <a:t>Can focus on specific components (</a:t>
            </a:r>
            <a:r>
              <a:rPr lang="en-US" altLang="zh-TW" i="1" dirty="0" err="1" smtClean="0"/>
              <a:t>uncores</a:t>
            </a:r>
            <a:r>
              <a:rPr lang="en-US" altLang="zh-TW" dirty="0" smtClean="0"/>
              <a:t> such as cache, </a:t>
            </a:r>
            <a:r>
              <a:rPr lang="en-US" altLang="zh-TW" dirty="0" err="1" smtClean="0"/>
              <a:t>NoC</a:t>
            </a:r>
            <a:r>
              <a:rPr lang="en-US" altLang="zh-TW" dirty="0" smtClean="0"/>
              <a:t>, and memory)</a:t>
            </a:r>
          </a:p>
          <a:p>
            <a:pPr lvl="1"/>
            <a:r>
              <a:rPr lang="en-US" altLang="zh-TW" dirty="0" smtClean="0"/>
              <a:t>Easy to develop</a:t>
            </a:r>
          </a:p>
          <a:p>
            <a:r>
              <a:rPr lang="en-US" altLang="zh-TW" dirty="0" smtClean="0"/>
              <a:t>Disadvantage:</a:t>
            </a:r>
          </a:p>
          <a:p>
            <a:pPr lvl="1"/>
            <a:r>
              <a:rPr lang="en-US" altLang="zh-TW" dirty="0" smtClean="0"/>
              <a:t>Inaccurate timing</a:t>
            </a: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8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127645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Why trace-driven simulation for exploiting architecture designs?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Dependence-aware trace: why and how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Dependence-aware trace-driven simulation for SMP </a:t>
            </a: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NoC</a:t>
            </a:r>
            <a:endParaRPr lang="en-US" altLang="zh-TW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Dependence-aware trace-driven simulation for GPU </a:t>
            </a: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NoC</a:t>
            </a:r>
            <a:endParaRPr lang="en-US" altLang="zh-TW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FSM-based trace compression</a:t>
            </a:r>
          </a:p>
          <a:p>
            <a:endParaRPr lang="zh-TW" altLang="en-US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9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4143269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Why Trace-Driven Simulation Inaccurate?</a:t>
            </a:r>
            <a:endParaRPr lang="zh-TW" altLang="en-US" dirty="0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Traditional trace-driven simulation</a:t>
            </a:r>
          </a:p>
          <a:p>
            <a:pPr lvl="1"/>
            <a:r>
              <a:rPr lang="en-US" altLang="zh-TW" dirty="0" smtClean="0"/>
              <a:t>Trace events are fed to simulator according to their time of occurrence obtained from trace-generating machine</a:t>
            </a:r>
          </a:p>
          <a:p>
            <a:pPr lvl="1"/>
            <a:r>
              <a:rPr lang="en-US" altLang="zh-TW" dirty="0" smtClean="0"/>
              <a:t>Timing of trace events is that of trace-generating machine and is fixed </a:t>
            </a:r>
            <a:r>
              <a:rPr lang="en-US" dirty="0" smtClean="0"/>
              <a:t>regardless of the target machine</a:t>
            </a:r>
            <a:endParaRPr lang="zh-TW" altLang="en-US" dirty="0" smtClean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10</a:t>
            </a:fld>
            <a:endParaRPr lang="zh-TW" altLang="zh-TW"/>
          </a:p>
        </p:txBody>
      </p:sp>
      <p:pic>
        <p:nvPicPr>
          <p:cNvPr id="1026" name="Picture 2" descr="C:\Users\wty\Pictures\pi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350" y="3101488"/>
            <a:ext cx="4184650" cy="335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178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Why Trace-Driven Simulation Inaccurate?</a:t>
            </a:r>
            <a:endParaRPr lang="zh-TW" altLang="en-US" dirty="0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Execution time of target machine might not be the same as that of trace-generating machine</a:t>
            </a:r>
          </a:p>
          <a:p>
            <a:pPr lvl="1"/>
            <a:r>
              <a:rPr lang="en-US" altLang="zh-TW" dirty="0" smtClean="0"/>
              <a:t>e.g., different ISA, microarchitecture, implementation, ...</a:t>
            </a:r>
          </a:p>
          <a:p>
            <a:r>
              <a:rPr lang="en-US" altLang="zh-TW" dirty="0" smtClean="0"/>
              <a:t>Even if have the same processors on both machines, simulation of </a:t>
            </a:r>
            <a:r>
              <a:rPr lang="en-US" altLang="zh-TW" dirty="0" err="1" smtClean="0"/>
              <a:t>NoC</a:t>
            </a:r>
            <a:r>
              <a:rPr lang="en-US" altLang="zh-TW" dirty="0" smtClean="0"/>
              <a:t> will necessarily change the configuration and/or microarchitecture of the </a:t>
            </a:r>
            <a:r>
              <a:rPr lang="en-US" altLang="zh-TW" dirty="0" err="1" smtClean="0"/>
              <a:t>NoC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The response time from </a:t>
            </a:r>
            <a:r>
              <a:rPr lang="en-US" altLang="zh-TW" dirty="0" err="1" smtClean="0"/>
              <a:t>NoC</a:t>
            </a:r>
            <a:r>
              <a:rPr lang="en-US" altLang="zh-TW" dirty="0" smtClean="0"/>
              <a:t> will be different on target machine and on trace generating machine</a:t>
            </a:r>
          </a:p>
          <a:p>
            <a:pPr lvl="1"/>
            <a:r>
              <a:rPr lang="en-US" altLang="zh-TW" dirty="0" smtClean="0"/>
              <a:t>However, trace events actually have causality relationships</a:t>
            </a:r>
            <a:br>
              <a:rPr lang="en-US" altLang="zh-TW" dirty="0" smtClean="0"/>
            </a:br>
            <a:r>
              <a:rPr lang="en-US" altLang="zh-TW" dirty="0" smtClean="0">
                <a:sym typeface="Wingdings" panose="05000000000000000000" pitchFamily="2" charset="2"/>
              </a:rPr>
              <a:t> changes in </a:t>
            </a:r>
            <a:r>
              <a:rPr lang="en-US" altLang="zh-TW" dirty="0" err="1" smtClean="0">
                <a:sym typeface="Wingdings" panose="05000000000000000000" pitchFamily="2" charset="2"/>
              </a:rPr>
              <a:t>NoC</a:t>
            </a:r>
            <a:r>
              <a:rPr lang="en-US" altLang="zh-TW" dirty="0" smtClean="0">
                <a:sym typeface="Wingdings" panose="05000000000000000000" pitchFamily="2" charset="2"/>
              </a:rPr>
              <a:t> response time change following events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>
                <a:sym typeface="Wingdings" panose="05000000000000000000" pitchFamily="2" charset="2"/>
              </a:rPr>
              <a:t> timing of trace events should be adjustable</a:t>
            </a:r>
            <a:endParaRPr lang="zh-TW" altLang="en-US" dirty="0" smtClean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11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41486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Why Trace-Driven Simulation Inaccurate?</a:t>
            </a:r>
            <a:endParaRPr lang="zh-TW" altLang="en-US" dirty="0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There are dependencies between trace events, e.g.,</a:t>
            </a:r>
          </a:p>
          <a:p>
            <a:pPr lvl="1"/>
            <a:r>
              <a:rPr lang="en-US" altLang="zh-TW" dirty="0" smtClean="0"/>
              <a:t>C has to wait for A’s response, D for B, and E for D</a:t>
            </a:r>
          </a:p>
          <a:p>
            <a:pPr lvl="1"/>
            <a:r>
              <a:rPr lang="en-US" altLang="zh-TW" dirty="0" smtClean="0"/>
              <a:t>Response time of events A, B, C differ from that in trace-generating machine </a:t>
            </a:r>
            <a:r>
              <a:rPr lang="en-US" altLang="zh-TW" dirty="0" smtClean="0">
                <a:sym typeface="Wingdings" panose="05000000000000000000" pitchFamily="2" charset="2"/>
              </a:rPr>
              <a:t> injection time of C, D, E should be adjusted during simulation</a:t>
            </a:r>
            <a:endParaRPr lang="en-US" altLang="zh-TW" dirty="0" smtClean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12</a:t>
            </a:fld>
            <a:endParaRPr lang="zh-TW" altLang="zh-TW"/>
          </a:p>
        </p:txBody>
      </p:sp>
      <p:pic>
        <p:nvPicPr>
          <p:cNvPr id="3074" name="Picture 2" descr="C:\Users\wty\Pictures\pic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1" y="2852937"/>
            <a:ext cx="4489187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2826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內容版面配置區 3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On trace-generating machine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An Illustrative Example (</a:t>
            </a:r>
            <a:r>
              <a:rPr lang="en-US" altLang="zh-TW" dirty="0" err="1" smtClean="0"/>
              <a:t>NoC</a:t>
            </a:r>
            <a:r>
              <a:rPr lang="en-US" altLang="zh-TW" dirty="0" smtClean="0"/>
              <a:t> Simulation)</a:t>
            </a:r>
            <a:endParaRPr lang="zh-TW" altLang="en-US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13</a:t>
            </a:fld>
            <a:endParaRPr lang="zh-TW" altLang="zh-TW"/>
          </a:p>
        </p:txBody>
      </p:sp>
      <p:sp>
        <p:nvSpPr>
          <p:cNvPr id="5" name="文字方塊 4"/>
          <p:cNvSpPr txBox="1"/>
          <p:nvPr/>
        </p:nvSpPr>
        <p:spPr>
          <a:xfrm>
            <a:off x="827584" y="2510894"/>
            <a:ext cx="231973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 smtClean="0">
                <a:latin typeface="+mn-lt"/>
              </a:rPr>
              <a:t>LD	r1, 0xcfa8</a:t>
            </a:r>
          </a:p>
          <a:p>
            <a:pPr>
              <a:lnSpc>
                <a:spcPct val="150000"/>
              </a:lnSpc>
            </a:pPr>
            <a:r>
              <a:rPr lang="en-US" altLang="zh-TW" dirty="0" smtClean="0">
                <a:latin typeface="+mn-lt"/>
              </a:rPr>
              <a:t>...</a:t>
            </a:r>
          </a:p>
          <a:p>
            <a:pPr>
              <a:lnSpc>
                <a:spcPct val="150000"/>
              </a:lnSpc>
            </a:pPr>
            <a:r>
              <a:rPr lang="en-US" altLang="zh-TW" dirty="0" smtClean="0">
                <a:latin typeface="+mn-lt"/>
              </a:rPr>
              <a:t>ADD	r0, r1, #2</a:t>
            </a:r>
          </a:p>
          <a:p>
            <a:pPr>
              <a:lnSpc>
                <a:spcPct val="150000"/>
              </a:lnSpc>
            </a:pPr>
            <a:r>
              <a:rPr lang="en-US" altLang="zh-TW" dirty="0" smtClean="0">
                <a:latin typeface="+mn-lt"/>
              </a:rPr>
              <a:t>...</a:t>
            </a:r>
          </a:p>
          <a:p>
            <a:pPr>
              <a:lnSpc>
                <a:spcPct val="150000"/>
              </a:lnSpc>
            </a:pPr>
            <a:r>
              <a:rPr lang="en-US" altLang="zh-TW" dirty="0" smtClean="0">
                <a:latin typeface="+mn-lt"/>
              </a:rPr>
              <a:t>ST	r0, 0xcfac</a:t>
            </a:r>
            <a:endParaRPr lang="zh-TW" altLang="en-US" dirty="0">
              <a:latin typeface="+mn-lt"/>
            </a:endParaRPr>
          </a:p>
        </p:txBody>
      </p:sp>
      <p:sp>
        <p:nvSpPr>
          <p:cNvPr id="6" name="圓形箭號 5"/>
          <p:cNvSpPr/>
          <p:nvPr/>
        </p:nvSpPr>
        <p:spPr bwMode="auto">
          <a:xfrm rot="16200000" flipH="1">
            <a:off x="211207" y="2931689"/>
            <a:ext cx="1232755" cy="864096"/>
          </a:xfrm>
          <a:prstGeom prst="circularArrow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ea typeface="標楷體" panose="03000509000000000000" pitchFamily="65" charset="-120"/>
            </a:endParaRPr>
          </a:p>
        </p:txBody>
      </p:sp>
      <p:sp>
        <p:nvSpPr>
          <p:cNvPr id="7" name="圓形箭號 6"/>
          <p:cNvSpPr/>
          <p:nvPr/>
        </p:nvSpPr>
        <p:spPr bwMode="auto">
          <a:xfrm rot="16200000" flipH="1">
            <a:off x="237594" y="4153153"/>
            <a:ext cx="1195077" cy="849002"/>
          </a:xfrm>
          <a:prstGeom prst="circularArrow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ea typeface="標楷體" panose="03000509000000000000" pitchFamily="65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187624" y="1990581"/>
            <a:ext cx="1245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+mn-lt"/>
              </a:rPr>
              <a:t>Program</a:t>
            </a:r>
            <a:endParaRPr lang="zh-TW" altLang="en-US" dirty="0">
              <a:latin typeface="+mn-lt"/>
            </a:endParaRPr>
          </a:p>
        </p:txBody>
      </p:sp>
      <p:sp>
        <p:nvSpPr>
          <p:cNvPr id="13" name="雲朵形 12"/>
          <p:cNvSpPr/>
          <p:nvPr/>
        </p:nvSpPr>
        <p:spPr bwMode="auto">
          <a:xfrm>
            <a:off x="7164288" y="2006838"/>
            <a:ext cx="1584176" cy="3726418"/>
          </a:xfrm>
          <a:prstGeom prst="cloud">
            <a:avLst/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dirty="0" err="1" smtClean="0">
                <a:latin typeface="+mn-lt"/>
              </a:rPr>
              <a:t>NoC</a:t>
            </a:r>
            <a:endParaRPr lang="zh-TW" altLang="en-US" dirty="0">
              <a:latin typeface="+mn-lt"/>
            </a:endParaRPr>
          </a:p>
        </p:txBody>
      </p:sp>
      <p:cxnSp>
        <p:nvCxnSpPr>
          <p:cNvPr id="17" name="直線單箭頭接點 16"/>
          <p:cNvCxnSpPr>
            <a:stCxn id="10" idx="3"/>
          </p:cNvCxnSpPr>
          <p:nvPr/>
        </p:nvCxnSpPr>
        <p:spPr bwMode="auto">
          <a:xfrm flipV="1">
            <a:off x="4974300" y="2856125"/>
            <a:ext cx="2406012" cy="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直線單箭頭接點 17"/>
          <p:cNvCxnSpPr>
            <a:stCxn id="15" idx="3"/>
          </p:cNvCxnSpPr>
          <p:nvPr/>
        </p:nvCxnSpPr>
        <p:spPr bwMode="auto">
          <a:xfrm>
            <a:off x="5004048" y="5045983"/>
            <a:ext cx="2385465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文字方塊 20"/>
          <p:cNvSpPr txBox="1"/>
          <p:nvPr/>
        </p:nvSpPr>
        <p:spPr>
          <a:xfrm>
            <a:off x="5443501" y="1805915"/>
            <a:ext cx="1387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smtClean="0">
                <a:latin typeface="+mn-lt"/>
              </a:rPr>
              <a:t>Simulator</a:t>
            </a:r>
          </a:p>
          <a:p>
            <a:pPr algn="ctr"/>
            <a:r>
              <a:rPr lang="en-US" altLang="zh-TW" dirty="0" smtClean="0">
                <a:latin typeface="+mn-lt"/>
              </a:rPr>
              <a:t>Output</a:t>
            </a:r>
            <a:endParaRPr lang="zh-TW" altLang="en-US" dirty="0">
              <a:latin typeface="+mn-lt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344533" y="3295578"/>
            <a:ext cx="15853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E</a:t>
            </a:r>
            <a:r>
              <a:rPr lang="en-US" dirty="0" smtClean="0">
                <a:latin typeface="+mn-lt"/>
              </a:rPr>
              <a:t>vent A’</a:t>
            </a:r>
            <a:r>
              <a:rPr lang="en-US" altLang="zh-TW" dirty="0" smtClean="0">
                <a:latin typeface="+mn-lt"/>
              </a:rPr>
              <a:t>, T</a:t>
            </a:r>
            <a:r>
              <a:rPr lang="en-US" altLang="zh-TW" baseline="-25000" dirty="0" smtClean="0">
                <a:latin typeface="+mn-lt"/>
              </a:rPr>
              <a:t>A’</a:t>
            </a:r>
            <a:endParaRPr lang="en-US" baseline="-25000" dirty="0">
              <a:latin typeface="+mn-lt"/>
            </a:endParaRPr>
          </a:p>
        </p:txBody>
      </p:sp>
      <p:cxnSp>
        <p:nvCxnSpPr>
          <p:cNvPr id="26" name="直線單箭頭接點 25"/>
          <p:cNvCxnSpPr>
            <a:stCxn id="22" idx="3"/>
          </p:cNvCxnSpPr>
          <p:nvPr/>
        </p:nvCxnSpPr>
        <p:spPr bwMode="auto">
          <a:xfrm flipV="1">
            <a:off x="6929903" y="3526410"/>
            <a:ext cx="681589" cy="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>
            <a:stCxn id="22" idx="1"/>
          </p:cNvCxnSpPr>
          <p:nvPr/>
        </p:nvCxnSpPr>
        <p:spPr bwMode="auto">
          <a:xfrm flipH="1">
            <a:off x="2845004" y="3526411"/>
            <a:ext cx="2499529" cy="2308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矩形 29"/>
          <p:cNvSpPr/>
          <p:nvPr/>
        </p:nvSpPr>
        <p:spPr bwMode="auto">
          <a:xfrm>
            <a:off x="827584" y="2625293"/>
            <a:ext cx="2319738" cy="274792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dirty="0">
              <a:latin typeface="+mn-lt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347864" y="1990581"/>
            <a:ext cx="1786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+mn-lt"/>
              </a:rPr>
              <a:t>Trace Record</a:t>
            </a:r>
            <a:endParaRPr lang="zh-TW" altLang="en-US" dirty="0">
              <a:latin typeface="+mn-lt"/>
            </a:endParaRPr>
          </a:p>
        </p:txBody>
      </p:sp>
      <p:grpSp>
        <p:nvGrpSpPr>
          <p:cNvPr id="36" name="群組 35"/>
          <p:cNvGrpSpPr/>
          <p:nvPr/>
        </p:nvGrpSpPr>
        <p:grpSpPr>
          <a:xfrm>
            <a:off x="3404390" y="2625293"/>
            <a:ext cx="1670813" cy="2759542"/>
            <a:chOff x="3404390" y="2625293"/>
            <a:chExt cx="1670813" cy="2759542"/>
          </a:xfrm>
        </p:grpSpPr>
        <p:sp>
          <p:nvSpPr>
            <p:cNvPr id="10" name="文字方塊 9"/>
            <p:cNvSpPr txBox="1"/>
            <p:nvPr/>
          </p:nvSpPr>
          <p:spPr>
            <a:xfrm>
              <a:off x="3454012" y="2625293"/>
              <a:ext cx="15202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n-lt"/>
                </a:rPr>
                <a:t>E</a:t>
              </a:r>
              <a:r>
                <a:rPr lang="en-US" dirty="0" smtClean="0">
                  <a:latin typeface="+mn-lt"/>
                </a:rPr>
                <a:t>vent A</a:t>
              </a:r>
              <a:r>
                <a:rPr lang="en-US" altLang="zh-TW" dirty="0" smtClean="0">
                  <a:latin typeface="+mn-lt"/>
                </a:rPr>
                <a:t>, T</a:t>
              </a:r>
              <a:r>
                <a:rPr lang="en-US" altLang="zh-TW" baseline="-25000" dirty="0" smtClean="0">
                  <a:latin typeface="+mn-lt"/>
                </a:rPr>
                <a:t>A</a:t>
              </a:r>
              <a:endParaRPr lang="en-US" baseline="-25000" dirty="0">
                <a:latin typeface="+mn-lt"/>
              </a:endParaRP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3483824" y="4815150"/>
              <a:ext cx="15202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n-lt"/>
                </a:rPr>
                <a:t>E</a:t>
              </a:r>
              <a:r>
                <a:rPr lang="en-US" dirty="0" smtClean="0">
                  <a:latin typeface="+mn-lt"/>
                </a:rPr>
                <a:t>vent B</a:t>
              </a:r>
              <a:r>
                <a:rPr lang="en-US" altLang="zh-TW" dirty="0" smtClean="0">
                  <a:latin typeface="+mn-lt"/>
                </a:rPr>
                <a:t>, T</a:t>
              </a:r>
              <a:r>
                <a:rPr lang="en-US" altLang="zh-TW" baseline="-25000" dirty="0" smtClean="0">
                  <a:latin typeface="+mn-lt"/>
                </a:rPr>
                <a:t>B</a:t>
              </a:r>
              <a:endParaRPr lang="en-US" baseline="-25000" dirty="0">
                <a:latin typeface="+mn-lt"/>
              </a:endParaRPr>
            </a:p>
          </p:txBody>
        </p:sp>
        <p:sp>
          <p:nvSpPr>
            <p:cNvPr id="31" name="矩形 30"/>
            <p:cNvSpPr/>
            <p:nvPr/>
          </p:nvSpPr>
          <p:spPr bwMode="auto">
            <a:xfrm>
              <a:off x="3404390" y="2636912"/>
              <a:ext cx="1670813" cy="274792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dirty="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4119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內容版面配置區 3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On target machine with a slow </a:t>
            </a:r>
            <a:r>
              <a:rPr lang="en-US" altLang="zh-TW" dirty="0" err="1" smtClean="0"/>
              <a:t>NoC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An Illustrative Example (</a:t>
            </a:r>
            <a:r>
              <a:rPr lang="en-US" altLang="zh-TW" dirty="0" err="1" smtClean="0"/>
              <a:t>NoC</a:t>
            </a:r>
            <a:r>
              <a:rPr lang="en-US" altLang="zh-TW" dirty="0" smtClean="0"/>
              <a:t> Simulation)</a:t>
            </a:r>
            <a:endParaRPr lang="zh-TW" altLang="en-US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14</a:t>
            </a:fld>
            <a:endParaRPr lang="zh-TW" altLang="zh-TW"/>
          </a:p>
        </p:txBody>
      </p:sp>
      <p:sp>
        <p:nvSpPr>
          <p:cNvPr id="5" name="文字方塊 4"/>
          <p:cNvSpPr txBox="1"/>
          <p:nvPr/>
        </p:nvSpPr>
        <p:spPr>
          <a:xfrm>
            <a:off x="827584" y="2510894"/>
            <a:ext cx="231973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 smtClean="0">
                <a:latin typeface="+mn-lt"/>
              </a:rPr>
              <a:t>LD	r1, 0xcfa8</a:t>
            </a:r>
          </a:p>
          <a:p>
            <a:pPr>
              <a:lnSpc>
                <a:spcPct val="150000"/>
              </a:lnSpc>
            </a:pPr>
            <a:r>
              <a:rPr lang="en-US" altLang="zh-TW" dirty="0" smtClean="0">
                <a:latin typeface="+mn-lt"/>
              </a:rPr>
              <a:t>...</a:t>
            </a:r>
          </a:p>
          <a:p>
            <a:pPr>
              <a:lnSpc>
                <a:spcPct val="150000"/>
              </a:lnSpc>
            </a:pPr>
            <a:r>
              <a:rPr lang="en-US" altLang="zh-TW" dirty="0" smtClean="0">
                <a:latin typeface="+mn-lt"/>
              </a:rPr>
              <a:t>ADD	r0, r1, #2</a:t>
            </a:r>
          </a:p>
          <a:p>
            <a:pPr>
              <a:lnSpc>
                <a:spcPct val="150000"/>
              </a:lnSpc>
            </a:pPr>
            <a:r>
              <a:rPr lang="en-US" altLang="zh-TW" dirty="0" smtClean="0">
                <a:latin typeface="+mn-lt"/>
              </a:rPr>
              <a:t>...</a:t>
            </a:r>
          </a:p>
          <a:p>
            <a:pPr>
              <a:lnSpc>
                <a:spcPct val="150000"/>
              </a:lnSpc>
            </a:pPr>
            <a:r>
              <a:rPr lang="en-US" altLang="zh-TW" dirty="0" smtClean="0">
                <a:latin typeface="+mn-lt"/>
              </a:rPr>
              <a:t>ST	r0, 0xcfac</a:t>
            </a:r>
            <a:endParaRPr lang="zh-TW" altLang="en-US" dirty="0">
              <a:latin typeface="+mn-lt"/>
            </a:endParaRPr>
          </a:p>
        </p:txBody>
      </p:sp>
      <p:sp>
        <p:nvSpPr>
          <p:cNvPr id="6" name="圓形箭號 5"/>
          <p:cNvSpPr/>
          <p:nvPr/>
        </p:nvSpPr>
        <p:spPr bwMode="auto">
          <a:xfrm rot="16200000" flipH="1">
            <a:off x="211207" y="2931689"/>
            <a:ext cx="1232755" cy="864096"/>
          </a:xfrm>
          <a:prstGeom prst="circularArrow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ea typeface="標楷體" panose="03000509000000000000" pitchFamily="65" charset="-120"/>
            </a:endParaRPr>
          </a:p>
        </p:txBody>
      </p:sp>
      <p:sp>
        <p:nvSpPr>
          <p:cNvPr id="7" name="圓形箭號 6"/>
          <p:cNvSpPr/>
          <p:nvPr/>
        </p:nvSpPr>
        <p:spPr bwMode="auto">
          <a:xfrm rot="16200000" flipH="1">
            <a:off x="237594" y="4153153"/>
            <a:ext cx="1195077" cy="849002"/>
          </a:xfrm>
          <a:prstGeom prst="circularArrow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ea typeface="標楷體" panose="03000509000000000000" pitchFamily="65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187624" y="1990581"/>
            <a:ext cx="1245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+mn-lt"/>
              </a:rPr>
              <a:t>Program</a:t>
            </a:r>
            <a:endParaRPr lang="zh-TW" altLang="en-US" dirty="0">
              <a:latin typeface="+mn-lt"/>
            </a:endParaRPr>
          </a:p>
        </p:txBody>
      </p:sp>
      <p:sp>
        <p:nvSpPr>
          <p:cNvPr id="13" name="雲朵形 12"/>
          <p:cNvSpPr/>
          <p:nvPr/>
        </p:nvSpPr>
        <p:spPr bwMode="auto">
          <a:xfrm>
            <a:off x="7164288" y="2006838"/>
            <a:ext cx="1584176" cy="3726418"/>
          </a:xfrm>
          <a:prstGeom prst="cloud">
            <a:avLst/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dirty="0" err="1" smtClean="0">
                <a:latin typeface="+mn-lt"/>
              </a:rPr>
              <a:t>NoC</a:t>
            </a:r>
            <a:endParaRPr lang="zh-TW" altLang="en-US" dirty="0">
              <a:latin typeface="+mn-lt"/>
            </a:endParaRPr>
          </a:p>
        </p:txBody>
      </p:sp>
      <p:cxnSp>
        <p:nvCxnSpPr>
          <p:cNvPr id="17" name="直線單箭頭接點 16"/>
          <p:cNvCxnSpPr>
            <a:stCxn id="10" idx="3"/>
          </p:cNvCxnSpPr>
          <p:nvPr/>
        </p:nvCxnSpPr>
        <p:spPr bwMode="auto">
          <a:xfrm flipV="1">
            <a:off x="4974300" y="2856125"/>
            <a:ext cx="2406012" cy="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直線單箭頭接點 17"/>
          <p:cNvCxnSpPr>
            <a:stCxn id="15" idx="3"/>
          </p:cNvCxnSpPr>
          <p:nvPr/>
        </p:nvCxnSpPr>
        <p:spPr bwMode="auto">
          <a:xfrm>
            <a:off x="5004048" y="5045983"/>
            <a:ext cx="2385465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文字方塊 20"/>
          <p:cNvSpPr txBox="1"/>
          <p:nvPr/>
        </p:nvSpPr>
        <p:spPr>
          <a:xfrm>
            <a:off x="5443501" y="1805915"/>
            <a:ext cx="1387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smtClean="0">
                <a:latin typeface="+mn-lt"/>
              </a:rPr>
              <a:t>Simulator</a:t>
            </a:r>
          </a:p>
          <a:p>
            <a:pPr algn="ctr"/>
            <a:r>
              <a:rPr lang="en-US" altLang="zh-TW" dirty="0" smtClean="0">
                <a:latin typeface="+mn-lt"/>
              </a:rPr>
              <a:t>Output</a:t>
            </a:r>
            <a:endParaRPr lang="zh-TW" altLang="en-US" dirty="0">
              <a:latin typeface="+mn-lt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344533" y="3295578"/>
            <a:ext cx="15853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E</a:t>
            </a:r>
            <a:r>
              <a:rPr lang="en-US" dirty="0" smtClean="0">
                <a:latin typeface="+mn-lt"/>
              </a:rPr>
              <a:t>vent A’</a:t>
            </a:r>
            <a:r>
              <a:rPr lang="en-US" altLang="zh-TW" dirty="0" smtClean="0">
                <a:latin typeface="+mn-lt"/>
              </a:rPr>
              <a:t>, T</a:t>
            </a:r>
            <a:r>
              <a:rPr lang="en-US" altLang="zh-TW" baseline="-25000" dirty="0" smtClean="0">
                <a:latin typeface="+mn-lt"/>
              </a:rPr>
              <a:t>A’</a:t>
            </a:r>
            <a:endParaRPr lang="en-US" baseline="-25000" dirty="0">
              <a:latin typeface="+mn-lt"/>
            </a:endParaRPr>
          </a:p>
        </p:txBody>
      </p:sp>
      <p:cxnSp>
        <p:nvCxnSpPr>
          <p:cNvPr id="26" name="直線單箭頭接點 25"/>
          <p:cNvCxnSpPr>
            <a:stCxn id="22" idx="3"/>
          </p:cNvCxnSpPr>
          <p:nvPr/>
        </p:nvCxnSpPr>
        <p:spPr bwMode="auto">
          <a:xfrm flipV="1">
            <a:off x="6929903" y="3526410"/>
            <a:ext cx="681589" cy="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/>
          <p:nvPr/>
        </p:nvCxnSpPr>
        <p:spPr bwMode="auto">
          <a:xfrm flipH="1" flipV="1">
            <a:off x="2990032" y="4010874"/>
            <a:ext cx="2453469" cy="116431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矩形 29"/>
          <p:cNvSpPr/>
          <p:nvPr/>
        </p:nvSpPr>
        <p:spPr bwMode="auto">
          <a:xfrm>
            <a:off x="827584" y="2625293"/>
            <a:ext cx="2319738" cy="274792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dirty="0">
              <a:latin typeface="+mn-lt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347864" y="1990581"/>
            <a:ext cx="1786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+mn-lt"/>
              </a:rPr>
              <a:t>Trace Record</a:t>
            </a:r>
            <a:endParaRPr lang="zh-TW" altLang="en-US" dirty="0">
              <a:latin typeface="+mn-lt"/>
            </a:endParaRPr>
          </a:p>
        </p:txBody>
      </p:sp>
      <p:grpSp>
        <p:nvGrpSpPr>
          <p:cNvPr id="36" name="群組 35"/>
          <p:cNvGrpSpPr/>
          <p:nvPr/>
        </p:nvGrpSpPr>
        <p:grpSpPr>
          <a:xfrm>
            <a:off x="3404390" y="2625293"/>
            <a:ext cx="1670813" cy="2759542"/>
            <a:chOff x="3404390" y="2625293"/>
            <a:chExt cx="1670813" cy="2759542"/>
          </a:xfrm>
        </p:grpSpPr>
        <p:sp>
          <p:nvSpPr>
            <p:cNvPr id="10" name="文字方塊 9"/>
            <p:cNvSpPr txBox="1"/>
            <p:nvPr/>
          </p:nvSpPr>
          <p:spPr>
            <a:xfrm>
              <a:off x="3454012" y="2625293"/>
              <a:ext cx="15202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n-lt"/>
                </a:rPr>
                <a:t>E</a:t>
              </a:r>
              <a:r>
                <a:rPr lang="en-US" dirty="0" smtClean="0">
                  <a:latin typeface="+mn-lt"/>
                </a:rPr>
                <a:t>vent A</a:t>
              </a:r>
              <a:r>
                <a:rPr lang="en-US" altLang="zh-TW" dirty="0" smtClean="0">
                  <a:latin typeface="+mn-lt"/>
                </a:rPr>
                <a:t>, T</a:t>
              </a:r>
              <a:r>
                <a:rPr lang="en-US" altLang="zh-TW" baseline="-25000" dirty="0" smtClean="0">
                  <a:latin typeface="+mn-lt"/>
                </a:rPr>
                <a:t>A</a:t>
              </a:r>
              <a:endParaRPr lang="en-US" baseline="-25000" dirty="0">
                <a:latin typeface="+mn-lt"/>
              </a:endParaRP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3483824" y="4815150"/>
              <a:ext cx="15202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n-lt"/>
                </a:rPr>
                <a:t>E</a:t>
              </a:r>
              <a:r>
                <a:rPr lang="en-US" dirty="0" smtClean="0">
                  <a:latin typeface="+mn-lt"/>
                </a:rPr>
                <a:t>vent B</a:t>
              </a:r>
              <a:r>
                <a:rPr lang="en-US" altLang="zh-TW" dirty="0" smtClean="0">
                  <a:latin typeface="+mn-lt"/>
                </a:rPr>
                <a:t>, T</a:t>
              </a:r>
              <a:r>
                <a:rPr lang="en-US" altLang="zh-TW" baseline="-25000" dirty="0" smtClean="0">
                  <a:latin typeface="+mn-lt"/>
                </a:rPr>
                <a:t>B</a:t>
              </a:r>
              <a:endParaRPr lang="en-US" baseline="-25000" dirty="0">
                <a:latin typeface="+mn-lt"/>
              </a:endParaRPr>
            </a:p>
          </p:txBody>
        </p:sp>
        <p:sp>
          <p:nvSpPr>
            <p:cNvPr id="31" name="矩形 30"/>
            <p:cNvSpPr/>
            <p:nvPr/>
          </p:nvSpPr>
          <p:spPr bwMode="auto">
            <a:xfrm>
              <a:off x="3404390" y="2636912"/>
              <a:ext cx="1670813" cy="274792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dirty="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7228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Track causality dependencies between trace events</a:t>
            </a:r>
          </a:p>
          <a:p>
            <a:r>
              <a:rPr lang="en-US" altLang="zh-TW" dirty="0"/>
              <a:t>C</a:t>
            </a:r>
            <a:r>
              <a:rPr lang="en-US" altLang="zh-TW" dirty="0" smtClean="0"/>
              <a:t>ore and </a:t>
            </a:r>
            <a:r>
              <a:rPr lang="en-US" altLang="zh-TW" dirty="0" err="1" smtClean="0"/>
              <a:t>uncore</a:t>
            </a:r>
            <a:r>
              <a:rPr lang="en-US" altLang="zh-TW" dirty="0" smtClean="0"/>
              <a:t> models are coupled</a:t>
            </a:r>
            <a:r>
              <a:rPr lang="zh-TW" altLang="en-US" dirty="0" smtClean="0"/>
              <a:t> </a:t>
            </a:r>
            <a:r>
              <a:rPr lang="en-US" altLang="zh-TW" dirty="0" smtClean="0"/>
              <a:t>and</a:t>
            </a:r>
            <a:r>
              <a:rPr lang="zh-TW" altLang="en-US" dirty="0" smtClean="0"/>
              <a:t> </a:t>
            </a:r>
            <a:r>
              <a:rPr lang="en-US" altLang="zh-TW" dirty="0" smtClean="0"/>
              <a:t>interactive</a:t>
            </a:r>
          </a:p>
          <a:p>
            <a:pPr lvl="1"/>
            <a:r>
              <a:rPr lang="en-US" altLang="zh-TW" dirty="0" smtClean="0"/>
              <a:t>Input trace events should interact with simulator output events </a:t>
            </a:r>
            <a:r>
              <a:rPr lang="en-US" altLang="zh-TW" dirty="0" smtClean="0">
                <a:sym typeface="Wingdings" panose="05000000000000000000" pitchFamily="2" charset="2"/>
              </a:rPr>
              <a:t> trace event time closer to that in target machine</a:t>
            </a:r>
            <a:endParaRPr lang="en-US" altLang="zh-TW" dirty="0" smtClean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To Make Trace-Driven Simulation Accurate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15</a:t>
            </a:fld>
            <a:endParaRPr lang="zh-TW" altLang="zh-TW"/>
          </a:p>
        </p:txBody>
      </p:sp>
      <p:grpSp>
        <p:nvGrpSpPr>
          <p:cNvPr id="10" name="Group 12"/>
          <p:cNvGrpSpPr>
            <a:grpSpLocks/>
          </p:cNvGrpSpPr>
          <p:nvPr/>
        </p:nvGrpSpPr>
        <p:grpSpPr bwMode="auto">
          <a:xfrm>
            <a:off x="3064767" y="3933750"/>
            <a:ext cx="288925" cy="49212"/>
            <a:chOff x="4128" y="1440"/>
            <a:chExt cx="336" cy="48"/>
          </a:xfrm>
        </p:grpSpPr>
        <p:sp>
          <p:nvSpPr>
            <p:cNvPr id="11" name="Oval 13"/>
            <p:cNvSpPr>
              <a:spLocks noChangeArrowheads="1"/>
            </p:cNvSpPr>
            <p:nvPr/>
          </p:nvSpPr>
          <p:spPr bwMode="auto">
            <a:xfrm>
              <a:off x="4128" y="144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Oval 14"/>
            <p:cNvSpPr>
              <a:spLocks noChangeArrowheads="1"/>
            </p:cNvSpPr>
            <p:nvPr/>
          </p:nvSpPr>
          <p:spPr bwMode="auto">
            <a:xfrm>
              <a:off x="4272" y="144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Oval 15"/>
            <p:cNvSpPr>
              <a:spLocks noChangeArrowheads="1"/>
            </p:cNvSpPr>
            <p:nvPr/>
          </p:nvSpPr>
          <p:spPr bwMode="auto">
            <a:xfrm>
              <a:off x="4416" y="144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4" name="Group 16"/>
          <p:cNvGrpSpPr>
            <a:grpSpLocks/>
          </p:cNvGrpSpPr>
          <p:nvPr/>
        </p:nvGrpSpPr>
        <p:grpSpPr bwMode="auto">
          <a:xfrm>
            <a:off x="3521967" y="3933750"/>
            <a:ext cx="288925" cy="49212"/>
            <a:chOff x="4128" y="1440"/>
            <a:chExt cx="336" cy="48"/>
          </a:xfrm>
        </p:grpSpPr>
        <p:sp>
          <p:nvSpPr>
            <p:cNvPr id="15" name="Oval 17"/>
            <p:cNvSpPr>
              <a:spLocks noChangeArrowheads="1"/>
            </p:cNvSpPr>
            <p:nvPr/>
          </p:nvSpPr>
          <p:spPr bwMode="auto">
            <a:xfrm>
              <a:off x="4128" y="144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Oval 18"/>
            <p:cNvSpPr>
              <a:spLocks noChangeArrowheads="1"/>
            </p:cNvSpPr>
            <p:nvPr/>
          </p:nvSpPr>
          <p:spPr bwMode="auto">
            <a:xfrm>
              <a:off x="4272" y="144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Oval 19"/>
            <p:cNvSpPr>
              <a:spLocks noChangeArrowheads="1"/>
            </p:cNvSpPr>
            <p:nvPr/>
          </p:nvSpPr>
          <p:spPr bwMode="auto">
            <a:xfrm>
              <a:off x="4416" y="144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" name="Line 82"/>
          <p:cNvSpPr>
            <a:spLocks noChangeShapeType="1"/>
          </p:cNvSpPr>
          <p:nvPr/>
        </p:nvSpPr>
        <p:spPr bwMode="auto">
          <a:xfrm>
            <a:off x="1763688" y="3923438"/>
            <a:ext cx="0" cy="324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9" name="Line 84"/>
          <p:cNvSpPr>
            <a:spLocks noChangeShapeType="1"/>
          </p:cNvSpPr>
          <p:nvPr/>
        </p:nvSpPr>
        <p:spPr bwMode="auto">
          <a:xfrm>
            <a:off x="2589559" y="3923438"/>
            <a:ext cx="0" cy="324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0" name="Line 87"/>
          <p:cNvSpPr>
            <a:spLocks noChangeShapeType="1"/>
          </p:cNvSpPr>
          <p:nvPr/>
        </p:nvSpPr>
        <p:spPr bwMode="auto">
          <a:xfrm>
            <a:off x="4788024" y="3959438"/>
            <a:ext cx="0" cy="216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" name="Line 90"/>
          <p:cNvSpPr>
            <a:spLocks noChangeShapeType="1"/>
          </p:cNvSpPr>
          <p:nvPr/>
        </p:nvSpPr>
        <p:spPr bwMode="auto">
          <a:xfrm>
            <a:off x="5588743" y="3959398"/>
            <a:ext cx="0" cy="25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23" name="Group 92"/>
          <p:cNvGrpSpPr>
            <a:grpSpLocks/>
          </p:cNvGrpSpPr>
          <p:nvPr/>
        </p:nvGrpSpPr>
        <p:grpSpPr bwMode="auto">
          <a:xfrm>
            <a:off x="3995042" y="3933750"/>
            <a:ext cx="288925" cy="49212"/>
            <a:chOff x="4128" y="1440"/>
            <a:chExt cx="336" cy="48"/>
          </a:xfrm>
        </p:grpSpPr>
        <p:sp>
          <p:nvSpPr>
            <p:cNvPr id="24" name="Oval 93"/>
            <p:cNvSpPr>
              <a:spLocks noChangeArrowheads="1"/>
            </p:cNvSpPr>
            <p:nvPr/>
          </p:nvSpPr>
          <p:spPr bwMode="auto">
            <a:xfrm>
              <a:off x="4128" y="144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Oval 94"/>
            <p:cNvSpPr>
              <a:spLocks noChangeArrowheads="1"/>
            </p:cNvSpPr>
            <p:nvPr/>
          </p:nvSpPr>
          <p:spPr bwMode="auto">
            <a:xfrm>
              <a:off x="4272" y="144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Oval 95"/>
            <p:cNvSpPr>
              <a:spLocks noChangeArrowheads="1"/>
            </p:cNvSpPr>
            <p:nvPr/>
          </p:nvSpPr>
          <p:spPr bwMode="auto">
            <a:xfrm>
              <a:off x="4416" y="144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" name="Line 98"/>
          <p:cNvSpPr>
            <a:spLocks noChangeShapeType="1"/>
          </p:cNvSpPr>
          <p:nvPr/>
        </p:nvSpPr>
        <p:spPr bwMode="auto">
          <a:xfrm>
            <a:off x="3491879" y="5090566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" name="雲朵形 27"/>
          <p:cNvSpPr/>
          <p:nvPr/>
        </p:nvSpPr>
        <p:spPr bwMode="auto">
          <a:xfrm>
            <a:off x="899592" y="4060402"/>
            <a:ext cx="5472608" cy="1193800"/>
          </a:xfrm>
          <a:prstGeom prst="cloud">
            <a:avLst/>
          </a:prstGeom>
          <a:solidFill>
            <a:srgbClr val="99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dirty="0">
                <a:latin typeface="+mn-lt"/>
              </a:rPr>
              <a:t>Interconnection </a:t>
            </a:r>
            <a:r>
              <a:rPr lang="en-US" altLang="zh-TW" dirty="0" smtClean="0">
                <a:latin typeface="+mn-lt"/>
              </a:rPr>
              <a:t>Network</a:t>
            </a:r>
            <a:endParaRPr lang="en-US" altLang="zh-TW" dirty="0">
              <a:latin typeface="+mn-lt"/>
            </a:endParaRPr>
          </a:p>
        </p:txBody>
      </p:sp>
      <p:sp>
        <p:nvSpPr>
          <p:cNvPr id="29" name="書卷 (垂直) 28"/>
          <p:cNvSpPr/>
          <p:nvPr/>
        </p:nvSpPr>
        <p:spPr bwMode="auto">
          <a:xfrm>
            <a:off x="1409502" y="3358274"/>
            <a:ext cx="748755" cy="565163"/>
          </a:xfrm>
          <a:prstGeom prst="verticalScroll">
            <a:avLst>
              <a:gd name="adj" fmla="val 20029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 smtClean="0">
                <a:latin typeface="+mn-lt"/>
              </a:rPr>
              <a:t>trace</a:t>
            </a:r>
            <a:endParaRPr lang="en-US" sz="1600" dirty="0">
              <a:latin typeface="+mn-lt"/>
            </a:endParaRPr>
          </a:p>
        </p:txBody>
      </p:sp>
      <p:sp>
        <p:nvSpPr>
          <p:cNvPr id="30" name="書卷 (垂直) 29"/>
          <p:cNvSpPr/>
          <p:nvPr/>
        </p:nvSpPr>
        <p:spPr bwMode="auto">
          <a:xfrm>
            <a:off x="2195736" y="3356992"/>
            <a:ext cx="748755" cy="565163"/>
          </a:xfrm>
          <a:prstGeom prst="verticalScroll">
            <a:avLst>
              <a:gd name="adj" fmla="val 20029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 smtClean="0">
                <a:latin typeface="+mn-lt"/>
              </a:rPr>
              <a:t>trace</a:t>
            </a:r>
            <a:endParaRPr lang="en-US" sz="1600" dirty="0">
              <a:latin typeface="+mn-lt"/>
            </a:endParaRPr>
          </a:p>
        </p:txBody>
      </p:sp>
      <p:sp>
        <p:nvSpPr>
          <p:cNvPr id="31" name="書卷 (垂直) 30"/>
          <p:cNvSpPr/>
          <p:nvPr/>
        </p:nvSpPr>
        <p:spPr bwMode="auto">
          <a:xfrm>
            <a:off x="4427984" y="3358274"/>
            <a:ext cx="748755" cy="565163"/>
          </a:xfrm>
          <a:prstGeom prst="verticalScroll">
            <a:avLst>
              <a:gd name="adj" fmla="val 20029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 smtClean="0">
                <a:latin typeface="+mn-lt"/>
              </a:rPr>
              <a:t>trace</a:t>
            </a:r>
            <a:endParaRPr lang="en-US" sz="1600" dirty="0">
              <a:latin typeface="+mn-lt"/>
            </a:endParaRPr>
          </a:p>
        </p:txBody>
      </p:sp>
      <p:sp>
        <p:nvSpPr>
          <p:cNvPr id="33" name="書卷 (垂直) 32"/>
          <p:cNvSpPr/>
          <p:nvPr/>
        </p:nvSpPr>
        <p:spPr bwMode="auto">
          <a:xfrm>
            <a:off x="5214218" y="3356992"/>
            <a:ext cx="748755" cy="565163"/>
          </a:xfrm>
          <a:prstGeom prst="verticalScroll">
            <a:avLst>
              <a:gd name="adj" fmla="val 20029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 smtClean="0">
                <a:latin typeface="+mn-lt"/>
              </a:rPr>
              <a:t>trace</a:t>
            </a:r>
            <a:endParaRPr lang="en-US" sz="1600" dirty="0">
              <a:latin typeface="+mn-lt"/>
            </a:endParaRPr>
          </a:p>
        </p:txBody>
      </p:sp>
      <p:sp>
        <p:nvSpPr>
          <p:cNvPr id="34" name="書卷 (垂直) 33"/>
          <p:cNvSpPr/>
          <p:nvPr/>
        </p:nvSpPr>
        <p:spPr bwMode="auto">
          <a:xfrm>
            <a:off x="3103165" y="5456125"/>
            <a:ext cx="748755" cy="565163"/>
          </a:xfrm>
          <a:prstGeom prst="verticalScroll">
            <a:avLst>
              <a:gd name="adj" fmla="val 20029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 smtClean="0">
                <a:latin typeface="+mn-lt"/>
              </a:rPr>
              <a:t>trace</a:t>
            </a:r>
            <a:endParaRPr lang="en-US" sz="1600" dirty="0">
              <a:latin typeface="+mn-lt"/>
            </a:endParaRPr>
          </a:p>
        </p:txBody>
      </p:sp>
      <p:sp>
        <p:nvSpPr>
          <p:cNvPr id="8" name="橢圓 7"/>
          <p:cNvSpPr/>
          <p:nvPr/>
        </p:nvSpPr>
        <p:spPr bwMode="auto">
          <a:xfrm>
            <a:off x="683568" y="3959398"/>
            <a:ext cx="5976664" cy="1360202"/>
          </a:xfrm>
          <a:prstGeom prst="ellipse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dirty="0">
              <a:latin typeface="+mn-lt"/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899592" y="2852936"/>
            <a:ext cx="504056" cy="1594236"/>
            <a:chOff x="899592" y="2852936"/>
            <a:chExt cx="504056" cy="1594236"/>
          </a:xfrm>
        </p:grpSpPr>
        <p:cxnSp>
          <p:nvCxnSpPr>
            <p:cNvPr id="45" name="直線單箭頭接點 44"/>
            <p:cNvCxnSpPr/>
            <p:nvPr/>
          </p:nvCxnSpPr>
          <p:spPr bwMode="auto">
            <a:xfrm>
              <a:off x="1259632" y="2852936"/>
              <a:ext cx="0" cy="159423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" name="矩形 8"/>
            <p:cNvSpPr/>
            <p:nvPr/>
          </p:nvSpPr>
          <p:spPr bwMode="auto">
            <a:xfrm>
              <a:off x="1149896" y="3871108"/>
              <a:ext cx="253752" cy="205964"/>
            </a:xfrm>
            <a:prstGeom prst="rect">
              <a:avLst/>
            </a:prstGeom>
            <a:solidFill>
              <a:srgbClr val="99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TW" sz="1600" dirty="0" smtClean="0">
                  <a:latin typeface="+mn-lt"/>
                </a:rPr>
                <a:t>A</a:t>
              </a:r>
              <a:endParaRPr lang="zh-TW" altLang="en-US" sz="1600" dirty="0">
                <a:latin typeface="+mn-lt"/>
              </a:endParaRPr>
            </a:p>
          </p:txBody>
        </p:sp>
        <p:sp>
          <p:nvSpPr>
            <p:cNvPr id="37" name="矩形 36"/>
            <p:cNvSpPr/>
            <p:nvPr/>
          </p:nvSpPr>
          <p:spPr bwMode="auto">
            <a:xfrm>
              <a:off x="1149896" y="3583076"/>
              <a:ext cx="253752" cy="205964"/>
            </a:xfrm>
            <a:prstGeom prst="rect">
              <a:avLst/>
            </a:prstGeom>
            <a:solidFill>
              <a:srgbClr val="99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TW" sz="1600" dirty="0">
                  <a:latin typeface="+mn-lt"/>
                </a:rPr>
                <a:t>B</a:t>
              </a:r>
              <a:endParaRPr lang="zh-TW" altLang="en-US" sz="1600" dirty="0">
                <a:latin typeface="+mn-lt"/>
              </a:endParaRPr>
            </a:p>
          </p:txBody>
        </p:sp>
        <p:sp>
          <p:nvSpPr>
            <p:cNvPr id="38" name="矩形 37"/>
            <p:cNvSpPr/>
            <p:nvPr/>
          </p:nvSpPr>
          <p:spPr bwMode="auto">
            <a:xfrm>
              <a:off x="1149896" y="3295044"/>
              <a:ext cx="253752" cy="205964"/>
            </a:xfrm>
            <a:prstGeom prst="rect">
              <a:avLst/>
            </a:prstGeom>
            <a:solidFill>
              <a:srgbClr val="99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TW" sz="1600" dirty="0">
                  <a:latin typeface="+mn-lt"/>
                </a:rPr>
                <a:t>C</a:t>
              </a:r>
              <a:endParaRPr lang="zh-TW" altLang="en-US" sz="1600" dirty="0">
                <a:latin typeface="+mn-lt"/>
              </a:endParaRPr>
            </a:p>
          </p:txBody>
        </p:sp>
        <p:sp>
          <p:nvSpPr>
            <p:cNvPr id="39" name="矩形 38"/>
            <p:cNvSpPr/>
            <p:nvPr/>
          </p:nvSpPr>
          <p:spPr bwMode="auto">
            <a:xfrm>
              <a:off x="1149896" y="3007012"/>
              <a:ext cx="253752" cy="205964"/>
            </a:xfrm>
            <a:prstGeom prst="rect">
              <a:avLst/>
            </a:prstGeom>
            <a:solidFill>
              <a:srgbClr val="99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TW" sz="1600" dirty="0" smtClean="0">
                  <a:latin typeface="+mn-lt"/>
                </a:rPr>
                <a:t>D</a:t>
              </a:r>
              <a:endParaRPr lang="zh-TW" altLang="en-US" sz="1600" dirty="0">
                <a:latin typeface="+mn-lt"/>
              </a:endParaRPr>
            </a:p>
          </p:txBody>
        </p:sp>
        <p:sp>
          <p:nvSpPr>
            <p:cNvPr id="40" name="手繪多邊形 39"/>
            <p:cNvSpPr/>
            <p:nvPr/>
          </p:nvSpPr>
          <p:spPr bwMode="auto">
            <a:xfrm>
              <a:off x="937276" y="3412273"/>
              <a:ext cx="221849" cy="568712"/>
            </a:xfrm>
            <a:custGeom>
              <a:avLst/>
              <a:gdLst>
                <a:gd name="connsiteX0" fmla="*/ 200747 w 221849"/>
                <a:gd name="connsiteY0" fmla="*/ 568712 h 568712"/>
                <a:gd name="connsiteX1" fmla="*/ 25 w 221849"/>
                <a:gd name="connsiteY1" fmla="*/ 267629 h 568712"/>
                <a:gd name="connsiteX2" fmla="*/ 211898 w 221849"/>
                <a:gd name="connsiteY2" fmla="*/ 0 h 568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849" h="568712">
                  <a:moveTo>
                    <a:pt x="200747" y="568712"/>
                  </a:moveTo>
                  <a:cubicBezTo>
                    <a:pt x="99457" y="465563"/>
                    <a:pt x="-1833" y="362414"/>
                    <a:pt x="25" y="267629"/>
                  </a:cubicBezTo>
                  <a:cubicBezTo>
                    <a:pt x="1883" y="172844"/>
                    <a:pt x="276947" y="50180"/>
                    <a:pt x="211898" y="0"/>
                  </a:cubicBezTo>
                </a:path>
              </a:pathLst>
            </a:custGeom>
            <a:noFill/>
            <a:ln w="952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標楷體" panose="03000509000000000000" pitchFamily="65" charset="-120"/>
              </a:endParaRPr>
            </a:p>
          </p:txBody>
        </p:sp>
        <p:sp>
          <p:nvSpPr>
            <p:cNvPr id="41" name="手繪多邊形 40"/>
            <p:cNvSpPr/>
            <p:nvPr/>
          </p:nvSpPr>
          <p:spPr bwMode="auto">
            <a:xfrm>
              <a:off x="899592" y="3148320"/>
              <a:ext cx="221849" cy="568712"/>
            </a:xfrm>
            <a:custGeom>
              <a:avLst/>
              <a:gdLst>
                <a:gd name="connsiteX0" fmla="*/ 200747 w 221849"/>
                <a:gd name="connsiteY0" fmla="*/ 568712 h 568712"/>
                <a:gd name="connsiteX1" fmla="*/ 25 w 221849"/>
                <a:gd name="connsiteY1" fmla="*/ 267629 h 568712"/>
                <a:gd name="connsiteX2" fmla="*/ 211898 w 221849"/>
                <a:gd name="connsiteY2" fmla="*/ 0 h 568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849" h="568712">
                  <a:moveTo>
                    <a:pt x="200747" y="568712"/>
                  </a:moveTo>
                  <a:cubicBezTo>
                    <a:pt x="99457" y="465563"/>
                    <a:pt x="-1833" y="362414"/>
                    <a:pt x="25" y="267629"/>
                  </a:cubicBezTo>
                  <a:cubicBezTo>
                    <a:pt x="1883" y="172844"/>
                    <a:pt x="276947" y="50180"/>
                    <a:pt x="211898" y="0"/>
                  </a:cubicBezTo>
                </a:path>
              </a:pathLst>
            </a:custGeom>
            <a:noFill/>
            <a:ln w="952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標楷體" panose="03000509000000000000" pitchFamily="65" charset="-120"/>
              </a:endParaRPr>
            </a:p>
          </p:txBody>
        </p:sp>
      </p:grpSp>
      <p:grpSp>
        <p:nvGrpSpPr>
          <p:cNvPr id="6" name="群組 5"/>
          <p:cNvGrpSpPr/>
          <p:nvPr/>
        </p:nvGrpSpPr>
        <p:grpSpPr>
          <a:xfrm>
            <a:off x="1923082" y="3764693"/>
            <a:ext cx="216024" cy="1594236"/>
            <a:chOff x="1923082" y="3764693"/>
            <a:chExt cx="216024" cy="1594236"/>
          </a:xfrm>
        </p:grpSpPr>
        <p:cxnSp>
          <p:nvCxnSpPr>
            <p:cNvPr id="53" name="直線單箭頭接點 52"/>
            <p:cNvCxnSpPr/>
            <p:nvPr/>
          </p:nvCxnSpPr>
          <p:spPr bwMode="auto">
            <a:xfrm flipV="1">
              <a:off x="2031530" y="3764693"/>
              <a:ext cx="0" cy="159423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9" name="橢圓 48"/>
            <p:cNvSpPr/>
            <p:nvPr/>
          </p:nvSpPr>
          <p:spPr bwMode="auto">
            <a:xfrm>
              <a:off x="1923082" y="4052725"/>
              <a:ext cx="216024" cy="216718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TW" sz="1600" dirty="0" smtClean="0">
                  <a:solidFill>
                    <a:schemeClr val="bg1"/>
                  </a:solidFill>
                  <a:latin typeface="+mn-lt"/>
                </a:rPr>
                <a:t>A</a:t>
              </a:r>
              <a:endParaRPr lang="zh-TW" altLang="en-US" sz="160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50" name="橢圓 49"/>
            <p:cNvSpPr/>
            <p:nvPr/>
          </p:nvSpPr>
          <p:spPr bwMode="auto">
            <a:xfrm>
              <a:off x="1923082" y="4340063"/>
              <a:ext cx="216024" cy="216718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TW" sz="1600" dirty="0">
                  <a:solidFill>
                    <a:schemeClr val="bg1"/>
                  </a:solidFill>
                  <a:latin typeface="+mn-lt"/>
                </a:rPr>
                <a:t>B</a:t>
              </a:r>
              <a:endParaRPr lang="zh-TW" altLang="en-US" sz="160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51" name="橢圓 50"/>
            <p:cNvSpPr/>
            <p:nvPr/>
          </p:nvSpPr>
          <p:spPr bwMode="auto">
            <a:xfrm>
              <a:off x="1923082" y="4628789"/>
              <a:ext cx="216024" cy="216718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TW" sz="1600" dirty="0">
                  <a:solidFill>
                    <a:schemeClr val="bg1"/>
                  </a:solidFill>
                  <a:latin typeface="+mn-lt"/>
                </a:rPr>
                <a:t>C</a:t>
              </a:r>
              <a:endParaRPr lang="zh-TW" altLang="en-US" sz="160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52" name="橢圓 51"/>
            <p:cNvSpPr/>
            <p:nvPr/>
          </p:nvSpPr>
          <p:spPr bwMode="auto">
            <a:xfrm>
              <a:off x="1923082" y="4916127"/>
              <a:ext cx="216024" cy="216718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TW" sz="1600" dirty="0">
                  <a:solidFill>
                    <a:schemeClr val="bg1"/>
                  </a:solidFill>
                  <a:latin typeface="+mn-lt"/>
                </a:rPr>
                <a:t>D</a:t>
              </a:r>
              <a:endParaRPr lang="zh-TW" altLang="en-US" sz="1600" dirty="0">
                <a:solidFill>
                  <a:schemeClr val="bg1"/>
                </a:solidFill>
                <a:latin typeface="+mn-lt"/>
              </a:endParaRPr>
            </a:p>
          </p:txBody>
        </p:sp>
      </p:grpSp>
      <p:sp>
        <p:nvSpPr>
          <p:cNvPr id="54" name="文字方塊 53"/>
          <p:cNvSpPr txBox="1"/>
          <p:nvPr/>
        </p:nvSpPr>
        <p:spPr>
          <a:xfrm>
            <a:off x="6754971" y="3764693"/>
            <a:ext cx="229019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latin typeface="+mn-lt"/>
              </a:rPr>
              <a:t>More complicated event relationships if consider processor-memory interactions</a:t>
            </a:r>
            <a:endParaRPr lang="zh-TW" alt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4470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Previous Work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Netrace</a:t>
            </a:r>
            <a:r>
              <a:rPr lang="en-US" altLang="zh-TW" dirty="0" smtClean="0"/>
              <a:t>: dependence-aware trace-based </a:t>
            </a:r>
            <a:r>
              <a:rPr lang="en-US" altLang="zh-TW" dirty="0" err="1" smtClean="0"/>
              <a:t>NoC</a:t>
            </a:r>
            <a:r>
              <a:rPr lang="en-US" altLang="zh-TW" dirty="0" smtClean="0"/>
              <a:t> simulation</a:t>
            </a:r>
          </a:p>
          <a:p>
            <a:pPr lvl="1"/>
            <a:r>
              <a:rPr lang="en-US" altLang="zh-TW" dirty="0" smtClean="0"/>
              <a:t>Capture dependencies between network messages observed in full-system simulation</a:t>
            </a:r>
          </a:p>
          <a:p>
            <a:pPr lvl="1"/>
            <a:r>
              <a:rPr lang="en-US" altLang="zh-TW" dirty="0" smtClean="0"/>
              <a:t>Classify dependence relationships among system events</a:t>
            </a:r>
          </a:p>
          <a:p>
            <a:pPr lvl="2"/>
            <a:r>
              <a:rPr lang="en-US" altLang="zh-TW" dirty="0">
                <a:solidFill>
                  <a:srgbClr val="FF0000"/>
                </a:solidFill>
              </a:rPr>
              <a:t>Architectural dependency</a:t>
            </a:r>
          </a:p>
          <a:p>
            <a:pPr lvl="2"/>
            <a:r>
              <a:rPr lang="en-US" altLang="zh-TW" dirty="0">
                <a:solidFill>
                  <a:srgbClr val="FF0000"/>
                </a:solidFill>
              </a:rPr>
              <a:t>Micro-architectural dependency</a:t>
            </a:r>
          </a:p>
          <a:p>
            <a:pPr lvl="2"/>
            <a:r>
              <a:rPr lang="en-US" altLang="zh-TW" dirty="0">
                <a:solidFill>
                  <a:srgbClr val="FF0000"/>
                </a:solidFill>
              </a:rPr>
              <a:t>Data/Instruction flow dependency</a:t>
            </a:r>
          </a:p>
          <a:p>
            <a:pPr lvl="1"/>
            <a:r>
              <a:rPr lang="en-US" altLang="zh-TW" dirty="0" smtClean="0"/>
              <a:t>Provide a library to</a:t>
            </a:r>
            <a:r>
              <a:rPr lang="zh-TW" altLang="en-US" dirty="0" smtClean="0"/>
              <a:t> </a:t>
            </a:r>
            <a:r>
              <a:rPr lang="en-US" altLang="zh-TW" dirty="0" smtClean="0"/>
              <a:t>transform</a:t>
            </a:r>
            <a:r>
              <a:rPr lang="zh-TW" altLang="en-US" dirty="0" smtClean="0"/>
              <a:t> </a:t>
            </a:r>
            <a:r>
              <a:rPr lang="en-US" altLang="zh-TW" dirty="0" smtClean="0"/>
              <a:t>a</a:t>
            </a:r>
            <a:r>
              <a:rPr lang="zh-TW" altLang="en-US" dirty="0" smtClean="0"/>
              <a:t> </a:t>
            </a:r>
            <a:r>
              <a:rPr lang="en-US" altLang="zh-TW" dirty="0" smtClean="0"/>
              <a:t>trace-driven simulator to track and replay network messages with dependencies</a:t>
            </a:r>
          </a:p>
        </p:txBody>
      </p:sp>
      <p:sp>
        <p:nvSpPr>
          <p:cNvPr id="5" name="文字方塊 4"/>
          <p:cNvSpPr txBox="1"/>
          <p:nvPr/>
        </p:nvSpPr>
        <p:spPr>
          <a:xfrm>
            <a:off x="514322" y="5034081"/>
            <a:ext cx="8001056" cy="1077218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1600" dirty="0" smtClean="0"/>
              <a:t>Joel Hestness, Boris Grot, and Stephen W. Keckler. Netrace: Dependency-driven trace-based network-on-chip simulation. In </a:t>
            </a:r>
            <a:r>
              <a:rPr lang="en-US" altLang="zh-TW" sz="1600" i="1" dirty="0" smtClean="0"/>
              <a:t>Proceedings of the Third International Workshop on Network on Chip Architectures</a:t>
            </a:r>
            <a:r>
              <a:rPr lang="en-US" altLang="zh-TW" sz="1600" dirty="0" smtClean="0"/>
              <a:t>, NoCArc ’10, pages 31–36, New York, NY, USA, 2010. ACM.</a:t>
            </a:r>
            <a:endParaRPr lang="zh-TW" altLang="en-US" sz="1600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16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615075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Three Types of Dependencies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Data/instruction flow dependency</a:t>
            </a:r>
          </a:p>
          <a:p>
            <a:pPr lvl="1"/>
            <a:r>
              <a:rPr lang="en-US" altLang="zh-TW" dirty="0" smtClean="0"/>
              <a:t>Due to data- </a:t>
            </a:r>
            <a:r>
              <a:rPr lang="en-US" altLang="zh-TW" dirty="0"/>
              <a:t>and control-flow dependencies within an application</a:t>
            </a:r>
            <a:r>
              <a:rPr lang="en-US" altLang="zh-TW" dirty="0" smtClean="0"/>
              <a:t>, realized </a:t>
            </a:r>
            <a:r>
              <a:rPr lang="en-US" altLang="zh-TW" dirty="0"/>
              <a:t>by </a:t>
            </a:r>
            <a:r>
              <a:rPr lang="en-US" altLang="zh-TW" dirty="0" smtClean="0"/>
              <a:t>processor microarchitecture</a:t>
            </a:r>
            <a:endParaRPr lang="zh-TW" altLang="en-US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17</a:t>
            </a:fld>
            <a:endParaRPr lang="zh-TW" altLang="zh-TW"/>
          </a:p>
        </p:txBody>
      </p:sp>
      <p:sp>
        <p:nvSpPr>
          <p:cNvPr id="5" name="文字方塊 4"/>
          <p:cNvSpPr txBox="1"/>
          <p:nvPr/>
        </p:nvSpPr>
        <p:spPr>
          <a:xfrm>
            <a:off x="1335131" y="2754794"/>
            <a:ext cx="231973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 smtClean="0">
                <a:latin typeface="+mn-lt"/>
              </a:rPr>
              <a:t>LD	r1, 0xcfa8</a:t>
            </a:r>
          </a:p>
          <a:p>
            <a:pPr>
              <a:lnSpc>
                <a:spcPct val="150000"/>
              </a:lnSpc>
            </a:pPr>
            <a:r>
              <a:rPr lang="en-US" altLang="zh-TW" dirty="0" smtClean="0">
                <a:latin typeface="+mn-lt"/>
              </a:rPr>
              <a:t>ADD	r0, r1, #2</a:t>
            </a:r>
          </a:p>
          <a:p>
            <a:pPr>
              <a:lnSpc>
                <a:spcPct val="150000"/>
              </a:lnSpc>
            </a:pPr>
            <a:r>
              <a:rPr lang="en-US" altLang="zh-TW" dirty="0" smtClean="0">
                <a:latin typeface="+mn-lt"/>
              </a:rPr>
              <a:t>ST	r0, 0xcfac</a:t>
            </a:r>
            <a:endParaRPr lang="zh-TW" altLang="en-US" dirty="0">
              <a:latin typeface="+mn-lt"/>
            </a:endParaRPr>
          </a:p>
        </p:txBody>
      </p:sp>
      <p:sp>
        <p:nvSpPr>
          <p:cNvPr id="6" name="圓形箭號 5"/>
          <p:cNvSpPr/>
          <p:nvPr/>
        </p:nvSpPr>
        <p:spPr bwMode="auto">
          <a:xfrm rot="5400000">
            <a:off x="3206906" y="2847677"/>
            <a:ext cx="705464" cy="992630"/>
          </a:xfrm>
          <a:prstGeom prst="circularArrow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ea typeface="標楷體" panose="03000509000000000000" pitchFamily="65" charset="-120"/>
            </a:endParaRPr>
          </a:p>
        </p:txBody>
      </p:sp>
      <p:sp>
        <p:nvSpPr>
          <p:cNvPr id="7" name="圓形箭號 6"/>
          <p:cNvSpPr/>
          <p:nvPr/>
        </p:nvSpPr>
        <p:spPr bwMode="auto">
          <a:xfrm rot="5400000">
            <a:off x="3252899" y="3484350"/>
            <a:ext cx="630817" cy="975291"/>
          </a:xfrm>
          <a:prstGeom prst="circularArrow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ea typeface="標楷體" panose="03000509000000000000" pitchFamily="65" charset="-120"/>
            </a:endParaRPr>
          </a:p>
        </p:txBody>
      </p:sp>
      <p:cxnSp>
        <p:nvCxnSpPr>
          <p:cNvPr id="9" name="直線單箭頭接點 8"/>
          <p:cNvCxnSpPr/>
          <p:nvPr/>
        </p:nvCxnSpPr>
        <p:spPr bwMode="auto">
          <a:xfrm>
            <a:off x="4287459" y="3114834"/>
            <a:ext cx="93610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339933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文字方塊 9"/>
          <p:cNvSpPr txBox="1"/>
          <p:nvPr/>
        </p:nvSpPr>
        <p:spPr>
          <a:xfrm>
            <a:off x="5295571" y="2869193"/>
            <a:ext cx="1868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339933"/>
                </a:solidFill>
                <a:latin typeface="+mn-lt"/>
              </a:rPr>
              <a:t>Trace event A</a:t>
            </a:r>
            <a:endParaRPr lang="en-US" dirty="0">
              <a:solidFill>
                <a:srgbClr val="339933"/>
              </a:solidFill>
              <a:latin typeface="+mn-lt"/>
            </a:endParaRPr>
          </a:p>
        </p:txBody>
      </p:sp>
      <p:cxnSp>
        <p:nvCxnSpPr>
          <p:cNvPr id="11" name="直線單箭頭接點 10"/>
          <p:cNvCxnSpPr/>
          <p:nvPr/>
        </p:nvCxnSpPr>
        <p:spPr bwMode="auto">
          <a:xfrm>
            <a:off x="4287459" y="4122946"/>
            <a:ext cx="93610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339933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文字方塊 11"/>
          <p:cNvSpPr txBox="1"/>
          <p:nvPr/>
        </p:nvSpPr>
        <p:spPr>
          <a:xfrm>
            <a:off x="5295571" y="3877305"/>
            <a:ext cx="18574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339933"/>
                </a:solidFill>
                <a:latin typeface="+mn-lt"/>
              </a:rPr>
              <a:t>Trace event B</a:t>
            </a:r>
            <a:endParaRPr lang="en-US" dirty="0">
              <a:solidFill>
                <a:srgbClr val="339933"/>
              </a:solidFill>
              <a:latin typeface="+mn-lt"/>
            </a:endParaRPr>
          </a:p>
        </p:txBody>
      </p:sp>
      <p:cxnSp>
        <p:nvCxnSpPr>
          <p:cNvPr id="14" name="直線單箭頭接點 13"/>
          <p:cNvCxnSpPr>
            <a:stCxn id="10" idx="2"/>
            <a:endCxn id="12" idx="0"/>
          </p:cNvCxnSpPr>
          <p:nvPr/>
        </p:nvCxnSpPr>
        <p:spPr bwMode="auto">
          <a:xfrm flipH="1">
            <a:off x="6224319" y="3330858"/>
            <a:ext cx="5611" cy="54644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238159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Architectural dependency</a:t>
            </a:r>
          </a:p>
          <a:p>
            <a:pPr lvl="1"/>
            <a:r>
              <a:rPr lang="en-US" altLang="zh-TW" dirty="0" smtClean="0"/>
              <a:t>Due to architectural component interaction, e.g., messages between cores, caches, memory controllers</a:t>
            </a:r>
          </a:p>
          <a:p>
            <a:pPr lvl="1"/>
            <a:r>
              <a:rPr lang="en-US" altLang="zh-TW" dirty="0" smtClean="0"/>
              <a:t>Request-request, request-response, response-response</a:t>
            </a:r>
            <a:endParaRPr lang="zh-TW" altLang="en-US" dirty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3284984"/>
            <a:ext cx="5544616" cy="2737342"/>
          </a:xfrm>
          <a:prstGeom prst="rect">
            <a:avLst/>
          </a:prstGeom>
        </p:spPr>
      </p:pic>
      <p:sp>
        <p:nvSpPr>
          <p:cNvPr id="16" name="橢圓 15"/>
          <p:cNvSpPr/>
          <p:nvPr/>
        </p:nvSpPr>
        <p:spPr bwMode="auto">
          <a:xfrm>
            <a:off x="1475656" y="4509120"/>
            <a:ext cx="5904656" cy="803671"/>
          </a:xfrm>
          <a:prstGeom prst="ellipse">
            <a:avLst/>
          </a:prstGeom>
          <a:noFill/>
          <a:ln w="57150" cap="flat" cmpd="sng" algn="ctr">
            <a:solidFill>
              <a:srgbClr val="99CC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Three Types of Dependencies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18</a:t>
            </a:fld>
            <a:endParaRPr lang="zh-TW" altLang="zh-TW"/>
          </a:p>
        </p:txBody>
      </p:sp>
      <p:sp>
        <p:nvSpPr>
          <p:cNvPr id="11" name="文字方塊 10"/>
          <p:cNvSpPr txBox="1"/>
          <p:nvPr/>
        </p:nvSpPr>
        <p:spPr>
          <a:xfrm>
            <a:off x="3193877" y="2780928"/>
            <a:ext cx="20982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+mn-lt"/>
              </a:rPr>
              <a:t>Target machine</a:t>
            </a:r>
            <a:endParaRPr lang="zh-TW" altLang="en-US" dirty="0">
              <a:latin typeface="+mn-lt"/>
            </a:endParaRPr>
          </a:p>
        </p:txBody>
      </p:sp>
      <p:cxnSp>
        <p:nvCxnSpPr>
          <p:cNvPr id="6" name="直線單箭頭接點 5"/>
          <p:cNvCxnSpPr/>
          <p:nvPr/>
        </p:nvCxnSpPr>
        <p:spPr bwMode="auto">
          <a:xfrm flipH="1">
            <a:off x="1979712" y="4437112"/>
            <a:ext cx="648072" cy="93075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手繪多邊形 6"/>
          <p:cNvSpPr/>
          <p:nvPr/>
        </p:nvSpPr>
        <p:spPr bwMode="auto">
          <a:xfrm>
            <a:off x="1979713" y="4995300"/>
            <a:ext cx="2880320" cy="389499"/>
          </a:xfrm>
          <a:custGeom>
            <a:avLst/>
            <a:gdLst>
              <a:gd name="connsiteX0" fmla="*/ 0 w 2861733"/>
              <a:gd name="connsiteY0" fmla="*/ 372566 h 372566"/>
              <a:gd name="connsiteX1" fmla="*/ 1490133 w 2861733"/>
              <a:gd name="connsiteY1" fmla="*/ 32 h 372566"/>
              <a:gd name="connsiteX2" fmla="*/ 2861733 w 2861733"/>
              <a:gd name="connsiteY2" fmla="*/ 355632 h 372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1733" h="372566">
                <a:moveTo>
                  <a:pt x="0" y="372566"/>
                </a:moveTo>
                <a:cubicBezTo>
                  <a:pt x="506589" y="187710"/>
                  <a:pt x="1013178" y="2854"/>
                  <a:pt x="1490133" y="32"/>
                </a:cubicBezTo>
                <a:cubicBezTo>
                  <a:pt x="1967088" y="-2790"/>
                  <a:pt x="2414410" y="176421"/>
                  <a:pt x="2861733" y="355632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標楷體" panose="03000509000000000000" pitchFamily="65" charset="-120"/>
            </a:endParaRPr>
          </a:p>
        </p:txBody>
      </p:sp>
      <p:sp>
        <p:nvSpPr>
          <p:cNvPr id="8" name="弧形 7"/>
          <p:cNvSpPr/>
          <p:nvPr/>
        </p:nvSpPr>
        <p:spPr bwMode="auto">
          <a:xfrm rot="5400000">
            <a:off x="4707122" y="5166085"/>
            <a:ext cx="736824" cy="431007"/>
          </a:xfrm>
          <a:prstGeom prst="arc">
            <a:avLst>
              <a:gd name="adj1" fmla="val 16200000"/>
              <a:gd name="adj2" fmla="val 5618383"/>
            </a:avLst>
          </a:prstGeom>
          <a:noFill/>
          <a:ln w="38100" cap="flat" cmpd="sng" algn="ctr">
            <a:solidFill>
              <a:srgbClr val="FF0000"/>
            </a:solidFill>
            <a:prstDash val="dash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標楷體" panose="03000509000000000000" pitchFamily="65" charset="-120"/>
            </a:endParaRPr>
          </a:p>
        </p:txBody>
      </p:sp>
      <p:sp>
        <p:nvSpPr>
          <p:cNvPr id="12" name="手繪多邊形 11"/>
          <p:cNvSpPr/>
          <p:nvPr/>
        </p:nvSpPr>
        <p:spPr bwMode="auto">
          <a:xfrm>
            <a:off x="2404533" y="4758088"/>
            <a:ext cx="2861734" cy="626712"/>
          </a:xfrm>
          <a:custGeom>
            <a:avLst/>
            <a:gdLst>
              <a:gd name="connsiteX0" fmla="*/ 2861734 w 2861734"/>
              <a:gd name="connsiteY0" fmla="*/ 575912 h 626712"/>
              <a:gd name="connsiteX1" fmla="*/ 1202267 w 2861734"/>
              <a:gd name="connsiteY1" fmla="*/ 179 h 626712"/>
              <a:gd name="connsiteX2" fmla="*/ 0 w 2861734"/>
              <a:gd name="connsiteY2" fmla="*/ 626712 h 62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1734" h="626712">
                <a:moveTo>
                  <a:pt x="2861734" y="575912"/>
                </a:moveTo>
                <a:cubicBezTo>
                  <a:pt x="2270478" y="283812"/>
                  <a:pt x="1679223" y="-8288"/>
                  <a:pt x="1202267" y="179"/>
                </a:cubicBezTo>
                <a:cubicBezTo>
                  <a:pt x="725311" y="8646"/>
                  <a:pt x="362655" y="317679"/>
                  <a:pt x="0" y="626712"/>
                </a:cubicBezTo>
              </a:path>
            </a:pathLst>
          </a:cu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標楷體" panose="03000509000000000000" pitchFamily="65" charset="-120"/>
            </a:endParaRPr>
          </a:p>
        </p:txBody>
      </p:sp>
      <p:cxnSp>
        <p:nvCxnSpPr>
          <p:cNvPr id="15" name="直線單箭頭接點 14"/>
          <p:cNvCxnSpPr>
            <a:stCxn id="12" idx="2"/>
          </p:cNvCxnSpPr>
          <p:nvPr/>
        </p:nvCxnSpPr>
        <p:spPr bwMode="auto">
          <a:xfrm flipV="1">
            <a:off x="2404533" y="4437112"/>
            <a:ext cx="223251" cy="94768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143049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Three Types of Dependencies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Micro-architectural dependency</a:t>
            </a:r>
          </a:p>
          <a:p>
            <a:pPr lvl="1"/>
            <a:r>
              <a:rPr lang="en-US" altLang="zh-TW" dirty="0" smtClean="0"/>
              <a:t>Due to </a:t>
            </a:r>
            <a:r>
              <a:rPr lang="en-US" altLang="zh-TW" dirty="0" err="1" smtClean="0"/>
              <a:t>microarchitectural</a:t>
            </a:r>
            <a:r>
              <a:rPr lang="en-US" altLang="zh-TW" dirty="0" smtClean="0"/>
              <a:t> implementation details, e.g., buffer capacities, cache coherence protocol, etc.</a:t>
            </a:r>
          </a:p>
          <a:p>
            <a:pPr lvl="1"/>
            <a:r>
              <a:rPr lang="en-US" altLang="zh-TW" dirty="0" smtClean="0"/>
              <a:t>New system events caused by trace events</a:t>
            </a: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19</a:t>
            </a:fld>
            <a:endParaRPr lang="zh-TW" altLang="zh-TW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3284984"/>
            <a:ext cx="5544616" cy="2737342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3193877" y="2780928"/>
            <a:ext cx="20982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+mn-lt"/>
              </a:rPr>
              <a:t>Target machine</a:t>
            </a:r>
            <a:endParaRPr lang="zh-TW" altLang="en-US" dirty="0">
              <a:latin typeface="+mn-lt"/>
            </a:endParaRPr>
          </a:p>
        </p:txBody>
      </p:sp>
      <p:sp>
        <p:nvSpPr>
          <p:cNvPr id="12" name="手繪多邊形 11"/>
          <p:cNvSpPr/>
          <p:nvPr/>
        </p:nvSpPr>
        <p:spPr bwMode="auto">
          <a:xfrm>
            <a:off x="1979713" y="4995300"/>
            <a:ext cx="2016223" cy="372567"/>
          </a:xfrm>
          <a:custGeom>
            <a:avLst/>
            <a:gdLst>
              <a:gd name="connsiteX0" fmla="*/ 0 w 2861733"/>
              <a:gd name="connsiteY0" fmla="*/ 372566 h 372566"/>
              <a:gd name="connsiteX1" fmla="*/ 1490133 w 2861733"/>
              <a:gd name="connsiteY1" fmla="*/ 32 h 372566"/>
              <a:gd name="connsiteX2" fmla="*/ 2861733 w 2861733"/>
              <a:gd name="connsiteY2" fmla="*/ 355632 h 372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1733" h="372566">
                <a:moveTo>
                  <a:pt x="0" y="372566"/>
                </a:moveTo>
                <a:cubicBezTo>
                  <a:pt x="506589" y="187710"/>
                  <a:pt x="1013178" y="2854"/>
                  <a:pt x="1490133" y="32"/>
                </a:cubicBezTo>
                <a:cubicBezTo>
                  <a:pt x="1967088" y="-2790"/>
                  <a:pt x="2414410" y="176421"/>
                  <a:pt x="2861733" y="355632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標楷體" panose="03000509000000000000" pitchFamily="65" charset="-120"/>
            </a:endParaRPr>
          </a:p>
        </p:txBody>
      </p:sp>
      <p:sp>
        <p:nvSpPr>
          <p:cNvPr id="14" name="手繪多邊形 13"/>
          <p:cNvSpPr/>
          <p:nvPr/>
        </p:nvSpPr>
        <p:spPr bwMode="auto">
          <a:xfrm>
            <a:off x="2267745" y="4758088"/>
            <a:ext cx="1944216" cy="626712"/>
          </a:xfrm>
          <a:custGeom>
            <a:avLst/>
            <a:gdLst>
              <a:gd name="connsiteX0" fmla="*/ 2861734 w 2861734"/>
              <a:gd name="connsiteY0" fmla="*/ 575912 h 626712"/>
              <a:gd name="connsiteX1" fmla="*/ 1202267 w 2861734"/>
              <a:gd name="connsiteY1" fmla="*/ 179 h 626712"/>
              <a:gd name="connsiteX2" fmla="*/ 0 w 2861734"/>
              <a:gd name="connsiteY2" fmla="*/ 626712 h 62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1734" h="626712">
                <a:moveTo>
                  <a:pt x="2861734" y="575912"/>
                </a:moveTo>
                <a:cubicBezTo>
                  <a:pt x="2270478" y="283812"/>
                  <a:pt x="1679223" y="-8288"/>
                  <a:pt x="1202267" y="179"/>
                </a:cubicBezTo>
                <a:cubicBezTo>
                  <a:pt x="725311" y="8646"/>
                  <a:pt x="362655" y="317679"/>
                  <a:pt x="0" y="626712"/>
                </a:cubicBezTo>
              </a:path>
            </a:pathLst>
          </a:cu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77597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>
                <a:solidFill>
                  <a:schemeClr val="bg1">
                    <a:lumMod val="50000"/>
                  </a:schemeClr>
                </a:solidFill>
              </a:rPr>
              <a:t>Why trace-driven simulation for exploiting architecture designs?</a:t>
            </a:r>
          </a:p>
          <a:p>
            <a:r>
              <a:rPr lang="en-US" altLang="zh-TW" smtClean="0">
                <a:solidFill>
                  <a:schemeClr val="bg1">
                    <a:lumMod val="50000"/>
                  </a:schemeClr>
                </a:solidFill>
              </a:rPr>
              <a:t>Dependence-aware trace: why and how</a:t>
            </a:r>
          </a:p>
          <a:p>
            <a:r>
              <a:rPr lang="en-US" altLang="zh-TW" smtClean="0">
                <a:solidFill>
                  <a:srgbClr val="FF0000"/>
                </a:solidFill>
              </a:rPr>
              <a:t>Dependence-aware trace-driven simulation for SMP NoC</a:t>
            </a:r>
          </a:p>
          <a:p>
            <a:r>
              <a:rPr lang="en-US" altLang="zh-TW" smtClean="0">
                <a:solidFill>
                  <a:schemeClr val="bg1">
                    <a:lumMod val="50000"/>
                  </a:schemeClr>
                </a:solidFill>
              </a:rPr>
              <a:t>Dependence-aware trace-driven simulation for GPU NoC</a:t>
            </a:r>
          </a:p>
          <a:p>
            <a:r>
              <a:rPr lang="en-US" altLang="zh-TW" smtClean="0">
                <a:solidFill>
                  <a:schemeClr val="bg1">
                    <a:lumMod val="50000"/>
                  </a:schemeClr>
                </a:solidFill>
              </a:rPr>
              <a:t>FSM-based trace compression</a:t>
            </a:r>
          </a:p>
          <a:p>
            <a:endParaRPr lang="zh-TW" altLang="en-US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20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625207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9663" y="228600"/>
            <a:ext cx="8558801" cy="679450"/>
          </a:xfrm>
        </p:spPr>
        <p:txBody>
          <a:bodyPr/>
          <a:lstStyle/>
          <a:p>
            <a:r>
              <a:rPr lang="en-US" dirty="0" smtClean="0"/>
              <a:t>How Effective Is Dependence-aware Trace?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Our proposal:</a:t>
            </a:r>
          </a:p>
          <a:p>
            <a:pPr lvl="1"/>
            <a:r>
              <a:rPr lang="en-US" dirty="0" smtClean="0"/>
              <a:t>Compare dependence-aware trace-driven simulation with full-system simulation</a:t>
            </a:r>
          </a:p>
          <a:p>
            <a:r>
              <a:rPr lang="en-US" dirty="0" smtClean="0"/>
              <a:t>Focus on </a:t>
            </a:r>
            <a:r>
              <a:rPr lang="en-US" dirty="0" err="1" smtClean="0"/>
              <a:t>NoC</a:t>
            </a:r>
            <a:r>
              <a:rPr lang="en-US" dirty="0" smtClean="0"/>
              <a:t> simulation (average latency)</a:t>
            </a:r>
          </a:p>
          <a:p>
            <a:pPr lvl="1"/>
            <a:r>
              <a:rPr lang="en-US" dirty="0" smtClean="0"/>
              <a:t>Gem5 as the reference: Gem5 uses Ruby memory system model, which in turn supports Garnet network model</a:t>
            </a:r>
          </a:p>
          <a:p>
            <a:pPr lvl="1"/>
            <a:r>
              <a:rPr lang="en-US" dirty="0" smtClean="0"/>
              <a:t>Standalone Garnet as trace-driven simulator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21</a:t>
            </a:fld>
            <a:endParaRPr lang="zh-TW" altLang="zh-TW"/>
          </a:p>
        </p:txBody>
      </p:sp>
      <p:sp>
        <p:nvSpPr>
          <p:cNvPr id="20" name="矩形 19"/>
          <p:cNvSpPr/>
          <p:nvPr/>
        </p:nvSpPr>
        <p:spPr bwMode="auto">
          <a:xfrm>
            <a:off x="4427984" y="3933056"/>
            <a:ext cx="2786171" cy="215977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zh-TW" altLang="en-US" sz="1800" b="1" dirty="0" smtClean="0">
              <a:solidFill>
                <a:srgbClr val="000000"/>
              </a:solidFill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151212" y="3933056"/>
            <a:ext cx="2786171" cy="214332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zh-TW" altLang="en-US" sz="1800" b="1" dirty="0" smtClean="0">
              <a:solidFill>
                <a:srgbClr val="000000"/>
              </a:solidFill>
            </a:endParaRPr>
          </a:p>
        </p:txBody>
      </p:sp>
      <p:sp>
        <p:nvSpPr>
          <p:cNvPr id="23" name="圓角矩形 22"/>
          <p:cNvSpPr/>
          <p:nvPr/>
        </p:nvSpPr>
        <p:spPr bwMode="auto">
          <a:xfrm>
            <a:off x="1430745" y="4024352"/>
            <a:ext cx="2227104" cy="568235"/>
          </a:xfrm>
          <a:prstGeom prst="roundRect">
            <a:avLst/>
          </a:prstGeom>
          <a:solidFill>
            <a:srgbClr val="FFFF00"/>
          </a:solidFill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800" b="1" dirty="0" smtClean="0">
                <a:solidFill>
                  <a:srgbClr val="000000"/>
                </a:solidFill>
              </a:rPr>
              <a:t>CPU system model</a:t>
            </a:r>
            <a:endParaRPr lang="zh-TW" altLang="en-US" sz="1800" b="1" dirty="0" smtClean="0">
              <a:solidFill>
                <a:srgbClr val="000000"/>
              </a:solidFill>
            </a:endParaRPr>
          </a:p>
        </p:txBody>
      </p:sp>
      <p:sp>
        <p:nvSpPr>
          <p:cNvPr id="24" name="圓角矩形 23"/>
          <p:cNvSpPr/>
          <p:nvPr/>
        </p:nvSpPr>
        <p:spPr bwMode="auto">
          <a:xfrm>
            <a:off x="1416994" y="5376845"/>
            <a:ext cx="2227104" cy="568235"/>
          </a:xfrm>
          <a:prstGeom prst="roundRect">
            <a:avLst/>
          </a:prstGeom>
          <a:solidFill>
            <a:srgbClr val="FFCC99"/>
          </a:solidFill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800" b="1" dirty="0" smtClean="0">
                <a:solidFill>
                  <a:srgbClr val="000000"/>
                </a:solidFill>
              </a:rPr>
              <a:t>Memory model: Ruby</a:t>
            </a:r>
            <a:endParaRPr lang="zh-TW" altLang="en-US" sz="1800" b="1" dirty="0" smtClean="0">
              <a:solidFill>
                <a:srgbClr val="000000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189663" y="4773884"/>
            <a:ext cx="933269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dirty="0" smtClean="0">
                <a:solidFill>
                  <a:srgbClr val="000000"/>
                </a:solidFill>
                <a:latin typeface="+mn-lt"/>
                <a:ea typeface="標楷體" pitchFamily="65" charset="-120"/>
                <a:cs typeface="Calibri" pitchFamily="34" charset="0"/>
              </a:rPr>
              <a:t>Gem5</a:t>
            </a:r>
            <a:endParaRPr kumimoji="0" lang="zh-TW" altLang="en-US" sz="1800" dirty="0" smtClean="0">
              <a:solidFill>
                <a:srgbClr val="000000"/>
              </a:solidFill>
              <a:latin typeface="+mn-lt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6" name="雲朵形 25"/>
          <p:cNvSpPr/>
          <p:nvPr/>
        </p:nvSpPr>
        <p:spPr bwMode="auto">
          <a:xfrm>
            <a:off x="1284101" y="4687504"/>
            <a:ext cx="2492885" cy="617634"/>
          </a:xfrm>
          <a:prstGeom prst="cloud">
            <a:avLst/>
          </a:prstGeom>
          <a:solidFill>
            <a:srgbClr val="99FF99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800" b="1" dirty="0">
                <a:solidFill>
                  <a:srgbClr val="000000"/>
                </a:solidFill>
              </a:rPr>
              <a:t>NOC </a:t>
            </a:r>
            <a:r>
              <a:rPr lang="en-US" altLang="zh-TW" sz="1800" b="1" dirty="0" smtClean="0">
                <a:solidFill>
                  <a:srgbClr val="000000"/>
                </a:solidFill>
              </a:rPr>
              <a:t>model: Garnet</a:t>
            </a:r>
            <a:endParaRPr lang="zh-TW" altLang="en-US" sz="1800" b="1" dirty="0">
              <a:solidFill>
                <a:srgbClr val="000000"/>
              </a:solidFill>
            </a:endParaRPr>
          </a:p>
        </p:txBody>
      </p:sp>
      <p:sp>
        <p:nvSpPr>
          <p:cNvPr id="27" name="雲朵形 26"/>
          <p:cNvSpPr/>
          <p:nvPr/>
        </p:nvSpPr>
        <p:spPr bwMode="auto">
          <a:xfrm>
            <a:off x="4572491" y="4687741"/>
            <a:ext cx="2492868" cy="617397"/>
          </a:xfrm>
          <a:prstGeom prst="cloud">
            <a:avLst/>
          </a:prstGeom>
          <a:solidFill>
            <a:srgbClr val="99FF99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800" b="1" dirty="0" smtClean="0">
                <a:solidFill>
                  <a:srgbClr val="000000"/>
                </a:solidFill>
              </a:rPr>
              <a:t>Standalone Garnet</a:t>
            </a:r>
            <a:endParaRPr lang="zh-TW" altLang="en-US" sz="1800" b="1" dirty="0">
              <a:solidFill>
                <a:srgbClr val="000000"/>
              </a:solidFill>
            </a:endParaRPr>
          </a:p>
        </p:txBody>
      </p:sp>
      <p:sp>
        <p:nvSpPr>
          <p:cNvPr id="28" name="圓角矩形 27"/>
          <p:cNvSpPr/>
          <p:nvPr/>
        </p:nvSpPr>
        <p:spPr bwMode="auto">
          <a:xfrm>
            <a:off x="4705393" y="4084901"/>
            <a:ext cx="2227110" cy="568235"/>
          </a:xfrm>
          <a:prstGeom prst="roundRect">
            <a:avLst/>
          </a:prstGeom>
          <a:solidFill>
            <a:srgbClr val="FFFF00"/>
          </a:solidFill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800" b="1" dirty="0" smtClean="0">
                <a:solidFill>
                  <a:srgbClr val="000000"/>
                </a:solidFill>
              </a:rPr>
              <a:t>Trace event</a:t>
            </a:r>
            <a:endParaRPr lang="zh-TW" altLang="en-US" sz="1800" b="1" dirty="0" smtClean="0">
              <a:solidFill>
                <a:srgbClr val="000000"/>
              </a:solidFill>
            </a:endParaRPr>
          </a:p>
        </p:txBody>
      </p:sp>
      <p:sp>
        <p:nvSpPr>
          <p:cNvPr id="29" name="圓角矩形 28"/>
          <p:cNvSpPr/>
          <p:nvPr/>
        </p:nvSpPr>
        <p:spPr bwMode="auto">
          <a:xfrm>
            <a:off x="4689355" y="5445224"/>
            <a:ext cx="2227110" cy="568235"/>
          </a:xfrm>
          <a:prstGeom prst="roundRect">
            <a:avLst/>
          </a:prstGeom>
          <a:solidFill>
            <a:srgbClr val="FFCC99"/>
          </a:solidFill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800" b="1" dirty="0" smtClean="0">
                <a:solidFill>
                  <a:srgbClr val="000000"/>
                </a:solidFill>
              </a:rPr>
              <a:t>Simple memory model</a:t>
            </a:r>
            <a:endParaRPr lang="zh-TW" altLang="en-US" sz="1800" b="1" dirty="0" smtClean="0">
              <a:solidFill>
                <a:srgbClr val="000000"/>
              </a:solidFill>
            </a:endParaRPr>
          </a:p>
        </p:txBody>
      </p:sp>
      <p:sp>
        <p:nvSpPr>
          <p:cNvPr id="30" name="圓角矩形 29"/>
          <p:cNvSpPr/>
          <p:nvPr/>
        </p:nvSpPr>
        <p:spPr bwMode="auto">
          <a:xfrm>
            <a:off x="1526978" y="4495877"/>
            <a:ext cx="430757" cy="277692"/>
          </a:xfrm>
          <a:prstGeom prst="roundRect">
            <a:avLst/>
          </a:prstGeom>
          <a:solidFill>
            <a:srgbClr val="FFC000"/>
          </a:solidFill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800" b="1" dirty="0" smtClean="0">
                <a:solidFill>
                  <a:srgbClr val="000000"/>
                </a:solidFill>
              </a:rPr>
              <a:t>L1</a:t>
            </a:r>
            <a:endParaRPr lang="zh-TW" altLang="en-US" sz="1800" b="1" dirty="0" smtClean="0">
              <a:solidFill>
                <a:srgbClr val="000000"/>
              </a:solidFill>
            </a:endParaRPr>
          </a:p>
        </p:txBody>
      </p:sp>
      <p:sp>
        <p:nvSpPr>
          <p:cNvPr id="31" name="圓角矩形 30"/>
          <p:cNvSpPr/>
          <p:nvPr/>
        </p:nvSpPr>
        <p:spPr bwMode="auto">
          <a:xfrm>
            <a:off x="2108955" y="4500463"/>
            <a:ext cx="430757" cy="277692"/>
          </a:xfrm>
          <a:prstGeom prst="roundRect">
            <a:avLst/>
          </a:prstGeom>
          <a:solidFill>
            <a:srgbClr val="FFC000"/>
          </a:solidFill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800" b="1" dirty="0" smtClean="0">
                <a:solidFill>
                  <a:srgbClr val="000000"/>
                </a:solidFill>
              </a:rPr>
              <a:t>L1</a:t>
            </a:r>
            <a:endParaRPr lang="zh-TW" altLang="en-US" sz="1800" b="1" dirty="0" smtClean="0">
              <a:solidFill>
                <a:srgbClr val="000000"/>
              </a:solidFill>
            </a:endParaRPr>
          </a:p>
        </p:txBody>
      </p:sp>
      <p:sp>
        <p:nvSpPr>
          <p:cNvPr id="32" name="圓角矩形 31"/>
          <p:cNvSpPr/>
          <p:nvPr/>
        </p:nvSpPr>
        <p:spPr bwMode="auto">
          <a:xfrm>
            <a:off x="3167515" y="4495882"/>
            <a:ext cx="430757" cy="277692"/>
          </a:xfrm>
          <a:prstGeom prst="roundRect">
            <a:avLst/>
          </a:prstGeom>
          <a:solidFill>
            <a:srgbClr val="FFC000"/>
          </a:solidFill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800" b="1" dirty="0" smtClean="0">
                <a:solidFill>
                  <a:srgbClr val="000000"/>
                </a:solidFill>
              </a:rPr>
              <a:t>L1</a:t>
            </a:r>
            <a:endParaRPr lang="zh-TW" altLang="en-US" sz="1800" b="1" dirty="0" smtClean="0">
              <a:solidFill>
                <a:srgbClr val="000000"/>
              </a:solidFill>
            </a:endParaRPr>
          </a:p>
        </p:txBody>
      </p:sp>
      <p:sp>
        <p:nvSpPr>
          <p:cNvPr id="33" name="文字方塊 32"/>
          <p:cNvSpPr txBox="1"/>
          <p:nvPr/>
        </p:nvSpPr>
        <p:spPr>
          <a:xfrm rot="16200000">
            <a:off x="2665032" y="4239911"/>
            <a:ext cx="461665" cy="784830"/>
          </a:xfrm>
          <a:prstGeom prst="rect">
            <a:avLst/>
          </a:prstGeom>
          <a:noFill/>
        </p:spPr>
        <p:txBody>
          <a:bodyPr vert="eaVert" wrap="none" rtlCol="0" anchor="ctr" anchorCtr="1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zh-TW" altLang="en-US" sz="1800" dirty="0" smtClean="0">
                <a:solidFill>
                  <a:srgbClr val="000000"/>
                </a:solidFill>
                <a:latin typeface="+mn-lt"/>
                <a:ea typeface="標楷體" pitchFamily="65" charset="-120"/>
                <a:cs typeface="Calibri" pitchFamily="34" charset="0"/>
              </a:rPr>
              <a:t>。。。</a:t>
            </a:r>
          </a:p>
        </p:txBody>
      </p:sp>
      <p:sp>
        <p:nvSpPr>
          <p:cNvPr id="34" name="文字方塊 33"/>
          <p:cNvSpPr txBox="1"/>
          <p:nvPr/>
        </p:nvSpPr>
        <p:spPr>
          <a:xfrm>
            <a:off x="7203729" y="4163015"/>
            <a:ext cx="1904775" cy="1477328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dirty="0" smtClean="0">
                <a:solidFill>
                  <a:srgbClr val="000000"/>
                </a:solidFill>
                <a:latin typeface="+mn-lt"/>
                <a:ea typeface="標楷體" pitchFamily="65" charset="-120"/>
                <a:cs typeface="Calibri" pitchFamily="34" charset="0"/>
              </a:rPr>
              <a:t>Dependence-aware trace-driven </a:t>
            </a:r>
            <a:r>
              <a:rPr kumimoji="0" lang="en-US" altLang="zh-TW" dirty="0" err="1" smtClean="0">
                <a:solidFill>
                  <a:srgbClr val="000000"/>
                </a:solidFill>
                <a:latin typeface="+mn-lt"/>
                <a:ea typeface="標楷體" pitchFamily="65" charset="-120"/>
                <a:cs typeface="Calibri" pitchFamily="34" charset="0"/>
              </a:rPr>
              <a:t>NoC</a:t>
            </a:r>
            <a:r>
              <a:rPr kumimoji="0" lang="en-US" altLang="zh-TW" dirty="0" smtClean="0">
                <a:solidFill>
                  <a:srgbClr val="000000"/>
                </a:solidFill>
                <a:latin typeface="+mn-lt"/>
                <a:ea typeface="標楷體" pitchFamily="65" charset="-120"/>
                <a:cs typeface="Calibri" pitchFamily="34" charset="0"/>
              </a:rPr>
              <a:t> simulator</a:t>
            </a:r>
            <a:endParaRPr kumimoji="0" lang="zh-TW" altLang="en-US" sz="1800" dirty="0" smtClean="0">
              <a:solidFill>
                <a:srgbClr val="000000"/>
              </a:solidFill>
              <a:latin typeface="+mn-lt"/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6" name="直線接點 5"/>
          <p:cNvCxnSpPr/>
          <p:nvPr/>
        </p:nvCxnSpPr>
        <p:spPr bwMode="auto">
          <a:xfrm>
            <a:off x="1079204" y="4797152"/>
            <a:ext cx="2916732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直線接點 34"/>
          <p:cNvCxnSpPr/>
          <p:nvPr/>
        </p:nvCxnSpPr>
        <p:spPr bwMode="auto">
          <a:xfrm>
            <a:off x="4355976" y="4797152"/>
            <a:ext cx="2916732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向下箭號 7"/>
          <p:cNvSpPr/>
          <p:nvPr/>
        </p:nvSpPr>
        <p:spPr bwMode="auto">
          <a:xfrm>
            <a:off x="1907704" y="4567885"/>
            <a:ext cx="238001" cy="445291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dirty="0">
              <a:latin typeface="+mn-lt"/>
            </a:endParaRPr>
          </a:p>
        </p:txBody>
      </p:sp>
      <p:sp>
        <p:nvSpPr>
          <p:cNvPr id="36" name="向下箭號 35"/>
          <p:cNvSpPr/>
          <p:nvPr/>
        </p:nvSpPr>
        <p:spPr bwMode="auto">
          <a:xfrm>
            <a:off x="5198095" y="4581128"/>
            <a:ext cx="238001" cy="445291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dirty="0">
              <a:latin typeface="+mn-lt"/>
            </a:endParaRPr>
          </a:p>
        </p:txBody>
      </p:sp>
      <p:sp>
        <p:nvSpPr>
          <p:cNvPr id="37" name="向下箭號 36"/>
          <p:cNvSpPr/>
          <p:nvPr/>
        </p:nvSpPr>
        <p:spPr bwMode="auto">
          <a:xfrm flipV="1">
            <a:off x="2749823" y="4581128"/>
            <a:ext cx="238001" cy="445291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dirty="0">
              <a:latin typeface="+mn-lt"/>
            </a:endParaRPr>
          </a:p>
        </p:txBody>
      </p:sp>
      <p:sp>
        <p:nvSpPr>
          <p:cNvPr id="38" name="向下箭號 37"/>
          <p:cNvSpPr/>
          <p:nvPr/>
        </p:nvSpPr>
        <p:spPr bwMode="auto">
          <a:xfrm flipV="1">
            <a:off x="6134199" y="4581128"/>
            <a:ext cx="238001" cy="445291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03526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6" grpId="0" animBg="1"/>
      <p:bldP spid="37" grpId="0" animBg="1"/>
      <p:bldP spid="3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Evaluation Flow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22</a:t>
            </a:fld>
            <a:endParaRPr lang="zh-TW" altLang="zh-TW"/>
          </a:p>
        </p:txBody>
      </p:sp>
      <p:sp>
        <p:nvSpPr>
          <p:cNvPr id="2" name="圓角矩形 1"/>
          <p:cNvSpPr/>
          <p:nvPr/>
        </p:nvSpPr>
        <p:spPr bwMode="auto">
          <a:xfrm>
            <a:off x="595618" y="2348880"/>
            <a:ext cx="1115735" cy="490756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dirty="0" smtClean="0">
                <a:solidFill>
                  <a:schemeClr val="tx1"/>
                </a:solidFill>
                <a:ea typeface="新細明體" pitchFamily="18" charset="-120"/>
              </a:rPr>
              <a:t>Program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cxnSp>
        <p:nvCxnSpPr>
          <p:cNvPr id="5" name="直線單箭頭接點 4"/>
          <p:cNvCxnSpPr>
            <a:stCxn id="2" idx="2"/>
          </p:cNvCxnSpPr>
          <p:nvPr/>
        </p:nvCxnSpPr>
        <p:spPr bwMode="auto">
          <a:xfrm>
            <a:off x="1153486" y="2839636"/>
            <a:ext cx="276837" cy="528214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流程圖: 多重文件 13"/>
          <p:cNvSpPr/>
          <p:nvPr/>
        </p:nvSpPr>
        <p:spPr bwMode="auto">
          <a:xfrm>
            <a:off x="2793534" y="3339216"/>
            <a:ext cx="1543574" cy="1104454"/>
          </a:xfrm>
          <a:prstGeom prst="flowChartMultidocumen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NoC</a:t>
            </a:r>
            <a:r>
              <a:rPr kumimoji="1" lang="en-US" altLang="zh-TW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 Trace</a:t>
            </a:r>
            <a:endParaRPr kumimoji="1" lang="zh-TW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cxnSp>
        <p:nvCxnSpPr>
          <p:cNvPr id="16" name="直線單箭頭接點 15"/>
          <p:cNvCxnSpPr>
            <a:stCxn id="21" idx="0"/>
            <a:endCxn id="14" idx="1"/>
          </p:cNvCxnSpPr>
          <p:nvPr/>
        </p:nvCxnSpPr>
        <p:spPr bwMode="auto">
          <a:xfrm flipV="1">
            <a:off x="2368049" y="3891443"/>
            <a:ext cx="425485" cy="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>
            <a:stCxn id="14" idx="3"/>
            <a:endCxn id="22" idx="3"/>
          </p:cNvCxnSpPr>
          <p:nvPr/>
        </p:nvCxnSpPr>
        <p:spPr bwMode="auto">
          <a:xfrm>
            <a:off x="4337108" y="3891443"/>
            <a:ext cx="1105162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橢圓 32"/>
          <p:cNvSpPr/>
          <p:nvPr/>
        </p:nvSpPr>
        <p:spPr bwMode="auto">
          <a:xfrm>
            <a:off x="2845195" y="2155276"/>
            <a:ext cx="1652631" cy="78534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Trace</a:t>
            </a:r>
            <a:r>
              <a:rPr kumimoji="1" lang="en-US" altLang="zh-TW" sz="1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 format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parser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cxnSp>
        <p:nvCxnSpPr>
          <p:cNvPr id="38" name="直線單箭頭接點 37"/>
          <p:cNvCxnSpPr>
            <a:stCxn id="33" idx="4"/>
            <a:endCxn id="14" idx="0"/>
          </p:cNvCxnSpPr>
          <p:nvPr/>
        </p:nvCxnSpPr>
        <p:spPr bwMode="auto">
          <a:xfrm>
            <a:off x="3671511" y="2940622"/>
            <a:ext cx="2" cy="39859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圓角矩形 42"/>
          <p:cNvSpPr/>
          <p:nvPr/>
        </p:nvSpPr>
        <p:spPr bwMode="auto">
          <a:xfrm>
            <a:off x="7662837" y="3582130"/>
            <a:ext cx="1282118" cy="618626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dirty="0" smtClean="0">
                <a:solidFill>
                  <a:schemeClr val="tx1"/>
                </a:solidFill>
                <a:ea typeface="新細明體" pitchFamily="18" charset="-120"/>
              </a:rPr>
              <a:t>Performance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dirty="0" smtClean="0">
                <a:solidFill>
                  <a:schemeClr val="tx1"/>
                </a:solidFill>
                <a:ea typeface="新細明體" pitchFamily="18" charset="-120"/>
              </a:rPr>
              <a:t>result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cxnSp>
        <p:nvCxnSpPr>
          <p:cNvPr id="45" name="直線單箭頭接點 44"/>
          <p:cNvCxnSpPr>
            <a:stCxn id="22" idx="0"/>
            <a:endCxn id="43" idx="1"/>
          </p:cNvCxnSpPr>
          <p:nvPr/>
        </p:nvCxnSpPr>
        <p:spPr bwMode="auto">
          <a:xfrm>
            <a:off x="7188671" y="3891443"/>
            <a:ext cx="474166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流程圖: 卡片 57"/>
          <p:cNvSpPr/>
          <p:nvPr/>
        </p:nvSpPr>
        <p:spPr bwMode="auto">
          <a:xfrm>
            <a:off x="264251" y="4637276"/>
            <a:ext cx="1166071" cy="497498"/>
          </a:xfrm>
          <a:prstGeom prst="flowChartPunchedCard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Config</a:t>
            </a: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 def.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59" name="流程圖: 卡片 58"/>
          <p:cNvSpPr/>
          <p:nvPr/>
        </p:nvSpPr>
        <p:spPr bwMode="auto">
          <a:xfrm>
            <a:off x="6193052" y="2498899"/>
            <a:ext cx="1187260" cy="493661"/>
          </a:xfrm>
          <a:prstGeom prst="flowChartPunchedCard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Config</a:t>
            </a: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 def.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cxnSp>
        <p:nvCxnSpPr>
          <p:cNvPr id="61" name="直線單箭頭接點 60"/>
          <p:cNvCxnSpPr>
            <a:stCxn id="58" idx="0"/>
          </p:cNvCxnSpPr>
          <p:nvPr/>
        </p:nvCxnSpPr>
        <p:spPr bwMode="auto">
          <a:xfrm flipV="1">
            <a:off x="847287" y="4402804"/>
            <a:ext cx="583036" cy="234472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>
            <a:stCxn id="59" idx="2"/>
          </p:cNvCxnSpPr>
          <p:nvPr/>
        </p:nvCxnSpPr>
        <p:spPr bwMode="auto">
          <a:xfrm flipH="1">
            <a:off x="6313482" y="2992560"/>
            <a:ext cx="473200" cy="388443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肘形接點 7"/>
          <p:cNvCxnSpPr>
            <a:endCxn id="14" idx="2"/>
          </p:cNvCxnSpPr>
          <p:nvPr/>
        </p:nvCxnSpPr>
        <p:spPr bwMode="auto">
          <a:xfrm rot="10800000">
            <a:off x="3457985" y="4401845"/>
            <a:ext cx="2855498" cy="14115"/>
          </a:xfrm>
          <a:prstGeom prst="bentConnector4">
            <a:avLst>
              <a:gd name="adj1" fmla="val 212"/>
              <a:gd name="adj2" fmla="val -1815877"/>
            </a:avLst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3336799" y="4695527"/>
            <a:ext cx="3510128" cy="461665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dirty="0" smtClean="0">
                <a:latin typeface="+mn-lt"/>
                <a:ea typeface="標楷體" pitchFamily="65" charset="-120"/>
                <a:cs typeface="Calibri" pitchFamily="34" charset="0"/>
              </a:rPr>
              <a:t>Dynamically update timing</a:t>
            </a:r>
            <a:endParaRPr lang="zh-TW" altLang="en-US" dirty="0" smtClean="0">
              <a:latin typeface="+mn-lt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1" name="六邊形 20"/>
          <p:cNvSpPr/>
          <p:nvPr/>
        </p:nvSpPr>
        <p:spPr bwMode="auto">
          <a:xfrm>
            <a:off x="1019570" y="3372579"/>
            <a:ext cx="1348479" cy="1037729"/>
          </a:xfrm>
          <a:prstGeom prst="hexag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 smtClean="0">
                <a:latin typeface="+mn-lt"/>
              </a:rPr>
              <a:t>Gem5</a:t>
            </a:r>
            <a:endParaRPr lang="en-US" sz="2000" dirty="0">
              <a:latin typeface="+mn-lt"/>
            </a:endParaRPr>
          </a:p>
        </p:txBody>
      </p:sp>
      <p:sp>
        <p:nvSpPr>
          <p:cNvPr id="22" name="六邊形 21"/>
          <p:cNvSpPr/>
          <p:nvPr/>
        </p:nvSpPr>
        <p:spPr bwMode="auto">
          <a:xfrm>
            <a:off x="5442270" y="3418727"/>
            <a:ext cx="1746401" cy="945432"/>
          </a:xfrm>
          <a:prstGeom prst="hexag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sz="2000" dirty="0" smtClean="0">
                <a:latin typeface="+mn-lt"/>
              </a:rPr>
              <a:t>Standalone Garnet</a:t>
            </a:r>
            <a:endParaRPr lang="zh-TW" alt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38298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  <p:bldP spid="33" grpId="0" animBg="1"/>
      <p:bldP spid="43" grpId="0" animBg="1"/>
      <p:bldP spid="58" grpId="0" animBg="1"/>
      <p:bldP spid="5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Issues to Resolve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For Gem5:</a:t>
            </a:r>
          </a:p>
          <a:p>
            <a:pPr lvl="1"/>
            <a:r>
              <a:rPr lang="en-US" altLang="zh-TW" dirty="0" smtClean="0"/>
              <a:t>Filter log from Gem5 to extract </a:t>
            </a:r>
            <a:r>
              <a:rPr lang="en-US" altLang="zh-TW" dirty="0" err="1" smtClean="0"/>
              <a:t>NoC</a:t>
            </a:r>
            <a:r>
              <a:rPr lang="en-US" altLang="zh-TW" dirty="0" smtClean="0"/>
              <a:t> events</a:t>
            </a:r>
          </a:p>
          <a:p>
            <a:pPr lvl="1"/>
            <a:r>
              <a:rPr lang="en-US" altLang="zh-TW" dirty="0" smtClean="0"/>
              <a:t>Match messages and the constituent flits to get latency</a:t>
            </a:r>
          </a:p>
          <a:p>
            <a:pPr lvl="1"/>
            <a:r>
              <a:rPr lang="en-US" altLang="zh-TW" dirty="0" smtClean="0"/>
              <a:t>Match request and response messages for round-trip time</a:t>
            </a:r>
          </a:p>
          <a:p>
            <a:r>
              <a:rPr lang="en-US" altLang="zh-TW" dirty="0" smtClean="0"/>
              <a:t>For dependencies among trace events</a:t>
            </a:r>
          </a:p>
          <a:p>
            <a:pPr lvl="1"/>
            <a:r>
              <a:rPr lang="en-US" altLang="zh-TW" dirty="0" smtClean="0"/>
              <a:t>Use the ROB model</a:t>
            </a:r>
          </a:p>
          <a:p>
            <a:r>
              <a:rPr lang="en-US" altLang="zh-TW" dirty="0" smtClean="0"/>
              <a:t>For standalone Garnet:</a:t>
            </a:r>
          </a:p>
          <a:p>
            <a:pPr lvl="1"/>
            <a:r>
              <a:rPr lang="en-US" altLang="zh-TW" dirty="0" smtClean="0">
                <a:sym typeface="Wingdings" panose="05000000000000000000" pitchFamily="2" charset="2"/>
              </a:rPr>
              <a:t>Generate </a:t>
            </a:r>
            <a:r>
              <a:rPr lang="en-US" altLang="zh-TW" dirty="0">
                <a:sym typeface="Wingdings" panose="05000000000000000000" pitchFamily="2" charset="2"/>
              </a:rPr>
              <a:t>traffic based on trace </a:t>
            </a:r>
            <a:r>
              <a:rPr lang="en-US" altLang="zh-TW" dirty="0" smtClean="0">
                <a:sym typeface="Wingdings" panose="05000000000000000000" pitchFamily="2" charset="2"/>
              </a:rPr>
              <a:t>events, not random </a:t>
            </a:r>
            <a:r>
              <a:rPr lang="en-US" altLang="zh-TW" dirty="0" err="1" smtClean="0">
                <a:sym typeface="Wingdings" panose="05000000000000000000" pitchFamily="2" charset="2"/>
              </a:rPr>
              <a:t>func</a:t>
            </a:r>
            <a:r>
              <a:rPr lang="en-US" altLang="zh-TW" dirty="0" smtClean="0">
                <a:sym typeface="Wingdings" panose="05000000000000000000" pitchFamily="2" charset="2"/>
              </a:rPr>
              <a:t>.</a:t>
            </a:r>
          </a:p>
          <a:p>
            <a:pPr lvl="1"/>
            <a:r>
              <a:rPr lang="en-US" altLang="zh-TW" dirty="0" smtClean="0">
                <a:sym typeface="Wingdings" panose="05000000000000000000" pitchFamily="2" charset="2"/>
              </a:rPr>
              <a:t>Generate round-trip messages, not just source-destination</a:t>
            </a:r>
          </a:p>
          <a:p>
            <a:pPr lvl="2"/>
            <a:r>
              <a:rPr lang="en-US" altLang="zh-TW" dirty="0" smtClean="0">
                <a:sym typeface="Wingdings" panose="05000000000000000000" pitchFamily="2" charset="2"/>
              </a:rPr>
              <a:t>Need to model cache/memory and their responses, inject response messages back to </a:t>
            </a:r>
            <a:r>
              <a:rPr lang="en-US" altLang="zh-TW" dirty="0" err="1" smtClean="0">
                <a:sym typeface="Wingdings" panose="05000000000000000000" pitchFamily="2" charset="2"/>
              </a:rPr>
              <a:t>NoC</a:t>
            </a:r>
            <a:r>
              <a:rPr lang="en-US" altLang="zh-TW" dirty="0" smtClean="0">
                <a:sym typeface="Wingdings" panose="05000000000000000000" pitchFamily="2" charset="2"/>
              </a:rPr>
              <a:t>, match request-response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23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188378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Trace Extraction from Gem5</a:t>
            </a:r>
            <a:endParaRPr lang="en-US" altLang="zh-TW" dirty="0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Message flow in Gem5</a:t>
            </a:r>
          </a:p>
          <a:p>
            <a:pPr lvl="1"/>
            <a:r>
              <a:rPr lang="en-US" altLang="zh-TW" dirty="0" smtClean="0"/>
              <a:t>Dump message logs from message buffer to trace file</a:t>
            </a:r>
          </a:p>
          <a:p>
            <a:endParaRPr lang="en-US" altLang="zh-TW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24</a:t>
            </a:fld>
            <a:endParaRPr lang="zh-TW" altLang="zh-TW"/>
          </a:p>
        </p:txBody>
      </p:sp>
      <p:grpSp>
        <p:nvGrpSpPr>
          <p:cNvPr id="25" name="群組 24"/>
          <p:cNvGrpSpPr/>
          <p:nvPr/>
        </p:nvGrpSpPr>
        <p:grpSpPr>
          <a:xfrm>
            <a:off x="761904" y="2204864"/>
            <a:ext cx="2454225" cy="3632501"/>
            <a:chOff x="1127664" y="2127690"/>
            <a:chExt cx="2454225" cy="3632501"/>
          </a:xfrm>
        </p:grpSpPr>
        <p:sp>
          <p:nvSpPr>
            <p:cNvPr id="2" name="文字方塊 1"/>
            <p:cNvSpPr txBox="1"/>
            <p:nvPr/>
          </p:nvSpPr>
          <p:spPr>
            <a:xfrm>
              <a:off x="1127664" y="2695522"/>
              <a:ext cx="1279004" cy="338554"/>
            </a:xfrm>
            <a:prstGeom prst="rect">
              <a:avLst/>
            </a:prstGeom>
            <a:noFill/>
          </p:spPr>
          <p:txBody>
            <a:bodyPr wrap="none" rtlCol="0" anchor="ctr" anchorCtr="1">
              <a:spAutoFit/>
            </a:bodyPr>
            <a:lstStyle/>
            <a:p>
              <a:r>
                <a:rPr lang="en-US" altLang="zh-TW" sz="1600" dirty="0" err="1">
                  <a:latin typeface="+mn-lt"/>
                  <a:ea typeface="標楷體" pitchFamily="65" charset="-120"/>
                  <a:cs typeface="Calibri" pitchFamily="34" charset="0"/>
                </a:rPr>
                <a:t>RubyRequest</a:t>
              </a:r>
              <a:endParaRPr lang="zh-TW" altLang="en-US" dirty="0" smtClean="0">
                <a:latin typeface="+mn-lt"/>
                <a:ea typeface="標楷體" pitchFamily="65" charset="-120"/>
                <a:cs typeface="Calibri" pitchFamily="34" charset="0"/>
              </a:endParaRP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1172548" y="3893919"/>
              <a:ext cx="1211101" cy="338554"/>
            </a:xfrm>
            <a:prstGeom prst="rect">
              <a:avLst/>
            </a:prstGeom>
            <a:noFill/>
          </p:spPr>
          <p:txBody>
            <a:bodyPr wrap="none" rtlCol="0" anchor="ctr" anchorCtr="1">
              <a:spAutoFit/>
            </a:bodyPr>
            <a:lstStyle/>
            <a:p>
              <a:r>
                <a:rPr lang="en-US" altLang="zh-TW" sz="1600" dirty="0" err="1">
                  <a:latin typeface="+mn-lt"/>
                  <a:ea typeface="標楷體" pitchFamily="65" charset="-120"/>
                  <a:cs typeface="Calibri" pitchFamily="34" charset="0"/>
                </a:rPr>
                <a:t>RequestMsg</a:t>
              </a:r>
              <a:endParaRPr lang="zh-TW" altLang="en-US" dirty="0" smtClean="0">
                <a:latin typeface="+mn-lt"/>
                <a:ea typeface="標楷體" pitchFamily="65" charset="-120"/>
                <a:cs typeface="Calibri" pitchFamily="34" charset="0"/>
              </a:endParaRP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2248254" y="5003767"/>
              <a:ext cx="1333635" cy="338554"/>
            </a:xfrm>
            <a:prstGeom prst="rect">
              <a:avLst/>
            </a:prstGeom>
            <a:noFill/>
          </p:spPr>
          <p:txBody>
            <a:bodyPr wrap="none" rtlCol="0" anchor="ctr" anchorCtr="1">
              <a:spAutoFit/>
            </a:bodyPr>
            <a:lstStyle/>
            <a:p>
              <a:r>
                <a:rPr lang="en-US" altLang="zh-TW" sz="1600" dirty="0" err="1" smtClean="0">
                  <a:latin typeface="+mn-lt"/>
                  <a:ea typeface="標楷體" pitchFamily="65" charset="-120"/>
                  <a:cs typeface="Calibri" pitchFamily="34" charset="0"/>
                </a:rPr>
                <a:t>ResponseMsg</a:t>
              </a:r>
              <a:endParaRPr lang="zh-TW" altLang="en-US" sz="1600" dirty="0">
                <a:latin typeface="+mn-lt"/>
                <a:ea typeface="標楷體" pitchFamily="65" charset="-120"/>
                <a:cs typeface="Calibri" pitchFamily="34" charset="0"/>
              </a:endParaRPr>
            </a:p>
          </p:txBody>
        </p:sp>
        <p:sp>
          <p:nvSpPr>
            <p:cNvPr id="5" name="矩形 4"/>
            <p:cNvSpPr/>
            <p:nvPr/>
          </p:nvSpPr>
          <p:spPr bwMode="auto">
            <a:xfrm>
              <a:off x="1209124" y="2127690"/>
              <a:ext cx="1244365" cy="416459"/>
            </a:xfrm>
            <a:prstGeom prst="rect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ea typeface="新細明體" pitchFamily="18" charset="-120"/>
                </a:rPr>
                <a:t>core</a:t>
              </a:r>
              <a:endParaRPr kumimoji="1" lang="zh-TW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endParaRPr>
            </a:p>
          </p:txBody>
        </p:sp>
        <p:sp>
          <p:nvSpPr>
            <p:cNvPr id="11" name="矩形 10"/>
            <p:cNvSpPr/>
            <p:nvPr/>
          </p:nvSpPr>
          <p:spPr bwMode="auto">
            <a:xfrm>
              <a:off x="1209124" y="3295152"/>
              <a:ext cx="1244365" cy="416459"/>
            </a:xfrm>
            <a:prstGeom prst="rect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ea typeface="新細明體" pitchFamily="18" charset="-120"/>
                </a:rPr>
                <a:t>L1 cache</a:t>
              </a:r>
              <a:endParaRPr kumimoji="1" lang="zh-TW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endParaRPr>
            </a:p>
          </p:txBody>
        </p:sp>
        <p:sp>
          <p:nvSpPr>
            <p:cNvPr id="13" name="雲朵形 12"/>
            <p:cNvSpPr/>
            <p:nvPr/>
          </p:nvSpPr>
          <p:spPr bwMode="auto">
            <a:xfrm>
              <a:off x="1132119" y="4480858"/>
              <a:ext cx="1398373" cy="615635"/>
            </a:xfrm>
            <a:prstGeom prst="cloud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ea typeface="新細明體" pitchFamily="18" charset="-120"/>
                </a:rPr>
                <a:t>Garnet</a:t>
              </a:r>
              <a:endParaRPr kumimoji="1" lang="zh-TW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endParaRPr>
            </a:p>
          </p:txBody>
        </p:sp>
        <p:cxnSp>
          <p:nvCxnSpPr>
            <p:cNvPr id="15" name="直線單箭頭接點 14"/>
            <p:cNvCxnSpPr/>
            <p:nvPr/>
          </p:nvCxnSpPr>
          <p:spPr bwMode="auto">
            <a:xfrm>
              <a:off x="1831306" y="2544149"/>
              <a:ext cx="0" cy="26649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/>
            <p:nvPr/>
          </p:nvCxnSpPr>
          <p:spPr bwMode="auto">
            <a:xfrm>
              <a:off x="1831306" y="3028661"/>
              <a:ext cx="0" cy="26649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/>
            <p:nvPr/>
          </p:nvCxnSpPr>
          <p:spPr bwMode="auto">
            <a:xfrm>
              <a:off x="1831306" y="3711611"/>
              <a:ext cx="0" cy="26649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1985852" y="3726999"/>
              <a:ext cx="649537" cy="307777"/>
            </a:xfrm>
            <a:prstGeom prst="rect">
              <a:avLst/>
            </a:prstGeom>
            <a:noFill/>
          </p:spPr>
          <p:txBody>
            <a:bodyPr wrap="none" rtlCol="0" anchor="ctr" anchorCtr="1">
              <a:spAutoFit/>
            </a:bodyPr>
            <a:lstStyle/>
            <a:p>
              <a:r>
                <a:rPr lang="en-US" altLang="zh-TW" sz="1400" dirty="0" smtClean="0">
                  <a:latin typeface="+mn-lt"/>
                  <a:ea typeface="標楷體" pitchFamily="65" charset="-120"/>
                  <a:cs typeface="Calibri" pitchFamily="34" charset="0"/>
                </a:rPr>
                <a:t>If miss</a:t>
              </a:r>
              <a:endParaRPr lang="zh-TW" altLang="en-US" sz="1600" dirty="0" smtClean="0">
                <a:latin typeface="+mn-lt"/>
                <a:ea typeface="標楷體" pitchFamily="65" charset="-120"/>
                <a:cs typeface="Calibri" pitchFamily="34" charset="0"/>
              </a:endParaRPr>
            </a:p>
          </p:txBody>
        </p:sp>
        <p:cxnSp>
          <p:nvCxnSpPr>
            <p:cNvPr id="20" name="直線單箭頭接點 19"/>
            <p:cNvCxnSpPr/>
            <p:nvPr/>
          </p:nvCxnSpPr>
          <p:spPr bwMode="auto">
            <a:xfrm>
              <a:off x="1841356" y="4232473"/>
              <a:ext cx="0" cy="26649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1" name="矩形 20"/>
            <p:cNvSpPr/>
            <p:nvPr/>
          </p:nvSpPr>
          <p:spPr bwMode="auto">
            <a:xfrm>
              <a:off x="1243557" y="5343732"/>
              <a:ext cx="1244365" cy="416459"/>
            </a:xfrm>
            <a:prstGeom prst="rect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ea typeface="新細明體" pitchFamily="18" charset="-120"/>
                </a:rPr>
                <a:t>L2/Mem</a:t>
              </a:r>
              <a:endParaRPr kumimoji="1" lang="zh-TW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endParaRPr>
            </a:p>
          </p:txBody>
        </p:sp>
        <p:cxnSp>
          <p:nvCxnSpPr>
            <p:cNvPr id="22" name="直線單箭頭接點 21"/>
            <p:cNvCxnSpPr/>
            <p:nvPr/>
          </p:nvCxnSpPr>
          <p:spPr bwMode="auto">
            <a:xfrm>
              <a:off x="1847452" y="5079817"/>
              <a:ext cx="0" cy="26649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/>
            <p:nvPr/>
          </p:nvCxnSpPr>
          <p:spPr bwMode="auto">
            <a:xfrm rot="10800000">
              <a:off x="2213212" y="5043241"/>
              <a:ext cx="0" cy="26649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438"/>
          <a:stretch/>
        </p:blipFill>
        <p:spPr bwMode="auto">
          <a:xfrm>
            <a:off x="2474243" y="2711174"/>
            <a:ext cx="6400800" cy="17420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0460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357" y="2913695"/>
            <a:ext cx="6646123" cy="3120222"/>
          </a:xfrm>
          <a:prstGeom prst="rect">
            <a:avLst/>
          </a:prstGeom>
        </p:spPr>
      </p:pic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Trace Extraction from Gem5</a:t>
            </a:r>
            <a:endParaRPr lang="en-US" altLang="zh-TW" dirty="0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Also record the latency between response message and corresponding request message</a:t>
            </a:r>
          </a:p>
          <a:p>
            <a:r>
              <a:rPr lang="en-US" altLang="zh-TW" dirty="0" smtClean="0"/>
              <a:t>Filter the full trace so that each trace event includes:</a:t>
            </a:r>
          </a:p>
          <a:p>
            <a:pPr lvl="1"/>
            <a:r>
              <a:rPr lang="en-US" altLang="zh-TW" dirty="0" smtClean="0"/>
              <a:t>Message type</a:t>
            </a:r>
          </a:p>
          <a:p>
            <a:pPr lvl="1"/>
            <a:r>
              <a:rPr lang="en-US" altLang="zh-TW" dirty="0" smtClean="0"/>
              <a:t>Address  </a:t>
            </a:r>
          </a:p>
          <a:p>
            <a:pPr lvl="1"/>
            <a:r>
              <a:rPr lang="en-US" altLang="zh-TW" dirty="0" smtClean="0"/>
              <a:t>Source  </a:t>
            </a:r>
          </a:p>
          <a:p>
            <a:pPr lvl="1"/>
            <a:r>
              <a:rPr lang="en-US" altLang="zh-TW" dirty="0" smtClean="0"/>
              <a:t>Time </a:t>
            </a:r>
          </a:p>
          <a:p>
            <a:pPr lvl="1"/>
            <a:endParaRPr lang="en-US" altLang="zh-TW" dirty="0" smtClean="0"/>
          </a:p>
          <a:p>
            <a:endParaRPr lang="en-US" altLang="zh-TW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25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00138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Standalone Garnet Modifications</a:t>
            </a:r>
            <a:endParaRPr lang="en-US" altLang="zh-TW" dirty="0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Garnet was developed as an interconnection network simulator and later integrated into Ruby</a:t>
            </a:r>
          </a:p>
          <a:p>
            <a:pPr lvl="1"/>
            <a:r>
              <a:rPr lang="en-US" altLang="zh-TW" dirty="0" smtClean="0"/>
              <a:t>Input packets are generated using random number generator based on user-specified injection rate</a:t>
            </a:r>
          </a:p>
          <a:p>
            <a:pPr lvl="1"/>
            <a:r>
              <a:rPr lang="en-US" altLang="zh-TW" dirty="0" smtClean="0"/>
              <a:t>Concern mainly on packet delivery performance from source to destination (not specific about their roles)</a:t>
            </a:r>
          </a:p>
          <a:p>
            <a:r>
              <a:rPr lang="en-US" altLang="zh-TW" dirty="0" smtClean="0"/>
              <a:t>For our evaluation</a:t>
            </a:r>
          </a:p>
          <a:p>
            <a:pPr lvl="1"/>
            <a:r>
              <a:rPr lang="en-US" altLang="zh-TW" dirty="0" smtClean="0"/>
              <a:t>Need to generate traffic to standalone Garnet based on trace events </a:t>
            </a:r>
            <a:r>
              <a:rPr lang="en-US" altLang="zh-TW" dirty="0" smtClean="0">
                <a:sym typeface="Wingdings" panose="05000000000000000000" pitchFamily="2" charset="2"/>
              </a:rPr>
              <a:t> modify Garnet, determine message size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Need to model memory and round-trip traffic between L1 and memory </a:t>
            </a:r>
          </a:p>
          <a:p>
            <a:endParaRPr lang="en-US" altLang="zh-TW" dirty="0" smtClean="0"/>
          </a:p>
          <a:p>
            <a:endParaRPr lang="en-US" altLang="zh-TW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26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035962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Determine Size of Messages</a:t>
            </a:r>
            <a:endParaRPr lang="en-US" altLang="zh-TW" dirty="0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Flow in Gem5 from a request at application-level down to HW flits</a:t>
            </a:r>
          </a:p>
          <a:p>
            <a:r>
              <a:rPr lang="en-US" altLang="zh-TW" dirty="0" smtClean="0"/>
              <a:t>2 possible message types</a:t>
            </a:r>
            <a:r>
              <a:rPr lang="en-US" altLang="zh-TW" dirty="0"/>
              <a:t> </a:t>
            </a:r>
            <a:r>
              <a:rPr lang="en-US" altLang="zh-TW" dirty="0" smtClean="0"/>
              <a:t>from Gem5</a:t>
            </a:r>
          </a:p>
          <a:p>
            <a:pPr lvl="1"/>
            <a:r>
              <a:rPr lang="en-US" altLang="zh-TW" dirty="0" smtClean="0"/>
              <a:t>Number of flits = 1</a:t>
            </a:r>
          </a:p>
          <a:p>
            <a:pPr lvl="1"/>
            <a:r>
              <a:rPr lang="en-US" altLang="zh-TW" dirty="0" smtClean="0"/>
              <a:t>Number of flits = 5</a:t>
            </a:r>
          </a:p>
          <a:p>
            <a:r>
              <a:rPr lang="en-US" altLang="zh-TW" dirty="0" smtClean="0"/>
              <a:t>3 types of messages in standalone Garnet</a:t>
            </a:r>
          </a:p>
          <a:p>
            <a:pPr lvl="1"/>
            <a:r>
              <a:rPr lang="en-US" altLang="zh-TW" dirty="0" err="1" smtClean="0"/>
              <a:t>RubyRequestType_LD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num_of_flit</a:t>
            </a:r>
            <a:r>
              <a:rPr lang="en-US" altLang="zh-TW" dirty="0" smtClean="0"/>
              <a:t> =1</a:t>
            </a:r>
          </a:p>
          <a:p>
            <a:pPr lvl="1"/>
            <a:r>
              <a:rPr lang="en-US" altLang="zh-TW" dirty="0" err="1" smtClean="0"/>
              <a:t>RubyRequestType_IFETCH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num_of_flit</a:t>
            </a:r>
            <a:r>
              <a:rPr lang="en-US" altLang="zh-TW" dirty="0" smtClean="0"/>
              <a:t> =1</a:t>
            </a:r>
          </a:p>
          <a:p>
            <a:pPr lvl="1"/>
            <a:r>
              <a:rPr lang="en-US" altLang="zh-TW" dirty="0" err="1" smtClean="0"/>
              <a:t>RubyRequestType_ST</a:t>
            </a:r>
            <a:r>
              <a:rPr lang="en-US" altLang="zh-TW" dirty="0" smtClean="0"/>
              <a:t> : </a:t>
            </a:r>
            <a:r>
              <a:rPr lang="en-US" altLang="zh-TW" dirty="0" err="1" smtClean="0"/>
              <a:t>num_of_flit</a:t>
            </a:r>
            <a:r>
              <a:rPr lang="en-US" altLang="zh-TW" dirty="0" smtClean="0"/>
              <a:t> =5</a:t>
            </a:r>
          </a:p>
          <a:p>
            <a:r>
              <a:rPr lang="en-US" altLang="zh-TW" dirty="0" smtClean="0"/>
              <a:t>Based on event message type in trace file,</a:t>
            </a:r>
            <a:br>
              <a:rPr lang="en-US" altLang="zh-TW" dirty="0" smtClean="0"/>
            </a:br>
            <a:r>
              <a:rPr lang="en-US" altLang="zh-TW" dirty="0" smtClean="0"/>
              <a:t>create request type and size for the message</a:t>
            </a:r>
          </a:p>
          <a:p>
            <a:pPr lvl="1"/>
            <a:endParaRPr lang="en-US" altLang="zh-TW" dirty="0" smtClean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27</a:t>
            </a:fld>
            <a:endParaRPr lang="zh-TW" altLang="zh-TW"/>
          </a:p>
        </p:txBody>
      </p:sp>
      <p:grpSp>
        <p:nvGrpSpPr>
          <p:cNvPr id="15" name="群組 14"/>
          <p:cNvGrpSpPr/>
          <p:nvPr/>
        </p:nvGrpSpPr>
        <p:grpSpPr>
          <a:xfrm>
            <a:off x="7223996" y="1628800"/>
            <a:ext cx="1425039" cy="3587668"/>
            <a:chOff x="1537854" y="2220686"/>
            <a:chExt cx="1425039" cy="3587668"/>
          </a:xfrm>
        </p:grpSpPr>
        <p:sp>
          <p:nvSpPr>
            <p:cNvPr id="2" name="圓角矩形 1"/>
            <p:cNvSpPr/>
            <p:nvPr/>
          </p:nvSpPr>
          <p:spPr bwMode="auto">
            <a:xfrm>
              <a:off x="1537854" y="2220686"/>
              <a:ext cx="1425039" cy="52251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2000" b="1" dirty="0" smtClean="0">
                  <a:solidFill>
                    <a:schemeClr val="tx1"/>
                  </a:solidFill>
                  <a:ea typeface="新細明體" pitchFamily="18" charset="-120"/>
                </a:rPr>
                <a:t>Request</a:t>
              </a:r>
              <a:endParaRPr kumimoji="1" lang="zh-TW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endParaRPr>
            </a:p>
          </p:txBody>
        </p:sp>
        <p:sp>
          <p:nvSpPr>
            <p:cNvPr id="5" name="圓角矩形 4"/>
            <p:cNvSpPr/>
            <p:nvPr/>
          </p:nvSpPr>
          <p:spPr bwMode="auto">
            <a:xfrm>
              <a:off x="1537854" y="3242404"/>
              <a:ext cx="1425039" cy="52251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2000" b="1" dirty="0" smtClean="0">
                  <a:solidFill>
                    <a:schemeClr val="tx1"/>
                  </a:solidFill>
                  <a:ea typeface="新細明體" pitchFamily="18" charset="-120"/>
                </a:rPr>
                <a:t>Packet</a:t>
              </a:r>
              <a:endParaRPr kumimoji="1" lang="zh-TW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endParaRPr>
            </a:p>
          </p:txBody>
        </p:sp>
        <p:sp>
          <p:nvSpPr>
            <p:cNvPr id="8" name="圓角矩形 7"/>
            <p:cNvSpPr/>
            <p:nvPr/>
          </p:nvSpPr>
          <p:spPr bwMode="auto">
            <a:xfrm>
              <a:off x="1537854" y="4264122"/>
              <a:ext cx="1425039" cy="52251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2000" b="1" dirty="0" smtClean="0">
                  <a:solidFill>
                    <a:schemeClr val="tx1"/>
                  </a:solidFill>
                  <a:ea typeface="新細明體" pitchFamily="18" charset="-120"/>
                </a:rPr>
                <a:t>Message</a:t>
              </a:r>
              <a:endParaRPr kumimoji="1" lang="zh-TW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endParaRPr>
            </a:p>
          </p:txBody>
        </p:sp>
        <p:sp>
          <p:nvSpPr>
            <p:cNvPr id="9" name="圓角矩形 8"/>
            <p:cNvSpPr/>
            <p:nvPr/>
          </p:nvSpPr>
          <p:spPr bwMode="auto">
            <a:xfrm>
              <a:off x="1537854" y="5285840"/>
              <a:ext cx="1425039" cy="522514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2000" b="1" dirty="0" smtClean="0">
                  <a:solidFill>
                    <a:schemeClr val="tx1"/>
                  </a:solidFill>
                  <a:ea typeface="新細明體" pitchFamily="18" charset="-120"/>
                </a:rPr>
                <a:t>Flit</a:t>
              </a:r>
              <a:endParaRPr kumimoji="1" lang="zh-TW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endParaRPr>
            </a:p>
          </p:txBody>
        </p:sp>
        <p:cxnSp>
          <p:nvCxnSpPr>
            <p:cNvPr id="10" name="直線單箭頭接點 9"/>
            <p:cNvCxnSpPr>
              <a:stCxn id="2" idx="2"/>
              <a:endCxn id="5" idx="0"/>
            </p:cNvCxnSpPr>
            <p:nvPr/>
          </p:nvCxnSpPr>
          <p:spPr bwMode="auto">
            <a:xfrm>
              <a:off x="2250374" y="2743200"/>
              <a:ext cx="0" cy="499204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直線單箭頭接點 11"/>
            <p:cNvCxnSpPr>
              <a:stCxn id="5" idx="2"/>
              <a:endCxn id="8" idx="0"/>
            </p:cNvCxnSpPr>
            <p:nvPr/>
          </p:nvCxnSpPr>
          <p:spPr bwMode="auto">
            <a:xfrm>
              <a:off x="2250374" y="3764918"/>
              <a:ext cx="0" cy="499204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直線單箭頭接點 13"/>
            <p:cNvCxnSpPr>
              <a:stCxn id="8" idx="2"/>
              <a:endCxn id="9" idx="0"/>
            </p:cNvCxnSpPr>
            <p:nvPr/>
          </p:nvCxnSpPr>
          <p:spPr bwMode="auto">
            <a:xfrm>
              <a:off x="2250374" y="4786636"/>
              <a:ext cx="0" cy="499204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6" name="圓角矩形 15"/>
          <p:cNvSpPr/>
          <p:nvPr/>
        </p:nvSpPr>
        <p:spPr bwMode="auto">
          <a:xfrm>
            <a:off x="7016179" y="3471145"/>
            <a:ext cx="1876301" cy="1923803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+mn-lt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09086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Inject Memory Responses into </a:t>
            </a:r>
            <a:r>
              <a:rPr lang="en-US" altLang="zh-TW" dirty="0" err="1" smtClean="0"/>
              <a:t>NoC</a:t>
            </a:r>
            <a:endParaRPr lang="en-US" altLang="zh-TW" dirty="0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Garnet must inject messages not only from L1 trace events but also from memory responses</a:t>
            </a:r>
            <a:endParaRPr lang="en-US" altLang="zh-TW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28</a:t>
            </a:fld>
            <a:endParaRPr lang="zh-TW" altLang="zh-TW"/>
          </a:p>
        </p:txBody>
      </p:sp>
      <p:sp>
        <p:nvSpPr>
          <p:cNvPr id="4" name="雲朵形 3"/>
          <p:cNvSpPr/>
          <p:nvPr/>
        </p:nvSpPr>
        <p:spPr bwMode="auto">
          <a:xfrm>
            <a:off x="2578171" y="3186684"/>
            <a:ext cx="4550863" cy="1439508"/>
          </a:xfrm>
          <a:prstGeom prst="cloud">
            <a:avLst/>
          </a:prstGeom>
          <a:solidFill>
            <a:schemeClr val="accent2"/>
          </a:solidFill>
          <a:ln>
            <a:solidFill>
              <a:schemeClr val="accent2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2000" b="1" dirty="0" smtClean="0">
                <a:solidFill>
                  <a:srgbClr val="000000"/>
                </a:solidFill>
              </a:rPr>
              <a:t>Garnet standalone simulator</a:t>
            </a:r>
            <a:endParaRPr lang="zh-TW" altLang="en-US" sz="2000" b="1" dirty="0" smtClean="0">
              <a:solidFill>
                <a:srgbClr val="000000"/>
              </a:solidFill>
            </a:endParaRPr>
          </a:p>
        </p:txBody>
      </p:sp>
      <p:pic>
        <p:nvPicPr>
          <p:cNvPr id="14" name="圖片 13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665" y="1988840"/>
            <a:ext cx="512022" cy="920420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652" y="1988840"/>
            <a:ext cx="512022" cy="920420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852" y="1988840"/>
            <a:ext cx="512022" cy="920420"/>
          </a:xfrm>
          <a:prstGeom prst="rect">
            <a:avLst/>
          </a:prstGeom>
        </p:spPr>
      </p:pic>
      <p:pic>
        <p:nvPicPr>
          <p:cNvPr id="18" name="圖片 17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236" y="1988840"/>
            <a:ext cx="512022" cy="920420"/>
          </a:xfrm>
          <a:prstGeom prst="rect">
            <a:avLst/>
          </a:prstGeom>
        </p:spPr>
      </p:pic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436" y="1988840"/>
            <a:ext cx="512022" cy="920420"/>
          </a:xfrm>
          <a:prstGeom prst="rect">
            <a:avLst/>
          </a:prstGeom>
        </p:spPr>
      </p:pic>
      <p:sp>
        <p:nvSpPr>
          <p:cNvPr id="20" name="橢圓 19"/>
          <p:cNvSpPr/>
          <p:nvPr/>
        </p:nvSpPr>
        <p:spPr bwMode="auto">
          <a:xfrm>
            <a:off x="4630272" y="2412970"/>
            <a:ext cx="99588" cy="99588"/>
          </a:xfrm>
          <a:prstGeom prst="ellipse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zh-TW" altLang="en-US" sz="1800" b="1" smtClean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1" name="橢圓 20"/>
          <p:cNvSpPr/>
          <p:nvPr/>
        </p:nvSpPr>
        <p:spPr bwMode="auto">
          <a:xfrm>
            <a:off x="4972785" y="2412970"/>
            <a:ext cx="99588" cy="99588"/>
          </a:xfrm>
          <a:prstGeom prst="ellipse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zh-TW" altLang="en-US" sz="1800" b="1" smtClean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2" name="橢圓 21"/>
          <p:cNvSpPr/>
          <p:nvPr/>
        </p:nvSpPr>
        <p:spPr bwMode="auto">
          <a:xfrm>
            <a:off x="5315298" y="2412970"/>
            <a:ext cx="99588" cy="99588"/>
          </a:xfrm>
          <a:prstGeom prst="ellipse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zh-TW" altLang="en-US" sz="1800" dirty="0" smtClean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3084652" y="2133861"/>
            <a:ext cx="512022" cy="162963"/>
          </a:xfrm>
          <a:prstGeom prst="rect">
            <a:avLst/>
          </a:prstGeom>
          <a:solidFill>
            <a:srgbClr val="002060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zh-TW" altLang="en-US" sz="1800" b="1" smtClean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44" name="圖片 43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999" y="4830119"/>
            <a:ext cx="512022" cy="920420"/>
          </a:xfrm>
          <a:prstGeom prst="rect">
            <a:avLst/>
          </a:prstGeom>
        </p:spPr>
      </p:pic>
      <p:pic>
        <p:nvPicPr>
          <p:cNvPr id="45" name="圖片 44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986" y="4830119"/>
            <a:ext cx="512022" cy="920420"/>
          </a:xfrm>
          <a:prstGeom prst="rect">
            <a:avLst/>
          </a:prstGeom>
        </p:spPr>
      </p:pic>
      <p:pic>
        <p:nvPicPr>
          <p:cNvPr id="46" name="圖片 45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2186" y="4830119"/>
            <a:ext cx="512022" cy="920420"/>
          </a:xfrm>
          <a:prstGeom prst="rect">
            <a:avLst/>
          </a:prstGeom>
        </p:spPr>
      </p:pic>
      <p:pic>
        <p:nvPicPr>
          <p:cNvPr id="47" name="圖片 46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570" y="4830119"/>
            <a:ext cx="512022" cy="920420"/>
          </a:xfrm>
          <a:prstGeom prst="rect">
            <a:avLst/>
          </a:prstGeom>
        </p:spPr>
      </p:pic>
      <p:pic>
        <p:nvPicPr>
          <p:cNvPr id="48" name="圖片 47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770" y="4830119"/>
            <a:ext cx="512022" cy="920420"/>
          </a:xfrm>
          <a:prstGeom prst="rect">
            <a:avLst/>
          </a:prstGeom>
        </p:spPr>
      </p:pic>
      <p:sp>
        <p:nvSpPr>
          <p:cNvPr id="49" name="橢圓 48"/>
          <p:cNvSpPr/>
          <p:nvPr/>
        </p:nvSpPr>
        <p:spPr bwMode="auto">
          <a:xfrm>
            <a:off x="4729860" y="5290329"/>
            <a:ext cx="99588" cy="99588"/>
          </a:xfrm>
          <a:prstGeom prst="ellipse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zh-TW" altLang="en-US" sz="1800" b="1" smtClean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0" name="橢圓 49"/>
          <p:cNvSpPr/>
          <p:nvPr/>
        </p:nvSpPr>
        <p:spPr bwMode="auto">
          <a:xfrm>
            <a:off x="5072373" y="5290329"/>
            <a:ext cx="99588" cy="99588"/>
          </a:xfrm>
          <a:prstGeom prst="ellipse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zh-TW" altLang="en-US" sz="1800" b="1" smtClean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1" name="橢圓 50"/>
          <p:cNvSpPr/>
          <p:nvPr/>
        </p:nvSpPr>
        <p:spPr bwMode="auto">
          <a:xfrm>
            <a:off x="5414886" y="5290329"/>
            <a:ext cx="99588" cy="99588"/>
          </a:xfrm>
          <a:prstGeom prst="ellipse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zh-TW" altLang="en-US" sz="1800" dirty="0" smtClean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7129034" y="2570706"/>
            <a:ext cx="1584356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smtClean="0">
                <a:solidFill>
                  <a:srgbClr val="000000"/>
                </a:solidFill>
                <a:latin typeface="+mn-lt"/>
                <a:ea typeface="標楷體" pitchFamily="65" charset="-120"/>
                <a:cs typeface="Calibri" pitchFamily="34" charset="0"/>
              </a:rPr>
              <a:t>Request buffer</a:t>
            </a:r>
            <a:endParaRPr kumimoji="0" lang="zh-TW" altLang="en-US" sz="1600" dirty="0" smtClean="0">
              <a:solidFill>
                <a:srgbClr val="000000"/>
              </a:solidFill>
              <a:latin typeface="+mn-lt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7172794" y="5408793"/>
            <a:ext cx="1775988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smtClean="0">
                <a:solidFill>
                  <a:srgbClr val="000000"/>
                </a:solidFill>
                <a:latin typeface="+mn-lt"/>
                <a:ea typeface="標楷體" pitchFamily="65" charset="-120"/>
                <a:cs typeface="Calibri" pitchFamily="34" charset="0"/>
              </a:rPr>
              <a:t>Response buffer</a:t>
            </a:r>
            <a:endParaRPr kumimoji="0" lang="zh-TW" altLang="en-US" sz="1600" dirty="0" smtClean="0">
              <a:solidFill>
                <a:srgbClr val="000000"/>
              </a:solidFill>
              <a:latin typeface="+mn-lt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2339752" y="2873072"/>
            <a:ext cx="594393" cy="307777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400" dirty="0" smtClean="0">
                <a:solidFill>
                  <a:srgbClr val="000000"/>
                </a:solidFill>
                <a:latin typeface="+mn-lt"/>
                <a:ea typeface="標楷體" pitchFamily="65" charset="-120"/>
                <a:cs typeface="Calibri" pitchFamily="34" charset="0"/>
              </a:rPr>
              <a:t>core0</a:t>
            </a:r>
            <a:endParaRPr kumimoji="0" lang="zh-TW" altLang="en-US" sz="1400" dirty="0" smtClean="0">
              <a:solidFill>
                <a:srgbClr val="000000"/>
              </a:solidFill>
              <a:latin typeface="+mn-lt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3021104" y="2869872"/>
            <a:ext cx="594393" cy="307777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400" dirty="0">
                <a:solidFill>
                  <a:srgbClr val="000000"/>
                </a:solidFill>
                <a:latin typeface="+mn-lt"/>
                <a:ea typeface="標楷體" pitchFamily="65" charset="-120"/>
                <a:cs typeface="Calibri" pitchFamily="34" charset="0"/>
              </a:rPr>
              <a:t>c</a:t>
            </a:r>
            <a:r>
              <a:rPr kumimoji="0" lang="en-US" altLang="zh-TW" sz="1400" dirty="0" smtClean="0">
                <a:solidFill>
                  <a:srgbClr val="000000"/>
                </a:solidFill>
                <a:latin typeface="+mn-lt"/>
                <a:ea typeface="標楷體" pitchFamily="65" charset="-120"/>
                <a:cs typeface="Calibri" pitchFamily="34" charset="0"/>
              </a:rPr>
              <a:t>ore1</a:t>
            </a:r>
            <a:endParaRPr kumimoji="0" lang="zh-TW" altLang="en-US" sz="1400" dirty="0" smtClean="0">
              <a:solidFill>
                <a:srgbClr val="000000"/>
              </a:solidFill>
              <a:latin typeface="+mn-lt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3735911" y="2878907"/>
            <a:ext cx="594393" cy="307777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400" dirty="0" smtClean="0">
                <a:solidFill>
                  <a:srgbClr val="000000"/>
                </a:solidFill>
                <a:latin typeface="+mn-lt"/>
                <a:ea typeface="標楷體" pitchFamily="65" charset="-120"/>
                <a:cs typeface="Calibri" pitchFamily="34" charset="0"/>
              </a:rPr>
              <a:t>core2</a:t>
            </a:r>
            <a:endParaRPr kumimoji="0" lang="zh-TW" altLang="en-US" sz="1400" dirty="0" smtClean="0">
              <a:solidFill>
                <a:srgbClr val="000000"/>
              </a:solidFill>
              <a:latin typeface="+mn-lt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5663211" y="2857602"/>
            <a:ext cx="727443" cy="307777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400" dirty="0">
                <a:solidFill>
                  <a:srgbClr val="000000"/>
                </a:solidFill>
                <a:latin typeface="+mn-lt"/>
                <a:ea typeface="標楷體" pitchFamily="65" charset="-120"/>
                <a:cs typeface="Calibri" pitchFamily="34" charset="0"/>
              </a:rPr>
              <a:t>c</a:t>
            </a:r>
            <a:r>
              <a:rPr kumimoji="0" lang="en-US" altLang="zh-TW" sz="1400" dirty="0" smtClean="0">
                <a:solidFill>
                  <a:srgbClr val="000000"/>
                </a:solidFill>
                <a:latin typeface="+mn-lt"/>
                <a:ea typeface="標楷體" pitchFamily="65" charset="-120"/>
                <a:cs typeface="Calibri" pitchFamily="34" charset="0"/>
              </a:rPr>
              <a:t>ore(N)</a:t>
            </a:r>
            <a:endParaRPr kumimoji="0" lang="zh-TW" altLang="en-US" sz="1400" dirty="0" smtClean="0">
              <a:solidFill>
                <a:srgbClr val="000000"/>
              </a:solidFill>
              <a:latin typeface="+mn-lt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6331632" y="2856101"/>
            <a:ext cx="908582" cy="307777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400" dirty="0">
                <a:solidFill>
                  <a:srgbClr val="000000"/>
                </a:solidFill>
                <a:latin typeface="+mn-lt"/>
                <a:ea typeface="標楷體" pitchFamily="65" charset="-120"/>
                <a:cs typeface="Calibri" pitchFamily="34" charset="0"/>
              </a:rPr>
              <a:t>c</a:t>
            </a:r>
            <a:r>
              <a:rPr kumimoji="0" lang="en-US" altLang="zh-TW" sz="1400" dirty="0" smtClean="0">
                <a:solidFill>
                  <a:srgbClr val="000000"/>
                </a:solidFill>
                <a:latin typeface="+mn-lt"/>
                <a:ea typeface="標楷體" pitchFamily="65" charset="-120"/>
                <a:cs typeface="Calibri" pitchFamily="34" charset="0"/>
              </a:rPr>
              <a:t>ore(N+1)</a:t>
            </a:r>
            <a:endParaRPr kumimoji="0" lang="zh-TW" altLang="en-US" sz="1400" dirty="0" smtClean="0">
              <a:solidFill>
                <a:srgbClr val="000000"/>
              </a:solidFill>
              <a:latin typeface="+mn-lt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2471940" y="5741512"/>
            <a:ext cx="482824" cy="307777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400" dirty="0">
                <a:solidFill>
                  <a:srgbClr val="000000"/>
                </a:solidFill>
                <a:latin typeface="+mn-lt"/>
                <a:ea typeface="標楷體" pitchFamily="65" charset="-120"/>
                <a:cs typeface="Calibri" pitchFamily="34" charset="0"/>
              </a:rPr>
              <a:t>d</a:t>
            </a:r>
            <a:r>
              <a:rPr kumimoji="0" lang="en-US" altLang="zh-TW" sz="1400" dirty="0" smtClean="0">
                <a:solidFill>
                  <a:srgbClr val="000000"/>
                </a:solidFill>
                <a:latin typeface="+mn-lt"/>
                <a:ea typeface="標楷體" pitchFamily="65" charset="-120"/>
                <a:cs typeface="Calibri" pitchFamily="34" charset="0"/>
              </a:rPr>
              <a:t>ir0</a:t>
            </a:r>
            <a:endParaRPr kumimoji="0" lang="zh-TW" altLang="en-US" sz="1400" dirty="0" smtClean="0">
              <a:solidFill>
                <a:srgbClr val="000000"/>
              </a:solidFill>
              <a:latin typeface="+mn-lt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3153292" y="5738312"/>
            <a:ext cx="482824" cy="307777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400" dirty="0" smtClean="0">
                <a:solidFill>
                  <a:srgbClr val="000000"/>
                </a:solidFill>
                <a:latin typeface="+mn-lt"/>
                <a:ea typeface="標楷體" pitchFamily="65" charset="-120"/>
                <a:cs typeface="Calibri" pitchFamily="34" charset="0"/>
              </a:rPr>
              <a:t>dir1</a:t>
            </a:r>
            <a:endParaRPr kumimoji="0" lang="zh-TW" altLang="en-US" sz="1400" dirty="0" smtClean="0">
              <a:solidFill>
                <a:srgbClr val="000000"/>
              </a:solidFill>
              <a:latin typeface="+mn-lt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3868099" y="5747347"/>
            <a:ext cx="482824" cy="307777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400" dirty="0" smtClean="0">
                <a:solidFill>
                  <a:srgbClr val="000000"/>
                </a:solidFill>
                <a:latin typeface="+mn-lt"/>
                <a:ea typeface="標楷體" pitchFamily="65" charset="-120"/>
                <a:cs typeface="Calibri" pitchFamily="34" charset="0"/>
              </a:rPr>
              <a:t>dir2</a:t>
            </a:r>
            <a:endParaRPr kumimoji="0" lang="zh-TW" altLang="en-US" sz="1400" dirty="0" smtClean="0">
              <a:solidFill>
                <a:srgbClr val="000000"/>
              </a:solidFill>
              <a:latin typeface="+mn-lt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5822558" y="5726042"/>
            <a:ext cx="631904" cy="307777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400" dirty="0" err="1" smtClean="0">
                <a:solidFill>
                  <a:srgbClr val="000000"/>
                </a:solidFill>
                <a:latin typeface="+mn-lt"/>
                <a:ea typeface="標楷體" pitchFamily="65" charset="-120"/>
                <a:cs typeface="Calibri" pitchFamily="34" charset="0"/>
              </a:rPr>
              <a:t>dir</a:t>
            </a:r>
            <a:r>
              <a:rPr kumimoji="0" lang="en-US" altLang="zh-TW" sz="1400" dirty="0" smtClean="0">
                <a:solidFill>
                  <a:srgbClr val="000000"/>
                </a:solidFill>
                <a:latin typeface="+mn-lt"/>
                <a:ea typeface="標楷體" pitchFamily="65" charset="-120"/>
                <a:cs typeface="Calibri" pitchFamily="34" charset="0"/>
              </a:rPr>
              <a:t>(N)</a:t>
            </a:r>
            <a:endParaRPr kumimoji="0" lang="zh-TW" altLang="en-US" sz="1400" dirty="0" smtClean="0">
              <a:solidFill>
                <a:srgbClr val="000000"/>
              </a:solidFill>
              <a:latin typeface="+mn-lt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6472873" y="5724541"/>
            <a:ext cx="788999" cy="307777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400" dirty="0" err="1" smtClean="0">
                <a:solidFill>
                  <a:srgbClr val="000000"/>
                </a:solidFill>
                <a:latin typeface="+mn-lt"/>
                <a:ea typeface="標楷體" pitchFamily="65" charset="-120"/>
                <a:cs typeface="Calibri" pitchFamily="34" charset="0"/>
              </a:rPr>
              <a:t>dir</a:t>
            </a:r>
            <a:r>
              <a:rPr kumimoji="0" lang="en-US" altLang="zh-TW" sz="1400" dirty="0" smtClean="0">
                <a:solidFill>
                  <a:srgbClr val="000000"/>
                </a:solidFill>
                <a:latin typeface="+mn-lt"/>
                <a:ea typeface="標楷體" pitchFamily="65" charset="-120"/>
                <a:cs typeface="Calibri" pitchFamily="34" charset="0"/>
              </a:rPr>
              <a:t>(N+1)</a:t>
            </a:r>
            <a:endParaRPr kumimoji="0" lang="zh-TW" altLang="en-US" sz="1400" dirty="0" smtClean="0">
              <a:solidFill>
                <a:srgbClr val="000000"/>
              </a:solidFill>
              <a:latin typeface="+mn-lt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64" name="矩形 63"/>
          <p:cNvSpPr/>
          <p:nvPr/>
        </p:nvSpPr>
        <p:spPr bwMode="auto">
          <a:xfrm>
            <a:off x="5864570" y="5127366"/>
            <a:ext cx="512022" cy="162963"/>
          </a:xfrm>
          <a:prstGeom prst="rect">
            <a:avLst/>
          </a:prstGeom>
          <a:solidFill>
            <a:srgbClr val="C00000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zh-TW" altLang="en-US" sz="1800" b="1" smtClean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75265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3.33333E-6 L 2.22222E-6 0.00023 C 2.22222E-6 0.00902 2.22222E-6 0.01898 0.00087 0.0287 C 0.00191 0.03935 0.00139 0.04166 0.00712 0.0456 C 0.00833 0.04652 0.00972 0.04699 0.01111 0.04745 C 0.01285 0.04814 0.01441 0.04861 0.01614 0.04907 C 0.01736 0.05023 0.0191 0.05092 0.01996 0.05254 C 0.02083 0.05416 0.02118 0.05602 0.02135 0.05787 C 0.02187 0.06921 0.02187 0.08078 0.02239 0.09213 C 0.02239 0.09352 0.02465 0.11921 0.025 0.12152 C 0.02552 0.125 0.02673 0.12847 0.0276 0.13194 C 0.02795 0.13356 0.02778 0.13611 0.02864 0.13703 C 0.03003 0.13796 0.03125 0.13912 0.03264 0.14027 C 0.03507 0.14166 0.04045 0.14352 0.04045 0.14398 C 0.03715 0.14421 0.03316 0.14213 0.03125 0.14537 C 0.02969 0.14838 0.03298 0.15208 0.03385 0.15578 C 0.03576 0.16342 0.0342 0.15972 0.03906 0.1662 C 0.04201 0.17731 0.03785 0.16643 0.0441 0.17291 C 0.04531 0.17407 0.04566 0.17662 0.0467 0.17824 C 0.0493 0.18217 0.05503 0.18889 0.05816 0.19027 L 0.06215 0.19189 C 0.06337 0.19375 0.06458 0.19583 0.0658 0.19722 C 0.06701 0.19814 0.0684 0.19814 0.06979 0.19884 C 0.07916 0.20439 0.07048 0.20092 0.08003 0.20416 C 0.08264 0.20648 0.08472 0.20949 0.0875 0.21088 L 0.09514 0.21435 C 0.09653 0.21481 0.09774 0.21551 0.09913 0.21597 C 0.10087 0.21666 0.1026 0.21713 0.10434 0.21759 C 0.10694 0.21875 0.1118 0.22129 0.1118 0.22152 C 0.11319 0.22245 0.11458 0.22384 0.11597 0.22477 C 0.11823 0.22615 0.12135 0.22615 0.12344 0.22824 C 0.12465 0.22939 0.12587 0.23078 0.12725 0.23148 C 0.12725 0.23171 0.1368 0.23588 0.13854 0.23657 C 0.13993 0.23727 0.14132 0.2375 0.14253 0.23842 L 0.15017 0.24514 C 0.15191 0.24861 0.15451 0.25162 0.15555 0.25555 C 0.1559 0.2574 0.15607 0.25926 0.15677 0.26088 C 0.15781 0.26273 0.15937 0.26435 0.16059 0.26574 C 0.16285 0.27523 0.16024 0.26782 0.1658 0.27615 C 0.16666 0.27777 0.16701 0.28009 0.16805 0.28125 C 0.17048 0.28402 0.17326 0.28588 0.17569 0.28819 C 0.18073 0.29282 0.17812 0.29097 0.18333 0.29352 C 0.18472 0.29467 0.18576 0.29583 0.18732 0.29699 C 0.18958 0.29838 0.19496 0.30046 0.19496 0.30092 C 0.19618 0.30162 0.19739 0.30301 0.19878 0.30393 C 0.20278 0.30625 0.20746 0.30764 0.21163 0.30902 C 0.21285 0.31018 0.21406 0.31134 0.21545 0.31227 C 0.21736 0.31342 0.22274 0.31527 0.2243 0.31574 C 0.23055 0.32129 0.22656 0.31852 0.23594 0.32245 L 0.23958 0.3243 L 0.24357 0.32615 C 0.24479 0.32777 0.246 0.32986 0.24722 0.33102 C 0.24844 0.33264 0.25 0.33333 0.25104 0.33472 C 0.25225 0.33634 0.25278 0.33819 0.25364 0.33981 C 0.25399 0.34236 0.25399 0.3449 0.25503 0.34676 C 0.2559 0.34861 0.25764 0.35 0.25885 0.35185 C 0.2651 0.36157 0.25989 0.35625 0.26649 0.36227 C 0.26719 0.36412 0.26719 0.36597 0.26805 0.36759 C 0.27031 0.37176 0.27864 0.38264 0.28316 0.38449 L 0.28698 0.38634 C 0.29028 0.3993 0.28576 0.38333 0.29062 0.39652 C 0.29132 0.39838 0.29132 0.40023 0.29201 0.40185 C 0.2934 0.40532 0.29427 0.41088 0.29722 0.41227 L 0.30087 0.41458 L 0.30538 0.41458 " pathEditMode="relative" rAng="0" ptsTypes="AAAAAAAAA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60" y="207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7.40741E-7 C -0.00677 -0.00278 -0.00833 -0.00741 -0.01319 -0.01088 C -0.01597 -0.01273 -0.02222 -0.01435 -0.02222 -0.01412 C -0.02604 -0.01875 -0.02708 -0.01921 -0.03229 -0.0213 C -0.03889 -0.02824 -0.02934 -0.01875 -0.03733 -0.02477 C -0.0434 -0.0294 -0.03802 -0.02893 -0.04739 -0.03079 C -0.04913 -0.03588 -0.05121 -0.03518 -0.05555 -0.03657 C -0.05799 -0.03958 -0.06007 -0.03981 -0.06354 -0.0412 C -0.0658 -0.04375 -0.0717 -0.04606 -0.0717 -0.04583 C -0.07396 -0.05046 -0.07743 -0.05393 -0.0816 -0.05532 C -0.08437 -0.0588 -0.08819 -0.06018 -0.09167 -0.06227 C -0.09844 -0.0662 -0.09097 -0.06273 -0.09774 -0.06805 C -0.10399 -0.07292 -0.1118 -0.07685 -0.11892 -0.07986 C -0.12239 -0.08426 -0.12483 -0.08565 -0.13003 -0.0868 C -0.13281 -0.09167 -0.13489 -0.09005 -0.13906 -0.09282 C -0.14826 -0.09907 -0.14132 -0.09676 -0.14896 -0.09861 C -0.15903 -0.10648 -0.17899 -0.1088 -0.19028 -0.11018 C -0.19479 -0.11204 -0.19896 -0.11343 -0.2033 -0.11505 C -0.20555 -0.11574 -0.20937 -0.11759 -0.20937 -0.11736 C -0.21319 -0.1213 -0.21875 -0.12338 -0.22344 -0.12546 C -0.22656 -0.12685 -0.22882 -0.13055 -0.23177 -0.13241 C -0.23854 -0.13727 -0.24358 -0.13796 -0.2467 -0.14768 C -0.24618 -0.15417 -0.24687 -0.16204 -0.24253 -0.16643 C -0.24149 -0.17037 -0.24097 -0.17268 -0.23871 -0.17569 C -0.23785 -0.17778 -0.23715 -0.18032 -0.23646 -0.18264 C -0.23611 -0.1838 -0.23542 -0.18611 -0.23542 -0.18588 C -0.23368 -0.20486 -0.23177 -0.22176 -0.2467 -0.2331 C -0.24739 -0.23426 -0.24774 -0.23588 -0.24878 -0.23657 C -0.25017 -0.23727 -0.25208 -0.2368 -0.25364 -0.2375 C -0.25799 -0.23935 -0.26215 -0.24213 -0.26684 -0.24352 C -0.27031 -0.24745 -0.28142 -0.24954 -0.28698 -0.25162 C -0.28889 -0.25231 -0.2908 -0.25324 -0.29305 -0.25393 C -0.2941 -0.2544 -0.29601 -0.25532 -0.29601 -0.25509 C -0.29757 -0.26157 -0.29826 -0.26551 -0.29896 -0.27268 C -0.29739 -0.28009 -0.29601 -0.28819 -0.30208 -0.29259 C -0.30278 -0.29398 -0.30278 -0.29583 -0.30399 -0.29606 C -0.30486 -0.29606 -0.3059 -0.29398 -0.3059 -0.29375 " pathEditMode="relative" rAng="0" ptsTypes="AAAAAAAAAAAAAAAAAAAAAAAAAAAAAAAAAAAAA">
                                      <p:cBhvr>
                                        <p:cTn id="12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295" y="-148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4" grpId="0" animBg="1"/>
      <p:bldP spid="64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Match </a:t>
            </a:r>
            <a:r>
              <a:rPr lang="en-US" altLang="zh-TW" dirty="0"/>
              <a:t>R</a:t>
            </a:r>
            <a:r>
              <a:rPr lang="en-US" altLang="zh-TW" dirty="0" smtClean="0"/>
              <a:t>equest and </a:t>
            </a:r>
            <a:r>
              <a:rPr lang="en-US" altLang="zh-TW" dirty="0"/>
              <a:t>R</a:t>
            </a:r>
            <a:r>
              <a:rPr lang="en-US" altLang="zh-TW" dirty="0" smtClean="0"/>
              <a:t>esponse Message</a:t>
            </a:r>
            <a:r>
              <a:rPr lang="en-US" altLang="zh-TW" dirty="0"/>
              <a:t>s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Messages are divide into flits for delivery in </a:t>
            </a:r>
            <a:r>
              <a:rPr lang="en-US" altLang="zh-TW" dirty="0" err="1" smtClean="0"/>
              <a:t>NoC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Must know id of request message that sent these flits so that memory can reply response message to that request</a:t>
            </a:r>
          </a:p>
          <a:p>
            <a:r>
              <a:rPr lang="en-US" altLang="zh-TW" dirty="0" smtClean="0"/>
              <a:t>Solution to carry message id downward:</a:t>
            </a:r>
          </a:p>
          <a:p>
            <a:pPr lvl="1"/>
            <a:r>
              <a:rPr lang="en-US" altLang="zh-TW" dirty="0" smtClean="0"/>
              <a:t>Use unused space in message address field</a:t>
            </a:r>
            <a:endParaRPr lang="en-US" altLang="zh-TW" dirty="0"/>
          </a:p>
          <a:p>
            <a:endParaRPr lang="en-US" altLang="zh-TW" dirty="0" smtClean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29</a:t>
            </a:fld>
            <a:endParaRPr lang="zh-TW" altLang="zh-TW"/>
          </a:p>
        </p:txBody>
      </p:sp>
      <p:graphicFrame>
        <p:nvGraphicFramePr>
          <p:cNvPr id="5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0664339"/>
              </p:ext>
            </p:extLst>
          </p:nvPr>
        </p:nvGraphicFramePr>
        <p:xfrm>
          <a:off x="4139952" y="4116457"/>
          <a:ext cx="4138061" cy="548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76"/>
                <a:gridCol w="593558"/>
                <a:gridCol w="1001027"/>
              </a:tblGrid>
              <a:tr h="54807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54bit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4bit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6bit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左大括弧 7"/>
          <p:cNvSpPr/>
          <p:nvPr/>
        </p:nvSpPr>
        <p:spPr>
          <a:xfrm rot="5400000">
            <a:off x="6059391" y="1887641"/>
            <a:ext cx="274318" cy="4105176"/>
          </a:xfrm>
          <a:prstGeom prst="leftBrace">
            <a:avLst>
              <a:gd name="adj1" fmla="val 30658"/>
              <a:gd name="adj2" fmla="val 50000"/>
            </a:avLst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4662873" y="3429000"/>
            <a:ext cx="3380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 err="1" smtClean="0">
                <a:latin typeface="+mn-lt"/>
              </a:rPr>
              <a:t>RubyRequest.Address</a:t>
            </a:r>
            <a:r>
              <a:rPr lang="en-US" altLang="zh-TW" sz="1800" dirty="0" smtClean="0">
                <a:latin typeface="+mn-lt"/>
              </a:rPr>
              <a:t> </a:t>
            </a:r>
            <a:r>
              <a:rPr lang="en-US" altLang="zh-TW" sz="1800" dirty="0">
                <a:latin typeface="+mn-lt"/>
              </a:rPr>
              <a:t>(</a:t>
            </a:r>
            <a:r>
              <a:rPr lang="en-US" altLang="zh-TW" sz="1800" dirty="0" err="1">
                <a:latin typeface="+mn-lt"/>
              </a:rPr>
              <a:t>uint</a:t>
            </a:r>
            <a:r>
              <a:rPr lang="en-US" altLang="zh-TW" sz="1800" dirty="0">
                <a:latin typeface="+mn-lt"/>
              </a:rPr>
              <a:t> 64 bit)</a:t>
            </a:r>
            <a:endParaRPr lang="zh-TW" altLang="en-US" sz="1800" dirty="0">
              <a:latin typeface="+mn-lt"/>
            </a:endParaRPr>
          </a:p>
        </p:txBody>
      </p:sp>
      <p:sp>
        <p:nvSpPr>
          <p:cNvPr id="10" name="左大括弧 9"/>
          <p:cNvSpPr/>
          <p:nvPr/>
        </p:nvSpPr>
        <p:spPr>
          <a:xfrm rot="16200000">
            <a:off x="5304288" y="3560505"/>
            <a:ext cx="777085" cy="3097734"/>
          </a:xfrm>
          <a:prstGeom prst="leftBrace">
            <a:avLst>
              <a:gd name="adj1" fmla="val 30658"/>
              <a:gd name="adj2" fmla="val 50000"/>
            </a:avLst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1" name="左大括弧 10"/>
          <p:cNvSpPr/>
          <p:nvPr/>
        </p:nvSpPr>
        <p:spPr>
          <a:xfrm rot="16200000">
            <a:off x="6831533" y="4571999"/>
            <a:ext cx="252437" cy="567893"/>
          </a:xfrm>
          <a:prstGeom prst="leftBrace">
            <a:avLst>
              <a:gd name="adj1" fmla="val 30658"/>
              <a:gd name="adj2" fmla="val 50000"/>
            </a:avLst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6655640" y="5006590"/>
            <a:ext cx="606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 err="1" smtClean="0">
                <a:latin typeface="+mn-lt"/>
              </a:rPr>
              <a:t>Dest</a:t>
            </a:r>
            <a:endParaRPr lang="zh-TW" altLang="en-US" sz="1800" dirty="0">
              <a:latin typeface="+mn-lt"/>
            </a:endParaRPr>
          </a:p>
        </p:txBody>
      </p:sp>
      <p:sp>
        <p:nvSpPr>
          <p:cNvPr id="13" name="左大括弧 12"/>
          <p:cNvSpPr/>
          <p:nvPr/>
        </p:nvSpPr>
        <p:spPr>
          <a:xfrm rot="16200000">
            <a:off x="7659028" y="4392056"/>
            <a:ext cx="228223" cy="951995"/>
          </a:xfrm>
          <a:prstGeom prst="leftBrace">
            <a:avLst>
              <a:gd name="adj1" fmla="val 30658"/>
              <a:gd name="adj2" fmla="val 50000"/>
            </a:avLst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7297142" y="5043642"/>
            <a:ext cx="1277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 smtClean="0">
                <a:latin typeface="+mn-lt"/>
              </a:rPr>
              <a:t>Block offset</a:t>
            </a:r>
            <a:endParaRPr lang="zh-TW" altLang="en-US" sz="1800" dirty="0">
              <a:latin typeface="+mn-lt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662873" y="5476821"/>
            <a:ext cx="1928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 smtClean="0">
                <a:latin typeface="+mn-lt"/>
              </a:rPr>
              <a:t>Cache line address</a:t>
            </a:r>
            <a:endParaRPr lang="zh-TW" alt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67044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Dependencies among Trace Events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</a:t>
            </a:r>
            <a:r>
              <a:rPr lang="en-US" altLang="zh-TW" dirty="0" smtClean="0"/>
              <a:t>ased on </a:t>
            </a:r>
            <a:r>
              <a:rPr lang="en-US" altLang="zh-TW" i="1" dirty="0" smtClean="0"/>
              <a:t>the independent cache miss model</a:t>
            </a:r>
            <a:r>
              <a:rPr lang="en-US" altLang="zh-TW" dirty="0" smtClean="0"/>
              <a:t>:</a:t>
            </a:r>
          </a:p>
          <a:p>
            <a:pPr lvl="1"/>
            <a:r>
              <a:rPr lang="en-US" altLang="zh-TW" dirty="0" smtClean="0"/>
              <a:t>All the L1 misses in ROB are independent</a:t>
            </a:r>
          </a:p>
          <a:p>
            <a:pPr lvl="1"/>
            <a:r>
              <a:rPr lang="en-US" altLang="zh-TW" dirty="0" smtClean="0"/>
              <a:t>The only restriction on how many L1 misses can be issued is the ROB size</a:t>
            </a:r>
          </a:p>
          <a:p>
            <a:pPr lvl="2"/>
            <a:endParaRPr lang="en-US" altLang="zh-TW" dirty="0" smtClean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30</a:t>
            </a:fld>
            <a:endParaRPr lang="zh-TW" altLang="zh-TW"/>
          </a:p>
        </p:txBody>
      </p:sp>
      <p:sp>
        <p:nvSpPr>
          <p:cNvPr id="12" name="文字方塊 11"/>
          <p:cNvSpPr txBox="1"/>
          <p:nvPr/>
        </p:nvSpPr>
        <p:spPr>
          <a:xfrm>
            <a:off x="357158" y="5537973"/>
            <a:ext cx="8429684" cy="58477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sz="1600" dirty="0" err="1" smtClean="0">
                <a:latin typeface="+mn-lt"/>
              </a:rPr>
              <a:t>Kiyeon</a:t>
            </a:r>
            <a:r>
              <a:rPr lang="en-US" altLang="zh-TW" sz="1600" dirty="0" smtClean="0">
                <a:latin typeface="+mn-lt"/>
              </a:rPr>
              <a:t> </a:t>
            </a:r>
            <a:r>
              <a:rPr lang="en-US" altLang="zh-TW" sz="1600" dirty="0">
                <a:latin typeface="+mn-lt"/>
              </a:rPr>
              <a:t>Lee , Shayne Evans , </a:t>
            </a:r>
            <a:r>
              <a:rPr lang="en-US" altLang="zh-TW" sz="1600" dirty="0" err="1">
                <a:latin typeface="+mn-lt"/>
              </a:rPr>
              <a:t>Sangyeun</a:t>
            </a:r>
            <a:r>
              <a:rPr lang="en-US" altLang="zh-TW" sz="1600" dirty="0">
                <a:latin typeface="+mn-lt"/>
              </a:rPr>
              <a:t> </a:t>
            </a:r>
            <a:r>
              <a:rPr lang="en-US" altLang="zh-TW" sz="1600" dirty="0" smtClean="0">
                <a:latin typeface="+mn-lt"/>
              </a:rPr>
              <a:t>Cho, “</a:t>
            </a:r>
            <a:r>
              <a:rPr lang="en-US" sz="1600" dirty="0" smtClean="0">
                <a:latin typeface="+mn-lt"/>
              </a:rPr>
              <a:t>Accurately approximating superscalar processor performance from traces”, ISPASS 2009.</a:t>
            </a:r>
            <a:endParaRPr lang="zh-TW" altLang="en-US" sz="1600" dirty="0" smtClean="0">
              <a:latin typeface="+mn-lt"/>
              <a:ea typeface="標楷體" pitchFamily="65" charset="-120"/>
              <a:cs typeface="Calibri" pitchFamily="34" charset="0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2830595"/>
            <a:ext cx="7000875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006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Independent Cache Miss Model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smtClean="0"/>
              <a:t>A, B, C can be issued together in the beginning</a:t>
            </a:r>
          </a:p>
          <a:p>
            <a:r>
              <a:rPr lang="en-US" altLang="zh-TW" dirty="0" smtClean="0"/>
              <a:t>The distance between A and D are over 96 instructions, so D depends on A</a:t>
            </a:r>
          </a:p>
          <a:p>
            <a:r>
              <a:rPr lang="en-US" altLang="zh-TW" dirty="0" smtClean="0"/>
              <a:t>By the time A commits, D can be issued when the 24 instructions ahead are in ROB</a:t>
            </a:r>
          </a:p>
          <a:p>
            <a:r>
              <a:rPr lang="en-US" altLang="zh-TW" dirty="0" smtClean="0"/>
              <a:t>However, the instructions between B and E are still over 96, hence, so E depends on B</a:t>
            </a:r>
          </a:p>
          <a:p>
            <a:r>
              <a:rPr lang="en-US" altLang="zh-TW" dirty="0" smtClean="0"/>
              <a:t>E will finally enter the ROB after B commits</a:t>
            </a: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31</a:t>
            </a:fld>
            <a:endParaRPr lang="zh-TW" altLang="zh-TW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1214422"/>
            <a:ext cx="7485853" cy="1094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42624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Evaluation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32</a:t>
            </a:fld>
            <a:endParaRPr lang="zh-TW" altLang="zh-TW"/>
          </a:p>
        </p:txBody>
      </p:sp>
      <p:sp>
        <p:nvSpPr>
          <p:cNvPr id="5" name="雲朵形 4"/>
          <p:cNvSpPr/>
          <p:nvPr/>
        </p:nvSpPr>
        <p:spPr bwMode="auto">
          <a:xfrm>
            <a:off x="587913" y="2878484"/>
            <a:ext cx="1753300" cy="1098958"/>
          </a:xfrm>
          <a:prstGeom prst="cloud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600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Gem5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600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full system</a:t>
            </a:r>
            <a:endParaRPr kumimoji="1" lang="zh-TW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650" y="1875170"/>
            <a:ext cx="113982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直線單箭頭接點 3"/>
          <p:cNvCxnSpPr>
            <a:stCxn id="1026" idx="2"/>
            <a:endCxn id="5" idx="3"/>
          </p:cNvCxnSpPr>
          <p:nvPr/>
        </p:nvCxnSpPr>
        <p:spPr bwMode="auto">
          <a:xfrm>
            <a:off x="1464563" y="2387933"/>
            <a:ext cx="0" cy="55338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圓角矩形 11"/>
          <p:cNvSpPr/>
          <p:nvPr/>
        </p:nvSpPr>
        <p:spPr bwMode="auto">
          <a:xfrm>
            <a:off x="823503" y="4563571"/>
            <a:ext cx="1282118" cy="563939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600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L1 cache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600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miss penalty</a:t>
            </a:r>
            <a:endParaRPr kumimoji="1" lang="zh-TW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13" name="直線單箭頭接點 12"/>
          <p:cNvCxnSpPr>
            <a:stCxn id="5" idx="1"/>
            <a:endCxn id="12" idx="0"/>
          </p:cNvCxnSpPr>
          <p:nvPr/>
        </p:nvCxnSpPr>
        <p:spPr bwMode="auto">
          <a:xfrm flipH="1">
            <a:off x="1464562" y="3976272"/>
            <a:ext cx="1" cy="587299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雲朵形 14"/>
          <p:cNvSpPr/>
          <p:nvPr/>
        </p:nvSpPr>
        <p:spPr bwMode="auto">
          <a:xfrm>
            <a:off x="5371036" y="2882595"/>
            <a:ext cx="1753300" cy="1098958"/>
          </a:xfrm>
          <a:prstGeom prst="cloud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600" b="1" dirty="0" smtClean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Garnet</a:t>
            </a:r>
          </a:p>
          <a:p>
            <a:pPr algn="ctr"/>
            <a:r>
              <a:rPr lang="en-US" altLang="zh-TW" sz="1600" b="1" dirty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standalone </a:t>
            </a:r>
            <a:endParaRPr kumimoji="1" lang="zh-TW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17" name="直線單箭頭接點 16"/>
          <p:cNvCxnSpPr>
            <a:stCxn id="21" idx="2"/>
            <a:endCxn id="15" idx="3"/>
          </p:cNvCxnSpPr>
          <p:nvPr/>
        </p:nvCxnSpPr>
        <p:spPr bwMode="auto">
          <a:xfrm flipH="1">
            <a:off x="6247686" y="2358038"/>
            <a:ext cx="4170" cy="587391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圓角矩形 17"/>
          <p:cNvSpPr/>
          <p:nvPr/>
        </p:nvSpPr>
        <p:spPr bwMode="auto">
          <a:xfrm>
            <a:off x="5606626" y="4534126"/>
            <a:ext cx="1282118" cy="563939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600" b="1" dirty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L1 cache </a:t>
            </a:r>
          </a:p>
          <a:p>
            <a:pPr algn="ctr"/>
            <a:r>
              <a:rPr lang="en-US" altLang="zh-TW" sz="1600" b="1" dirty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miss penalty</a:t>
            </a:r>
            <a:endParaRPr lang="zh-TW" altLang="en-US" sz="1600" b="1" dirty="0">
              <a:solidFill>
                <a:schemeClr val="tx1"/>
              </a:solidFill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19" name="直線單箭頭接點 18"/>
          <p:cNvCxnSpPr>
            <a:stCxn id="15" idx="1"/>
            <a:endCxn id="18" idx="0"/>
          </p:cNvCxnSpPr>
          <p:nvPr/>
        </p:nvCxnSpPr>
        <p:spPr bwMode="auto">
          <a:xfrm flipH="1">
            <a:off x="6247685" y="3980383"/>
            <a:ext cx="1" cy="553743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流程圖: 多重文件 20"/>
          <p:cNvSpPr/>
          <p:nvPr/>
        </p:nvSpPr>
        <p:spPr bwMode="auto">
          <a:xfrm>
            <a:off x="5643678" y="1385406"/>
            <a:ext cx="1412846" cy="1010916"/>
          </a:xfrm>
          <a:prstGeom prst="flowChartMultidocumen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Trace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9" name="流程圖: 卡片 28"/>
          <p:cNvSpPr/>
          <p:nvPr/>
        </p:nvSpPr>
        <p:spPr bwMode="auto">
          <a:xfrm>
            <a:off x="2653537" y="3483005"/>
            <a:ext cx="1110702" cy="501797"/>
          </a:xfrm>
          <a:prstGeom prst="flowChartPunchedCard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Config</a:t>
            </a:r>
            <a:r>
              <a:rPr kumimoji="1" lang="en-US" altLang="zh-TW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 A.</a:t>
            </a:r>
            <a:endParaRPr kumimoji="1" lang="zh-TW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30" name="直線單箭頭接點 29"/>
          <p:cNvCxnSpPr>
            <a:stCxn id="29" idx="1"/>
            <a:endCxn id="5" idx="0"/>
          </p:cNvCxnSpPr>
          <p:nvPr/>
        </p:nvCxnSpPr>
        <p:spPr bwMode="auto">
          <a:xfrm flipH="1" flipV="1">
            <a:off x="2339752" y="3427963"/>
            <a:ext cx="313785" cy="30594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流程圖: 卡片 21"/>
          <p:cNvSpPr/>
          <p:nvPr/>
        </p:nvSpPr>
        <p:spPr bwMode="auto">
          <a:xfrm>
            <a:off x="7411492" y="3614828"/>
            <a:ext cx="1134471" cy="501797"/>
          </a:xfrm>
          <a:prstGeom prst="flowChartPunchedCard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Config</a:t>
            </a:r>
            <a:r>
              <a:rPr kumimoji="1" lang="en-US" altLang="zh-TW" sz="1600" b="1" dirty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rPr>
              <a:t> </a:t>
            </a:r>
            <a:r>
              <a:rPr kumimoji="1" lang="en-US" altLang="zh-TW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B.</a:t>
            </a:r>
            <a:endParaRPr kumimoji="1" lang="zh-TW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10" name="直線單箭頭接點 9"/>
          <p:cNvCxnSpPr>
            <a:stCxn id="22" idx="1"/>
            <a:endCxn id="15" idx="0"/>
          </p:cNvCxnSpPr>
          <p:nvPr/>
        </p:nvCxnSpPr>
        <p:spPr bwMode="auto">
          <a:xfrm flipH="1" flipV="1">
            <a:off x="7122875" y="3432074"/>
            <a:ext cx="288617" cy="433653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肘形接點 19"/>
          <p:cNvCxnSpPr>
            <a:stCxn id="5" idx="0"/>
            <a:endCxn id="21" idx="1"/>
          </p:cNvCxnSpPr>
          <p:nvPr/>
        </p:nvCxnSpPr>
        <p:spPr bwMode="auto">
          <a:xfrm flipV="1">
            <a:off x="2339752" y="1890864"/>
            <a:ext cx="3303926" cy="1537099"/>
          </a:xfrm>
          <a:prstGeom prst="bentConnector3">
            <a:avLst>
              <a:gd name="adj1" fmla="val 9374"/>
            </a:avLst>
          </a:prstGeom>
          <a:noFill/>
          <a:ln w="15875" cap="flat" cmpd="sng" algn="ctr">
            <a:solidFill>
              <a:srgbClr val="FF0000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25" name="肘形接點 24"/>
          <p:cNvCxnSpPr>
            <a:stCxn id="15" idx="0"/>
            <a:endCxn id="21" idx="3"/>
          </p:cNvCxnSpPr>
          <p:nvPr/>
        </p:nvCxnSpPr>
        <p:spPr bwMode="auto">
          <a:xfrm flipH="1" flipV="1">
            <a:off x="7056524" y="1890864"/>
            <a:ext cx="66351" cy="1541210"/>
          </a:xfrm>
          <a:prstGeom prst="bentConnector3">
            <a:avLst>
              <a:gd name="adj1" fmla="val -1231769"/>
            </a:avLst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流程圖: 多重文件 33"/>
          <p:cNvSpPr/>
          <p:nvPr/>
        </p:nvSpPr>
        <p:spPr bwMode="auto">
          <a:xfrm>
            <a:off x="5643678" y="1385406"/>
            <a:ext cx="1412846" cy="1010916"/>
          </a:xfrm>
          <a:prstGeom prst="flowChartMultidocumen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新細明體" pitchFamily="18" charset="-120"/>
              </a:rPr>
              <a:t>Trace’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4330946" y="5088959"/>
            <a:ext cx="4071949" cy="707886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pPr algn="ctr"/>
            <a:r>
              <a:rPr lang="en-US" altLang="zh-TW" sz="2000" b="1" dirty="0" smtClean="0">
                <a:solidFill>
                  <a:srgbClr val="C00000"/>
                </a:solidFill>
                <a:ea typeface="標楷體" pitchFamily="65" charset="-120"/>
                <a:cs typeface="Calibri" pitchFamily="34" charset="0"/>
              </a:rPr>
              <a:t> </a:t>
            </a:r>
            <a:r>
              <a:rPr lang="en-US" altLang="zh-TW" sz="2000" b="1" dirty="0">
                <a:solidFill>
                  <a:srgbClr val="C00000"/>
                </a:solidFill>
                <a:ea typeface="標楷體" pitchFamily="65" charset="-120"/>
                <a:cs typeface="Calibri" pitchFamily="34" charset="0"/>
              </a:rPr>
              <a:t>A</a:t>
            </a:r>
            <a:r>
              <a:rPr lang="en-US" altLang="zh-TW" sz="2000" b="1" dirty="0" smtClean="0">
                <a:solidFill>
                  <a:srgbClr val="C00000"/>
                </a:solidFill>
                <a:ea typeface="標楷體" pitchFamily="65" charset="-120"/>
                <a:cs typeface="Calibri" pitchFamily="34" charset="0"/>
              </a:rPr>
              <a:t>verage miss penalty should</a:t>
            </a:r>
          </a:p>
          <a:p>
            <a:pPr algn="ctr"/>
            <a:r>
              <a:rPr lang="en-US" altLang="zh-TW" sz="2000" b="1" dirty="0" smtClean="0">
                <a:solidFill>
                  <a:srgbClr val="C00000"/>
                </a:solidFill>
                <a:ea typeface="標楷體" pitchFamily="65" charset="-120"/>
                <a:cs typeface="Calibri" pitchFamily="34" charset="0"/>
              </a:rPr>
              <a:t>be close to that of full system!</a:t>
            </a:r>
            <a:endParaRPr lang="zh-TW" altLang="en-US" sz="2000" b="1" dirty="0" smtClean="0">
              <a:solidFill>
                <a:srgbClr val="C00000"/>
              </a:solidFill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060516" y="2520738"/>
            <a:ext cx="1732847" cy="40011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sz="2000" dirty="0" smtClean="0">
                <a:latin typeface="+mn-lt"/>
                <a:ea typeface="標楷體" pitchFamily="65" charset="-120"/>
                <a:cs typeface="Calibri" pitchFamily="34" charset="0"/>
              </a:rPr>
              <a:t>Update timing </a:t>
            </a:r>
            <a:endParaRPr lang="zh-TW" altLang="en-US" sz="2000" dirty="0" smtClean="0">
              <a:latin typeface="+mn-lt"/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491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8558088" cy="679450"/>
          </a:xfrm>
        </p:spPr>
        <p:txBody>
          <a:bodyPr/>
          <a:lstStyle/>
          <a:p>
            <a:r>
              <a:rPr lang="en-US" altLang="zh-TW" dirty="0" smtClean="0"/>
              <a:t>Can Use Standalone Simulator w/o Change?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E26518-2301-4288-8958-BDA5B1B754F8}" type="slidenum">
              <a:rPr lang="zh-TW" altLang="en-US" smtClean="0"/>
              <a:pPr/>
              <a:t>33</a:t>
            </a:fld>
            <a:endParaRPr lang="zh-TW" altLang="zh-TW"/>
          </a:p>
        </p:txBody>
      </p:sp>
      <p:sp>
        <p:nvSpPr>
          <p:cNvPr id="5" name="圓角矩形 4"/>
          <p:cNvSpPr/>
          <p:nvPr/>
        </p:nvSpPr>
        <p:spPr bwMode="auto">
          <a:xfrm>
            <a:off x="1138416" y="1285860"/>
            <a:ext cx="6457920" cy="1071570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2000" b="1" dirty="0" smtClean="0"/>
              <a:t>If we have 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dependence-aware trace </a:t>
            </a:r>
            <a:r>
              <a:rPr lang="en-US" altLang="zh-TW" sz="2000" b="1" dirty="0" smtClean="0"/>
              <a:t>and an 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ordinary dependence-unaware trace-driven simulator </a:t>
            </a:r>
            <a:r>
              <a:rPr lang="en-US" altLang="zh-TW" sz="2000" b="1" dirty="0" smtClean="0"/>
              <a:t>…</a:t>
            </a:r>
            <a:endParaRPr lang="zh-TW" altLang="en-US" sz="2000" b="1" dirty="0"/>
          </a:p>
        </p:txBody>
      </p:sp>
      <p:cxnSp>
        <p:nvCxnSpPr>
          <p:cNvPr id="6" name="直線單箭頭接點 5"/>
          <p:cNvCxnSpPr>
            <a:stCxn id="5" idx="2"/>
            <a:endCxn id="7" idx="0"/>
          </p:cNvCxnSpPr>
          <p:nvPr/>
        </p:nvCxnSpPr>
        <p:spPr bwMode="auto">
          <a:xfrm>
            <a:off x="4367376" y="2357430"/>
            <a:ext cx="0" cy="495506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" name="圓角矩形 6"/>
          <p:cNvSpPr/>
          <p:nvPr/>
        </p:nvSpPr>
        <p:spPr bwMode="auto">
          <a:xfrm>
            <a:off x="1138416" y="2852936"/>
            <a:ext cx="6457920" cy="1296144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2000" b="1" dirty="0" smtClean="0"/>
              <a:t>We must have 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a thorough understanding of the simulator</a:t>
            </a:r>
            <a:r>
              <a:rPr lang="en-US" altLang="zh-TW" sz="2000" b="1" dirty="0" smtClean="0"/>
              <a:t> to </a:t>
            </a:r>
            <a:r>
              <a:rPr lang="en-US" altLang="zh-TW" sz="2000" b="1" dirty="0"/>
              <a:t>use the </a:t>
            </a:r>
            <a:r>
              <a:rPr lang="en-US" altLang="zh-TW" sz="2000" b="1" dirty="0" err="1"/>
              <a:t>Netrace</a:t>
            </a:r>
            <a:r>
              <a:rPr lang="en-US" altLang="zh-TW" sz="2000" b="1" dirty="0"/>
              <a:t> </a:t>
            </a:r>
            <a:r>
              <a:rPr lang="en-US" altLang="zh-TW" sz="2000" b="1" dirty="0" smtClean="0"/>
              <a:t>library or modify the simulator for dependence awareness, </a:t>
            </a:r>
            <a:r>
              <a:rPr lang="en-US" altLang="zh-TW" sz="2000" b="1" dirty="0"/>
              <a:t>requiring a lot of </a:t>
            </a:r>
            <a:r>
              <a:rPr lang="en-US" altLang="zh-TW" sz="2000" b="1" dirty="0" smtClean="0"/>
              <a:t>efforts …</a:t>
            </a:r>
            <a:endParaRPr lang="zh-TW" altLang="en-US" sz="2000" b="1" dirty="0"/>
          </a:p>
        </p:txBody>
      </p:sp>
      <p:cxnSp>
        <p:nvCxnSpPr>
          <p:cNvPr id="8" name="直線單箭頭接點 7"/>
          <p:cNvCxnSpPr>
            <a:stCxn id="7" idx="2"/>
            <a:endCxn id="9" idx="0"/>
          </p:cNvCxnSpPr>
          <p:nvPr/>
        </p:nvCxnSpPr>
        <p:spPr bwMode="auto">
          <a:xfrm>
            <a:off x="4367376" y="4149080"/>
            <a:ext cx="0" cy="565610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" name="圓角矩形 8"/>
          <p:cNvSpPr/>
          <p:nvPr/>
        </p:nvSpPr>
        <p:spPr bwMode="auto">
          <a:xfrm>
            <a:off x="1138416" y="4714690"/>
            <a:ext cx="6457920" cy="1018566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2000" b="1" dirty="0" smtClean="0"/>
              <a:t>Can we allow ordinary dependence-unaware simulator to leverage dependence-aware trace to 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improve its accuracy</a:t>
            </a:r>
            <a:r>
              <a:rPr lang="en-US" altLang="zh-TW" sz="2000" b="1" dirty="0" smtClean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0567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Observation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Traditional trace-driven simulators are batch-processing </a:t>
            </a:r>
            <a:r>
              <a:rPr lang="en-US" altLang="zh-TW" dirty="0" smtClean="0">
                <a:sym typeface="Wingdings" panose="05000000000000000000" pitchFamily="2" charset="2"/>
              </a:rPr>
              <a:t> generates </a:t>
            </a:r>
            <a:r>
              <a:rPr lang="en-US" altLang="zh-TW" dirty="0" smtClean="0"/>
              <a:t>simulation output only when simulation finishes, but</a:t>
            </a:r>
          </a:p>
          <a:p>
            <a:pPr lvl="1"/>
            <a:r>
              <a:rPr lang="en-US" altLang="zh-TW" dirty="0" smtClean="0"/>
              <a:t>Dependence-aware trace works if core-</a:t>
            </a:r>
            <a:r>
              <a:rPr lang="en-US" altLang="zh-TW" dirty="0" err="1" smtClean="0"/>
              <a:t>uncore</a:t>
            </a:r>
            <a:r>
              <a:rPr lang="en-US" altLang="zh-TW" dirty="0" smtClean="0"/>
              <a:t> interactive</a:t>
            </a:r>
          </a:p>
          <a:p>
            <a:endParaRPr lang="zh-TW" altLang="en-US" dirty="0"/>
          </a:p>
        </p:txBody>
      </p:sp>
      <p:sp>
        <p:nvSpPr>
          <p:cNvPr id="22" name="投影片編號版面配置區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34</a:t>
            </a:fld>
            <a:endParaRPr lang="zh-TW" altLang="zh-TW"/>
          </a:p>
        </p:txBody>
      </p:sp>
      <p:grpSp>
        <p:nvGrpSpPr>
          <p:cNvPr id="23" name="群組 22"/>
          <p:cNvGrpSpPr/>
          <p:nvPr/>
        </p:nvGrpSpPr>
        <p:grpSpPr>
          <a:xfrm>
            <a:off x="1706836" y="2852936"/>
            <a:ext cx="5976664" cy="3168352"/>
            <a:chOff x="1475656" y="3284984"/>
            <a:chExt cx="5976664" cy="3168352"/>
          </a:xfrm>
        </p:grpSpPr>
        <p:grpSp>
          <p:nvGrpSpPr>
            <p:cNvPr id="32" name="Group 12"/>
            <p:cNvGrpSpPr>
              <a:grpSpLocks/>
            </p:cNvGrpSpPr>
            <p:nvPr/>
          </p:nvGrpSpPr>
          <p:grpSpPr bwMode="auto">
            <a:xfrm>
              <a:off x="3856855" y="4365798"/>
              <a:ext cx="288925" cy="49212"/>
              <a:chOff x="4128" y="1440"/>
              <a:chExt cx="336" cy="48"/>
            </a:xfrm>
          </p:grpSpPr>
          <p:sp>
            <p:nvSpPr>
              <p:cNvPr id="33" name="Oval 13"/>
              <p:cNvSpPr>
                <a:spLocks noChangeArrowheads="1"/>
              </p:cNvSpPr>
              <p:nvPr/>
            </p:nvSpPr>
            <p:spPr bwMode="auto">
              <a:xfrm>
                <a:off x="4128" y="144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Oval 14"/>
              <p:cNvSpPr>
                <a:spLocks noChangeArrowheads="1"/>
              </p:cNvSpPr>
              <p:nvPr/>
            </p:nvSpPr>
            <p:spPr bwMode="auto">
              <a:xfrm>
                <a:off x="4272" y="144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Oval 15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6" name="Group 16"/>
            <p:cNvGrpSpPr>
              <a:grpSpLocks/>
            </p:cNvGrpSpPr>
            <p:nvPr/>
          </p:nvGrpSpPr>
          <p:grpSpPr bwMode="auto">
            <a:xfrm>
              <a:off x="4314055" y="4365798"/>
              <a:ext cx="288925" cy="49212"/>
              <a:chOff x="4128" y="1440"/>
              <a:chExt cx="336" cy="48"/>
            </a:xfrm>
          </p:grpSpPr>
          <p:sp>
            <p:nvSpPr>
              <p:cNvPr id="37" name="Oval 17"/>
              <p:cNvSpPr>
                <a:spLocks noChangeArrowheads="1"/>
              </p:cNvSpPr>
              <p:nvPr/>
            </p:nvSpPr>
            <p:spPr bwMode="auto">
              <a:xfrm>
                <a:off x="4128" y="144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Oval 18"/>
              <p:cNvSpPr>
                <a:spLocks noChangeArrowheads="1"/>
              </p:cNvSpPr>
              <p:nvPr/>
            </p:nvSpPr>
            <p:spPr bwMode="auto">
              <a:xfrm>
                <a:off x="4272" y="144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Oval 19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0" name="Line 82"/>
            <p:cNvSpPr>
              <a:spLocks noChangeShapeType="1"/>
            </p:cNvSpPr>
            <p:nvPr/>
          </p:nvSpPr>
          <p:spPr bwMode="auto">
            <a:xfrm>
              <a:off x="2555776" y="4355486"/>
              <a:ext cx="0" cy="324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1" name="Line 84"/>
            <p:cNvSpPr>
              <a:spLocks noChangeShapeType="1"/>
            </p:cNvSpPr>
            <p:nvPr/>
          </p:nvSpPr>
          <p:spPr bwMode="auto">
            <a:xfrm>
              <a:off x="3381647" y="4355486"/>
              <a:ext cx="0" cy="324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2" name="Line 87"/>
            <p:cNvSpPr>
              <a:spLocks noChangeShapeType="1"/>
            </p:cNvSpPr>
            <p:nvPr/>
          </p:nvSpPr>
          <p:spPr bwMode="auto">
            <a:xfrm>
              <a:off x="5580112" y="4391486"/>
              <a:ext cx="0" cy="216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3" name="Line 90"/>
            <p:cNvSpPr>
              <a:spLocks noChangeShapeType="1"/>
            </p:cNvSpPr>
            <p:nvPr/>
          </p:nvSpPr>
          <p:spPr bwMode="auto">
            <a:xfrm>
              <a:off x="6380831" y="4391446"/>
              <a:ext cx="0" cy="252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pSp>
          <p:nvGrpSpPr>
            <p:cNvPr id="44" name="Group 92"/>
            <p:cNvGrpSpPr>
              <a:grpSpLocks/>
            </p:cNvGrpSpPr>
            <p:nvPr/>
          </p:nvGrpSpPr>
          <p:grpSpPr bwMode="auto">
            <a:xfrm>
              <a:off x="4787130" y="4365798"/>
              <a:ext cx="288925" cy="49212"/>
              <a:chOff x="4128" y="1440"/>
              <a:chExt cx="336" cy="48"/>
            </a:xfrm>
          </p:grpSpPr>
          <p:sp>
            <p:nvSpPr>
              <p:cNvPr id="45" name="Oval 93"/>
              <p:cNvSpPr>
                <a:spLocks noChangeArrowheads="1"/>
              </p:cNvSpPr>
              <p:nvPr/>
            </p:nvSpPr>
            <p:spPr bwMode="auto">
              <a:xfrm>
                <a:off x="4128" y="144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" name="Oval 94"/>
              <p:cNvSpPr>
                <a:spLocks noChangeArrowheads="1"/>
              </p:cNvSpPr>
              <p:nvPr/>
            </p:nvSpPr>
            <p:spPr bwMode="auto">
              <a:xfrm>
                <a:off x="4272" y="144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" name="Oval 95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8" name="Line 98"/>
            <p:cNvSpPr>
              <a:spLocks noChangeShapeType="1"/>
            </p:cNvSpPr>
            <p:nvPr/>
          </p:nvSpPr>
          <p:spPr bwMode="auto">
            <a:xfrm>
              <a:off x="4283967" y="5522614"/>
              <a:ext cx="0" cy="381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9" name="雲朵形 48"/>
            <p:cNvSpPr/>
            <p:nvPr/>
          </p:nvSpPr>
          <p:spPr bwMode="auto">
            <a:xfrm>
              <a:off x="1691680" y="4492450"/>
              <a:ext cx="5472608" cy="1193800"/>
            </a:xfrm>
            <a:prstGeom prst="cloud">
              <a:avLst/>
            </a:prstGeom>
            <a:solidFill>
              <a:srgbClr val="99C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TW" dirty="0">
                  <a:latin typeface="+mn-lt"/>
                </a:rPr>
                <a:t>Interconnection </a:t>
              </a:r>
              <a:r>
                <a:rPr lang="en-US" altLang="zh-TW" dirty="0" smtClean="0">
                  <a:latin typeface="+mn-lt"/>
                </a:rPr>
                <a:t>Network</a:t>
              </a:r>
              <a:endParaRPr lang="en-US" altLang="zh-TW" dirty="0">
                <a:latin typeface="+mn-lt"/>
              </a:endParaRPr>
            </a:p>
          </p:txBody>
        </p:sp>
        <p:sp>
          <p:nvSpPr>
            <p:cNvPr id="50" name="書卷 (垂直) 49"/>
            <p:cNvSpPr/>
            <p:nvPr/>
          </p:nvSpPr>
          <p:spPr bwMode="auto">
            <a:xfrm>
              <a:off x="2201590" y="3790322"/>
              <a:ext cx="748755" cy="565163"/>
            </a:xfrm>
            <a:prstGeom prst="verticalScroll">
              <a:avLst>
                <a:gd name="adj" fmla="val 20029"/>
              </a:avLst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 dirty="0" smtClean="0">
                  <a:latin typeface="+mn-lt"/>
                </a:rPr>
                <a:t>trace</a:t>
              </a:r>
              <a:endParaRPr lang="en-US" sz="1600" dirty="0">
                <a:latin typeface="+mn-lt"/>
              </a:endParaRPr>
            </a:p>
          </p:txBody>
        </p:sp>
        <p:sp>
          <p:nvSpPr>
            <p:cNvPr id="51" name="書卷 (垂直) 50"/>
            <p:cNvSpPr/>
            <p:nvPr/>
          </p:nvSpPr>
          <p:spPr bwMode="auto">
            <a:xfrm>
              <a:off x="2987824" y="3789040"/>
              <a:ext cx="748755" cy="565163"/>
            </a:xfrm>
            <a:prstGeom prst="verticalScroll">
              <a:avLst>
                <a:gd name="adj" fmla="val 20029"/>
              </a:avLst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 dirty="0" smtClean="0">
                  <a:latin typeface="+mn-lt"/>
                </a:rPr>
                <a:t>trace</a:t>
              </a:r>
              <a:endParaRPr lang="en-US" sz="1600" dirty="0">
                <a:latin typeface="+mn-lt"/>
              </a:endParaRPr>
            </a:p>
          </p:txBody>
        </p:sp>
        <p:sp>
          <p:nvSpPr>
            <p:cNvPr id="52" name="書卷 (垂直) 51"/>
            <p:cNvSpPr/>
            <p:nvPr/>
          </p:nvSpPr>
          <p:spPr bwMode="auto">
            <a:xfrm>
              <a:off x="5220072" y="3790322"/>
              <a:ext cx="748755" cy="565163"/>
            </a:xfrm>
            <a:prstGeom prst="verticalScroll">
              <a:avLst>
                <a:gd name="adj" fmla="val 20029"/>
              </a:avLst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 dirty="0" smtClean="0">
                  <a:latin typeface="+mn-lt"/>
                </a:rPr>
                <a:t>trace</a:t>
              </a:r>
              <a:endParaRPr lang="en-US" sz="1600" dirty="0">
                <a:latin typeface="+mn-lt"/>
              </a:endParaRPr>
            </a:p>
          </p:txBody>
        </p:sp>
        <p:sp>
          <p:nvSpPr>
            <p:cNvPr id="53" name="書卷 (垂直) 52"/>
            <p:cNvSpPr/>
            <p:nvPr/>
          </p:nvSpPr>
          <p:spPr bwMode="auto">
            <a:xfrm>
              <a:off x="6006306" y="3789040"/>
              <a:ext cx="748755" cy="565163"/>
            </a:xfrm>
            <a:prstGeom prst="verticalScroll">
              <a:avLst>
                <a:gd name="adj" fmla="val 20029"/>
              </a:avLst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 dirty="0" smtClean="0">
                  <a:latin typeface="+mn-lt"/>
                </a:rPr>
                <a:t>trace</a:t>
              </a:r>
              <a:endParaRPr lang="en-US" sz="1600" dirty="0">
                <a:latin typeface="+mn-lt"/>
              </a:endParaRPr>
            </a:p>
          </p:txBody>
        </p:sp>
        <p:sp>
          <p:nvSpPr>
            <p:cNvPr id="54" name="書卷 (垂直) 53"/>
            <p:cNvSpPr/>
            <p:nvPr/>
          </p:nvSpPr>
          <p:spPr bwMode="auto">
            <a:xfrm>
              <a:off x="3895253" y="5888173"/>
              <a:ext cx="748755" cy="565163"/>
            </a:xfrm>
            <a:prstGeom prst="verticalScroll">
              <a:avLst>
                <a:gd name="adj" fmla="val 20029"/>
              </a:avLst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 dirty="0" smtClean="0">
                  <a:latin typeface="+mn-lt"/>
                </a:rPr>
                <a:t>trace</a:t>
              </a:r>
              <a:endParaRPr lang="en-US" sz="1600" dirty="0">
                <a:latin typeface="+mn-lt"/>
              </a:endParaRPr>
            </a:p>
          </p:txBody>
        </p:sp>
        <p:sp>
          <p:nvSpPr>
            <p:cNvPr id="55" name="橢圓 54"/>
            <p:cNvSpPr/>
            <p:nvPr/>
          </p:nvSpPr>
          <p:spPr bwMode="auto">
            <a:xfrm>
              <a:off x="1475656" y="4391446"/>
              <a:ext cx="5976664" cy="1360202"/>
            </a:xfrm>
            <a:prstGeom prst="ellipse">
              <a:avLst/>
            </a:prstGeom>
            <a:noFill/>
            <a:ln w="762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dirty="0">
                <a:latin typeface="+mn-lt"/>
              </a:endParaRPr>
            </a:p>
          </p:txBody>
        </p:sp>
        <p:grpSp>
          <p:nvGrpSpPr>
            <p:cNvPr id="56" name="群組 55"/>
            <p:cNvGrpSpPr/>
            <p:nvPr/>
          </p:nvGrpSpPr>
          <p:grpSpPr>
            <a:xfrm>
              <a:off x="1691680" y="3284984"/>
              <a:ext cx="504056" cy="1594236"/>
              <a:chOff x="899592" y="2852936"/>
              <a:chExt cx="504056" cy="1594236"/>
            </a:xfrm>
          </p:grpSpPr>
          <p:cxnSp>
            <p:nvCxnSpPr>
              <p:cNvPr id="57" name="直線單箭頭接點 56"/>
              <p:cNvCxnSpPr/>
              <p:nvPr/>
            </p:nvCxnSpPr>
            <p:spPr bwMode="auto">
              <a:xfrm>
                <a:off x="1259632" y="2852936"/>
                <a:ext cx="0" cy="1594236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8" name="矩形 57"/>
              <p:cNvSpPr/>
              <p:nvPr/>
            </p:nvSpPr>
            <p:spPr bwMode="auto">
              <a:xfrm>
                <a:off x="1149896" y="3871108"/>
                <a:ext cx="253752" cy="205964"/>
              </a:xfrm>
              <a:prstGeom prst="rect">
                <a:avLst/>
              </a:prstGeom>
              <a:solidFill>
                <a:srgbClr val="99FF99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TW" sz="1600" dirty="0" smtClean="0">
                    <a:latin typeface="+mn-lt"/>
                  </a:rPr>
                  <a:t>A</a:t>
                </a:r>
                <a:endParaRPr lang="zh-TW" altLang="en-US" sz="1600" dirty="0">
                  <a:latin typeface="+mn-lt"/>
                </a:endParaRPr>
              </a:p>
            </p:txBody>
          </p:sp>
          <p:sp>
            <p:nvSpPr>
              <p:cNvPr id="59" name="矩形 58"/>
              <p:cNvSpPr/>
              <p:nvPr/>
            </p:nvSpPr>
            <p:spPr bwMode="auto">
              <a:xfrm>
                <a:off x="1149896" y="3583076"/>
                <a:ext cx="253752" cy="205964"/>
              </a:xfrm>
              <a:prstGeom prst="rect">
                <a:avLst/>
              </a:prstGeom>
              <a:solidFill>
                <a:srgbClr val="99FF99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TW" sz="1600" dirty="0">
                    <a:latin typeface="+mn-lt"/>
                  </a:rPr>
                  <a:t>B</a:t>
                </a:r>
                <a:endParaRPr lang="zh-TW" altLang="en-US" sz="1600" dirty="0">
                  <a:latin typeface="+mn-lt"/>
                </a:endParaRPr>
              </a:p>
            </p:txBody>
          </p:sp>
          <p:sp>
            <p:nvSpPr>
              <p:cNvPr id="60" name="矩形 59"/>
              <p:cNvSpPr/>
              <p:nvPr/>
            </p:nvSpPr>
            <p:spPr bwMode="auto">
              <a:xfrm>
                <a:off x="1149896" y="3295044"/>
                <a:ext cx="253752" cy="205964"/>
              </a:xfrm>
              <a:prstGeom prst="rect">
                <a:avLst/>
              </a:prstGeom>
              <a:solidFill>
                <a:srgbClr val="99FF99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TW" sz="1600" dirty="0">
                    <a:latin typeface="+mn-lt"/>
                  </a:rPr>
                  <a:t>C</a:t>
                </a:r>
                <a:endParaRPr lang="zh-TW" altLang="en-US" sz="1600" dirty="0">
                  <a:latin typeface="+mn-lt"/>
                </a:endParaRPr>
              </a:p>
            </p:txBody>
          </p:sp>
          <p:sp>
            <p:nvSpPr>
              <p:cNvPr id="61" name="矩形 60"/>
              <p:cNvSpPr/>
              <p:nvPr/>
            </p:nvSpPr>
            <p:spPr bwMode="auto">
              <a:xfrm>
                <a:off x="1149896" y="3007012"/>
                <a:ext cx="253752" cy="205964"/>
              </a:xfrm>
              <a:prstGeom prst="rect">
                <a:avLst/>
              </a:prstGeom>
              <a:solidFill>
                <a:srgbClr val="99FF99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TW" sz="1600" dirty="0" smtClean="0">
                    <a:latin typeface="+mn-lt"/>
                  </a:rPr>
                  <a:t>D</a:t>
                </a:r>
                <a:endParaRPr lang="zh-TW" altLang="en-US" sz="1600" dirty="0">
                  <a:latin typeface="+mn-lt"/>
                </a:endParaRPr>
              </a:p>
            </p:txBody>
          </p:sp>
          <p:sp>
            <p:nvSpPr>
              <p:cNvPr id="62" name="手繪多邊形 61"/>
              <p:cNvSpPr/>
              <p:nvPr/>
            </p:nvSpPr>
            <p:spPr bwMode="auto">
              <a:xfrm>
                <a:off x="937276" y="3412273"/>
                <a:ext cx="221849" cy="568712"/>
              </a:xfrm>
              <a:custGeom>
                <a:avLst/>
                <a:gdLst>
                  <a:gd name="connsiteX0" fmla="*/ 200747 w 221849"/>
                  <a:gd name="connsiteY0" fmla="*/ 568712 h 568712"/>
                  <a:gd name="connsiteX1" fmla="*/ 25 w 221849"/>
                  <a:gd name="connsiteY1" fmla="*/ 267629 h 568712"/>
                  <a:gd name="connsiteX2" fmla="*/ 211898 w 221849"/>
                  <a:gd name="connsiteY2" fmla="*/ 0 h 568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849" h="568712">
                    <a:moveTo>
                      <a:pt x="200747" y="568712"/>
                    </a:moveTo>
                    <a:cubicBezTo>
                      <a:pt x="99457" y="465563"/>
                      <a:pt x="-1833" y="362414"/>
                      <a:pt x="25" y="267629"/>
                    </a:cubicBezTo>
                    <a:cubicBezTo>
                      <a:pt x="1883" y="172844"/>
                      <a:pt x="276947" y="50180"/>
                      <a:pt x="211898" y="0"/>
                    </a:cubicBezTo>
                  </a:path>
                </a:pathLst>
              </a:custGeom>
              <a:noFill/>
              <a:ln w="9525" cap="flat" cmpd="sng" algn="ctr">
                <a:solidFill>
                  <a:srgbClr val="FF0000"/>
                </a:solidFill>
                <a:prstDash val="dash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TW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標楷體" panose="03000509000000000000" pitchFamily="65" charset="-120"/>
                </a:endParaRPr>
              </a:p>
            </p:txBody>
          </p:sp>
          <p:sp>
            <p:nvSpPr>
              <p:cNvPr id="63" name="手繪多邊形 62"/>
              <p:cNvSpPr/>
              <p:nvPr/>
            </p:nvSpPr>
            <p:spPr bwMode="auto">
              <a:xfrm>
                <a:off x="899592" y="3148320"/>
                <a:ext cx="221849" cy="568712"/>
              </a:xfrm>
              <a:custGeom>
                <a:avLst/>
                <a:gdLst>
                  <a:gd name="connsiteX0" fmla="*/ 200747 w 221849"/>
                  <a:gd name="connsiteY0" fmla="*/ 568712 h 568712"/>
                  <a:gd name="connsiteX1" fmla="*/ 25 w 221849"/>
                  <a:gd name="connsiteY1" fmla="*/ 267629 h 568712"/>
                  <a:gd name="connsiteX2" fmla="*/ 211898 w 221849"/>
                  <a:gd name="connsiteY2" fmla="*/ 0 h 568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1849" h="568712">
                    <a:moveTo>
                      <a:pt x="200747" y="568712"/>
                    </a:moveTo>
                    <a:cubicBezTo>
                      <a:pt x="99457" y="465563"/>
                      <a:pt x="-1833" y="362414"/>
                      <a:pt x="25" y="267629"/>
                    </a:cubicBezTo>
                    <a:cubicBezTo>
                      <a:pt x="1883" y="172844"/>
                      <a:pt x="276947" y="50180"/>
                      <a:pt x="211898" y="0"/>
                    </a:cubicBezTo>
                  </a:path>
                </a:pathLst>
              </a:custGeom>
              <a:noFill/>
              <a:ln w="9525" cap="flat" cmpd="sng" algn="ctr">
                <a:solidFill>
                  <a:srgbClr val="FF0000"/>
                </a:solidFill>
                <a:prstDash val="dash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TW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標楷體" panose="03000509000000000000" pitchFamily="65" charset="-120"/>
                </a:endParaRPr>
              </a:p>
            </p:txBody>
          </p:sp>
        </p:grpSp>
        <p:grpSp>
          <p:nvGrpSpPr>
            <p:cNvPr id="64" name="群組 63"/>
            <p:cNvGrpSpPr/>
            <p:nvPr/>
          </p:nvGrpSpPr>
          <p:grpSpPr>
            <a:xfrm>
              <a:off x="2715170" y="4196741"/>
              <a:ext cx="216024" cy="1594236"/>
              <a:chOff x="1923082" y="3764693"/>
              <a:chExt cx="216024" cy="1594236"/>
            </a:xfrm>
          </p:grpSpPr>
          <p:cxnSp>
            <p:nvCxnSpPr>
              <p:cNvPr id="65" name="直線單箭頭接點 64"/>
              <p:cNvCxnSpPr/>
              <p:nvPr/>
            </p:nvCxnSpPr>
            <p:spPr bwMode="auto">
              <a:xfrm flipV="1">
                <a:off x="2031530" y="3764693"/>
                <a:ext cx="0" cy="1594236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66" name="橢圓 65"/>
              <p:cNvSpPr/>
              <p:nvPr/>
            </p:nvSpPr>
            <p:spPr bwMode="auto">
              <a:xfrm>
                <a:off x="1923082" y="4052725"/>
                <a:ext cx="216024" cy="216718"/>
              </a:xfrm>
              <a:prstGeom prst="ellipse">
                <a:avLst/>
              </a:prstGeom>
              <a:solidFill>
                <a:srgbClr val="7030A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TW" sz="1600" dirty="0" smtClean="0">
                    <a:solidFill>
                      <a:schemeClr val="bg1"/>
                    </a:solidFill>
                    <a:latin typeface="+mn-lt"/>
                  </a:rPr>
                  <a:t>A</a:t>
                </a:r>
                <a:endParaRPr lang="zh-TW" altLang="en-US" sz="16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67" name="橢圓 66"/>
              <p:cNvSpPr/>
              <p:nvPr/>
            </p:nvSpPr>
            <p:spPr bwMode="auto">
              <a:xfrm>
                <a:off x="1923082" y="4340063"/>
                <a:ext cx="216024" cy="216718"/>
              </a:xfrm>
              <a:prstGeom prst="ellipse">
                <a:avLst/>
              </a:prstGeom>
              <a:solidFill>
                <a:srgbClr val="7030A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TW" sz="1600" dirty="0">
                    <a:solidFill>
                      <a:schemeClr val="bg1"/>
                    </a:solidFill>
                    <a:latin typeface="+mn-lt"/>
                  </a:rPr>
                  <a:t>B</a:t>
                </a:r>
                <a:endParaRPr lang="zh-TW" altLang="en-US" sz="16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68" name="橢圓 67"/>
              <p:cNvSpPr/>
              <p:nvPr/>
            </p:nvSpPr>
            <p:spPr bwMode="auto">
              <a:xfrm>
                <a:off x="1923082" y="4628789"/>
                <a:ext cx="216024" cy="216718"/>
              </a:xfrm>
              <a:prstGeom prst="ellipse">
                <a:avLst/>
              </a:prstGeom>
              <a:solidFill>
                <a:srgbClr val="7030A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TW" sz="1600" dirty="0">
                    <a:solidFill>
                      <a:schemeClr val="bg1"/>
                    </a:solidFill>
                    <a:latin typeface="+mn-lt"/>
                  </a:rPr>
                  <a:t>C</a:t>
                </a:r>
                <a:endParaRPr lang="zh-TW" altLang="en-US" sz="16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69" name="橢圓 68"/>
              <p:cNvSpPr/>
              <p:nvPr/>
            </p:nvSpPr>
            <p:spPr bwMode="auto">
              <a:xfrm>
                <a:off x="1923082" y="4916127"/>
                <a:ext cx="216024" cy="216718"/>
              </a:xfrm>
              <a:prstGeom prst="ellipse">
                <a:avLst/>
              </a:prstGeom>
              <a:solidFill>
                <a:srgbClr val="7030A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TW" sz="1600" dirty="0">
                    <a:solidFill>
                      <a:schemeClr val="bg1"/>
                    </a:solidFill>
                    <a:latin typeface="+mn-lt"/>
                  </a:rPr>
                  <a:t>D</a:t>
                </a:r>
                <a:endParaRPr lang="zh-TW" altLang="en-US" sz="1600" dirty="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5255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Motivation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Batch-processing trace-driven simulator cannot leverage dependencies in trace events</a:t>
            </a:r>
          </a:p>
          <a:p>
            <a:r>
              <a:rPr lang="en-US" altLang="zh-TW" dirty="0" smtClean="0"/>
              <a:t>If we do not want the modification efforts to transform a batch-processing simulator into an interactive simulator, what can we do?</a:t>
            </a:r>
          </a:p>
          <a:p>
            <a:r>
              <a:rPr lang="en-US" altLang="zh-TW" dirty="0" smtClean="0"/>
              <a:t>How about using the simulation output to correct input trace timing based on dependencies?</a:t>
            </a:r>
          </a:p>
          <a:p>
            <a:endParaRPr lang="zh-TW" altLang="en-US" dirty="0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35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65955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>
            <a:spLocks noChangeAspect="1"/>
          </p:cNvSpPr>
          <p:nvPr/>
        </p:nvSpPr>
        <p:spPr>
          <a:xfrm>
            <a:off x="5617860" y="4056768"/>
            <a:ext cx="1097280" cy="1944000"/>
          </a:xfrm>
          <a:prstGeom prst="rect">
            <a:avLst/>
          </a:prstGeom>
          <a:ln w="38100"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Basic Ideas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To do so, we need to dump the reference time of the output on the trace-generating machine so as to compare with that from the simulation output</a:t>
            </a:r>
          </a:p>
          <a:p>
            <a:endParaRPr lang="zh-TW" altLang="en-US" dirty="0"/>
          </a:p>
        </p:txBody>
      </p:sp>
      <p:grpSp>
        <p:nvGrpSpPr>
          <p:cNvPr id="5" name="群組 29"/>
          <p:cNvGrpSpPr>
            <a:grpSpLocks noChangeAspect="1"/>
          </p:cNvGrpSpPr>
          <p:nvPr/>
        </p:nvGrpSpPr>
        <p:grpSpPr>
          <a:xfrm>
            <a:off x="2071663" y="2571736"/>
            <a:ext cx="4714908" cy="3343298"/>
            <a:chOff x="2071670" y="2571744"/>
            <a:chExt cx="3929090" cy="2786082"/>
          </a:xfrm>
        </p:grpSpPr>
        <p:cxnSp>
          <p:nvCxnSpPr>
            <p:cNvPr id="6" name="直線接點 5"/>
            <p:cNvCxnSpPr>
              <a:stCxn id="13" idx="2"/>
              <a:endCxn id="18" idx="0"/>
            </p:cNvCxnSpPr>
            <p:nvPr/>
          </p:nvCxnSpPr>
          <p:spPr>
            <a:xfrm rot="5400000">
              <a:off x="4795736" y="4436587"/>
              <a:ext cx="1319636" cy="18843"/>
            </a:xfrm>
            <a:prstGeom prst="line">
              <a:avLst/>
            </a:prstGeom>
            <a:ln w="76200" cmpd="sng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線單箭頭接點 6"/>
            <p:cNvCxnSpPr/>
            <p:nvPr/>
          </p:nvCxnSpPr>
          <p:spPr>
            <a:xfrm>
              <a:off x="2071670" y="3143248"/>
              <a:ext cx="2880000" cy="0"/>
            </a:xfrm>
            <a:prstGeom prst="straightConnector1">
              <a:avLst/>
            </a:prstGeom>
            <a:ln w="76200" cmpd="sng">
              <a:solidFill>
                <a:schemeClr val="tx1"/>
              </a:solidFill>
              <a:prstDash val="solid"/>
              <a:round/>
              <a:headEnd w="sm" len="sm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矩形 7"/>
            <p:cNvSpPr/>
            <p:nvPr/>
          </p:nvSpPr>
          <p:spPr>
            <a:xfrm>
              <a:off x="2534050" y="3000372"/>
              <a:ext cx="252000" cy="252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E</a:t>
              </a:r>
              <a:endParaRPr lang="zh-TW" altLang="en-US" sz="1200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2962678" y="3000372"/>
              <a:ext cx="252000" cy="252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D</a:t>
              </a:r>
              <a:endParaRPr lang="zh-TW" altLang="en-US" sz="1200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3391306" y="3000372"/>
              <a:ext cx="252000" cy="252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C</a:t>
              </a:r>
              <a:endParaRPr lang="zh-TW" altLang="en-US" sz="1200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3819934" y="3000372"/>
              <a:ext cx="252000" cy="252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B</a:t>
              </a:r>
              <a:endParaRPr lang="zh-TW" altLang="en-US" sz="1200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4248562" y="3000372"/>
              <a:ext cx="252000" cy="252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A</a:t>
              </a:r>
              <a:endParaRPr lang="zh-TW" altLang="en-US" sz="1200" dirty="0"/>
            </a:p>
          </p:txBody>
        </p:sp>
        <p:sp>
          <p:nvSpPr>
            <p:cNvPr id="13" name="向下箭號 12"/>
            <p:cNvSpPr/>
            <p:nvPr/>
          </p:nvSpPr>
          <p:spPr>
            <a:xfrm>
              <a:off x="5072066" y="3500438"/>
              <a:ext cx="785818" cy="285752"/>
            </a:xfrm>
            <a:prstGeom prst="downArrow">
              <a:avLst>
                <a:gd name="adj1" fmla="val 50000"/>
                <a:gd name="adj2" fmla="val 59142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5320132" y="3819942"/>
              <a:ext cx="252000" cy="252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E</a:t>
              </a:r>
              <a:endParaRPr lang="zh-TW" altLang="en-US" sz="1200" dirty="0"/>
            </a:p>
          </p:txBody>
        </p:sp>
        <p:sp>
          <p:nvSpPr>
            <p:cNvPr id="15" name="橢圓 14"/>
            <p:cNvSpPr/>
            <p:nvPr/>
          </p:nvSpPr>
          <p:spPr>
            <a:xfrm>
              <a:off x="5320132" y="4143380"/>
              <a:ext cx="252000" cy="252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D</a:t>
              </a:r>
              <a:endParaRPr lang="zh-TW" altLang="en-US" sz="1200" dirty="0"/>
            </a:p>
          </p:txBody>
        </p:sp>
        <p:sp>
          <p:nvSpPr>
            <p:cNvPr id="16" name="橢圓 15"/>
            <p:cNvSpPr/>
            <p:nvPr/>
          </p:nvSpPr>
          <p:spPr>
            <a:xfrm>
              <a:off x="5320132" y="4462884"/>
              <a:ext cx="252000" cy="252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C</a:t>
              </a:r>
              <a:endParaRPr lang="zh-TW" altLang="en-US" sz="1200" dirty="0"/>
            </a:p>
          </p:txBody>
        </p:sp>
        <p:sp>
          <p:nvSpPr>
            <p:cNvPr id="17" name="橢圓 16"/>
            <p:cNvSpPr/>
            <p:nvPr/>
          </p:nvSpPr>
          <p:spPr>
            <a:xfrm>
              <a:off x="5320132" y="4786322"/>
              <a:ext cx="252000" cy="252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B</a:t>
              </a:r>
              <a:endParaRPr lang="zh-TW" altLang="en-US" sz="1200" dirty="0"/>
            </a:p>
          </p:txBody>
        </p:sp>
        <p:sp>
          <p:nvSpPr>
            <p:cNvPr id="18" name="橢圓 17"/>
            <p:cNvSpPr/>
            <p:nvPr/>
          </p:nvSpPr>
          <p:spPr>
            <a:xfrm>
              <a:off x="5320132" y="5105826"/>
              <a:ext cx="252000" cy="252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A</a:t>
              </a:r>
              <a:endParaRPr lang="zh-TW" altLang="en-US" sz="1200" dirty="0"/>
            </a:p>
          </p:txBody>
        </p:sp>
        <p:sp>
          <p:nvSpPr>
            <p:cNvPr id="19" name="矩形 18"/>
            <p:cNvSpPr/>
            <p:nvPr/>
          </p:nvSpPr>
          <p:spPr>
            <a:xfrm>
              <a:off x="5000628" y="2571744"/>
              <a:ext cx="1000132" cy="8572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Trace-driven simulator</a:t>
              </a:r>
              <a:endParaRPr lang="zh-TW" altLang="en-US" sz="1600" dirty="0"/>
            </a:p>
          </p:txBody>
        </p:sp>
        <p:sp>
          <p:nvSpPr>
            <p:cNvPr id="27" name="手繪多邊形 26"/>
            <p:cNvSpPr/>
            <p:nvPr/>
          </p:nvSpPr>
          <p:spPr>
            <a:xfrm flipH="1">
              <a:off x="2639240" y="2898772"/>
              <a:ext cx="504000" cy="101600"/>
            </a:xfrm>
            <a:custGeom>
              <a:avLst/>
              <a:gdLst>
                <a:gd name="connsiteX0" fmla="*/ 0 w 571500"/>
                <a:gd name="connsiteY0" fmla="*/ 101600 h 101600"/>
                <a:gd name="connsiteX1" fmla="*/ 289560 w 571500"/>
                <a:gd name="connsiteY1" fmla="*/ 2540 h 101600"/>
                <a:gd name="connsiteX2" fmla="*/ 571500 w 571500"/>
                <a:gd name="connsiteY2" fmla="*/ 8636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1500" h="101600">
                  <a:moveTo>
                    <a:pt x="0" y="101600"/>
                  </a:moveTo>
                  <a:cubicBezTo>
                    <a:pt x="97155" y="53340"/>
                    <a:pt x="194310" y="5080"/>
                    <a:pt x="289560" y="2540"/>
                  </a:cubicBezTo>
                  <a:cubicBezTo>
                    <a:pt x="384810" y="0"/>
                    <a:pt x="527050" y="76200"/>
                    <a:pt x="571500" y="86360"/>
                  </a:cubicBezTo>
                </a:path>
              </a:pathLst>
            </a:custGeom>
            <a:ln w="25400">
              <a:solidFill>
                <a:schemeClr val="tx1"/>
              </a:solidFill>
              <a:prstDash val="sysDot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手繪多邊形 27"/>
            <p:cNvSpPr/>
            <p:nvPr/>
          </p:nvSpPr>
          <p:spPr>
            <a:xfrm flipH="1">
              <a:off x="3500430" y="2857496"/>
              <a:ext cx="864000" cy="144000"/>
            </a:xfrm>
            <a:custGeom>
              <a:avLst/>
              <a:gdLst>
                <a:gd name="connsiteX0" fmla="*/ 0 w 571500"/>
                <a:gd name="connsiteY0" fmla="*/ 101600 h 101600"/>
                <a:gd name="connsiteX1" fmla="*/ 289560 w 571500"/>
                <a:gd name="connsiteY1" fmla="*/ 2540 h 101600"/>
                <a:gd name="connsiteX2" fmla="*/ 571500 w 571500"/>
                <a:gd name="connsiteY2" fmla="*/ 8636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1500" h="101600">
                  <a:moveTo>
                    <a:pt x="0" y="101600"/>
                  </a:moveTo>
                  <a:cubicBezTo>
                    <a:pt x="97155" y="53340"/>
                    <a:pt x="194310" y="5080"/>
                    <a:pt x="289560" y="2540"/>
                  </a:cubicBezTo>
                  <a:cubicBezTo>
                    <a:pt x="384810" y="0"/>
                    <a:pt x="527050" y="76200"/>
                    <a:pt x="571500" y="86360"/>
                  </a:cubicBezTo>
                </a:path>
              </a:pathLst>
            </a:custGeom>
            <a:ln w="25400">
              <a:solidFill>
                <a:schemeClr val="tx1"/>
              </a:solidFill>
              <a:prstDash val="sysDot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手繪多邊形 28"/>
            <p:cNvSpPr/>
            <p:nvPr/>
          </p:nvSpPr>
          <p:spPr>
            <a:xfrm flipH="1">
              <a:off x="3065058" y="2857496"/>
              <a:ext cx="864000" cy="144000"/>
            </a:xfrm>
            <a:custGeom>
              <a:avLst/>
              <a:gdLst>
                <a:gd name="connsiteX0" fmla="*/ 0 w 571500"/>
                <a:gd name="connsiteY0" fmla="*/ 101600 h 101600"/>
                <a:gd name="connsiteX1" fmla="*/ 289560 w 571500"/>
                <a:gd name="connsiteY1" fmla="*/ 2540 h 101600"/>
                <a:gd name="connsiteX2" fmla="*/ 571500 w 571500"/>
                <a:gd name="connsiteY2" fmla="*/ 8636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1500" h="101600">
                  <a:moveTo>
                    <a:pt x="0" y="101600"/>
                  </a:moveTo>
                  <a:cubicBezTo>
                    <a:pt x="97155" y="53340"/>
                    <a:pt x="194310" y="5080"/>
                    <a:pt x="289560" y="2540"/>
                  </a:cubicBezTo>
                  <a:cubicBezTo>
                    <a:pt x="384810" y="0"/>
                    <a:pt x="527050" y="76200"/>
                    <a:pt x="571500" y="86360"/>
                  </a:cubicBezTo>
                </a:path>
              </a:pathLst>
            </a:custGeom>
            <a:ln w="25400">
              <a:solidFill>
                <a:schemeClr val="tx1"/>
              </a:solidFill>
              <a:prstDash val="sysDot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4" name="圓角矩形 23"/>
          <p:cNvSpPr>
            <a:spLocks noChangeAspect="1"/>
          </p:cNvSpPr>
          <p:nvPr/>
        </p:nvSpPr>
        <p:spPr>
          <a:xfrm>
            <a:off x="2143108" y="4349263"/>
            <a:ext cx="1296000" cy="1296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Timing</a:t>
            </a:r>
          </a:p>
          <a:p>
            <a:pPr algn="ctr"/>
            <a:r>
              <a:rPr lang="en-US" altLang="zh-TW" sz="1600" dirty="0" smtClean="0"/>
              <a:t>reference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3140873" y="2357430"/>
            <a:ext cx="1502565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b="1" dirty="0" smtClean="0">
                <a:ea typeface="標楷體" pitchFamily="65" charset="-120"/>
                <a:cs typeface="Calibri" pitchFamily="34" charset="0"/>
              </a:rPr>
              <a:t>Round 1</a:t>
            </a:r>
            <a:endParaRPr lang="zh-TW" altLang="en-US" b="1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36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938341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內容版面配置區 3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On trace-generating machine: dump simulator output events, not just performance statistics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 bwMode="auto">
          <a:xfrm>
            <a:off x="5292080" y="2852936"/>
            <a:ext cx="1727994" cy="2747923"/>
          </a:xfrm>
          <a:prstGeom prst="rect">
            <a:avLst/>
          </a:prstGeom>
          <a:solidFill>
            <a:srgbClr val="99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dirty="0">
              <a:latin typeface="+mn-lt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Basic Ideas</a:t>
            </a:r>
            <a:endParaRPr lang="zh-TW" altLang="en-US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37</a:t>
            </a:fld>
            <a:endParaRPr lang="zh-TW" altLang="zh-TW"/>
          </a:p>
        </p:txBody>
      </p:sp>
      <p:sp>
        <p:nvSpPr>
          <p:cNvPr id="5" name="文字方塊 4"/>
          <p:cNvSpPr txBox="1"/>
          <p:nvPr/>
        </p:nvSpPr>
        <p:spPr>
          <a:xfrm>
            <a:off x="827584" y="2726918"/>
            <a:ext cx="231973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 smtClean="0">
                <a:latin typeface="+mn-lt"/>
              </a:rPr>
              <a:t>LD	r1, 0xcfa8</a:t>
            </a:r>
          </a:p>
          <a:p>
            <a:pPr>
              <a:lnSpc>
                <a:spcPct val="150000"/>
              </a:lnSpc>
            </a:pPr>
            <a:r>
              <a:rPr lang="en-US" altLang="zh-TW" dirty="0" smtClean="0">
                <a:latin typeface="+mn-lt"/>
              </a:rPr>
              <a:t>...</a:t>
            </a:r>
          </a:p>
          <a:p>
            <a:pPr>
              <a:lnSpc>
                <a:spcPct val="150000"/>
              </a:lnSpc>
            </a:pPr>
            <a:r>
              <a:rPr lang="en-US" altLang="zh-TW" dirty="0" smtClean="0">
                <a:latin typeface="+mn-lt"/>
              </a:rPr>
              <a:t>ADD	r0, r1, #2</a:t>
            </a:r>
          </a:p>
          <a:p>
            <a:pPr>
              <a:lnSpc>
                <a:spcPct val="150000"/>
              </a:lnSpc>
            </a:pPr>
            <a:r>
              <a:rPr lang="en-US" altLang="zh-TW" dirty="0" smtClean="0">
                <a:latin typeface="+mn-lt"/>
              </a:rPr>
              <a:t>...</a:t>
            </a:r>
          </a:p>
          <a:p>
            <a:pPr>
              <a:lnSpc>
                <a:spcPct val="150000"/>
              </a:lnSpc>
            </a:pPr>
            <a:r>
              <a:rPr lang="en-US" altLang="zh-TW" dirty="0" smtClean="0">
                <a:latin typeface="+mn-lt"/>
              </a:rPr>
              <a:t>ST	r0, 0xcfac</a:t>
            </a:r>
            <a:endParaRPr lang="zh-TW" altLang="en-US" dirty="0">
              <a:latin typeface="+mn-lt"/>
            </a:endParaRPr>
          </a:p>
        </p:txBody>
      </p:sp>
      <p:sp>
        <p:nvSpPr>
          <p:cNvPr id="6" name="圓形箭號 5"/>
          <p:cNvSpPr/>
          <p:nvPr/>
        </p:nvSpPr>
        <p:spPr bwMode="auto">
          <a:xfrm rot="16200000" flipH="1">
            <a:off x="211207" y="3147713"/>
            <a:ext cx="1232755" cy="864096"/>
          </a:xfrm>
          <a:prstGeom prst="circularArrow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ea typeface="標楷體" panose="03000509000000000000" pitchFamily="65" charset="-120"/>
            </a:endParaRPr>
          </a:p>
        </p:txBody>
      </p:sp>
      <p:sp>
        <p:nvSpPr>
          <p:cNvPr id="7" name="圓形箭號 6"/>
          <p:cNvSpPr/>
          <p:nvPr/>
        </p:nvSpPr>
        <p:spPr bwMode="auto">
          <a:xfrm rot="16200000" flipH="1">
            <a:off x="237594" y="4369177"/>
            <a:ext cx="1195077" cy="849002"/>
          </a:xfrm>
          <a:prstGeom prst="circularArrow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ea typeface="標楷體" panose="03000509000000000000" pitchFamily="65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187624" y="2206605"/>
            <a:ext cx="1245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+mn-lt"/>
              </a:rPr>
              <a:t>Program</a:t>
            </a:r>
            <a:endParaRPr lang="zh-TW" altLang="en-US" dirty="0">
              <a:latin typeface="+mn-lt"/>
            </a:endParaRPr>
          </a:p>
        </p:txBody>
      </p:sp>
      <p:sp>
        <p:nvSpPr>
          <p:cNvPr id="13" name="雲朵形 12"/>
          <p:cNvSpPr/>
          <p:nvPr/>
        </p:nvSpPr>
        <p:spPr bwMode="auto">
          <a:xfrm>
            <a:off x="7164288" y="2222862"/>
            <a:ext cx="1584176" cy="3726418"/>
          </a:xfrm>
          <a:prstGeom prst="cloud">
            <a:avLst/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dirty="0" err="1" smtClean="0">
                <a:latin typeface="+mn-lt"/>
              </a:rPr>
              <a:t>NoC</a:t>
            </a:r>
            <a:endParaRPr lang="zh-TW" altLang="en-US" dirty="0">
              <a:latin typeface="+mn-lt"/>
            </a:endParaRPr>
          </a:p>
        </p:txBody>
      </p:sp>
      <p:cxnSp>
        <p:nvCxnSpPr>
          <p:cNvPr id="17" name="直線單箭頭接點 16"/>
          <p:cNvCxnSpPr>
            <a:stCxn id="10" idx="3"/>
          </p:cNvCxnSpPr>
          <p:nvPr/>
        </p:nvCxnSpPr>
        <p:spPr bwMode="auto">
          <a:xfrm flipV="1">
            <a:off x="4974300" y="3072149"/>
            <a:ext cx="2406012" cy="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直線單箭頭接點 17"/>
          <p:cNvCxnSpPr>
            <a:stCxn id="15" idx="3"/>
          </p:cNvCxnSpPr>
          <p:nvPr/>
        </p:nvCxnSpPr>
        <p:spPr bwMode="auto">
          <a:xfrm>
            <a:off x="5004048" y="5262007"/>
            <a:ext cx="2385465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文字方塊 20"/>
          <p:cNvSpPr txBox="1"/>
          <p:nvPr/>
        </p:nvSpPr>
        <p:spPr>
          <a:xfrm>
            <a:off x="5443501" y="2021939"/>
            <a:ext cx="1387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smtClean="0">
                <a:latin typeface="+mn-lt"/>
              </a:rPr>
              <a:t>Simulator</a:t>
            </a:r>
          </a:p>
          <a:p>
            <a:pPr algn="ctr"/>
            <a:r>
              <a:rPr lang="en-US" altLang="zh-TW" dirty="0" smtClean="0">
                <a:latin typeface="+mn-lt"/>
              </a:rPr>
              <a:t>Output</a:t>
            </a:r>
            <a:endParaRPr lang="zh-TW" altLang="en-US" dirty="0">
              <a:latin typeface="+mn-lt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5344533" y="3511602"/>
            <a:ext cx="15853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E</a:t>
            </a:r>
            <a:r>
              <a:rPr lang="en-US" dirty="0" smtClean="0">
                <a:latin typeface="+mn-lt"/>
              </a:rPr>
              <a:t>vent A’</a:t>
            </a:r>
            <a:r>
              <a:rPr lang="en-US" altLang="zh-TW" dirty="0" smtClean="0">
                <a:latin typeface="+mn-lt"/>
              </a:rPr>
              <a:t>, T</a:t>
            </a:r>
            <a:r>
              <a:rPr lang="en-US" altLang="zh-TW" baseline="-25000" dirty="0" smtClean="0">
                <a:latin typeface="+mn-lt"/>
              </a:rPr>
              <a:t>A’</a:t>
            </a:r>
            <a:endParaRPr lang="en-US" baseline="-25000" dirty="0">
              <a:latin typeface="+mn-lt"/>
            </a:endParaRPr>
          </a:p>
        </p:txBody>
      </p:sp>
      <p:cxnSp>
        <p:nvCxnSpPr>
          <p:cNvPr id="26" name="直線單箭頭接點 25"/>
          <p:cNvCxnSpPr>
            <a:stCxn id="22" idx="3"/>
          </p:cNvCxnSpPr>
          <p:nvPr/>
        </p:nvCxnSpPr>
        <p:spPr bwMode="auto">
          <a:xfrm flipV="1">
            <a:off x="6929903" y="3742434"/>
            <a:ext cx="681589" cy="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>
            <a:stCxn id="22" idx="1"/>
          </p:cNvCxnSpPr>
          <p:nvPr/>
        </p:nvCxnSpPr>
        <p:spPr bwMode="auto">
          <a:xfrm flipH="1" flipV="1">
            <a:off x="4644008" y="3302982"/>
            <a:ext cx="700525" cy="4394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矩形 29"/>
          <p:cNvSpPr/>
          <p:nvPr/>
        </p:nvSpPr>
        <p:spPr bwMode="auto">
          <a:xfrm>
            <a:off x="827584" y="2841317"/>
            <a:ext cx="2319738" cy="274792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dirty="0">
              <a:latin typeface="+mn-lt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347864" y="2206605"/>
            <a:ext cx="1786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+mn-lt"/>
              </a:rPr>
              <a:t>Trace Record</a:t>
            </a:r>
            <a:endParaRPr lang="zh-TW" altLang="en-US" dirty="0">
              <a:latin typeface="+mn-lt"/>
            </a:endParaRPr>
          </a:p>
        </p:txBody>
      </p:sp>
      <p:grpSp>
        <p:nvGrpSpPr>
          <p:cNvPr id="36" name="群組 35"/>
          <p:cNvGrpSpPr/>
          <p:nvPr/>
        </p:nvGrpSpPr>
        <p:grpSpPr>
          <a:xfrm>
            <a:off x="3404390" y="2841317"/>
            <a:ext cx="1670813" cy="2759542"/>
            <a:chOff x="3404390" y="2625293"/>
            <a:chExt cx="1670813" cy="2759542"/>
          </a:xfrm>
        </p:grpSpPr>
        <p:sp>
          <p:nvSpPr>
            <p:cNvPr id="10" name="文字方塊 9"/>
            <p:cNvSpPr txBox="1"/>
            <p:nvPr/>
          </p:nvSpPr>
          <p:spPr>
            <a:xfrm>
              <a:off x="3454012" y="2625293"/>
              <a:ext cx="15202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n-lt"/>
                </a:rPr>
                <a:t>E</a:t>
              </a:r>
              <a:r>
                <a:rPr lang="en-US" dirty="0" smtClean="0">
                  <a:latin typeface="+mn-lt"/>
                </a:rPr>
                <a:t>vent A</a:t>
              </a:r>
              <a:r>
                <a:rPr lang="en-US" altLang="zh-TW" dirty="0" smtClean="0">
                  <a:latin typeface="+mn-lt"/>
                </a:rPr>
                <a:t>, T</a:t>
              </a:r>
              <a:r>
                <a:rPr lang="en-US" altLang="zh-TW" baseline="-25000" dirty="0" smtClean="0">
                  <a:latin typeface="+mn-lt"/>
                </a:rPr>
                <a:t>A</a:t>
              </a:r>
              <a:endParaRPr lang="en-US" baseline="-25000" dirty="0">
                <a:latin typeface="+mn-lt"/>
              </a:endParaRP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3483824" y="4815150"/>
              <a:ext cx="15202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n-lt"/>
                </a:rPr>
                <a:t>E</a:t>
              </a:r>
              <a:r>
                <a:rPr lang="en-US" dirty="0" smtClean="0">
                  <a:latin typeface="+mn-lt"/>
                </a:rPr>
                <a:t>vent B</a:t>
              </a:r>
              <a:r>
                <a:rPr lang="en-US" altLang="zh-TW" dirty="0" smtClean="0">
                  <a:latin typeface="+mn-lt"/>
                </a:rPr>
                <a:t>, T</a:t>
              </a:r>
              <a:r>
                <a:rPr lang="en-US" altLang="zh-TW" baseline="-25000" dirty="0" smtClean="0">
                  <a:latin typeface="+mn-lt"/>
                </a:rPr>
                <a:t>B</a:t>
              </a:r>
              <a:endParaRPr lang="en-US" baseline="-25000" dirty="0">
                <a:latin typeface="+mn-lt"/>
              </a:endParaRPr>
            </a:p>
          </p:txBody>
        </p:sp>
        <p:sp>
          <p:nvSpPr>
            <p:cNvPr id="31" name="矩形 30"/>
            <p:cNvSpPr/>
            <p:nvPr/>
          </p:nvSpPr>
          <p:spPr bwMode="auto">
            <a:xfrm>
              <a:off x="3404390" y="2636912"/>
              <a:ext cx="1670813" cy="274792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dirty="0">
                <a:latin typeface="+mn-lt"/>
              </a:endParaRPr>
            </a:p>
          </p:txBody>
        </p:sp>
      </p:grpSp>
      <p:cxnSp>
        <p:nvCxnSpPr>
          <p:cNvPr id="12" name="直線單箭頭接點 11"/>
          <p:cNvCxnSpPr/>
          <p:nvPr/>
        </p:nvCxnSpPr>
        <p:spPr bwMode="auto">
          <a:xfrm flipH="1">
            <a:off x="4211960" y="3284984"/>
            <a:ext cx="2196" cy="17280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896742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Basic Ideas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Also, a </a:t>
            </a:r>
            <a:r>
              <a:rPr lang="en-US" altLang="zh-TW" dirty="0" smtClean="0"/>
              <a:t>timing corrector </a:t>
            </a:r>
            <a:r>
              <a:rPr lang="en-US" altLang="zh-TW" dirty="0"/>
              <a:t>to decide how to adjust timing in </a:t>
            </a:r>
            <a:r>
              <a:rPr lang="en-US" altLang="zh-TW" dirty="0" smtClean="0"/>
              <a:t>timing reference</a:t>
            </a:r>
            <a:endParaRPr lang="en-US" altLang="zh-TW" dirty="0"/>
          </a:p>
        </p:txBody>
      </p:sp>
      <p:grpSp>
        <p:nvGrpSpPr>
          <p:cNvPr id="24" name="群組 23"/>
          <p:cNvGrpSpPr/>
          <p:nvPr/>
        </p:nvGrpSpPr>
        <p:grpSpPr>
          <a:xfrm>
            <a:off x="2071663" y="2571736"/>
            <a:ext cx="4714908" cy="3429032"/>
            <a:chOff x="2071663" y="2571736"/>
            <a:chExt cx="4714908" cy="3429032"/>
          </a:xfrm>
        </p:grpSpPr>
        <p:sp>
          <p:nvSpPr>
            <p:cNvPr id="25" name="矩形 24"/>
            <p:cNvSpPr>
              <a:spLocks noChangeAspect="1"/>
            </p:cNvSpPr>
            <p:nvPr/>
          </p:nvSpPr>
          <p:spPr>
            <a:xfrm>
              <a:off x="5617860" y="4056768"/>
              <a:ext cx="1097280" cy="1944000"/>
            </a:xfrm>
            <a:prstGeom prst="rect">
              <a:avLst/>
            </a:prstGeom>
            <a:ln w="38100">
              <a:prstDash val="dash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26" name="群組 29"/>
            <p:cNvGrpSpPr>
              <a:grpSpLocks noChangeAspect="1"/>
            </p:cNvGrpSpPr>
            <p:nvPr/>
          </p:nvGrpSpPr>
          <p:grpSpPr>
            <a:xfrm>
              <a:off x="2071707" y="2571735"/>
              <a:ext cx="4714991" cy="3343299"/>
              <a:chOff x="2071670" y="2571744"/>
              <a:chExt cx="3929090" cy="2786082"/>
            </a:xfrm>
          </p:grpSpPr>
          <p:cxnSp>
            <p:nvCxnSpPr>
              <p:cNvPr id="31" name="直線接點 5"/>
              <p:cNvCxnSpPr>
                <a:stCxn id="38" idx="2"/>
                <a:endCxn id="43" idx="0"/>
              </p:cNvCxnSpPr>
              <p:nvPr/>
            </p:nvCxnSpPr>
            <p:spPr>
              <a:xfrm rot="5400000">
                <a:off x="4795736" y="4436587"/>
                <a:ext cx="1319636" cy="18843"/>
              </a:xfrm>
              <a:prstGeom prst="line">
                <a:avLst/>
              </a:prstGeom>
              <a:ln w="76200" cmpd="sng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直線單箭頭接點 31"/>
              <p:cNvCxnSpPr/>
              <p:nvPr/>
            </p:nvCxnSpPr>
            <p:spPr>
              <a:xfrm>
                <a:off x="2071670" y="3143248"/>
                <a:ext cx="2880000" cy="0"/>
              </a:xfrm>
              <a:prstGeom prst="straightConnector1">
                <a:avLst/>
              </a:prstGeom>
              <a:ln w="76200" cmpd="sng">
                <a:solidFill>
                  <a:schemeClr val="tx1"/>
                </a:solidFill>
                <a:prstDash val="solid"/>
                <a:round/>
                <a:headEnd w="sm" len="sm"/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3" name="矩形 32"/>
              <p:cNvSpPr/>
              <p:nvPr/>
            </p:nvSpPr>
            <p:spPr>
              <a:xfrm>
                <a:off x="2534050" y="3000372"/>
                <a:ext cx="252000" cy="2520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E</a:t>
                </a:r>
                <a:endParaRPr lang="zh-TW" altLang="en-US" sz="1200" dirty="0"/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962678" y="3000372"/>
                <a:ext cx="252000" cy="2520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D</a:t>
                </a:r>
                <a:endParaRPr lang="zh-TW" altLang="en-US" sz="1200" dirty="0"/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3391306" y="3000372"/>
                <a:ext cx="252000" cy="2520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C</a:t>
                </a:r>
                <a:endParaRPr lang="zh-TW" altLang="en-US" sz="1200" dirty="0"/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3819934" y="3000372"/>
                <a:ext cx="252000" cy="2520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B</a:t>
                </a:r>
                <a:endParaRPr lang="zh-TW" altLang="en-US" sz="1200" dirty="0"/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4248562" y="3000372"/>
                <a:ext cx="252000" cy="2520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A</a:t>
                </a:r>
                <a:endParaRPr lang="zh-TW" altLang="en-US" sz="1200" dirty="0"/>
              </a:p>
            </p:txBody>
          </p:sp>
          <p:sp>
            <p:nvSpPr>
              <p:cNvPr id="38" name="向下箭號 37"/>
              <p:cNvSpPr/>
              <p:nvPr/>
            </p:nvSpPr>
            <p:spPr>
              <a:xfrm>
                <a:off x="5072066" y="3500438"/>
                <a:ext cx="785818" cy="285752"/>
              </a:xfrm>
              <a:prstGeom prst="downArrow">
                <a:avLst>
                  <a:gd name="adj1" fmla="val 50000"/>
                  <a:gd name="adj2" fmla="val 59142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" name="橢圓 38"/>
              <p:cNvSpPr/>
              <p:nvPr/>
            </p:nvSpPr>
            <p:spPr>
              <a:xfrm>
                <a:off x="5320132" y="3819942"/>
                <a:ext cx="252000" cy="252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E</a:t>
                </a:r>
                <a:endParaRPr lang="zh-TW" altLang="en-US" sz="1200" dirty="0"/>
              </a:p>
            </p:txBody>
          </p:sp>
          <p:sp>
            <p:nvSpPr>
              <p:cNvPr id="40" name="橢圓 39"/>
              <p:cNvSpPr/>
              <p:nvPr/>
            </p:nvSpPr>
            <p:spPr>
              <a:xfrm>
                <a:off x="5320132" y="4143380"/>
                <a:ext cx="252000" cy="252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D</a:t>
                </a:r>
                <a:endParaRPr lang="zh-TW" altLang="en-US" sz="1200" dirty="0"/>
              </a:p>
            </p:txBody>
          </p:sp>
          <p:sp>
            <p:nvSpPr>
              <p:cNvPr id="41" name="橢圓 40"/>
              <p:cNvSpPr/>
              <p:nvPr/>
            </p:nvSpPr>
            <p:spPr>
              <a:xfrm>
                <a:off x="5320132" y="4462884"/>
                <a:ext cx="252000" cy="252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C</a:t>
                </a:r>
                <a:endParaRPr lang="zh-TW" altLang="en-US" sz="1200" dirty="0"/>
              </a:p>
            </p:txBody>
          </p:sp>
          <p:sp>
            <p:nvSpPr>
              <p:cNvPr id="42" name="橢圓 41"/>
              <p:cNvSpPr/>
              <p:nvPr/>
            </p:nvSpPr>
            <p:spPr>
              <a:xfrm>
                <a:off x="5320132" y="4786322"/>
                <a:ext cx="252000" cy="252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B</a:t>
                </a:r>
                <a:endParaRPr lang="zh-TW" altLang="en-US" sz="1200" dirty="0"/>
              </a:p>
            </p:txBody>
          </p:sp>
          <p:sp>
            <p:nvSpPr>
              <p:cNvPr id="43" name="橢圓 42"/>
              <p:cNvSpPr/>
              <p:nvPr/>
            </p:nvSpPr>
            <p:spPr>
              <a:xfrm>
                <a:off x="5320132" y="5105826"/>
                <a:ext cx="252000" cy="252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A</a:t>
                </a:r>
                <a:endParaRPr lang="zh-TW" altLang="en-US" sz="1200" dirty="0"/>
              </a:p>
            </p:txBody>
          </p:sp>
          <p:sp>
            <p:nvSpPr>
              <p:cNvPr id="44" name="矩形 43"/>
              <p:cNvSpPr/>
              <p:nvPr/>
            </p:nvSpPr>
            <p:spPr>
              <a:xfrm>
                <a:off x="5000628" y="2571744"/>
                <a:ext cx="1000132" cy="8572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Trace-driven simulator</a:t>
                </a:r>
                <a:endParaRPr lang="zh-TW" altLang="en-US" sz="1600" dirty="0"/>
              </a:p>
            </p:txBody>
          </p:sp>
          <p:sp>
            <p:nvSpPr>
              <p:cNvPr id="45" name="手繪多邊形 44"/>
              <p:cNvSpPr/>
              <p:nvPr/>
            </p:nvSpPr>
            <p:spPr>
              <a:xfrm flipH="1">
                <a:off x="2639240" y="2898772"/>
                <a:ext cx="504000" cy="101600"/>
              </a:xfrm>
              <a:custGeom>
                <a:avLst/>
                <a:gdLst>
                  <a:gd name="connsiteX0" fmla="*/ 0 w 571500"/>
                  <a:gd name="connsiteY0" fmla="*/ 101600 h 101600"/>
                  <a:gd name="connsiteX1" fmla="*/ 289560 w 571500"/>
                  <a:gd name="connsiteY1" fmla="*/ 2540 h 101600"/>
                  <a:gd name="connsiteX2" fmla="*/ 571500 w 571500"/>
                  <a:gd name="connsiteY2" fmla="*/ 86360 h 10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1500" h="101600">
                    <a:moveTo>
                      <a:pt x="0" y="101600"/>
                    </a:moveTo>
                    <a:cubicBezTo>
                      <a:pt x="97155" y="53340"/>
                      <a:pt x="194310" y="5080"/>
                      <a:pt x="289560" y="2540"/>
                    </a:cubicBezTo>
                    <a:cubicBezTo>
                      <a:pt x="384810" y="0"/>
                      <a:pt x="527050" y="76200"/>
                      <a:pt x="571500" y="86360"/>
                    </a:cubicBezTo>
                  </a:path>
                </a:pathLst>
              </a:custGeom>
              <a:ln w="25400">
                <a:solidFill>
                  <a:schemeClr val="tx1"/>
                </a:solidFill>
                <a:prstDash val="sysDot"/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6" name="手繪多邊形 45"/>
              <p:cNvSpPr/>
              <p:nvPr/>
            </p:nvSpPr>
            <p:spPr>
              <a:xfrm flipH="1">
                <a:off x="3500430" y="2857496"/>
                <a:ext cx="864000" cy="144000"/>
              </a:xfrm>
              <a:custGeom>
                <a:avLst/>
                <a:gdLst>
                  <a:gd name="connsiteX0" fmla="*/ 0 w 571500"/>
                  <a:gd name="connsiteY0" fmla="*/ 101600 h 101600"/>
                  <a:gd name="connsiteX1" fmla="*/ 289560 w 571500"/>
                  <a:gd name="connsiteY1" fmla="*/ 2540 h 101600"/>
                  <a:gd name="connsiteX2" fmla="*/ 571500 w 571500"/>
                  <a:gd name="connsiteY2" fmla="*/ 86360 h 10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1500" h="101600">
                    <a:moveTo>
                      <a:pt x="0" y="101600"/>
                    </a:moveTo>
                    <a:cubicBezTo>
                      <a:pt x="97155" y="53340"/>
                      <a:pt x="194310" y="5080"/>
                      <a:pt x="289560" y="2540"/>
                    </a:cubicBezTo>
                    <a:cubicBezTo>
                      <a:pt x="384810" y="0"/>
                      <a:pt x="527050" y="76200"/>
                      <a:pt x="571500" y="86360"/>
                    </a:cubicBezTo>
                  </a:path>
                </a:pathLst>
              </a:custGeom>
              <a:ln w="25400">
                <a:solidFill>
                  <a:schemeClr val="tx1"/>
                </a:solidFill>
                <a:prstDash val="sysDot"/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7" name="手繪多邊形 46"/>
              <p:cNvSpPr/>
              <p:nvPr/>
            </p:nvSpPr>
            <p:spPr>
              <a:xfrm flipH="1">
                <a:off x="3065058" y="2857496"/>
                <a:ext cx="864000" cy="144000"/>
              </a:xfrm>
              <a:custGeom>
                <a:avLst/>
                <a:gdLst>
                  <a:gd name="connsiteX0" fmla="*/ 0 w 571500"/>
                  <a:gd name="connsiteY0" fmla="*/ 101600 h 101600"/>
                  <a:gd name="connsiteX1" fmla="*/ 289560 w 571500"/>
                  <a:gd name="connsiteY1" fmla="*/ 2540 h 101600"/>
                  <a:gd name="connsiteX2" fmla="*/ 571500 w 571500"/>
                  <a:gd name="connsiteY2" fmla="*/ 86360 h 10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1500" h="101600">
                    <a:moveTo>
                      <a:pt x="0" y="101600"/>
                    </a:moveTo>
                    <a:cubicBezTo>
                      <a:pt x="97155" y="53340"/>
                      <a:pt x="194310" y="5080"/>
                      <a:pt x="289560" y="2540"/>
                    </a:cubicBezTo>
                    <a:cubicBezTo>
                      <a:pt x="384810" y="0"/>
                      <a:pt x="527050" y="76200"/>
                      <a:pt x="571500" y="86360"/>
                    </a:cubicBezTo>
                  </a:path>
                </a:pathLst>
              </a:custGeom>
              <a:ln w="25400">
                <a:solidFill>
                  <a:schemeClr val="tx1"/>
                </a:solidFill>
                <a:prstDash val="sysDot"/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7" name="圓角矩形 26"/>
            <p:cNvSpPr>
              <a:spLocks noChangeAspect="1"/>
            </p:cNvSpPr>
            <p:nvPr/>
          </p:nvSpPr>
          <p:spPr>
            <a:xfrm>
              <a:off x="2143108" y="4349263"/>
              <a:ext cx="1296000" cy="129600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Timing</a:t>
              </a:r>
            </a:p>
            <a:p>
              <a:pPr algn="ctr"/>
              <a:r>
                <a:rPr lang="en-US" altLang="zh-TW" sz="1600" dirty="0" smtClean="0"/>
                <a:t>reference</a:t>
              </a:r>
            </a:p>
          </p:txBody>
        </p:sp>
        <p:grpSp>
          <p:nvGrpSpPr>
            <p:cNvPr id="28" name="群組 30"/>
            <p:cNvGrpSpPr/>
            <p:nvPr/>
          </p:nvGrpSpPr>
          <p:grpSpPr>
            <a:xfrm>
              <a:off x="4000496" y="4429132"/>
              <a:ext cx="1209600" cy="1209600"/>
              <a:chOff x="4076780" y="4429132"/>
              <a:chExt cx="1209600" cy="1209600"/>
            </a:xfrm>
          </p:grpSpPr>
          <p:sp>
            <p:nvSpPr>
              <p:cNvPr id="29" name="菱形 28"/>
              <p:cNvSpPr>
                <a:spLocks noChangeAspect="1"/>
              </p:cNvSpPr>
              <p:nvPr/>
            </p:nvSpPr>
            <p:spPr>
              <a:xfrm>
                <a:off x="4076780" y="4429132"/>
                <a:ext cx="1209600" cy="1209600"/>
              </a:xfrm>
              <a:prstGeom prst="diamond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200" dirty="0"/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4266000" y="4711495"/>
                <a:ext cx="94894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1600" dirty="0" smtClean="0">
                    <a:latin typeface="+mn-lt"/>
                  </a:rPr>
                  <a:t>Timing </a:t>
                </a:r>
              </a:p>
              <a:p>
                <a:r>
                  <a:rPr lang="en-US" altLang="zh-TW" sz="1600" dirty="0" smtClean="0">
                    <a:latin typeface="+mn-lt"/>
                  </a:rPr>
                  <a:t>corrector</a:t>
                </a:r>
                <a:endParaRPr lang="en-US" altLang="zh-TW" sz="1600" dirty="0">
                  <a:latin typeface="+mn-lt"/>
                </a:endParaRPr>
              </a:p>
            </p:txBody>
          </p:sp>
        </p:grpSp>
      </p:grpSp>
      <p:cxnSp>
        <p:nvCxnSpPr>
          <p:cNvPr id="48" name="直線單箭頭接點 47"/>
          <p:cNvCxnSpPr/>
          <p:nvPr/>
        </p:nvCxnSpPr>
        <p:spPr>
          <a:xfrm>
            <a:off x="3424496" y="5040000"/>
            <a:ext cx="576000" cy="158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>
            <a:off x="5211570" y="5040000"/>
            <a:ext cx="396000" cy="1588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3286115" y="2357430"/>
            <a:ext cx="153695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b="1" dirty="0" smtClean="0">
                <a:ea typeface="標楷體" pitchFamily="65" charset="-120"/>
                <a:cs typeface="Calibri" pitchFamily="34" charset="0"/>
              </a:rPr>
              <a:t>Round 1</a:t>
            </a:r>
            <a:endParaRPr lang="zh-TW" altLang="en-US" b="1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38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685186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內容版面配置區 3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trace-driven </a:t>
            </a:r>
            <a:r>
              <a:rPr lang="en-US" altLang="zh-TW" dirty="0" err="1" smtClean="0"/>
              <a:t>NoC</a:t>
            </a:r>
            <a:r>
              <a:rPr lang="en-US" altLang="zh-TW" dirty="0" smtClean="0"/>
              <a:t> simulation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Basic Ideas</a:t>
            </a:r>
            <a:endParaRPr lang="zh-TW" altLang="en-US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39</a:t>
            </a:fld>
            <a:endParaRPr lang="zh-TW" altLang="zh-TW"/>
          </a:p>
        </p:txBody>
      </p:sp>
      <p:sp>
        <p:nvSpPr>
          <p:cNvPr id="32" name="矩形 31"/>
          <p:cNvSpPr/>
          <p:nvPr/>
        </p:nvSpPr>
        <p:spPr bwMode="auto">
          <a:xfrm>
            <a:off x="5292080" y="2420888"/>
            <a:ext cx="1727994" cy="2747923"/>
          </a:xfrm>
          <a:prstGeom prst="rect">
            <a:avLst/>
          </a:prstGeom>
          <a:solidFill>
            <a:srgbClr val="99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dirty="0">
              <a:latin typeface="+mn-lt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827584" y="2294870"/>
            <a:ext cx="231973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 smtClean="0">
                <a:latin typeface="+mn-lt"/>
              </a:rPr>
              <a:t>LD	r1, 0xcfa8</a:t>
            </a:r>
          </a:p>
          <a:p>
            <a:pPr>
              <a:lnSpc>
                <a:spcPct val="150000"/>
              </a:lnSpc>
            </a:pPr>
            <a:r>
              <a:rPr lang="en-US" altLang="zh-TW" dirty="0" smtClean="0">
                <a:latin typeface="+mn-lt"/>
              </a:rPr>
              <a:t>...</a:t>
            </a:r>
          </a:p>
          <a:p>
            <a:pPr>
              <a:lnSpc>
                <a:spcPct val="150000"/>
              </a:lnSpc>
            </a:pPr>
            <a:r>
              <a:rPr lang="en-US" altLang="zh-TW" dirty="0" smtClean="0">
                <a:latin typeface="+mn-lt"/>
              </a:rPr>
              <a:t>ADD	r0, r1, #2</a:t>
            </a:r>
          </a:p>
          <a:p>
            <a:pPr>
              <a:lnSpc>
                <a:spcPct val="150000"/>
              </a:lnSpc>
            </a:pPr>
            <a:r>
              <a:rPr lang="en-US" altLang="zh-TW" dirty="0" smtClean="0">
                <a:latin typeface="+mn-lt"/>
              </a:rPr>
              <a:t>...</a:t>
            </a:r>
          </a:p>
          <a:p>
            <a:pPr>
              <a:lnSpc>
                <a:spcPct val="150000"/>
              </a:lnSpc>
            </a:pPr>
            <a:r>
              <a:rPr lang="en-US" altLang="zh-TW" dirty="0" smtClean="0">
                <a:latin typeface="+mn-lt"/>
              </a:rPr>
              <a:t>ST	r0, 0xcfac</a:t>
            </a:r>
            <a:endParaRPr lang="zh-TW" altLang="en-US" dirty="0">
              <a:latin typeface="+mn-lt"/>
            </a:endParaRPr>
          </a:p>
        </p:txBody>
      </p:sp>
      <p:sp>
        <p:nvSpPr>
          <p:cNvPr id="35" name="圓形箭號 34"/>
          <p:cNvSpPr/>
          <p:nvPr/>
        </p:nvSpPr>
        <p:spPr bwMode="auto">
          <a:xfrm rot="16200000" flipH="1">
            <a:off x="211207" y="2715665"/>
            <a:ext cx="1232755" cy="864096"/>
          </a:xfrm>
          <a:prstGeom prst="circularArrow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ea typeface="標楷體" panose="03000509000000000000" pitchFamily="65" charset="-120"/>
            </a:endParaRPr>
          </a:p>
        </p:txBody>
      </p:sp>
      <p:sp>
        <p:nvSpPr>
          <p:cNvPr id="37" name="圓形箭號 36"/>
          <p:cNvSpPr/>
          <p:nvPr/>
        </p:nvSpPr>
        <p:spPr bwMode="auto">
          <a:xfrm rot="16200000" flipH="1">
            <a:off x="237594" y="3937129"/>
            <a:ext cx="1195077" cy="849002"/>
          </a:xfrm>
          <a:prstGeom prst="circularArrow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ea typeface="標楷體" panose="03000509000000000000" pitchFamily="65" charset="-12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1187624" y="1774557"/>
            <a:ext cx="1245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+mn-lt"/>
              </a:rPr>
              <a:t>Program</a:t>
            </a:r>
            <a:endParaRPr lang="zh-TW" altLang="en-US" dirty="0">
              <a:latin typeface="+mn-lt"/>
            </a:endParaRPr>
          </a:p>
        </p:txBody>
      </p:sp>
      <p:sp>
        <p:nvSpPr>
          <p:cNvPr id="39" name="雲朵形 38"/>
          <p:cNvSpPr/>
          <p:nvPr/>
        </p:nvSpPr>
        <p:spPr bwMode="auto">
          <a:xfrm>
            <a:off x="7164288" y="1790814"/>
            <a:ext cx="1584176" cy="3726418"/>
          </a:xfrm>
          <a:prstGeom prst="cloud">
            <a:avLst/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dirty="0" err="1" smtClean="0">
                <a:latin typeface="+mn-lt"/>
              </a:rPr>
              <a:t>NoC</a:t>
            </a:r>
            <a:endParaRPr lang="zh-TW" altLang="en-US" dirty="0">
              <a:latin typeface="+mn-lt"/>
            </a:endParaRPr>
          </a:p>
        </p:txBody>
      </p:sp>
      <p:cxnSp>
        <p:nvCxnSpPr>
          <p:cNvPr id="40" name="直線單箭頭接點 39"/>
          <p:cNvCxnSpPr>
            <a:stCxn id="49" idx="3"/>
          </p:cNvCxnSpPr>
          <p:nvPr/>
        </p:nvCxnSpPr>
        <p:spPr bwMode="auto">
          <a:xfrm flipV="1">
            <a:off x="4974300" y="2640101"/>
            <a:ext cx="2406012" cy="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直線單箭頭接點 40"/>
          <p:cNvCxnSpPr/>
          <p:nvPr/>
        </p:nvCxnSpPr>
        <p:spPr bwMode="auto">
          <a:xfrm>
            <a:off x="5004048" y="5589240"/>
            <a:ext cx="2385465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文字方塊 41"/>
          <p:cNvSpPr txBox="1"/>
          <p:nvPr/>
        </p:nvSpPr>
        <p:spPr>
          <a:xfrm>
            <a:off x="5443501" y="1589891"/>
            <a:ext cx="1387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smtClean="0">
                <a:latin typeface="+mn-lt"/>
              </a:rPr>
              <a:t>Simulator</a:t>
            </a:r>
          </a:p>
          <a:p>
            <a:pPr algn="ctr"/>
            <a:r>
              <a:rPr lang="en-US" altLang="zh-TW" dirty="0" smtClean="0">
                <a:latin typeface="+mn-lt"/>
              </a:rPr>
              <a:t>Output</a:t>
            </a:r>
            <a:endParaRPr lang="zh-TW" altLang="en-US" dirty="0">
              <a:latin typeface="+mn-lt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5344533" y="3079554"/>
            <a:ext cx="15853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E</a:t>
            </a:r>
            <a:r>
              <a:rPr lang="en-US" dirty="0" smtClean="0">
                <a:latin typeface="+mn-lt"/>
              </a:rPr>
              <a:t>vent A’</a:t>
            </a:r>
            <a:r>
              <a:rPr lang="en-US" altLang="zh-TW" dirty="0" smtClean="0">
                <a:latin typeface="+mn-lt"/>
              </a:rPr>
              <a:t>, T</a:t>
            </a:r>
            <a:r>
              <a:rPr lang="en-US" altLang="zh-TW" baseline="-25000" dirty="0" smtClean="0">
                <a:latin typeface="+mn-lt"/>
              </a:rPr>
              <a:t>A’</a:t>
            </a:r>
            <a:endParaRPr lang="en-US" baseline="-25000" dirty="0">
              <a:latin typeface="+mn-lt"/>
            </a:endParaRPr>
          </a:p>
        </p:txBody>
      </p:sp>
      <p:cxnSp>
        <p:nvCxnSpPr>
          <p:cNvPr id="44" name="直線單箭頭接點 43"/>
          <p:cNvCxnSpPr>
            <a:stCxn id="43" idx="3"/>
          </p:cNvCxnSpPr>
          <p:nvPr/>
        </p:nvCxnSpPr>
        <p:spPr bwMode="auto">
          <a:xfrm flipV="1">
            <a:off x="6929903" y="3310386"/>
            <a:ext cx="681589" cy="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直線單箭頭接點 44"/>
          <p:cNvCxnSpPr>
            <a:stCxn id="43" idx="1"/>
          </p:cNvCxnSpPr>
          <p:nvPr/>
        </p:nvCxnSpPr>
        <p:spPr bwMode="auto">
          <a:xfrm flipH="1" flipV="1">
            <a:off x="4644008" y="2870934"/>
            <a:ext cx="700525" cy="4394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" name="矩形 45"/>
          <p:cNvSpPr/>
          <p:nvPr/>
        </p:nvSpPr>
        <p:spPr bwMode="auto">
          <a:xfrm>
            <a:off x="827584" y="2409269"/>
            <a:ext cx="2319738" cy="274792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dirty="0">
              <a:latin typeface="+mn-lt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3347864" y="1774557"/>
            <a:ext cx="1786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+mn-lt"/>
              </a:rPr>
              <a:t>Trace Record</a:t>
            </a:r>
            <a:endParaRPr lang="zh-TW" altLang="en-US" dirty="0">
              <a:latin typeface="+mn-lt"/>
            </a:endParaRPr>
          </a:p>
        </p:txBody>
      </p:sp>
      <p:grpSp>
        <p:nvGrpSpPr>
          <p:cNvPr id="48" name="群組 47"/>
          <p:cNvGrpSpPr/>
          <p:nvPr/>
        </p:nvGrpSpPr>
        <p:grpSpPr>
          <a:xfrm>
            <a:off x="3404390" y="2409269"/>
            <a:ext cx="1670813" cy="2759542"/>
            <a:chOff x="3404390" y="2625293"/>
            <a:chExt cx="1670813" cy="2759542"/>
          </a:xfrm>
        </p:grpSpPr>
        <p:sp>
          <p:nvSpPr>
            <p:cNvPr id="49" name="文字方塊 48"/>
            <p:cNvSpPr txBox="1"/>
            <p:nvPr/>
          </p:nvSpPr>
          <p:spPr>
            <a:xfrm>
              <a:off x="3454012" y="2625293"/>
              <a:ext cx="15202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n-lt"/>
                </a:rPr>
                <a:t>E</a:t>
              </a:r>
              <a:r>
                <a:rPr lang="en-US" dirty="0" smtClean="0">
                  <a:latin typeface="+mn-lt"/>
                </a:rPr>
                <a:t>vent A</a:t>
              </a:r>
              <a:r>
                <a:rPr lang="en-US" altLang="zh-TW" dirty="0" smtClean="0">
                  <a:latin typeface="+mn-lt"/>
                </a:rPr>
                <a:t>, T</a:t>
              </a:r>
              <a:r>
                <a:rPr lang="en-US" altLang="zh-TW" baseline="-25000" dirty="0" smtClean="0">
                  <a:latin typeface="+mn-lt"/>
                </a:rPr>
                <a:t>A</a:t>
              </a:r>
              <a:endParaRPr lang="en-US" baseline="-25000" dirty="0">
                <a:latin typeface="+mn-lt"/>
              </a:endParaRPr>
            </a:p>
          </p:txBody>
        </p:sp>
        <p:sp>
          <p:nvSpPr>
            <p:cNvPr id="50" name="文字方塊 49"/>
            <p:cNvSpPr txBox="1"/>
            <p:nvPr/>
          </p:nvSpPr>
          <p:spPr>
            <a:xfrm>
              <a:off x="3483824" y="4815150"/>
              <a:ext cx="15202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n-lt"/>
                </a:rPr>
                <a:t>E</a:t>
              </a:r>
              <a:r>
                <a:rPr lang="en-US" dirty="0" smtClean="0">
                  <a:latin typeface="+mn-lt"/>
                </a:rPr>
                <a:t>vent B</a:t>
              </a:r>
              <a:r>
                <a:rPr lang="en-US" altLang="zh-TW" dirty="0" smtClean="0">
                  <a:latin typeface="+mn-lt"/>
                </a:rPr>
                <a:t>, T</a:t>
              </a:r>
              <a:r>
                <a:rPr lang="en-US" altLang="zh-TW" baseline="-25000" dirty="0" smtClean="0">
                  <a:latin typeface="+mn-lt"/>
                </a:rPr>
                <a:t>B</a:t>
              </a:r>
              <a:endParaRPr lang="en-US" baseline="-25000" dirty="0">
                <a:latin typeface="+mn-lt"/>
              </a:endParaRPr>
            </a:p>
          </p:txBody>
        </p:sp>
        <p:sp>
          <p:nvSpPr>
            <p:cNvPr id="51" name="矩形 50"/>
            <p:cNvSpPr/>
            <p:nvPr/>
          </p:nvSpPr>
          <p:spPr bwMode="auto">
            <a:xfrm>
              <a:off x="3404390" y="2636912"/>
              <a:ext cx="1670813" cy="274792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dirty="0">
                <a:latin typeface="+mn-lt"/>
              </a:endParaRPr>
            </a:p>
          </p:txBody>
        </p:sp>
      </p:grpSp>
      <p:cxnSp>
        <p:nvCxnSpPr>
          <p:cNvPr id="52" name="直線單箭頭接點 51"/>
          <p:cNvCxnSpPr/>
          <p:nvPr/>
        </p:nvCxnSpPr>
        <p:spPr bwMode="auto">
          <a:xfrm flipH="1">
            <a:off x="4211960" y="2852936"/>
            <a:ext cx="2196" cy="17280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文字方塊 21"/>
          <p:cNvSpPr txBox="1"/>
          <p:nvPr/>
        </p:nvSpPr>
        <p:spPr>
          <a:xfrm>
            <a:off x="7522748" y="4040046"/>
            <a:ext cx="4278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n-lt"/>
              </a:rPr>
              <a:t>A’</a:t>
            </a:r>
            <a:endParaRPr lang="en-US" baseline="-25000" dirty="0">
              <a:solidFill>
                <a:srgbClr val="FF0000"/>
              </a:solidFill>
              <a:latin typeface="+mn-lt"/>
            </a:endParaRPr>
          </a:p>
        </p:txBody>
      </p:sp>
      <p:cxnSp>
        <p:nvCxnSpPr>
          <p:cNvPr id="26" name="直線單箭頭接點 25"/>
          <p:cNvCxnSpPr/>
          <p:nvPr/>
        </p:nvCxnSpPr>
        <p:spPr bwMode="auto">
          <a:xfrm flipV="1">
            <a:off x="6784153" y="4259695"/>
            <a:ext cx="760270" cy="1118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直線單箭頭接點 18"/>
          <p:cNvCxnSpPr/>
          <p:nvPr/>
        </p:nvCxnSpPr>
        <p:spPr bwMode="auto">
          <a:xfrm>
            <a:off x="6444208" y="3541219"/>
            <a:ext cx="0" cy="72965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" name="直線單箭頭接點 52"/>
          <p:cNvCxnSpPr/>
          <p:nvPr/>
        </p:nvCxnSpPr>
        <p:spPr bwMode="auto">
          <a:xfrm>
            <a:off x="5004048" y="4787573"/>
            <a:ext cx="0" cy="72965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539378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Basic Ideas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Changes in timing reference affect timing of input trace events through dependencies</a:t>
            </a:r>
          </a:p>
          <a:p>
            <a:pPr lvl="1"/>
            <a:r>
              <a:rPr lang="en-US" altLang="zh-TW" dirty="0" smtClean="0"/>
              <a:t>Update timing of input trace events and timing reference</a:t>
            </a:r>
            <a:endParaRPr lang="zh-TW" altLang="en-US" dirty="0"/>
          </a:p>
        </p:txBody>
      </p:sp>
      <p:grpSp>
        <p:nvGrpSpPr>
          <p:cNvPr id="2" name="群組 23"/>
          <p:cNvGrpSpPr/>
          <p:nvPr/>
        </p:nvGrpSpPr>
        <p:grpSpPr>
          <a:xfrm>
            <a:off x="2071663" y="2571736"/>
            <a:ext cx="4714908" cy="3429032"/>
            <a:chOff x="2071663" y="2571736"/>
            <a:chExt cx="4714908" cy="3429032"/>
          </a:xfrm>
        </p:grpSpPr>
        <p:sp>
          <p:nvSpPr>
            <p:cNvPr id="25" name="矩形 24"/>
            <p:cNvSpPr>
              <a:spLocks noChangeAspect="1"/>
            </p:cNvSpPr>
            <p:nvPr/>
          </p:nvSpPr>
          <p:spPr>
            <a:xfrm>
              <a:off x="5617860" y="4056768"/>
              <a:ext cx="1097280" cy="1944000"/>
            </a:xfrm>
            <a:prstGeom prst="rect">
              <a:avLst/>
            </a:prstGeom>
            <a:ln w="38100">
              <a:prstDash val="dash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6" name="群組 29"/>
            <p:cNvGrpSpPr>
              <a:grpSpLocks noChangeAspect="1"/>
            </p:cNvGrpSpPr>
            <p:nvPr/>
          </p:nvGrpSpPr>
          <p:grpSpPr>
            <a:xfrm>
              <a:off x="2071707" y="2571735"/>
              <a:ext cx="4714991" cy="3343299"/>
              <a:chOff x="2071670" y="2571744"/>
              <a:chExt cx="3929090" cy="2786082"/>
            </a:xfrm>
          </p:grpSpPr>
          <p:cxnSp>
            <p:nvCxnSpPr>
              <p:cNvPr id="31" name="直線接點 5"/>
              <p:cNvCxnSpPr>
                <a:stCxn id="38" idx="2"/>
                <a:endCxn id="43" idx="0"/>
              </p:cNvCxnSpPr>
              <p:nvPr/>
            </p:nvCxnSpPr>
            <p:spPr>
              <a:xfrm rot="5400000">
                <a:off x="4795736" y="4436587"/>
                <a:ext cx="1319636" cy="18843"/>
              </a:xfrm>
              <a:prstGeom prst="line">
                <a:avLst/>
              </a:prstGeom>
              <a:ln w="76200" cmpd="sng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直線單箭頭接點 31"/>
              <p:cNvCxnSpPr/>
              <p:nvPr/>
            </p:nvCxnSpPr>
            <p:spPr>
              <a:xfrm>
                <a:off x="2071670" y="3143248"/>
                <a:ext cx="2880000" cy="0"/>
              </a:xfrm>
              <a:prstGeom prst="straightConnector1">
                <a:avLst/>
              </a:prstGeom>
              <a:ln w="76200" cmpd="sng">
                <a:solidFill>
                  <a:schemeClr val="tx1"/>
                </a:solidFill>
                <a:prstDash val="solid"/>
                <a:round/>
                <a:headEnd w="sm" len="sm"/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3" name="矩形 32"/>
              <p:cNvSpPr/>
              <p:nvPr/>
            </p:nvSpPr>
            <p:spPr>
              <a:xfrm>
                <a:off x="2534050" y="3000372"/>
                <a:ext cx="252000" cy="2520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E</a:t>
                </a:r>
                <a:endParaRPr lang="zh-TW" altLang="en-US" sz="1200" dirty="0"/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962678" y="3000372"/>
                <a:ext cx="252000" cy="2520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D</a:t>
                </a:r>
                <a:endParaRPr lang="zh-TW" altLang="en-US" sz="1200" dirty="0"/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3391306" y="3000372"/>
                <a:ext cx="252000" cy="2520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C</a:t>
                </a:r>
                <a:endParaRPr lang="zh-TW" altLang="en-US" sz="1200" dirty="0"/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3819934" y="3000372"/>
                <a:ext cx="252000" cy="2520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B</a:t>
                </a:r>
                <a:endParaRPr lang="zh-TW" altLang="en-US" sz="1200" dirty="0"/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4248562" y="3000372"/>
                <a:ext cx="252000" cy="2520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A</a:t>
                </a:r>
                <a:endParaRPr lang="zh-TW" altLang="en-US" sz="1200" dirty="0"/>
              </a:p>
            </p:txBody>
          </p:sp>
          <p:sp>
            <p:nvSpPr>
              <p:cNvPr id="38" name="向下箭號 37"/>
              <p:cNvSpPr/>
              <p:nvPr/>
            </p:nvSpPr>
            <p:spPr>
              <a:xfrm>
                <a:off x="5072066" y="3500438"/>
                <a:ext cx="785818" cy="285752"/>
              </a:xfrm>
              <a:prstGeom prst="downArrow">
                <a:avLst>
                  <a:gd name="adj1" fmla="val 50000"/>
                  <a:gd name="adj2" fmla="val 59142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" name="橢圓 38"/>
              <p:cNvSpPr/>
              <p:nvPr/>
            </p:nvSpPr>
            <p:spPr>
              <a:xfrm>
                <a:off x="5320132" y="3819942"/>
                <a:ext cx="252000" cy="252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E</a:t>
                </a:r>
                <a:endParaRPr lang="zh-TW" altLang="en-US" sz="1200" dirty="0"/>
              </a:p>
            </p:txBody>
          </p:sp>
          <p:sp>
            <p:nvSpPr>
              <p:cNvPr id="40" name="橢圓 39"/>
              <p:cNvSpPr/>
              <p:nvPr/>
            </p:nvSpPr>
            <p:spPr>
              <a:xfrm>
                <a:off x="5320132" y="4143380"/>
                <a:ext cx="252000" cy="252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D</a:t>
                </a:r>
                <a:endParaRPr lang="zh-TW" altLang="en-US" sz="1200" dirty="0"/>
              </a:p>
            </p:txBody>
          </p:sp>
          <p:sp>
            <p:nvSpPr>
              <p:cNvPr id="41" name="橢圓 40"/>
              <p:cNvSpPr/>
              <p:nvPr/>
            </p:nvSpPr>
            <p:spPr>
              <a:xfrm>
                <a:off x="5320132" y="4462884"/>
                <a:ext cx="252000" cy="252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C</a:t>
                </a:r>
                <a:endParaRPr lang="zh-TW" altLang="en-US" sz="1200" dirty="0"/>
              </a:p>
            </p:txBody>
          </p:sp>
          <p:sp>
            <p:nvSpPr>
              <p:cNvPr id="42" name="橢圓 41"/>
              <p:cNvSpPr/>
              <p:nvPr/>
            </p:nvSpPr>
            <p:spPr>
              <a:xfrm>
                <a:off x="5320132" y="4786322"/>
                <a:ext cx="252000" cy="252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B</a:t>
                </a:r>
                <a:endParaRPr lang="zh-TW" altLang="en-US" sz="1200" dirty="0"/>
              </a:p>
            </p:txBody>
          </p:sp>
          <p:sp>
            <p:nvSpPr>
              <p:cNvPr id="43" name="橢圓 42"/>
              <p:cNvSpPr/>
              <p:nvPr/>
            </p:nvSpPr>
            <p:spPr>
              <a:xfrm>
                <a:off x="5320132" y="5105826"/>
                <a:ext cx="252000" cy="252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A</a:t>
                </a:r>
                <a:endParaRPr lang="zh-TW" altLang="en-US" sz="1200" dirty="0"/>
              </a:p>
            </p:txBody>
          </p:sp>
          <p:sp>
            <p:nvSpPr>
              <p:cNvPr id="44" name="矩形 43"/>
              <p:cNvSpPr/>
              <p:nvPr/>
            </p:nvSpPr>
            <p:spPr>
              <a:xfrm>
                <a:off x="5000628" y="2571744"/>
                <a:ext cx="1000132" cy="8572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Trace-driven simulator</a:t>
                </a:r>
                <a:endParaRPr lang="zh-TW" altLang="en-US" sz="1600" dirty="0"/>
              </a:p>
            </p:txBody>
          </p:sp>
          <p:sp>
            <p:nvSpPr>
              <p:cNvPr id="45" name="手繪多邊形 44"/>
              <p:cNvSpPr/>
              <p:nvPr/>
            </p:nvSpPr>
            <p:spPr>
              <a:xfrm flipH="1">
                <a:off x="2639240" y="2898772"/>
                <a:ext cx="504000" cy="101600"/>
              </a:xfrm>
              <a:custGeom>
                <a:avLst/>
                <a:gdLst>
                  <a:gd name="connsiteX0" fmla="*/ 0 w 571500"/>
                  <a:gd name="connsiteY0" fmla="*/ 101600 h 101600"/>
                  <a:gd name="connsiteX1" fmla="*/ 289560 w 571500"/>
                  <a:gd name="connsiteY1" fmla="*/ 2540 h 101600"/>
                  <a:gd name="connsiteX2" fmla="*/ 571500 w 571500"/>
                  <a:gd name="connsiteY2" fmla="*/ 86360 h 10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1500" h="101600">
                    <a:moveTo>
                      <a:pt x="0" y="101600"/>
                    </a:moveTo>
                    <a:cubicBezTo>
                      <a:pt x="97155" y="53340"/>
                      <a:pt x="194310" y="5080"/>
                      <a:pt x="289560" y="2540"/>
                    </a:cubicBezTo>
                    <a:cubicBezTo>
                      <a:pt x="384810" y="0"/>
                      <a:pt x="527050" y="76200"/>
                      <a:pt x="571500" y="86360"/>
                    </a:cubicBezTo>
                  </a:path>
                </a:pathLst>
              </a:custGeom>
              <a:ln w="25400">
                <a:solidFill>
                  <a:schemeClr val="tx1"/>
                </a:solidFill>
                <a:prstDash val="sysDot"/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6" name="手繪多邊形 45"/>
              <p:cNvSpPr/>
              <p:nvPr/>
            </p:nvSpPr>
            <p:spPr>
              <a:xfrm flipH="1">
                <a:off x="3500430" y="2857496"/>
                <a:ext cx="864000" cy="144000"/>
              </a:xfrm>
              <a:custGeom>
                <a:avLst/>
                <a:gdLst>
                  <a:gd name="connsiteX0" fmla="*/ 0 w 571500"/>
                  <a:gd name="connsiteY0" fmla="*/ 101600 h 101600"/>
                  <a:gd name="connsiteX1" fmla="*/ 289560 w 571500"/>
                  <a:gd name="connsiteY1" fmla="*/ 2540 h 101600"/>
                  <a:gd name="connsiteX2" fmla="*/ 571500 w 571500"/>
                  <a:gd name="connsiteY2" fmla="*/ 86360 h 10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1500" h="101600">
                    <a:moveTo>
                      <a:pt x="0" y="101600"/>
                    </a:moveTo>
                    <a:cubicBezTo>
                      <a:pt x="97155" y="53340"/>
                      <a:pt x="194310" y="5080"/>
                      <a:pt x="289560" y="2540"/>
                    </a:cubicBezTo>
                    <a:cubicBezTo>
                      <a:pt x="384810" y="0"/>
                      <a:pt x="527050" y="76200"/>
                      <a:pt x="571500" y="86360"/>
                    </a:cubicBezTo>
                  </a:path>
                </a:pathLst>
              </a:custGeom>
              <a:ln w="25400">
                <a:solidFill>
                  <a:schemeClr val="tx1"/>
                </a:solidFill>
                <a:prstDash val="sysDot"/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7" name="手繪多邊形 46"/>
              <p:cNvSpPr/>
              <p:nvPr/>
            </p:nvSpPr>
            <p:spPr>
              <a:xfrm flipH="1">
                <a:off x="3065058" y="2857496"/>
                <a:ext cx="864000" cy="144000"/>
              </a:xfrm>
              <a:custGeom>
                <a:avLst/>
                <a:gdLst>
                  <a:gd name="connsiteX0" fmla="*/ 0 w 571500"/>
                  <a:gd name="connsiteY0" fmla="*/ 101600 h 101600"/>
                  <a:gd name="connsiteX1" fmla="*/ 289560 w 571500"/>
                  <a:gd name="connsiteY1" fmla="*/ 2540 h 101600"/>
                  <a:gd name="connsiteX2" fmla="*/ 571500 w 571500"/>
                  <a:gd name="connsiteY2" fmla="*/ 86360 h 10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1500" h="101600">
                    <a:moveTo>
                      <a:pt x="0" y="101600"/>
                    </a:moveTo>
                    <a:cubicBezTo>
                      <a:pt x="97155" y="53340"/>
                      <a:pt x="194310" y="5080"/>
                      <a:pt x="289560" y="2540"/>
                    </a:cubicBezTo>
                    <a:cubicBezTo>
                      <a:pt x="384810" y="0"/>
                      <a:pt x="527050" y="76200"/>
                      <a:pt x="571500" y="86360"/>
                    </a:cubicBezTo>
                  </a:path>
                </a:pathLst>
              </a:custGeom>
              <a:ln w="25400">
                <a:solidFill>
                  <a:schemeClr val="tx1"/>
                </a:solidFill>
                <a:prstDash val="sysDot"/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7" name="圓角矩形 26"/>
            <p:cNvSpPr>
              <a:spLocks noChangeAspect="1"/>
            </p:cNvSpPr>
            <p:nvPr/>
          </p:nvSpPr>
          <p:spPr>
            <a:xfrm>
              <a:off x="2143108" y="4349263"/>
              <a:ext cx="1296000" cy="129600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Timing</a:t>
              </a:r>
            </a:p>
            <a:p>
              <a:pPr algn="ctr"/>
              <a:r>
                <a:rPr lang="en-US" altLang="zh-TW" sz="1600" dirty="0" smtClean="0"/>
                <a:t>reference</a:t>
              </a:r>
            </a:p>
          </p:txBody>
        </p:sp>
        <p:grpSp>
          <p:nvGrpSpPr>
            <p:cNvPr id="7" name="群組 30"/>
            <p:cNvGrpSpPr/>
            <p:nvPr/>
          </p:nvGrpSpPr>
          <p:grpSpPr>
            <a:xfrm>
              <a:off x="4000496" y="4429132"/>
              <a:ext cx="1209600" cy="1209600"/>
              <a:chOff x="4076780" y="4429132"/>
              <a:chExt cx="1209600" cy="1209600"/>
            </a:xfrm>
          </p:grpSpPr>
          <p:sp>
            <p:nvSpPr>
              <p:cNvPr id="29" name="菱形 28"/>
              <p:cNvSpPr>
                <a:spLocks noChangeAspect="1"/>
              </p:cNvSpPr>
              <p:nvPr/>
            </p:nvSpPr>
            <p:spPr>
              <a:xfrm>
                <a:off x="4076780" y="4429132"/>
                <a:ext cx="1209600" cy="1209600"/>
              </a:xfrm>
              <a:prstGeom prst="diamond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200" dirty="0"/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4266000" y="4711495"/>
                <a:ext cx="94894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1600" dirty="0" smtClean="0">
                    <a:latin typeface="+mn-lt"/>
                  </a:rPr>
                  <a:t>Timing </a:t>
                </a:r>
              </a:p>
              <a:p>
                <a:r>
                  <a:rPr lang="en-US" altLang="zh-TW" sz="1600" dirty="0" smtClean="0">
                    <a:latin typeface="+mn-lt"/>
                  </a:rPr>
                  <a:t>corrector</a:t>
                </a:r>
                <a:endParaRPr lang="en-US" altLang="zh-TW" sz="1600" dirty="0">
                  <a:latin typeface="+mn-lt"/>
                </a:endParaRPr>
              </a:p>
            </p:txBody>
          </p:sp>
        </p:grpSp>
      </p:grpSp>
      <p:cxnSp>
        <p:nvCxnSpPr>
          <p:cNvPr id="48" name="直線單箭頭接點 47"/>
          <p:cNvCxnSpPr/>
          <p:nvPr/>
        </p:nvCxnSpPr>
        <p:spPr>
          <a:xfrm>
            <a:off x="3424496" y="5040000"/>
            <a:ext cx="576000" cy="1588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>
            <a:off x="5211570" y="5040000"/>
            <a:ext cx="396000" cy="1588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>
            <a:stCxn id="29" idx="0"/>
          </p:cNvCxnSpPr>
          <p:nvPr/>
        </p:nvCxnSpPr>
        <p:spPr bwMode="auto">
          <a:xfrm rot="16200000" flipV="1">
            <a:off x="4338615" y="4162451"/>
            <a:ext cx="500066" cy="33296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8" name="手繪多邊形 57"/>
          <p:cNvSpPr/>
          <p:nvPr/>
        </p:nvSpPr>
        <p:spPr bwMode="auto">
          <a:xfrm>
            <a:off x="4552950" y="3390900"/>
            <a:ext cx="295275" cy="585787"/>
          </a:xfrm>
          <a:custGeom>
            <a:avLst/>
            <a:gdLst>
              <a:gd name="connsiteX0" fmla="*/ 0 w 295275"/>
              <a:gd name="connsiteY0" fmla="*/ 542925 h 585787"/>
              <a:gd name="connsiteX1" fmla="*/ 209550 w 295275"/>
              <a:gd name="connsiteY1" fmla="*/ 495300 h 585787"/>
              <a:gd name="connsiteX2" fmla="*/ 295275 w 295275"/>
              <a:gd name="connsiteY2" fmla="*/ 0 h 585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5275" h="585787">
                <a:moveTo>
                  <a:pt x="0" y="542925"/>
                </a:moveTo>
                <a:cubicBezTo>
                  <a:pt x="80169" y="564356"/>
                  <a:pt x="160338" y="585787"/>
                  <a:pt x="209550" y="495300"/>
                </a:cubicBezTo>
                <a:cubicBezTo>
                  <a:pt x="258762" y="404813"/>
                  <a:pt x="277018" y="202406"/>
                  <a:pt x="295275" y="0"/>
                </a:cubicBezTo>
              </a:path>
            </a:pathLst>
          </a:custGeom>
          <a:ln w="381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59" name="手繪多邊形 58"/>
          <p:cNvSpPr/>
          <p:nvPr/>
        </p:nvSpPr>
        <p:spPr bwMode="auto">
          <a:xfrm>
            <a:off x="4343400" y="3400425"/>
            <a:ext cx="219075" cy="533400"/>
          </a:xfrm>
          <a:custGeom>
            <a:avLst/>
            <a:gdLst>
              <a:gd name="connsiteX0" fmla="*/ 219075 w 219075"/>
              <a:gd name="connsiteY0" fmla="*/ 533400 h 533400"/>
              <a:gd name="connsiteX1" fmla="*/ 0 w 219075"/>
              <a:gd name="connsiteY1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9075" h="533400">
                <a:moveTo>
                  <a:pt x="219075" y="533400"/>
                </a:moveTo>
                <a:cubicBezTo>
                  <a:pt x="114300" y="272256"/>
                  <a:pt x="9525" y="11113"/>
                  <a:pt x="0" y="0"/>
                </a:cubicBezTo>
              </a:path>
            </a:pathLst>
          </a:custGeom>
          <a:ln w="381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60" name="手繪多邊形 59"/>
          <p:cNvSpPr/>
          <p:nvPr/>
        </p:nvSpPr>
        <p:spPr bwMode="auto">
          <a:xfrm>
            <a:off x="3776663" y="3390900"/>
            <a:ext cx="785812" cy="552450"/>
          </a:xfrm>
          <a:custGeom>
            <a:avLst/>
            <a:gdLst>
              <a:gd name="connsiteX0" fmla="*/ 785812 w 785812"/>
              <a:gd name="connsiteY0" fmla="*/ 552450 h 552450"/>
              <a:gd name="connsiteX1" fmla="*/ 128587 w 785812"/>
              <a:gd name="connsiteY1" fmla="*/ 457200 h 552450"/>
              <a:gd name="connsiteX2" fmla="*/ 14287 w 785812"/>
              <a:gd name="connsiteY2" fmla="*/ 0 h 55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5812" h="552450">
                <a:moveTo>
                  <a:pt x="785812" y="552450"/>
                </a:moveTo>
                <a:cubicBezTo>
                  <a:pt x="521493" y="550862"/>
                  <a:pt x="257174" y="549275"/>
                  <a:pt x="128587" y="457200"/>
                </a:cubicBezTo>
                <a:cubicBezTo>
                  <a:pt x="0" y="365125"/>
                  <a:pt x="7143" y="182562"/>
                  <a:pt x="14287" y="0"/>
                </a:cubicBezTo>
              </a:path>
            </a:pathLst>
          </a:custGeom>
          <a:ln w="381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61" name="手繪多邊形 60"/>
          <p:cNvSpPr/>
          <p:nvPr/>
        </p:nvSpPr>
        <p:spPr bwMode="auto">
          <a:xfrm>
            <a:off x="3263900" y="3400425"/>
            <a:ext cx="1298575" cy="576262"/>
          </a:xfrm>
          <a:custGeom>
            <a:avLst/>
            <a:gdLst>
              <a:gd name="connsiteX0" fmla="*/ 1298575 w 1298575"/>
              <a:gd name="connsiteY0" fmla="*/ 542925 h 576262"/>
              <a:gd name="connsiteX1" fmla="*/ 212725 w 1298575"/>
              <a:gd name="connsiteY1" fmla="*/ 485775 h 576262"/>
              <a:gd name="connsiteX2" fmla="*/ 22225 w 1298575"/>
              <a:gd name="connsiteY2" fmla="*/ 0 h 576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8575" h="576262">
                <a:moveTo>
                  <a:pt x="1298575" y="542925"/>
                </a:moveTo>
                <a:cubicBezTo>
                  <a:pt x="862012" y="559593"/>
                  <a:pt x="425450" y="576262"/>
                  <a:pt x="212725" y="485775"/>
                </a:cubicBezTo>
                <a:cubicBezTo>
                  <a:pt x="0" y="395288"/>
                  <a:pt x="11112" y="197644"/>
                  <a:pt x="22225" y="0"/>
                </a:cubicBezTo>
              </a:path>
            </a:pathLst>
          </a:custGeom>
          <a:ln w="381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62" name="手繪多邊形 61"/>
          <p:cNvSpPr/>
          <p:nvPr/>
        </p:nvSpPr>
        <p:spPr bwMode="auto">
          <a:xfrm>
            <a:off x="2722563" y="3400425"/>
            <a:ext cx="1839912" cy="642937"/>
          </a:xfrm>
          <a:custGeom>
            <a:avLst/>
            <a:gdLst>
              <a:gd name="connsiteX0" fmla="*/ 1839912 w 1839912"/>
              <a:gd name="connsiteY0" fmla="*/ 542925 h 642937"/>
              <a:gd name="connsiteX1" fmla="*/ 296862 w 1839912"/>
              <a:gd name="connsiteY1" fmla="*/ 552450 h 642937"/>
              <a:gd name="connsiteX2" fmla="*/ 58737 w 1839912"/>
              <a:gd name="connsiteY2" fmla="*/ 0 h 642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39912" h="642937">
                <a:moveTo>
                  <a:pt x="1839912" y="542925"/>
                </a:moveTo>
                <a:cubicBezTo>
                  <a:pt x="1216818" y="592931"/>
                  <a:pt x="593724" y="642937"/>
                  <a:pt x="296862" y="552450"/>
                </a:cubicBezTo>
                <a:cubicBezTo>
                  <a:pt x="0" y="461963"/>
                  <a:pt x="29368" y="230981"/>
                  <a:pt x="58737" y="0"/>
                </a:cubicBezTo>
              </a:path>
            </a:pathLst>
          </a:custGeom>
          <a:ln w="381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3286115" y="2357430"/>
            <a:ext cx="153695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b="1" dirty="0" smtClean="0">
                <a:ea typeface="標楷體" pitchFamily="65" charset="-120"/>
                <a:cs typeface="Calibri" pitchFamily="34" charset="0"/>
              </a:rPr>
              <a:t>Round 1</a:t>
            </a:r>
            <a:endParaRPr lang="zh-TW" altLang="en-US" b="1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40</a:t>
            </a:fld>
            <a:endParaRPr lang="zh-TW" altLang="zh-TW"/>
          </a:p>
        </p:txBody>
      </p:sp>
      <p:sp>
        <p:nvSpPr>
          <p:cNvPr id="12" name="雲朵形圖說文字 11"/>
          <p:cNvSpPr/>
          <p:nvPr/>
        </p:nvSpPr>
        <p:spPr bwMode="auto">
          <a:xfrm>
            <a:off x="244471" y="3400425"/>
            <a:ext cx="1938473" cy="1252711"/>
          </a:xfrm>
          <a:prstGeom prst="cloudCallout">
            <a:avLst>
              <a:gd name="adj1" fmla="val 57391"/>
              <a:gd name="adj2" fmla="val 63358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sz="1800" dirty="0" smtClean="0">
                <a:latin typeface="+mn-lt"/>
              </a:rPr>
              <a:t>Closer to that of target machine</a:t>
            </a:r>
            <a:endParaRPr lang="zh-TW" alt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52616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Basic ideas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same procedure is repeated until output event timing converges</a:t>
            </a:r>
            <a:endParaRPr lang="zh-TW" altLang="en-US" dirty="0"/>
          </a:p>
        </p:txBody>
      </p:sp>
      <p:grpSp>
        <p:nvGrpSpPr>
          <p:cNvPr id="2" name="群組 23"/>
          <p:cNvGrpSpPr/>
          <p:nvPr/>
        </p:nvGrpSpPr>
        <p:grpSpPr>
          <a:xfrm>
            <a:off x="2071663" y="2571736"/>
            <a:ext cx="4714908" cy="3429032"/>
            <a:chOff x="2071663" y="2571736"/>
            <a:chExt cx="4714908" cy="3429032"/>
          </a:xfrm>
        </p:grpSpPr>
        <p:sp>
          <p:nvSpPr>
            <p:cNvPr id="25" name="矩形 24"/>
            <p:cNvSpPr>
              <a:spLocks noChangeAspect="1"/>
            </p:cNvSpPr>
            <p:nvPr/>
          </p:nvSpPr>
          <p:spPr>
            <a:xfrm>
              <a:off x="5617860" y="4056768"/>
              <a:ext cx="1097280" cy="1944000"/>
            </a:xfrm>
            <a:prstGeom prst="rect">
              <a:avLst/>
            </a:prstGeom>
            <a:ln w="38100">
              <a:prstDash val="dash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6" name="群組 29"/>
            <p:cNvGrpSpPr>
              <a:grpSpLocks noChangeAspect="1"/>
            </p:cNvGrpSpPr>
            <p:nvPr/>
          </p:nvGrpSpPr>
          <p:grpSpPr>
            <a:xfrm>
              <a:off x="2071707" y="2571735"/>
              <a:ext cx="4714991" cy="3343299"/>
              <a:chOff x="2071670" y="2571744"/>
              <a:chExt cx="3929090" cy="2786082"/>
            </a:xfrm>
          </p:grpSpPr>
          <p:cxnSp>
            <p:nvCxnSpPr>
              <p:cNvPr id="31" name="直線接點 5"/>
              <p:cNvCxnSpPr>
                <a:stCxn id="38" idx="2"/>
                <a:endCxn id="43" idx="0"/>
              </p:cNvCxnSpPr>
              <p:nvPr/>
            </p:nvCxnSpPr>
            <p:spPr>
              <a:xfrm rot="5400000">
                <a:off x="4795736" y="4436587"/>
                <a:ext cx="1319636" cy="18843"/>
              </a:xfrm>
              <a:prstGeom prst="line">
                <a:avLst/>
              </a:prstGeom>
              <a:ln w="76200" cmpd="sng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直線單箭頭接點 31"/>
              <p:cNvCxnSpPr/>
              <p:nvPr/>
            </p:nvCxnSpPr>
            <p:spPr>
              <a:xfrm>
                <a:off x="2071670" y="3143248"/>
                <a:ext cx="2880000" cy="0"/>
              </a:xfrm>
              <a:prstGeom prst="straightConnector1">
                <a:avLst/>
              </a:prstGeom>
              <a:ln w="76200" cmpd="sng">
                <a:solidFill>
                  <a:schemeClr val="tx1"/>
                </a:solidFill>
                <a:prstDash val="solid"/>
                <a:round/>
                <a:headEnd w="sm" len="sm"/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3" name="矩形 32"/>
              <p:cNvSpPr/>
              <p:nvPr/>
            </p:nvSpPr>
            <p:spPr>
              <a:xfrm>
                <a:off x="2250231" y="3000372"/>
                <a:ext cx="252000" cy="2520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E</a:t>
                </a:r>
                <a:endParaRPr lang="zh-TW" altLang="en-US" sz="1200" dirty="0"/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845537" y="3000372"/>
                <a:ext cx="252000" cy="2520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D</a:t>
                </a:r>
                <a:endParaRPr lang="zh-TW" altLang="en-US" sz="1200" dirty="0"/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3262252" y="3000372"/>
                <a:ext cx="252000" cy="2520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C</a:t>
                </a:r>
                <a:endParaRPr lang="zh-TW" altLang="en-US" sz="1200" dirty="0"/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3819934" y="3000372"/>
                <a:ext cx="252000" cy="2520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B</a:t>
                </a:r>
                <a:endParaRPr lang="zh-TW" altLang="en-US" sz="1200" dirty="0"/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4248562" y="3000372"/>
                <a:ext cx="252000" cy="2520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A</a:t>
                </a:r>
                <a:endParaRPr lang="zh-TW" altLang="en-US" sz="1200" dirty="0"/>
              </a:p>
            </p:txBody>
          </p:sp>
          <p:sp>
            <p:nvSpPr>
              <p:cNvPr id="38" name="向下箭號 37"/>
              <p:cNvSpPr/>
              <p:nvPr/>
            </p:nvSpPr>
            <p:spPr>
              <a:xfrm>
                <a:off x="5072066" y="3500438"/>
                <a:ext cx="785818" cy="285752"/>
              </a:xfrm>
              <a:prstGeom prst="downArrow">
                <a:avLst>
                  <a:gd name="adj1" fmla="val 50000"/>
                  <a:gd name="adj2" fmla="val 59142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" name="橢圓 38"/>
              <p:cNvSpPr/>
              <p:nvPr/>
            </p:nvSpPr>
            <p:spPr>
              <a:xfrm>
                <a:off x="5320132" y="3819942"/>
                <a:ext cx="252000" cy="252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E</a:t>
                </a:r>
                <a:endParaRPr lang="zh-TW" altLang="en-US" sz="1200" dirty="0"/>
              </a:p>
            </p:txBody>
          </p:sp>
          <p:sp>
            <p:nvSpPr>
              <p:cNvPr id="40" name="橢圓 39"/>
              <p:cNvSpPr/>
              <p:nvPr/>
            </p:nvSpPr>
            <p:spPr>
              <a:xfrm>
                <a:off x="5320132" y="4143380"/>
                <a:ext cx="252000" cy="252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D</a:t>
                </a:r>
                <a:endParaRPr lang="zh-TW" altLang="en-US" sz="1200" dirty="0"/>
              </a:p>
            </p:txBody>
          </p:sp>
          <p:sp>
            <p:nvSpPr>
              <p:cNvPr id="41" name="橢圓 40"/>
              <p:cNvSpPr/>
              <p:nvPr/>
            </p:nvSpPr>
            <p:spPr>
              <a:xfrm>
                <a:off x="5320132" y="4462884"/>
                <a:ext cx="252000" cy="252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C</a:t>
                </a:r>
                <a:endParaRPr lang="zh-TW" altLang="en-US" sz="1200" dirty="0"/>
              </a:p>
            </p:txBody>
          </p:sp>
          <p:sp>
            <p:nvSpPr>
              <p:cNvPr id="42" name="橢圓 41"/>
              <p:cNvSpPr/>
              <p:nvPr/>
            </p:nvSpPr>
            <p:spPr>
              <a:xfrm>
                <a:off x="5320132" y="4786322"/>
                <a:ext cx="252000" cy="252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B</a:t>
                </a:r>
                <a:endParaRPr lang="zh-TW" altLang="en-US" sz="1200" dirty="0"/>
              </a:p>
            </p:txBody>
          </p:sp>
          <p:sp>
            <p:nvSpPr>
              <p:cNvPr id="43" name="橢圓 42"/>
              <p:cNvSpPr/>
              <p:nvPr/>
            </p:nvSpPr>
            <p:spPr>
              <a:xfrm>
                <a:off x="5320132" y="5105826"/>
                <a:ext cx="252000" cy="2520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A</a:t>
                </a:r>
                <a:endParaRPr lang="zh-TW" altLang="en-US" sz="1200" dirty="0"/>
              </a:p>
            </p:txBody>
          </p:sp>
          <p:sp>
            <p:nvSpPr>
              <p:cNvPr id="44" name="矩形 43"/>
              <p:cNvSpPr/>
              <p:nvPr/>
            </p:nvSpPr>
            <p:spPr>
              <a:xfrm>
                <a:off x="5000628" y="2571744"/>
                <a:ext cx="1000132" cy="8572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 smtClean="0"/>
                  <a:t>Trace-driven simulator</a:t>
                </a:r>
                <a:endParaRPr lang="zh-TW" altLang="en-US" sz="1600" dirty="0"/>
              </a:p>
            </p:txBody>
          </p:sp>
          <p:sp>
            <p:nvSpPr>
              <p:cNvPr id="45" name="手繪多邊形 44"/>
              <p:cNvSpPr/>
              <p:nvPr/>
            </p:nvSpPr>
            <p:spPr>
              <a:xfrm flipH="1">
                <a:off x="2369292" y="2898772"/>
                <a:ext cx="629989" cy="101600"/>
              </a:xfrm>
              <a:custGeom>
                <a:avLst/>
                <a:gdLst>
                  <a:gd name="connsiteX0" fmla="*/ 0 w 571500"/>
                  <a:gd name="connsiteY0" fmla="*/ 101600 h 101600"/>
                  <a:gd name="connsiteX1" fmla="*/ 289560 w 571500"/>
                  <a:gd name="connsiteY1" fmla="*/ 2540 h 101600"/>
                  <a:gd name="connsiteX2" fmla="*/ 571500 w 571500"/>
                  <a:gd name="connsiteY2" fmla="*/ 86360 h 10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1500" h="101600">
                    <a:moveTo>
                      <a:pt x="0" y="101600"/>
                    </a:moveTo>
                    <a:cubicBezTo>
                      <a:pt x="97155" y="53340"/>
                      <a:pt x="194310" y="5080"/>
                      <a:pt x="289560" y="2540"/>
                    </a:cubicBezTo>
                    <a:cubicBezTo>
                      <a:pt x="384810" y="0"/>
                      <a:pt x="527050" y="76200"/>
                      <a:pt x="571500" y="86360"/>
                    </a:cubicBezTo>
                  </a:path>
                </a:pathLst>
              </a:custGeom>
              <a:ln w="25400">
                <a:solidFill>
                  <a:schemeClr val="tx1"/>
                </a:solidFill>
                <a:prstDash val="sysDot"/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6" name="手繪多邊形 45"/>
              <p:cNvSpPr/>
              <p:nvPr/>
            </p:nvSpPr>
            <p:spPr>
              <a:xfrm flipH="1">
                <a:off x="3381313" y="2857496"/>
                <a:ext cx="929984" cy="144000"/>
              </a:xfrm>
              <a:custGeom>
                <a:avLst/>
                <a:gdLst>
                  <a:gd name="connsiteX0" fmla="*/ 0 w 571500"/>
                  <a:gd name="connsiteY0" fmla="*/ 101600 h 101600"/>
                  <a:gd name="connsiteX1" fmla="*/ 289560 w 571500"/>
                  <a:gd name="connsiteY1" fmla="*/ 2540 h 101600"/>
                  <a:gd name="connsiteX2" fmla="*/ 571500 w 571500"/>
                  <a:gd name="connsiteY2" fmla="*/ 86360 h 10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1500" h="101600">
                    <a:moveTo>
                      <a:pt x="0" y="101600"/>
                    </a:moveTo>
                    <a:cubicBezTo>
                      <a:pt x="97155" y="53340"/>
                      <a:pt x="194310" y="5080"/>
                      <a:pt x="289560" y="2540"/>
                    </a:cubicBezTo>
                    <a:cubicBezTo>
                      <a:pt x="384810" y="0"/>
                      <a:pt x="527050" y="76200"/>
                      <a:pt x="571500" y="86360"/>
                    </a:cubicBezTo>
                  </a:path>
                </a:pathLst>
              </a:custGeom>
              <a:ln w="25400">
                <a:solidFill>
                  <a:schemeClr val="tx1"/>
                </a:solidFill>
                <a:prstDash val="sysDot"/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7" name="手繪多邊形 46"/>
              <p:cNvSpPr/>
              <p:nvPr/>
            </p:nvSpPr>
            <p:spPr>
              <a:xfrm flipH="1">
                <a:off x="2964598" y="2857496"/>
                <a:ext cx="989983" cy="144000"/>
              </a:xfrm>
              <a:custGeom>
                <a:avLst/>
                <a:gdLst>
                  <a:gd name="connsiteX0" fmla="*/ 0 w 571500"/>
                  <a:gd name="connsiteY0" fmla="*/ 101600 h 101600"/>
                  <a:gd name="connsiteX1" fmla="*/ 289560 w 571500"/>
                  <a:gd name="connsiteY1" fmla="*/ 2540 h 101600"/>
                  <a:gd name="connsiteX2" fmla="*/ 571500 w 571500"/>
                  <a:gd name="connsiteY2" fmla="*/ 86360 h 10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1500" h="101600">
                    <a:moveTo>
                      <a:pt x="0" y="101600"/>
                    </a:moveTo>
                    <a:cubicBezTo>
                      <a:pt x="97155" y="53340"/>
                      <a:pt x="194310" y="5080"/>
                      <a:pt x="289560" y="2540"/>
                    </a:cubicBezTo>
                    <a:cubicBezTo>
                      <a:pt x="384810" y="0"/>
                      <a:pt x="527050" y="76200"/>
                      <a:pt x="571500" y="86360"/>
                    </a:cubicBezTo>
                  </a:path>
                </a:pathLst>
              </a:custGeom>
              <a:ln w="25400">
                <a:solidFill>
                  <a:schemeClr val="tx1"/>
                </a:solidFill>
                <a:prstDash val="sysDot"/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7" name="圓角矩形 26"/>
            <p:cNvSpPr>
              <a:spLocks noChangeAspect="1"/>
            </p:cNvSpPr>
            <p:nvPr/>
          </p:nvSpPr>
          <p:spPr>
            <a:xfrm>
              <a:off x="2143108" y="4349263"/>
              <a:ext cx="1296000" cy="129600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Timing</a:t>
              </a:r>
            </a:p>
            <a:p>
              <a:pPr algn="ctr"/>
              <a:r>
                <a:rPr lang="en-US" altLang="zh-TW" sz="1600" dirty="0" smtClean="0"/>
                <a:t>reference</a:t>
              </a:r>
            </a:p>
          </p:txBody>
        </p:sp>
        <p:grpSp>
          <p:nvGrpSpPr>
            <p:cNvPr id="7" name="群組 30"/>
            <p:cNvGrpSpPr/>
            <p:nvPr/>
          </p:nvGrpSpPr>
          <p:grpSpPr>
            <a:xfrm>
              <a:off x="4000496" y="4429132"/>
              <a:ext cx="1209600" cy="1209600"/>
              <a:chOff x="4076780" y="4429132"/>
              <a:chExt cx="1209600" cy="1209600"/>
            </a:xfrm>
          </p:grpSpPr>
          <p:sp>
            <p:nvSpPr>
              <p:cNvPr id="29" name="菱形 28"/>
              <p:cNvSpPr>
                <a:spLocks noChangeAspect="1"/>
              </p:cNvSpPr>
              <p:nvPr/>
            </p:nvSpPr>
            <p:spPr>
              <a:xfrm>
                <a:off x="4076780" y="4429132"/>
                <a:ext cx="1209600" cy="1209600"/>
              </a:xfrm>
              <a:prstGeom prst="diamond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200" dirty="0"/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4266000" y="4711495"/>
                <a:ext cx="94894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1600" dirty="0" smtClean="0">
                    <a:latin typeface="+mn-lt"/>
                  </a:rPr>
                  <a:t>Timing </a:t>
                </a:r>
              </a:p>
              <a:p>
                <a:r>
                  <a:rPr lang="en-US" altLang="zh-TW" sz="1600" dirty="0" smtClean="0">
                    <a:latin typeface="+mn-lt"/>
                  </a:rPr>
                  <a:t>corrector</a:t>
                </a:r>
                <a:endParaRPr lang="en-US" altLang="zh-TW" sz="1600" dirty="0">
                  <a:latin typeface="+mn-lt"/>
                </a:endParaRPr>
              </a:p>
            </p:txBody>
          </p:sp>
        </p:grpSp>
      </p:grpSp>
      <p:cxnSp>
        <p:nvCxnSpPr>
          <p:cNvPr id="48" name="直線單箭頭接點 47"/>
          <p:cNvCxnSpPr/>
          <p:nvPr/>
        </p:nvCxnSpPr>
        <p:spPr>
          <a:xfrm>
            <a:off x="3424496" y="5040000"/>
            <a:ext cx="576000" cy="1588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>
            <a:off x="5211570" y="5040000"/>
            <a:ext cx="396000" cy="1588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3286116" y="2357430"/>
            <a:ext cx="1555850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b="1" dirty="0" smtClean="0">
                <a:ea typeface="標楷體" pitchFamily="65" charset="-120"/>
                <a:cs typeface="Calibri" pitchFamily="34" charset="0"/>
              </a:rPr>
              <a:t>Round 2</a:t>
            </a:r>
            <a:endParaRPr lang="zh-TW" altLang="en-US" b="1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50" name="直線接點 49"/>
          <p:cNvCxnSpPr>
            <a:stCxn id="29" idx="0"/>
          </p:cNvCxnSpPr>
          <p:nvPr/>
        </p:nvCxnSpPr>
        <p:spPr bwMode="auto">
          <a:xfrm rot="16200000" flipV="1">
            <a:off x="4374334" y="4198170"/>
            <a:ext cx="357190" cy="104734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4" name="手繪多邊形 53"/>
          <p:cNvSpPr/>
          <p:nvPr/>
        </p:nvSpPr>
        <p:spPr bwMode="auto">
          <a:xfrm>
            <a:off x="4336869" y="3396343"/>
            <a:ext cx="165462" cy="679268"/>
          </a:xfrm>
          <a:custGeom>
            <a:avLst/>
            <a:gdLst>
              <a:gd name="connsiteX0" fmla="*/ 165462 w 165462"/>
              <a:gd name="connsiteY0" fmla="*/ 679268 h 679268"/>
              <a:gd name="connsiteX1" fmla="*/ 0 w 165462"/>
              <a:gd name="connsiteY1" fmla="*/ 0 h 679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5462" h="679268">
                <a:moveTo>
                  <a:pt x="165462" y="679268"/>
                </a:moveTo>
                <a:cubicBezTo>
                  <a:pt x="93616" y="393337"/>
                  <a:pt x="21771" y="107406"/>
                  <a:pt x="0" y="0"/>
                </a:cubicBezTo>
              </a:path>
            </a:pathLst>
          </a:cu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55" name="手繪多邊形 54"/>
          <p:cNvSpPr/>
          <p:nvPr/>
        </p:nvSpPr>
        <p:spPr bwMode="auto">
          <a:xfrm>
            <a:off x="4493623" y="3396343"/>
            <a:ext cx="348343" cy="661851"/>
          </a:xfrm>
          <a:custGeom>
            <a:avLst/>
            <a:gdLst>
              <a:gd name="connsiteX0" fmla="*/ 0 w 348343"/>
              <a:gd name="connsiteY0" fmla="*/ 661851 h 661851"/>
              <a:gd name="connsiteX1" fmla="*/ 278674 w 348343"/>
              <a:gd name="connsiteY1" fmla="*/ 539931 h 661851"/>
              <a:gd name="connsiteX2" fmla="*/ 348343 w 348343"/>
              <a:gd name="connsiteY2" fmla="*/ 0 h 661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8343" h="661851">
                <a:moveTo>
                  <a:pt x="0" y="661851"/>
                </a:moveTo>
                <a:cubicBezTo>
                  <a:pt x="110308" y="656045"/>
                  <a:pt x="220617" y="650239"/>
                  <a:pt x="278674" y="539931"/>
                </a:cubicBezTo>
                <a:cubicBezTo>
                  <a:pt x="336731" y="429623"/>
                  <a:pt x="342537" y="214811"/>
                  <a:pt x="348343" y="0"/>
                </a:cubicBezTo>
              </a:path>
            </a:pathLst>
          </a:cu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57" name="手繪多邊形 56"/>
          <p:cNvSpPr/>
          <p:nvPr/>
        </p:nvSpPr>
        <p:spPr bwMode="auto">
          <a:xfrm>
            <a:off x="3648891" y="3387634"/>
            <a:ext cx="853440" cy="719909"/>
          </a:xfrm>
          <a:custGeom>
            <a:avLst/>
            <a:gdLst>
              <a:gd name="connsiteX0" fmla="*/ 853440 w 853440"/>
              <a:gd name="connsiteY0" fmla="*/ 661852 h 719909"/>
              <a:gd name="connsiteX1" fmla="*/ 304800 w 853440"/>
              <a:gd name="connsiteY1" fmla="*/ 609600 h 719909"/>
              <a:gd name="connsiteX2" fmla="*/ 0 w 853440"/>
              <a:gd name="connsiteY2" fmla="*/ 0 h 719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3440" h="719909">
                <a:moveTo>
                  <a:pt x="853440" y="661852"/>
                </a:moveTo>
                <a:cubicBezTo>
                  <a:pt x="650240" y="690880"/>
                  <a:pt x="447040" y="719909"/>
                  <a:pt x="304800" y="609600"/>
                </a:cubicBezTo>
                <a:cubicBezTo>
                  <a:pt x="162560" y="499291"/>
                  <a:pt x="81280" y="249645"/>
                  <a:pt x="0" y="0"/>
                </a:cubicBezTo>
              </a:path>
            </a:pathLst>
          </a:cu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59" name="手繪多邊形 58"/>
          <p:cNvSpPr/>
          <p:nvPr/>
        </p:nvSpPr>
        <p:spPr bwMode="auto">
          <a:xfrm>
            <a:off x="3156857" y="3387634"/>
            <a:ext cx="1328057" cy="763452"/>
          </a:xfrm>
          <a:custGeom>
            <a:avLst/>
            <a:gdLst>
              <a:gd name="connsiteX0" fmla="*/ 1328057 w 1328057"/>
              <a:gd name="connsiteY0" fmla="*/ 661852 h 763452"/>
              <a:gd name="connsiteX1" fmla="*/ 439783 w 1328057"/>
              <a:gd name="connsiteY1" fmla="*/ 653143 h 763452"/>
              <a:gd name="connsiteX2" fmla="*/ 4354 w 1328057"/>
              <a:gd name="connsiteY2" fmla="*/ 0 h 763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28057" h="763452">
                <a:moveTo>
                  <a:pt x="1328057" y="661852"/>
                </a:moveTo>
                <a:cubicBezTo>
                  <a:pt x="994228" y="712652"/>
                  <a:pt x="660400" y="763452"/>
                  <a:pt x="439783" y="653143"/>
                </a:cubicBezTo>
                <a:cubicBezTo>
                  <a:pt x="219166" y="542834"/>
                  <a:pt x="0" y="69669"/>
                  <a:pt x="4354" y="0"/>
                </a:cubicBezTo>
              </a:path>
            </a:pathLst>
          </a:cu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60" name="手繪多邊形 59"/>
          <p:cNvSpPr/>
          <p:nvPr/>
        </p:nvSpPr>
        <p:spPr bwMode="auto">
          <a:xfrm>
            <a:off x="2429691" y="3387634"/>
            <a:ext cx="2072640" cy="815704"/>
          </a:xfrm>
          <a:custGeom>
            <a:avLst/>
            <a:gdLst>
              <a:gd name="connsiteX0" fmla="*/ 2072640 w 2072640"/>
              <a:gd name="connsiteY0" fmla="*/ 661852 h 815704"/>
              <a:gd name="connsiteX1" fmla="*/ 400595 w 2072640"/>
              <a:gd name="connsiteY1" fmla="*/ 705395 h 815704"/>
              <a:gd name="connsiteX2" fmla="*/ 0 w 2072640"/>
              <a:gd name="connsiteY2" fmla="*/ 0 h 815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72640" h="815704">
                <a:moveTo>
                  <a:pt x="2072640" y="661852"/>
                </a:moveTo>
                <a:cubicBezTo>
                  <a:pt x="1409337" y="738778"/>
                  <a:pt x="746035" y="815704"/>
                  <a:pt x="400595" y="705395"/>
                </a:cubicBezTo>
                <a:cubicBezTo>
                  <a:pt x="55155" y="595086"/>
                  <a:pt x="27577" y="297543"/>
                  <a:pt x="0" y="0"/>
                </a:cubicBezTo>
              </a:path>
            </a:pathLst>
          </a:cu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41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296802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Simulation Flow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smtClean="0"/>
              <a:t>The first round uses timing from trace-generating machine, so result is same as original simulator</a:t>
            </a:r>
          </a:p>
          <a:p>
            <a:r>
              <a:rPr lang="en-US" altLang="zh-TW" dirty="0" smtClean="0"/>
              <a:t>Trace-driven simulator should output simulated events, not just performance statistics and metrics</a:t>
            </a:r>
          </a:p>
          <a:p>
            <a:r>
              <a:rPr lang="en-US" altLang="zh-TW" dirty="0" smtClean="0"/>
              <a:t>Need to determine when the event timing converges so that the iterative process can be stopped</a:t>
            </a:r>
          </a:p>
          <a:p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42</a:t>
            </a:fld>
            <a:endParaRPr lang="zh-TW" altLang="zh-TW"/>
          </a:p>
        </p:txBody>
      </p:sp>
      <p:sp>
        <p:nvSpPr>
          <p:cNvPr id="5" name="圓角矩形 4"/>
          <p:cNvSpPr/>
          <p:nvPr/>
        </p:nvSpPr>
        <p:spPr>
          <a:xfrm>
            <a:off x="214282" y="2333399"/>
            <a:ext cx="867475" cy="468031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Program</a:t>
            </a:r>
            <a:endParaRPr lang="zh-TW" altLang="en-US" sz="1200" dirty="0"/>
          </a:p>
        </p:txBody>
      </p:sp>
      <p:sp>
        <p:nvSpPr>
          <p:cNvPr id="6" name="剪去單一角落矩形 5"/>
          <p:cNvSpPr/>
          <p:nvPr/>
        </p:nvSpPr>
        <p:spPr>
          <a:xfrm>
            <a:off x="2310679" y="2541348"/>
            <a:ext cx="1012054" cy="601755"/>
          </a:xfrm>
          <a:prstGeom prst="snip1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Timing reference</a:t>
            </a:r>
            <a:endParaRPr lang="zh-TW" altLang="en-US" sz="1200" dirty="0"/>
          </a:p>
        </p:txBody>
      </p:sp>
      <p:sp>
        <p:nvSpPr>
          <p:cNvPr id="8" name="雲朵形 7"/>
          <p:cNvSpPr/>
          <p:nvPr/>
        </p:nvSpPr>
        <p:spPr>
          <a:xfrm>
            <a:off x="5202261" y="1196752"/>
            <a:ext cx="1373501" cy="869201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Trace-driven simulator</a:t>
            </a:r>
            <a:endParaRPr lang="zh-TW" altLang="en-US" sz="1200" dirty="0"/>
          </a:p>
        </p:txBody>
      </p:sp>
      <p:sp>
        <p:nvSpPr>
          <p:cNvPr id="9" name="雲朵形 8"/>
          <p:cNvSpPr/>
          <p:nvPr/>
        </p:nvSpPr>
        <p:spPr>
          <a:xfrm>
            <a:off x="792598" y="1196752"/>
            <a:ext cx="1301212" cy="802339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n-US" altLang="zh-TW" sz="1200" dirty="0" smtClean="0">
                <a:solidFill>
                  <a:prstClr val="black"/>
                </a:solidFill>
              </a:rPr>
              <a:t>Full-system simulator</a:t>
            </a:r>
            <a:endParaRPr lang="zh-TW" altLang="en-US" sz="1200" dirty="0">
              <a:solidFill>
                <a:prstClr val="black"/>
              </a:solidFill>
            </a:endParaRPr>
          </a:p>
        </p:txBody>
      </p:sp>
      <p:grpSp>
        <p:nvGrpSpPr>
          <p:cNvPr id="10" name="群組 9"/>
          <p:cNvGrpSpPr/>
          <p:nvPr/>
        </p:nvGrpSpPr>
        <p:grpSpPr>
          <a:xfrm>
            <a:off x="3322730" y="1222037"/>
            <a:ext cx="1106395" cy="876040"/>
            <a:chOff x="4429124" y="928669"/>
            <a:chExt cx="1119823" cy="928695"/>
          </a:xfrm>
        </p:grpSpPr>
        <p:sp>
          <p:nvSpPr>
            <p:cNvPr id="11" name="矩形 10"/>
            <p:cNvSpPr/>
            <p:nvPr/>
          </p:nvSpPr>
          <p:spPr>
            <a:xfrm>
              <a:off x="4429124" y="928669"/>
              <a:ext cx="1000132" cy="785818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Trace event</a:t>
              </a:r>
              <a:endParaRPr lang="zh-TW" altLang="en-US" sz="1200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4500562" y="1000108"/>
              <a:ext cx="1000132" cy="785818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Trace event</a:t>
              </a:r>
              <a:endParaRPr lang="zh-TW" altLang="en-US" sz="1200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4572004" y="1071546"/>
              <a:ext cx="976943" cy="785818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Dependence-aware trace</a:t>
              </a:r>
              <a:endParaRPr lang="zh-TW" altLang="en-US" sz="1200" dirty="0"/>
            </a:p>
          </p:txBody>
        </p:sp>
      </p:grpSp>
      <p:cxnSp>
        <p:nvCxnSpPr>
          <p:cNvPr id="14" name="直線單箭頭接點 13"/>
          <p:cNvCxnSpPr>
            <a:stCxn id="9" idx="0"/>
          </p:cNvCxnSpPr>
          <p:nvPr/>
        </p:nvCxnSpPr>
        <p:spPr>
          <a:xfrm>
            <a:off x="2092726" y="1597922"/>
            <a:ext cx="1230007" cy="148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5" idx="0"/>
          </p:cNvCxnSpPr>
          <p:nvPr/>
        </p:nvCxnSpPr>
        <p:spPr>
          <a:xfrm rot="5400000" flipH="1" flipV="1">
            <a:off x="594728" y="1918663"/>
            <a:ext cx="468028" cy="36144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手繪多邊形 15"/>
          <p:cNvSpPr/>
          <p:nvPr/>
        </p:nvSpPr>
        <p:spPr>
          <a:xfrm>
            <a:off x="1443204" y="1999091"/>
            <a:ext cx="867475" cy="802339"/>
          </a:xfrm>
          <a:custGeom>
            <a:avLst/>
            <a:gdLst>
              <a:gd name="connsiteX0" fmla="*/ 0 w 1943100"/>
              <a:gd name="connsiteY0" fmla="*/ 0 h 1248410"/>
              <a:gd name="connsiteX1" fmla="*/ 419100 w 1943100"/>
              <a:gd name="connsiteY1" fmla="*/ 1043940 h 1248410"/>
              <a:gd name="connsiteX2" fmla="*/ 1943100 w 1943100"/>
              <a:gd name="connsiteY2" fmla="*/ 1226820 h 1248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3100" h="1248410">
                <a:moveTo>
                  <a:pt x="0" y="0"/>
                </a:moveTo>
                <a:cubicBezTo>
                  <a:pt x="47625" y="419735"/>
                  <a:pt x="95250" y="839470"/>
                  <a:pt x="419100" y="1043940"/>
                </a:cubicBezTo>
                <a:cubicBezTo>
                  <a:pt x="742950" y="1248410"/>
                  <a:pt x="1676400" y="1205230"/>
                  <a:pt x="1943100" y="1226820"/>
                </a:cubicBezTo>
              </a:path>
            </a:pathLst>
          </a:cu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7" name="群組 16"/>
          <p:cNvGrpSpPr/>
          <p:nvPr/>
        </p:nvGrpSpPr>
        <p:grpSpPr>
          <a:xfrm>
            <a:off x="4407076" y="2333399"/>
            <a:ext cx="1020016" cy="943427"/>
            <a:chOff x="5214942" y="2571744"/>
            <a:chExt cx="1008000" cy="1008000"/>
          </a:xfrm>
        </p:grpSpPr>
        <p:sp>
          <p:nvSpPr>
            <p:cNvPr id="18" name="菱形 17"/>
            <p:cNvSpPr/>
            <p:nvPr/>
          </p:nvSpPr>
          <p:spPr>
            <a:xfrm>
              <a:off x="5214942" y="2571744"/>
              <a:ext cx="1008000" cy="1008000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200" dirty="0"/>
            </a:p>
          </p:txBody>
        </p:sp>
        <p:sp>
          <p:nvSpPr>
            <p:cNvPr id="19" name="矩形 18"/>
            <p:cNvSpPr/>
            <p:nvPr/>
          </p:nvSpPr>
          <p:spPr>
            <a:xfrm>
              <a:off x="5328000" y="2824459"/>
              <a:ext cx="78580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altLang="zh-TW" sz="1200" dirty="0" smtClean="0">
                  <a:solidFill>
                    <a:prstClr val="black"/>
                  </a:solidFill>
                </a:rPr>
                <a:t>Timing </a:t>
              </a:r>
            </a:p>
            <a:p>
              <a:pPr lvl="0" algn="ctr"/>
              <a:r>
                <a:rPr lang="en-US" altLang="zh-TW" sz="1200" dirty="0" smtClean="0">
                  <a:solidFill>
                    <a:prstClr val="black"/>
                  </a:solidFill>
                </a:rPr>
                <a:t>corrector</a:t>
              </a:r>
              <a:endParaRPr lang="zh-TW" altLang="en-US" sz="1200" dirty="0">
                <a:solidFill>
                  <a:prstClr val="black"/>
                </a:solidFill>
              </a:endParaRPr>
            </a:p>
          </p:txBody>
        </p:sp>
      </p:grpSp>
      <p:sp>
        <p:nvSpPr>
          <p:cNvPr id="20" name="手繪多邊形 19"/>
          <p:cNvSpPr/>
          <p:nvPr/>
        </p:nvSpPr>
        <p:spPr>
          <a:xfrm flipV="1">
            <a:off x="3322733" y="2766007"/>
            <a:ext cx="1084343" cy="42790"/>
          </a:xfrm>
          <a:custGeom>
            <a:avLst/>
            <a:gdLst>
              <a:gd name="connsiteX0" fmla="*/ 0 w 1440180"/>
              <a:gd name="connsiteY0" fmla="*/ 0 h 0"/>
              <a:gd name="connsiteX1" fmla="*/ 1440180 w 144018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40180">
                <a:moveTo>
                  <a:pt x="0" y="0"/>
                </a:moveTo>
                <a:lnTo>
                  <a:pt x="1440180" y="0"/>
                </a:lnTo>
              </a:path>
            </a:pathLst>
          </a:custGeom>
          <a:ln w="2857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單箭頭接點 24"/>
          <p:cNvCxnSpPr/>
          <p:nvPr/>
        </p:nvCxnSpPr>
        <p:spPr>
          <a:xfrm flipV="1">
            <a:off x="7876974" y="2808795"/>
            <a:ext cx="425776" cy="368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7666918" y="2549541"/>
            <a:ext cx="905610" cy="259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TW" sz="1200" dirty="0" smtClean="0">
                <a:solidFill>
                  <a:prstClr val="black"/>
                </a:solidFill>
              </a:rPr>
              <a:t>Yes</a:t>
            </a:r>
            <a:endParaRPr lang="zh-TW" altLang="en-US" sz="1200" dirty="0">
              <a:solidFill>
                <a:prstClr val="black"/>
              </a:solidFill>
            </a:endParaRPr>
          </a:p>
        </p:txBody>
      </p:sp>
      <p:cxnSp>
        <p:nvCxnSpPr>
          <p:cNvPr id="27" name="直線單箭頭接點 26"/>
          <p:cNvCxnSpPr/>
          <p:nvPr/>
        </p:nvCxnSpPr>
        <p:spPr>
          <a:xfrm rot="10800000">
            <a:off x="5416892" y="2808795"/>
            <a:ext cx="1584000" cy="368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5742442" y="2549541"/>
            <a:ext cx="905610" cy="259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TW" sz="1200" dirty="0" smtClean="0">
                <a:solidFill>
                  <a:prstClr val="black"/>
                </a:solidFill>
              </a:rPr>
              <a:t>No</a:t>
            </a:r>
            <a:endParaRPr lang="zh-TW" altLang="en-US" sz="1200" dirty="0">
              <a:solidFill>
                <a:prstClr val="black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238422" y="2569925"/>
            <a:ext cx="905610" cy="432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TW" sz="1200" dirty="0" smtClean="0">
                <a:solidFill>
                  <a:prstClr val="black"/>
                </a:solidFill>
              </a:rPr>
              <a:t>Simulation</a:t>
            </a:r>
          </a:p>
          <a:p>
            <a:pPr lvl="0" algn="ctr"/>
            <a:r>
              <a:rPr lang="en-US" altLang="zh-TW" sz="1200" dirty="0" smtClean="0">
                <a:solidFill>
                  <a:prstClr val="black"/>
                </a:solidFill>
              </a:rPr>
              <a:t>finished</a:t>
            </a:r>
            <a:endParaRPr lang="zh-TW" altLang="en-US" sz="1200" dirty="0">
              <a:solidFill>
                <a:prstClr val="black"/>
              </a:solidFill>
            </a:endParaRPr>
          </a:p>
        </p:txBody>
      </p:sp>
      <p:cxnSp>
        <p:nvCxnSpPr>
          <p:cNvPr id="30" name="肘形接點 91"/>
          <p:cNvCxnSpPr/>
          <p:nvPr/>
        </p:nvCxnSpPr>
        <p:spPr>
          <a:xfrm rot="16200000" flipV="1">
            <a:off x="4497640" y="1913956"/>
            <a:ext cx="401170" cy="437718"/>
          </a:xfrm>
          <a:prstGeom prst="bentConnector2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4479366" y="1597922"/>
            <a:ext cx="722896" cy="148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>
            <a:stCxn id="8" idx="0"/>
          </p:cNvCxnSpPr>
          <p:nvPr/>
        </p:nvCxnSpPr>
        <p:spPr>
          <a:xfrm>
            <a:off x="6574616" y="1631353"/>
            <a:ext cx="3600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4768524" y="1932230"/>
            <a:ext cx="905610" cy="432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TW" sz="1200" dirty="0" smtClean="0">
                <a:solidFill>
                  <a:prstClr val="black"/>
                </a:solidFill>
              </a:rPr>
              <a:t>Update timing</a:t>
            </a:r>
            <a:endParaRPr lang="zh-TW" altLang="en-US" sz="1200" dirty="0">
              <a:solidFill>
                <a:prstClr val="black"/>
              </a:solidFill>
            </a:endParaRPr>
          </a:p>
        </p:txBody>
      </p:sp>
      <p:sp>
        <p:nvSpPr>
          <p:cNvPr id="38" name="流程圖: 替代處理程序 37"/>
          <p:cNvSpPr/>
          <p:nvPr/>
        </p:nvSpPr>
        <p:spPr>
          <a:xfrm>
            <a:off x="6929454" y="1268190"/>
            <a:ext cx="1028821" cy="735478"/>
          </a:xfrm>
          <a:prstGeom prst="flowChartAlternateProcess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Simulation</a:t>
            </a:r>
          </a:p>
          <a:p>
            <a:pPr algn="ctr"/>
            <a:r>
              <a:rPr lang="en-US" altLang="zh-TW" sz="1200" dirty="0" smtClean="0"/>
              <a:t>output</a:t>
            </a:r>
          </a:p>
        </p:txBody>
      </p:sp>
      <p:cxnSp>
        <p:nvCxnSpPr>
          <p:cNvPr id="39" name="直線單箭頭接點 38"/>
          <p:cNvCxnSpPr/>
          <p:nvPr/>
        </p:nvCxnSpPr>
        <p:spPr>
          <a:xfrm rot="16200000" flipH="1">
            <a:off x="7303809" y="2186018"/>
            <a:ext cx="35819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0" name="群組 21"/>
          <p:cNvGrpSpPr/>
          <p:nvPr/>
        </p:nvGrpSpPr>
        <p:grpSpPr>
          <a:xfrm>
            <a:off x="6958079" y="2345339"/>
            <a:ext cx="1020015" cy="943427"/>
            <a:chOff x="5259065" y="2571744"/>
            <a:chExt cx="1008000" cy="1008000"/>
          </a:xfrm>
        </p:grpSpPr>
        <p:sp>
          <p:nvSpPr>
            <p:cNvPr id="41" name="菱形 40"/>
            <p:cNvSpPr/>
            <p:nvPr/>
          </p:nvSpPr>
          <p:spPr>
            <a:xfrm>
              <a:off x="5259065" y="2571744"/>
              <a:ext cx="1008000" cy="1008000"/>
            </a:xfrm>
            <a:prstGeom prst="diamond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200" dirty="0"/>
            </a:p>
          </p:txBody>
        </p:sp>
        <p:sp>
          <p:nvSpPr>
            <p:cNvPr id="42" name="矩形 41"/>
            <p:cNvSpPr/>
            <p:nvPr/>
          </p:nvSpPr>
          <p:spPr>
            <a:xfrm>
              <a:off x="5294248" y="2937688"/>
              <a:ext cx="894942" cy="295958"/>
            </a:xfrm>
            <a:prstGeom prst="rect">
              <a:avLst/>
            </a:prstGeom>
            <a:ln w="38100">
              <a:noFill/>
            </a:ln>
          </p:spPr>
          <p:txBody>
            <a:bodyPr wrap="square">
              <a:spAutoFit/>
            </a:bodyPr>
            <a:lstStyle/>
            <a:p>
              <a:pPr lvl="0" algn="ctr"/>
              <a:r>
                <a:rPr lang="en-US" altLang="zh-TW" sz="1200" dirty="0" smtClean="0">
                  <a:solidFill>
                    <a:prstClr val="black"/>
                  </a:solidFill>
                </a:rPr>
                <a:t>Converge?</a:t>
              </a:r>
              <a:endParaRPr lang="zh-TW" altLang="en-US" sz="1200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0399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For This Study</a:t>
            </a:r>
            <a:endParaRPr lang="zh-TW" altLang="en-US" dirty="0"/>
          </a:p>
        </p:txBody>
      </p:sp>
      <p:grpSp>
        <p:nvGrpSpPr>
          <p:cNvPr id="39" name="群組 38"/>
          <p:cNvGrpSpPr/>
          <p:nvPr/>
        </p:nvGrpSpPr>
        <p:grpSpPr>
          <a:xfrm>
            <a:off x="214282" y="1428736"/>
            <a:ext cx="8929750" cy="2092014"/>
            <a:chOff x="142844" y="1571612"/>
            <a:chExt cx="8929750" cy="2092014"/>
          </a:xfrm>
        </p:grpSpPr>
        <p:sp>
          <p:nvSpPr>
            <p:cNvPr id="5" name="圓角矩形 4"/>
            <p:cNvSpPr/>
            <p:nvPr/>
          </p:nvSpPr>
          <p:spPr>
            <a:xfrm>
              <a:off x="142844" y="2708259"/>
              <a:ext cx="867475" cy="468031"/>
            </a:xfrm>
            <a:prstGeom prst="round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Program</a:t>
              </a:r>
              <a:endParaRPr lang="zh-TW" altLang="en-US" sz="1200" dirty="0"/>
            </a:p>
          </p:txBody>
        </p:sp>
        <p:sp>
          <p:nvSpPr>
            <p:cNvPr id="6" name="剪去單一角落矩形 5"/>
            <p:cNvSpPr/>
            <p:nvPr/>
          </p:nvSpPr>
          <p:spPr>
            <a:xfrm>
              <a:off x="2239241" y="2916208"/>
              <a:ext cx="1012054" cy="601755"/>
            </a:xfrm>
            <a:prstGeom prst="snip1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Timing reference</a:t>
              </a:r>
              <a:endParaRPr lang="zh-TW" altLang="en-US" sz="1200" dirty="0"/>
            </a:p>
          </p:txBody>
        </p:sp>
        <p:sp>
          <p:nvSpPr>
            <p:cNvPr id="7" name="雲朵形 6"/>
            <p:cNvSpPr/>
            <p:nvPr/>
          </p:nvSpPr>
          <p:spPr>
            <a:xfrm>
              <a:off x="5130823" y="1571612"/>
              <a:ext cx="1373501" cy="869201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 smtClean="0">
                  <a:solidFill>
                    <a:srgbClr val="FF0000"/>
                  </a:solidFill>
                </a:rPr>
                <a:t>booksim</a:t>
              </a:r>
              <a:endParaRPr lang="zh-TW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8" name="雲朵形 7"/>
            <p:cNvSpPr/>
            <p:nvPr/>
          </p:nvSpPr>
          <p:spPr>
            <a:xfrm>
              <a:off x="721160" y="1571612"/>
              <a:ext cx="1301212" cy="802339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r>
                <a:rPr lang="en-US" altLang="zh-TW" sz="2000" b="1" dirty="0" smtClean="0">
                  <a:solidFill>
                    <a:srgbClr val="FF0000"/>
                  </a:solidFill>
                </a:rPr>
                <a:t>gem5</a:t>
              </a:r>
              <a:endParaRPr lang="zh-TW" altLang="en-US" sz="2000" b="1" dirty="0">
                <a:solidFill>
                  <a:srgbClr val="FF0000"/>
                </a:solidFill>
              </a:endParaRPr>
            </a:p>
          </p:txBody>
        </p:sp>
        <p:grpSp>
          <p:nvGrpSpPr>
            <p:cNvPr id="9" name="群組 8"/>
            <p:cNvGrpSpPr/>
            <p:nvPr/>
          </p:nvGrpSpPr>
          <p:grpSpPr>
            <a:xfrm>
              <a:off x="3251292" y="1596897"/>
              <a:ext cx="1106395" cy="876040"/>
              <a:chOff x="4429124" y="928669"/>
              <a:chExt cx="1119823" cy="928695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4429124" y="928669"/>
                <a:ext cx="1000132" cy="785818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Trace event</a:t>
                </a:r>
                <a:endParaRPr lang="zh-TW" altLang="en-US" sz="1200" dirty="0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4500562" y="1000108"/>
                <a:ext cx="1000132" cy="785818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Trace event</a:t>
                </a:r>
                <a:endParaRPr lang="zh-TW" altLang="en-US" sz="1200" dirty="0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4572004" y="1071546"/>
                <a:ext cx="976943" cy="785818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Dependence-aware trace</a:t>
                </a:r>
                <a:endParaRPr lang="zh-TW" altLang="en-US" sz="1200" dirty="0"/>
              </a:p>
            </p:txBody>
          </p:sp>
        </p:grpSp>
        <p:cxnSp>
          <p:nvCxnSpPr>
            <p:cNvPr id="13" name="直線單箭頭接點 12"/>
            <p:cNvCxnSpPr>
              <a:stCxn id="8" idx="0"/>
            </p:cNvCxnSpPr>
            <p:nvPr/>
          </p:nvCxnSpPr>
          <p:spPr>
            <a:xfrm>
              <a:off x="2021288" y="1972782"/>
              <a:ext cx="1230007" cy="148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線單箭頭接點 13"/>
            <p:cNvCxnSpPr>
              <a:stCxn id="5" idx="0"/>
            </p:cNvCxnSpPr>
            <p:nvPr/>
          </p:nvCxnSpPr>
          <p:spPr>
            <a:xfrm rot="5400000" flipH="1" flipV="1">
              <a:off x="523290" y="2293523"/>
              <a:ext cx="468028" cy="36144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手繪多邊形 14"/>
            <p:cNvSpPr/>
            <p:nvPr/>
          </p:nvSpPr>
          <p:spPr>
            <a:xfrm>
              <a:off x="1371766" y="2373951"/>
              <a:ext cx="867475" cy="802339"/>
            </a:xfrm>
            <a:custGeom>
              <a:avLst/>
              <a:gdLst>
                <a:gd name="connsiteX0" fmla="*/ 0 w 1943100"/>
                <a:gd name="connsiteY0" fmla="*/ 0 h 1248410"/>
                <a:gd name="connsiteX1" fmla="*/ 419100 w 1943100"/>
                <a:gd name="connsiteY1" fmla="*/ 1043940 h 1248410"/>
                <a:gd name="connsiteX2" fmla="*/ 1943100 w 1943100"/>
                <a:gd name="connsiteY2" fmla="*/ 1226820 h 1248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3100" h="1248410">
                  <a:moveTo>
                    <a:pt x="0" y="0"/>
                  </a:moveTo>
                  <a:cubicBezTo>
                    <a:pt x="47625" y="419735"/>
                    <a:pt x="95250" y="839470"/>
                    <a:pt x="419100" y="1043940"/>
                  </a:cubicBezTo>
                  <a:cubicBezTo>
                    <a:pt x="742950" y="1248410"/>
                    <a:pt x="1676400" y="1205230"/>
                    <a:pt x="1943100" y="1226820"/>
                  </a:cubicBezTo>
                </a:path>
              </a:pathLst>
            </a:cu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6" name="群組 15"/>
            <p:cNvGrpSpPr/>
            <p:nvPr/>
          </p:nvGrpSpPr>
          <p:grpSpPr>
            <a:xfrm>
              <a:off x="4335638" y="2708259"/>
              <a:ext cx="1020016" cy="943427"/>
              <a:chOff x="5214942" y="2571744"/>
              <a:chExt cx="1008000" cy="1008000"/>
            </a:xfrm>
          </p:grpSpPr>
          <p:sp>
            <p:nvSpPr>
              <p:cNvPr id="17" name="菱形 16"/>
              <p:cNvSpPr/>
              <p:nvPr/>
            </p:nvSpPr>
            <p:spPr>
              <a:xfrm>
                <a:off x="5214942" y="2571744"/>
                <a:ext cx="1008000" cy="1008000"/>
              </a:xfrm>
              <a:prstGeom prst="diamond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200" dirty="0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5328000" y="2824459"/>
                <a:ext cx="78580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altLang="zh-TW" sz="1200" dirty="0" smtClean="0">
                    <a:solidFill>
                      <a:prstClr val="black"/>
                    </a:solidFill>
                  </a:rPr>
                  <a:t>Timing </a:t>
                </a:r>
              </a:p>
              <a:p>
                <a:pPr lvl="0" algn="ctr"/>
                <a:r>
                  <a:rPr lang="en-US" altLang="zh-TW" sz="1200" dirty="0" smtClean="0">
                    <a:solidFill>
                      <a:prstClr val="black"/>
                    </a:solidFill>
                  </a:rPr>
                  <a:t>corrector</a:t>
                </a:r>
                <a:endParaRPr lang="zh-TW" altLang="en-US" sz="1200" dirty="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9" name="手繪多邊形 18"/>
            <p:cNvSpPr/>
            <p:nvPr/>
          </p:nvSpPr>
          <p:spPr>
            <a:xfrm flipV="1">
              <a:off x="3251295" y="3140867"/>
              <a:ext cx="1084343" cy="42790"/>
            </a:xfrm>
            <a:custGeom>
              <a:avLst/>
              <a:gdLst>
                <a:gd name="connsiteX0" fmla="*/ 0 w 1440180"/>
                <a:gd name="connsiteY0" fmla="*/ 0 h 0"/>
                <a:gd name="connsiteX1" fmla="*/ 1440180 w 144018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180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ln w="28575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0" name="直線單箭頭接點 19"/>
            <p:cNvCxnSpPr/>
            <p:nvPr/>
          </p:nvCxnSpPr>
          <p:spPr>
            <a:xfrm flipV="1">
              <a:off x="7805536" y="3183655"/>
              <a:ext cx="425776" cy="368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矩形 20"/>
            <p:cNvSpPr/>
            <p:nvPr/>
          </p:nvSpPr>
          <p:spPr>
            <a:xfrm>
              <a:off x="7595480" y="2924401"/>
              <a:ext cx="905610" cy="2592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altLang="zh-TW" sz="1200" dirty="0" smtClean="0">
                  <a:solidFill>
                    <a:prstClr val="black"/>
                  </a:solidFill>
                </a:rPr>
                <a:t>Yes</a:t>
              </a:r>
              <a:endParaRPr lang="zh-TW" altLang="en-US" sz="1200" dirty="0">
                <a:solidFill>
                  <a:prstClr val="black"/>
                </a:solidFill>
              </a:endParaRPr>
            </a:p>
          </p:txBody>
        </p:sp>
        <p:cxnSp>
          <p:nvCxnSpPr>
            <p:cNvPr id="22" name="直線單箭頭接點 21"/>
            <p:cNvCxnSpPr/>
            <p:nvPr/>
          </p:nvCxnSpPr>
          <p:spPr>
            <a:xfrm rot="10800000">
              <a:off x="5345454" y="3183655"/>
              <a:ext cx="1584000" cy="368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矩形 22"/>
            <p:cNvSpPr/>
            <p:nvPr/>
          </p:nvSpPr>
          <p:spPr>
            <a:xfrm>
              <a:off x="5671004" y="2924401"/>
              <a:ext cx="905610" cy="2592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altLang="zh-TW" sz="1200" dirty="0" smtClean="0">
                  <a:solidFill>
                    <a:prstClr val="black"/>
                  </a:solidFill>
                </a:rPr>
                <a:t>No</a:t>
              </a:r>
              <a:endParaRPr lang="zh-TW" altLang="en-US" sz="1200" dirty="0">
                <a:solidFill>
                  <a:prstClr val="black"/>
                </a:solidFill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8166984" y="2944785"/>
              <a:ext cx="905610" cy="4320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altLang="zh-TW" sz="1200" dirty="0" smtClean="0">
                  <a:solidFill>
                    <a:prstClr val="black"/>
                  </a:solidFill>
                </a:rPr>
                <a:t>Simulation</a:t>
              </a:r>
            </a:p>
            <a:p>
              <a:pPr lvl="0" algn="ctr"/>
              <a:r>
                <a:rPr lang="en-US" altLang="zh-TW" sz="1200" dirty="0" smtClean="0">
                  <a:solidFill>
                    <a:prstClr val="black"/>
                  </a:solidFill>
                </a:rPr>
                <a:t>finished</a:t>
              </a:r>
              <a:endParaRPr lang="zh-TW" altLang="en-US" sz="1200" dirty="0">
                <a:solidFill>
                  <a:prstClr val="black"/>
                </a:solidFill>
              </a:endParaRPr>
            </a:p>
          </p:txBody>
        </p:sp>
        <p:cxnSp>
          <p:nvCxnSpPr>
            <p:cNvPr id="25" name="肘形接點 91"/>
            <p:cNvCxnSpPr/>
            <p:nvPr/>
          </p:nvCxnSpPr>
          <p:spPr>
            <a:xfrm rot="16200000" flipV="1">
              <a:off x="4426202" y="2288816"/>
              <a:ext cx="401170" cy="437718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/>
            <p:nvPr/>
          </p:nvCxnSpPr>
          <p:spPr>
            <a:xfrm>
              <a:off x="4407928" y="1972782"/>
              <a:ext cx="722896" cy="148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單箭頭接點 26"/>
            <p:cNvCxnSpPr>
              <a:stCxn id="7" idx="0"/>
            </p:cNvCxnSpPr>
            <p:nvPr/>
          </p:nvCxnSpPr>
          <p:spPr>
            <a:xfrm>
              <a:off x="6503178" y="2006213"/>
              <a:ext cx="3600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矩形 27"/>
            <p:cNvSpPr/>
            <p:nvPr/>
          </p:nvSpPr>
          <p:spPr>
            <a:xfrm>
              <a:off x="4697086" y="2307090"/>
              <a:ext cx="905610" cy="4320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altLang="zh-TW" sz="1200" dirty="0" smtClean="0">
                  <a:solidFill>
                    <a:prstClr val="black"/>
                  </a:solidFill>
                </a:rPr>
                <a:t>Update timing</a:t>
              </a:r>
              <a:endParaRPr lang="zh-TW" altLang="en-US" sz="1200" dirty="0">
                <a:solidFill>
                  <a:prstClr val="black"/>
                </a:solidFill>
              </a:endParaRPr>
            </a:p>
          </p:txBody>
        </p:sp>
        <p:sp>
          <p:nvSpPr>
            <p:cNvPr id="29" name="流程圖: 替代處理程序 28"/>
            <p:cNvSpPr/>
            <p:nvPr/>
          </p:nvSpPr>
          <p:spPr>
            <a:xfrm>
              <a:off x="6858016" y="1643050"/>
              <a:ext cx="1028821" cy="735478"/>
            </a:xfrm>
            <a:prstGeom prst="flowChartAlternateProcess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Simulation</a:t>
              </a:r>
            </a:p>
            <a:p>
              <a:pPr algn="ctr"/>
              <a:r>
                <a:rPr lang="en-US" altLang="zh-TW" sz="1200" dirty="0" smtClean="0"/>
                <a:t>output</a:t>
              </a:r>
            </a:p>
          </p:txBody>
        </p:sp>
        <p:cxnSp>
          <p:nvCxnSpPr>
            <p:cNvPr id="30" name="直線單箭頭接點 29"/>
            <p:cNvCxnSpPr/>
            <p:nvPr/>
          </p:nvCxnSpPr>
          <p:spPr>
            <a:xfrm rot="16200000" flipH="1">
              <a:off x="7232371" y="2560878"/>
              <a:ext cx="35819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1" name="群組 21"/>
            <p:cNvGrpSpPr/>
            <p:nvPr/>
          </p:nvGrpSpPr>
          <p:grpSpPr>
            <a:xfrm>
              <a:off x="6886641" y="2720199"/>
              <a:ext cx="1020015" cy="943427"/>
              <a:chOff x="5259065" y="2571744"/>
              <a:chExt cx="1008000" cy="1008000"/>
            </a:xfrm>
          </p:grpSpPr>
          <p:sp>
            <p:nvSpPr>
              <p:cNvPr id="32" name="菱形 31"/>
              <p:cNvSpPr/>
              <p:nvPr/>
            </p:nvSpPr>
            <p:spPr>
              <a:xfrm>
                <a:off x="5259065" y="2571744"/>
                <a:ext cx="1008000" cy="1008000"/>
              </a:xfrm>
              <a:prstGeom prst="diamond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200" dirty="0"/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5294248" y="2937687"/>
                <a:ext cx="894942" cy="276999"/>
              </a:xfrm>
              <a:prstGeom prst="rect">
                <a:avLst/>
              </a:prstGeom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altLang="zh-TW" sz="1200" dirty="0" smtClean="0">
                    <a:solidFill>
                      <a:prstClr val="black"/>
                    </a:solidFill>
                  </a:rPr>
                  <a:t>Converge ?</a:t>
                </a:r>
                <a:endParaRPr lang="zh-TW" altLang="en-US" sz="1200" dirty="0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35" name="圓角矩形 34"/>
          <p:cNvSpPr/>
          <p:nvPr/>
        </p:nvSpPr>
        <p:spPr bwMode="auto">
          <a:xfrm>
            <a:off x="500034" y="4143380"/>
            <a:ext cx="7858180" cy="1143008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b="1" dirty="0" smtClean="0">
                <a:latin typeface="Arial" pitchFamily="34" charset="0"/>
                <a:ea typeface="新細明體" pitchFamily="18" charset="-120"/>
              </a:rPr>
              <a:t>Focus on interconnection network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43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4052365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Dependence-aware Trace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</a:t>
            </a:r>
            <a:r>
              <a:rPr lang="en-US" altLang="zh-TW" dirty="0" err="1" smtClean="0"/>
              <a:t>booksim</a:t>
            </a:r>
            <a:r>
              <a:rPr lang="en-US" altLang="zh-TW" dirty="0" smtClean="0"/>
              <a:t>, input trace events are L2 misses</a:t>
            </a:r>
          </a:p>
          <a:p>
            <a:r>
              <a:rPr lang="en-US" altLang="zh-TW" dirty="0" smtClean="0"/>
              <a:t>In order to build dependencies among trace events, we have to recognize the serial number (ISN) of the instructions causing L2 misses</a:t>
            </a:r>
          </a:p>
          <a:p>
            <a:r>
              <a:rPr lang="en-US" altLang="zh-TW" dirty="0" smtClean="0"/>
              <a:t>To do so, we have to dump the instruction traces and feed to a cache model to obtain the ISN</a:t>
            </a:r>
          </a:p>
          <a:p>
            <a:r>
              <a:rPr lang="en-US" altLang="zh-TW" dirty="0" smtClean="0"/>
              <a:t>The dependencies are built based on the independent cache miss model</a:t>
            </a:r>
          </a:p>
          <a:p>
            <a:pPr lvl="1"/>
            <a:r>
              <a:rPr lang="en-US" altLang="zh-TW" dirty="0" smtClean="0"/>
              <a:t>All the L1 misses in ROB are independent</a:t>
            </a:r>
          </a:p>
          <a:p>
            <a:pPr lvl="1"/>
            <a:r>
              <a:rPr lang="en-US" altLang="zh-TW" dirty="0" smtClean="0"/>
              <a:t>The only restriction on how many L1 misses can be issued is the ROB size</a:t>
            </a:r>
          </a:p>
          <a:p>
            <a:pPr lvl="2"/>
            <a:endParaRPr lang="en-US" altLang="zh-TW" dirty="0" smtClean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44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063900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smtClean="0"/>
              <a:t>Timing Reference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Timing reference records the response time of all L1 cache misses in trace-generating machine</a:t>
            </a:r>
          </a:p>
          <a:p>
            <a:r>
              <a:rPr lang="en-US" altLang="zh-TW" dirty="0" smtClean="0"/>
              <a:t>In each round, timing reference is sent to timing corrector</a:t>
            </a:r>
          </a:p>
          <a:p>
            <a:r>
              <a:rPr lang="en-US" altLang="zh-TW" dirty="0" smtClean="0"/>
              <a:t>After updated timing is computed, response time is used to update timing reference for the next round</a:t>
            </a:r>
            <a:endParaRPr lang="zh-TW" altLang="en-US" dirty="0"/>
          </a:p>
        </p:txBody>
      </p:sp>
      <p:sp>
        <p:nvSpPr>
          <p:cNvPr id="19" name="投影片編號版面配置區 1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45</a:t>
            </a:fld>
            <a:endParaRPr lang="zh-TW" altLang="zh-TW"/>
          </a:p>
        </p:txBody>
      </p:sp>
      <p:grpSp>
        <p:nvGrpSpPr>
          <p:cNvPr id="18" name="群組 17"/>
          <p:cNvGrpSpPr/>
          <p:nvPr/>
        </p:nvGrpSpPr>
        <p:grpSpPr>
          <a:xfrm>
            <a:off x="2071670" y="4005064"/>
            <a:ext cx="5214974" cy="2089227"/>
            <a:chOff x="2357422" y="3911541"/>
            <a:chExt cx="5214974" cy="2089227"/>
          </a:xfrm>
        </p:grpSpPr>
        <p:grpSp>
          <p:nvGrpSpPr>
            <p:cNvPr id="5" name="群組 4"/>
            <p:cNvGrpSpPr/>
            <p:nvPr/>
          </p:nvGrpSpPr>
          <p:grpSpPr>
            <a:xfrm>
              <a:off x="2357422" y="3911541"/>
              <a:ext cx="4214842" cy="1946351"/>
              <a:chOff x="2643174" y="3197161"/>
              <a:chExt cx="4214842" cy="1946351"/>
            </a:xfrm>
          </p:grpSpPr>
          <p:sp>
            <p:nvSpPr>
              <p:cNvPr id="6" name="圓角矩形 5"/>
              <p:cNvSpPr/>
              <p:nvPr/>
            </p:nvSpPr>
            <p:spPr>
              <a:xfrm>
                <a:off x="2643174" y="4333808"/>
                <a:ext cx="867475" cy="468031"/>
              </a:xfrm>
              <a:prstGeom prst="roundRect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Program</a:t>
                </a:r>
                <a:endParaRPr lang="zh-TW" altLang="en-US" sz="1200" dirty="0"/>
              </a:p>
            </p:txBody>
          </p:sp>
          <p:sp>
            <p:nvSpPr>
              <p:cNvPr id="7" name="剪去單一角落矩形 6"/>
              <p:cNvSpPr/>
              <p:nvPr/>
            </p:nvSpPr>
            <p:spPr>
              <a:xfrm>
                <a:off x="4739571" y="4541757"/>
                <a:ext cx="1012054" cy="601755"/>
              </a:xfrm>
              <a:prstGeom prst="snip1Rect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Timing reference</a:t>
                </a:r>
                <a:endParaRPr lang="zh-TW" altLang="en-US" sz="1200" dirty="0"/>
              </a:p>
            </p:txBody>
          </p:sp>
          <p:sp>
            <p:nvSpPr>
              <p:cNvPr id="8" name="雲朵形 7"/>
              <p:cNvSpPr/>
              <p:nvPr/>
            </p:nvSpPr>
            <p:spPr>
              <a:xfrm>
                <a:off x="3221490" y="3197161"/>
                <a:ext cx="1301212" cy="802339"/>
              </a:xfrm>
              <a:prstGeom prst="cloud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ctr"/>
                <a:r>
                  <a:rPr lang="en-US" altLang="zh-TW" sz="1200" dirty="0" smtClean="0">
                    <a:solidFill>
                      <a:prstClr val="black"/>
                    </a:solidFill>
                  </a:rPr>
                  <a:t>Full-system simulator</a:t>
                </a:r>
                <a:endParaRPr lang="zh-TW" altLang="en-US" sz="12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5751625" y="3222446"/>
                <a:ext cx="988140" cy="74126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Trace event</a:t>
                </a:r>
                <a:endParaRPr lang="zh-TW" altLang="en-US" sz="1200" dirty="0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5822206" y="3289835"/>
                <a:ext cx="988140" cy="74126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Trace event</a:t>
                </a:r>
                <a:endParaRPr lang="zh-TW" altLang="en-US" sz="1200" dirty="0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5892788" y="3357222"/>
                <a:ext cx="965228" cy="74126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/>
                  <a:t>Dependence-aware trace</a:t>
                </a:r>
                <a:endParaRPr lang="zh-TW" altLang="en-US" sz="1200" dirty="0"/>
              </a:p>
            </p:txBody>
          </p:sp>
          <p:cxnSp>
            <p:nvCxnSpPr>
              <p:cNvPr id="12" name="直線單箭頭接點 11"/>
              <p:cNvCxnSpPr>
                <a:stCxn id="8" idx="0"/>
              </p:cNvCxnSpPr>
              <p:nvPr/>
            </p:nvCxnSpPr>
            <p:spPr>
              <a:xfrm>
                <a:off x="4521618" y="3598331"/>
                <a:ext cx="1230007" cy="148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直線單箭頭接點 12"/>
              <p:cNvCxnSpPr>
                <a:stCxn id="6" idx="0"/>
              </p:cNvCxnSpPr>
              <p:nvPr/>
            </p:nvCxnSpPr>
            <p:spPr>
              <a:xfrm rot="5400000" flipH="1" flipV="1">
                <a:off x="3023620" y="3919072"/>
                <a:ext cx="468028" cy="361447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手繪多邊形 13"/>
              <p:cNvSpPr/>
              <p:nvPr/>
            </p:nvSpPr>
            <p:spPr>
              <a:xfrm>
                <a:off x="3872096" y="3999500"/>
                <a:ext cx="867475" cy="802339"/>
              </a:xfrm>
              <a:custGeom>
                <a:avLst/>
                <a:gdLst>
                  <a:gd name="connsiteX0" fmla="*/ 0 w 1943100"/>
                  <a:gd name="connsiteY0" fmla="*/ 0 h 1248410"/>
                  <a:gd name="connsiteX1" fmla="*/ 419100 w 1943100"/>
                  <a:gd name="connsiteY1" fmla="*/ 1043940 h 1248410"/>
                  <a:gd name="connsiteX2" fmla="*/ 1943100 w 1943100"/>
                  <a:gd name="connsiteY2" fmla="*/ 1226820 h 1248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43100" h="1248410">
                    <a:moveTo>
                      <a:pt x="0" y="0"/>
                    </a:moveTo>
                    <a:cubicBezTo>
                      <a:pt x="47625" y="419735"/>
                      <a:pt x="95250" y="839470"/>
                      <a:pt x="419100" y="1043940"/>
                    </a:cubicBezTo>
                    <a:cubicBezTo>
                      <a:pt x="742950" y="1248410"/>
                      <a:pt x="1676400" y="1205230"/>
                      <a:pt x="1943100" y="1226820"/>
                    </a:cubicBezTo>
                  </a:path>
                </a:pathLst>
              </a:cu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5" name="菱形 14"/>
            <p:cNvSpPr/>
            <p:nvPr/>
          </p:nvSpPr>
          <p:spPr>
            <a:xfrm>
              <a:off x="6552380" y="5057341"/>
              <a:ext cx="1020016" cy="943427"/>
            </a:xfrm>
            <a:prstGeom prst="diamond">
              <a:avLst/>
            </a:prstGeom>
            <a:ln w="3810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200" dirty="0"/>
            </a:p>
          </p:txBody>
        </p:sp>
        <p:sp>
          <p:nvSpPr>
            <p:cNvPr id="16" name="矩形 15"/>
            <p:cNvSpPr/>
            <p:nvPr/>
          </p:nvSpPr>
          <p:spPr>
            <a:xfrm>
              <a:off x="6666786" y="5293867"/>
              <a:ext cx="795169" cy="432091"/>
            </a:xfrm>
            <a:prstGeom prst="rect">
              <a:avLst/>
            </a:prstGeom>
            <a:ln w="38100">
              <a:noFill/>
            </a:ln>
          </p:spPr>
          <p:txBody>
            <a:bodyPr wrap="square">
              <a:spAutoFit/>
            </a:bodyPr>
            <a:lstStyle/>
            <a:p>
              <a:pPr lvl="0" algn="ctr"/>
              <a:r>
                <a:rPr lang="en-US" altLang="zh-TW" sz="1200" dirty="0" smtClean="0">
                  <a:solidFill>
                    <a:prstClr val="black"/>
                  </a:solidFill>
                </a:rPr>
                <a:t>Timing </a:t>
              </a:r>
            </a:p>
            <a:p>
              <a:pPr lvl="0" algn="ctr"/>
              <a:r>
                <a:rPr lang="en-US" altLang="zh-TW" sz="1200" dirty="0" smtClean="0">
                  <a:solidFill>
                    <a:prstClr val="black"/>
                  </a:solidFill>
                </a:rPr>
                <a:t>corrector</a:t>
              </a:r>
              <a:endParaRPr lang="zh-TW" altLang="en-US" sz="1200" dirty="0">
                <a:solidFill>
                  <a:prstClr val="black"/>
                </a:solidFill>
              </a:endParaRPr>
            </a:p>
          </p:txBody>
        </p:sp>
        <p:sp>
          <p:nvSpPr>
            <p:cNvPr id="17" name="手繪多邊形 16"/>
            <p:cNvSpPr/>
            <p:nvPr/>
          </p:nvSpPr>
          <p:spPr>
            <a:xfrm flipV="1">
              <a:off x="5468037" y="5489949"/>
              <a:ext cx="1084343" cy="42790"/>
            </a:xfrm>
            <a:custGeom>
              <a:avLst/>
              <a:gdLst>
                <a:gd name="connsiteX0" fmla="*/ 0 w 1440180"/>
                <a:gd name="connsiteY0" fmla="*/ 0 h 0"/>
                <a:gd name="connsiteX1" fmla="*/ 1440180 w 144018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180">
                  <a:moveTo>
                    <a:pt x="0" y="0"/>
                  </a:moveTo>
                  <a:lnTo>
                    <a:pt x="1440180" y="0"/>
                  </a:lnTo>
                </a:path>
              </a:pathLst>
            </a:custGeom>
            <a:ln w="38100">
              <a:solidFill>
                <a:srgbClr val="C00000"/>
              </a:solidFill>
              <a:headEnd type="arrow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9032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Timing Corrector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Timing corrector uses information from simulation output and timing reference to correct timing of input trace events</a:t>
            </a:r>
          </a:p>
          <a:p>
            <a:r>
              <a:rPr lang="en-US" altLang="zh-TW" dirty="0" smtClean="0"/>
              <a:t>In </a:t>
            </a:r>
            <a:r>
              <a:rPr lang="en-US" altLang="zh-TW" dirty="0"/>
              <a:t>timing corrector, </a:t>
            </a:r>
            <a:r>
              <a:rPr lang="en-US" altLang="zh-TW" dirty="0" smtClean="0"/>
              <a:t>a </a:t>
            </a:r>
            <a:r>
              <a:rPr lang="en-US" altLang="zh-TW" dirty="0"/>
              <a:t>virtual ROB is updated </a:t>
            </a:r>
            <a:r>
              <a:rPr lang="en-US" altLang="zh-TW" dirty="0" smtClean="0"/>
              <a:t>cycle-by-cycle</a:t>
            </a:r>
            <a:endParaRPr lang="en-US" altLang="zh-TW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46</a:t>
            </a:fld>
            <a:endParaRPr lang="zh-TW" altLang="zh-TW"/>
          </a:p>
        </p:txBody>
      </p:sp>
      <p:sp>
        <p:nvSpPr>
          <p:cNvPr id="7" name="剪去單一角落矩形 6"/>
          <p:cNvSpPr/>
          <p:nvPr/>
        </p:nvSpPr>
        <p:spPr>
          <a:xfrm>
            <a:off x="1142976" y="4702382"/>
            <a:ext cx="1012054" cy="601755"/>
          </a:xfrm>
          <a:prstGeom prst="snip1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Timing reference</a:t>
            </a:r>
            <a:endParaRPr lang="zh-TW" altLang="en-US" sz="1200" dirty="0"/>
          </a:p>
        </p:txBody>
      </p:sp>
      <p:sp>
        <p:nvSpPr>
          <p:cNvPr id="8" name="流程圖: 替代處理程序 7"/>
          <p:cNvSpPr/>
          <p:nvPr/>
        </p:nvSpPr>
        <p:spPr>
          <a:xfrm>
            <a:off x="5733061" y="3424648"/>
            <a:ext cx="1028821" cy="735478"/>
          </a:xfrm>
          <a:prstGeom prst="flowChartAlternateProcess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Simulation</a:t>
            </a:r>
          </a:p>
          <a:p>
            <a:pPr algn="ctr"/>
            <a:r>
              <a:rPr lang="en-US" altLang="zh-TW" sz="1200" dirty="0" smtClean="0"/>
              <a:t>output</a:t>
            </a:r>
          </a:p>
        </p:txBody>
      </p:sp>
      <p:sp>
        <p:nvSpPr>
          <p:cNvPr id="9" name="雲朵形 8"/>
          <p:cNvSpPr/>
          <p:nvPr/>
        </p:nvSpPr>
        <p:spPr>
          <a:xfrm>
            <a:off x="4034558" y="3357786"/>
            <a:ext cx="1373501" cy="869201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smtClean="0"/>
              <a:t>Trace-driven simulator</a:t>
            </a:r>
            <a:endParaRPr lang="zh-TW" altLang="en-US" sz="1200" dirty="0"/>
          </a:p>
        </p:txBody>
      </p:sp>
      <p:grpSp>
        <p:nvGrpSpPr>
          <p:cNvPr id="11" name="群組 10"/>
          <p:cNvGrpSpPr/>
          <p:nvPr/>
        </p:nvGrpSpPr>
        <p:grpSpPr>
          <a:xfrm>
            <a:off x="2155027" y="3383071"/>
            <a:ext cx="1106395" cy="876040"/>
            <a:chOff x="4429124" y="928669"/>
            <a:chExt cx="1119823" cy="928695"/>
          </a:xfrm>
        </p:grpSpPr>
        <p:sp>
          <p:nvSpPr>
            <p:cNvPr id="32" name="矩形 31"/>
            <p:cNvSpPr/>
            <p:nvPr/>
          </p:nvSpPr>
          <p:spPr>
            <a:xfrm>
              <a:off x="4429124" y="928669"/>
              <a:ext cx="1000132" cy="785818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Trace event</a:t>
              </a:r>
              <a:endParaRPr lang="zh-TW" altLang="en-US" sz="1200" dirty="0"/>
            </a:p>
          </p:txBody>
        </p:sp>
        <p:sp>
          <p:nvSpPr>
            <p:cNvPr id="33" name="矩形 11"/>
            <p:cNvSpPr/>
            <p:nvPr/>
          </p:nvSpPr>
          <p:spPr>
            <a:xfrm>
              <a:off x="4500562" y="1000108"/>
              <a:ext cx="1000132" cy="785818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Trace event</a:t>
              </a:r>
              <a:endParaRPr lang="zh-TW" altLang="en-US" sz="1200" dirty="0"/>
            </a:p>
          </p:txBody>
        </p:sp>
        <p:sp>
          <p:nvSpPr>
            <p:cNvPr id="34" name="矩形 33"/>
            <p:cNvSpPr/>
            <p:nvPr/>
          </p:nvSpPr>
          <p:spPr>
            <a:xfrm>
              <a:off x="4572004" y="1071546"/>
              <a:ext cx="976943" cy="785818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 smtClean="0"/>
                <a:t>Dependence-aware trace</a:t>
              </a:r>
              <a:endParaRPr lang="zh-TW" altLang="en-US" sz="1200" dirty="0"/>
            </a:p>
          </p:txBody>
        </p:sp>
      </p:grpSp>
      <p:grpSp>
        <p:nvGrpSpPr>
          <p:cNvPr id="15" name="群組 16"/>
          <p:cNvGrpSpPr/>
          <p:nvPr/>
        </p:nvGrpSpPr>
        <p:grpSpPr>
          <a:xfrm>
            <a:off x="3239373" y="4494433"/>
            <a:ext cx="1020015" cy="943427"/>
            <a:chOff x="5214942" y="2571744"/>
            <a:chExt cx="1008000" cy="1008000"/>
          </a:xfrm>
        </p:grpSpPr>
        <p:sp>
          <p:nvSpPr>
            <p:cNvPr id="30" name="菱形 29"/>
            <p:cNvSpPr/>
            <p:nvPr/>
          </p:nvSpPr>
          <p:spPr>
            <a:xfrm>
              <a:off x="5214942" y="2571744"/>
              <a:ext cx="1008000" cy="1008000"/>
            </a:xfrm>
            <a:prstGeom prst="diamond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200" dirty="0"/>
            </a:p>
          </p:txBody>
        </p:sp>
        <p:sp>
          <p:nvSpPr>
            <p:cNvPr id="31" name="矩形 30"/>
            <p:cNvSpPr/>
            <p:nvPr/>
          </p:nvSpPr>
          <p:spPr>
            <a:xfrm>
              <a:off x="5328000" y="2824459"/>
              <a:ext cx="785802" cy="461665"/>
            </a:xfrm>
            <a:prstGeom prst="rect">
              <a:avLst/>
            </a:prstGeom>
            <a:ln w="38100">
              <a:noFill/>
            </a:ln>
          </p:spPr>
          <p:txBody>
            <a:bodyPr wrap="square">
              <a:spAutoFit/>
            </a:bodyPr>
            <a:lstStyle/>
            <a:p>
              <a:pPr lvl="0" algn="ctr"/>
              <a:r>
                <a:rPr lang="en-US" altLang="zh-TW" sz="1200" dirty="0" smtClean="0">
                  <a:solidFill>
                    <a:prstClr val="black"/>
                  </a:solidFill>
                </a:rPr>
                <a:t>Timing </a:t>
              </a:r>
            </a:p>
            <a:p>
              <a:pPr lvl="0" algn="ctr"/>
              <a:r>
                <a:rPr lang="en-US" altLang="zh-TW" sz="1200" dirty="0" smtClean="0">
                  <a:solidFill>
                    <a:prstClr val="black"/>
                  </a:solidFill>
                </a:rPr>
                <a:t>corrector</a:t>
              </a:r>
              <a:endParaRPr lang="zh-TW" altLang="en-US" sz="1200" dirty="0">
                <a:solidFill>
                  <a:prstClr val="black"/>
                </a:solidFill>
              </a:endParaRPr>
            </a:p>
          </p:txBody>
        </p:sp>
      </p:grpSp>
      <p:sp>
        <p:nvSpPr>
          <p:cNvPr id="16" name="手繪多邊形 15"/>
          <p:cNvSpPr/>
          <p:nvPr/>
        </p:nvSpPr>
        <p:spPr>
          <a:xfrm flipV="1">
            <a:off x="2155030" y="4927041"/>
            <a:ext cx="1084343" cy="42790"/>
          </a:xfrm>
          <a:custGeom>
            <a:avLst/>
            <a:gdLst>
              <a:gd name="connsiteX0" fmla="*/ 0 w 1440180"/>
              <a:gd name="connsiteY0" fmla="*/ 0 h 0"/>
              <a:gd name="connsiteX1" fmla="*/ 1440180 w 144018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40180">
                <a:moveTo>
                  <a:pt x="0" y="0"/>
                </a:moveTo>
                <a:lnTo>
                  <a:pt x="1440180" y="0"/>
                </a:lnTo>
              </a:path>
            </a:pathLst>
          </a:custGeom>
          <a:ln w="3810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單箭頭接點 16"/>
          <p:cNvCxnSpPr/>
          <p:nvPr/>
        </p:nvCxnSpPr>
        <p:spPr>
          <a:xfrm rot="16200000" flipH="1">
            <a:off x="6107416" y="4342476"/>
            <a:ext cx="358192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8" name="群組 21"/>
          <p:cNvGrpSpPr/>
          <p:nvPr/>
        </p:nvGrpSpPr>
        <p:grpSpPr>
          <a:xfrm>
            <a:off x="5761686" y="4501797"/>
            <a:ext cx="1020015" cy="943427"/>
            <a:chOff x="5259065" y="2571744"/>
            <a:chExt cx="1008000" cy="1008000"/>
          </a:xfrm>
        </p:grpSpPr>
        <p:sp>
          <p:nvSpPr>
            <p:cNvPr id="28" name="菱形 27"/>
            <p:cNvSpPr/>
            <p:nvPr/>
          </p:nvSpPr>
          <p:spPr>
            <a:xfrm>
              <a:off x="5259065" y="2571744"/>
              <a:ext cx="1008000" cy="1008000"/>
            </a:xfrm>
            <a:prstGeom prst="diamond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200" dirty="0"/>
            </a:p>
          </p:txBody>
        </p:sp>
        <p:sp>
          <p:nvSpPr>
            <p:cNvPr id="29" name="矩形 28"/>
            <p:cNvSpPr/>
            <p:nvPr/>
          </p:nvSpPr>
          <p:spPr>
            <a:xfrm>
              <a:off x="5294248" y="2937687"/>
              <a:ext cx="894942" cy="276999"/>
            </a:xfrm>
            <a:prstGeom prst="rect">
              <a:avLst/>
            </a:prstGeom>
            <a:ln w="38100">
              <a:noFill/>
            </a:ln>
          </p:spPr>
          <p:txBody>
            <a:bodyPr wrap="square">
              <a:spAutoFit/>
            </a:bodyPr>
            <a:lstStyle/>
            <a:p>
              <a:pPr lvl="0" algn="ctr"/>
              <a:r>
                <a:rPr lang="en-US" altLang="zh-TW" sz="1200" dirty="0" smtClean="0">
                  <a:solidFill>
                    <a:prstClr val="black"/>
                  </a:solidFill>
                </a:rPr>
                <a:t>Converge ?</a:t>
              </a:r>
              <a:endParaRPr lang="zh-TW" altLang="en-US" sz="1200" dirty="0">
                <a:solidFill>
                  <a:prstClr val="black"/>
                </a:solidFill>
              </a:endParaRPr>
            </a:p>
          </p:txBody>
        </p:sp>
      </p:grpSp>
      <p:cxnSp>
        <p:nvCxnSpPr>
          <p:cNvPr id="19" name="直線單箭頭接點 18"/>
          <p:cNvCxnSpPr/>
          <p:nvPr/>
        </p:nvCxnSpPr>
        <p:spPr>
          <a:xfrm flipV="1">
            <a:off x="6753850" y="4969829"/>
            <a:ext cx="504000" cy="368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6426557" y="4710575"/>
            <a:ext cx="905610" cy="259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TW" sz="1200" dirty="0" smtClean="0">
                <a:solidFill>
                  <a:prstClr val="black"/>
                </a:solidFill>
              </a:rPr>
              <a:t>Yes</a:t>
            </a:r>
            <a:endParaRPr lang="zh-TW" altLang="en-US" sz="1200" dirty="0">
              <a:solidFill>
                <a:prstClr val="black"/>
              </a:solidFill>
            </a:endParaRPr>
          </a:p>
        </p:txBody>
      </p:sp>
      <p:cxnSp>
        <p:nvCxnSpPr>
          <p:cNvPr id="21" name="直線單箭頭接點 20"/>
          <p:cNvCxnSpPr/>
          <p:nvPr/>
        </p:nvCxnSpPr>
        <p:spPr>
          <a:xfrm rot="10800000">
            <a:off x="4238446" y="4969829"/>
            <a:ext cx="1548000" cy="368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4595084" y="4710575"/>
            <a:ext cx="905610" cy="252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TW" sz="1200" dirty="0" smtClean="0">
                <a:solidFill>
                  <a:prstClr val="black"/>
                </a:solidFill>
              </a:rPr>
              <a:t>No</a:t>
            </a:r>
            <a:endParaRPr lang="zh-TW" altLang="en-US" sz="1200" dirty="0">
              <a:solidFill>
                <a:prstClr val="black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238290" y="4730959"/>
            <a:ext cx="905610" cy="432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TW" sz="1200" dirty="0" smtClean="0">
                <a:solidFill>
                  <a:prstClr val="black"/>
                </a:solidFill>
              </a:rPr>
              <a:t>Simulation</a:t>
            </a:r>
          </a:p>
          <a:p>
            <a:pPr lvl="0" algn="ctr"/>
            <a:r>
              <a:rPr lang="en-US" altLang="zh-TW" sz="1200" dirty="0" smtClean="0">
                <a:solidFill>
                  <a:prstClr val="black"/>
                </a:solidFill>
              </a:rPr>
              <a:t>finished</a:t>
            </a:r>
            <a:endParaRPr lang="zh-TW" altLang="en-US" sz="1200" dirty="0">
              <a:solidFill>
                <a:prstClr val="black"/>
              </a:solidFill>
            </a:endParaRPr>
          </a:p>
        </p:txBody>
      </p:sp>
      <p:cxnSp>
        <p:nvCxnSpPr>
          <p:cNvPr id="24" name="肘形接點 91"/>
          <p:cNvCxnSpPr/>
          <p:nvPr/>
        </p:nvCxnSpPr>
        <p:spPr>
          <a:xfrm rot="16200000" flipV="1">
            <a:off x="3329937" y="4074990"/>
            <a:ext cx="401170" cy="437718"/>
          </a:xfrm>
          <a:prstGeom prst="bentConnector2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3311663" y="3758956"/>
            <a:ext cx="722896" cy="148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stCxn id="9" idx="0"/>
            <a:endCxn id="8" idx="1"/>
          </p:cNvCxnSpPr>
          <p:nvPr/>
        </p:nvCxnSpPr>
        <p:spPr>
          <a:xfrm>
            <a:off x="5406914" y="3792387"/>
            <a:ext cx="326147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3600821" y="4093264"/>
            <a:ext cx="905610" cy="432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TW" sz="1200" dirty="0" smtClean="0">
                <a:solidFill>
                  <a:prstClr val="black"/>
                </a:solidFill>
              </a:rPr>
              <a:t>Update timing</a:t>
            </a:r>
            <a:endParaRPr lang="zh-TW" altLang="en-US" sz="1200" dirty="0">
              <a:solidFill>
                <a:prstClr val="black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79512" y="5666590"/>
            <a:ext cx="8858280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400" dirty="0" smtClean="0">
                <a:latin typeface="+mn-lt"/>
              </a:rPr>
              <a:t>[2] </a:t>
            </a:r>
            <a:r>
              <a:rPr lang="en-US" altLang="zh-TW" sz="1400" dirty="0" smtClean="0">
                <a:latin typeface="+mn-lt"/>
              </a:rPr>
              <a:t>In-N-Out: Reproducing Out-of-Order Superscalar Processor Behavior from Reduced In-Order Traces (MASCOTS 2011)</a:t>
            </a:r>
            <a:endParaRPr lang="zh-TW" altLang="en-US" sz="1400" dirty="0" smtClean="0">
              <a:latin typeface="+mn-lt"/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546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Timing Corrector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When the </a:t>
            </a:r>
            <a:r>
              <a:rPr lang="en-US" altLang="zh-TW" dirty="0" err="1" smtClean="0"/>
              <a:t>rob_head</a:t>
            </a:r>
            <a:r>
              <a:rPr lang="en-US" altLang="zh-TW" dirty="0" smtClean="0"/>
              <a:t> reaches commit time, we commit trace and set the new </a:t>
            </a:r>
            <a:r>
              <a:rPr lang="en-US" altLang="zh-TW" dirty="0" err="1" smtClean="0"/>
              <a:t>rob_head</a:t>
            </a:r>
            <a:endParaRPr lang="en-US" altLang="zh-TW" dirty="0" smtClean="0"/>
          </a:p>
          <a:p>
            <a:r>
              <a:rPr lang="en-US" altLang="zh-TW" dirty="0" smtClean="0"/>
              <a:t>If free entries are enough to </a:t>
            </a:r>
            <a:r>
              <a:rPr lang="en-US" dirty="0" smtClean="0"/>
              <a:t>accommodate next trace, we issue it and compute the trace injection time base on timing reference</a:t>
            </a: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47</a:t>
            </a:fld>
            <a:endParaRPr lang="zh-TW" altLang="zh-TW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203" y="3284984"/>
            <a:ext cx="8956293" cy="2833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78193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Discussion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Our proposed methodology is to feed the traces through ordinary simulators several rounds</a:t>
            </a:r>
          </a:p>
          <a:p>
            <a:r>
              <a:rPr lang="en-US" altLang="zh-TW" dirty="0" smtClean="0"/>
              <a:t>If all trace events are in the critical path of the execution, we have to loop as many times as the number of trace events in the worse case</a:t>
            </a:r>
          </a:p>
          <a:p>
            <a:r>
              <a:rPr lang="en-US" altLang="zh-TW" dirty="0" smtClean="0"/>
              <a:t>Observation shows that most of the trace events are not in the critical path, and thus the timing can be converged very soon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48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318388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Experiment Setup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Gem5 with 16 out-of-order cores, single-threaded and tiled-base as baseline</a:t>
            </a:r>
          </a:p>
          <a:p>
            <a:r>
              <a:rPr lang="en-US" altLang="zh-TW" dirty="0" smtClean="0"/>
              <a:t>Garnet in Gem5 as reference</a:t>
            </a:r>
          </a:p>
          <a:p>
            <a:r>
              <a:rPr lang="en-US" altLang="zh-TW" dirty="0" err="1" smtClean="0"/>
              <a:t>Booksim</a:t>
            </a:r>
            <a:r>
              <a:rPr lang="en-US" altLang="zh-TW" dirty="0" smtClean="0"/>
              <a:t> as dependence-aware </a:t>
            </a:r>
            <a:br>
              <a:rPr lang="en-US" altLang="zh-TW" dirty="0" smtClean="0"/>
            </a:br>
            <a:r>
              <a:rPr lang="en-US" altLang="zh-TW" dirty="0" smtClean="0"/>
              <a:t>trace-driven simulator</a:t>
            </a:r>
          </a:p>
          <a:p>
            <a:pPr lvl="1"/>
            <a:r>
              <a:rPr lang="en-US" altLang="zh-TW" dirty="0" smtClean="0"/>
              <a:t>Parameters in </a:t>
            </a:r>
            <a:r>
              <a:rPr lang="en-US" altLang="zh-TW" dirty="0" err="1"/>
              <a:t>B</a:t>
            </a:r>
            <a:r>
              <a:rPr lang="en-US" altLang="zh-TW" dirty="0" err="1" smtClean="0"/>
              <a:t>ooksim</a:t>
            </a:r>
            <a:r>
              <a:rPr lang="en-US" altLang="zh-TW" dirty="0" smtClean="0"/>
              <a:t> are set same as those in Garnet</a:t>
            </a:r>
          </a:p>
          <a:p>
            <a:r>
              <a:rPr lang="en-US" altLang="zh-TW" dirty="0" smtClean="0"/>
              <a:t>Benchmark suite from SPEC2006 is used and each core runs on copy of the program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49</a:t>
            </a:fld>
            <a:endParaRPr lang="zh-TW" altLang="zh-TW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72132" y="1571612"/>
            <a:ext cx="2140677" cy="1395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文字方塊 5"/>
          <p:cNvSpPr txBox="1"/>
          <p:nvPr/>
        </p:nvSpPr>
        <p:spPr>
          <a:xfrm>
            <a:off x="5572132" y="2928934"/>
            <a:ext cx="2157835" cy="40011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altLang="zh-TW" sz="2000" dirty="0" smtClean="0">
                <a:ea typeface="標楷體" pitchFamily="65" charset="-120"/>
                <a:cs typeface="Calibri" pitchFamily="34" charset="0"/>
              </a:rPr>
              <a:t>Target architecture</a:t>
            </a:r>
            <a:endParaRPr lang="zh-TW" altLang="en-US" sz="2000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580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Experiment Setup</a:t>
            </a:r>
            <a:endParaRPr lang="zh-TW" altLang="en-US" dirty="0"/>
          </a:p>
        </p:txBody>
      </p:sp>
      <p:sp>
        <p:nvSpPr>
          <p:cNvPr id="8" name="內容版面配置區 7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/>
              <a:t>Microarchitecture parameters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50</a:t>
            </a:fld>
            <a:endParaRPr lang="zh-TW" altLang="zh-TW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3" y="1446077"/>
            <a:ext cx="8135967" cy="4340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01918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Metrics Used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Network latency error</a:t>
            </a:r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Converge ratio</a:t>
            </a: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51</a:t>
            </a:fld>
            <a:endParaRPr lang="zh-TW" altLang="zh-TW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740" y="1628800"/>
            <a:ext cx="9137772" cy="73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9903" y="3288974"/>
            <a:ext cx="8946593" cy="716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40798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Convergence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We run each benchmark for 30 rounds</a:t>
            </a:r>
          </a:p>
          <a:p>
            <a:r>
              <a:rPr lang="en-US" altLang="zh-TW" dirty="0" smtClean="0"/>
              <a:t>Most of benchmarks converge after 5 rounds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52</a:t>
            </a:fld>
            <a:endParaRPr lang="zh-TW" altLang="zh-TW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060848"/>
            <a:ext cx="8366152" cy="4056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36577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Accuracy</a:t>
            </a:r>
            <a:endParaRPr lang="zh-TW" altLang="en-US" dirty="0"/>
          </a:p>
        </p:txBody>
      </p:sp>
      <p:sp>
        <p:nvSpPr>
          <p:cNvPr id="13" name="內容版面配置區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US" altLang="zh-TW" kern="0" dirty="0" smtClean="0">
              <a:ea typeface="標楷體" pitchFamily="65" charset="-120"/>
            </a:endParaRPr>
          </a:p>
          <a:p>
            <a:pPr lvl="0"/>
            <a:endParaRPr lang="en-US" altLang="zh-TW" kern="0" dirty="0">
              <a:ea typeface="標楷體" pitchFamily="65" charset="-120"/>
            </a:endParaRPr>
          </a:p>
          <a:p>
            <a:pPr lvl="0"/>
            <a:endParaRPr lang="en-US" altLang="zh-TW" kern="0" dirty="0" smtClean="0">
              <a:ea typeface="標楷體" pitchFamily="65" charset="-120"/>
            </a:endParaRPr>
          </a:p>
          <a:p>
            <a:pPr lvl="0"/>
            <a:endParaRPr lang="en-US" altLang="zh-TW" kern="0" dirty="0">
              <a:ea typeface="標楷體" pitchFamily="65" charset="-120"/>
            </a:endParaRPr>
          </a:p>
          <a:p>
            <a:pPr lvl="0"/>
            <a:endParaRPr lang="en-US" altLang="zh-TW" kern="0" dirty="0" smtClean="0">
              <a:ea typeface="標楷體" pitchFamily="65" charset="-120"/>
            </a:endParaRPr>
          </a:p>
          <a:p>
            <a:pPr lvl="0"/>
            <a:endParaRPr lang="en-US" altLang="zh-TW" kern="0" dirty="0">
              <a:ea typeface="標楷體" pitchFamily="65" charset="-120"/>
            </a:endParaRPr>
          </a:p>
          <a:p>
            <a:pPr lvl="0"/>
            <a:endParaRPr lang="en-US" altLang="zh-TW" kern="0" dirty="0" smtClean="0">
              <a:ea typeface="標楷體" pitchFamily="65" charset="-120"/>
            </a:endParaRPr>
          </a:p>
          <a:p>
            <a:pPr lvl="0"/>
            <a:endParaRPr lang="en-US" altLang="zh-TW" kern="0" dirty="0">
              <a:ea typeface="標楷體" pitchFamily="65" charset="-120"/>
            </a:endParaRPr>
          </a:p>
          <a:p>
            <a:pPr lvl="0"/>
            <a:endParaRPr lang="en-US" altLang="zh-TW" kern="0" dirty="0" smtClean="0">
              <a:ea typeface="標楷體" pitchFamily="65" charset="-120"/>
            </a:endParaRPr>
          </a:p>
          <a:p>
            <a:pPr lvl="0"/>
            <a:r>
              <a:rPr lang="en-US" altLang="zh-TW" sz="2400" kern="0" dirty="0" smtClean="0">
                <a:ea typeface="標楷體" pitchFamily="65" charset="-120"/>
              </a:rPr>
              <a:t>These </a:t>
            </a:r>
            <a:r>
              <a:rPr lang="en-US" altLang="zh-TW" sz="2400" kern="0" dirty="0">
                <a:ea typeface="標楷體" pitchFamily="65" charset="-120"/>
              </a:rPr>
              <a:t>four benchmarks have relatively higher cache miss </a:t>
            </a:r>
            <a:r>
              <a:rPr lang="en-US" altLang="zh-TW" sz="2400" kern="0" dirty="0" smtClean="0">
                <a:ea typeface="標楷體" pitchFamily="65" charset="-120"/>
              </a:rPr>
              <a:t>rate</a:t>
            </a:r>
            <a:endParaRPr lang="en-US" altLang="zh-TW" sz="2400" kern="0" dirty="0">
              <a:ea typeface="標楷體" pitchFamily="65" charset="-120"/>
            </a:endParaRPr>
          </a:p>
          <a:p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53</a:t>
            </a:fld>
            <a:endParaRPr lang="zh-TW" altLang="zh-TW"/>
          </a:p>
        </p:txBody>
      </p:sp>
      <p:sp>
        <p:nvSpPr>
          <p:cNvPr id="6" name="橢圓 5"/>
          <p:cNvSpPr/>
          <p:nvPr/>
        </p:nvSpPr>
        <p:spPr bwMode="auto">
          <a:xfrm>
            <a:off x="2000232" y="2000240"/>
            <a:ext cx="785818" cy="3071834"/>
          </a:xfrm>
          <a:prstGeom prst="ellips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7" name="橢圓 6"/>
          <p:cNvSpPr/>
          <p:nvPr/>
        </p:nvSpPr>
        <p:spPr bwMode="auto">
          <a:xfrm>
            <a:off x="2786050" y="1142984"/>
            <a:ext cx="714380" cy="3929090"/>
          </a:xfrm>
          <a:prstGeom prst="ellips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" name="橢圓 8"/>
          <p:cNvSpPr/>
          <p:nvPr/>
        </p:nvSpPr>
        <p:spPr bwMode="auto">
          <a:xfrm>
            <a:off x="3500430" y="2000240"/>
            <a:ext cx="785818" cy="3071834"/>
          </a:xfrm>
          <a:prstGeom prst="ellips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" name="橢圓 9"/>
          <p:cNvSpPr/>
          <p:nvPr/>
        </p:nvSpPr>
        <p:spPr bwMode="auto">
          <a:xfrm>
            <a:off x="5000628" y="2071678"/>
            <a:ext cx="785818" cy="3071834"/>
          </a:xfrm>
          <a:prstGeom prst="ellips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000108"/>
            <a:ext cx="7077600" cy="4035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325195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Accuracy</a:t>
            </a:r>
            <a:endParaRPr lang="zh-TW" altLang="en-US" dirty="0"/>
          </a:p>
        </p:txBody>
      </p:sp>
      <p:sp>
        <p:nvSpPr>
          <p:cNvPr id="8" name="內容版面配置區 2"/>
          <p:cNvSpPr txBox="1">
            <a:spLocks/>
          </p:cNvSpPr>
          <p:nvPr/>
        </p:nvSpPr>
        <p:spPr bwMode="auto">
          <a:xfrm>
            <a:off x="716967" y="5075964"/>
            <a:ext cx="7786742" cy="1449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l"/>
            </a:pPr>
            <a:r>
              <a:rPr lang="en-US" altLang="zh-TW" sz="2000" kern="0" dirty="0" smtClean="0">
                <a:latin typeface="+mn-lt"/>
                <a:ea typeface="標楷體" pitchFamily="65" charset="-120"/>
              </a:rPr>
              <a:t>These three benchmarks have relatively lower cache miss rate.</a:t>
            </a:r>
          </a:p>
          <a:p>
            <a:pPr marL="342900" lvl="0" indent="-3429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l"/>
            </a:pPr>
            <a:r>
              <a:rPr lang="en-US" altLang="zh-TW" sz="2000" kern="0" dirty="0" smtClean="0">
                <a:latin typeface="+mn-lt"/>
                <a:ea typeface="標楷體" pitchFamily="65" charset="-120"/>
              </a:rPr>
              <a:t>One source of discrepancy is that the independent cache miss model does not consider the dependency in ROB.</a:t>
            </a:r>
          </a:p>
        </p:txBody>
      </p:sp>
      <p:sp>
        <p:nvSpPr>
          <p:cNvPr id="6" name="橢圓 5"/>
          <p:cNvSpPr/>
          <p:nvPr/>
        </p:nvSpPr>
        <p:spPr bwMode="auto">
          <a:xfrm>
            <a:off x="4286248" y="3500438"/>
            <a:ext cx="714380" cy="1571636"/>
          </a:xfrm>
          <a:prstGeom prst="ellips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7" name="橢圓 6"/>
          <p:cNvSpPr/>
          <p:nvPr/>
        </p:nvSpPr>
        <p:spPr bwMode="auto">
          <a:xfrm>
            <a:off x="5786446" y="3500438"/>
            <a:ext cx="714380" cy="1571636"/>
          </a:xfrm>
          <a:prstGeom prst="ellips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" name="橢圓 8"/>
          <p:cNvSpPr/>
          <p:nvPr/>
        </p:nvSpPr>
        <p:spPr bwMode="auto">
          <a:xfrm>
            <a:off x="6572264" y="3500438"/>
            <a:ext cx="714380" cy="1571636"/>
          </a:xfrm>
          <a:prstGeom prst="ellips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000108"/>
            <a:ext cx="7077600" cy="4035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54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115119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Simulation Time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440947" y="4941168"/>
            <a:ext cx="8208000" cy="1020752"/>
          </a:xfrm>
        </p:spPr>
        <p:txBody>
          <a:bodyPr/>
          <a:lstStyle/>
          <a:p>
            <a:r>
              <a:rPr lang="en-US" altLang="zh-TW" sz="2400" dirty="0" smtClean="0"/>
              <a:t>Require only 6.12% of the simulation time when compared to a full-system simulator.</a:t>
            </a:r>
            <a:endParaRPr lang="zh-TW" altLang="en-US" sz="2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071546"/>
            <a:ext cx="6565402" cy="410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55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89054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Why trace-driven simulation for exploiting architecture designs?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Dependence-aware trace: why and how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Dependence-aware trace-driven simulation for SMP </a:t>
            </a: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NoC</a:t>
            </a:r>
            <a:endParaRPr lang="en-US" altLang="zh-TW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smtClean="0">
                <a:solidFill>
                  <a:srgbClr val="FF0000"/>
                </a:solidFill>
              </a:rPr>
              <a:t>Dependence-aware trace-driven simulation for GPU </a:t>
            </a:r>
            <a:r>
              <a:rPr lang="en-US" altLang="zh-TW" dirty="0" err="1" smtClean="0">
                <a:solidFill>
                  <a:srgbClr val="FF0000"/>
                </a:solidFill>
              </a:rPr>
              <a:t>NoC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FSM-based trace compression</a:t>
            </a:r>
          </a:p>
          <a:p>
            <a:endParaRPr lang="zh-TW" altLang="en-US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56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503899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GPU versus CPU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GPU has following features:</a:t>
            </a:r>
          </a:p>
          <a:p>
            <a:pPr lvl="1"/>
            <a:r>
              <a:rPr lang="en-US" altLang="zh-TW" dirty="0"/>
              <a:t>SIMD (highly parallel)</a:t>
            </a:r>
          </a:p>
          <a:p>
            <a:pPr lvl="1"/>
            <a:r>
              <a:rPr lang="en-US" altLang="zh-TW" dirty="0" smtClean="0"/>
              <a:t>Warps switched </a:t>
            </a:r>
            <a:r>
              <a:rPr lang="en-US" altLang="zh-TW" dirty="0"/>
              <a:t>by hardware</a:t>
            </a:r>
          </a:p>
          <a:p>
            <a:pPr lvl="1"/>
            <a:r>
              <a:rPr lang="en-US" altLang="zh-TW" dirty="0"/>
              <a:t>High bandwidth memory</a:t>
            </a:r>
          </a:p>
          <a:p>
            <a:pPr lvl="1"/>
            <a:r>
              <a:rPr lang="en-US" altLang="zh-TW" dirty="0"/>
              <a:t>Low power</a:t>
            </a:r>
          </a:p>
          <a:p>
            <a:pPr lvl="1"/>
            <a:r>
              <a:rPr lang="en-US" altLang="zh-TW" dirty="0"/>
              <a:t>Short </a:t>
            </a:r>
            <a:r>
              <a:rPr lang="en-US" altLang="zh-TW" dirty="0" smtClean="0"/>
              <a:t>pipeline</a:t>
            </a:r>
            <a:endParaRPr lang="en-US" altLang="zh-TW" dirty="0"/>
          </a:p>
          <a:p>
            <a:pPr lvl="1"/>
            <a:r>
              <a:rPr lang="en-US" altLang="zh-TW" dirty="0" smtClean="0"/>
              <a:t>In-order execution and sequential access</a:t>
            </a:r>
          </a:p>
          <a:p>
            <a:pPr marL="514350" indent="-457200"/>
            <a:r>
              <a:rPr lang="en-US" altLang="zh-TW" dirty="0" smtClean="0"/>
              <a:t>Is there any difference between dependence-aware trace for GPU and for CPU?</a:t>
            </a:r>
          </a:p>
          <a:p>
            <a:pPr marL="514350" indent="-457200"/>
            <a:r>
              <a:rPr lang="en-US" altLang="zh-TW" dirty="0" smtClean="0"/>
              <a:t>How effective is dependence-aware trace for the </a:t>
            </a:r>
            <a:r>
              <a:rPr lang="en-US" altLang="zh-TW" dirty="0" err="1" smtClean="0"/>
              <a:t>NoC</a:t>
            </a:r>
            <a:r>
              <a:rPr lang="en-US" altLang="zh-TW" dirty="0" smtClean="0"/>
              <a:t> study of GPU?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57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786408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Evaluation Plan</a:t>
            </a:r>
            <a:endParaRPr lang="zh-TW" altLang="en-US" dirty="0"/>
          </a:p>
        </p:txBody>
      </p:sp>
      <p:sp>
        <p:nvSpPr>
          <p:cNvPr id="31" name="內容版面配置區 30"/>
          <p:cNvSpPr>
            <a:spLocks noGrp="1"/>
          </p:cNvSpPr>
          <p:nvPr>
            <p:ph idx="1"/>
          </p:nvPr>
        </p:nvSpPr>
        <p:spPr>
          <a:xfrm>
            <a:off x="425450" y="1035050"/>
            <a:ext cx="4412678" cy="5057775"/>
          </a:xfrm>
        </p:spPr>
        <p:txBody>
          <a:bodyPr/>
          <a:lstStyle/>
          <a:p>
            <a:r>
              <a:rPr lang="en-US" altLang="zh-TW" dirty="0" smtClean="0"/>
              <a:t>Focus on </a:t>
            </a:r>
            <a:r>
              <a:rPr lang="en-US" altLang="zh-TW" dirty="0" err="1" smtClean="0"/>
              <a:t>NoC</a:t>
            </a:r>
            <a:r>
              <a:rPr lang="en-US" altLang="zh-TW" dirty="0" smtClean="0"/>
              <a:t> of GPU</a:t>
            </a:r>
          </a:p>
          <a:p>
            <a:r>
              <a:rPr lang="en-US" altLang="zh-TW" dirty="0" smtClean="0"/>
              <a:t>Difficulties:</a:t>
            </a:r>
          </a:p>
          <a:p>
            <a:pPr lvl="1"/>
            <a:r>
              <a:rPr lang="en-US" altLang="zh-TW" dirty="0" smtClean="0"/>
              <a:t>Garnet only models one-way delivery, but SMP has 2-way traffic</a:t>
            </a:r>
          </a:p>
          <a:p>
            <a:pPr lvl="1"/>
            <a:r>
              <a:rPr lang="en-US" altLang="zh-TW" dirty="0" smtClean="0"/>
              <a:t>Correspondence of messages at different layers</a:t>
            </a:r>
          </a:p>
          <a:p>
            <a:pPr lvl="1"/>
            <a:r>
              <a:rPr lang="en-US" altLang="zh-TW" dirty="0" smtClean="0"/>
              <a:t>Garnet is for CPU, not for GPU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>
          <a:xfrm>
            <a:off x="6731000" y="6229350"/>
            <a:ext cx="1905000" cy="457200"/>
          </a:xfrm>
        </p:spPr>
        <p:txBody>
          <a:bodyPr/>
          <a:lstStyle/>
          <a:p>
            <a:fld id="{2140DAD8-A615-D04E-90CB-D1F120FA7467}" type="slidenum">
              <a:rPr lang="zh-TW" altLang="en-US" smtClean="0"/>
              <a:pPr/>
              <a:t>58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4697619" y="1268760"/>
            <a:ext cx="1367370" cy="62397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dirty="0" smtClean="0"/>
              <a:t>Benchmark</a:t>
            </a:r>
            <a:endParaRPr lang="zh-TW" altLang="en-US" sz="2000" dirty="0"/>
          </a:p>
        </p:txBody>
      </p:sp>
      <p:sp>
        <p:nvSpPr>
          <p:cNvPr id="6" name="矩形 5"/>
          <p:cNvSpPr/>
          <p:nvPr/>
        </p:nvSpPr>
        <p:spPr>
          <a:xfrm>
            <a:off x="7484040" y="2610532"/>
            <a:ext cx="846500" cy="62397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2000" dirty="0" smtClean="0"/>
              <a:t>Trace</a:t>
            </a:r>
          </a:p>
          <a:p>
            <a:pPr algn="ctr"/>
            <a:r>
              <a:rPr lang="en-US" altLang="zh-TW" sz="1400" dirty="0" smtClean="0"/>
              <a:t>(causality)</a:t>
            </a:r>
            <a:endParaRPr lang="zh-TW" altLang="en-US" sz="1400" dirty="0"/>
          </a:p>
        </p:txBody>
      </p:sp>
      <p:sp>
        <p:nvSpPr>
          <p:cNvPr id="7" name="矩形 6"/>
          <p:cNvSpPr/>
          <p:nvPr/>
        </p:nvSpPr>
        <p:spPr>
          <a:xfrm>
            <a:off x="4652204" y="4979783"/>
            <a:ext cx="1458201" cy="88640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dirty="0" smtClean="0"/>
              <a:t>Network report (Full-system)</a:t>
            </a:r>
          </a:p>
        </p:txBody>
      </p:sp>
      <p:sp>
        <p:nvSpPr>
          <p:cNvPr id="8" name="矩形 7"/>
          <p:cNvSpPr/>
          <p:nvPr/>
        </p:nvSpPr>
        <p:spPr>
          <a:xfrm>
            <a:off x="4743035" y="2610532"/>
            <a:ext cx="1276539" cy="62397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 smtClean="0">
                <a:solidFill>
                  <a:schemeClr val="tx1"/>
                </a:solidFill>
              </a:rPr>
              <a:t>Multi2Sim</a:t>
            </a:r>
          </a:p>
          <a:p>
            <a:pPr algn="ctr"/>
            <a:r>
              <a:rPr lang="en-US" altLang="zh-TW" sz="2000" dirty="0" smtClean="0">
                <a:solidFill>
                  <a:schemeClr val="tx1"/>
                </a:solidFill>
              </a:rPr>
              <a:t>(w/ </a:t>
            </a:r>
            <a:r>
              <a:rPr lang="en-US" altLang="zh-TW" sz="2000" dirty="0" err="1" smtClean="0">
                <a:solidFill>
                  <a:schemeClr val="tx1"/>
                </a:solidFill>
              </a:rPr>
              <a:t>NoC</a:t>
            </a:r>
            <a:r>
              <a:rPr lang="en-US" altLang="zh-TW" sz="2000" dirty="0" smtClean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9" name="矩形 8"/>
          <p:cNvSpPr/>
          <p:nvPr/>
        </p:nvSpPr>
        <p:spPr>
          <a:xfrm>
            <a:off x="7364114" y="3837971"/>
            <a:ext cx="1086353" cy="62397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 smtClean="0">
                <a:solidFill>
                  <a:schemeClr val="tx1"/>
                </a:solidFill>
              </a:rPr>
              <a:t>Garnet</a:t>
            </a:r>
          </a:p>
        </p:txBody>
      </p:sp>
      <p:sp>
        <p:nvSpPr>
          <p:cNvPr id="10" name="矩形 9"/>
          <p:cNvSpPr/>
          <p:nvPr/>
        </p:nvSpPr>
        <p:spPr>
          <a:xfrm>
            <a:off x="7161497" y="4979784"/>
            <a:ext cx="1491586" cy="88640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2000" dirty="0" smtClean="0"/>
              <a:t>Network report (Trace-driven)</a:t>
            </a:r>
          </a:p>
        </p:txBody>
      </p:sp>
      <p:cxnSp>
        <p:nvCxnSpPr>
          <p:cNvPr id="11" name="直線單箭頭接點 10"/>
          <p:cNvCxnSpPr/>
          <p:nvPr/>
        </p:nvCxnSpPr>
        <p:spPr>
          <a:xfrm>
            <a:off x="5381304" y="1892733"/>
            <a:ext cx="1" cy="71779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8" idx="3"/>
            <a:endCxn id="6" idx="1"/>
          </p:cNvCxnSpPr>
          <p:nvPr/>
        </p:nvCxnSpPr>
        <p:spPr>
          <a:xfrm>
            <a:off x="6019574" y="2922519"/>
            <a:ext cx="1464466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flipH="1">
            <a:off x="7907290" y="4461944"/>
            <a:ext cx="1" cy="51784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5381304" y="3234505"/>
            <a:ext cx="0" cy="174527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7" idx="3"/>
            <a:endCxn id="10" idx="1"/>
          </p:cNvCxnSpPr>
          <p:nvPr/>
        </p:nvCxnSpPr>
        <p:spPr>
          <a:xfrm>
            <a:off x="6110405" y="5422986"/>
            <a:ext cx="1051092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6110736" y="4939967"/>
            <a:ext cx="11334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>
                <a:latin typeface="+mn-lt"/>
              </a:rPr>
              <a:t>Compare</a:t>
            </a:r>
            <a:endParaRPr lang="zh-TW" altLang="en-US" sz="2000" dirty="0">
              <a:latin typeface="+mn-lt"/>
            </a:endParaRPr>
          </a:p>
        </p:txBody>
      </p:sp>
      <p:cxnSp>
        <p:nvCxnSpPr>
          <p:cNvPr id="17" name="直線單箭頭接點 16"/>
          <p:cNvCxnSpPr/>
          <p:nvPr/>
        </p:nvCxnSpPr>
        <p:spPr>
          <a:xfrm>
            <a:off x="7907290" y="3234505"/>
            <a:ext cx="1" cy="60346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220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Correspondence of Messages</a:t>
            </a:r>
            <a:endParaRPr lang="zh-TW" altLang="en-US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833" y="1268760"/>
            <a:ext cx="2372639" cy="4599858"/>
          </a:xfrm>
        </p:spPr>
      </p:pic>
      <p:cxnSp>
        <p:nvCxnSpPr>
          <p:cNvPr id="9" name="直線接點 8"/>
          <p:cNvCxnSpPr/>
          <p:nvPr/>
        </p:nvCxnSpPr>
        <p:spPr>
          <a:xfrm flipH="1" flipV="1">
            <a:off x="262550" y="2221685"/>
            <a:ext cx="8772808" cy="905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 flipH="1" flipV="1">
            <a:off x="262550" y="3288485"/>
            <a:ext cx="8772808" cy="905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flipH="1" flipV="1">
            <a:off x="185596" y="4807958"/>
            <a:ext cx="8772808" cy="905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443919" y="1815207"/>
            <a:ext cx="14012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+mn-lt"/>
              </a:rPr>
              <a:t>Processor</a:t>
            </a:r>
            <a:endParaRPr lang="zh-TW" altLang="en-US" dirty="0">
              <a:latin typeface="+mn-lt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43919" y="2919151"/>
            <a:ext cx="12593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+mn-lt"/>
              </a:rPr>
              <a:t>L1 cache</a:t>
            </a:r>
            <a:endParaRPr lang="zh-TW" altLang="en-US" dirty="0">
              <a:latin typeface="+mn-lt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43919" y="4447677"/>
            <a:ext cx="12593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+mn-lt"/>
              </a:rPr>
              <a:t>L2 cache</a:t>
            </a:r>
            <a:endParaRPr lang="zh-TW" altLang="en-US" dirty="0">
              <a:latin typeface="+mn-lt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43919" y="5496371"/>
            <a:ext cx="1951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+mn-lt"/>
              </a:rPr>
              <a:t>Main memory</a:t>
            </a:r>
            <a:endParaRPr lang="zh-TW" altLang="en-US" dirty="0">
              <a:latin typeface="+mn-lt"/>
            </a:endParaRPr>
          </a:p>
        </p:txBody>
      </p:sp>
      <p:cxnSp>
        <p:nvCxnSpPr>
          <p:cNvPr id="18" name="直線單箭頭接點 17"/>
          <p:cNvCxnSpPr/>
          <p:nvPr/>
        </p:nvCxnSpPr>
        <p:spPr>
          <a:xfrm flipH="1">
            <a:off x="3213980" y="1815207"/>
            <a:ext cx="9054" cy="88631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H="1">
            <a:off x="3212472" y="3044389"/>
            <a:ext cx="9054" cy="88631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H="1">
            <a:off x="3220329" y="4350467"/>
            <a:ext cx="9054" cy="88631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 flipV="1">
            <a:off x="4490521" y="3044392"/>
            <a:ext cx="7543" cy="91799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 flipV="1">
            <a:off x="4506028" y="1809531"/>
            <a:ext cx="7543" cy="91799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 flipV="1">
            <a:off x="4482978" y="4358012"/>
            <a:ext cx="7543" cy="91799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2123728" y="4116389"/>
            <a:ext cx="990977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  <a:latin typeface="+mn-lt"/>
              </a:rPr>
              <a:t>L2 to</a:t>
            </a:r>
          </a:p>
          <a:p>
            <a:pPr algn="ctr"/>
            <a:r>
              <a:rPr lang="en-US" altLang="zh-TW" dirty="0" smtClean="0">
                <a:solidFill>
                  <a:srgbClr val="FF0000"/>
                </a:solidFill>
                <a:latin typeface="+mn-lt"/>
              </a:rPr>
              <a:t>Global</a:t>
            </a:r>
            <a:endParaRPr lang="zh-TW" altLang="en-US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2099402" y="2891641"/>
            <a:ext cx="115467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70C0"/>
                </a:solidFill>
                <a:latin typeface="+mn-lt"/>
              </a:rPr>
              <a:t>L1 to L2</a:t>
            </a:r>
            <a:endParaRPr lang="zh-TW" altLang="en-US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4575880" y="2905397"/>
            <a:ext cx="115467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70C0"/>
                </a:solidFill>
                <a:latin typeface="+mn-lt"/>
              </a:rPr>
              <a:t>L2 to L1</a:t>
            </a:r>
            <a:endParaRPr lang="zh-TW" altLang="en-US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4594319" y="4215918"/>
            <a:ext cx="990977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  <a:latin typeface="+mn-lt"/>
              </a:rPr>
              <a:t>Global</a:t>
            </a:r>
          </a:p>
          <a:p>
            <a:pPr algn="ctr"/>
            <a:r>
              <a:rPr lang="en-US" altLang="zh-TW" dirty="0" smtClean="0">
                <a:solidFill>
                  <a:srgbClr val="FF0000"/>
                </a:solidFill>
                <a:latin typeface="+mn-lt"/>
              </a:rPr>
              <a:t>to L2</a:t>
            </a:r>
            <a:endParaRPr lang="zh-TW" altLang="en-US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1924130" y="1864457"/>
            <a:ext cx="16258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50"/>
                </a:solidFill>
                <a:latin typeface="+mn-lt"/>
              </a:rPr>
              <a:t>New access</a:t>
            </a:r>
            <a:endParaRPr lang="zh-TW" altLang="en-US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490521" y="1860800"/>
            <a:ext cx="1854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50"/>
                </a:solidFill>
                <a:latin typeface="+mn-lt"/>
              </a:rPr>
              <a:t>End of access</a:t>
            </a:r>
            <a:endParaRPr lang="zh-TW" altLang="en-US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59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811553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Enqueue</a:t>
            </a:r>
            <a:r>
              <a:rPr lang="en-US" altLang="zh-TW" dirty="0" smtClean="0"/>
              <a:t> Response Packets from L2</a:t>
            </a:r>
            <a:endParaRPr lang="zh-TW" altLang="en-US" dirty="0"/>
          </a:p>
        </p:txBody>
      </p:sp>
      <p:sp>
        <p:nvSpPr>
          <p:cNvPr id="11" name="內容版面配置區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/>
              <a:t>Tracing correspondence between flits, messages, packets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60</a:t>
            </a:fld>
            <a:endParaRPr lang="zh-TW" altLang="zh-TW"/>
          </a:p>
        </p:txBody>
      </p:sp>
      <p:sp>
        <p:nvSpPr>
          <p:cNvPr id="4" name="圓角矩形 3"/>
          <p:cNvSpPr/>
          <p:nvPr/>
        </p:nvSpPr>
        <p:spPr>
          <a:xfrm>
            <a:off x="1613835" y="2313547"/>
            <a:ext cx="1414914" cy="58714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Request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1613835" y="3177463"/>
            <a:ext cx="1414914" cy="58714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Packet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圓角矩形 5"/>
          <p:cNvSpPr/>
          <p:nvPr/>
        </p:nvSpPr>
        <p:spPr>
          <a:xfrm>
            <a:off x="1613835" y="4041379"/>
            <a:ext cx="1414914" cy="58714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Message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1613835" y="4905295"/>
            <a:ext cx="1414914" cy="58714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Flit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9" name="直線單箭頭接點 8"/>
          <p:cNvCxnSpPr>
            <a:stCxn id="4" idx="2"/>
            <a:endCxn id="5" idx="0"/>
          </p:cNvCxnSpPr>
          <p:nvPr/>
        </p:nvCxnSpPr>
        <p:spPr>
          <a:xfrm>
            <a:off x="2321292" y="2900688"/>
            <a:ext cx="0" cy="276775"/>
          </a:xfrm>
          <a:prstGeom prst="straightConnector1">
            <a:avLst/>
          </a:prstGeom>
          <a:ln w="1905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5" idx="2"/>
            <a:endCxn id="6" idx="0"/>
          </p:cNvCxnSpPr>
          <p:nvPr/>
        </p:nvCxnSpPr>
        <p:spPr>
          <a:xfrm>
            <a:off x="2321292" y="3764604"/>
            <a:ext cx="0" cy="276775"/>
          </a:xfrm>
          <a:prstGeom prst="straightConnector1">
            <a:avLst/>
          </a:prstGeom>
          <a:ln w="1905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6" idx="2"/>
            <a:endCxn id="7" idx="0"/>
          </p:cNvCxnSpPr>
          <p:nvPr/>
        </p:nvCxnSpPr>
        <p:spPr>
          <a:xfrm>
            <a:off x="2321292" y="4628520"/>
            <a:ext cx="0" cy="276775"/>
          </a:xfrm>
          <a:prstGeom prst="straightConnector1">
            <a:avLst/>
          </a:prstGeom>
          <a:ln w="1905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824563" y="3902991"/>
            <a:ext cx="7276699" cy="19526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NetworkInterface_d.cc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" name="圓角矩形 18"/>
          <p:cNvSpPr/>
          <p:nvPr/>
        </p:nvSpPr>
        <p:spPr>
          <a:xfrm>
            <a:off x="5866597" y="2313547"/>
            <a:ext cx="1414914" cy="58714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Request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0" name="圓角矩形 19"/>
          <p:cNvSpPr/>
          <p:nvPr/>
        </p:nvSpPr>
        <p:spPr>
          <a:xfrm>
            <a:off x="5866597" y="3177463"/>
            <a:ext cx="1414914" cy="58714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Packet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圓角矩形 20"/>
          <p:cNvSpPr/>
          <p:nvPr/>
        </p:nvSpPr>
        <p:spPr>
          <a:xfrm>
            <a:off x="5866597" y="4041379"/>
            <a:ext cx="1414914" cy="58714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Message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圓角矩形 21"/>
          <p:cNvSpPr/>
          <p:nvPr/>
        </p:nvSpPr>
        <p:spPr>
          <a:xfrm>
            <a:off x="5866597" y="4905295"/>
            <a:ext cx="1414914" cy="58714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Flit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5" name="直線單箭頭接點 24"/>
          <p:cNvCxnSpPr>
            <a:stCxn id="22" idx="0"/>
            <a:endCxn id="21" idx="2"/>
          </p:cNvCxnSpPr>
          <p:nvPr/>
        </p:nvCxnSpPr>
        <p:spPr>
          <a:xfrm flipV="1">
            <a:off x="6574054" y="4628520"/>
            <a:ext cx="0" cy="276775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stCxn id="21" idx="0"/>
            <a:endCxn id="20" idx="2"/>
          </p:cNvCxnSpPr>
          <p:nvPr/>
        </p:nvCxnSpPr>
        <p:spPr>
          <a:xfrm flipV="1">
            <a:off x="6574054" y="3764604"/>
            <a:ext cx="0" cy="276775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>
            <a:stCxn id="20" idx="0"/>
            <a:endCxn id="19" idx="2"/>
          </p:cNvCxnSpPr>
          <p:nvPr/>
        </p:nvCxnSpPr>
        <p:spPr>
          <a:xfrm flipV="1">
            <a:off x="6574054" y="2900688"/>
            <a:ext cx="0" cy="276775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1979712" y="1844824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+mn-lt"/>
              </a:rPr>
              <a:t>GL1</a:t>
            </a:r>
            <a:endParaRPr lang="zh-TW" altLang="en-US" dirty="0">
              <a:latin typeface="+mn-lt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6232474" y="1844824"/>
            <a:ext cx="745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>
                <a:latin typeface="+mn-lt"/>
              </a:rPr>
              <a:t>GDir</a:t>
            </a:r>
            <a:endParaRPr lang="zh-TW" altLang="en-US" dirty="0">
              <a:latin typeface="+mn-lt"/>
            </a:endParaRPr>
          </a:p>
        </p:txBody>
      </p:sp>
      <p:sp>
        <p:nvSpPr>
          <p:cNvPr id="36" name="雲朵形 35"/>
          <p:cNvSpPr/>
          <p:nvPr/>
        </p:nvSpPr>
        <p:spPr>
          <a:xfrm>
            <a:off x="3389646" y="4905295"/>
            <a:ext cx="2116054" cy="587141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NOC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9" name="直線單箭頭接點 38"/>
          <p:cNvCxnSpPr>
            <a:stCxn id="7" idx="3"/>
            <a:endCxn id="36" idx="2"/>
          </p:cNvCxnSpPr>
          <p:nvPr/>
        </p:nvCxnSpPr>
        <p:spPr>
          <a:xfrm>
            <a:off x="3028749" y="5198866"/>
            <a:ext cx="367461" cy="0"/>
          </a:xfrm>
          <a:prstGeom prst="straightConnector1">
            <a:avLst/>
          </a:prstGeom>
          <a:ln w="1905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36" idx="0"/>
            <a:endCxn id="22" idx="1"/>
          </p:cNvCxnSpPr>
          <p:nvPr/>
        </p:nvCxnSpPr>
        <p:spPr>
          <a:xfrm>
            <a:off x="5503937" y="5198866"/>
            <a:ext cx="362660" cy="0"/>
          </a:xfrm>
          <a:prstGeom prst="straightConnector1">
            <a:avLst/>
          </a:prstGeom>
          <a:ln w="1905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橢圓 7"/>
          <p:cNvSpPr/>
          <p:nvPr/>
        </p:nvSpPr>
        <p:spPr>
          <a:xfrm>
            <a:off x="2078672" y="3678351"/>
            <a:ext cx="491595" cy="450600"/>
          </a:xfrm>
          <a:prstGeom prst="ellipse">
            <a:avLst/>
          </a:prstGeom>
          <a:noFill/>
          <a:ln w="2857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87392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Garnet BW Adjustment for GPU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$GARNET_DIR/</a:t>
            </a:r>
            <a:r>
              <a:rPr lang="en-US" altLang="zh-TW" dirty="0" err="1" smtClean="0"/>
              <a:t>src</a:t>
            </a:r>
            <a:r>
              <a:rPr lang="en-US" altLang="zh-TW" dirty="0" smtClean="0"/>
              <a:t>/mem/ruby/network/</a:t>
            </a:r>
          </a:p>
          <a:p>
            <a:pPr lvl="1"/>
            <a:r>
              <a:rPr lang="en-US" altLang="zh-TW" dirty="0" smtClean="0">
                <a:solidFill>
                  <a:srgbClr val="0070C0"/>
                </a:solidFill>
              </a:rPr>
              <a:t>BasicLink.py</a:t>
            </a:r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$GARNET_DIR/</a:t>
            </a:r>
            <a:r>
              <a:rPr lang="en-US" altLang="zh-TW" dirty="0" err="1"/>
              <a:t>src</a:t>
            </a:r>
            <a:r>
              <a:rPr lang="en-US" altLang="zh-TW" dirty="0"/>
              <a:t>/mem/ruby/network/garnet</a:t>
            </a:r>
            <a:r>
              <a:rPr lang="en-US" altLang="zh-TW" dirty="0" smtClean="0"/>
              <a:t>/</a:t>
            </a:r>
          </a:p>
          <a:p>
            <a:pPr lvl="1"/>
            <a:r>
              <a:rPr lang="en-US" altLang="zh-TW" dirty="0" smtClean="0">
                <a:solidFill>
                  <a:srgbClr val="0070C0"/>
                </a:solidFill>
              </a:rPr>
              <a:t>BaseGarnetNetwork.py</a:t>
            </a: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850" y="1947275"/>
            <a:ext cx="5680710" cy="143274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186" y="4365104"/>
            <a:ext cx="6341110" cy="1549248"/>
          </a:xfrm>
          <a:prstGeom prst="rect">
            <a:avLst/>
          </a:prstGeom>
        </p:spPr>
      </p:pic>
      <p:sp>
        <p:nvSpPr>
          <p:cNvPr id="6" name="橢圓 5"/>
          <p:cNvSpPr/>
          <p:nvPr/>
        </p:nvSpPr>
        <p:spPr>
          <a:xfrm>
            <a:off x="3197424" y="3090162"/>
            <a:ext cx="477520" cy="30834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3299296" y="5033658"/>
            <a:ext cx="477520" cy="30834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3634304" y="3059668"/>
            <a:ext cx="9973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 altLang="zh-TW" dirty="0" smtClean="0">
                <a:solidFill>
                  <a:srgbClr val="FF0000"/>
                </a:solidFill>
              </a:rPr>
              <a:t>264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3704905" y="4807438"/>
            <a:ext cx="9973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 altLang="zh-TW" dirty="0" smtClean="0">
                <a:solidFill>
                  <a:srgbClr val="FF0000"/>
                </a:solidFill>
              </a:rPr>
              <a:t>264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61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789201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More Difficulties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Two kinds of L1 cache: scalar cache and vector cache</a:t>
            </a:r>
          </a:p>
          <a:p>
            <a:pPr lvl="1"/>
            <a:r>
              <a:rPr lang="en-US" altLang="zh-TW" dirty="0"/>
              <a:t>Scalar cache stores data for scalar processors which process single data at a time</a:t>
            </a:r>
          </a:p>
          <a:p>
            <a:pPr lvl="1"/>
            <a:r>
              <a:rPr lang="en-US" altLang="zh-TW" dirty="0"/>
              <a:t>Vector cache stores arrays for vector processors which process an array at </a:t>
            </a:r>
            <a:r>
              <a:rPr lang="en-US" altLang="zh-TW" dirty="0" smtClean="0"/>
              <a:t>a time</a:t>
            </a:r>
            <a:endParaRPr lang="en-US" altLang="zh-TW" dirty="0"/>
          </a:p>
          <a:p>
            <a:r>
              <a:rPr lang="en-US" altLang="zh-TW" dirty="0" smtClean="0"/>
              <a:t>Memory hiding and trace event dependencies</a:t>
            </a:r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62</a:t>
            </a:fld>
            <a:endParaRPr lang="zh-TW" altLang="zh-TW"/>
          </a:p>
        </p:txBody>
      </p:sp>
      <p:sp>
        <p:nvSpPr>
          <p:cNvPr id="11" name="矩形 10"/>
          <p:cNvSpPr/>
          <p:nvPr/>
        </p:nvSpPr>
        <p:spPr bwMode="auto">
          <a:xfrm>
            <a:off x="2681363" y="4190301"/>
            <a:ext cx="1929766" cy="2003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ea typeface="標楷體" panose="03000509000000000000" pitchFamily="65" charset="-120"/>
            </a:endParaRPr>
          </a:p>
        </p:txBody>
      </p:sp>
      <p:cxnSp>
        <p:nvCxnSpPr>
          <p:cNvPr id="12" name="直線單箭頭接點 11"/>
          <p:cNvCxnSpPr/>
          <p:nvPr/>
        </p:nvCxnSpPr>
        <p:spPr bwMode="auto">
          <a:xfrm>
            <a:off x="2321323" y="5031502"/>
            <a:ext cx="5976664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矩形 12"/>
          <p:cNvSpPr/>
          <p:nvPr/>
        </p:nvSpPr>
        <p:spPr bwMode="auto">
          <a:xfrm>
            <a:off x="2321322" y="4611474"/>
            <a:ext cx="1499505" cy="224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ea typeface="標楷體" panose="03000509000000000000" pitchFamily="65" charset="-12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911077" y="4005066"/>
            <a:ext cx="1239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+mn-lt"/>
              </a:rPr>
              <a:t>memory</a:t>
            </a:r>
            <a:endParaRPr lang="zh-TW" altLang="en-US" dirty="0">
              <a:latin typeface="+mn-lt"/>
            </a:endParaRPr>
          </a:p>
        </p:txBody>
      </p:sp>
      <p:cxnSp>
        <p:nvCxnSpPr>
          <p:cNvPr id="15" name="直線接點 14"/>
          <p:cNvCxnSpPr/>
          <p:nvPr/>
        </p:nvCxnSpPr>
        <p:spPr bwMode="auto">
          <a:xfrm flipV="1">
            <a:off x="2321323" y="4005066"/>
            <a:ext cx="0" cy="102643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文字方塊 15"/>
          <p:cNvSpPr txBox="1"/>
          <p:nvPr/>
        </p:nvSpPr>
        <p:spPr>
          <a:xfrm>
            <a:off x="609584" y="4466731"/>
            <a:ext cx="1522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+mn-lt"/>
              </a:rPr>
              <a:t>computing</a:t>
            </a:r>
            <a:endParaRPr lang="zh-TW" altLang="en-US" dirty="0">
              <a:latin typeface="+mn-lt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5072805" y="4193786"/>
            <a:ext cx="2217070" cy="2168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ea typeface="標楷體" panose="03000509000000000000" pitchFamily="65" charset="-120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4611129" y="4604914"/>
            <a:ext cx="2005344" cy="24406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ea typeface="標楷體" panose="03000509000000000000" pitchFamily="65" charset="-120"/>
            </a:endParaRPr>
          </a:p>
        </p:txBody>
      </p:sp>
      <p:cxnSp>
        <p:nvCxnSpPr>
          <p:cNvPr id="19" name="直線接點 18"/>
          <p:cNvCxnSpPr/>
          <p:nvPr/>
        </p:nvCxnSpPr>
        <p:spPr bwMode="auto">
          <a:xfrm flipV="1">
            <a:off x="3820827" y="4005064"/>
            <a:ext cx="0" cy="102643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線接點 19"/>
          <p:cNvCxnSpPr/>
          <p:nvPr/>
        </p:nvCxnSpPr>
        <p:spPr bwMode="auto">
          <a:xfrm flipV="1">
            <a:off x="6616473" y="4005064"/>
            <a:ext cx="0" cy="102643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直線接點 20"/>
          <p:cNvCxnSpPr/>
          <p:nvPr/>
        </p:nvCxnSpPr>
        <p:spPr bwMode="auto">
          <a:xfrm flipV="1">
            <a:off x="5072805" y="4023392"/>
            <a:ext cx="0" cy="102643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文字方塊 21"/>
          <p:cNvSpPr txBox="1"/>
          <p:nvPr/>
        </p:nvSpPr>
        <p:spPr>
          <a:xfrm>
            <a:off x="7919518" y="5179463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+mn-lt"/>
              </a:rPr>
              <a:t>time</a:t>
            </a:r>
            <a:endParaRPr lang="zh-TW" altLang="en-US" dirty="0">
              <a:latin typeface="+mn-lt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315611" y="5373216"/>
            <a:ext cx="20969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  <a:latin typeface="+mn-lt"/>
              </a:rPr>
              <a:t>Memory hiding</a:t>
            </a:r>
            <a:endParaRPr lang="zh-TW" altLang="en-US" dirty="0">
              <a:solidFill>
                <a:srgbClr val="FF0000"/>
              </a:solidFill>
              <a:latin typeface="+mn-lt"/>
            </a:endParaRPr>
          </a:p>
        </p:txBody>
      </p:sp>
      <p:cxnSp>
        <p:nvCxnSpPr>
          <p:cNvPr id="24" name="直線單箭頭接點 23"/>
          <p:cNvCxnSpPr/>
          <p:nvPr/>
        </p:nvCxnSpPr>
        <p:spPr bwMode="auto">
          <a:xfrm flipH="1" flipV="1">
            <a:off x="3113411" y="5348956"/>
            <a:ext cx="300600" cy="219178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直線單箭頭接點 24"/>
          <p:cNvCxnSpPr/>
          <p:nvPr/>
        </p:nvCxnSpPr>
        <p:spPr bwMode="auto">
          <a:xfrm flipV="1">
            <a:off x="5314131" y="5305089"/>
            <a:ext cx="215923" cy="28350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右大括弧 25"/>
          <p:cNvSpPr/>
          <p:nvPr/>
        </p:nvSpPr>
        <p:spPr bwMode="auto">
          <a:xfrm rot="5400000">
            <a:off x="5778031" y="4381249"/>
            <a:ext cx="145878" cy="1556332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標楷體" panose="03000509000000000000" pitchFamily="65" charset="-120"/>
            </a:endParaRPr>
          </a:p>
        </p:txBody>
      </p:sp>
      <p:sp>
        <p:nvSpPr>
          <p:cNvPr id="27" name="右大括弧 26"/>
          <p:cNvSpPr/>
          <p:nvPr/>
        </p:nvSpPr>
        <p:spPr bwMode="auto">
          <a:xfrm rot="5400000">
            <a:off x="3157644" y="4580111"/>
            <a:ext cx="186902" cy="1139464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標楷體" panose="03000509000000000000" pitchFamily="65" charset="-120"/>
            </a:endParaRPr>
          </a:p>
        </p:txBody>
      </p:sp>
      <p:cxnSp>
        <p:nvCxnSpPr>
          <p:cNvPr id="28" name="直線接點 27"/>
          <p:cNvCxnSpPr/>
          <p:nvPr/>
        </p:nvCxnSpPr>
        <p:spPr bwMode="auto">
          <a:xfrm flipV="1">
            <a:off x="2681363" y="4023392"/>
            <a:ext cx="0" cy="102643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757533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Two Kinds of L1 Caches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NoC</a:t>
            </a:r>
            <a:r>
              <a:rPr lang="en-US" altLang="zh-TW" dirty="0" smtClean="0"/>
              <a:t> simulator must be modified so that each compute unit has two memory access ports, one for scalar cache and the other for vector cache</a:t>
            </a:r>
            <a:endParaRPr lang="zh-TW" altLang="en-US" dirty="0" smtClean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63</a:t>
            </a:fld>
            <a:endParaRPr lang="zh-TW" altLang="zh-TW"/>
          </a:p>
        </p:txBody>
      </p:sp>
      <p:pic>
        <p:nvPicPr>
          <p:cNvPr id="11" name="內容版面配置區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05620" y="2492896"/>
            <a:ext cx="5605760" cy="3499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0720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Memory Hiding Effects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</a:t>
            </a:r>
            <a:r>
              <a:rPr lang="en-US" altLang="zh-TW" dirty="0" smtClean="0"/>
              <a:t>emory-access barrier instruction to prevent GPU from executing the registers that haven’t been loaded until memory accesses complete 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Can record the memory-access barrier in the trace and use such instructions to determine the dependencies among trace events</a:t>
            </a:r>
          </a:p>
        </p:txBody>
      </p:sp>
      <p:sp>
        <p:nvSpPr>
          <p:cNvPr id="13" name="投影片編號版面配置區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64</a:t>
            </a:fld>
            <a:endParaRPr lang="zh-TW" altLang="zh-TW"/>
          </a:p>
        </p:txBody>
      </p:sp>
      <p:sp>
        <p:nvSpPr>
          <p:cNvPr id="5" name="矩形 4"/>
          <p:cNvSpPr/>
          <p:nvPr/>
        </p:nvSpPr>
        <p:spPr bwMode="auto">
          <a:xfrm>
            <a:off x="2656557" y="2643149"/>
            <a:ext cx="2304256" cy="2252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ea typeface="標楷體" panose="03000509000000000000" pitchFamily="65" charset="-120"/>
            </a:endParaRPr>
          </a:p>
        </p:txBody>
      </p:sp>
      <p:cxnSp>
        <p:nvCxnSpPr>
          <p:cNvPr id="6" name="直線單箭頭接點 5"/>
          <p:cNvCxnSpPr/>
          <p:nvPr/>
        </p:nvCxnSpPr>
        <p:spPr bwMode="auto">
          <a:xfrm>
            <a:off x="2080493" y="3743670"/>
            <a:ext cx="5976664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矩形 6"/>
          <p:cNvSpPr/>
          <p:nvPr/>
        </p:nvSpPr>
        <p:spPr bwMode="auto">
          <a:xfrm>
            <a:off x="2080492" y="3020735"/>
            <a:ext cx="1944217" cy="2238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ea typeface="標楷體" panose="03000509000000000000" pitchFamily="65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670247" y="2420888"/>
            <a:ext cx="1239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+mn-lt"/>
              </a:rPr>
              <a:t>memory</a:t>
            </a:r>
            <a:endParaRPr lang="zh-TW" altLang="en-US" dirty="0">
              <a:latin typeface="+mn-lt"/>
            </a:endParaRPr>
          </a:p>
        </p:txBody>
      </p:sp>
      <p:cxnSp>
        <p:nvCxnSpPr>
          <p:cNvPr id="9" name="直線接點 8"/>
          <p:cNvCxnSpPr/>
          <p:nvPr/>
        </p:nvCxnSpPr>
        <p:spPr bwMode="auto">
          <a:xfrm flipV="1">
            <a:off x="2080492" y="2420890"/>
            <a:ext cx="1" cy="132278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文字方塊 9"/>
          <p:cNvSpPr txBox="1"/>
          <p:nvPr/>
        </p:nvSpPr>
        <p:spPr>
          <a:xfrm>
            <a:off x="368754" y="2882553"/>
            <a:ext cx="1522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+mn-lt"/>
              </a:rPr>
              <a:t>computing</a:t>
            </a:r>
            <a:endParaRPr lang="zh-TW" altLang="en-US" dirty="0">
              <a:latin typeface="+mn-lt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5803297" y="2643149"/>
            <a:ext cx="2469883" cy="2252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ea typeface="標楷體" panose="03000509000000000000" pitchFamily="65" charset="-120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4960813" y="3020736"/>
            <a:ext cx="2634382" cy="2238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ea typeface="標楷體" panose="03000509000000000000" pitchFamily="65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8135542" y="3500207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+mn-lt"/>
              </a:rPr>
              <a:t>time</a:t>
            </a:r>
            <a:endParaRPr lang="zh-TW" altLang="en-US" dirty="0">
              <a:latin typeface="+mn-lt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1216397" y="3317807"/>
            <a:ext cx="798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+mn-lt"/>
              </a:rPr>
              <a:t>idle</a:t>
            </a:r>
            <a:endParaRPr lang="zh-TW" altLang="en-US" dirty="0">
              <a:latin typeface="+mn-lt"/>
            </a:endParaRPr>
          </a:p>
        </p:txBody>
      </p:sp>
      <p:sp>
        <p:nvSpPr>
          <p:cNvPr id="31" name="矩形 30"/>
          <p:cNvSpPr/>
          <p:nvPr/>
        </p:nvSpPr>
        <p:spPr bwMode="auto">
          <a:xfrm>
            <a:off x="4024709" y="3383630"/>
            <a:ext cx="936103" cy="23304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ea typeface="標楷體" panose="03000509000000000000" pitchFamily="65" charset="-120"/>
            </a:endParaRPr>
          </a:p>
        </p:txBody>
      </p:sp>
      <p:cxnSp>
        <p:nvCxnSpPr>
          <p:cNvPr id="33" name="直線接點 32"/>
          <p:cNvCxnSpPr/>
          <p:nvPr/>
        </p:nvCxnSpPr>
        <p:spPr bwMode="auto">
          <a:xfrm>
            <a:off x="4024709" y="2446498"/>
            <a:ext cx="0" cy="151537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文字方塊 35"/>
          <p:cNvSpPr txBox="1"/>
          <p:nvPr/>
        </p:nvSpPr>
        <p:spPr>
          <a:xfrm>
            <a:off x="2677896" y="3807206"/>
            <a:ext cx="3125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  <a:latin typeface="+mn-lt"/>
              </a:rPr>
              <a:t>Memory-access barrier</a:t>
            </a:r>
            <a:endParaRPr lang="zh-TW" altLang="en-US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42369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Data </a:t>
            </a:r>
            <a:r>
              <a:rPr lang="en-US" altLang="zh-TW" dirty="0"/>
              <a:t>F</a:t>
            </a:r>
            <a:r>
              <a:rPr lang="en-US" altLang="zh-TW" dirty="0" smtClean="0"/>
              <a:t>low Dependencies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107529"/>
            <a:ext cx="8827070" cy="5057775"/>
          </a:xfrm>
        </p:spPr>
        <p:txBody>
          <a:bodyPr>
            <a:normAutofit fontScale="77500" lnSpcReduction="20000"/>
          </a:bodyPr>
          <a:lstStyle/>
          <a:p>
            <a:pPr marL="514350" indent="-457200"/>
            <a:r>
              <a:rPr lang="en-US" altLang="zh-TW" sz="4400" dirty="0" err="1" smtClean="0"/>
              <a:t>s_waitcnt</a:t>
            </a:r>
            <a:endParaRPr lang="nl-NL" altLang="zh-TW" sz="4400" dirty="0" smtClean="0"/>
          </a:p>
          <a:p>
            <a:pPr marL="57150" indent="0">
              <a:buNone/>
            </a:pPr>
            <a:r>
              <a:rPr lang="nl-NL" altLang="zh-TW" dirty="0" smtClean="0"/>
              <a:t> </a:t>
            </a:r>
            <a:r>
              <a:rPr lang="nl-NL" altLang="zh-TW" dirty="0" smtClean="0">
                <a:solidFill>
                  <a:srgbClr val="17F300"/>
                </a:solidFill>
              </a:rPr>
              <a:t>s_buffer_load_dword  s0, s[4:7], 0x04    // 00000000: C2000504</a:t>
            </a:r>
          </a:p>
          <a:p>
            <a:pPr marL="57150" indent="0">
              <a:buNone/>
            </a:pPr>
            <a:r>
              <a:rPr lang="nl-NL" altLang="zh-TW" dirty="0" smtClean="0">
                <a:solidFill>
                  <a:srgbClr val="17F300"/>
                </a:solidFill>
              </a:rPr>
              <a:t>  </a:t>
            </a:r>
            <a:r>
              <a:rPr lang="nl-NL" altLang="zh-TW" dirty="0">
                <a:solidFill>
                  <a:srgbClr val="17F300"/>
                </a:solidFill>
              </a:rPr>
              <a:t>s_buffer_load_dword  s1, s[4:7], 0x18   </a:t>
            </a:r>
            <a:r>
              <a:rPr lang="nl-NL" altLang="zh-TW" dirty="0" smtClean="0">
                <a:solidFill>
                  <a:srgbClr val="17F300"/>
                </a:solidFill>
              </a:rPr>
              <a:t>// </a:t>
            </a:r>
            <a:r>
              <a:rPr lang="nl-NL" altLang="zh-TW" dirty="0">
                <a:solidFill>
                  <a:srgbClr val="17F300"/>
                </a:solidFill>
              </a:rPr>
              <a:t>00000004: C2008518</a:t>
            </a:r>
          </a:p>
          <a:p>
            <a:pPr marL="57150" indent="0">
              <a:buNone/>
            </a:pPr>
            <a:r>
              <a:rPr lang="nl-NL" altLang="zh-TW" dirty="0">
                <a:solidFill>
                  <a:srgbClr val="0000FF"/>
                </a:solidFill>
              </a:rPr>
              <a:t>  s_waitcnt     lgkmcnt(0)                             </a:t>
            </a:r>
            <a:r>
              <a:rPr lang="nl-NL" altLang="zh-TW" dirty="0" smtClean="0">
                <a:solidFill>
                  <a:srgbClr val="0000FF"/>
                </a:solidFill>
              </a:rPr>
              <a:t>// </a:t>
            </a:r>
            <a:r>
              <a:rPr lang="nl-NL" altLang="zh-TW" dirty="0">
                <a:solidFill>
                  <a:srgbClr val="0000FF"/>
                </a:solidFill>
              </a:rPr>
              <a:t>00000008: BF8C007F</a:t>
            </a:r>
          </a:p>
          <a:p>
            <a:pPr marL="57150" indent="0">
              <a:buNone/>
            </a:pPr>
            <a:r>
              <a:rPr lang="nl-NL" altLang="zh-TW" dirty="0"/>
              <a:t> </a:t>
            </a:r>
            <a:r>
              <a:rPr lang="nl-NL" altLang="zh-TW" dirty="0">
                <a:solidFill>
                  <a:srgbClr val="FF0000"/>
                </a:solidFill>
              </a:rPr>
              <a:t> s_min_u32     s0, s0, 0x0000ffff               </a:t>
            </a:r>
            <a:r>
              <a:rPr lang="nl-NL" altLang="zh-TW" dirty="0" smtClean="0">
                <a:solidFill>
                  <a:srgbClr val="FF0000"/>
                </a:solidFill>
              </a:rPr>
              <a:t>// </a:t>
            </a:r>
            <a:r>
              <a:rPr lang="nl-NL" altLang="zh-TW" dirty="0">
                <a:solidFill>
                  <a:srgbClr val="FF0000"/>
                </a:solidFill>
              </a:rPr>
              <a:t>0000000C: 8380FF00 0000FFFF</a:t>
            </a:r>
          </a:p>
          <a:p>
            <a:pPr marL="57150" indent="0">
              <a:buNone/>
            </a:pPr>
            <a:r>
              <a:rPr lang="nl-NL" altLang="zh-TW" dirty="0"/>
              <a:t> </a:t>
            </a:r>
            <a:r>
              <a:rPr lang="nl-NL" altLang="zh-TW" dirty="0">
                <a:solidFill>
                  <a:srgbClr val="17F300"/>
                </a:solidFill>
              </a:rPr>
              <a:t> s_buffer_load_dword  s4, s[8:11], 0x14 </a:t>
            </a:r>
            <a:r>
              <a:rPr lang="nl-NL" altLang="zh-TW" dirty="0" smtClean="0">
                <a:solidFill>
                  <a:srgbClr val="17F300"/>
                </a:solidFill>
              </a:rPr>
              <a:t>// </a:t>
            </a:r>
            <a:r>
              <a:rPr lang="nl-NL" altLang="zh-TW" dirty="0">
                <a:solidFill>
                  <a:srgbClr val="17F300"/>
                </a:solidFill>
              </a:rPr>
              <a:t>00000014: C2020914</a:t>
            </a:r>
          </a:p>
          <a:p>
            <a:pPr marL="57150" indent="0">
              <a:buNone/>
            </a:pPr>
            <a:r>
              <a:rPr lang="nl-NL" altLang="zh-TW" dirty="0"/>
              <a:t> </a:t>
            </a:r>
            <a:r>
              <a:rPr lang="nl-NL" altLang="zh-TW" dirty="0">
                <a:solidFill>
                  <a:srgbClr val="FF0000"/>
                </a:solidFill>
              </a:rPr>
              <a:t> v_mov_b32     v1, s0                                  </a:t>
            </a:r>
            <a:r>
              <a:rPr lang="nl-NL" altLang="zh-TW" dirty="0" smtClean="0">
                <a:solidFill>
                  <a:srgbClr val="FF0000"/>
                </a:solidFill>
              </a:rPr>
              <a:t>// </a:t>
            </a:r>
            <a:r>
              <a:rPr lang="nl-NL" altLang="zh-TW" dirty="0">
                <a:solidFill>
                  <a:srgbClr val="FF0000"/>
                </a:solidFill>
              </a:rPr>
              <a:t>00000018: 7E020200</a:t>
            </a:r>
          </a:p>
          <a:p>
            <a:pPr marL="57150" indent="0">
              <a:buNone/>
            </a:pPr>
            <a:r>
              <a:rPr lang="nl-NL" altLang="zh-TW" dirty="0"/>
              <a:t>  </a:t>
            </a:r>
            <a:r>
              <a:rPr lang="nl-NL" altLang="zh-TW" dirty="0">
                <a:solidFill>
                  <a:srgbClr val="17F300"/>
                </a:solidFill>
              </a:rPr>
              <a:t>s_buffer_load_dword  s0, s[8:11], 0x0c </a:t>
            </a:r>
            <a:r>
              <a:rPr lang="nl-NL" altLang="zh-TW" dirty="0" smtClean="0">
                <a:solidFill>
                  <a:srgbClr val="17F300"/>
                </a:solidFill>
              </a:rPr>
              <a:t>// </a:t>
            </a:r>
            <a:r>
              <a:rPr lang="nl-NL" altLang="zh-TW" dirty="0">
                <a:solidFill>
                  <a:srgbClr val="17F300"/>
                </a:solidFill>
              </a:rPr>
              <a:t>0000001C: C200090C</a:t>
            </a:r>
          </a:p>
          <a:p>
            <a:pPr marL="57150" indent="0">
              <a:buNone/>
            </a:pPr>
            <a:r>
              <a:rPr lang="nl-NL" altLang="zh-TW" dirty="0"/>
              <a:t>  </a:t>
            </a:r>
            <a:r>
              <a:rPr lang="nl-NL" altLang="zh-TW" dirty="0">
                <a:solidFill>
                  <a:srgbClr val="FF0000"/>
                </a:solidFill>
              </a:rPr>
              <a:t>v_mul_i32_i24  v1, s12, v1                       </a:t>
            </a:r>
            <a:r>
              <a:rPr lang="nl-NL" altLang="zh-TW" dirty="0" smtClean="0">
                <a:solidFill>
                  <a:srgbClr val="FF0000"/>
                </a:solidFill>
              </a:rPr>
              <a:t>// </a:t>
            </a:r>
            <a:r>
              <a:rPr lang="nl-NL" altLang="zh-TW" dirty="0">
                <a:solidFill>
                  <a:srgbClr val="FF0000"/>
                </a:solidFill>
              </a:rPr>
              <a:t>00000020: 1202020C</a:t>
            </a:r>
          </a:p>
          <a:p>
            <a:pPr marL="57150" indent="0">
              <a:buNone/>
            </a:pPr>
            <a:r>
              <a:rPr lang="nl-NL" altLang="zh-TW" dirty="0"/>
              <a:t>  </a:t>
            </a:r>
            <a:r>
              <a:rPr lang="nl-NL" altLang="zh-TW" dirty="0">
                <a:solidFill>
                  <a:srgbClr val="FF0000"/>
                </a:solidFill>
              </a:rPr>
              <a:t>v_add_i32     v0, vcc, v0, v1                      </a:t>
            </a:r>
            <a:r>
              <a:rPr lang="nl-NL" altLang="zh-TW" dirty="0" smtClean="0">
                <a:solidFill>
                  <a:srgbClr val="FF0000"/>
                </a:solidFill>
              </a:rPr>
              <a:t>// </a:t>
            </a:r>
            <a:r>
              <a:rPr lang="nl-NL" altLang="zh-TW" dirty="0">
                <a:solidFill>
                  <a:srgbClr val="FF0000"/>
                </a:solidFill>
              </a:rPr>
              <a:t>00000024: 4A000300</a:t>
            </a:r>
          </a:p>
          <a:p>
            <a:pPr marL="57150" indent="0">
              <a:buNone/>
            </a:pPr>
            <a:r>
              <a:rPr lang="nl-NL" altLang="zh-TW" dirty="0">
                <a:solidFill>
                  <a:srgbClr val="17F300"/>
                </a:solidFill>
              </a:rPr>
              <a:t>  s_buffer_load_dword  s5, s[8:11], 0x04 </a:t>
            </a:r>
            <a:r>
              <a:rPr lang="nl-NL" altLang="zh-TW" dirty="0" smtClean="0">
                <a:solidFill>
                  <a:srgbClr val="17F300"/>
                </a:solidFill>
              </a:rPr>
              <a:t>// </a:t>
            </a:r>
            <a:r>
              <a:rPr lang="nl-NL" altLang="zh-TW" dirty="0">
                <a:solidFill>
                  <a:srgbClr val="17F300"/>
                </a:solidFill>
              </a:rPr>
              <a:t>00000028: C2028904</a:t>
            </a:r>
          </a:p>
          <a:p>
            <a:pPr marL="57150" indent="0">
              <a:buNone/>
            </a:pPr>
            <a:r>
              <a:rPr lang="nl-NL" altLang="zh-TW" dirty="0">
                <a:solidFill>
                  <a:srgbClr val="FF0000"/>
                </a:solidFill>
              </a:rPr>
              <a:t>  v_add_i32     v0, vcc, s1, v0                       </a:t>
            </a:r>
            <a:r>
              <a:rPr lang="nl-NL" altLang="zh-TW" dirty="0" smtClean="0">
                <a:solidFill>
                  <a:srgbClr val="FF0000"/>
                </a:solidFill>
              </a:rPr>
              <a:t>// </a:t>
            </a:r>
            <a:r>
              <a:rPr lang="nl-NL" altLang="zh-TW" dirty="0">
                <a:solidFill>
                  <a:srgbClr val="FF0000"/>
                </a:solidFill>
              </a:rPr>
              <a:t>0000002C: 4A000001</a:t>
            </a:r>
          </a:p>
          <a:p>
            <a:pPr marL="57150" indent="0">
              <a:buNone/>
            </a:pPr>
            <a:r>
              <a:rPr lang="nl-NL" altLang="zh-TW" dirty="0"/>
              <a:t>  </a:t>
            </a:r>
            <a:r>
              <a:rPr lang="nl-NL" altLang="zh-TW" dirty="0">
                <a:solidFill>
                  <a:srgbClr val="0000FF"/>
                </a:solidFill>
              </a:rPr>
              <a:t>s_waitcnt     lgkmcnt(0)                              </a:t>
            </a:r>
            <a:r>
              <a:rPr lang="nl-NL" altLang="zh-TW" dirty="0" smtClean="0">
                <a:solidFill>
                  <a:srgbClr val="0000FF"/>
                </a:solidFill>
              </a:rPr>
              <a:t>// </a:t>
            </a:r>
            <a:r>
              <a:rPr lang="nl-NL" altLang="zh-TW" dirty="0">
                <a:solidFill>
                  <a:srgbClr val="0000FF"/>
                </a:solidFill>
              </a:rPr>
              <a:t>00000030: BF8C007F</a:t>
            </a:r>
          </a:p>
          <a:p>
            <a:pPr marL="57150" indent="0">
              <a:buNone/>
            </a:pPr>
            <a:r>
              <a:rPr lang="nl-NL" altLang="zh-TW" dirty="0"/>
              <a:t>  </a:t>
            </a:r>
            <a:r>
              <a:rPr lang="nl-NL" altLang="zh-TW" dirty="0">
                <a:solidFill>
                  <a:srgbClr val="FF0000"/>
                </a:solidFill>
              </a:rPr>
              <a:t>v_mul_lo_i32  v0, v0, s4                            </a:t>
            </a:r>
            <a:r>
              <a:rPr lang="nl-NL" altLang="zh-TW" dirty="0" smtClean="0">
                <a:solidFill>
                  <a:srgbClr val="FF0000"/>
                </a:solidFill>
              </a:rPr>
              <a:t>// </a:t>
            </a:r>
            <a:r>
              <a:rPr lang="nl-NL" altLang="zh-TW" dirty="0">
                <a:solidFill>
                  <a:srgbClr val="FF0000"/>
                </a:solidFill>
              </a:rPr>
              <a:t>00000034: D2D60000 02000900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65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452691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Why trace-driven simulation for exploiting architecture designs?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Dependence-aware trace: why and how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Dependence-aware trace-driven simulation for SMP </a:t>
            </a: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NoC</a:t>
            </a:r>
            <a:endParaRPr lang="en-US" altLang="zh-TW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Dependence-aware trace-driven simulation for GPU </a:t>
            </a: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NoC</a:t>
            </a:r>
            <a:endParaRPr lang="en-US" altLang="zh-TW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smtClean="0">
                <a:solidFill>
                  <a:srgbClr val="FF0000"/>
                </a:solidFill>
              </a:rPr>
              <a:t>FSM-based trace compression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66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197556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Problem</a:t>
            </a:r>
            <a:endParaRPr lang="zh-TW" altLang="en-US" dirty="0"/>
          </a:p>
        </p:txBody>
      </p:sp>
      <p:grpSp>
        <p:nvGrpSpPr>
          <p:cNvPr id="45" name="群組 44"/>
          <p:cNvGrpSpPr/>
          <p:nvPr/>
        </p:nvGrpSpPr>
        <p:grpSpPr>
          <a:xfrm>
            <a:off x="2994694" y="3104491"/>
            <a:ext cx="989130" cy="646331"/>
            <a:chOff x="3646860" y="3207663"/>
            <a:chExt cx="1318840" cy="861775"/>
          </a:xfrm>
        </p:grpSpPr>
        <p:sp>
          <p:nvSpPr>
            <p:cNvPr id="11" name="向下箭號 10"/>
            <p:cNvSpPr/>
            <p:nvPr/>
          </p:nvSpPr>
          <p:spPr bwMode="auto">
            <a:xfrm rot="3171831">
              <a:off x="4026485" y="3038072"/>
              <a:ext cx="531282" cy="1290532"/>
            </a:xfrm>
            <a:prstGeom prst="downArrow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/>
              <a:endParaRPr lang="zh-TW" altLang="en-US" sz="1350" b="1" dirty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3746500" y="3207663"/>
              <a:ext cx="1219200" cy="861775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800" b="1" dirty="0">
                  <a:latin typeface="Arial" pitchFamily="34" charset="0"/>
                </a:rPr>
                <a:t>Dump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800" b="1" dirty="0">
                  <a:latin typeface="Arial" pitchFamily="34" charset="0"/>
                </a:rPr>
                <a:t>Trace</a:t>
              </a:r>
              <a:endParaRPr lang="zh-TW" altLang="en-US" sz="1800" b="1" dirty="0">
                <a:latin typeface="Arial" pitchFamily="34" charset="0"/>
              </a:endParaRPr>
            </a:p>
          </p:txBody>
        </p:sp>
      </p:grpSp>
      <p:grpSp>
        <p:nvGrpSpPr>
          <p:cNvPr id="46" name="群組 45"/>
          <p:cNvGrpSpPr/>
          <p:nvPr/>
        </p:nvGrpSpPr>
        <p:grpSpPr>
          <a:xfrm>
            <a:off x="658868" y="1725410"/>
            <a:ext cx="2988463" cy="3586926"/>
            <a:chOff x="532426" y="1368889"/>
            <a:chExt cx="3984616" cy="4782568"/>
          </a:xfrm>
        </p:grpSpPr>
        <p:pic>
          <p:nvPicPr>
            <p:cNvPr id="17" name="圖片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2426" y="1430444"/>
              <a:ext cx="3096000" cy="4721013"/>
            </a:xfrm>
            <a:prstGeom prst="rect">
              <a:avLst/>
            </a:prstGeom>
          </p:spPr>
        </p:pic>
        <p:sp>
          <p:nvSpPr>
            <p:cNvPr id="10" name="文字方塊 9"/>
            <p:cNvSpPr txBox="1"/>
            <p:nvPr/>
          </p:nvSpPr>
          <p:spPr>
            <a:xfrm>
              <a:off x="2542807" y="1368889"/>
              <a:ext cx="1034818" cy="492443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rtlCol="0" anchor="ctr" anchorCtr="1">
              <a:spAutoFit/>
            </a:bodyPr>
            <a:lstStyle/>
            <a:p>
              <a:r>
                <a:rPr lang="en-US" altLang="zh-TW" sz="1800" b="1" dirty="0">
                  <a:ea typeface="標楷體" pitchFamily="65" charset="-120"/>
                  <a:cs typeface="Calibri" pitchFamily="34" charset="0"/>
                </a:rPr>
                <a:t>Trace</a:t>
              </a:r>
              <a:endParaRPr lang="zh-TW" altLang="en-US" sz="1800" b="1" dirty="0">
                <a:ea typeface="標楷體" pitchFamily="65" charset="-120"/>
                <a:cs typeface="Calibri" pitchFamily="34" charset="0"/>
              </a:endParaRPr>
            </a:p>
          </p:txBody>
        </p:sp>
        <p:sp>
          <p:nvSpPr>
            <p:cNvPr id="13" name="矩形 12"/>
            <p:cNvSpPr/>
            <p:nvPr/>
          </p:nvSpPr>
          <p:spPr bwMode="auto">
            <a:xfrm>
              <a:off x="532426" y="4495800"/>
              <a:ext cx="2603500" cy="1219200"/>
            </a:xfrm>
            <a:prstGeom prst="rect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/>
              <a:endParaRPr lang="zh-TW" altLang="en-US" sz="1350" b="1">
                <a:latin typeface="Arial" pitchFamily="34" charset="0"/>
              </a:endParaRPr>
            </a:p>
          </p:txBody>
        </p:sp>
        <p:sp>
          <p:nvSpPr>
            <p:cNvPr id="15" name="矩形 14"/>
            <p:cNvSpPr/>
            <p:nvPr/>
          </p:nvSpPr>
          <p:spPr bwMode="auto">
            <a:xfrm>
              <a:off x="533400" y="3182937"/>
              <a:ext cx="2603500" cy="1274763"/>
            </a:xfrm>
            <a:prstGeom prst="rect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/>
              <a:endParaRPr lang="zh-TW" altLang="en-US" sz="1350" b="1">
                <a:latin typeface="Arial" pitchFamily="34" charset="0"/>
              </a:endParaRPr>
            </a:p>
          </p:txBody>
        </p:sp>
        <p:sp>
          <p:nvSpPr>
            <p:cNvPr id="20" name="弧形 19"/>
            <p:cNvSpPr/>
            <p:nvPr/>
          </p:nvSpPr>
          <p:spPr bwMode="auto">
            <a:xfrm>
              <a:off x="2787559" y="4094170"/>
              <a:ext cx="730341" cy="719129"/>
            </a:xfrm>
            <a:prstGeom prst="arc">
              <a:avLst>
                <a:gd name="adj1" fmla="val 16200000"/>
                <a:gd name="adj2" fmla="val 5202795"/>
              </a:avLst>
            </a:prstGeom>
            <a:ln w="38100">
              <a:headEnd type="triangle" w="med" len="med"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/>
              <a:endParaRPr lang="zh-TW" altLang="en-US" sz="1350" b="1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3199426" y="4217828"/>
              <a:ext cx="1317616" cy="49244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 anchor="ctr" anchorCtr="1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800" b="1" dirty="0">
                  <a:latin typeface="Arial" pitchFamily="34" charset="0"/>
                  <a:ea typeface="新細明體" pitchFamily="18" charset="-120"/>
                </a:rPr>
                <a:t>Repeat</a:t>
              </a:r>
              <a:endParaRPr lang="zh-TW" altLang="en-US" sz="1800" b="1" dirty="0">
                <a:latin typeface="Arial" pitchFamily="34" charset="0"/>
                <a:ea typeface="新細明體" pitchFamily="18" charset="-12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6015934" y="3229507"/>
            <a:ext cx="969369" cy="417488"/>
            <a:chOff x="7675180" y="3374352"/>
            <a:chExt cx="1292492" cy="556650"/>
          </a:xfrm>
        </p:grpSpPr>
        <p:sp>
          <p:nvSpPr>
            <p:cNvPr id="22" name="向下箭號 21"/>
            <p:cNvSpPr/>
            <p:nvPr/>
          </p:nvSpPr>
          <p:spPr bwMode="auto">
            <a:xfrm rot="18428169" flipH="1">
              <a:off x="8056765" y="3020095"/>
              <a:ext cx="531282" cy="1290532"/>
            </a:xfrm>
            <a:prstGeom prst="downArrow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/>
              <a:endParaRPr lang="zh-TW" altLang="en-US" sz="1350" b="1" dirty="0">
                <a:solidFill>
                  <a:schemeClr val="tx1"/>
                </a:solidFill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7675180" y="3374352"/>
              <a:ext cx="1219200" cy="49244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1800" b="1" dirty="0">
                  <a:latin typeface="Arial" pitchFamily="34" charset="0"/>
                </a:rPr>
                <a:t>FSM</a:t>
              </a:r>
              <a:endParaRPr lang="zh-TW" altLang="en-US" sz="1800" b="1" dirty="0">
                <a:latin typeface="Arial" pitchFamily="34" charset="0"/>
              </a:endParaRPr>
            </a:p>
          </p:txBody>
        </p:sp>
      </p:grpSp>
      <p:grpSp>
        <p:nvGrpSpPr>
          <p:cNvPr id="39" name="群組 38"/>
          <p:cNvGrpSpPr/>
          <p:nvPr/>
        </p:nvGrpSpPr>
        <p:grpSpPr>
          <a:xfrm>
            <a:off x="7327844" y="2048575"/>
            <a:ext cx="1157288" cy="3021885"/>
            <a:chOff x="10016067" y="1799776"/>
            <a:chExt cx="1543050" cy="4029180"/>
          </a:xfrm>
        </p:grpSpPr>
        <p:sp>
          <p:nvSpPr>
            <p:cNvPr id="24" name="流程圖: 接點 23"/>
            <p:cNvSpPr/>
            <p:nvPr/>
          </p:nvSpPr>
          <p:spPr bwMode="auto">
            <a:xfrm>
              <a:off x="10020300" y="1799776"/>
              <a:ext cx="1028700" cy="1028700"/>
            </a:xfrm>
            <a:prstGeom prst="flowChartConnector">
              <a:avLst/>
            </a:prstGeom>
            <a:solidFill>
              <a:srgbClr val="C00000"/>
            </a:solidFill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/>
              <a:r>
                <a:rPr lang="en-US" altLang="zh-TW" sz="1600" b="1" dirty="0">
                  <a:solidFill>
                    <a:schemeClr val="bg1"/>
                  </a:solidFill>
                  <a:latin typeface="Arial" pitchFamily="34" charset="0"/>
                  <a:ea typeface="新細明體" pitchFamily="18" charset="-120"/>
                </a:rPr>
                <a:t>State 1</a:t>
              </a:r>
              <a:endParaRPr lang="zh-TW" altLang="en-US" sz="16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25" name="流程圖: 接點 24"/>
            <p:cNvSpPr/>
            <p:nvPr/>
          </p:nvSpPr>
          <p:spPr bwMode="auto">
            <a:xfrm>
              <a:off x="10016067" y="3301999"/>
              <a:ext cx="1028700" cy="1028700"/>
            </a:xfrm>
            <a:prstGeom prst="flowChartConnector">
              <a:avLst/>
            </a:prstGeom>
            <a:solidFill>
              <a:srgbClr val="C00000"/>
            </a:solidFill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/>
              <a:r>
                <a:rPr lang="en-US" altLang="zh-TW" sz="1600" b="1" dirty="0">
                  <a:solidFill>
                    <a:schemeClr val="bg1"/>
                  </a:solidFill>
                  <a:latin typeface="Arial" pitchFamily="34" charset="0"/>
                  <a:ea typeface="新細明體" pitchFamily="18" charset="-120"/>
                </a:rPr>
                <a:t>State 2</a:t>
              </a:r>
              <a:endParaRPr lang="zh-TW" altLang="en-US" sz="16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26" name="流程圖: 接點 25"/>
            <p:cNvSpPr/>
            <p:nvPr/>
          </p:nvSpPr>
          <p:spPr bwMode="auto">
            <a:xfrm>
              <a:off x="10021103" y="4800256"/>
              <a:ext cx="1028700" cy="1028700"/>
            </a:xfrm>
            <a:prstGeom prst="flowChartConnector">
              <a:avLst/>
            </a:prstGeom>
            <a:solidFill>
              <a:srgbClr val="C00000"/>
            </a:solidFill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/>
              <a:r>
                <a:rPr lang="en-US" altLang="zh-TW" sz="1600" b="1" dirty="0">
                  <a:solidFill>
                    <a:schemeClr val="bg1"/>
                  </a:solidFill>
                  <a:latin typeface="Arial" pitchFamily="34" charset="0"/>
                  <a:ea typeface="新細明體" pitchFamily="18" charset="-120"/>
                </a:rPr>
                <a:t>State 3</a:t>
              </a:r>
              <a:endParaRPr lang="zh-TW" altLang="en-US" sz="16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</a:endParaRPr>
            </a:p>
          </p:txBody>
        </p:sp>
        <p:cxnSp>
          <p:nvCxnSpPr>
            <p:cNvPr id="28" name="直線單箭頭接點 27"/>
            <p:cNvCxnSpPr/>
            <p:nvPr/>
          </p:nvCxnSpPr>
          <p:spPr bwMode="auto">
            <a:xfrm flipH="1">
              <a:off x="10530417" y="2849992"/>
              <a:ext cx="4233" cy="473523"/>
            </a:xfrm>
            <a:prstGeom prst="straightConnector1">
              <a:avLst/>
            </a:prstGeom>
            <a:ln>
              <a:solidFill>
                <a:srgbClr val="C00000"/>
              </a:solidFill>
              <a:headEnd type="none" w="med" len="med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" name="直線單箭頭接點 31"/>
            <p:cNvCxnSpPr/>
            <p:nvPr/>
          </p:nvCxnSpPr>
          <p:spPr bwMode="auto">
            <a:xfrm>
              <a:off x="10530417" y="4352215"/>
              <a:ext cx="5036" cy="469557"/>
            </a:xfrm>
            <a:prstGeom prst="straightConnector1">
              <a:avLst/>
            </a:prstGeom>
            <a:ln>
              <a:solidFill>
                <a:srgbClr val="C00000"/>
              </a:solidFill>
              <a:headEnd type="none" w="med" len="med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38" name="弧形 37"/>
            <p:cNvSpPr/>
            <p:nvPr/>
          </p:nvSpPr>
          <p:spPr bwMode="auto">
            <a:xfrm rot="1058116" flipV="1">
              <a:off x="10705867" y="3195628"/>
              <a:ext cx="853250" cy="820040"/>
            </a:xfrm>
            <a:prstGeom prst="arc">
              <a:avLst>
                <a:gd name="adj1" fmla="val 15707958"/>
                <a:gd name="adj2" fmla="val 9936980"/>
              </a:avLst>
            </a:prstGeom>
            <a:ln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/>
              <a:endParaRPr lang="zh-TW" altLang="en-US" sz="1350" b="1">
                <a:latin typeface="Arial" pitchFamily="34" charset="0"/>
                <a:ea typeface="新細明體" pitchFamily="18" charset="-120"/>
              </a:endParaRPr>
            </a:p>
          </p:txBody>
        </p:sp>
      </p:grpSp>
      <p:sp>
        <p:nvSpPr>
          <p:cNvPr id="42" name="左-右雙向箭號 41"/>
          <p:cNvSpPr/>
          <p:nvPr/>
        </p:nvSpPr>
        <p:spPr bwMode="auto">
          <a:xfrm>
            <a:off x="2728429" y="4652178"/>
            <a:ext cx="4453666" cy="332815"/>
          </a:xfrm>
          <a:prstGeom prst="left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/>
            <a:endParaRPr lang="zh-TW" altLang="en-US" sz="1350" b="1">
              <a:solidFill>
                <a:schemeClr val="tx1"/>
              </a:solidFill>
              <a:latin typeface="Arial" pitchFamily="34" charset="0"/>
              <a:ea typeface="新細明體" pitchFamily="18" charset="-120"/>
            </a:endParaRPr>
          </a:p>
        </p:txBody>
      </p:sp>
      <p:grpSp>
        <p:nvGrpSpPr>
          <p:cNvPr id="48" name="群組 47"/>
          <p:cNvGrpSpPr/>
          <p:nvPr/>
        </p:nvGrpSpPr>
        <p:grpSpPr>
          <a:xfrm>
            <a:off x="4111220" y="2140085"/>
            <a:ext cx="1795703" cy="1638805"/>
            <a:chOff x="5481627" y="1710445"/>
            <a:chExt cx="2394270" cy="2185074"/>
          </a:xfrm>
        </p:grpSpPr>
        <p:grpSp>
          <p:nvGrpSpPr>
            <p:cNvPr id="43" name="群組 42"/>
            <p:cNvGrpSpPr/>
            <p:nvPr/>
          </p:nvGrpSpPr>
          <p:grpSpPr>
            <a:xfrm>
              <a:off x="5481627" y="1710445"/>
              <a:ext cx="2276475" cy="2185074"/>
              <a:chOff x="5135562" y="1921788"/>
              <a:chExt cx="2276475" cy="2185074"/>
            </a:xfrm>
          </p:grpSpPr>
          <p:pic>
            <p:nvPicPr>
              <p:cNvPr id="8" name="圖片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35562" y="2497137"/>
                <a:ext cx="2276475" cy="1609725"/>
              </a:xfrm>
              <a:prstGeom prst="rect">
                <a:avLst/>
              </a:prstGeom>
            </p:spPr>
          </p:pic>
          <p:sp>
            <p:nvSpPr>
              <p:cNvPr id="9" name="文字方塊 8"/>
              <p:cNvSpPr txBox="1"/>
              <p:nvPr/>
            </p:nvSpPr>
            <p:spPr>
              <a:xfrm>
                <a:off x="5461001" y="1921788"/>
                <a:ext cx="1358899" cy="492443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rtlCol="0" anchor="ctr" anchorCtr="1">
                <a:spAutoFit/>
              </a:bodyPr>
              <a:lstStyle/>
              <a:p>
                <a:r>
                  <a:rPr lang="en-US" altLang="zh-TW" sz="1800" b="1" dirty="0">
                    <a:ea typeface="標楷體" pitchFamily="65" charset="-120"/>
                    <a:cs typeface="Calibri" pitchFamily="34" charset="0"/>
                  </a:rPr>
                  <a:t>Program</a:t>
                </a:r>
                <a:endParaRPr lang="zh-TW" altLang="en-US" sz="1800" b="1" dirty="0">
                  <a:ea typeface="標楷體" pitchFamily="65" charset="-120"/>
                  <a:cs typeface="Calibri" pitchFamily="34" charset="0"/>
                </a:endParaRPr>
              </a:p>
            </p:txBody>
          </p:sp>
        </p:grpSp>
        <p:sp>
          <p:nvSpPr>
            <p:cNvPr id="18" name="矩形 17"/>
            <p:cNvSpPr/>
            <p:nvPr/>
          </p:nvSpPr>
          <p:spPr bwMode="auto">
            <a:xfrm>
              <a:off x="5758812" y="2904161"/>
              <a:ext cx="2117085" cy="704057"/>
            </a:xfrm>
            <a:prstGeom prst="rect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/>
              <a:endParaRPr lang="zh-TW" altLang="en-US" sz="1350" b="1">
                <a:latin typeface="Arial" pitchFamily="34" charset="0"/>
              </a:endParaRPr>
            </a:p>
          </p:txBody>
        </p:sp>
      </p:grp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E26518-2301-4288-8958-BDA5B1B754F8}" type="slidenum">
              <a:rPr lang="zh-TW" altLang="en-US" smtClean="0"/>
              <a:pPr/>
              <a:t>67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125528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資料庫圖表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3063016"/>
              </p:ext>
            </p:extLst>
          </p:nvPr>
        </p:nvGraphicFramePr>
        <p:xfrm>
          <a:off x="49500" y="1308827"/>
          <a:ext cx="9045000" cy="475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Compression Flow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68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65668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群組 9"/>
          <p:cNvGrpSpPr/>
          <p:nvPr/>
        </p:nvGrpSpPr>
        <p:grpSpPr>
          <a:xfrm>
            <a:off x="565596" y="3040824"/>
            <a:ext cx="8069960" cy="2620424"/>
            <a:chOff x="1192870" y="2527490"/>
            <a:chExt cx="10759947" cy="3493898"/>
          </a:xfrm>
        </p:grpSpPr>
        <p:pic>
          <p:nvPicPr>
            <p:cNvPr id="7" name="圖片 6"/>
            <p:cNvPicPr>
              <a:picLocks noChangeAspect="1"/>
            </p:cNvPicPr>
            <p:nvPr/>
          </p:nvPicPr>
          <p:blipFill rotWithShape="1">
            <a:blip r:embed="rId3"/>
            <a:srcRect l="1156" t="1045" r="-1156" b="8437"/>
            <a:stretch/>
          </p:blipFill>
          <p:spPr>
            <a:xfrm>
              <a:off x="1192870" y="2527490"/>
              <a:ext cx="3489008" cy="3493898"/>
            </a:xfrm>
            <a:prstGeom prst="rect">
              <a:avLst/>
            </a:prstGeom>
          </p:spPr>
        </p:pic>
        <p:sp>
          <p:nvSpPr>
            <p:cNvPr id="8" name="向右箭號 7"/>
            <p:cNvSpPr/>
            <p:nvPr/>
          </p:nvSpPr>
          <p:spPr bwMode="auto">
            <a:xfrm>
              <a:off x="4948519" y="3872753"/>
              <a:ext cx="1546412" cy="551329"/>
            </a:xfrm>
            <a:prstGeom prst="rightArrow">
              <a:avLst/>
            </a:prstGeom>
            <a:solidFill>
              <a:srgbClr val="99FF99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/>
              <a:r>
                <a:rPr lang="en-US" altLang="zh-TW" sz="1800" b="1" dirty="0">
                  <a:solidFill>
                    <a:schemeClr val="tx1"/>
                  </a:solidFill>
                  <a:ea typeface="新細明體" pitchFamily="18" charset="-120"/>
                </a:rPr>
                <a:t>Filter</a:t>
              </a:r>
              <a:endParaRPr lang="zh-TW" altLang="en-US" sz="1800" b="1" dirty="0">
                <a:solidFill>
                  <a:schemeClr val="tx1"/>
                </a:solidFill>
                <a:ea typeface="新細明體" pitchFamily="18" charset="-120"/>
              </a:endParaRPr>
            </a:p>
          </p:txBody>
        </p:sp>
        <p:pic>
          <p:nvPicPr>
            <p:cNvPr id="9" name="圖片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11006" y="2881687"/>
              <a:ext cx="5341811" cy="2533460"/>
            </a:xfrm>
            <a:prstGeom prst="rect">
              <a:avLst/>
            </a:prstGeom>
          </p:spPr>
        </p:pic>
      </p:grp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Program Execution Trace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Many methods:</a:t>
            </a:r>
          </a:p>
          <a:p>
            <a:pPr lvl="1"/>
            <a:r>
              <a:rPr lang="en-US" altLang="zh-TW" dirty="0" smtClean="0"/>
              <a:t>Simulator/emulator, instrumentation, debugger, profiler</a:t>
            </a:r>
          </a:p>
          <a:p>
            <a:r>
              <a:rPr lang="en-US" altLang="zh-TW" dirty="0" smtClean="0"/>
              <a:t>Use basic block ID sequence instead of instruction trace</a:t>
            </a:r>
          </a:p>
        </p:txBody>
      </p:sp>
      <p:sp>
        <p:nvSpPr>
          <p:cNvPr id="2" name="圓角矩形圖說文字 1"/>
          <p:cNvSpPr/>
          <p:nvPr/>
        </p:nvSpPr>
        <p:spPr bwMode="auto">
          <a:xfrm>
            <a:off x="2352638" y="2904300"/>
            <a:ext cx="1715306" cy="768044"/>
          </a:xfrm>
          <a:prstGeom prst="wedgeRoundRectCallout">
            <a:avLst>
              <a:gd name="adj1" fmla="val -44429"/>
              <a:gd name="adj2" fmla="val 91337"/>
              <a:gd name="adj3" fmla="val 16667"/>
            </a:avLst>
          </a:prstGeom>
          <a:solidFill>
            <a:srgbClr val="0000FF"/>
          </a:solidFill>
          <a:ln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800" b="1" dirty="0">
                <a:ea typeface="新細明體" pitchFamily="18" charset="-120"/>
              </a:rPr>
              <a:t>Whole program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800" b="1" dirty="0">
                <a:ea typeface="新細明體" pitchFamily="18" charset="-120"/>
              </a:rPr>
              <a:t>instruction trace</a:t>
            </a:r>
          </a:p>
        </p:txBody>
      </p:sp>
      <p:sp>
        <p:nvSpPr>
          <p:cNvPr id="11" name="圓角矩形圖說文字 10"/>
          <p:cNvSpPr/>
          <p:nvPr/>
        </p:nvSpPr>
        <p:spPr bwMode="auto">
          <a:xfrm>
            <a:off x="7177192" y="2832255"/>
            <a:ext cx="1488688" cy="365871"/>
          </a:xfrm>
          <a:prstGeom prst="wedgeRoundRectCallout">
            <a:avLst>
              <a:gd name="adj1" fmla="val -15777"/>
              <a:gd name="adj2" fmla="val 79907"/>
              <a:gd name="adj3" fmla="val 16667"/>
            </a:avLst>
          </a:prstGeom>
          <a:solidFill>
            <a:srgbClr val="FFC000"/>
          </a:solidFill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800" b="1" dirty="0">
                <a:ea typeface="新細明體" pitchFamily="18" charset="-120"/>
              </a:rPr>
              <a:t>BBL sequence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69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014487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Patterns of Basic Blocks for Merging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Sequence of basic blocks can be represented as a long string</a:t>
            </a:r>
          </a:p>
          <a:p>
            <a:pPr lvl="1"/>
            <a:r>
              <a:rPr lang="en-US" altLang="zh-TW" dirty="0" smtClean="0"/>
              <a:t>For example, basic block sequence of a 1x2 matrix multiplication program</a:t>
            </a:r>
          </a:p>
          <a:p>
            <a:pPr lvl="2"/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The goal is to find all the substrings that always appear together in the basic block sequence and as long as possible </a:t>
            </a:r>
          </a:p>
          <a:p>
            <a:pPr lvl="1"/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70</a:t>
            </a:fld>
            <a:endParaRPr lang="zh-TW" altLang="zh-TW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455166"/>
              </p:ext>
            </p:extLst>
          </p:nvPr>
        </p:nvGraphicFramePr>
        <p:xfrm>
          <a:off x="39038" y="2852936"/>
          <a:ext cx="9065930" cy="2819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3290"/>
                <a:gridCol w="533290"/>
                <a:gridCol w="533290"/>
                <a:gridCol w="533290"/>
                <a:gridCol w="533290"/>
                <a:gridCol w="533290"/>
                <a:gridCol w="533290"/>
                <a:gridCol w="533290"/>
                <a:gridCol w="533290"/>
                <a:gridCol w="533290"/>
                <a:gridCol w="533290"/>
                <a:gridCol w="533290"/>
                <a:gridCol w="533290"/>
                <a:gridCol w="533290"/>
                <a:gridCol w="533290"/>
                <a:gridCol w="533290"/>
                <a:gridCol w="533290"/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marL="68580" marR="68580" marT="34290" marB="34290" anchor="ctr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marL="68580" marR="68580" marT="34290" marB="34290" anchor="ctr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marL="68580" marR="68580" marT="34290" marB="34290" anchor="ctr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marL="68580" marR="68580" marT="34290" marB="34290" anchor="ctr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marL="68580" marR="68580" marT="34290" marB="34290" anchor="ctr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6</a:t>
                      </a:r>
                      <a:endParaRPr lang="zh-TW" altLang="en-US" sz="1400" dirty="0"/>
                    </a:p>
                  </a:txBody>
                  <a:tcPr marL="68580" marR="68580" marT="34290" marB="34290" anchor="ctr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 marL="68580" marR="68580" marT="34290" marB="34290" anchor="ctr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 marL="68580" marR="68580" marT="34290" marB="34290" anchor="ctr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8</a:t>
                      </a:r>
                      <a:endParaRPr lang="zh-TW" altLang="en-US" sz="1400" dirty="0"/>
                    </a:p>
                  </a:txBody>
                  <a:tcPr marL="68580" marR="68580" marT="34290" marB="34290" anchor="ctr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marL="68580" marR="68580" marT="34290" marB="34290" anchor="ctr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6</a:t>
                      </a:r>
                      <a:endParaRPr lang="zh-TW" altLang="en-US" sz="1400" dirty="0"/>
                    </a:p>
                  </a:txBody>
                  <a:tcPr marL="68580" marR="68580" marT="34290" marB="34290" anchor="ctr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 marL="68580" marR="68580" marT="34290" marB="34290" anchor="ctr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 marL="68580" marR="68580" marT="34290" marB="34290" anchor="ctr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8</a:t>
                      </a:r>
                      <a:endParaRPr lang="zh-TW" altLang="en-US" sz="1400" dirty="0"/>
                    </a:p>
                  </a:txBody>
                  <a:tcPr marL="68580" marR="68580" marT="34290" marB="34290" anchor="ctr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 marL="68580" marR="68580" marT="34290" marB="34290" anchor="ctr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10</a:t>
                      </a:r>
                      <a:endParaRPr lang="zh-TW" altLang="en-US" sz="1400" dirty="0"/>
                    </a:p>
                  </a:txBody>
                  <a:tcPr marL="68580" marR="68580" marT="34290" marB="34290" anchor="ctr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11</a:t>
                      </a:r>
                      <a:endParaRPr lang="zh-TW" altLang="en-US" sz="1400" dirty="0"/>
                    </a:p>
                  </a:txBody>
                  <a:tcPr marL="68580" marR="68580" marT="34290" marB="34290" anchor="ctr">
                    <a:solidFill>
                      <a:srgbClr val="0000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00241"/>
              </p:ext>
            </p:extLst>
          </p:nvPr>
        </p:nvGraphicFramePr>
        <p:xfrm>
          <a:off x="27475" y="5002376"/>
          <a:ext cx="900902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770"/>
                <a:gridCol w="2649712"/>
                <a:gridCol w="2649712"/>
                <a:gridCol w="158982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4* (1,2,3,4)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8* (5,6,7,7,8)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8* (5,6,7,7,8)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11* (9,10,11)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7922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Derive FSM</a:t>
            </a:r>
            <a:endParaRPr lang="zh-TW" altLang="en-US" dirty="0"/>
          </a:p>
        </p:txBody>
      </p:sp>
      <p:sp>
        <p:nvSpPr>
          <p:cNvPr id="14" name="內容版面配置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smtClean="0"/>
              <a:t>FSM greatly reduces size of trace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71</a:t>
            </a:fld>
            <a:endParaRPr lang="zh-TW" altLang="zh-TW"/>
          </a:p>
        </p:txBody>
      </p:sp>
      <p:sp>
        <p:nvSpPr>
          <p:cNvPr id="6" name="橢圓 5"/>
          <p:cNvSpPr/>
          <p:nvPr/>
        </p:nvSpPr>
        <p:spPr bwMode="auto">
          <a:xfrm>
            <a:off x="1403648" y="3845346"/>
            <a:ext cx="1008000" cy="763588"/>
          </a:xfrm>
          <a:prstGeom prst="ellipse">
            <a:avLst/>
          </a:prstGeom>
          <a:solidFill>
            <a:srgbClr val="99FF99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4*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7" name="直線單箭頭接點 6"/>
          <p:cNvCxnSpPr>
            <a:stCxn id="6" idx="6"/>
            <a:endCxn id="8" idx="2"/>
          </p:cNvCxnSpPr>
          <p:nvPr/>
        </p:nvCxnSpPr>
        <p:spPr bwMode="auto">
          <a:xfrm>
            <a:off x="2411648" y="4227140"/>
            <a:ext cx="1709800" cy="0"/>
          </a:xfrm>
          <a:prstGeom prst="straightConnector1">
            <a:avLst/>
          </a:prstGeom>
          <a:ln w="38100">
            <a:solidFill>
              <a:srgbClr val="99FF99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橢圓 7"/>
          <p:cNvSpPr/>
          <p:nvPr/>
        </p:nvSpPr>
        <p:spPr bwMode="auto">
          <a:xfrm>
            <a:off x="4121448" y="3845346"/>
            <a:ext cx="1008000" cy="763588"/>
          </a:xfrm>
          <a:prstGeom prst="ellipse">
            <a:avLst/>
          </a:prstGeom>
          <a:solidFill>
            <a:srgbClr val="99FF99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latin typeface="Arial" pitchFamily="34" charset="0"/>
                <a:ea typeface="新細明體" pitchFamily="18" charset="-120"/>
              </a:rPr>
              <a:t>8*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" name="弧形 8"/>
          <p:cNvSpPr/>
          <p:nvPr/>
        </p:nvSpPr>
        <p:spPr bwMode="auto">
          <a:xfrm flipV="1">
            <a:off x="4769148" y="3645024"/>
            <a:ext cx="677800" cy="582116"/>
          </a:xfrm>
          <a:prstGeom prst="arc">
            <a:avLst>
              <a:gd name="adj1" fmla="val 16336321"/>
              <a:gd name="adj2" fmla="val 9936980"/>
            </a:avLst>
          </a:prstGeom>
          <a:ln w="38100">
            <a:solidFill>
              <a:srgbClr val="99FF99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10" name="直線單箭頭接點 9"/>
          <p:cNvCxnSpPr>
            <a:stCxn id="8" idx="6"/>
            <a:endCxn id="11" idx="2"/>
          </p:cNvCxnSpPr>
          <p:nvPr/>
        </p:nvCxnSpPr>
        <p:spPr bwMode="auto">
          <a:xfrm>
            <a:off x="5129448" y="4227140"/>
            <a:ext cx="1790700" cy="0"/>
          </a:xfrm>
          <a:prstGeom prst="straightConnector1">
            <a:avLst/>
          </a:prstGeom>
          <a:ln w="38100">
            <a:solidFill>
              <a:srgbClr val="99FF99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橢圓 10"/>
          <p:cNvSpPr/>
          <p:nvPr/>
        </p:nvSpPr>
        <p:spPr bwMode="auto">
          <a:xfrm>
            <a:off x="6920148" y="3845346"/>
            <a:ext cx="1008000" cy="763588"/>
          </a:xfrm>
          <a:prstGeom prst="ellipse">
            <a:avLst/>
          </a:prstGeom>
          <a:solidFill>
            <a:srgbClr val="99FF99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b="1" dirty="0" smtClean="0">
                <a:latin typeface="Arial" pitchFamily="34" charset="0"/>
                <a:ea typeface="新細明體" pitchFamily="18" charset="-120"/>
              </a:rPr>
              <a:t>11*</a:t>
            </a:r>
            <a:endParaRPr kumimoji="1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2" name="向下箭號 11"/>
          <p:cNvSpPr/>
          <p:nvPr/>
        </p:nvSpPr>
        <p:spPr bwMode="auto">
          <a:xfrm>
            <a:off x="3995936" y="2420888"/>
            <a:ext cx="1133512" cy="1008112"/>
          </a:xfrm>
          <a:prstGeom prst="downArrow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dirty="0">
              <a:latin typeface="+mn-lt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408152"/>
              </p:ext>
            </p:extLst>
          </p:nvPr>
        </p:nvGraphicFramePr>
        <p:xfrm>
          <a:off x="99483" y="1628800"/>
          <a:ext cx="900902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770"/>
                <a:gridCol w="2649712"/>
                <a:gridCol w="2649712"/>
                <a:gridCol w="158982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4* (1,2,3,4)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8* (5,6,7,7,8)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8* (5,6,7,7,8)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11* (9,10,11)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8093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75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5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750"/>
                            </p:stCondLst>
                            <p:childTnLst>
                              <p:par>
                                <p:cTn id="24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Rot by="120000">
                                      <p:cBhvr>
                                        <p:cTn id="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75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25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8" grpId="1" animBg="1"/>
      <p:bldP spid="8" grpId="2" animBg="1"/>
      <p:bldP spid="9" grpId="0" animBg="1"/>
      <p:bldP spid="1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Trace Replay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Use </a:t>
            </a:r>
            <a:r>
              <a:rPr lang="en-US" altLang="zh-TW" dirty="0"/>
              <a:t>FSM as input to </a:t>
            </a:r>
            <a:r>
              <a:rPr lang="en-US" altLang="zh-TW" dirty="0" smtClean="0"/>
              <a:t>regenerate </a:t>
            </a:r>
            <a:r>
              <a:rPr lang="en-US" altLang="zh-TW" dirty="0"/>
              <a:t>the </a:t>
            </a:r>
            <a:r>
              <a:rPr lang="en-US" altLang="zh-TW" dirty="0" smtClean="0"/>
              <a:t>trace</a:t>
            </a:r>
          </a:p>
          <a:p>
            <a:pPr lvl="1"/>
            <a:r>
              <a:rPr lang="en-US" altLang="zh-TW" dirty="0" smtClean="0"/>
              <a:t>Need to record additional information, e.g., in </a:t>
            </a:r>
            <a:r>
              <a:rPr lang="en-US" altLang="zh-TW" dirty="0"/>
              <a:t>a </a:t>
            </a:r>
            <a:r>
              <a:rPr lang="en-US" altLang="zh-TW" b="1" dirty="0"/>
              <a:t>state transition pattern </a:t>
            </a:r>
            <a:r>
              <a:rPr lang="en-US" altLang="zh-TW" b="1" dirty="0" smtClean="0"/>
              <a:t>table</a:t>
            </a:r>
            <a:r>
              <a:rPr lang="en-US" altLang="zh-TW" dirty="0" smtClean="0"/>
              <a:t>, for replay</a:t>
            </a:r>
          </a:p>
          <a:p>
            <a:pPr lvl="2"/>
            <a:r>
              <a:rPr lang="en-US" altLang="zh-TW" dirty="0" smtClean="0"/>
              <a:t>The more information recorded, the closer the regenerated track to the original trace</a:t>
            </a:r>
            <a:endParaRPr lang="en-US" altLang="zh-TW" dirty="0"/>
          </a:p>
          <a:p>
            <a:pPr lvl="1"/>
            <a:r>
              <a:rPr lang="en-US" altLang="zh-TW" dirty="0" smtClean="0"/>
              <a:t>Replay by choosing next state based on Markov Chains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E26518-2301-4288-8958-BDA5B1B754F8}" type="slidenum">
              <a:rPr lang="zh-TW" altLang="en-US" smtClean="0"/>
              <a:pPr/>
              <a:t>72</a:t>
            </a:fld>
            <a:endParaRPr lang="zh-TW" altLang="zh-TW"/>
          </a:p>
        </p:txBody>
      </p:sp>
      <p:grpSp>
        <p:nvGrpSpPr>
          <p:cNvPr id="7" name="群組 6"/>
          <p:cNvGrpSpPr/>
          <p:nvPr/>
        </p:nvGrpSpPr>
        <p:grpSpPr>
          <a:xfrm>
            <a:off x="323528" y="4753892"/>
            <a:ext cx="8527875" cy="1195388"/>
            <a:chOff x="2738709" y="4894874"/>
            <a:chExt cx="9359900" cy="1195388"/>
          </a:xfrm>
        </p:grpSpPr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2745059" y="4901224"/>
              <a:ext cx="2095500" cy="371475"/>
            </a:xfrm>
            <a:prstGeom prst="rect">
              <a:avLst/>
            </a:prstGeom>
            <a:solidFill>
              <a:srgbClr val="33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 sz="1800">
                <a:latin typeface="+mn-lt"/>
              </a:endParaRPr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4840559" y="4902812"/>
              <a:ext cx="4254500" cy="369888"/>
            </a:xfrm>
            <a:prstGeom prst="rect">
              <a:avLst/>
            </a:prstGeom>
            <a:solidFill>
              <a:srgbClr val="33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 sz="1800">
                <a:latin typeface="+mn-lt"/>
              </a:endParaRPr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9095059" y="4902812"/>
              <a:ext cx="2997200" cy="369888"/>
            </a:xfrm>
            <a:prstGeom prst="rect">
              <a:avLst/>
            </a:prstGeom>
            <a:solidFill>
              <a:srgbClr val="33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 sz="1800">
                <a:latin typeface="+mn-lt"/>
              </a:endParaRPr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2745059" y="5272699"/>
              <a:ext cx="2095500" cy="371475"/>
            </a:xfrm>
            <a:prstGeom prst="rect">
              <a:avLst/>
            </a:prstGeom>
            <a:solidFill>
              <a:srgbClr val="CDC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 sz="1800">
                <a:latin typeface="+mn-lt"/>
              </a:endParaRPr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4840559" y="5272699"/>
              <a:ext cx="4254500" cy="371475"/>
            </a:xfrm>
            <a:prstGeom prst="rect">
              <a:avLst/>
            </a:prstGeom>
            <a:solidFill>
              <a:srgbClr val="CDC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 sz="1800">
                <a:latin typeface="+mn-lt"/>
              </a:endParaRPr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9095059" y="5272699"/>
              <a:ext cx="2997200" cy="371475"/>
            </a:xfrm>
            <a:prstGeom prst="rect">
              <a:avLst/>
            </a:prstGeom>
            <a:solidFill>
              <a:srgbClr val="CDC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 sz="1800">
                <a:latin typeface="+mn-lt"/>
              </a:endParaRPr>
            </a:p>
          </p:txBody>
        </p:sp>
        <p:sp>
          <p:nvSpPr>
            <p:cNvPr id="14" name="Rectangle 11"/>
            <p:cNvSpPr>
              <a:spLocks noChangeArrowheads="1"/>
            </p:cNvSpPr>
            <p:nvPr/>
          </p:nvSpPr>
          <p:spPr bwMode="auto">
            <a:xfrm>
              <a:off x="2745059" y="5644174"/>
              <a:ext cx="2095500" cy="371475"/>
            </a:xfrm>
            <a:prstGeom prst="rect">
              <a:avLst/>
            </a:prstGeom>
            <a:solidFill>
              <a:srgbClr val="E8E8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 sz="1800">
                <a:latin typeface="+mn-lt"/>
              </a:endParaRPr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4840559" y="5644174"/>
              <a:ext cx="4254500" cy="371475"/>
            </a:xfrm>
            <a:prstGeom prst="rect">
              <a:avLst/>
            </a:prstGeom>
            <a:solidFill>
              <a:srgbClr val="E8E8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 sz="1800">
                <a:latin typeface="+mn-lt"/>
              </a:endParaRPr>
            </a:p>
          </p:txBody>
        </p:sp>
        <p:sp>
          <p:nvSpPr>
            <p:cNvPr id="16" name="Rectangle 13"/>
            <p:cNvSpPr>
              <a:spLocks noChangeArrowheads="1"/>
            </p:cNvSpPr>
            <p:nvPr/>
          </p:nvSpPr>
          <p:spPr bwMode="auto">
            <a:xfrm>
              <a:off x="9095059" y="5644174"/>
              <a:ext cx="2997200" cy="371475"/>
            </a:xfrm>
            <a:prstGeom prst="rect">
              <a:avLst/>
            </a:prstGeom>
            <a:solidFill>
              <a:srgbClr val="E8E8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 sz="1800">
                <a:latin typeface="+mn-lt"/>
              </a:endParaRPr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>
              <a:off x="4840559" y="4894874"/>
              <a:ext cx="0" cy="1127125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 sz="1800">
                <a:latin typeface="+mn-lt"/>
              </a:endParaRPr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>
              <a:off x="8824287" y="4963137"/>
              <a:ext cx="0" cy="1127125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 sz="1800">
                <a:latin typeface="+mn-lt"/>
              </a:endParaRPr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>
              <a:off x="2738709" y="5272699"/>
              <a:ext cx="9359900" cy="0"/>
            </a:xfrm>
            <a:prstGeom prst="line">
              <a:avLst/>
            </a:prstGeom>
            <a:noFill/>
            <a:ln w="38100" cap="flat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 sz="1800">
                <a:latin typeface="+mn-lt"/>
              </a:endParaRPr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2738709" y="5644174"/>
              <a:ext cx="9359900" cy="0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 sz="1800">
                <a:latin typeface="+mn-lt"/>
              </a:endParaRPr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2745059" y="4894874"/>
              <a:ext cx="0" cy="1127125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 sz="1800">
                <a:latin typeface="+mn-lt"/>
              </a:endParaRPr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>
              <a:off x="12092259" y="4894874"/>
              <a:ext cx="0" cy="1127125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 sz="1800">
                <a:latin typeface="+mn-lt"/>
              </a:endParaRPr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>
              <a:off x="2738709" y="4902812"/>
              <a:ext cx="9359900" cy="0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 sz="1800">
                <a:latin typeface="+mn-lt"/>
              </a:endParaRPr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2738709" y="6015649"/>
              <a:ext cx="9359900" cy="0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 sz="1800">
                <a:latin typeface="+mn-lt"/>
              </a:endParaRPr>
            </a:p>
          </p:txBody>
        </p:sp>
        <p:sp>
          <p:nvSpPr>
            <p:cNvPr id="25" name="Rectangle 22"/>
            <p:cNvSpPr>
              <a:spLocks noChangeArrowheads="1"/>
            </p:cNvSpPr>
            <p:nvPr/>
          </p:nvSpPr>
          <p:spPr bwMode="auto">
            <a:xfrm>
              <a:off x="3291159" y="4963137"/>
              <a:ext cx="79440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1800" b="1" dirty="0" smtClean="0">
                  <a:solidFill>
                    <a:srgbClr val="FFFFFF"/>
                  </a:solidFill>
                  <a:latin typeface="+mn-lt"/>
                </a:rPr>
                <a:t>S</a:t>
              </a:r>
              <a:r>
                <a:rPr kumimoji="0" lang="zh-TW" altLang="zh-TW" sz="1800" b="1" i="0" u="none" strike="noStrike" cap="none" normalizeH="0" baseline="0" dirty="0" smtClean="0">
                  <a:ln>
                    <a:noFill/>
                  </a:ln>
                  <a:solidFill>
                    <a:srgbClr val="FFFFFF"/>
                  </a:solidFill>
                  <a:effectLst/>
                  <a:latin typeface="+mn-lt"/>
                </a:rPr>
                <a:t>tat</a:t>
              </a:r>
              <a:r>
                <a:rPr kumimoji="0" lang="en-US" altLang="zh-TW" sz="1800" b="1" i="0" u="none" strike="noStrike" cap="none" normalizeH="0" baseline="0" dirty="0" smtClean="0">
                  <a:ln>
                    <a:noFill/>
                  </a:ln>
                  <a:solidFill>
                    <a:srgbClr val="FFFFFF"/>
                  </a:solidFill>
                  <a:effectLst/>
                  <a:latin typeface="+mn-lt"/>
                </a:rPr>
                <a:t>e</a:t>
              </a:r>
              <a:r>
                <a:rPr kumimoji="0" lang="zh-TW" altLang="zh-TW" sz="1800" b="1" i="0" u="none" strike="noStrike" cap="none" normalizeH="0" baseline="0" dirty="0" smtClean="0">
                  <a:ln>
                    <a:noFill/>
                  </a:ln>
                  <a:solidFill>
                    <a:srgbClr val="FFFFFF"/>
                  </a:solidFill>
                  <a:effectLst/>
                  <a:latin typeface="+mn-lt"/>
                </a:rPr>
                <a:t> id</a:t>
              </a:r>
              <a:endPara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4905646" y="4963137"/>
              <a:ext cx="395682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TW" altLang="zh-TW" sz="1800" b="1" i="0" u="none" strike="noStrike" cap="none" normalizeH="0" baseline="0" smtClean="0">
                  <a:ln>
                    <a:noFill/>
                  </a:ln>
                  <a:solidFill>
                    <a:srgbClr val="FFFFFF"/>
                  </a:solidFill>
                  <a:effectLst/>
                  <a:latin typeface="+mn-lt"/>
                </a:rPr>
                <a:t>Occurrence ordering of future state(s)</a:t>
              </a:r>
              <a:endParaRPr kumimoji="0" lang="zh-TW" altLang="zh-TW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7" name="Rectangle 24"/>
            <p:cNvSpPr>
              <a:spLocks noChangeArrowheads="1"/>
            </p:cNvSpPr>
            <p:nvPr/>
          </p:nvSpPr>
          <p:spPr bwMode="auto">
            <a:xfrm>
              <a:off x="9217297" y="4963137"/>
              <a:ext cx="263143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TW" altLang="zh-TW" sz="1800" b="1" i="0" u="none" strike="noStrike" cap="none" normalizeH="0" baseline="0" smtClean="0">
                  <a:ln>
                    <a:noFill/>
                  </a:ln>
                  <a:solidFill>
                    <a:srgbClr val="FFFFFF"/>
                  </a:solidFill>
                  <a:effectLst/>
                  <a:latin typeface="+mn-lt"/>
                </a:rPr>
                <a:t>Probability of occurrence</a:t>
              </a:r>
              <a:endParaRPr kumimoji="0" lang="zh-TW" altLang="zh-TW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</p:grpSp>
      <p:sp>
        <p:nvSpPr>
          <p:cNvPr id="28" name="Rectangle 25"/>
          <p:cNvSpPr>
            <a:spLocks noChangeArrowheads="1"/>
          </p:cNvSpPr>
          <p:nvPr/>
        </p:nvSpPr>
        <p:spPr bwMode="auto">
          <a:xfrm>
            <a:off x="1095054" y="5201567"/>
            <a:ext cx="5953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4*,8*</a:t>
            </a:r>
            <a:endParaRPr kumimoji="0" lang="zh-TW" altLang="zh-TW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Rectangle 26"/>
          <p:cNvSpPr>
            <a:spLocks noChangeArrowheads="1"/>
          </p:cNvSpPr>
          <p:nvPr/>
        </p:nvSpPr>
        <p:spPr bwMode="auto">
          <a:xfrm>
            <a:off x="3868043" y="5201567"/>
            <a:ext cx="317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8*</a:t>
            </a:r>
            <a:endParaRPr kumimoji="0" lang="zh-TW" altLang="zh-TW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27"/>
          <p:cNvSpPr>
            <a:spLocks noChangeArrowheads="1"/>
          </p:cNvSpPr>
          <p:nvPr/>
        </p:nvSpPr>
        <p:spPr bwMode="auto">
          <a:xfrm>
            <a:off x="7222059" y="5201567"/>
            <a:ext cx="508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8*:1</a:t>
            </a:r>
            <a:endParaRPr kumimoji="0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28"/>
          <p:cNvSpPr>
            <a:spLocks noChangeArrowheads="1"/>
          </p:cNvSpPr>
          <p:nvPr/>
        </p:nvSpPr>
        <p:spPr bwMode="auto">
          <a:xfrm>
            <a:off x="1095054" y="5569867"/>
            <a:ext cx="630238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8*,8*</a:t>
            </a:r>
            <a:endParaRPr kumimoji="0" lang="zh-TW" altLang="zh-TW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Rectangle 29"/>
          <p:cNvSpPr>
            <a:spLocks noChangeArrowheads="1"/>
          </p:cNvSpPr>
          <p:nvPr/>
        </p:nvSpPr>
        <p:spPr bwMode="auto">
          <a:xfrm>
            <a:off x="3812480" y="5569867"/>
            <a:ext cx="471488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11*</a:t>
            </a:r>
            <a:endParaRPr kumimoji="0" lang="zh-TW" altLang="zh-TW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7166496" y="5569867"/>
            <a:ext cx="6731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11*:1</a:t>
            </a:r>
            <a:endParaRPr kumimoji="0" lang="zh-TW" altLang="zh-TW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4" name="群組 33"/>
          <p:cNvGrpSpPr/>
          <p:nvPr/>
        </p:nvGrpSpPr>
        <p:grpSpPr>
          <a:xfrm>
            <a:off x="1246250" y="3542903"/>
            <a:ext cx="6524500" cy="963910"/>
            <a:chOff x="2209800" y="4727279"/>
            <a:chExt cx="6524500" cy="963910"/>
          </a:xfrm>
        </p:grpSpPr>
        <p:sp>
          <p:nvSpPr>
            <p:cNvPr id="35" name="橢圓 34"/>
            <p:cNvSpPr/>
            <p:nvPr/>
          </p:nvSpPr>
          <p:spPr bwMode="auto">
            <a:xfrm>
              <a:off x="2209800" y="4927601"/>
              <a:ext cx="1008000" cy="763588"/>
            </a:xfrm>
            <a:prstGeom prst="ellips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新細明體" pitchFamily="18" charset="-120"/>
                </a:rPr>
                <a:t>4*</a:t>
              </a:r>
              <a:endParaRPr kumimoji="1" lang="zh-TW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cxnSp>
          <p:nvCxnSpPr>
            <p:cNvPr id="36" name="直線單箭頭接點 35"/>
            <p:cNvCxnSpPr>
              <a:stCxn id="35" idx="6"/>
              <a:endCxn id="37" idx="2"/>
            </p:cNvCxnSpPr>
            <p:nvPr/>
          </p:nvCxnSpPr>
          <p:spPr bwMode="auto">
            <a:xfrm>
              <a:off x="3217800" y="5309395"/>
              <a:ext cx="17098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7" name="橢圓 36"/>
            <p:cNvSpPr/>
            <p:nvPr/>
          </p:nvSpPr>
          <p:spPr bwMode="auto">
            <a:xfrm>
              <a:off x="4927600" y="4927601"/>
              <a:ext cx="1008000" cy="763588"/>
            </a:xfrm>
            <a:prstGeom prst="ellips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b="1" dirty="0" smtClean="0">
                  <a:latin typeface="Arial" pitchFamily="34" charset="0"/>
                  <a:ea typeface="新細明體" pitchFamily="18" charset="-120"/>
                </a:rPr>
                <a:t>8*</a:t>
              </a:r>
              <a:endParaRPr kumimoji="1" lang="zh-TW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38" name="弧形 37"/>
            <p:cNvSpPr/>
            <p:nvPr/>
          </p:nvSpPr>
          <p:spPr bwMode="auto">
            <a:xfrm flipV="1">
              <a:off x="5575300" y="4727279"/>
              <a:ext cx="677800" cy="582116"/>
            </a:xfrm>
            <a:prstGeom prst="arc">
              <a:avLst>
                <a:gd name="adj1" fmla="val 16336321"/>
                <a:gd name="adj2" fmla="val 9936980"/>
              </a:avLst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cxnSp>
          <p:nvCxnSpPr>
            <p:cNvPr id="39" name="直線單箭頭接點 38"/>
            <p:cNvCxnSpPr>
              <a:stCxn id="37" idx="6"/>
              <a:endCxn id="40" idx="2"/>
            </p:cNvCxnSpPr>
            <p:nvPr/>
          </p:nvCxnSpPr>
          <p:spPr bwMode="auto">
            <a:xfrm>
              <a:off x="5935600" y="5309395"/>
              <a:ext cx="17907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40" name="橢圓 39"/>
            <p:cNvSpPr/>
            <p:nvPr/>
          </p:nvSpPr>
          <p:spPr bwMode="auto">
            <a:xfrm>
              <a:off x="7726300" y="4927601"/>
              <a:ext cx="1008000" cy="763588"/>
            </a:xfrm>
            <a:prstGeom prst="ellips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TW" b="1" dirty="0" smtClean="0">
                  <a:latin typeface="Arial" pitchFamily="34" charset="0"/>
                  <a:ea typeface="新細明體" pitchFamily="18" charset="-120"/>
                </a:rPr>
                <a:t>11*</a:t>
              </a:r>
              <a:endParaRPr kumimoji="1" lang="zh-TW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4335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Summary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Introduced the concept of dependence-aware trace</a:t>
            </a:r>
          </a:p>
          <a:p>
            <a:endParaRPr lang="en-US" altLang="zh-TW" dirty="0"/>
          </a:p>
          <a:p>
            <a:r>
              <a:rPr lang="en-US" altLang="zh-TW" dirty="0" smtClean="0"/>
              <a:t>Studied effectiveness of dependence-aware trace for trace-driven </a:t>
            </a:r>
            <a:r>
              <a:rPr lang="en-US" altLang="zh-TW" dirty="0" err="1" smtClean="0"/>
              <a:t>NoC</a:t>
            </a:r>
            <a:r>
              <a:rPr lang="en-US" altLang="zh-TW" dirty="0" smtClean="0"/>
              <a:t> simulation for SMP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Discussed how dependence-aware trace may be used in trace-driven simulation for GPU </a:t>
            </a:r>
            <a:r>
              <a:rPr lang="en-US" altLang="zh-TW" dirty="0" err="1" smtClean="0"/>
              <a:t>NoC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Outlined how to transform execution trace into FSM for compression and how to replay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F8A0A4-1A2F-4B89-B3C7-02C31CE3A532}" type="slidenum">
              <a:rPr lang="zh-TW" altLang="en-US" smtClean="0"/>
              <a:pPr/>
              <a:t>73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469440159"/>
      </p:ext>
    </p:extLst>
  </p:cSld>
  <p:clrMapOvr>
    <a:masterClrMapping/>
  </p:clrMapOvr>
</p:sld>
</file>

<file path=ppt/theme/theme1.xml><?xml version="1.0" encoding="utf-8"?>
<a:theme xmlns:a="http://schemas.openxmlformats.org/drawingml/2006/main" name="Contemporary Portrait">
  <a:themeElements>
    <a:clrScheme name="Contemporary Portrait 2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Contemporary Portrait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<a:prstTxWarp prst="textNoShape">
          <a:avLst/>
        </a:prstTxWarp>
        <a:noAutofit/>
      </a:bodyPr>
      <a:lstStyle>
        <a:defPPr algn="ctr">
          <a:defRPr dirty="0">
            <a:latin typeface="+mn-l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TW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標楷體" panose="03000509000000000000" pitchFamily="65" charset="-12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>
            <a:latin typeface="+mn-lt"/>
          </a:defRPr>
        </a:defPPr>
      </a:lstStyle>
    </a:txDef>
  </a:objectDefaults>
  <a:extraClrSchemeLst>
    <a:extraClrScheme>
      <a:clrScheme name="Contemporary Portrait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mporary Portrait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mporary Portrait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Designs\Contemporary Portrait.pot</Template>
  <TotalTime>11125</TotalTime>
  <Words>3722</Words>
  <Application>Microsoft Office PowerPoint</Application>
  <PresentationFormat>如螢幕大小 (4:3)</PresentationFormat>
  <Paragraphs>896</Paragraphs>
  <Slides>74</Slides>
  <Notes>28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74</vt:i4>
      </vt:variant>
    </vt:vector>
  </HeadingPairs>
  <TitlesOfParts>
    <vt:vector size="75" baseType="lpstr">
      <vt:lpstr>Contemporary Portrait</vt:lpstr>
      <vt:lpstr>Trace Processing for  Exploiting Architecture Designs</vt:lpstr>
      <vt:lpstr>Outline</vt:lpstr>
      <vt:lpstr>Simulation for Architecture Designs</vt:lpstr>
      <vt:lpstr>Simulation for Architecture Designs</vt:lpstr>
      <vt:lpstr>Trace-Driven Simulation</vt:lpstr>
      <vt:lpstr>Trace-Driven Simulation</vt:lpstr>
      <vt:lpstr>Two Phases of Trace-Driven Simulation</vt:lpstr>
      <vt:lpstr>Two Phases of Trace-Driven Simulation</vt:lpstr>
      <vt:lpstr>Trace-Driven Simulation</vt:lpstr>
      <vt:lpstr>Outline</vt:lpstr>
      <vt:lpstr>Why Trace-Driven Simulation Inaccurate?</vt:lpstr>
      <vt:lpstr>Why Trace-Driven Simulation Inaccurate?</vt:lpstr>
      <vt:lpstr>Why Trace-Driven Simulation Inaccurate?</vt:lpstr>
      <vt:lpstr>An Illustrative Example (NoC Simulation)</vt:lpstr>
      <vt:lpstr>An Illustrative Example (NoC Simulation)</vt:lpstr>
      <vt:lpstr>To Make Trace-Driven Simulation Accurate</vt:lpstr>
      <vt:lpstr>Previous Work</vt:lpstr>
      <vt:lpstr>Three Types of Dependencies</vt:lpstr>
      <vt:lpstr>Three Types of Dependencies</vt:lpstr>
      <vt:lpstr>Three Types of Dependencies</vt:lpstr>
      <vt:lpstr>Outline</vt:lpstr>
      <vt:lpstr>How Effective Is Dependence-aware Trace?</vt:lpstr>
      <vt:lpstr>Evaluation Flow</vt:lpstr>
      <vt:lpstr>Issues to Resolve</vt:lpstr>
      <vt:lpstr>Trace Extraction from Gem5</vt:lpstr>
      <vt:lpstr>Trace Extraction from Gem5</vt:lpstr>
      <vt:lpstr>Standalone Garnet Modifications</vt:lpstr>
      <vt:lpstr>Determine Size of Messages</vt:lpstr>
      <vt:lpstr>Inject Memory Responses into NoC</vt:lpstr>
      <vt:lpstr>Match Request and Response Messages</vt:lpstr>
      <vt:lpstr>Dependencies among Trace Events</vt:lpstr>
      <vt:lpstr>Independent Cache Miss Model</vt:lpstr>
      <vt:lpstr>Evaluation</vt:lpstr>
      <vt:lpstr>Can Use Standalone Simulator w/o Change?</vt:lpstr>
      <vt:lpstr>Observation</vt:lpstr>
      <vt:lpstr>Motivation</vt:lpstr>
      <vt:lpstr>Basic Ideas</vt:lpstr>
      <vt:lpstr>Basic Ideas</vt:lpstr>
      <vt:lpstr>Basic Ideas</vt:lpstr>
      <vt:lpstr>Basic Ideas</vt:lpstr>
      <vt:lpstr>Basic Ideas</vt:lpstr>
      <vt:lpstr>Basic ideas</vt:lpstr>
      <vt:lpstr>Simulation Flow</vt:lpstr>
      <vt:lpstr>For This Study</vt:lpstr>
      <vt:lpstr>Dependence-aware Trace</vt:lpstr>
      <vt:lpstr>Timing Reference</vt:lpstr>
      <vt:lpstr>Timing Corrector</vt:lpstr>
      <vt:lpstr>Timing Corrector</vt:lpstr>
      <vt:lpstr>Discussion</vt:lpstr>
      <vt:lpstr>Experiment Setup</vt:lpstr>
      <vt:lpstr>Experiment Setup</vt:lpstr>
      <vt:lpstr>Metrics Used</vt:lpstr>
      <vt:lpstr>Convergence</vt:lpstr>
      <vt:lpstr>Accuracy</vt:lpstr>
      <vt:lpstr>Accuracy</vt:lpstr>
      <vt:lpstr>Simulation Time</vt:lpstr>
      <vt:lpstr>Outline</vt:lpstr>
      <vt:lpstr>GPU versus CPU</vt:lpstr>
      <vt:lpstr>Evaluation Plan</vt:lpstr>
      <vt:lpstr>Correspondence of Messages</vt:lpstr>
      <vt:lpstr>Enqueue Response Packets from L2</vt:lpstr>
      <vt:lpstr>Garnet BW Adjustment for GPU</vt:lpstr>
      <vt:lpstr>More Difficulties</vt:lpstr>
      <vt:lpstr>Two Kinds of L1 Caches</vt:lpstr>
      <vt:lpstr>Memory Hiding Effects</vt:lpstr>
      <vt:lpstr>Data Flow Dependencies</vt:lpstr>
      <vt:lpstr>Outline</vt:lpstr>
      <vt:lpstr>The Problem</vt:lpstr>
      <vt:lpstr>Compression Flow</vt:lpstr>
      <vt:lpstr>Program Execution Trace</vt:lpstr>
      <vt:lpstr>Patterns of Basic Blocks for Merging</vt:lpstr>
      <vt:lpstr>Derive FSM</vt:lpstr>
      <vt:lpstr>Trace Replay</vt:lpstr>
      <vt:lpstr>Summary</vt:lpstr>
    </vt:vector>
  </TitlesOfParts>
  <Company>Dell Computer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Networking for Embedded Systems</dc:title>
  <dc:creator>Preferred Customer</dc:creator>
  <cp:lastModifiedBy>Yeh-Ching Chung</cp:lastModifiedBy>
  <cp:revision>1220</cp:revision>
  <dcterms:created xsi:type="dcterms:W3CDTF">2000-02-07T23:54:30Z</dcterms:created>
  <dcterms:modified xsi:type="dcterms:W3CDTF">2015-05-24T10:43:29Z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1</vt:i4>
  </property>
  <property fmtid="{D5CDD505-2E9C-101B-9397-08002B2CF9AE}" pid="6" name="ScreenUsage">
    <vt:i4>3</vt:i4>
  </property>
  <property fmtid="{D5CDD505-2E9C-101B-9397-08002B2CF9AE}" pid="7" name="MailAddress">
    <vt:lpwstr>wolf@princeton.edu</vt:lpwstr>
  </property>
  <property fmtid="{D5CDD505-2E9C-101B-9397-08002B2CF9AE}" pid="8" name="HomePage">
    <vt:lpwstr>http://www.ee.princeton.edu/~wolf</vt:lpwstr>
  </property>
  <property fmtid="{D5CDD505-2E9C-101B-9397-08002B2CF9AE}" pid="9" name="Other">
    <vt:lpwstr>Overheads for Computers as Components_x000d_
(c) 2000 Morgan Kaufman</vt:lpwstr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D:\Computers as Components\Web Aids\overheads</vt:lpwstr>
  </property>
</Properties>
</file>