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77"/>
  </p:notesMasterIdLst>
  <p:sldIdLst>
    <p:sldId id="296" r:id="rId2"/>
    <p:sldId id="257" r:id="rId3"/>
    <p:sldId id="280" r:id="rId4"/>
    <p:sldId id="282" r:id="rId5"/>
    <p:sldId id="290" r:id="rId6"/>
    <p:sldId id="291" r:id="rId7"/>
    <p:sldId id="281" r:id="rId8"/>
    <p:sldId id="277" r:id="rId9"/>
    <p:sldId id="278" r:id="rId10"/>
    <p:sldId id="279" r:id="rId11"/>
    <p:sldId id="283" r:id="rId12"/>
    <p:sldId id="265" r:id="rId13"/>
    <p:sldId id="266" r:id="rId14"/>
    <p:sldId id="267" r:id="rId15"/>
    <p:sldId id="268" r:id="rId16"/>
    <p:sldId id="264" r:id="rId17"/>
    <p:sldId id="270" r:id="rId18"/>
    <p:sldId id="271" r:id="rId19"/>
    <p:sldId id="287" r:id="rId20"/>
    <p:sldId id="288" r:id="rId21"/>
    <p:sldId id="273" r:id="rId22"/>
    <p:sldId id="289" r:id="rId23"/>
    <p:sldId id="269" r:id="rId24"/>
    <p:sldId id="292" r:id="rId25"/>
    <p:sldId id="293" r:id="rId26"/>
    <p:sldId id="285" r:id="rId27"/>
    <p:sldId id="274" r:id="rId28"/>
    <p:sldId id="275" r:id="rId29"/>
    <p:sldId id="295"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11" r:id="rId43"/>
    <p:sldId id="317" r:id="rId44"/>
    <p:sldId id="321" r:id="rId45"/>
    <p:sldId id="329" r:id="rId46"/>
    <p:sldId id="309" r:id="rId47"/>
    <p:sldId id="310" r:id="rId48"/>
    <p:sldId id="331" r:id="rId49"/>
    <p:sldId id="333" r:id="rId50"/>
    <p:sldId id="336" r:id="rId51"/>
    <p:sldId id="337" r:id="rId52"/>
    <p:sldId id="327" r:id="rId53"/>
    <p:sldId id="339" r:id="rId54"/>
    <p:sldId id="340" r:id="rId55"/>
    <p:sldId id="341" r:id="rId56"/>
    <p:sldId id="342" r:id="rId57"/>
    <p:sldId id="343" r:id="rId58"/>
    <p:sldId id="344" r:id="rId59"/>
    <p:sldId id="345" r:id="rId60"/>
    <p:sldId id="346" r:id="rId61"/>
    <p:sldId id="347" r:id="rId62"/>
    <p:sldId id="348" r:id="rId63"/>
    <p:sldId id="352" r:id="rId64"/>
    <p:sldId id="353" r:id="rId65"/>
    <p:sldId id="354" r:id="rId66"/>
    <p:sldId id="355" r:id="rId67"/>
    <p:sldId id="356" r:id="rId68"/>
    <p:sldId id="357" r:id="rId69"/>
    <p:sldId id="358" r:id="rId70"/>
    <p:sldId id="359" r:id="rId71"/>
    <p:sldId id="360" r:id="rId72"/>
    <p:sldId id="361" r:id="rId73"/>
    <p:sldId id="363" r:id="rId74"/>
    <p:sldId id="364" r:id="rId75"/>
    <p:sldId id="338" r:id="rId7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FF66"/>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39" autoAdjust="0"/>
    <p:restoredTop sz="94660"/>
  </p:normalViewPr>
  <p:slideViewPr>
    <p:cSldViewPr>
      <p:cViewPr varScale="1">
        <p:scale>
          <a:sx n="110" d="100"/>
          <a:sy n="110" d="100"/>
        </p:scale>
        <p:origin x="201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55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defRPr>
            </a:lvl1pPr>
          </a:lstStyle>
          <a:p>
            <a:pPr>
              <a:defRPr/>
            </a:pPr>
            <a:endParaRPr lang="en-US" altLang="zh-TW"/>
          </a:p>
        </p:txBody>
      </p:sp>
      <p:sp>
        <p:nvSpPr>
          <p:cNvPr id="1955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defRPr>
            </a:lvl1pPr>
          </a:lstStyle>
          <a:p>
            <a:pPr>
              <a:defRPr/>
            </a:pPr>
            <a:endParaRPr lang="en-US" altLang="zh-TW"/>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55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defRPr>
            </a:lvl1pPr>
          </a:lstStyle>
          <a:p>
            <a:pPr>
              <a:defRPr/>
            </a:pPr>
            <a:endParaRPr lang="en-US" altLang="zh-TW"/>
          </a:p>
        </p:txBody>
      </p:sp>
      <p:sp>
        <p:nvSpPr>
          <p:cNvPr id="1955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a typeface="+mn-ea"/>
              </a:defRPr>
            </a:lvl1pPr>
          </a:lstStyle>
          <a:p>
            <a:pPr>
              <a:defRPr/>
            </a:pPr>
            <a:fld id="{72FABAC9-CBA2-4424-8872-C786E385D49C}" type="slidenum">
              <a:rPr lang="en-US" altLang="zh-TW"/>
              <a:pPr>
                <a:defRPr/>
              </a:pPr>
              <a:t>‹#›</a:t>
            </a:fld>
            <a:endParaRPr lang="en-US" altLang="zh-TW"/>
          </a:p>
        </p:txBody>
      </p:sp>
    </p:spTree>
    <p:extLst>
      <p:ext uri="{BB962C8B-B14F-4D97-AF65-F5344CB8AC3E}">
        <p14:creationId xmlns:p14="http://schemas.microsoft.com/office/powerpoint/2010/main" val="27349044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832F1CFB-4BB2-4863-8AB8-3CE6B06ADCDA}" type="slidenum">
              <a:rPr lang="en-US" altLang="zh-TW" smtClean="0"/>
              <a:pPr/>
              <a:t>2</a:t>
            </a:fld>
            <a:endParaRPr lang="en-US" altLang="zh-TW"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594075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B353CC49-CEF2-4BD2-9855-02C839984C40}" type="slidenum">
              <a:rPr lang="en-US" altLang="zh-TW" smtClean="0"/>
              <a:pPr/>
              <a:t>3</a:t>
            </a:fld>
            <a:endParaRPr lang="en-US" altLang="zh-TW" smtClean="0"/>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405625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B6FCA4A9-AEA7-41F0-A035-BA9589126802}" type="slidenum">
              <a:rPr lang="en-US" altLang="zh-TW" smtClean="0"/>
              <a:pPr/>
              <a:t>4</a:t>
            </a:fld>
            <a:endParaRPr lang="en-US" altLang="zh-TW" smtClean="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929978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AB56EC92-CFF2-4D14-B303-EDF6F087B742}" type="slidenum">
              <a:rPr lang="en-US" altLang="zh-TW" smtClean="0"/>
              <a:pPr/>
              <a:t>5</a:t>
            </a:fld>
            <a:endParaRPr lang="en-US" altLang="zh-TW" smtClean="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262100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BF649A93-71CB-479E-A907-E4805A260293}" type="slidenum">
              <a:rPr lang="en-US" altLang="zh-TW" smtClean="0"/>
              <a:pPr/>
              <a:t>7</a:t>
            </a:fld>
            <a:endParaRPr lang="en-US" altLang="zh-TW" smtClean="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3824396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84445601-7958-423E-B9D0-A339AD1643F4}" type="slidenum">
              <a:rPr lang="en-US" altLang="zh-TW" smtClean="0"/>
              <a:pPr/>
              <a:t>8</a:t>
            </a:fld>
            <a:endParaRPr lang="en-US" altLang="zh-TW" smtClean="0"/>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454627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9AD40FC0-A621-45FD-93F6-9FF233B8FFF9}" type="slidenum">
              <a:rPr lang="en-US" altLang="zh-TW" smtClean="0"/>
              <a:pPr/>
              <a:t>9</a:t>
            </a:fld>
            <a:endParaRPr lang="en-US" altLang="zh-TW" smtClean="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3841104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8610BC4E-8237-4176-AA00-7A314AB57CBB}" type="slidenum">
              <a:rPr lang="en-US" altLang="zh-TW" smtClean="0"/>
              <a:pPr/>
              <a:t>10</a:t>
            </a:fld>
            <a:endParaRPr lang="en-US" altLang="zh-TW"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3074073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B5E15C61-1D6E-4F1D-8F5B-88CFF1E9B0FB}" type="slidenum">
              <a:rPr lang="en-US" altLang="zh-TW" smtClean="0"/>
              <a:pPr/>
              <a:t>11</a:t>
            </a:fld>
            <a:endParaRPr lang="en-US" altLang="zh-TW"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5956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F139D0B2-254A-4736-83A5-3DE6B04A107E}" type="slidenum">
              <a:rPr lang="en-US" altLang="zh-TW" smtClean="0"/>
              <a:pPr/>
              <a:t>12</a:t>
            </a:fld>
            <a:endParaRPr lang="en-US" altLang="zh-TW" smtClean="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3552538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44009156-B20B-4612-A9FA-039B18417C39}" type="slidenum">
              <a:rPr lang="en-US" altLang="zh-TW" smtClean="0"/>
              <a:pPr/>
              <a:t>13</a:t>
            </a:fld>
            <a:endParaRPr lang="en-US" altLang="zh-TW"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574835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A38FE2A5-E87A-49C4-9D13-F6FD32FE9E95}" type="slidenum">
              <a:rPr lang="en-US" altLang="zh-TW" smtClean="0"/>
              <a:pPr/>
              <a:t>14</a:t>
            </a:fld>
            <a:endParaRPr lang="en-US" altLang="zh-TW" smtClean="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706594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1AB93DCC-6AA5-40E6-8D37-77C2F7FE5EA2}" type="slidenum">
              <a:rPr lang="en-US" altLang="zh-TW" smtClean="0"/>
              <a:pPr/>
              <a:t>15</a:t>
            </a:fld>
            <a:endParaRPr lang="en-US" altLang="zh-TW"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768256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7F865DAE-BD7D-4056-BD31-079948931D9C}" type="slidenum">
              <a:rPr lang="en-US" altLang="zh-TW" smtClean="0"/>
              <a:pPr/>
              <a:t>16</a:t>
            </a:fld>
            <a:endParaRPr lang="en-US" altLang="zh-TW"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149628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DBB84D75-5B0D-4927-83AE-62889DC8414E}" type="slidenum">
              <a:rPr lang="en-US" altLang="zh-TW" smtClean="0"/>
              <a:pPr/>
              <a:t>17</a:t>
            </a:fld>
            <a:endParaRPr lang="en-US" altLang="zh-TW"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912083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F02CE5A4-9080-4345-9D6F-867F51A3C3D2}" type="slidenum">
              <a:rPr lang="en-US" altLang="zh-TW" smtClean="0"/>
              <a:pPr/>
              <a:t>18</a:t>
            </a:fld>
            <a:endParaRPr lang="en-US" altLang="zh-TW"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737045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7E53F50E-803A-47B6-B2C9-220436F4E24E}" type="slidenum">
              <a:rPr lang="en-US" altLang="zh-TW" smtClean="0"/>
              <a:pPr/>
              <a:t>19</a:t>
            </a:fld>
            <a:endParaRPr lang="en-US" altLang="zh-TW"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798318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62E66EA1-139A-4C30-850E-965C7A272859}" type="slidenum">
              <a:rPr lang="en-US" altLang="zh-TW" smtClean="0"/>
              <a:pPr/>
              <a:t>20</a:t>
            </a:fld>
            <a:endParaRPr lang="en-US" altLang="zh-TW"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54250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F8BA384D-F647-4433-B2F0-22712B679542}" type="slidenum">
              <a:rPr lang="en-US" altLang="zh-TW" smtClean="0"/>
              <a:pPr/>
              <a:t>21</a:t>
            </a:fld>
            <a:endParaRPr lang="en-US" altLang="zh-TW"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3987858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2CC3F01A-9979-476A-80E2-46DFC00F20D3}" type="slidenum">
              <a:rPr lang="en-US" altLang="zh-TW" smtClean="0"/>
              <a:pPr/>
              <a:t>22</a:t>
            </a:fld>
            <a:endParaRPr lang="en-US" altLang="zh-TW"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931192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A19F1D69-7AD1-4263-A803-12E83C22249E}" type="slidenum">
              <a:rPr lang="en-US" altLang="zh-TW" smtClean="0"/>
              <a:pPr/>
              <a:t>23</a:t>
            </a:fld>
            <a:endParaRPr lang="en-US" altLang="zh-TW"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933634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D1DEBCAE-189D-42DA-B336-19EB0D7EC622}" type="slidenum">
              <a:rPr lang="en-US" altLang="zh-TW" smtClean="0"/>
              <a:pPr/>
              <a:t>24</a:t>
            </a:fld>
            <a:endParaRPr lang="en-US" altLang="zh-TW"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766540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AE7F6E0B-E60D-4682-9D0A-E4DC2CD558AA}" type="slidenum">
              <a:rPr lang="en-US" altLang="zh-TW" smtClean="0"/>
              <a:pPr/>
              <a:t>25</a:t>
            </a:fld>
            <a:endParaRPr lang="en-US" altLang="zh-TW"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5479921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99BAE695-2CA4-48C2-B6B0-2C243C7C6B6D}" type="slidenum">
              <a:rPr lang="en-US" altLang="zh-TW" smtClean="0"/>
              <a:pPr/>
              <a:t>26</a:t>
            </a:fld>
            <a:endParaRPr lang="en-US" altLang="zh-TW"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1065900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F3409EFC-33E8-4618-A077-935A75429D66}" type="slidenum">
              <a:rPr lang="en-US" altLang="zh-TW" smtClean="0"/>
              <a:pPr/>
              <a:t>27</a:t>
            </a:fld>
            <a:endParaRPr lang="en-US" altLang="zh-TW"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472541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8AC812D2-49B5-4899-BC66-439F831F84EF}" type="slidenum">
              <a:rPr lang="en-US" altLang="zh-TW" smtClean="0"/>
              <a:pPr/>
              <a:t>28</a:t>
            </a:fld>
            <a:endParaRPr lang="en-US" altLang="zh-TW"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262956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4D1B553A-0404-41B8-A69A-7B7ECB2219CA}" type="slidenum">
              <a:rPr lang="en-US" altLang="zh-TW" smtClean="0"/>
              <a:pPr/>
              <a:t>29</a:t>
            </a:fld>
            <a:endParaRPr lang="en-US" altLang="zh-TW"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smtClean="0">
              <a:latin typeface="Arial" panose="020B0604020202020204" pitchFamily="34" charset="0"/>
            </a:endParaRPr>
          </a:p>
        </p:txBody>
      </p:sp>
    </p:spTree>
    <p:extLst>
      <p:ext uri="{BB962C8B-B14F-4D97-AF65-F5344CB8AC3E}">
        <p14:creationId xmlns:p14="http://schemas.microsoft.com/office/powerpoint/2010/main" val="916278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a:defRPr/>
            </a:pPr>
            <a:fld id="{72FABAC9-CBA2-4424-8872-C786E385D49C}" type="slidenum">
              <a:rPr lang="en-US" altLang="zh-TW" smtClean="0"/>
              <a:pPr>
                <a:defRPr/>
              </a:pPr>
              <a:t>32</a:t>
            </a:fld>
            <a:endParaRPr lang="en-US" altLang="zh-TW"/>
          </a:p>
        </p:txBody>
      </p:sp>
    </p:spTree>
    <p:extLst>
      <p:ext uri="{BB962C8B-B14F-4D97-AF65-F5344CB8AC3E}">
        <p14:creationId xmlns:p14="http://schemas.microsoft.com/office/powerpoint/2010/main" val="13543094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TW" altLang="en-US" smtClean="0"/>
          </a:p>
        </p:txBody>
      </p:sp>
      <p:sp>
        <p:nvSpPr>
          <p:cNvPr id="12292"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fld id="{22A3D058-E886-43CB-B01F-69D1DBF9FF7B}" type="slidenum">
              <a:rPr kumimoji="1" lang="zh-TW" altLang="en-US"/>
              <a:pPr/>
              <a:t>48</a:t>
            </a:fld>
            <a:endParaRPr kumimoji="1" lang="zh-TW" altLang="en-US"/>
          </a:p>
        </p:txBody>
      </p:sp>
    </p:spTree>
    <p:extLst>
      <p:ext uri="{BB962C8B-B14F-4D97-AF65-F5344CB8AC3E}">
        <p14:creationId xmlns:p14="http://schemas.microsoft.com/office/powerpoint/2010/main" val="7873391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頁尾版面配置區 3"/>
          <p:cNvSpPr>
            <a:spLocks noGrp="1"/>
          </p:cNvSpPr>
          <p:nvPr>
            <p:ph type="ftr" sz="quarter" idx="10"/>
          </p:nvPr>
        </p:nvSpPr>
        <p:spPr/>
        <p:txBody>
          <a:bodyPr/>
          <a:lstStyle/>
          <a:p>
            <a:pPr>
              <a:defRPr/>
            </a:pPr>
            <a:r>
              <a:rPr lang="en-US" altLang="zh-TW" smtClean="0"/>
              <a:t>00000</a:t>
            </a:r>
            <a:endParaRPr lang="en-US" altLang="zh-TW"/>
          </a:p>
        </p:txBody>
      </p:sp>
      <p:sp>
        <p:nvSpPr>
          <p:cNvPr id="5" name="投影片編號版面配置區 4"/>
          <p:cNvSpPr>
            <a:spLocks noGrp="1"/>
          </p:cNvSpPr>
          <p:nvPr>
            <p:ph type="sldNum" sz="quarter" idx="11"/>
          </p:nvPr>
        </p:nvSpPr>
        <p:spPr/>
        <p:txBody>
          <a:bodyPr/>
          <a:lstStyle/>
          <a:p>
            <a:pPr>
              <a:defRPr/>
            </a:pPr>
            <a:fld id="{EF1E5AC7-D120-4B34-8768-388EC9206878}" type="slidenum">
              <a:rPr lang="en-US" altLang="zh-TW" smtClean="0"/>
              <a:pPr>
                <a:defRPr/>
              </a:pPr>
              <a:t>68</a:t>
            </a:fld>
            <a:endParaRPr lang="en-US" altLang="zh-TW" dirty="0"/>
          </a:p>
        </p:txBody>
      </p:sp>
    </p:spTree>
    <p:extLst>
      <p:ext uri="{BB962C8B-B14F-4D97-AF65-F5344CB8AC3E}">
        <p14:creationId xmlns:p14="http://schemas.microsoft.com/office/powerpoint/2010/main" val="8666125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頁尾版面配置區 3"/>
          <p:cNvSpPr>
            <a:spLocks noGrp="1"/>
          </p:cNvSpPr>
          <p:nvPr>
            <p:ph type="ftr" sz="quarter" idx="10"/>
          </p:nvPr>
        </p:nvSpPr>
        <p:spPr/>
        <p:txBody>
          <a:bodyPr/>
          <a:lstStyle/>
          <a:p>
            <a:pPr>
              <a:defRPr/>
            </a:pPr>
            <a:r>
              <a:rPr lang="en-US" altLang="zh-TW" smtClean="0"/>
              <a:t>00000</a:t>
            </a:r>
            <a:endParaRPr lang="en-US" altLang="zh-TW"/>
          </a:p>
        </p:txBody>
      </p:sp>
      <p:sp>
        <p:nvSpPr>
          <p:cNvPr id="5" name="投影片編號版面配置區 4"/>
          <p:cNvSpPr>
            <a:spLocks noGrp="1"/>
          </p:cNvSpPr>
          <p:nvPr>
            <p:ph type="sldNum" sz="quarter" idx="11"/>
          </p:nvPr>
        </p:nvSpPr>
        <p:spPr/>
        <p:txBody>
          <a:bodyPr/>
          <a:lstStyle/>
          <a:p>
            <a:pPr>
              <a:defRPr/>
            </a:pPr>
            <a:fld id="{EF1E5AC7-D120-4B34-8768-388EC9206878}" type="slidenum">
              <a:rPr lang="en-US" altLang="zh-TW" smtClean="0"/>
              <a:pPr>
                <a:defRPr/>
              </a:pPr>
              <a:t>69</a:t>
            </a:fld>
            <a:endParaRPr lang="en-US" altLang="zh-TW" dirty="0"/>
          </a:p>
        </p:txBody>
      </p:sp>
    </p:spTree>
    <p:extLst>
      <p:ext uri="{BB962C8B-B14F-4D97-AF65-F5344CB8AC3E}">
        <p14:creationId xmlns:p14="http://schemas.microsoft.com/office/powerpoint/2010/main" val="4272341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800">
                <a:latin typeface="Calibri" pitchFamily="34" charset="0"/>
                <a:ea typeface="標楷體" pitchFamily="65" charset="-120"/>
                <a:cs typeface="Calibri" pitchFamily="34" charset="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pPr>
              <a:defRPr/>
            </a:pPr>
            <a:fld id="{5899DAF6-71A8-4A71-B1EB-375E571DCD26}" type="slidenum">
              <a:rPr lang="en-US" altLang="zh-TW"/>
              <a:pPr>
                <a:defRPr/>
              </a:pPr>
              <a:t>‹#›</a:t>
            </a:fld>
            <a:endParaRPr lang="en-US" altLang="zh-TW"/>
          </a:p>
        </p:txBody>
      </p:sp>
    </p:spTree>
    <p:extLst>
      <p:ext uri="{BB962C8B-B14F-4D97-AF65-F5344CB8AC3E}">
        <p14:creationId xmlns:p14="http://schemas.microsoft.com/office/powerpoint/2010/main" val="107161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9"/>
          <p:cNvSpPr>
            <a:spLocks noGrp="1" noChangeArrowheads="1"/>
          </p:cNvSpPr>
          <p:nvPr>
            <p:ph type="sldNum" sz="quarter" idx="10"/>
          </p:nvPr>
        </p:nvSpPr>
        <p:spPr>
          <a:ln/>
        </p:spPr>
        <p:txBody>
          <a:bodyPr/>
          <a:lstStyle>
            <a:lvl1pPr>
              <a:defRPr/>
            </a:lvl1pPr>
          </a:lstStyle>
          <a:p>
            <a:pPr>
              <a:defRPr/>
            </a:pPr>
            <a:fld id="{B86D0661-96A5-4A79-9BBE-2695289AC129}" type="slidenum">
              <a:rPr lang="en-US" altLang="zh-TW"/>
              <a:pPr>
                <a:defRPr/>
              </a:pPr>
              <a:t>‹#›</a:t>
            </a:fld>
            <a:endParaRPr lang="en-US" altLang="zh-TW"/>
          </a:p>
        </p:txBody>
      </p:sp>
    </p:spTree>
    <p:extLst>
      <p:ext uri="{BB962C8B-B14F-4D97-AF65-F5344CB8AC3E}">
        <p14:creationId xmlns:p14="http://schemas.microsoft.com/office/powerpoint/2010/main" val="2211811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125538"/>
            <a:ext cx="4038600" cy="647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125538"/>
            <a:ext cx="4038600" cy="647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9"/>
          <p:cNvSpPr>
            <a:spLocks noGrp="1" noChangeArrowheads="1"/>
          </p:cNvSpPr>
          <p:nvPr>
            <p:ph type="sldNum" sz="quarter" idx="10"/>
          </p:nvPr>
        </p:nvSpPr>
        <p:spPr>
          <a:ln/>
        </p:spPr>
        <p:txBody>
          <a:bodyPr/>
          <a:lstStyle>
            <a:lvl1pPr>
              <a:defRPr/>
            </a:lvl1pPr>
          </a:lstStyle>
          <a:p>
            <a:pPr>
              <a:defRPr/>
            </a:pPr>
            <a:fld id="{1E391128-9DF6-44BC-8AE7-BD055C93C249}" type="slidenum">
              <a:rPr lang="en-US" altLang="zh-TW"/>
              <a:pPr>
                <a:defRPr/>
              </a:pPr>
              <a:t>‹#›</a:t>
            </a:fld>
            <a:endParaRPr lang="en-US" altLang="zh-TW"/>
          </a:p>
        </p:txBody>
      </p:sp>
    </p:spTree>
    <p:extLst>
      <p:ext uri="{BB962C8B-B14F-4D97-AF65-F5344CB8AC3E}">
        <p14:creationId xmlns:p14="http://schemas.microsoft.com/office/powerpoint/2010/main" val="3968818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pPr>
              <a:defRPr/>
            </a:pPr>
            <a:fld id="{15A010E4-A2D0-41E5-B566-D1CA59823479}" type="slidenum">
              <a:rPr lang="en-US" altLang="zh-TW"/>
              <a:pPr>
                <a:defRPr/>
              </a:pPr>
              <a:t>‹#›</a:t>
            </a:fld>
            <a:endParaRPr lang="en-US" altLang="zh-TW"/>
          </a:p>
        </p:txBody>
      </p:sp>
    </p:spTree>
    <p:extLst>
      <p:ext uri="{BB962C8B-B14F-4D97-AF65-F5344CB8AC3E}">
        <p14:creationId xmlns:p14="http://schemas.microsoft.com/office/powerpoint/2010/main" val="2205416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pPr>
              <a:defRPr/>
            </a:pPr>
            <a:fld id="{CB139CEE-DE8A-418C-9023-16281E618043}" type="slidenum">
              <a:rPr lang="en-US" altLang="zh-TW"/>
              <a:pPr>
                <a:defRPr/>
              </a:pPr>
              <a:t>‹#›</a:t>
            </a:fld>
            <a:endParaRPr lang="en-US" altLang="zh-TW"/>
          </a:p>
        </p:txBody>
      </p:sp>
    </p:spTree>
    <p:extLst>
      <p:ext uri="{BB962C8B-B14F-4D97-AF65-F5344CB8AC3E}">
        <p14:creationId xmlns:p14="http://schemas.microsoft.com/office/powerpoint/2010/main" val="380123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pPr>
              <a:defRPr/>
            </a:pPr>
            <a:fld id="{A5F12146-3B0F-4145-850F-19471F761879}" type="slidenum">
              <a:rPr lang="en-US" altLang="zh-TW"/>
              <a:pPr>
                <a:defRPr/>
              </a:pPr>
              <a:t>‹#›</a:t>
            </a:fld>
            <a:endParaRPr lang="en-US" altLang="zh-TW"/>
          </a:p>
        </p:txBody>
      </p:sp>
    </p:spTree>
    <p:extLst>
      <p:ext uri="{BB962C8B-B14F-4D97-AF65-F5344CB8AC3E}">
        <p14:creationId xmlns:p14="http://schemas.microsoft.com/office/powerpoint/2010/main" val="2592506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pPr>
              <a:defRPr/>
            </a:pPr>
            <a:fld id="{1B2F56DB-289D-4328-B9FD-5183B96042CB}" type="slidenum">
              <a:rPr lang="en-US" altLang="zh-TW"/>
              <a:pPr>
                <a:defRPr/>
              </a:pPr>
              <a:t>‹#›</a:t>
            </a:fld>
            <a:endParaRPr lang="en-US" altLang="zh-TW"/>
          </a:p>
        </p:txBody>
      </p:sp>
    </p:spTree>
    <p:extLst>
      <p:ext uri="{BB962C8B-B14F-4D97-AF65-F5344CB8AC3E}">
        <p14:creationId xmlns:p14="http://schemas.microsoft.com/office/powerpoint/2010/main" val="2253804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pPr>
              <a:defRPr/>
            </a:pPr>
            <a:fld id="{E71A07F1-7B63-4F25-BBDD-02949108C225}" type="slidenum">
              <a:rPr lang="en-US" altLang="zh-TW"/>
              <a:pPr>
                <a:defRPr/>
              </a:pPr>
              <a:t>‹#›</a:t>
            </a:fld>
            <a:endParaRPr lang="en-US" altLang="zh-TW"/>
          </a:p>
        </p:txBody>
      </p:sp>
    </p:spTree>
    <p:extLst>
      <p:ext uri="{BB962C8B-B14F-4D97-AF65-F5344CB8AC3E}">
        <p14:creationId xmlns:p14="http://schemas.microsoft.com/office/powerpoint/2010/main" val="385899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pPr>
              <a:defRPr/>
            </a:pPr>
            <a:fld id="{B0C797ED-350B-4B30-9C0B-5DDADBCD5807}" type="slidenum">
              <a:rPr lang="en-US" altLang="zh-TW"/>
              <a:pPr>
                <a:defRPr/>
              </a:pPr>
              <a:t>‹#›</a:t>
            </a:fld>
            <a:endParaRPr lang="en-US" altLang="zh-TW"/>
          </a:p>
        </p:txBody>
      </p:sp>
    </p:spTree>
    <p:extLst>
      <p:ext uri="{BB962C8B-B14F-4D97-AF65-F5344CB8AC3E}">
        <p14:creationId xmlns:p14="http://schemas.microsoft.com/office/powerpoint/2010/main" val="4173493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73025"/>
            <a:ext cx="2057400" cy="1700213"/>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73025"/>
            <a:ext cx="6019800" cy="170021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pPr>
              <a:defRPr/>
            </a:pPr>
            <a:fld id="{B7912C32-88A3-4BAA-ABA3-F7284856F91E}" type="slidenum">
              <a:rPr lang="en-US" altLang="zh-TW"/>
              <a:pPr>
                <a:defRPr/>
              </a:pPr>
              <a:t>‹#›</a:t>
            </a:fld>
            <a:endParaRPr lang="en-US" altLang="zh-TW"/>
          </a:p>
        </p:txBody>
      </p:sp>
    </p:spTree>
    <p:extLst>
      <p:ext uri="{BB962C8B-B14F-4D97-AF65-F5344CB8AC3E}">
        <p14:creationId xmlns:p14="http://schemas.microsoft.com/office/powerpoint/2010/main" val="2266228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3025"/>
            <a:ext cx="8229600" cy="170021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pPr>
              <a:defRPr/>
            </a:pPr>
            <a:fld id="{6DAA744D-FBF9-4AE6-B2C2-8A4E69D3633B}" type="slidenum">
              <a:rPr lang="en-US" altLang="zh-TW"/>
              <a:pPr>
                <a:defRPr/>
              </a:pPr>
              <a:t>‹#›</a:t>
            </a:fld>
            <a:endParaRPr lang="en-US" altLang="zh-TW"/>
          </a:p>
        </p:txBody>
      </p:sp>
    </p:spTree>
    <p:extLst>
      <p:ext uri="{BB962C8B-B14F-4D97-AF65-F5344CB8AC3E}">
        <p14:creationId xmlns:p14="http://schemas.microsoft.com/office/powerpoint/2010/main" val="584493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68313" y="73025"/>
            <a:ext cx="4248150" cy="69215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125538"/>
            <a:ext cx="8229600" cy="647700"/>
          </a:xfrm>
        </p:spPr>
        <p:txBody>
          <a:bodyPr/>
          <a:lstStyle/>
          <a:p>
            <a:pPr lvl="0"/>
            <a:r>
              <a:rPr lang="zh-TW" altLang="en-US" noProof="0" smtClean="0"/>
              <a:t>按一下圖示以新增表格</a:t>
            </a:r>
          </a:p>
        </p:txBody>
      </p:sp>
      <p:sp>
        <p:nvSpPr>
          <p:cNvPr id="4" name="Rectangle 19"/>
          <p:cNvSpPr>
            <a:spLocks noGrp="1" noChangeArrowheads="1"/>
          </p:cNvSpPr>
          <p:nvPr>
            <p:ph type="sldNum" sz="quarter" idx="10"/>
          </p:nvPr>
        </p:nvSpPr>
        <p:spPr>
          <a:ln/>
        </p:spPr>
        <p:txBody>
          <a:bodyPr/>
          <a:lstStyle>
            <a:lvl1pPr>
              <a:defRPr/>
            </a:lvl1pPr>
          </a:lstStyle>
          <a:p>
            <a:pPr>
              <a:defRPr/>
            </a:pPr>
            <a:fld id="{5F72DA1A-0328-46C1-8F87-9EFB8B9C9EF8}" type="slidenum">
              <a:rPr lang="en-US" altLang="zh-TW"/>
              <a:pPr>
                <a:defRPr/>
              </a:pPr>
              <a:t>‹#›</a:t>
            </a:fld>
            <a:endParaRPr lang="en-US" altLang="zh-TW"/>
          </a:p>
        </p:txBody>
      </p:sp>
    </p:spTree>
    <p:extLst>
      <p:ext uri="{BB962C8B-B14F-4D97-AF65-F5344CB8AC3E}">
        <p14:creationId xmlns:p14="http://schemas.microsoft.com/office/powerpoint/2010/main" val="3616500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pPr>
              <a:defRPr/>
            </a:pPr>
            <a:fld id="{1E23F7B6-464A-4517-9341-E8ECB1AE6CC8}" type="slidenum">
              <a:rPr lang="en-US" altLang="zh-TW"/>
              <a:pPr>
                <a:defRPr/>
              </a:pPr>
              <a:t>‹#›</a:t>
            </a:fld>
            <a:endParaRPr lang="en-US" altLang="zh-TW"/>
          </a:p>
        </p:txBody>
      </p:sp>
    </p:spTree>
    <p:extLst>
      <p:ext uri="{BB962C8B-B14F-4D97-AF65-F5344CB8AC3E}">
        <p14:creationId xmlns:p14="http://schemas.microsoft.com/office/powerpoint/2010/main" val="1020982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em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1" descr="清大LOGO(鳥)"/>
          <p:cNvPicPr>
            <a:picLocks noChangeAspect="1" noChangeArrowheads="1"/>
          </p:cNvPicPr>
          <p:nvPr/>
        </p:nvPicPr>
        <p:blipFill>
          <a:blip r:embed="rId15" cstate="print">
            <a:lum bright="70000" contrast="-70000"/>
            <a:extLst>
              <a:ext uri="{28A0092B-C50C-407E-A947-70E740481C1C}">
                <a14:useLocalDpi xmlns:a14="http://schemas.microsoft.com/office/drawing/2010/main" val="0"/>
              </a:ext>
            </a:extLst>
          </a:blip>
          <a:srcRect/>
          <a:stretch>
            <a:fillRect/>
          </a:stretch>
        </p:blipFill>
        <p:spPr bwMode="auto">
          <a:xfrm>
            <a:off x="0" y="30163"/>
            <a:ext cx="16192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17"/>
          <p:cNvSpPr>
            <a:spLocks noGrp="1" noChangeArrowheads="1"/>
          </p:cNvSpPr>
          <p:nvPr>
            <p:ph type="title"/>
          </p:nvPr>
        </p:nvSpPr>
        <p:spPr bwMode="auto">
          <a:xfrm>
            <a:off x="468313" y="144463"/>
            <a:ext cx="820737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Rectangle 18"/>
          <p:cNvSpPr>
            <a:spLocks noGrp="1" noChangeArrowheads="1"/>
          </p:cNvSpPr>
          <p:nvPr>
            <p:ph type="body" idx="1"/>
          </p:nvPr>
        </p:nvSpPr>
        <p:spPr bwMode="auto">
          <a:xfrm>
            <a:off x="457200" y="1125538"/>
            <a:ext cx="82296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按一下以編輯母片</a:t>
            </a:r>
          </a:p>
          <a:p>
            <a:pPr lvl="1"/>
            <a:endParaRPr lang="zh-TW" altLang="en-US" smtClean="0"/>
          </a:p>
          <a:p>
            <a:pPr lvl="0"/>
            <a:endParaRPr lang="en-US" altLang="zh-TW" smtClean="0"/>
          </a:p>
        </p:txBody>
      </p:sp>
      <p:pic>
        <p:nvPicPr>
          <p:cNvPr id="1029" name="Picture 25" descr="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357938"/>
            <a:ext cx="38338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矩形 7"/>
          <p:cNvSpPr>
            <a:spLocks noChangeArrowheads="1"/>
          </p:cNvSpPr>
          <p:nvPr/>
        </p:nvSpPr>
        <p:spPr bwMode="auto">
          <a:xfrm>
            <a:off x="142875" y="6581775"/>
            <a:ext cx="3584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pPr algn="ctr">
              <a:defRPr/>
            </a:pPr>
            <a:r>
              <a:rPr lang="en-US" altLang="zh-TW" sz="1200" b="1" smtClean="0">
                <a:solidFill>
                  <a:schemeClr val="bg1"/>
                </a:solidFill>
                <a:cs typeface="Arial" panose="020B0604020202020204" pitchFamily="34" charset="0"/>
              </a:rPr>
              <a:t>National Tsing Hua University ® copyright OIA</a:t>
            </a:r>
            <a:endParaRPr lang="zh-TW" altLang="en-US" sz="1200" b="1" smtClean="0">
              <a:solidFill>
                <a:schemeClr val="bg1"/>
              </a:solidFill>
              <a:cs typeface="Arial" panose="020B0604020202020204" pitchFamily="34" charset="0"/>
            </a:endParaRPr>
          </a:p>
        </p:txBody>
      </p:sp>
      <p:sp>
        <p:nvSpPr>
          <p:cNvPr id="1031" name="Rectangle 9"/>
          <p:cNvSpPr>
            <a:spLocks noChangeArrowheads="1"/>
          </p:cNvSpPr>
          <p:nvPr/>
        </p:nvSpPr>
        <p:spPr bwMode="auto">
          <a:xfrm>
            <a:off x="0" y="908050"/>
            <a:ext cx="9144000" cy="144463"/>
          </a:xfrm>
          <a:prstGeom prst="rect">
            <a:avLst/>
          </a:prstGeom>
          <a:solidFill>
            <a:srgbClr val="990099"/>
          </a:solidFill>
          <a:ln>
            <a:noFill/>
          </a:ln>
          <a:effectLst>
            <a:prstShdw prst="shdw17" dist="17961" dir="13500000">
              <a:srgbClr val="5C005C"/>
            </a:prstShdw>
          </a:effectLst>
          <a:extLs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pPr>
              <a:defRPr/>
            </a:pPr>
            <a:endParaRPr lang="zh-TW" altLang="en-US" smtClean="0"/>
          </a:p>
        </p:txBody>
      </p:sp>
      <p:sp>
        <p:nvSpPr>
          <p:cNvPr id="1032" name="Rectangle 10"/>
          <p:cNvSpPr>
            <a:spLocks noChangeArrowheads="1"/>
          </p:cNvSpPr>
          <p:nvPr/>
        </p:nvSpPr>
        <p:spPr bwMode="auto">
          <a:xfrm>
            <a:off x="0" y="6165850"/>
            <a:ext cx="9144000" cy="719138"/>
          </a:xfrm>
          <a:prstGeom prst="rect">
            <a:avLst/>
          </a:prstGeom>
          <a:solidFill>
            <a:srgbClr val="990099"/>
          </a:solidFill>
          <a:ln>
            <a:noFill/>
          </a:ln>
          <a:effectLst>
            <a:prstShdw prst="shdw17" dist="17961" dir="13500000">
              <a:srgbClr val="5C005C"/>
            </a:prstShdw>
          </a:effectLst>
          <a:extLst>
            <a:ext uri="{91240B29-F687-4F45-9708-019B960494DF}">
              <a14:hiddenLine xmlns:a14="http://schemas.microsoft.com/office/drawing/2010/main" w="158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pPr>
              <a:defRPr/>
            </a:pPr>
            <a:endParaRPr lang="zh-TW" altLang="en-US" smtClean="0"/>
          </a:p>
        </p:txBody>
      </p:sp>
      <p:sp>
        <p:nvSpPr>
          <p:cNvPr id="1043" name="Rectangle 19"/>
          <p:cNvSpPr>
            <a:spLocks noGrp="1" noChangeArrowheads="1"/>
          </p:cNvSpPr>
          <p:nvPr>
            <p:ph type="sldNum" sz="quarter" idx="4"/>
          </p:nvPr>
        </p:nvSpPr>
        <p:spPr bwMode="auto">
          <a:xfrm>
            <a:off x="6831013" y="6524625"/>
            <a:ext cx="2133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latin typeface="Arial" pitchFamily="34" charset="0"/>
                <a:ea typeface="新細明體" pitchFamily="18" charset="-120"/>
              </a:defRPr>
            </a:lvl1pPr>
          </a:lstStyle>
          <a:p>
            <a:pPr>
              <a:defRPr/>
            </a:pPr>
            <a:fld id="{13811727-E7B8-45E3-8BAD-7CEEDC2E80AF}" type="slidenum">
              <a:rPr lang="en-US" altLang="zh-TW"/>
              <a:pPr>
                <a:defRPr/>
              </a:pPr>
              <a:t>‹#›</a:t>
            </a:fld>
            <a:endParaRPr lang="en-US" altLang="zh-TW"/>
          </a:p>
        </p:txBody>
      </p:sp>
      <p:pic>
        <p:nvPicPr>
          <p:cNvPr id="1034" name="Picture 13" descr="清大LOGO(圓)"/>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6181725"/>
            <a:ext cx="68421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4" descr="清大書法字 "/>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55650" y="6237288"/>
            <a:ext cx="20875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1" name="Text Box 15"/>
          <p:cNvSpPr txBox="1">
            <a:spLocks noChangeArrowheads="1"/>
          </p:cNvSpPr>
          <p:nvPr/>
        </p:nvSpPr>
        <p:spPr bwMode="auto">
          <a:xfrm>
            <a:off x="682625" y="6580188"/>
            <a:ext cx="2520950" cy="304800"/>
          </a:xfrm>
          <a:prstGeom prst="rect">
            <a:avLst/>
          </a:prstGeom>
          <a:noFill/>
          <a:ln w="15875">
            <a:noFill/>
            <a:miter lim="800000"/>
            <a:headEnd/>
            <a:tailEnd/>
          </a:ln>
          <a:effectLst>
            <a:prstShdw prst="shdw18" dist="17961" dir="13500000">
              <a:schemeClr val="accent1">
                <a:gamma/>
                <a:shade val="60000"/>
                <a:invGamma/>
              </a:schemeClr>
            </a:prstShdw>
          </a:effectLst>
        </p:spPr>
        <p:txBody>
          <a:bodyPr wrap="none">
            <a:spAutoFit/>
          </a:bodyPr>
          <a:lstStyle/>
          <a:p>
            <a:pPr>
              <a:defRPr/>
            </a:pPr>
            <a:r>
              <a:rPr lang="en-US" altLang="zh-TW" sz="1400">
                <a:solidFill>
                  <a:schemeClr val="bg1"/>
                </a:solidFill>
              </a:rPr>
              <a:t>National Tsing Hua University</a:t>
            </a:r>
          </a:p>
        </p:txBody>
      </p:sp>
      <p:pic>
        <p:nvPicPr>
          <p:cNvPr id="1037" name="圖片 12"/>
          <p:cNvPicPr>
            <a:picLocks noChangeAspect="1"/>
          </p:cNvPicPr>
          <p:nvPr/>
        </p:nvPicPr>
        <p:blipFill>
          <a:blip r:embed="rId19">
            <a:extLst>
              <a:ext uri="{28A0092B-C50C-407E-A947-70E740481C1C}">
                <a14:useLocalDpi xmlns:a14="http://schemas.microsoft.com/office/drawing/2010/main" val="0"/>
              </a:ext>
            </a:extLst>
          </a:blip>
          <a:srcRect/>
          <a:stretch>
            <a:fillRect/>
          </a:stretch>
        </p:blipFill>
        <p:spPr bwMode="auto">
          <a:xfrm>
            <a:off x="7377113" y="152400"/>
            <a:ext cx="1658937"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iming>
    <p:tnLst>
      <p:par>
        <p:cTn id="1" dur="indefinite" restart="never" nodeType="tmRoot"/>
      </p:par>
    </p:tnLst>
  </p:timing>
  <p:txStyles>
    <p:titleStyle>
      <a:lvl1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5pPr>
      <a:lvl6pPr marL="457200" algn="l" rtl="0" eaLnBrk="1" fontAlgn="base" hangingPunct="1">
        <a:spcBef>
          <a:spcPct val="0"/>
        </a:spcBef>
        <a:spcAft>
          <a:spcPct val="0"/>
        </a:spcAft>
        <a:defRPr kumimoji="1" sz="3000" b="1">
          <a:solidFill>
            <a:schemeClr val="tx2"/>
          </a:solidFill>
          <a:latin typeface="MS Sans Serif"/>
          <a:ea typeface="MS Sans Serif"/>
          <a:cs typeface="MS Sans Serif"/>
        </a:defRPr>
      </a:lvl6pPr>
      <a:lvl7pPr marL="914400" algn="l" rtl="0" eaLnBrk="1" fontAlgn="base" hangingPunct="1">
        <a:spcBef>
          <a:spcPct val="0"/>
        </a:spcBef>
        <a:spcAft>
          <a:spcPct val="0"/>
        </a:spcAft>
        <a:defRPr kumimoji="1" sz="3000" b="1">
          <a:solidFill>
            <a:schemeClr val="tx2"/>
          </a:solidFill>
          <a:latin typeface="MS Sans Serif"/>
          <a:ea typeface="MS Sans Serif"/>
          <a:cs typeface="MS Sans Serif"/>
        </a:defRPr>
      </a:lvl7pPr>
      <a:lvl8pPr marL="1371600" algn="l" rtl="0" eaLnBrk="1" fontAlgn="base" hangingPunct="1">
        <a:spcBef>
          <a:spcPct val="0"/>
        </a:spcBef>
        <a:spcAft>
          <a:spcPct val="0"/>
        </a:spcAft>
        <a:defRPr kumimoji="1" sz="3000" b="1">
          <a:solidFill>
            <a:schemeClr val="tx2"/>
          </a:solidFill>
          <a:latin typeface="MS Sans Serif"/>
          <a:ea typeface="MS Sans Serif"/>
          <a:cs typeface="MS Sans Serif"/>
        </a:defRPr>
      </a:lvl8pPr>
      <a:lvl9pPr marL="1828800" algn="l" rtl="0" eaLnBrk="1" fontAlgn="base" hangingPunct="1">
        <a:spcBef>
          <a:spcPct val="0"/>
        </a:spcBef>
        <a:spcAft>
          <a:spcPct val="0"/>
        </a:spcAft>
        <a:defRPr kumimoji="1" sz="3000" b="1">
          <a:solidFill>
            <a:schemeClr val="tx2"/>
          </a:solidFill>
          <a:latin typeface="MS Sans Serif"/>
          <a:ea typeface="MS Sans Serif"/>
          <a:cs typeface="MS Sans Serif"/>
        </a:defRPr>
      </a:lvl9pPr>
    </p:titleStyle>
    <p:bodyStyle>
      <a:lvl1pPr marL="342900" indent="-342900" algn="l" rtl="0" eaLnBrk="0" fontAlgn="base" hangingPunct="0">
        <a:spcBef>
          <a:spcPct val="20000"/>
        </a:spcBef>
        <a:spcAft>
          <a:spcPct val="0"/>
        </a:spcAft>
        <a:buClr>
          <a:srgbClr val="0000FF"/>
        </a:buClr>
        <a:buSzPct val="80000"/>
        <a:buFont typeface="Wingdings" panose="05000000000000000000"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panose="020B0604020202020204" pitchFamily="34"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5"/>
          <p:cNvSpPr>
            <a:spLocks noGrp="1"/>
          </p:cNvSpPr>
          <p:nvPr>
            <p:ph type="ctrTitle"/>
          </p:nvPr>
        </p:nvSpPr>
        <p:spPr/>
        <p:txBody>
          <a:bodyPr/>
          <a:lstStyle/>
          <a:p>
            <a:pPr eaLnBrk="1" hangingPunct="1"/>
            <a:r>
              <a:rPr lang="en-US" altLang="zh-TW" dirty="0" err="1" smtClean="0">
                <a:latin typeface="+mn-lt"/>
              </a:rPr>
              <a:t>HSAemu</a:t>
            </a:r>
            <a:endParaRPr lang="zh-TW" altLang="en-US" dirty="0" smtClean="0">
              <a:latin typeface="+mn-lt"/>
            </a:endParaRPr>
          </a:p>
        </p:txBody>
      </p:sp>
      <p:sp>
        <p:nvSpPr>
          <p:cNvPr id="3075" name="副標題 6"/>
          <p:cNvSpPr>
            <a:spLocks noGrp="1"/>
          </p:cNvSpPr>
          <p:nvPr>
            <p:ph type="subTitle" idx="1"/>
          </p:nvPr>
        </p:nvSpPr>
        <p:spPr/>
        <p:txBody>
          <a:bodyPr/>
          <a:lstStyle/>
          <a:p>
            <a:pPr eaLnBrk="1" hangingPunct="1"/>
            <a:r>
              <a:rPr lang="en-US" altLang="zh-TW" smtClean="0">
                <a:latin typeface="+mn-lt"/>
              </a:rPr>
              <a:t>NTHU HSA Course</a:t>
            </a:r>
            <a:endParaRPr lang="zh-TW" altLang="en-US" smtClean="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Rot="1" noChangeArrowheads="1"/>
          </p:cNvSpPr>
          <p:nvPr>
            <p:ph type="ctrTitle"/>
          </p:nvPr>
        </p:nvSpPr>
        <p:spPr>
          <a:xfrm>
            <a:off x="381000" y="1752600"/>
            <a:ext cx="8077200" cy="1470025"/>
          </a:xfrm>
        </p:spPr>
        <p:txBody>
          <a:bodyPr/>
          <a:lstStyle/>
          <a:p>
            <a:pPr eaLnBrk="1" hangingPunct="1"/>
            <a:r>
              <a:rPr lang="en-US" altLang="zh-TW" dirty="0" smtClean="0">
                <a:latin typeface="+mn-lt"/>
                <a:ea typeface="新細明體" panose="02020500000000000000" pitchFamily="18" charset="-120"/>
              </a:rPr>
              <a:t>Review </a:t>
            </a:r>
            <a:r>
              <a:rPr lang="en-US" altLang="zh-TW" dirty="0" smtClean="0">
                <a:latin typeface="+mn-lt"/>
              </a:rPr>
              <a:t>Virtual Machines</a:t>
            </a:r>
          </a:p>
        </p:txBody>
      </p:sp>
      <p:sp>
        <p:nvSpPr>
          <p:cNvPr id="4099" name="Rectangle 3"/>
          <p:cNvSpPr>
            <a:spLocks noGrp="1" noRot="1" noChangeArrowheads="1"/>
          </p:cNvSpPr>
          <p:nvPr>
            <p:ph type="subTitle" idx="1"/>
          </p:nvPr>
        </p:nvSpPr>
        <p:spPr>
          <a:xfrm>
            <a:off x="838200" y="3897313"/>
            <a:ext cx="7162800" cy="1384300"/>
          </a:xfrm>
        </p:spPr>
        <p:txBody>
          <a:bodyPr/>
          <a:lstStyle/>
          <a:p>
            <a:pPr eaLnBrk="1" hangingPunct="1">
              <a:lnSpc>
                <a:spcPct val="90000"/>
              </a:lnSpc>
            </a:pPr>
            <a:endParaRPr lang="en-US" altLang="zh-TW" smtClean="0">
              <a:latin typeface="+mn-lt"/>
              <a:ea typeface="新細明體" panose="02020500000000000000" pitchFamily="18" charset="-120"/>
            </a:endParaRPr>
          </a:p>
          <a:p>
            <a:pPr eaLnBrk="1" hangingPunct="1">
              <a:lnSpc>
                <a:spcPct val="90000"/>
              </a:lnSpc>
            </a:pPr>
            <a:endParaRPr lang="en-US" altLang="zh-TW" smtClean="0">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VM overview</a:t>
            </a:r>
          </a:p>
        </p:txBody>
      </p:sp>
      <p:sp>
        <p:nvSpPr>
          <p:cNvPr id="6147" name="Rectangle 3"/>
          <p:cNvSpPr>
            <a:spLocks noGrp="1" noRot="1" noChangeArrowheads="1"/>
          </p:cNvSpPr>
          <p:nvPr>
            <p:ph idx="1"/>
          </p:nvPr>
        </p:nvSpPr>
        <p:spPr>
          <a:xfrm>
            <a:off x="301625" y="1371600"/>
            <a:ext cx="8540750" cy="4727575"/>
          </a:xfrm>
        </p:spPr>
        <p:txBody>
          <a:bodyPr/>
          <a:lstStyle/>
          <a:p>
            <a:pPr eaLnBrk="1" hangingPunct="1">
              <a:defRPr/>
            </a:pPr>
            <a:r>
              <a:rPr lang="en-US" altLang="zh-TW" b="1" dirty="0" smtClean="0">
                <a:latin typeface="+mn-lt"/>
                <a:ea typeface="新細明體" panose="02020500000000000000" pitchFamily="18" charset="-120"/>
              </a:rPr>
              <a:t>Why do we prefer something </a:t>
            </a:r>
            <a:r>
              <a:rPr lang="en-US" altLang="zh-TW" sz="4000" b="1" dirty="0" smtClean="0">
                <a:latin typeface="+mn-lt"/>
                <a:ea typeface="新細明體" panose="02020500000000000000" pitchFamily="18" charset="-120"/>
              </a:rPr>
              <a:t>virtual</a:t>
            </a:r>
            <a:r>
              <a:rPr lang="en-US" altLang="zh-TW" b="1" dirty="0" smtClean="0">
                <a:latin typeface="+mn-lt"/>
                <a:ea typeface="新細明體" panose="02020500000000000000" pitchFamily="18" charset="-120"/>
              </a:rPr>
              <a:t> than </a:t>
            </a:r>
            <a:r>
              <a:rPr lang="en-US" altLang="zh-TW" sz="4000" b="1" dirty="0" smtClean="0">
                <a:latin typeface="+mn-lt"/>
                <a:ea typeface="新細明體" panose="02020500000000000000" pitchFamily="18" charset="-120"/>
              </a:rPr>
              <a:t>real</a:t>
            </a:r>
            <a:r>
              <a:rPr lang="en-US" altLang="zh-TW" b="1" dirty="0" smtClean="0">
                <a:latin typeface="+mn-lt"/>
                <a:ea typeface="新細明體" panose="02020500000000000000" pitchFamily="18" charset="-120"/>
              </a:rPr>
              <a:t>?</a:t>
            </a:r>
          </a:p>
          <a:p>
            <a:pPr lvl="1" eaLnBrk="1" hangingPunct="1">
              <a:defRPr/>
            </a:pPr>
            <a:r>
              <a:rPr lang="en-US" altLang="zh-TW" dirty="0" smtClean="0">
                <a:latin typeface="+mn-lt"/>
                <a:ea typeface="新細明體" panose="02020500000000000000" pitchFamily="18" charset="-120"/>
              </a:rPr>
              <a:t>	Why Virtual memory?</a:t>
            </a:r>
          </a:p>
          <a:p>
            <a:pPr lvl="1" eaLnBrk="1" hangingPunct="1">
              <a:defRPr/>
            </a:pPr>
            <a:r>
              <a:rPr lang="en-US" altLang="zh-TW" dirty="0" smtClean="0">
                <a:latin typeface="+mn-lt"/>
                <a:ea typeface="新細明體" panose="02020500000000000000" pitchFamily="18" charset="-120"/>
              </a:rPr>
              <a:t>  Why Java Virtual Machine?</a:t>
            </a:r>
          </a:p>
          <a:p>
            <a:pPr lvl="1" eaLnBrk="1" hangingPunct="1">
              <a:defRPr/>
            </a:pPr>
            <a:r>
              <a:rPr lang="en-US" altLang="zh-TW" dirty="0" smtClean="0">
                <a:latin typeface="+mn-lt"/>
                <a:ea typeface="新細明體" panose="02020500000000000000" pitchFamily="18" charset="-120"/>
              </a:rPr>
              <a:t>  Why Virtual I/O?</a:t>
            </a:r>
          </a:p>
          <a:p>
            <a:pPr lvl="1" eaLnBrk="1" hangingPunct="1">
              <a:defRPr/>
            </a:pPr>
            <a:r>
              <a:rPr lang="en-US" altLang="zh-TW" dirty="0" smtClean="0">
                <a:latin typeface="+mn-lt"/>
                <a:ea typeface="新細明體" panose="02020500000000000000" pitchFamily="18" charset="-120"/>
              </a:rPr>
              <a:t>  Why Virtual Private Network (VPN)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VM overview</a:t>
            </a:r>
          </a:p>
        </p:txBody>
      </p:sp>
      <p:sp>
        <p:nvSpPr>
          <p:cNvPr id="8195" name="Rectangle 3"/>
          <p:cNvSpPr>
            <a:spLocks noGrp="1" noRot="1" noChangeArrowheads="1"/>
          </p:cNvSpPr>
          <p:nvPr>
            <p:ph idx="1"/>
          </p:nvPr>
        </p:nvSpPr>
        <p:spPr/>
        <p:txBody>
          <a:bodyPr/>
          <a:lstStyle/>
          <a:p>
            <a:pPr eaLnBrk="1" hangingPunct="1">
              <a:defRPr/>
            </a:pPr>
            <a:r>
              <a:rPr lang="en-US" altLang="zh-TW" dirty="0" smtClean="0">
                <a:latin typeface="+mn-lt"/>
                <a:ea typeface="新細明體" panose="02020500000000000000" pitchFamily="18" charset="-120"/>
              </a:rPr>
              <a:t> Why Virtual Memory?</a:t>
            </a:r>
          </a:p>
          <a:p>
            <a:pPr lvl="1" eaLnBrk="1" hangingPunct="1">
              <a:defRPr/>
            </a:pPr>
            <a:r>
              <a:rPr lang="en-US" altLang="zh-TW" dirty="0" smtClean="0">
                <a:latin typeface="+mn-lt"/>
                <a:ea typeface="新細明體" panose="02020500000000000000" pitchFamily="18" charset="-120"/>
              </a:rPr>
              <a:t> Sharing, protection, large address space, …</a:t>
            </a:r>
          </a:p>
          <a:p>
            <a:pPr eaLnBrk="1" hangingPunct="1">
              <a:defRPr/>
            </a:pPr>
            <a:r>
              <a:rPr lang="en-US" altLang="zh-TW" dirty="0" smtClean="0">
                <a:latin typeface="+mn-lt"/>
                <a:ea typeface="新細明體" panose="02020500000000000000" pitchFamily="18" charset="-120"/>
              </a:rPr>
              <a:t> Why Java virtual machine?</a:t>
            </a:r>
          </a:p>
          <a:p>
            <a:pPr lvl="1" eaLnBrk="1" hangingPunct="1">
              <a:defRPr/>
            </a:pPr>
            <a:r>
              <a:rPr lang="en-US" altLang="zh-TW" dirty="0" smtClean="0">
                <a:latin typeface="+mn-lt"/>
                <a:ea typeface="新細明體" panose="02020500000000000000" pitchFamily="18" charset="-120"/>
              </a:rPr>
              <a:t> Interoperability, application sharing, protection,</a:t>
            </a:r>
          </a:p>
          <a:p>
            <a:pPr eaLnBrk="1" hangingPunct="1">
              <a:defRPr/>
            </a:pPr>
            <a:r>
              <a:rPr lang="en-US" altLang="zh-TW" dirty="0" smtClean="0">
                <a:latin typeface="+mn-lt"/>
                <a:ea typeface="新細明體" panose="02020500000000000000" pitchFamily="18" charset="-120"/>
              </a:rPr>
              <a:t> Why Virtual I/O?</a:t>
            </a:r>
          </a:p>
          <a:p>
            <a:pPr lvl="1" eaLnBrk="1" hangingPunct="1">
              <a:defRPr/>
            </a:pPr>
            <a:r>
              <a:rPr lang="en-US" altLang="zh-TW" dirty="0" smtClean="0">
                <a:latin typeface="+mn-lt"/>
                <a:ea typeface="新細明體" panose="02020500000000000000" pitchFamily="18" charset="-120"/>
              </a:rPr>
              <a:t> NIC: flexibility, low cost sharing, better management</a:t>
            </a:r>
          </a:p>
          <a:p>
            <a:pPr lvl="1" eaLnBrk="1" hangingPunct="1">
              <a:defRPr/>
            </a:pPr>
            <a:r>
              <a:rPr lang="en-US" altLang="zh-TW" dirty="0" smtClean="0">
                <a:latin typeface="+mn-lt"/>
                <a:ea typeface="新細明體" panose="02020500000000000000" pitchFamily="18" charset="-120"/>
              </a:rPr>
              <a:t> Disk storage: disk expansion and shrinking</a:t>
            </a:r>
          </a:p>
          <a:p>
            <a:pPr eaLnBrk="1" hangingPunct="1">
              <a:defRPr/>
            </a:pPr>
            <a:r>
              <a:rPr lang="en-US" altLang="zh-TW" dirty="0" smtClean="0">
                <a:latin typeface="+mn-lt"/>
                <a:ea typeface="新細明體" panose="02020500000000000000" pitchFamily="18" charset="-120"/>
              </a:rPr>
              <a:t> Why Virtual Private Network (VPN) ?</a:t>
            </a:r>
          </a:p>
          <a:p>
            <a:pPr lvl="1" eaLnBrk="1" hangingPunct="1">
              <a:defRPr/>
            </a:pPr>
            <a:r>
              <a:rPr lang="en-US" altLang="zh-TW" sz="2000" dirty="0" smtClean="0">
                <a:latin typeface="+mn-lt"/>
                <a:ea typeface="新細明體" panose="02020500000000000000" pitchFamily="18" charset="-120"/>
              </a:rPr>
              <a:t>Secure communication over unsecure (public)  network</a:t>
            </a:r>
          </a:p>
          <a:p>
            <a:pPr lvl="1" eaLnBrk="1" hangingPunct="1">
              <a:defRPr/>
            </a:pPr>
            <a:r>
              <a:rPr lang="en-US" altLang="zh-TW" dirty="0" err="1" smtClean="0">
                <a:latin typeface="+mn-lt"/>
                <a:ea typeface="新細明體" panose="02020500000000000000" pitchFamily="18" charset="-120"/>
              </a:rPr>
              <a:t>QoS</a:t>
            </a:r>
            <a:r>
              <a:rPr lang="en-US" altLang="zh-TW" dirty="0" smtClean="0">
                <a:latin typeface="+mn-lt"/>
                <a:ea typeface="新細明體" panose="02020500000000000000" pitchFamily="18" charset="-120"/>
              </a:rPr>
              <a:t> – bandwidth guarantee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Virtual is better than Real</a:t>
            </a:r>
          </a:p>
        </p:txBody>
      </p:sp>
      <p:sp>
        <p:nvSpPr>
          <p:cNvPr id="10243" name="Rectangle 3"/>
          <p:cNvSpPr>
            <a:spLocks noGrp="1" noRot="1" noChangeArrowheads="1"/>
          </p:cNvSpPr>
          <p:nvPr>
            <p:ph idx="1"/>
          </p:nvPr>
        </p:nvSpPr>
        <p:spPr>
          <a:xfrm>
            <a:off x="301625" y="1371600"/>
            <a:ext cx="8540750" cy="4727575"/>
          </a:xfrm>
        </p:spPr>
        <p:txBody>
          <a:bodyPr/>
          <a:lstStyle/>
          <a:p>
            <a:pPr eaLnBrk="1" hangingPunct="1">
              <a:defRPr/>
            </a:pPr>
            <a:r>
              <a:rPr lang="en-US" altLang="zh-TW" dirty="0" smtClean="0">
                <a:latin typeface="+mn-lt"/>
                <a:ea typeface="新細明體" panose="02020500000000000000" pitchFamily="18" charset="-120"/>
              </a:rPr>
              <a:t> So virtualization is  often related to the following:</a:t>
            </a:r>
          </a:p>
          <a:p>
            <a:pPr lvl="1" eaLnBrk="1" hangingPunct="1">
              <a:defRPr/>
            </a:pPr>
            <a:r>
              <a:rPr lang="en-US" altLang="zh-TW" dirty="0" smtClean="0">
                <a:latin typeface="+mn-lt"/>
                <a:ea typeface="新細明體" panose="02020500000000000000" pitchFamily="18" charset="-120"/>
              </a:rPr>
              <a:t> </a:t>
            </a:r>
            <a:r>
              <a:rPr lang="en-US" altLang="zh-TW" b="1" dirty="0" smtClean="0">
                <a:latin typeface="+mn-lt"/>
                <a:ea typeface="新細明體" panose="02020500000000000000" pitchFamily="18" charset="-120"/>
              </a:rPr>
              <a:t>Resource</a:t>
            </a:r>
            <a:r>
              <a:rPr lang="en-US" altLang="zh-TW" dirty="0" smtClean="0">
                <a:latin typeface="+mn-lt"/>
                <a:ea typeface="新細明體" panose="02020500000000000000" pitchFamily="18" charset="-120"/>
              </a:rPr>
              <a:t> </a:t>
            </a:r>
            <a:r>
              <a:rPr lang="en-US" altLang="zh-TW" b="1" dirty="0" smtClean="0">
                <a:latin typeface="+mn-lt"/>
                <a:ea typeface="新細明體" panose="02020500000000000000" pitchFamily="18" charset="-120"/>
              </a:rPr>
              <a:t>Sharing</a:t>
            </a:r>
          </a:p>
          <a:p>
            <a:pPr lvl="1" eaLnBrk="1" hangingPunct="1">
              <a:defRPr/>
            </a:pPr>
            <a:r>
              <a:rPr lang="en-US" altLang="zh-TW" b="1" dirty="0" smtClean="0">
                <a:latin typeface="+mn-lt"/>
                <a:ea typeface="新細明體" panose="02020500000000000000" pitchFamily="18" charset="-120"/>
              </a:rPr>
              <a:t> Protection, Security, Safety</a:t>
            </a:r>
          </a:p>
          <a:p>
            <a:pPr lvl="1" eaLnBrk="1" hangingPunct="1">
              <a:defRPr/>
            </a:pPr>
            <a:r>
              <a:rPr lang="en-US" altLang="zh-TW" b="1" dirty="0" smtClean="0">
                <a:latin typeface="+mn-lt"/>
                <a:ea typeface="新細明體" panose="02020500000000000000" pitchFamily="18" charset="-120"/>
              </a:rPr>
              <a:t> Flexibility</a:t>
            </a:r>
          </a:p>
          <a:p>
            <a:pPr lvl="1" eaLnBrk="1" hangingPunct="1">
              <a:defRPr/>
            </a:pPr>
            <a:r>
              <a:rPr lang="en-US" altLang="zh-TW" b="1" dirty="0" smtClean="0">
                <a:latin typeface="+mn-lt"/>
                <a:ea typeface="新細明體" panose="02020500000000000000" pitchFamily="18" charset="-120"/>
              </a:rPr>
              <a:t> Interoperability, Platform Independence</a:t>
            </a:r>
          </a:p>
          <a:p>
            <a:pPr lvl="1" eaLnBrk="1" hangingPunct="1">
              <a:defRPr/>
            </a:pPr>
            <a:r>
              <a:rPr lang="en-US" altLang="zh-TW" dirty="0" smtClean="0">
                <a:latin typeface="+mn-lt"/>
                <a:ea typeface="新細明體" panose="02020500000000000000" pitchFamily="18" charset="-120"/>
              </a:rPr>
              <a:t> </a:t>
            </a:r>
            <a:r>
              <a:rPr lang="en-US" altLang="zh-TW" b="1" dirty="0" smtClean="0">
                <a:latin typeface="+mn-lt"/>
                <a:ea typeface="新細明體" panose="02020500000000000000" pitchFamily="18" charset="-120"/>
              </a:rPr>
              <a:t>Portability</a:t>
            </a:r>
          </a:p>
          <a:p>
            <a:pPr lvl="1" eaLnBrk="1" hangingPunct="1">
              <a:defRPr/>
            </a:pPr>
            <a:r>
              <a:rPr lang="en-US" altLang="zh-TW" b="1" dirty="0" smtClean="0">
                <a:latin typeface="+mn-lt"/>
                <a:ea typeface="新細明體" panose="02020500000000000000" pitchFamily="18" charset="-120"/>
              </a:rPr>
              <a:t> Emulation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TW" dirty="0" smtClean="0">
                <a:solidFill>
                  <a:schemeClr val="accent1">
                    <a:lumMod val="75000"/>
                  </a:schemeClr>
                </a:solidFill>
              </a:rPr>
              <a:t>Virtualization</a:t>
            </a:r>
          </a:p>
        </p:txBody>
      </p:sp>
      <p:sp>
        <p:nvSpPr>
          <p:cNvPr id="12291" name="Rectangle 3"/>
          <p:cNvSpPr>
            <a:spLocks noGrp="1" noChangeArrowheads="1"/>
          </p:cNvSpPr>
          <p:nvPr>
            <p:ph idx="4294967295"/>
          </p:nvPr>
        </p:nvSpPr>
        <p:spPr>
          <a:xfrm>
            <a:off x="0" y="990600"/>
            <a:ext cx="8540750" cy="5108575"/>
          </a:xfrm>
        </p:spPr>
        <p:txBody>
          <a:bodyPr/>
          <a:lstStyle/>
          <a:p>
            <a:pPr eaLnBrk="1" hangingPunct="1">
              <a:defRPr/>
            </a:pPr>
            <a:r>
              <a:rPr lang="en-US" altLang="zh-TW" dirty="0" smtClean="0">
                <a:solidFill>
                  <a:srgbClr val="FF0000"/>
                </a:solidFill>
                <a:latin typeface="+mn-lt"/>
              </a:rPr>
              <a:t>Process virtualization</a:t>
            </a:r>
            <a:r>
              <a:rPr lang="en-US" altLang="zh-TW" dirty="0" smtClean="0">
                <a:latin typeface="+mn-lt"/>
              </a:rPr>
              <a:t>: language level (Java, </a:t>
            </a:r>
            <a:r>
              <a:rPr lang="en-US" altLang="zh-TW" dirty="0" err="1" smtClean="0">
                <a:latin typeface="+mn-lt"/>
              </a:rPr>
              <a:t>.Net</a:t>
            </a:r>
            <a:r>
              <a:rPr lang="en-US" altLang="zh-TW" dirty="0" smtClean="0">
                <a:latin typeface="+mn-lt"/>
              </a:rPr>
              <a:t>) OS-level (Solaris Zone), Cross-ISA (Apple Rosetta, IA32EL, FX!32)</a:t>
            </a:r>
          </a:p>
          <a:p>
            <a:pPr eaLnBrk="1" hangingPunct="1">
              <a:defRPr/>
            </a:pPr>
            <a:r>
              <a:rPr lang="en-US" altLang="zh-TW" dirty="0" smtClean="0">
                <a:solidFill>
                  <a:srgbClr val="FF0000"/>
                </a:solidFill>
                <a:latin typeface="+mn-lt"/>
              </a:rPr>
              <a:t>Device virtualization</a:t>
            </a:r>
            <a:r>
              <a:rPr lang="en-US" altLang="zh-TW" dirty="0" smtClean="0">
                <a:latin typeface="+mn-lt"/>
              </a:rPr>
              <a:t>: VLAN, VPN, RAID</a:t>
            </a:r>
          </a:p>
          <a:p>
            <a:pPr eaLnBrk="1" hangingPunct="1">
              <a:defRPr/>
            </a:pPr>
            <a:r>
              <a:rPr lang="en-US" altLang="zh-TW" dirty="0" smtClean="0">
                <a:solidFill>
                  <a:srgbClr val="FF0000"/>
                </a:solidFill>
                <a:latin typeface="+mn-lt"/>
              </a:rPr>
              <a:t>System virtualization</a:t>
            </a:r>
            <a:r>
              <a:rPr lang="en-US" altLang="zh-TW" dirty="0" smtClean="0">
                <a:latin typeface="+mn-lt"/>
              </a:rPr>
              <a:t>: VMware ESX, </a:t>
            </a:r>
            <a:r>
              <a:rPr lang="en-US" altLang="zh-TW" dirty="0" err="1" smtClean="0">
                <a:latin typeface="+mn-lt"/>
              </a:rPr>
              <a:t>Xen</a:t>
            </a:r>
            <a:r>
              <a:rPr lang="en-US" altLang="zh-TW" dirty="0" smtClean="0">
                <a:latin typeface="+mn-lt"/>
              </a:rPr>
              <a:t>, KVM, MS Hyper-V, OKL4 </a:t>
            </a:r>
            <a:r>
              <a:rPr lang="en-US" altLang="zh-TW" dirty="0" err="1" smtClean="0">
                <a:latin typeface="+mn-lt"/>
              </a:rPr>
              <a:t>Microvisor</a:t>
            </a:r>
            <a:endParaRPr lang="en-US" altLang="zh-TW" dirty="0" smtClean="0">
              <a:latin typeface="+mn-lt"/>
            </a:endParaRPr>
          </a:p>
        </p:txBody>
      </p:sp>
      <p:pic>
        <p:nvPicPr>
          <p:cNvPr id="12292" name="Picture 4" descr="trad_arch"/>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5838" y="3897313"/>
            <a:ext cx="2776537" cy="211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388" y="3505200"/>
            <a:ext cx="3503612"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Right Arrow 2"/>
          <p:cNvSpPr>
            <a:spLocks noChangeArrowheads="1"/>
          </p:cNvSpPr>
          <p:nvPr/>
        </p:nvSpPr>
        <p:spPr bwMode="auto">
          <a:xfrm>
            <a:off x="4186238" y="4584700"/>
            <a:ext cx="835025" cy="484188"/>
          </a:xfrm>
          <a:prstGeom prst="rightArrow">
            <a:avLst>
              <a:gd name="adj1" fmla="val 50000"/>
              <a:gd name="adj2" fmla="val 50085"/>
            </a:avLst>
          </a:prstGeom>
          <a:solidFill>
            <a:schemeClr val="accent2"/>
          </a:solidFill>
          <a:ln w="9525" algn="ctr">
            <a:solidFill>
              <a:srgbClr val="FF0000"/>
            </a:solidFill>
            <a:round/>
            <a:headEnd/>
            <a:tailEnd/>
          </a:ln>
        </p:spPr>
        <p:txBody>
          <a:bodyPr wrap="none"/>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pPr>
            <a:endParaRPr kumimoji="0" lang="zh-TW" altLang="en-US" sz="1800">
              <a:solidFill>
                <a:schemeClr val="accent2"/>
              </a:solidFill>
              <a:latin typeface="Arial" panose="020B0604020202020204" pitchFamily="34" charset="0"/>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ea typeface="新細明體" panose="02020500000000000000" pitchFamily="18" charset="-120"/>
                <a:cs typeface="Times New Roman" panose="02020603050405020304" pitchFamily="18" charset="0"/>
              </a:rPr>
              <a:t>VM overview</a:t>
            </a:r>
          </a:p>
        </p:txBody>
      </p:sp>
      <p:sp>
        <p:nvSpPr>
          <p:cNvPr id="13315" name="Rectangle 3"/>
          <p:cNvSpPr>
            <a:spLocks noGrp="1" noRot="1" noChangeArrowheads="1"/>
          </p:cNvSpPr>
          <p:nvPr>
            <p:ph idx="1"/>
          </p:nvPr>
        </p:nvSpPr>
        <p:spPr>
          <a:xfrm>
            <a:off x="301625" y="1371600"/>
            <a:ext cx="8540750" cy="4727575"/>
          </a:xfrm>
        </p:spPr>
        <p:txBody>
          <a:bodyPr/>
          <a:lstStyle/>
          <a:p>
            <a:pPr eaLnBrk="1" hangingPunct="1">
              <a:defRPr/>
            </a:pPr>
            <a:r>
              <a:rPr lang="en-US" altLang="zh-TW" b="1" dirty="0" smtClean="0">
                <a:latin typeface="+mn-lt"/>
                <a:ea typeface="新細明體" panose="02020500000000000000" pitchFamily="18" charset="-120"/>
              </a:rPr>
              <a:t>Why are virtual machines interesting?</a:t>
            </a:r>
          </a:p>
          <a:p>
            <a:pPr lvl="1" eaLnBrk="1" hangingPunct="1">
              <a:defRPr/>
            </a:pPr>
            <a:r>
              <a:rPr lang="en-US" altLang="zh-TW" b="1" i="1" dirty="0" smtClean="0">
                <a:latin typeface="+mn-lt"/>
                <a:ea typeface="新細明體" panose="02020500000000000000" pitchFamily="18" charset="-120"/>
              </a:rPr>
              <a:t>They allow transcending of standard interfaces (which often seem to be an obstacle to innovation)</a:t>
            </a:r>
          </a:p>
          <a:p>
            <a:pPr lvl="1" eaLnBrk="1" hangingPunct="1">
              <a:defRPr/>
            </a:pPr>
            <a:r>
              <a:rPr lang="en-US" altLang="zh-TW" b="1" i="1" dirty="0" smtClean="0">
                <a:latin typeface="+mn-lt"/>
                <a:ea typeface="新細明體" panose="02020500000000000000" pitchFamily="18" charset="-120"/>
              </a:rPr>
              <a:t>They enable innovation in flexible, adaptive software &amp; hardware, security, network computing (and others)</a:t>
            </a:r>
          </a:p>
          <a:p>
            <a:pPr lvl="1" eaLnBrk="1" hangingPunct="1">
              <a:defRPr/>
            </a:pPr>
            <a:r>
              <a:rPr lang="en-US" altLang="zh-TW" b="1" i="1" dirty="0" smtClean="0">
                <a:latin typeface="+mn-lt"/>
                <a:ea typeface="新細明體" panose="02020500000000000000" pitchFamily="18" charset="-120"/>
              </a:rPr>
              <a:t>They involve computer architecture in a pure sense</a:t>
            </a:r>
          </a:p>
          <a:p>
            <a:pPr eaLnBrk="1" hangingPunct="1">
              <a:defRPr/>
            </a:pPr>
            <a:endParaRPr lang="en-US" altLang="zh-TW" dirty="0" smtClean="0">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hangingPunct="1">
              <a:defRPr/>
            </a:pPr>
            <a:r>
              <a:rPr lang="en-US" altLang="zh-TW" sz="2800" dirty="0">
                <a:latin typeface="+mn-lt"/>
                <a:ea typeface="新細明體" pitchFamily="18" charset="-120"/>
                <a:cs typeface="Times New Roman" pitchFamily="18" charset="0"/>
              </a:rPr>
              <a:t>Transcending of standard interfaces</a:t>
            </a:r>
            <a:endParaRPr lang="zh-TW" altLang="en-US" sz="2800" dirty="0">
              <a:latin typeface="+mn-lt"/>
            </a:endParaRPr>
          </a:p>
        </p:txBody>
      </p:sp>
      <p:sp>
        <p:nvSpPr>
          <p:cNvPr id="256003" name="Rectangle 3"/>
          <p:cNvSpPr>
            <a:spLocks noGrp="1" noRot="1" noChangeArrowheads="1"/>
          </p:cNvSpPr>
          <p:nvPr>
            <p:ph idx="4294967295"/>
          </p:nvPr>
        </p:nvSpPr>
        <p:spPr>
          <a:xfrm>
            <a:off x="603250" y="1066800"/>
            <a:ext cx="8540750" cy="4876800"/>
          </a:xfrm>
        </p:spPr>
        <p:txBody>
          <a:bodyPr/>
          <a:lstStyle/>
          <a:p>
            <a:pPr eaLnBrk="1" hangingPunct="1">
              <a:defRPr/>
            </a:pPr>
            <a:r>
              <a:rPr lang="en-US" altLang="zh-TW" sz="2400" b="1" dirty="0" smtClean="0">
                <a:latin typeface="+mn-lt"/>
                <a:ea typeface="新細明體" pitchFamily="18" charset="-120"/>
              </a:rPr>
              <a:t>Well-defined interfaces allow design tasks to be decoupled, e.g. ISA, system calls, API</a:t>
            </a:r>
          </a:p>
          <a:p>
            <a:pPr lvl="1" eaLnBrk="1" hangingPunct="1">
              <a:defRPr/>
            </a:pPr>
            <a:r>
              <a:rPr lang="en-US" altLang="zh-TW" sz="2000" b="1" dirty="0" smtClean="0">
                <a:latin typeface="+mn-lt"/>
                <a:ea typeface="新細明體" pitchFamily="18" charset="-120"/>
              </a:rPr>
              <a:t>Examples: IA-32 (x86) ISA, Linux, OpenGL </a:t>
            </a:r>
          </a:p>
          <a:p>
            <a:pPr lvl="1" eaLnBrk="1" hangingPunct="1">
              <a:defRPr/>
            </a:pPr>
            <a:r>
              <a:rPr lang="en-US" altLang="zh-TW" sz="2000" b="1" dirty="0" smtClean="0">
                <a:latin typeface="+mn-lt"/>
                <a:ea typeface="新細明體" pitchFamily="18" charset="-120"/>
              </a:rPr>
              <a:t>Such interfaces can also be </a:t>
            </a:r>
            <a:r>
              <a:rPr lang="en-US" altLang="zh-TW" sz="2000" b="1" i="1" dirty="0" smtClean="0">
                <a:latin typeface="+mn-lt"/>
                <a:ea typeface="新細明體" pitchFamily="18" charset="-120"/>
              </a:rPr>
              <a:t>confining</a:t>
            </a:r>
            <a:r>
              <a:rPr lang="en-US" altLang="zh-TW" sz="2000" b="1" dirty="0" smtClean="0">
                <a:latin typeface="+mn-lt"/>
                <a:ea typeface="新細明體" pitchFamily="18" charset="-120"/>
              </a:rPr>
              <a:t>: subsystems and components designed to specification for one interface will not work with those designed for another.</a:t>
            </a:r>
          </a:p>
          <a:p>
            <a:pPr lvl="1" eaLnBrk="1" hangingPunct="1">
              <a:defRPr/>
            </a:pPr>
            <a:r>
              <a:rPr lang="en-US" altLang="zh-TW" sz="2000" b="1" dirty="0" smtClean="0">
                <a:latin typeface="+mn-lt"/>
                <a:ea typeface="新細明體" pitchFamily="18" charset="-120"/>
              </a:rPr>
              <a:t>Examples: x86 binary does not run on PowerPC, Linux based apps do not run on Windows </a:t>
            </a:r>
          </a:p>
          <a:p>
            <a:pPr eaLnBrk="1" hangingPunct="1">
              <a:defRPr/>
            </a:pPr>
            <a:r>
              <a:rPr lang="en-US" altLang="zh-TW" sz="2400" b="1" dirty="0" smtClean="0">
                <a:latin typeface="+mn-lt"/>
                <a:ea typeface="新細明體" pitchFamily="18" charset="-120"/>
              </a:rPr>
              <a:t>Diversity in ISA, OS, and PL lead to </a:t>
            </a:r>
            <a:r>
              <a:rPr lang="en-US" altLang="zh-TW" sz="2400" b="1" i="1" dirty="0" smtClean="0">
                <a:latin typeface="+mn-lt"/>
                <a:ea typeface="新細明體" pitchFamily="18" charset="-120"/>
              </a:rPr>
              <a:t>innovations</a:t>
            </a:r>
            <a:r>
              <a:rPr lang="en-US" altLang="zh-TW" sz="2400" b="1" dirty="0" smtClean="0">
                <a:latin typeface="+mn-lt"/>
                <a:ea typeface="新細明體" pitchFamily="18" charset="-120"/>
              </a:rPr>
              <a:t>. However, it also leads to </a:t>
            </a:r>
            <a:r>
              <a:rPr lang="en-US" altLang="zh-TW" sz="2400" b="1" i="1" dirty="0" smtClean="0">
                <a:latin typeface="+mn-lt"/>
                <a:ea typeface="新細明體" pitchFamily="18" charset="-120"/>
              </a:rPr>
              <a:t>reduced interoperability</a:t>
            </a:r>
            <a:r>
              <a:rPr lang="en-US" altLang="zh-TW" sz="2400" b="1" dirty="0" smtClean="0">
                <a:latin typeface="+mn-lt"/>
                <a:ea typeface="新細明體" pitchFamily="18" charset="-120"/>
              </a:rPr>
              <a:t>.</a:t>
            </a:r>
          </a:p>
          <a:p>
            <a:pPr lvl="1" eaLnBrk="1" hangingPunct="1">
              <a:defRPr/>
            </a:pPr>
            <a:r>
              <a:rPr lang="en-US" altLang="zh-TW" sz="2000" b="1" dirty="0" smtClean="0">
                <a:latin typeface="+mn-lt"/>
                <a:ea typeface="新細明體" pitchFamily="18" charset="-120"/>
              </a:rPr>
              <a:t>The trend of ISA consolidation, for example, limits innovations in computer architectures.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標題 1"/>
          <p:cNvSpPr>
            <a:spLocks noGrp="1"/>
          </p:cNvSpPr>
          <p:nvPr>
            <p:ph type="title"/>
          </p:nvPr>
        </p:nvSpPr>
        <p:spPr>
          <a:xfrm>
            <a:off x="468313" y="144463"/>
            <a:ext cx="6770687" cy="692150"/>
          </a:xfrm>
        </p:spPr>
        <p:txBody>
          <a:bodyPr/>
          <a:lstStyle/>
          <a:p>
            <a:pPr eaLnBrk="1" hangingPunct="1">
              <a:defRPr/>
            </a:pPr>
            <a:r>
              <a:rPr lang="en-US" altLang="zh-TW" sz="2000" dirty="0" smtClean="0">
                <a:latin typeface="+mn-lt"/>
              </a:rPr>
              <a:t>Enable innovation in flexible, adaptive software &amp; hardware, security, network computing</a:t>
            </a:r>
            <a:endParaRPr lang="zh-TW" altLang="en-US" sz="2000" dirty="0" smtClean="0">
              <a:latin typeface="+mn-lt"/>
            </a:endParaRPr>
          </a:p>
        </p:txBody>
      </p:sp>
      <p:sp>
        <p:nvSpPr>
          <p:cNvPr id="2" name="Rectangle 3"/>
          <p:cNvSpPr>
            <a:spLocks noGrp="1" noRot="1" noChangeArrowheads="1"/>
          </p:cNvSpPr>
          <p:nvPr>
            <p:ph idx="1"/>
          </p:nvPr>
        </p:nvSpPr>
        <p:spPr/>
        <p:txBody>
          <a:bodyPr/>
          <a:lstStyle/>
          <a:p>
            <a:pPr eaLnBrk="1" hangingPunct="1">
              <a:defRPr/>
            </a:pPr>
            <a:r>
              <a:rPr lang="en-US" altLang="zh-TW" dirty="0" smtClean="0">
                <a:latin typeface="+mn-lt"/>
                <a:ea typeface="新細明體" panose="02020500000000000000" pitchFamily="18" charset="-120"/>
                <a:cs typeface="Times New Roman" panose="02020603050405020304" pitchFamily="18" charset="0"/>
              </a:rPr>
              <a:t>Many OS are developed for a specific system architecture and are designed to manage hardware resources directly. This limits the flexibility of the system, in terms of available application software, security and failure isolation.</a:t>
            </a:r>
          </a:p>
          <a:p>
            <a:pPr eaLnBrk="1" hangingPunct="1">
              <a:defRPr/>
            </a:pPr>
            <a:r>
              <a:rPr lang="en-US" altLang="zh-TW" dirty="0" smtClean="0">
                <a:latin typeface="+mn-lt"/>
                <a:ea typeface="新細明體" panose="02020500000000000000" pitchFamily="18" charset="-120"/>
                <a:cs typeface="Times New Roman" panose="02020603050405020304" pitchFamily="18" charset="0"/>
              </a:rPr>
              <a:t>Example:</a:t>
            </a:r>
          </a:p>
          <a:p>
            <a:pPr lvl="1" eaLnBrk="1" hangingPunct="1">
              <a:defRPr/>
            </a:pPr>
            <a:r>
              <a:rPr lang="en-US" altLang="zh-TW" dirty="0" smtClean="0">
                <a:latin typeface="+mn-lt"/>
                <a:ea typeface="新細明體" panose="02020500000000000000" pitchFamily="18" charset="-120"/>
                <a:cs typeface="Times New Roman" panose="02020603050405020304" pitchFamily="18" charset="0"/>
              </a:rPr>
              <a:t>Can you run iPhone’s applications on </a:t>
            </a:r>
            <a:r>
              <a:rPr lang="en-US" altLang="zh-TW" dirty="0" err="1" smtClean="0">
                <a:latin typeface="+mn-lt"/>
                <a:ea typeface="新細明體" panose="02020500000000000000" pitchFamily="18" charset="-120"/>
                <a:cs typeface="Times New Roman" panose="02020603050405020304" pitchFamily="18" charset="0"/>
              </a:rPr>
              <a:t>Gphone</a:t>
            </a:r>
            <a:r>
              <a:rPr lang="en-US" altLang="zh-TW" dirty="0" smtClean="0">
                <a:latin typeface="+mn-lt"/>
                <a:ea typeface="新細明體" panose="02020500000000000000" pitchFamily="18" charset="-120"/>
                <a:cs typeface="Times New Roman" panose="02020603050405020304" pitchFamily="18" charset="0"/>
              </a:rPr>
              <a:t>?</a:t>
            </a:r>
          </a:p>
          <a:p>
            <a:pPr lvl="1" eaLnBrk="1" hangingPunct="1">
              <a:defRPr/>
            </a:pPr>
            <a:r>
              <a:rPr lang="en-US" altLang="zh-TW" dirty="0" smtClean="0">
                <a:latin typeface="+mn-lt"/>
                <a:ea typeface="新細明體" panose="02020500000000000000" pitchFamily="18" charset="-120"/>
                <a:cs typeface="Times New Roman" panose="02020603050405020304" pitchFamily="18" charset="0"/>
              </a:rPr>
              <a:t>One rogue application could crash a complete system</a:t>
            </a:r>
          </a:p>
          <a:p>
            <a:pPr lvl="1" eaLnBrk="1" hangingPunct="1">
              <a:defRPr/>
            </a:pPr>
            <a:r>
              <a:rPr lang="en-US" altLang="zh-TW" dirty="0" smtClean="0">
                <a:latin typeface="+mn-lt"/>
                <a:ea typeface="新細明體" panose="02020500000000000000" pitchFamily="18" charset="-120"/>
                <a:cs typeface="Times New Roman" panose="02020603050405020304" pitchFamily="18" charset="0"/>
              </a:rPr>
              <a:t>Virus, worms, and malicious attacks</a:t>
            </a:r>
          </a:p>
          <a:p>
            <a:pPr marL="0" indent="0" eaLnBrk="1" hangingPunct="1">
              <a:buFont typeface="Wingdings" panose="05000000000000000000" pitchFamily="2" charset="2"/>
              <a:buNone/>
              <a:defRPr/>
            </a:pPr>
            <a:endParaRPr lang="en-US" altLang="zh-TW" dirty="0" smtClean="0">
              <a:latin typeface="+mn-lt"/>
              <a:ea typeface="新細明體" panose="02020500000000000000" pitchFamily="18" charset="-12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VM overview</a:t>
            </a:r>
          </a:p>
        </p:txBody>
      </p:sp>
      <p:sp>
        <p:nvSpPr>
          <p:cNvPr id="23555" name="Rectangle 3"/>
          <p:cNvSpPr>
            <a:spLocks noGrp="1" noRot="1" noChangeArrowheads="1"/>
          </p:cNvSpPr>
          <p:nvPr>
            <p:ph idx="1"/>
          </p:nvPr>
        </p:nvSpPr>
        <p:spPr>
          <a:xfrm>
            <a:off x="301625" y="1676400"/>
            <a:ext cx="8689975" cy="4422775"/>
          </a:xfrm>
        </p:spPr>
        <p:txBody>
          <a:bodyPr/>
          <a:lstStyle/>
          <a:p>
            <a:pPr eaLnBrk="1" hangingPunct="1">
              <a:defRPr/>
            </a:pPr>
            <a:r>
              <a:rPr lang="en-US" altLang="zh-TW" sz="2400" i="1" dirty="0" smtClean="0">
                <a:latin typeface="+mn-lt"/>
                <a:ea typeface="新細明體" panose="02020500000000000000" pitchFamily="18" charset="-120"/>
              </a:rPr>
              <a:t>Virtual machines have been investigated and built by </a:t>
            </a:r>
          </a:p>
          <a:p>
            <a:pPr lvl="1" eaLnBrk="1" hangingPunct="1">
              <a:defRPr/>
            </a:pPr>
            <a:r>
              <a:rPr lang="en-US" altLang="zh-TW" sz="2000" i="1" dirty="0" smtClean="0">
                <a:latin typeface="+mn-lt"/>
                <a:ea typeface="新細明體" panose="02020500000000000000" pitchFamily="18" charset="-120"/>
              </a:rPr>
              <a:t> OS			IBM VM/</a:t>
            </a:r>
            <a:r>
              <a:rPr lang="en-US" altLang="zh-TW" sz="2000" i="1" dirty="0" err="1" smtClean="0">
                <a:latin typeface="+mn-lt"/>
                <a:ea typeface="新細明體" panose="02020500000000000000" pitchFamily="18" charset="-120"/>
              </a:rPr>
              <a:t>CMS,VmWare</a:t>
            </a:r>
            <a:r>
              <a:rPr lang="en-US" altLang="zh-TW" sz="2000" i="1" dirty="0" smtClean="0">
                <a:latin typeface="+mn-lt"/>
                <a:ea typeface="新細明體" panose="02020500000000000000" pitchFamily="18" charset="-120"/>
              </a:rPr>
              <a:t>, </a:t>
            </a:r>
            <a:r>
              <a:rPr lang="en-US" altLang="zh-TW" sz="2000" i="1" dirty="0" err="1" smtClean="0">
                <a:latin typeface="+mn-lt"/>
                <a:ea typeface="新細明體" panose="02020500000000000000" pitchFamily="18" charset="-120"/>
              </a:rPr>
              <a:t>Xen</a:t>
            </a:r>
            <a:endParaRPr lang="en-US" altLang="zh-TW" sz="2000" i="1" dirty="0" smtClean="0">
              <a:latin typeface="+mn-lt"/>
              <a:ea typeface="新細明體" panose="02020500000000000000" pitchFamily="18" charset="-120"/>
            </a:endParaRPr>
          </a:p>
          <a:p>
            <a:pPr lvl="1" eaLnBrk="1" hangingPunct="1">
              <a:defRPr/>
            </a:pPr>
            <a:r>
              <a:rPr lang="en-US" altLang="zh-TW" sz="2000" i="1" dirty="0" smtClean="0">
                <a:latin typeface="+mn-lt"/>
                <a:ea typeface="新細明體" panose="02020500000000000000" pitchFamily="18" charset="-120"/>
              </a:rPr>
              <a:t> Language designers	JVM, P-code</a:t>
            </a:r>
          </a:p>
          <a:p>
            <a:pPr lvl="1" eaLnBrk="1" hangingPunct="1">
              <a:defRPr/>
            </a:pPr>
            <a:r>
              <a:rPr lang="en-US" altLang="zh-TW" sz="2000" i="1" dirty="0" smtClean="0">
                <a:latin typeface="+mn-lt"/>
                <a:ea typeface="新細明體" panose="02020500000000000000" pitchFamily="18" charset="-120"/>
              </a:rPr>
              <a:t> Compiler developers	MS </a:t>
            </a:r>
            <a:r>
              <a:rPr lang="en-US" altLang="zh-TW" sz="2000" i="1" dirty="0" err="1" smtClean="0">
                <a:latin typeface="+mn-lt"/>
                <a:ea typeface="新細明體" panose="02020500000000000000" pitchFamily="18" charset="-120"/>
              </a:rPr>
              <a:t>.Net</a:t>
            </a:r>
            <a:r>
              <a:rPr lang="en-US" altLang="zh-TW" sz="2000" i="1" dirty="0" smtClean="0">
                <a:latin typeface="+mn-lt"/>
                <a:ea typeface="新細明體" panose="02020500000000000000" pitchFamily="18" charset="-120"/>
              </a:rPr>
              <a:t>/CIL, Dynamo, Aries</a:t>
            </a:r>
          </a:p>
          <a:p>
            <a:pPr lvl="1" eaLnBrk="1" hangingPunct="1">
              <a:defRPr/>
            </a:pPr>
            <a:r>
              <a:rPr lang="en-US" altLang="zh-TW" sz="2000" i="1" dirty="0" smtClean="0">
                <a:latin typeface="+mn-lt"/>
                <a:ea typeface="新細明體" panose="02020500000000000000" pitchFamily="18" charset="-120"/>
              </a:rPr>
              <a:t> Hardware designers	Crusoe, Intel VT, AMD-V, ARM 						virtualization extension (</a:t>
            </a:r>
            <a:r>
              <a:rPr lang="en-US" altLang="zh-TW" sz="2000" i="1" dirty="0" err="1" smtClean="0">
                <a:latin typeface="+mn-lt"/>
                <a:ea typeface="新細明體" panose="02020500000000000000" pitchFamily="18" charset="-120"/>
              </a:rPr>
              <a:t>hyp</a:t>
            </a:r>
            <a:r>
              <a:rPr lang="en-US" altLang="zh-TW" sz="2000" i="1" dirty="0" smtClean="0">
                <a:latin typeface="+mn-lt"/>
                <a:ea typeface="新細明體" panose="02020500000000000000" pitchFamily="18" charset="-120"/>
              </a:rPr>
              <a:t> mode + others)</a:t>
            </a:r>
          </a:p>
          <a:p>
            <a:pPr eaLnBrk="1" hangingPunct="1">
              <a:defRPr/>
            </a:pPr>
            <a:r>
              <a:rPr lang="en-US" altLang="zh-TW" sz="2400" i="1" dirty="0" smtClean="0">
                <a:latin typeface="+mn-lt"/>
                <a:ea typeface="新細明體" panose="02020500000000000000" pitchFamily="18" charset="-120"/>
              </a:rPr>
              <a:t>This course tries to look at underlying concepts and technologies that are common across the spectrum of virtual machines </a:t>
            </a:r>
          </a:p>
          <a:p>
            <a:pPr eaLnBrk="1" hangingPunct="1">
              <a:defRPr/>
            </a:pPr>
            <a:r>
              <a:rPr lang="en-US" altLang="zh-TW" sz="2400" i="1" dirty="0" smtClean="0">
                <a:latin typeface="+mn-lt"/>
                <a:ea typeface="新細明體" panose="02020500000000000000" pitchFamily="18" charset="-120"/>
              </a:rPr>
              <a:t>This is a cross-disciplinary (inter-disciplinary) course!</a:t>
            </a:r>
          </a:p>
          <a:p>
            <a:pPr eaLnBrk="1" hangingPunct="1">
              <a:defRPr/>
            </a:pPr>
            <a:endParaRPr lang="en-US" altLang="zh-TW" sz="2400" i="1" dirty="0" smtClean="0">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ea typeface="新細明體" panose="02020500000000000000" pitchFamily="18" charset="-120"/>
                <a:cs typeface="Times New Roman" panose="02020603050405020304" pitchFamily="18" charset="0"/>
              </a:rPr>
              <a:t>VM overview</a:t>
            </a:r>
          </a:p>
        </p:txBody>
      </p:sp>
      <p:sp>
        <p:nvSpPr>
          <p:cNvPr id="25603" name="Rectangle 3"/>
          <p:cNvSpPr>
            <a:spLocks noGrp="1" noRot="1" noChangeArrowheads="1"/>
          </p:cNvSpPr>
          <p:nvPr>
            <p:ph idx="1"/>
          </p:nvPr>
        </p:nvSpPr>
        <p:spPr/>
        <p:txBody>
          <a:bodyPr/>
          <a:lstStyle/>
          <a:p>
            <a:pPr eaLnBrk="1" hangingPunct="1">
              <a:buFont typeface="Wingdings" panose="05000000000000000000" pitchFamily="2" charset="2"/>
              <a:buNone/>
              <a:defRPr/>
            </a:pPr>
            <a:endParaRPr lang="en-US" altLang="zh-TW" b="1" i="1" dirty="0" smtClean="0">
              <a:latin typeface="+mn-lt"/>
              <a:ea typeface="新細明體" panose="02020500000000000000" pitchFamily="18" charset="-120"/>
            </a:endParaRPr>
          </a:p>
          <a:p>
            <a:pPr eaLnBrk="1" hangingPunct="1">
              <a:defRPr/>
            </a:pPr>
            <a:r>
              <a:rPr lang="en-US" altLang="zh-TW" b="1" dirty="0" smtClean="0">
                <a:latin typeface="+mn-lt"/>
                <a:ea typeface="新細明體" panose="02020500000000000000" pitchFamily="18" charset="-120"/>
              </a:rPr>
              <a:t>Virtualization will be a key part of future computer systems</a:t>
            </a:r>
          </a:p>
          <a:p>
            <a:pPr lvl="1" eaLnBrk="1" hangingPunct="1">
              <a:defRPr/>
            </a:pPr>
            <a:r>
              <a:rPr lang="en-US" altLang="zh-TW" b="1" i="1" dirty="0" smtClean="0">
                <a:latin typeface="+mn-lt"/>
                <a:ea typeface="新細明體" panose="02020500000000000000" pitchFamily="18" charset="-120"/>
              </a:rPr>
              <a:t>Due to the network computing environment</a:t>
            </a:r>
          </a:p>
          <a:p>
            <a:pPr lvl="1" eaLnBrk="1" hangingPunct="1">
              <a:defRPr/>
            </a:pPr>
            <a:r>
              <a:rPr lang="en-US" altLang="zh-TW" b="1" i="1" dirty="0" smtClean="0">
                <a:latin typeface="+mn-lt"/>
                <a:ea typeface="新細明體" panose="02020500000000000000" pitchFamily="18" charset="-120"/>
              </a:rPr>
              <a:t>A </a:t>
            </a:r>
            <a:r>
              <a:rPr lang="en-US" altLang="zh-TW" b="1" dirty="0" smtClean="0">
                <a:latin typeface="+mn-lt"/>
                <a:ea typeface="新細明體" panose="02020500000000000000" pitchFamily="18" charset="-120"/>
              </a:rPr>
              <a:t>fourth </a:t>
            </a:r>
            <a:r>
              <a:rPr lang="en-US" altLang="zh-TW" b="1" i="1" dirty="0" smtClean="0">
                <a:latin typeface="+mn-lt"/>
                <a:ea typeface="新細明體" panose="02020500000000000000" pitchFamily="18" charset="-120"/>
              </a:rPr>
              <a:t>major discipline? (with HW, System SW, Application SW)</a:t>
            </a:r>
            <a:endParaRPr lang="en-US" altLang="zh-TW" dirty="0" smtClean="0">
              <a:latin typeface="+mn-lt"/>
              <a:ea typeface="新細明體" panose="02020500000000000000" pitchFamily="18" charset="-120"/>
            </a:endParaRPr>
          </a:p>
          <a:p>
            <a:pPr eaLnBrk="1" hangingPunct="1">
              <a:defRPr/>
            </a:pPr>
            <a:endParaRPr lang="en-US" altLang="zh-TW" dirty="0" smtClean="0">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Abstraction</a:t>
            </a:r>
          </a:p>
        </p:txBody>
      </p:sp>
      <p:pic>
        <p:nvPicPr>
          <p:cNvPr id="2355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295400"/>
            <a:ext cx="4572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3556" name="Text Box 7"/>
          <p:cNvSpPr txBox="1">
            <a:spLocks noChangeArrowheads="1"/>
          </p:cNvSpPr>
          <p:nvPr/>
        </p:nvSpPr>
        <p:spPr bwMode="auto">
          <a:xfrm>
            <a:off x="152400" y="1298575"/>
            <a:ext cx="38290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
                <a:schemeClr val="hlink"/>
              </a:buClr>
              <a:buSzTx/>
            </a:pPr>
            <a:r>
              <a:rPr kumimoji="0" lang="en-US" altLang="zh-TW" sz="2400">
                <a:latin typeface="Arial" panose="020B0604020202020204" pitchFamily="34" charset="0"/>
                <a:ea typeface="新細明體" panose="02020500000000000000" pitchFamily="18" charset="-120"/>
              </a:rPr>
              <a:t>Computer systems are built on levels of abstraction</a:t>
            </a:r>
          </a:p>
          <a:p>
            <a:pPr>
              <a:spcBef>
                <a:spcPct val="0"/>
              </a:spcBef>
              <a:buClr>
                <a:schemeClr val="hlink"/>
              </a:buClr>
              <a:buSzTx/>
            </a:pPr>
            <a:r>
              <a:rPr kumimoji="0" lang="en-US" altLang="zh-TW" sz="2400">
                <a:latin typeface="Arial" panose="020B0604020202020204" pitchFamily="34" charset="0"/>
                <a:ea typeface="新細明體" panose="02020500000000000000" pitchFamily="18" charset="-120"/>
              </a:rPr>
              <a:t>Higher level of abstraction hide details at lower levels</a:t>
            </a:r>
          </a:p>
          <a:p>
            <a:pPr>
              <a:spcBef>
                <a:spcPct val="0"/>
              </a:spcBef>
              <a:buClr>
                <a:schemeClr val="hlink"/>
              </a:buClr>
              <a:buSzTx/>
            </a:pPr>
            <a:r>
              <a:rPr kumimoji="0" lang="en-US" altLang="zh-TW" sz="2400">
                <a:latin typeface="Arial" panose="020B0604020202020204" pitchFamily="34" charset="0"/>
                <a:ea typeface="新細明體" panose="02020500000000000000" pitchFamily="18" charset="-120"/>
              </a:rPr>
              <a:t>Example: files are abstraction of a disk</a:t>
            </a:r>
          </a:p>
          <a:p>
            <a:pPr>
              <a:spcBef>
                <a:spcPct val="0"/>
              </a:spcBef>
              <a:buClrTx/>
              <a:buSzTx/>
            </a:pPr>
            <a:endParaRPr kumimoji="0" lang="en-US" altLang="zh-TW" sz="2400">
              <a:latin typeface="Arial" panose="020B0604020202020204" pitchFamily="34" charset="0"/>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Machines (defined by ISA)</a:t>
            </a:r>
          </a:p>
        </p:txBody>
      </p:sp>
      <p:sp>
        <p:nvSpPr>
          <p:cNvPr id="25603" name="Text Box 4"/>
          <p:cNvSpPr txBox="1">
            <a:spLocks noChangeArrowheads="1"/>
          </p:cNvSpPr>
          <p:nvPr/>
        </p:nvSpPr>
        <p:spPr bwMode="auto">
          <a:xfrm>
            <a:off x="457200" y="1371600"/>
            <a:ext cx="382905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
                <a:schemeClr val="hlink"/>
              </a:buClr>
              <a:buSzTx/>
            </a:pPr>
            <a:r>
              <a:rPr kumimoji="0" lang="en-US" altLang="zh-TW" sz="2400">
                <a:latin typeface="Arial" panose="020B0604020202020204" pitchFamily="34" charset="0"/>
                <a:ea typeface="新細明體" panose="02020500000000000000" pitchFamily="18" charset="-120"/>
              </a:rPr>
              <a:t>For OS developers, a machine is defined by ISA (Instruction Set Architecture)</a:t>
            </a:r>
          </a:p>
          <a:p>
            <a:pPr>
              <a:spcBef>
                <a:spcPct val="0"/>
              </a:spcBef>
              <a:buClr>
                <a:schemeClr val="hlink"/>
              </a:buClr>
              <a:buSzTx/>
            </a:pPr>
            <a:r>
              <a:rPr kumimoji="0" lang="en-US" altLang="zh-TW" sz="2400">
                <a:latin typeface="Arial" panose="020B0604020202020204" pitchFamily="34" charset="0"/>
                <a:ea typeface="新細明體" panose="02020500000000000000" pitchFamily="18" charset="-120"/>
              </a:rPr>
              <a:t>Major division between Hardware and software</a:t>
            </a:r>
          </a:p>
          <a:p>
            <a:pPr>
              <a:spcBef>
                <a:spcPct val="0"/>
              </a:spcBef>
              <a:buClrTx/>
              <a:buSzTx/>
            </a:pPr>
            <a:endParaRPr kumimoji="0" lang="en-US" altLang="zh-TW" sz="2400">
              <a:latin typeface="Arial" panose="020B0604020202020204" pitchFamily="34" charset="0"/>
              <a:ea typeface="新細明體" panose="02020500000000000000" pitchFamily="18" charset="-120"/>
            </a:endParaRPr>
          </a:p>
        </p:txBody>
      </p:sp>
      <p:pic>
        <p:nvPicPr>
          <p:cNvPr id="25604" name="Picture 5"/>
          <p:cNvPicPr>
            <a:picLocks noChangeAspect="1" noChangeArrowheads="1"/>
          </p:cNvPicPr>
          <p:nvPr/>
        </p:nvPicPr>
        <p:blipFill>
          <a:blip r:embed="rId3">
            <a:extLst>
              <a:ext uri="{28A0092B-C50C-407E-A947-70E740481C1C}">
                <a14:useLocalDpi xmlns:a14="http://schemas.microsoft.com/office/drawing/2010/main" val="0"/>
              </a:ext>
            </a:extLst>
          </a:blip>
          <a:srcRect t="12857" b="12857"/>
          <a:stretch>
            <a:fillRect/>
          </a:stretch>
        </p:blipFill>
        <p:spPr bwMode="auto">
          <a:xfrm>
            <a:off x="4602163" y="1524000"/>
            <a:ext cx="4191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rPr>
              <a:t>Machines (defined by ABI)</a:t>
            </a:r>
          </a:p>
        </p:txBody>
      </p:sp>
      <p:sp>
        <p:nvSpPr>
          <p:cNvPr id="31747" name="Text Box 3"/>
          <p:cNvSpPr txBox="1">
            <a:spLocks noChangeArrowheads="1"/>
          </p:cNvSpPr>
          <p:nvPr/>
        </p:nvSpPr>
        <p:spPr bwMode="auto">
          <a:xfrm>
            <a:off x="304800" y="1524000"/>
            <a:ext cx="4191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fontAlgn="base">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fontAlgn="base">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fontAlgn="base">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fontAlgn="base">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marL="342900" indent="-342900">
              <a:spcBef>
                <a:spcPct val="0"/>
              </a:spcBef>
              <a:buClr>
                <a:schemeClr val="hlink"/>
              </a:buClr>
              <a:buSzTx/>
              <a:defRPr/>
            </a:pPr>
            <a:r>
              <a:rPr kumimoji="0" lang="en-US" altLang="zh-TW" sz="2400" dirty="0" smtClean="0">
                <a:latin typeface="Arial" panose="020B0604020202020204" pitchFamily="34" charset="0"/>
                <a:ea typeface="新細明體" panose="02020500000000000000" pitchFamily="18" charset="-120"/>
              </a:rPr>
              <a:t>For Compiler developers, a machine is defined by ABI (Application Binary Interface)</a:t>
            </a:r>
          </a:p>
          <a:p>
            <a:pPr marL="457200" indent="-457200">
              <a:spcBef>
                <a:spcPct val="0"/>
              </a:spcBef>
              <a:buClr>
                <a:schemeClr val="hlink"/>
              </a:buClr>
              <a:buSzTx/>
              <a:defRPr/>
            </a:pPr>
            <a:r>
              <a:rPr kumimoji="0" lang="en-US" altLang="zh-TW" sz="2400" dirty="0" smtClean="0">
                <a:latin typeface="Arial" panose="020B0604020202020204" pitchFamily="34" charset="0"/>
                <a:ea typeface="新細明體" panose="02020500000000000000" pitchFamily="18" charset="-120"/>
              </a:rPr>
              <a:t>ABI</a:t>
            </a:r>
            <a:br>
              <a:rPr kumimoji="0" lang="en-US" altLang="zh-TW" sz="2400" dirty="0" smtClean="0">
                <a:latin typeface="Arial" panose="020B0604020202020204" pitchFamily="34" charset="0"/>
                <a:ea typeface="新細明體" panose="02020500000000000000" pitchFamily="18" charset="-120"/>
              </a:rPr>
            </a:br>
            <a:r>
              <a:rPr kumimoji="0" lang="en-US" altLang="zh-TW" sz="2400" dirty="0" smtClean="0">
                <a:latin typeface="Arial" panose="020B0604020202020204" pitchFamily="34" charset="0"/>
                <a:ea typeface="新細明體" panose="02020500000000000000" pitchFamily="18" charset="-120"/>
              </a:rPr>
              <a:t>User level ISA + OS System Calls</a:t>
            </a:r>
          </a:p>
          <a:p>
            <a:pPr marL="342900" indent="-342900">
              <a:spcBef>
                <a:spcPct val="0"/>
              </a:spcBef>
              <a:buClrTx/>
              <a:buSzTx/>
              <a:defRPr/>
            </a:pPr>
            <a:endParaRPr kumimoji="0" lang="en-US" altLang="zh-TW" sz="2400" dirty="0" smtClean="0">
              <a:latin typeface="Arial" panose="020B0604020202020204" pitchFamily="34" charset="0"/>
              <a:ea typeface="新細明體" panose="02020500000000000000" pitchFamily="18" charset="-120"/>
            </a:endParaRPr>
          </a:p>
        </p:txBody>
      </p:sp>
      <p:pic>
        <p:nvPicPr>
          <p:cNvPr id="27652" name="Picture 5"/>
          <p:cNvPicPr>
            <a:picLocks noChangeAspect="1" noChangeArrowheads="1"/>
          </p:cNvPicPr>
          <p:nvPr/>
        </p:nvPicPr>
        <p:blipFill>
          <a:blip r:embed="rId3">
            <a:extLst>
              <a:ext uri="{28A0092B-C50C-407E-A947-70E740481C1C}">
                <a14:useLocalDpi xmlns:a14="http://schemas.microsoft.com/office/drawing/2010/main" val="0"/>
              </a:ext>
            </a:extLst>
          </a:blip>
          <a:srcRect t="4614" b="7692"/>
          <a:stretch>
            <a:fillRect/>
          </a:stretch>
        </p:blipFill>
        <p:spPr bwMode="auto">
          <a:xfrm>
            <a:off x="4570413" y="1447800"/>
            <a:ext cx="4343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rPr>
              <a:t>Machines (defined by API)</a:t>
            </a:r>
          </a:p>
        </p:txBody>
      </p:sp>
      <p:sp>
        <p:nvSpPr>
          <p:cNvPr id="29699" name="Text Box 3"/>
          <p:cNvSpPr txBox="1">
            <a:spLocks noChangeArrowheads="1"/>
          </p:cNvSpPr>
          <p:nvPr/>
        </p:nvSpPr>
        <p:spPr bwMode="auto">
          <a:xfrm>
            <a:off x="304800" y="1524000"/>
            <a:ext cx="4191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
                <a:schemeClr val="hlink"/>
              </a:buClr>
              <a:buSzTx/>
            </a:pPr>
            <a:r>
              <a:rPr kumimoji="0" lang="en-US" altLang="zh-TW" sz="2400" dirty="0">
                <a:latin typeface="Arial" panose="020B0604020202020204" pitchFamily="34" charset="0"/>
                <a:ea typeface="新細明體" panose="02020500000000000000" pitchFamily="18" charset="-120"/>
              </a:rPr>
              <a:t>For Application developers, a machine is defined by API (Application Programming Interface</a:t>
            </a:r>
            <a:r>
              <a:rPr kumimoji="0" lang="en-US" altLang="zh-TW" sz="2400" dirty="0" smtClean="0">
                <a:latin typeface="Arial" panose="020B0604020202020204" pitchFamily="34" charset="0"/>
                <a:ea typeface="新細明體" panose="02020500000000000000" pitchFamily="18" charset="-120"/>
              </a:rPr>
              <a:t>)</a:t>
            </a:r>
            <a:endParaRPr kumimoji="0" lang="en-US" altLang="zh-TW" sz="2400" dirty="0">
              <a:latin typeface="Arial" panose="020B0604020202020204" pitchFamily="34" charset="0"/>
              <a:ea typeface="新細明體" panose="02020500000000000000" pitchFamily="18" charset="-120"/>
            </a:endParaRPr>
          </a:p>
          <a:p>
            <a:pPr>
              <a:spcBef>
                <a:spcPct val="0"/>
              </a:spcBef>
              <a:buClr>
                <a:schemeClr val="hlink"/>
              </a:buClr>
              <a:buSzTx/>
            </a:pPr>
            <a:r>
              <a:rPr kumimoji="0" lang="en-US" altLang="zh-TW" sz="2400" dirty="0">
                <a:latin typeface="Arial" panose="020B0604020202020204" pitchFamily="34" charset="0"/>
                <a:ea typeface="新細明體" panose="02020500000000000000" pitchFamily="18" charset="-120"/>
              </a:rPr>
              <a:t>API</a:t>
            </a:r>
            <a:br>
              <a:rPr kumimoji="0" lang="en-US" altLang="zh-TW" sz="2400" dirty="0">
                <a:latin typeface="Arial" panose="020B0604020202020204" pitchFamily="34" charset="0"/>
                <a:ea typeface="新細明體" panose="02020500000000000000" pitchFamily="18" charset="-120"/>
              </a:rPr>
            </a:br>
            <a:r>
              <a:rPr kumimoji="0" lang="en-US" altLang="zh-TW" sz="2400" dirty="0">
                <a:latin typeface="Arial" panose="020B0604020202020204" pitchFamily="34" charset="0"/>
                <a:ea typeface="新細明體" panose="02020500000000000000" pitchFamily="18" charset="-120"/>
              </a:rPr>
              <a:t>User level ISA + Library Calls (such as </a:t>
            </a:r>
            <a:r>
              <a:rPr kumimoji="0" lang="en-US" altLang="zh-TW" sz="2400" dirty="0" err="1">
                <a:latin typeface="Arial" panose="020B0604020202020204" pitchFamily="34" charset="0"/>
                <a:ea typeface="新細明體" panose="02020500000000000000" pitchFamily="18" charset="-120"/>
              </a:rPr>
              <a:t>Clib</a:t>
            </a:r>
            <a:r>
              <a:rPr kumimoji="0" lang="en-US" altLang="zh-TW" sz="2400" dirty="0">
                <a:latin typeface="Arial" panose="020B0604020202020204" pitchFamily="34" charset="0"/>
                <a:ea typeface="新細明體" panose="02020500000000000000" pitchFamily="18" charset="-120"/>
              </a:rPr>
              <a:t>, OpenGL)</a:t>
            </a:r>
          </a:p>
          <a:p>
            <a:pPr>
              <a:spcBef>
                <a:spcPct val="0"/>
              </a:spcBef>
              <a:buClrTx/>
              <a:buSzTx/>
            </a:pPr>
            <a:endParaRPr kumimoji="0" lang="en-US" altLang="zh-TW" sz="2400" dirty="0">
              <a:latin typeface="Arial" panose="020B0604020202020204" pitchFamily="34" charset="0"/>
              <a:ea typeface="新細明體" panose="02020500000000000000" pitchFamily="18" charset="-120"/>
            </a:endParaRPr>
          </a:p>
        </p:txBody>
      </p:sp>
      <p:pic>
        <p:nvPicPr>
          <p:cNvPr id="29700" name="Picture 5"/>
          <p:cNvPicPr>
            <a:picLocks noChangeAspect="1" noChangeArrowheads="1"/>
          </p:cNvPicPr>
          <p:nvPr/>
        </p:nvPicPr>
        <p:blipFill>
          <a:blip r:embed="rId3">
            <a:extLst>
              <a:ext uri="{28A0092B-C50C-407E-A947-70E740481C1C}">
                <a14:useLocalDpi xmlns:a14="http://schemas.microsoft.com/office/drawing/2010/main" val="0"/>
              </a:ext>
            </a:extLst>
          </a:blip>
          <a:srcRect t="9091" b="4546"/>
          <a:stretch>
            <a:fillRect/>
          </a:stretch>
        </p:blipFill>
        <p:spPr bwMode="auto">
          <a:xfrm>
            <a:off x="4953000" y="1487488"/>
            <a:ext cx="38862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Virtual Machines</a:t>
            </a:r>
          </a:p>
        </p:txBody>
      </p:sp>
      <p:sp>
        <p:nvSpPr>
          <p:cNvPr id="35843" name="Rectangle 3"/>
          <p:cNvSpPr>
            <a:spLocks noGrp="1" noRot="1" noChangeArrowheads="1"/>
          </p:cNvSpPr>
          <p:nvPr>
            <p:ph idx="1"/>
          </p:nvPr>
        </p:nvSpPr>
        <p:spPr/>
        <p:txBody>
          <a:bodyPr/>
          <a:lstStyle/>
          <a:p>
            <a:pPr eaLnBrk="1" hangingPunct="1">
              <a:defRPr/>
            </a:pPr>
            <a:r>
              <a:rPr lang="en-US" altLang="zh-TW" dirty="0" smtClean="0">
                <a:latin typeface="+mn-lt"/>
                <a:ea typeface="新細明體" panose="02020500000000000000" pitchFamily="18" charset="-120"/>
              </a:rPr>
              <a:t>Add </a:t>
            </a:r>
            <a:r>
              <a:rPr lang="en-US" altLang="zh-TW" i="1" dirty="0" smtClean="0">
                <a:latin typeface="+mn-lt"/>
                <a:ea typeface="新細明體" panose="02020500000000000000" pitchFamily="18" charset="-120"/>
              </a:rPr>
              <a:t>Virtualizing Software </a:t>
            </a:r>
            <a:r>
              <a:rPr lang="en-US" altLang="zh-TW" dirty="0" smtClean="0">
                <a:latin typeface="+mn-lt"/>
                <a:ea typeface="新細明體" panose="02020500000000000000" pitchFamily="18" charset="-120"/>
              </a:rPr>
              <a:t>to a </a:t>
            </a:r>
            <a:r>
              <a:rPr lang="en-US" altLang="zh-TW" i="1" dirty="0" smtClean="0">
                <a:latin typeface="+mn-lt"/>
                <a:ea typeface="新細明體" panose="02020500000000000000" pitchFamily="18" charset="-120"/>
              </a:rPr>
              <a:t>Host </a:t>
            </a:r>
            <a:r>
              <a:rPr lang="en-US" altLang="zh-TW" dirty="0" smtClean="0">
                <a:latin typeface="+mn-lt"/>
                <a:ea typeface="新細明體" panose="02020500000000000000" pitchFamily="18" charset="-120"/>
              </a:rPr>
              <a:t>platform and support </a:t>
            </a:r>
            <a:r>
              <a:rPr lang="en-US" altLang="zh-TW" i="1" dirty="0" smtClean="0">
                <a:latin typeface="+mn-lt"/>
                <a:ea typeface="新細明體" panose="02020500000000000000" pitchFamily="18" charset="-120"/>
              </a:rPr>
              <a:t>Guest </a:t>
            </a:r>
            <a:r>
              <a:rPr lang="en-US" altLang="zh-TW" dirty="0" smtClean="0">
                <a:latin typeface="+mn-lt"/>
                <a:ea typeface="新細明體" panose="02020500000000000000" pitchFamily="18" charset="-120"/>
              </a:rPr>
              <a:t>process or system on a </a:t>
            </a:r>
            <a:r>
              <a:rPr lang="en-US" altLang="zh-TW" i="1" dirty="0" smtClean="0">
                <a:latin typeface="+mn-lt"/>
                <a:ea typeface="新細明體" panose="02020500000000000000" pitchFamily="18" charset="-120"/>
              </a:rPr>
              <a:t>Virtual Machine </a:t>
            </a:r>
            <a:r>
              <a:rPr lang="en-US" altLang="zh-TW" dirty="0" smtClean="0">
                <a:latin typeface="+mn-lt"/>
                <a:ea typeface="新細明體" panose="02020500000000000000" pitchFamily="18" charset="-120"/>
              </a:rPr>
              <a:t>(VM)</a:t>
            </a:r>
          </a:p>
          <a:p>
            <a:pPr eaLnBrk="1" hangingPunct="1">
              <a:defRPr/>
            </a:pPr>
            <a:endParaRPr lang="en-US" altLang="zh-TW" dirty="0" smtClean="0">
              <a:latin typeface="+mn-lt"/>
              <a:ea typeface="新細明體" panose="02020500000000000000" pitchFamily="18" charset="-120"/>
            </a:endParaRPr>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743200"/>
            <a:ext cx="7543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p:txBody>
          <a:bodyPr/>
          <a:lstStyle/>
          <a:p>
            <a:pPr eaLnBrk="1" hangingPunct="1">
              <a:defRPr/>
            </a:pPr>
            <a:r>
              <a:rPr lang="en-US" altLang="zh-TW" dirty="0" smtClean="0">
                <a:solidFill>
                  <a:schemeClr val="accent1">
                    <a:lumMod val="75000"/>
                  </a:schemeClr>
                </a:solidFill>
                <a:latin typeface="+mn-lt"/>
                <a:cs typeface="Times New Roman" panose="02020603050405020304" pitchFamily="18" charset="0"/>
              </a:rPr>
              <a:t>Process Virtual Machines</a:t>
            </a:r>
          </a:p>
        </p:txBody>
      </p:sp>
      <p:sp>
        <p:nvSpPr>
          <p:cNvPr id="37891" name="Rectangle 3"/>
          <p:cNvSpPr>
            <a:spLocks noGrp="1" noRot="1" noChangeArrowheads="1"/>
          </p:cNvSpPr>
          <p:nvPr>
            <p:ph idx="1"/>
          </p:nvPr>
        </p:nvSpPr>
        <p:spPr/>
        <p:txBody>
          <a:bodyPr/>
          <a:lstStyle/>
          <a:p>
            <a:pPr eaLnBrk="1" hangingPunct="1">
              <a:defRPr/>
            </a:pPr>
            <a:r>
              <a:rPr lang="en-US" altLang="zh-TW" dirty="0" smtClean="0">
                <a:latin typeface="+mn-lt"/>
                <a:ea typeface="新細明體" panose="02020500000000000000" pitchFamily="18" charset="-120"/>
              </a:rPr>
              <a:t>Execute applications with an ISA different from the HW platform</a:t>
            </a:r>
          </a:p>
          <a:p>
            <a:pPr eaLnBrk="1" hangingPunct="1">
              <a:defRPr/>
            </a:pPr>
            <a:r>
              <a:rPr lang="en-US" altLang="zh-TW" dirty="0" smtClean="0">
                <a:latin typeface="+mn-lt"/>
                <a:ea typeface="新細明體" panose="02020500000000000000" pitchFamily="18" charset="-120"/>
              </a:rPr>
              <a:t>Couple at ABI level via runtime system</a:t>
            </a:r>
          </a:p>
          <a:p>
            <a:pPr eaLnBrk="1" hangingPunct="1">
              <a:defRPr/>
            </a:pPr>
            <a:r>
              <a:rPr lang="en-US" altLang="zh-TW" dirty="0" smtClean="0">
                <a:latin typeface="+mn-lt"/>
                <a:ea typeface="新細明體" panose="02020500000000000000" pitchFamily="18" charset="-120"/>
              </a:rPr>
              <a:t>Usually not persistent</a:t>
            </a:r>
          </a:p>
          <a:p>
            <a:pPr eaLnBrk="1" hangingPunct="1">
              <a:defRPr/>
            </a:pPr>
            <a:endParaRPr lang="en-US" altLang="zh-TW" dirty="0" smtClean="0">
              <a:latin typeface="+mn-lt"/>
              <a:ea typeface="新細明體" panose="02020500000000000000" pitchFamily="18" charset="-120"/>
            </a:endParaRPr>
          </a:p>
        </p:txBody>
      </p:sp>
      <p:pic>
        <p:nvPicPr>
          <p:cNvPr id="33796" name="Picture 5"/>
          <p:cNvPicPr>
            <a:picLocks noChangeAspect="1" noChangeArrowheads="1"/>
          </p:cNvPicPr>
          <p:nvPr/>
        </p:nvPicPr>
        <p:blipFill>
          <a:blip r:embed="rId3">
            <a:extLst>
              <a:ext uri="{28A0092B-C50C-407E-A947-70E740481C1C}">
                <a14:useLocalDpi xmlns:a14="http://schemas.microsoft.com/office/drawing/2010/main" val="0"/>
              </a:ext>
            </a:extLst>
          </a:blip>
          <a:srcRect b="4878"/>
          <a:stretch>
            <a:fillRect/>
          </a:stretch>
        </p:blipFill>
        <p:spPr bwMode="auto">
          <a:xfrm>
            <a:off x="723900" y="3065463"/>
            <a:ext cx="76962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cs typeface="Times New Roman" panose="02020603050405020304" pitchFamily="18" charset="0"/>
              </a:rPr>
              <a:t>Process Virtual Machines</a:t>
            </a:r>
          </a:p>
        </p:txBody>
      </p:sp>
      <p:sp>
        <p:nvSpPr>
          <p:cNvPr id="39939" name="Rectangle 3"/>
          <p:cNvSpPr>
            <a:spLocks noGrp="1" noRot="1" noChangeArrowheads="1"/>
          </p:cNvSpPr>
          <p:nvPr>
            <p:ph idx="1"/>
          </p:nvPr>
        </p:nvSpPr>
        <p:spPr/>
        <p:txBody>
          <a:bodyPr/>
          <a:lstStyle/>
          <a:p>
            <a:pPr eaLnBrk="1" hangingPunct="1">
              <a:defRPr/>
            </a:pPr>
            <a:r>
              <a:rPr lang="en-US" altLang="zh-TW" smtClean="0">
                <a:latin typeface="+mn-lt"/>
                <a:ea typeface="新細明體" panose="02020500000000000000" pitchFamily="18" charset="-120"/>
              </a:rPr>
              <a:t>Guest processes may intermingle with host processes</a:t>
            </a:r>
          </a:p>
          <a:p>
            <a:pPr eaLnBrk="1" hangingPunct="1">
              <a:defRPr/>
            </a:pPr>
            <a:r>
              <a:rPr lang="en-US" altLang="zh-TW" smtClean="0">
                <a:latin typeface="+mn-lt"/>
                <a:ea typeface="新細明體" panose="02020500000000000000" pitchFamily="18" charset="-120"/>
              </a:rPr>
              <a:t>As a practical matter, guest OS and host OS are often the same</a:t>
            </a:r>
          </a:p>
          <a:p>
            <a:pPr eaLnBrk="1" hangingPunct="1">
              <a:buFont typeface="Wingdings" panose="05000000000000000000" pitchFamily="2" charset="2"/>
              <a:buNone/>
              <a:defRPr/>
            </a:pPr>
            <a:r>
              <a:rPr lang="en-US" altLang="zh-TW" smtClean="0">
                <a:latin typeface="+mn-lt"/>
                <a:ea typeface="新細明體" panose="02020500000000000000" pitchFamily="18" charset="-120"/>
              </a:rPr>
              <a:t>	</a:t>
            </a:r>
            <a:r>
              <a:rPr lang="en-US" altLang="zh-TW" sz="2400" smtClean="0">
                <a:latin typeface="+mn-lt"/>
                <a:ea typeface="新細明體" panose="02020500000000000000" pitchFamily="18" charset="-120"/>
              </a:rPr>
              <a:t>Example: IA-32 EL, FX!32, Aries, Rosetta</a:t>
            </a:r>
          </a:p>
          <a:p>
            <a:pPr eaLnBrk="1" hangingPunct="1">
              <a:defRPr/>
            </a:pPr>
            <a:r>
              <a:rPr lang="en-US" altLang="zh-TW" smtClean="0">
                <a:latin typeface="+mn-lt"/>
                <a:ea typeface="新細明體" panose="02020500000000000000" pitchFamily="18" charset="-120"/>
              </a:rPr>
              <a:t>Same ISA dynamic optimizer is a special case</a:t>
            </a:r>
          </a:p>
          <a:p>
            <a:pPr eaLnBrk="1" hangingPunct="1">
              <a:buFont typeface="Wingdings" panose="05000000000000000000" pitchFamily="2" charset="2"/>
              <a:buNone/>
              <a:defRPr/>
            </a:pPr>
            <a:r>
              <a:rPr lang="en-US" altLang="zh-TW" smtClean="0">
                <a:latin typeface="+mn-lt"/>
                <a:ea typeface="新細明體" panose="02020500000000000000" pitchFamily="18" charset="-120"/>
              </a:rPr>
              <a:t>	</a:t>
            </a:r>
            <a:r>
              <a:rPr lang="en-US" altLang="zh-TW" sz="2400" smtClean="0">
                <a:latin typeface="+mn-lt"/>
                <a:ea typeface="新細明體" panose="02020500000000000000" pitchFamily="18" charset="-120"/>
              </a:rPr>
              <a:t>Example: Dynamo, Adore</a:t>
            </a:r>
          </a:p>
          <a:p>
            <a:pPr eaLnBrk="1" hangingPunct="1">
              <a:defRPr/>
            </a:pPr>
            <a:r>
              <a:rPr lang="en-US" altLang="zh-TW" smtClean="0">
                <a:latin typeface="+mn-lt"/>
                <a:ea typeface="新細明體" panose="02020500000000000000" pitchFamily="18" charset="-120"/>
              </a:rPr>
              <a:t>Dynamic binary instrumentation</a:t>
            </a:r>
          </a:p>
          <a:p>
            <a:pPr eaLnBrk="1" hangingPunct="1">
              <a:buFont typeface="Wingdings" panose="05000000000000000000" pitchFamily="2" charset="2"/>
              <a:buNone/>
              <a:defRPr/>
            </a:pPr>
            <a:r>
              <a:rPr lang="en-US" altLang="zh-TW" smtClean="0">
                <a:latin typeface="+mn-lt"/>
                <a:ea typeface="新細明體" panose="02020500000000000000" pitchFamily="18" charset="-120"/>
              </a:rPr>
              <a:t>	</a:t>
            </a:r>
            <a:r>
              <a:rPr lang="en-US" altLang="zh-TW" sz="2400" smtClean="0">
                <a:latin typeface="+mn-lt"/>
                <a:ea typeface="新細明體" panose="02020500000000000000" pitchFamily="18" charset="-120"/>
              </a:rPr>
              <a:t>Example:  PIN, Valgrind, DynamoRIO</a:t>
            </a:r>
          </a:p>
          <a:p>
            <a:pPr eaLnBrk="1" hangingPunct="1">
              <a:buFont typeface="Wingdings" panose="05000000000000000000" pitchFamily="2" charset="2"/>
              <a:buNone/>
              <a:defRPr/>
            </a:pPr>
            <a:r>
              <a:rPr lang="en-US" altLang="zh-TW" smtClean="0">
                <a:latin typeface="+mn-lt"/>
                <a:ea typeface="新細明體" panose="02020500000000000000" pitchFamily="18" charset="-120"/>
              </a:rPr>
              <a:t>	</a:t>
            </a:r>
          </a:p>
          <a:p>
            <a:pPr eaLnBrk="1" hangingPunct="1">
              <a:buFont typeface="Wingdings" panose="05000000000000000000" pitchFamily="2" charset="2"/>
              <a:buNone/>
              <a:defRPr/>
            </a:pPr>
            <a:endParaRPr lang="en-US" altLang="zh-TW" smtClean="0">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cs typeface="Times New Roman" panose="02020603050405020304" pitchFamily="18" charset="0"/>
              </a:rPr>
              <a:t>Cross-Platform Portability</a:t>
            </a:r>
          </a:p>
        </p:txBody>
      </p:sp>
      <p:sp>
        <p:nvSpPr>
          <p:cNvPr id="37891" name="矩形 4"/>
          <p:cNvSpPr>
            <a:spLocks noChangeArrowheads="1"/>
          </p:cNvSpPr>
          <p:nvPr/>
        </p:nvSpPr>
        <p:spPr bwMode="auto">
          <a:xfrm>
            <a:off x="533400" y="1828800"/>
            <a:ext cx="1371600" cy="762000"/>
          </a:xfrm>
          <a:prstGeom prst="rect">
            <a:avLst/>
          </a:prstGeom>
          <a:solidFill>
            <a:schemeClr val="accent1"/>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PowPC</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programs</a:t>
            </a:r>
            <a:endParaRPr kumimoji="0" lang="zh-TW" altLang="en-US" sz="2000" smtClean="0">
              <a:solidFill>
                <a:schemeClr val="bg1"/>
              </a:solidFill>
              <a:latin typeface="+mn-lt"/>
              <a:ea typeface="新細明體" panose="02020500000000000000" pitchFamily="18" charset="-120"/>
            </a:endParaRPr>
          </a:p>
        </p:txBody>
      </p:sp>
      <p:sp>
        <p:nvSpPr>
          <p:cNvPr id="37892" name="橢圓 5"/>
          <p:cNvSpPr>
            <a:spLocks noChangeArrowheads="1"/>
          </p:cNvSpPr>
          <p:nvPr/>
        </p:nvSpPr>
        <p:spPr bwMode="auto">
          <a:xfrm>
            <a:off x="228600" y="41148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x86-32 </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or x86-64</a:t>
            </a:r>
            <a:endParaRPr kumimoji="0" lang="zh-TW" altLang="en-US" sz="2000" smtClean="0">
              <a:solidFill>
                <a:schemeClr val="bg1"/>
              </a:solidFill>
              <a:latin typeface="+mn-lt"/>
              <a:ea typeface="新細明體" panose="02020500000000000000" pitchFamily="18" charset="-120"/>
            </a:endParaRPr>
          </a:p>
        </p:txBody>
      </p:sp>
      <p:sp>
        <p:nvSpPr>
          <p:cNvPr id="37893" name="向下箭號 7"/>
          <p:cNvSpPr>
            <a:spLocks noChangeArrowheads="1"/>
          </p:cNvSpPr>
          <p:nvPr/>
        </p:nvSpPr>
        <p:spPr bwMode="auto">
          <a:xfrm>
            <a:off x="914400" y="2743200"/>
            <a:ext cx="381000" cy="1143000"/>
          </a:xfrm>
          <a:prstGeom prst="downArrow">
            <a:avLst>
              <a:gd name="adj1" fmla="val 50000"/>
              <a:gd name="adj2" fmla="val 50000"/>
            </a:avLst>
          </a:prstGeom>
          <a:solidFill>
            <a:srgbClr val="FF0000"/>
          </a:solidFill>
          <a:ln w="952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endParaRPr kumimoji="0" lang="zh-TW" altLang="en-US" sz="1800" smtClean="0">
              <a:latin typeface="+mn-lt"/>
              <a:ea typeface="新細明體" panose="02020500000000000000" pitchFamily="18" charset="-120"/>
            </a:endParaRPr>
          </a:p>
        </p:txBody>
      </p:sp>
      <p:sp>
        <p:nvSpPr>
          <p:cNvPr id="37894" name="文字方塊 10"/>
          <p:cNvSpPr txBox="1">
            <a:spLocks noChangeArrowheads="1"/>
          </p:cNvSpPr>
          <p:nvPr/>
        </p:nvSpPr>
        <p:spPr bwMode="auto">
          <a:xfrm>
            <a:off x="1295400" y="3048000"/>
            <a:ext cx="1246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Rosetta</a:t>
            </a:r>
          </a:p>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(Apple)</a:t>
            </a:r>
            <a:endParaRPr kumimoji="0" lang="zh-TW" altLang="en-US" sz="2400" smtClean="0">
              <a:solidFill>
                <a:srgbClr val="FF0000"/>
              </a:solidFill>
              <a:latin typeface="+mn-lt"/>
              <a:ea typeface="新細明體" panose="02020500000000000000" pitchFamily="18" charset="-120"/>
            </a:endParaRPr>
          </a:p>
        </p:txBody>
      </p:sp>
      <p:sp>
        <p:nvSpPr>
          <p:cNvPr id="37895" name="矩形 11"/>
          <p:cNvSpPr>
            <a:spLocks noChangeArrowheads="1"/>
          </p:cNvSpPr>
          <p:nvPr/>
        </p:nvSpPr>
        <p:spPr bwMode="auto">
          <a:xfrm>
            <a:off x="2895600" y="1828800"/>
            <a:ext cx="1371600" cy="762000"/>
          </a:xfrm>
          <a:prstGeom prst="rect">
            <a:avLst/>
          </a:prstGeom>
          <a:solidFill>
            <a:schemeClr val="accent1"/>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x86 programs</a:t>
            </a:r>
          </a:p>
        </p:txBody>
      </p:sp>
      <p:sp>
        <p:nvSpPr>
          <p:cNvPr id="37896" name="橢圓 12"/>
          <p:cNvSpPr>
            <a:spLocks noChangeArrowheads="1"/>
          </p:cNvSpPr>
          <p:nvPr/>
        </p:nvSpPr>
        <p:spPr bwMode="auto">
          <a:xfrm>
            <a:off x="2590800" y="41148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DEC </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Alpha</a:t>
            </a:r>
            <a:endParaRPr kumimoji="0" lang="zh-TW" altLang="en-US" sz="2000" smtClean="0">
              <a:solidFill>
                <a:schemeClr val="bg1"/>
              </a:solidFill>
              <a:latin typeface="+mn-lt"/>
              <a:ea typeface="新細明體" panose="02020500000000000000" pitchFamily="18" charset="-120"/>
            </a:endParaRPr>
          </a:p>
        </p:txBody>
      </p:sp>
      <p:sp>
        <p:nvSpPr>
          <p:cNvPr id="37897" name="向下箭號 13"/>
          <p:cNvSpPr>
            <a:spLocks noChangeArrowheads="1"/>
          </p:cNvSpPr>
          <p:nvPr/>
        </p:nvSpPr>
        <p:spPr bwMode="auto">
          <a:xfrm>
            <a:off x="3276600" y="2743200"/>
            <a:ext cx="381000" cy="1143000"/>
          </a:xfrm>
          <a:prstGeom prst="downArrow">
            <a:avLst>
              <a:gd name="adj1" fmla="val 50000"/>
              <a:gd name="adj2" fmla="val 50000"/>
            </a:avLst>
          </a:prstGeom>
          <a:solidFill>
            <a:srgbClr val="FF0000"/>
          </a:solidFill>
          <a:ln w="952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endParaRPr kumimoji="0" lang="zh-TW" altLang="en-US" sz="1800" smtClean="0">
              <a:latin typeface="+mn-lt"/>
              <a:ea typeface="新細明體" panose="02020500000000000000" pitchFamily="18" charset="-120"/>
            </a:endParaRPr>
          </a:p>
        </p:txBody>
      </p:sp>
      <p:sp>
        <p:nvSpPr>
          <p:cNvPr id="37898" name="文字方塊 14"/>
          <p:cNvSpPr txBox="1">
            <a:spLocks noChangeArrowheads="1"/>
          </p:cNvSpPr>
          <p:nvPr/>
        </p:nvSpPr>
        <p:spPr bwMode="auto">
          <a:xfrm>
            <a:off x="3657600" y="3048000"/>
            <a:ext cx="1041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FX!32</a:t>
            </a:r>
          </a:p>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(DEC)</a:t>
            </a:r>
            <a:endParaRPr kumimoji="0" lang="zh-TW" altLang="en-US" sz="2400" smtClean="0">
              <a:solidFill>
                <a:srgbClr val="FF0000"/>
              </a:solidFill>
              <a:latin typeface="+mn-lt"/>
              <a:ea typeface="新細明體" panose="02020500000000000000" pitchFamily="18" charset="-120"/>
            </a:endParaRPr>
          </a:p>
        </p:txBody>
      </p:sp>
      <p:sp>
        <p:nvSpPr>
          <p:cNvPr id="37899" name="矩形 15"/>
          <p:cNvSpPr>
            <a:spLocks noChangeArrowheads="1"/>
          </p:cNvSpPr>
          <p:nvPr/>
        </p:nvSpPr>
        <p:spPr bwMode="auto">
          <a:xfrm>
            <a:off x="5029200" y="1828800"/>
            <a:ext cx="1371600" cy="762000"/>
          </a:xfrm>
          <a:prstGeom prst="rect">
            <a:avLst/>
          </a:prstGeom>
          <a:solidFill>
            <a:schemeClr val="accent1"/>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x86-32 programs</a:t>
            </a:r>
          </a:p>
        </p:txBody>
      </p:sp>
      <p:sp>
        <p:nvSpPr>
          <p:cNvPr id="37900" name="橢圓 16"/>
          <p:cNvSpPr>
            <a:spLocks noChangeArrowheads="1"/>
          </p:cNvSpPr>
          <p:nvPr/>
        </p:nvSpPr>
        <p:spPr bwMode="auto">
          <a:xfrm>
            <a:off x="4724400" y="41148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IA-64</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(Itanium)</a:t>
            </a:r>
          </a:p>
        </p:txBody>
      </p:sp>
      <p:sp>
        <p:nvSpPr>
          <p:cNvPr id="37901" name="向下箭號 17"/>
          <p:cNvSpPr>
            <a:spLocks noChangeArrowheads="1"/>
          </p:cNvSpPr>
          <p:nvPr/>
        </p:nvSpPr>
        <p:spPr bwMode="auto">
          <a:xfrm>
            <a:off x="5410200" y="2743200"/>
            <a:ext cx="381000" cy="1143000"/>
          </a:xfrm>
          <a:prstGeom prst="downArrow">
            <a:avLst>
              <a:gd name="adj1" fmla="val 50000"/>
              <a:gd name="adj2" fmla="val 50000"/>
            </a:avLst>
          </a:prstGeom>
          <a:solidFill>
            <a:srgbClr val="FF0000"/>
          </a:solidFill>
          <a:ln w="952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endParaRPr kumimoji="0" lang="zh-TW" altLang="en-US" sz="1800" smtClean="0">
              <a:latin typeface="+mn-lt"/>
              <a:ea typeface="新細明體" panose="02020500000000000000" pitchFamily="18" charset="-120"/>
            </a:endParaRPr>
          </a:p>
        </p:txBody>
      </p:sp>
      <p:sp>
        <p:nvSpPr>
          <p:cNvPr id="37902" name="文字方塊 18"/>
          <p:cNvSpPr txBox="1">
            <a:spLocks noChangeArrowheads="1"/>
          </p:cNvSpPr>
          <p:nvPr/>
        </p:nvSpPr>
        <p:spPr bwMode="auto">
          <a:xfrm>
            <a:off x="5903913" y="3082925"/>
            <a:ext cx="1298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IA-32EL</a:t>
            </a:r>
          </a:p>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(Intel)</a:t>
            </a:r>
            <a:endParaRPr kumimoji="0" lang="zh-TW" altLang="en-US" sz="2400" smtClean="0">
              <a:solidFill>
                <a:srgbClr val="FF0000"/>
              </a:solidFill>
              <a:latin typeface="+mn-lt"/>
              <a:ea typeface="新細明體" panose="02020500000000000000" pitchFamily="18" charset="-120"/>
            </a:endParaRPr>
          </a:p>
        </p:txBody>
      </p:sp>
      <p:sp>
        <p:nvSpPr>
          <p:cNvPr id="37903" name="矩形 19"/>
          <p:cNvSpPr>
            <a:spLocks noChangeArrowheads="1"/>
          </p:cNvSpPr>
          <p:nvPr/>
        </p:nvSpPr>
        <p:spPr bwMode="auto">
          <a:xfrm>
            <a:off x="7135813" y="1828800"/>
            <a:ext cx="1371600" cy="762000"/>
          </a:xfrm>
          <a:prstGeom prst="rect">
            <a:avLst/>
          </a:prstGeom>
          <a:solidFill>
            <a:schemeClr val="accent1"/>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HP –PA</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programs</a:t>
            </a:r>
          </a:p>
        </p:txBody>
      </p:sp>
      <p:sp>
        <p:nvSpPr>
          <p:cNvPr id="37904" name="橢圓 20"/>
          <p:cNvSpPr>
            <a:spLocks noChangeArrowheads="1"/>
          </p:cNvSpPr>
          <p:nvPr/>
        </p:nvSpPr>
        <p:spPr bwMode="auto">
          <a:xfrm>
            <a:off x="6831013" y="41148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IA-64</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(Itanium)</a:t>
            </a:r>
          </a:p>
        </p:txBody>
      </p:sp>
      <p:sp>
        <p:nvSpPr>
          <p:cNvPr id="37905" name="向下箭號 21"/>
          <p:cNvSpPr>
            <a:spLocks noChangeArrowheads="1"/>
          </p:cNvSpPr>
          <p:nvPr/>
        </p:nvSpPr>
        <p:spPr bwMode="auto">
          <a:xfrm>
            <a:off x="7516813" y="2743200"/>
            <a:ext cx="381000" cy="1143000"/>
          </a:xfrm>
          <a:prstGeom prst="downArrow">
            <a:avLst>
              <a:gd name="adj1" fmla="val 50000"/>
              <a:gd name="adj2" fmla="val 50000"/>
            </a:avLst>
          </a:prstGeom>
          <a:solidFill>
            <a:srgbClr val="FF0000"/>
          </a:solidFill>
          <a:ln w="952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endParaRPr kumimoji="0" lang="zh-TW" altLang="en-US" sz="1800" smtClean="0">
              <a:latin typeface="+mn-lt"/>
              <a:ea typeface="新細明體" panose="02020500000000000000" pitchFamily="18" charset="-120"/>
            </a:endParaRPr>
          </a:p>
        </p:txBody>
      </p:sp>
      <p:sp>
        <p:nvSpPr>
          <p:cNvPr id="37906" name="文字方塊 22"/>
          <p:cNvSpPr txBox="1">
            <a:spLocks noChangeArrowheads="1"/>
          </p:cNvSpPr>
          <p:nvPr/>
        </p:nvSpPr>
        <p:spPr bwMode="auto">
          <a:xfrm>
            <a:off x="7897813" y="3048000"/>
            <a:ext cx="8874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Aries</a:t>
            </a:r>
          </a:p>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(HP)</a:t>
            </a:r>
            <a:endParaRPr kumimoji="0" lang="zh-TW" altLang="en-US" sz="2400" smtClean="0">
              <a:solidFill>
                <a:srgbClr val="FF0000"/>
              </a:solidFill>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橢圓 36"/>
          <p:cNvSpPr>
            <a:spLocks noChangeArrowheads="1"/>
          </p:cNvSpPr>
          <p:nvPr/>
        </p:nvSpPr>
        <p:spPr bwMode="auto">
          <a:xfrm>
            <a:off x="7258050" y="40386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defRPr/>
            </a:pPr>
            <a:r>
              <a:rPr kumimoji="0" lang="en-US" altLang="zh-TW" sz="2000" smtClean="0">
                <a:solidFill>
                  <a:schemeClr val="bg1"/>
                </a:solidFill>
                <a:latin typeface="+mn-lt"/>
                <a:ea typeface="新細明體" panose="02020500000000000000" pitchFamily="18" charset="-120"/>
              </a:rPr>
              <a:t>           </a:t>
            </a:r>
          </a:p>
          <a:p>
            <a:pPr algn="ctr">
              <a:spcBef>
                <a:spcPct val="0"/>
              </a:spcBef>
              <a:buClrTx/>
              <a:buSzTx/>
              <a:buFontTx/>
              <a:buNone/>
              <a:defRPr/>
            </a:pPr>
            <a:r>
              <a:rPr kumimoji="0" lang="en-US" altLang="zh-TW" sz="2000" smtClean="0">
                <a:solidFill>
                  <a:schemeClr val="bg1"/>
                </a:solidFill>
                <a:latin typeface="+mn-lt"/>
                <a:ea typeface="新細明體" panose="02020500000000000000" pitchFamily="18" charset="-120"/>
              </a:rPr>
              <a:t>ARM</a:t>
            </a:r>
          </a:p>
        </p:txBody>
      </p:sp>
      <p:sp>
        <p:nvSpPr>
          <p:cNvPr id="39939" name="Rectangle 2"/>
          <p:cNvSpPr>
            <a:spLocks noGrp="1" noRot="1" noChangeArrowheads="1"/>
          </p:cNvSpPr>
          <p:nvPr>
            <p:ph type="title"/>
          </p:nvPr>
        </p:nvSpPr>
        <p:spPr/>
        <p:txBody>
          <a:bodyPr/>
          <a:lstStyle/>
          <a:p>
            <a:pPr eaLnBrk="1" hangingPunct="1">
              <a:defRPr/>
            </a:pPr>
            <a:r>
              <a:rPr lang="en-US" altLang="zh-TW" dirty="0" err="1" smtClean="0">
                <a:solidFill>
                  <a:schemeClr val="accent1"/>
                </a:solidFill>
                <a:latin typeface="+mn-lt"/>
              </a:rPr>
              <a:t>Crossa</a:t>
            </a:r>
            <a:r>
              <a:rPr lang="en-US" altLang="zh-TW" dirty="0" smtClean="0">
                <a:solidFill>
                  <a:schemeClr val="accent1"/>
                </a:solidFill>
                <a:latin typeface="+mn-lt"/>
              </a:rPr>
              <a:t>-Platform Portability</a:t>
            </a:r>
          </a:p>
        </p:txBody>
      </p:sp>
      <p:sp>
        <p:nvSpPr>
          <p:cNvPr id="39940" name="矩形 11"/>
          <p:cNvSpPr>
            <a:spLocks noChangeArrowheads="1"/>
          </p:cNvSpPr>
          <p:nvPr/>
        </p:nvSpPr>
        <p:spPr bwMode="auto">
          <a:xfrm>
            <a:off x="3524250" y="1524000"/>
            <a:ext cx="1371600" cy="762000"/>
          </a:xfrm>
          <a:prstGeom prst="rect">
            <a:avLst/>
          </a:prstGeom>
          <a:solidFill>
            <a:schemeClr val="accent1"/>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x86 programs</a:t>
            </a:r>
          </a:p>
        </p:txBody>
      </p:sp>
      <p:sp>
        <p:nvSpPr>
          <p:cNvPr id="39941" name="橢圓 12"/>
          <p:cNvSpPr>
            <a:spLocks noChangeArrowheads="1"/>
          </p:cNvSpPr>
          <p:nvPr/>
        </p:nvSpPr>
        <p:spPr bwMode="auto">
          <a:xfrm>
            <a:off x="17463" y="40386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DEC </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Alpha</a:t>
            </a:r>
            <a:endParaRPr kumimoji="0" lang="zh-TW" altLang="en-US" sz="2000" smtClean="0">
              <a:solidFill>
                <a:schemeClr val="bg1"/>
              </a:solidFill>
              <a:latin typeface="+mn-lt"/>
              <a:ea typeface="新細明體" panose="02020500000000000000" pitchFamily="18" charset="-120"/>
            </a:endParaRPr>
          </a:p>
        </p:txBody>
      </p:sp>
      <p:sp>
        <p:nvSpPr>
          <p:cNvPr id="39942" name="文字方塊 14"/>
          <p:cNvSpPr txBox="1">
            <a:spLocks noChangeArrowheads="1"/>
          </p:cNvSpPr>
          <p:nvPr/>
        </p:nvSpPr>
        <p:spPr bwMode="auto">
          <a:xfrm>
            <a:off x="1847850" y="2514600"/>
            <a:ext cx="1004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FX!32</a:t>
            </a:r>
            <a:endParaRPr kumimoji="0" lang="zh-TW" altLang="en-US" sz="2400" smtClean="0">
              <a:solidFill>
                <a:srgbClr val="FF0000"/>
              </a:solidFill>
              <a:latin typeface="+mn-lt"/>
              <a:ea typeface="新細明體" panose="02020500000000000000" pitchFamily="18" charset="-120"/>
            </a:endParaRPr>
          </a:p>
        </p:txBody>
      </p:sp>
      <p:sp>
        <p:nvSpPr>
          <p:cNvPr id="39943" name="橢圓 16"/>
          <p:cNvSpPr>
            <a:spLocks noChangeArrowheads="1"/>
          </p:cNvSpPr>
          <p:nvPr/>
        </p:nvSpPr>
        <p:spPr bwMode="auto">
          <a:xfrm>
            <a:off x="2228850" y="41148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IA-64</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(Itanium)</a:t>
            </a:r>
          </a:p>
        </p:txBody>
      </p:sp>
      <p:sp>
        <p:nvSpPr>
          <p:cNvPr id="39944" name="文字方塊 18"/>
          <p:cNvSpPr txBox="1">
            <a:spLocks noChangeArrowheads="1"/>
          </p:cNvSpPr>
          <p:nvPr/>
        </p:nvSpPr>
        <p:spPr bwMode="auto">
          <a:xfrm>
            <a:off x="3448050" y="3200400"/>
            <a:ext cx="1296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smtClean="0">
                <a:solidFill>
                  <a:srgbClr val="FF0000"/>
                </a:solidFill>
                <a:latin typeface="+mn-lt"/>
                <a:ea typeface="新細明體" panose="02020500000000000000" pitchFamily="18" charset="-120"/>
              </a:rPr>
              <a:t>IA-32EL</a:t>
            </a:r>
            <a:endParaRPr kumimoji="0" lang="zh-TW" altLang="en-US" sz="2400" smtClean="0">
              <a:solidFill>
                <a:srgbClr val="FF0000"/>
              </a:solidFill>
              <a:latin typeface="+mn-lt"/>
              <a:ea typeface="新細明體" panose="02020500000000000000" pitchFamily="18" charset="-120"/>
            </a:endParaRPr>
          </a:p>
        </p:txBody>
      </p:sp>
      <p:cxnSp>
        <p:nvCxnSpPr>
          <p:cNvPr id="39945" name="直線單箭頭接點 24"/>
          <p:cNvCxnSpPr>
            <a:cxnSpLocks noChangeShapeType="1"/>
          </p:cNvCxnSpPr>
          <p:nvPr/>
        </p:nvCxnSpPr>
        <p:spPr bwMode="auto">
          <a:xfrm rot="10800000" flipV="1">
            <a:off x="1085850" y="2438400"/>
            <a:ext cx="2362200" cy="1600200"/>
          </a:xfrm>
          <a:prstGeom prst="straightConnector1">
            <a:avLst/>
          </a:prstGeom>
          <a:noFill/>
          <a:ln w="13335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39946" name="直線單箭頭接點 25"/>
          <p:cNvCxnSpPr>
            <a:cxnSpLocks noChangeShapeType="1"/>
            <a:endCxn id="39943" idx="0"/>
          </p:cNvCxnSpPr>
          <p:nvPr/>
        </p:nvCxnSpPr>
        <p:spPr bwMode="auto">
          <a:xfrm rot="5400000">
            <a:off x="2571750" y="3009900"/>
            <a:ext cx="1676400" cy="533400"/>
          </a:xfrm>
          <a:prstGeom prst="straightConnector1">
            <a:avLst/>
          </a:prstGeom>
          <a:noFill/>
          <a:ln w="13335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29" name="橢圓 28"/>
          <p:cNvSpPr>
            <a:spLocks noChangeArrowheads="1"/>
          </p:cNvSpPr>
          <p:nvPr/>
        </p:nvSpPr>
        <p:spPr bwMode="auto">
          <a:xfrm>
            <a:off x="4133850" y="41910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PowerPC</a:t>
            </a:r>
          </a:p>
        </p:txBody>
      </p:sp>
      <p:cxnSp>
        <p:nvCxnSpPr>
          <p:cNvPr id="30" name="直線單箭頭接點 29"/>
          <p:cNvCxnSpPr>
            <a:cxnSpLocks noChangeShapeType="1"/>
          </p:cNvCxnSpPr>
          <p:nvPr/>
        </p:nvCxnSpPr>
        <p:spPr bwMode="auto">
          <a:xfrm rot="16200000" flipH="1">
            <a:off x="3829050" y="3048000"/>
            <a:ext cx="1676400" cy="609600"/>
          </a:xfrm>
          <a:prstGeom prst="straightConnector1">
            <a:avLst/>
          </a:prstGeom>
          <a:noFill/>
          <a:ln w="13335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33" name="橢圓 32"/>
          <p:cNvSpPr>
            <a:spLocks noChangeArrowheads="1"/>
          </p:cNvSpPr>
          <p:nvPr/>
        </p:nvSpPr>
        <p:spPr bwMode="auto">
          <a:xfrm>
            <a:off x="5962650" y="4114800"/>
            <a:ext cx="1828800" cy="1219200"/>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Sun</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Sparc</a:t>
            </a:r>
          </a:p>
        </p:txBody>
      </p:sp>
      <p:cxnSp>
        <p:nvCxnSpPr>
          <p:cNvPr id="34" name="直線單箭頭接點 33"/>
          <p:cNvCxnSpPr>
            <a:cxnSpLocks noChangeShapeType="1"/>
          </p:cNvCxnSpPr>
          <p:nvPr/>
        </p:nvCxnSpPr>
        <p:spPr bwMode="auto">
          <a:xfrm rot="16200000" flipH="1">
            <a:off x="4552950" y="2324100"/>
            <a:ext cx="1828800" cy="1752600"/>
          </a:xfrm>
          <a:prstGeom prst="straightConnector1">
            <a:avLst/>
          </a:prstGeom>
          <a:noFill/>
          <a:ln w="13335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35" name="文字方塊 34"/>
          <p:cNvSpPr txBox="1">
            <a:spLocks noChangeArrowheads="1"/>
          </p:cNvSpPr>
          <p:nvPr/>
        </p:nvSpPr>
        <p:spPr bwMode="auto">
          <a:xfrm>
            <a:off x="6003925" y="2351088"/>
            <a:ext cx="1138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dirty="0" smtClean="0">
                <a:solidFill>
                  <a:srgbClr val="FF0000"/>
                </a:solidFill>
                <a:latin typeface="+mn-lt"/>
                <a:ea typeface="新細明體" panose="02020500000000000000" pitchFamily="18" charset="-120"/>
              </a:rPr>
              <a:t>ARM</a:t>
            </a:r>
          </a:p>
        </p:txBody>
      </p:sp>
      <p:cxnSp>
        <p:nvCxnSpPr>
          <p:cNvPr id="38" name="直線單箭頭接點 37"/>
          <p:cNvCxnSpPr>
            <a:cxnSpLocks noChangeShapeType="1"/>
          </p:cNvCxnSpPr>
          <p:nvPr/>
        </p:nvCxnSpPr>
        <p:spPr bwMode="auto">
          <a:xfrm>
            <a:off x="5200650" y="2286000"/>
            <a:ext cx="2590800" cy="1828800"/>
          </a:xfrm>
          <a:prstGeom prst="straightConnector1">
            <a:avLst/>
          </a:prstGeom>
          <a:noFill/>
          <a:ln w="133350"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43" name="文字方塊 42"/>
          <p:cNvSpPr txBox="1">
            <a:spLocks noChangeArrowheads="1"/>
          </p:cNvSpPr>
          <p:nvPr/>
        </p:nvSpPr>
        <p:spPr bwMode="auto">
          <a:xfrm>
            <a:off x="1066800" y="5486400"/>
            <a:ext cx="749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3200" dirty="0" smtClean="0">
                <a:latin typeface="+mn-lt"/>
                <a:ea typeface="新細明體" panose="02020500000000000000" pitchFamily="18" charset="-120"/>
              </a:rPr>
              <a:t>Is there a way to make it more portable?</a:t>
            </a:r>
            <a:endParaRPr kumimoji="0" lang="zh-TW" altLang="en-US" sz="3200" dirty="0" smtClean="0">
              <a:latin typeface="+mn-lt"/>
              <a:ea typeface="新細明體" panose="02020500000000000000" pitchFamily="18" charset="-120"/>
            </a:endParaRPr>
          </a:p>
        </p:txBody>
      </p:sp>
      <p:sp>
        <p:nvSpPr>
          <p:cNvPr id="32" name="文字方塊 31"/>
          <p:cNvSpPr txBox="1">
            <a:spLocks noChangeArrowheads="1"/>
          </p:cNvSpPr>
          <p:nvPr/>
        </p:nvSpPr>
        <p:spPr bwMode="auto">
          <a:xfrm>
            <a:off x="4781550" y="2889250"/>
            <a:ext cx="1576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400" dirty="0" smtClean="0">
                <a:solidFill>
                  <a:srgbClr val="FF0000"/>
                </a:solidFill>
                <a:latin typeface="+mn-lt"/>
                <a:ea typeface="新細明體" panose="02020500000000000000" pitchFamily="18" charset="-120"/>
              </a:rPr>
              <a:t>Virtual PC</a:t>
            </a:r>
            <a:endParaRPr kumimoji="0" lang="zh-TW" altLang="en-US" sz="2400" dirty="0" smtClean="0">
              <a:solidFill>
                <a:srgbClr val="FF0000"/>
              </a:solidFill>
              <a:latin typeface="+mn-lt"/>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 calcmode="lin" valueType="num">
                                      <p:cBhvr additive="base">
                                        <p:cTn id="29" dur="500" fill="hold"/>
                                        <p:tgtEl>
                                          <p:spTgt spid="43"/>
                                        </p:tgtEl>
                                        <p:attrNameLst>
                                          <p:attrName>ppt_x</p:attrName>
                                        </p:attrNameLst>
                                      </p:cBhvr>
                                      <p:tavLst>
                                        <p:tav tm="0">
                                          <p:val>
                                            <p:strVal val="#ppt_x"/>
                                          </p:val>
                                        </p:tav>
                                        <p:tav tm="100000">
                                          <p:val>
                                            <p:strVal val="#ppt_x"/>
                                          </p:val>
                                        </p:tav>
                                      </p:tavLst>
                                    </p:anim>
                                    <p:anim calcmode="lin" valueType="num">
                                      <p:cBhvr additive="base">
                                        <p:cTn id="3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9" grpId="0" animBg="1"/>
      <p:bldP spid="33" grpId="0" animBg="1"/>
      <p:bldP spid="35" grpId="0"/>
      <p:bldP spid="43" grpId="0"/>
      <p:bldP spid="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cs typeface="Times New Roman" panose="02020603050405020304" pitchFamily="18" charset="0"/>
              </a:rPr>
              <a:t>HLL Virtual Machines</a:t>
            </a:r>
          </a:p>
        </p:txBody>
      </p:sp>
      <p:sp>
        <p:nvSpPr>
          <p:cNvPr id="41987" name="Rectangle 3"/>
          <p:cNvSpPr>
            <a:spLocks noGrp="1" noRot="1" noChangeArrowheads="1"/>
          </p:cNvSpPr>
          <p:nvPr>
            <p:ph idx="1"/>
          </p:nvPr>
        </p:nvSpPr>
        <p:spPr/>
        <p:txBody>
          <a:bodyPr/>
          <a:lstStyle/>
          <a:p>
            <a:pPr eaLnBrk="1" hangingPunct="1">
              <a:defRPr/>
            </a:pPr>
            <a:r>
              <a:rPr lang="en-US" altLang="zh-TW" sz="2400" dirty="0" smtClean="0">
                <a:latin typeface="+mn-lt"/>
                <a:ea typeface="新細明體" panose="02020500000000000000" pitchFamily="18" charset="-120"/>
              </a:rPr>
              <a:t>Java and MS CLI (</a:t>
            </a:r>
            <a:r>
              <a:rPr lang="en-US" altLang="zh-TW" sz="2000" dirty="0" smtClean="0">
                <a:latin typeface="+mn-lt"/>
                <a:ea typeface="新細明體" panose="02020500000000000000" pitchFamily="18" charset="-120"/>
              </a:rPr>
              <a:t>Common Language Infrastructure</a:t>
            </a:r>
            <a:r>
              <a:rPr lang="en-US" altLang="zh-TW" sz="2400" dirty="0" smtClean="0">
                <a:latin typeface="+mn-lt"/>
                <a:ea typeface="新細明體" panose="02020500000000000000" pitchFamily="18" charset="-120"/>
              </a:rPr>
              <a:t>) are current examples</a:t>
            </a:r>
          </a:p>
          <a:p>
            <a:pPr eaLnBrk="1" hangingPunct="1">
              <a:defRPr/>
            </a:pPr>
            <a:r>
              <a:rPr lang="en-US" altLang="zh-TW" sz="2400" dirty="0" smtClean="0">
                <a:latin typeface="+mn-lt"/>
                <a:ea typeface="新細明體" panose="02020500000000000000" pitchFamily="18" charset="-120"/>
              </a:rPr>
              <a:t>Binary class files are distributed</a:t>
            </a:r>
          </a:p>
          <a:p>
            <a:pPr eaLnBrk="1" hangingPunct="1">
              <a:defRPr/>
            </a:pPr>
            <a:r>
              <a:rPr lang="en-US" altLang="zh-TW" sz="2400" dirty="0" smtClean="0">
                <a:latin typeface="+mn-lt"/>
                <a:ea typeface="新細明體" panose="02020500000000000000" pitchFamily="18" charset="-120"/>
              </a:rPr>
              <a:t>“ISA” is part of binary class format</a:t>
            </a:r>
          </a:p>
          <a:p>
            <a:pPr eaLnBrk="1" hangingPunct="1">
              <a:defRPr/>
            </a:pPr>
            <a:r>
              <a:rPr lang="en-US" altLang="zh-TW" sz="2400" dirty="0" smtClean="0">
                <a:latin typeface="+mn-lt"/>
                <a:ea typeface="新細明體" panose="02020500000000000000" pitchFamily="18" charset="-120"/>
              </a:rPr>
              <a:t>OS interaction via API (part of VM platform)</a:t>
            </a:r>
          </a:p>
          <a:p>
            <a:pPr eaLnBrk="1" hangingPunct="1">
              <a:defRPr/>
            </a:pPr>
            <a:endParaRPr lang="en-US" altLang="zh-TW" sz="2400" dirty="0" smtClean="0">
              <a:latin typeface="+mn-lt"/>
              <a:ea typeface="新細明體" panose="02020500000000000000" pitchFamily="18" charset="-120"/>
            </a:endParaRPr>
          </a:p>
        </p:txBody>
      </p:sp>
      <p:pic>
        <p:nvPicPr>
          <p:cNvPr id="419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452813"/>
            <a:ext cx="6553200"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rPr>
              <a:t>Another Possibility</a:t>
            </a:r>
          </a:p>
        </p:txBody>
      </p:sp>
      <p:grpSp>
        <p:nvGrpSpPr>
          <p:cNvPr id="44035" name="群組 3"/>
          <p:cNvGrpSpPr>
            <a:grpSpLocks/>
          </p:cNvGrpSpPr>
          <p:nvPr/>
        </p:nvGrpSpPr>
        <p:grpSpPr bwMode="auto">
          <a:xfrm>
            <a:off x="1219200" y="1482725"/>
            <a:ext cx="7162800" cy="4356100"/>
            <a:chOff x="228600" y="1068388"/>
            <a:chExt cx="9144000" cy="5561012"/>
          </a:xfrm>
        </p:grpSpPr>
        <p:sp>
          <p:nvSpPr>
            <p:cNvPr id="18" name="矩形 20"/>
            <p:cNvSpPr>
              <a:spLocks noChangeArrowheads="1"/>
            </p:cNvSpPr>
            <p:nvPr/>
          </p:nvSpPr>
          <p:spPr bwMode="auto">
            <a:xfrm>
              <a:off x="6095595" y="2896388"/>
              <a:ext cx="1372005" cy="914001"/>
            </a:xfrm>
            <a:prstGeom prst="rect">
              <a:avLst/>
            </a:prstGeom>
            <a:solidFill>
              <a:srgbClr val="FFC000"/>
            </a:solidFill>
            <a:ln w="28575" algn="ctr">
              <a:solidFill>
                <a:srgbClr val="FF0000"/>
              </a:solidFill>
              <a:round/>
              <a:headEnd/>
              <a:tailEnd/>
            </a:ln>
          </p:spPr>
          <p:txBody>
            <a:bodyPr anchor="ct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defRPr/>
              </a:pPr>
              <a:r>
                <a:rPr kumimoji="0" lang="en-US" altLang="zh-TW" sz="1800" b="1" dirty="0" smtClean="0">
                  <a:solidFill>
                    <a:srgbClr val="FF0000"/>
                  </a:solidFill>
                  <a:latin typeface="+mn-lt"/>
                  <a:ea typeface="新細明體" panose="02020500000000000000" pitchFamily="18" charset="-120"/>
                </a:rPr>
                <a:t>Byte</a:t>
              </a:r>
            </a:p>
            <a:p>
              <a:pPr algn="ctr">
                <a:spcBef>
                  <a:spcPct val="0"/>
                </a:spcBef>
                <a:buClrTx/>
                <a:buSzTx/>
                <a:buFontTx/>
                <a:buNone/>
                <a:defRPr/>
              </a:pPr>
              <a:r>
                <a:rPr kumimoji="0" lang="en-US" altLang="zh-TW" sz="1800" b="1" dirty="0" smtClean="0">
                  <a:solidFill>
                    <a:srgbClr val="FF0000"/>
                  </a:solidFill>
                  <a:latin typeface="+mn-lt"/>
                  <a:ea typeface="新細明體" panose="02020500000000000000" pitchFamily="18" charset="-120"/>
                </a:rPr>
                <a:t>code</a:t>
              </a:r>
              <a:endParaRPr kumimoji="0" lang="zh-TW" altLang="en-US" sz="1800" b="1" dirty="0" smtClean="0">
                <a:solidFill>
                  <a:srgbClr val="FF0000"/>
                </a:solidFill>
                <a:latin typeface="+mn-lt"/>
                <a:ea typeface="新細明體" panose="02020500000000000000" pitchFamily="18" charset="-120"/>
              </a:endParaRPr>
            </a:p>
          </p:txBody>
        </p:sp>
        <p:sp>
          <p:nvSpPr>
            <p:cNvPr id="17" name="矩形 20"/>
            <p:cNvSpPr>
              <a:spLocks noChangeArrowheads="1"/>
            </p:cNvSpPr>
            <p:nvPr/>
          </p:nvSpPr>
          <p:spPr bwMode="auto">
            <a:xfrm>
              <a:off x="1752600" y="2896388"/>
              <a:ext cx="1372006" cy="914001"/>
            </a:xfrm>
            <a:prstGeom prst="rect">
              <a:avLst/>
            </a:prstGeom>
            <a:solidFill>
              <a:srgbClr val="FFC000"/>
            </a:solidFill>
            <a:ln w="28575" algn="ctr">
              <a:solidFill>
                <a:srgbClr val="FF0000"/>
              </a:solidFill>
              <a:round/>
              <a:headEnd/>
              <a:tailEnd/>
            </a:ln>
          </p:spPr>
          <p:txBody>
            <a:bodyPr anchor="ct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defRPr/>
              </a:pPr>
              <a:r>
                <a:rPr kumimoji="0" lang="en-US" altLang="zh-TW" sz="2400" b="1" dirty="0" smtClean="0">
                  <a:solidFill>
                    <a:srgbClr val="FF0000"/>
                  </a:solidFill>
                  <a:latin typeface="+mn-lt"/>
                  <a:ea typeface="新細明體" panose="02020500000000000000" pitchFamily="18" charset="-120"/>
                </a:rPr>
                <a:t>C</a:t>
              </a:r>
              <a:endParaRPr kumimoji="0" lang="zh-TW" altLang="en-US" sz="2400" b="1" dirty="0" smtClean="0">
                <a:solidFill>
                  <a:srgbClr val="FF0000"/>
                </a:solidFill>
                <a:latin typeface="+mn-lt"/>
                <a:ea typeface="新細明體" panose="02020500000000000000" pitchFamily="18" charset="-120"/>
              </a:endParaRPr>
            </a:p>
          </p:txBody>
        </p:sp>
        <p:sp>
          <p:nvSpPr>
            <p:cNvPr id="44036" name="橢圓 36"/>
            <p:cNvSpPr>
              <a:spLocks noChangeArrowheads="1"/>
            </p:cNvSpPr>
            <p:nvPr/>
          </p:nvSpPr>
          <p:spPr bwMode="auto">
            <a:xfrm>
              <a:off x="7544611" y="5257387"/>
              <a:ext cx="1827989" cy="1220018"/>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defRPr/>
              </a:pPr>
              <a:r>
                <a:rPr kumimoji="0" lang="en-US" altLang="zh-TW" sz="2000" smtClean="0">
                  <a:solidFill>
                    <a:schemeClr val="bg1"/>
                  </a:solidFill>
                  <a:latin typeface="+mn-lt"/>
                  <a:ea typeface="新細明體" panose="02020500000000000000" pitchFamily="18" charset="-120"/>
                </a:rPr>
                <a:t>           </a:t>
              </a:r>
            </a:p>
            <a:p>
              <a:pPr algn="ctr">
                <a:spcBef>
                  <a:spcPct val="0"/>
                </a:spcBef>
                <a:buClrTx/>
                <a:buSzTx/>
                <a:buFontTx/>
                <a:buNone/>
                <a:defRPr/>
              </a:pPr>
              <a:r>
                <a:rPr kumimoji="0" lang="en-US" altLang="zh-TW" sz="2000" smtClean="0">
                  <a:solidFill>
                    <a:schemeClr val="bg1"/>
                  </a:solidFill>
                  <a:latin typeface="+mn-lt"/>
                  <a:ea typeface="新細明體" panose="02020500000000000000" pitchFamily="18" charset="-120"/>
                </a:rPr>
                <a:t>ARM</a:t>
              </a:r>
            </a:p>
          </p:txBody>
        </p:sp>
        <p:sp>
          <p:nvSpPr>
            <p:cNvPr id="44038" name="矩形 11"/>
            <p:cNvSpPr>
              <a:spLocks noChangeArrowheads="1"/>
            </p:cNvSpPr>
            <p:nvPr/>
          </p:nvSpPr>
          <p:spPr bwMode="auto">
            <a:xfrm>
              <a:off x="3633281" y="1068388"/>
              <a:ext cx="1750979" cy="911974"/>
            </a:xfrm>
            <a:prstGeom prst="rect">
              <a:avLst/>
            </a:prstGeom>
            <a:solidFill>
              <a:schemeClr val="accent1"/>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dirty="0" smtClean="0">
                  <a:solidFill>
                    <a:schemeClr val="bg1"/>
                  </a:solidFill>
                  <a:latin typeface="+mn-lt"/>
                  <a:ea typeface="新細明體" panose="02020500000000000000" pitchFamily="18" charset="-120"/>
                </a:rPr>
                <a:t>x86 programs</a:t>
              </a:r>
            </a:p>
          </p:txBody>
        </p:sp>
        <p:sp>
          <p:nvSpPr>
            <p:cNvPr id="44039" name="橢圓 12"/>
            <p:cNvSpPr>
              <a:spLocks noChangeArrowheads="1"/>
            </p:cNvSpPr>
            <p:nvPr/>
          </p:nvSpPr>
          <p:spPr bwMode="auto">
            <a:xfrm>
              <a:off x="228600" y="5409382"/>
              <a:ext cx="1827989" cy="1220018"/>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DEC </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Alpha</a:t>
              </a:r>
              <a:endParaRPr kumimoji="0" lang="zh-TW" altLang="en-US" sz="2000" smtClean="0">
                <a:solidFill>
                  <a:schemeClr val="bg1"/>
                </a:solidFill>
                <a:latin typeface="+mn-lt"/>
                <a:ea typeface="新細明體" panose="02020500000000000000" pitchFamily="18" charset="-120"/>
              </a:endParaRPr>
            </a:p>
          </p:txBody>
        </p:sp>
        <p:sp>
          <p:nvSpPr>
            <p:cNvPr id="44040" name="橢圓 16"/>
            <p:cNvSpPr>
              <a:spLocks noChangeArrowheads="1"/>
            </p:cNvSpPr>
            <p:nvPr/>
          </p:nvSpPr>
          <p:spPr bwMode="auto">
            <a:xfrm>
              <a:off x="2056589" y="5409382"/>
              <a:ext cx="1830017" cy="1220018"/>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dirty="0" smtClean="0">
                  <a:solidFill>
                    <a:schemeClr val="bg1"/>
                  </a:solidFill>
                  <a:latin typeface="+mn-lt"/>
                  <a:ea typeface="新細明體" panose="02020500000000000000" pitchFamily="18" charset="-120"/>
                </a:rPr>
                <a:t>IA-64</a:t>
              </a:r>
            </a:p>
          </p:txBody>
        </p:sp>
        <p:sp>
          <p:nvSpPr>
            <p:cNvPr id="44041" name="橢圓 28"/>
            <p:cNvSpPr>
              <a:spLocks noChangeArrowheads="1"/>
            </p:cNvSpPr>
            <p:nvPr/>
          </p:nvSpPr>
          <p:spPr bwMode="auto">
            <a:xfrm>
              <a:off x="3886606" y="5334398"/>
              <a:ext cx="1827989" cy="1217991"/>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PowerPC</a:t>
              </a:r>
            </a:p>
          </p:txBody>
        </p:sp>
        <p:sp>
          <p:nvSpPr>
            <p:cNvPr id="44042" name="橢圓 32"/>
            <p:cNvSpPr>
              <a:spLocks noChangeArrowheads="1"/>
            </p:cNvSpPr>
            <p:nvPr/>
          </p:nvSpPr>
          <p:spPr bwMode="auto">
            <a:xfrm>
              <a:off x="5714595" y="5257387"/>
              <a:ext cx="1830015" cy="1220018"/>
            </a:xfrm>
            <a:prstGeom prst="ellipse">
              <a:avLst/>
            </a:prstGeom>
            <a:solidFill>
              <a:srgbClr val="00B050"/>
            </a:solidFill>
            <a:ln w="28575" algn="ctr">
              <a:solidFill>
                <a:srgbClr val="FF0000"/>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Sun</a:t>
              </a:r>
            </a:p>
            <a:p>
              <a:pPr>
                <a:spcBef>
                  <a:spcPct val="0"/>
                </a:spcBef>
                <a:buClrTx/>
                <a:buSzTx/>
                <a:buFontTx/>
                <a:buNone/>
                <a:defRPr/>
              </a:pPr>
              <a:r>
                <a:rPr kumimoji="0" lang="en-US" altLang="zh-TW" sz="2000" smtClean="0">
                  <a:solidFill>
                    <a:schemeClr val="bg1"/>
                  </a:solidFill>
                  <a:latin typeface="+mn-lt"/>
                  <a:ea typeface="新細明體" panose="02020500000000000000" pitchFamily="18" charset="-120"/>
                </a:rPr>
                <a:t>Sparc</a:t>
              </a:r>
            </a:p>
          </p:txBody>
        </p:sp>
        <p:sp>
          <p:nvSpPr>
            <p:cNvPr id="44043" name="矩形 20"/>
            <p:cNvSpPr>
              <a:spLocks noChangeArrowheads="1"/>
            </p:cNvSpPr>
            <p:nvPr/>
          </p:nvSpPr>
          <p:spPr bwMode="auto">
            <a:xfrm>
              <a:off x="3809595" y="2896388"/>
              <a:ext cx="1372005" cy="914001"/>
            </a:xfrm>
            <a:prstGeom prst="rect">
              <a:avLst/>
            </a:prstGeom>
            <a:solidFill>
              <a:srgbClr val="FFC000"/>
            </a:solidFill>
            <a:ln w="28575" algn="ctr">
              <a:solidFill>
                <a:srgbClr val="FF0000"/>
              </a:solidFill>
              <a:round/>
              <a:headEnd/>
              <a:tailEnd/>
            </a:ln>
          </p:spPr>
          <p:txBody>
            <a:bodyPr anchor="ct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defRPr/>
              </a:pPr>
              <a:r>
                <a:rPr kumimoji="0" lang="en-US" altLang="zh-TW" sz="2000" b="1" dirty="0" smtClean="0">
                  <a:solidFill>
                    <a:srgbClr val="FF0000"/>
                  </a:solidFill>
                  <a:latin typeface="+mn-lt"/>
                  <a:ea typeface="新細明體" panose="02020500000000000000" pitchFamily="18" charset="-120"/>
                </a:rPr>
                <a:t>LLVM IR</a:t>
              </a:r>
              <a:endParaRPr kumimoji="0" lang="zh-TW" altLang="en-US" sz="2000" b="1" dirty="0" smtClean="0">
                <a:solidFill>
                  <a:srgbClr val="FF0000"/>
                </a:solidFill>
                <a:latin typeface="+mn-lt"/>
                <a:ea typeface="新細明體" panose="02020500000000000000" pitchFamily="18" charset="-120"/>
              </a:endParaRPr>
            </a:p>
          </p:txBody>
        </p:sp>
        <p:cxnSp>
          <p:nvCxnSpPr>
            <p:cNvPr id="44045" name="直線單箭頭接點 21"/>
            <p:cNvCxnSpPr>
              <a:cxnSpLocks noChangeShapeType="1"/>
              <a:stCxn id="44038" idx="2"/>
              <a:endCxn id="44043" idx="0"/>
            </p:cNvCxnSpPr>
            <p:nvPr/>
          </p:nvCxnSpPr>
          <p:spPr bwMode="auto">
            <a:xfrm flipH="1">
              <a:off x="4495800" y="1981200"/>
              <a:ext cx="12970" cy="914400"/>
            </a:xfrm>
            <a:prstGeom prst="straightConnector1">
              <a:avLst/>
            </a:prstGeom>
            <a:noFill/>
            <a:ln w="1270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44046" name="直線單箭頭接點 27"/>
            <p:cNvCxnSpPr>
              <a:cxnSpLocks noChangeShapeType="1"/>
            </p:cNvCxnSpPr>
            <p:nvPr/>
          </p:nvCxnSpPr>
          <p:spPr bwMode="auto">
            <a:xfrm rot="10800000" flipV="1">
              <a:off x="1447800" y="3810000"/>
              <a:ext cx="2592388" cy="1600200"/>
            </a:xfrm>
            <a:prstGeom prst="straightConnector1">
              <a:avLst/>
            </a:prstGeom>
            <a:noFill/>
            <a:ln w="508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44047" name="直線單箭頭接點 39"/>
            <p:cNvCxnSpPr>
              <a:cxnSpLocks noChangeShapeType="1"/>
              <a:endCxn id="44040" idx="0"/>
            </p:cNvCxnSpPr>
            <p:nvPr/>
          </p:nvCxnSpPr>
          <p:spPr bwMode="auto">
            <a:xfrm rot="5400000">
              <a:off x="2781300" y="4000500"/>
              <a:ext cx="1600200" cy="1219200"/>
            </a:xfrm>
            <a:prstGeom prst="straightConnector1">
              <a:avLst/>
            </a:prstGeom>
            <a:noFill/>
            <a:ln w="508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44048" name="直線單箭頭接點 43"/>
            <p:cNvCxnSpPr>
              <a:cxnSpLocks noChangeShapeType="1"/>
            </p:cNvCxnSpPr>
            <p:nvPr/>
          </p:nvCxnSpPr>
          <p:spPr bwMode="auto">
            <a:xfrm rot="5400000">
              <a:off x="3581400" y="4572000"/>
              <a:ext cx="1600200" cy="76200"/>
            </a:xfrm>
            <a:prstGeom prst="straightConnector1">
              <a:avLst/>
            </a:prstGeom>
            <a:noFill/>
            <a:ln w="508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44049" name="直線單箭頭接點 46"/>
            <p:cNvCxnSpPr>
              <a:cxnSpLocks noChangeShapeType="1"/>
              <a:endCxn id="44042" idx="1"/>
            </p:cNvCxnSpPr>
            <p:nvPr/>
          </p:nvCxnSpPr>
          <p:spPr bwMode="auto">
            <a:xfrm rot="16200000" flipH="1">
              <a:off x="4541044" y="3993356"/>
              <a:ext cx="1625600" cy="1258888"/>
            </a:xfrm>
            <a:prstGeom prst="straightConnector1">
              <a:avLst/>
            </a:prstGeom>
            <a:noFill/>
            <a:ln w="508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44050" name="直線單箭頭接點 49"/>
            <p:cNvCxnSpPr>
              <a:cxnSpLocks noChangeShapeType="1"/>
              <a:endCxn id="44036" idx="1"/>
            </p:cNvCxnSpPr>
            <p:nvPr/>
          </p:nvCxnSpPr>
          <p:spPr bwMode="auto">
            <a:xfrm>
              <a:off x="5029200" y="3810000"/>
              <a:ext cx="2782888" cy="1625600"/>
            </a:xfrm>
            <a:prstGeom prst="straightConnector1">
              <a:avLst/>
            </a:prstGeom>
            <a:noFill/>
            <a:ln w="50800"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44051" name="Straight Arrow Connector 2"/>
            <p:cNvCxnSpPr>
              <a:cxnSpLocks noChangeShapeType="1"/>
            </p:cNvCxnSpPr>
            <p:nvPr/>
          </p:nvCxnSpPr>
          <p:spPr bwMode="auto">
            <a:xfrm flipH="1">
              <a:off x="2743200" y="1982788"/>
              <a:ext cx="1447800" cy="836612"/>
            </a:xfrm>
            <a:prstGeom prst="straightConnector1">
              <a:avLst/>
            </a:prstGeom>
            <a:noFill/>
            <a:ln w="31750" algn="ctr">
              <a:solidFill>
                <a:schemeClr val="tx1"/>
              </a:solidFill>
              <a:prstDash val="sysDash"/>
              <a:round/>
              <a:headEnd/>
              <a:tailEnd type="stealth" w="lg" len="lg"/>
            </a:ln>
            <a:extLst>
              <a:ext uri="{909E8E84-426E-40DD-AFC4-6F175D3DCCD1}">
                <a14:hiddenFill xmlns:a14="http://schemas.microsoft.com/office/drawing/2010/main">
                  <a:noFill/>
                </a14:hiddenFill>
              </a:ext>
            </a:extLst>
          </p:spPr>
        </p:cxnSp>
        <p:cxnSp>
          <p:nvCxnSpPr>
            <p:cNvPr id="44052" name="Straight Arrow Connector 23"/>
            <p:cNvCxnSpPr>
              <a:cxnSpLocks noChangeShapeType="1"/>
            </p:cNvCxnSpPr>
            <p:nvPr/>
          </p:nvCxnSpPr>
          <p:spPr bwMode="auto">
            <a:xfrm flipH="1">
              <a:off x="838200" y="3810000"/>
              <a:ext cx="1447800" cy="1600200"/>
            </a:xfrm>
            <a:prstGeom prst="straightConnector1">
              <a:avLst/>
            </a:prstGeom>
            <a:noFill/>
            <a:ln w="31750" algn="ctr">
              <a:solidFill>
                <a:schemeClr val="tx1"/>
              </a:solidFill>
              <a:prstDash val="sysDash"/>
              <a:round/>
              <a:headEnd/>
              <a:tailEnd type="stealth" w="lg" len="lg"/>
            </a:ln>
            <a:extLst>
              <a:ext uri="{909E8E84-426E-40DD-AFC4-6F175D3DCCD1}">
                <a14:hiddenFill xmlns:a14="http://schemas.microsoft.com/office/drawing/2010/main">
                  <a:noFill/>
                </a14:hiddenFill>
              </a:ext>
            </a:extLst>
          </p:spPr>
        </p:cxnSp>
        <p:cxnSp>
          <p:nvCxnSpPr>
            <p:cNvPr id="44053" name="Straight Arrow Connector 25"/>
            <p:cNvCxnSpPr>
              <a:cxnSpLocks noChangeShapeType="1"/>
            </p:cNvCxnSpPr>
            <p:nvPr/>
          </p:nvCxnSpPr>
          <p:spPr bwMode="auto">
            <a:xfrm>
              <a:off x="2286000" y="3810000"/>
              <a:ext cx="152400" cy="1625600"/>
            </a:xfrm>
            <a:prstGeom prst="straightConnector1">
              <a:avLst/>
            </a:prstGeom>
            <a:noFill/>
            <a:ln w="31750" algn="ctr">
              <a:solidFill>
                <a:schemeClr val="tx1"/>
              </a:solidFill>
              <a:prstDash val="sysDash"/>
              <a:round/>
              <a:headEnd/>
              <a:tailEnd type="stealth" w="lg" len="lg"/>
            </a:ln>
            <a:extLst>
              <a:ext uri="{909E8E84-426E-40DD-AFC4-6F175D3DCCD1}">
                <a14:hiddenFill xmlns:a14="http://schemas.microsoft.com/office/drawing/2010/main">
                  <a:noFill/>
                </a14:hiddenFill>
              </a:ext>
            </a:extLst>
          </p:spPr>
        </p:cxnSp>
        <p:cxnSp>
          <p:nvCxnSpPr>
            <p:cNvPr id="44054" name="Straight Arrow Connector 28"/>
            <p:cNvCxnSpPr>
              <a:cxnSpLocks noChangeShapeType="1"/>
            </p:cNvCxnSpPr>
            <p:nvPr/>
          </p:nvCxnSpPr>
          <p:spPr bwMode="auto">
            <a:xfrm>
              <a:off x="2260600" y="3810000"/>
              <a:ext cx="1779588" cy="1828800"/>
            </a:xfrm>
            <a:prstGeom prst="straightConnector1">
              <a:avLst/>
            </a:prstGeom>
            <a:noFill/>
            <a:ln w="31750" algn="ctr">
              <a:solidFill>
                <a:schemeClr val="tx1"/>
              </a:solidFill>
              <a:prstDash val="sysDash"/>
              <a:round/>
              <a:headEnd/>
              <a:tailEnd type="stealth" w="lg" len="lg"/>
            </a:ln>
            <a:extLst>
              <a:ext uri="{909E8E84-426E-40DD-AFC4-6F175D3DCCD1}">
                <a14:hiddenFill xmlns:a14="http://schemas.microsoft.com/office/drawing/2010/main">
                  <a:noFill/>
                </a14:hiddenFill>
              </a:ext>
            </a:extLst>
          </p:spPr>
        </p:cxnSp>
        <p:cxnSp>
          <p:nvCxnSpPr>
            <p:cNvPr id="44055" name="Straight Arrow Connector 30"/>
            <p:cNvCxnSpPr>
              <a:cxnSpLocks noChangeShapeType="1"/>
            </p:cNvCxnSpPr>
            <p:nvPr/>
          </p:nvCxnSpPr>
          <p:spPr bwMode="auto">
            <a:xfrm>
              <a:off x="2236788" y="3810000"/>
              <a:ext cx="3630612" cy="1752600"/>
            </a:xfrm>
            <a:prstGeom prst="straightConnector1">
              <a:avLst/>
            </a:prstGeom>
            <a:noFill/>
            <a:ln w="31750" algn="ctr">
              <a:solidFill>
                <a:schemeClr val="tx1"/>
              </a:solidFill>
              <a:prstDash val="sysDash"/>
              <a:round/>
              <a:headEnd/>
              <a:tailEnd type="stealth" w="lg" len="lg"/>
            </a:ln>
            <a:extLst>
              <a:ext uri="{909E8E84-426E-40DD-AFC4-6F175D3DCCD1}">
                <a14:hiddenFill xmlns:a14="http://schemas.microsoft.com/office/drawing/2010/main">
                  <a:noFill/>
                </a14:hiddenFill>
              </a:ext>
            </a:extLst>
          </p:spPr>
        </p:cxnSp>
        <p:sp>
          <p:nvSpPr>
            <p:cNvPr id="23" name="矩形 20"/>
            <p:cNvSpPr>
              <a:spLocks noChangeArrowheads="1"/>
            </p:cNvSpPr>
            <p:nvPr/>
          </p:nvSpPr>
          <p:spPr bwMode="auto">
            <a:xfrm>
              <a:off x="5181600" y="3962384"/>
              <a:ext cx="1372006" cy="648515"/>
            </a:xfrm>
            <a:prstGeom prst="rect">
              <a:avLst/>
            </a:prstGeom>
            <a:solidFill>
              <a:srgbClr val="FFFF00"/>
            </a:solidFill>
            <a:ln w="28575" algn="ctr">
              <a:solidFill>
                <a:schemeClr val="bg1">
                  <a:lumMod val="60000"/>
                  <a:lumOff val="40000"/>
                </a:schemeClr>
              </a:solidFill>
              <a:round/>
              <a:headEnd/>
              <a:tailEnd/>
            </a:ln>
          </p:spPr>
          <p:txBody>
            <a:bodyPr/>
            <a:lstStyle/>
            <a:p>
              <a:pPr algn="ctr">
                <a:defRPr/>
              </a:pPr>
              <a:r>
                <a:rPr lang="en-US" altLang="zh-TW" sz="2400" b="1" dirty="0">
                  <a:solidFill>
                    <a:srgbClr val="FF0000"/>
                  </a:solidFill>
                  <a:latin typeface="+mn-lt"/>
                  <a:ea typeface="新細明體" charset="-120"/>
                </a:rPr>
                <a:t>LLBT</a:t>
              </a:r>
              <a:endParaRPr lang="zh-TW" altLang="en-US" sz="2400" b="1" dirty="0">
                <a:solidFill>
                  <a:srgbClr val="FF0000"/>
                </a:solidFill>
                <a:latin typeface="+mn-lt"/>
                <a:ea typeface="新細明體" charset="-120"/>
              </a:endParaRPr>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cs typeface="Times New Roman" panose="02020603050405020304" pitchFamily="18" charset="0"/>
              </a:rPr>
              <a:t>System Virtual Machines</a:t>
            </a:r>
          </a:p>
        </p:txBody>
      </p:sp>
      <p:sp>
        <p:nvSpPr>
          <p:cNvPr id="46083" name="內容版面配置區 6"/>
          <p:cNvSpPr>
            <a:spLocks noGrp="1"/>
          </p:cNvSpPr>
          <p:nvPr>
            <p:ph sz="half" idx="1"/>
          </p:nvPr>
        </p:nvSpPr>
        <p:spPr>
          <a:xfrm>
            <a:off x="457200" y="1125538"/>
            <a:ext cx="4038600" cy="4894262"/>
          </a:xfrm>
        </p:spPr>
        <p:txBody>
          <a:bodyPr/>
          <a:lstStyle/>
          <a:p>
            <a:pPr>
              <a:spcBef>
                <a:spcPct val="0"/>
              </a:spcBef>
              <a:buClr>
                <a:schemeClr val="folHlink"/>
              </a:buClr>
              <a:buSzTx/>
            </a:pPr>
            <a:r>
              <a:rPr kumimoji="0" lang="en-US" altLang="zh-TW" b="1" smtClean="0">
                <a:ea typeface="新細明體" panose="02020500000000000000" pitchFamily="18" charset="-120"/>
              </a:rPr>
              <a:t>Provide a system environment</a:t>
            </a:r>
          </a:p>
          <a:p>
            <a:pPr>
              <a:spcBef>
                <a:spcPct val="0"/>
              </a:spcBef>
              <a:buClr>
                <a:schemeClr val="folHlink"/>
              </a:buClr>
              <a:buSzTx/>
            </a:pPr>
            <a:r>
              <a:rPr kumimoji="0" lang="en-US" altLang="zh-TW" b="1" smtClean="0">
                <a:ea typeface="新細明體" panose="02020500000000000000" pitchFamily="18" charset="-120"/>
              </a:rPr>
              <a:t>Constructed at ISA level</a:t>
            </a:r>
          </a:p>
          <a:p>
            <a:pPr>
              <a:spcBef>
                <a:spcPct val="0"/>
              </a:spcBef>
              <a:buClr>
                <a:schemeClr val="folHlink"/>
              </a:buClr>
              <a:buSzTx/>
            </a:pPr>
            <a:r>
              <a:rPr kumimoji="0" lang="en-US" altLang="zh-TW" b="1" smtClean="0">
                <a:ea typeface="新細明體" panose="02020500000000000000" pitchFamily="18" charset="-120"/>
              </a:rPr>
              <a:t>Allow multiple OS environments, or support time sharing.</a:t>
            </a:r>
          </a:p>
          <a:p>
            <a:pPr>
              <a:spcBef>
                <a:spcPct val="0"/>
              </a:spcBef>
              <a:buClr>
                <a:schemeClr val="folHlink"/>
              </a:buClr>
              <a:buSzTx/>
            </a:pPr>
            <a:r>
              <a:rPr kumimoji="0" lang="en-US" altLang="zh-TW" b="1" smtClean="0">
                <a:ea typeface="新細明體" panose="02020500000000000000" pitchFamily="18" charset="-120"/>
              </a:rPr>
              <a:t>Examples: IBM VM/360, VMware, Xen KVM, OKL4</a:t>
            </a:r>
            <a:endParaRPr kumimoji="0" lang="en-US" altLang="zh-TW" smtClean="0">
              <a:ea typeface="新細明體" panose="02020500000000000000" pitchFamily="18" charset="-120"/>
            </a:endParaRPr>
          </a:p>
        </p:txBody>
      </p:sp>
      <p:sp>
        <p:nvSpPr>
          <p:cNvPr id="46084" name="內容版面配置區 7"/>
          <p:cNvSpPr>
            <a:spLocks noGrp="1"/>
          </p:cNvSpPr>
          <p:nvPr>
            <p:ph sz="half" idx="2"/>
          </p:nvPr>
        </p:nvSpPr>
        <p:spPr/>
        <p:txBody>
          <a:bodyPr/>
          <a:lstStyle/>
          <a:p>
            <a:endParaRPr lang="zh-TW" altLang="en-US" smtClean="0"/>
          </a:p>
        </p:txBody>
      </p:sp>
      <p:pic>
        <p:nvPicPr>
          <p:cNvPr id="4608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125538"/>
            <a:ext cx="4191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Text Box 8"/>
          <p:cNvSpPr txBox="1">
            <a:spLocks noChangeArrowheads="1"/>
          </p:cNvSpPr>
          <p:nvPr/>
        </p:nvSpPr>
        <p:spPr bwMode="auto">
          <a:xfrm>
            <a:off x="5105400" y="5715000"/>
            <a:ext cx="329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defRPr/>
            </a:pPr>
            <a:r>
              <a:rPr kumimoji="0" lang="en-US" altLang="zh-TW" sz="1800" smtClean="0">
                <a:latin typeface="+mn-lt"/>
                <a:ea typeface="新細明體" panose="02020500000000000000" pitchFamily="18" charset="-120"/>
              </a:rPr>
              <a:t>Virtual network communication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p:cNvSpPr>
          <p:nvPr>
            <p:ph type="title"/>
          </p:nvPr>
        </p:nvSpPr>
        <p:spPr/>
        <p:txBody>
          <a:bodyPr/>
          <a:lstStyle/>
          <a:p>
            <a:r>
              <a:rPr lang="en-US" altLang="zh-TW" smtClean="0">
                <a:solidFill>
                  <a:schemeClr val="accent1"/>
                </a:solidFill>
              </a:rPr>
              <a:t>System Virtual Machines</a:t>
            </a:r>
          </a:p>
        </p:txBody>
      </p:sp>
      <p:sp>
        <p:nvSpPr>
          <p:cNvPr id="48131" name="Rounded Rectangle 1"/>
          <p:cNvSpPr>
            <a:spLocks noChangeArrowheads="1"/>
          </p:cNvSpPr>
          <p:nvPr/>
        </p:nvSpPr>
        <p:spPr bwMode="auto">
          <a:xfrm>
            <a:off x="2147888" y="4505325"/>
            <a:ext cx="4495800" cy="762000"/>
          </a:xfrm>
          <a:prstGeom prst="roundRect">
            <a:avLst>
              <a:gd name="adj" fmla="val 16667"/>
            </a:avLst>
          </a:prstGeom>
          <a:solidFill>
            <a:schemeClr val="accent1"/>
          </a:solidFill>
          <a:ln w="9525" algn="ctr">
            <a:solidFill>
              <a:schemeClr val="tx1"/>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pPr>
            <a:r>
              <a:rPr kumimoji="0" lang="en-US" altLang="zh-TW">
                <a:latin typeface="Arial" panose="020B0604020202020204" pitchFamily="34" charset="0"/>
                <a:ea typeface="新細明體" panose="02020500000000000000" pitchFamily="18" charset="-120"/>
              </a:rPr>
              <a:t>IA-32 Physical Machine</a:t>
            </a:r>
            <a:endParaRPr kumimoji="0" lang="zh-TW" altLang="en-US">
              <a:latin typeface="Arial" panose="020B0604020202020204" pitchFamily="34" charset="0"/>
              <a:ea typeface="新細明體" panose="02020500000000000000" pitchFamily="18" charset="-120"/>
            </a:endParaRPr>
          </a:p>
        </p:txBody>
      </p:sp>
      <p:sp>
        <p:nvSpPr>
          <p:cNvPr id="4" name="Trapezoid 3"/>
          <p:cNvSpPr/>
          <p:nvPr/>
        </p:nvSpPr>
        <p:spPr bwMode="auto">
          <a:xfrm rot="10800000">
            <a:off x="2071688" y="3819525"/>
            <a:ext cx="4648200" cy="625475"/>
          </a:xfrm>
          <a:prstGeom prst="trapezoid">
            <a:avLst/>
          </a:prstGeom>
          <a:solidFill>
            <a:srgbClr val="FF0000"/>
          </a:solidFill>
          <a:ln w="9525" cap="flat" cmpd="sng" algn="ctr">
            <a:solidFill>
              <a:schemeClr val="tx1"/>
            </a:solidFill>
            <a:prstDash val="solid"/>
            <a:round/>
            <a:headEnd type="none" w="med" len="med"/>
            <a:tailEnd type="none" w="med" len="med"/>
          </a:ln>
          <a:effectLst/>
        </p:spPr>
        <p:txBody>
          <a:bodyPr/>
          <a:lstStyle/>
          <a:p>
            <a:pPr>
              <a:defRPr/>
            </a:pPr>
            <a:endParaRPr lang="zh-TW" altLang="en-US" dirty="0">
              <a:latin typeface="Arial" charset="0"/>
              <a:ea typeface="+mn-ea"/>
            </a:endParaRPr>
          </a:p>
        </p:txBody>
      </p:sp>
      <p:sp>
        <p:nvSpPr>
          <p:cNvPr id="48133" name="TextBox 4"/>
          <p:cNvSpPr txBox="1">
            <a:spLocks noChangeArrowheads="1"/>
          </p:cNvSpPr>
          <p:nvPr/>
        </p:nvSpPr>
        <p:spPr bwMode="auto">
          <a:xfrm>
            <a:off x="2681288" y="3870325"/>
            <a:ext cx="3262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pPr>
            <a:r>
              <a:rPr kumimoji="0" lang="en-US" altLang="zh-TW">
                <a:latin typeface="Arial" panose="020B0604020202020204" pitchFamily="34" charset="0"/>
                <a:ea typeface="新細明體" panose="02020500000000000000" pitchFamily="18" charset="-120"/>
              </a:rPr>
              <a:t>VMM or Hypervisor</a:t>
            </a:r>
            <a:endParaRPr kumimoji="0" lang="zh-TW" altLang="en-US">
              <a:latin typeface="Arial" panose="020B0604020202020204" pitchFamily="34" charset="0"/>
              <a:ea typeface="新細明體" panose="02020500000000000000" pitchFamily="18" charset="-120"/>
            </a:endParaRPr>
          </a:p>
        </p:txBody>
      </p:sp>
      <p:sp>
        <p:nvSpPr>
          <p:cNvPr id="6" name="Rounded Rectangle 5"/>
          <p:cNvSpPr/>
          <p:nvPr/>
        </p:nvSpPr>
        <p:spPr bwMode="auto">
          <a:xfrm>
            <a:off x="1766888" y="1685925"/>
            <a:ext cx="2546350" cy="2133600"/>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US" altLang="zh-TW" sz="2400" dirty="0">
                <a:latin typeface="Arial" charset="0"/>
                <a:ea typeface="新細明體" charset="-120"/>
              </a:rPr>
              <a:t>Windows Apps</a:t>
            </a:r>
            <a:endParaRPr lang="zh-TW" altLang="en-US" sz="2400" dirty="0">
              <a:latin typeface="Arial" charset="0"/>
              <a:ea typeface="新細明體" charset="-120"/>
            </a:endParaRPr>
          </a:p>
        </p:txBody>
      </p:sp>
      <p:sp>
        <p:nvSpPr>
          <p:cNvPr id="7" name="Rounded Rectangle 6"/>
          <p:cNvSpPr/>
          <p:nvPr/>
        </p:nvSpPr>
        <p:spPr bwMode="auto">
          <a:xfrm>
            <a:off x="1919288" y="2905125"/>
            <a:ext cx="1447800" cy="914400"/>
          </a:xfrm>
          <a:prstGeom prst="roundRect">
            <a:avLst/>
          </a:prstGeom>
          <a:solidFill>
            <a:schemeClr val="bg1">
              <a:lumMod val="60000"/>
              <a:lumOff val="40000"/>
            </a:schemeClr>
          </a:solidFill>
          <a:ln w="9525" cap="flat" cmpd="sng" algn="ctr">
            <a:solidFill>
              <a:srgbClr val="FF0000"/>
            </a:solidFill>
            <a:prstDash val="solid"/>
            <a:round/>
            <a:headEnd type="none" w="med" len="med"/>
            <a:tailEnd type="none" w="med" len="med"/>
          </a:ln>
          <a:effectLst/>
        </p:spPr>
        <p:txBody>
          <a:bodyPr/>
          <a:lstStyle/>
          <a:p>
            <a:pPr algn="ctr">
              <a:defRPr/>
            </a:pPr>
            <a:r>
              <a:rPr lang="en-US" altLang="zh-TW">
                <a:latin typeface="Arial" charset="0"/>
                <a:ea typeface="新細明體" charset="-120"/>
              </a:rPr>
              <a:t>MS Windows</a:t>
            </a:r>
            <a:endParaRPr lang="zh-TW" altLang="en-US">
              <a:latin typeface="Arial" charset="0"/>
              <a:ea typeface="新細明體" charset="-120"/>
            </a:endParaRPr>
          </a:p>
        </p:txBody>
      </p:sp>
      <p:sp>
        <p:nvSpPr>
          <p:cNvPr id="48136" name="Rounded Rectangle 11"/>
          <p:cNvSpPr>
            <a:spLocks noChangeArrowheads="1"/>
          </p:cNvSpPr>
          <p:nvPr/>
        </p:nvSpPr>
        <p:spPr bwMode="auto">
          <a:xfrm>
            <a:off x="4465638" y="1676400"/>
            <a:ext cx="2544762" cy="21336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pPr>
            <a:r>
              <a:rPr kumimoji="0" lang="en-US" altLang="zh-TW" sz="2400">
                <a:latin typeface="Arial" panose="020B0604020202020204" pitchFamily="34" charset="0"/>
                <a:ea typeface="新細明體" panose="02020500000000000000" pitchFamily="18" charset="-120"/>
              </a:rPr>
              <a:t>Linux Apps</a:t>
            </a:r>
            <a:endParaRPr kumimoji="0" lang="zh-TW" altLang="en-US" sz="2400">
              <a:latin typeface="Arial" panose="020B0604020202020204" pitchFamily="34" charset="0"/>
              <a:ea typeface="新細明體" panose="02020500000000000000" pitchFamily="18" charset="-120"/>
            </a:endParaRPr>
          </a:p>
        </p:txBody>
      </p:sp>
      <p:sp>
        <p:nvSpPr>
          <p:cNvPr id="13" name="Rounded Rectangle 12"/>
          <p:cNvSpPr/>
          <p:nvPr/>
        </p:nvSpPr>
        <p:spPr bwMode="auto">
          <a:xfrm>
            <a:off x="5424488" y="2895600"/>
            <a:ext cx="1447800" cy="914400"/>
          </a:xfrm>
          <a:prstGeom prst="roundRect">
            <a:avLst/>
          </a:prstGeom>
          <a:solidFill>
            <a:schemeClr val="bg1">
              <a:lumMod val="60000"/>
              <a:lumOff val="40000"/>
            </a:schemeClr>
          </a:solidFill>
          <a:ln w="9525" cap="flat" cmpd="sng" algn="ctr">
            <a:solidFill>
              <a:srgbClr val="FF0000"/>
            </a:solidFill>
            <a:prstDash val="solid"/>
            <a:round/>
            <a:headEnd type="none" w="med" len="med"/>
            <a:tailEnd type="none" w="med" len="med"/>
          </a:ln>
          <a:effectLst/>
        </p:spPr>
        <p:txBody>
          <a:bodyPr/>
          <a:lstStyle/>
          <a:p>
            <a:pPr algn="ctr">
              <a:defRPr/>
            </a:pPr>
            <a:r>
              <a:rPr lang="en-US" altLang="zh-TW">
                <a:latin typeface="Arial" charset="0"/>
                <a:ea typeface="新細明體" charset="-120"/>
              </a:rPr>
              <a:t>Linux </a:t>
            </a:r>
            <a:endParaRPr lang="zh-TW" altLang="en-US">
              <a:latin typeface="Arial" charset="0"/>
              <a:ea typeface="新細明體" charset="-12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p:txBody>
          <a:bodyPr/>
          <a:lstStyle/>
          <a:p>
            <a:r>
              <a:rPr lang="en-US" altLang="zh-TW" smtClean="0">
                <a:solidFill>
                  <a:schemeClr val="accent1"/>
                </a:solidFill>
              </a:rPr>
              <a:t>Hosted System VMs</a:t>
            </a:r>
          </a:p>
        </p:txBody>
      </p:sp>
      <p:sp>
        <p:nvSpPr>
          <p:cNvPr id="50179" name="內容版面配置區 2"/>
          <p:cNvSpPr>
            <a:spLocks noGrp="1"/>
          </p:cNvSpPr>
          <p:nvPr>
            <p:ph idx="1"/>
          </p:nvPr>
        </p:nvSpPr>
        <p:spPr/>
        <p:txBody>
          <a:bodyPr/>
          <a:lstStyle/>
          <a:p>
            <a:r>
              <a:rPr lang="en-US" altLang="zh-TW" smtClean="0"/>
              <a:t>Virtualization SW is built on top of an existing OS</a:t>
            </a:r>
          </a:p>
          <a:p>
            <a:r>
              <a:rPr lang="en-US" altLang="zh-TW" smtClean="0"/>
              <a:t>Installation process is similar to the installation of an APP  </a:t>
            </a:r>
          </a:p>
          <a:p>
            <a:r>
              <a:rPr lang="en-US" altLang="zh-TW" smtClean="0"/>
              <a:t>Let the host OS to provide device drivers and other low-level services</a:t>
            </a:r>
          </a:p>
          <a:p>
            <a:endParaRPr lang="en-US" altLang="zh-TW" smtClean="0"/>
          </a:p>
          <a:p>
            <a:endParaRPr lang="zh-TW" altLang="en-US" smtClean="0"/>
          </a:p>
        </p:txBody>
      </p:sp>
      <p:grpSp>
        <p:nvGrpSpPr>
          <p:cNvPr id="50180" name="群組 3"/>
          <p:cNvGrpSpPr>
            <a:grpSpLocks/>
          </p:cNvGrpSpPr>
          <p:nvPr/>
        </p:nvGrpSpPr>
        <p:grpSpPr bwMode="auto">
          <a:xfrm>
            <a:off x="3733800" y="3124200"/>
            <a:ext cx="4495800" cy="2819400"/>
            <a:chOff x="2251075" y="3429000"/>
            <a:chExt cx="4495800" cy="3276600"/>
          </a:xfrm>
        </p:grpSpPr>
        <p:sp>
          <p:nvSpPr>
            <p:cNvPr id="50181" name="Rounded Rectangle 11"/>
            <p:cNvSpPr>
              <a:spLocks noChangeArrowheads="1"/>
            </p:cNvSpPr>
            <p:nvPr/>
          </p:nvSpPr>
          <p:spPr bwMode="auto">
            <a:xfrm>
              <a:off x="2251075" y="3429000"/>
              <a:ext cx="4267200" cy="25146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pPr>
              <a:r>
                <a:rPr kumimoji="0" lang="en-US" altLang="zh-TW" sz="2400">
                  <a:latin typeface="Arial" panose="020B0604020202020204" pitchFamily="34" charset="0"/>
                  <a:ea typeface="新細明體" panose="02020500000000000000" pitchFamily="18" charset="-120"/>
                </a:rPr>
                <a:t>Linux Apps</a:t>
              </a:r>
              <a:endParaRPr kumimoji="0" lang="zh-TW" altLang="en-US" sz="2400">
                <a:latin typeface="Arial" panose="020B0604020202020204" pitchFamily="34" charset="0"/>
                <a:ea typeface="新細明體" panose="02020500000000000000" pitchFamily="18" charset="-120"/>
              </a:endParaRPr>
            </a:p>
          </p:txBody>
        </p:sp>
        <p:sp>
          <p:nvSpPr>
            <p:cNvPr id="50182" name="Rounded Rectangle 1"/>
            <p:cNvSpPr>
              <a:spLocks noChangeArrowheads="1"/>
            </p:cNvSpPr>
            <p:nvPr/>
          </p:nvSpPr>
          <p:spPr bwMode="auto">
            <a:xfrm>
              <a:off x="2251075" y="5943600"/>
              <a:ext cx="4495800" cy="762000"/>
            </a:xfrm>
            <a:prstGeom prst="roundRect">
              <a:avLst>
                <a:gd name="adj" fmla="val 16667"/>
              </a:avLst>
            </a:prstGeom>
            <a:solidFill>
              <a:schemeClr val="accent1"/>
            </a:solidFill>
            <a:ln w="9525" algn="ctr">
              <a:solidFill>
                <a:schemeClr val="tx1"/>
              </a:solidFill>
              <a:round/>
              <a:headEnd/>
              <a:tailEnd/>
            </a:ln>
          </p:spPr>
          <p:txBody>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ctr">
                <a:spcBef>
                  <a:spcPct val="0"/>
                </a:spcBef>
                <a:buClrTx/>
                <a:buSzTx/>
                <a:buFontTx/>
                <a:buNone/>
              </a:pPr>
              <a:r>
                <a:rPr kumimoji="0" lang="en-US" altLang="zh-TW">
                  <a:latin typeface="Arial" panose="020B0604020202020204" pitchFamily="34" charset="0"/>
                  <a:ea typeface="新細明體" panose="02020500000000000000" pitchFamily="18" charset="-120"/>
                </a:rPr>
                <a:t>IA-32 Physical Machine</a:t>
              </a:r>
              <a:endParaRPr kumimoji="0" lang="zh-TW" altLang="en-US">
                <a:latin typeface="Arial" panose="020B0604020202020204" pitchFamily="34" charset="0"/>
                <a:ea typeface="新細明體" panose="02020500000000000000" pitchFamily="18" charset="-120"/>
              </a:endParaRPr>
            </a:p>
          </p:txBody>
        </p:sp>
        <p:sp>
          <p:nvSpPr>
            <p:cNvPr id="6" name="Rounded Rectangle 5"/>
            <p:cNvSpPr/>
            <p:nvPr/>
          </p:nvSpPr>
          <p:spPr bwMode="auto">
            <a:xfrm>
              <a:off x="4083050" y="3469589"/>
              <a:ext cx="2546350" cy="1330197"/>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US" altLang="zh-TW" sz="2400">
                  <a:latin typeface="Arial" charset="0"/>
                  <a:ea typeface="新細明體" charset="-120"/>
                </a:rPr>
                <a:t>Windows Apps</a:t>
              </a:r>
              <a:endParaRPr lang="zh-TW" altLang="en-US" sz="2400">
                <a:latin typeface="Arial" charset="0"/>
                <a:ea typeface="新細明體" charset="-120"/>
              </a:endParaRPr>
            </a:p>
          </p:txBody>
        </p:sp>
        <p:sp>
          <p:nvSpPr>
            <p:cNvPr id="7" name="Rounded Rectangle 6"/>
            <p:cNvSpPr/>
            <p:nvPr/>
          </p:nvSpPr>
          <p:spPr bwMode="auto">
            <a:xfrm>
              <a:off x="5181600" y="4124540"/>
              <a:ext cx="1447800" cy="666020"/>
            </a:xfrm>
            <a:prstGeom prst="roundRect">
              <a:avLst/>
            </a:prstGeom>
            <a:solidFill>
              <a:schemeClr val="bg1">
                <a:lumMod val="60000"/>
                <a:lumOff val="40000"/>
              </a:schemeClr>
            </a:solidFill>
            <a:ln w="9525" cap="flat" cmpd="sng" algn="ctr">
              <a:solidFill>
                <a:srgbClr val="FF0000"/>
              </a:solidFill>
              <a:prstDash val="solid"/>
              <a:round/>
              <a:headEnd type="none" w="med" len="med"/>
              <a:tailEnd type="none" w="med" len="med"/>
            </a:ln>
            <a:effectLst/>
          </p:spPr>
          <p:txBody>
            <a:bodyPr/>
            <a:lstStyle/>
            <a:p>
              <a:pPr algn="ctr">
                <a:defRPr/>
              </a:pPr>
              <a:r>
                <a:rPr lang="en-US" altLang="zh-TW">
                  <a:latin typeface="Arial" charset="0"/>
                  <a:ea typeface="新細明體" charset="-120"/>
                </a:rPr>
                <a:t>MS Windows</a:t>
              </a:r>
              <a:endParaRPr lang="zh-TW" altLang="en-US">
                <a:latin typeface="Arial" charset="0"/>
                <a:ea typeface="新細明體" charset="-120"/>
              </a:endParaRPr>
            </a:p>
          </p:txBody>
        </p:sp>
        <p:sp>
          <p:nvSpPr>
            <p:cNvPr id="13" name="Rounded Rectangle 12"/>
            <p:cNvSpPr/>
            <p:nvPr/>
          </p:nvSpPr>
          <p:spPr bwMode="auto">
            <a:xfrm>
              <a:off x="3371850" y="5257329"/>
              <a:ext cx="1447800" cy="686315"/>
            </a:xfrm>
            <a:prstGeom prst="roundRect">
              <a:avLst/>
            </a:prstGeom>
            <a:solidFill>
              <a:schemeClr val="bg1">
                <a:lumMod val="60000"/>
                <a:lumOff val="40000"/>
              </a:schemeClr>
            </a:solidFill>
            <a:ln w="9525" cap="flat" cmpd="sng" algn="ctr">
              <a:solidFill>
                <a:srgbClr val="FF0000"/>
              </a:solidFill>
              <a:prstDash val="solid"/>
              <a:round/>
              <a:headEnd type="none" w="med" len="med"/>
              <a:tailEnd type="none" w="med" len="med"/>
            </a:ln>
            <a:effectLst/>
          </p:spPr>
          <p:txBody>
            <a:bodyPr/>
            <a:lstStyle/>
            <a:p>
              <a:pPr algn="ctr">
                <a:defRPr/>
              </a:pPr>
              <a:r>
                <a:rPr lang="en-US" altLang="zh-TW">
                  <a:latin typeface="Arial" charset="0"/>
                  <a:ea typeface="新細明體" charset="-120"/>
                </a:rPr>
                <a:t>Linux </a:t>
              </a:r>
              <a:endParaRPr lang="zh-TW" altLang="en-US">
                <a:latin typeface="Arial" charset="0"/>
                <a:ea typeface="新細明體" charset="-120"/>
              </a:endParaRPr>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cs typeface="Times New Roman" panose="02020603050405020304" pitchFamily="18" charset="0"/>
              </a:rPr>
              <a:t>System Virtual Machines</a:t>
            </a:r>
          </a:p>
        </p:txBody>
      </p:sp>
      <p:sp>
        <p:nvSpPr>
          <p:cNvPr id="4" name="內容版面配置區 3"/>
          <p:cNvSpPr>
            <a:spLocks noGrp="1"/>
          </p:cNvSpPr>
          <p:nvPr>
            <p:ph idx="1"/>
          </p:nvPr>
        </p:nvSpPr>
        <p:spPr/>
        <p:txBody>
          <a:bodyPr/>
          <a:lstStyle/>
          <a:p>
            <a:pPr>
              <a:defRPr/>
            </a:pPr>
            <a:r>
              <a:rPr lang="en-US" altLang="zh-TW" sz="2400" dirty="0" smtClean="0">
                <a:latin typeface="+mn-lt"/>
              </a:rPr>
              <a:t>Past: Early IBM VMs</a:t>
            </a:r>
          </a:p>
          <a:p>
            <a:pPr lvl="1">
              <a:defRPr/>
            </a:pPr>
            <a:r>
              <a:rPr lang="en-US" altLang="zh-TW" sz="2000" dirty="0" smtClean="0">
                <a:latin typeface="+mn-lt"/>
              </a:rPr>
              <a:t>Large main frames are shared by many groups, and each group may want different OS</a:t>
            </a:r>
          </a:p>
          <a:p>
            <a:pPr lvl="1">
              <a:defRPr/>
            </a:pPr>
            <a:r>
              <a:rPr lang="en-US" altLang="zh-TW" sz="2000" dirty="0" smtClean="0">
                <a:latin typeface="+mn-lt"/>
              </a:rPr>
              <a:t>As a convenient way to implement time sharing OS for multiple single user OS</a:t>
            </a:r>
          </a:p>
          <a:p>
            <a:pPr>
              <a:defRPr/>
            </a:pPr>
            <a:r>
              <a:rPr lang="en-US" altLang="zh-TW" sz="2400" dirty="0" smtClean="0">
                <a:latin typeface="+mn-lt"/>
              </a:rPr>
              <a:t>Current: </a:t>
            </a:r>
          </a:p>
          <a:p>
            <a:pPr lvl="1">
              <a:defRPr/>
            </a:pPr>
            <a:r>
              <a:rPr lang="en-US" altLang="zh-TW" sz="2000" dirty="0" smtClean="0">
                <a:latin typeface="+mn-lt"/>
              </a:rPr>
              <a:t>Server consolidation</a:t>
            </a:r>
          </a:p>
          <a:p>
            <a:pPr lvl="1">
              <a:defRPr/>
            </a:pPr>
            <a:r>
              <a:rPr lang="en-US" altLang="zh-TW" sz="2000" dirty="0" smtClean="0">
                <a:latin typeface="+mn-lt"/>
              </a:rPr>
              <a:t>Secure partitioning</a:t>
            </a:r>
          </a:p>
          <a:p>
            <a:pPr lvl="1">
              <a:defRPr/>
            </a:pPr>
            <a:r>
              <a:rPr lang="en-US" altLang="zh-TW" sz="2000" dirty="0" smtClean="0">
                <a:latin typeface="+mn-lt"/>
              </a:rPr>
              <a:t>Multiple OS environments </a:t>
            </a:r>
          </a:p>
          <a:p>
            <a:pPr lvl="1">
              <a:defRPr/>
            </a:pPr>
            <a:r>
              <a:rPr lang="en-US" altLang="zh-TW" sz="2000" dirty="0" smtClean="0">
                <a:latin typeface="+mn-lt"/>
              </a:rPr>
              <a:t>Fault isolation</a:t>
            </a:r>
          </a:p>
          <a:p>
            <a:pPr lvl="1">
              <a:defRPr/>
            </a:pPr>
            <a:r>
              <a:rPr lang="en-US" altLang="zh-TW" sz="2000" dirty="0" smtClean="0">
                <a:latin typeface="+mn-lt"/>
              </a:rPr>
              <a:t>Support software development and deployment</a:t>
            </a:r>
          </a:p>
          <a:p>
            <a:pPr lvl="1">
              <a:defRPr/>
            </a:pPr>
            <a:r>
              <a:rPr lang="en-US" altLang="zh-TW" sz="2000" dirty="0" smtClean="0">
                <a:latin typeface="+mn-lt"/>
              </a:rPr>
              <a:t>Cloud computing </a:t>
            </a:r>
            <a:endParaRPr lang="zh-TW" altLang="en-US" dirty="0">
              <a:latin typeface="+mn-l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p:txBody>
          <a:bodyPr/>
          <a:lstStyle/>
          <a:p>
            <a:pPr eaLnBrk="1" hangingPunct="1"/>
            <a:r>
              <a:rPr lang="en-US" altLang="zh-TW" dirty="0" smtClean="0">
                <a:solidFill>
                  <a:schemeClr val="accent1"/>
                </a:solidFill>
                <a:latin typeface="+mn-lt"/>
                <a:cs typeface="Times New Roman" panose="02020603050405020304" pitchFamily="18" charset="0"/>
              </a:rPr>
              <a:t>Co-designed Virtual Machines</a:t>
            </a:r>
          </a:p>
        </p:txBody>
      </p:sp>
      <p:sp>
        <p:nvSpPr>
          <p:cNvPr id="2" name="內容版面配置區 1"/>
          <p:cNvSpPr>
            <a:spLocks noGrp="1"/>
          </p:cNvSpPr>
          <p:nvPr>
            <p:ph idx="1"/>
          </p:nvPr>
        </p:nvSpPr>
        <p:spPr>
          <a:xfrm>
            <a:off x="457200" y="1125538"/>
            <a:ext cx="4724400" cy="4895850"/>
          </a:xfrm>
        </p:spPr>
        <p:txBody>
          <a:bodyPr/>
          <a:lstStyle/>
          <a:p>
            <a:r>
              <a:rPr lang="en-US" altLang="zh-TW" sz="2400" dirty="0" smtClean="0">
                <a:latin typeface="+mn-lt"/>
              </a:rPr>
              <a:t>Perform both translation and optimization</a:t>
            </a:r>
          </a:p>
          <a:p>
            <a:r>
              <a:rPr lang="en-US" altLang="zh-TW" sz="2400" dirty="0" smtClean="0">
                <a:latin typeface="+mn-lt"/>
              </a:rPr>
              <a:t>VM provides interface between standard ISA software and implementation ISA software</a:t>
            </a:r>
          </a:p>
          <a:p>
            <a:r>
              <a:rPr lang="en-US" altLang="zh-TW" sz="2400" dirty="0" smtClean="0">
                <a:latin typeface="+mn-lt"/>
              </a:rPr>
              <a:t>Primary goal is performance or power efficiency</a:t>
            </a:r>
          </a:p>
          <a:p>
            <a:r>
              <a:rPr lang="en-US" altLang="zh-TW" sz="2400" dirty="0" smtClean="0">
                <a:latin typeface="+mn-lt"/>
              </a:rPr>
              <a:t>Use proprietary implementation ISA</a:t>
            </a:r>
          </a:p>
          <a:p>
            <a:r>
              <a:rPr lang="en-US" altLang="zh-TW" sz="2400" dirty="0" smtClean="0">
                <a:latin typeface="+mn-lt"/>
              </a:rPr>
              <a:t>Example: </a:t>
            </a:r>
            <a:r>
              <a:rPr lang="en-US" altLang="zh-TW" sz="2400" dirty="0" err="1" smtClean="0">
                <a:latin typeface="+mn-lt"/>
              </a:rPr>
              <a:t>Transmeta</a:t>
            </a:r>
            <a:r>
              <a:rPr lang="en-US" altLang="zh-TW" sz="2400" dirty="0" smtClean="0">
                <a:latin typeface="+mn-lt"/>
              </a:rPr>
              <a:t> Crusoe and IBM Daisy</a:t>
            </a:r>
          </a:p>
          <a:p>
            <a:endParaRPr lang="zh-TW" altLang="en-US" sz="2400" dirty="0">
              <a:latin typeface="+mn-lt"/>
            </a:endParaRPr>
          </a:p>
        </p:txBody>
      </p:sp>
      <p:pic>
        <p:nvPicPr>
          <p:cNvPr id="5427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00200"/>
            <a:ext cx="3429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title"/>
          </p:nvPr>
        </p:nvSpPr>
        <p:spPr/>
        <p:txBody>
          <a:bodyPr/>
          <a:lstStyle/>
          <a:p>
            <a:pPr eaLnBrk="1" hangingPunct="1"/>
            <a:r>
              <a:rPr lang="en-US" altLang="zh-TW" dirty="0" smtClean="0">
                <a:solidFill>
                  <a:schemeClr val="accent1"/>
                </a:solidFill>
                <a:latin typeface="+mn-lt"/>
              </a:rPr>
              <a:t>Taxonomy</a:t>
            </a:r>
          </a:p>
        </p:txBody>
      </p:sp>
      <p:pic>
        <p:nvPicPr>
          <p:cNvPr id="5632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8305800" cy="462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6324" name="文字方塊 3"/>
          <p:cNvSpPr txBox="1">
            <a:spLocks noChangeArrowheads="1"/>
          </p:cNvSpPr>
          <p:nvPr/>
        </p:nvSpPr>
        <p:spPr bwMode="auto">
          <a:xfrm>
            <a:off x="1066800" y="5257800"/>
            <a:ext cx="158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00FF"/>
              </a:buClr>
              <a:buSzPct val="80000"/>
              <a:buFont typeface="Wingdings" panose="05000000000000000000" pitchFamily="2" charset="2"/>
              <a:buChar char="l"/>
              <a:defRPr kumimoji="1" sz="2800">
                <a:solidFill>
                  <a:schemeClr val="tx1"/>
                </a:solidFill>
                <a:latin typeface="Calibri" panose="020F0502020204030204" pitchFamily="34" charset="0"/>
                <a:ea typeface="標楷體" panose="03000509000000000000" pitchFamily="65" charset="-120"/>
              </a:defRPr>
            </a:lvl1pPr>
            <a:lvl2pPr marL="742950" indent="-285750">
              <a:spcBef>
                <a:spcPct val="20000"/>
              </a:spcBef>
              <a:buClr>
                <a:srgbClr val="0000FF"/>
              </a:buClr>
              <a:buSzPct val="90000"/>
              <a:buFont typeface="Arial" panose="020B0604020202020204" pitchFamily="34" charset="0"/>
              <a:buChar char="–"/>
              <a:defRPr kumimoji="1" sz="2400">
                <a:solidFill>
                  <a:schemeClr val="tx1"/>
                </a:solidFill>
                <a:latin typeface="Calibri" panose="020F050202020403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SzTx/>
              <a:buFontTx/>
              <a:buNone/>
            </a:pPr>
            <a:r>
              <a:rPr kumimoji="0" lang="en-US" altLang="zh-TW" sz="1800" b="1">
                <a:solidFill>
                  <a:srgbClr val="FF0000"/>
                </a:solidFill>
                <a:latin typeface="+mn-lt"/>
                <a:ea typeface="新細明體" panose="02020500000000000000" pitchFamily="18" charset="-120"/>
              </a:rPr>
              <a:t>Pin, Valgrind</a:t>
            </a:r>
            <a:endParaRPr kumimoji="0" lang="zh-TW" altLang="en-US" sz="1800" b="1">
              <a:solidFill>
                <a:srgbClr val="FF0000"/>
              </a:solidFill>
              <a:latin typeface="+mn-lt"/>
              <a:ea typeface="新細明體" panose="02020500000000000000" pitchFamily="18" charset="-12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p:txBody>
          <a:bodyPr/>
          <a:lstStyle/>
          <a:p>
            <a:pPr eaLnBrk="1" hangingPunct="1">
              <a:defRPr/>
            </a:pPr>
            <a:r>
              <a:rPr lang="en-US" altLang="zh-TW" dirty="0" smtClean="0">
                <a:solidFill>
                  <a:schemeClr val="accent1"/>
                </a:solidFill>
                <a:latin typeface="+mn-lt"/>
                <a:cs typeface="Times New Roman" panose="02020603050405020304" pitchFamily="18" charset="0"/>
              </a:rPr>
              <a:t>GPU Virtualization</a:t>
            </a:r>
          </a:p>
        </p:txBody>
      </p:sp>
      <p:sp>
        <p:nvSpPr>
          <p:cNvPr id="2" name="內容版面配置區 1"/>
          <p:cNvSpPr>
            <a:spLocks noGrp="1"/>
          </p:cNvSpPr>
          <p:nvPr>
            <p:ph idx="1"/>
          </p:nvPr>
        </p:nvSpPr>
        <p:spPr/>
        <p:txBody>
          <a:bodyPr/>
          <a:lstStyle/>
          <a:p>
            <a:pPr>
              <a:defRPr/>
            </a:pPr>
            <a:r>
              <a:rPr lang="en-US" altLang="zh-TW" dirty="0" smtClean="0">
                <a:latin typeface="+mn-lt"/>
              </a:rPr>
              <a:t> Enable GPU to be shared by multiple graphics applications</a:t>
            </a:r>
          </a:p>
          <a:p>
            <a:pPr lvl="1">
              <a:defRPr/>
            </a:pPr>
            <a:r>
              <a:rPr lang="en-US" altLang="zh-TW" dirty="0" smtClean="0">
                <a:latin typeface="+mn-lt"/>
              </a:rPr>
              <a:t>More like system VM, or server virtualization</a:t>
            </a:r>
          </a:p>
          <a:p>
            <a:pPr>
              <a:defRPr/>
            </a:pPr>
            <a:r>
              <a:rPr lang="en-US" altLang="zh-TW" dirty="0" smtClean="0">
                <a:latin typeface="+mn-lt"/>
              </a:rPr>
              <a:t>Graphics VISA (Virtual-ISA)</a:t>
            </a:r>
          </a:p>
          <a:p>
            <a:pPr lvl="1">
              <a:defRPr/>
            </a:pPr>
            <a:r>
              <a:rPr lang="en-US" altLang="zh-TW" dirty="0" smtClean="0">
                <a:latin typeface="+mn-lt"/>
              </a:rPr>
              <a:t>Graphics applications are translated into IR (Intermediate Representations) such as PTX (Parallel Thread Execution) or HSAIL (Heterogeneous Systems Architecture Intermediate Language). At runtime, such IR code can be translated for the underlying graphics devices. </a:t>
            </a:r>
          </a:p>
          <a:p>
            <a:pPr lvl="1">
              <a:defRPr/>
            </a:pPr>
            <a:r>
              <a:rPr lang="en-US" altLang="zh-TW" dirty="0" smtClean="0">
                <a:latin typeface="+mn-lt"/>
              </a:rPr>
              <a:t>More like HLL VM</a:t>
            </a:r>
          </a:p>
          <a:p>
            <a:pPr>
              <a:defRPr/>
            </a:pPr>
            <a:endParaRPr lang="en-US" altLang="zh-TW" dirty="0" smtClean="0">
              <a:latin typeface="+mn-lt"/>
            </a:endParaRPr>
          </a:p>
          <a:p>
            <a:pPr>
              <a:defRPr/>
            </a:pPr>
            <a:endParaRPr lang="en-US" altLang="zh-TW" dirty="0" smtClean="0">
              <a:latin typeface="+mn-lt"/>
            </a:endParaRPr>
          </a:p>
          <a:p>
            <a:pPr>
              <a:defRPr/>
            </a:pPr>
            <a:endParaRPr lang="zh-TW" altLang="en-US" dirty="0">
              <a:latin typeface="+mn-l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p:txBody>
          <a:bodyPr/>
          <a:lstStyle/>
          <a:p>
            <a:r>
              <a:rPr lang="en-US" altLang="zh-TW" dirty="0" smtClean="0">
                <a:latin typeface="+mn-lt"/>
              </a:rPr>
              <a:t>Review Virtualization Technology</a:t>
            </a:r>
            <a:endParaRPr lang="zh-TW" altLang="en-US" dirty="0">
              <a:latin typeface="+mn-lt"/>
            </a:endParaRPr>
          </a:p>
        </p:txBody>
      </p:sp>
      <p:sp>
        <p:nvSpPr>
          <p:cNvPr id="5" name="副標題 4"/>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910479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mn-lt"/>
              </a:rPr>
              <a:t>Common terms</a:t>
            </a:r>
            <a:endParaRPr lang="zh-TW" altLang="en-US" dirty="0">
              <a:latin typeface="+mn-lt"/>
            </a:endParaRPr>
          </a:p>
        </p:txBody>
      </p:sp>
      <p:sp>
        <p:nvSpPr>
          <p:cNvPr id="3" name="內容版面配置區 2"/>
          <p:cNvSpPr>
            <a:spLocks noGrp="1"/>
          </p:cNvSpPr>
          <p:nvPr>
            <p:ph idx="1"/>
          </p:nvPr>
        </p:nvSpPr>
        <p:spPr/>
        <p:txBody>
          <a:bodyPr>
            <a:normAutofit lnSpcReduction="10000"/>
          </a:bodyPr>
          <a:lstStyle/>
          <a:p>
            <a:r>
              <a:rPr lang="en-US" altLang="zh-TW" dirty="0" smtClean="0">
                <a:latin typeface="+mn-lt"/>
              </a:rPr>
              <a:t>Guest </a:t>
            </a:r>
            <a:r>
              <a:rPr lang="en-US" altLang="zh-TW" dirty="0">
                <a:latin typeface="+mn-lt"/>
              </a:rPr>
              <a:t>and </a:t>
            </a:r>
            <a:r>
              <a:rPr lang="en-US" altLang="zh-TW" dirty="0" smtClean="0">
                <a:latin typeface="+mn-lt"/>
              </a:rPr>
              <a:t>Host</a:t>
            </a:r>
          </a:p>
          <a:p>
            <a:pPr lvl="1"/>
            <a:r>
              <a:rPr lang="en-US" altLang="zh-TW" dirty="0">
                <a:solidFill>
                  <a:srgbClr val="FF0000"/>
                </a:solidFill>
                <a:latin typeface="+mn-lt"/>
              </a:rPr>
              <a:t>Guest</a:t>
            </a:r>
            <a:r>
              <a:rPr lang="en-US" altLang="zh-TW" dirty="0">
                <a:latin typeface="+mn-lt"/>
              </a:rPr>
              <a:t>: Environment that is being supported by underlying </a:t>
            </a:r>
            <a:r>
              <a:rPr lang="en-US" altLang="zh-TW" dirty="0" smtClean="0">
                <a:latin typeface="+mn-lt"/>
              </a:rPr>
              <a:t>platform</a:t>
            </a:r>
            <a:endParaRPr lang="en-US" altLang="zh-TW" dirty="0">
              <a:latin typeface="+mn-lt"/>
            </a:endParaRPr>
          </a:p>
          <a:p>
            <a:pPr lvl="1"/>
            <a:r>
              <a:rPr lang="en-US" altLang="zh-TW" dirty="0">
                <a:solidFill>
                  <a:srgbClr val="FF0000"/>
                </a:solidFill>
                <a:latin typeface="+mn-lt"/>
              </a:rPr>
              <a:t>Host</a:t>
            </a:r>
            <a:r>
              <a:rPr lang="en-US" altLang="zh-TW" dirty="0">
                <a:latin typeface="+mn-lt"/>
              </a:rPr>
              <a:t>: Underlying platform that provides guest </a:t>
            </a:r>
            <a:r>
              <a:rPr lang="en-US" altLang="zh-TW" dirty="0" smtClean="0">
                <a:latin typeface="+mn-lt"/>
              </a:rPr>
              <a:t>environment</a:t>
            </a:r>
          </a:p>
          <a:p>
            <a:pPr lvl="1"/>
            <a:r>
              <a:rPr lang="en-US" altLang="zh-TW" dirty="0" smtClean="0">
                <a:latin typeface="+mn-lt"/>
              </a:rPr>
              <a:t>Example: Emulating </a:t>
            </a:r>
            <a:r>
              <a:rPr lang="en-US" altLang="zh-TW" dirty="0">
                <a:latin typeface="+mn-lt"/>
              </a:rPr>
              <a:t>a </a:t>
            </a:r>
            <a:r>
              <a:rPr lang="en-US" altLang="zh-TW" dirty="0" smtClean="0">
                <a:latin typeface="+mn-lt"/>
              </a:rPr>
              <a:t>Android(ARM) on PC(Intel), </a:t>
            </a:r>
            <a:r>
              <a:rPr lang="en-US" altLang="zh-TW" dirty="0">
                <a:latin typeface="+mn-lt"/>
              </a:rPr>
              <a:t>Android </a:t>
            </a:r>
            <a:r>
              <a:rPr lang="en-US" altLang="zh-TW" dirty="0" smtClean="0">
                <a:latin typeface="+mn-lt"/>
              </a:rPr>
              <a:t>is the Guest, PC is the Host</a:t>
            </a:r>
          </a:p>
          <a:p>
            <a:r>
              <a:rPr lang="en-US" altLang="zh-TW" dirty="0">
                <a:latin typeface="+mn-lt"/>
              </a:rPr>
              <a:t>Ways of implementing emulation</a:t>
            </a:r>
          </a:p>
          <a:p>
            <a:pPr lvl="1"/>
            <a:r>
              <a:rPr lang="en-US" altLang="zh-TW" dirty="0">
                <a:solidFill>
                  <a:srgbClr val="FF0000"/>
                </a:solidFill>
                <a:latin typeface="+mn-lt"/>
              </a:rPr>
              <a:t>Interpretation</a:t>
            </a:r>
            <a:r>
              <a:rPr lang="en-US" altLang="zh-TW" dirty="0">
                <a:latin typeface="+mn-lt"/>
              </a:rPr>
              <a:t>: </a:t>
            </a:r>
            <a:r>
              <a:rPr lang="en-US" altLang="zh-TW" dirty="0" smtClean="0">
                <a:latin typeface="+mn-lt"/>
              </a:rPr>
              <a:t>instructions </a:t>
            </a:r>
            <a:r>
              <a:rPr lang="en-US" altLang="zh-TW" dirty="0">
                <a:latin typeface="+mn-lt"/>
              </a:rPr>
              <a:t>at-a-time</a:t>
            </a:r>
          </a:p>
          <a:p>
            <a:pPr lvl="1"/>
            <a:r>
              <a:rPr lang="en-US" altLang="zh-TW" dirty="0">
                <a:solidFill>
                  <a:srgbClr val="FF0000"/>
                </a:solidFill>
                <a:latin typeface="+mn-lt"/>
              </a:rPr>
              <a:t>Binary Translation</a:t>
            </a:r>
            <a:r>
              <a:rPr lang="en-US" altLang="zh-TW" dirty="0">
                <a:latin typeface="+mn-lt"/>
              </a:rPr>
              <a:t>: block-at-a-time optimized for repeated instruction executions. (block could be a trace, or even a procedure)</a:t>
            </a:r>
          </a:p>
          <a:p>
            <a:endParaRPr lang="en-US" altLang="zh-TW" dirty="0" smtClean="0">
              <a:latin typeface="+mn-lt"/>
            </a:endParaRPr>
          </a:p>
          <a:p>
            <a:endParaRPr lang="en-US" altLang="zh-TW" dirty="0">
              <a:latin typeface="+mn-lt"/>
            </a:endParaRPr>
          </a:p>
          <a:p>
            <a:endParaRPr lang="en-US" altLang="zh-TW" dirty="0">
              <a:latin typeface="+mn-lt"/>
            </a:endParaRPr>
          </a:p>
          <a:p>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31</a:t>
            </a:fld>
            <a:endParaRPr lang="en-US" dirty="0">
              <a:latin typeface="+mn-lt"/>
            </a:endParaRPr>
          </a:p>
        </p:txBody>
      </p:sp>
    </p:spTree>
    <p:extLst>
      <p:ext uri="{BB962C8B-B14F-4D97-AF65-F5344CB8AC3E}">
        <p14:creationId xmlns:p14="http://schemas.microsoft.com/office/powerpoint/2010/main" val="6098159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Interpretation</a:t>
            </a:r>
            <a:endParaRPr lang="zh-TW" altLang="en-US" dirty="0">
              <a:latin typeface="+mn-lt"/>
            </a:endParaRPr>
          </a:p>
        </p:txBody>
      </p:sp>
      <p:sp>
        <p:nvSpPr>
          <p:cNvPr id="3" name="內容版面配置區 2"/>
          <p:cNvSpPr>
            <a:spLocks noGrp="1"/>
          </p:cNvSpPr>
          <p:nvPr>
            <p:ph idx="1"/>
          </p:nvPr>
        </p:nvSpPr>
        <p:spPr/>
        <p:txBody>
          <a:bodyPr/>
          <a:lstStyle/>
          <a:p>
            <a:r>
              <a:rPr lang="en-US" altLang="zh-TW" dirty="0" smtClean="0">
                <a:latin typeface="+mn-lt"/>
              </a:rPr>
              <a:t>Source</a:t>
            </a:r>
            <a:r>
              <a:rPr lang="zh-TW" altLang="en-US" dirty="0" smtClean="0">
                <a:latin typeface="+mn-lt"/>
              </a:rPr>
              <a:t> </a:t>
            </a:r>
            <a:r>
              <a:rPr lang="en-US" altLang="zh-TW" dirty="0" smtClean="0">
                <a:latin typeface="+mn-lt"/>
              </a:rPr>
              <a:t>ISA and Target ISA</a:t>
            </a:r>
          </a:p>
          <a:p>
            <a:pPr lvl="1"/>
            <a:r>
              <a:rPr lang="en-US" altLang="zh-TW" dirty="0">
                <a:solidFill>
                  <a:srgbClr val="FF0000"/>
                </a:solidFill>
                <a:latin typeface="+mn-lt"/>
              </a:rPr>
              <a:t>Source</a:t>
            </a:r>
            <a:r>
              <a:rPr lang="zh-TW" altLang="en-US" dirty="0">
                <a:solidFill>
                  <a:srgbClr val="FF0000"/>
                </a:solidFill>
                <a:latin typeface="+mn-lt"/>
              </a:rPr>
              <a:t> </a:t>
            </a:r>
            <a:r>
              <a:rPr lang="en-US" altLang="zh-TW" dirty="0" smtClean="0">
                <a:solidFill>
                  <a:srgbClr val="FF0000"/>
                </a:solidFill>
                <a:latin typeface="+mn-lt"/>
              </a:rPr>
              <a:t>ISA</a:t>
            </a:r>
            <a:r>
              <a:rPr lang="en-US" altLang="zh-TW" dirty="0" smtClean="0">
                <a:latin typeface="+mn-lt"/>
              </a:rPr>
              <a:t>: Original </a:t>
            </a:r>
            <a:r>
              <a:rPr lang="en-US" altLang="zh-TW" dirty="0">
                <a:latin typeface="+mn-lt"/>
              </a:rPr>
              <a:t>instruction set or </a:t>
            </a:r>
            <a:r>
              <a:rPr lang="en-US" altLang="zh-TW" dirty="0" smtClean="0">
                <a:latin typeface="+mn-lt"/>
              </a:rPr>
              <a:t>binary</a:t>
            </a:r>
          </a:p>
          <a:p>
            <a:pPr lvl="1"/>
            <a:r>
              <a:rPr lang="en-US" altLang="zh-TW" dirty="0">
                <a:solidFill>
                  <a:srgbClr val="FF0000"/>
                </a:solidFill>
                <a:latin typeface="+mn-lt"/>
              </a:rPr>
              <a:t>Target </a:t>
            </a:r>
            <a:r>
              <a:rPr lang="en-US" altLang="zh-TW" dirty="0" smtClean="0">
                <a:solidFill>
                  <a:srgbClr val="FF0000"/>
                </a:solidFill>
                <a:latin typeface="+mn-lt"/>
              </a:rPr>
              <a:t>ISA</a:t>
            </a:r>
            <a:r>
              <a:rPr lang="en-US" altLang="zh-TW" dirty="0" smtClean="0">
                <a:latin typeface="+mn-lt"/>
              </a:rPr>
              <a:t>: Instruction </a:t>
            </a:r>
            <a:r>
              <a:rPr lang="en-US" altLang="zh-TW" dirty="0">
                <a:latin typeface="+mn-lt"/>
              </a:rPr>
              <a:t>set being executed by processor </a:t>
            </a:r>
            <a:endParaRPr lang="en-US" altLang="zh-TW" dirty="0" smtClean="0">
              <a:latin typeface="+mn-lt"/>
            </a:endParaRPr>
          </a:p>
          <a:p>
            <a:pPr lvl="1"/>
            <a:r>
              <a:rPr lang="en-US" altLang="zh-TW" dirty="0">
                <a:latin typeface="+mn-lt"/>
              </a:rPr>
              <a:t>Source/Target refer to </a:t>
            </a:r>
            <a:r>
              <a:rPr lang="en-US" altLang="zh-TW" dirty="0" smtClean="0">
                <a:latin typeface="+mn-lt"/>
              </a:rPr>
              <a:t>ISAs;</a:t>
            </a:r>
            <a:r>
              <a:rPr lang="zh-TW" altLang="en-US" dirty="0" smtClean="0">
                <a:latin typeface="+mn-lt"/>
              </a:rPr>
              <a:t> </a:t>
            </a:r>
            <a:r>
              <a:rPr lang="en-US" altLang="zh-TW" dirty="0" smtClean="0">
                <a:latin typeface="+mn-lt"/>
              </a:rPr>
              <a:t>Guest/Host </a:t>
            </a:r>
            <a:r>
              <a:rPr lang="en-US" altLang="zh-TW" dirty="0">
                <a:latin typeface="+mn-lt"/>
              </a:rPr>
              <a:t>refer to </a:t>
            </a:r>
            <a:r>
              <a:rPr lang="en-US" altLang="zh-TW" dirty="0" smtClean="0">
                <a:latin typeface="+mn-lt"/>
              </a:rPr>
              <a:t>platforms</a:t>
            </a:r>
          </a:p>
          <a:p>
            <a:r>
              <a:rPr lang="en-US" altLang="zh-TW" dirty="0">
                <a:latin typeface="+mn-lt"/>
              </a:rPr>
              <a:t>Hold complete source architecture state in the </a:t>
            </a:r>
            <a:r>
              <a:rPr lang="en-US" altLang="zh-TW" dirty="0" smtClean="0">
                <a:latin typeface="+mn-lt"/>
              </a:rPr>
              <a:t>interpreter’s </a:t>
            </a:r>
            <a:r>
              <a:rPr lang="en-US" altLang="zh-TW" dirty="0">
                <a:latin typeface="+mn-lt"/>
              </a:rPr>
              <a:t>data memory</a:t>
            </a:r>
          </a:p>
          <a:p>
            <a:pPr lvl="1"/>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32</a:t>
            </a:fld>
            <a:endParaRPr lang="en-US" dirty="0">
              <a:latin typeface="+mn-lt"/>
            </a:endParaRPr>
          </a:p>
        </p:txBody>
      </p:sp>
      <p:grpSp>
        <p:nvGrpSpPr>
          <p:cNvPr id="28" name="群組 27"/>
          <p:cNvGrpSpPr/>
          <p:nvPr/>
        </p:nvGrpSpPr>
        <p:grpSpPr>
          <a:xfrm>
            <a:off x="3237842" y="4226749"/>
            <a:ext cx="5232082" cy="2144745"/>
            <a:chOff x="3237842" y="4226749"/>
            <a:chExt cx="5232082" cy="2144745"/>
          </a:xfrm>
          <a:solidFill>
            <a:schemeClr val="accent4"/>
          </a:solidFill>
        </p:grpSpPr>
        <p:grpSp>
          <p:nvGrpSpPr>
            <p:cNvPr id="24" name="群組 23"/>
            <p:cNvGrpSpPr/>
            <p:nvPr/>
          </p:nvGrpSpPr>
          <p:grpSpPr>
            <a:xfrm>
              <a:off x="3237842" y="4930661"/>
              <a:ext cx="1021307" cy="1440833"/>
              <a:chOff x="2264992" y="4939122"/>
              <a:chExt cx="1021307" cy="1440833"/>
            </a:xfrm>
            <a:grpFill/>
          </p:grpSpPr>
          <p:sp>
            <p:nvSpPr>
              <p:cNvPr id="7" name="Rectangle 5"/>
              <p:cNvSpPr/>
              <p:nvPr/>
            </p:nvSpPr>
            <p:spPr>
              <a:xfrm>
                <a:off x="2264992" y="4939122"/>
                <a:ext cx="1021307" cy="3600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Code</a:t>
                </a:r>
                <a:endParaRPr lang="en-US" sz="1600" dirty="0">
                  <a:solidFill>
                    <a:schemeClr val="bg1"/>
                  </a:solidFill>
                </a:endParaRPr>
              </a:p>
            </p:txBody>
          </p:sp>
          <p:sp>
            <p:nvSpPr>
              <p:cNvPr id="8" name="Rectangle 6"/>
              <p:cNvSpPr/>
              <p:nvPr/>
            </p:nvSpPr>
            <p:spPr>
              <a:xfrm>
                <a:off x="2264992" y="5299400"/>
                <a:ext cx="1021307" cy="3600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Data</a:t>
                </a:r>
                <a:endParaRPr lang="en-US" sz="1600" dirty="0">
                  <a:solidFill>
                    <a:schemeClr val="bg1"/>
                  </a:solidFill>
                </a:endParaRPr>
              </a:p>
            </p:txBody>
          </p:sp>
          <p:sp>
            <p:nvSpPr>
              <p:cNvPr id="9" name="Rectangle 7"/>
              <p:cNvSpPr/>
              <p:nvPr/>
            </p:nvSpPr>
            <p:spPr>
              <a:xfrm>
                <a:off x="2264992" y="5659678"/>
                <a:ext cx="1021307" cy="3600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10" name="Rectangle 8"/>
              <p:cNvSpPr/>
              <p:nvPr/>
            </p:nvSpPr>
            <p:spPr>
              <a:xfrm>
                <a:off x="2264992" y="6019955"/>
                <a:ext cx="1021307" cy="3600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Stack</a:t>
                </a:r>
                <a:endParaRPr lang="en-US" sz="1600" dirty="0">
                  <a:solidFill>
                    <a:schemeClr val="bg1"/>
                  </a:solidFill>
                </a:endParaRPr>
              </a:p>
            </p:txBody>
          </p:sp>
        </p:grpSp>
        <p:sp>
          <p:nvSpPr>
            <p:cNvPr id="17" name="Rectangle 15"/>
            <p:cNvSpPr/>
            <p:nvPr/>
          </p:nvSpPr>
          <p:spPr>
            <a:xfrm>
              <a:off x="4758316" y="5299122"/>
              <a:ext cx="1531961" cy="61278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Interpreter Code</a:t>
              </a:r>
              <a:endParaRPr lang="en-US" sz="1600" dirty="0">
                <a:solidFill>
                  <a:schemeClr val="bg1"/>
                </a:solidFill>
              </a:endParaRPr>
            </a:p>
          </p:txBody>
        </p:sp>
        <p:grpSp>
          <p:nvGrpSpPr>
            <p:cNvPr id="21" name="群組 20"/>
            <p:cNvGrpSpPr/>
            <p:nvPr/>
          </p:nvGrpSpPr>
          <p:grpSpPr>
            <a:xfrm>
              <a:off x="6738231" y="4226749"/>
              <a:ext cx="1731693" cy="2144745"/>
              <a:chOff x="6407155" y="2887980"/>
              <a:chExt cx="1731693" cy="2144745"/>
            </a:xfrm>
            <a:grpFill/>
          </p:grpSpPr>
          <p:sp>
            <p:nvSpPr>
              <p:cNvPr id="11" name="Rectangle 9"/>
              <p:cNvSpPr/>
              <p:nvPr/>
            </p:nvSpPr>
            <p:spPr>
              <a:xfrm>
                <a:off x="6532554" y="3194372"/>
                <a:ext cx="1480895" cy="3063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Program counter</a:t>
                </a:r>
                <a:endParaRPr lang="en-US" sz="1200" b="1" dirty="0">
                  <a:solidFill>
                    <a:schemeClr val="bg1"/>
                  </a:solidFill>
                </a:endParaRPr>
              </a:p>
            </p:txBody>
          </p:sp>
          <p:sp>
            <p:nvSpPr>
              <p:cNvPr id="12" name="Rectangle 10"/>
              <p:cNvSpPr/>
              <p:nvPr/>
            </p:nvSpPr>
            <p:spPr>
              <a:xfrm>
                <a:off x="6532554" y="3500764"/>
                <a:ext cx="1480895" cy="3063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Condition codes</a:t>
                </a:r>
                <a:endParaRPr lang="en-US" sz="1200" b="1" dirty="0">
                  <a:solidFill>
                    <a:schemeClr val="bg1"/>
                  </a:solidFill>
                </a:endParaRPr>
              </a:p>
            </p:txBody>
          </p:sp>
          <p:sp>
            <p:nvSpPr>
              <p:cNvPr id="13" name="Rectangle 11"/>
              <p:cNvSpPr/>
              <p:nvPr/>
            </p:nvSpPr>
            <p:spPr>
              <a:xfrm>
                <a:off x="6532554" y="3807157"/>
                <a:ext cx="1480895" cy="3063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Register 0</a:t>
                </a:r>
                <a:endParaRPr lang="en-US" sz="1200" b="1" dirty="0">
                  <a:solidFill>
                    <a:schemeClr val="bg1"/>
                  </a:solidFill>
                </a:endParaRPr>
              </a:p>
            </p:txBody>
          </p:sp>
          <p:sp>
            <p:nvSpPr>
              <p:cNvPr id="14" name="Rectangle 12"/>
              <p:cNvSpPr/>
              <p:nvPr/>
            </p:nvSpPr>
            <p:spPr>
              <a:xfrm>
                <a:off x="6532554" y="4113549"/>
                <a:ext cx="1480895" cy="3063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Register 1</a:t>
                </a:r>
                <a:endParaRPr lang="en-US" sz="1200" b="1" dirty="0">
                  <a:solidFill>
                    <a:schemeClr val="bg1"/>
                  </a:solidFill>
                </a:endParaRPr>
              </a:p>
            </p:txBody>
          </p:sp>
          <p:sp>
            <p:nvSpPr>
              <p:cNvPr id="15" name="Rectangle 13"/>
              <p:cNvSpPr/>
              <p:nvPr/>
            </p:nvSpPr>
            <p:spPr>
              <a:xfrm>
                <a:off x="6532554" y="4419941"/>
                <a:ext cx="1480895" cy="3063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a:t>
                </a:r>
                <a:endParaRPr lang="en-US" sz="1200" b="1" dirty="0">
                  <a:solidFill>
                    <a:schemeClr val="bg1"/>
                  </a:solidFill>
                </a:endParaRPr>
              </a:p>
            </p:txBody>
          </p:sp>
          <p:sp>
            <p:nvSpPr>
              <p:cNvPr id="16" name="Rectangle 14"/>
              <p:cNvSpPr/>
              <p:nvPr/>
            </p:nvSpPr>
            <p:spPr>
              <a:xfrm>
                <a:off x="6532554" y="4726333"/>
                <a:ext cx="1480895" cy="3063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Register N</a:t>
                </a:r>
                <a:endParaRPr lang="en-US" sz="1200" b="1" dirty="0">
                  <a:solidFill>
                    <a:schemeClr val="bg1"/>
                  </a:solidFill>
                </a:endParaRPr>
              </a:p>
            </p:txBody>
          </p:sp>
          <p:sp>
            <p:nvSpPr>
              <p:cNvPr id="18" name="TextBox 16"/>
              <p:cNvSpPr txBox="1"/>
              <p:nvPr/>
            </p:nvSpPr>
            <p:spPr>
              <a:xfrm>
                <a:off x="6407155" y="2887980"/>
                <a:ext cx="1731693" cy="307777"/>
              </a:xfrm>
              <a:prstGeom prst="rect">
                <a:avLst/>
              </a:prstGeom>
              <a:noFill/>
              <a:ln>
                <a:noFill/>
              </a:ln>
            </p:spPr>
            <p:txBody>
              <a:bodyPr wrap="none" rtlCol="0">
                <a:spAutoFit/>
              </a:bodyPr>
              <a:lstStyle/>
              <a:p>
                <a:r>
                  <a:rPr lang="en-US" sz="1400" b="1" dirty="0" smtClean="0">
                    <a:latin typeface="+mn-lt"/>
                  </a:rPr>
                  <a:t>Architecture State</a:t>
                </a:r>
                <a:endParaRPr lang="en-US" sz="1400" b="1" dirty="0">
                  <a:latin typeface="+mn-lt"/>
                </a:endParaRPr>
              </a:p>
            </p:txBody>
          </p:sp>
        </p:grpSp>
        <p:cxnSp>
          <p:nvCxnSpPr>
            <p:cNvPr id="23" name="直線單箭頭接點 22"/>
            <p:cNvCxnSpPr>
              <a:stCxn id="17" idx="3"/>
              <a:endCxn id="14" idx="1"/>
            </p:cNvCxnSpPr>
            <p:nvPr/>
          </p:nvCxnSpPr>
          <p:spPr>
            <a:xfrm>
              <a:off x="6290277" y="5605514"/>
              <a:ext cx="573353" cy="0"/>
            </a:xfrm>
            <a:prstGeom prst="straightConnector1">
              <a:avLst/>
            </a:prstGeom>
            <a:grpFill/>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a:stCxn id="8" idx="3"/>
              <a:endCxn id="17" idx="1"/>
            </p:cNvCxnSpPr>
            <p:nvPr/>
          </p:nvCxnSpPr>
          <p:spPr>
            <a:xfrm>
              <a:off x="4259149" y="5470939"/>
              <a:ext cx="499167" cy="134575"/>
            </a:xfrm>
            <a:prstGeom prst="straightConnector1">
              <a:avLst/>
            </a:prstGeom>
            <a:grpFill/>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111619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Decode-Dispatch </a:t>
            </a:r>
            <a:r>
              <a:rPr lang="en-US" altLang="zh-TW" dirty="0" smtClean="0">
                <a:latin typeface="+mn-lt"/>
              </a:rPr>
              <a:t>Interpretation</a:t>
            </a:r>
            <a:endParaRPr lang="zh-TW" altLang="en-US" dirty="0">
              <a:latin typeface="+mn-lt"/>
            </a:endParaRPr>
          </a:p>
        </p:txBody>
      </p:sp>
      <p:sp>
        <p:nvSpPr>
          <p:cNvPr id="5" name="內容版面配置區 4"/>
          <p:cNvSpPr>
            <a:spLocks noGrp="1"/>
          </p:cNvSpPr>
          <p:nvPr>
            <p:ph sz="half" idx="1"/>
          </p:nvPr>
        </p:nvSpPr>
        <p:spPr>
          <a:xfrm>
            <a:off x="457200" y="1125538"/>
            <a:ext cx="4038600" cy="4741862"/>
          </a:xfrm>
        </p:spPr>
        <p:txBody>
          <a:bodyPr>
            <a:noAutofit/>
          </a:bodyPr>
          <a:lstStyle/>
          <a:p>
            <a:pPr marL="0" indent="0">
              <a:buNone/>
            </a:pPr>
            <a:r>
              <a:rPr lang="en-US" altLang="zh-TW" sz="1600" dirty="0">
                <a:latin typeface="+mn-lt"/>
              </a:rPr>
              <a:t>while (!halt &amp;&amp; !interrupt)  </a:t>
            </a:r>
          </a:p>
          <a:p>
            <a:pPr marL="0" indent="0">
              <a:buNone/>
            </a:pPr>
            <a:r>
              <a:rPr lang="en-US" altLang="zh-TW" sz="1600" dirty="0">
                <a:latin typeface="+mn-lt"/>
              </a:rPr>
              <a:t>{</a:t>
            </a:r>
          </a:p>
          <a:p>
            <a:pPr marL="0" indent="0">
              <a:buNone/>
            </a:pPr>
            <a:r>
              <a:rPr lang="en-US" altLang="zh-TW" sz="1600" dirty="0">
                <a:latin typeface="+mn-lt"/>
              </a:rPr>
              <a:t>	</a:t>
            </a:r>
            <a:r>
              <a:rPr lang="en-US" altLang="zh-TW" sz="1600" dirty="0" err="1">
                <a:latin typeface="+mn-lt"/>
              </a:rPr>
              <a:t>inst</a:t>
            </a:r>
            <a:r>
              <a:rPr lang="en-US" altLang="zh-TW" sz="1600" dirty="0">
                <a:latin typeface="+mn-lt"/>
              </a:rPr>
              <a:t> = </a:t>
            </a:r>
            <a:r>
              <a:rPr lang="en-US" altLang="zh-TW" sz="1600" dirty="0" smtClean="0">
                <a:latin typeface="+mn-lt"/>
              </a:rPr>
              <a:t>code (</a:t>
            </a:r>
            <a:r>
              <a:rPr lang="en-US" altLang="zh-TW" sz="1600" dirty="0">
                <a:latin typeface="+mn-lt"/>
              </a:rPr>
              <a:t>PC);</a:t>
            </a:r>
          </a:p>
          <a:p>
            <a:pPr marL="0" indent="0">
              <a:buNone/>
            </a:pPr>
            <a:r>
              <a:rPr lang="en-US" altLang="zh-TW" sz="1600" dirty="0">
                <a:latin typeface="+mn-lt"/>
              </a:rPr>
              <a:t>	</a:t>
            </a:r>
            <a:r>
              <a:rPr lang="en-US" altLang="zh-TW" sz="1600" dirty="0" err="1">
                <a:latin typeface="+mn-lt"/>
              </a:rPr>
              <a:t>opcode</a:t>
            </a:r>
            <a:r>
              <a:rPr lang="en-US" altLang="zh-TW" sz="1600" dirty="0">
                <a:latin typeface="+mn-lt"/>
              </a:rPr>
              <a:t> = </a:t>
            </a:r>
            <a:r>
              <a:rPr lang="en-US" altLang="zh-TW" sz="1600" dirty="0" smtClean="0">
                <a:latin typeface="+mn-lt"/>
              </a:rPr>
              <a:t>extract (</a:t>
            </a:r>
            <a:r>
              <a:rPr lang="en-US" altLang="zh-TW" sz="1600" dirty="0" err="1" smtClean="0">
                <a:latin typeface="+mn-lt"/>
              </a:rPr>
              <a:t>inst</a:t>
            </a:r>
            <a:r>
              <a:rPr lang="en-US" altLang="zh-TW" sz="1600" dirty="0" smtClean="0">
                <a:latin typeface="+mn-lt"/>
              </a:rPr>
              <a:t>, 31, 6</a:t>
            </a:r>
            <a:r>
              <a:rPr lang="en-US" altLang="zh-TW" sz="1600" dirty="0">
                <a:latin typeface="+mn-lt"/>
              </a:rPr>
              <a:t>);</a:t>
            </a:r>
          </a:p>
          <a:p>
            <a:pPr marL="0" indent="0">
              <a:buNone/>
            </a:pPr>
            <a:r>
              <a:rPr lang="en-US" altLang="zh-TW" sz="1600" dirty="0">
                <a:latin typeface="+mn-lt"/>
              </a:rPr>
              <a:t>	</a:t>
            </a:r>
            <a:r>
              <a:rPr lang="en-US" altLang="zh-TW" sz="1600" dirty="0" smtClean="0">
                <a:latin typeface="+mn-lt"/>
              </a:rPr>
              <a:t>switch (</a:t>
            </a:r>
            <a:r>
              <a:rPr lang="en-US" altLang="zh-TW" sz="1600" dirty="0" err="1" smtClean="0">
                <a:latin typeface="+mn-lt"/>
              </a:rPr>
              <a:t>opcode</a:t>
            </a:r>
            <a:r>
              <a:rPr lang="en-US" altLang="zh-TW" sz="1600" dirty="0">
                <a:latin typeface="+mn-lt"/>
              </a:rPr>
              <a:t>) {</a:t>
            </a:r>
          </a:p>
          <a:p>
            <a:pPr marL="0" indent="0">
              <a:buNone/>
            </a:pPr>
            <a:r>
              <a:rPr lang="en-US" altLang="zh-TW" sz="1600" dirty="0">
                <a:latin typeface="+mn-lt"/>
              </a:rPr>
              <a:t>		case </a:t>
            </a:r>
            <a:r>
              <a:rPr lang="en-US" altLang="zh-TW" sz="1600" dirty="0" err="1">
                <a:latin typeface="+mn-lt"/>
              </a:rPr>
              <a:t>LoadWord</a:t>
            </a:r>
            <a:r>
              <a:rPr lang="en-US" altLang="zh-TW" sz="1600" dirty="0">
                <a:latin typeface="+mn-lt"/>
              </a:rPr>
              <a:t>:	</a:t>
            </a:r>
            <a:r>
              <a:rPr lang="en-US" altLang="zh-TW" sz="1600" dirty="0" err="1" smtClean="0">
                <a:latin typeface="+mn-lt"/>
              </a:rPr>
              <a:t>LoadWord</a:t>
            </a:r>
            <a:r>
              <a:rPr lang="en-US" altLang="zh-TW" sz="1600" dirty="0" smtClean="0">
                <a:latin typeface="+mn-lt"/>
              </a:rPr>
              <a:t> (</a:t>
            </a:r>
            <a:r>
              <a:rPr lang="en-US" altLang="zh-TW" sz="1600" dirty="0" err="1">
                <a:latin typeface="+mn-lt"/>
              </a:rPr>
              <a:t>inst</a:t>
            </a:r>
            <a:r>
              <a:rPr lang="en-US" altLang="zh-TW" sz="1600" dirty="0" smtClean="0">
                <a:latin typeface="+mn-lt"/>
              </a:rPr>
              <a:t>);</a:t>
            </a:r>
            <a:endParaRPr lang="en-US" altLang="zh-TW" sz="1600" dirty="0">
              <a:latin typeface="+mn-lt"/>
            </a:endParaRPr>
          </a:p>
          <a:p>
            <a:pPr marL="0" indent="0">
              <a:buNone/>
            </a:pPr>
            <a:r>
              <a:rPr lang="en-US" altLang="zh-TW" sz="1600" dirty="0">
                <a:latin typeface="+mn-lt"/>
              </a:rPr>
              <a:t>		case ALU: 		</a:t>
            </a:r>
            <a:r>
              <a:rPr lang="en-US" altLang="zh-TW" sz="1600" dirty="0" smtClean="0">
                <a:latin typeface="+mn-lt"/>
              </a:rPr>
              <a:t>ALU (</a:t>
            </a:r>
            <a:r>
              <a:rPr lang="en-US" altLang="zh-TW" sz="1600" dirty="0" err="1">
                <a:latin typeface="+mn-lt"/>
              </a:rPr>
              <a:t>inst</a:t>
            </a:r>
            <a:r>
              <a:rPr lang="en-US" altLang="zh-TW" sz="1600" dirty="0" smtClean="0">
                <a:latin typeface="+mn-lt"/>
              </a:rPr>
              <a:t>);</a:t>
            </a:r>
            <a:endParaRPr lang="en-US" altLang="zh-TW" sz="1600" dirty="0">
              <a:latin typeface="+mn-lt"/>
            </a:endParaRPr>
          </a:p>
          <a:p>
            <a:pPr marL="0" indent="0">
              <a:buNone/>
            </a:pPr>
            <a:r>
              <a:rPr lang="en-US" altLang="zh-TW" sz="1600" dirty="0">
                <a:latin typeface="+mn-lt"/>
              </a:rPr>
              <a:t>		case Branch: 	</a:t>
            </a:r>
            <a:r>
              <a:rPr lang="en-US" altLang="zh-TW" sz="1600" dirty="0" smtClean="0">
                <a:latin typeface="+mn-lt"/>
              </a:rPr>
              <a:t>Branch (</a:t>
            </a:r>
            <a:r>
              <a:rPr lang="en-US" altLang="zh-TW" sz="1600" dirty="0" err="1">
                <a:latin typeface="+mn-lt"/>
              </a:rPr>
              <a:t>inst</a:t>
            </a:r>
            <a:r>
              <a:rPr lang="en-US" altLang="zh-TW" sz="1600" dirty="0">
                <a:latin typeface="+mn-lt"/>
              </a:rPr>
              <a:t>);</a:t>
            </a:r>
          </a:p>
          <a:p>
            <a:pPr marL="0" indent="0">
              <a:buNone/>
            </a:pPr>
            <a:r>
              <a:rPr lang="en-US" altLang="zh-TW" sz="1600" dirty="0">
                <a:latin typeface="+mn-lt"/>
              </a:rPr>
              <a:t>		. . .</a:t>
            </a:r>
          </a:p>
          <a:p>
            <a:pPr marL="0" indent="0">
              <a:buNone/>
            </a:pPr>
            <a:r>
              <a:rPr lang="en-US" altLang="zh-TW" sz="1600" dirty="0">
                <a:latin typeface="+mn-lt"/>
              </a:rPr>
              <a:t>}</a:t>
            </a:r>
          </a:p>
          <a:p>
            <a:pPr marL="0" indent="0">
              <a:buNone/>
            </a:pPr>
            <a:endParaRPr lang="zh-TW" altLang="en-US" sz="1600" dirty="0">
              <a:latin typeface="+mn-lt"/>
            </a:endParaRPr>
          </a:p>
        </p:txBody>
      </p:sp>
      <p:sp>
        <p:nvSpPr>
          <p:cNvPr id="6" name="內容版面配置區 5"/>
          <p:cNvSpPr>
            <a:spLocks noGrp="1"/>
          </p:cNvSpPr>
          <p:nvPr>
            <p:ph sz="half" idx="2"/>
          </p:nvPr>
        </p:nvSpPr>
        <p:spPr>
          <a:xfrm>
            <a:off x="4648200" y="1125538"/>
            <a:ext cx="4038600" cy="4741862"/>
          </a:xfrm>
        </p:spPr>
        <p:txBody>
          <a:bodyPr>
            <a:normAutofit/>
          </a:bodyPr>
          <a:lstStyle/>
          <a:p>
            <a:pPr marL="0" indent="0">
              <a:buNone/>
            </a:pPr>
            <a:r>
              <a:rPr lang="en-US" altLang="zh-TW" sz="1800" dirty="0" err="1">
                <a:latin typeface="+mn-lt"/>
              </a:rPr>
              <a:t>LoadWord</a:t>
            </a:r>
            <a:r>
              <a:rPr lang="en-US" altLang="zh-TW" sz="1800" dirty="0">
                <a:latin typeface="+mn-lt"/>
              </a:rPr>
              <a:t>(</a:t>
            </a:r>
            <a:r>
              <a:rPr lang="en-US" altLang="zh-TW" sz="1800" dirty="0" err="1">
                <a:latin typeface="+mn-lt"/>
              </a:rPr>
              <a:t>inst</a:t>
            </a:r>
            <a:r>
              <a:rPr lang="en-US" altLang="zh-TW" sz="1800" dirty="0">
                <a:latin typeface="+mn-lt"/>
              </a:rPr>
              <a:t>)</a:t>
            </a:r>
          </a:p>
          <a:p>
            <a:pPr marL="0" indent="0">
              <a:buNone/>
            </a:pPr>
            <a:r>
              <a:rPr lang="en-US" altLang="zh-TW" sz="1800" dirty="0">
                <a:latin typeface="+mn-lt"/>
              </a:rPr>
              <a:t>{</a:t>
            </a:r>
          </a:p>
          <a:p>
            <a:pPr marL="0" indent="0">
              <a:buNone/>
            </a:pPr>
            <a:r>
              <a:rPr lang="en-US" altLang="zh-TW" sz="1800" dirty="0">
                <a:latin typeface="+mn-lt"/>
              </a:rPr>
              <a:t>	RT = extract (inst,25,5);</a:t>
            </a:r>
          </a:p>
          <a:p>
            <a:pPr marL="0" indent="0">
              <a:buNone/>
            </a:pPr>
            <a:r>
              <a:rPr lang="en-US" altLang="zh-TW" sz="1800" dirty="0">
                <a:latin typeface="+mn-lt"/>
              </a:rPr>
              <a:t>	RA = extract (inst,20,5);</a:t>
            </a:r>
          </a:p>
          <a:p>
            <a:pPr marL="0" indent="0">
              <a:buNone/>
            </a:pPr>
            <a:r>
              <a:rPr lang="en-US" altLang="zh-TW" sz="1800" dirty="0">
                <a:latin typeface="+mn-lt"/>
              </a:rPr>
              <a:t>	</a:t>
            </a:r>
            <a:r>
              <a:rPr lang="en-US" altLang="zh-TW" sz="1800" dirty="0" smtClean="0">
                <a:latin typeface="+mn-lt"/>
              </a:rPr>
              <a:t>offset = extract </a:t>
            </a:r>
            <a:r>
              <a:rPr lang="en-US" altLang="zh-TW" sz="1800" dirty="0">
                <a:latin typeface="+mn-lt"/>
              </a:rPr>
              <a:t>(inst,15,16);</a:t>
            </a:r>
          </a:p>
          <a:p>
            <a:pPr marL="0" indent="0">
              <a:buNone/>
            </a:pPr>
            <a:r>
              <a:rPr lang="en-US" altLang="zh-TW" sz="1800" dirty="0">
                <a:latin typeface="+mn-lt"/>
              </a:rPr>
              <a:t>	source = </a:t>
            </a:r>
            <a:r>
              <a:rPr lang="en-US" altLang="zh-TW" sz="1800" dirty="0" err="1">
                <a:latin typeface="+mn-lt"/>
              </a:rPr>
              <a:t>regs</a:t>
            </a:r>
            <a:r>
              <a:rPr lang="en-US" altLang="zh-TW" sz="1800" dirty="0">
                <a:latin typeface="+mn-lt"/>
              </a:rPr>
              <a:t>[RA];</a:t>
            </a:r>
          </a:p>
          <a:p>
            <a:pPr marL="0" indent="0">
              <a:buNone/>
            </a:pPr>
            <a:r>
              <a:rPr lang="en-US" altLang="zh-TW" sz="1800" dirty="0">
                <a:latin typeface="+mn-lt"/>
              </a:rPr>
              <a:t>	address = source + offset</a:t>
            </a:r>
            <a:r>
              <a:rPr lang="en-US" altLang="zh-TW" sz="1800" dirty="0" smtClean="0">
                <a:latin typeface="+mn-lt"/>
              </a:rPr>
              <a:t> </a:t>
            </a:r>
            <a:r>
              <a:rPr lang="en-US" altLang="zh-TW" sz="1800" dirty="0">
                <a:latin typeface="+mn-lt"/>
              </a:rPr>
              <a:t>;</a:t>
            </a:r>
          </a:p>
          <a:p>
            <a:pPr marL="0" indent="0">
              <a:buNone/>
            </a:pPr>
            <a:r>
              <a:rPr lang="en-US" altLang="zh-TW" sz="1800" dirty="0">
                <a:latin typeface="+mn-lt"/>
              </a:rPr>
              <a:t>	</a:t>
            </a:r>
            <a:r>
              <a:rPr lang="en-US" altLang="zh-TW" sz="1800" dirty="0" err="1">
                <a:latin typeface="+mn-lt"/>
              </a:rPr>
              <a:t>regs</a:t>
            </a:r>
            <a:r>
              <a:rPr lang="en-US" altLang="zh-TW" sz="1800" dirty="0">
                <a:latin typeface="+mn-lt"/>
              </a:rPr>
              <a:t>[RT] = data[address];</a:t>
            </a:r>
          </a:p>
          <a:p>
            <a:pPr marL="0" indent="0">
              <a:buNone/>
            </a:pPr>
            <a:r>
              <a:rPr lang="en-US" altLang="zh-TW" sz="1800" dirty="0">
                <a:latin typeface="+mn-lt"/>
              </a:rPr>
              <a:t>	PC = PC + 4;</a:t>
            </a:r>
          </a:p>
          <a:p>
            <a:pPr marL="0" indent="0">
              <a:buNone/>
            </a:pPr>
            <a:r>
              <a:rPr lang="en-US" altLang="zh-TW" sz="1800" dirty="0">
                <a:latin typeface="+mn-lt"/>
              </a:rPr>
              <a:t>}</a:t>
            </a:r>
          </a:p>
          <a:p>
            <a:pPr marL="0" indent="0">
              <a:buNone/>
            </a:pPr>
            <a:endParaRPr lang="zh-TW" altLang="en-US" sz="1800"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33</a:t>
            </a:fld>
            <a:endParaRPr lang="en-US" dirty="0">
              <a:latin typeface="+mn-lt"/>
            </a:endParaRPr>
          </a:p>
        </p:txBody>
      </p:sp>
      <p:sp>
        <p:nvSpPr>
          <p:cNvPr id="7" name="Rounded Rectangle 1"/>
          <p:cNvSpPr/>
          <p:nvPr/>
        </p:nvSpPr>
        <p:spPr>
          <a:xfrm>
            <a:off x="7532664" y="4495800"/>
            <a:ext cx="882058" cy="1568103"/>
          </a:xfrm>
          <a:prstGeom prst="round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t>Source </a:t>
            </a:r>
          </a:p>
          <a:p>
            <a:pPr algn="ctr"/>
            <a:r>
              <a:rPr lang="en-US" altLang="zh-TW" sz="1400" dirty="0" smtClean="0"/>
              <a:t>ISA</a:t>
            </a:r>
          </a:p>
          <a:p>
            <a:pPr algn="ctr"/>
            <a:r>
              <a:rPr lang="en-US" altLang="zh-TW" sz="1400" dirty="0" smtClean="0"/>
              <a:t>code</a:t>
            </a:r>
            <a:endParaRPr lang="zh-TW" altLang="en-US" sz="1400" dirty="0"/>
          </a:p>
        </p:txBody>
      </p:sp>
      <p:cxnSp>
        <p:nvCxnSpPr>
          <p:cNvPr id="8" name="Straight Arrow Connector 3"/>
          <p:cNvCxnSpPr>
            <a:stCxn id="13" idx="3"/>
            <a:endCxn id="7" idx="1"/>
          </p:cNvCxnSpPr>
          <p:nvPr/>
        </p:nvCxnSpPr>
        <p:spPr>
          <a:xfrm flipV="1">
            <a:off x="6964337" y="5279852"/>
            <a:ext cx="568327" cy="59938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459070" y="5694571"/>
            <a:ext cx="505267" cy="369332"/>
          </a:xfrm>
          <a:prstGeom prst="rect">
            <a:avLst/>
          </a:prstGeom>
        </p:spPr>
        <p:txBody>
          <a:bodyPr wrap="none">
            <a:spAutoFit/>
          </a:bodyPr>
          <a:lstStyle/>
          <a:p>
            <a:r>
              <a:rPr lang="en-US" altLang="zh-TW" dirty="0">
                <a:latin typeface="+mn-lt"/>
              </a:rPr>
              <a:t>PC</a:t>
            </a:r>
            <a:endParaRPr lang="zh-TW" altLang="en-US" dirty="0">
              <a:latin typeface="+mn-lt"/>
            </a:endParaRPr>
          </a:p>
        </p:txBody>
      </p:sp>
    </p:spTree>
    <p:extLst>
      <p:ext uri="{BB962C8B-B14F-4D97-AF65-F5344CB8AC3E}">
        <p14:creationId xmlns:p14="http://schemas.microsoft.com/office/powerpoint/2010/main" val="12954917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sz="3200" dirty="0">
                <a:latin typeface="+mn-lt"/>
              </a:rPr>
              <a:t>Decode-Dispatch: Low </a:t>
            </a:r>
            <a:r>
              <a:rPr lang="en-US" altLang="zh-TW" sz="3200" dirty="0" smtClean="0">
                <a:latin typeface="+mn-lt"/>
              </a:rPr>
              <a:t>efficiency</a:t>
            </a:r>
            <a:endParaRPr lang="zh-TW" altLang="en-US" sz="3200" dirty="0">
              <a:latin typeface="+mn-lt"/>
            </a:endParaRPr>
          </a:p>
        </p:txBody>
      </p:sp>
      <p:sp>
        <p:nvSpPr>
          <p:cNvPr id="7" name="內容版面配置區 6"/>
          <p:cNvSpPr>
            <a:spLocks noGrp="1"/>
          </p:cNvSpPr>
          <p:nvPr>
            <p:ph idx="1"/>
          </p:nvPr>
        </p:nvSpPr>
        <p:spPr/>
        <p:txBody>
          <a:bodyPr/>
          <a:lstStyle/>
          <a:p>
            <a:r>
              <a:rPr lang="en-US" altLang="zh-TW" dirty="0">
                <a:latin typeface="+mn-lt"/>
              </a:rPr>
              <a:t>Executing an </a:t>
            </a:r>
            <a:r>
              <a:rPr lang="en-US" altLang="zh-TW" dirty="0" smtClean="0">
                <a:latin typeface="+mn-lt"/>
              </a:rPr>
              <a:t>instruction</a:t>
            </a:r>
            <a:endParaRPr lang="en-US" altLang="zh-TW" dirty="0">
              <a:latin typeface="+mn-lt"/>
            </a:endParaRPr>
          </a:p>
          <a:p>
            <a:pPr lvl="1"/>
            <a:r>
              <a:rPr lang="en-US" altLang="zh-TW" dirty="0">
                <a:latin typeface="+mn-lt"/>
              </a:rPr>
              <a:t>Approximately 20 target instructions</a:t>
            </a:r>
          </a:p>
          <a:p>
            <a:pPr lvl="1"/>
            <a:r>
              <a:rPr lang="en-US" altLang="zh-TW" dirty="0">
                <a:latin typeface="+mn-lt"/>
              </a:rPr>
              <a:t>Several loads/stores</a:t>
            </a:r>
          </a:p>
          <a:p>
            <a:pPr lvl="1"/>
            <a:r>
              <a:rPr lang="en-US" altLang="zh-TW" dirty="0">
                <a:latin typeface="+mn-lt"/>
              </a:rPr>
              <a:t>Several shift and mask steps</a:t>
            </a:r>
          </a:p>
          <a:p>
            <a:endParaRPr lang="zh-TW" altLang="en-US" dirty="0">
              <a:latin typeface="+mn-lt"/>
            </a:endParaRPr>
          </a:p>
        </p:txBody>
      </p:sp>
      <p:sp>
        <p:nvSpPr>
          <p:cNvPr id="5" name="投影片編號版面配置區 4"/>
          <p:cNvSpPr>
            <a:spLocks noGrp="1"/>
          </p:cNvSpPr>
          <p:nvPr>
            <p:ph type="sldNum" sz="quarter" idx="10"/>
          </p:nvPr>
        </p:nvSpPr>
        <p:spPr/>
        <p:txBody>
          <a:bodyPr/>
          <a:lstStyle/>
          <a:p>
            <a:fld id="{D57F1E4F-1CFF-5643-939E-217C01CDF565}" type="slidenum">
              <a:rPr lang="en-US" smtClean="0">
                <a:latin typeface="+mn-lt"/>
              </a:rPr>
              <a:pPr/>
              <a:t>34</a:t>
            </a:fld>
            <a:endParaRPr lang="en-US" dirty="0">
              <a:latin typeface="+mn-lt"/>
            </a:endParaRPr>
          </a:p>
        </p:txBody>
      </p:sp>
    </p:spTree>
    <p:extLst>
      <p:ext uri="{BB962C8B-B14F-4D97-AF65-F5344CB8AC3E}">
        <p14:creationId xmlns:p14="http://schemas.microsoft.com/office/powerpoint/2010/main" val="39117426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Binary </a:t>
            </a:r>
            <a:r>
              <a:rPr lang="en-US" altLang="zh-TW" dirty="0" smtClean="0">
                <a:latin typeface="+mn-lt"/>
              </a:rPr>
              <a:t>Translation</a:t>
            </a:r>
            <a:endParaRPr lang="zh-TW" altLang="en-US" dirty="0">
              <a:latin typeface="+mn-lt"/>
            </a:endParaRPr>
          </a:p>
        </p:txBody>
      </p:sp>
      <p:sp>
        <p:nvSpPr>
          <p:cNvPr id="3" name="內容版面配置區 2"/>
          <p:cNvSpPr>
            <a:spLocks noGrp="1"/>
          </p:cNvSpPr>
          <p:nvPr>
            <p:ph idx="1"/>
          </p:nvPr>
        </p:nvSpPr>
        <p:spPr/>
        <p:txBody>
          <a:bodyPr/>
          <a:lstStyle/>
          <a:p>
            <a:r>
              <a:rPr lang="en-US" altLang="zh-TW" sz="2400" dirty="0">
                <a:latin typeface="+mn-lt"/>
              </a:rPr>
              <a:t>Generate custom code for every source instruction. For example, a load instruction in source code could be translated into a respective load instruction in native code.</a:t>
            </a:r>
          </a:p>
          <a:p>
            <a:r>
              <a:rPr lang="en-US" altLang="zh-TW" sz="2400" dirty="0">
                <a:latin typeface="+mn-lt"/>
              </a:rPr>
              <a:t>Get rid of repeated parsing, decoding, and jumping overhead.</a:t>
            </a:r>
          </a:p>
          <a:p>
            <a:r>
              <a:rPr lang="en-US" altLang="zh-TW" sz="2400" dirty="0" smtClean="0">
                <a:latin typeface="+mn-lt"/>
              </a:rPr>
              <a:t>Compiled </a:t>
            </a:r>
            <a:r>
              <a:rPr lang="en-US" altLang="zh-TW" sz="2400" dirty="0">
                <a:latin typeface="+mn-lt"/>
              </a:rPr>
              <a:t>emulation is an early form of binary translation</a:t>
            </a:r>
            <a:r>
              <a:rPr lang="en-US" altLang="zh-TW" sz="2400" dirty="0" smtClean="0">
                <a:latin typeface="+mn-lt"/>
              </a:rPr>
              <a:t>.</a:t>
            </a:r>
            <a:endParaRPr lang="zh-TW" altLang="en-US" sz="2400"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35</a:t>
            </a:fld>
            <a:endParaRPr lang="en-US" dirty="0">
              <a:latin typeface="+mn-lt"/>
            </a:endParaRPr>
          </a:p>
        </p:txBody>
      </p:sp>
      <p:grpSp>
        <p:nvGrpSpPr>
          <p:cNvPr id="9" name="群組 8"/>
          <p:cNvGrpSpPr/>
          <p:nvPr/>
        </p:nvGrpSpPr>
        <p:grpSpPr>
          <a:xfrm>
            <a:off x="448056" y="4114562"/>
            <a:ext cx="8104631" cy="1600438"/>
            <a:chOff x="1533707" y="4790997"/>
            <a:chExt cx="6969842" cy="1600438"/>
          </a:xfrm>
        </p:grpSpPr>
        <p:sp>
          <p:nvSpPr>
            <p:cNvPr id="5" name="矩形 4"/>
            <p:cNvSpPr/>
            <p:nvPr/>
          </p:nvSpPr>
          <p:spPr>
            <a:xfrm>
              <a:off x="1533707" y="5098774"/>
              <a:ext cx="1893235" cy="984885"/>
            </a:xfrm>
            <a:prstGeom prst="rect">
              <a:avLst/>
            </a:prstGeom>
          </p:spPr>
          <p:txBody>
            <a:bodyPr wrap="square">
              <a:spAutoFit/>
            </a:bodyPr>
            <a:lstStyle/>
            <a:p>
              <a:r>
                <a:rPr lang="en-US" altLang="zh-TW" sz="1400" b="1" dirty="0">
                  <a:latin typeface="+mn-lt"/>
                </a:rPr>
                <a:t>x86 Source Binary</a:t>
              </a:r>
            </a:p>
            <a:p>
              <a:r>
                <a:rPr lang="en-US" altLang="zh-TW" sz="1400" b="1" dirty="0" err="1">
                  <a:solidFill>
                    <a:srgbClr val="0070C0"/>
                  </a:solidFill>
                  <a:latin typeface="+mn-lt"/>
                </a:rPr>
                <a:t>addl</a:t>
              </a:r>
              <a:r>
                <a:rPr lang="en-US" altLang="zh-TW" sz="1400" b="1" dirty="0">
                  <a:solidFill>
                    <a:srgbClr val="0070C0"/>
                  </a:solidFill>
                  <a:latin typeface="+mn-lt"/>
                </a:rPr>
                <a:t> %edx,4(%</a:t>
              </a:r>
              <a:r>
                <a:rPr lang="en-US" altLang="zh-TW" sz="1400" b="1" dirty="0" err="1">
                  <a:solidFill>
                    <a:srgbClr val="0070C0"/>
                  </a:solidFill>
                  <a:latin typeface="+mn-lt"/>
                </a:rPr>
                <a:t>eax</a:t>
              </a:r>
              <a:r>
                <a:rPr lang="en-US" altLang="zh-TW" sz="1400" b="1" dirty="0">
                  <a:solidFill>
                    <a:srgbClr val="0070C0"/>
                  </a:solidFill>
                  <a:latin typeface="+mn-lt"/>
                </a:rPr>
                <a:t>)</a:t>
              </a:r>
            </a:p>
            <a:p>
              <a:r>
                <a:rPr lang="en-US" altLang="zh-TW" sz="1400" b="1" dirty="0" err="1">
                  <a:solidFill>
                    <a:srgbClr val="0070C0"/>
                  </a:solidFill>
                  <a:latin typeface="+mn-lt"/>
                </a:rPr>
                <a:t>movl</a:t>
              </a:r>
              <a:r>
                <a:rPr lang="en-US" altLang="zh-TW" sz="1400" b="1" dirty="0">
                  <a:solidFill>
                    <a:srgbClr val="0070C0"/>
                  </a:solidFill>
                  <a:latin typeface="+mn-lt"/>
                </a:rPr>
                <a:t> 4(%</a:t>
              </a:r>
              <a:r>
                <a:rPr lang="en-US" altLang="zh-TW" sz="1400" b="1" dirty="0" err="1">
                  <a:solidFill>
                    <a:srgbClr val="0070C0"/>
                  </a:solidFill>
                  <a:latin typeface="+mn-lt"/>
                </a:rPr>
                <a:t>eax</a:t>
              </a:r>
              <a:r>
                <a:rPr lang="en-US" altLang="zh-TW" sz="1400" b="1" dirty="0">
                  <a:solidFill>
                    <a:srgbClr val="0070C0"/>
                  </a:solidFill>
                  <a:latin typeface="+mn-lt"/>
                </a:rPr>
                <a:t>),%</a:t>
              </a:r>
              <a:r>
                <a:rPr lang="en-US" altLang="zh-TW" sz="1400" b="1" dirty="0" err="1">
                  <a:solidFill>
                    <a:srgbClr val="0070C0"/>
                  </a:solidFill>
                  <a:latin typeface="+mn-lt"/>
                </a:rPr>
                <a:t>edx</a:t>
              </a:r>
              <a:endParaRPr lang="en-US" altLang="zh-TW" sz="1400" b="1" dirty="0">
                <a:solidFill>
                  <a:srgbClr val="0070C0"/>
                </a:solidFill>
                <a:latin typeface="+mn-lt"/>
              </a:endParaRPr>
            </a:p>
            <a:p>
              <a:r>
                <a:rPr lang="en-US" altLang="zh-TW" sz="1400" b="1" dirty="0">
                  <a:solidFill>
                    <a:srgbClr val="0070C0"/>
                  </a:solidFill>
                  <a:latin typeface="+mn-lt"/>
                </a:rPr>
                <a:t>add %eax,4</a:t>
              </a:r>
            </a:p>
          </p:txBody>
        </p:sp>
        <p:sp>
          <p:nvSpPr>
            <p:cNvPr id="6" name="矩形 5"/>
            <p:cNvSpPr/>
            <p:nvPr/>
          </p:nvSpPr>
          <p:spPr>
            <a:xfrm>
              <a:off x="3776230" y="4790997"/>
              <a:ext cx="4727319" cy="1600438"/>
            </a:xfrm>
            <a:prstGeom prst="rect">
              <a:avLst/>
            </a:prstGeom>
          </p:spPr>
          <p:txBody>
            <a:bodyPr wrap="square">
              <a:spAutoFit/>
            </a:bodyPr>
            <a:lstStyle/>
            <a:p>
              <a:r>
                <a:rPr lang="en-US" altLang="zh-TW" sz="1400" b="1" dirty="0">
                  <a:latin typeface="+mn-lt"/>
                </a:rPr>
                <a:t>PowerPC Target</a:t>
              </a:r>
            </a:p>
            <a:p>
              <a:r>
                <a:rPr lang="en-US" altLang="zh-TW" sz="1400" b="1" dirty="0" err="1">
                  <a:latin typeface="+mn-lt"/>
                </a:rPr>
                <a:t>addi</a:t>
              </a:r>
              <a:r>
                <a:rPr lang="en-US" altLang="zh-TW" sz="1400" b="1" dirty="0">
                  <a:latin typeface="+mn-lt"/>
                </a:rPr>
                <a:t> r16,</a:t>
              </a:r>
              <a:r>
                <a:rPr lang="en-US" altLang="zh-TW" sz="1400" b="1" dirty="0">
                  <a:solidFill>
                    <a:srgbClr val="FF0000"/>
                  </a:solidFill>
                  <a:latin typeface="+mn-lt"/>
                </a:rPr>
                <a:t>r4</a:t>
              </a:r>
              <a:r>
                <a:rPr lang="en-US" altLang="zh-TW" sz="1400" b="1" dirty="0">
                  <a:latin typeface="+mn-lt"/>
                </a:rPr>
                <a:t>,4 </a:t>
              </a:r>
              <a:r>
                <a:rPr lang="en-US" altLang="zh-TW" sz="1400" b="1" dirty="0" smtClean="0">
                  <a:latin typeface="+mn-lt"/>
                </a:rPr>
                <a:t>;		add 4 to %</a:t>
              </a:r>
              <a:r>
                <a:rPr lang="en-US" altLang="zh-TW" sz="1400" b="1" dirty="0" err="1" smtClean="0">
                  <a:latin typeface="+mn-lt"/>
                </a:rPr>
                <a:t>eax</a:t>
              </a:r>
              <a:r>
                <a:rPr lang="en-US" altLang="zh-TW" sz="1400" b="1" dirty="0" smtClean="0">
                  <a:latin typeface="+mn-lt"/>
                </a:rPr>
                <a:t>, r16=r4+4</a:t>
              </a:r>
              <a:endParaRPr lang="en-US" altLang="zh-TW" sz="1400" b="1" dirty="0">
                <a:latin typeface="+mn-lt"/>
              </a:endParaRPr>
            </a:p>
            <a:p>
              <a:r>
                <a:rPr lang="en-US" altLang="zh-TW" sz="1400" b="1" dirty="0" err="1">
                  <a:latin typeface="+mn-lt"/>
                </a:rPr>
                <a:t>lwzx</a:t>
              </a:r>
              <a:r>
                <a:rPr lang="en-US" altLang="zh-TW" sz="1400" b="1" dirty="0">
                  <a:latin typeface="+mn-lt"/>
                </a:rPr>
                <a:t> r17,</a:t>
              </a:r>
              <a:r>
                <a:rPr lang="en-US" altLang="zh-TW" sz="1400" b="1" dirty="0">
                  <a:solidFill>
                    <a:srgbClr val="FF0000"/>
                  </a:solidFill>
                  <a:latin typeface="+mn-lt"/>
                </a:rPr>
                <a:t>r2</a:t>
              </a:r>
              <a:r>
                <a:rPr lang="en-US" altLang="zh-TW" sz="1400" b="1" dirty="0">
                  <a:latin typeface="+mn-lt"/>
                </a:rPr>
                <a:t>,r16 ;		load operand from memory</a:t>
              </a:r>
            </a:p>
            <a:p>
              <a:r>
                <a:rPr lang="en-US" altLang="zh-TW" sz="1400" b="1" dirty="0">
                  <a:latin typeface="+mn-lt"/>
                </a:rPr>
                <a:t>add </a:t>
              </a:r>
              <a:r>
                <a:rPr lang="en-US" altLang="zh-TW" sz="1400" b="1" dirty="0">
                  <a:solidFill>
                    <a:srgbClr val="FF0000"/>
                  </a:solidFill>
                  <a:latin typeface="+mn-lt"/>
                </a:rPr>
                <a:t>r7</a:t>
              </a:r>
              <a:r>
                <a:rPr lang="en-US" altLang="zh-TW" sz="1400" b="1" dirty="0">
                  <a:latin typeface="+mn-lt"/>
                </a:rPr>
                <a:t>,r17,</a:t>
              </a:r>
              <a:r>
                <a:rPr lang="en-US" altLang="zh-TW" sz="1400" b="1" dirty="0">
                  <a:solidFill>
                    <a:srgbClr val="FF0000"/>
                  </a:solidFill>
                  <a:latin typeface="+mn-lt"/>
                </a:rPr>
                <a:t>r7</a:t>
              </a:r>
              <a:r>
                <a:rPr lang="en-US" altLang="zh-TW" sz="1400" b="1" dirty="0">
                  <a:latin typeface="+mn-lt"/>
                </a:rPr>
                <a:t> ;		perform add of %</a:t>
              </a:r>
              <a:r>
                <a:rPr lang="en-US" altLang="zh-TW" sz="1400" b="1" dirty="0" err="1">
                  <a:latin typeface="+mn-lt"/>
                </a:rPr>
                <a:t>edx</a:t>
              </a:r>
              <a:endParaRPr lang="en-US" altLang="zh-TW" sz="1400" b="1" dirty="0">
                <a:latin typeface="+mn-lt"/>
              </a:endParaRPr>
            </a:p>
            <a:p>
              <a:r>
                <a:rPr lang="en-US" altLang="zh-TW" sz="1400" b="1" dirty="0" err="1">
                  <a:latin typeface="+mn-lt"/>
                </a:rPr>
                <a:t>stwx</a:t>
              </a:r>
              <a:r>
                <a:rPr lang="en-US" altLang="zh-TW" sz="1400" b="1" dirty="0">
                  <a:latin typeface="+mn-lt"/>
                </a:rPr>
                <a:t> </a:t>
              </a:r>
              <a:r>
                <a:rPr lang="en-US" altLang="zh-TW" sz="1400" b="1" dirty="0">
                  <a:solidFill>
                    <a:srgbClr val="FF0000"/>
                  </a:solidFill>
                  <a:latin typeface="+mn-lt"/>
                </a:rPr>
                <a:t>r7,r2</a:t>
              </a:r>
              <a:r>
                <a:rPr lang="en-US" altLang="zh-TW" sz="1400" b="1" dirty="0">
                  <a:latin typeface="+mn-lt"/>
                </a:rPr>
                <a:t>,r16 ;		store %</a:t>
              </a:r>
              <a:r>
                <a:rPr lang="en-US" altLang="zh-TW" sz="1400" b="1" dirty="0" err="1">
                  <a:latin typeface="+mn-lt"/>
                </a:rPr>
                <a:t>edx</a:t>
              </a:r>
              <a:r>
                <a:rPr lang="en-US" altLang="zh-TW" sz="1400" b="1" dirty="0">
                  <a:latin typeface="+mn-lt"/>
                </a:rPr>
                <a:t> </a:t>
              </a:r>
              <a:r>
                <a:rPr lang="en-US" altLang="zh-TW" sz="1400" b="1" dirty="0" smtClean="0">
                  <a:latin typeface="+mn-lt"/>
                </a:rPr>
                <a:t>into memory</a:t>
              </a:r>
              <a:endParaRPr lang="en-US" altLang="zh-TW" sz="1400" b="1" dirty="0">
                <a:latin typeface="+mn-lt"/>
              </a:endParaRPr>
            </a:p>
            <a:p>
              <a:r>
                <a:rPr lang="en-US" altLang="zh-TW" sz="1400" b="1" dirty="0" err="1">
                  <a:latin typeface="+mn-lt"/>
                </a:rPr>
                <a:t>mr</a:t>
              </a:r>
              <a:r>
                <a:rPr lang="en-US" altLang="zh-TW" sz="1400" b="1" dirty="0">
                  <a:latin typeface="+mn-lt"/>
                </a:rPr>
                <a:t> </a:t>
              </a:r>
              <a:r>
                <a:rPr lang="en-US" altLang="zh-TW" sz="1400" b="1" dirty="0">
                  <a:solidFill>
                    <a:srgbClr val="FF0000"/>
                  </a:solidFill>
                  <a:latin typeface="+mn-lt"/>
                </a:rPr>
                <a:t>r4</a:t>
              </a:r>
              <a:r>
                <a:rPr lang="en-US" altLang="zh-TW" sz="1400" b="1" dirty="0">
                  <a:latin typeface="+mn-lt"/>
                </a:rPr>
                <a:t>,r16 ;			move update value into %</a:t>
              </a:r>
              <a:r>
                <a:rPr lang="en-US" altLang="zh-TW" sz="1400" b="1" dirty="0" err="1">
                  <a:latin typeface="+mn-lt"/>
                </a:rPr>
                <a:t>eax</a:t>
              </a:r>
              <a:endParaRPr lang="en-US" altLang="zh-TW" sz="1400" b="1" dirty="0">
                <a:latin typeface="+mn-lt"/>
              </a:endParaRPr>
            </a:p>
            <a:p>
              <a:r>
                <a:rPr lang="en-US" altLang="zh-TW" sz="1400" b="1" dirty="0" err="1">
                  <a:latin typeface="+mn-lt"/>
                </a:rPr>
                <a:t>addi</a:t>
              </a:r>
              <a:r>
                <a:rPr lang="en-US" altLang="zh-TW" sz="1400" b="1" dirty="0">
                  <a:latin typeface="+mn-lt"/>
                </a:rPr>
                <a:t> </a:t>
              </a:r>
              <a:r>
                <a:rPr lang="en-US" altLang="zh-TW" sz="1400" b="1" dirty="0">
                  <a:solidFill>
                    <a:srgbClr val="FF0000"/>
                  </a:solidFill>
                  <a:latin typeface="+mn-lt"/>
                </a:rPr>
                <a:t>r3,r3</a:t>
              </a:r>
              <a:r>
                <a:rPr lang="en-US" altLang="zh-TW" sz="1400" b="1" dirty="0">
                  <a:latin typeface="+mn-lt"/>
                </a:rPr>
                <a:t>,9 ;	</a:t>
              </a:r>
              <a:endParaRPr lang="zh-TW" altLang="en-US" sz="1400" dirty="0">
                <a:latin typeface="+mn-lt"/>
              </a:endParaRPr>
            </a:p>
          </p:txBody>
        </p:sp>
        <p:cxnSp>
          <p:nvCxnSpPr>
            <p:cNvPr id="8" name="直線單箭頭接點 7"/>
            <p:cNvCxnSpPr>
              <a:stCxn id="5" idx="3"/>
              <a:endCxn id="6" idx="1"/>
            </p:cNvCxnSpPr>
            <p:nvPr/>
          </p:nvCxnSpPr>
          <p:spPr>
            <a:xfrm flipV="1">
              <a:off x="3426942" y="5591216"/>
              <a:ext cx="349289"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4908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Dynamic Translation</a:t>
            </a:r>
            <a:endParaRPr lang="zh-TW" altLang="en-US" dirty="0">
              <a:latin typeface="+mn-lt"/>
            </a:endParaRPr>
          </a:p>
        </p:txBody>
      </p:sp>
      <p:sp>
        <p:nvSpPr>
          <p:cNvPr id="3" name="內容版面配置區 2"/>
          <p:cNvSpPr>
            <a:spLocks noGrp="1"/>
          </p:cNvSpPr>
          <p:nvPr>
            <p:ph idx="1"/>
          </p:nvPr>
        </p:nvSpPr>
        <p:spPr/>
        <p:txBody>
          <a:bodyPr>
            <a:normAutofit/>
          </a:bodyPr>
          <a:lstStyle/>
          <a:p>
            <a:r>
              <a:rPr lang="en-US" altLang="zh-TW" dirty="0">
                <a:latin typeface="+mn-lt"/>
              </a:rPr>
              <a:t>First Interpret</a:t>
            </a:r>
          </a:p>
          <a:p>
            <a:pPr lvl="1"/>
            <a:r>
              <a:rPr lang="en-US" altLang="zh-TW" dirty="0">
                <a:latin typeface="+mn-lt"/>
              </a:rPr>
              <a:t>And perform code discovery as a byproduct</a:t>
            </a:r>
          </a:p>
          <a:p>
            <a:r>
              <a:rPr lang="en-US" altLang="zh-TW" dirty="0">
                <a:latin typeface="+mn-lt"/>
              </a:rPr>
              <a:t>Translate Code</a:t>
            </a:r>
          </a:p>
          <a:p>
            <a:pPr lvl="1"/>
            <a:r>
              <a:rPr lang="en-US" altLang="zh-TW" dirty="0">
                <a:latin typeface="+mn-lt"/>
              </a:rPr>
              <a:t>Place translated blocks into </a:t>
            </a:r>
            <a:r>
              <a:rPr lang="en-US" altLang="zh-TW" dirty="0">
                <a:solidFill>
                  <a:srgbClr val="FF0000"/>
                </a:solidFill>
                <a:latin typeface="+mn-lt"/>
              </a:rPr>
              <a:t>Code Cache</a:t>
            </a:r>
          </a:p>
          <a:p>
            <a:pPr lvl="1"/>
            <a:r>
              <a:rPr lang="en-US" altLang="zh-TW" dirty="0">
                <a:latin typeface="+mn-lt"/>
              </a:rPr>
              <a:t>Save source </a:t>
            </a:r>
            <a:r>
              <a:rPr lang="en-US" altLang="zh-TW" dirty="0" smtClean="0">
                <a:latin typeface="+mn-lt"/>
              </a:rPr>
              <a:t>PC to </a:t>
            </a:r>
            <a:r>
              <a:rPr lang="en-US" altLang="zh-TW" dirty="0">
                <a:latin typeface="+mn-lt"/>
              </a:rPr>
              <a:t>target PC mapping in an </a:t>
            </a:r>
            <a:r>
              <a:rPr lang="en-US" altLang="zh-TW" dirty="0">
                <a:solidFill>
                  <a:srgbClr val="FF0000"/>
                </a:solidFill>
                <a:latin typeface="+mn-lt"/>
              </a:rPr>
              <a:t>Address Lookup Table</a:t>
            </a:r>
          </a:p>
          <a:p>
            <a:r>
              <a:rPr lang="en-US" altLang="zh-TW" dirty="0">
                <a:latin typeface="+mn-lt"/>
              </a:rPr>
              <a:t>Emulation process</a:t>
            </a:r>
          </a:p>
          <a:p>
            <a:pPr lvl="1"/>
            <a:r>
              <a:rPr lang="en-US" altLang="zh-TW" dirty="0">
                <a:latin typeface="+mn-lt"/>
              </a:rPr>
              <a:t>Execute translated block to end, Lookup next source PC in table. If translated, jump to target PC, else interpret and </a:t>
            </a:r>
            <a:r>
              <a:rPr lang="en-US" altLang="zh-TW" dirty="0" smtClean="0">
                <a:latin typeface="+mn-lt"/>
              </a:rPr>
              <a:t>translate</a:t>
            </a:r>
            <a:endParaRPr lang="en-US" altLang="zh-TW"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36</a:t>
            </a:fld>
            <a:endParaRPr lang="en-US" dirty="0">
              <a:latin typeface="+mn-lt"/>
            </a:endParaRPr>
          </a:p>
        </p:txBody>
      </p:sp>
    </p:spTree>
    <p:extLst>
      <p:ext uri="{BB962C8B-B14F-4D97-AF65-F5344CB8AC3E}">
        <p14:creationId xmlns:p14="http://schemas.microsoft.com/office/powerpoint/2010/main" val="15793955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Dynamic Translation</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37</a:t>
            </a:fld>
            <a:endParaRPr lang="en-US" dirty="0">
              <a:latin typeface="+mn-lt"/>
            </a:endParaRPr>
          </a:p>
        </p:txBody>
      </p:sp>
      <p:grpSp>
        <p:nvGrpSpPr>
          <p:cNvPr id="49" name="群組 48"/>
          <p:cNvGrpSpPr/>
          <p:nvPr/>
        </p:nvGrpSpPr>
        <p:grpSpPr>
          <a:xfrm>
            <a:off x="1428157" y="1676400"/>
            <a:ext cx="6287686" cy="3636173"/>
            <a:chOff x="866441" y="2353150"/>
            <a:chExt cx="6287686" cy="3636173"/>
          </a:xfrm>
          <a:solidFill>
            <a:schemeClr val="accent4"/>
          </a:solidFill>
        </p:grpSpPr>
        <p:grpSp>
          <p:nvGrpSpPr>
            <p:cNvPr id="45" name="群組 44"/>
            <p:cNvGrpSpPr/>
            <p:nvPr/>
          </p:nvGrpSpPr>
          <p:grpSpPr>
            <a:xfrm>
              <a:off x="2681708" y="3702546"/>
              <a:ext cx="411012" cy="1233036"/>
              <a:chOff x="8058912" y="3846576"/>
              <a:chExt cx="411012" cy="1233036"/>
            </a:xfrm>
            <a:grpFill/>
          </p:grpSpPr>
          <p:sp>
            <p:nvSpPr>
              <p:cNvPr id="42" name="矩形 41"/>
              <p:cNvSpPr/>
              <p:nvPr/>
            </p:nvSpPr>
            <p:spPr>
              <a:xfrm>
                <a:off x="8058912" y="3846576"/>
                <a:ext cx="411012" cy="41101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sp>
            <p:nvSpPr>
              <p:cNvPr id="43" name="矩形 42"/>
              <p:cNvSpPr/>
              <p:nvPr/>
            </p:nvSpPr>
            <p:spPr>
              <a:xfrm>
                <a:off x="8058912" y="4257588"/>
                <a:ext cx="411012" cy="41101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sp>
            <p:nvSpPr>
              <p:cNvPr id="44" name="矩形 43"/>
              <p:cNvSpPr/>
              <p:nvPr/>
            </p:nvSpPr>
            <p:spPr>
              <a:xfrm>
                <a:off x="8058912" y="4668600"/>
                <a:ext cx="411012" cy="41101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grpSp>
        <p:sp>
          <p:nvSpPr>
            <p:cNvPr id="6" name="Rectangle 6"/>
            <p:cNvSpPr/>
            <p:nvPr/>
          </p:nvSpPr>
          <p:spPr>
            <a:xfrm>
              <a:off x="866441" y="2353150"/>
              <a:ext cx="2258701" cy="90525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bg1"/>
                  </a:solidFill>
                </a:rPr>
                <a:t>Source Binary</a:t>
              </a:r>
              <a:endParaRPr lang="en-US" sz="2400" b="1" dirty="0">
                <a:solidFill>
                  <a:schemeClr val="bg1"/>
                </a:solidFill>
              </a:endParaRPr>
            </a:p>
          </p:txBody>
        </p:sp>
        <p:sp>
          <p:nvSpPr>
            <p:cNvPr id="8" name="Rectangle 21"/>
            <p:cNvSpPr/>
            <p:nvPr/>
          </p:nvSpPr>
          <p:spPr>
            <a:xfrm>
              <a:off x="1119491" y="5379723"/>
              <a:ext cx="1752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rPr>
                <a:t>Interpreter</a:t>
              </a:r>
              <a:endParaRPr lang="en-US" sz="2400" dirty="0">
                <a:solidFill>
                  <a:schemeClr val="bg1"/>
                </a:solidFill>
              </a:endParaRPr>
            </a:p>
          </p:txBody>
        </p:sp>
        <p:cxnSp>
          <p:nvCxnSpPr>
            <p:cNvPr id="10" name="直線單箭頭接點 9"/>
            <p:cNvCxnSpPr>
              <a:stCxn id="6" idx="2"/>
              <a:endCxn id="7" idx="0"/>
            </p:cNvCxnSpPr>
            <p:nvPr/>
          </p:nvCxnSpPr>
          <p:spPr>
            <a:xfrm flipH="1">
              <a:off x="1995791" y="3258405"/>
              <a:ext cx="1" cy="405339"/>
            </a:xfrm>
            <a:prstGeom prst="straightConnector1">
              <a:avLst/>
            </a:prstGeom>
            <a:grp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7" idx="2"/>
              <a:endCxn id="8" idx="0"/>
            </p:cNvCxnSpPr>
            <p:nvPr/>
          </p:nvCxnSpPr>
          <p:spPr>
            <a:xfrm>
              <a:off x="1995791" y="4959144"/>
              <a:ext cx="0" cy="420579"/>
            </a:xfrm>
            <a:prstGeom prst="straightConnector1">
              <a:avLst/>
            </a:prstGeom>
            <a:grp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42" idx="3"/>
              <a:endCxn id="26" idx="1"/>
            </p:cNvCxnSpPr>
            <p:nvPr/>
          </p:nvCxnSpPr>
          <p:spPr>
            <a:xfrm flipV="1">
              <a:off x="3092720" y="2970324"/>
              <a:ext cx="1775407" cy="937728"/>
            </a:xfrm>
            <a:prstGeom prst="straightConnector1">
              <a:avLst/>
            </a:prstGeom>
            <a:grpFill/>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Rectangle 22"/>
            <p:cNvSpPr/>
            <p:nvPr/>
          </p:nvSpPr>
          <p:spPr>
            <a:xfrm>
              <a:off x="5096726" y="4006644"/>
              <a:ext cx="1752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bg1"/>
                  </a:solidFill>
                </a:rPr>
                <a:t>Translator</a:t>
              </a:r>
              <a:endParaRPr lang="en-US" sz="2400" dirty="0">
                <a:solidFill>
                  <a:schemeClr val="bg1"/>
                </a:solidFill>
              </a:endParaRPr>
            </a:p>
          </p:txBody>
        </p:sp>
        <p:sp>
          <p:nvSpPr>
            <p:cNvPr id="17" name="Rectangle 9"/>
            <p:cNvSpPr/>
            <p:nvPr/>
          </p:nvSpPr>
          <p:spPr>
            <a:xfrm>
              <a:off x="5011616" y="5088590"/>
              <a:ext cx="1922820" cy="90073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bg1"/>
                  </a:solidFill>
                </a:rPr>
                <a:t>Code cache</a:t>
              </a:r>
              <a:endParaRPr lang="en-US" sz="2400" b="1" dirty="0">
                <a:solidFill>
                  <a:schemeClr val="bg1"/>
                </a:solidFill>
              </a:endParaRPr>
            </a:p>
          </p:txBody>
        </p:sp>
        <p:cxnSp>
          <p:nvCxnSpPr>
            <p:cNvPr id="18" name="直線單箭頭接點 17"/>
            <p:cNvCxnSpPr>
              <a:stCxn id="15" idx="2"/>
              <a:endCxn id="17" idx="0"/>
            </p:cNvCxnSpPr>
            <p:nvPr/>
          </p:nvCxnSpPr>
          <p:spPr>
            <a:xfrm>
              <a:off x="5973026" y="4616244"/>
              <a:ext cx="0" cy="472346"/>
            </a:xfrm>
            <a:prstGeom prst="straightConnector1">
              <a:avLst/>
            </a:prstGeom>
            <a:grp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4"/>
            <p:cNvSpPr/>
            <p:nvPr/>
          </p:nvSpPr>
          <p:spPr>
            <a:xfrm>
              <a:off x="4868127" y="2360724"/>
              <a:ext cx="2286000" cy="1219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bg1"/>
                  </a:solidFill>
                </a:rPr>
                <a:t>SPC to TPC</a:t>
              </a:r>
            </a:p>
            <a:p>
              <a:pPr algn="ctr"/>
              <a:r>
                <a:rPr lang="en-US" sz="2400" b="1" dirty="0" smtClean="0">
                  <a:solidFill>
                    <a:schemeClr val="bg1"/>
                  </a:solidFill>
                </a:rPr>
                <a:t>Look-up Table</a:t>
              </a:r>
              <a:endParaRPr lang="en-US" sz="2400" b="1" dirty="0">
                <a:solidFill>
                  <a:schemeClr val="bg1"/>
                </a:solidFill>
              </a:endParaRPr>
            </a:p>
          </p:txBody>
        </p:sp>
        <p:cxnSp>
          <p:nvCxnSpPr>
            <p:cNvPr id="29" name="直線單箭頭接點 28"/>
            <p:cNvCxnSpPr>
              <a:stCxn id="43" idx="3"/>
              <a:endCxn id="15" idx="1"/>
            </p:cNvCxnSpPr>
            <p:nvPr/>
          </p:nvCxnSpPr>
          <p:spPr>
            <a:xfrm flipV="1">
              <a:off x="3092720" y="4311444"/>
              <a:ext cx="2004006" cy="7620"/>
            </a:xfrm>
            <a:prstGeom prst="straightConnector1">
              <a:avLst/>
            </a:prstGeom>
            <a:grp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a:stCxn id="44" idx="3"/>
              <a:endCxn id="17" idx="1"/>
            </p:cNvCxnSpPr>
            <p:nvPr/>
          </p:nvCxnSpPr>
          <p:spPr>
            <a:xfrm>
              <a:off x="3092720" y="4730076"/>
              <a:ext cx="1918896" cy="808881"/>
            </a:xfrm>
            <a:prstGeom prst="straightConnector1">
              <a:avLst/>
            </a:prstGeom>
            <a:grpFill/>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Rectangle 5"/>
            <p:cNvSpPr/>
            <p:nvPr/>
          </p:nvSpPr>
          <p:spPr>
            <a:xfrm>
              <a:off x="890891" y="3663744"/>
              <a:ext cx="2209800" cy="1295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bg1"/>
                  </a:solidFill>
                </a:rPr>
                <a:t>Emulation</a:t>
              </a:r>
            </a:p>
            <a:p>
              <a:pPr algn="ctr"/>
              <a:r>
                <a:rPr lang="en-US" sz="2400" b="1" dirty="0" smtClean="0">
                  <a:solidFill>
                    <a:schemeClr val="bg1"/>
                  </a:solidFill>
                </a:rPr>
                <a:t>Manager</a:t>
              </a:r>
              <a:endParaRPr lang="en-US" sz="2400" b="1" dirty="0">
                <a:solidFill>
                  <a:schemeClr val="bg1"/>
                </a:solidFill>
              </a:endParaRPr>
            </a:p>
          </p:txBody>
        </p:sp>
      </p:grpSp>
      <p:sp>
        <p:nvSpPr>
          <p:cNvPr id="50" name="橢圓 49"/>
          <p:cNvSpPr/>
          <p:nvPr/>
        </p:nvSpPr>
        <p:spPr>
          <a:xfrm>
            <a:off x="2195818" y="2662405"/>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1</a:t>
            </a:r>
            <a:endParaRPr lang="zh-TW" altLang="en-US" dirty="0"/>
          </a:p>
        </p:txBody>
      </p:sp>
      <p:sp>
        <p:nvSpPr>
          <p:cNvPr id="55" name="橢圓 54"/>
          <p:cNvSpPr/>
          <p:nvPr/>
        </p:nvSpPr>
        <p:spPr>
          <a:xfrm>
            <a:off x="2198397" y="437838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3</a:t>
            </a:r>
            <a:endParaRPr lang="zh-TW" altLang="en-US" dirty="0"/>
          </a:p>
        </p:txBody>
      </p:sp>
      <p:sp>
        <p:nvSpPr>
          <p:cNvPr id="56" name="橢圓 55"/>
          <p:cNvSpPr/>
          <p:nvPr/>
        </p:nvSpPr>
        <p:spPr>
          <a:xfrm>
            <a:off x="4300493" y="2533838"/>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2</a:t>
            </a:r>
            <a:endParaRPr lang="zh-TW" altLang="en-US" dirty="0"/>
          </a:p>
        </p:txBody>
      </p:sp>
      <p:sp>
        <p:nvSpPr>
          <p:cNvPr id="57" name="橢圓 56"/>
          <p:cNvSpPr/>
          <p:nvPr/>
        </p:nvSpPr>
        <p:spPr>
          <a:xfrm>
            <a:off x="4317525" y="33479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4</a:t>
            </a:r>
            <a:endParaRPr lang="zh-TW" altLang="en-US" dirty="0"/>
          </a:p>
        </p:txBody>
      </p:sp>
      <p:sp>
        <p:nvSpPr>
          <p:cNvPr id="58" name="橢圓 57"/>
          <p:cNvSpPr/>
          <p:nvPr/>
        </p:nvSpPr>
        <p:spPr>
          <a:xfrm>
            <a:off x="6629992" y="4041938"/>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5</a:t>
            </a:r>
            <a:endParaRPr lang="zh-TW" altLang="en-US" dirty="0"/>
          </a:p>
        </p:txBody>
      </p:sp>
      <p:sp>
        <p:nvSpPr>
          <p:cNvPr id="59" name="橢圓 58"/>
          <p:cNvSpPr/>
          <p:nvPr/>
        </p:nvSpPr>
        <p:spPr>
          <a:xfrm>
            <a:off x="4300493" y="4472318"/>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6</a:t>
            </a:r>
            <a:endParaRPr lang="zh-TW" altLang="en-US" dirty="0"/>
          </a:p>
        </p:txBody>
      </p:sp>
      <p:sp>
        <p:nvSpPr>
          <p:cNvPr id="60" name="文字方塊 59"/>
          <p:cNvSpPr txBox="1"/>
          <p:nvPr/>
        </p:nvSpPr>
        <p:spPr>
          <a:xfrm>
            <a:off x="4180594" y="4698381"/>
            <a:ext cx="428322" cy="369332"/>
          </a:xfrm>
          <a:prstGeom prst="rect">
            <a:avLst/>
          </a:prstGeom>
          <a:noFill/>
        </p:spPr>
        <p:txBody>
          <a:bodyPr wrap="none" rtlCol="0">
            <a:spAutoFit/>
          </a:bodyPr>
          <a:lstStyle/>
          <a:p>
            <a:r>
              <a:rPr lang="en-US" altLang="zh-TW" dirty="0" smtClean="0">
                <a:latin typeface="+mn-lt"/>
              </a:rPr>
              <a:t>hit</a:t>
            </a:r>
            <a:endParaRPr lang="zh-TW" altLang="en-US" dirty="0">
              <a:latin typeface="+mn-lt"/>
            </a:endParaRPr>
          </a:p>
        </p:txBody>
      </p:sp>
      <p:sp>
        <p:nvSpPr>
          <p:cNvPr id="61" name="文字方塊 60"/>
          <p:cNvSpPr txBox="1"/>
          <p:nvPr/>
        </p:nvSpPr>
        <p:spPr>
          <a:xfrm>
            <a:off x="2561957" y="4307554"/>
            <a:ext cx="668773" cy="369332"/>
          </a:xfrm>
          <a:prstGeom prst="rect">
            <a:avLst/>
          </a:prstGeom>
          <a:noFill/>
        </p:spPr>
        <p:txBody>
          <a:bodyPr wrap="none" rtlCol="0">
            <a:spAutoFit/>
          </a:bodyPr>
          <a:lstStyle/>
          <a:p>
            <a:r>
              <a:rPr lang="en-US" altLang="zh-TW" dirty="0" smtClean="0">
                <a:latin typeface="+mn-lt"/>
              </a:rPr>
              <a:t>miss</a:t>
            </a:r>
            <a:endParaRPr lang="zh-TW" altLang="en-US" dirty="0">
              <a:latin typeface="+mn-lt"/>
            </a:endParaRPr>
          </a:p>
        </p:txBody>
      </p:sp>
    </p:spTree>
    <p:extLst>
      <p:ext uri="{BB962C8B-B14F-4D97-AF65-F5344CB8AC3E}">
        <p14:creationId xmlns:p14="http://schemas.microsoft.com/office/powerpoint/2010/main" val="42100170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Flow of Control</a:t>
            </a:r>
            <a:endParaRPr lang="zh-TW" altLang="en-US" dirty="0">
              <a:latin typeface="+mn-lt"/>
            </a:endParaRPr>
          </a:p>
        </p:txBody>
      </p:sp>
      <p:sp>
        <p:nvSpPr>
          <p:cNvPr id="3" name="內容版面配置區 2"/>
          <p:cNvSpPr>
            <a:spLocks noGrp="1"/>
          </p:cNvSpPr>
          <p:nvPr>
            <p:ph idx="1"/>
          </p:nvPr>
        </p:nvSpPr>
        <p:spPr/>
        <p:txBody>
          <a:bodyPr/>
          <a:lstStyle/>
          <a:p>
            <a:r>
              <a:rPr lang="en-US" altLang="zh-TW" dirty="0">
                <a:latin typeface="+mn-lt"/>
              </a:rPr>
              <a:t>Control flows between translated block and emulation manager</a:t>
            </a:r>
          </a:p>
          <a:p>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38</a:t>
            </a:fld>
            <a:endParaRPr lang="en-US" dirty="0">
              <a:latin typeface="+mn-lt"/>
            </a:endParaRPr>
          </a:p>
        </p:txBody>
      </p:sp>
      <p:grpSp>
        <p:nvGrpSpPr>
          <p:cNvPr id="22" name="群組 21"/>
          <p:cNvGrpSpPr/>
          <p:nvPr/>
        </p:nvGrpSpPr>
        <p:grpSpPr>
          <a:xfrm>
            <a:off x="2237169" y="2438400"/>
            <a:ext cx="4669663" cy="3375660"/>
            <a:chOff x="914400" y="2133600"/>
            <a:chExt cx="6324600" cy="4572000"/>
          </a:xfrm>
          <a:solidFill>
            <a:schemeClr val="accent4"/>
          </a:solidFill>
        </p:grpSpPr>
        <p:sp>
          <p:nvSpPr>
            <p:cNvPr id="6" name="Oval 16"/>
            <p:cNvSpPr/>
            <p:nvPr/>
          </p:nvSpPr>
          <p:spPr>
            <a:xfrm>
              <a:off x="3429000" y="2514600"/>
              <a:ext cx="685800" cy="3505200"/>
            </a:xfrm>
            <a:prstGeom prst="ellipse">
              <a:avLst/>
            </a:prstGeom>
            <a:solidFill>
              <a:schemeClr val="bg1">
                <a:lumMod val="65000"/>
              </a:schemeClr>
            </a:solidFill>
            <a:ln w="48000" cap="flat" cmpd="thickThin"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endParaRPr>
            </a:p>
          </p:txBody>
        </p:sp>
        <p:sp>
          <p:nvSpPr>
            <p:cNvPr id="7" name="Rectangle 4"/>
            <p:cNvSpPr>
              <a:spLocks noChangeArrowheads="1"/>
            </p:cNvSpPr>
            <p:nvPr/>
          </p:nvSpPr>
          <p:spPr bwMode="auto">
            <a:xfrm>
              <a:off x="914400" y="3581400"/>
              <a:ext cx="2057400" cy="1066800"/>
            </a:xfrm>
            <a:prstGeom prst="rect">
              <a:avLst/>
            </a:prstGeom>
            <a:grpFill/>
            <a:ln w="9525" algn="ctr">
              <a:solidFill>
                <a:schemeClr val="tx1"/>
              </a:solid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smtClean="0">
                  <a:ln>
                    <a:noFill/>
                  </a:ln>
                  <a:solidFill>
                    <a:schemeClr val="bg1"/>
                  </a:solidFill>
                  <a:effectLst/>
                  <a:uLnTx/>
                  <a:uFillTx/>
                  <a:latin typeface="+mn-lt"/>
                  <a:cs typeface="Arial" pitchFamily="34" charset="0"/>
                </a:rPr>
                <a:t>Emulation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smtClean="0">
                  <a:ln>
                    <a:noFill/>
                  </a:ln>
                  <a:solidFill>
                    <a:schemeClr val="bg1"/>
                  </a:solidFill>
                  <a:effectLst/>
                  <a:uLnTx/>
                  <a:uFillTx/>
                  <a:latin typeface="+mn-lt"/>
                  <a:cs typeface="Arial" pitchFamily="34" charset="0"/>
                </a:rPr>
                <a:t>Manager</a:t>
              </a:r>
            </a:p>
          </p:txBody>
        </p:sp>
        <p:sp>
          <p:nvSpPr>
            <p:cNvPr id="8" name="Rectangle 5"/>
            <p:cNvSpPr>
              <a:spLocks noChangeArrowheads="1"/>
            </p:cNvSpPr>
            <p:nvPr/>
          </p:nvSpPr>
          <p:spPr bwMode="auto">
            <a:xfrm>
              <a:off x="4648200" y="2133600"/>
              <a:ext cx="2590800" cy="1066800"/>
            </a:xfrm>
            <a:prstGeom prst="rect">
              <a:avLst/>
            </a:prstGeom>
            <a:grpFill/>
            <a:ln w="9525" algn="ctr">
              <a:solidFill>
                <a:schemeClr val="tx1"/>
              </a:solid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smtClean="0">
                  <a:ln>
                    <a:noFill/>
                  </a:ln>
                  <a:solidFill>
                    <a:schemeClr val="bg1"/>
                  </a:solidFill>
                  <a:effectLst/>
                  <a:uLnTx/>
                  <a:uFillTx/>
                  <a:latin typeface="+mn-lt"/>
                  <a:cs typeface="Arial" pitchFamily="34" charset="0"/>
                </a:rPr>
                <a:t>Translation Block</a:t>
              </a:r>
            </a:p>
          </p:txBody>
        </p:sp>
        <p:sp>
          <p:nvSpPr>
            <p:cNvPr id="9" name="Rectangle 6"/>
            <p:cNvSpPr>
              <a:spLocks noChangeArrowheads="1"/>
            </p:cNvSpPr>
            <p:nvPr/>
          </p:nvSpPr>
          <p:spPr bwMode="auto">
            <a:xfrm>
              <a:off x="4648200" y="3200400"/>
              <a:ext cx="2590800" cy="228600"/>
            </a:xfrm>
            <a:prstGeom prst="rect">
              <a:avLst/>
            </a:prstGeom>
            <a:solidFill>
              <a:schemeClr val="accent4">
                <a:lumMod val="50000"/>
              </a:schemeClr>
            </a:solidFill>
            <a:ln w="9525" algn="ctr">
              <a:solidFill>
                <a:schemeClr val="tx1"/>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0" name="Rectangle 7"/>
            <p:cNvSpPr>
              <a:spLocks noChangeArrowheads="1"/>
            </p:cNvSpPr>
            <p:nvPr/>
          </p:nvSpPr>
          <p:spPr bwMode="auto">
            <a:xfrm>
              <a:off x="4648200" y="3810000"/>
              <a:ext cx="2590800" cy="1066800"/>
            </a:xfrm>
            <a:prstGeom prst="rect">
              <a:avLst/>
            </a:prstGeom>
            <a:grpFill/>
            <a:ln w="9525" algn="ctr">
              <a:solidFill>
                <a:schemeClr val="tx1"/>
              </a:solid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smtClean="0">
                  <a:ln>
                    <a:noFill/>
                  </a:ln>
                  <a:solidFill>
                    <a:schemeClr val="bg1"/>
                  </a:solidFill>
                  <a:effectLst/>
                  <a:uLnTx/>
                  <a:uFillTx/>
                  <a:latin typeface="+mn-lt"/>
                  <a:cs typeface="Arial" pitchFamily="34" charset="0"/>
                </a:rPr>
                <a:t>Translation Block</a:t>
              </a:r>
            </a:p>
          </p:txBody>
        </p:sp>
        <p:sp>
          <p:nvSpPr>
            <p:cNvPr id="11" name="Rectangle 8"/>
            <p:cNvSpPr>
              <a:spLocks noChangeArrowheads="1"/>
            </p:cNvSpPr>
            <p:nvPr/>
          </p:nvSpPr>
          <p:spPr bwMode="auto">
            <a:xfrm>
              <a:off x="4648200" y="4876800"/>
              <a:ext cx="2590800" cy="228600"/>
            </a:xfrm>
            <a:prstGeom prst="rect">
              <a:avLst/>
            </a:prstGeom>
            <a:solidFill>
              <a:schemeClr val="accent4">
                <a:lumMod val="50000"/>
              </a:schemeClr>
            </a:solidFill>
            <a:ln w="9525" algn="ctr">
              <a:solidFill>
                <a:schemeClr val="tx1"/>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2" name="Rectangle 9"/>
            <p:cNvSpPr>
              <a:spLocks noChangeArrowheads="1"/>
            </p:cNvSpPr>
            <p:nvPr/>
          </p:nvSpPr>
          <p:spPr bwMode="auto">
            <a:xfrm>
              <a:off x="4648200" y="5410200"/>
              <a:ext cx="2590800" cy="1066800"/>
            </a:xfrm>
            <a:prstGeom prst="rect">
              <a:avLst/>
            </a:prstGeom>
            <a:grpFill/>
            <a:ln w="9525" algn="ctr">
              <a:solidFill>
                <a:schemeClr val="tx1"/>
              </a:solidFill>
              <a:miter lim="800000"/>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smtClean="0">
                  <a:ln>
                    <a:noFill/>
                  </a:ln>
                  <a:solidFill>
                    <a:schemeClr val="bg1"/>
                  </a:solidFill>
                  <a:effectLst/>
                  <a:uLnTx/>
                  <a:uFillTx/>
                  <a:latin typeface="+mn-lt"/>
                  <a:cs typeface="Arial" pitchFamily="34" charset="0"/>
                </a:rPr>
                <a:t>Translation Block</a:t>
              </a:r>
            </a:p>
          </p:txBody>
        </p:sp>
        <p:sp>
          <p:nvSpPr>
            <p:cNvPr id="13" name="Rectangle 10"/>
            <p:cNvSpPr>
              <a:spLocks noChangeArrowheads="1"/>
            </p:cNvSpPr>
            <p:nvPr/>
          </p:nvSpPr>
          <p:spPr bwMode="auto">
            <a:xfrm>
              <a:off x="4648200" y="6477000"/>
              <a:ext cx="2590800" cy="228600"/>
            </a:xfrm>
            <a:prstGeom prst="rect">
              <a:avLst/>
            </a:prstGeom>
            <a:solidFill>
              <a:schemeClr val="accent4">
                <a:lumMod val="50000"/>
              </a:schemeClr>
            </a:solidFill>
            <a:ln w="9525" algn="ctr">
              <a:solidFill>
                <a:schemeClr val="tx1"/>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4" name="Line 11"/>
            <p:cNvSpPr>
              <a:spLocks noChangeShapeType="1"/>
            </p:cNvSpPr>
            <p:nvPr/>
          </p:nvSpPr>
          <p:spPr bwMode="auto">
            <a:xfrm flipV="1">
              <a:off x="2971800" y="2133600"/>
              <a:ext cx="1676400" cy="1524000"/>
            </a:xfrm>
            <a:prstGeom prst="line">
              <a:avLst/>
            </a:prstGeom>
            <a:grpFill/>
            <a:ln w="28575">
              <a:solidFill>
                <a:schemeClr val="tx1"/>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5" name="Line 12"/>
            <p:cNvSpPr>
              <a:spLocks noChangeShapeType="1"/>
            </p:cNvSpPr>
            <p:nvPr/>
          </p:nvSpPr>
          <p:spPr bwMode="auto">
            <a:xfrm flipH="1">
              <a:off x="2971800" y="3352800"/>
              <a:ext cx="1676400" cy="381000"/>
            </a:xfrm>
            <a:prstGeom prst="line">
              <a:avLst/>
            </a:prstGeom>
            <a:grpFill/>
            <a:ln w="28575">
              <a:solidFill>
                <a:schemeClr val="tx1"/>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6" name="Line 13"/>
            <p:cNvSpPr>
              <a:spLocks noChangeShapeType="1"/>
            </p:cNvSpPr>
            <p:nvPr/>
          </p:nvSpPr>
          <p:spPr bwMode="auto">
            <a:xfrm flipV="1">
              <a:off x="2971800" y="3810000"/>
              <a:ext cx="1600200" cy="152400"/>
            </a:xfrm>
            <a:prstGeom prst="line">
              <a:avLst/>
            </a:prstGeom>
            <a:grpFill/>
            <a:ln w="28575">
              <a:solidFill>
                <a:schemeClr val="tx1"/>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7" name="Line 14"/>
            <p:cNvSpPr>
              <a:spLocks noChangeShapeType="1"/>
            </p:cNvSpPr>
            <p:nvPr/>
          </p:nvSpPr>
          <p:spPr bwMode="auto">
            <a:xfrm flipH="1" flipV="1">
              <a:off x="2971800" y="4191000"/>
              <a:ext cx="1676400" cy="838200"/>
            </a:xfrm>
            <a:prstGeom prst="line">
              <a:avLst/>
            </a:prstGeom>
            <a:grpFill/>
            <a:ln w="28575">
              <a:solidFill>
                <a:schemeClr val="tx1"/>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8" name="Line 15"/>
            <p:cNvSpPr>
              <a:spLocks noChangeShapeType="1"/>
            </p:cNvSpPr>
            <p:nvPr/>
          </p:nvSpPr>
          <p:spPr bwMode="auto">
            <a:xfrm>
              <a:off x="2971800" y="4495800"/>
              <a:ext cx="1676400" cy="914400"/>
            </a:xfrm>
            <a:prstGeom prst="line">
              <a:avLst/>
            </a:prstGeom>
            <a:grpFill/>
            <a:ln w="28575">
              <a:solidFill>
                <a:schemeClr val="tx1"/>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19" name="Line 16"/>
            <p:cNvSpPr>
              <a:spLocks noChangeShapeType="1"/>
            </p:cNvSpPr>
            <p:nvPr/>
          </p:nvSpPr>
          <p:spPr bwMode="auto">
            <a:xfrm flipH="1" flipV="1">
              <a:off x="2971800" y="4648200"/>
              <a:ext cx="1676400" cy="1981200"/>
            </a:xfrm>
            <a:prstGeom prst="line">
              <a:avLst/>
            </a:prstGeom>
            <a:grpFill/>
            <a:ln w="28575">
              <a:solidFill>
                <a:schemeClr val="tx1"/>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smtClean="0">
                <a:ln>
                  <a:noFill/>
                </a:ln>
                <a:solidFill>
                  <a:schemeClr val="bg1"/>
                </a:solidFill>
                <a:effectLst/>
                <a:uLnTx/>
                <a:uFillTx/>
                <a:latin typeface="+mn-lt"/>
                <a:cs typeface="Arial" pitchFamily="34" charset="0"/>
              </a:endParaRPr>
            </a:p>
          </p:txBody>
        </p:sp>
        <p:sp>
          <p:nvSpPr>
            <p:cNvPr id="20" name="TextBox 17"/>
            <p:cNvSpPr txBox="1"/>
            <p:nvPr/>
          </p:nvSpPr>
          <p:spPr>
            <a:xfrm>
              <a:off x="1249900" y="5888217"/>
              <a:ext cx="2056475" cy="458538"/>
            </a:xfrm>
            <a:prstGeom prst="rect">
              <a:avLst/>
            </a:prstGeom>
            <a:noFill/>
            <a:ln>
              <a:noFill/>
            </a:ln>
          </p:spPr>
          <p:txBody>
            <a:bodyPr wrap="none" rtlCol="0">
              <a:spAutoFit/>
            </a:bodyPr>
            <a:lstStyle/>
            <a:p>
              <a:pPr defTabSz="914400" fontAlgn="base">
                <a:spcBef>
                  <a:spcPct val="0"/>
                </a:spcBef>
                <a:spcAft>
                  <a:spcPct val="0"/>
                </a:spcAft>
              </a:pPr>
              <a:r>
                <a:rPr lang="en-US" sz="1600" dirty="0" smtClean="0">
                  <a:solidFill>
                    <a:srgbClr val="FF0000"/>
                  </a:solidFill>
                  <a:latin typeface="+mn-lt"/>
                  <a:cs typeface="Arial" pitchFamily="34" charset="0"/>
                </a:rPr>
                <a:t>Context switch</a:t>
              </a:r>
              <a:endParaRPr lang="en-US" sz="1600" dirty="0">
                <a:solidFill>
                  <a:srgbClr val="FF0000"/>
                </a:solidFill>
                <a:latin typeface="+mn-lt"/>
                <a:cs typeface="Arial" pitchFamily="34" charset="0"/>
              </a:endParaRPr>
            </a:p>
          </p:txBody>
        </p:sp>
        <p:cxnSp>
          <p:nvCxnSpPr>
            <p:cNvPr id="21" name="Straight Arrow Connector 19"/>
            <p:cNvCxnSpPr>
              <a:stCxn id="20" idx="0"/>
            </p:cNvCxnSpPr>
            <p:nvPr/>
          </p:nvCxnSpPr>
          <p:spPr>
            <a:xfrm flipV="1">
              <a:off x="2278138" y="4648200"/>
              <a:ext cx="1386213" cy="1240017"/>
            </a:xfrm>
            <a:prstGeom prst="straightConnector1">
              <a:avLst/>
            </a:prstGeom>
            <a:grpFill/>
            <a:ln w="25400" cap="rnd" cmpd="sng" algn="ctr">
              <a:solidFill>
                <a:srgbClr val="FF0000"/>
              </a:solidFill>
              <a:prstDash val="solid"/>
              <a:tailEnd type="arrow"/>
            </a:ln>
            <a:effectLst/>
          </p:spPr>
        </p:cxnSp>
      </p:grpSp>
    </p:spTree>
    <p:extLst>
      <p:ext uri="{BB962C8B-B14F-4D97-AF65-F5344CB8AC3E}">
        <p14:creationId xmlns:p14="http://schemas.microsoft.com/office/powerpoint/2010/main" val="41856666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Translation Chaining</a:t>
            </a:r>
            <a:endParaRPr lang="zh-TW" altLang="en-US" dirty="0">
              <a:latin typeface="+mn-lt"/>
            </a:endParaRPr>
          </a:p>
        </p:txBody>
      </p:sp>
      <p:sp>
        <p:nvSpPr>
          <p:cNvPr id="3" name="內容版面配置區 2"/>
          <p:cNvSpPr>
            <a:spLocks noGrp="1"/>
          </p:cNvSpPr>
          <p:nvPr>
            <p:ph idx="1"/>
          </p:nvPr>
        </p:nvSpPr>
        <p:spPr/>
        <p:txBody>
          <a:bodyPr/>
          <a:lstStyle/>
          <a:p>
            <a:r>
              <a:rPr lang="en-US" altLang="zh-TW" dirty="0">
                <a:latin typeface="+mn-lt"/>
              </a:rPr>
              <a:t>Jump from one translation directly to </a:t>
            </a:r>
            <a:r>
              <a:rPr lang="en-US" altLang="zh-TW" dirty="0" smtClean="0">
                <a:latin typeface="+mn-lt"/>
              </a:rPr>
              <a:t>next. Avoid </a:t>
            </a:r>
            <a:r>
              <a:rPr lang="en-US" altLang="zh-TW" dirty="0">
                <a:latin typeface="+mn-lt"/>
              </a:rPr>
              <a:t>switching back to emulation manager</a:t>
            </a:r>
          </a:p>
          <a:p>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39</a:t>
            </a:fld>
            <a:endParaRPr lang="en-US" dirty="0">
              <a:latin typeface="+mn-lt"/>
            </a:endParaRPr>
          </a:p>
        </p:txBody>
      </p:sp>
      <p:grpSp>
        <p:nvGrpSpPr>
          <p:cNvPr id="36" name="群組 35"/>
          <p:cNvGrpSpPr/>
          <p:nvPr/>
        </p:nvGrpSpPr>
        <p:grpSpPr>
          <a:xfrm>
            <a:off x="1175701" y="2590800"/>
            <a:ext cx="5933759" cy="2982508"/>
            <a:chOff x="228600" y="2286000"/>
            <a:chExt cx="9237689" cy="4643177"/>
          </a:xfrm>
          <a:solidFill>
            <a:schemeClr val="accent4"/>
          </a:solidFill>
        </p:grpSpPr>
        <p:sp>
          <p:nvSpPr>
            <p:cNvPr id="22" name="Rectangle 4"/>
            <p:cNvSpPr>
              <a:spLocks noChangeArrowheads="1"/>
            </p:cNvSpPr>
            <p:nvPr/>
          </p:nvSpPr>
          <p:spPr bwMode="auto">
            <a:xfrm>
              <a:off x="228600" y="3733800"/>
              <a:ext cx="2057400" cy="1066800"/>
            </a:xfrm>
            <a:prstGeom prst="rect">
              <a:avLst/>
            </a:prstGeom>
            <a:grpFill/>
            <a:ln w="9525" algn="ctr">
              <a:solidFill>
                <a:schemeClr val="tx1"/>
              </a:solidFill>
              <a:miter lim="800000"/>
              <a:headEnd/>
              <a:tailEnd/>
            </a:ln>
            <a:effectLst/>
          </p:spPr>
          <p:txBody>
            <a:bodyPr wrap="none" anchor="ctr"/>
            <a:lstStyle/>
            <a:p>
              <a:pPr algn="ctr"/>
              <a:r>
                <a:rPr lang="en-US" sz="1600" dirty="0">
                  <a:solidFill>
                    <a:schemeClr val="bg1"/>
                  </a:solidFill>
                  <a:latin typeface="+mn-lt"/>
                </a:rPr>
                <a:t>Emulation</a:t>
              </a:r>
            </a:p>
            <a:p>
              <a:pPr algn="ctr"/>
              <a:r>
                <a:rPr lang="en-US" sz="1600" dirty="0">
                  <a:solidFill>
                    <a:schemeClr val="bg1"/>
                  </a:solidFill>
                  <a:latin typeface="+mn-lt"/>
                </a:rPr>
                <a:t>Manager</a:t>
              </a:r>
            </a:p>
          </p:txBody>
        </p:sp>
        <p:sp>
          <p:nvSpPr>
            <p:cNvPr id="23" name="Rectangle 5"/>
            <p:cNvSpPr>
              <a:spLocks noChangeArrowheads="1"/>
            </p:cNvSpPr>
            <p:nvPr/>
          </p:nvSpPr>
          <p:spPr bwMode="auto">
            <a:xfrm>
              <a:off x="3962400" y="2286000"/>
              <a:ext cx="2590800" cy="1066800"/>
            </a:xfrm>
            <a:prstGeom prst="rect">
              <a:avLst/>
            </a:prstGeom>
            <a:grpFill/>
            <a:ln w="9525" algn="ctr">
              <a:solidFill>
                <a:schemeClr val="tx1"/>
              </a:solidFill>
              <a:miter lim="800000"/>
              <a:headEnd/>
              <a:tailEnd/>
            </a:ln>
            <a:effectLst/>
          </p:spPr>
          <p:txBody>
            <a:bodyPr wrap="none" anchor="ctr"/>
            <a:lstStyle/>
            <a:p>
              <a:pPr algn="ctr"/>
              <a:r>
                <a:rPr lang="en-US" sz="1600" dirty="0">
                  <a:solidFill>
                    <a:schemeClr val="bg1"/>
                  </a:solidFill>
                  <a:latin typeface="+mn-lt"/>
                </a:rPr>
                <a:t>Translation Block</a:t>
              </a:r>
            </a:p>
          </p:txBody>
        </p:sp>
        <p:sp>
          <p:nvSpPr>
            <p:cNvPr id="24" name="Rectangle 6"/>
            <p:cNvSpPr>
              <a:spLocks noChangeArrowheads="1"/>
            </p:cNvSpPr>
            <p:nvPr/>
          </p:nvSpPr>
          <p:spPr bwMode="auto">
            <a:xfrm>
              <a:off x="3962400" y="3352800"/>
              <a:ext cx="2590800" cy="228600"/>
            </a:xfrm>
            <a:prstGeom prst="rect">
              <a:avLst/>
            </a:prstGeom>
            <a:solidFill>
              <a:schemeClr val="accent4">
                <a:lumMod val="50000"/>
              </a:schemeClr>
            </a:solidFill>
            <a:ln w="9525" algn="ctr">
              <a:solidFill>
                <a:schemeClr val="tx1"/>
              </a:solidFill>
              <a:miter lim="800000"/>
              <a:headEnd/>
              <a:tailEnd/>
            </a:ln>
            <a:effectLst/>
          </p:spPr>
          <p:txBody>
            <a:bodyPr wrap="none" anchor="ctr"/>
            <a:lstStyle/>
            <a:p>
              <a:endParaRPr lang="en-US" sz="1600">
                <a:solidFill>
                  <a:schemeClr val="bg1"/>
                </a:solidFill>
                <a:latin typeface="+mn-lt"/>
              </a:endParaRPr>
            </a:p>
          </p:txBody>
        </p:sp>
        <p:sp>
          <p:nvSpPr>
            <p:cNvPr id="25" name="Rectangle 7"/>
            <p:cNvSpPr>
              <a:spLocks noChangeArrowheads="1"/>
            </p:cNvSpPr>
            <p:nvPr/>
          </p:nvSpPr>
          <p:spPr bwMode="auto">
            <a:xfrm>
              <a:off x="3962400" y="3962400"/>
              <a:ext cx="2590800" cy="1066800"/>
            </a:xfrm>
            <a:prstGeom prst="rect">
              <a:avLst/>
            </a:prstGeom>
            <a:grpFill/>
            <a:ln w="9525" algn="ctr">
              <a:solidFill>
                <a:schemeClr val="tx1"/>
              </a:solidFill>
              <a:miter lim="800000"/>
              <a:headEnd/>
              <a:tailEnd/>
            </a:ln>
            <a:effectLst/>
          </p:spPr>
          <p:txBody>
            <a:bodyPr wrap="none" anchor="ctr"/>
            <a:lstStyle/>
            <a:p>
              <a:pPr algn="ctr"/>
              <a:r>
                <a:rPr lang="en-US" sz="1600" dirty="0">
                  <a:solidFill>
                    <a:schemeClr val="bg1"/>
                  </a:solidFill>
                  <a:latin typeface="+mn-lt"/>
                </a:rPr>
                <a:t>Translation Block</a:t>
              </a:r>
            </a:p>
          </p:txBody>
        </p:sp>
        <p:sp>
          <p:nvSpPr>
            <p:cNvPr id="26" name="Rectangle 8"/>
            <p:cNvSpPr>
              <a:spLocks noChangeArrowheads="1"/>
            </p:cNvSpPr>
            <p:nvPr/>
          </p:nvSpPr>
          <p:spPr bwMode="auto">
            <a:xfrm>
              <a:off x="3962400" y="5029200"/>
              <a:ext cx="2590800" cy="228600"/>
            </a:xfrm>
            <a:prstGeom prst="rect">
              <a:avLst/>
            </a:prstGeom>
            <a:solidFill>
              <a:schemeClr val="accent4">
                <a:lumMod val="50000"/>
              </a:schemeClr>
            </a:solidFill>
            <a:ln w="9525" algn="ctr">
              <a:solidFill>
                <a:schemeClr val="tx1"/>
              </a:solidFill>
              <a:miter lim="800000"/>
              <a:headEnd/>
              <a:tailEnd/>
            </a:ln>
            <a:effectLst/>
          </p:spPr>
          <p:txBody>
            <a:bodyPr wrap="none" anchor="ctr"/>
            <a:lstStyle/>
            <a:p>
              <a:endParaRPr lang="en-US" sz="1600">
                <a:solidFill>
                  <a:schemeClr val="bg1"/>
                </a:solidFill>
                <a:latin typeface="+mn-lt"/>
              </a:endParaRPr>
            </a:p>
          </p:txBody>
        </p:sp>
        <p:sp>
          <p:nvSpPr>
            <p:cNvPr id="27" name="Rectangle 9"/>
            <p:cNvSpPr>
              <a:spLocks noChangeArrowheads="1"/>
            </p:cNvSpPr>
            <p:nvPr/>
          </p:nvSpPr>
          <p:spPr bwMode="auto">
            <a:xfrm>
              <a:off x="3962400" y="5633778"/>
              <a:ext cx="2590801" cy="1066801"/>
            </a:xfrm>
            <a:prstGeom prst="rect">
              <a:avLst/>
            </a:prstGeom>
            <a:grpFill/>
            <a:ln w="9525" algn="ctr">
              <a:solidFill>
                <a:schemeClr val="tx1"/>
              </a:solidFill>
              <a:miter lim="800000"/>
              <a:headEnd/>
              <a:tailEnd/>
            </a:ln>
            <a:effectLst/>
          </p:spPr>
          <p:txBody>
            <a:bodyPr wrap="none" anchor="ctr"/>
            <a:lstStyle/>
            <a:p>
              <a:pPr algn="ctr"/>
              <a:r>
                <a:rPr lang="en-US" sz="1600" dirty="0">
                  <a:solidFill>
                    <a:schemeClr val="bg1"/>
                  </a:solidFill>
                  <a:latin typeface="+mn-lt"/>
                </a:rPr>
                <a:t>Translation Block</a:t>
              </a:r>
            </a:p>
          </p:txBody>
        </p:sp>
        <p:sp>
          <p:nvSpPr>
            <p:cNvPr id="28" name="Rectangle 10"/>
            <p:cNvSpPr>
              <a:spLocks noChangeArrowheads="1"/>
            </p:cNvSpPr>
            <p:nvPr/>
          </p:nvSpPr>
          <p:spPr bwMode="auto">
            <a:xfrm>
              <a:off x="3962400" y="6700578"/>
              <a:ext cx="2590801" cy="228599"/>
            </a:xfrm>
            <a:prstGeom prst="rect">
              <a:avLst/>
            </a:prstGeom>
            <a:solidFill>
              <a:schemeClr val="accent4">
                <a:lumMod val="50000"/>
              </a:schemeClr>
            </a:solidFill>
            <a:ln w="9525" algn="ctr">
              <a:solidFill>
                <a:schemeClr val="tx1"/>
              </a:solidFill>
              <a:miter lim="800000"/>
              <a:headEnd/>
              <a:tailEnd/>
            </a:ln>
            <a:effectLst/>
          </p:spPr>
          <p:txBody>
            <a:bodyPr wrap="none" anchor="ctr"/>
            <a:lstStyle/>
            <a:p>
              <a:endParaRPr lang="en-US" sz="1600">
                <a:solidFill>
                  <a:schemeClr val="bg1"/>
                </a:solidFill>
                <a:latin typeface="+mn-lt"/>
              </a:endParaRPr>
            </a:p>
          </p:txBody>
        </p:sp>
        <p:sp>
          <p:nvSpPr>
            <p:cNvPr id="29" name="Line 11"/>
            <p:cNvSpPr>
              <a:spLocks noChangeShapeType="1"/>
            </p:cNvSpPr>
            <p:nvPr/>
          </p:nvSpPr>
          <p:spPr bwMode="auto">
            <a:xfrm flipV="1">
              <a:off x="2286000" y="2286000"/>
              <a:ext cx="1676400" cy="1524000"/>
            </a:xfrm>
            <a:prstGeom prst="line">
              <a:avLst/>
            </a:prstGeom>
            <a:grpFill/>
            <a:ln w="28575">
              <a:solidFill>
                <a:schemeClr val="tx1"/>
              </a:solidFill>
              <a:round/>
              <a:headEnd/>
              <a:tailEnd type="triangle" w="med" len="med"/>
            </a:ln>
            <a:effectLst/>
          </p:spPr>
          <p:txBody>
            <a:bodyPr/>
            <a:lstStyle/>
            <a:p>
              <a:endParaRPr lang="en-US" sz="1600">
                <a:solidFill>
                  <a:schemeClr val="bg1"/>
                </a:solidFill>
                <a:latin typeface="+mn-lt"/>
              </a:endParaRPr>
            </a:p>
          </p:txBody>
        </p:sp>
        <p:sp>
          <p:nvSpPr>
            <p:cNvPr id="30" name="Line 16"/>
            <p:cNvSpPr>
              <a:spLocks noChangeShapeType="1"/>
            </p:cNvSpPr>
            <p:nvPr/>
          </p:nvSpPr>
          <p:spPr bwMode="auto">
            <a:xfrm flipH="1" flipV="1">
              <a:off x="2286000" y="4800600"/>
              <a:ext cx="1676400" cy="1981200"/>
            </a:xfrm>
            <a:prstGeom prst="line">
              <a:avLst/>
            </a:prstGeom>
            <a:grpFill/>
            <a:ln w="28575">
              <a:solidFill>
                <a:schemeClr val="tx1"/>
              </a:solidFill>
              <a:round/>
              <a:headEnd/>
              <a:tailEnd type="triangle" w="med" len="med"/>
            </a:ln>
            <a:effectLst/>
          </p:spPr>
          <p:txBody>
            <a:bodyPr/>
            <a:lstStyle/>
            <a:p>
              <a:endParaRPr lang="en-US" sz="1600">
                <a:solidFill>
                  <a:schemeClr val="bg1"/>
                </a:solidFill>
                <a:latin typeface="+mn-lt"/>
              </a:endParaRPr>
            </a:p>
          </p:txBody>
        </p:sp>
        <p:sp>
          <p:nvSpPr>
            <p:cNvPr id="31" name="Line 17"/>
            <p:cNvSpPr>
              <a:spLocks noChangeShapeType="1"/>
            </p:cNvSpPr>
            <p:nvPr/>
          </p:nvSpPr>
          <p:spPr bwMode="auto">
            <a:xfrm>
              <a:off x="5181600" y="3581400"/>
              <a:ext cx="0" cy="381000"/>
            </a:xfrm>
            <a:prstGeom prst="line">
              <a:avLst/>
            </a:prstGeom>
            <a:grpFill/>
            <a:ln w="28575">
              <a:solidFill>
                <a:schemeClr val="tx1"/>
              </a:solidFill>
              <a:round/>
              <a:headEnd/>
              <a:tailEnd type="triangle" w="med" len="med"/>
            </a:ln>
            <a:effectLst/>
          </p:spPr>
          <p:txBody>
            <a:bodyPr/>
            <a:lstStyle/>
            <a:p>
              <a:endParaRPr lang="en-US" sz="1600">
                <a:solidFill>
                  <a:schemeClr val="bg1"/>
                </a:solidFill>
                <a:latin typeface="+mn-lt"/>
              </a:endParaRPr>
            </a:p>
          </p:txBody>
        </p:sp>
        <p:sp>
          <p:nvSpPr>
            <p:cNvPr id="32" name="Line 18"/>
            <p:cNvSpPr>
              <a:spLocks noChangeShapeType="1"/>
            </p:cNvSpPr>
            <p:nvPr/>
          </p:nvSpPr>
          <p:spPr bwMode="auto">
            <a:xfrm>
              <a:off x="5181600" y="5257800"/>
              <a:ext cx="0" cy="381000"/>
            </a:xfrm>
            <a:prstGeom prst="line">
              <a:avLst/>
            </a:prstGeom>
            <a:grpFill/>
            <a:ln w="28575">
              <a:solidFill>
                <a:schemeClr val="tx1"/>
              </a:solidFill>
              <a:round/>
              <a:headEnd/>
              <a:tailEnd type="triangle" w="med" len="med"/>
            </a:ln>
            <a:effectLst/>
          </p:spPr>
          <p:txBody>
            <a:bodyPr/>
            <a:lstStyle/>
            <a:p>
              <a:endParaRPr lang="en-US" sz="1600">
                <a:solidFill>
                  <a:schemeClr val="bg1"/>
                </a:solidFill>
                <a:latin typeface="+mn-lt"/>
              </a:endParaRPr>
            </a:p>
          </p:txBody>
        </p:sp>
        <p:sp>
          <p:nvSpPr>
            <p:cNvPr id="33" name="Rectangle 19"/>
            <p:cNvSpPr>
              <a:spLocks noChangeArrowheads="1"/>
            </p:cNvSpPr>
            <p:nvPr/>
          </p:nvSpPr>
          <p:spPr bwMode="auto">
            <a:xfrm>
              <a:off x="6857999" y="5638800"/>
              <a:ext cx="2608290" cy="762000"/>
            </a:xfrm>
            <a:prstGeom prst="rect">
              <a:avLst/>
            </a:prstGeom>
            <a:grpFill/>
            <a:ln w="9525" algn="ctr">
              <a:solidFill>
                <a:schemeClr val="tx1"/>
              </a:solidFill>
              <a:miter lim="800000"/>
              <a:headEnd/>
              <a:tailEnd/>
            </a:ln>
            <a:effectLst/>
          </p:spPr>
          <p:txBody>
            <a:bodyPr wrap="none" anchor="ctr"/>
            <a:lstStyle/>
            <a:p>
              <a:pPr algn="ctr"/>
              <a:r>
                <a:rPr lang="en-US" sz="1600" dirty="0">
                  <a:solidFill>
                    <a:schemeClr val="bg1"/>
                  </a:solidFill>
                  <a:latin typeface="+mn-lt"/>
                </a:rPr>
                <a:t>Translation Block</a:t>
              </a:r>
            </a:p>
          </p:txBody>
        </p:sp>
        <p:sp>
          <p:nvSpPr>
            <p:cNvPr id="34" name="Rectangle 20"/>
            <p:cNvSpPr>
              <a:spLocks noChangeArrowheads="1"/>
            </p:cNvSpPr>
            <p:nvPr/>
          </p:nvSpPr>
          <p:spPr bwMode="auto">
            <a:xfrm>
              <a:off x="6857999" y="6400800"/>
              <a:ext cx="2608290" cy="228601"/>
            </a:xfrm>
            <a:prstGeom prst="rect">
              <a:avLst/>
            </a:prstGeom>
            <a:solidFill>
              <a:schemeClr val="accent4">
                <a:lumMod val="50000"/>
              </a:schemeClr>
            </a:solidFill>
            <a:ln w="9525" algn="ctr">
              <a:solidFill>
                <a:schemeClr val="tx1"/>
              </a:solidFill>
              <a:miter lim="800000"/>
              <a:headEnd/>
              <a:tailEnd/>
            </a:ln>
            <a:effectLst/>
          </p:spPr>
          <p:txBody>
            <a:bodyPr wrap="none" anchor="ctr"/>
            <a:lstStyle/>
            <a:p>
              <a:endParaRPr lang="en-US" sz="1600">
                <a:solidFill>
                  <a:schemeClr val="bg1"/>
                </a:solidFill>
                <a:latin typeface="+mn-lt"/>
              </a:endParaRPr>
            </a:p>
          </p:txBody>
        </p:sp>
        <p:sp>
          <p:nvSpPr>
            <p:cNvPr id="35" name="Line 21"/>
            <p:cNvSpPr>
              <a:spLocks noChangeShapeType="1"/>
            </p:cNvSpPr>
            <p:nvPr/>
          </p:nvSpPr>
          <p:spPr bwMode="auto">
            <a:xfrm>
              <a:off x="6096000" y="5181600"/>
              <a:ext cx="685800" cy="457200"/>
            </a:xfrm>
            <a:prstGeom prst="line">
              <a:avLst/>
            </a:prstGeom>
            <a:grpFill/>
            <a:ln w="28575">
              <a:solidFill>
                <a:schemeClr val="tx1"/>
              </a:solidFill>
              <a:round/>
              <a:headEnd/>
              <a:tailEnd type="triangle" w="med" len="med"/>
            </a:ln>
            <a:effectLst/>
          </p:spPr>
          <p:txBody>
            <a:bodyPr/>
            <a:lstStyle/>
            <a:p>
              <a:endParaRPr lang="en-US" sz="1600">
                <a:solidFill>
                  <a:schemeClr val="bg1"/>
                </a:solidFill>
                <a:latin typeface="+mn-lt"/>
              </a:endParaRPr>
            </a:p>
          </p:txBody>
        </p:sp>
      </p:grpSp>
    </p:spTree>
    <p:extLst>
      <p:ext uri="{BB962C8B-B14F-4D97-AF65-F5344CB8AC3E}">
        <p14:creationId xmlns:p14="http://schemas.microsoft.com/office/powerpoint/2010/main" val="8778246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p:txBody>
          <a:bodyPr/>
          <a:lstStyle/>
          <a:p>
            <a:r>
              <a:rPr lang="en-US" altLang="zh-TW" dirty="0" smtClean="0">
                <a:latin typeface="+mn-lt"/>
              </a:rPr>
              <a:t>Review QEMU</a:t>
            </a:r>
            <a:endParaRPr lang="zh-TW" altLang="en-US" dirty="0">
              <a:latin typeface="+mn-lt"/>
            </a:endParaRPr>
          </a:p>
        </p:txBody>
      </p:sp>
      <p:sp>
        <p:nvSpPr>
          <p:cNvPr id="5" name="副標題 4"/>
          <p:cNvSpPr>
            <a:spLocks noGrp="1"/>
          </p:cNvSpPr>
          <p:nvPr>
            <p:ph type="subTitle" idx="1"/>
          </p:nvPr>
        </p:nvSpPr>
        <p:spPr/>
        <p:txBody>
          <a:bodyPr/>
          <a:lstStyle/>
          <a:p>
            <a:endParaRPr lang="zh-TW" altLang="en-US">
              <a:latin typeface="+mn-lt"/>
            </a:endParaRPr>
          </a:p>
        </p:txBody>
      </p:sp>
    </p:spTree>
    <p:extLst>
      <p:ext uri="{BB962C8B-B14F-4D97-AF65-F5344CB8AC3E}">
        <p14:creationId xmlns:p14="http://schemas.microsoft.com/office/powerpoint/2010/main" val="36514074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latin typeface="+mn-lt"/>
              </a:rPr>
              <a:t>QEMU </a:t>
            </a:r>
            <a:r>
              <a:rPr lang="en-US" altLang="zh-TW" dirty="0" smtClean="0">
                <a:latin typeface="+mn-lt"/>
              </a:rPr>
              <a:t>Overview</a:t>
            </a:r>
            <a:endParaRPr lang="zh-TW" altLang="en-US" dirty="0">
              <a:latin typeface="+mn-lt"/>
            </a:endParaRPr>
          </a:p>
        </p:txBody>
      </p:sp>
      <p:sp>
        <p:nvSpPr>
          <p:cNvPr id="6" name="內容版面配置區 5"/>
          <p:cNvSpPr>
            <a:spLocks noGrp="1"/>
          </p:cNvSpPr>
          <p:nvPr>
            <p:ph idx="1"/>
          </p:nvPr>
        </p:nvSpPr>
        <p:spPr/>
        <p:txBody>
          <a:bodyPr/>
          <a:lstStyle/>
          <a:p>
            <a:r>
              <a:rPr lang="en-US" altLang="zh-TW" dirty="0" smtClean="0">
                <a:latin typeface="+mn-lt"/>
              </a:rPr>
              <a:t>QEMU - </a:t>
            </a:r>
            <a:r>
              <a:rPr lang="en-US" altLang="zh-TW" b="1" dirty="0" smtClean="0">
                <a:latin typeface="+mn-lt"/>
              </a:rPr>
              <a:t>Q</a:t>
            </a:r>
            <a:r>
              <a:rPr lang="en-US" altLang="zh-TW" dirty="0" smtClean="0">
                <a:latin typeface="+mn-lt"/>
              </a:rPr>
              <a:t>uick </a:t>
            </a:r>
            <a:r>
              <a:rPr lang="en-US" altLang="zh-TW" b="1" dirty="0" err="1">
                <a:latin typeface="+mn-lt"/>
              </a:rPr>
              <a:t>EMU</a:t>
            </a:r>
            <a:r>
              <a:rPr lang="en-US" altLang="zh-TW" dirty="0" err="1">
                <a:latin typeface="+mn-lt"/>
              </a:rPr>
              <a:t>lator</a:t>
            </a:r>
            <a:endParaRPr lang="en-US" altLang="zh-TW" dirty="0">
              <a:latin typeface="+mn-lt"/>
            </a:endParaRPr>
          </a:p>
          <a:p>
            <a:r>
              <a:rPr lang="en-US" altLang="zh-TW" dirty="0">
                <a:latin typeface="+mn-lt"/>
              </a:rPr>
              <a:t>Processor emulator relies on Binary </a:t>
            </a:r>
            <a:r>
              <a:rPr lang="en-US" altLang="zh-TW" dirty="0" smtClean="0">
                <a:latin typeface="+mn-lt"/>
              </a:rPr>
              <a:t>translation  Using </a:t>
            </a:r>
            <a:r>
              <a:rPr lang="en-US" altLang="zh-TW" dirty="0">
                <a:latin typeface="+mn-lt"/>
              </a:rPr>
              <a:t>a Tiny Code Generator(TCG)</a:t>
            </a:r>
          </a:p>
          <a:p>
            <a:r>
              <a:rPr lang="en-US" altLang="zh-TW" dirty="0">
                <a:latin typeface="+mn-lt"/>
              </a:rPr>
              <a:t>Free and open source </a:t>
            </a:r>
            <a:endParaRPr lang="en-US" altLang="zh-TW" dirty="0" smtClean="0">
              <a:latin typeface="+mn-lt"/>
            </a:endParaRPr>
          </a:p>
          <a:p>
            <a:r>
              <a:rPr lang="en-US" altLang="zh-TW" dirty="0">
                <a:latin typeface="+mn-lt"/>
              </a:rPr>
              <a:t>KVM </a:t>
            </a:r>
            <a:r>
              <a:rPr lang="en-US" altLang="zh-TW" dirty="0" smtClean="0">
                <a:latin typeface="+mn-lt"/>
              </a:rPr>
              <a:t>support</a:t>
            </a:r>
          </a:p>
          <a:p>
            <a:r>
              <a:rPr lang="en-US" altLang="zh-TW" dirty="0" smtClean="0">
                <a:latin typeface="+mn-lt"/>
              </a:rPr>
              <a:t>Support process VM and system VM</a:t>
            </a:r>
          </a:p>
          <a:p>
            <a:r>
              <a:rPr lang="en-US" altLang="zh-TW" dirty="0" smtClean="0">
                <a:latin typeface="+mn-lt"/>
              </a:rPr>
              <a:t>Support same ISA and cross ISA emulation</a:t>
            </a:r>
          </a:p>
          <a:p>
            <a:pPr lvl="1"/>
            <a:r>
              <a:rPr lang="en-US" altLang="zh-TW" dirty="0" smtClean="0">
                <a:latin typeface="+mn-lt"/>
              </a:rPr>
              <a:t>This slide focuses on system VM and cross ISA emulation</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41</a:t>
            </a:fld>
            <a:endParaRPr lang="en-US" dirty="0">
              <a:latin typeface="+mn-lt"/>
            </a:endParaRPr>
          </a:p>
        </p:txBody>
      </p:sp>
    </p:spTree>
    <p:extLst>
      <p:ext uri="{BB962C8B-B14F-4D97-AF65-F5344CB8AC3E}">
        <p14:creationId xmlns:p14="http://schemas.microsoft.com/office/powerpoint/2010/main" val="11126583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Basic Background: POSIX </a:t>
            </a:r>
            <a:r>
              <a:rPr lang="en-US" altLang="zh-TW" dirty="0" smtClean="0">
                <a:latin typeface="+mn-lt"/>
              </a:rPr>
              <a:t>thread</a:t>
            </a:r>
            <a:endParaRPr lang="zh-TW" altLang="en-US" dirty="0">
              <a:latin typeface="+mn-lt"/>
            </a:endParaRPr>
          </a:p>
        </p:txBody>
      </p:sp>
      <p:sp>
        <p:nvSpPr>
          <p:cNvPr id="3" name="內容版面配置區 2"/>
          <p:cNvSpPr>
            <a:spLocks noGrp="1"/>
          </p:cNvSpPr>
          <p:nvPr>
            <p:ph idx="1"/>
          </p:nvPr>
        </p:nvSpPr>
        <p:spPr/>
        <p:txBody>
          <a:bodyPr>
            <a:normAutofit fontScale="85000" lnSpcReduction="20000"/>
          </a:bodyPr>
          <a:lstStyle/>
          <a:p>
            <a:r>
              <a:rPr lang="en-US" altLang="zh-TW" b="1" dirty="0">
                <a:latin typeface="+mn-lt"/>
              </a:rPr>
              <a:t>mut</a:t>
            </a:r>
            <a:r>
              <a:rPr lang="en-US" altLang="zh-TW" dirty="0">
                <a:latin typeface="+mn-lt"/>
              </a:rPr>
              <a:t>ual </a:t>
            </a:r>
            <a:r>
              <a:rPr lang="en-US" altLang="zh-TW" b="1" dirty="0">
                <a:latin typeface="+mn-lt"/>
              </a:rPr>
              <a:t>ex</a:t>
            </a:r>
            <a:r>
              <a:rPr lang="en-US" altLang="zh-TW" dirty="0">
                <a:latin typeface="+mn-lt"/>
              </a:rPr>
              <a:t>clusion</a:t>
            </a:r>
            <a:r>
              <a:rPr lang="en-US" altLang="zh-TW" dirty="0" smtClean="0">
                <a:latin typeface="+mn-lt"/>
              </a:rPr>
              <a:t> lock/unlock</a:t>
            </a:r>
          </a:p>
          <a:p>
            <a:pPr lvl="1"/>
            <a:r>
              <a:rPr lang="en-US" altLang="zh-TW" dirty="0" smtClean="0">
                <a:latin typeface="+mn-lt"/>
              </a:rPr>
              <a:t>If current thread already has </a:t>
            </a:r>
            <a:r>
              <a:rPr lang="en-US" altLang="zh-TW" dirty="0" err="1" smtClean="0">
                <a:latin typeface="+mn-lt"/>
              </a:rPr>
              <a:t>mutex</a:t>
            </a:r>
            <a:r>
              <a:rPr lang="en-US" altLang="zh-TW" dirty="0" smtClean="0">
                <a:latin typeface="+mn-lt"/>
              </a:rPr>
              <a:t>, than lock same </a:t>
            </a:r>
            <a:r>
              <a:rPr lang="en-US" altLang="zh-TW" dirty="0" err="1" smtClean="0">
                <a:latin typeface="+mn-lt"/>
              </a:rPr>
              <a:t>mutex</a:t>
            </a:r>
            <a:r>
              <a:rPr lang="en-US" altLang="zh-TW" dirty="0" smtClean="0">
                <a:latin typeface="+mn-lt"/>
              </a:rPr>
              <a:t> again. It </a:t>
            </a:r>
            <a:r>
              <a:rPr lang="en-US" altLang="zh-TW" dirty="0">
                <a:latin typeface="+mn-lt"/>
              </a:rPr>
              <a:t>will </a:t>
            </a:r>
            <a:r>
              <a:rPr lang="en-US" altLang="zh-TW" dirty="0" smtClean="0">
                <a:latin typeface="+mn-lt"/>
              </a:rPr>
              <a:t>cause dead lock condition</a:t>
            </a:r>
          </a:p>
          <a:p>
            <a:pPr lvl="1"/>
            <a:r>
              <a:rPr lang="en-US" altLang="zh-TW" dirty="0" smtClean="0">
                <a:latin typeface="+mn-lt"/>
              </a:rPr>
              <a:t>If current thread does not have </a:t>
            </a:r>
            <a:r>
              <a:rPr lang="en-US" altLang="zh-TW" dirty="0" err="1" smtClean="0">
                <a:latin typeface="+mn-lt"/>
              </a:rPr>
              <a:t>mutex</a:t>
            </a:r>
            <a:r>
              <a:rPr lang="en-US" altLang="zh-TW" dirty="0" smtClean="0">
                <a:latin typeface="+mn-lt"/>
              </a:rPr>
              <a:t> but unlock it which is </a:t>
            </a:r>
            <a:r>
              <a:rPr lang="en-US" altLang="zh-TW" dirty="0">
                <a:latin typeface="+mn-lt"/>
              </a:rPr>
              <a:t>very dangerous</a:t>
            </a:r>
            <a:endParaRPr lang="en-US" altLang="zh-TW" dirty="0" smtClean="0">
              <a:latin typeface="+mn-lt"/>
            </a:endParaRPr>
          </a:p>
          <a:p>
            <a:r>
              <a:rPr lang="en-US" altLang="zh-TW" dirty="0">
                <a:latin typeface="+mn-lt"/>
              </a:rPr>
              <a:t>condition </a:t>
            </a:r>
            <a:r>
              <a:rPr lang="en-US" altLang="zh-TW" dirty="0" smtClean="0">
                <a:latin typeface="+mn-lt"/>
              </a:rPr>
              <a:t>wait</a:t>
            </a:r>
          </a:p>
          <a:p>
            <a:pPr lvl="1"/>
            <a:r>
              <a:rPr lang="en-US" altLang="zh-TW" dirty="0">
                <a:latin typeface="+mn-lt"/>
              </a:rPr>
              <a:t>Before use condition </a:t>
            </a:r>
            <a:r>
              <a:rPr lang="en-US" altLang="zh-TW" dirty="0" smtClean="0">
                <a:latin typeface="+mn-lt"/>
              </a:rPr>
              <a:t>wait, current thread must have </a:t>
            </a:r>
            <a:r>
              <a:rPr lang="en-US" altLang="zh-TW" dirty="0" err="1" smtClean="0">
                <a:latin typeface="+mn-lt"/>
              </a:rPr>
              <a:t>mutex</a:t>
            </a:r>
            <a:r>
              <a:rPr lang="en-US" altLang="zh-TW" dirty="0" smtClean="0">
                <a:latin typeface="+mn-lt"/>
              </a:rPr>
              <a:t> already</a:t>
            </a:r>
          </a:p>
          <a:p>
            <a:pPr lvl="1"/>
            <a:r>
              <a:rPr lang="en-US" altLang="zh-TW" dirty="0" smtClean="0">
                <a:latin typeface="+mn-lt"/>
              </a:rPr>
              <a:t>When </a:t>
            </a:r>
            <a:r>
              <a:rPr lang="en-US" altLang="zh-TW" dirty="0">
                <a:latin typeface="+mn-lt"/>
              </a:rPr>
              <a:t>current thread </a:t>
            </a:r>
            <a:r>
              <a:rPr lang="en-US" altLang="zh-TW" dirty="0" smtClean="0">
                <a:latin typeface="+mn-lt"/>
              </a:rPr>
              <a:t>use condition wait, it will unlock </a:t>
            </a:r>
            <a:r>
              <a:rPr lang="en-US" altLang="zh-TW" dirty="0" err="1" smtClean="0">
                <a:latin typeface="+mn-lt"/>
              </a:rPr>
              <a:t>mutex</a:t>
            </a:r>
            <a:r>
              <a:rPr lang="en-US" altLang="zh-TW" dirty="0" smtClean="0">
                <a:latin typeface="+mn-lt"/>
              </a:rPr>
              <a:t> first, then wait until </a:t>
            </a:r>
            <a:r>
              <a:rPr lang="en-US" altLang="zh-TW" dirty="0">
                <a:latin typeface="+mn-lt"/>
              </a:rPr>
              <a:t>another thread </a:t>
            </a:r>
            <a:r>
              <a:rPr lang="en-US" altLang="zh-TW" dirty="0" smtClean="0">
                <a:latin typeface="+mn-lt"/>
              </a:rPr>
              <a:t>signals it</a:t>
            </a:r>
          </a:p>
          <a:p>
            <a:pPr lvl="1"/>
            <a:r>
              <a:rPr lang="en-US" altLang="zh-TW" dirty="0" smtClean="0">
                <a:latin typeface="+mn-lt"/>
              </a:rPr>
              <a:t>If current thread wake up, it must get the </a:t>
            </a:r>
            <a:r>
              <a:rPr lang="en-US" altLang="zh-TW" dirty="0" err="1" smtClean="0">
                <a:latin typeface="+mn-lt"/>
              </a:rPr>
              <a:t>mutex</a:t>
            </a:r>
            <a:r>
              <a:rPr lang="en-US" altLang="zh-TW" dirty="0" smtClean="0">
                <a:latin typeface="+mn-lt"/>
              </a:rPr>
              <a:t> again before execute codes</a:t>
            </a:r>
          </a:p>
          <a:p>
            <a:r>
              <a:rPr lang="en-US" altLang="zh-TW" dirty="0">
                <a:latin typeface="+mn-lt"/>
              </a:rPr>
              <a:t>condition </a:t>
            </a:r>
            <a:r>
              <a:rPr lang="en-US" altLang="zh-TW" dirty="0" smtClean="0">
                <a:latin typeface="+mn-lt"/>
              </a:rPr>
              <a:t>signal/broadcast</a:t>
            </a:r>
          </a:p>
          <a:p>
            <a:pPr lvl="1"/>
            <a:r>
              <a:rPr lang="en-US" altLang="zh-TW" dirty="0" smtClean="0">
                <a:latin typeface="+mn-lt"/>
              </a:rPr>
              <a:t>Condition signal will wake 1 thread up at </a:t>
            </a:r>
            <a:r>
              <a:rPr lang="en-US" altLang="zh-TW" u="sng" dirty="0" smtClean="0">
                <a:latin typeface="+mn-lt"/>
              </a:rPr>
              <a:t>random</a:t>
            </a:r>
            <a:endParaRPr lang="en-US" altLang="zh-TW" dirty="0" smtClean="0">
              <a:latin typeface="+mn-lt"/>
            </a:endParaRPr>
          </a:p>
          <a:p>
            <a:pPr lvl="1"/>
            <a:r>
              <a:rPr lang="en-US" altLang="zh-TW" dirty="0" smtClean="0">
                <a:latin typeface="+mn-lt"/>
              </a:rPr>
              <a:t>Before use condition broadcast, make sure all of thread (which should be waiting) already in </a:t>
            </a:r>
            <a:r>
              <a:rPr lang="en-US" altLang="zh-TW" dirty="0">
                <a:latin typeface="+mn-lt"/>
              </a:rPr>
              <a:t>waiting state</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42</a:t>
            </a:fld>
            <a:endParaRPr lang="en-US" dirty="0">
              <a:latin typeface="+mn-lt"/>
            </a:endParaRPr>
          </a:p>
        </p:txBody>
      </p:sp>
    </p:spTree>
    <p:extLst>
      <p:ext uri="{BB962C8B-B14F-4D97-AF65-F5344CB8AC3E}">
        <p14:creationId xmlns:p14="http://schemas.microsoft.com/office/powerpoint/2010/main" val="327835522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QEMU Main Control Flow</a:t>
            </a:r>
            <a:endParaRPr lang="zh-TW" altLang="en-US" dirty="0">
              <a:latin typeface="+mn-lt"/>
            </a:endParaRPr>
          </a:p>
        </p:txBody>
      </p:sp>
      <p:sp>
        <p:nvSpPr>
          <p:cNvPr id="3" name="內容版面配置區 2"/>
          <p:cNvSpPr>
            <a:spLocks noGrp="1"/>
          </p:cNvSpPr>
          <p:nvPr>
            <p:ph idx="1"/>
          </p:nvPr>
        </p:nvSpPr>
        <p:spPr/>
        <p:txBody>
          <a:bodyPr/>
          <a:lstStyle/>
          <a:p>
            <a:r>
              <a:rPr lang="en-US" altLang="zh-TW" sz="2400" dirty="0" smtClean="0">
                <a:latin typeface="+mn-lt"/>
              </a:rPr>
              <a:t>QEMU only create 1 thread which be called “vCPU </a:t>
            </a:r>
            <a:r>
              <a:rPr lang="en-US" altLang="zh-TW" sz="2400" dirty="0" err="1" smtClean="0">
                <a:latin typeface="+mn-lt"/>
              </a:rPr>
              <a:t>thread”to</a:t>
            </a:r>
            <a:r>
              <a:rPr lang="en-US" altLang="zh-TW" sz="2400" dirty="0" smtClean="0">
                <a:latin typeface="+mn-lt"/>
              </a:rPr>
              <a:t> represent vCPUs (no matter how many vCPU)  and main thread finally </a:t>
            </a:r>
            <a:r>
              <a:rPr lang="en-US" altLang="zh-TW" sz="2400" dirty="0" err="1" smtClean="0">
                <a:latin typeface="+mn-lt"/>
              </a:rPr>
              <a:t>becomes“IO</a:t>
            </a:r>
            <a:r>
              <a:rPr lang="en-US" altLang="zh-TW" sz="2400" dirty="0" smtClean="0">
                <a:latin typeface="+mn-lt"/>
              </a:rPr>
              <a:t> thread”</a:t>
            </a:r>
          </a:p>
          <a:p>
            <a:r>
              <a:rPr lang="en-US" altLang="zh-TW" sz="2400" dirty="0" smtClean="0">
                <a:latin typeface="+mn-lt"/>
              </a:rPr>
              <a:t>QEMU use global </a:t>
            </a:r>
            <a:r>
              <a:rPr lang="en-US" altLang="zh-TW" sz="2400" dirty="0" err="1" smtClean="0">
                <a:latin typeface="+mn-lt"/>
              </a:rPr>
              <a:t>mutex</a:t>
            </a:r>
            <a:r>
              <a:rPr lang="en-US" altLang="zh-TW" sz="2400" dirty="0" smtClean="0">
                <a:latin typeface="+mn-lt"/>
              </a:rPr>
              <a:t> lock to </a:t>
            </a:r>
            <a:r>
              <a:rPr lang="en-US" altLang="zh-TW" sz="2400" dirty="0">
                <a:latin typeface="+mn-lt"/>
              </a:rPr>
              <a:t>achieve </a:t>
            </a:r>
            <a:r>
              <a:rPr lang="en-US" altLang="zh-TW" sz="2400" dirty="0" smtClean="0">
                <a:latin typeface="+mn-lt"/>
              </a:rPr>
              <a:t>vCPUs and IO communication</a:t>
            </a:r>
          </a:p>
          <a:p>
            <a:r>
              <a:rPr lang="en-US" altLang="zh-TW" sz="2400" dirty="0" smtClean="0">
                <a:latin typeface="+mn-lt"/>
              </a:rPr>
              <a:t>vCPU thread execute TCG in the infinite loop</a:t>
            </a:r>
          </a:p>
          <a:p>
            <a:r>
              <a:rPr lang="en-US" altLang="zh-TW" sz="2400" dirty="0" smtClean="0">
                <a:latin typeface="+mn-lt"/>
              </a:rPr>
              <a:t>IO thread wait IO and execute IO in </a:t>
            </a:r>
            <a:r>
              <a:rPr lang="en-US" altLang="zh-TW" sz="2400" dirty="0">
                <a:latin typeface="+mn-lt"/>
              </a:rPr>
              <a:t>the infinite </a:t>
            </a:r>
            <a:r>
              <a:rPr lang="en-US" altLang="zh-TW" sz="2400" dirty="0" smtClean="0">
                <a:latin typeface="+mn-lt"/>
              </a:rPr>
              <a:t>loop</a:t>
            </a:r>
          </a:p>
          <a:p>
            <a:r>
              <a:rPr lang="en-US" altLang="zh-TW" sz="2400" dirty="0" smtClean="0">
                <a:latin typeface="+mn-lt"/>
              </a:rPr>
              <a:t>When IO happened, vCPU thread must stop until IO thread finish job </a:t>
            </a:r>
          </a:p>
          <a:p>
            <a:endParaRPr lang="zh-TW" altLang="en-US" sz="2400"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43</a:t>
            </a:fld>
            <a:endParaRPr lang="en-US" dirty="0">
              <a:latin typeface="+mn-lt"/>
            </a:endParaRPr>
          </a:p>
        </p:txBody>
      </p:sp>
    </p:spTree>
    <p:extLst>
      <p:ext uri="{BB962C8B-B14F-4D97-AF65-F5344CB8AC3E}">
        <p14:creationId xmlns:p14="http://schemas.microsoft.com/office/powerpoint/2010/main" val="291001535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QEMU </a:t>
            </a:r>
            <a:r>
              <a:rPr lang="en-US" altLang="zh-TW" dirty="0" smtClean="0">
                <a:latin typeface="+mn-lt"/>
              </a:rPr>
              <a:t>TCG</a:t>
            </a:r>
            <a:endParaRPr lang="zh-TW" altLang="en-US" dirty="0">
              <a:latin typeface="+mn-lt"/>
            </a:endParaRPr>
          </a:p>
        </p:txBody>
      </p:sp>
      <p:sp>
        <p:nvSpPr>
          <p:cNvPr id="3" name="內容版面配置區 2"/>
          <p:cNvSpPr>
            <a:spLocks noGrp="1"/>
          </p:cNvSpPr>
          <p:nvPr>
            <p:ph idx="1"/>
          </p:nvPr>
        </p:nvSpPr>
        <p:spPr/>
        <p:txBody>
          <a:bodyPr/>
          <a:lstStyle/>
          <a:p>
            <a:r>
              <a:rPr lang="en-US" altLang="zh-TW" sz="2400" b="1" dirty="0">
                <a:latin typeface="+mn-lt"/>
              </a:rPr>
              <a:t>T</a:t>
            </a:r>
            <a:r>
              <a:rPr lang="en-US" altLang="zh-TW" sz="2400" dirty="0">
                <a:latin typeface="+mn-lt"/>
              </a:rPr>
              <a:t>iny </a:t>
            </a:r>
            <a:r>
              <a:rPr lang="en-US" altLang="zh-TW" sz="2400" b="1" dirty="0">
                <a:latin typeface="+mn-lt"/>
              </a:rPr>
              <a:t>C</a:t>
            </a:r>
            <a:r>
              <a:rPr lang="en-US" altLang="zh-TW" sz="2400" dirty="0">
                <a:latin typeface="+mn-lt"/>
              </a:rPr>
              <a:t>ode </a:t>
            </a:r>
            <a:r>
              <a:rPr lang="en-US" altLang="zh-TW" sz="2400" b="1" dirty="0" smtClean="0">
                <a:latin typeface="+mn-lt"/>
              </a:rPr>
              <a:t>G</a:t>
            </a:r>
            <a:r>
              <a:rPr lang="en-US" altLang="zh-TW" sz="2400" dirty="0" smtClean="0">
                <a:latin typeface="+mn-lt"/>
              </a:rPr>
              <a:t>enerator</a:t>
            </a:r>
          </a:p>
          <a:p>
            <a:pPr lvl="1"/>
            <a:r>
              <a:rPr lang="en-US" altLang="zh-TW" sz="2000" dirty="0" smtClean="0">
                <a:latin typeface="+mn-lt"/>
              </a:rPr>
              <a:t>A </a:t>
            </a:r>
            <a:r>
              <a:rPr lang="en-US" altLang="zh-TW" sz="2000" dirty="0">
                <a:latin typeface="+mn-lt"/>
              </a:rPr>
              <a:t>generic backend for a C compiler. It was simplified to be used in </a:t>
            </a:r>
            <a:r>
              <a:rPr lang="en-US" altLang="zh-TW" sz="2000" dirty="0" smtClean="0">
                <a:latin typeface="+mn-lt"/>
              </a:rPr>
              <a:t>QEMU</a:t>
            </a:r>
          </a:p>
          <a:p>
            <a:r>
              <a:rPr lang="en-US" altLang="zh-TW" sz="2400" dirty="0">
                <a:latin typeface="+mn-lt"/>
              </a:rPr>
              <a:t>Translation </a:t>
            </a:r>
            <a:r>
              <a:rPr lang="en-US" altLang="zh-TW" sz="2400" dirty="0" smtClean="0">
                <a:latin typeface="+mn-lt"/>
              </a:rPr>
              <a:t>Block(TB</a:t>
            </a:r>
            <a:r>
              <a:rPr lang="en-US" altLang="zh-TW" sz="2400" dirty="0">
                <a:latin typeface="+mn-lt"/>
              </a:rPr>
              <a:t>)</a:t>
            </a:r>
          </a:p>
          <a:p>
            <a:pPr lvl="1"/>
            <a:r>
              <a:rPr lang="en-US" altLang="zh-TW" sz="2000" dirty="0">
                <a:latin typeface="+mn-lt"/>
              </a:rPr>
              <a:t>A TCG "basic block" corresponds to a list of instructions terminated by a branch </a:t>
            </a:r>
            <a:r>
              <a:rPr lang="en-US" altLang="zh-TW" sz="2000" dirty="0" smtClean="0">
                <a:latin typeface="+mn-lt"/>
              </a:rPr>
              <a:t>instruction</a:t>
            </a:r>
          </a:p>
          <a:p>
            <a:r>
              <a:rPr lang="en-US" altLang="zh-TW" sz="2400" dirty="0" smtClean="0">
                <a:latin typeface="+mn-lt"/>
              </a:rPr>
              <a:t>Prologue/Epilogue</a:t>
            </a:r>
          </a:p>
          <a:p>
            <a:pPr lvl="1"/>
            <a:r>
              <a:rPr lang="en-US" altLang="zh-TW" sz="2000" dirty="0" smtClean="0">
                <a:latin typeface="+mn-lt"/>
              </a:rPr>
              <a:t>Load/store all vCPU registers in stack </a:t>
            </a:r>
          </a:p>
          <a:p>
            <a:r>
              <a:rPr lang="en-US" altLang="zh-TW" sz="2400" dirty="0">
                <a:latin typeface="+mn-lt"/>
              </a:rPr>
              <a:t>TB use page as unit to be </a:t>
            </a:r>
            <a:r>
              <a:rPr lang="en-US" altLang="zh-TW" sz="2400" dirty="0" smtClean="0">
                <a:latin typeface="+mn-lt"/>
              </a:rPr>
              <a:t>maintained</a:t>
            </a:r>
            <a:br>
              <a:rPr lang="en-US" altLang="zh-TW" sz="2400" dirty="0" smtClean="0">
                <a:latin typeface="+mn-lt"/>
              </a:rPr>
            </a:br>
            <a:r>
              <a:rPr lang="en-US" altLang="zh-TW" sz="2400" dirty="0" smtClean="0">
                <a:latin typeface="+mn-lt"/>
              </a:rPr>
              <a:t>(guest physic page) </a:t>
            </a:r>
            <a:endParaRPr lang="en-US" altLang="zh-TW" sz="2400"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44</a:t>
            </a:fld>
            <a:endParaRPr lang="en-US" dirty="0">
              <a:latin typeface="+mn-lt"/>
            </a:endParaRPr>
          </a:p>
        </p:txBody>
      </p:sp>
      <p:grpSp>
        <p:nvGrpSpPr>
          <p:cNvPr id="14" name="群組 13"/>
          <p:cNvGrpSpPr/>
          <p:nvPr/>
        </p:nvGrpSpPr>
        <p:grpSpPr>
          <a:xfrm>
            <a:off x="4039071" y="4724400"/>
            <a:ext cx="4467361" cy="1371600"/>
            <a:chOff x="4039071" y="5231424"/>
            <a:chExt cx="4467361" cy="1371600"/>
          </a:xfrm>
        </p:grpSpPr>
        <p:sp>
          <p:nvSpPr>
            <p:cNvPr id="6" name="矩形 5"/>
            <p:cNvSpPr/>
            <p:nvPr/>
          </p:nvSpPr>
          <p:spPr>
            <a:xfrm>
              <a:off x="5561406" y="5262506"/>
              <a:ext cx="1178011" cy="4572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prologue</a:t>
              </a:r>
              <a:endParaRPr lang="zh-TW" altLang="en-US" dirty="0"/>
            </a:p>
          </p:txBody>
        </p:sp>
        <p:sp>
          <p:nvSpPr>
            <p:cNvPr id="7" name="矩形 6"/>
            <p:cNvSpPr/>
            <p:nvPr/>
          </p:nvSpPr>
          <p:spPr>
            <a:xfrm>
              <a:off x="5546990" y="6114743"/>
              <a:ext cx="1206843" cy="4572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epi</a:t>
              </a:r>
              <a:r>
                <a:rPr lang="en-US" altLang="zh-TW" dirty="0" smtClean="0"/>
                <a:t>logue</a:t>
              </a:r>
              <a:endParaRPr lang="zh-TW" altLang="en-US" dirty="0"/>
            </a:p>
          </p:txBody>
        </p:sp>
        <p:sp>
          <p:nvSpPr>
            <p:cNvPr id="9" name="矩形 8"/>
            <p:cNvSpPr/>
            <p:nvPr/>
          </p:nvSpPr>
          <p:spPr>
            <a:xfrm>
              <a:off x="7048335" y="5231424"/>
              <a:ext cx="1458097" cy="137160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TW" dirty="0" smtClean="0"/>
                <a:t>Code cache</a:t>
              </a:r>
              <a:endParaRPr lang="zh-TW" altLang="en-US" dirty="0"/>
            </a:p>
          </p:txBody>
        </p:sp>
        <p:sp>
          <p:nvSpPr>
            <p:cNvPr id="8" name="矩形 7"/>
            <p:cNvSpPr/>
            <p:nvPr/>
          </p:nvSpPr>
          <p:spPr>
            <a:xfrm>
              <a:off x="7339059" y="5607960"/>
              <a:ext cx="889949" cy="29033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TB</a:t>
              </a:r>
              <a:endParaRPr lang="zh-TW" altLang="en-US" dirty="0"/>
            </a:p>
          </p:txBody>
        </p:sp>
        <p:cxnSp>
          <p:nvCxnSpPr>
            <p:cNvPr id="12" name="直線單箭頭接點 11"/>
            <p:cNvCxnSpPr/>
            <p:nvPr/>
          </p:nvCxnSpPr>
          <p:spPr>
            <a:xfrm flipV="1">
              <a:off x="6739417" y="5607962"/>
              <a:ext cx="599642" cy="89853"/>
            </a:xfrm>
            <a:prstGeom prst="straightConnector1">
              <a:avLst/>
            </a:prstGeom>
            <a:solidFill>
              <a:schemeClr val="accent4"/>
            </a:solid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H="1" flipV="1">
              <a:off x="6739417" y="6114743"/>
              <a:ext cx="599642" cy="392077"/>
            </a:xfrm>
            <a:prstGeom prst="straightConnector1">
              <a:avLst/>
            </a:prstGeom>
            <a:solidFill>
              <a:schemeClr val="accent4"/>
            </a:solid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4039071" y="5732559"/>
              <a:ext cx="1428596" cy="369332"/>
            </a:xfrm>
            <a:prstGeom prst="rect">
              <a:avLst/>
            </a:prstGeom>
            <a:noFill/>
            <a:ln>
              <a:noFill/>
            </a:ln>
          </p:spPr>
          <p:txBody>
            <a:bodyPr wrap="none" rtlCol="0">
              <a:spAutoFit/>
            </a:bodyPr>
            <a:lstStyle/>
            <a:p>
              <a:r>
                <a:rPr lang="en-US" altLang="zh-TW" dirty="0" smtClean="0">
                  <a:latin typeface="+mn-lt"/>
                </a:rPr>
                <a:t>CPU_EXEC</a:t>
              </a:r>
              <a:endParaRPr lang="zh-TW" altLang="en-US" dirty="0">
                <a:latin typeface="+mn-lt"/>
              </a:endParaRPr>
            </a:p>
          </p:txBody>
        </p:sp>
        <p:cxnSp>
          <p:nvCxnSpPr>
            <p:cNvPr id="22" name="直線單箭頭接點 21"/>
            <p:cNvCxnSpPr/>
            <p:nvPr/>
          </p:nvCxnSpPr>
          <p:spPr>
            <a:xfrm flipV="1">
              <a:off x="5263836" y="5254235"/>
              <a:ext cx="289290" cy="478324"/>
            </a:xfrm>
            <a:prstGeom prst="straightConnector1">
              <a:avLst/>
            </a:prstGeom>
            <a:solidFill>
              <a:schemeClr val="accent4"/>
            </a:solid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H="1" flipV="1">
              <a:off x="5263836" y="6114743"/>
              <a:ext cx="283154" cy="436076"/>
            </a:xfrm>
            <a:prstGeom prst="straightConnector1">
              <a:avLst/>
            </a:prstGeom>
            <a:solidFill>
              <a:schemeClr val="accent4"/>
            </a:solidFill>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7339059" y="6223151"/>
              <a:ext cx="889949" cy="29033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TB</a:t>
              </a:r>
              <a:endParaRPr lang="zh-TW" altLang="en-US" dirty="0"/>
            </a:p>
          </p:txBody>
        </p:sp>
        <p:cxnSp>
          <p:nvCxnSpPr>
            <p:cNvPr id="11" name="直線單箭頭接點 10"/>
            <p:cNvCxnSpPr>
              <a:stCxn id="8" idx="2"/>
              <a:endCxn id="18" idx="0"/>
            </p:cNvCxnSpPr>
            <p:nvPr/>
          </p:nvCxnSpPr>
          <p:spPr>
            <a:xfrm>
              <a:off x="7784034" y="5898291"/>
              <a:ext cx="0" cy="32486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34513547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2800" dirty="0">
                <a:latin typeface="+mn-lt"/>
              </a:rPr>
              <a:t>TCG Intermediate Representations</a:t>
            </a:r>
            <a:endParaRPr lang="zh-TW" altLang="en-US" sz="2800" dirty="0">
              <a:latin typeface="+mn-lt"/>
            </a:endParaRPr>
          </a:p>
        </p:txBody>
      </p:sp>
      <p:sp>
        <p:nvSpPr>
          <p:cNvPr id="3" name="內容版面配置區 2"/>
          <p:cNvSpPr>
            <a:spLocks noGrp="1"/>
          </p:cNvSpPr>
          <p:nvPr>
            <p:ph idx="1"/>
          </p:nvPr>
        </p:nvSpPr>
        <p:spPr/>
        <p:txBody>
          <a:bodyPr/>
          <a:lstStyle/>
          <a:p>
            <a:r>
              <a:rPr lang="en-US" altLang="zh-TW" dirty="0">
                <a:latin typeface="+mn-lt"/>
              </a:rPr>
              <a:t>Intermediate </a:t>
            </a:r>
            <a:r>
              <a:rPr lang="en-US" altLang="zh-TW" dirty="0" smtClean="0">
                <a:latin typeface="+mn-lt"/>
              </a:rPr>
              <a:t>Representation is </a:t>
            </a:r>
            <a:r>
              <a:rPr lang="en-US" altLang="zh-TW" b="1" dirty="0" smtClean="0">
                <a:latin typeface="+mn-lt"/>
                <a:ea typeface="新細明體" charset="-120"/>
                <a:cs typeface="Times New Roman" pitchFamily="18" charset="0"/>
              </a:rPr>
              <a:t>Virtual-ISA</a:t>
            </a:r>
            <a:r>
              <a:rPr lang="en-US" altLang="zh-TW" dirty="0" smtClean="0">
                <a:latin typeface="+mn-lt"/>
                <a:ea typeface="新細明體" charset="-120"/>
                <a:cs typeface="Times New Roman" pitchFamily="18" charset="0"/>
              </a:rPr>
              <a:t>, like LLVM IR</a:t>
            </a:r>
            <a:r>
              <a:rPr lang="en-US" altLang="zh-TW" dirty="0">
                <a:latin typeface="+mn-lt"/>
                <a:ea typeface="新細明體" charset="-120"/>
                <a:cs typeface="Times New Roman" pitchFamily="18" charset="0"/>
              </a:rPr>
              <a:t>, PTX(Parallel Thread Execution</a:t>
            </a:r>
            <a:r>
              <a:rPr lang="en-US" altLang="zh-TW" dirty="0" smtClean="0">
                <a:latin typeface="+mn-lt"/>
                <a:ea typeface="新細明體" charset="-120"/>
                <a:cs typeface="Times New Roman" pitchFamily="18" charset="0"/>
              </a:rPr>
              <a:t>). </a:t>
            </a:r>
            <a:r>
              <a:rPr lang="en-US" altLang="zh-TW" dirty="0">
                <a:latin typeface="+mn-lt"/>
                <a:ea typeface="新細明體" charset="-120"/>
                <a:cs typeface="Times New Roman" pitchFamily="18" charset="0"/>
              </a:rPr>
              <a:t>At runtime, such IR code can be translated</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45</a:t>
            </a:fld>
            <a:endParaRPr lang="en-US" dirty="0">
              <a:latin typeface="+mn-lt"/>
            </a:endParaRPr>
          </a:p>
        </p:txBody>
      </p:sp>
      <p:graphicFrame>
        <p:nvGraphicFramePr>
          <p:cNvPr id="5" name="內容版面配置區 20"/>
          <p:cNvGraphicFramePr>
            <a:graphicFrameLocks/>
          </p:cNvGraphicFramePr>
          <p:nvPr>
            <p:extLst>
              <p:ext uri="{D42A27DB-BD31-4B8C-83A1-F6EECF244321}">
                <p14:modId xmlns:p14="http://schemas.microsoft.com/office/powerpoint/2010/main" val="4185133753"/>
              </p:ext>
            </p:extLst>
          </p:nvPr>
        </p:nvGraphicFramePr>
        <p:xfrm>
          <a:off x="1264832" y="5048220"/>
          <a:ext cx="6345240" cy="640080"/>
        </p:xfrm>
        <a:graphic>
          <a:graphicData uri="http://schemas.openxmlformats.org/drawingml/2006/table">
            <a:tbl>
              <a:tblPr firstRow="1" bandRow="1">
                <a:tableStyleId>{5C22544A-7EE6-4342-B048-85BDC9FD1C3A}</a:tableStyleId>
              </a:tblPr>
              <a:tblGrid>
                <a:gridCol w="1057540"/>
                <a:gridCol w="893026"/>
                <a:gridCol w="1222054"/>
                <a:gridCol w="1057540"/>
                <a:gridCol w="1057540"/>
                <a:gridCol w="1057540"/>
              </a:tblGrid>
              <a:tr h="370840">
                <a:tc>
                  <a:txBody>
                    <a:bodyPr/>
                    <a:lstStyle/>
                    <a:p>
                      <a:r>
                        <a:rPr lang="en-US" altLang="zh-TW" dirty="0" smtClean="0"/>
                        <a:t>DEC Alpha</a:t>
                      </a:r>
                      <a:endParaRPr lang="zh-TW" altLang="en-US" dirty="0"/>
                    </a:p>
                  </a:txBody>
                  <a:tcPr/>
                </a:tc>
                <a:tc>
                  <a:txBody>
                    <a:bodyPr/>
                    <a:lstStyle/>
                    <a:p>
                      <a:r>
                        <a:rPr lang="en-US" altLang="zh-TW" dirty="0" smtClean="0"/>
                        <a:t>IA-64</a:t>
                      </a:r>
                      <a:endParaRPr lang="zh-TW" altLang="en-US" dirty="0"/>
                    </a:p>
                  </a:txBody>
                  <a:tcPr/>
                </a:tc>
                <a:tc>
                  <a:txBody>
                    <a:bodyPr/>
                    <a:lstStyle/>
                    <a:p>
                      <a:r>
                        <a:rPr lang="en-US" altLang="zh-TW" baseline="0" dirty="0" smtClean="0"/>
                        <a:t>IBM PowerPC</a:t>
                      </a:r>
                      <a:endParaRPr lang="zh-TW" altLang="en-US" dirty="0"/>
                    </a:p>
                  </a:txBody>
                  <a:tcPr/>
                </a:tc>
                <a:tc>
                  <a:txBody>
                    <a:bodyPr/>
                    <a:lstStyle/>
                    <a:p>
                      <a:r>
                        <a:rPr lang="en-US" altLang="zh-TW" dirty="0" smtClean="0"/>
                        <a:t>Sun </a:t>
                      </a:r>
                      <a:r>
                        <a:rPr lang="en-US" altLang="zh-TW" dirty="0" err="1" smtClean="0"/>
                        <a:t>Sparc</a:t>
                      </a:r>
                      <a:endParaRPr lang="zh-TW" altLang="en-US" dirty="0"/>
                    </a:p>
                  </a:txBody>
                  <a:tcPr/>
                </a:tc>
                <a:tc>
                  <a:txBody>
                    <a:bodyPr/>
                    <a:lstStyle/>
                    <a:p>
                      <a:r>
                        <a:rPr lang="en-US" altLang="zh-TW" dirty="0" smtClean="0"/>
                        <a:t>ARM</a:t>
                      </a:r>
                      <a:endParaRPr lang="zh-TW" altLang="en-US" dirty="0"/>
                    </a:p>
                  </a:txBody>
                  <a:tcPr/>
                </a:tc>
                <a:tc>
                  <a:txBody>
                    <a:bodyPr/>
                    <a:lstStyle/>
                    <a:p>
                      <a:r>
                        <a:rPr lang="en-US" altLang="zh-TW" dirty="0" smtClean="0"/>
                        <a:t>x86</a:t>
                      </a:r>
                      <a:endParaRPr lang="zh-TW" altLang="en-US" dirty="0"/>
                    </a:p>
                  </a:txBody>
                  <a:tcPr/>
                </a:tc>
              </a:tr>
            </a:tbl>
          </a:graphicData>
        </a:graphic>
      </p:graphicFrame>
      <p:sp>
        <p:nvSpPr>
          <p:cNvPr id="6" name="矩形 20"/>
          <p:cNvSpPr>
            <a:spLocks noChangeArrowheads="1"/>
          </p:cNvSpPr>
          <p:nvPr/>
        </p:nvSpPr>
        <p:spPr bwMode="auto">
          <a:xfrm>
            <a:off x="3751652" y="4120225"/>
            <a:ext cx="1371600" cy="448961"/>
          </a:xfrm>
          <a:prstGeom prst="rect">
            <a:avLst/>
          </a:prstGeom>
          <a:solidFill>
            <a:schemeClr val="accent4">
              <a:lumMod val="60000"/>
              <a:lumOff val="40000"/>
            </a:schemeClr>
          </a:solidFill>
          <a:ln w="28575" algn="ctr">
            <a:solidFill>
              <a:schemeClr val="tx1"/>
            </a:solidFill>
            <a:round/>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TW" sz="2400" b="1" dirty="0" smtClean="0">
                <a:latin typeface="+mn-lt"/>
                <a:ea typeface="新細明體" panose="02020500000000000000" pitchFamily="18" charset="-120"/>
              </a:rPr>
              <a:t>TCG IR</a:t>
            </a:r>
            <a:endParaRPr lang="zh-TW" altLang="en-US" sz="2400" b="1" dirty="0">
              <a:latin typeface="+mn-lt"/>
              <a:ea typeface="新細明體" panose="02020500000000000000" pitchFamily="18" charset="-120"/>
            </a:endParaRPr>
          </a:p>
        </p:txBody>
      </p:sp>
      <p:graphicFrame>
        <p:nvGraphicFramePr>
          <p:cNvPr id="7" name="內容版面配置區 20"/>
          <p:cNvGraphicFramePr>
            <a:graphicFrameLocks/>
          </p:cNvGraphicFramePr>
          <p:nvPr>
            <p:extLst>
              <p:ext uri="{D42A27DB-BD31-4B8C-83A1-F6EECF244321}">
                <p14:modId xmlns:p14="http://schemas.microsoft.com/office/powerpoint/2010/main" val="2287723335"/>
              </p:ext>
            </p:extLst>
          </p:nvPr>
        </p:nvGraphicFramePr>
        <p:xfrm>
          <a:off x="1264832" y="3025826"/>
          <a:ext cx="6345240" cy="640080"/>
        </p:xfrm>
        <a:graphic>
          <a:graphicData uri="http://schemas.openxmlformats.org/drawingml/2006/table">
            <a:tbl>
              <a:tblPr firstRow="1" bandRow="1">
                <a:tableStyleId>{5C22544A-7EE6-4342-B048-85BDC9FD1C3A}</a:tableStyleId>
              </a:tblPr>
              <a:tblGrid>
                <a:gridCol w="1057540"/>
                <a:gridCol w="893026"/>
                <a:gridCol w="1222054"/>
                <a:gridCol w="1057540"/>
                <a:gridCol w="1057540"/>
                <a:gridCol w="1057540"/>
              </a:tblGrid>
              <a:tr h="370840">
                <a:tc>
                  <a:txBody>
                    <a:bodyPr/>
                    <a:lstStyle/>
                    <a:p>
                      <a:r>
                        <a:rPr lang="en-US" altLang="zh-TW" dirty="0" smtClean="0"/>
                        <a:t>DEC Alpha</a:t>
                      </a:r>
                      <a:endParaRPr lang="zh-TW" altLang="en-US" dirty="0"/>
                    </a:p>
                  </a:txBody>
                  <a:tcPr/>
                </a:tc>
                <a:tc>
                  <a:txBody>
                    <a:bodyPr/>
                    <a:lstStyle/>
                    <a:p>
                      <a:r>
                        <a:rPr lang="en-US" altLang="zh-TW" dirty="0" smtClean="0"/>
                        <a:t>IA-64</a:t>
                      </a:r>
                      <a:endParaRPr lang="zh-TW" altLang="en-US" dirty="0"/>
                    </a:p>
                  </a:txBody>
                  <a:tcPr/>
                </a:tc>
                <a:tc>
                  <a:txBody>
                    <a:bodyPr/>
                    <a:lstStyle/>
                    <a:p>
                      <a:r>
                        <a:rPr lang="en-US" altLang="zh-TW" baseline="0" dirty="0" smtClean="0"/>
                        <a:t>IBM PowerPC</a:t>
                      </a:r>
                      <a:endParaRPr lang="zh-TW" altLang="en-US" dirty="0"/>
                    </a:p>
                  </a:txBody>
                  <a:tcPr/>
                </a:tc>
                <a:tc>
                  <a:txBody>
                    <a:bodyPr/>
                    <a:lstStyle/>
                    <a:p>
                      <a:r>
                        <a:rPr lang="en-US" altLang="zh-TW" dirty="0" smtClean="0"/>
                        <a:t>Sun </a:t>
                      </a:r>
                      <a:r>
                        <a:rPr lang="en-US" altLang="zh-TW" dirty="0" err="1" smtClean="0"/>
                        <a:t>Sparc</a:t>
                      </a:r>
                      <a:endParaRPr lang="zh-TW" altLang="en-US" dirty="0"/>
                    </a:p>
                  </a:txBody>
                  <a:tcPr/>
                </a:tc>
                <a:tc>
                  <a:txBody>
                    <a:bodyPr/>
                    <a:lstStyle/>
                    <a:p>
                      <a:r>
                        <a:rPr lang="en-US" altLang="zh-TW" dirty="0" smtClean="0"/>
                        <a:t>ARM</a:t>
                      </a:r>
                      <a:endParaRPr lang="zh-TW" altLang="en-US" dirty="0"/>
                    </a:p>
                  </a:txBody>
                  <a:tcPr/>
                </a:tc>
                <a:tc>
                  <a:txBody>
                    <a:bodyPr/>
                    <a:lstStyle/>
                    <a:p>
                      <a:r>
                        <a:rPr lang="en-US" altLang="zh-TW" dirty="0" smtClean="0"/>
                        <a:t>x86</a:t>
                      </a:r>
                      <a:endParaRPr lang="zh-TW" altLang="en-US" dirty="0"/>
                    </a:p>
                  </a:txBody>
                  <a:tcPr/>
                </a:tc>
              </a:tr>
            </a:tbl>
          </a:graphicData>
        </a:graphic>
      </p:graphicFrame>
      <p:sp>
        <p:nvSpPr>
          <p:cNvPr id="8" name="向下箭號 7"/>
          <p:cNvSpPr/>
          <p:nvPr/>
        </p:nvSpPr>
        <p:spPr>
          <a:xfrm>
            <a:off x="4279562" y="3683201"/>
            <a:ext cx="315780" cy="416150"/>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 name="向下箭號 8"/>
          <p:cNvSpPr/>
          <p:nvPr/>
        </p:nvSpPr>
        <p:spPr>
          <a:xfrm>
            <a:off x="4279562" y="4612886"/>
            <a:ext cx="315780" cy="416150"/>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0" name="文字方塊 9"/>
          <p:cNvSpPr txBox="1"/>
          <p:nvPr/>
        </p:nvSpPr>
        <p:spPr>
          <a:xfrm>
            <a:off x="1272897" y="2667000"/>
            <a:ext cx="1346779" cy="369332"/>
          </a:xfrm>
          <a:prstGeom prst="rect">
            <a:avLst/>
          </a:prstGeom>
          <a:noFill/>
        </p:spPr>
        <p:txBody>
          <a:bodyPr wrap="none" rtlCol="0">
            <a:spAutoFit/>
          </a:bodyPr>
          <a:lstStyle/>
          <a:p>
            <a:r>
              <a:rPr lang="en-US" altLang="zh-TW" dirty="0" smtClean="0">
                <a:latin typeface="+mn-lt"/>
              </a:rPr>
              <a:t>Source ISA</a:t>
            </a:r>
            <a:endParaRPr lang="zh-TW" altLang="en-US" dirty="0">
              <a:latin typeface="+mn-lt"/>
            </a:endParaRPr>
          </a:p>
        </p:txBody>
      </p:sp>
      <p:sp>
        <p:nvSpPr>
          <p:cNvPr id="11" name="文字方塊 10"/>
          <p:cNvSpPr txBox="1"/>
          <p:nvPr/>
        </p:nvSpPr>
        <p:spPr>
          <a:xfrm>
            <a:off x="1272897" y="4659704"/>
            <a:ext cx="1272336" cy="369332"/>
          </a:xfrm>
          <a:prstGeom prst="rect">
            <a:avLst/>
          </a:prstGeom>
          <a:noFill/>
        </p:spPr>
        <p:txBody>
          <a:bodyPr wrap="none" rtlCol="0">
            <a:spAutoFit/>
          </a:bodyPr>
          <a:lstStyle/>
          <a:p>
            <a:r>
              <a:rPr lang="en-US" altLang="zh-TW" dirty="0" smtClean="0">
                <a:latin typeface="+mn-lt"/>
              </a:rPr>
              <a:t>Target ISA</a:t>
            </a:r>
            <a:endParaRPr lang="zh-TW" altLang="en-US" dirty="0">
              <a:latin typeface="+mn-lt"/>
            </a:endParaRPr>
          </a:p>
        </p:txBody>
      </p:sp>
    </p:spTree>
    <p:extLst>
      <p:ext uri="{BB962C8B-B14F-4D97-AF65-F5344CB8AC3E}">
        <p14:creationId xmlns:p14="http://schemas.microsoft.com/office/powerpoint/2010/main" val="4737654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mn-lt"/>
              </a:rPr>
              <a:t>Execution flow</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46</a:t>
            </a:fld>
            <a:endParaRPr lang="en-US" dirty="0">
              <a:latin typeface="+mn-lt"/>
            </a:endParaRPr>
          </a:p>
        </p:txBody>
      </p:sp>
      <p:grpSp>
        <p:nvGrpSpPr>
          <p:cNvPr id="27" name="群組 26"/>
          <p:cNvGrpSpPr/>
          <p:nvPr/>
        </p:nvGrpSpPr>
        <p:grpSpPr>
          <a:xfrm>
            <a:off x="415290" y="1566448"/>
            <a:ext cx="8313420" cy="4072352"/>
            <a:chOff x="0" y="1825094"/>
            <a:chExt cx="9144000" cy="4479213"/>
          </a:xfrm>
          <a:solidFill>
            <a:schemeClr val="accent4">
              <a:lumMod val="75000"/>
            </a:schemeClr>
          </a:solidFill>
        </p:grpSpPr>
        <p:sp>
          <p:nvSpPr>
            <p:cNvPr id="5" name="Rectangle 3"/>
            <p:cNvSpPr/>
            <p:nvPr/>
          </p:nvSpPr>
          <p:spPr>
            <a:xfrm>
              <a:off x="2465347" y="1898830"/>
              <a:ext cx="1512168" cy="64807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t>Find_fast</a:t>
              </a:r>
              <a:endParaRPr lang="zh-CN" altLang="en-US" sz="1400" dirty="0"/>
            </a:p>
          </p:txBody>
        </p:sp>
        <p:cxnSp>
          <p:nvCxnSpPr>
            <p:cNvPr id="6" name="Straight Arrow Connector 5"/>
            <p:cNvCxnSpPr>
              <a:endCxn id="5" idx="1"/>
            </p:cNvCxnSpPr>
            <p:nvPr/>
          </p:nvCxnSpPr>
          <p:spPr>
            <a:xfrm>
              <a:off x="1212776" y="2222866"/>
              <a:ext cx="1252571" cy="0"/>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9"/>
            <p:cNvSpPr txBox="1"/>
            <p:nvPr/>
          </p:nvSpPr>
          <p:spPr>
            <a:xfrm>
              <a:off x="1182363" y="1825094"/>
              <a:ext cx="1313397" cy="338526"/>
            </a:xfrm>
            <a:prstGeom prst="rect">
              <a:avLst/>
            </a:prstGeom>
            <a:noFill/>
            <a:ln>
              <a:noFill/>
            </a:ln>
          </p:spPr>
          <p:txBody>
            <a:bodyPr wrap="square" rtlCol="0">
              <a:spAutoFit/>
            </a:bodyPr>
            <a:lstStyle/>
            <a:p>
              <a:r>
                <a:rPr lang="en-US" altLang="zh-CN" sz="1400" dirty="0" smtClean="0">
                  <a:latin typeface="+mn-lt"/>
                </a:rPr>
                <a:t>CPU_EXEC</a:t>
              </a:r>
              <a:endParaRPr lang="zh-CN" altLang="en-US" sz="1400" dirty="0">
                <a:latin typeface="+mn-lt"/>
              </a:endParaRPr>
            </a:p>
          </p:txBody>
        </p:sp>
        <p:cxnSp>
          <p:nvCxnSpPr>
            <p:cNvPr id="8" name="Straight Arrow Connector 11"/>
            <p:cNvCxnSpPr>
              <a:stCxn id="5" idx="3"/>
              <a:endCxn id="10" idx="1"/>
            </p:cNvCxnSpPr>
            <p:nvPr/>
          </p:nvCxnSpPr>
          <p:spPr>
            <a:xfrm>
              <a:off x="3977515" y="2222866"/>
              <a:ext cx="1512168" cy="0"/>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12"/>
            <p:cNvCxnSpPr>
              <a:stCxn id="5" idx="2"/>
              <a:endCxn id="17" idx="0"/>
            </p:cNvCxnSpPr>
            <p:nvPr/>
          </p:nvCxnSpPr>
          <p:spPr>
            <a:xfrm>
              <a:off x="3221431" y="2546902"/>
              <a:ext cx="0" cy="1368152"/>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16"/>
            <p:cNvSpPr/>
            <p:nvPr/>
          </p:nvSpPr>
          <p:spPr>
            <a:xfrm>
              <a:off x="5489683" y="1898830"/>
              <a:ext cx="1512168" cy="64807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t>Find_slow</a:t>
              </a:r>
              <a:endParaRPr lang="zh-CN" altLang="en-US" sz="1400" dirty="0"/>
            </a:p>
          </p:txBody>
        </p:sp>
        <p:cxnSp>
          <p:nvCxnSpPr>
            <p:cNvPr id="11" name="Straight Arrow Connector 18"/>
            <p:cNvCxnSpPr>
              <a:stCxn id="10" idx="2"/>
            </p:cNvCxnSpPr>
            <p:nvPr/>
          </p:nvCxnSpPr>
          <p:spPr>
            <a:xfrm>
              <a:off x="6245767" y="2546902"/>
              <a:ext cx="0" cy="1368152"/>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22"/>
            <p:cNvSpPr/>
            <p:nvPr/>
          </p:nvSpPr>
          <p:spPr>
            <a:xfrm>
              <a:off x="5489683" y="3902065"/>
              <a:ext cx="1512168" cy="661061"/>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t>Gen_code</a:t>
              </a:r>
              <a:endParaRPr lang="zh-CN" altLang="en-US" sz="1400" dirty="0"/>
            </a:p>
          </p:txBody>
        </p:sp>
        <p:sp>
          <p:nvSpPr>
            <p:cNvPr id="13" name="TextBox 23"/>
            <p:cNvSpPr txBox="1"/>
            <p:nvPr/>
          </p:nvSpPr>
          <p:spPr>
            <a:xfrm>
              <a:off x="4145624" y="1825094"/>
              <a:ext cx="1175948" cy="338526"/>
            </a:xfrm>
            <a:prstGeom prst="rect">
              <a:avLst/>
            </a:prstGeom>
            <a:noFill/>
            <a:ln>
              <a:noFill/>
            </a:ln>
          </p:spPr>
          <p:txBody>
            <a:bodyPr wrap="square" rtlCol="0">
              <a:spAutoFit/>
            </a:bodyPr>
            <a:lstStyle/>
            <a:p>
              <a:r>
                <a:rPr lang="en-US" altLang="zh-CN" sz="1400" dirty="0" smtClean="0">
                  <a:latin typeface="+mn-lt"/>
                </a:rPr>
                <a:t>Not found</a:t>
              </a:r>
              <a:endParaRPr lang="zh-CN" altLang="en-US" sz="1400" dirty="0">
                <a:latin typeface="+mn-lt"/>
              </a:endParaRPr>
            </a:p>
          </p:txBody>
        </p:sp>
        <p:sp>
          <p:nvSpPr>
            <p:cNvPr id="14" name="TextBox 24"/>
            <p:cNvSpPr txBox="1"/>
            <p:nvPr/>
          </p:nvSpPr>
          <p:spPr>
            <a:xfrm>
              <a:off x="5192939" y="3343505"/>
              <a:ext cx="1157360" cy="338526"/>
            </a:xfrm>
            <a:prstGeom prst="rect">
              <a:avLst/>
            </a:prstGeom>
            <a:noFill/>
            <a:ln>
              <a:noFill/>
            </a:ln>
          </p:spPr>
          <p:txBody>
            <a:bodyPr wrap="square" rtlCol="0">
              <a:spAutoFit/>
            </a:bodyPr>
            <a:lstStyle/>
            <a:p>
              <a:r>
                <a:rPr lang="en-US" altLang="zh-CN" sz="1400" dirty="0" smtClean="0">
                  <a:latin typeface="+mn-lt"/>
                </a:rPr>
                <a:t>Not found</a:t>
              </a:r>
              <a:endParaRPr lang="zh-CN" altLang="en-US" sz="1400" dirty="0">
                <a:latin typeface="+mn-lt"/>
              </a:endParaRPr>
            </a:p>
          </p:txBody>
        </p:sp>
        <p:sp>
          <p:nvSpPr>
            <p:cNvPr id="15" name="TextBox 25"/>
            <p:cNvSpPr txBox="1"/>
            <p:nvPr/>
          </p:nvSpPr>
          <p:spPr>
            <a:xfrm>
              <a:off x="3160605" y="3174242"/>
              <a:ext cx="813159" cy="338526"/>
            </a:xfrm>
            <a:prstGeom prst="rect">
              <a:avLst/>
            </a:prstGeom>
            <a:noFill/>
            <a:ln>
              <a:noFill/>
            </a:ln>
          </p:spPr>
          <p:txBody>
            <a:bodyPr wrap="square" rtlCol="0">
              <a:spAutoFit/>
            </a:bodyPr>
            <a:lstStyle/>
            <a:p>
              <a:r>
                <a:rPr lang="en-US" altLang="zh-CN" sz="1400" dirty="0" smtClean="0">
                  <a:latin typeface="+mn-lt"/>
                </a:rPr>
                <a:t>found</a:t>
              </a:r>
              <a:endParaRPr lang="zh-CN" altLang="en-US" sz="1400" dirty="0">
                <a:latin typeface="+mn-lt"/>
              </a:endParaRPr>
            </a:p>
          </p:txBody>
        </p:sp>
        <p:cxnSp>
          <p:nvCxnSpPr>
            <p:cNvPr id="16" name="Straight Arrow Connector 26"/>
            <p:cNvCxnSpPr/>
            <p:nvPr/>
          </p:nvCxnSpPr>
          <p:spPr>
            <a:xfrm flipH="1">
              <a:off x="3998677" y="2546902"/>
              <a:ext cx="1484596" cy="1368152"/>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28"/>
            <p:cNvSpPr/>
            <p:nvPr/>
          </p:nvSpPr>
          <p:spPr>
            <a:xfrm>
              <a:off x="2465347" y="3915054"/>
              <a:ext cx="1512168" cy="64807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t>Exec</a:t>
              </a:r>
              <a:endParaRPr lang="zh-CN" altLang="en-US" sz="1400" dirty="0"/>
            </a:p>
          </p:txBody>
        </p:sp>
        <p:sp>
          <p:nvSpPr>
            <p:cNvPr id="18" name="Rectangle 34"/>
            <p:cNvSpPr/>
            <p:nvPr/>
          </p:nvSpPr>
          <p:spPr>
            <a:xfrm>
              <a:off x="5489683" y="5643246"/>
              <a:ext cx="1512168" cy="661061"/>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t>Tb_link</a:t>
              </a:r>
              <a:endParaRPr lang="zh-CN" altLang="en-US" sz="1400" dirty="0"/>
            </a:p>
          </p:txBody>
        </p:sp>
        <p:cxnSp>
          <p:nvCxnSpPr>
            <p:cNvPr id="19" name="Straight Arrow Connector 35"/>
            <p:cNvCxnSpPr>
              <a:stCxn id="12" idx="2"/>
              <a:endCxn id="18" idx="0"/>
            </p:cNvCxnSpPr>
            <p:nvPr/>
          </p:nvCxnSpPr>
          <p:spPr>
            <a:xfrm>
              <a:off x="6245767" y="4563126"/>
              <a:ext cx="0" cy="1080120"/>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39"/>
            <p:cNvCxnSpPr/>
            <p:nvPr/>
          </p:nvCxnSpPr>
          <p:spPr>
            <a:xfrm flipH="1" flipV="1">
              <a:off x="3991301" y="4563126"/>
              <a:ext cx="1498382" cy="1080120"/>
            </a:xfrm>
            <a:prstGeom prst="straightConnector1">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42"/>
            <p:cNvSpPr txBox="1"/>
            <p:nvPr/>
          </p:nvSpPr>
          <p:spPr>
            <a:xfrm>
              <a:off x="4196436" y="2849247"/>
              <a:ext cx="860028" cy="338526"/>
            </a:xfrm>
            <a:prstGeom prst="rect">
              <a:avLst/>
            </a:prstGeom>
            <a:noFill/>
            <a:ln>
              <a:noFill/>
            </a:ln>
          </p:spPr>
          <p:txBody>
            <a:bodyPr wrap="square" rtlCol="0">
              <a:spAutoFit/>
            </a:bodyPr>
            <a:lstStyle/>
            <a:p>
              <a:r>
                <a:rPr lang="en-US" altLang="zh-CN" sz="1400" dirty="0" smtClean="0">
                  <a:latin typeface="+mn-lt"/>
                </a:rPr>
                <a:t>found</a:t>
              </a:r>
              <a:endParaRPr lang="zh-CN" altLang="en-US" sz="1400" dirty="0">
                <a:latin typeface="+mn-lt"/>
              </a:endParaRPr>
            </a:p>
          </p:txBody>
        </p:sp>
        <p:sp>
          <p:nvSpPr>
            <p:cNvPr id="25" name="TextBox 49"/>
            <p:cNvSpPr txBox="1"/>
            <p:nvPr/>
          </p:nvSpPr>
          <p:spPr>
            <a:xfrm>
              <a:off x="7001852" y="5804512"/>
              <a:ext cx="1433655" cy="338526"/>
            </a:xfrm>
            <a:prstGeom prst="rect">
              <a:avLst/>
            </a:prstGeom>
            <a:noFill/>
            <a:ln>
              <a:noFill/>
            </a:ln>
          </p:spPr>
          <p:txBody>
            <a:bodyPr wrap="square" rtlCol="0">
              <a:spAutoFit/>
            </a:bodyPr>
            <a:lstStyle/>
            <a:p>
              <a:r>
                <a:rPr lang="en-US" altLang="zh-CN" sz="1400" dirty="0" smtClean="0">
                  <a:latin typeface="+mn-lt"/>
                </a:rPr>
                <a:t>Chain the TB</a:t>
              </a:r>
              <a:endParaRPr lang="zh-CN" altLang="en-US" sz="1400" dirty="0">
                <a:latin typeface="+mn-lt"/>
              </a:endParaRPr>
            </a:p>
          </p:txBody>
        </p:sp>
        <p:cxnSp>
          <p:nvCxnSpPr>
            <p:cNvPr id="26" name="Elbow Connector 27"/>
            <p:cNvCxnSpPr>
              <a:stCxn id="17" idx="2"/>
            </p:cNvCxnSpPr>
            <p:nvPr/>
          </p:nvCxnSpPr>
          <p:spPr>
            <a:xfrm rot="5400000" flipH="1">
              <a:off x="1128889" y="2470584"/>
              <a:ext cx="2340260" cy="1844825"/>
            </a:xfrm>
            <a:prstGeom prst="bentConnector3">
              <a:avLst>
                <a:gd name="adj1" fmla="val -73107"/>
              </a:avLst>
            </a:prstGeom>
            <a:grp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ular Callout 45"/>
            <p:cNvSpPr/>
            <p:nvPr/>
          </p:nvSpPr>
          <p:spPr>
            <a:xfrm>
              <a:off x="0" y="2869086"/>
              <a:ext cx="2924688" cy="576064"/>
            </a:xfrm>
            <a:prstGeom prst="wedgeRectCallout">
              <a:avLst>
                <a:gd name="adj1" fmla="val 47826"/>
                <a:gd name="adj2" fmla="val -138855"/>
              </a:avLst>
            </a:prstGeom>
            <a:solidFill>
              <a:srgbClr val="A6CDBC">
                <a:alpha val="50196"/>
              </a:srgb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Using current virtual PC</a:t>
              </a:r>
            </a:p>
            <a:p>
              <a:pPr algn="ctr"/>
              <a:r>
                <a:rPr lang="en-US" altLang="zh-CN" sz="1400" dirty="0" smtClean="0">
                  <a:solidFill>
                    <a:schemeClr val="tx1"/>
                  </a:solidFill>
                </a:rPr>
                <a:t>Search in a cached hash table</a:t>
              </a:r>
              <a:endParaRPr lang="zh-CN" altLang="en-US" sz="1400" dirty="0">
                <a:solidFill>
                  <a:schemeClr val="tx1"/>
                </a:solidFill>
              </a:endParaRPr>
            </a:p>
          </p:txBody>
        </p:sp>
        <p:sp>
          <p:nvSpPr>
            <p:cNvPr id="23" name="Rectangular Callout 47"/>
            <p:cNvSpPr/>
            <p:nvPr/>
          </p:nvSpPr>
          <p:spPr>
            <a:xfrm>
              <a:off x="6732240" y="2869086"/>
              <a:ext cx="2411760" cy="576064"/>
            </a:xfrm>
            <a:prstGeom prst="wedgeRectCallout">
              <a:avLst>
                <a:gd name="adj1" fmla="val -52226"/>
                <a:gd name="adj2" fmla="val -146205"/>
              </a:avLst>
            </a:prstGeom>
            <a:solidFill>
              <a:srgbClr val="A6CDBC">
                <a:alpha val="50196"/>
              </a:srgb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Using current </a:t>
              </a:r>
              <a:r>
                <a:rPr lang="en-US" altLang="zh-CN" sz="1400" dirty="0" err="1" smtClean="0">
                  <a:solidFill>
                    <a:schemeClr val="tx1"/>
                  </a:solidFill>
                </a:rPr>
                <a:t>phy-addr</a:t>
              </a:r>
              <a:endParaRPr lang="en-US" altLang="zh-CN" sz="1400" dirty="0" smtClean="0">
                <a:solidFill>
                  <a:schemeClr val="tx1"/>
                </a:solidFill>
              </a:endParaRPr>
            </a:p>
            <a:p>
              <a:pPr algn="ctr"/>
              <a:r>
                <a:rPr lang="en-US" altLang="zh-CN" sz="1400" dirty="0" smtClean="0">
                  <a:solidFill>
                    <a:schemeClr val="tx1"/>
                  </a:solidFill>
                </a:rPr>
                <a:t>Search in a hash table</a:t>
              </a:r>
              <a:endParaRPr lang="zh-CN" altLang="en-US" sz="1400" dirty="0">
                <a:solidFill>
                  <a:schemeClr val="tx1"/>
                </a:solidFill>
              </a:endParaRPr>
            </a:p>
          </p:txBody>
        </p:sp>
        <p:sp>
          <p:nvSpPr>
            <p:cNvPr id="24" name="Rectangular Callout 48"/>
            <p:cNvSpPr/>
            <p:nvPr/>
          </p:nvSpPr>
          <p:spPr>
            <a:xfrm>
              <a:off x="32929" y="5066532"/>
              <a:ext cx="2924688" cy="576064"/>
            </a:xfrm>
            <a:prstGeom prst="wedgeRectCallout">
              <a:avLst>
                <a:gd name="adj1" fmla="val 38852"/>
                <a:gd name="adj2" fmla="val -180008"/>
              </a:avLst>
            </a:prstGeom>
            <a:solidFill>
              <a:srgbClr val="A6CDBC">
                <a:alpha val="50196"/>
              </a:srgb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Unlink the TB when CPU need to stop</a:t>
              </a:r>
              <a:endParaRPr lang="zh-CN" altLang="en-US" sz="1400" dirty="0">
                <a:solidFill>
                  <a:schemeClr val="tx1"/>
                </a:solidFill>
              </a:endParaRPr>
            </a:p>
          </p:txBody>
        </p:sp>
      </p:grpSp>
    </p:spTree>
    <p:extLst>
      <p:ext uri="{BB962C8B-B14F-4D97-AF65-F5344CB8AC3E}">
        <p14:creationId xmlns:p14="http://schemas.microsoft.com/office/powerpoint/2010/main" val="36588652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Exception and </a:t>
            </a:r>
            <a:r>
              <a:rPr lang="en-US" altLang="zh-TW" dirty="0" smtClean="0">
                <a:latin typeface="+mn-lt"/>
              </a:rPr>
              <a:t>interrupt</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47</a:t>
            </a:fld>
            <a:endParaRPr lang="en-US" dirty="0">
              <a:latin typeface="+mn-lt"/>
            </a:endParaRPr>
          </a:p>
        </p:txBody>
      </p:sp>
      <p:grpSp>
        <p:nvGrpSpPr>
          <p:cNvPr id="48" name="群組 47"/>
          <p:cNvGrpSpPr/>
          <p:nvPr/>
        </p:nvGrpSpPr>
        <p:grpSpPr>
          <a:xfrm>
            <a:off x="468314" y="1600200"/>
            <a:ext cx="6982323" cy="3869413"/>
            <a:chOff x="468314" y="2469654"/>
            <a:chExt cx="6982323" cy="3869413"/>
          </a:xfrm>
        </p:grpSpPr>
        <p:sp>
          <p:nvSpPr>
            <p:cNvPr id="5" name="Rectangle 3"/>
            <p:cNvSpPr/>
            <p:nvPr/>
          </p:nvSpPr>
          <p:spPr>
            <a:xfrm>
              <a:off x="1718239" y="2469655"/>
              <a:ext cx="1322861" cy="56694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solidFill>
                    <a:schemeClr val="bg1"/>
                  </a:solidFill>
                </a:rPr>
                <a:t>Find_fast</a:t>
              </a:r>
              <a:endParaRPr lang="zh-CN" altLang="en-US" sz="1400" dirty="0">
                <a:solidFill>
                  <a:schemeClr val="bg1"/>
                </a:solidFill>
              </a:endParaRPr>
            </a:p>
          </p:txBody>
        </p:sp>
        <p:cxnSp>
          <p:nvCxnSpPr>
            <p:cNvPr id="6" name="Straight Arrow Connector 5"/>
            <p:cNvCxnSpPr>
              <a:endCxn id="5" idx="1"/>
            </p:cNvCxnSpPr>
            <p:nvPr/>
          </p:nvCxnSpPr>
          <p:spPr>
            <a:xfrm>
              <a:off x="622476" y="2753125"/>
              <a:ext cx="1095763" cy="0"/>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9"/>
            <p:cNvSpPr txBox="1"/>
            <p:nvPr/>
          </p:nvSpPr>
          <p:spPr>
            <a:xfrm>
              <a:off x="468314" y="2469654"/>
              <a:ext cx="1259182" cy="307777"/>
            </a:xfrm>
            <a:prstGeom prst="rect">
              <a:avLst/>
            </a:prstGeom>
            <a:noFill/>
            <a:ln>
              <a:noFill/>
            </a:ln>
          </p:spPr>
          <p:txBody>
            <a:bodyPr wrap="square" rtlCol="0">
              <a:spAutoFit/>
            </a:bodyPr>
            <a:lstStyle/>
            <a:p>
              <a:r>
                <a:rPr lang="en-US" altLang="zh-CN" sz="1400" dirty="0" smtClean="0">
                  <a:latin typeface="+mn-lt"/>
                </a:rPr>
                <a:t>CPU_EXEC</a:t>
              </a:r>
              <a:endParaRPr lang="zh-CN" altLang="en-US" sz="1400" dirty="0">
                <a:latin typeface="+mn-lt"/>
              </a:endParaRPr>
            </a:p>
          </p:txBody>
        </p:sp>
        <p:cxnSp>
          <p:nvCxnSpPr>
            <p:cNvPr id="8" name="Straight Arrow Connector 11"/>
            <p:cNvCxnSpPr>
              <a:stCxn id="5" idx="3"/>
              <a:endCxn id="10" idx="1"/>
            </p:cNvCxnSpPr>
            <p:nvPr/>
          </p:nvCxnSpPr>
          <p:spPr>
            <a:xfrm>
              <a:off x="3041100" y="2753125"/>
              <a:ext cx="1322861" cy="0"/>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12"/>
            <p:cNvCxnSpPr>
              <a:stCxn id="5" idx="2"/>
              <a:endCxn id="17" idx="0"/>
            </p:cNvCxnSpPr>
            <p:nvPr/>
          </p:nvCxnSpPr>
          <p:spPr>
            <a:xfrm>
              <a:off x="2379669" y="3036595"/>
              <a:ext cx="0" cy="1196874"/>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16"/>
            <p:cNvSpPr/>
            <p:nvPr/>
          </p:nvSpPr>
          <p:spPr>
            <a:xfrm>
              <a:off x="4363961" y="2469655"/>
              <a:ext cx="1322861" cy="56694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solidFill>
                    <a:schemeClr val="bg1"/>
                  </a:solidFill>
                </a:rPr>
                <a:t>Find_slow</a:t>
              </a:r>
              <a:endParaRPr lang="zh-CN" altLang="en-US" sz="1400" dirty="0">
                <a:solidFill>
                  <a:schemeClr val="bg1"/>
                </a:solidFill>
              </a:endParaRPr>
            </a:p>
          </p:txBody>
        </p:sp>
        <p:cxnSp>
          <p:nvCxnSpPr>
            <p:cNvPr id="11" name="Straight Arrow Connector 18"/>
            <p:cNvCxnSpPr>
              <a:stCxn id="10" idx="2"/>
            </p:cNvCxnSpPr>
            <p:nvPr/>
          </p:nvCxnSpPr>
          <p:spPr>
            <a:xfrm>
              <a:off x="5025392" y="3036595"/>
              <a:ext cx="0" cy="1196874"/>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22"/>
            <p:cNvSpPr/>
            <p:nvPr/>
          </p:nvSpPr>
          <p:spPr>
            <a:xfrm>
              <a:off x="4363961" y="4222107"/>
              <a:ext cx="1322861" cy="578303"/>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solidFill>
                    <a:schemeClr val="bg1"/>
                  </a:solidFill>
                </a:rPr>
                <a:t>Gen_code</a:t>
              </a:r>
              <a:endParaRPr lang="zh-CN" altLang="en-US" sz="1400" dirty="0">
                <a:solidFill>
                  <a:schemeClr val="bg1"/>
                </a:solidFill>
              </a:endParaRPr>
            </a:p>
          </p:txBody>
        </p:sp>
        <p:sp>
          <p:nvSpPr>
            <p:cNvPr id="13" name="TextBox 23"/>
            <p:cNvSpPr txBox="1"/>
            <p:nvPr/>
          </p:nvSpPr>
          <p:spPr>
            <a:xfrm>
              <a:off x="3162986" y="2469655"/>
              <a:ext cx="1070887" cy="307777"/>
            </a:xfrm>
            <a:prstGeom prst="rect">
              <a:avLst/>
            </a:prstGeom>
            <a:noFill/>
            <a:ln>
              <a:noFill/>
            </a:ln>
          </p:spPr>
          <p:txBody>
            <a:bodyPr wrap="square" rtlCol="0">
              <a:spAutoFit/>
            </a:bodyPr>
            <a:lstStyle/>
            <a:p>
              <a:r>
                <a:rPr lang="en-US" altLang="zh-CN" sz="1400" dirty="0" smtClean="0">
                  <a:latin typeface="+mn-lt"/>
                </a:rPr>
                <a:t>Not found</a:t>
              </a:r>
              <a:endParaRPr lang="zh-CN" altLang="en-US" sz="1400" dirty="0">
                <a:latin typeface="+mn-lt"/>
              </a:endParaRPr>
            </a:p>
          </p:txBody>
        </p:sp>
        <p:sp>
          <p:nvSpPr>
            <p:cNvPr id="14" name="TextBox 24"/>
            <p:cNvSpPr txBox="1"/>
            <p:nvPr/>
          </p:nvSpPr>
          <p:spPr>
            <a:xfrm>
              <a:off x="5011513" y="3405008"/>
              <a:ext cx="1070887" cy="307777"/>
            </a:xfrm>
            <a:prstGeom prst="rect">
              <a:avLst/>
            </a:prstGeom>
            <a:noFill/>
            <a:ln>
              <a:noFill/>
            </a:ln>
          </p:spPr>
          <p:txBody>
            <a:bodyPr wrap="square" rtlCol="0">
              <a:spAutoFit/>
            </a:bodyPr>
            <a:lstStyle/>
            <a:p>
              <a:r>
                <a:rPr lang="en-US" altLang="zh-CN" sz="1400" dirty="0" smtClean="0">
                  <a:latin typeface="+mn-lt"/>
                </a:rPr>
                <a:t>Not found</a:t>
              </a:r>
              <a:endParaRPr lang="zh-CN" altLang="en-US" sz="1400" dirty="0">
                <a:latin typeface="+mn-lt"/>
              </a:endParaRPr>
            </a:p>
          </p:txBody>
        </p:sp>
        <p:sp>
          <p:nvSpPr>
            <p:cNvPr id="15" name="TextBox 25"/>
            <p:cNvSpPr txBox="1"/>
            <p:nvPr/>
          </p:nvSpPr>
          <p:spPr>
            <a:xfrm>
              <a:off x="1717354" y="3456232"/>
              <a:ext cx="692848" cy="307777"/>
            </a:xfrm>
            <a:prstGeom prst="rect">
              <a:avLst/>
            </a:prstGeom>
            <a:noFill/>
            <a:ln>
              <a:noFill/>
            </a:ln>
          </p:spPr>
          <p:txBody>
            <a:bodyPr wrap="square" rtlCol="0">
              <a:spAutoFit/>
            </a:bodyPr>
            <a:lstStyle/>
            <a:p>
              <a:r>
                <a:rPr lang="en-US" altLang="zh-CN" sz="1400" dirty="0" smtClean="0">
                  <a:latin typeface="+mn-lt"/>
                </a:rPr>
                <a:t>found</a:t>
              </a:r>
              <a:endParaRPr lang="zh-CN" altLang="en-US" sz="1400" dirty="0">
                <a:latin typeface="+mn-lt"/>
              </a:endParaRPr>
            </a:p>
          </p:txBody>
        </p:sp>
        <p:cxnSp>
          <p:nvCxnSpPr>
            <p:cNvPr id="16" name="Straight Arrow Connector 26"/>
            <p:cNvCxnSpPr/>
            <p:nvPr/>
          </p:nvCxnSpPr>
          <p:spPr>
            <a:xfrm flipH="1">
              <a:off x="3059613" y="3036595"/>
              <a:ext cx="1298741" cy="1196874"/>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28"/>
            <p:cNvSpPr/>
            <p:nvPr/>
          </p:nvSpPr>
          <p:spPr>
            <a:xfrm>
              <a:off x="1718239" y="4233470"/>
              <a:ext cx="1322861" cy="566940"/>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bg1"/>
                  </a:solidFill>
                </a:rPr>
                <a:t>exec</a:t>
              </a:r>
              <a:endParaRPr lang="zh-CN" altLang="en-US" sz="1400" dirty="0">
                <a:solidFill>
                  <a:schemeClr val="bg1"/>
                </a:solidFill>
              </a:endParaRPr>
            </a:p>
          </p:txBody>
        </p:sp>
        <p:sp>
          <p:nvSpPr>
            <p:cNvPr id="18" name="Rectangle 34"/>
            <p:cNvSpPr/>
            <p:nvPr/>
          </p:nvSpPr>
          <p:spPr>
            <a:xfrm>
              <a:off x="4363961" y="5745311"/>
              <a:ext cx="1322861" cy="578303"/>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solidFill>
                    <a:schemeClr val="bg1"/>
                  </a:solidFill>
                </a:rPr>
                <a:t>Tb_link</a:t>
              </a:r>
              <a:endParaRPr lang="zh-CN" altLang="en-US" sz="1400" dirty="0">
                <a:solidFill>
                  <a:schemeClr val="bg1"/>
                </a:solidFill>
              </a:endParaRPr>
            </a:p>
          </p:txBody>
        </p:sp>
        <p:cxnSp>
          <p:nvCxnSpPr>
            <p:cNvPr id="19" name="Straight Arrow Connector 35"/>
            <p:cNvCxnSpPr>
              <a:stCxn id="12" idx="2"/>
              <a:endCxn id="18" idx="0"/>
            </p:cNvCxnSpPr>
            <p:nvPr/>
          </p:nvCxnSpPr>
          <p:spPr>
            <a:xfrm>
              <a:off x="5025392" y="4800410"/>
              <a:ext cx="0" cy="944901"/>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39"/>
            <p:cNvCxnSpPr/>
            <p:nvPr/>
          </p:nvCxnSpPr>
          <p:spPr>
            <a:xfrm flipH="1" flipV="1">
              <a:off x="3053160" y="4800410"/>
              <a:ext cx="1310801" cy="944901"/>
            </a:xfrm>
            <a:prstGeom prst="straightConnector1">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42"/>
            <p:cNvSpPr txBox="1"/>
            <p:nvPr/>
          </p:nvSpPr>
          <p:spPr>
            <a:xfrm>
              <a:off x="3261657" y="3221585"/>
              <a:ext cx="692848" cy="307777"/>
            </a:xfrm>
            <a:prstGeom prst="rect">
              <a:avLst/>
            </a:prstGeom>
            <a:noFill/>
            <a:ln>
              <a:noFill/>
            </a:ln>
          </p:spPr>
          <p:txBody>
            <a:bodyPr wrap="square" rtlCol="0">
              <a:spAutoFit/>
            </a:bodyPr>
            <a:lstStyle/>
            <a:p>
              <a:r>
                <a:rPr lang="en-US" altLang="zh-CN" sz="1400" dirty="0" smtClean="0">
                  <a:latin typeface="+mn-lt"/>
                </a:rPr>
                <a:t>found</a:t>
              </a:r>
              <a:endParaRPr lang="zh-CN" altLang="en-US" sz="1400" dirty="0">
                <a:latin typeface="+mn-lt"/>
              </a:endParaRPr>
            </a:p>
          </p:txBody>
        </p:sp>
        <p:cxnSp>
          <p:nvCxnSpPr>
            <p:cNvPr id="22" name="Elbow Connector 7"/>
            <p:cNvCxnSpPr>
              <a:stCxn id="17" idx="2"/>
            </p:cNvCxnSpPr>
            <p:nvPr/>
          </p:nvCxnSpPr>
          <p:spPr>
            <a:xfrm rot="5400000" flipH="1">
              <a:off x="552860" y="2973601"/>
              <a:ext cx="2047285" cy="1606333"/>
            </a:xfrm>
            <a:prstGeom prst="bentConnector3">
              <a:avLst>
                <a:gd name="adj1" fmla="val -75163"/>
              </a:avLst>
            </a:prstGeom>
            <a:solidFill>
              <a:schemeClr val="accent4"/>
            </a:solidFill>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17"/>
            <p:cNvSpPr/>
            <p:nvPr/>
          </p:nvSpPr>
          <p:spPr>
            <a:xfrm>
              <a:off x="6757710" y="2469655"/>
              <a:ext cx="692927" cy="44095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bg1"/>
                  </a:solidFill>
                </a:rPr>
                <a:t>TB1</a:t>
              </a:r>
              <a:endParaRPr lang="zh-CN" altLang="en-US" sz="1400" dirty="0">
                <a:solidFill>
                  <a:schemeClr val="bg1"/>
                </a:solidFill>
              </a:endParaRPr>
            </a:p>
          </p:txBody>
        </p:sp>
        <p:sp>
          <p:nvSpPr>
            <p:cNvPr id="24" name="Rectangle 33"/>
            <p:cNvSpPr/>
            <p:nvPr/>
          </p:nvSpPr>
          <p:spPr>
            <a:xfrm>
              <a:off x="6757710" y="3610711"/>
              <a:ext cx="692927" cy="44095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bg1"/>
                  </a:solidFill>
                </a:rPr>
                <a:t>TB2</a:t>
              </a:r>
              <a:endParaRPr lang="zh-CN" altLang="en-US" sz="1400" dirty="0">
                <a:solidFill>
                  <a:schemeClr val="bg1"/>
                </a:solidFill>
              </a:endParaRPr>
            </a:p>
          </p:txBody>
        </p:sp>
        <p:sp>
          <p:nvSpPr>
            <p:cNvPr id="25" name="Rectangle 36"/>
            <p:cNvSpPr/>
            <p:nvPr/>
          </p:nvSpPr>
          <p:spPr>
            <a:xfrm>
              <a:off x="6757710" y="4751767"/>
              <a:ext cx="692927" cy="44095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bg1"/>
                  </a:solidFill>
                </a:rPr>
                <a:t>TB3</a:t>
              </a:r>
              <a:endParaRPr lang="zh-CN" altLang="en-US" sz="1400" dirty="0">
                <a:solidFill>
                  <a:schemeClr val="bg1"/>
                </a:solidFill>
              </a:endParaRPr>
            </a:p>
          </p:txBody>
        </p:sp>
        <p:sp>
          <p:nvSpPr>
            <p:cNvPr id="26" name="Rectangle 37"/>
            <p:cNvSpPr/>
            <p:nvPr/>
          </p:nvSpPr>
          <p:spPr>
            <a:xfrm>
              <a:off x="6757710" y="5898113"/>
              <a:ext cx="692927" cy="440954"/>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bg1"/>
                  </a:solidFill>
                </a:rPr>
                <a:t>TB4</a:t>
              </a:r>
              <a:endParaRPr lang="zh-CN" altLang="en-US" sz="1400" dirty="0">
                <a:solidFill>
                  <a:schemeClr val="bg1"/>
                </a:solidFill>
              </a:endParaRPr>
            </a:p>
          </p:txBody>
        </p:sp>
        <p:cxnSp>
          <p:nvCxnSpPr>
            <p:cNvPr id="27" name="Straight Arrow Connector 41"/>
            <p:cNvCxnSpPr>
              <a:stCxn id="23" idx="2"/>
              <a:endCxn id="24" idx="0"/>
            </p:cNvCxnSpPr>
            <p:nvPr/>
          </p:nvCxnSpPr>
          <p:spPr>
            <a:xfrm>
              <a:off x="7104173" y="2910609"/>
              <a:ext cx="0" cy="700102"/>
            </a:xfrm>
            <a:prstGeom prst="straightConnector1">
              <a:avLst/>
            </a:prstGeom>
            <a:solidFill>
              <a:schemeClr val="accent4"/>
            </a:solidFill>
            <a:ln w="190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43"/>
            <p:cNvCxnSpPr>
              <a:stCxn id="24" idx="2"/>
              <a:endCxn id="25" idx="0"/>
            </p:cNvCxnSpPr>
            <p:nvPr/>
          </p:nvCxnSpPr>
          <p:spPr>
            <a:xfrm>
              <a:off x="7104173" y="4051665"/>
              <a:ext cx="0" cy="700102"/>
            </a:xfrm>
            <a:prstGeom prst="straightConnector1">
              <a:avLst/>
            </a:prstGeom>
            <a:solidFill>
              <a:schemeClr val="accent4"/>
            </a:solidFill>
            <a:ln w="190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44"/>
            <p:cNvCxnSpPr>
              <a:stCxn id="25" idx="2"/>
              <a:endCxn id="26" idx="0"/>
            </p:cNvCxnSpPr>
            <p:nvPr/>
          </p:nvCxnSpPr>
          <p:spPr>
            <a:xfrm>
              <a:off x="7104173" y="5192721"/>
              <a:ext cx="0" cy="705392"/>
            </a:xfrm>
            <a:prstGeom prst="straightConnector1">
              <a:avLst/>
            </a:prstGeom>
            <a:solidFill>
              <a:schemeClr val="accent4"/>
            </a:solidFill>
            <a:ln w="190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50"/>
            <p:cNvCxnSpPr>
              <a:stCxn id="17" idx="3"/>
              <a:endCxn id="23" idx="0"/>
            </p:cNvCxnSpPr>
            <p:nvPr/>
          </p:nvCxnSpPr>
          <p:spPr>
            <a:xfrm flipV="1">
              <a:off x="3041100" y="2469655"/>
              <a:ext cx="4063073" cy="2047285"/>
            </a:xfrm>
            <a:prstGeom prst="bentConnector4">
              <a:avLst>
                <a:gd name="adj1" fmla="val 3874"/>
                <a:gd name="adj2" fmla="val 109768"/>
              </a:avLst>
            </a:prstGeom>
            <a:solidFill>
              <a:schemeClr val="accent4"/>
            </a:solidFill>
            <a:ln w="190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52"/>
            <p:cNvCxnSpPr>
              <a:stCxn id="26" idx="2"/>
            </p:cNvCxnSpPr>
            <p:nvPr/>
          </p:nvCxnSpPr>
          <p:spPr>
            <a:xfrm rot="5400000" flipH="1">
              <a:off x="4226090" y="3460983"/>
              <a:ext cx="1705154" cy="4051014"/>
            </a:xfrm>
            <a:prstGeom prst="bentConnector4">
              <a:avLst>
                <a:gd name="adj1" fmla="val -13406"/>
                <a:gd name="adj2" fmla="val 77553"/>
              </a:avLst>
            </a:prstGeom>
            <a:solidFill>
              <a:schemeClr val="accent4"/>
            </a:solidFill>
            <a:ln w="190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群組 45"/>
          <p:cNvGrpSpPr/>
          <p:nvPr/>
        </p:nvGrpSpPr>
        <p:grpSpPr>
          <a:xfrm>
            <a:off x="3041100" y="3084421"/>
            <a:ext cx="5703649" cy="1236234"/>
            <a:chOff x="3041100" y="3087033"/>
            <a:chExt cx="5703649" cy="1236234"/>
          </a:xfrm>
        </p:grpSpPr>
        <p:sp>
          <p:nvSpPr>
            <p:cNvPr id="32" name="TextBox 56"/>
            <p:cNvSpPr txBox="1"/>
            <p:nvPr/>
          </p:nvSpPr>
          <p:spPr>
            <a:xfrm>
              <a:off x="7542602" y="3087033"/>
              <a:ext cx="1202147" cy="523220"/>
            </a:xfrm>
            <a:prstGeom prst="rect">
              <a:avLst/>
            </a:prstGeom>
            <a:solidFill>
              <a:srgbClr val="84100E">
                <a:alpha val="50196"/>
              </a:srgbClr>
            </a:solidFill>
            <a:ln w="1905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en-US" altLang="zh-CN" sz="1400" dirty="0">
                  <a:solidFill>
                    <a:schemeClr val="bg1"/>
                  </a:solidFill>
                </a:rPr>
                <a:t>Exception </a:t>
              </a:r>
              <a:r>
                <a:rPr lang="en-US" altLang="zh-CN" sz="1400" dirty="0" smtClean="0">
                  <a:solidFill>
                    <a:schemeClr val="bg1"/>
                  </a:solidFill>
                </a:rPr>
                <a:t>or</a:t>
              </a:r>
            </a:p>
            <a:p>
              <a:pPr algn="ctr"/>
              <a:r>
                <a:rPr lang="en-US" altLang="zh-CN" sz="1400" dirty="0" smtClean="0">
                  <a:solidFill>
                    <a:schemeClr val="bg1"/>
                  </a:solidFill>
                </a:rPr>
                <a:t>Interrupt</a:t>
              </a:r>
              <a:endParaRPr lang="zh-CN" altLang="en-US" sz="1400" dirty="0">
                <a:solidFill>
                  <a:schemeClr val="bg1"/>
                </a:solidFill>
              </a:endParaRPr>
            </a:p>
          </p:txBody>
        </p:sp>
        <p:cxnSp>
          <p:nvCxnSpPr>
            <p:cNvPr id="33" name="Straight Arrow Connector 57"/>
            <p:cNvCxnSpPr/>
            <p:nvPr/>
          </p:nvCxnSpPr>
          <p:spPr>
            <a:xfrm flipH="1">
              <a:off x="7467600" y="3610253"/>
              <a:ext cx="75002" cy="430959"/>
            </a:xfrm>
            <a:prstGeom prst="straightConnector1">
              <a:avLst/>
            </a:prstGeom>
            <a:solidFill>
              <a:schemeClr val="accent4"/>
            </a:solidFill>
            <a:ln w="1905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肘形接點 41"/>
            <p:cNvCxnSpPr>
              <a:stCxn id="25" idx="2"/>
            </p:cNvCxnSpPr>
            <p:nvPr/>
          </p:nvCxnSpPr>
          <p:spPr>
            <a:xfrm rot="5400000" flipH="1">
              <a:off x="4852161" y="2071254"/>
              <a:ext cx="440952" cy="4063074"/>
            </a:xfrm>
            <a:prstGeom prst="bentConnector4">
              <a:avLst>
                <a:gd name="adj1" fmla="val -51842"/>
                <a:gd name="adj2" fmla="val 85574"/>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6701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標題 1"/>
          <p:cNvSpPr>
            <a:spLocks noGrp="1"/>
          </p:cNvSpPr>
          <p:nvPr>
            <p:ph type="title"/>
          </p:nvPr>
        </p:nvSpPr>
        <p:spPr/>
        <p:txBody>
          <a:bodyPr/>
          <a:lstStyle/>
          <a:p>
            <a:r>
              <a:rPr lang="en-US" altLang="zh-TW" dirty="0" smtClean="0">
                <a:latin typeface="+mn-lt"/>
              </a:rPr>
              <a:t>Code block Chaining</a:t>
            </a:r>
            <a:endParaRPr lang="zh-TW" altLang="en-US" dirty="0" smtClean="0">
              <a:latin typeface="+mn-lt"/>
            </a:endParaRPr>
          </a:p>
        </p:txBody>
      </p:sp>
      <p:grpSp>
        <p:nvGrpSpPr>
          <p:cNvPr id="2" name="群組 1"/>
          <p:cNvGrpSpPr/>
          <p:nvPr/>
        </p:nvGrpSpPr>
        <p:grpSpPr>
          <a:xfrm>
            <a:off x="4752915" y="1600200"/>
            <a:ext cx="3894665" cy="2260331"/>
            <a:chOff x="4833938" y="1917700"/>
            <a:chExt cx="4283546" cy="2486025"/>
          </a:xfrm>
        </p:grpSpPr>
        <p:sp>
          <p:nvSpPr>
            <p:cNvPr id="3" name="圓角矩形 2"/>
            <p:cNvSpPr/>
            <p:nvPr/>
          </p:nvSpPr>
          <p:spPr>
            <a:xfrm>
              <a:off x="5033963" y="3538538"/>
              <a:ext cx="936625" cy="8651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kumimoji="0" lang="zh-TW" altLang="en-US"/>
            </a:p>
          </p:txBody>
        </p:sp>
        <p:sp>
          <p:nvSpPr>
            <p:cNvPr id="4" name="圓角矩形 3"/>
            <p:cNvSpPr/>
            <p:nvPr/>
          </p:nvSpPr>
          <p:spPr>
            <a:xfrm>
              <a:off x="6410325" y="1917700"/>
              <a:ext cx="935038" cy="863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kumimoji="0" lang="zh-TW" altLang="en-US" b="1" dirty="0"/>
            </a:p>
          </p:txBody>
        </p:sp>
        <p:cxnSp>
          <p:nvCxnSpPr>
            <p:cNvPr id="7" name="直線單箭頭接點 6"/>
            <p:cNvCxnSpPr>
              <a:stCxn id="4" idx="2"/>
              <a:endCxn id="3" idx="0"/>
            </p:cNvCxnSpPr>
            <p:nvPr/>
          </p:nvCxnSpPr>
          <p:spPr>
            <a:xfrm flipH="1">
              <a:off x="5502275" y="2781300"/>
              <a:ext cx="1374775" cy="75723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054" name="文字方塊 11"/>
            <p:cNvSpPr txBox="1">
              <a:spLocks noChangeArrowheads="1"/>
            </p:cNvSpPr>
            <p:nvPr/>
          </p:nvSpPr>
          <p:spPr bwMode="auto">
            <a:xfrm>
              <a:off x="4833938" y="2860675"/>
              <a:ext cx="1627659" cy="40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jmp_next[0]</a:t>
              </a:r>
              <a:endParaRPr lang="zh-TW" altLang="en-US" b="1">
                <a:latin typeface="+mn-lt"/>
              </a:endParaRPr>
            </a:p>
          </p:txBody>
        </p:sp>
        <p:sp>
          <p:nvSpPr>
            <p:cNvPr id="14" name="圓角矩形 13"/>
            <p:cNvSpPr/>
            <p:nvPr/>
          </p:nvSpPr>
          <p:spPr>
            <a:xfrm>
              <a:off x="7634288" y="3538538"/>
              <a:ext cx="935037" cy="8651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kumimoji="0" lang="zh-TW" altLang="en-US"/>
            </a:p>
          </p:txBody>
        </p:sp>
        <p:cxnSp>
          <p:nvCxnSpPr>
            <p:cNvPr id="16" name="直線單箭頭接點 15"/>
            <p:cNvCxnSpPr>
              <a:stCxn id="4" idx="2"/>
              <a:endCxn id="14" idx="0"/>
            </p:cNvCxnSpPr>
            <p:nvPr/>
          </p:nvCxnSpPr>
          <p:spPr>
            <a:xfrm>
              <a:off x="6877050" y="2781300"/>
              <a:ext cx="1225550" cy="75723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057" name="文字方塊 21"/>
            <p:cNvSpPr txBox="1">
              <a:spLocks noChangeArrowheads="1"/>
            </p:cNvSpPr>
            <p:nvPr/>
          </p:nvSpPr>
          <p:spPr bwMode="auto">
            <a:xfrm>
              <a:off x="7489825" y="2863850"/>
              <a:ext cx="1627659" cy="40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jmp_next[1]</a:t>
              </a:r>
              <a:endParaRPr lang="zh-TW" altLang="en-US" b="1">
                <a:latin typeface="+mn-lt"/>
              </a:endParaRPr>
            </a:p>
          </p:txBody>
        </p:sp>
        <p:cxnSp>
          <p:nvCxnSpPr>
            <p:cNvPr id="24" name="弧形接點 23"/>
            <p:cNvCxnSpPr>
              <a:stCxn id="3" idx="3"/>
            </p:cNvCxnSpPr>
            <p:nvPr/>
          </p:nvCxnSpPr>
          <p:spPr>
            <a:xfrm flipV="1">
              <a:off x="5970588" y="2860675"/>
              <a:ext cx="906462" cy="1109663"/>
            </a:xfrm>
            <a:prstGeom prst="curvedConnector2">
              <a:avLst/>
            </a:prstGeom>
            <a:ln>
              <a:tailEnd type="arrow"/>
            </a:ln>
          </p:spPr>
          <p:style>
            <a:lnRef idx="2">
              <a:schemeClr val="dk1"/>
            </a:lnRef>
            <a:fillRef idx="0">
              <a:schemeClr val="dk1"/>
            </a:fillRef>
            <a:effectRef idx="1">
              <a:schemeClr val="dk1"/>
            </a:effectRef>
            <a:fontRef idx="minor">
              <a:schemeClr val="tx1"/>
            </a:fontRef>
          </p:style>
        </p:cxnSp>
        <p:sp>
          <p:nvSpPr>
            <p:cNvPr id="2059" name="文字方塊 24"/>
            <p:cNvSpPr txBox="1">
              <a:spLocks noChangeArrowheads="1"/>
            </p:cNvSpPr>
            <p:nvPr/>
          </p:nvSpPr>
          <p:spPr bwMode="auto">
            <a:xfrm>
              <a:off x="6410325" y="3908425"/>
              <a:ext cx="1275047" cy="40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jmp_first</a:t>
              </a:r>
              <a:endParaRPr lang="zh-TW" altLang="en-US" b="1">
                <a:latin typeface="+mn-lt"/>
              </a:endParaRPr>
            </a:p>
          </p:txBody>
        </p:sp>
      </p:grpSp>
      <p:sp>
        <p:nvSpPr>
          <p:cNvPr id="30" name="圓角矩形 29"/>
          <p:cNvSpPr/>
          <p:nvPr/>
        </p:nvSpPr>
        <p:spPr>
          <a:xfrm>
            <a:off x="812399" y="1600200"/>
            <a:ext cx="3115077" cy="2439586"/>
          </a:xfrm>
          <a:prstGeom prst="roundRect">
            <a:avLst/>
          </a:prstGeom>
          <a:noFill/>
        </p:spPr>
        <p:style>
          <a:lnRef idx="2">
            <a:schemeClr val="accent1"/>
          </a:lnRef>
          <a:fillRef idx="1">
            <a:schemeClr val="lt1"/>
          </a:fillRef>
          <a:effectRef idx="0">
            <a:schemeClr val="accent1"/>
          </a:effectRef>
          <a:fontRef idx="minor">
            <a:schemeClr val="dk1"/>
          </a:fontRef>
        </p:style>
        <p:txBody>
          <a:bodyPr anchor="ctr"/>
          <a:lstStyle/>
          <a:p>
            <a:pPr fontAlgn="auto">
              <a:spcBef>
                <a:spcPts val="0"/>
              </a:spcBef>
              <a:spcAft>
                <a:spcPts val="0"/>
              </a:spcAft>
              <a:defRPr/>
            </a:pPr>
            <a:r>
              <a:rPr kumimoji="0" lang="en-US" altLang="zh-TW" b="1" dirty="0" err="1"/>
              <a:t>struct</a:t>
            </a:r>
            <a:r>
              <a:rPr kumimoji="0" lang="en-US" altLang="zh-TW" b="1" dirty="0"/>
              <a:t> </a:t>
            </a:r>
            <a:r>
              <a:rPr kumimoji="0" lang="en-US" altLang="zh-TW" b="1" dirty="0" err="1"/>
              <a:t>TranslationBlock</a:t>
            </a:r>
            <a:r>
              <a:rPr kumimoji="0" lang="en-US" altLang="zh-TW" b="1" dirty="0"/>
              <a:t> {</a:t>
            </a:r>
          </a:p>
          <a:p>
            <a:pPr fontAlgn="auto">
              <a:spcBef>
                <a:spcPts val="0"/>
              </a:spcBef>
              <a:spcAft>
                <a:spcPts val="0"/>
              </a:spcAft>
              <a:defRPr/>
            </a:pPr>
            <a:endParaRPr kumimoji="0" lang="en-US" altLang="zh-TW" b="1" dirty="0"/>
          </a:p>
          <a:p>
            <a:pPr fontAlgn="auto">
              <a:spcBef>
                <a:spcPts val="0"/>
              </a:spcBef>
              <a:spcAft>
                <a:spcPts val="0"/>
              </a:spcAft>
              <a:defRPr/>
            </a:pPr>
            <a:r>
              <a:rPr kumimoji="0" lang="en-US" altLang="zh-TW" dirty="0" err="1"/>
              <a:t>struct</a:t>
            </a:r>
            <a:r>
              <a:rPr kumimoji="0" lang="en-US" altLang="zh-TW" dirty="0"/>
              <a:t> </a:t>
            </a:r>
            <a:r>
              <a:rPr kumimoji="0" lang="en-US" altLang="zh-TW" dirty="0" err="1">
                <a:solidFill>
                  <a:srgbClr val="00B050"/>
                </a:solidFill>
              </a:rPr>
              <a:t>TranslationBlock</a:t>
            </a:r>
            <a:r>
              <a:rPr kumimoji="0" lang="en-US" altLang="zh-TW" dirty="0">
                <a:solidFill>
                  <a:srgbClr val="00B050"/>
                </a:solidFill>
              </a:rPr>
              <a:t> *</a:t>
            </a:r>
            <a:r>
              <a:rPr kumimoji="0" lang="en-US" altLang="zh-TW" b="1" dirty="0" err="1">
                <a:solidFill>
                  <a:srgbClr val="FF0000"/>
                </a:solidFill>
              </a:rPr>
              <a:t>jmp_next</a:t>
            </a:r>
            <a:r>
              <a:rPr kumimoji="0" lang="en-US" altLang="zh-TW" b="1" dirty="0">
                <a:solidFill>
                  <a:srgbClr val="FF0000"/>
                </a:solidFill>
              </a:rPr>
              <a:t>[2]</a:t>
            </a:r>
            <a:r>
              <a:rPr kumimoji="0" lang="en-US" altLang="zh-TW" dirty="0"/>
              <a:t>;</a:t>
            </a:r>
          </a:p>
          <a:p>
            <a:pPr fontAlgn="auto">
              <a:spcBef>
                <a:spcPts val="0"/>
              </a:spcBef>
              <a:spcAft>
                <a:spcPts val="0"/>
              </a:spcAft>
              <a:defRPr/>
            </a:pPr>
            <a:r>
              <a:rPr kumimoji="0" lang="en-US" altLang="zh-TW" dirty="0" err="1"/>
              <a:t>struct</a:t>
            </a:r>
            <a:r>
              <a:rPr kumimoji="0" lang="en-US" altLang="zh-TW" dirty="0"/>
              <a:t> </a:t>
            </a:r>
            <a:r>
              <a:rPr kumimoji="0" lang="en-US" altLang="zh-TW" dirty="0" err="1">
                <a:solidFill>
                  <a:srgbClr val="00B050"/>
                </a:solidFill>
              </a:rPr>
              <a:t>TranslationBlock</a:t>
            </a:r>
            <a:r>
              <a:rPr kumimoji="0" lang="en-US" altLang="zh-TW" dirty="0">
                <a:solidFill>
                  <a:srgbClr val="00B050"/>
                </a:solidFill>
              </a:rPr>
              <a:t> *</a:t>
            </a:r>
            <a:r>
              <a:rPr kumimoji="0" lang="en-US" altLang="zh-TW" b="1" dirty="0" err="1">
                <a:solidFill>
                  <a:srgbClr val="FF0000"/>
                </a:solidFill>
              </a:rPr>
              <a:t>jmp_first</a:t>
            </a:r>
            <a:r>
              <a:rPr kumimoji="0" lang="en-US" altLang="zh-TW" dirty="0"/>
              <a:t>;</a:t>
            </a:r>
          </a:p>
          <a:p>
            <a:pPr fontAlgn="auto">
              <a:spcBef>
                <a:spcPts val="0"/>
              </a:spcBef>
              <a:spcAft>
                <a:spcPts val="0"/>
              </a:spcAft>
              <a:defRPr/>
            </a:pPr>
            <a:endParaRPr kumimoji="0" lang="en-US" altLang="zh-TW" b="1" dirty="0"/>
          </a:p>
          <a:p>
            <a:pPr fontAlgn="auto">
              <a:spcBef>
                <a:spcPts val="0"/>
              </a:spcBef>
              <a:spcAft>
                <a:spcPts val="0"/>
              </a:spcAft>
              <a:defRPr/>
            </a:pPr>
            <a:r>
              <a:rPr kumimoji="0" lang="en-US" altLang="zh-TW" b="1" dirty="0"/>
              <a:t>};</a:t>
            </a:r>
            <a:endParaRPr kumimoji="0" lang="zh-TW" altLang="en-US" b="1" dirty="0"/>
          </a:p>
        </p:txBody>
      </p:sp>
      <p:sp>
        <p:nvSpPr>
          <p:cNvPr id="2061" name="文字方塊 7"/>
          <p:cNvSpPr txBox="1">
            <a:spLocks noChangeArrowheads="1"/>
          </p:cNvSpPr>
          <p:nvPr/>
        </p:nvSpPr>
        <p:spPr bwMode="auto">
          <a:xfrm>
            <a:off x="793691" y="4196838"/>
            <a:ext cx="766451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新細明體" panose="02020500000000000000" pitchFamily="18" charset="-120"/>
              </a:defRPr>
            </a:lvl1pPr>
            <a:lvl2pPr>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sz="2000" b="1" dirty="0">
                <a:latin typeface="+mn-lt"/>
              </a:rPr>
              <a:t>QEMU uses the last two bits of the </a:t>
            </a:r>
            <a:r>
              <a:rPr lang="en-US" altLang="zh-TW" sz="2000" b="1" dirty="0">
                <a:solidFill>
                  <a:srgbClr val="00B050"/>
                </a:solidFill>
                <a:latin typeface="+mn-lt"/>
              </a:rPr>
              <a:t>pointer </a:t>
            </a:r>
            <a:r>
              <a:rPr lang="en-US" altLang="zh-TW" sz="2000" b="1" dirty="0">
                <a:latin typeface="+mn-lt"/>
              </a:rPr>
              <a:t>to </a:t>
            </a:r>
            <a:r>
              <a:rPr lang="en-US" altLang="zh-TW" sz="2000" b="1" dirty="0" err="1">
                <a:latin typeface="+mn-lt"/>
              </a:rPr>
              <a:t>TranslationBlock</a:t>
            </a:r>
            <a:r>
              <a:rPr lang="en-US" altLang="zh-TW" sz="2000" b="1" dirty="0">
                <a:latin typeface="+mn-lt"/>
              </a:rPr>
              <a:t> to encode</a:t>
            </a:r>
          </a:p>
          <a:p>
            <a:r>
              <a:rPr lang="en-US" altLang="zh-TW" sz="2000" b="1" dirty="0">
                <a:latin typeface="+mn-lt"/>
              </a:rPr>
              <a:t>the direction of block chaining:</a:t>
            </a:r>
          </a:p>
          <a:p>
            <a:pPr lvl="1"/>
            <a:r>
              <a:rPr lang="en-US" altLang="zh-TW" sz="2000" b="1" dirty="0">
                <a:latin typeface="+mn-lt"/>
              </a:rPr>
              <a:t>0 -&gt; branch taken</a:t>
            </a:r>
          </a:p>
          <a:p>
            <a:pPr lvl="1"/>
            <a:r>
              <a:rPr lang="en-US" altLang="zh-TW" sz="2000" b="1" dirty="0">
                <a:latin typeface="+mn-lt"/>
              </a:rPr>
              <a:t>1 -&gt; branch not taken</a:t>
            </a:r>
          </a:p>
          <a:p>
            <a:pPr lvl="1"/>
            <a:r>
              <a:rPr lang="en-US" altLang="zh-TW" sz="2000" b="1" dirty="0">
                <a:latin typeface="+mn-lt"/>
              </a:rPr>
              <a:t>2 -&gt; EOF</a:t>
            </a:r>
            <a:endParaRPr lang="zh-TW" altLang="en-US" sz="2000" b="1" dirty="0">
              <a:latin typeface="+mn-lt"/>
            </a:endParaRPr>
          </a:p>
        </p:txBody>
      </p:sp>
      <p:sp>
        <p:nvSpPr>
          <p:cNvPr id="5" name="投影片編號版面配置區 4"/>
          <p:cNvSpPr>
            <a:spLocks noGrp="1"/>
          </p:cNvSpPr>
          <p:nvPr>
            <p:ph type="sldNum" sz="quarter" idx="10"/>
          </p:nvPr>
        </p:nvSpPr>
        <p:spPr/>
        <p:txBody>
          <a:bodyPr/>
          <a:lstStyle/>
          <a:p>
            <a:pPr>
              <a:defRPr/>
            </a:pPr>
            <a:fld id="{CB139CEE-DE8A-418C-9023-16281E618043}" type="slidenum">
              <a:rPr lang="en-US" altLang="zh-TW" smtClean="0"/>
              <a:pPr>
                <a:defRPr/>
              </a:pPr>
              <a:t>48</a:t>
            </a:fld>
            <a:endParaRPr lang="en-US" altLang="zh-TW"/>
          </a:p>
        </p:txBody>
      </p:sp>
    </p:spTree>
    <p:extLst>
      <p:ext uri="{BB962C8B-B14F-4D97-AF65-F5344CB8AC3E}">
        <p14:creationId xmlns:p14="http://schemas.microsoft.com/office/powerpoint/2010/main" val="202951562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r>
              <a:rPr lang="en-US" altLang="zh-TW" dirty="0" smtClean="0">
                <a:latin typeface="+mn-lt"/>
              </a:rPr>
              <a:t>Example (insert)</a:t>
            </a:r>
            <a:endParaRPr lang="zh-TW" altLang="en-US" dirty="0" smtClean="0">
              <a:latin typeface="+mn-lt"/>
            </a:endParaRPr>
          </a:p>
        </p:txBody>
      </p:sp>
      <p:sp>
        <p:nvSpPr>
          <p:cNvPr id="3" name="圓角矩形 2"/>
          <p:cNvSpPr/>
          <p:nvPr/>
        </p:nvSpPr>
        <p:spPr>
          <a:xfrm>
            <a:off x="5699125" y="3654425"/>
            <a:ext cx="936625" cy="8651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TB2</a:t>
            </a:r>
            <a:endParaRPr kumimoji="0" lang="zh-TW" altLang="en-US" b="1" dirty="0"/>
          </a:p>
        </p:txBody>
      </p:sp>
      <p:sp>
        <p:nvSpPr>
          <p:cNvPr id="4" name="圓角矩形 3"/>
          <p:cNvSpPr/>
          <p:nvPr/>
        </p:nvSpPr>
        <p:spPr>
          <a:xfrm>
            <a:off x="5699125" y="2224087"/>
            <a:ext cx="936625" cy="863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TB1</a:t>
            </a:r>
            <a:endParaRPr kumimoji="0" lang="zh-TW" altLang="en-US" b="1" dirty="0"/>
          </a:p>
        </p:txBody>
      </p:sp>
      <p:cxnSp>
        <p:nvCxnSpPr>
          <p:cNvPr id="8" name="直線單箭頭接點 7"/>
          <p:cNvCxnSpPr/>
          <p:nvPr/>
        </p:nvCxnSpPr>
        <p:spPr>
          <a:xfrm>
            <a:off x="6167438" y="3074987"/>
            <a:ext cx="0" cy="56832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9" name="圓角矩形 8"/>
          <p:cNvSpPr/>
          <p:nvPr/>
        </p:nvSpPr>
        <p:spPr>
          <a:xfrm>
            <a:off x="7354888" y="2209800"/>
            <a:ext cx="936625" cy="8651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TB3</a:t>
            </a:r>
            <a:endParaRPr kumimoji="0" lang="zh-TW" altLang="en-US" b="1" dirty="0"/>
          </a:p>
        </p:txBody>
      </p:sp>
      <p:cxnSp>
        <p:nvCxnSpPr>
          <p:cNvPr id="11" name="直線單箭頭接點 10"/>
          <p:cNvCxnSpPr>
            <a:stCxn id="9" idx="2"/>
          </p:cNvCxnSpPr>
          <p:nvPr/>
        </p:nvCxnSpPr>
        <p:spPr>
          <a:xfrm flipH="1">
            <a:off x="6167438" y="3074987"/>
            <a:ext cx="1655762" cy="5461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2296" name="文字方塊 15"/>
          <p:cNvSpPr txBox="1">
            <a:spLocks noChangeArrowheads="1"/>
          </p:cNvSpPr>
          <p:nvPr/>
        </p:nvSpPr>
        <p:spPr bwMode="auto">
          <a:xfrm>
            <a:off x="695325" y="2462212"/>
            <a:ext cx="29931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TB1 -&gt; jmp_next = TB2 | 2</a:t>
            </a:r>
          </a:p>
        </p:txBody>
      </p:sp>
      <p:sp>
        <p:nvSpPr>
          <p:cNvPr id="12297" name="文字方塊 16"/>
          <p:cNvSpPr txBox="1">
            <a:spLocks noChangeArrowheads="1"/>
          </p:cNvSpPr>
          <p:nvPr/>
        </p:nvSpPr>
        <p:spPr bwMode="auto">
          <a:xfrm>
            <a:off x="695325" y="3643312"/>
            <a:ext cx="48782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dirty="0">
                <a:latin typeface="+mn-lt"/>
              </a:rPr>
              <a:t>TB3 -&gt; </a:t>
            </a:r>
            <a:r>
              <a:rPr lang="en-US" altLang="zh-TW" b="1" dirty="0" err="1">
                <a:latin typeface="+mn-lt"/>
              </a:rPr>
              <a:t>jmp_next</a:t>
            </a:r>
            <a:r>
              <a:rPr lang="en-US" altLang="zh-TW" b="1" dirty="0">
                <a:latin typeface="+mn-lt"/>
              </a:rPr>
              <a:t> = TB2-&gt;</a:t>
            </a:r>
            <a:r>
              <a:rPr lang="en-US" altLang="zh-TW" b="1" dirty="0" err="1">
                <a:latin typeface="+mn-lt"/>
              </a:rPr>
              <a:t>jmp_first</a:t>
            </a:r>
            <a:r>
              <a:rPr lang="en-US" altLang="zh-TW" b="1" dirty="0">
                <a:latin typeface="+mn-lt"/>
              </a:rPr>
              <a:t> = TB1 | 0</a:t>
            </a:r>
          </a:p>
        </p:txBody>
      </p:sp>
      <p:cxnSp>
        <p:nvCxnSpPr>
          <p:cNvPr id="19" name="弧形接點 18"/>
          <p:cNvCxnSpPr>
            <a:stCxn id="4" idx="1"/>
            <a:endCxn id="3" idx="1"/>
          </p:cNvCxnSpPr>
          <p:nvPr/>
        </p:nvCxnSpPr>
        <p:spPr>
          <a:xfrm rot="10800000" flipV="1">
            <a:off x="5699125" y="2655887"/>
            <a:ext cx="12700" cy="1430338"/>
          </a:xfrm>
          <a:prstGeom prst="curvedConnector3">
            <a:avLst>
              <a:gd name="adj1" fmla="val 1800000"/>
            </a:avLst>
          </a:prstGeom>
          <a:ln>
            <a:prstDash val="dash"/>
            <a:tailEnd type="arrow"/>
          </a:ln>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833438" y="5753100"/>
            <a:ext cx="1150937" cy="0"/>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26" name="直線接點 25"/>
          <p:cNvCxnSpPr/>
          <p:nvPr/>
        </p:nvCxnSpPr>
        <p:spPr>
          <a:xfrm>
            <a:off x="5197475" y="5767387"/>
            <a:ext cx="1079500" cy="0"/>
          </a:xfrm>
          <a:prstGeom prst="line">
            <a:avLst/>
          </a:prstGeom>
        </p:spPr>
        <p:style>
          <a:lnRef idx="2">
            <a:schemeClr val="dk1"/>
          </a:lnRef>
          <a:fillRef idx="0">
            <a:schemeClr val="dk1"/>
          </a:fillRef>
          <a:effectRef idx="1">
            <a:schemeClr val="dk1"/>
          </a:effectRef>
          <a:fontRef idx="minor">
            <a:schemeClr val="tx1"/>
          </a:fontRef>
        </p:style>
      </p:cxnSp>
      <p:sp>
        <p:nvSpPr>
          <p:cNvPr id="3085" name="文字方塊 26"/>
          <p:cNvSpPr txBox="1">
            <a:spLocks noChangeArrowheads="1"/>
          </p:cNvSpPr>
          <p:nvPr/>
        </p:nvSpPr>
        <p:spPr bwMode="auto">
          <a:xfrm>
            <a:off x="2200275" y="5567362"/>
            <a:ext cx="2749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struct TranslationBlock</a:t>
            </a:r>
            <a:endParaRPr lang="zh-TW" altLang="en-US" b="1">
              <a:latin typeface="+mn-lt"/>
            </a:endParaRPr>
          </a:p>
        </p:txBody>
      </p:sp>
      <p:sp>
        <p:nvSpPr>
          <p:cNvPr id="3086" name="文字方塊 27"/>
          <p:cNvSpPr txBox="1">
            <a:spLocks noChangeArrowheads="1"/>
          </p:cNvSpPr>
          <p:nvPr/>
        </p:nvSpPr>
        <p:spPr bwMode="auto">
          <a:xfrm>
            <a:off x="6564313" y="5583237"/>
            <a:ext cx="219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QEMU code cache</a:t>
            </a:r>
            <a:endParaRPr lang="zh-TW" altLang="en-US" b="1">
              <a:latin typeface="+mn-lt"/>
            </a:endParaRPr>
          </a:p>
        </p:txBody>
      </p:sp>
      <p:cxnSp>
        <p:nvCxnSpPr>
          <p:cNvPr id="12291" name="弧形接點 12290"/>
          <p:cNvCxnSpPr>
            <a:stCxn id="3" idx="3"/>
            <a:endCxn id="4" idx="3"/>
          </p:cNvCxnSpPr>
          <p:nvPr/>
        </p:nvCxnSpPr>
        <p:spPr>
          <a:xfrm flipV="1">
            <a:off x="6635750" y="2655887"/>
            <a:ext cx="12700" cy="1430338"/>
          </a:xfrm>
          <a:prstGeom prst="curvedConnector3">
            <a:avLst>
              <a:gd name="adj1" fmla="val 1800000"/>
            </a:avLst>
          </a:prstGeom>
          <a:ln>
            <a:prstDash val="dash"/>
            <a:tailEnd type="arrow"/>
          </a:ln>
        </p:spPr>
        <p:style>
          <a:lnRef idx="2">
            <a:schemeClr val="dk1"/>
          </a:lnRef>
          <a:fillRef idx="0">
            <a:schemeClr val="dk1"/>
          </a:fillRef>
          <a:effectRef idx="1">
            <a:schemeClr val="dk1"/>
          </a:effectRef>
          <a:fontRef idx="minor">
            <a:schemeClr val="tx1"/>
          </a:fontRef>
        </p:style>
      </p:cxnSp>
      <p:sp>
        <p:nvSpPr>
          <p:cNvPr id="12292" name="文字方塊 12291"/>
          <p:cNvSpPr txBox="1">
            <a:spLocks noChangeArrowheads="1"/>
          </p:cNvSpPr>
          <p:nvPr/>
        </p:nvSpPr>
        <p:spPr bwMode="auto">
          <a:xfrm>
            <a:off x="717550" y="2811462"/>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TB2 -&gt; jmp_first = TB1 | 0</a:t>
            </a:r>
            <a:endParaRPr lang="zh-TW" altLang="en-US" b="1">
              <a:latin typeface="+mn-lt"/>
            </a:endParaRPr>
          </a:p>
        </p:txBody>
      </p:sp>
      <p:cxnSp>
        <p:nvCxnSpPr>
          <p:cNvPr id="12294" name="弧形接點 12293"/>
          <p:cNvCxnSpPr>
            <a:stCxn id="3" idx="3"/>
            <a:endCxn id="9" idx="3"/>
          </p:cNvCxnSpPr>
          <p:nvPr/>
        </p:nvCxnSpPr>
        <p:spPr>
          <a:xfrm flipV="1">
            <a:off x="6635750" y="2641600"/>
            <a:ext cx="1655763" cy="1444625"/>
          </a:xfrm>
          <a:prstGeom prst="curvedConnector3">
            <a:avLst>
              <a:gd name="adj1" fmla="val 113806"/>
            </a:avLst>
          </a:prstGeom>
          <a:ln>
            <a:prstDash val="dash"/>
            <a:tailEnd type="arrow"/>
          </a:ln>
        </p:spPr>
        <p:style>
          <a:lnRef idx="2">
            <a:schemeClr val="dk1"/>
          </a:lnRef>
          <a:fillRef idx="0">
            <a:schemeClr val="dk1"/>
          </a:fillRef>
          <a:effectRef idx="1">
            <a:schemeClr val="dk1"/>
          </a:effectRef>
          <a:fontRef idx="minor">
            <a:schemeClr val="tx1"/>
          </a:fontRef>
        </p:style>
      </p:cxnSp>
      <p:cxnSp>
        <p:nvCxnSpPr>
          <p:cNvPr id="12307" name="直線單箭頭接點 12306"/>
          <p:cNvCxnSpPr>
            <a:stCxn id="9" idx="1"/>
            <a:endCxn id="4" idx="3"/>
          </p:cNvCxnSpPr>
          <p:nvPr/>
        </p:nvCxnSpPr>
        <p:spPr>
          <a:xfrm flipH="1">
            <a:off x="6635750" y="2641600"/>
            <a:ext cx="719138" cy="14287"/>
          </a:xfrm>
          <a:prstGeom prst="straightConnector1">
            <a:avLst/>
          </a:prstGeom>
          <a:ln>
            <a:prstDash val="dash"/>
            <a:tailEnd type="arrow"/>
          </a:ln>
        </p:spPr>
        <p:style>
          <a:lnRef idx="2">
            <a:schemeClr val="dk1"/>
          </a:lnRef>
          <a:fillRef idx="0">
            <a:schemeClr val="dk1"/>
          </a:fillRef>
          <a:effectRef idx="1">
            <a:schemeClr val="dk1"/>
          </a:effectRef>
          <a:fontRef idx="minor">
            <a:schemeClr val="tx1"/>
          </a:fontRef>
        </p:style>
      </p:cxnSp>
      <p:sp>
        <p:nvSpPr>
          <p:cNvPr id="12313" name="文字方塊 12312"/>
          <p:cNvSpPr txBox="1">
            <a:spLocks noChangeArrowheads="1"/>
          </p:cNvSpPr>
          <p:nvPr/>
        </p:nvSpPr>
        <p:spPr bwMode="auto">
          <a:xfrm>
            <a:off x="703263" y="4011612"/>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TB2 -&gt; jmp_first = TB3 | 0</a:t>
            </a:r>
            <a:endParaRPr lang="zh-TW" altLang="en-US" b="1">
              <a:latin typeface="+mn-lt"/>
            </a:endParaRPr>
          </a:p>
        </p:txBody>
      </p:sp>
      <p:sp>
        <p:nvSpPr>
          <p:cNvPr id="2" name="投影片編號版面配置區 1"/>
          <p:cNvSpPr>
            <a:spLocks noGrp="1"/>
          </p:cNvSpPr>
          <p:nvPr>
            <p:ph type="sldNum" sz="quarter" idx="10"/>
          </p:nvPr>
        </p:nvSpPr>
        <p:spPr/>
        <p:txBody>
          <a:bodyPr/>
          <a:lstStyle/>
          <a:p>
            <a:pPr>
              <a:defRPr/>
            </a:pPr>
            <a:fld id="{CB139CEE-DE8A-418C-9023-16281E618043}" type="slidenum">
              <a:rPr lang="en-US" altLang="zh-TW" smtClean="0"/>
              <a:pPr>
                <a:defRPr/>
              </a:pPr>
              <a:t>49</a:t>
            </a:fld>
            <a:endParaRPr lang="en-US" altLang="zh-TW"/>
          </a:p>
        </p:txBody>
      </p:sp>
    </p:spTree>
    <p:extLst>
      <p:ext uri="{BB962C8B-B14F-4D97-AF65-F5344CB8AC3E}">
        <p14:creationId xmlns:p14="http://schemas.microsoft.com/office/powerpoint/2010/main" val="15502492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229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30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3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94"/>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122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296" grpId="0"/>
      <p:bldP spid="12297" grpId="0"/>
      <p:bldP spid="12292" grpId="0"/>
      <p:bldP spid="123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標題 1"/>
          <p:cNvSpPr>
            <a:spLocks noGrp="1"/>
          </p:cNvSpPr>
          <p:nvPr>
            <p:ph type="title"/>
          </p:nvPr>
        </p:nvSpPr>
        <p:spPr>
          <a:extLst>
            <a:ext uri="{91240B29-F687-4F45-9708-019B960494DF}">
              <a14:hiddenLine xmlns:a14="http://schemas.microsoft.com/office/drawing/2010/main" w="9525">
                <a:solidFill>
                  <a:srgbClr val="000000"/>
                </a:solidFill>
                <a:prstDash val="dash"/>
                <a:miter lim="800000"/>
                <a:headEnd/>
                <a:tailEnd/>
              </a14:hiddenLine>
            </a:ext>
          </a:extLst>
        </p:spPr>
        <p:txBody>
          <a:bodyPr/>
          <a:lstStyle/>
          <a:p>
            <a:r>
              <a:rPr lang="en-US" altLang="zh-TW" dirty="0" smtClean="0">
                <a:latin typeface="+mn-lt"/>
              </a:rPr>
              <a:t>Example (remove)</a:t>
            </a:r>
            <a:endParaRPr lang="zh-TW" altLang="en-US" dirty="0" smtClean="0">
              <a:latin typeface="+mn-lt"/>
            </a:endParaRPr>
          </a:p>
        </p:txBody>
      </p:sp>
      <p:sp>
        <p:nvSpPr>
          <p:cNvPr id="3" name="圓角矩形 2"/>
          <p:cNvSpPr/>
          <p:nvPr/>
        </p:nvSpPr>
        <p:spPr>
          <a:xfrm>
            <a:off x="2363788" y="4124325"/>
            <a:ext cx="936625" cy="863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TB2</a:t>
            </a:r>
            <a:endParaRPr kumimoji="0" lang="zh-TW" altLang="en-US" b="1" dirty="0"/>
          </a:p>
        </p:txBody>
      </p:sp>
      <p:sp>
        <p:nvSpPr>
          <p:cNvPr id="4" name="圓角矩形 3"/>
          <p:cNvSpPr/>
          <p:nvPr/>
        </p:nvSpPr>
        <p:spPr>
          <a:xfrm>
            <a:off x="2339975" y="1763712"/>
            <a:ext cx="936625" cy="863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TB1</a:t>
            </a:r>
            <a:endParaRPr kumimoji="0" lang="zh-TW" altLang="en-US" b="1" dirty="0"/>
          </a:p>
        </p:txBody>
      </p:sp>
      <p:sp>
        <p:nvSpPr>
          <p:cNvPr id="6" name="圓角矩形 5"/>
          <p:cNvSpPr/>
          <p:nvPr/>
        </p:nvSpPr>
        <p:spPr>
          <a:xfrm>
            <a:off x="5867400" y="1763712"/>
            <a:ext cx="936625" cy="863600"/>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fontAlgn="auto">
              <a:spcBef>
                <a:spcPts val="0"/>
              </a:spcBef>
              <a:spcAft>
                <a:spcPts val="0"/>
              </a:spcAft>
              <a:defRPr/>
            </a:pPr>
            <a:r>
              <a:rPr kumimoji="0" lang="en-US" altLang="zh-TW" b="1" dirty="0"/>
              <a:t>TB3</a:t>
            </a:r>
            <a:endParaRPr kumimoji="0" lang="zh-TW" altLang="en-US" b="1" dirty="0"/>
          </a:p>
        </p:txBody>
      </p:sp>
      <p:cxnSp>
        <p:nvCxnSpPr>
          <p:cNvPr id="9" name="直線單箭頭接點 8"/>
          <p:cNvCxnSpPr>
            <a:stCxn id="4" idx="2"/>
            <a:endCxn id="3" idx="0"/>
          </p:cNvCxnSpPr>
          <p:nvPr/>
        </p:nvCxnSpPr>
        <p:spPr>
          <a:xfrm>
            <a:off x="2808288" y="2627312"/>
            <a:ext cx="23812" cy="14970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367" name="文字方塊 9"/>
          <p:cNvSpPr txBox="1">
            <a:spLocks noChangeArrowheads="1"/>
          </p:cNvSpPr>
          <p:nvPr/>
        </p:nvSpPr>
        <p:spPr bwMode="auto">
          <a:xfrm>
            <a:off x="6875463" y="1784350"/>
            <a:ext cx="20762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 = NULL</a:t>
            </a:r>
            <a:endParaRPr lang="zh-TW" altLang="en-US" b="1">
              <a:latin typeface="+mn-lt"/>
            </a:endParaRPr>
          </a:p>
        </p:txBody>
      </p:sp>
      <p:cxnSp>
        <p:nvCxnSpPr>
          <p:cNvPr id="12" name="直線單箭頭接點 11"/>
          <p:cNvCxnSpPr>
            <a:stCxn id="6" idx="2"/>
            <a:endCxn id="3" idx="0"/>
          </p:cNvCxnSpPr>
          <p:nvPr/>
        </p:nvCxnSpPr>
        <p:spPr>
          <a:xfrm flipH="1">
            <a:off x="2832100" y="2627312"/>
            <a:ext cx="3503613" cy="14970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153" name="文字方塊 12"/>
          <p:cNvSpPr txBox="1">
            <a:spLocks noChangeArrowheads="1"/>
          </p:cNvSpPr>
          <p:nvPr/>
        </p:nvSpPr>
        <p:spPr bwMode="auto">
          <a:xfrm>
            <a:off x="0" y="3109912"/>
            <a:ext cx="22172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 = TB2 | 2</a:t>
            </a:r>
            <a:endParaRPr lang="zh-TW" altLang="en-US" b="1">
              <a:latin typeface="+mn-lt"/>
            </a:endParaRPr>
          </a:p>
        </p:txBody>
      </p:sp>
      <p:sp>
        <p:nvSpPr>
          <p:cNvPr id="15370" name="文字方塊 18"/>
          <p:cNvSpPr txBox="1">
            <a:spLocks noChangeArrowheads="1"/>
          </p:cNvSpPr>
          <p:nvPr/>
        </p:nvSpPr>
        <p:spPr bwMode="auto">
          <a:xfrm>
            <a:off x="3779838" y="3006725"/>
            <a:ext cx="22429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jmp_first = TB1 | 0 </a:t>
            </a:r>
            <a:endParaRPr lang="zh-TW" altLang="en-US" b="1">
              <a:latin typeface="+mn-lt"/>
            </a:endParaRPr>
          </a:p>
        </p:txBody>
      </p:sp>
      <p:cxnSp>
        <p:nvCxnSpPr>
          <p:cNvPr id="49" name="弧形接點 48"/>
          <p:cNvCxnSpPr>
            <a:stCxn id="4" idx="1"/>
            <a:endCxn id="3" idx="1"/>
          </p:cNvCxnSpPr>
          <p:nvPr/>
        </p:nvCxnSpPr>
        <p:spPr>
          <a:xfrm rot="10800000" flipH="1" flipV="1">
            <a:off x="2339975" y="2195512"/>
            <a:ext cx="23813" cy="2360613"/>
          </a:xfrm>
          <a:prstGeom prst="curvedConnector3">
            <a:avLst>
              <a:gd name="adj1" fmla="val -1468057"/>
            </a:avLst>
          </a:prstGeom>
          <a:ln>
            <a:prstDash val="dash"/>
            <a:tailEnd type="arrow"/>
          </a:ln>
        </p:spPr>
        <p:style>
          <a:lnRef idx="2">
            <a:schemeClr val="dk1"/>
          </a:lnRef>
          <a:fillRef idx="0">
            <a:schemeClr val="dk1"/>
          </a:fillRef>
          <a:effectRef idx="1">
            <a:schemeClr val="dk1"/>
          </a:effectRef>
          <a:fontRef idx="minor">
            <a:schemeClr val="tx1"/>
          </a:fontRef>
        </p:style>
      </p:cxnSp>
      <p:cxnSp>
        <p:nvCxnSpPr>
          <p:cNvPr id="14" name="弧形接點 13"/>
          <p:cNvCxnSpPr>
            <a:stCxn id="3" idx="3"/>
            <a:endCxn id="4" idx="3"/>
          </p:cNvCxnSpPr>
          <p:nvPr/>
        </p:nvCxnSpPr>
        <p:spPr>
          <a:xfrm flipH="1" flipV="1">
            <a:off x="3276600" y="2195512"/>
            <a:ext cx="23813" cy="2360613"/>
          </a:xfrm>
          <a:prstGeom prst="curvedConnector3">
            <a:avLst>
              <a:gd name="adj1" fmla="val -1468065"/>
            </a:avLst>
          </a:prstGeom>
          <a:ln>
            <a:prstDash val="dash"/>
            <a:tailEnd type="arrow"/>
          </a:ln>
        </p:spPr>
        <p:style>
          <a:lnRef idx="2">
            <a:schemeClr val="dk1"/>
          </a:lnRef>
          <a:fillRef idx="0">
            <a:schemeClr val="dk1"/>
          </a:fillRef>
          <a:effectRef idx="1">
            <a:schemeClr val="dk1"/>
          </a:effectRef>
          <a:fontRef idx="minor">
            <a:schemeClr val="tx1"/>
          </a:fontRef>
        </p:style>
      </p:cxnSp>
      <p:sp>
        <p:nvSpPr>
          <p:cNvPr id="13" name="文字方塊 18"/>
          <p:cNvSpPr txBox="1">
            <a:spLocks noChangeArrowheads="1"/>
          </p:cNvSpPr>
          <p:nvPr/>
        </p:nvSpPr>
        <p:spPr bwMode="auto">
          <a:xfrm>
            <a:off x="6530975" y="4278312"/>
            <a:ext cx="22429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jmp_first = TB3 | 0 </a:t>
            </a:r>
            <a:endParaRPr lang="zh-TW" altLang="en-US" b="1">
              <a:latin typeface="+mn-lt"/>
            </a:endParaRPr>
          </a:p>
        </p:txBody>
      </p:sp>
      <p:cxnSp>
        <p:nvCxnSpPr>
          <p:cNvPr id="15" name="弧形接點 14"/>
          <p:cNvCxnSpPr/>
          <p:nvPr/>
        </p:nvCxnSpPr>
        <p:spPr>
          <a:xfrm flipV="1">
            <a:off x="3317875" y="2195512"/>
            <a:ext cx="3503613" cy="2360613"/>
          </a:xfrm>
          <a:prstGeom prst="curvedConnector3">
            <a:avLst>
              <a:gd name="adj1" fmla="val 135208"/>
            </a:avLst>
          </a:prstGeom>
          <a:ln>
            <a:prstDash val="dash"/>
            <a:tailEnd type="arrow"/>
          </a:ln>
        </p:spPr>
        <p:style>
          <a:lnRef idx="2">
            <a:schemeClr val="dk1"/>
          </a:lnRef>
          <a:fillRef idx="0">
            <a:schemeClr val="dk1"/>
          </a:fillRef>
          <a:effectRef idx="1">
            <a:schemeClr val="dk1"/>
          </a:effectRef>
          <a:fontRef idx="minor">
            <a:schemeClr val="tx1"/>
          </a:fontRef>
        </p:style>
      </p:cxnSp>
      <p:sp>
        <p:nvSpPr>
          <p:cNvPr id="16" name="文字方塊 9"/>
          <p:cNvSpPr txBox="1">
            <a:spLocks noChangeArrowheads="1"/>
          </p:cNvSpPr>
          <p:nvPr/>
        </p:nvSpPr>
        <p:spPr bwMode="auto">
          <a:xfrm>
            <a:off x="3676650" y="1752600"/>
            <a:ext cx="22172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 = TB1 | 0</a:t>
            </a:r>
            <a:endParaRPr lang="zh-TW" altLang="en-US" b="1">
              <a:latin typeface="+mn-lt"/>
            </a:endParaRPr>
          </a:p>
        </p:txBody>
      </p:sp>
      <p:cxnSp>
        <p:nvCxnSpPr>
          <p:cNvPr id="17" name="直線單箭頭接點 16"/>
          <p:cNvCxnSpPr/>
          <p:nvPr/>
        </p:nvCxnSpPr>
        <p:spPr>
          <a:xfrm flipH="1">
            <a:off x="3294063" y="2193925"/>
            <a:ext cx="2590800" cy="0"/>
          </a:xfrm>
          <a:prstGeom prst="straightConnector1">
            <a:avLst/>
          </a:prstGeom>
          <a:ln>
            <a:prstDash val="dash"/>
            <a:tailEnd type="arrow"/>
          </a:ln>
        </p:spPr>
        <p:style>
          <a:lnRef idx="2">
            <a:schemeClr val="dk1"/>
          </a:lnRef>
          <a:fillRef idx="0">
            <a:schemeClr val="dk1"/>
          </a:fillRef>
          <a:effectRef idx="1">
            <a:schemeClr val="dk1"/>
          </a:effectRef>
          <a:fontRef idx="minor">
            <a:schemeClr val="tx1"/>
          </a:fontRef>
        </p:style>
      </p:cxnSp>
      <p:grpSp>
        <p:nvGrpSpPr>
          <p:cNvPr id="2" name="群組 1"/>
          <p:cNvGrpSpPr/>
          <p:nvPr/>
        </p:nvGrpSpPr>
        <p:grpSpPr>
          <a:xfrm>
            <a:off x="815975" y="5327650"/>
            <a:ext cx="7928913" cy="383619"/>
            <a:chOff x="815975" y="6294438"/>
            <a:chExt cx="7928913" cy="383619"/>
          </a:xfrm>
        </p:grpSpPr>
        <p:cxnSp>
          <p:nvCxnSpPr>
            <p:cNvPr id="18" name="直線接點 17"/>
            <p:cNvCxnSpPr/>
            <p:nvPr/>
          </p:nvCxnSpPr>
          <p:spPr>
            <a:xfrm>
              <a:off x="815975" y="6478588"/>
              <a:ext cx="1150938" cy="0"/>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5180013" y="6494463"/>
              <a:ext cx="1079500" cy="0"/>
            </a:xfrm>
            <a:prstGeom prst="line">
              <a:avLst/>
            </a:prstGeom>
          </p:spPr>
          <p:style>
            <a:lnRef idx="2">
              <a:schemeClr val="dk1"/>
            </a:lnRef>
            <a:fillRef idx="0">
              <a:schemeClr val="dk1"/>
            </a:fillRef>
            <a:effectRef idx="1">
              <a:schemeClr val="dk1"/>
            </a:effectRef>
            <a:fontRef idx="minor">
              <a:schemeClr val="tx1"/>
            </a:fontRef>
          </p:style>
        </p:cxnSp>
        <p:sp>
          <p:nvSpPr>
            <p:cNvPr id="6163" name="文字方塊 19"/>
            <p:cNvSpPr txBox="1">
              <a:spLocks noChangeArrowheads="1"/>
            </p:cNvSpPr>
            <p:nvPr/>
          </p:nvSpPr>
          <p:spPr bwMode="auto">
            <a:xfrm>
              <a:off x="2184400" y="6294438"/>
              <a:ext cx="2749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dirty="0" err="1">
                  <a:latin typeface="+mn-lt"/>
                </a:rPr>
                <a:t>struct</a:t>
              </a:r>
              <a:r>
                <a:rPr lang="en-US" altLang="zh-TW" b="1" dirty="0">
                  <a:latin typeface="+mn-lt"/>
                </a:rPr>
                <a:t> </a:t>
              </a:r>
              <a:r>
                <a:rPr lang="en-US" altLang="zh-TW" b="1" dirty="0" err="1">
                  <a:latin typeface="+mn-lt"/>
                </a:rPr>
                <a:t>TranslationBlock</a:t>
              </a:r>
              <a:endParaRPr lang="zh-TW" altLang="en-US" b="1" dirty="0">
                <a:latin typeface="+mn-lt"/>
              </a:endParaRPr>
            </a:p>
          </p:txBody>
        </p:sp>
        <p:sp>
          <p:nvSpPr>
            <p:cNvPr id="6164" name="文字方塊 20"/>
            <p:cNvSpPr txBox="1">
              <a:spLocks noChangeArrowheads="1"/>
            </p:cNvSpPr>
            <p:nvPr/>
          </p:nvSpPr>
          <p:spPr bwMode="auto">
            <a:xfrm>
              <a:off x="6546850" y="6308725"/>
              <a:ext cx="219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QEMU code cache</a:t>
              </a:r>
              <a:endParaRPr lang="zh-TW" altLang="en-US" b="1">
                <a:latin typeface="+mn-lt"/>
              </a:endParaRPr>
            </a:p>
          </p:txBody>
        </p:sp>
      </p:grpSp>
      <p:sp>
        <p:nvSpPr>
          <p:cNvPr id="5" name="投影片編號版面配置區 4"/>
          <p:cNvSpPr>
            <a:spLocks noGrp="1"/>
          </p:cNvSpPr>
          <p:nvPr>
            <p:ph type="sldNum" sz="quarter" idx="10"/>
          </p:nvPr>
        </p:nvSpPr>
        <p:spPr/>
        <p:txBody>
          <a:bodyPr/>
          <a:lstStyle/>
          <a:p>
            <a:pPr>
              <a:defRPr/>
            </a:pPr>
            <a:fld id="{CB139CEE-DE8A-418C-9023-16281E618043}" type="slidenum">
              <a:rPr lang="en-US" altLang="zh-TW" smtClean="0"/>
              <a:pPr>
                <a:defRPr/>
              </a:pPr>
              <a:t>50</a:t>
            </a:fld>
            <a:endParaRPr lang="en-US" altLang="zh-TW"/>
          </a:p>
        </p:txBody>
      </p:sp>
    </p:spTree>
    <p:extLst>
      <p:ext uri="{BB962C8B-B14F-4D97-AF65-F5344CB8AC3E}">
        <p14:creationId xmlns:p14="http://schemas.microsoft.com/office/powerpoint/2010/main" val="2509707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70"/>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7"/>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5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p:bldP spid="15370" grpId="0"/>
      <p:bldP spid="13" grpId="0"/>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標題 1"/>
          <p:cNvSpPr>
            <a:spLocks noGrp="1"/>
          </p:cNvSpPr>
          <p:nvPr>
            <p:ph type="title"/>
          </p:nvPr>
        </p:nvSpPr>
        <p:spPr>
          <a:extLst>
            <a:ext uri="{91240B29-F687-4F45-9708-019B960494DF}">
              <a14:hiddenLine xmlns:a14="http://schemas.microsoft.com/office/drawing/2010/main" w="9525">
                <a:solidFill>
                  <a:srgbClr val="000000"/>
                </a:solidFill>
                <a:prstDash val="dash"/>
                <a:miter lim="800000"/>
                <a:headEnd/>
                <a:tailEnd/>
              </a14:hiddenLine>
            </a:ext>
          </a:extLst>
        </p:spPr>
        <p:txBody>
          <a:bodyPr/>
          <a:lstStyle/>
          <a:p>
            <a:r>
              <a:rPr lang="en-US" altLang="zh-TW" dirty="0" smtClean="0">
                <a:latin typeface="+mn-lt"/>
              </a:rPr>
              <a:t>Example (remove)</a:t>
            </a:r>
            <a:endParaRPr lang="zh-TW" altLang="en-US" dirty="0" smtClean="0">
              <a:latin typeface="+mn-lt"/>
            </a:endParaRPr>
          </a:p>
        </p:txBody>
      </p:sp>
      <p:sp>
        <p:nvSpPr>
          <p:cNvPr id="3" name="圓角矩形 2"/>
          <p:cNvSpPr/>
          <p:nvPr/>
        </p:nvSpPr>
        <p:spPr>
          <a:xfrm>
            <a:off x="2363788" y="4113213"/>
            <a:ext cx="936625" cy="863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TB2</a:t>
            </a:r>
            <a:endParaRPr kumimoji="0" lang="zh-TW" altLang="en-US" b="1" dirty="0"/>
          </a:p>
        </p:txBody>
      </p:sp>
      <p:sp>
        <p:nvSpPr>
          <p:cNvPr id="4" name="圓角矩形 3"/>
          <p:cNvSpPr/>
          <p:nvPr/>
        </p:nvSpPr>
        <p:spPr>
          <a:xfrm>
            <a:off x="2339975" y="1752600"/>
            <a:ext cx="936625" cy="863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r>
              <a:rPr kumimoji="0" lang="en-US" altLang="zh-TW" b="1" dirty="0"/>
              <a:t>TB1</a:t>
            </a:r>
            <a:endParaRPr kumimoji="0" lang="zh-TW" altLang="en-US" b="1" dirty="0"/>
          </a:p>
        </p:txBody>
      </p:sp>
      <p:sp>
        <p:nvSpPr>
          <p:cNvPr id="6" name="圓角矩形 5"/>
          <p:cNvSpPr/>
          <p:nvPr/>
        </p:nvSpPr>
        <p:spPr>
          <a:xfrm>
            <a:off x="5867400" y="1752600"/>
            <a:ext cx="936625" cy="863600"/>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fontAlgn="auto">
              <a:spcBef>
                <a:spcPts val="0"/>
              </a:spcBef>
              <a:spcAft>
                <a:spcPts val="0"/>
              </a:spcAft>
              <a:defRPr/>
            </a:pPr>
            <a:r>
              <a:rPr kumimoji="0" lang="en-US" altLang="zh-TW" b="1" dirty="0"/>
              <a:t>TB3</a:t>
            </a:r>
            <a:endParaRPr kumimoji="0" lang="zh-TW" altLang="en-US" b="1" dirty="0"/>
          </a:p>
        </p:txBody>
      </p:sp>
      <p:cxnSp>
        <p:nvCxnSpPr>
          <p:cNvPr id="9" name="直線單箭頭接點 8"/>
          <p:cNvCxnSpPr>
            <a:stCxn id="4" idx="2"/>
            <a:endCxn id="3" idx="0"/>
          </p:cNvCxnSpPr>
          <p:nvPr/>
        </p:nvCxnSpPr>
        <p:spPr>
          <a:xfrm>
            <a:off x="2808288" y="2616200"/>
            <a:ext cx="23812" cy="14970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199" name="文字方塊 9"/>
          <p:cNvSpPr txBox="1">
            <a:spLocks noChangeArrowheads="1"/>
          </p:cNvSpPr>
          <p:nvPr/>
        </p:nvSpPr>
        <p:spPr bwMode="auto">
          <a:xfrm>
            <a:off x="6875463" y="1773238"/>
            <a:ext cx="20762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 = NULL</a:t>
            </a:r>
            <a:endParaRPr lang="zh-TW" altLang="en-US" b="1">
              <a:latin typeface="+mn-lt"/>
            </a:endParaRPr>
          </a:p>
        </p:txBody>
      </p:sp>
      <p:sp>
        <p:nvSpPr>
          <p:cNvPr id="8200" name="文字方塊 12"/>
          <p:cNvSpPr txBox="1">
            <a:spLocks noChangeArrowheads="1"/>
          </p:cNvSpPr>
          <p:nvPr/>
        </p:nvSpPr>
        <p:spPr bwMode="auto">
          <a:xfrm>
            <a:off x="0" y="3098800"/>
            <a:ext cx="22172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jmp_next = TB2 | 2</a:t>
            </a:r>
            <a:endParaRPr lang="zh-TW" altLang="en-US" b="1">
              <a:latin typeface="+mn-lt"/>
            </a:endParaRPr>
          </a:p>
        </p:txBody>
      </p:sp>
      <p:sp>
        <p:nvSpPr>
          <p:cNvPr id="8201" name="文字方塊 18"/>
          <p:cNvSpPr txBox="1">
            <a:spLocks noChangeArrowheads="1"/>
          </p:cNvSpPr>
          <p:nvPr/>
        </p:nvSpPr>
        <p:spPr bwMode="auto">
          <a:xfrm>
            <a:off x="3779838" y="2995613"/>
            <a:ext cx="22429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jmp_first = TB1 | 0 </a:t>
            </a:r>
            <a:endParaRPr lang="zh-TW" altLang="en-US" b="1">
              <a:latin typeface="+mn-lt"/>
            </a:endParaRPr>
          </a:p>
        </p:txBody>
      </p:sp>
      <p:cxnSp>
        <p:nvCxnSpPr>
          <p:cNvPr id="49" name="弧形接點 48"/>
          <p:cNvCxnSpPr>
            <a:stCxn id="4" idx="1"/>
            <a:endCxn id="3" idx="1"/>
          </p:cNvCxnSpPr>
          <p:nvPr/>
        </p:nvCxnSpPr>
        <p:spPr>
          <a:xfrm rot="10800000" flipH="1" flipV="1">
            <a:off x="2339975" y="2184400"/>
            <a:ext cx="23813" cy="2360613"/>
          </a:xfrm>
          <a:prstGeom prst="curvedConnector3">
            <a:avLst>
              <a:gd name="adj1" fmla="val -1468057"/>
            </a:avLst>
          </a:prstGeom>
          <a:ln>
            <a:prstDash val="dash"/>
            <a:tailEnd type="arrow"/>
          </a:ln>
        </p:spPr>
        <p:style>
          <a:lnRef idx="2">
            <a:schemeClr val="dk1"/>
          </a:lnRef>
          <a:fillRef idx="0">
            <a:schemeClr val="dk1"/>
          </a:fillRef>
          <a:effectRef idx="1">
            <a:schemeClr val="dk1"/>
          </a:effectRef>
          <a:fontRef idx="minor">
            <a:schemeClr val="tx1"/>
          </a:fontRef>
        </p:style>
      </p:cxnSp>
      <p:cxnSp>
        <p:nvCxnSpPr>
          <p:cNvPr id="14" name="弧形接點 13"/>
          <p:cNvCxnSpPr>
            <a:stCxn id="3" idx="3"/>
            <a:endCxn id="4" idx="3"/>
          </p:cNvCxnSpPr>
          <p:nvPr/>
        </p:nvCxnSpPr>
        <p:spPr>
          <a:xfrm flipH="1" flipV="1">
            <a:off x="3276600" y="2184400"/>
            <a:ext cx="23813" cy="2360613"/>
          </a:xfrm>
          <a:prstGeom prst="curvedConnector3">
            <a:avLst>
              <a:gd name="adj1" fmla="val -1468065"/>
            </a:avLst>
          </a:prstGeom>
          <a:ln>
            <a:prstDash val="dash"/>
            <a:tailEnd type="arrow"/>
          </a:ln>
        </p:spPr>
        <p:style>
          <a:lnRef idx="2">
            <a:schemeClr val="dk1"/>
          </a:lnRef>
          <a:fillRef idx="0">
            <a:schemeClr val="dk1"/>
          </a:fillRef>
          <a:effectRef idx="1">
            <a:schemeClr val="dk1"/>
          </a:effectRef>
          <a:fontRef idx="minor">
            <a:schemeClr val="tx1"/>
          </a:fontRef>
        </p:style>
      </p:cxnSp>
      <p:cxnSp>
        <p:nvCxnSpPr>
          <p:cNvPr id="12" name="直線單箭頭接點 11"/>
          <p:cNvCxnSpPr/>
          <p:nvPr/>
        </p:nvCxnSpPr>
        <p:spPr>
          <a:xfrm flipH="1">
            <a:off x="2832100" y="2616200"/>
            <a:ext cx="3503613" cy="14970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nvGrpSpPr>
          <p:cNvPr id="17" name="群組 16"/>
          <p:cNvGrpSpPr/>
          <p:nvPr/>
        </p:nvGrpSpPr>
        <p:grpSpPr>
          <a:xfrm>
            <a:off x="815975" y="5316538"/>
            <a:ext cx="7928913" cy="383619"/>
            <a:chOff x="815975" y="6294438"/>
            <a:chExt cx="7928913" cy="383619"/>
          </a:xfrm>
        </p:grpSpPr>
        <p:cxnSp>
          <p:nvCxnSpPr>
            <p:cNvPr id="18" name="直線接點 17"/>
            <p:cNvCxnSpPr/>
            <p:nvPr/>
          </p:nvCxnSpPr>
          <p:spPr>
            <a:xfrm>
              <a:off x="815975" y="6478588"/>
              <a:ext cx="1150938" cy="0"/>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5180013" y="6494463"/>
              <a:ext cx="1079500" cy="0"/>
            </a:xfrm>
            <a:prstGeom prst="line">
              <a:avLst/>
            </a:prstGeom>
          </p:spPr>
          <p:style>
            <a:lnRef idx="2">
              <a:schemeClr val="dk1"/>
            </a:lnRef>
            <a:fillRef idx="0">
              <a:schemeClr val="dk1"/>
            </a:fillRef>
            <a:effectRef idx="1">
              <a:schemeClr val="dk1"/>
            </a:effectRef>
            <a:fontRef idx="minor">
              <a:schemeClr val="tx1"/>
            </a:fontRef>
          </p:style>
        </p:cxnSp>
        <p:sp>
          <p:nvSpPr>
            <p:cNvPr id="20" name="文字方塊 19"/>
            <p:cNvSpPr txBox="1">
              <a:spLocks noChangeArrowheads="1"/>
            </p:cNvSpPr>
            <p:nvPr/>
          </p:nvSpPr>
          <p:spPr bwMode="auto">
            <a:xfrm>
              <a:off x="2184400" y="6294438"/>
              <a:ext cx="27495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dirty="0" err="1">
                  <a:latin typeface="+mn-lt"/>
                </a:rPr>
                <a:t>struct</a:t>
              </a:r>
              <a:r>
                <a:rPr lang="en-US" altLang="zh-TW" b="1" dirty="0">
                  <a:latin typeface="+mn-lt"/>
                </a:rPr>
                <a:t> </a:t>
              </a:r>
              <a:r>
                <a:rPr lang="en-US" altLang="zh-TW" b="1" dirty="0" err="1">
                  <a:latin typeface="+mn-lt"/>
                </a:rPr>
                <a:t>TranslationBlock</a:t>
              </a:r>
              <a:endParaRPr lang="zh-TW" altLang="en-US" b="1" dirty="0">
                <a:latin typeface="+mn-lt"/>
              </a:endParaRPr>
            </a:p>
          </p:txBody>
        </p:sp>
        <p:sp>
          <p:nvSpPr>
            <p:cNvPr id="21" name="文字方塊 20"/>
            <p:cNvSpPr txBox="1">
              <a:spLocks noChangeArrowheads="1"/>
            </p:cNvSpPr>
            <p:nvPr/>
          </p:nvSpPr>
          <p:spPr bwMode="auto">
            <a:xfrm>
              <a:off x="6546850" y="6308725"/>
              <a:ext cx="219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新細明體" panose="02020500000000000000" pitchFamily="18" charset="-120"/>
                </a:defRPr>
              </a:lvl1pPr>
              <a:lvl2pPr marL="742950" indent="-285750">
                <a:defRPr>
                  <a:solidFill>
                    <a:schemeClr val="tx1"/>
                  </a:solidFill>
                  <a:latin typeface="Calibri" panose="020F0502020204030204" pitchFamily="34" charset="0"/>
                  <a:ea typeface="新細明體" panose="02020500000000000000" pitchFamily="18" charset="-120"/>
                </a:defRPr>
              </a:lvl2pPr>
              <a:lvl3pPr marL="1143000" indent="-228600">
                <a:defRPr>
                  <a:solidFill>
                    <a:schemeClr val="tx1"/>
                  </a:solidFill>
                  <a:latin typeface="Calibri" panose="020F0502020204030204" pitchFamily="34" charset="0"/>
                  <a:ea typeface="新細明體" panose="02020500000000000000" pitchFamily="18" charset="-120"/>
                </a:defRPr>
              </a:lvl3pPr>
              <a:lvl4pPr marL="1600200" indent="-228600">
                <a:defRPr>
                  <a:solidFill>
                    <a:schemeClr val="tx1"/>
                  </a:solidFill>
                  <a:latin typeface="Calibri" panose="020F0502020204030204" pitchFamily="34" charset="0"/>
                  <a:ea typeface="新細明體" panose="02020500000000000000" pitchFamily="18" charset="-120"/>
                </a:defRPr>
              </a:lvl4pPr>
              <a:lvl5pPr marL="2057400" indent="-228600">
                <a:defRPr>
                  <a:solidFill>
                    <a:schemeClr val="tx1"/>
                  </a:solidFill>
                  <a:latin typeface="Calibri" panose="020F0502020204030204" pitchFamily="34" charset="0"/>
                  <a:ea typeface="新細明體" panose="02020500000000000000" pitchFamily="18" charset="-120"/>
                </a:defRPr>
              </a:lvl5pPr>
              <a:lvl6pPr marL="25146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fontAlgn="base">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r>
                <a:rPr lang="en-US" altLang="zh-TW" b="1">
                  <a:latin typeface="+mn-lt"/>
                </a:rPr>
                <a:t>QEMU code cache</a:t>
              </a:r>
              <a:endParaRPr lang="zh-TW" altLang="en-US" b="1">
                <a:latin typeface="+mn-lt"/>
              </a:endParaRPr>
            </a:p>
          </p:txBody>
        </p:sp>
      </p:grpSp>
      <p:sp>
        <p:nvSpPr>
          <p:cNvPr id="2" name="投影片編號版面配置區 1"/>
          <p:cNvSpPr>
            <a:spLocks noGrp="1"/>
          </p:cNvSpPr>
          <p:nvPr>
            <p:ph type="sldNum" sz="quarter" idx="10"/>
          </p:nvPr>
        </p:nvSpPr>
        <p:spPr/>
        <p:txBody>
          <a:bodyPr/>
          <a:lstStyle/>
          <a:p>
            <a:pPr>
              <a:defRPr/>
            </a:pPr>
            <a:fld id="{CB139CEE-DE8A-418C-9023-16281E618043}" type="slidenum">
              <a:rPr lang="en-US" altLang="zh-TW" smtClean="0"/>
              <a:pPr>
                <a:defRPr/>
              </a:pPr>
              <a:t>51</a:t>
            </a:fld>
            <a:endParaRPr lang="en-US" altLang="zh-TW"/>
          </a:p>
        </p:txBody>
      </p:sp>
    </p:spTree>
    <p:extLst>
      <p:ext uri="{BB962C8B-B14F-4D97-AF65-F5344CB8AC3E}">
        <p14:creationId xmlns:p14="http://schemas.microsoft.com/office/powerpoint/2010/main" val="3352667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mn-lt"/>
              </a:rPr>
              <a:t>Address</a:t>
            </a:r>
            <a:endParaRPr lang="zh-TW" altLang="en-US" dirty="0">
              <a:latin typeface="+mn-lt"/>
            </a:endParaRPr>
          </a:p>
        </p:txBody>
      </p:sp>
      <p:sp>
        <p:nvSpPr>
          <p:cNvPr id="3" name="內容版面配置區 2"/>
          <p:cNvSpPr>
            <a:spLocks noGrp="1"/>
          </p:cNvSpPr>
          <p:nvPr>
            <p:ph idx="1"/>
          </p:nvPr>
        </p:nvSpPr>
        <p:spPr/>
        <p:txBody>
          <a:bodyPr/>
          <a:lstStyle/>
          <a:p>
            <a:r>
              <a:rPr lang="en-US" altLang="zh-TW" dirty="0" smtClean="0">
                <a:latin typeface="+mn-lt"/>
              </a:rPr>
              <a:t>Guest Virtual Address (GVA)</a:t>
            </a:r>
          </a:p>
          <a:p>
            <a:r>
              <a:rPr lang="en-US" altLang="zh-TW" dirty="0" smtClean="0">
                <a:latin typeface="+mn-lt"/>
              </a:rPr>
              <a:t>Guest Physic Address (GPA)</a:t>
            </a:r>
          </a:p>
          <a:p>
            <a:r>
              <a:rPr lang="en-US" altLang="zh-TW" dirty="0" smtClean="0">
                <a:latin typeface="+mn-lt"/>
              </a:rPr>
              <a:t>Host Virtual Address (HVA)</a:t>
            </a:r>
          </a:p>
          <a:p>
            <a:r>
              <a:rPr lang="en-US" altLang="zh-TW" dirty="0" smtClean="0">
                <a:latin typeface="+mn-lt"/>
              </a:rPr>
              <a:t>Host Physic Address (HPA)</a:t>
            </a:r>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52</a:t>
            </a:fld>
            <a:endParaRPr lang="en-US" dirty="0">
              <a:latin typeface="+mn-lt"/>
            </a:endParaRPr>
          </a:p>
        </p:txBody>
      </p:sp>
      <p:grpSp>
        <p:nvGrpSpPr>
          <p:cNvPr id="26" name="群組 25"/>
          <p:cNvGrpSpPr/>
          <p:nvPr/>
        </p:nvGrpSpPr>
        <p:grpSpPr>
          <a:xfrm>
            <a:off x="866441" y="4261498"/>
            <a:ext cx="6929340" cy="1107995"/>
            <a:chOff x="866441" y="4325554"/>
            <a:chExt cx="6929340" cy="1107995"/>
          </a:xfrm>
        </p:grpSpPr>
        <p:sp>
          <p:nvSpPr>
            <p:cNvPr id="5" name="矩形 4"/>
            <p:cNvSpPr/>
            <p:nvPr/>
          </p:nvSpPr>
          <p:spPr>
            <a:xfrm>
              <a:off x="866441" y="4332553"/>
              <a:ext cx="914400" cy="720000"/>
            </a:xfrm>
            <a:prstGeom prst="rect">
              <a:avLst/>
            </a:prstGeom>
            <a:solidFill>
              <a:schemeClr val="accent4"/>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GVA</a:t>
              </a:r>
              <a:endParaRPr lang="zh-TW" altLang="en-US" dirty="0"/>
            </a:p>
          </p:txBody>
        </p:sp>
        <p:sp>
          <p:nvSpPr>
            <p:cNvPr id="6" name="矩形 5"/>
            <p:cNvSpPr/>
            <p:nvPr/>
          </p:nvSpPr>
          <p:spPr>
            <a:xfrm>
              <a:off x="3115629" y="4332553"/>
              <a:ext cx="914400" cy="720000"/>
            </a:xfrm>
            <a:prstGeom prst="rect">
              <a:avLst/>
            </a:prstGeom>
            <a:solidFill>
              <a:schemeClr val="accent4"/>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GPA</a:t>
              </a:r>
              <a:endParaRPr lang="zh-TW" altLang="en-US" dirty="0"/>
            </a:p>
          </p:txBody>
        </p:sp>
        <p:sp>
          <p:nvSpPr>
            <p:cNvPr id="7" name="矩形 6"/>
            <p:cNvSpPr/>
            <p:nvPr/>
          </p:nvSpPr>
          <p:spPr>
            <a:xfrm>
              <a:off x="5001487" y="4332553"/>
              <a:ext cx="914400" cy="720000"/>
            </a:xfrm>
            <a:prstGeom prst="rect">
              <a:avLst/>
            </a:prstGeom>
            <a:solidFill>
              <a:schemeClr val="accent4"/>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HVA</a:t>
              </a:r>
              <a:endParaRPr lang="zh-TW" altLang="en-US" dirty="0"/>
            </a:p>
          </p:txBody>
        </p:sp>
        <p:sp>
          <p:nvSpPr>
            <p:cNvPr id="8" name="矩形 7"/>
            <p:cNvSpPr/>
            <p:nvPr/>
          </p:nvSpPr>
          <p:spPr>
            <a:xfrm>
              <a:off x="6881381" y="4325554"/>
              <a:ext cx="914400" cy="720000"/>
            </a:xfrm>
            <a:prstGeom prst="rect">
              <a:avLst/>
            </a:prstGeom>
            <a:solidFill>
              <a:schemeClr val="accent4"/>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HPA</a:t>
              </a:r>
              <a:endParaRPr lang="zh-TW" altLang="en-US" dirty="0"/>
            </a:p>
          </p:txBody>
        </p:sp>
        <p:cxnSp>
          <p:nvCxnSpPr>
            <p:cNvPr id="10" name="直線單箭頭接點 9"/>
            <p:cNvCxnSpPr>
              <a:stCxn id="5" idx="3"/>
              <a:endCxn id="6" idx="1"/>
            </p:cNvCxnSpPr>
            <p:nvPr/>
          </p:nvCxnSpPr>
          <p:spPr>
            <a:xfrm>
              <a:off x="1780841" y="4692553"/>
              <a:ext cx="1334788" cy="0"/>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a:stCxn id="6" idx="3"/>
              <a:endCxn id="7" idx="1"/>
            </p:cNvCxnSpPr>
            <p:nvPr/>
          </p:nvCxnSpPr>
          <p:spPr>
            <a:xfrm>
              <a:off x="4030029" y="4692553"/>
              <a:ext cx="971458" cy="0"/>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7" idx="3"/>
              <a:endCxn id="8" idx="1"/>
            </p:cNvCxnSpPr>
            <p:nvPr/>
          </p:nvCxnSpPr>
          <p:spPr>
            <a:xfrm flipV="1">
              <a:off x="5915887" y="4685554"/>
              <a:ext cx="965494" cy="6999"/>
            </a:xfrm>
            <a:prstGeom prst="straightConnector1">
              <a:avLst/>
            </a:prstGeom>
            <a:ln w="381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1290603" y="5064217"/>
              <a:ext cx="2165978" cy="369332"/>
            </a:xfrm>
            <a:prstGeom prst="rect">
              <a:avLst/>
            </a:prstGeom>
            <a:noFill/>
          </p:spPr>
          <p:txBody>
            <a:bodyPr wrap="none" rtlCol="0">
              <a:spAutoFit/>
            </a:bodyPr>
            <a:lstStyle/>
            <a:p>
              <a:r>
                <a:rPr lang="en-US" altLang="zh-TW" dirty="0" smtClean="0">
                  <a:latin typeface="+mn-lt"/>
                </a:rPr>
                <a:t>guest </a:t>
              </a:r>
              <a:r>
                <a:rPr lang="en-US" altLang="zh-TW" dirty="0" err="1" smtClean="0">
                  <a:latin typeface="+mn-lt"/>
                </a:rPr>
                <a:t>OS+softmmu</a:t>
              </a:r>
              <a:endParaRPr lang="zh-TW" altLang="en-US" dirty="0">
                <a:latin typeface="+mn-lt"/>
              </a:endParaRPr>
            </a:p>
          </p:txBody>
        </p:sp>
        <p:sp>
          <p:nvSpPr>
            <p:cNvPr id="18" name="文字方塊 17"/>
            <p:cNvSpPr txBox="1"/>
            <p:nvPr/>
          </p:nvSpPr>
          <p:spPr>
            <a:xfrm>
              <a:off x="4116289" y="4341375"/>
              <a:ext cx="744756" cy="369332"/>
            </a:xfrm>
            <a:prstGeom prst="rect">
              <a:avLst/>
            </a:prstGeom>
            <a:noFill/>
          </p:spPr>
          <p:txBody>
            <a:bodyPr wrap="none" rtlCol="0">
              <a:spAutoFit/>
            </a:bodyPr>
            <a:lstStyle/>
            <a:p>
              <a:r>
                <a:rPr lang="en-US" altLang="zh-TW" dirty="0" smtClean="0">
                  <a:latin typeface="+mn-lt"/>
                </a:rPr>
                <a:t>offset</a:t>
              </a:r>
            </a:p>
          </p:txBody>
        </p:sp>
        <p:sp>
          <p:nvSpPr>
            <p:cNvPr id="19" name="文字方塊 18"/>
            <p:cNvSpPr txBox="1"/>
            <p:nvPr/>
          </p:nvSpPr>
          <p:spPr>
            <a:xfrm>
              <a:off x="5687167" y="5064217"/>
              <a:ext cx="1537600" cy="369332"/>
            </a:xfrm>
            <a:prstGeom prst="rect">
              <a:avLst/>
            </a:prstGeom>
            <a:noFill/>
          </p:spPr>
          <p:txBody>
            <a:bodyPr wrap="none" rtlCol="0">
              <a:spAutoFit/>
            </a:bodyPr>
            <a:lstStyle/>
            <a:p>
              <a:r>
                <a:rPr lang="en-US" altLang="zh-TW" dirty="0" smtClean="0">
                  <a:latin typeface="+mn-lt"/>
                </a:rPr>
                <a:t>host OS+HW</a:t>
              </a:r>
              <a:endParaRPr lang="zh-TW" altLang="en-US" dirty="0">
                <a:latin typeface="+mn-lt"/>
              </a:endParaRPr>
            </a:p>
          </p:txBody>
        </p:sp>
      </p:grpSp>
    </p:spTree>
    <p:extLst>
      <p:ext uri="{BB962C8B-B14F-4D97-AF65-F5344CB8AC3E}">
        <p14:creationId xmlns:p14="http://schemas.microsoft.com/office/powerpoint/2010/main" val="317150108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p:txBody>
          <a:bodyPr/>
          <a:lstStyle/>
          <a:p>
            <a:r>
              <a:rPr lang="en-US" altLang="zh-TW" dirty="0" err="1" smtClean="0">
                <a:latin typeface="+mn-lt"/>
              </a:rPr>
              <a:t>HSAemu</a:t>
            </a:r>
            <a:r>
              <a:rPr lang="en-US" altLang="zh-TW" dirty="0" smtClean="0">
                <a:latin typeface="+mn-lt"/>
              </a:rPr>
              <a:t> </a:t>
            </a:r>
            <a:r>
              <a:rPr lang="en-US" altLang="zh-TW" dirty="0">
                <a:latin typeface="+mn-lt"/>
              </a:rPr>
              <a:t>Introduction</a:t>
            </a:r>
            <a:endParaRPr lang="zh-TW" altLang="en-US" dirty="0">
              <a:latin typeface="+mn-lt"/>
            </a:endParaRPr>
          </a:p>
        </p:txBody>
      </p:sp>
      <p:sp>
        <p:nvSpPr>
          <p:cNvPr id="5" name="副標題 4"/>
          <p:cNvSpPr>
            <a:spLocks noGrp="1"/>
          </p:cNvSpPr>
          <p:nvPr>
            <p:ph type="subTitle" idx="1"/>
          </p:nvPr>
        </p:nvSpPr>
        <p:spPr/>
        <p:txBody>
          <a:bodyPr/>
          <a:lstStyle/>
          <a:p>
            <a:endParaRPr lang="zh-TW" altLang="en-US">
              <a:latin typeface="+mn-lt"/>
            </a:endParaRPr>
          </a:p>
        </p:txBody>
      </p:sp>
    </p:spTree>
    <p:extLst>
      <p:ext uri="{BB962C8B-B14F-4D97-AF65-F5344CB8AC3E}">
        <p14:creationId xmlns:p14="http://schemas.microsoft.com/office/powerpoint/2010/main" val="7297036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991351" cy="692150"/>
          </a:xfrm>
        </p:spPr>
        <p:txBody>
          <a:bodyPr/>
          <a:lstStyle/>
          <a:p>
            <a:r>
              <a:rPr lang="en-US" dirty="0" smtClean="0">
                <a:latin typeface="+mn-lt"/>
              </a:rPr>
              <a:t>What Is </a:t>
            </a:r>
            <a:r>
              <a:rPr lang="en-US" dirty="0" err="1" smtClean="0">
                <a:latin typeface="+mn-lt"/>
              </a:rPr>
              <a:t>HSAemu</a:t>
            </a:r>
            <a:endParaRPr lang="en-US" dirty="0">
              <a:latin typeface="+mn-lt"/>
            </a:endParaRPr>
          </a:p>
        </p:txBody>
      </p:sp>
      <p:pic>
        <p:nvPicPr>
          <p:cNvPr id="4" name="Picture 2" descr="E:\Quardia\Quardia Client Folder - Active\AMD\SQUARE png resource\AMD Content background square archi.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28328" y="1556792"/>
            <a:ext cx="2615672" cy="3487563"/>
          </a:xfrm>
          <a:prstGeom prst="rect">
            <a:avLst/>
          </a:prstGeom>
          <a:noFill/>
          <a:extLst>
            <a:ext uri="{909E8E84-426E-40DD-AFC4-6F175D3DCCD1}">
              <a14:hiddenFill xmlns:a14="http://schemas.microsoft.com/office/drawing/2010/main">
                <a:solidFill>
                  <a:srgbClr val="FFFFFF"/>
                </a:solidFill>
              </a14:hiddenFill>
            </a:ext>
          </a:extLst>
        </p:spPr>
      </p:pic>
      <p:sp>
        <p:nvSpPr>
          <p:cNvPr id="5" name="投影片編號版面配置區 4"/>
          <p:cNvSpPr>
            <a:spLocks noGrp="1"/>
          </p:cNvSpPr>
          <p:nvPr>
            <p:ph type="sldNum" sz="quarter" idx="10"/>
          </p:nvPr>
        </p:nvSpPr>
        <p:spPr/>
        <p:txBody>
          <a:bodyPr/>
          <a:lstStyle/>
          <a:p>
            <a:pPr>
              <a:defRPr/>
            </a:pPr>
            <a:fld id="{1A9115C5-2FF4-4A45-B75E-C3C89F0A7A51}" type="slidenum">
              <a:rPr lang="en-US" altLang="zh-TW" smtClean="0">
                <a:latin typeface="+mn-lt"/>
              </a:rPr>
              <a:pPr>
                <a:defRPr/>
              </a:pPr>
              <a:t>54</a:t>
            </a:fld>
            <a:endParaRPr lang="en-US" altLang="zh-TW">
              <a:latin typeface="+mn-lt"/>
            </a:endParaRPr>
          </a:p>
        </p:txBody>
      </p:sp>
      <p:sp>
        <p:nvSpPr>
          <p:cNvPr id="6" name="內容版面配置區 2"/>
          <p:cNvSpPr txBox="1">
            <a:spLocks/>
          </p:cNvSpPr>
          <p:nvPr/>
        </p:nvSpPr>
        <p:spPr bwMode="auto">
          <a:xfrm>
            <a:off x="107504" y="1268760"/>
            <a:ext cx="6804248" cy="47026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0" hangingPunct="0">
              <a:spcBef>
                <a:spcPts val="0"/>
              </a:spcBef>
              <a:buClr>
                <a:srgbClr val="0000FF"/>
              </a:buClr>
              <a:buSzPct val="80000"/>
              <a:buFont typeface="Wingdings" pitchFamily="2" charset="2"/>
              <a:buChar char="l"/>
            </a:pPr>
            <a:r>
              <a:rPr lang="en-US" altLang="zh-TW" dirty="0" err="1" smtClean="0">
                <a:latin typeface="+mn-lt"/>
              </a:rPr>
              <a:t>HSAemu</a:t>
            </a:r>
            <a:r>
              <a:rPr lang="en-US" altLang="zh-TW" dirty="0" smtClean="0">
                <a:latin typeface="+mn-lt"/>
              </a:rPr>
              <a:t> is a </a:t>
            </a:r>
            <a:r>
              <a:rPr lang="en-US" altLang="zh-TW" dirty="0" smtClean="0">
                <a:solidFill>
                  <a:srgbClr val="FF0000"/>
                </a:solidFill>
                <a:latin typeface="+mn-lt"/>
              </a:rPr>
              <a:t>full system emulator</a:t>
            </a:r>
            <a:r>
              <a:rPr lang="en-US" altLang="zh-TW" dirty="0" smtClean="0">
                <a:latin typeface="+mn-lt"/>
              </a:rPr>
              <a:t> that supports the following HSA features</a:t>
            </a:r>
          </a:p>
          <a:p>
            <a:pPr marL="800100" lvl="1" indent="-342900" eaLnBrk="0" hangingPunct="0">
              <a:spcBef>
                <a:spcPts val="0"/>
              </a:spcBef>
              <a:buClr>
                <a:srgbClr val="0000FF"/>
              </a:buClr>
              <a:buSzPct val="80000"/>
              <a:buFont typeface="Calibri" pitchFamily="34" charset="0"/>
              <a:buChar char="–"/>
            </a:pPr>
            <a:r>
              <a:rPr lang="en-US" altLang="zh-TW" sz="2000" dirty="0" smtClean="0">
                <a:latin typeface="+mn-lt"/>
              </a:rPr>
              <a:t>Shared virtual memory between CPU and GPU</a:t>
            </a:r>
          </a:p>
          <a:p>
            <a:pPr marL="800100" lvl="1" indent="-342900" eaLnBrk="0" hangingPunct="0">
              <a:spcBef>
                <a:spcPts val="0"/>
              </a:spcBef>
              <a:buClr>
                <a:srgbClr val="0000FF"/>
              </a:buClr>
              <a:buSzPct val="80000"/>
              <a:buFont typeface="Calibri" pitchFamily="34" charset="0"/>
              <a:buChar char="–"/>
            </a:pPr>
            <a:r>
              <a:rPr lang="en-US" altLang="zh-TW" sz="2000" dirty="0" smtClean="0">
                <a:latin typeface="+mn-lt"/>
              </a:rPr>
              <a:t>Memory based signaling and synchronization</a:t>
            </a:r>
          </a:p>
          <a:p>
            <a:pPr marL="800100" lvl="1" indent="-342900" eaLnBrk="0" hangingPunct="0">
              <a:spcBef>
                <a:spcPts val="0"/>
              </a:spcBef>
              <a:buClr>
                <a:srgbClr val="0000FF"/>
              </a:buClr>
              <a:buSzPct val="80000"/>
              <a:buFont typeface="Calibri" pitchFamily="34" charset="0"/>
              <a:buChar char="–"/>
            </a:pPr>
            <a:r>
              <a:rPr lang="en-US" altLang="zh-TW" sz="2000" dirty="0" smtClean="0">
                <a:latin typeface="+mn-lt"/>
              </a:rPr>
              <a:t>Multiple user level command queues</a:t>
            </a:r>
          </a:p>
          <a:p>
            <a:pPr marL="800100" lvl="1" indent="-342900" eaLnBrk="0" hangingPunct="0">
              <a:spcBef>
                <a:spcPts val="0"/>
              </a:spcBef>
              <a:buClr>
                <a:srgbClr val="0000FF"/>
              </a:buClr>
              <a:buSzPct val="80000"/>
              <a:buFont typeface="Calibri" pitchFamily="34" charset="0"/>
              <a:buChar char="–"/>
            </a:pPr>
            <a:r>
              <a:rPr lang="en-US" altLang="zh-TW" sz="2000" dirty="0" smtClean="0">
                <a:latin typeface="+mn-lt"/>
              </a:rPr>
              <a:t>Preemptive GPU context switching</a:t>
            </a:r>
          </a:p>
          <a:p>
            <a:pPr marL="800100" lvl="1" indent="-342900" eaLnBrk="0" hangingPunct="0">
              <a:spcBef>
                <a:spcPts val="0"/>
              </a:spcBef>
              <a:buClr>
                <a:srgbClr val="0000FF"/>
              </a:buClr>
              <a:buSzPct val="80000"/>
              <a:buFont typeface="Calibri" pitchFamily="34" charset="0"/>
              <a:buChar char="–"/>
            </a:pPr>
            <a:r>
              <a:rPr lang="en-US" altLang="zh-TW" sz="2000" dirty="0" smtClean="0">
                <a:latin typeface="+mn-lt"/>
              </a:rPr>
              <a:t>Concurrent execution of CPU threads and GPU threads</a:t>
            </a:r>
          </a:p>
          <a:p>
            <a:pPr marL="800100" lvl="1" indent="-342900" eaLnBrk="0" hangingPunct="0">
              <a:spcBef>
                <a:spcPts val="0"/>
              </a:spcBef>
              <a:buClr>
                <a:srgbClr val="0000FF"/>
              </a:buClr>
              <a:buSzPct val="80000"/>
              <a:buFont typeface="Calibri" pitchFamily="34" charset="0"/>
              <a:buChar char="–"/>
            </a:pPr>
            <a:r>
              <a:rPr kumimoji="1" lang="en-US" altLang="zh-TW" sz="2000" i="0" u="none" strike="noStrike" kern="0" cap="none" spc="0" normalizeH="0" baseline="0" noProof="0" dirty="0" smtClean="0">
                <a:ln>
                  <a:noFill/>
                </a:ln>
                <a:solidFill>
                  <a:schemeClr val="tx1"/>
                </a:solidFill>
                <a:effectLst/>
                <a:uLnTx/>
                <a:uFillTx/>
                <a:latin typeface="+mn-lt"/>
                <a:ea typeface="標楷體" pitchFamily="65" charset="-120"/>
              </a:rPr>
              <a:t>HSA</a:t>
            </a:r>
            <a:r>
              <a:rPr kumimoji="1" lang="en-US" altLang="zh-TW" sz="2000" i="0" u="none" strike="noStrike" kern="0" cap="none" spc="0" normalizeH="0" noProof="0" dirty="0" smtClean="0">
                <a:ln>
                  <a:noFill/>
                </a:ln>
                <a:solidFill>
                  <a:schemeClr val="tx1"/>
                </a:solidFill>
                <a:effectLst/>
                <a:uLnTx/>
                <a:uFillTx/>
                <a:latin typeface="+mn-lt"/>
                <a:ea typeface="標楷體" pitchFamily="65" charset="-120"/>
              </a:rPr>
              <a:t> runtime</a:t>
            </a:r>
          </a:p>
          <a:p>
            <a:pPr marL="800100" lvl="1" indent="-342900" eaLnBrk="0" hangingPunct="0">
              <a:spcBef>
                <a:spcPts val="0"/>
              </a:spcBef>
              <a:buClr>
                <a:srgbClr val="0000FF"/>
              </a:buClr>
              <a:buSzPct val="80000"/>
              <a:buFont typeface="Calibri" pitchFamily="34" charset="0"/>
              <a:buChar char="–"/>
            </a:pPr>
            <a:r>
              <a:rPr lang="en-US" altLang="zh-TW" sz="2000" kern="0" baseline="0" dirty="0" err="1" smtClean="0">
                <a:latin typeface="+mn-lt"/>
                <a:ea typeface="標楷體" pitchFamily="65" charset="-120"/>
              </a:rPr>
              <a:t>Finalizer</a:t>
            </a:r>
            <a:endParaRPr lang="en-US" altLang="zh-TW" kern="0" dirty="0" smtClean="0">
              <a:latin typeface="+mn-lt"/>
              <a:ea typeface="標楷體" pitchFamily="65" charset="-120"/>
            </a:endParaRPr>
          </a:p>
          <a:p>
            <a:pPr marL="342900" marR="0" lvl="0" indent="-342900" algn="l" defTabSz="914400" rtl="0" eaLnBrk="0" fontAlgn="base" latinLnBrk="0" hangingPunct="0">
              <a:lnSpc>
                <a:spcPct val="100000"/>
              </a:lnSpc>
              <a:spcBef>
                <a:spcPts val="0"/>
              </a:spcBef>
              <a:spcAft>
                <a:spcPct val="0"/>
              </a:spcAft>
              <a:buClr>
                <a:srgbClr val="0000FF"/>
              </a:buClr>
              <a:buSzPct val="80000"/>
              <a:buFont typeface="Wingdings" pitchFamily="2" charset="2"/>
              <a:buChar char="l"/>
              <a:tabLst/>
              <a:defRPr/>
            </a:pPr>
            <a:r>
              <a:rPr lang="en-US" altLang="zh-TW" kern="0" dirty="0" smtClean="0">
                <a:latin typeface="+mn-lt"/>
                <a:ea typeface="標楷體" pitchFamily="65" charset="-120"/>
              </a:rPr>
              <a:t>A Project Sponsored by </a:t>
            </a:r>
            <a:r>
              <a:rPr lang="en-US" altLang="zh-TW" kern="0" dirty="0" err="1" smtClean="0">
                <a:latin typeface="+mn-lt"/>
                <a:ea typeface="標楷體" pitchFamily="65" charset="-120"/>
              </a:rPr>
              <a:t>MediaTek</a:t>
            </a:r>
            <a:r>
              <a:rPr lang="en-US" altLang="zh-TW" kern="0" dirty="0" smtClean="0">
                <a:latin typeface="+mn-lt"/>
                <a:ea typeface="標楷體" pitchFamily="65" charset="-120"/>
              </a:rPr>
              <a:t> (MTK)</a:t>
            </a:r>
          </a:p>
          <a:p>
            <a:pPr marL="342900" marR="0" lvl="0" indent="-342900" algn="l" defTabSz="914400" rtl="0" eaLnBrk="0" fontAlgn="base" latinLnBrk="0" hangingPunct="0">
              <a:lnSpc>
                <a:spcPct val="100000"/>
              </a:lnSpc>
              <a:spcBef>
                <a:spcPts val="0"/>
              </a:spcBef>
              <a:spcAft>
                <a:spcPct val="0"/>
              </a:spcAft>
              <a:buClr>
                <a:srgbClr val="0000FF"/>
              </a:buClr>
              <a:buSzPct val="80000"/>
              <a:buFont typeface="Wingdings" pitchFamily="2" charset="2"/>
              <a:buChar char="l"/>
              <a:tabLst/>
              <a:defRPr/>
            </a:pPr>
            <a:r>
              <a:rPr lang="en-US" altLang="zh-TW" kern="0" dirty="0" smtClean="0">
                <a:latin typeface="+mn-lt"/>
                <a:ea typeface="標楷體" pitchFamily="65" charset="-120"/>
              </a:rPr>
              <a:t>Currently, it supports simple HSA platform simulation</a:t>
            </a:r>
          </a:p>
          <a:p>
            <a:pPr marL="800100" lvl="1" indent="-342900" eaLnBrk="0" hangingPunct="0">
              <a:spcBef>
                <a:spcPts val="0"/>
              </a:spcBef>
              <a:buClr>
                <a:srgbClr val="0000FF"/>
              </a:buClr>
              <a:buSzPct val="80000"/>
              <a:buFont typeface="Calibri" pitchFamily="34" charset="0"/>
              <a:buChar char="–"/>
            </a:pPr>
            <a:r>
              <a:rPr kumimoji="1" lang="en-US" altLang="zh-TW" sz="2000" i="0" u="none" strike="noStrike" kern="0" cap="none" spc="0" normalizeH="0" baseline="0" noProof="0" dirty="0" smtClean="0">
                <a:ln>
                  <a:noFill/>
                </a:ln>
                <a:solidFill>
                  <a:schemeClr val="tx1"/>
                </a:solidFill>
                <a:effectLst/>
                <a:uLnTx/>
                <a:uFillTx/>
                <a:latin typeface="+mn-lt"/>
                <a:ea typeface="標楷體" pitchFamily="65" charset="-120"/>
              </a:rPr>
              <a:t>Functional-accurate simulation</a:t>
            </a:r>
          </a:p>
          <a:p>
            <a:pPr marL="800100" lvl="1" indent="-342900" eaLnBrk="0" hangingPunct="0">
              <a:spcBef>
                <a:spcPts val="0"/>
              </a:spcBef>
              <a:buClr>
                <a:srgbClr val="0000FF"/>
              </a:buClr>
              <a:buSzPct val="80000"/>
              <a:buFont typeface="Calibri" pitchFamily="34" charset="0"/>
              <a:buChar char="–"/>
            </a:pPr>
            <a:r>
              <a:rPr lang="en-US" altLang="zh-TW" sz="2000" kern="0" dirty="0" smtClean="0">
                <a:latin typeface="+mn-lt"/>
                <a:ea typeface="標楷體" pitchFamily="65" charset="-120"/>
              </a:rPr>
              <a:t>Cycle-accurate simulation</a:t>
            </a:r>
            <a:endParaRPr kumimoji="1" lang="en-US" altLang="zh-TW" sz="2000" i="0" u="none" strike="noStrike" kern="0" cap="none" spc="0" normalizeH="0" baseline="0" noProof="0" dirty="0" smtClean="0">
              <a:ln>
                <a:noFill/>
              </a:ln>
              <a:solidFill>
                <a:schemeClr val="tx1"/>
              </a:solidFill>
              <a:effectLst/>
              <a:uLnTx/>
              <a:uFillTx/>
              <a:latin typeface="+mn-lt"/>
              <a:ea typeface="標楷體" pitchFamily="65" charset="-120"/>
            </a:endParaRPr>
          </a:p>
        </p:txBody>
      </p:sp>
    </p:spTree>
    <p:extLst>
      <p:ext uri="{BB962C8B-B14F-4D97-AF65-F5344CB8AC3E}">
        <p14:creationId xmlns:p14="http://schemas.microsoft.com/office/powerpoint/2010/main" val="474929448"/>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991351" cy="692150"/>
          </a:xfrm>
        </p:spPr>
        <p:txBody>
          <a:bodyPr/>
          <a:lstStyle/>
          <a:p>
            <a:r>
              <a:rPr lang="en-US" dirty="0" smtClean="0">
                <a:latin typeface="+mn-lt"/>
              </a:rPr>
              <a:t>Architecture of </a:t>
            </a:r>
            <a:r>
              <a:rPr lang="en-US" dirty="0" err="1" smtClean="0">
                <a:latin typeface="+mn-lt"/>
              </a:rPr>
              <a:t>HSAemu</a:t>
            </a:r>
            <a:endParaRPr lang="en-US" dirty="0">
              <a:latin typeface="+mn-lt"/>
            </a:endParaRPr>
          </a:p>
        </p:txBody>
      </p:sp>
      <p:sp>
        <p:nvSpPr>
          <p:cNvPr id="5" name="投影片編號版面配置區 4"/>
          <p:cNvSpPr>
            <a:spLocks noGrp="1"/>
          </p:cNvSpPr>
          <p:nvPr>
            <p:ph type="sldNum" sz="quarter" idx="10"/>
          </p:nvPr>
        </p:nvSpPr>
        <p:spPr/>
        <p:txBody>
          <a:bodyPr/>
          <a:lstStyle/>
          <a:p>
            <a:pPr>
              <a:defRPr/>
            </a:pPr>
            <a:fld id="{1A9115C5-2FF4-4A45-B75E-C3C89F0A7A51}" type="slidenum">
              <a:rPr lang="en-US" altLang="zh-TW" smtClean="0">
                <a:latin typeface="+mn-lt"/>
              </a:rPr>
              <a:pPr>
                <a:defRPr/>
              </a:pPr>
              <a:t>55</a:t>
            </a:fld>
            <a:endParaRPr lang="en-US" altLang="zh-TW">
              <a:latin typeface="+mn-lt"/>
            </a:endParaRPr>
          </a:p>
        </p:txBody>
      </p:sp>
      <p:sp>
        <p:nvSpPr>
          <p:cNvPr id="6" name="內容版面配置區 3"/>
          <p:cNvSpPr>
            <a:spLocks noGrp="1"/>
          </p:cNvSpPr>
          <p:nvPr>
            <p:ph idx="1"/>
          </p:nvPr>
        </p:nvSpPr>
        <p:spPr>
          <a:xfrm>
            <a:off x="107504" y="1196752"/>
            <a:ext cx="6192688" cy="3816424"/>
          </a:xfrm>
        </p:spPr>
        <p:txBody>
          <a:bodyPr/>
          <a:lstStyle/>
          <a:p>
            <a:r>
              <a:rPr lang="en-US" altLang="zh-TW" dirty="0" err="1" smtClean="0">
                <a:latin typeface="+mn-lt"/>
              </a:rPr>
              <a:t>HSAemu</a:t>
            </a:r>
            <a:r>
              <a:rPr lang="en-US" altLang="zh-TW" dirty="0" smtClean="0">
                <a:latin typeface="+mn-lt"/>
              </a:rPr>
              <a:t> consists of 6 components</a:t>
            </a:r>
          </a:p>
          <a:p>
            <a:pPr lvl="1"/>
            <a:r>
              <a:rPr lang="en-US" altLang="zh-TW" dirty="0" smtClean="0">
                <a:latin typeface="+mn-lt"/>
              </a:rPr>
              <a:t>HSA Runtime</a:t>
            </a:r>
            <a:endParaRPr lang="en-US" altLang="zh-TW" b="1" dirty="0" smtClean="0">
              <a:latin typeface="+mn-lt"/>
            </a:endParaRPr>
          </a:p>
          <a:p>
            <a:pPr lvl="1"/>
            <a:r>
              <a:rPr lang="en-US" altLang="zh-TW" dirty="0" smtClean="0">
                <a:latin typeface="+mn-lt"/>
              </a:rPr>
              <a:t>CPU Simulation Module</a:t>
            </a:r>
          </a:p>
          <a:p>
            <a:pPr lvl="1"/>
            <a:r>
              <a:rPr lang="en-US" altLang="zh-TW" dirty="0" smtClean="0">
                <a:latin typeface="+mn-lt"/>
              </a:rPr>
              <a:t>GPU Task Dispatcher</a:t>
            </a:r>
          </a:p>
          <a:p>
            <a:pPr lvl="1"/>
            <a:r>
              <a:rPr lang="en-US" altLang="zh-TW" dirty="0" smtClean="0">
                <a:latin typeface="+mn-lt"/>
              </a:rPr>
              <a:t>Functional-Accurate GPU Simulator (Fast-GPU Simulator)</a:t>
            </a:r>
          </a:p>
          <a:p>
            <a:pPr lvl="1"/>
            <a:r>
              <a:rPr lang="en-US" altLang="zh-TW" dirty="0" smtClean="0">
                <a:latin typeface="+mn-lt"/>
              </a:rPr>
              <a:t>Cycle-Accurate GPU Simulator (Mult2sim)</a:t>
            </a:r>
          </a:p>
          <a:p>
            <a:pPr lvl="1"/>
            <a:r>
              <a:rPr lang="en-US" altLang="zh-TW" dirty="0" smtClean="0">
                <a:latin typeface="+mn-lt"/>
              </a:rPr>
              <a:t>GPU Helper Functions</a:t>
            </a:r>
          </a:p>
        </p:txBody>
      </p:sp>
      <p:pic>
        <p:nvPicPr>
          <p:cNvPr id="3" name="圖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4168" y="1111861"/>
            <a:ext cx="3007916" cy="4981435"/>
          </a:xfrm>
          <a:prstGeom prst="rect">
            <a:avLst/>
          </a:prstGeom>
        </p:spPr>
      </p:pic>
    </p:spTree>
    <p:extLst>
      <p:ext uri="{BB962C8B-B14F-4D97-AF65-F5344CB8AC3E}">
        <p14:creationId xmlns:p14="http://schemas.microsoft.com/office/powerpoint/2010/main" val="2167822758"/>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89312"/>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err="1" smtClean="0">
                <a:latin typeface="+mn-lt"/>
              </a:rPr>
              <a:t>HSAemu</a:t>
            </a:r>
            <a:r>
              <a:rPr lang="en-US" dirty="0" smtClean="0">
                <a:latin typeface="+mn-lt"/>
              </a:rPr>
              <a:t> Runtime</a:t>
            </a:r>
            <a:endParaRPr lang="en-US" dirty="0">
              <a:latin typeface="+mn-lt"/>
            </a:endParaRPr>
          </a:p>
        </p:txBody>
      </p:sp>
      <p:sp>
        <p:nvSpPr>
          <p:cNvPr id="3" name="矩形 2"/>
          <p:cNvSpPr/>
          <p:nvPr/>
        </p:nvSpPr>
        <p:spPr bwMode="auto">
          <a:xfrm>
            <a:off x="1500040" y="1628799"/>
            <a:ext cx="1499468" cy="312417"/>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1296" y="1307341"/>
            <a:ext cx="5351954" cy="125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內容版面配置區 3"/>
          <p:cNvSpPr>
            <a:spLocks noGrp="1"/>
          </p:cNvSpPr>
          <p:nvPr>
            <p:ph idx="1"/>
          </p:nvPr>
        </p:nvSpPr>
        <p:spPr>
          <a:xfrm>
            <a:off x="3757718" y="2780928"/>
            <a:ext cx="5149588" cy="3312368"/>
          </a:xfrm>
        </p:spPr>
        <p:txBody>
          <a:bodyPr/>
          <a:lstStyle/>
          <a:p>
            <a:pPr>
              <a:spcBef>
                <a:spcPts val="0"/>
              </a:spcBef>
            </a:pPr>
            <a:r>
              <a:rPr lang="en-US" altLang="zh-TW" sz="2400" dirty="0" smtClean="0">
                <a:latin typeface="+mn-lt"/>
              </a:rPr>
              <a:t>User Mode Queue</a:t>
            </a:r>
          </a:p>
          <a:p>
            <a:pPr lvl="1">
              <a:spcBef>
                <a:spcPts val="0"/>
              </a:spcBef>
            </a:pPr>
            <a:r>
              <a:rPr lang="en-US" altLang="zh-TW" sz="2000" dirty="0" smtClean="0">
                <a:latin typeface="+mn-lt"/>
              </a:rPr>
              <a:t>Store AQL packets</a:t>
            </a:r>
          </a:p>
          <a:p>
            <a:pPr>
              <a:spcBef>
                <a:spcPts val="600"/>
              </a:spcBef>
            </a:pPr>
            <a:r>
              <a:rPr lang="en-US" altLang="zh-TW" sz="2400" dirty="0" smtClean="0">
                <a:latin typeface="+mn-lt"/>
              </a:rPr>
              <a:t>AQL Queue Manager </a:t>
            </a:r>
          </a:p>
          <a:p>
            <a:pPr lvl="1">
              <a:spcBef>
                <a:spcPts val="0"/>
              </a:spcBef>
            </a:pPr>
            <a:r>
              <a:rPr lang="en-US" altLang="zh-TW" sz="2000" dirty="0" smtClean="0">
                <a:latin typeface="+mn-lt"/>
              </a:rPr>
              <a:t>Manage AQL packets in User Mode  Queue</a:t>
            </a:r>
          </a:p>
          <a:p>
            <a:pPr>
              <a:spcBef>
                <a:spcPts val="600"/>
              </a:spcBef>
            </a:pPr>
            <a:r>
              <a:rPr lang="en-US" altLang="zh-TW" sz="2400" dirty="0" smtClean="0">
                <a:latin typeface="+mn-lt"/>
              </a:rPr>
              <a:t>AQL Command Dispatcher </a:t>
            </a:r>
          </a:p>
          <a:p>
            <a:pPr lvl="1">
              <a:spcBef>
                <a:spcPts val="0"/>
              </a:spcBef>
            </a:pPr>
            <a:r>
              <a:rPr lang="en-US" altLang="zh-TW" sz="2000" dirty="0" smtClean="0">
                <a:latin typeface="+mn-lt"/>
              </a:rPr>
              <a:t>Launch the execution of kernel </a:t>
            </a:r>
            <a:r>
              <a:rPr lang="en-US" altLang="zh-TW" sz="2000" dirty="0">
                <a:latin typeface="+mn-lt"/>
              </a:rPr>
              <a:t>jobs on  </a:t>
            </a:r>
            <a:r>
              <a:rPr lang="en-US" altLang="zh-TW" sz="2000" dirty="0" err="1">
                <a:latin typeface="+mn-lt"/>
              </a:rPr>
              <a:t>HSAemu</a:t>
            </a:r>
            <a:endParaRPr lang="en-US" altLang="zh-TW" sz="2000" dirty="0" smtClean="0">
              <a:latin typeface="+mn-lt"/>
            </a:endParaRPr>
          </a:p>
          <a:p>
            <a:pPr>
              <a:spcBef>
                <a:spcPts val="600"/>
              </a:spcBef>
            </a:pPr>
            <a:r>
              <a:rPr lang="en-US" altLang="zh-TW" sz="2400" dirty="0" smtClean="0">
                <a:solidFill>
                  <a:srgbClr val="FF0000"/>
                </a:solidFill>
                <a:latin typeface="+mn-lt"/>
              </a:rPr>
              <a:t>Support </a:t>
            </a:r>
            <a:r>
              <a:rPr lang="en-US" altLang="zh-TW" sz="2400" dirty="0" err="1" smtClean="0">
                <a:solidFill>
                  <a:srgbClr val="FF0000"/>
                </a:solidFill>
                <a:latin typeface="+mn-lt"/>
              </a:rPr>
              <a:t>OpenCL</a:t>
            </a:r>
            <a:r>
              <a:rPr lang="en-US" altLang="zh-TW" sz="2400" dirty="0" smtClean="0">
                <a:solidFill>
                  <a:srgbClr val="FF0000"/>
                </a:solidFill>
                <a:latin typeface="+mn-lt"/>
              </a:rPr>
              <a:t> runtime</a:t>
            </a:r>
          </a:p>
        </p:txBody>
      </p:sp>
      <p:sp>
        <p:nvSpPr>
          <p:cNvPr id="8" name="投影片編號版面配置區 7"/>
          <p:cNvSpPr>
            <a:spLocks noGrp="1"/>
          </p:cNvSpPr>
          <p:nvPr>
            <p:ph type="sldNum" sz="quarter" idx="10"/>
          </p:nvPr>
        </p:nvSpPr>
        <p:spPr/>
        <p:txBody>
          <a:bodyPr/>
          <a:lstStyle/>
          <a:p>
            <a:pPr>
              <a:defRPr/>
            </a:pPr>
            <a:fld id="{1A9115C5-2FF4-4A45-B75E-C3C89F0A7A51}" type="slidenum">
              <a:rPr lang="en-US" altLang="zh-TW" smtClean="0">
                <a:latin typeface="+mn-lt"/>
              </a:rPr>
              <a:pPr>
                <a:defRPr/>
              </a:pPr>
              <a:t>56</a:t>
            </a:fld>
            <a:endParaRPr lang="en-US" altLang="zh-TW">
              <a:latin typeface="+mn-lt"/>
            </a:endParaRPr>
          </a:p>
        </p:txBody>
      </p:sp>
    </p:spTree>
    <p:extLst>
      <p:ext uri="{BB962C8B-B14F-4D97-AF65-F5344CB8AC3E}">
        <p14:creationId xmlns:p14="http://schemas.microsoft.com/office/powerpoint/2010/main" val="833726709"/>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77120"/>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CPU Simulation Module (1)</a:t>
            </a:r>
            <a:endParaRPr lang="en-US" dirty="0">
              <a:latin typeface="+mn-lt"/>
            </a:endParaRPr>
          </a:p>
        </p:txBody>
      </p:sp>
      <p:sp>
        <p:nvSpPr>
          <p:cNvPr id="3" name="矩形 2"/>
          <p:cNvSpPr/>
          <p:nvPr/>
        </p:nvSpPr>
        <p:spPr bwMode="auto">
          <a:xfrm>
            <a:off x="659184" y="2048656"/>
            <a:ext cx="2232248" cy="720080"/>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內容版面配置區 3"/>
          <p:cNvSpPr>
            <a:spLocks noGrp="1"/>
          </p:cNvSpPr>
          <p:nvPr>
            <p:ph idx="1"/>
          </p:nvPr>
        </p:nvSpPr>
        <p:spPr>
          <a:xfrm>
            <a:off x="3563888" y="4797152"/>
            <a:ext cx="5508104" cy="1080120"/>
          </a:xfrm>
        </p:spPr>
        <p:txBody>
          <a:bodyPr/>
          <a:lstStyle/>
          <a:p>
            <a:r>
              <a:rPr lang="en-US" altLang="zh-TW" sz="2000" dirty="0" smtClean="0">
                <a:latin typeface="+mn-lt"/>
              </a:rPr>
              <a:t>PQEMU – Perform </a:t>
            </a:r>
            <a:r>
              <a:rPr lang="en-US" altLang="zh-TW" sz="2000" dirty="0" err="1" smtClean="0">
                <a:latin typeface="+mn-lt"/>
              </a:rPr>
              <a:t>multicore</a:t>
            </a:r>
            <a:r>
              <a:rPr lang="en-US" altLang="zh-TW" sz="2000" dirty="0" smtClean="0">
                <a:latin typeface="+mn-lt"/>
              </a:rPr>
              <a:t> CPU simulation</a:t>
            </a:r>
            <a:endParaRPr lang="zh-TW" altLang="en-US" sz="2000" dirty="0" smtClean="0">
              <a:latin typeface="+mn-lt"/>
            </a:endParaRPr>
          </a:p>
          <a:p>
            <a:r>
              <a:rPr lang="en-US" altLang="zh-TW" sz="2000" dirty="0" smtClean="0">
                <a:latin typeface="+mn-lt"/>
              </a:rPr>
              <a:t>HSA Signal Handler –  Receive AQL command from HSA Runtime and launch GPU simulation</a:t>
            </a:r>
          </a:p>
        </p:txBody>
      </p:sp>
      <p:pic>
        <p:nvPicPr>
          <p:cNvPr id="4" name="圖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4570" y="1052736"/>
            <a:ext cx="3001806" cy="3624402"/>
          </a:xfrm>
          <a:prstGeom prst="rect">
            <a:avLst/>
          </a:prstGeom>
        </p:spPr>
      </p:pic>
      <p:sp>
        <p:nvSpPr>
          <p:cNvPr id="10" name="投影片編號版面配置區 9"/>
          <p:cNvSpPr>
            <a:spLocks noGrp="1"/>
          </p:cNvSpPr>
          <p:nvPr>
            <p:ph type="sldNum" sz="quarter" idx="10"/>
          </p:nvPr>
        </p:nvSpPr>
        <p:spPr/>
        <p:txBody>
          <a:bodyPr/>
          <a:lstStyle/>
          <a:p>
            <a:pPr>
              <a:defRPr/>
            </a:pPr>
            <a:fld id="{1A9115C5-2FF4-4A45-B75E-C3C89F0A7A51}" type="slidenum">
              <a:rPr lang="en-US" altLang="zh-TW" smtClean="0">
                <a:latin typeface="+mn-lt"/>
              </a:rPr>
              <a:pPr>
                <a:defRPr/>
              </a:pPr>
              <a:t>57</a:t>
            </a:fld>
            <a:endParaRPr lang="en-US" altLang="zh-TW" dirty="0">
              <a:latin typeface="+mn-lt"/>
            </a:endParaRPr>
          </a:p>
        </p:txBody>
      </p:sp>
    </p:spTree>
    <p:extLst>
      <p:ext uri="{BB962C8B-B14F-4D97-AF65-F5344CB8AC3E}">
        <p14:creationId xmlns:p14="http://schemas.microsoft.com/office/powerpoint/2010/main" val="1453959471"/>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991351" cy="692150"/>
          </a:xfrm>
        </p:spPr>
        <p:txBody>
          <a:bodyPr/>
          <a:lstStyle/>
          <a:p>
            <a:r>
              <a:rPr lang="en-US" dirty="0" smtClean="0">
                <a:latin typeface="+mn-lt"/>
              </a:rPr>
              <a:t>CPU Simulation Module (2)</a:t>
            </a:r>
            <a:endParaRPr lang="en-US" dirty="0">
              <a:latin typeface="+mn-lt"/>
            </a:endParaRPr>
          </a:p>
        </p:txBody>
      </p:sp>
      <p:cxnSp>
        <p:nvCxnSpPr>
          <p:cNvPr id="6" name="直線接點 5"/>
          <p:cNvCxnSpPr/>
          <p:nvPr/>
        </p:nvCxnSpPr>
        <p:spPr bwMode="auto">
          <a:xfrm>
            <a:off x="3419872"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內容版面配置區 3"/>
          <p:cNvSpPr>
            <a:spLocks noGrp="1"/>
          </p:cNvSpPr>
          <p:nvPr>
            <p:ph idx="1"/>
          </p:nvPr>
        </p:nvSpPr>
        <p:spPr>
          <a:xfrm>
            <a:off x="3491880" y="1124744"/>
            <a:ext cx="5580112" cy="2448272"/>
          </a:xfrm>
        </p:spPr>
        <p:txBody>
          <a:bodyPr/>
          <a:lstStyle/>
          <a:p>
            <a:pPr lvl="0"/>
            <a:r>
              <a:rPr lang="en-US" altLang="zh-TW" sz="2200" dirty="0" smtClean="0">
                <a:latin typeface="+mn-lt"/>
              </a:rPr>
              <a:t>PQEMU</a:t>
            </a:r>
          </a:p>
          <a:p>
            <a:pPr lvl="1"/>
            <a:r>
              <a:rPr lang="en-US" altLang="zh-TW" sz="1800" dirty="0" smtClean="0">
                <a:latin typeface="+mn-lt"/>
              </a:rPr>
              <a:t>A parallel system emulator based on QEMU</a:t>
            </a:r>
          </a:p>
          <a:p>
            <a:pPr lvl="1"/>
            <a:r>
              <a:rPr lang="en-US" altLang="zh-TW" sz="1800" dirty="0" smtClean="0">
                <a:latin typeface="+mn-lt"/>
              </a:rPr>
              <a:t>Tow efficient synchronization models (UCC/SCC)</a:t>
            </a:r>
          </a:p>
          <a:p>
            <a:pPr lvl="1"/>
            <a:r>
              <a:rPr lang="en-US" altLang="zh-TW" sz="1800" dirty="0" smtClean="0">
                <a:latin typeface="+mn-lt"/>
              </a:rPr>
              <a:t>Dynamic binary translation (</a:t>
            </a:r>
            <a:r>
              <a:rPr lang="en-US" altLang="zh-TW" sz="1800" dirty="0" smtClean="0">
                <a:solidFill>
                  <a:srgbClr val="FF0000"/>
                </a:solidFill>
                <a:latin typeface="+mn-lt"/>
              </a:rPr>
              <a:t>DBT</a:t>
            </a:r>
            <a:r>
              <a:rPr lang="en-US" altLang="zh-TW" sz="1800" dirty="0" smtClean="0">
                <a:latin typeface="+mn-lt"/>
              </a:rPr>
              <a:t>) technique</a:t>
            </a:r>
          </a:p>
          <a:p>
            <a:pPr lvl="1"/>
            <a:r>
              <a:rPr lang="en-US" altLang="zh-TW" sz="1800" dirty="0" smtClean="0">
                <a:latin typeface="+mn-lt"/>
              </a:rPr>
              <a:t>A project sponsored by MTK</a:t>
            </a:r>
          </a:p>
          <a:p>
            <a:r>
              <a:rPr lang="en-US" altLang="zh-TW" sz="2200" dirty="0" smtClean="0">
                <a:latin typeface="+mn-lt"/>
              </a:rPr>
              <a:t>Agent </a:t>
            </a:r>
            <a:r>
              <a:rPr lang="en-US" altLang="zh-TW" sz="2200" dirty="0">
                <a:latin typeface="+mn-lt"/>
              </a:rPr>
              <a:t>code, HSA </a:t>
            </a:r>
            <a:r>
              <a:rPr lang="en-US" altLang="zh-TW" sz="2200" dirty="0" smtClean="0">
                <a:latin typeface="+mn-lt"/>
              </a:rPr>
              <a:t>runtime, </a:t>
            </a:r>
            <a:r>
              <a:rPr lang="en-US" altLang="zh-TW" sz="2200" dirty="0">
                <a:latin typeface="+mn-lt"/>
              </a:rPr>
              <a:t>and operating system </a:t>
            </a:r>
            <a:r>
              <a:rPr lang="en-US" altLang="zh-TW" sz="2200" dirty="0" smtClean="0">
                <a:latin typeface="+mn-lt"/>
              </a:rPr>
              <a:t>are </a:t>
            </a:r>
            <a:r>
              <a:rPr lang="en-US" altLang="zh-TW" sz="2200" dirty="0">
                <a:latin typeface="+mn-lt"/>
              </a:rPr>
              <a:t>run </a:t>
            </a:r>
            <a:r>
              <a:rPr lang="en-US" altLang="zh-TW" sz="2200" dirty="0" smtClean="0">
                <a:latin typeface="+mn-lt"/>
              </a:rPr>
              <a:t>on </a:t>
            </a:r>
            <a:r>
              <a:rPr lang="en-US" altLang="zh-TW" sz="2200" dirty="0">
                <a:latin typeface="+mn-lt"/>
              </a:rPr>
              <a:t>PQEMU</a:t>
            </a:r>
            <a:endParaRPr lang="en-US" altLang="zh-TW" sz="2200" dirty="0" smtClean="0">
              <a:latin typeface="+mn-lt"/>
            </a:endParaRPr>
          </a:p>
        </p:txBody>
      </p:sp>
      <p:grpSp>
        <p:nvGrpSpPr>
          <p:cNvPr id="3" name="群組 7"/>
          <p:cNvGrpSpPr/>
          <p:nvPr/>
        </p:nvGrpSpPr>
        <p:grpSpPr>
          <a:xfrm>
            <a:off x="4211960" y="3861048"/>
            <a:ext cx="4190533" cy="1842404"/>
            <a:chOff x="899592" y="3789040"/>
            <a:chExt cx="4984731" cy="2309059"/>
          </a:xfrm>
        </p:grpSpPr>
        <p:sp>
          <p:nvSpPr>
            <p:cNvPr id="9" name="圓角矩形 8"/>
            <p:cNvSpPr/>
            <p:nvPr/>
          </p:nvSpPr>
          <p:spPr bwMode="auto">
            <a:xfrm>
              <a:off x="899592" y="3789040"/>
              <a:ext cx="4968552" cy="468052"/>
            </a:xfrm>
            <a:prstGeom prst="roundRect">
              <a:avLst/>
            </a:prstGeom>
            <a:solidFill>
              <a:schemeClr val="accent3">
                <a:lumMod val="40000"/>
                <a:lumOff val="60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Code </a:t>
              </a:r>
              <a:r>
                <a:rPr lang="en-US" altLang="zh-TW" sz="1800" b="1" dirty="0" smtClean="0">
                  <a:latin typeface="+mn-lt"/>
                  <a:ea typeface="新細明體" pitchFamily="18" charset="-120"/>
                </a:rPr>
                <a:t>Cache</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grpSp>
          <p:nvGrpSpPr>
            <p:cNvPr id="4" name="群組 9"/>
            <p:cNvGrpSpPr/>
            <p:nvPr/>
          </p:nvGrpSpPr>
          <p:grpSpPr>
            <a:xfrm>
              <a:off x="915770" y="4266398"/>
              <a:ext cx="4968553" cy="1831701"/>
              <a:chOff x="915770" y="4266398"/>
              <a:chExt cx="4968553" cy="1831701"/>
            </a:xfrm>
          </p:grpSpPr>
          <p:sp>
            <p:nvSpPr>
              <p:cNvPr id="13" name="圓角矩形 12"/>
              <p:cNvSpPr/>
              <p:nvPr/>
            </p:nvSpPr>
            <p:spPr bwMode="auto">
              <a:xfrm>
                <a:off x="915770" y="5119874"/>
                <a:ext cx="1152128" cy="936104"/>
              </a:xfrm>
              <a:prstGeom prst="roundRect">
                <a:avLst/>
              </a:prstGeom>
              <a:solidFill>
                <a:schemeClr val="bg1">
                  <a:lumMod val="75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CPU</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14" name="圓角矩形 13"/>
              <p:cNvSpPr/>
              <p:nvPr/>
            </p:nvSpPr>
            <p:spPr bwMode="auto">
              <a:xfrm>
                <a:off x="3448973" y="5161995"/>
                <a:ext cx="1152127" cy="936104"/>
              </a:xfrm>
              <a:prstGeom prst="roundRect">
                <a:avLst/>
              </a:prstGeom>
              <a:solidFill>
                <a:schemeClr val="bg1">
                  <a:lumMod val="75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CPU</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15" name="圓角矩形 14"/>
              <p:cNvSpPr/>
              <p:nvPr/>
            </p:nvSpPr>
            <p:spPr bwMode="auto">
              <a:xfrm>
                <a:off x="2169007" y="5155926"/>
                <a:ext cx="1152128" cy="936104"/>
              </a:xfrm>
              <a:prstGeom prst="roundRect">
                <a:avLst/>
              </a:prstGeom>
              <a:solidFill>
                <a:schemeClr val="bg1">
                  <a:lumMod val="75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CPU</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16" name="圓角矩形 15"/>
              <p:cNvSpPr/>
              <p:nvPr/>
            </p:nvSpPr>
            <p:spPr bwMode="auto">
              <a:xfrm>
                <a:off x="4732195" y="5161995"/>
                <a:ext cx="1152128" cy="936104"/>
              </a:xfrm>
              <a:prstGeom prst="roundRect">
                <a:avLst/>
              </a:prstGeom>
              <a:solidFill>
                <a:schemeClr val="bg1">
                  <a:lumMod val="75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CPU</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17" name="圓角矩形 16"/>
              <p:cNvSpPr/>
              <p:nvPr/>
            </p:nvSpPr>
            <p:spPr bwMode="auto">
              <a:xfrm>
                <a:off x="922607" y="4734450"/>
                <a:ext cx="1129113" cy="468052"/>
              </a:xfrm>
              <a:prstGeom prst="roundRect">
                <a:avLst/>
              </a:prstGeom>
              <a:solidFill>
                <a:schemeClr val="accent2">
                  <a:lumMod val="40000"/>
                  <a:lumOff val="60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DBT</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18" name="圓角矩形 17"/>
              <p:cNvSpPr/>
              <p:nvPr/>
            </p:nvSpPr>
            <p:spPr bwMode="auto">
              <a:xfrm>
                <a:off x="2175844" y="4736305"/>
                <a:ext cx="1129113" cy="468052"/>
              </a:xfrm>
              <a:prstGeom prst="roundRect">
                <a:avLst/>
              </a:prstGeom>
              <a:solidFill>
                <a:schemeClr val="accent2">
                  <a:lumMod val="40000"/>
                  <a:lumOff val="60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DBT</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19" name="圓角矩形 18"/>
              <p:cNvSpPr/>
              <p:nvPr/>
            </p:nvSpPr>
            <p:spPr bwMode="auto">
              <a:xfrm>
                <a:off x="3448972" y="4738160"/>
                <a:ext cx="1129113" cy="468052"/>
              </a:xfrm>
              <a:prstGeom prst="roundRect">
                <a:avLst/>
              </a:prstGeom>
              <a:solidFill>
                <a:schemeClr val="accent2">
                  <a:lumMod val="40000"/>
                  <a:lumOff val="60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DBT</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20" name="圓角矩形 19"/>
              <p:cNvSpPr/>
              <p:nvPr/>
            </p:nvSpPr>
            <p:spPr bwMode="auto">
              <a:xfrm>
                <a:off x="4739031" y="4738160"/>
                <a:ext cx="1129113" cy="468052"/>
              </a:xfrm>
              <a:prstGeom prst="roundRect">
                <a:avLst/>
              </a:prstGeom>
              <a:solidFill>
                <a:schemeClr val="accent2">
                  <a:lumMod val="40000"/>
                  <a:lumOff val="60000"/>
                </a:schemeClr>
              </a:solidFill>
              <a:ln w="15875" cap="flat" cmpd="sng" algn="ctr">
                <a:solidFill>
                  <a:schemeClr val="bg1">
                    <a:lumMod val="8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tx1"/>
                    </a:solidFill>
                    <a:effectLst/>
                    <a:latin typeface="+mn-lt"/>
                    <a:ea typeface="新細明體" pitchFamily="18" charset="-120"/>
                  </a:rPr>
                  <a:t>DBT</a:t>
                </a: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sp>
            <p:nvSpPr>
              <p:cNvPr id="21" name="向上箭號 20"/>
              <p:cNvSpPr/>
              <p:nvPr/>
            </p:nvSpPr>
            <p:spPr bwMode="auto">
              <a:xfrm>
                <a:off x="1259632" y="4270108"/>
                <a:ext cx="504057" cy="468052"/>
              </a:xfrm>
              <a:prstGeom prst="upArrow">
                <a:avLst/>
              </a:prstGeom>
              <a:solidFill>
                <a:srgbClr val="FF00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
            <p:nvSpPr>
              <p:cNvPr id="22" name="向上箭號 21"/>
              <p:cNvSpPr/>
              <p:nvPr/>
            </p:nvSpPr>
            <p:spPr bwMode="auto">
              <a:xfrm>
                <a:off x="2476865" y="4270108"/>
                <a:ext cx="504057" cy="468052"/>
              </a:xfrm>
              <a:prstGeom prst="upArrow">
                <a:avLst/>
              </a:prstGeom>
              <a:solidFill>
                <a:srgbClr val="FF00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
            <p:nvSpPr>
              <p:cNvPr id="23" name="向上箭號 22"/>
              <p:cNvSpPr/>
              <p:nvPr/>
            </p:nvSpPr>
            <p:spPr bwMode="auto">
              <a:xfrm>
                <a:off x="3761500" y="4270108"/>
                <a:ext cx="504057" cy="468052"/>
              </a:xfrm>
              <a:prstGeom prst="upArrow">
                <a:avLst/>
              </a:prstGeom>
              <a:solidFill>
                <a:srgbClr val="FF00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
            <p:nvSpPr>
              <p:cNvPr id="24" name="向上箭號 23"/>
              <p:cNvSpPr/>
              <p:nvPr/>
            </p:nvSpPr>
            <p:spPr bwMode="auto">
              <a:xfrm>
                <a:off x="5051559" y="4266398"/>
                <a:ext cx="504057" cy="468052"/>
              </a:xfrm>
              <a:prstGeom prst="upArrow">
                <a:avLst/>
              </a:prstGeom>
              <a:solidFill>
                <a:srgbClr val="FF00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grpSp>
      </p:grpSp>
      <p:pic>
        <p:nvPicPr>
          <p:cNvPr id="27" name="圖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1585651"/>
            <a:ext cx="3240360" cy="3912434"/>
          </a:xfrm>
          <a:prstGeom prst="rect">
            <a:avLst/>
          </a:prstGeom>
        </p:spPr>
      </p:pic>
      <p:sp>
        <p:nvSpPr>
          <p:cNvPr id="28" name="矩形 27"/>
          <p:cNvSpPr/>
          <p:nvPr/>
        </p:nvSpPr>
        <p:spPr bwMode="auto">
          <a:xfrm>
            <a:off x="395537" y="3814758"/>
            <a:ext cx="2016224" cy="1395070"/>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
        <p:nvSpPr>
          <p:cNvPr id="26" name="投影片編號版面配置區 25"/>
          <p:cNvSpPr>
            <a:spLocks noGrp="1"/>
          </p:cNvSpPr>
          <p:nvPr>
            <p:ph type="sldNum" sz="quarter" idx="10"/>
          </p:nvPr>
        </p:nvSpPr>
        <p:spPr/>
        <p:txBody>
          <a:bodyPr/>
          <a:lstStyle/>
          <a:p>
            <a:pPr>
              <a:defRPr/>
            </a:pPr>
            <a:fld id="{1A9115C5-2FF4-4A45-B75E-C3C89F0A7A51}" type="slidenum">
              <a:rPr lang="en-US" altLang="zh-TW" smtClean="0">
                <a:latin typeface="+mn-lt"/>
              </a:rPr>
              <a:pPr>
                <a:defRPr/>
              </a:pPr>
              <a:t>58</a:t>
            </a:fld>
            <a:endParaRPr lang="en-US" altLang="zh-TW">
              <a:latin typeface="+mn-lt"/>
            </a:endParaRPr>
          </a:p>
        </p:txBody>
      </p:sp>
      <p:sp>
        <p:nvSpPr>
          <p:cNvPr id="29" name="內容版面配置區 3"/>
          <p:cNvSpPr txBox="1">
            <a:spLocks/>
          </p:cNvSpPr>
          <p:nvPr/>
        </p:nvSpPr>
        <p:spPr bwMode="auto">
          <a:xfrm>
            <a:off x="4225561" y="5669584"/>
            <a:ext cx="4233334"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ctr" defTabSz="914400" rtl="0" eaLnBrk="0" fontAlgn="base" latinLnBrk="0" hangingPunct="0">
              <a:lnSpc>
                <a:spcPct val="100000"/>
              </a:lnSpc>
              <a:spcBef>
                <a:spcPct val="20000"/>
              </a:spcBef>
              <a:spcAft>
                <a:spcPct val="0"/>
              </a:spcAft>
              <a:buClr>
                <a:srgbClr val="0000FF"/>
              </a:buClr>
              <a:buSzPct val="80000"/>
              <a:tabLst/>
              <a:defRPr/>
            </a:pPr>
            <a:r>
              <a:rPr kumimoji="1" lang="en-US" altLang="zh-TW" sz="2000" b="0" i="0" u="none" strike="noStrike" kern="0" cap="none" spc="0" normalizeH="0" baseline="0" noProof="0" dirty="0" smtClean="0">
                <a:ln>
                  <a:noFill/>
                </a:ln>
                <a:solidFill>
                  <a:schemeClr val="tx1"/>
                </a:solidFill>
                <a:effectLst/>
                <a:uLnTx/>
                <a:uFillTx/>
                <a:latin typeface="+mn-lt"/>
                <a:ea typeface="標楷體" pitchFamily="65" charset="-120"/>
                <a:cs typeface="+mn-cs"/>
              </a:rPr>
              <a:t>Unified</a:t>
            </a:r>
            <a:r>
              <a:rPr kumimoji="1" lang="en-US" altLang="zh-TW" sz="2000" b="0" i="0" u="none" strike="noStrike" kern="0" cap="none" spc="0" normalizeH="0" noProof="0" dirty="0" smtClean="0">
                <a:ln>
                  <a:noFill/>
                </a:ln>
                <a:solidFill>
                  <a:schemeClr val="tx1"/>
                </a:solidFill>
                <a:effectLst/>
                <a:uLnTx/>
                <a:uFillTx/>
                <a:latin typeface="+mn-lt"/>
                <a:ea typeface="標楷體" pitchFamily="65" charset="-120"/>
                <a:cs typeface="+mn-cs"/>
              </a:rPr>
              <a:t> Code Cache (UCC) Model</a:t>
            </a:r>
            <a:endParaRPr kumimoji="1" lang="en-US" altLang="zh-TW" sz="2000" b="0" i="0" u="none" strike="noStrike" kern="0" cap="none" spc="0" normalizeH="0" baseline="0" noProof="0" dirty="0" smtClean="0">
              <a:ln>
                <a:noFill/>
              </a:ln>
              <a:solidFill>
                <a:schemeClr val="tx1"/>
              </a:solidFill>
              <a:effectLst/>
              <a:uLnTx/>
              <a:uFillTx/>
              <a:latin typeface="+mn-lt"/>
              <a:ea typeface="標楷體" pitchFamily="65" charset="-120"/>
              <a:cs typeface="+mn-cs"/>
            </a:endParaRPr>
          </a:p>
        </p:txBody>
      </p:sp>
      <p:sp>
        <p:nvSpPr>
          <p:cNvPr id="30" name="矩形 29"/>
          <p:cNvSpPr/>
          <p:nvPr/>
        </p:nvSpPr>
        <p:spPr>
          <a:xfrm>
            <a:off x="3059832" y="6186790"/>
            <a:ext cx="6048672" cy="584775"/>
          </a:xfrm>
          <a:prstGeom prst="rect">
            <a:avLst/>
          </a:prstGeom>
        </p:spPr>
        <p:txBody>
          <a:bodyPr wrap="square">
            <a:spAutoFit/>
          </a:bodyPr>
          <a:lstStyle/>
          <a:p>
            <a:r>
              <a:rPr lang="en-US" altLang="zh-TW" sz="1600" b="1" dirty="0" smtClean="0">
                <a:solidFill>
                  <a:schemeClr val="bg1"/>
                </a:solidFill>
                <a:latin typeface="+mn-lt"/>
              </a:rPr>
              <a:t>“PQEMU</a:t>
            </a:r>
            <a:r>
              <a:rPr lang="en-US" altLang="zh-TW" sz="1600" b="1" dirty="0">
                <a:solidFill>
                  <a:schemeClr val="bg1"/>
                </a:solidFill>
                <a:latin typeface="+mn-lt"/>
              </a:rPr>
              <a:t>: A Parallel System Emulator Based on </a:t>
            </a:r>
            <a:r>
              <a:rPr lang="en-US" altLang="zh-TW" sz="1600" b="1" dirty="0" smtClean="0">
                <a:solidFill>
                  <a:schemeClr val="bg1"/>
                </a:solidFill>
                <a:latin typeface="+mn-lt"/>
              </a:rPr>
              <a:t>QEMU” </a:t>
            </a:r>
            <a:r>
              <a:rPr lang="en-US" altLang="zh-TW" sz="1600" b="1" dirty="0">
                <a:solidFill>
                  <a:schemeClr val="bg1"/>
                </a:solidFill>
                <a:latin typeface="+mn-lt"/>
              </a:rPr>
              <a:t>(</a:t>
            </a:r>
            <a:r>
              <a:rPr lang="en-US" altLang="zh-TW" sz="1600" b="1" dirty="0" smtClean="0">
                <a:solidFill>
                  <a:schemeClr val="bg1"/>
                </a:solidFill>
                <a:latin typeface="+mn-lt"/>
              </a:rPr>
              <a:t>ICPADS 2011)</a:t>
            </a:r>
            <a:endParaRPr lang="zh-TW" altLang="en-US" sz="1600" b="1" dirty="0">
              <a:solidFill>
                <a:schemeClr val="bg1"/>
              </a:solidFill>
              <a:latin typeface="+mn-lt"/>
            </a:endParaRPr>
          </a:p>
        </p:txBody>
      </p:sp>
    </p:spTree>
    <p:extLst>
      <p:ext uri="{BB962C8B-B14F-4D97-AF65-F5344CB8AC3E}">
        <p14:creationId xmlns:p14="http://schemas.microsoft.com/office/powerpoint/2010/main" val="3372796339"/>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101504"/>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GPU Task Dispatcher (1)</a:t>
            </a:r>
            <a:endParaRPr lang="en-US" dirty="0">
              <a:latin typeface="+mn-lt"/>
            </a:endParaRPr>
          </a:p>
        </p:txBody>
      </p:sp>
      <p:sp>
        <p:nvSpPr>
          <p:cNvPr id="3" name="矩形 2"/>
          <p:cNvSpPr/>
          <p:nvPr/>
        </p:nvSpPr>
        <p:spPr bwMode="auto">
          <a:xfrm>
            <a:off x="611561" y="2852936"/>
            <a:ext cx="2304256" cy="1054720"/>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內容版面配置區 3"/>
          <p:cNvSpPr>
            <a:spLocks noGrp="1"/>
          </p:cNvSpPr>
          <p:nvPr>
            <p:ph idx="1"/>
          </p:nvPr>
        </p:nvSpPr>
        <p:spPr>
          <a:xfrm>
            <a:off x="3563888" y="1268760"/>
            <a:ext cx="5508104" cy="4464496"/>
          </a:xfrm>
        </p:spPr>
        <p:txBody>
          <a:bodyPr/>
          <a:lstStyle/>
          <a:p>
            <a:r>
              <a:rPr lang="en-US" altLang="zh-TW" sz="2400" dirty="0" smtClean="0">
                <a:latin typeface="+mn-lt"/>
              </a:rPr>
              <a:t>AQL Command Monitor</a:t>
            </a:r>
          </a:p>
          <a:p>
            <a:pPr lvl="1">
              <a:spcBef>
                <a:spcPts val="0"/>
              </a:spcBef>
            </a:pPr>
            <a:r>
              <a:rPr lang="en-US" altLang="zh-TW" sz="2000" dirty="0" smtClean="0">
                <a:latin typeface="+mn-lt"/>
              </a:rPr>
              <a:t>Receive signal from HSA Signal Handler</a:t>
            </a:r>
          </a:p>
          <a:p>
            <a:pPr lvl="1">
              <a:spcBef>
                <a:spcPts val="0"/>
              </a:spcBef>
            </a:pPr>
            <a:r>
              <a:rPr lang="en-US" altLang="zh-TW" sz="2000" dirty="0" smtClean="0">
                <a:latin typeface="+mn-lt"/>
              </a:rPr>
              <a:t>Copy AQL </a:t>
            </a:r>
            <a:r>
              <a:rPr lang="en-US" altLang="zh-TW" sz="2000" dirty="0">
                <a:latin typeface="+mn-lt"/>
              </a:rPr>
              <a:t>packets </a:t>
            </a:r>
            <a:r>
              <a:rPr lang="en-US" altLang="zh-TW" sz="2000" dirty="0" smtClean="0">
                <a:latin typeface="+mn-lt"/>
              </a:rPr>
              <a:t>from User Mode Queue to HW AQL Queue</a:t>
            </a:r>
          </a:p>
          <a:p>
            <a:pPr lvl="1">
              <a:spcBef>
                <a:spcPts val="0"/>
              </a:spcBef>
            </a:pPr>
            <a:r>
              <a:rPr lang="en-US" altLang="zh-TW" sz="2000" dirty="0" smtClean="0">
                <a:latin typeface="+mn-lt"/>
              </a:rPr>
              <a:t>Launch AQL Packet Worker</a:t>
            </a:r>
          </a:p>
          <a:p>
            <a:endParaRPr lang="en-US" altLang="zh-TW" sz="2400" dirty="0" smtClean="0">
              <a:latin typeface="+mn-lt"/>
            </a:endParaRPr>
          </a:p>
          <a:p>
            <a:r>
              <a:rPr lang="en-US" altLang="zh-TW" sz="2400" dirty="0" smtClean="0">
                <a:latin typeface="+mn-lt"/>
              </a:rPr>
              <a:t>AQL Packet Worker</a:t>
            </a:r>
          </a:p>
          <a:p>
            <a:pPr lvl="1">
              <a:spcBef>
                <a:spcPts val="0"/>
              </a:spcBef>
            </a:pPr>
            <a:r>
              <a:rPr lang="en-US" altLang="zh-TW" sz="2000" dirty="0" err="1" smtClean="0">
                <a:latin typeface="+mn-lt"/>
              </a:rPr>
              <a:t>Dequeue</a:t>
            </a:r>
            <a:r>
              <a:rPr lang="en-US" altLang="zh-TW" sz="2000" dirty="0" smtClean="0">
                <a:latin typeface="+mn-lt"/>
              </a:rPr>
              <a:t> AQL packets from HW AQL Queue</a:t>
            </a:r>
          </a:p>
          <a:p>
            <a:pPr lvl="1">
              <a:spcBef>
                <a:spcPts val="0"/>
              </a:spcBef>
            </a:pPr>
            <a:r>
              <a:rPr lang="en-US" altLang="zh-TW" sz="2000" dirty="0" smtClean="0">
                <a:latin typeface="+mn-lt"/>
              </a:rPr>
              <a:t>Parse AQL packet</a:t>
            </a:r>
          </a:p>
          <a:p>
            <a:pPr lvl="1">
              <a:spcBef>
                <a:spcPts val="0"/>
              </a:spcBef>
            </a:pPr>
            <a:r>
              <a:rPr lang="en-US" altLang="zh-TW" sz="2000" dirty="0" smtClean="0">
                <a:latin typeface="+mn-lt"/>
              </a:rPr>
              <a:t>Dispatch kernel jobs to Fast-GPU Simulator or M2S-GPU Simulator according to the kernel information</a:t>
            </a:r>
          </a:p>
        </p:txBody>
      </p:sp>
      <p:sp>
        <p:nvSpPr>
          <p:cNvPr id="7" name="投影片編號版面配置區 6"/>
          <p:cNvSpPr>
            <a:spLocks noGrp="1"/>
          </p:cNvSpPr>
          <p:nvPr>
            <p:ph type="sldNum" sz="quarter" idx="10"/>
          </p:nvPr>
        </p:nvSpPr>
        <p:spPr/>
        <p:txBody>
          <a:bodyPr/>
          <a:lstStyle/>
          <a:p>
            <a:pPr>
              <a:defRPr/>
            </a:pPr>
            <a:fld id="{1A9115C5-2FF4-4A45-B75E-C3C89F0A7A51}" type="slidenum">
              <a:rPr lang="en-US" altLang="zh-TW" smtClean="0">
                <a:latin typeface="+mn-lt"/>
              </a:rPr>
              <a:pPr>
                <a:defRPr/>
              </a:pPr>
              <a:t>59</a:t>
            </a:fld>
            <a:endParaRPr lang="en-US" altLang="zh-TW">
              <a:latin typeface="+mn-lt"/>
            </a:endParaRPr>
          </a:p>
        </p:txBody>
      </p:sp>
    </p:spTree>
    <p:extLst>
      <p:ext uri="{BB962C8B-B14F-4D97-AF65-F5344CB8AC3E}">
        <p14:creationId xmlns:p14="http://schemas.microsoft.com/office/powerpoint/2010/main" val="41078442"/>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560" y="1440853"/>
            <a:ext cx="8374398" cy="4652443"/>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GPU Task Dispatcher (2)</a:t>
            </a:r>
            <a:endParaRPr lang="en-US" dirty="0">
              <a:latin typeface="+mn-lt"/>
            </a:endParaRPr>
          </a:p>
        </p:txBody>
      </p:sp>
      <p:sp>
        <p:nvSpPr>
          <p:cNvPr id="8" name="內容版面配置區 7"/>
          <p:cNvSpPr>
            <a:spLocks noGrp="1"/>
          </p:cNvSpPr>
          <p:nvPr>
            <p:ph idx="1"/>
          </p:nvPr>
        </p:nvSpPr>
        <p:spPr>
          <a:xfrm>
            <a:off x="107504" y="1125438"/>
            <a:ext cx="8229600" cy="431354"/>
          </a:xfrm>
        </p:spPr>
        <p:txBody>
          <a:bodyPr/>
          <a:lstStyle/>
          <a:p>
            <a:r>
              <a:rPr lang="en-US" altLang="zh-TW" dirty="0" smtClean="0">
                <a:latin typeface="+mn-lt"/>
              </a:rPr>
              <a:t>Execution Flow </a:t>
            </a:r>
            <a:endParaRPr lang="zh-TW" altLang="en-US" dirty="0">
              <a:latin typeface="+mn-lt"/>
            </a:endParaRPr>
          </a:p>
        </p:txBody>
      </p:sp>
      <p:sp>
        <p:nvSpPr>
          <p:cNvPr id="5" name="投影片編號版面配置區 4"/>
          <p:cNvSpPr>
            <a:spLocks noGrp="1"/>
          </p:cNvSpPr>
          <p:nvPr>
            <p:ph type="sldNum" sz="quarter" idx="10"/>
          </p:nvPr>
        </p:nvSpPr>
        <p:spPr/>
        <p:txBody>
          <a:bodyPr/>
          <a:lstStyle/>
          <a:p>
            <a:pPr>
              <a:defRPr/>
            </a:pPr>
            <a:fld id="{1A9115C5-2FF4-4A45-B75E-C3C89F0A7A51}" type="slidenum">
              <a:rPr lang="en-US" altLang="zh-TW" smtClean="0">
                <a:latin typeface="+mn-lt"/>
              </a:rPr>
              <a:pPr>
                <a:defRPr/>
              </a:pPr>
              <a:t>60</a:t>
            </a:fld>
            <a:endParaRPr lang="en-US" altLang="zh-TW">
              <a:latin typeface="+mn-lt"/>
            </a:endParaRPr>
          </a:p>
        </p:txBody>
      </p:sp>
      <p:sp>
        <p:nvSpPr>
          <p:cNvPr id="6" name="圓角矩形圖說文字 5"/>
          <p:cNvSpPr/>
          <p:nvPr/>
        </p:nvSpPr>
        <p:spPr bwMode="auto">
          <a:xfrm>
            <a:off x="2051720" y="2348880"/>
            <a:ext cx="2736304" cy="1440160"/>
          </a:xfrm>
          <a:prstGeom prst="wedgeRoundRectCallout">
            <a:avLst>
              <a:gd name="adj1" fmla="val -21363"/>
              <a:gd name="adj2" fmla="val 76610"/>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Signal from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HSA Signal</a:t>
            </a:r>
            <a:r>
              <a:rPr kumimoji="1" lang="en-US" altLang="zh-TW" sz="1800" b="1" i="0" u="none" strike="noStrike" cap="none" normalizeH="0" dirty="0" smtClean="0">
                <a:ln>
                  <a:noFill/>
                </a:ln>
                <a:solidFill>
                  <a:schemeClr val="bg1"/>
                </a:solidFill>
                <a:effectLst/>
                <a:latin typeface="+mn-lt"/>
                <a:ea typeface="新細明體" pitchFamily="18" charset="-120"/>
              </a:rPr>
              <a:t> Handler</a:t>
            </a:r>
            <a:endParaRPr kumimoji="1" lang="zh-TW" altLang="en-US" sz="1800" b="1" i="0" u="none" strike="noStrike" cap="none" normalizeH="0" baseline="0" dirty="0" smtClean="0">
              <a:ln>
                <a:noFill/>
              </a:ln>
              <a:solidFill>
                <a:schemeClr val="bg1"/>
              </a:solidFill>
              <a:effectLst/>
              <a:latin typeface="+mn-lt"/>
              <a:ea typeface="新細明體" pitchFamily="18" charset="-120"/>
            </a:endParaRPr>
          </a:p>
        </p:txBody>
      </p:sp>
      <p:sp>
        <p:nvSpPr>
          <p:cNvPr id="12" name="圓角矩形圖說文字 11"/>
          <p:cNvSpPr/>
          <p:nvPr/>
        </p:nvSpPr>
        <p:spPr bwMode="auto">
          <a:xfrm>
            <a:off x="3275856" y="4005064"/>
            <a:ext cx="2736304" cy="1440160"/>
          </a:xfrm>
          <a:prstGeom prst="wedgeRoundRectCallout">
            <a:avLst>
              <a:gd name="adj1" fmla="val -22755"/>
              <a:gd name="adj2" fmla="val -70658"/>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Copy</a:t>
            </a:r>
            <a:r>
              <a:rPr kumimoji="1" lang="en-US" altLang="zh-TW" sz="1800" b="1" i="0" u="none" strike="noStrike" cap="none" normalizeH="0" dirty="0" smtClean="0">
                <a:ln>
                  <a:noFill/>
                </a:ln>
                <a:solidFill>
                  <a:schemeClr val="bg1"/>
                </a:solidFill>
                <a:effectLst/>
                <a:latin typeface="+mn-lt"/>
                <a:ea typeface="新細明體" pitchFamily="18" charset="-120"/>
              </a:rPr>
              <a:t> AQL Packets from</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baseline="0" dirty="0" smtClean="0">
                <a:solidFill>
                  <a:schemeClr val="bg1"/>
                </a:solidFill>
                <a:latin typeface="+mn-lt"/>
                <a:ea typeface="新細明體" pitchFamily="18" charset="-120"/>
              </a:rPr>
              <a:t>User</a:t>
            </a:r>
            <a:r>
              <a:rPr lang="en-US" altLang="zh-TW" sz="1800" b="1" dirty="0" smtClean="0">
                <a:solidFill>
                  <a:schemeClr val="bg1"/>
                </a:solidFill>
                <a:latin typeface="+mn-lt"/>
                <a:ea typeface="新細明體" pitchFamily="18" charset="-120"/>
              </a:rPr>
              <a:t> Mode Queue</a:t>
            </a:r>
            <a:r>
              <a:rPr lang="zh-TW" altLang="en-US" sz="1800" b="1" dirty="0" smtClean="0">
                <a:solidFill>
                  <a:schemeClr val="bg1"/>
                </a:solidFill>
                <a:latin typeface="+mn-lt"/>
                <a:ea typeface="新細明體" pitchFamily="18" charset="-120"/>
              </a:rPr>
              <a:t> </a:t>
            </a:r>
            <a:r>
              <a:rPr lang="en-US" altLang="zh-TW" sz="1800" b="1" dirty="0" smtClean="0">
                <a:solidFill>
                  <a:schemeClr val="bg1"/>
                </a:solidFill>
                <a:latin typeface="+mn-lt"/>
                <a:ea typeface="新細明體" pitchFamily="18" charset="-120"/>
              </a:rPr>
              <a:t>to</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HW AQL Queue</a:t>
            </a:r>
          </a:p>
        </p:txBody>
      </p:sp>
      <p:sp>
        <p:nvSpPr>
          <p:cNvPr id="13" name="圓角矩形圖說文字 12"/>
          <p:cNvSpPr/>
          <p:nvPr/>
        </p:nvSpPr>
        <p:spPr bwMode="auto">
          <a:xfrm>
            <a:off x="4355976" y="2348880"/>
            <a:ext cx="2736304" cy="1440160"/>
          </a:xfrm>
          <a:prstGeom prst="wedgeRoundRectCallout">
            <a:avLst>
              <a:gd name="adj1" fmla="val -21363"/>
              <a:gd name="adj2" fmla="val 76610"/>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Launch</a:t>
            </a:r>
            <a:r>
              <a:rPr kumimoji="1" lang="en-US" altLang="zh-TW" sz="1800" b="1" i="0" u="none" strike="noStrike" cap="none" normalizeH="0" baseline="0" dirty="0" smtClean="0">
                <a:ln>
                  <a:noFill/>
                </a:ln>
                <a:solidFill>
                  <a:schemeClr val="bg1"/>
                </a:solidFill>
                <a:effectLst/>
                <a:latin typeface="+mn-lt"/>
                <a:ea typeface="新細明體" pitchFamily="18" charset="-120"/>
              </a:rPr>
              <a:t>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AQL</a:t>
            </a:r>
            <a:r>
              <a:rPr kumimoji="1" lang="en-US" altLang="zh-TW" sz="1800" b="1" i="0" u="none" strike="noStrike" cap="none" normalizeH="0" dirty="0" smtClean="0">
                <a:ln>
                  <a:noFill/>
                </a:ln>
                <a:solidFill>
                  <a:schemeClr val="bg1"/>
                </a:solidFill>
                <a:effectLst/>
                <a:latin typeface="+mn-lt"/>
                <a:ea typeface="新細明體" pitchFamily="18" charset="-120"/>
              </a:rPr>
              <a:t> Packet  Worker</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a:solidFill>
                  <a:schemeClr val="bg1"/>
                </a:solidFill>
                <a:latin typeface="+mn-lt"/>
                <a:ea typeface="新細明體" pitchFamily="18" charset="-120"/>
              </a:rPr>
              <a:t>t</a:t>
            </a:r>
            <a:r>
              <a:rPr lang="en-US" altLang="zh-TW" sz="1800" b="1" baseline="0" dirty="0" smtClean="0">
                <a:solidFill>
                  <a:schemeClr val="bg1"/>
                </a:solidFill>
                <a:latin typeface="+mn-lt"/>
                <a:ea typeface="新細明體" pitchFamily="18" charset="-120"/>
              </a:rPr>
              <a:t>o Parse</a:t>
            </a:r>
            <a:r>
              <a:rPr lang="en-US" altLang="zh-TW" sz="1800" b="1" dirty="0" smtClean="0">
                <a:solidFill>
                  <a:schemeClr val="bg1"/>
                </a:solidFill>
                <a:latin typeface="+mn-lt"/>
                <a:ea typeface="新細明體" pitchFamily="18" charset="-120"/>
              </a:rPr>
              <a:t> AQL Packet</a:t>
            </a:r>
            <a:endParaRPr kumimoji="1" lang="zh-TW" altLang="en-US" sz="1800" b="1" i="0" u="none" strike="noStrike" cap="none" normalizeH="0" baseline="0" dirty="0" smtClean="0">
              <a:ln>
                <a:noFill/>
              </a:ln>
              <a:solidFill>
                <a:schemeClr val="bg1"/>
              </a:solidFill>
              <a:effectLst/>
              <a:latin typeface="+mn-lt"/>
              <a:ea typeface="新細明體" pitchFamily="18" charset="-120"/>
            </a:endParaRPr>
          </a:p>
        </p:txBody>
      </p:sp>
      <p:sp>
        <p:nvSpPr>
          <p:cNvPr id="14" name="圓角矩形圖說文字 13"/>
          <p:cNvSpPr/>
          <p:nvPr/>
        </p:nvSpPr>
        <p:spPr bwMode="auto">
          <a:xfrm>
            <a:off x="5220072" y="3429000"/>
            <a:ext cx="2565085" cy="1440160"/>
          </a:xfrm>
          <a:prstGeom prst="wedgeRoundRectCallout">
            <a:avLst>
              <a:gd name="adj1" fmla="val -21363"/>
              <a:gd name="adj2" fmla="val 76610"/>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Launch</a:t>
            </a:r>
            <a:r>
              <a:rPr kumimoji="1" lang="en-US" altLang="zh-TW" sz="1800" b="1" i="0" u="none" strike="noStrike" cap="none" normalizeH="0" dirty="0" smtClean="0">
                <a:ln>
                  <a:noFill/>
                </a:ln>
                <a:solidFill>
                  <a:schemeClr val="bg1"/>
                </a:solidFill>
                <a:effectLst/>
                <a:latin typeface="+mn-lt"/>
                <a:ea typeface="新細明體" pitchFamily="18" charset="-120"/>
              </a:rPr>
              <a:t> Fast-GPU</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baseline="0" dirty="0" smtClean="0">
                <a:solidFill>
                  <a:schemeClr val="bg1"/>
                </a:solidFill>
                <a:latin typeface="+mn-lt"/>
                <a:ea typeface="新細明體" pitchFamily="18" charset="-120"/>
              </a:rPr>
              <a:t>Simulator</a:t>
            </a:r>
            <a:endParaRPr kumimoji="1" lang="zh-TW" altLang="en-US" sz="1800" b="1" i="0" u="none" strike="noStrike" cap="none" normalizeH="0" baseline="0" dirty="0" smtClean="0">
              <a:ln>
                <a:noFill/>
              </a:ln>
              <a:solidFill>
                <a:schemeClr val="bg1"/>
              </a:solidFill>
              <a:effectLst/>
              <a:latin typeface="+mn-lt"/>
              <a:ea typeface="新細明體" pitchFamily="18" charset="-120"/>
            </a:endParaRPr>
          </a:p>
        </p:txBody>
      </p:sp>
      <p:sp>
        <p:nvSpPr>
          <p:cNvPr id="15" name="圓角矩形圖說文字 14"/>
          <p:cNvSpPr/>
          <p:nvPr/>
        </p:nvSpPr>
        <p:spPr bwMode="auto">
          <a:xfrm>
            <a:off x="6300192" y="3501008"/>
            <a:ext cx="2376264" cy="1440160"/>
          </a:xfrm>
          <a:prstGeom prst="wedgeRoundRectCallout">
            <a:avLst>
              <a:gd name="adj1" fmla="val -21363"/>
              <a:gd name="adj2" fmla="val 76610"/>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Launch </a:t>
            </a:r>
            <a:r>
              <a:rPr kumimoji="1" lang="en-US" altLang="zh-TW" sz="1800" b="1" i="0" u="none" strike="noStrike" cap="none" normalizeH="0" dirty="0" smtClean="0">
                <a:ln>
                  <a:noFill/>
                </a:ln>
                <a:solidFill>
                  <a:schemeClr val="bg1"/>
                </a:solidFill>
                <a:effectLst/>
                <a:latin typeface="+mn-lt"/>
                <a:ea typeface="新細明體" pitchFamily="18" charset="-120"/>
              </a:rPr>
              <a:t>M2S-GPU </a:t>
            </a:r>
          </a:p>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dirty="0" smtClean="0">
                <a:ln>
                  <a:noFill/>
                </a:ln>
                <a:solidFill>
                  <a:schemeClr val="bg1"/>
                </a:solidFill>
                <a:effectLst/>
                <a:latin typeface="+mn-lt"/>
                <a:ea typeface="新細明體" pitchFamily="18" charset="-120"/>
              </a:rPr>
              <a:t>Simulator</a:t>
            </a:r>
            <a:endParaRPr kumimoji="1" lang="zh-TW" altLang="en-US" sz="1800" b="1" i="0" u="none" strike="noStrike" cap="none" normalizeH="0" baseline="0" dirty="0" smtClean="0">
              <a:ln>
                <a:noFill/>
              </a:ln>
              <a:solidFill>
                <a:schemeClr val="bg1"/>
              </a:solidFill>
              <a:effectLst/>
              <a:latin typeface="+mn-lt"/>
              <a:ea typeface="新細明體" pitchFamily="18" charset="-120"/>
            </a:endParaRPr>
          </a:p>
        </p:txBody>
      </p:sp>
    </p:spTree>
    <p:extLst>
      <p:ext uri="{BB962C8B-B14F-4D97-AF65-F5344CB8AC3E}">
        <p14:creationId xmlns:p14="http://schemas.microsoft.com/office/powerpoint/2010/main" val="17216523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1" nodeType="clickEffect">
                                  <p:stCondLst>
                                    <p:cond delay="0"/>
                                  </p:stCondLst>
                                  <p:childTnLst>
                                    <p:animEffect transition="out" filter="box(i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ox(i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xit" presetSubtype="16" fill="hold" grpId="1" nodeType="clickEffect">
                                  <p:stCondLst>
                                    <p:cond delay="0"/>
                                  </p:stCondLst>
                                  <p:childTnLst>
                                    <p:animEffect transition="out" filter="box(in)">
                                      <p:cBhvr>
                                        <p:cTn id="20" dur="500"/>
                                        <p:tgtEl>
                                          <p:spTgt spid="12"/>
                                        </p:tgtEl>
                                      </p:cBhvr>
                                    </p:animEffect>
                                    <p:set>
                                      <p:cBhvr>
                                        <p:cTn id="21" dur="1" fill="hold">
                                          <p:stCondLst>
                                            <p:cond delay="499"/>
                                          </p:stCondLst>
                                        </p:cTn>
                                        <p:tgtEl>
                                          <p:spTgt spid="12"/>
                                        </p:tgtEl>
                                        <p:attrNameLst>
                                          <p:attrName>style.visibility</p:attrName>
                                        </p:attrNameLst>
                                      </p:cBhvr>
                                      <p:to>
                                        <p:strVal val="hidden"/>
                                      </p:to>
                                    </p:set>
                                  </p:childTnLst>
                                </p:cTn>
                              </p:par>
                            </p:childTnLst>
                          </p:cTn>
                        </p:par>
                        <p:par>
                          <p:cTn id="22" fill="hold">
                            <p:stCondLst>
                              <p:cond delay="500"/>
                            </p:stCondLst>
                            <p:childTnLst>
                              <p:par>
                                <p:cTn id="23" presetID="4"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xit" presetSubtype="16" fill="hold" grpId="1" nodeType="clickEffect">
                                  <p:stCondLst>
                                    <p:cond delay="0"/>
                                  </p:stCondLst>
                                  <p:childTnLst>
                                    <p:animEffect transition="out" filter="box(in)">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childTnLst>
                          </p:cTn>
                        </p:par>
                        <p:par>
                          <p:cTn id="31" fill="hold">
                            <p:stCondLst>
                              <p:cond delay="500"/>
                            </p:stCondLst>
                            <p:childTnLst>
                              <p:par>
                                <p:cTn id="32" presetID="4" presetClass="entr" presetSubtype="16"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ox(in)">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xit" presetSubtype="16" fill="hold" grpId="1" nodeType="clickEffect">
                                  <p:stCondLst>
                                    <p:cond delay="0"/>
                                  </p:stCondLst>
                                  <p:childTnLst>
                                    <p:animEffect transition="out" filter="box(in)">
                                      <p:cBhvr>
                                        <p:cTn id="38" dur="500"/>
                                        <p:tgtEl>
                                          <p:spTgt spid="14"/>
                                        </p:tgtEl>
                                      </p:cBhvr>
                                    </p:animEffect>
                                    <p:set>
                                      <p:cBhvr>
                                        <p:cTn id="39" dur="1" fill="hold">
                                          <p:stCondLst>
                                            <p:cond delay="499"/>
                                          </p:stCondLst>
                                        </p:cTn>
                                        <p:tgtEl>
                                          <p:spTgt spid="14"/>
                                        </p:tgtEl>
                                        <p:attrNameLst>
                                          <p:attrName>style.visibility</p:attrName>
                                        </p:attrNameLst>
                                      </p:cBhvr>
                                      <p:to>
                                        <p:strVal val="hidden"/>
                                      </p:to>
                                    </p:set>
                                  </p:childTnLst>
                                </p:cTn>
                              </p:par>
                            </p:childTnLst>
                          </p:cTn>
                        </p:par>
                        <p:par>
                          <p:cTn id="40" fill="hold">
                            <p:stCondLst>
                              <p:cond delay="500"/>
                            </p:stCondLst>
                            <p:childTnLst>
                              <p:par>
                                <p:cTn id="41" presetID="4" presetClass="entr" presetSubtype="16"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ox(in)">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2" grpId="0" animBg="1"/>
      <p:bldP spid="12" grpId="1" animBg="1"/>
      <p:bldP spid="13" grpId="0" animBg="1"/>
      <p:bldP spid="13" grpId="1" animBg="1"/>
      <p:bldP spid="14" grpId="0" animBg="1"/>
      <p:bldP spid="14" grpId="1" animBg="1"/>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89312"/>
            <a:ext cx="3050019" cy="5051162"/>
          </a:xfrm>
          <a:prstGeom prst="rect">
            <a:avLst/>
          </a:prstGeom>
        </p:spPr>
      </p:pic>
      <p:sp>
        <p:nvSpPr>
          <p:cNvPr id="2" name="Title 1"/>
          <p:cNvSpPr>
            <a:spLocks noGrp="1"/>
          </p:cNvSpPr>
          <p:nvPr>
            <p:ph type="title"/>
          </p:nvPr>
        </p:nvSpPr>
        <p:spPr>
          <a:xfrm>
            <a:off x="323528" y="188640"/>
            <a:ext cx="7343279" cy="692150"/>
          </a:xfrm>
        </p:spPr>
        <p:txBody>
          <a:bodyPr/>
          <a:lstStyle/>
          <a:p>
            <a:r>
              <a:rPr lang="en-US" dirty="0" smtClean="0">
                <a:latin typeface="+mn-lt"/>
              </a:rPr>
              <a:t>Fast-GPU Simulator</a:t>
            </a:r>
            <a:endParaRPr lang="en-US" dirty="0">
              <a:latin typeface="+mn-lt"/>
            </a:endParaRPr>
          </a:p>
        </p:txBody>
      </p:sp>
      <p:sp>
        <p:nvSpPr>
          <p:cNvPr id="3" name="矩形 2"/>
          <p:cNvSpPr/>
          <p:nvPr/>
        </p:nvSpPr>
        <p:spPr bwMode="auto">
          <a:xfrm>
            <a:off x="467544" y="3933056"/>
            <a:ext cx="1296144" cy="1440160"/>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Content Placeholder 2"/>
          <p:cNvSpPr txBox="1">
            <a:spLocks/>
          </p:cNvSpPr>
          <p:nvPr/>
        </p:nvSpPr>
        <p:spPr bwMode="auto">
          <a:xfrm>
            <a:off x="3563889" y="1196752"/>
            <a:ext cx="5472608" cy="4536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dirty="0" smtClean="0">
                <a:latin typeface="+mn-lt"/>
              </a:rPr>
              <a:t>A functional-accurate simulator for generic GPU model simulation</a:t>
            </a:r>
          </a:p>
          <a:p>
            <a:pPr lvl="1"/>
            <a:r>
              <a:rPr lang="en-US" altLang="zh-TW" dirty="0" smtClean="0">
                <a:latin typeface="+mn-lt"/>
              </a:rPr>
              <a:t>HSAIL Translator </a:t>
            </a:r>
            <a:endParaRPr lang="en-US" altLang="zh-TW" dirty="0" smtClean="0">
              <a:latin typeface="+mn-lt"/>
              <a:cs typeface="Arial" pitchFamily="34" charset="0"/>
            </a:endParaRPr>
          </a:p>
          <a:p>
            <a:pPr lvl="2"/>
            <a:r>
              <a:rPr lang="en-US" altLang="zh-TW" dirty="0" smtClean="0">
                <a:latin typeface="+mn-lt"/>
              </a:rPr>
              <a:t>Act as a </a:t>
            </a:r>
            <a:r>
              <a:rPr lang="en-US" altLang="zh-TW" dirty="0" err="1" smtClean="0">
                <a:latin typeface="+mn-lt"/>
              </a:rPr>
              <a:t>Finalizer</a:t>
            </a:r>
            <a:endParaRPr lang="en-US" altLang="zh-TW" dirty="0" smtClean="0">
              <a:latin typeface="+mn-lt"/>
            </a:endParaRPr>
          </a:p>
          <a:p>
            <a:pPr lvl="2"/>
            <a:r>
              <a:rPr lang="en-US" altLang="zh-TW" dirty="0" smtClean="0">
                <a:latin typeface="+mn-lt"/>
              </a:rPr>
              <a:t>Use static binary translation technique  to translate BRIG file to host executable binary file (x86) based on LLVM</a:t>
            </a:r>
          </a:p>
          <a:p>
            <a:pPr lvl="2"/>
            <a:r>
              <a:rPr lang="en-US" altLang="zh-TW" dirty="0" smtClean="0">
                <a:latin typeface="+mn-lt"/>
              </a:rPr>
              <a:t>Host SSE instruction optimization</a:t>
            </a:r>
          </a:p>
          <a:p>
            <a:pPr lvl="1"/>
            <a:r>
              <a:rPr lang="en-US" altLang="zh-TW" dirty="0" smtClean="0">
                <a:latin typeface="+mn-lt"/>
              </a:rPr>
              <a:t>GPU Thread Scheduler</a:t>
            </a:r>
          </a:p>
          <a:p>
            <a:pPr lvl="2"/>
            <a:r>
              <a:rPr lang="en-US" altLang="zh-TW" dirty="0" smtClean="0">
                <a:latin typeface="+mn-lt"/>
              </a:rPr>
              <a:t>Simulate a generic GPU model</a:t>
            </a:r>
          </a:p>
        </p:txBody>
      </p:sp>
      <p:sp>
        <p:nvSpPr>
          <p:cNvPr id="9" name="投影片編號版面配置區 8"/>
          <p:cNvSpPr>
            <a:spLocks noGrp="1"/>
          </p:cNvSpPr>
          <p:nvPr>
            <p:ph type="sldNum" sz="quarter" idx="10"/>
          </p:nvPr>
        </p:nvSpPr>
        <p:spPr/>
        <p:txBody>
          <a:bodyPr/>
          <a:lstStyle/>
          <a:p>
            <a:pPr>
              <a:defRPr/>
            </a:pPr>
            <a:fld id="{1A9115C5-2FF4-4A45-B75E-C3C89F0A7A51}" type="slidenum">
              <a:rPr lang="en-US" altLang="zh-TW" smtClean="0">
                <a:latin typeface="+mn-lt"/>
              </a:rPr>
              <a:pPr>
                <a:defRPr/>
              </a:pPr>
              <a:t>61</a:t>
            </a:fld>
            <a:endParaRPr lang="en-US" altLang="zh-TW">
              <a:latin typeface="+mn-lt"/>
            </a:endParaRPr>
          </a:p>
        </p:txBody>
      </p:sp>
    </p:spTree>
    <p:extLst>
      <p:ext uri="{BB962C8B-B14F-4D97-AF65-F5344CB8AC3E}">
        <p14:creationId xmlns:p14="http://schemas.microsoft.com/office/powerpoint/2010/main" val="2707453441"/>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991351" cy="692150"/>
          </a:xfrm>
        </p:spPr>
        <p:txBody>
          <a:bodyPr/>
          <a:lstStyle/>
          <a:p>
            <a:r>
              <a:rPr lang="en-US" dirty="0" smtClean="0">
                <a:latin typeface="+mn-lt"/>
              </a:rPr>
              <a:t>HSAIL Translator</a:t>
            </a:r>
            <a:endParaRPr lang="en-US" dirty="0">
              <a:latin typeface="+mn-lt"/>
            </a:endParaRPr>
          </a:p>
        </p:txBody>
      </p:sp>
      <p:pic>
        <p:nvPicPr>
          <p:cNvPr id="7" name="Picture 2" descr="\\vmware-host\Shared Folders\Desktop\MTK\figure_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628800"/>
            <a:ext cx="8628016" cy="4464496"/>
          </a:xfrm>
          <a:prstGeom prst="rect">
            <a:avLst/>
          </a:prstGeom>
          <a:noFill/>
          <a:extLst>
            <a:ext uri="{909E8E84-426E-40DD-AFC4-6F175D3DCCD1}">
              <a14:hiddenFill xmlns:a14="http://schemas.microsoft.com/office/drawing/2010/main">
                <a:solidFill>
                  <a:srgbClr val="FFFFFF"/>
                </a:solidFill>
              </a14:hiddenFill>
            </a:ext>
          </a:extLst>
        </p:spPr>
      </p:pic>
      <p:sp>
        <p:nvSpPr>
          <p:cNvPr id="4" name="圓角矩形圖說文字 3"/>
          <p:cNvSpPr/>
          <p:nvPr/>
        </p:nvSpPr>
        <p:spPr bwMode="auto">
          <a:xfrm>
            <a:off x="2699792" y="3140968"/>
            <a:ext cx="2565085" cy="1440160"/>
          </a:xfrm>
          <a:prstGeom prst="wedgeRoundRectCallout">
            <a:avLst>
              <a:gd name="adj1" fmla="val -20797"/>
              <a:gd name="adj2" fmla="val -77587"/>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Read BRIG </a:t>
            </a:r>
            <a:r>
              <a:rPr lang="en-US" altLang="zh-TW" sz="1800" b="1" dirty="0" smtClean="0">
                <a:solidFill>
                  <a:schemeClr val="bg1"/>
                </a:solidFill>
                <a:latin typeface="+mn-lt"/>
                <a:ea typeface="新細明體" pitchFamily="18" charset="-120"/>
              </a:rPr>
              <a:t>F</a:t>
            </a:r>
            <a:r>
              <a:rPr kumimoji="1" lang="en-US" altLang="zh-TW" sz="1800" b="1" i="0" u="none" strike="noStrike" cap="none" normalizeH="0" baseline="0" dirty="0" smtClean="0">
                <a:ln>
                  <a:noFill/>
                </a:ln>
                <a:solidFill>
                  <a:schemeClr val="bg1"/>
                </a:solidFill>
                <a:effectLst/>
                <a:latin typeface="+mn-lt"/>
                <a:ea typeface="新細明體" pitchFamily="18" charset="-120"/>
              </a:rPr>
              <a:t>ile </a:t>
            </a:r>
            <a:r>
              <a:rPr lang="en-US" altLang="zh-TW" sz="1800" b="1" dirty="0" smtClean="0">
                <a:solidFill>
                  <a:schemeClr val="bg1"/>
                </a:solidFill>
                <a:latin typeface="+mn-lt"/>
                <a:ea typeface="新細明體" pitchFamily="18" charset="-120"/>
              </a:rPr>
              <a:t>A</a:t>
            </a:r>
            <a:r>
              <a:rPr kumimoji="1" lang="en-US" altLang="zh-TW" sz="1800" b="1" i="0" u="none" strike="noStrike" cap="none" normalizeH="0" baseline="0" dirty="0" smtClean="0">
                <a:ln>
                  <a:noFill/>
                </a:ln>
                <a:solidFill>
                  <a:schemeClr val="bg1"/>
                </a:solidFill>
                <a:effectLst/>
                <a:latin typeface="+mn-lt"/>
                <a:ea typeface="新細明體" pitchFamily="18" charset="-120"/>
              </a:rPr>
              <a:t>nd </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L</a:t>
            </a:r>
            <a:r>
              <a:rPr kumimoji="1" lang="en-US" altLang="zh-TW" sz="1800" b="1" i="0" u="none" strike="noStrike" cap="none" normalizeH="0" baseline="0" dirty="0" smtClean="0">
                <a:ln>
                  <a:noFill/>
                </a:ln>
                <a:solidFill>
                  <a:schemeClr val="bg1"/>
                </a:solidFill>
                <a:effectLst/>
                <a:latin typeface="+mn-lt"/>
                <a:ea typeface="新細明體" pitchFamily="18" charset="-120"/>
              </a:rPr>
              <a:t>aunch</a:t>
            </a:r>
            <a:r>
              <a:rPr kumimoji="1" lang="en-US" altLang="zh-TW" sz="1800" b="1" i="0" u="none" strike="noStrike" cap="none" normalizeH="0" dirty="0" smtClean="0">
                <a:ln>
                  <a:noFill/>
                </a:ln>
                <a:solidFill>
                  <a:schemeClr val="bg1"/>
                </a:solidFill>
                <a:effectLst/>
                <a:latin typeface="+mn-lt"/>
                <a:ea typeface="新細明體" pitchFamily="18" charset="-120"/>
              </a:rPr>
              <a:t> LLVM</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HSAIL Translator</a:t>
            </a:r>
            <a:endParaRPr kumimoji="1" lang="en-US" altLang="zh-TW" sz="1800" b="1" i="0" u="none" strike="noStrike" cap="none" normalizeH="0" dirty="0" smtClean="0">
              <a:ln>
                <a:noFill/>
              </a:ln>
              <a:solidFill>
                <a:schemeClr val="bg1"/>
              </a:solidFill>
              <a:effectLst/>
              <a:latin typeface="+mn-lt"/>
              <a:ea typeface="新細明體" pitchFamily="18" charset="-120"/>
            </a:endParaRPr>
          </a:p>
        </p:txBody>
      </p:sp>
      <p:sp>
        <p:nvSpPr>
          <p:cNvPr id="5" name="投影片編號版面配置區 4"/>
          <p:cNvSpPr>
            <a:spLocks noGrp="1"/>
          </p:cNvSpPr>
          <p:nvPr>
            <p:ph type="sldNum" sz="quarter" idx="10"/>
          </p:nvPr>
        </p:nvSpPr>
        <p:spPr/>
        <p:txBody>
          <a:bodyPr/>
          <a:lstStyle/>
          <a:p>
            <a:pPr>
              <a:defRPr/>
            </a:pPr>
            <a:fld id="{1A9115C5-2FF4-4A45-B75E-C3C89F0A7A51}" type="slidenum">
              <a:rPr lang="en-US" altLang="zh-TW" smtClean="0">
                <a:latin typeface="+mn-lt"/>
              </a:rPr>
              <a:pPr>
                <a:defRPr/>
              </a:pPr>
              <a:t>62</a:t>
            </a:fld>
            <a:endParaRPr lang="en-US" altLang="zh-TW">
              <a:latin typeface="+mn-lt"/>
            </a:endParaRPr>
          </a:p>
        </p:txBody>
      </p:sp>
      <p:sp>
        <p:nvSpPr>
          <p:cNvPr id="6" name="圓角矩形圖說文字 5"/>
          <p:cNvSpPr/>
          <p:nvPr/>
        </p:nvSpPr>
        <p:spPr bwMode="auto">
          <a:xfrm>
            <a:off x="6012160" y="3140968"/>
            <a:ext cx="2565085" cy="1440160"/>
          </a:xfrm>
          <a:prstGeom prst="wedgeRoundRectCallout">
            <a:avLst>
              <a:gd name="adj1" fmla="val -20797"/>
              <a:gd name="adj2" fmla="val -77587"/>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Construct </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T</a:t>
            </a:r>
            <a:r>
              <a:rPr kumimoji="1" lang="en-US" altLang="zh-TW" sz="1800" b="1" i="0" u="none" strike="noStrike" cap="none" normalizeH="0" baseline="0" dirty="0" smtClean="0">
                <a:ln>
                  <a:noFill/>
                </a:ln>
                <a:solidFill>
                  <a:schemeClr val="bg1"/>
                </a:solidFill>
                <a:effectLst/>
                <a:latin typeface="+mn-lt"/>
                <a:ea typeface="新細明體" pitchFamily="18" charset="-120"/>
              </a:rPr>
              <a:t>he Control</a:t>
            </a:r>
            <a:r>
              <a:rPr kumimoji="1" lang="en-US" altLang="zh-TW" sz="1800" b="1" i="0" u="none" strike="noStrike" cap="none" normalizeH="0" dirty="0" smtClean="0">
                <a:ln>
                  <a:noFill/>
                </a:ln>
                <a:solidFill>
                  <a:schemeClr val="bg1"/>
                </a:solidFill>
                <a:effectLst/>
                <a:latin typeface="+mn-lt"/>
                <a:ea typeface="新細明體" pitchFamily="18" charset="-120"/>
              </a:rPr>
              <a:t> Flow</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Graph of HSAIL </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Program</a:t>
            </a:r>
            <a:endParaRPr kumimoji="1" lang="en-US" altLang="zh-TW" sz="1800" b="1" i="0" u="none" strike="noStrike" cap="none" normalizeH="0" dirty="0" smtClean="0">
              <a:ln>
                <a:noFill/>
              </a:ln>
              <a:solidFill>
                <a:schemeClr val="bg1"/>
              </a:solidFill>
              <a:effectLst/>
              <a:latin typeface="+mn-lt"/>
              <a:ea typeface="新細明體" pitchFamily="18" charset="-120"/>
            </a:endParaRPr>
          </a:p>
        </p:txBody>
      </p:sp>
      <p:sp>
        <p:nvSpPr>
          <p:cNvPr id="8" name="圓角矩形圖說文字 7"/>
          <p:cNvSpPr/>
          <p:nvPr/>
        </p:nvSpPr>
        <p:spPr bwMode="auto">
          <a:xfrm>
            <a:off x="6012160" y="4293096"/>
            <a:ext cx="2565085" cy="1440160"/>
          </a:xfrm>
          <a:prstGeom prst="wedgeRoundRectCallout">
            <a:avLst>
              <a:gd name="adj1" fmla="val -20797"/>
              <a:gd name="adj2" fmla="val -77587"/>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Translate HSAIL </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To LLVM IR </a:t>
            </a:r>
            <a:endParaRPr kumimoji="1" lang="en-US" altLang="zh-TW" sz="1800" b="1" i="0" u="none" strike="noStrike" cap="none" normalizeH="0" dirty="0" smtClean="0">
              <a:ln>
                <a:noFill/>
              </a:ln>
              <a:solidFill>
                <a:schemeClr val="bg1"/>
              </a:solidFill>
              <a:effectLst/>
              <a:latin typeface="+mn-lt"/>
              <a:ea typeface="新細明體" pitchFamily="18" charset="-120"/>
            </a:endParaRPr>
          </a:p>
        </p:txBody>
      </p:sp>
      <p:sp>
        <p:nvSpPr>
          <p:cNvPr id="9" name="圓角矩形圖說文字 8"/>
          <p:cNvSpPr/>
          <p:nvPr/>
        </p:nvSpPr>
        <p:spPr bwMode="auto">
          <a:xfrm>
            <a:off x="6012160" y="2708920"/>
            <a:ext cx="2565085" cy="1440160"/>
          </a:xfrm>
          <a:prstGeom prst="wedgeRoundRectCallout">
            <a:avLst>
              <a:gd name="adj1" fmla="val -19371"/>
              <a:gd name="adj2" fmla="val 69717"/>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Translate LLVM IR</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to Host Executable</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Object File (x86) </a:t>
            </a:r>
            <a:endParaRPr kumimoji="1" lang="en-US" altLang="zh-TW" sz="1800" b="1" i="0" u="none" strike="noStrike" cap="none" normalizeH="0" dirty="0" smtClean="0">
              <a:ln>
                <a:noFill/>
              </a:ln>
              <a:solidFill>
                <a:schemeClr val="bg1"/>
              </a:solidFill>
              <a:effectLst/>
              <a:latin typeface="+mn-lt"/>
              <a:ea typeface="新細明體" pitchFamily="18" charset="-120"/>
            </a:endParaRPr>
          </a:p>
        </p:txBody>
      </p:sp>
      <p:sp>
        <p:nvSpPr>
          <p:cNvPr id="10" name="圓角矩形圖說文字 9"/>
          <p:cNvSpPr/>
          <p:nvPr/>
        </p:nvSpPr>
        <p:spPr bwMode="auto">
          <a:xfrm>
            <a:off x="2699792" y="4077072"/>
            <a:ext cx="2565085" cy="1440160"/>
          </a:xfrm>
          <a:prstGeom prst="wedgeRoundRectCallout">
            <a:avLst>
              <a:gd name="adj1" fmla="val -20797"/>
              <a:gd name="adj2" fmla="val -77587"/>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mn-lt"/>
                <a:ea typeface="新細明體" pitchFamily="18" charset="-120"/>
              </a:rPr>
              <a:t>Load Host</a:t>
            </a:r>
            <a:r>
              <a:rPr kumimoji="1" lang="en-US" altLang="zh-TW" sz="1800" b="1" i="0" u="none" strike="noStrike" cap="none" normalizeH="0" dirty="0" smtClean="0">
                <a:ln>
                  <a:noFill/>
                </a:ln>
                <a:solidFill>
                  <a:schemeClr val="bg1"/>
                </a:solidFill>
                <a:effectLst/>
                <a:latin typeface="+mn-lt"/>
                <a:ea typeface="新細明體" pitchFamily="18" charset="-120"/>
              </a:rPr>
              <a:t> Executable</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Object File</a:t>
            </a:r>
            <a:endParaRPr kumimoji="1" lang="en-US" altLang="zh-TW" sz="1800" b="1" i="0" u="none" strike="noStrike" cap="none" normalizeH="0" dirty="0" smtClean="0">
              <a:ln>
                <a:noFill/>
              </a:ln>
              <a:solidFill>
                <a:schemeClr val="bg1"/>
              </a:solidFill>
              <a:effectLst/>
              <a:latin typeface="+mn-lt"/>
              <a:ea typeface="新細明體" pitchFamily="18" charset="-120"/>
            </a:endParaRPr>
          </a:p>
        </p:txBody>
      </p:sp>
      <p:sp>
        <p:nvSpPr>
          <p:cNvPr id="11" name="圓角矩形圖說文字 10"/>
          <p:cNvSpPr/>
          <p:nvPr/>
        </p:nvSpPr>
        <p:spPr bwMode="auto">
          <a:xfrm>
            <a:off x="2654987" y="4941168"/>
            <a:ext cx="2565085" cy="1440160"/>
          </a:xfrm>
          <a:prstGeom prst="wedgeRoundRectCallout">
            <a:avLst>
              <a:gd name="adj1" fmla="val -20797"/>
              <a:gd name="adj2" fmla="val -77587"/>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Link to GPU </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Helper Functions    </a:t>
            </a:r>
            <a:endParaRPr kumimoji="1" lang="en-US" altLang="zh-TW" sz="1800" b="1" i="0" u="none" strike="noStrike" cap="none" normalizeH="0" dirty="0" smtClean="0">
              <a:ln>
                <a:noFill/>
              </a:ln>
              <a:solidFill>
                <a:schemeClr val="bg1"/>
              </a:solidFill>
              <a:effectLst/>
              <a:latin typeface="+mn-lt"/>
              <a:ea typeface="新細明體" pitchFamily="18" charset="-120"/>
            </a:endParaRPr>
          </a:p>
        </p:txBody>
      </p:sp>
      <p:sp>
        <p:nvSpPr>
          <p:cNvPr id="12" name="圓角矩形圖說文字 11"/>
          <p:cNvSpPr/>
          <p:nvPr/>
        </p:nvSpPr>
        <p:spPr bwMode="auto">
          <a:xfrm>
            <a:off x="2078923" y="3284984"/>
            <a:ext cx="3429181" cy="1440160"/>
          </a:xfrm>
          <a:prstGeom prst="wedgeRoundRectCallout">
            <a:avLst>
              <a:gd name="adj1" fmla="val -19665"/>
              <a:gd name="adj2" fmla="val 75602"/>
              <a:gd name="adj3" fmla="val 16667"/>
            </a:avLst>
          </a:prstGeom>
          <a:solidFill>
            <a:schemeClr val="accent1">
              <a:lumMod val="75000"/>
            </a:schemeClr>
          </a:solidFill>
          <a:ln w="158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Store The Host Executable </a:t>
            </a:r>
          </a:p>
          <a:p>
            <a:pPr marL="0" marR="0" indent="0" algn="ctr" defTabSz="914400" rtl="0" eaLnBrk="1" fontAlgn="base" latinLnBrk="0" hangingPunct="1">
              <a:lnSpc>
                <a:spcPct val="100000"/>
              </a:lnSpc>
              <a:spcBef>
                <a:spcPct val="0"/>
              </a:spcBef>
              <a:spcAft>
                <a:spcPct val="0"/>
              </a:spcAft>
              <a:buClrTx/>
              <a:buSzTx/>
              <a:buFontTx/>
              <a:buNone/>
              <a:tabLst/>
            </a:pPr>
            <a:r>
              <a:rPr lang="en-US" altLang="zh-TW" sz="1800" b="1" dirty="0" smtClean="0">
                <a:solidFill>
                  <a:schemeClr val="bg1"/>
                </a:solidFill>
                <a:latin typeface="+mn-lt"/>
                <a:ea typeface="新細明體" pitchFamily="18" charset="-120"/>
              </a:rPr>
              <a:t>Binary t</a:t>
            </a:r>
            <a:r>
              <a:rPr kumimoji="1" lang="en-US" altLang="zh-TW" sz="1800" b="1" i="0" u="none" strike="noStrike" cap="none" normalizeH="0" dirty="0" smtClean="0">
                <a:ln>
                  <a:noFill/>
                </a:ln>
                <a:solidFill>
                  <a:schemeClr val="bg1"/>
                </a:solidFill>
                <a:effectLst/>
                <a:latin typeface="+mn-lt"/>
                <a:ea typeface="新細明體" pitchFamily="18" charset="-120"/>
              </a:rPr>
              <a:t>o GPU Code Cache</a:t>
            </a:r>
          </a:p>
        </p:txBody>
      </p:sp>
      <p:sp>
        <p:nvSpPr>
          <p:cNvPr id="13" name="Content Placeholder 2"/>
          <p:cNvSpPr txBox="1">
            <a:spLocks/>
          </p:cNvSpPr>
          <p:nvPr/>
        </p:nvSpPr>
        <p:spPr bwMode="auto">
          <a:xfrm>
            <a:off x="323528" y="1124744"/>
            <a:ext cx="8500719"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dirty="0" smtClean="0">
                <a:latin typeface="+mn-lt"/>
              </a:rPr>
              <a:t>Architecture of HSAIL Translator</a:t>
            </a:r>
          </a:p>
        </p:txBody>
      </p:sp>
    </p:spTree>
    <p:extLst>
      <p:ext uri="{BB962C8B-B14F-4D97-AF65-F5344CB8AC3E}">
        <p14:creationId xmlns:p14="http://schemas.microsoft.com/office/powerpoint/2010/main" val="3522075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1" nodeType="clickEffect">
                                  <p:stCondLst>
                                    <p:cond delay="0"/>
                                  </p:stCondLst>
                                  <p:childTnLst>
                                    <p:animEffect transition="out" filter="box(i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ox(i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xit" presetSubtype="16" fill="hold" grpId="1" nodeType="clickEffect">
                                  <p:stCondLst>
                                    <p:cond delay="0"/>
                                  </p:stCondLst>
                                  <p:childTnLst>
                                    <p:animEffect transition="out" filter="box(in)">
                                      <p:cBhvr>
                                        <p:cTn id="20" dur="500"/>
                                        <p:tgtEl>
                                          <p:spTgt spid="6"/>
                                        </p:tgtEl>
                                      </p:cBhvr>
                                    </p:animEffect>
                                    <p:set>
                                      <p:cBhvr>
                                        <p:cTn id="21" dur="1" fill="hold">
                                          <p:stCondLst>
                                            <p:cond delay="499"/>
                                          </p:stCondLst>
                                        </p:cTn>
                                        <p:tgtEl>
                                          <p:spTgt spid="6"/>
                                        </p:tgtEl>
                                        <p:attrNameLst>
                                          <p:attrName>style.visibility</p:attrName>
                                        </p:attrNameLst>
                                      </p:cBhvr>
                                      <p:to>
                                        <p:strVal val="hidden"/>
                                      </p:to>
                                    </p:set>
                                  </p:childTnLst>
                                </p:cTn>
                              </p:par>
                            </p:childTnLst>
                          </p:cTn>
                        </p:par>
                        <p:par>
                          <p:cTn id="22" fill="hold">
                            <p:stCondLst>
                              <p:cond delay="500"/>
                            </p:stCondLst>
                            <p:childTnLst>
                              <p:par>
                                <p:cTn id="23" presetID="4"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ox(i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xit" presetSubtype="16" fill="hold" grpId="1" nodeType="clickEffect">
                                  <p:stCondLst>
                                    <p:cond delay="0"/>
                                  </p:stCondLst>
                                  <p:childTnLst>
                                    <p:animEffect transition="out" filter="box(in)">
                                      <p:cBhvr>
                                        <p:cTn id="29" dur="500"/>
                                        <p:tgtEl>
                                          <p:spTgt spid="8"/>
                                        </p:tgtEl>
                                      </p:cBhvr>
                                    </p:animEffect>
                                    <p:set>
                                      <p:cBhvr>
                                        <p:cTn id="30" dur="1" fill="hold">
                                          <p:stCondLst>
                                            <p:cond delay="499"/>
                                          </p:stCondLst>
                                        </p:cTn>
                                        <p:tgtEl>
                                          <p:spTgt spid="8"/>
                                        </p:tgtEl>
                                        <p:attrNameLst>
                                          <p:attrName>style.visibility</p:attrName>
                                        </p:attrNameLst>
                                      </p:cBhvr>
                                      <p:to>
                                        <p:strVal val="hidden"/>
                                      </p:to>
                                    </p:set>
                                  </p:childTnLst>
                                </p:cTn>
                              </p:par>
                            </p:childTnLst>
                          </p:cTn>
                        </p:par>
                        <p:par>
                          <p:cTn id="31" fill="hold">
                            <p:stCondLst>
                              <p:cond delay="500"/>
                            </p:stCondLst>
                            <p:childTnLst>
                              <p:par>
                                <p:cTn id="32" presetID="4" presetClass="entr" presetSubtype="1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ox(in)">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xit" presetSubtype="16" fill="hold" grpId="1" nodeType="clickEffect">
                                  <p:stCondLst>
                                    <p:cond delay="0"/>
                                  </p:stCondLst>
                                  <p:childTnLst>
                                    <p:animEffect transition="out" filter="box(in)">
                                      <p:cBhvr>
                                        <p:cTn id="38" dur="500"/>
                                        <p:tgtEl>
                                          <p:spTgt spid="9"/>
                                        </p:tgtEl>
                                      </p:cBhvr>
                                    </p:animEffect>
                                    <p:set>
                                      <p:cBhvr>
                                        <p:cTn id="39" dur="1" fill="hold">
                                          <p:stCondLst>
                                            <p:cond delay="499"/>
                                          </p:stCondLst>
                                        </p:cTn>
                                        <p:tgtEl>
                                          <p:spTgt spid="9"/>
                                        </p:tgtEl>
                                        <p:attrNameLst>
                                          <p:attrName>style.visibility</p:attrName>
                                        </p:attrNameLst>
                                      </p:cBhvr>
                                      <p:to>
                                        <p:strVal val="hidden"/>
                                      </p:to>
                                    </p:set>
                                  </p:childTnLst>
                                </p:cTn>
                              </p:par>
                            </p:childTnLst>
                          </p:cTn>
                        </p:par>
                        <p:par>
                          <p:cTn id="40" fill="hold">
                            <p:stCondLst>
                              <p:cond delay="500"/>
                            </p:stCondLst>
                            <p:childTnLst>
                              <p:par>
                                <p:cTn id="41" presetID="4" presetClass="entr" presetSubtype="16"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ox(in)">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xit" presetSubtype="16" fill="hold" grpId="1" nodeType="clickEffect">
                                  <p:stCondLst>
                                    <p:cond delay="0"/>
                                  </p:stCondLst>
                                  <p:childTnLst>
                                    <p:animEffect transition="out" filter="box(in)">
                                      <p:cBhvr>
                                        <p:cTn id="47" dur="500"/>
                                        <p:tgtEl>
                                          <p:spTgt spid="10"/>
                                        </p:tgtEl>
                                      </p:cBhvr>
                                    </p:animEffect>
                                    <p:set>
                                      <p:cBhvr>
                                        <p:cTn id="48" dur="1" fill="hold">
                                          <p:stCondLst>
                                            <p:cond delay="499"/>
                                          </p:stCondLst>
                                        </p:cTn>
                                        <p:tgtEl>
                                          <p:spTgt spid="10"/>
                                        </p:tgtEl>
                                        <p:attrNameLst>
                                          <p:attrName>style.visibility</p:attrName>
                                        </p:attrNameLst>
                                      </p:cBhvr>
                                      <p:to>
                                        <p:strVal val="hidden"/>
                                      </p:to>
                                    </p:set>
                                  </p:childTnLst>
                                </p:cTn>
                              </p:par>
                            </p:childTnLst>
                          </p:cTn>
                        </p:par>
                        <p:par>
                          <p:cTn id="49" fill="hold">
                            <p:stCondLst>
                              <p:cond delay="500"/>
                            </p:stCondLst>
                            <p:childTnLst>
                              <p:par>
                                <p:cTn id="50" presetID="4" presetClass="entr" presetSubtype="16"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ox(in)">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xit" presetSubtype="16" fill="hold" grpId="1" nodeType="clickEffect">
                                  <p:stCondLst>
                                    <p:cond delay="0"/>
                                  </p:stCondLst>
                                  <p:childTnLst>
                                    <p:animEffect transition="out" filter="box(in)">
                                      <p:cBhvr>
                                        <p:cTn id="56" dur="500"/>
                                        <p:tgtEl>
                                          <p:spTgt spid="11"/>
                                        </p:tgtEl>
                                      </p:cBhvr>
                                    </p:animEffect>
                                    <p:set>
                                      <p:cBhvr>
                                        <p:cTn id="57" dur="1" fill="hold">
                                          <p:stCondLst>
                                            <p:cond delay="499"/>
                                          </p:stCondLst>
                                        </p:cTn>
                                        <p:tgtEl>
                                          <p:spTgt spid="11"/>
                                        </p:tgtEl>
                                        <p:attrNameLst>
                                          <p:attrName>style.visibility</p:attrName>
                                        </p:attrNameLst>
                                      </p:cBhvr>
                                      <p:to>
                                        <p:strVal val="hidden"/>
                                      </p:to>
                                    </p:set>
                                  </p:childTnLst>
                                </p:cTn>
                              </p:par>
                            </p:childTnLst>
                          </p:cTn>
                        </p:par>
                        <p:par>
                          <p:cTn id="58" fill="hold">
                            <p:stCondLst>
                              <p:cond delay="500"/>
                            </p:stCondLst>
                            <p:childTnLst>
                              <p:par>
                                <p:cTn id="59" presetID="4" presetClass="entr" presetSubtype="16"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box(in)">
                                      <p:cBhvr>
                                        <p:cTn id="6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8" grpId="0" animBg="1"/>
      <p:bldP spid="8" grpId="1" animBg="1"/>
      <p:bldP spid="9" grpId="0" animBg="1"/>
      <p:bldP spid="9" grpId="1" animBg="1"/>
      <p:bldP spid="10" grpId="0" animBg="1"/>
      <p:bldP spid="10" grpId="1" animBg="1"/>
      <p:bldP spid="11" grpId="0" animBg="1"/>
      <p:bldP spid="11" grpId="1" animBg="1"/>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069" y="1052736"/>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GPU Thread Scheduler</a:t>
            </a:r>
            <a:endParaRPr lang="en-US" dirty="0">
              <a:latin typeface="+mn-lt"/>
            </a:endParaRPr>
          </a:p>
        </p:txBody>
      </p:sp>
      <p:sp>
        <p:nvSpPr>
          <p:cNvPr id="3" name="矩形 2"/>
          <p:cNvSpPr/>
          <p:nvPr/>
        </p:nvSpPr>
        <p:spPr bwMode="auto">
          <a:xfrm>
            <a:off x="395536" y="4707846"/>
            <a:ext cx="1368152" cy="593362"/>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4" name="圖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5896" y="1065635"/>
            <a:ext cx="5236666" cy="2219349"/>
          </a:xfrm>
          <a:prstGeom prst="rect">
            <a:avLst/>
          </a:prstGeom>
        </p:spPr>
      </p:pic>
      <p:sp>
        <p:nvSpPr>
          <p:cNvPr id="9" name="Content Placeholder 2"/>
          <p:cNvSpPr txBox="1">
            <a:spLocks/>
          </p:cNvSpPr>
          <p:nvPr/>
        </p:nvSpPr>
        <p:spPr bwMode="auto">
          <a:xfrm>
            <a:off x="3563888" y="3356992"/>
            <a:ext cx="5508105" cy="23762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spcBef>
                <a:spcPts val="0"/>
              </a:spcBef>
            </a:pPr>
            <a:r>
              <a:rPr lang="en-US" altLang="zh-TW" sz="2400" dirty="0" smtClean="0">
                <a:latin typeface="+mn-lt"/>
              </a:rPr>
              <a:t>Simulate a generic GPU model</a:t>
            </a:r>
          </a:p>
          <a:p>
            <a:pPr lvl="1">
              <a:spcBef>
                <a:spcPts val="0"/>
              </a:spcBef>
            </a:pPr>
            <a:r>
              <a:rPr lang="en-US" altLang="zh-TW" sz="2000" dirty="0" smtClean="0">
                <a:latin typeface="+mn-lt"/>
              </a:rPr>
              <a:t>GPU Thread Scheduler assigns work groups to free CU threads in the GPU Thread Pool</a:t>
            </a:r>
          </a:p>
          <a:p>
            <a:pPr lvl="1">
              <a:spcBef>
                <a:spcPts val="0"/>
              </a:spcBef>
            </a:pPr>
            <a:r>
              <a:rPr lang="en-US" altLang="zh-TW" sz="2000" dirty="0" smtClean="0">
                <a:latin typeface="+mn-lt"/>
              </a:rPr>
              <a:t>Each CU thread executes all work items in a work group </a:t>
            </a:r>
          </a:p>
          <a:p>
            <a:pPr lvl="1">
              <a:spcBef>
                <a:spcPts val="0"/>
              </a:spcBef>
            </a:pPr>
            <a:r>
              <a:rPr lang="en-US" altLang="zh-TW" sz="2000" dirty="0" smtClean="0">
                <a:latin typeface="+mn-lt"/>
              </a:rPr>
              <a:t>The maximum </a:t>
            </a:r>
            <a:r>
              <a:rPr lang="en-US" altLang="zh-TW" sz="2000" dirty="0">
                <a:latin typeface="+mn-lt"/>
              </a:rPr>
              <a:t>number of CU threads is limited by host operating system   </a:t>
            </a:r>
          </a:p>
        </p:txBody>
      </p:sp>
      <p:sp>
        <p:nvSpPr>
          <p:cNvPr id="10" name="投影片編號版面配置區 9"/>
          <p:cNvSpPr>
            <a:spLocks noGrp="1"/>
          </p:cNvSpPr>
          <p:nvPr>
            <p:ph type="sldNum" sz="quarter" idx="10"/>
          </p:nvPr>
        </p:nvSpPr>
        <p:spPr/>
        <p:txBody>
          <a:bodyPr/>
          <a:lstStyle/>
          <a:p>
            <a:pPr>
              <a:defRPr/>
            </a:pPr>
            <a:fld id="{1A9115C5-2FF4-4A45-B75E-C3C89F0A7A51}" type="slidenum">
              <a:rPr lang="en-US" altLang="zh-TW" smtClean="0">
                <a:latin typeface="+mn-lt"/>
              </a:rPr>
              <a:pPr>
                <a:defRPr/>
              </a:pPr>
              <a:t>63</a:t>
            </a:fld>
            <a:endParaRPr lang="en-US" altLang="zh-TW">
              <a:latin typeface="+mn-lt"/>
            </a:endParaRPr>
          </a:p>
        </p:txBody>
      </p:sp>
    </p:spTree>
    <p:extLst>
      <p:ext uri="{BB962C8B-B14F-4D97-AF65-F5344CB8AC3E}">
        <p14:creationId xmlns:p14="http://schemas.microsoft.com/office/powerpoint/2010/main" val="404547264"/>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64928"/>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M2S-GPU Simulator (1)</a:t>
            </a:r>
            <a:endParaRPr lang="en-US" dirty="0">
              <a:latin typeface="+mn-lt"/>
            </a:endParaRPr>
          </a:p>
        </p:txBody>
      </p:sp>
      <p:sp>
        <p:nvSpPr>
          <p:cNvPr id="3" name="矩形 2"/>
          <p:cNvSpPr/>
          <p:nvPr/>
        </p:nvSpPr>
        <p:spPr bwMode="auto">
          <a:xfrm>
            <a:off x="1967519" y="3896314"/>
            <a:ext cx="1008113" cy="1404894"/>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dirty="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投影片編號版面配置區 11"/>
          <p:cNvSpPr>
            <a:spLocks noGrp="1"/>
          </p:cNvSpPr>
          <p:nvPr>
            <p:ph type="sldNum" sz="quarter" idx="10"/>
          </p:nvPr>
        </p:nvSpPr>
        <p:spPr/>
        <p:txBody>
          <a:bodyPr/>
          <a:lstStyle/>
          <a:p>
            <a:pPr>
              <a:defRPr/>
            </a:pPr>
            <a:fld id="{1A9115C5-2FF4-4A45-B75E-C3C89F0A7A51}" type="slidenum">
              <a:rPr lang="en-US" altLang="zh-TW" smtClean="0">
                <a:latin typeface="+mn-lt"/>
              </a:rPr>
              <a:pPr>
                <a:defRPr/>
              </a:pPr>
              <a:t>64</a:t>
            </a:fld>
            <a:endParaRPr lang="en-US" altLang="zh-TW">
              <a:latin typeface="+mn-lt"/>
            </a:endParaRPr>
          </a:p>
        </p:txBody>
      </p:sp>
      <p:sp>
        <p:nvSpPr>
          <p:cNvPr id="14" name="Content Placeholder 2"/>
          <p:cNvSpPr txBox="1">
            <a:spLocks/>
          </p:cNvSpPr>
          <p:nvPr/>
        </p:nvSpPr>
        <p:spPr bwMode="auto">
          <a:xfrm>
            <a:off x="3619491" y="1196752"/>
            <a:ext cx="5344997" cy="43204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dirty="0" smtClean="0">
                <a:latin typeface="+mn-lt"/>
              </a:rPr>
              <a:t>A cycle-accurate simulator for AMD Southern Islands GPU model simulation</a:t>
            </a:r>
          </a:p>
          <a:p>
            <a:pPr lvl="1"/>
            <a:r>
              <a:rPr lang="en-US" altLang="zh-TW" dirty="0" smtClean="0">
                <a:latin typeface="+mn-lt"/>
              </a:rPr>
              <a:t>HSAIL Translator </a:t>
            </a:r>
            <a:endParaRPr lang="en-US" altLang="zh-TW" dirty="0" smtClean="0">
              <a:latin typeface="+mn-lt"/>
              <a:cs typeface="Arial" pitchFamily="34" charset="0"/>
            </a:endParaRPr>
          </a:p>
          <a:p>
            <a:pPr lvl="2"/>
            <a:r>
              <a:rPr lang="en-US" altLang="zh-TW" dirty="0" smtClean="0">
                <a:latin typeface="+mn-lt"/>
              </a:rPr>
              <a:t>Translate BRIG file to GPU binary</a:t>
            </a:r>
          </a:p>
          <a:p>
            <a:pPr lvl="1"/>
            <a:r>
              <a:rPr lang="en-US" altLang="zh-TW" dirty="0" smtClean="0">
                <a:latin typeface="+mn-lt"/>
              </a:rPr>
              <a:t>M2S Bridge</a:t>
            </a:r>
          </a:p>
          <a:p>
            <a:pPr lvl="2"/>
            <a:r>
              <a:rPr lang="en-US" altLang="zh-TW" dirty="0" smtClean="0">
                <a:latin typeface="+mn-lt"/>
              </a:rPr>
              <a:t>Bridge Multi2Sim GPU Model to </a:t>
            </a:r>
            <a:r>
              <a:rPr lang="en-US" altLang="zh-TW" dirty="0" err="1" smtClean="0">
                <a:latin typeface="+mn-lt"/>
              </a:rPr>
              <a:t>HSAemu</a:t>
            </a:r>
            <a:endParaRPr lang="en-US" altLang="zh-TW" dirty="0" smtClean="0">
              <a:latin typeface="+mn-lt"/>
            </a:endParaRPr>
          </a:p>
          <a:p>
            <a:pPr lvl="1"/>
            <a:r>
              <a:rPr lang="en-US" altLang="zh-TW" dirty="0" smtClean="0">
                <a:latin typeface="+mn-lt"/>
              </a:rPr>
              <a:t>M2S GPU Module</a:t>
            </a:r>
          </a:p>
          <a:p>
            <a:pPr lvl="2"/>
            <a:r>
              <a:rPr lang="en-US" altLang="zh-TW" dirty="0" smtClean="0">
                <a:latin typeface="+mn-lt"/>
              </a:rPr>
              <a:t>Simulate a cycle-accurate GPU model</a:t>
            </a:r>
          </a:p>
        </p:txBody>
      </p:sp>
    </p:spTree>
    <p:extLst>
      <p:ext uri="{BB962C8B-B14F-4D97-AF65-F5344CB8AC3E}">
        <p14:creationId xmlns:p14="http://schemas.microsoft.com/office/powerpoint/2010/main" val="824168526"/>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77120"/>
            <a:ext cx="3050019" cy="5051162"/>
          </a:xfrm>
          <a:prstGeom prst="rect">
            <a:avLst/>
          </a:prstGeom>
        </p:spPr>
      </p:pic>
      <p:sp>
        <p:nvSpPr>
          <p:cNvPr id="10" name="Content Placeholder 2"/>
          <p:cNvSpPr txBox="1">
            <a:spLocks/>
          </p:cNvSpPr>
          <p:nvPr/>
        </p:nvSpPr>
        <p:spPr bwMode="auto">
          <a:xfrm>
            <a:off x="3491880" y="1196752"/>
            <a:ext cx="5548391" cy="30243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dirty="0" smtClean="0">
                <a:latin typeface="+mn-lt"/>
              </a:rPr>
              <a:t>HSAIL Translator</a:t>
            </a:r>
          </a:p>
          <a:p>
            <a:pPr lvl="1"/>
            <a:r>
              <a:rPr lang="en-US" altLang="zh-TW" dirty="0" smtClean="0">
                <a:latin typeface="+mn-lt"/>
              </a:rPr>
              <a:t>Act as a </a:t>
            </a:r>
            <a:r>
              <a:rPr lang="en-US" altLang="zh-TW" dirty="0" err="1" smtClean="0">
                <a:latin typeface="+mn-lt"/>
              </a:rPr>
              <a:t>Finalizer</a:t>
            </a:r>
            <a:endParaRPr lang="en-US" altLang="zh-TW" dirty="0" smtClean="0">
              <a:latin typeface="+mn-lt"/>
            </a:endParaRPr>
          </a:p>
          <a:p>
            <a:pPr lvl="1"/>
            <a:r>
              <a:rPr lang="en-US" altLang="zh-TW" dirty="0" smtClean="0">
                <a:latin typeface="+mn-lt"/>
              </a:rPr>
              <a:t>Translate </a:t>
            </a:r>
            <a:r>
              <a:rPr lang="en-US" altLang="zh-TW" dirty="0">
                <a:latin typeface="+mn-lt"/>
              </a:rPr>
              <a:t>HSAIL to AMD Southern </a:t>
            </a:r>
            <a:r>
              <a:rPr lang="en-US" altLang="zh-TW" dirty="0" smtClean="0">
                <a:latin typeface="+mn-lt"/>
              </a:rPr>
              <a:t>Islands </a:t>
            </a:r>
            <a:r>
              <a:rPr lang="en-US" altLang="zh-TW" dirty="0">
                <a:latin typeface="+mn-lt"/>
              </a:rPr>
              <a:t>GPU binary </a:t>
            </a:r>
            <a:r>
              <a:rPr lang="en-US" altLang="zh-TW" dirty="0" smtClean="0">
                <a:latin typeface="+mn-lt"/>
              </a:rPr>
              <a:t>(</a:t>
            </a:r>
            <a:r>
              <a:rPr lang="en-US" altLang="zh-TW" dirty="0">
                <a:solidFill>
                  <a:srgbClr val="FF0000"/>
                </a:solidFill>
                <a:latin typeface="+mn-lt"/>
              </a:rPr>
              <a:t>u</a:t>
            </a:r>
            <a:r>
              <a:rPr lang="en-US" altLang="zh-TW" dirty="0" smtClean="0">
                <a:solidFill>
                  <a:srgbClr val="FF0000"/>
                </a:solidFill>
                <a:latin typeface="+mn-lt"/>
              </a:rPr>
              <a:t>nder </a:t>
            </a:r>
            <a:r>
              <a:rPr lang="en-US" altLang="zh-TW" dirty="0">
                <a:solidFill>
                  <a:srgbClr val="FF0000"/>
                </a:solidFill>
                <a:latin typeface="+mn-lt"/>
              </a:rPr>
              <a:t>development</a:t>
            </a:r>
            <a:r>
              <a:rPr lang="en-US" altLang="zh-TW" dirty="0">
                <a:latin typeface="+mn-lt"/>
              </a:rPr>
              <a:t>) </a:t>
            </a:r>
          </a:p>
          <a:p>
            <a:pPr lvl="1"/>
            <a:r>
              <a:rPr lang="en-US" altLang="zh-TW" dirty="0" smtClean="0">
                <a:latin typeface="+mn-lt"/>
              </a:rPr>
              <a:t>Use static binary translation technique based on LLVM</a:t>
            </a:r>
          </a:p>
        </p:txBody>
      </p:sp>
      <p:cxnSp>
        <p:nvCxnSpPr>
          <p:cNvPr id="6" name="直線接點 5"/>
          <p:cNvCxnSpPr/>
          <p:nvPr/>
        </p:nvCxnSpPr>
        <p:spPr bwMode="auto">
          <a:xfrm>
            <a:off x="3347864"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Title 1"/>
          <p:cNvSpPr txBox="1">
            <a:spLocks/>
          </p:cNvSpPr>
          <p:nvPr/>
        </p:nvSpPr>
        <p:spPr bwMode="auto">
          <a:xfrm>
            <a:off x="467544" y="188640"/>
            <a:ext cx="7991351" cy="6921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0" fontAlgn="base" hangingPunct="0">
              <a:spcBef>
                <a:spcPct val="0"/>
              </a:spcBef>
              <a:spcAft>
                <a:spcPct val="0"/>
              </a:spcAft>
              <a:defRPr kumimoji="1" sz="3600" b="1">
                <a:solidFill>
                  <a:schemeClr val="tx2"/>
                </a:solidFill>
                <a:latin typeface="Calibri" pitchFamily="34" charset="0"/>
                <a:ea typeface="標楷體" pitchFamily="65" charset="-120"/>
                <a:cs typeface="MS Sans Serif"/>
              </a:defRPr>
            </a:lvl5pPr>
            <a:lvl6pPr marL="457200" algn="l" rtl="0" fontAlgn="base">
              <a:spcBef>
                <a:spcPct val="0"/>
              </a:spcBef>
              <a:spcAft>
                <a:spcPct val="0"/>
              </a:spcAft>
              <a:defRPr kumimoji="1" sz="3000" b="1">
                <a:solidFill>
                  <a:schemeClr val="tx2"/>
                </a:solidFill>
                <a:latin typeface="MS Sans Serif"/>
                <a:ea typeface="MS Sans Serif"/>
                <a:cs typeface="MS Sans Serif"/>
              </a:defRPr>
            </a:lvl6pPr>
            <a:lvl7pPr marL="914400" algn="l" rtl="0" fontAlgn="base">
              <a:spcBef>
                <a:spcPct val="0"/>
              </a:spcBef>
              <a:spcAft>
                <a:spcPct val="0"/>
              </a:spcAft>
              <a:defRPr kumimoji="1" sz="3000" b="1">
                <a:solidFill>
                  <a:schemeClr val="tx2"/>
                </a:solidFill>
                <a:latin typeface="MS Sans Serif"/>
                <a:ea typeface="MS Sans Serif"/>
                <a:cs typeface="MS Sans Serif"/>
              </a:defRPr>
            </a:lvl7pPr>
            <a:lvl8pPr marL="1371600" algn="l" rtl="0" fontAlgn="base">
              <a:spcBef>
                <a:spcPct val="0"/>
              </a:spcBef>
              <a:spcAft>
                <a:spcPct val="0"/>
              </a:spcAft>
              <a:defRPr kumimoji="1" sz="3000" b="1">
                <a:solidFill>
                  <a:schemeClr val="tx2"/>
                </a:solidFill>
                <a:latin typeface="MS Sans Serif"/>
                <a:ea typeface="MS Sans Serif"/>
                <a:cs typeface="MS Sans Serif"/>
              </a:defRPr>
            </a:lvl8pPr>
            <a:lvl9pPr marL="1828800" algn="l" rtl="0" fontAlgn="base">
              <a:spcBef>
                <a:spcPct val="0"/>
              </a:spcBef>
              <a:spcAft>
                <a:spcPct val="0"/>
              </a:spcAft>
              <a:defRPr kumimoji="1" sz="3000" b="1">
                <a:solidFill>
                  <a:schemeClr val="tx2"/>
                </a:solidFill>
                <a:latin typeface="MS Sans Serif"/>
                <a:ea typeface="MS Sans Serif"/>
                <a:cs typeface="MS Sans Serif"/>
              </a:defRPr>
            </a:lvl9pPr>
          </a:lstStyle>
          <a:p>
            <a:r>
              <a:rPr lang="en-US" altLang="zh-TW" dirty="0">
                <a:latin typeface="+mn-lt"/>
              </a:rPr>
              <a:t>M2S-GPU Simulator </a:t>
            </a:r>
            <a:r>
              <a:rPr lang="en-US" altLang="zh-TW" dirty="0" smtClean="0">
                <a:latin typeface="+mn-lt"/>
              </a:rPr>
              <a:t>(2)</a:t>
            </a:r>
            <a:endParaRPr lang="en-US" dirty="0">
              <a:latin typeface="+mn-lt"/>
            </a:endParaRPr>
          </a:p>
        </p:txBody>
      </p:sp>
      <p:sp>
        <p:nvSpPr>
          <p:cNvPr id="11" name="投影片編號版面配置區 10"/>
          <p:cNvSpPr>
            <a:spLocks noGrp="1"/>
          </p:cNvSpPr>
          <p:nvPr>
            <p:ph type="sldNum" sz="quarter" idx="10"/>
          </p:nvPr>
        </p:nvSpPr>
        <p:spPr/>
        <p:txBody>
          <a:bodyPr/>
          <a:lstStyle/>
          <a:p>
            <a:pPr>
              <a:defRPr/>
            </a:pPr>
            <a:fld id="{1A9115C5-2FF4-4A45-B75E-C3C89F0A7A51}" type="slidenum">
              <a:rPr lang="en-US" altLang="zh-TW" smtClean="0">
                <a:latin typeface="+mn-lt"/>
              </a:rPr>
              <a:pPr>
                <a:defRPr/>
              </a:pPr>
              <a:t>65</a:t>
            </a:fld>
            <a:endParaRPr lang="en-US" altLang="zh-TW">
              <a:latin typeface="+mn-lt"/>
            </a:endParaRPr>
          </a:p>
        </p:txBody>
      </p:sp>
      <p:sp>
        <p:nvSpPr>
          <p:cNvPr id="13" name="矩形 12"/>
          <p:cNvSpPr/>
          <p:nvPr/>
        </p:nvSpPr>
        <p:spPr bwMode="auto">
          <a:xfrm>
            <a:off x="1979712" y="4149080"/>
            <a:ext cx="936104" cy="288032"/>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Tree>
    <p:extLst>
      <p:ext uri="{BB962C8B-B14F-4D97-AF65-F5344CB8AC3E}">
        <p14:creationId xmlns:p14="http://schemas.microsoft.com/office/powerpoint/2010/main" val="286436919"/>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52736"/>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M2S-GPU Simulator (3)</a:t>
            </a:r>
            <a:endParaRPr lang="en-US" dirty="0">
              <a:latin typeface="+mn-lt"/>
            </a:endParaRPr>
          </a:p>
        </p:txBody>
      </p:sp>
      <p:sp>
        <p:nvSpPr>
          <p:cNvPr id="3" name="矩形 2"/>
          <p:cNvSpPr/>
          <p:nvPr/>
        </p:nvSpPr>
        <p:spPr bwMode="auto">
          <a:xfrm>
            <a:off x="2051720" y="4509120"/>
            <a:ext cx="792088" cy="288032"/>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Content Placeholder 2"/>
          <p:cNvSpPr txBox="1">
            <a:spLocks/>
          </p:cNvSpPr>
          <p:nvPr/>
        </p:nvSpPr>
        <p:spPr bwMode="auto">
          <a:xfrm>
            <a:off x="3707903" y="1207824"/>
            <a:ext cx="5184577" cy="43094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dirty="0">
                <a:latin typeface="+mn-lt"/>
              </a:rPr>
              <a:t>M2S </a:t>
            </a:r>
            <a:r>
              <a:rPr lang="en-US" altLang="zh-TW" sz="2400" dirty="0" smtClean="0">
                <a:latin typeface="+mn-lt"/>
              </a:rPr>
              <a:t>Bridge : An </a:t>
            </a:r>
            <a:r>
              <a:rPr lang="en-US" altLang="zh-TW" sz="2400" dirty="0">
                <a:latin typeface="+mn-lt"/>
              </a:rPr>
              <a:t>interface to launch M2S </a:t>
            </a:r>
            <a:r>
              <a:rPr lang="en-US" altLang="zh-TW" sz="2400" dirty="0" smtClean="0">
                <a:latin typeface="+mn-lt"/>
              </a:rPr>
              <a:t>GPU Module</a:t>
            </a:r>
            <a:endParaRPr lang="en-US" altLang="zh-TW" sz="2400" dirty="0">
              <a:latin typeface="+mn-lt"/>
            </a:endParaRPr>
          </a:p>
          <a:p>
            <a:pPr lvl="1"/>
            <a:r>
              <a:rPr lang="en-US" altLang="zh-TW" sz="2000" dirty="0" smtClean="0">
                <a:latin typeface="+mn-lt"/>
              </a:rPr>
              <a:t>Initialize the data structures used by AMD Southern Islands GPU, including a memory register for AMD Southern Islands GPU to access the shared system memory in </a:t>
            </a:r>
            <a:r>
              <a:rPr lang="en-US" altLang="zh-TW" sz="2000" dirty="0" err="1" smtClean="0">
                <a:latin typeface="+mn-lt"/>
              </a:rPr>
              <a:t>HSAemu</a:t>
            </a:r>
            <a:endParaRPr lang="en-US" altLang="zh-TW" sz="2000" dirty="0" smtClean="0">
              <a:latin typeface="+mn-lt"/>
            </a:endParaRPr>
          </a:p>
          <a:p>
            <a:pPr lvl="1"/>
            <a:r>
              <a:rPr lang="en-US" altLang="zh-TW" sz="2000" dirty="0" smtClean="0">
                <a:latin typeface="+mn-lt"/>
              </a:rPr>
              <a:t>Invoke M2S GPU Module (the AMD Southern Islands GPU module in Multi2Sim)  </a:t>
            </a:r>
          </a:p>
        </p:txBody>
      </p:sp>
      <p:sp>
        <p:nvSpPr>
          <p:cNvPr id="12" name="投影片編號版面配置區 11"/>
          <p:cNvSpPr>
            <a:spLocks noGrp="1"/>
          </p:cNvSpPr>
          <p:nvPr>
            <p:ph type="sldNum" sz="quarter" idx="10"/>
          </p:nvPr>
        </p:nvSpPr>
        <p:spPr/>
        <p:txBody>
          <a:bodyPr/>
          <a:lstStyle/>
          <a:p>
            <a:pPr>
              <a:defRPr/>
            </a:pPr>
            <a:fld id="{1A9115C5-2FF4-4A45-B75E-C3C89F0A7A51}" type="slidenum">
              <a:rPr lang="en-US" altLang="zh-TW" smtClean="0">
                <a:latin typeface="+mn-lt"/>
              </a:rPr>
              <a:pPr>
                <a:defRPr/>
              </a:pPr>
              <a:t>66</a:t>
            </a:fld>
            <a:endParaRPr lang="en-US" altLang="zh-TW">
              <a:latin typeface="+mn-lt"/>
            </a:endParaRPr>
          </a:p>
        </p:txBody>
      </p:sp>
    </p:spTree>
    <p:extLst>
      <p:ext uri="{BB962C8B-B14F-4D97-AF65-F5344CB8AC3E}">
        <p14:creationId xmlns:p14="http://schemas.microsoft.com/office/powerpoint/2010/main" val="2913008979"/>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64928"/>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altLang="zh-TW" dirty="0">
                <a:latin typeface="+mn-lt"/>
              </a:rPr>
              <a:t>M2S-GPU Simulator </a:t>
            </a:r>
            <a:r>
              <a:rPr lang="en-US" altLang="zh-TW" dirty="0" smtClean="0">
                <a:latin typeface="+mn-lt"/>
              </a:rPr>
              <a:t>(4)</a:t>
            </a:r>
            <a:endParaRPr lang="en-US" dirty="0">
              <a:latin typeface="+mn-lt"/>
            </a:endParaRPr>
          </a:p>
        </p:txBody>
      </p:sp>
      <p:sp>
        <p:nvSpPr>
          <p:cNvPr id="3" name="矩形 2"/>
          <p:cNvSpPr/>
          <p:nvPr/>
        </p:nvSpPr>
        <p:spPr bwMode="auto">
          <a:xfrm>
            <a:off x="2051719" y="4869160"/>
            <a:ext cx="792089" cy="360040"/>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Content Placeholder 2"/>
          <p:cNvSpPr txBox="1">
            <a:spLocks/>
          </p:cNvSpPr>
          <p:nvPr/>
        </p:nvSpPr>
        <p:spPr bwMode="auto">
          <a:xfrm>
            <a:off x="3595608" y="1184902"/>
            <a:ext cx="5368880" cy="332421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dirty="0" smtClean="0">
                <a:latin typeface="+mn-lt"/>
              </a:rPr>
              <a:t>M2S GPU Module</a:t>
            </a:r>
          </a:p>
          <a:p>
            <a:pPr lvl="1"/>
            <a:r>
              <a:rPr lang="en-US" altLang="zh-TW" dirty="0" smtClean="0">
                <a:latin typeface="+mn-lt"/>
              </a:rPr>
              <a:t>A cycle-accurate AMD </a:t>
            </a:r>
            <a:r>
              <a:rPr lang="en-US" altLang="zh-TW" dirty="0">
                <a:latin typeface="+mn-lt"/>
              </a:rPr>
              <a:t>Southern </a:t>
            </a:r>
            <a:r>
              <a:rPr lang="en-US" altLang="zh-TW" dirty="0" smtClean="0">
                <a:latin typeface="+mn-lt"/>
              </a:rPr>
              <a:t>Islands GPU simulator in Multi2Sim</a:t>
            </a:r>
          </a:p>
          <a:p>
            <a:endParaRPr lang="en-US" altLang="zh-TW" dirty="0" smtClean="0">
              <a:latin typeface="+mn-lt"/>
            </a:endParaRPr>
          </a:p>
          <a:p>
            <a:r>
              <a:rPr lang="en-US" altLang="zh-TW" dirty="0" smtClean="0">
                <a:latin typeface="+mn-lt"/>
              </a:rPr>
              <a:t>Memory </a:t>
            </a:r>
            <a:r>
              <a:rPr lang="en-US" altLang="zh-TW" dirty="0">
                <a:latin typeface="+mn-lt"/>
              </a:rPr>
              <a:t>access is </a:t>
            </a:r>
            <a:r>
              <a:rPr lang="en-US" altLang="zh-TW" dirty="0" smtClean="0">
                <a:latin typeface="+mn-lt"/>
              </a:rPr>
              <a:t>performed by </a:t>
            </a:r>
            <a:r>
              <a:rPr lang="en-US" altLang="zh-TW" dirty="0" err="1" smtClean="0">
                <a:latin typeface="+mn-lt"/>
              </a:rPr>
              <a:t>HSAemu</a:t>
            </a:r>
            <a:r>
              <a:rPr lang="en-US" altLang="zh-TW" dirty="0" smtClean="0">
                <a:latin typeface="+mn-lt"/>
              </a:rPr>
              <a:t> memory helper function to comply the </a:t>
            </a:r>
            <a:r>
              <a:rPr lang="en-US" altLang="zh-TW" dirty="0" err="1" smtClean="0">
                <a:latin typeface="+mn-lt"/>
              </a:rPr>
              <a:t>hUMA</a:t>
            </a:r>
            <a:r>
              <a:rPr lang="en-US" altLang="zh-TW" dirty="0" smtClean="0">
                <a:latin typeface="+mn-lt"/>
              </a:rPr>
              <a:t> model</a:t>
            </a:r>
            <a:endParaRPr lang="en-US" altLang="zh-TW" dirty="0">
              <a:latin typeface="+mn-lt"/>
            </a:endParaRPr>
          </a:p>
        </p:txBody>
      </p:sp>
      <p:sp>
        <p:nvSpPr>
          <p:cNvPr id="10" name="投影片編號版面配置區 9"/>
          <p:cNvSpPr>
            <a:spLocks noGrp="1"/>
          </p:cNvSpPr>
          <p:nvPr>
            <p:ph type="sldNum" sz="quarter" idx="10"/>
          </p:nvPr>
        </p:nvSpPr>
        <p:spPr/>
        <p:txBody>
          <a:bodyPr/>
          <a:lstStyle/>
          <a:p>
            <a:pPr>
              <a:defRPr/>
            </a:pPr>
            <a:fld id="{1A9115C5-2FF4-4A45-B75E-C3C89F0A7A51}" type="slidenum">
              <a:rPr lang="en-US" altLang="zh-TW" smtClean="0">
                <a:latin typeface="+mn-lt"/>
              </a:rPr>
              <a:pPr>
                <a:defRPr/>
              </a:pPr>
              <a:t>67</a:t>
            </a:fld>
            <a:endParaRPr lang="en-US" altLang="zh-TW">
              <a:latin typeface="+mn-lt"/>
            </a:endParaRPr>
          </a:p>
        </p:txBody>
      </p:sp>
    </p:spTree>
    <p:extLst>
      <p:ext uri="{BB962C8B-B14F-4D97-AF65-F5344CB8AC3E}">
        <p14:creationId xmlns:p14="http://schemas.microsoft.com/office/powerpoint/2010/main" val="461565736"/>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837" y="1052736"/>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GPU Helper Functions (1)</a:t>
            </a:r>
            <a:endParaRPr lang="en-US" dirty="0">
              <a:latin typeface="+mn-lt"/>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Content Placeholder 2"/>
          <p:cNvSpPr txBox="1">
            <a:spLocks/>
          </p:cNvSpPr>
          <p:nvPr/>
        </p:nvSpPr>
        <p:spPr bwMode="auto">
          <a:xfrm>
            <a:off x="3523601" y="1184902"/>
            <a:ext cx="5440888" cy="48363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dirty="0" smtClean="0">
                <a:latin typeface="+mn-lt"/>
              </a:rPr>
              <a:t>Memory Helper Function</a:t>
            </a:r>
            <a:endParaRPr lang="zh-TW" altLang="en-US" sz="2400" dirty="0" smtClean="0">
              <a:latin typeface="+mn-lt"/>
            </a:endParaRPr>
          </a:p>
          <a:p>
            <a:pPr lvl="1"/>
            <a:r>
              <a:rPr lang="en-US" altLang="zh-TW" sz="2000" dirty="0" smtClean="0">
                <a:latin typeface="+mn-lt"/>
              </a:rPr>
              <a:t>A soft-</a:t>
            </a:r>
            <a:r>
              <a:rPr lang="en-US" altLang="zh-TW" sz="2000" dirty="0" err="1" smtClean="0">
                <a:latin typeface="+mn-lt"/>
              </a:rPr>
              <a:t>mmu</a:t>
            </a:r>
            <a:r>
              <a:rPr lang="en-US" altLang="zh-TW" sz="2000" dirty="0" smtClean="0">
                <a:latin typeface="+mn-lt"/>
              </a:rPr>
              <a:t> of GPU with a page table worker and a TLB to enable </a:t>
            </a:r>
            <a:r>
              <a:rPr lang="en-US" altLang="zh-TW" sz="2000" dirty="0" err="1" smtClean="0">
                <a:latin typeface="+mn-lt"/>
              </a:rPr>
              <a:t>hUMA</a:t>
            </a:r>
            <a:r>
              <a:rPr lang="en-US" altLang="zh-TW" sz="2000" dirty="0" smtClean="0">
                <a:latin typeface="+mn-lt"/>
              </a:rPr>
              <a:t> model</a:t>
            </a:r>
          </a:p>
          <a:p>
            <a:pPr lvl="1"/>
            <a:r>
              <a:rPr lang="en-US" altLang="zh-TW" sz="2000" dirty="0" smtClean="0">
                <a:latin typeface="+mn-lt"/>
              </a:rPr>
              <a:t>Support the redirect access of a local segment memory to a non-shared private memory in GPU </a:t>
            </a:r>
          </a:p>
          <a:p>
            <a:r>
              <a:rPr lang="en-US" altLang="zh-TW" sz="2400" dirty="0" smtClean="0">
                <a:latin typeface="+mn-lt"/>
              </a:rPr>
              <a:t>Kernel Information Helper Function</a:t>
            </a:r>
            <a:endParaRPr lang="zh-TW" altLang="en-US" sz="2400" dirty="0" smtClean="0">
              <a:latin typeface="+mn-lt"/>
            </a:endParaRPr>
          </a:p>
          <a:p>
            <a:pPr lvl="1"/>
            <a:r>
              <a:rPr lang="en-US" altLang="zh-TW" sz="2000" dirty="0" smtClean="0">
                <a:latin typeface="+mn-lt"/>
              </a:rPr>
              <a:t>Collect and return information of GPU simulation and current execution state </a:t>
            </a:r>
            <a:endParaRPr lang="en-US" altLang="zh-TW" sz="2400" dirty="0" smtClean="0">
              <a:latin typeface="+mn-lt"/>
            </a:endParaRPr>
          </a:p>
          <a:p>
            <a:pPr lvl="1"/>
            <a:r>
              <a:rPr lang="en-US" altLang="zh-TW" sz="2000" dirty="0" smtClean="0">
                <a:latin typeface="+mn-lt"/>
              </a:rPr>
              <a:t>Retrieve kernel information such as working item ID, work group size, etc, from AQL packet</a:t>
            </a:r>
          </a:p>
        </p:txBody>
      </p:sp>
      <p:sp>
        <p:nvSpPr>
          <p:cNvPr id="9" name="投影片編號版面配置區 8"/>
          <p:cNvSpPr>
            <a:spLocks noGrp="1"/>
          </p:cNvSpPr>
          <p:nvPr>
            <p:ph type="sldNum" sz="quarter" idx="10"/>
          </p:nvPr>
        </p:nvSpPr>
        <p:spPr/>
        <p:txBody>
          <a:bodyPr/>
          <a:lstStyle/>
          <a:p>
            <a:pPr>
              <a:defRPr/>
            </a:pPr>
            <a:fld id="{1A9115C5-2FF4-4A45-B75E-C3C89F0A7A51}" type="slidenum">
              <a:rPr lang="en-US" altLang="zh-TW" smtClean="0">
                <a:latin typeface="+mn-lt"/>
              </a:rPr>
              <a:pPr>
                <a:defRPr/>
              </a:pPr>
              <a:t>68</a:t>
            </a:fld>
            <a:endParaRPr lang="en-US" altLang="zh-TW">
              <a:latin typeface="+mn-lt"/>
            </a:endParaRPr>
          </a:p>
        </p:txBody>
      </p:sp>
      <p:sp>
        <p:nvSpPr>
          <p:cNvPr id="3" name="矩形 2"/>
          <p:cNvSpPr/>
          <p:nvPr/>
        </p:nvSpPr>
        <p:spPr bwMode="auto">
          <a:xfrm>
            <a:off x="323528" y="5420066"/>
            <a:ext cx="2880320" cy="601222"/>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Tree>
    <p:extLst>
      <p:ext uri="{BB962C8B-B14F-4D97-AF65-F5344CB8AC3E}">
        <p14:creationId xmlns:p14="http://schemas.microsoft.com/office/powerpoint/2010/main" val="2797177960"/>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837" y="1052736"/>
            <a:ext cx="3050019" cy="5051162"/>
          </a:xfrm>
          <a:prstGeom prst="rect">
            <a:avLst/>
          </a:prstGeom>
        </p:spPr>
      </p:pic>
      <p:sp>
        <p:nvSpPr>
          <p:cNvPr id="2" name="Title 1"/>
          <p:cNvSpPr>
            <a:spLocks noGrp="1"/>
          </p:cNvSpPr>
          <p:nvPr>
            <p:ph type="title"/>
          </p:nvPr>
        </p:nvSpPr>
        <p:spPr>
          <a:xfrm>
            <a:off x="467544" y="188640"/>
            <a:ext cx="7991351" cy="692150"/>
          </a:xfrm>
        </p:spPr>
        <p:txBody>
          <a:bodyPr/>
          <a:lstStyle/>
          <a:p>
            <a:r>
              <a:rPr lang="en-US" dirty="0" smtClean="0">
                <a:latin typeface="+mn-lt"/>
              </a:rPr>
              <a:t>GPU Helper Functions (2)</a:t>
            </a:r>
            <a:endParaRPr lang="en-US" dirty="0">
              <a:latin typeface="+mn-lt"/>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Content Placeholder 2"/>
          <p:cNvSpPr txBox="1">
            <a:spLocks/>
          </p:cNvSpPr>
          <p:nvPr/>
        </p:nvSpPr>
        <p:spPr bwMode="auto">
          <a:xfrm>
            <a:off x="3523601" y="1184902"/>
            <a:ext cx="5440888" cy="29641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dirty="0" smtClean="0">
                <a:latin typeface="+mn-lt"/>
              </a:rPr>
              <a:t>Mathematic Helper Function</a:t>
            </a:r>
          </a:p>
          <a:p>
            <a:pPr lvl="1"/>
            <a:r>
              <a:rPr lang="en-US" altLang="zh-TW" sz="2000" dirty="0" smtClean="0">
                <a:latin typeface="+mn-lt"/>
              </a:rPr>
              <a:t>Simulate special mathematical instructions such as trigonometric instructions by calling the corresponding mathematical functions in standard library </a:t>
            </a:r>
          </a:p>
          <a:p>
            <a:r>
              <a:rPr lang="en-US" altLang="zh-TW" sz="2400" dirty="0" smtClean="0">
                <a:latin typeface="+mn-lt"/>
              </a:rPr>
              <a:t>Synchronization Helper Function</a:t>
            </a:r>
          </a:p>
          <a:p>
            <a:pPr lvl="1"/>
            <a:r>
              <a:rPr lang="en-US" altLang="zh-TW" sz="2000" dirty="0" smtClean="0">
                <a:latin typeface="+mn-lt"/>
              </a:rPr>
              <a:t>Barrier synchronization implementation for generic GPU model simulation </a:t>
            </a:r>
          </a:p>
        </p:txBody>
      </p:sp>
      <p:sp>
        <p:nvSpPr>
          <p:cNvPr id="9" name="投影片編號版面配置區 8"/>
          <p:cNvSpPr>
            <a:spLocks noGrp="1"/>
          </p:cNvSpPr>
          <p:nvPr>
            <p:ph type="sldNum" sz="quarter" idx="10"/>
          </p:nvPr>
        </p:nvSpPr>
        <p:spPr/>
        <p:txBody>
          <a:bodyPr/>
          <a:lstStyle/>
          <a:p>
            <a:pPr>
              <a:defRPr/>
            </a:pPr>
            <a:fld id="{1A9115C5-2FF4-4A45-B75E-C3C89F0A7A51}" type="slidenum">
              <a:rPr lang="en-US" altLang="zh-TW" smtClean="0">
                <a:latin typeface="+mn-lt"/>
              </a:rPr>
              <a:pPr>
                <a:defRPr/>
              </a:pPr>
              <a:t>69</a:t>
            </a:fld>
            <a:endParaRPr lang="en-US" altLang="zh-TW" dirty="0">
              <a:latin typeface="+mn-lt"/>
            </a:endParaRPr>
          </a:p>
        </p:txBody>
      </p:sp>
      <p:sp>
        <p:nvSpPr>
          <p:cNvPr id="3" name="矩形 2"/>
          <p:cNvSpPr/>
          <p:nvPr/>
        </p:nvSpPr>
        <p:spPr bwMode="auto">
          <a:xfrm>
            <a:off x="323528" y="5420066"/>
            <a:ext cx="2880320" cy="601222"/>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Tree>
    <p:extLst>
      <p:ext uri="{BB962C8B-B14F-4D97-AF65-F5344CB8AC3E}">
        <p14:creationId xmlns:p14="http://schemas.microsoft.com/office/powerpoint/2010/main" val="282068090"/>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837" y="1052736"/>
            <a:ext cx="3050019" cy="5051162"/>
          </a:xfrm>
          <a:prstGeom prst="rect">
            <a:avLst/>
          </a:prstGeom>
        </p:spPr>
      </p:pic>
      <p:sp>
        <p:nvSpPr>
          <p:cNvPr id="2" name="Title 1"/>
          <p:cNvSpPr>
            <a:spLocks noGrp="1"/>
          </p:cNvSpPr>
          <p:nvPr>
            <p:ph type="title"/>
          </p:nvPr>
        </p:nvSpPr>
        <p:spPr>
          <a:xfrm>
            <a:off x="323528" y="188640"/>
            <a:ext cx="6840761" cy="692150"/>
          </a:xfrm>
        </p:spPr>
        <p:txBody>
          <a:bodyPr/>
          <a:lstStyle/>
          <a:p>
            <a:r>
              <a:rPr lang="en-US" dirty="0" err="1" smtClean="0"/>
              <a:t>hUMA</a:t>
            </a:r>
            <a:r>
              <a:rPr lang="en-US" dirty="0" smtClean="0"/>
              <a:t> Model in </a:t>
            </a:r>
            <a:r>
              <a:rPr lang="en-US" dirty="0" err="1" smtClean="0"/>
              <a:t>HSAemu</a:t>
            </a:r>
            <a:endParaRPr lang="en-US" dirty="0"/>
          </a:p>
        </p:txBody>
      </p:sp>
      <p:sp>
        <p:nvSpPr>
          <p:cNvPr id="3" name="矩形 2"/>
          <p:cNvSpPr/>
          <p:nvPr/>
        </p:nvSpPr>
        <p:spPr bwMode="auto">
          <a:xfrm>
            <a:off x="323528" y="5445466"/>
            <a:ext cx="2880320" cy="588522"/>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cxnSp>
        <p:nvCxnSpPr>
          <p:cNvPr id="6" name="直線接點 5"/>
          <p:cNvCxnSpPr/>
          <p:nvPr/>
        </p:nvCxnSpPr>
        <p:spPr bwMode="auto">
          <a:xfrm>
            <a:off x="3491880" y="1268760"/>
            <a:ext cx="0" cy="4680520"/>
          </a:xfrm>
          <a:prstGeom prst="line">
            <a:avLst/>
          </a:prstGeom>
          <a:ln w="38100">
            <a:prstDash val="sys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Content Placeholder 2"/>
          <p:cNvSpPr txBox="1">
            <a:spLocks/>
          </p:cNvSpPr>
          <p:nvPr/>
        </p:nvSpPr>
        <p:spPr bwMode="auto">
          <a:xfrm>
            <a:off x="3523600" y="1124744"/>
            <a:ext cx="5620399" cy="4536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742950" indent="-285750" algn="l" rtl="0" eaLnBrk="0" fontAlgn="base" hangingPunct="0">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1143000" indent="-228600" algn="l" rtl="0" eaLnBrk="0" fontAlgn="base" hangingPunct="0">
              <a:spcBef>
                <a:spcPct val="20000"/>
              </a:spcBef>
              <a:spcAft>
                <a:spcPct val="0"/>
              </a:spcAft>
              <a:buChar char="•"/>
              <a:defRPr kumimoji="1" sz="2000">
                <a:solidFill>
                  <a:schemeClr val="tx1"/>
                </a:solidFill>
                <a:latin typeface="Calibri" pitchFamily="34" charset="0"/>
                <a:ea typeface="標楷體" pitchFamily="65" charset="-120"/>
                <a:cs typeface="Calibri" pitchFamily="34" charset="0"/>
              </a:defRPr>
            </a:lvl3pPr>
            <a:lvl4pPr marL="16002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4pPr>
            <a:lvl5pPr marL="2057400" indent="-228600" algn="l" rtl="0" eaLnBrk="0" fontAlgn="base" hangingPunct="0">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dirty="0" smtClean="0"/>
              <a:t>Unified </a:t>
            </a:r>
            <a:r>
              <a:rPr lang="en-US" altLang="zh-TW" dirty="0"/>
              <a:t>coherent address </a:t>
            </a:r>
            <a:r>
              <a:rPr lang="en-US" altLang="zh-TW" dirty="0" smtClean="0"/>
              <a:t>space </a:t>
            </a:r>
          </a:p>
          <a:p>
            <a:pPr lvl="1"/>
            <a:r>
              <a:rPr lang="en-US" altLang="zh-TW" dirty="0" smtClean="0"/>
              <a:t>GPU can access a  virtual memory page allocated by CPU</a:t>
            </a:r>
            <a:endParaRPr lang="en-US" altLang="zh-TW" dirty="0"/>
          </a:p>
          <a:p>
            <a:r>
              <a:rPr lang="en-US" altLang="zh-TW" dirty="0" smtClean="0"/>
              <a:t>Soft-</a:t>
            </a:r>
            <a:r>
              <a:rPr lang="en-US" altLang="zh-TW" dirty="0" err="1" smtClean="0"/>
              <a:t>mmu</a:t>
            </a:r>
            <a:r>
              <a:rPr lang="en-US" altLang="zh-TW" dirty="0" smtClean="0"/>
              <a:t> </a:t>
            </a:r>
            <a:r>
              <a:rPr lang="en-US" altLang="zh-TW" dirty="0"/>
              <a:t>is simulated </a:t>
            </a:r>
            <a:r>
              <a:rPr lang="en-US" altLang="zh-TW" dirty="0" smtClean="0"/>
              <a:t>for GPU</a:t>
            </a:r>
          </a:p>
          <a:p>
            <a:pPr lvl="1"/>
            <a:r>
              <a:rPr lang="en-US" altLang="zh-TW" dirty="0" smtClean="0"/>
              <a:t>TLB </a:t>
            </a:r>
            <a:r>
              <a:rPr lang="en-US" altLang="zh-TW" dirty="0"/>
              <a:t>hit/miss events can be </a:t>
            </a:r>
            <a:r>
              <a:rPr lang="en-US" altLang="zh-TW" dirty="0" smtClean="0"/>
              <a:t>traced</a:t>
            </a:r>
            <a:endParaRPr lang="en-US" altLang="zh-TW" dirty="0"/>
          </a:p>
          <a:p>
            <a:r>
              <a:rPr lang="en-US" altLang="zh-TW" dirty="0" smtClean="0"/>
              <a:t>Memory segment access</a:t>
            </a:r>
          </a:p>
          <a:p>
            <a:pPr lvl="1"/>
            <a:r>
              <a:rPr lang="en-US" altLang="zh-TW" dirty="0" smtClean="0"/>
              <a:t>Global </a:t>
            </a:r>
            <a:r>
              <a:rPr lang="en-US" altLang="zh-TW" dirty="0"/>
              <a:t>memory segment </a:t>
            </a:r>
            <a:r>
              <a:rPr lang="en-US" altLang="zh-TW" dirty="0" smtClean="0"/>
              <a:t>access is </a:t>
            </a:r>
            <a:r>
              <a:rPr lang="en-US" altLang="zh-TW" dirty="0"/>
              <a:t>handled by memory helper </a:t>
            </a:r>
            <a:r>
              <a:rPr lang="en-US" altLang="zh-TW" dirty="0" smtClean="0"/>
              <a:t>function</a:t>
            </a:r>
          </a:p>
          <a:p>
            <a:pPr lvl="1"/>
            <a:r>
              <a:rPr lang="en-US" altLang="zh-TW" dirty="0"/>
              <a:t>G</a:t>
            </a:r>
            <a:r>
              <a:rPr lang="en-US" altLang="zh-TW" dirty="0" smtClean="0"/>
              <a:t>roup </a:t>
            </a:r>
            <a:r>
              <a:rPr lang="en-US" altLang="zh-TW" dirty="0"/>
              <a:t>memory segment </a:t>
            </a:r>
            <a:r>
              <a:rPr lang="en-US" altLang="zh-TW" dirty="0" smtClean="0"/>
              <a:t>access is handled </a:t>
            </a:r>
            <a:r>
              <a:rPr lang="en-US" altLang="zh-TW" dirty="0"/>
              <a:t>by </a:t>
            </a:r>
            <a:r>
              <a:rPr lang="en-US" altLang="zh-TW" dirty="0" smtClean="0"/>
              <a:t>host ld/</a:t>
            </a:r>
            <a:r>
              <a:rPr lang="en-US" altLang="zh-TW" dirty="0" err="1" smtClean="0"/>
              <a:t>st</a:t>
            </a:r>
            <a:r>
              <a:rPr lang="en-US" altLang="zh-TW" dirty="0" smtClean="0"/>
              <a:t> instructions</a:t>
            </a:r>
            <a:endParaRPr lang="en-US" altLang="zh-TW" dirty="0"/>
          </a:p>
        </p:txBody>
      </p:sp>
      <p:sp>
        <p:nvSpPr>
          <p:cNvPr id="9" name="投影片編號版面配置區 8"/>
          <p:cNvSpPr>
            <a:spLocks noGrp="1"/>
          </p:cNvSpPr>
          <p:nvPr>
            <p:ph type="sldNum" sz="quarter" idx="10"/>
          </p:nvPr>
        </p:nvSpPr>
        <p:spPr/>
        <p:txBody>
          <a:bodyPr/>
          <a:lstStyle/>
          <a:p>
            <a:pPr>
              <a:defRPr/>
            </a:pPr>
            <a:fld id="{1A9115C5-2FF4-4A45-B75E-C3C89F0A7A51}" type="slidenum">
              <a:rPr lang="en-US" altLang="zh-TW" smtClean="0"/>
              <a:pPr>
                <a:defRPr/>
              </a:pPr>
              <a:t>70</a:t>
            </a:fld>
            <a:endParaRPr lang="en-US" altLang="zh-TW"/>
          </a:p>
        </p:txBody>
      </p:sp>
    </p:spTree>
    <p:extLst>
      <p:ext uri="{BB962C8B-B14F-4D97-AF65-F5344CB8AC3E}">
        <p14:creationId xmlns:p14="http://schemas.microsoft.com/office/powerpoint/2010/main" val="2242184262"/>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41" y="188640"/>
            <a:ext cx="7991351" cy="692150"/>
          </a:xfrm>
        </p:spPr>
        <p:txBody>
          <a:bodyPr/>
          <a:lstStyle/>
          <a:p>
            <a:r>
              <a:rPr lang="en-US" sz="2800" dirty="0" smtClean="0">
                <a:latin typeface="+mn-lt"/>
              </a:rPr>
              <a:t>Recall: Hardware Simulation of </a:t>
            </a:r>
            <a:r>
              <a:rPr lang="en-US" sz="2800" dirty="0" err="1" smtClean="0">
                <a:latin typeface="+mn-lt"/>
              </a:rPr>
              <a:t>HSAemu</a:t>
            </a:r>
            <a:endParaRPr lang="en-US" sz="2800" dirty="0">
              <a:latin typeface="+mn-lt"/>
            </a:endParaRPr>
          </a:p>
        </p:txBody>
      </p:sp>
      <p:sp>
        <p:nvSpPr>
          <p:cNvPr id="3" name="Content Placeholder 2"/>
          <p:cNvSpPr>
            <a:spLocks noGrp="1"/>
          </p:cNvSpPr>
          <p:nvPr>
            <p:ph idx="1"/>
          </p:nvPr>
        </p:nvSpPr>
        <p:spPr>
          <a:xfrm>
            <a:off x="228600" y="1196752"/>
            <a:ext cx="8686800" cy="4248472"/>
          </a:xfrm>
        </p:spPr>
        <p:txBody>
          <a:bodyPr/>
          <a:lstStyle/>
          <a:p>
            <a:pPr lvl="0"/>
            <a:r>
              <a:rPr lang="en-US" sz="2400" dirty="0" smtClean="0">
                <a:latin typeface="+mn-lt"/>
              </a:rPr>
              <a:t>HSA </a:t>
            </a:r>
            <a:r>
              <a:rPr lang="en-US" sz="2400" dirty="0">
                <a:latin typeface="+mn-lt"/>
              </a:rPr>
              <a:t>h</a:t>
            </a:r>
            <a:r>
              <a:rPr lang="en-US" sz="2400" dirty="0" smtClean="0">
                <a:latin typeface="+mn-lt"/>
              </a:rPr>
              <a:t>ardware components simulated</a:t>
            </a:r>
          </a:p>
          <a:p>
            <a:pPr lvl="1"/>
            <a:r>
              <a:rPr lang="en-US" sz="2000" dirty="0" err="1" smtClean="0">
                <a:latin typeface="+mn-lt"/>
              </a:rPr>
              <a:t>Multicore</a:t>
            </a:r>
            <a:r>
              <a:rPr lang="en-US" sz="2000" dirty="0" smtClean="0">
                <a:latin typeface="+mn-lt"/>
              </a:rPr>
              <a:t> CPU: A parallel </a:t>
            </a:r>
            <a:r>
              <a:rPr lang="en-US" sz="2000" dirty="0" err="1" smtClean="0">
                <a:latin typeface="+mn-lt"/>
              </a:rPr>
              <a:t>multicore</a:t>
            </a:r>
            <a:r>
              <a:rPr lang="en-US" sz="2000" dirty="0" smtClean="0">
                <a:latin typeface="+mn-lt"/>
              </a:rPr>
              <a:t> CPU model simulation</a:t>
            </a:r>
          </a:p>
          <a:p>
            <a:pPr lvl="1"/>
            <a:r>
              <a:rPr lang="en-US" sz="2000" dirty="0" smtClean="0">
                <a:latin typeface="+mn-lt"/>
              </a:rPr>
              <a:t>Functional-</a:t>
            </a:r>
            <a:r>
              <a:rPr lang="en-US" sz="2000" dirty="0" err="1" smtClean="0">
                <a:latin typeface="+mn-lt"/>
              </a:rPr>
              <a:t>Accrate</a:t>
            </a:r>
            <a:r>
              <a:rPr lang="en-US" sz="2000" dirty="0" smtClean="0">
                <a:latin typeface="+mn-lt"/>
              </a:rPr>
              <a:t> GPU: A generic GPU model simulation</a:t>
            </a:r>
          </a:p>
          <a:p>
            <a:pPr lvl="1"/>
            <a:r>
              <a:rPr lang="en-US" sz="2000" dirty="0" smtClean="0">
                <a:latin typeface="+mn-lt"/>
              </a:rPr>
              <a:t>Cycle-Accurate GPU: AMD Southern Islands GPU model simulation</a:t>
            </a:r>
          </a:p>
          <a:p>
            <a:pPr lvl="1"/>
            <a:r>
              <a:rPr lang="en-US" sz="2000" dirty="0" err="1" smtClean="0">
                <a:latin typeface="+mn-lt"/>
              </a:rPr>
              <a:t>hUMA</a:t>
            </a:r>
            <a:r>
              <a:rPr lang="en-US" sz="2000" dirty="0" smtClean="0">
                <a:latin typeface="+mn-lt"/>
              </a:rPr>
              <a:t>: A unified address space between CPU and GPU simulation</a:t>
            </a:r>
          </a:p>
          <a:p>
            <a:pPr lvl="1"/>
            <a:r>
              <a:rPr lang="en-US" sz="2000" dirty="0" smtClean="0">
                <a:latin typeface="+mn-lt"/>
              </a:rPr>
              <a:t>Synchronization Primitive: Barrier instruction simulation</a:t>
            </a:r>
          </a:p>
          <a:p>
            <a:pPr lvl="1"/>
            <a:r>
              <a:rPr lang="en-US" sz="2000" dirty="0" smtClean="0">
                <a:latin typeface="+mn-lt"/>
              </a:rPr>
              <a:t>Hardware AQL Queue: A HW dispatch queue for GPU simulation</a:t>
            </a:r>
          </a:p>
        </p:txBody>
      </p:sp>
      <p:sp>
        <p:nvSpPr>
          <p:cNvPr id="4" name="投影片編號版面配置區 3"/>
          <p:cNvSpPr>
            <a:spLocks noGrp="1"/>
          </p:cNvSpPr>
          <p:nvPr>
            <p:ph type="sldNum" sz="quarter" idx="10"/>
          </p:nvPr>
        </p:nvSpPr>
        <p:spPr/>
        <p:txBody>
          <a:bodyPr/>
          <a:lstStyle/>
          <a:p>
            <a:pPr>
              <a:defRPr/>
            </a:pPr>
            <a:fld id="{1A9115C5-2FF4-4A45-B75E-C3C89F0A7A51}" type="slidenum">
              <a:rPr lang="en-US" altLang="zh-TW" smtClean="0">
                <a:latin typeface="+mn-lt"/>
              </a:rPr>
              <a:pPr>
                <a:defRPr/>
              </a:pPr>
              <a:t>71</a:t>
            </a:fld>
            <a:endParaRPr lang="en-US" altLang="zh-TW">
              <a:latin typeface="+mn-lt"/>
            </a:endParaRPr>
          </a:p>
        </p:txBody>
      </p:sp>
    </p:spTree>
    <p:extLst>
      <p:ext uri="{BB962C8B-B14F-4D97-AF65-F5344CB8AC3E}">
        <p14:creationId xmlns:p14="http://schemas.microsoft.com/office/powerpoint/2010/main" val="3798035346"/>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7991351" cy="692150"/>
          </a:xfrm>
        </p:spPr>
        <p:txBody>
          <a:bodyPr/>
          <a:lstStyle/>
          <a:p>
            <a:r>
              <a:rPr lang="en-US" altLang="zh-TW" sz="2800" dirty="0">
                <a:latin typeface="+mn-lt"/>
              </a:rPr>
              <a:t>Recall: </a:t>
            </a:r>
            <a:r>
              <a:rPr lang="en-US" sz="2800" dirty="0" smtClean="0">
                <a:latin typeface="+mn-lt"/>
              </a:rPr>
              <a:t>Software Utilities of </a:t>
            </a:r>
            <a:r>
              <a:rPr lang="en-US" sz="2800" dirty="0" err="1" smtClean="0">
                <a:latin typeface="+mn-lt"/>
              </a:rPr>
              <a:t>HSAemu</a:t>
            </a:r>
            <a:endParaRPr lang="en-US" sz="2800" dirty="0">
              <a:latin typeface="+mn-lt"/>
            </a:endParaRPr>
          </a:p>
        </p:txBody>
      </p:sp>
      <p:sp>
        <p:nvSpPr>
          <p:cNvPr id="3" name="Content Placeholder 2"/>
          <p:cNvSpPr>
            <a:spLocks noGrp="1"/>
          </p:cNvSpPr>
          <p:nvPr>
            <p:ph idx="1"/>
          </p:nvPr>
        </p:nvSpPr>
        <p:spPr>
          <a:xfrm>
            <a:off x="228600" y="1196752"/>
            <a:ext cx="8686800" cy="4104456"/>
          </a:xfrm>
        </p:spPr>
        <p:txBody>
          <a:bodyPr/>
          <a:lstStyle/>
          <a:p>
            <a:pPr lvl="0"/>
            <a:r>
              <a:rPr lang="en-US" sz="2400" dirty="0" smtClean="0">
                <a:latin typeface="+mn-lt"/>
              </a:rPr>
              <a:t>HSA software utilities designed</a:t>
            </a:r>
          </a:p>
          <a:p>
            <a:pPr lvl="1"/>
            <a:r>
              <a:rPr lang="en-US" sz="2000" dirty="0" smtClean="0">
                <a:latin typeface="+mn-lt"/>
              </a:rPr>
              <a:t>HAS Runtime: HSA runtime library (</a:t>
            </a:r>
            <a:r>
              <a:rPr lang="en-US" sz="2000" dirty="0" err="1" smtClean="0">
                <a:latin typeface="+mn-lt"/>
              </a:rPr>
              <a:t>OpenCL</a:t>
            </a:r>
            <a:r>
              <a:rPr lang="en-US" sz="2000" dirty="0" smtClean="0">
                <a:latin typeface="+mn-lt"/>
              </a:rPr>
              <a:t> runtime)</a:t>
            </a:r>
          </a:p>
          <a:p>
            <a:pPr lvl="1"/>
            <a:r>
              <a:rPr lang="en-US" sz="2000" dirty="0" smtClean="0">
                <a:latin typeface="+mn-lt"/>
              </a:rPr>
              <a:t>Topology Discovery: Discover the current platform topology</a:t>
            </a:r>
          </a:p>
          <a:p>
            <a:pPr lvl="1"/>
            <a:r>
              <a:rPr lang="en-US" sz="2000" dirty="0" smtClean="0">
                <a:latin typeface="+mn-lt"/>
              </a:rPr>
              <a:t>User Mode Queue: A queue for each user application</a:t>
            </a:r>
          </a:p>
          <a:p>
            <a:pPr lvl="1"/>
            <a:r>
              <a:rPr lang="en-US" sz="2000" dirty="0" smtClean="0">
                <a:latin typeface="+mn-lt"/>
              </a:rPr>
              <a:t>Signal Event: Notify GPU to work</a:t>
            </a:r>
          </a:p>
          <a:p>
            <a:pPr lvl="1"/>
            <a:r>
              <a:rPr lang="en-US" altLang="zh-TW" sz="2000" dirty="0">
                <a:latin typeface="+mn-lt"/>
              </a:rPr>
              <a:t>HSAIL </a:t>
            </a:r>
            <a:r>
              <a:rPr lang="en-US" altLang="zh-TW" sz="2000" dirty="0" smtClean="0">
                <a:latin typeface="+mn-lt"/>
              </a:rPr>
              <a:t>Generator: A </a:t>
            </a:r>
            <a:r>
              <a:rPr lang="en-US" sz="2000" dirty="0" smtClean="0">
                <a:latin typeface="+mn-lt"/>
              </a:rPr>
              <a:t>PTX to HSAIL source level translator</a:t>
            </a:r>
          </a:p>
          <a:p>
            <a:pPr lvl="1"/>
            <a:r>
              <a:rPr lang="en-US" sz="2000" dirty="0" smtClean="0">
                <a:latin typeface="+mn-lt"/>
              </a:rPr>
              <a:t>BRIG Generator: Generate a binary format from a Kernel file</a:t>
            </a:r>
          </a:p>
          <a:p>
            <a:pPr lvl="1"/>
            <a:r>
              <a:rPr lang="en-US" sz="2000" dirty="0" smtClean="0">
                <a:latin typeface="+mn-lt"/>
              </a:rPr>
              <a:t>HSAIL Translator: Translate HSAIL to host executable binary</a:t>
            </a:r>
          </a:p>
          <a:p>
            <a:pPr lvl="1"/>
            <a:r>
              <a:rPr lang="en-US" sz="2000" dirty="0" smtClean="0">
                <a:latin typeface="+mn-lt"/>
              </a:rPr>
              <a:t>GPU Code Cache: store translated host binaries</a:t>
            </a:r>
          </a:p>
        </p:txBody>
      </p:sp>
      <p:sp>
        <p:nvSpPr>
          <p:cNvPr id="4" name="投影片編號版面配置區 3"/>
          <p:cNvSpPr>
            <a:spLocks noGrp="1"/>
          </p:cNvSpPr>
          <p:nvPr>
            <p:ph type="sldNum" sz="quarter" idx="10"/>
          </p:nvPr>
        </p:nvSpPr>
        <p:spPr/>
        <p:txBody>
          <a:bodyPr/>
          <a:lstStyle/>
          <a:p>
            <a:pPr>
              <a:defRPr/>
            </a:pPr>
            <a:fld id="{1A9115C5-2FF4-4A45-B75E-C3C89F0A7A51}" type="slidenum">
              <a:rPr lang="en-US" altLang="zh-TW" smtClean="0">
                <a:latin typeface="+mn-lt"/>
              </a:rPr>
              <a:pPr>
                <a:defRPr/>
              </a:pPr>
              <a:t>72</a:t>
            </a:fld>
            <a:endParaRPr lang="en-US" altLang="zh-TW">
              <a:latin typeface="+mn-lt"/>
            </a:endParaRPr>
          </a:p>
        </p:txBody>
      </p:sp>
    </p:spTree>
    <p:extLst>
      <p:ext uri="{BB962C8B-B14F-4D97-AF65-F5344CB8AC3E}">
        <p14:creationId xmlns:p14="http://schemas.microsoft.com/office/powerpoint/2010/main" val="2085918632"/>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Experimental Evaluation</a:t>
            </a:r>
            <a:endParaRPr lang="zh-TW" altLang="en-US" dirty="0">
              <a:latin typeface="+mn-lt"/>
            </a:endParaRPr>
          </a:p>
        </p:txBody>
      </p:sp>
      <p:sp>
        <p:nvSpPr>
          <p:cNvPr id="6" name="投影片編號版面配置區 5"/>
          <p:cNvSpPr>
            <a:spLocks noGrp="1"/>
          </p:cNvSpPr>
          <p:nvPr>
            <p:ph type="sldNum" sz="quarter" idx="10"/>
          </p:nvPr>
        </p:nvSpPr>
        <p:spPr>
          <a:prstGeom prst="rect">
            <a:avLst/>
          </a:prstGeom>
        </p:spPr>
        <p:txBody>
          <a:bodyPr>
            <a:normAutofit/>
          </a:bodyPr>
          <a:lstStyle/>
          <a:p>
            <a:fld id="{F61F8B78-83E5-4464-85FE-162EBD25577F}" type="slidenum">
              <a:rPr lang="zh-TW" altLang="en-US" smtClean="0">
                <a:latin typeface="+mn-lt"/>
              </a:rPr>
              <a:pPr/>
              <a:t>73</a:t>
            </a:fld>
            <a:endParaRPr lang="zh-TW" altLang="en-US">
              <a:latin typeface="+mn-lt"/>
            </a:endParaRPr>
          </a:p>
        </p:txBody>
      </p:sp>
      <p:graphicFrame>
        <p:nvGraphicFramePr>
          <p:cNvPr id="4" name="內容版面配置區 3"/>
          <p:cNvGraphicFramePr>
            <a:graphicFrameLocks/>
          </p:cNvGraphicFramePr>
          <p:nvPr>
            <p:extLst>
              <p:ext uri="{D42A27DB-BD31-4B8C-83A1-F6EECF244321}">
                <p14:modId xmlns:p14="http://schemas.microsoft.com/office/powerpoint/2010/main" val="3769666992"/>
              </p:ext>
            </p:extLst>
          </p:nvPr>
        </p:nvGraphicFramePr>
        <p:xfrm>
          <a:off x="302865" y="1359704"/>
          <a:ext cx="8572500" cy="1483360"/>
        </p:xfrm>
        <a:graphic>
          <a:graphicData uri="http://schemas.openxmlformats.org/drawingml/2006/table">
            <a:tbl>
              <a:tblPr firstRow="1" bandRow="1">
                <a:tableStyleId>{616DA210-FB5B-4158-B5E0-FEB733F419BA}</a:tableStyleId>
              </a:tblPr>
              <a:tblGrid>
                <a:gridCol w="4286250"/>
                <a:gridCol w="4286250"/>
              </a:tblGrid>
              <a:tr h="370840">
                <a:tc>
                  <a:txBody>
                    <a:bodyPr/>
                    <a:lstStyle/>
                    <a:p>
                      <a:pPr algn="ctr"/>
                      <a:r>
                        <a:rPr lang="en-US" altLang="zh-TW" sz="1800" b="0" dirty="0" smtClean="0"/>
                        <a:t>Guest OS </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b="0" dirty="0" smtClean="0"/>
                        <a:t>Linux-3.5.0-1-linaro-vexpress</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TW" b="0" dirty="0" smtClean="0"/>
                        <a:t>Guest</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dirty="0" smtClean="0"/>
                        <a:t>ARM Vexpress-A9</a:t>
                      </a:r>
                      <a:endParaRPr lang="zh-TW" altLang="en-US" b="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TW" b="0" dirty="0" smtClean="0"/>
                        <a:t>Host OS</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dirty="0" err="1" smtClean="0"/>
                        <a:t>Ubuntu</a:t>
                      </a:r>
                      <a:r>
                        <a:rPr lang="en-US" altLang="zh-TW" b="0" dirty="0" smtClean="0"/>
                        <a:t> 12.04</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TW" b="0" dirty="0" smtClean="0"/>
                        <a:t>Host</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b="0" dirty="0" smtClean="0"/>
                        <a:t>Dell </a:t>
                      </a:r>
                      <a:r>
                        <a:rPr lang="en-US" altLang="zh-TW" b="0" dirty="0" err="1" smtClean="0"/>
                        <a:t>PowerEdge</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213729451"/>
              </p:ext>
            </p:extLst>
          </p:nvPr>
        </p:nvGraphicFramePr>
        <p:xfrm>
          <a:off x="304639" y="3131094"/>
          <a:ext cx="8568952" cy="2736306"/>
        </p:xfrm>
        <a:graphic>
          <a:graphicData uri="http://schemas.openxmlformats.org/drawingml/2006/table">
            <a:tbl>
              <a:tblPr firstRow="1" bandRow="1">
                <a:tableStyleId>{616DA210-FB5B-4158-B5E0-FEB733F419BA}</a:tableStyleId>
              </a:tblPr>
              <a:tblGrid>
                <a:gridCol w="4284476"/>
                <a:gridCol w="4284476"/>
              </a:tblGrid>
              <a:tr h="456051">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smtClean="0"/>
                        <a:t>Benchmark: </a:t>
                      </a:r>
                      <a:r>
                        <a:rPr lang="en-US" altLang="zh-TW" sz="1800" b="1" dirty="0" smtClean="0"/>
                        <a:t>AMD</a:t>
                      </a:r>
                      <a:r>
                        <a:rPr lang="zh-TW" altLang="en-US" sz="1800" b="1" dirty="0" smtClean="0"/>
                        <a:t> </a:t>
                      </a:r>
                      <a:r>
                        <a:rPr lang="en-US" altLang="zh-TW" sz="1800" b="1" dirty="0" smtClean="0"/>
                        <a:t>APP</a:t>
                      </a:r>
                      <a:r>
                        <a:rPr lang="zh-TW" altLang="en-US" sz="1800" b="1" dirty="0" smtClean="0"/>
                        <a:t> </a:t>
                      </a:r>
                      <a:r>
                        <a:rPr lang="en-US" altLang="zh-TW" sz="1800" b="1" dirty="0" smtClean="0"/>
                        <a:t>SDK v2.8</a:t>
                      </a:r>
                      <a:endParaRPr lang="zh-TW" alt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6051">
                <a:tc>
                  <a:txBody>
                    <a:bodyPr/>
                    <a:lstStyle/>
                    <a:p>
                      <a:pPr algn="ctr"/>
                      <a:r>
                        <a:rPr lang="en-US" altLang="zh-TW" b="0" dirty="0" smtClean="0"/>
                        <a:t>Binary Search</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0" dirty="0" smtClean="0"/>
                        <a:t>Fast Walsh Transform</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6051">
                <a:tc>
                  <a:txBody>
                    <a:bodyPr/>
                    <a:lstStyle/>
                    <a:p>
                      <a:pPr algn="ctr"/>
                      <a:r>
                        <a:rPr lang="en-US" altLang="zh-TW" b="0" dirty="0" smtClean="0"/>
                        <a:t>Prefix Sum</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0" dirty="0" err="1" smtClean="0"/>
                        <a:t>Bitonic</a:t>
                      </a:r>
                      <a:r>
                        <a:rPr lang="en-US" altLang="zh-TW" b="0" dirty="0" smtClean="0"/>
                        <a:t> Sort</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6051">
                <a:tc>
                  <a:txBody>
                    <a:bodyPr/>
                    <a:lstStyle/>
                    <a:p>
                      <a:pPr algn="ctr"/>
                      <a:r>
                        <a:rPr lang="en-US" altLang="zh-TW" b="0" dirty="0" smtClean="0"/>
                        <a:t>Discrete Wavelet Transform</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0" dirty="0" smtClean="0"/>
                        <a:t>Floyd </a:t>
                      </a:r>
                      <a:r>
                        <a:rPr lang="en-US" altLang="zh-TW" b="0" dirty="0" err="1" smtClean="0"/>
                        <a:t>Warshall</a:t>
                      </a:r>
                      <a:r>
                        <a:rPr lang="en-US" altLang="zh-TW" b="0" dirty="0" smtClean="0"/>
                        <a:t> (shortest path)</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6051">
                <a:tc>
                  <a:txBody>
                    <a:bodyPr/>
                    <a:lstStyle/>
                    <a:p>
                      <a:pPr algn="ctr"/>
                      <a:r>
                        <a:rPr lang="en-US" altLang="zh-TW" b="0" dirty="0" err="1" smtClean="0"/>
                        <a:t>NBody</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0" dirty="0" smtClean="0"/>
                        <a:t>Reduction (</a:t>
                      </a:r>
                      <a:r>
                        <a:rPr lang="en-US" altLang="zh-TW" b="0" smtClean="0"/>
                        <a:t>parallel summation)</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6051">
                <a:tc>
                  <a:txBody>
                    <a:bodyPr/>
                    <a:lstStyle/>
                    <a:p>
                      <a:pPr algn="ctr"/>
                      <a:r>
                        <a:rPr lang="en-US" altLang="zh-TW" b="0" dirty="0" smtClean="0"/>
                        <a:t>Matrix Transpose</a:t>
                      </a: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699817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vmware-host\Shared Folders\Desktop\MTK\N-Bod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1988840"/>
            <a:ext cx="5156981" cy="3883652"/>
          </a:xfrm>
          <a:prstGeom prst="rect">
            <a:avLst/>
          </a:prstGeom>
          <a:noFill/>
          <a:extLst>
            <a:ext uri="{909E8E84-426E-40DD-AFC4-6F175D3DCCD1}">
              <a14:hiddenFill xmlns:a14="http://schemas.microsoft.com/office/drawing/2010/main">
                <a:solidFill>
                  <a:srgbClr val="FFFFFF"/>
                </a:solidFill>
              </a14:hiddenFill>
            </a:ext>
          </a:extLst>
        </p:spPr>
      </p:pic>
      <p:sp>
        <p:nvSpPr>
          <p:cNvPr id="6" name="標題 1"/>
          <p:cNvSpPr>
            <a:spLocks noGrp="1"/>
          </p:cNvSpPr>
          <p:nvPr>
            <p:ph type="title"/>
          </p:nvPr>
        </p:nvSpPr>
        <p:spPr>
          <a:xfrm>
            <a:off x="251520" y="152718"/>
            <a:ext cx="7349007" cy="756002"/>
          </a:xfrm>
        </p:spPr>
        <p:txBody>
          <a:bodyPr>
            <a:normAutofit/>
          </a:bodyPr>
          <a:lstStyle/>
          <a:p>
            <a:r>
              <a:rPr lang="en-US" altLang="zh-TW" sz="2400" i="1" dirty="0">
                <a:latin typeface="+mn-lt"/>
              </a:rPr>
              <a:t>N</a:t>
            </a:r>
            <a:r>
              <a:rPr lang="en-US" altLang="zh-TW" sz="2400" dirty="0">
                <a:latin typeface="+mn-lt"/>
              </a:rPr>
              <a:t>-Body </a:t>
            </a:r>
            <a:r>
              <a:rPr lang="en-US" altLang="zh-TW" sz="2400" dirty="0" smtClean="0">
                <a:latin typeface="+mn-lt"/>
              </a:rPr>
              <a:t>Simulation by Fast-GPU Simulator</a:t>
            </a:r>
            <a:endParaRPr lang="zh-TW" altLang="en-US" sz="2400" dirty="0">
              <a:latin typeface="+mn-lt"/>
            </a:endParaRPr>
          </a:p>
        </p:txBody>
      </p:sp>
      <p:sp>
        <p:nvSpPr>
          <p:cNvPr id="10" name="內容版面配置區 2"/>
          <p:cNvSpPr>
            <a:spLocks noGrp="1"/>
          </p:cNvSpPr>
          <p:nvPr>
            <p:ph idx="1"/>
          </p:nvPr>
        </p:nvSpPr>
        <p:spPr>
          <a:xfrm>
            <a:off x="457200" y="1125538"/>
            <a:ext cx="8229600" cy="503262"/>
          </a:xfrm>
        </p:spPr>
        <p:txBody>
          <a:bodyPr/>
          <a:lstStyle/>
          <a:p>
            <a:r>
              <a:rPr lang="en-US" altLang="zh-TW" i="1" dirty="0" smtClean="0">
                <a:latin typeface="+mn-lt"/>
              </a:rPr>
              <a:t>N</a:t>
            </a:r>
            <a:r>
              <a:rPr lang="en-US" altLang="zh-TW" dirty="0" smtClean="0">
                <a:latin typeface="+mn-lt"/>
              </a:rPr>
              <a:t>-Body Simulation </a:t>
            </a:r>
            <a:endParaRPr lang="en-US" altLang="zh-TW" dirty="0">
              <a:latin typeface="+mn-lt"/>
            </a:endParaRPr>
          </a:p>
        </p:txBody>
      </p:sp>
      <p:sp>
        <p:nvSpPr>
          <p:cNvPr id="2" name="圓角矩形 1"/>
          <p:cNvSpPr/>
          <p:nvPr/>
        </p:nvSpPr>
        <p:spPr bwMode="auto">
          <a:xfrm>
            <a:off x="611560" y="1988840"/>
            <a:ext cx="5760640" cy="1152128"/>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mn-lt"/>
              <a:ea typeface="新細明體" pitchFamily="18" charset="-120"/>
            </a:endParaRPr>
          </a:p>
        </p:txBody>
      </p:sp>
      <p:sp>
        <p:nvSpPr>
          <p:cNvPr id="3" name="文字方塊 2"/>
          <p:cNvSpPr txBox="1"/>
          <p:nvPr/>
        </p:nvSpPr>
        <p:spPr>
          <a:xfrm>
            <a:off x="6452591" y="2574876"/>
            <a:ext cx="2583905" cy="646331"/>
          </a:xfrm>
          <a:prstGeom prst="rect">
            <a:avLst/>
          </a:prstGeom>
          <a:noFill/>
        </p:spPr>
        <p:txBody>
          <a:bodyPr wrap="square" rtlCol="0" anchor="ctr" anchorCtr="1">
            <a:spAutoFit/>
          </a:bodyPr>
          <a:lstStyle/>
          <a:p>
            <a:r>
              <a:rPr lang="en-US" altLang="zh-TW" dirty="0" smtClean="0">
                <a:latin typeface="+mn-lt"/>
                <a:ea typeface="標楷體" pitchFamily="65" charset="-120"/>
                <a:cs typeface="Calibri" pitchFamily="34" charset="0"/>
              </a:rPr>
              <a:t>All of host physical CPUs are running</a:t>
            </a:r>
            <a:endParaRPr lang="zh-TW" altLang="en-US" dirty="0" smtClean="0">
              <a:latin typeface="+mn-lt"/>
              <a:ea typeface="標楷體" pitchFamily="65" charset="-120"/>
              <a:cs typeface="Calibri" pitchFamily="34" charset="0"/>
            </a:endParaRPr>
          </a:p>
        </p:txBody>
      </p:sp>
      <p:sp>
        <p:nvSpPr>
          <p:cNvPr id="7" name="投影片編號版面配置區 6"/>
          <p:cNvSpPr>
            <a:spLocks noGrp="1"/>
          </p:cNvSpPr>
          <p:nvPr>
            <p:ph type="sldNum" sz="quarter" idx="10"/>
          </p:nvPr>
        </p:nvSpPr>
        <p:spPr/>
        <p:txBody>
          <a:bodyPr/>
          <a:lstStyle/>
          <a:p>
            <a:pPr>
              <a:defRPr/>
            </a:pPr>
            <a:fld id="{1A9115C5-2FF4-4A45-B75E-C3C89F0A7A51}" type="slidenum">
              <a:rPr lang="en-US" altLang="zh-TW" smtClean="0">
                <a:latin typeface="+mn-lt"/>
              </a:rPr>
              <a:pPr>
                <a:defRPr/>
              </a:pPr>
              <a:t>74</a:t>
            </a:fld>
            <a:endParaRPr lang="en-US" altLang="zh-TW">
              <a:latin typeface="+mn-lt"/>
            </a:endParaRPr>
          </a:p>
        </p:txBody>
      </p:sp>
    </p:spTree>
    <p:extLst>
      <p:ext uri="{BB962C8B-B14F-4D97-AF65-F5344CB8AC3E}">
        <p14:creationId xmlns:p14="http://schemas.microsoft.com/office/powerpoint/2010/main" val="12026958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n-lt"/>
              </a:rPr>
              <a:t>Reference</a:t>
            </a:r>
            <a:endParaRPr lang="zh-TW" altLang="en-US" dirty="0">
              <a:latin typeface="+mn-lt"/>
            </a:endParaRPr>
          </a:p>
        </p:txBody>
      </p:sp>
      <p:sp>
        <p:nvSpPr>
          <p:cNvPr id="3" name="內容版面配置區 2"/>
          <p:cNvSpPr>
            <a:spLocks noGrp="1"/>
          </p:cNvSpPr>
          <p:nvPr>
            <p:ph idx="1"/>
          </p:nvPr>
        </p:nvSpPr>
        <p:spPr/>
        <p:txBody>
          <a:bodyPr/>
          <a:lstStyle/>
          <a:p>
            <a:r>
              <a:rPr lang="en-US" altLang="zh-TW" dirty="0" err="1" smtClean="0">
                <a:latin typeface="+mn-lt"/>
              </a:rPr>
              <a:t>rednoah“VM</a:t>
            </a:r>
            <a:r>
              <a:rPr lang="en-US" altLang="zh-TW" dirty="0" smtClean="0">
                <a:latin typeface="+mn-lt"/>
              </a:rPr>
              <a:t> &amp; QEM”2010/04/09</a:t>
            </a:r>
          </a:p>
          <a:p>
            <a:r>
              <a:rPr lang="zh-TW" altLang="en-US" dirty="0">
                <a:latin typeface="+mn-lt"/>
              </a:rPr>
              <a:t>徐慰</a:t>
            </a:r>
            <a:r>
              <a:rPr lang="zh-TW" altLang="en-US" dirty="0" smtClean="0">
                <a:latin typeface="+mn-lt"/>
              </a:rPr>
              <a:t>中 </a:t>
            </a:r>
            <a:r>
              <a:rPr lang="en-US" altLang="zh-TW" dirty="0" smtClean="0">
                <a:latin typeface="+mn-lt"/>
              </a:rPr>
              <a:t>“</a:t>
            </a:r>
            <a:r>
              <a:rPr lang="en-US" altLang="zh-TW" dirty="0">
                <a:latin typeface="+mn-lt"/>
              </a:rPr>
              <a:t>Introduction to Virtual Machines</a:t>
            </a:r>
            <a:br>
              <a:rPr lang="en-US" altLang="zh-TW" dirty="0">
                <a:latin typeface="+mn-lt"/>
              </a:rPr>
            </a:br>
            <a:r>
              <a:rPr lang="en-US" altLang="zh-TW" dirty="0">
                <a:latin typeface="+mn-lt"/>
              </a:rPr>
              <a:t>and Virtualization Technology” </a:t>
            </a:r>
            <a:r>
              <a:rPr lang="en-US" altLang="zh-TW" dirty="0" smtClean="0">
                <a:latin typeface="+mn-lt"/>
              </a:rPr>
              <a:t>2012/09/17</a:t>
            </a:r>
          </a:p>
          <a:p>
            <a:r>
              <a:rPr lang="zh-TW" altLang="en-US" dirty="0">
                <a:latin typeface="+mn-lt"/>
              </a:rPr>
              <a:t>臧傑</a:t>
            </a:r>
            <a:r>
              <a:rPr lang="zh-TW" altLang="en-US" dirty="0" smtClean="0">
                <a:latin typeface="+mn-lt"/>
              </a:rPr>
              <a:t>晧 </a:t>
            </a:r>
            <a:r>
              <a:rPr lang="en-US" altLang="zh-TW" dirty="0" smtClean="0">
                <a:latin typeface="+mn-lt"/>
              </a:rPr>
              <a:t>“</a:t>
            </a:r>
            <a:r>
              <a:rPr lang="en-US" altLang="zh-TW" dirty="0">
                <a:latin typeface="+mn-lt"/>
              </a:rPr>
              <a:t>Introduction to </a:t>
            </a:r>
            <a:r>
              <a:rPr lang="en-US" altLang="zh-TW" dirty="0" smtClean="0">
                <a:latin typeface="+mn-lt"/>
              </a:rPr>
              <a:t>VM” 2012/07/26</a:t>
            </a:r>
            <a:endParaRPr lang="en-US" altLang="zh-TW" dirty="0">
              <a:latin typeface="+mn-lt"/>
            </a:endParaRPr>
          </a:p>
          <a:p>
            <a:r>
              <a:rPr lang="zh-TW" altLang="en-US" dirty="0">
                <a:latin typeface="+mn-lt"/>
              </a:rPr>
              <a:t>郭舟</a:t>
            </a:r>
            <a:r>
              <a:rPr lang="zh-TW" altLang="en-US" dirty="0" smtClean="0">
                <a:latin typeface="+mn-lt"/>
              </a:rPr>
              <a:t>東 </a:t>
            </a:r>
            <a:r>
              <a:rPr lang="en-US" altLang="zh-TW" dirty="0" smtClean="0">
                <a:latin typeface="+mn-lt"/>
              </a:rPr>
              <a:t>“</a:t>
            </a:r>
            <a:r>
              <a:rPr lang="en-US" altLang="zh-TW" smtClean="0">
                <a:latin typeface="+mn-lt"/>
              </a:rPr>
              <a:t>QEMU” 2012/07/25</a:t>
            </a:r>
            <a:endParaRPr lang="en-US" altLang="zh-TW" dirty="0" smtClean="0">
              <a:latin typeface="+mn-lt"/>
            </a:endParaRPr>
          </a:p>
          <a:p>
            <a:r>
              <a:rPr lang="zh-TW" altLang="en-US" dirty="0">
                <a:latin typeface="+mn-lt"/>
              </a:rPr>
              <a:t>陳韋</a:t>
            </a:r>
            <a:r>
              <a:rPr lang="zh-TW" altLang="en-US" dirty="0" smtClean="0">
                <a:latin typeface="+mn-lt"/>
              </a:rPr>
              <a:t>任 </a:t>
            </a:r>
            <a:r>
              <a:rPr lang="en-US" altLang="zh-TW" dirty="0" smtClean="0">
                <a:latin typeface="+mn-lt"/>
              </a:rPr>
              <a:t>“</a:t>
            </a:r>
            <a:r>
              <a:rPr lang="en-US" altLang="zh-TW" dirty="0" err="1">
                <a:latin typeface="+mn-lt"/>
              </a:rPr>
              <a:t>qemu</a:t>
            </a:r>
            <a:r>
              <a:rPr lang="en-US" altLang="zh-TW" dirty="0">
                <a:latin typeface="+mn-lt"/>
              </a:rPr>
              <a:t> - </a:t>
            </a:r>
            <a:r>
              <a:rPr lang="zh-TW" altLang="en-US" dirty="0">
                <a:latin typeface="+mn-lt"/>
              </a:rPr>
              <a:t>韋任的維基百科</a:t>
            </a:r>
            <a:r>
              <a:rPr lang="en-US" altLang="zh-TW" dirty="0" smtClean="0">
                <a:latin typeface="+mn-lt"/>
              </a:rPr>
              <a:t>” </a:t>
            </a:r>
            <a:r>
              <a:rPr lang="en-US" altLang="zh-TW" dirty="0">
                <a:latin typeface="+mn-lt"/>
              </a:rPr>
              <a:t>http://people.cs.nctu.edu.tw/~chenwj/dokuwiki/doku.php?id=qemu</a:t>
            </a:r>
            <a:endParaRPr lang="zh-TW" altLang="en-US" dirty="0">
              <a:latin typeface="+mn-lt"/>
            </a:endParaRPr>
          </a:p>
          <a:p>
            <a:endParaRPr lang="zh-TW" altLang="en-US" dirty="0">
              <a:latin typeface="+mn-lt"/>
            </a:endParaRPr>
          </a:p>
        </p:txBody>
      </p:sp>
      <p:sp>
        <p:nvSpPr>
          <p:cNvPr id="4" name="投影片編號版面配置區 3"/>
          <p:cNvSpPr>
            <a:spLocks noGrp="1"/>
          </p:cNvSpPr>
          <p:nvPr>
            <p:ph type="sldNum" sz="quarter" idx="10"/>
          </p:nvPr>
        </p:nvSpPr>
        <p:spPr/>
        <p:txBody>
          <a:bodyPr/>
          <a:lstStyle/>
          <a:p>
            <a:fld id="{D57F1E4F-1CFF-5643-939E-217C01CDF565}" type="slidenum">
              <a:rPr lang="en-US" smtClean="0">
                <a:latin typeface="+mn-lt"/>
              </a:rPr>
              <a:pPr/>
              <a:t>75</a:t>
            </a:fld>
            <a:endParaRPr lang="en-US" dirty="0">
              <a:latin typeface="+mn-lt"/>
            </a:endParaRPr>
          </a:p>
        </p:txBody>
      </p:sp>
    </p:spTree>
    <p:extLst>
      <p:ext uri="{BB962C8B-B14F-4D97-AF65-F5344CB8AC3E}">
        <p14:creationId xmlns:p14="http://schemas.microsoft.com/office/powerpoint/2010/main" val="3561641859"/>
      </p:ext>
    </p:extLst>
  </p:cSld>
  <p:clrMapOvr>
    <a:masterClrMapping/>
  </p:clrMapOvr>
  <p:timing>
    <p:tnLst>
      <p:par>
        <p:cTn id="1" dur="indefinite" restart="never" nodeType="tmRoot"/>
      </p:par>
    </p:tnLst>
  </p:timing>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佈景主題1" id="{52425C63-842A-4F95-A16C-1C0CCEA90123}" vid="{F27CB42A-B114-46CF-86BE-45D629310C5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佈景主題1</Template>
  <TotalTime>33773</TotalTime>
  <Words>3105</Words>
  <Application>Microsoft Office PowerPoint</Application>
  <PresentationFormat>如螢幕大小 (4:3)</PresentationFormat>
  <Paragraphs>732</Paragraphs>
  <Slides>75</Slides>
  <Notes>31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75</vt:i4>
      </vt:variant>
    </vt:vector>
  </HeadingPairs>
  <TitlesOfParts>
    <vt:vector size="83" baseType="lpstr">
      <vt:lpstr>MS Sans Serif</vt:lpstr>
      <vt:lpstr>新細明體</vt:lpstr>
      <vt:lpstr>標楷體</vt:lpstr>
      <vt:lpstr>Arial</vt:lpstr>
      <vt:lpstr>Calibri</vt:lpstr>
      <vt:lpstr>Times New Roman</vt:lpstr>
      <vt:lpstr>Wingdings</vt:lpstr>
      <vt:lpstr>佈景主題1</vt:lpstr>
      <vt:lpstr>HSAemu</vt:lpstr>
      <vt:lpstr>Review Virtual Machines</vt:lpstr>
      <vt:lpstr>VM overview</vt:lpstr>
      <vt:lpstr>VM overview</vt:lpstr>
      <vt:lpstr>Virtual is better than Real</vt:lpstr>
      <vt:lpstr>Virtualization</vt:lpstr>
      <vt:lpstr>VM overview</vt:lpstr>
      <vt:lpstr>Transcending of standard interfaces</vt:lpstr>
      <vt:lpstr>Enable innovation in flexible, adaptive software &amp; hardware, security, network computing</vt:lpstr>
      <vt:lpstr>VM overview</vt:lpstr>
      <vt:lpstr>VM overview</vt:lpstr>
      <vt:lpstr>Abstraction</vt:lpstr>
      <vt:lpstr>Machines (defined by ISA)</vt:lpstr>
      <vt:lpstr>Machines (defined by ABI)</vt:lpstr>
      <vt:lpstr>Machines (defined by API)</vt:lpstr>
      <vt:lpstr>Virtual Machines</vt:lpstr>
      <vt:lpstr>Process Virtual Machines</vt:lpstr>
      <vt:lpstr>Process Virtual Machines</vt:lpstr>
      <vt:lpstr>Cross-Platform Portability</vt:lpstr>
      <vt:lpstr>Crossa-Platform Portability</vt:lpstr>
      <vt:lpstr>HLL Virtual Machines</vt:lpstr>
      <vt:lpstr>Another Possibility</vt:lpstr>
      <vt:lpstr>System Virtual Machines</vt:lpstr>
      <vt:lpstr>System Virtual Machines</vt:lpstr>
      <vt:lpstr>Hosted System VMs</vt:lpstr>
      <vt:lpstr>System Virtual Machines</vt:lpstr>
      <vt:lpstr>Co-designed Virtual Machines</vt:lpstr>
      <vt:lpstr>Taxonomy</vt:lpstr>
      <vt:lpstr>GPU Virtualization</vt:lpstr>
      <vt:lpstr>Review Virtualization Technology</vt:lpstr>
      <vt:lpstr>Common terms</vt:lpstr>
      <vt:lpstr>Interpretation</vt:lpstr>
      <vt:lpstr>Decode-Dispatch Interpretation</vt:lpstr>
      <vt:lpstr>Decode-Dispatch: Low efficiency</vt:lpstr>
      <vt:lpstr>Binary Translation</vt:lpstr>
      <vt:lpstr>Dynamic Translation</vt:lpstr>
      <vt:lpstr>Dynamic Translation</vt:lpstr>
      <vt:lpstr>Flow of Control</vt:lpstr>
      <vt:lpstr>Translation Chaining</vt:lpstr>
      <vt:lpstr>Review QEMU</vt:lpstr>
      <vt:lpstr>QEMU Overview</vt:lpstr>
      <vt:lpstr>Basic Background: POSIX thread</vt:lpstr>
      <vt:lpstr>QEMU Main Control Flow</vt:lpstr>
      <vt:lpstr>QEMU TCG</vt:lpstr>
      <vt:lpstr>TCG Intermediate Representations</vt:lpstr>
      <vt:lpstr>Execution flow</vt:lpstr>
      <vt:lpstr>Exception and interrupt</vt:lpstr>
      <vt:lpstr>Code block Chaining</vt:lpstr>
      <vt:lpstr>Example (insert)</vt:lpstr>
      <vt:lpstr>Example (remove)</vt:lpstr>
      <vt:lpstr>Example (remove)</vt:lpstr>
      <vt:lpstr>Address</vt:lpstr>
      <vt:lpstr>HSAemu Introduction</vt:lpstr>
      <vt:lpstr>What Is HSAemu</vt:lpstr>
      <vt:lpstr>Architecture of HSAemu</vt:lpstr>
      <vt:lpstr>HSAemu Runtime</vt:lpstr>
      <vt:lpstr>CPU Simulation Module (1)</vt:lpstr>
      <vt:lpstr>CPU Simulation Module (2)</vt:lpstr>
      <vt:lpstr>GPU Task Dispatcher (1)</vt:lpstr>
      <vt:lpstr>GPU Task Dispatcher (2)</vt:lpstr>
      <vt:lpstr>Fast-GPU Simulator</vt:lpstr>
      <vt:lpstr>HSAIL Translator</vt:lpstr>
      <vt:lpstr>GPU Thread Scheduler</vt:lpstr>
      <vt:lpstr>M2S-GPU Simulator (1)</vt:lpstr>
      <vt:lpstr>PowerPoint 簡報</vt:lpstr>
      <vt:lpstr>M2S-GPU Simulator (3)</vt:lpstr>
      <vt:lpstr>M2S-GPU Simulator (4)</vt:lpstr>
      <vt:lpstr>GPU Helper Functions (1)</vt:lpstr>
      <vt:lpstr>GPU Helper Functions (2)</vt:lpstr>
      <vt:lpstr>hUMA Model in HSAemu</vt:lpstr>
      <vt:lpstr>Recall: Hardware Simulation of HSAemu</vt:lpstr>
      <vt:lpstr>Recall: Software Utilities of HSAemu</vt:lpstr>
      <vt:lpstr>Experimental Evaluation</vt:lpstr>
      <vt:lpstr>N-Body Simulation by Fast-GPU Simulator</vt:lpstr>
      <vt:lpstr>Reference</vt:lpstr>
    </vt:vector>
  </TitlesOfParts>
  <Company>IBM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Enhancements For Productivity &amp; Performance</dc:title>
  <dc:creator>chng1me</dc:creator>
  <cp:lastModifiedBy>鄭百成</cp:lastModifiedBy>
  <cp:revision>184</cp:revision>
  <dcterms:created xsi:type="dcterms:W3CDTF">2005-07-19T20:09:40Z</dcterms:created>
  <dcterms:modified xsi:type="dcterms:W3CDTF">2014-01-14T13:37:50Z</dcterms:modified>
</cp:coreProperties>
</file>