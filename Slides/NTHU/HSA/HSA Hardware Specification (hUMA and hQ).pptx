
<file path=[Content_Types].xml><?xml version="1.0" encoding="utf-8"?>
<Types xmlns="http://schemas.openxmlformats.org/package/2006/content-types">
  <Default Extension="png" ContentType="image/pn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7" r:id="rId3"/>
    <p:sldId id="304" r:id="rId4"/>
    <p:sldId id="323" r:id="rId5"/>
    <p:sldId id="305" r:id="rId6"/>
    <p:sldId id="269" r:id="rId7"/>
    <p:sldId id="324" r:id="rId8"/>
    <p:sldId id="268" r:id="rId9"/>
    <p:sldId id="257" r:id="rId10"/>
    <p:sldId id="314" r:id="rId11"/>
    <p:sldId id="313" r:id="rId12"/>
    <p:sldId id="316" r:id="rId13"/>
    <p:sldId id="315" r:id="rId14"/>
    <p:sldId id="270" r:id="rId15"/>
    <p:sldId id="258" r:id="rId16"/>
    <p:sldId id="259" r:id="rId17"/>
    <p:sldId id="271" r:id="rId18"/>
    <p:sldId id="260" r:id="rId19"/>
    <p:sldId id="283" r:id="rId20"/>
    <p:sldId id="272" r:id="rId21"/>
    <p:sldId id="261" r:id="rId22"/>
    <p:sldId id="277" r:id="rId23"/>
    <p:sldId id="284" r:id="rId24"/>
    <p:sldId id="262" r:id="rId25"/>
    <p:sldId id="273" r:id="rId26"/>
    <p:sldId id="317" r:id="rId27"/>
    <p:sldId id="318" r:id="rId28"/>
    <p:sldId id="263" r:id="rId29"/>
    <p:sldId id="307" r:id="rId30"/>
    <p:sldId id="308" r:id="rId31"/>
    <p:sldId id="309" r:id="rId32"/>
    <p:sldId id="311" r:id="rId33"/>
    <p:sldId id="306" r:id="rId34"/>
    <p:sldId id="275" r:id="rId35"/>
    <p:sldId id="293" r:id="rId36"/>
    <p:sldId id="294" r:id="rId37"/>
    <p:sldId id="312" r:id="rId38"/>
    <p:sldId id="295" r:id="rId39"/>
    <p:sldId id="296" r:id="rId40"/>
    <p:sldId id="297" r:id="rId41"/>
    <p:sldId id="298" r:id="rId42"/>
    <p:sldId id="319" r:id="rId43"/>
    <p:sldId id="320" r:id="rId44"/>
    <p:sldId id="299" r:id="rId45"/>
    <p:sldId id="264" r:id="rId46"/>
    <p:sldId id="265" r:id="rId47"/>
    <p:sldId id="266" r:id="rId48"/>
    <p:sldId id="278" r:id="rId49"/>
    <p:sldId id="303" r:id="rId50"/>
    <p:sldId id="279" r:id="rId51"/>
    <p:sldId id="280" r:id="rId52"/>
    <p:sldId id="301" r:id="rId53"/>
    <p:sldId id="302" r:id="rId54"/>
    <p:sldId id="281" r:id="rId55"/>
    <p:sldId id="282" r:id="rId56"/>
    <p:sldId id="325" r:id="rId57"/>
    <p:sldId id="326" r:id="rId58"/>
    <p:sldId id="327" r:id="rId59"/>
    <p:sldId id="328" r:id="rId60"/>
    <p:sldId id="329" r:id="rId61"/>
    <p:sldId id="330" r:id="rId62"/>
    <p:sldId id="331" r:id="rId63"/>
    <p:sldId id="332" r:id="rId64"/>
    <p:sldId id="333" r:id="rId65"/>
    <p:sldId id="334" r:id="rId66"/>
    <p:sldId id="335" r:id="rId67"/>
    <p:sldId id="336" r:id="rId68"/>
    <p:sldId id="337" r:id="rId69"/>
    <p:sldId id="338" r:id="rId70"/>
    <p:sldId id="339" r:id="rId71"/>
    <p:sldId id="340" r:id="rId72"/>
    <p:sldId id="341" r:id="rId73"/>
    <p:sldId id="342" r:id="rId74"/>
    <p:sldId id="343" r:id="rId75"/>
    <p:sldId id="344" r:id="rId76"/>
    <p:sldId id="345" r:id="rId77"/>
    <p:sldId id="346" r:id="rId78"/>
    <p:sldId id="347" r:id="rId79"/>
    <p:sldId id="348" r:id="rId80"/>
    <p:sldId id="349" r:id="rId81"/>
    <p:sldId id="350" r:id="rId82"/>
    <p:sldId id="351" r:id="rId83"/>
    <p:sldId id="352" r:id="rId84"/>
    <p:sldId id="353" r:id="rId85"/>
    <p:sldId id="354" r:id="rId86"/>
    <p:sldId id="355" r:id="rId87"/>
    <p:sldId id="356" r:id="rId88"/>
    <p:sldId id="357" r:id="rId89"/>
    <p:sldId id="358" r:id="rId90"/>
    <p:sldId id="359" r:id="rId91"/>
    <p:sldId id="360" r:id="rId92"/>
    <p:sldId id="361" r:id="rId93"/>
    <p:sldId id="362" r:id="rId94"/>
    <p:sldId id="363" r:id="rId95"/>
    <p:sldId id="364" r:id="rId96"/>
    <p:sldId id="365" r:id="rId97"/>
    <p:sldId id="366" r:id="rId98"/>
    <p:sldId id="367" r:id="rId99"/>
    <p:sldId id="368" r:id="rId100"/>
    <p:sldId id="369" r:id="rId101"/>
    <p:sldId id="370" r:id="rId102"/>
    <p:sldId id="371" r:id="rId103"/>
    <p:sldId id="372" r:id="rId104"/>
    <p:sldId id="373" r:id="rId105"/>
    <p:sldId id="374" r:id="rId106"/>
    <p:sldId id="375" r:id="rId107"/>
    <p:sldId id="376" r:id="rId108"/>
    <p:sldId id="377" r:id="rId109"/>
    <p:sldId id="378" r:id="rId110"/>
    <p:sldId id="379" r:id="rId111"/>
    <p:sldId id="380" r:id="rId112"/>
    <p:sldId id="381" r:id="rId113"/>
    <p:sldId id="382" r:id="rId114"/>
    <p:sldId id="383" r:id="rId115"/>
    <p:sldId id="384" r:id="rId116"/>
    <p:sldId id="385" r:id="rId117"/>
    <p:sldId id="386" r:id="rId118"/>
    <p:sldId id="387" r:id="rId119"/>
    <p:sldId id="388" r:id="rId120"/>
    <p:sldId id="389" r:id="rId121"/>
    <p:sldId id="390" r:id="rId122"/>
    <p:sldId id="391" r:id="rId123"/>
    <p:sldId id="392" r:id="rId124"/>
    <p:sldId id="393" r:id="rId125"/>
    <p:sldId id="394" r:id="rId126"/>
    <p:sldId id="395" r:id="rId12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9" autoAdjust="0"/>
    <p:restoredTop sz="94660"/>
  </p:normalViewPr>
  <p:slideViewPr>
    <p:cSldViewPr snapToGrid="0">
      <p:cViewPr varScale="1">
        <p:scale>
          <a:sx n="109" d="100"/>
          <a:sy n="109" d="100"/>
        </p:scale>
        <p:origin x="-1680"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dirty="0"/>
          </a:p>
        </p:txBody>
      </p:sp>
      <p:sp>
        <p:nvSpPr>
          <p:cNvPr id="3" name="內容版面配置區 2"/>
          <p:cNvSpPr>
            <a:spLocks noGrp="1"/>
          </p:cNvSpPr>
          <p:nvPr>
            <p:ph idx="1"/>
          </p:nvPr>
        </p:nvSpPr>
        <p:spPr/>
        <p:txBody>
          <a:bodyPr/>
          <a:lstStyle>
            <a:lvl3pPr>
              <a:defRPr sz="1500">
                <a:latin typeface="Calibri" pitchFamily="34" charset="0"/>
                <a:ea typeface="標楷體" pitchFamily="65" charset="-120"/>
                <a:cs typeface="Calibri" pitchFamily="34" charset="0"/>
              </a:defRPr>
            </a:lvl3pPr>
            <a:lvl4pPr>
              <a:defRPr sz="1350">
                <a:latin typeface="Calibri" pitchFamily="34" charset="0"/>
                <a:ea typeface="標楷體" pitchFamily="65" charset="-120"/>
                <a:cs typeface="Calibri" pitchFamily="34" charset="0"/>
              </a:defRPr>
            </a:lvl4pPr>
            <a:lvl5pPr>
              <a:defRPr sz="1350">
                <a:latin typeface="Calibri" pitchFamily="34" charset="0"/>
                <a:ea typeface="標楷體" pitchFamily="65" charset="-120"/>
                <a:cs typeface="Calibri" pitchFamily="34" charset="0"/>
              </a:defRPr>
            </a:lvl5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3042411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2"/>
            <a:ext cx="7772400" cy="1362075"/>
          </a:xfrm>
        </p:spPr>
        <p:txBody>
          <a:bodyPr anchor="t"/>
          <a:lstStyle>
            <a:lvl1pPr algn="l">
              <a:defRPr sz="3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TW" altLang="en-US" smtClean="0"/>
              <a:t>按一下以編輯母片文字樣式</a:t>
            </a:r>
          </a:p>
        </p:txBody>
      </p:sp>
      <p:sp>
        <p:nvSpPr>
          <p:cNvPr id="4"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1390882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125538"/>
            <a:ext cx="4038600" cy="6477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125538"/>
            <a:ext cx="4038600" cy="6477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3726693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370691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2766958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897416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73050"/>
            <a:ext cx="3008313" cy="1162050"/>
          </a:xfrm>
        </p:spPr>
        <p:txBody>
          <a:bodyPr anchor="b"/>
          <a:lstStyle>
            <a:lvl1pPr algn="l">
              <a:defRPr sz="15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smtClean="0"/>
              <a:t>按一下以編輯母片文字樣式</a:t>
            </a:r>
          </a:p>
        </p:txBody>
      </p:sp>
      <p:sp>
        <p:nvSpPr>
          <p:cNvPr id="5"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1361283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15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TW" altLang="en-US" noProof="0" smtClean="0"/>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smtClean="0"/>
              <a:t>按一下以編輯母片文字樣式</a:t>
            </a:r>
          </a:p>
        </p:txBody>
      </p:sp>
      <p:sp>
        <p:nvSpPr>
          <p:cNvPr id="5"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1185646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3549674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73027"/>
            <a:ext cx="2057400" cy="1700213"/>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73027"/>
            <a:ext cx="6019800" cy="1700213"/>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617390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73027"/>
            <a:ext cx="8229600" cy="1700213"/>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13870901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68313" y="73025"/>
            <a:ext cx="4248150" cy="692150"/>
          </a:xfr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457200" y="1125538"/>
            <a:ext cx="8229600" cy="647700"/>
          </a:xfrm>
        </p:spPr>
        <p:txBody>
          <a:bodyPr/>
          <a:lstStyle/>
          <a:p>
            <a:pPr lvl="0"/>
            <a:r>
              <a:rPr lang="zh-TW" altLang="en-US" noProof="0" smtClean="0"/>
              <a:t>按一下圖示以新增表格</a:t>
            </a:r>
          </a:p>
        </p:txBody>
      </p:sp>
      <p:sp>
        <p:nvSpPr>
          <p:cNvPr id="4"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17847772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7"/>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TW" altLang="en-US" smtClean="0"/>
              <a:t>按一下以編輯母片副標題樣式</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0CEDBC1A-3146-49B8-886C-F32E59ACB08E}" type="slidenum">
              <a:rPr lang="zh-TW" altLang="en-US" smtClean="0"/>
              <a:t>‹#›</a:t>
            </a:fld>
            <a:endParaRPr lang="zh-TW" altLang="en-US"/>
          </a:p>
        </p:txBody>
      </p:sp>
    </p:spTree>
    <p:extLst>
      <p:ext uri="{BB962C8B-B14F-4D97-AF65-F5344CB8AC3E}">
        <p14:creationId xmlns:p14="http://schemas.microsoft.com/office/powerpoint/2010/main" val="1443044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emf"/><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19"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1" descr="清大LOGO(鳥)"/>
          <p:cNvPicPr>
            <a:picLocks noChangeAspect="1" noChangeArrowheads="1"/>
          </p:cNvPicPr>
          <p:nvPr/>
        </p:nvPicPr>
        <p:blipFill>
          <a:blip r:embed="rId15" cstate="print">
            <a:lum bright="70000" contrast="-70000"/>
          </a:blip>
          <a:srcRect/>
          <a:stretch>
            <a:fillRect/>
          </a:stretch>
        </p:blipFill>
        <p:spPr bwMode="auto">
          <a:xfrm>
            <a:off x="0" y="30163"/>
            <a:ext cx="1619250" cy="806450"/>
          </a:xfrm>
          <a:prstGeom prst="rect">
            <a:avLst/>
          </a:prstGeom>
          <a:noFill/>
          <a:ln w="9525">
            <a:noFill/>
            <a:miter lim="800000"/>
            <a:headEnd/>
            <a:tailEnd/>
          </a:ln>
        </p:spPr>
      </p:pic>
      <p:sp>
        <p:nvSpPr>
          <p:cNvPr id="1027" name="Rectangle 17"/>
          <p:cNvSpPr>
            <a:spLocks noGrp="1" noChangeArrowheads="1"/>
          </p:cNvSpPr>
          <p:nvPr>
            <p:ph type="title"/>
          </p:nvPr>
        </p:nvSpPr>
        <p:spPr bwMode="auto">
          <a:xfrm>
            <a:off x="468314" y="144463"/>
            <a:ext cx="8207375" cy="6921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smtClean="0"/>
              <a:t>按一下以編輯母片標題樣式</a:t>
            </a:r>
          </a:p>
        </p:txBody>
      </p:sp>
      <p:sp>
        <p:nvSpPr>
          <p:cNvPr id="1028" name="Rectangle 18"/>
          <p:cNvSpPr>
            <a:spLocks noGrp="1" noChangeArrowheads="1"/>
          </p:cNvSpPr>
          <p:nvPr>
            <p:ph type="body" idx="1"/>
          </p:nvPr>
        </p:nvSpPr>
        <p:spPr bwMode="auto">
          <a:xfrm>
            <a:off x="457200" y="1125538"/>
            <a:ext cx="8229600" cy="4895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smtClean="0"/>
              <a:t>按一下以編輯母片</a:t>
            </a:r>
          </a:p>
          <a:p>
            <a:pPr lvl="1"/>
            <a:r>
              <a:rPr lang="zh-TW" altLang="en-US" dirty="0" smtClean="0"/>
              <a:t>按一下以編輯母片</a:t>
            </a:r>
          </a:p>
          <a:p>
            <a:pPr lvl="1"/>
            <a:endParaRPr lang="zh-TW" altLang="en-US" dirty="0" smtClean="0"/>
          </a:p>
          <a:p>
            <a:pPr lvl="0"/>
            <a:endParaRPr lang="en-US" altLang="zh-TW" dirty="0" smtClean="0"/>
          </a:p>
        </p:txBody>
      </p:sp>
      <p:pic>
        <p:nvPicPr>
          <p:cNvPr id="1029" name="Picture 25" descr="name"/>
          <p:cNvPicPr>
            <a:picLocks noChangeAspect="1" noChangeArrowheads="1"/>
          </p:cNvPicPr>
          <p:nvPr/>
        </p:nvPicPr>
        <p:blipFill>
          <a:blip r:embed="rId16" cstate="print"/>
          <a:srcRect/>
          <a:stretch>
            <a:fillRect/>
          </a:stretch>
        </p:blipFill>
        <p:spPr bwMode="auto">
          <a:xfrm>
            <a:off x="1" y="6357940"/>
            <a:ext cx="3833813" cy="198437"/>
          </a:xfrm>
          <a:prstGeom prst="rect">
            <a:avLst/>
          </a:prstGeom>
          <a:noFill/>
          <a:ln w="9525">
            <a:noFill/>
            <a:miter lim="800000"/>
            <a:headEnd/>
            <a:tailEnd/>
          </a:ln>
        </p:spPr>
      </p:pic>
      <p:sp>
        <p:nvSpPr>
          <p:cNvPr id="8" name="矩形 7"/>
          <p:cNvSpPr/>
          <p:nvPr/>
        </p:nvSpPr>
        <p:spPr>
          <a:xfrm>
            <a:off x="569245" y="6581776"/>
            <a:ext cx="2731838"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1"/>
            <a:ext cx="9144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0">
              <a:ea typeface="新細明體" pitchFamily="18" charset="-120"/>
            </a:endParaRPr>
          </a:p>
        </p:txBody>
      </p:sp>
      <p:sp>
        <p:nvSpPr>
          <p:cNvPr id="4106" name="Rectangle 10"/>
          <p:cNvSpPr>
            <a:spLocks noChangeArrowheads="1"/>
          </p:cNvSpPr>
          <p:nvPr/>
        </p:nvSpPr>
        <p:spPr bwMode="auto">
          <a:xfrm>
            <a:off x="0" y="6165850"/>
            <a:ext cx="9144000" cy="719138"/>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0">
              <a:ea typeface="新細明體" pitchFamily="18" charset="-120"/>
            </a:endParaRPr>
          </a:p>
        </p:txBody>
      </p:sp>
      <p:sp>
        <p:nvSpPr>
          <p:cNvPr id="1043" name="Rectangle 19"/>
          <p:cNvSpPr>
            <a:spLocks noGrp="1" noChangeArrowheads="1"/>
          </p:cNvSpPr>
          <p:nvPr>
            <p:ph type="sldNum" sz="quarter" idx="4"/>
          </p:nvPr>
        </p:nvSpPr>
        <p:spPr bwMode="auto">
          <a:xfrm>
            <a:off x="6831013" y="6524627"/>
            <a:ext cx="21336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tx1"/>
                </a:solidFill>
                <a:latin typeface="Arial" pitchFamily="34" charset="0"/>
                <a:ea typeface="新細明體" pitchFamily="18" charset="-120"/>
              </a:defRPr>
            </a:lvl1pPr>
          </a:lstStyle>
          <a:p>
            <a:fld id="{0CEDBC1A-3146-49B8-886C-F32E59ACB08E}" type="slidenum">
              <a:rPr lang="zh-TW" altLang="en-US" smtClean="0"/>
              <a:t>‹#›</a:t>
            </a:fld>
            <a:endParaRPr lang="zh-TW" altLang="en-US"/>
          </a:p>
        </p:txBody>
      </p:sp>
      <p:pic>
        <p:nvPicPr>
          <p:cNvPr id="1034" name="Picture 13" descr="清大LOGO(圓)"/>
          <p:cNvPicPr>
            <a:picLocks noChangeAspect="1" noChangeArrowheads="1"/>
          </p:cNvPicPr>
          <p:nvPr/>
        </p:nvPicPr>
        <p:blipFill>
          <a:blip r:embed="rId17" cstate="print"/>
          <a:srcRect/>
          <a:stretch>
            <a:fillRect/>
          </a:stretch>
        </p:blipFill>
        <p:spPr bwMode="auto">
          <a:xfrm>
            <a:off x="1" y="6181727"/>
            <a:ext cx="684213" cy="676275"/>
          </a:xfrm>
          <a:prstGeom prst="rect">
            <a:avLst/>
          </a:prstGeom>
          <a:noFill/>
          <a:ln w="9525">
            <a:noFill/>
            <a:miter lim="800000"/>
            <a:headEnd/>
            <a:tailEnd/>
          </a:ln>
        </p:spPr>
      </p:pic>
      <p:pic>
        <p:nvPicPr>
          <p:cNvPr id="1035" name="Picture 14" descr="清大書法字 "/>
          <p:cNvPicPr>
            <a:picLocks noChangeAspect="1" noChangeArrowheads="1"/>
          </p:cNvPicPr>
          <p:nvPr/>
        </p:nvPicPr>
        <p:blipFill>
          <a:blip r:embed="rId18" cstate="print"/>
          <a:srcRect/>
          <a:stretch>
            <a:fillRect/>
          </a:stretch>
        </p:blipFill>
        <p:spPr bwMode="auto">
          <a:xfrm>
            <a:off x="755651" y="6237288"/>
            <a:ext cx="2087563" cy="323850"/>
          </a:xfrm>
          <a:prstGeom prst="rect">
            <a:avLst/>
          </a:prstGeom>
          <a:noFill/>
          <a:ln w="9525">
            <a:noFill/>
            <a:miter lim="800000"/>
            <a:headEnd/>
            <a:tailEnd/>
          </a:ln>
        </p:spPr>
      </p:pic>
      <p:sp>
        <p:nvSpPr>
          <p:cNvPr id="4111" name="Text Box 15"/>
          <p:cNvSpPr txBox="1">
            <a:spLocks noChangeArrowheads="1"/>
          </p:cNvSpPr>
          <p:nvPr/>
        </p:nvSpPr>
        <p:spPr bwMode="auto">
          <a:xfrm>
            <a:off x="682626" y="6580188"/>
            <a:ext cx="1963999" cy="253916"/>
          </a:xfrm>
          <a:prstGeom prst="rect">
            <a:avLst/>
          </a:prstGeom>
          <a:noFill/>
          <a:ln w="15875">
            <a:noFill/>
            <a:miter lim="800000"/>
            <a:headEnd/>
            <a:tailEnd/>
          </a:ln>
          <a:effectLst>
            <a:prstShdw prst="shdw18" dist="17961" dir="13500000">
              <a:schemeClr val="accent1">
                <a:gamma/>
                <a:shade val="60000"/>
                <a:invGamma/>
              </a:schemeClr>
            </a:prstShdw>
          </a:effectLst>
        </p:spPr>
        <p:txBody>
          <a:bodyPr wrap="none">
            <a:spAutoFit/>
          </a:bodyPr>
          <a:lstStyle/>
          <a:p>
            <a:pPr>
              <a:defRPr/>
            </a:pPr>
            <a:r>
              <a:rPr lang="en-US" altLang="zh-TW" sz="1050">
                <a:solidFill>
                  <a:schemeClr val="bg1"/>
                </a:solidFill>
                <a:latin typeface="Arial" pitchFamily="34" charset="0"/>
                <a:ea typeface="新細明體" pitchFamily="18" charset="-120"/>
              </a:rPr>
              <a:t>National Tsing Hua University</a:t>
            </a:r>
          </a:p>
        </p:txBody>
      </p:sp>
      <p:pic>
        <p:nvPicPr>
          <p:cNvPr id="13" name="圖片 12"/>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7376697" y="151801"/>
            <a:ext cx="1659800" cy="684812"/>
          </a:xfrm>
          <a:prstGeom prst="rect">
            <a:avLst/>
          </a:prstGeom>
        </p:spPr>
      </p:pic>
    </p:spTree>
    <p:extLst>
      <p:ext uri="{BB962C8B-B14F-4D97-AF65-F5344CB8AC3E}">
        <p14:creationId xmlns:p14="http://schemas.microsoft.com/office/powerpoint/2010/main" val="3125321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iming>
    <p:tnLst>
      <p:par>
        <p:cTn id="1" dur="indefinite" restart="never" nodeType="tmRoot"/>
      </p:par>
    </p:tnLst>
  </p:timing>
  <p:txStyles>
    <p:titleStyle>
      <a:lvl1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p:titleStyle>
    <p:bodyStyle>
      <a:lvl1pPr marL="257175" indent="-257175" algn="l" rtl="0" eaLnBrk="1" fontAlgn="base" hangingPunct="1">
        <a:spcBef>
          <a:spcPct val="20000"/>
        </a:spcBef>
        <a:spcAft>
          <a:spcPct val="0"/>
        </a:spcAft>
        <a:buClr>
          <a:srgbClr val="0000FF"/>
        </a:buClr>
        <a:buSzPct val="80000"/>
        <a:buFont typeface="Wingdings" pitchFamily="2" charset="2"/>
        <a:buChar char="l"/>
        <a:defRPr kumimoji="1" sz="2400">
          <a:solidFill>
            <a:schemeClr val="tx1"/>
          </a:solidFill>
          <a:latin typeface="Calibri" pitchFamily="34" charset="0"/>
          <a:ea typeface="標楷體" pitchFamily="65" charset="-120"/>
          <a:cs typeface="+mn-cs"/>
        </a:defRPr>
      </a:lvl1pPr>
      <a:lvl2pPr marL="557213" indent="-214313"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63682" y="2130427"/>
            <a:ext cx="8458200" cy="1470025"/>
          </a:xfrm>
        </p:spPr>
        <p:txBody>
          <a:bodyPr/>
          <a:lstStyle/>
          <a:p>
            <a:pPr algn="ctr"/>
            <a:r>
              <a:rPr lang="en-US" altLang="zh-TW" sz="3600" dirty="0">
                <a:latin typeface="Times New Roman" panose="02020603050405020304" pitchFamily="18" charset="0"/>
                <a:cs typeface="Times New Roman" panose="02020603050405020304" pitchFamily="18" charset="0"/>
              </a:rPr>
              <a:t>HSA Hardware </a:t>
            </a:r>
            <a:r>
              <a:rPr lang="en-US" altLang="zh-TW" sz="3600" dirty="0" smtClean="0">
                <a:latin typeface="Times New Roman" panose="02020603050405020304" pitchFamily="18" charset="0"/>
                <a:cs typeface="Times New Roman" panose="02020603050405020304" pitchFamily="18" charset="0"/>
              </a:rPr>
              <a:t>Specification</a:t>
            </a:r>
            <a:br>
              <a:rPr lang="en-US" altLang="zh-TW" sz="3600" dirty="0" smtClean="0">
                <a:latin typeface="Times New Roman" panose="02020603050405020304" pitchFamily="18" charset="0"/>
                <a:cs typeface="Times New Roman" panose="02020603050405020304" pitchFamily="18" charset="0"/>
              </a:rPr>
            </a:br>
            <a:r>
              <a:rPr lang="en-US" altLang="zh-TW" sz="3600" dirty="0" err="1" smtClean="0">
                <a:latin typeface="Times New Roman" panose="02020603050405020304" pitchFamily="18" charset="0"/>
                <a:cs typeface="Times New Roman" panose="02020603050405020304" pitchFamily="18" charset="0"/>
              </a:rPr>
              <a:t>hUMA</a:t>
            </a:r>
            <a:r>
              <a:rPr lang="en-US" altLang="zh-TW" sz="3600" dirty="0" smtClean="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and </a:t>
            </a:r>
            <a:r>
              <a:rPr lang="en-US" altLang="zh-TW" sz="3600" dirty="0" err="1" smtClean="0">
                <a:latin typeface="Times New Roman" panose="02020603050405020304" pitchFamily="18" charset="0"/>
                <a:cs typeface="Times New Roman" panose="02020603050405020304" pitchFamily="18" charset="0"/>
              </a:rPr>
              <a:t>hQ</a:t>
            </a:r>
            <a:endParaRPr lang="zh-TW" altLang="en-US" sz="36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p:txBody>
          <a:bodyPr/>
          <a:lstStyle/>
          <a:p>
            <a:r>
              <a:rPr lang="en-US" altLang="zh-TW" dirty="0" smtClean="0"/>
              <a:t>TA: </a:t>
            </a:r>
            <a:r>
              <a:rPr lang="en-US" altLang="zh-TW" dirty="0" err="1" smtClean="0"/>
              <a:t>Jiun</a:t>
            </a:r>
            <a:r>
              <a:rPr lang="en-US" altLang="zh-TW" dirty="0" smtClean="0"/>
              <a:t>-Hung Ding</a:t>
            </a:r>
          </a:p>
          <a:p>
            <a:r>
              <a:rPr lang="en-US" altLang="zh-TW" dirty="0" smtClean="0"/>
              <a:t>Instructor: </a:t>
            </a:r>
            <a:r>
              <a:rPr lang="en-US" altLang="zh-TW" dirty="0" err="1" smtClean="0"/>
              <a:t>Yeh-Ching</a:t>
            </a:r>
            <a:r>
              <a:rPr lang="en-US" altLang="zh-TW" dirty="0" smtClean="0"/>
              <a:t> Chung</a:t>
            </a:r>
          </a:p>
          <a:p>
            <a:r>
              <a:rPr lang="en-US" altLang="zh-TW" i="1" dirty="0" smtClean="0"/>
              <a:t>SSLAB</a:t>
            </a:r>
            <a:endParaRPr lang="en-US" altLang="zh-TW" i="1" dirty="0"/>
          </a:p>
        </p:txBody>
      </p:sp>
    </p:spTree>
    <p:extLst>
      <p:ext uri="{BB962C8B-B14F-4D97-AF65-F5344CB8AC3E}">
        <p14:creationId xmlns:p14="http://schemas.microsoft.com/office/powerpoint/2010/main" val="41151961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圓角矩形 4"/>
          <p:cNvSpPr/>
          <p:nvPr/>
        </p:nvSpPr>
        <p:spPr bwMode="auto">
          <a:xfrm>
            <a:off x="215660" y="1164585"/>
            <a:ext cx="4779034" cy="2829464"/>
          </a:xfrm>
          <a:prstGeom prst="roundRect">
            <a:avLst/>
          </a:prstGeom>
          <a:solidFill>
            <a:schemeClr val="bg1">
              <a:lumMod val="65000"/>
            </a:schemeClr>
          </a:solidFill>
          <a:ln>
            <a:solidFill>
              <a:schemeClr val="bg1"/>
            </a:solidFill>
            <a:headEnd type="none" w="med" len="med"/>
            <a:tailEnd type="none" w="med" len="med"/>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6" name="內容版面配置區 5"/>
          <p:cNvSpPr>
            <a:spLocks noGrp="1"/>
          </p:cNvSpPr>
          <p:nvPr>
            <p:ph idx="1"/>
          </p:nvPr>
        </p:nvSpPr>
        <p:spPr bwMode="auto">
          <a:xfrm>
            <a:off x="6297283" y="1164585"/>
            <a:ext cx="2700068" cy="2829464"/>
          </a:xfrm>
          <a:prstGeom prst="roundRect">
            <a:avLst/>
          </a:prstGeom>
          <a:solidFill>
            <a:schemeClr val="bg1">
              <a:lumMod val="65000"/>
            </a:schemeClr>
          </a:solidFill>
          <a:ln>
            <a:solidFill>
              <a:schemeClr val="bg1"/>
            </a:solidFill>
            <a:headEnd type="none" w="med" len="med"/>
            <a:tailEnd type="none" w="med" len="med"/>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indent="0">
              <a:buNone/>
            </a:pPr>
            <a:endParaRPr lang="zh-TW" altLang="en-US" dirty="0"/>
          </a:p>
        </p:txBody>
      </p:sp>
      <p:sp>
        <p:nvSpPr>
          <p:cNvPr id="7" name="圓角矩形 6"/>
          <p:cNvSpPr/>
          <p:nvPr/>
        </p:nvSpPr>
        <p:spPr bwMode="auto">
          <a:xfrm>
            <a:off x="552092" y="3485090"/>
            <a:ext cx="4106172" cy="319178"/>
          </a:xfrm>
          <a:prstGeom prst="roundRect">
            <a:avLst/>
          </a:prstGeom>
          <a:solidFill>
            <a:schemeClr val="tx1">
              <a:lumMod val="65000"/>
              <a:lumOff val="3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8" name="圓角矩形 7"/>
          <p:cNvSpPr/>
          <p:nvPr/>
        </p:nvSpPr>
        <p:spPr bwMode="auto">
          <a:xfrm>
            <a:off x="6787551" y="3485090"/>
            <a:ext cx="1719531" cy="319178"/>
          </a:xfrm>
          <a:prstGeom prst="roundRect">
            <a:avLst/>
          </a:prstGeom>
          <a:solidFill>
            <a:schemeClr val="tx1">
              <a:lumMod val="65000"/>
              <a:lumOff val="3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9" name="文字方塊 8"/>
          <p:cNvSpPr txBox="1"/>
          <p:nvPr/>
        </p:nvSpPr>
        <p:spPr>
          <a:xfrm>
            <a:off x="1621767" y="3448553"/>
            <a:ext cx="2182482" cy="369332"/>
          </a:xfrm>
          <a:prstGeom prst="rect">
            <a:avLst/>
          </a:prstGeom>
          <a:noFill/>
        </p:spPr>
        <p:txBody>
          <a:bodyPr wrap="square" rtlCol="0" anchor="ctr" anchorCtr="1">
            <a:spAutoFit/>
          </a:bodyPr>
          <a:lstStyle/>
          <a:p>
            <a:r>
              <a:rPr lang="en-US" altLang="zh-TW"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rPr>
              <a:t>CPU memory(UMA)</a:t>
            </a:r>
            <a:endParaRPr lang="zh-TW" altLang="en-US"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endParaRPr>
          </a:p>
        </p:txBody>
      </p:sp>
      <p:sp>
        <p:nvSpPr>
          <p:cNvPr id="10" name="文字方塊 9"/>
          <p:cNvSpPr txBox="1"/>
          <p:nvPr/>
        </p:nvSpPr>
        <p:spPr>
          <a:xfrm>
            <a:off x="6556075" y="3434936"/>
            <a:ext cx="2182482" cy="369332"/>
          </a:xfrm>
          <a:prstGeom prst="rect">
            <a:avLst/>
          </a:prstGeom>
          <a:noFill/>
        </p:spPr>
        <p:txBody>
          <a:bodyPr wrap="square" rtlCol="0" anchor="ctr" anchorCtr="1">
            <a:spAutoFit/>
          </a:bodyPr>
          <a:lstStyle/>
          <a:p>
            <a:r>
              <a:rPr lang="en-US" altLang="zh-TW"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rPr>
              <a:t>GPU memory</a:t>
            </a:r>
            <a:endParaRPr lang="zh-TW" altLang="en-US"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endParaRPr>
          </a:p>
        </p:txBody>
      </p:sp>
      <p:sp>
        <p:nvSpPr>
          <p:cNvPr id="11" name="圓角矩形 10"/>
          <p:cNvSpPr/>
          <p:nvPr/>
        </p:nvSpPr>
        <p:spPr bwMode="auto">
          <a:xfrm>
            <a:off x="690113" y="1552773"/>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2" name="圓角矩形 11"/>
          <p:cNvSpPr/>
          <p:nvPr/>
        </p:nvSpPr>
        <p:spPr bwMode="auto">
          <a:xfrm>
            <a:off x="1488056" y="1552773"/>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3" name="圓角矩形 12"/>
          <p:cNvSpPr/>
          <p:nvPr/>
        </p:nvSpPr>
        <p:spPr bwMode="auto">
          <a:xfrm>
            <a:off x="2329135" y="1552773"/>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4" name="圓角矩形 13"/>
          <p:cNvSpPr/>
          <p:nvPr/>
        </p:nvSpPr>
        <p:spPr bwMode="auto">
          <a:xfrm>
            <a:off x="3925020" y="1552773"/>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5" name="圓角矩形 14"/>
          <p:cNvSpPr/>
          <p:nvPr/>
        </p:nvSpPr>
        <p:spPr bwMode="auto">
          <a:xfrm>
            <a:off x="6787551" y="1552773"/>
            <a:ext cx="1719531" cy="1242204"/>
          </a:xfrm>
          <a:prstGeom prst="roundRect">
            <a:avLst/>
          </a:prstGeom>
          <a:solidFill>
            <a:srgbClr val="C00000"/>
          </a:solidFill>
          <a:ln w="15875" cap="flat" cmpd="sng" algn="ctr">
            <a:solidFill>
              <a:srgbClr val="FF0000"/>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cxnSp>
        <p:nvCxnSpPr>
          <p:cNvPr id="17" name="直線單箭頭接點 16"/>
          <p:cNvCxnSpPr>
            <a:stCxn id="11" idx="2"/>
          </p:cNvCxnSpPr>
          <p:nvPr/>
        </p:nvCxnSpPr>
        <p:spPr bwMode="auto">
          <a:xfrm flipH="1">
            <a:off x="1013603" y="2579317"/>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8" name="直線單箭頭接點 17"/>
          <p:cNvCxnSpPr/>
          <p:nvPr/>
        </p:nvCxnSpPr>
        <p:spPr bwMode="auto">
          <a:xfrm flipH="1">
            <a:off x="1827361" y="2579317"/>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9" name="直線單箭頭接點 18"/>
          <p:cNvCxnSpPr/>
          <p:nvPr/>
        </p:nvCxnSpPr>
        <p:spPr bwMode="auto">
          <a:xfrm flipH="1">
            <a:off x="2637529" y="2579317"/>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0" name="直線單箭頭接點 19"/>
          <p:cNvCxnSpPr/>
          <p:nvPr/>
        </p:nvCxnSpPr>
        <p:spPr bwMode="auto">
          <a:xfrm flipH="1">
            <a:off x="4248149" y="2540499"/>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1" name="直線單箭頭接點 20"/>
          <p:cNvCxnSpPr>
            <a:stCxn id="15" idx="2"/>
            <a:endCxn id="10" idx="0"/>
          </p:cNvCxnSpPr>
          <p:nvPr/>
        </p:nvCxnSpPr>
        <p:spPr bwMode="auto">
          <a:xfrm flipH="1">
            <a:off x="7647316" y="2794977"/>
            <a:ext cx="1" cy="639959"/>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29" name="文字方塊 28"/>
          <p:cNvSpPr txBox="1"/>
          <p:nvPr/>
        </p:nvSpPr>
        <p:spPr>
          <a:xfrm>
            <a:off x="3187462" y="1758377"/>
            <a:ext cx="534838" cy="461665"/>
          </a:xfrm>
          <a:prstGeom prst="rect">
            <a:avLst/>
          </a:prstGeom>
          <a:noFill/>
        </p:spPr>
        <p:txBody>
          <a:bodyPr wrap="square" rtlCol="0" anchor="ctr" anchorCtr="1">
            <a:spAutoFit/>
          </a:bodyPr>
          <a:lstStyle/>
          <a:p>
            <a:pPr algn="ctr"/>
            <a:r>
              <a:rPr lang="en-US" altLang="zh-TW" sz="2400" dirty="0" smtClean="0">
                <a:solidFill>
                  <a:schemeClr val="bg1">
                    <a:lumMod val="95000"/>
                  </a:schemeClr>
                </a:solidFill>
                <a:ea typeface="標楷體" pitchFamily="65" charset="-120"/>
                <a:cs typeface="Calibri" pitchFamily="34" charset="0"/>
              </a:rPr>
              <a:t>…</a:t>
            </a:r>
            <a:endParaRPr lang="zh-TW" altLang="en-US" sz="2400" dirty="0" smtClean="0">
              <a:solidFill>
                <a:schemeClr val="bg1">
                  <a:lumMod val="95000"/>
                </a:schemeClr>
              </a:solidFill>
              <a:ea typeface="標楷體" pitchFamily="65" charset="-120"/>
              <a:cs typeface="Calibri" pitchFamily="34" charset="0"/>
            </a:endParaRPr>
          </a:p>
        </p:txBody>
      </p:sp>
      <p:sp>
        <p:nvSpPr>
          <p:cNvPr id="30" name="文字方塊 29"/>
          <p:cNvSpPr txBox="1"/>
          <p:nvPr/>
        </p:nvSpPr>
        <p:spPr>
          <a:xfrm>
            <a:off x="685798" y="1691921"/>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a:ea typeface="標楷體" pitchFamily="65" charset="-120"/>
                <a:cs typeface="Calibri" pitchFamily="34" charset="0"/>
              </a:rPr>
              <a:t>1</a:t>
            </a:r>
            <a:endParaRPr lang="zh-TW" altLang="en-US" dirty="0" smtClean="0">
              <a:ea typeface="標楷體" pitchFamily="65" charset="-120"/>
              <a:cs typeface="Calibri" pitchFamily="34" charset="0"/>
            </a:endParaRPr>
          </a:p>
        </p:txBody>
      </p:sp>
      <p:sp>
        <p:nvSpPr>
          <p:cNvPr id="31" name="文字方塊 30"/>
          <p:cNvSpPr txBox="1"/>
          <p:nvPr/>
        </p:nvSpPr>
        <p:spPr>
          <a:xfrm>
            <a:off x="1483741" y="1674669"/>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2</a:t>
            </a:r>
            <a:endParaRPr lang="zh-TW" altLang="en-US" dirty="0" smtClean="0">
              <a:ea typeface="標楷體" pitchFamily="65" charset="-120"/>
              <a:cs typeface="Calibri" pitchFamily="34" charset="0"/>
            </a:endParaRPr>
          </a:p>
        </p:txBody>
      </p:sp>
      <p:sp>
        <p:nvSpPr>
          <p:cNvPr id="32" name="文字方塊 31"/>
          <p:cNvSpPr txBox="1"/>
          <p:nvPr/>
        </p:nvSpPr>
        <p:spPr>
          <a:xfrm>
            <a:off x="2320509" y="1671135"/>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3</a:t>
            </a:r>
            <a:endParaRPr lang="zh-TW" altLang="en-US" dirty="0" smtClean="0">
              <a:ea typeface="標楷體" pitchFamily="65" charset="-120"/>
              <a:cs typeface="Calibri" pitchFamily="34" charset="0"/>
            </a:endParaRPr>
          </a:p>
        </p:txBody>
      </p:sp>
      <p:sp>
        <p:nvSpPr>
          <p:cNvPr id="33" name="文字方塊 32"/>
          <p:cNvSpPr txBox="1"/>
          <p:nvPr/>
        </p:nvSpPr>
        <p:spPr>
          <a:xfrm>
            <a:off x="3913875" y="1666043"/>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N</a:t>
            </a:r>
            <a:endParaRPr lang="zh-TW" altLang="en-US" dirty="0" smtClean="0">
              <a:ea typeface="標楷體" pitchFamily="65" charset="-120"/>
              <a:cs typeface="Calibri" pitchFamily="34" charset="0"/>
            </a:endParaRPr>
          </a:p>
        </p:txBody>
      </p:sp>
      <p:sp>
        <p:nvSpPr>
          <p:cNvPr id="34" name="文字方塊 33"/>
          <p:cNvSpPr txBox="1"/>
          <p:nvPr/>
        </p:nvSpPr>
        <p:spPr>
          <a:xfrm>
            <a:off x="7245108" y="1943042"/>
            <a:ext cx="804415" cy="369332"/>
          </a:xfrm>
          <a:prstGeom prst="rect">
            <a:avLst/>
          </a:prstGeom>
          <a:noFill/>
        </p:spPr>
        <p:txBody>
          <a:bodyPr wrap="square" rtlCol="0" anchor="ctr" anchorCtr="1">
            <a:spAutoFit/>
          </a:bodyPr>
          <a:lstStyle/>
          <a:p>
            <a:r>
              <a:rPr lang="en-US" altLang="zh-TW" dirty="0" smtClean="0">
                <a:solidFill>
                  <a:schemeClr val="bg1"/>
                </a:solidFill>
                <a:ea typeface="標楷體" pitchFamily="65" charset="-120"/>
                <a:cs typeface="Calibri" pitchFamily="34" charset="0"/>
              </a:rPr>
              <a:t>GPU</a:t>
            </a:r>
            <a:endParaRPr lang="zh-TW" altLang="en-US" dirty="0" smtClean="0">
              <a:solidFill>
                <a:schemeClr val="bg1"/>
              </a:solidFill>
              <a:ea typeface="標楷體" pitchFamily="65" charset="-120"/>
              <a:cs typeface="Calibri" pitchFamily="34" charset="0"/>
            </a:endParaRPr>
          </a:p>
        </p:txBody>
      </p:sp>
      <p:cxnSp>
        <p:nvCxnSpPr>
          <p:cNvPr id="36" name="直線單箭頭接點 35"/>
          <p:cNvCxnSpPr>
            <a:stCxn id="5" idx="3"/>
            <a:endCxn id="6" idx="1"/>
          </p:cNvCxnSpPr>
          <p:nvPr/>
        </p:nvCxnSpPr>
        <p:spPr bwMode="auto">
          <a:xfrm>
            <a:off x="4994694" y="2579317"/>
            <a:ext cx="1302589" cy="0"/>
          </a:xfrm>
          <a:prstGeom prst="straightConnector1">
            <a:avLst/>
          </a:prstGeom>
          <a:noFill/>
          <a:ln w="15875" cap="flat" cmpd="sng" algn="ctr">
            <a:solidFill>
              <a:schemeClr val="tx1"/>
            </a:solidFill>
            <a:prstDash val="solid"/>
            <a:round/>
            <a:headEnd type="triangle"/>
            <a:tailEnd type="triangle"/>
          </a:ln>
          <a:effectLst/>
        </p:spPr>
      </p:cxnSp>
      <p:sp>
        <p:nvSpPr>
          <p:cNvPr id="37" name="文字方塊 36"/>
          <p:cNvSpPr txBox="1"/>
          <p:nvPr/>
        </p:nvSpPr>
        <p:spPr>
          <a:xfrm>
            <a:off x="5183755" y="2203264"/>
            <a:ext cx="931653" cy="369332"/>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PCI-e</a:t>
            </a:r>
            <a:endParaRPr lang="zh-TW" altLang="en-US" dirty="0" smtClean="0">
              <a:ea typeface="標楷體" pitchFamily="65" charset="-120"/>
              <a:cs typeface="Calibri" pitchFamily="34" charset="0"/>
            </a:endParaRPr>
          </a:p>
        </p:txBody>
      </p:sp>
      <p:sp>
        <p:nvSpPr>
          <p:cNvPr id="2" name="標題 1"/>
          <p:cNvSpPr>
            <a:spLocks noGrp="1"/>
          </p:cNvSpPr>
          <p:nvPr>
            <p:ph type="title"/>
          </p:nvPr>
        </p:nvSpPr>
        <p:spPr/>
        <p:txBody>
          <a:bodyPr/>
          <a:lstStyle/>
          <a:p>
            <a:r>
              <a:rPr lang="en-US" altLang="zh-TW" dirty="0" smtClean="0"/>
              <a:t>Traditional system with CPU and GPU</a:t>
            </a:r>
            <a:endParaRPr lang="zh-TW" altLang="en-US" dirty="0"/>
          </a:p>
        </p:txBody>
      </p:sp>
      <p:sp>
        <p:nvSpPr>
          <p:cNvPr id="39" name="標題 1"/>
          <p:cNvSpPr txBox="1">
            <a:spLocks/>
          </p:cNvSpPr>
          <p:nvPr/>
        </p:nvSpPr>
        <p:spPr bwMode="auto">
          <a:xfrm>
            <a:off x="114739" y="4212063"/>
            <a:ext cx="8882612" cy="1774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a:lstStyle>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For heavy compute bound process</a:t>
            </a:r>
          </a:p>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Slow transition speed through PCI-e bus</a:t>
            </a:r>
          </a:p>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Need advance programming skill</a:t>
            </a:r>
            <a:endParaRPr lang="zh-TW" altLang="en-US" sz="2400" b="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68459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APU</a:t>
            </a:r>
            <a:endParaRPr lang="zh-TW" altLang="en-US" dirty="0"/>
          </a:p>
        </p:txBody>
      </p:sp>
      <p:sp>
        <p:nvSpPr>
          <p:cNvPr id="5" name="圓角矩形 4"/>
          <p:cNvSpPr/>
          <p:nvPr/>
        </p:nvSpPr>
        <p:spPr bwMode="auto">
          <a:xfrm>
            <a:off x="215660" y="1199078"/>
            <a:ext cx="8522898" cy="2829464"/>
          </a:xfrm>
          <a:prstGeom prst="roundRect">
            <a:avLst/>
          </a:prstGeom>
          <a:solidFill>
            <a:schemeClr val="bg1">
              <a:lumMod val="65000"/>
            </a:schemeClr>
          </a:solidFill>
          <a:ln>
            <a:solidFill>
              <a:schemeClr val="bg1"/>
            </a:solidFill>
            <a:headEnd type="none" w="med" len="med"/>
            <a:tailEnd type="none" w="med" len="med"/>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7" name="圓角矩形 6"/>
          <p:cNvSpPr/>
          <p:nvPr/>
        </p:nvSpPr>
        <p:spPr bwMode="auto">
          <a:xfrm>
            <a:off x="1013603" y="3442421"/>
            <a:ext cx="4554719" cy="319178"/>
          </a:xfrm>
          <a:prstGeom prst="roundRect">
            <a:avLst/>
          </a:prstGeom>
          <a:solidFill>
            <a:schemeClr val="tx1">
              <a:lumMod val="65000"/>
              <a:lumOff val="3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8" name="圓角矩形 7"/>
          <p:cNvSpPr/>
          <p:nvPr/>
        </p:nvSpPr>
        <p:spPr bwMode="auto">
          <a:xfrm>
            <a:off x="5581288" y="3442421"/>
            <a:ext cx="2265510" cy="319178"/>
          </a:xfrm>
          <a:prstGeom prst="roundRect">
            <a:avLst/>
          </a:prstGeom>
          <a:solidFill>
            <a:schemeClr val="tx1">
              <a:lumMod val="65000"/>
              <a:lumOff val="3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9" name="文字方塊 8"/>
          <p:cNvSpPr txBox="1"/>
          <p:nvPr/>
        </p:nvSpPr>
        <p:spPr>
          <a:xfrm>
            <a:off x="2361474" y="3408718"/>
            <a:ext cx="2182482" cy="369332"/>
          </a:xfrm>
          <a:prstGeom prst="rect">
            <a:avLst/>
          </a:prstGeom>
          <a:noFill/>
        </p:spPr>
        <p:txBody>
          <a:bodyPr wrap="square" rtlCol="0" anchor="ctr" anchorCtr="1">
            <a:spAutoFit/>
          </a:bodyPr>
          <a:lstStyle/>
          <a:p>
            <a:r>
              <a:rPr lang="en-US" altLang="zh-TW"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rPr>
              <a:t>CPU memory(UMA)</a:t>
            </a:r>
            <a:endParaRPr lang="zh-TW" altLang="en-US"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endParaRPr>
          </a:p>
        </p:txBody>
      </p:sp>
      <p:sp>
        <p:nvSpPr>
          <p:cNvPr id="10" name="文字方塊 9"/>
          <p:cNvSpPr txBox="1"/>
          <p:nvPr/>
        </p:nvSpPr>
        <p:spPr>
          <a:xfrm>
            <a:off x="5616319" y="3382517"/>
            <a:ext cx="2182482" cy="369332"/>
          </a:xfrm>
          <a:prstGeom prst="rect">
            <a:avLst/>
          </a:prstGeom>
          <a:noFill/>
        </p:spPr>
        <p:txBody>
          <a:bodyPr wrap="square" rtlCol="0" anchor="ctr" anchorCtr="1">
            <a:spAutoFit/>
          </a:bodyPr>
          <a:lstStyle/>
          <a:p>
            <a:r>
              <a:rPr lang="en-US" altLang="zh-TW"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rPr>
              <a:t>GPU memory</a:t>
            </a:r>
            <a:endParaRPr lang="zh-TW" altLang="en-US"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endParaRPr>
          </a:p>
        </p:txBody>
      </p:sp>
      <p:sp>
        <p:nvSpPr>
          <p:cNvPr id="11" name="圓角矩形 10"/>
          <p:cNvSpPr/>
          <p:nvPr/>
        </p:nvSpPr>
        <p:spPr bwMode="auto">
          <a:xfrm>
            <a:off x="1216326"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2" name="圓角矩形 11"/>
          <p:cNvSpPr/>
          <p:nvPr/>
        </p:nvSpPr>
        <p:spPr bwMode="auto">
          <a:xfrm>
            <a:off x="2014269"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3" name="圓角矩形 12"/>
          <p:cNvSpPr/>
          <p:nvPr/>
        </p:nvSpPr>
        <p:spPr bwMode="auto">
          <a:xfrm>
            <a:off x="2872600"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dirty="0" smtClean="0">
              <a:ln>
                <a:noFill/>
              </a:ln>
              <a:solidFill>
                <a:schemeClr val="tx1"/>
              </a:solidFill>
              <a:effectLst/>
              <a:latin typeface="Arial" pitchFamily="34" charset="0"/>
              <a:ea typeface="新細明體" pitchFamily="18" charset="-120"/>
            </a:endParaRPr>
          </a:p>
        </p:txBody>
      </p:sp>
      <p:sp>
        <p:nvSpPr>
          <p:cNvPr id="14" name="圓角矩形 13"/>
          <p:cNvSpPr/>
          <p:nvPr/>
        </p:nvSpPr>
        <p:spPr bwMode="auto">
          <a:xfrm>
            <a:off x="4166561"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5" name="圓角矩形 14"/>
          <p:cNvSpPr/>
          <p:nvPr/>
        </p:nvSpPr>
        <p:spPr bwMode="auto">
          <a:xfrm>
            <a:off x="5756683" y="1476953"/>
            <a:ext cx="1719531" cy="1242204"/>
          </a:xfrm>
          <a:prstGeom prst="roundRect">
            <a:avLst/>
          </a:prstGeom>
          <a:solidFill>
            <a:srgbClr val="C00000"/>
          </a:solidFill>
          <a:ln w="15875" cap="flat" cmpd="sng" algn="ctr">
            <a:solidFill>
              <a:srgbClr val="FF0000"/>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cxnSp>
        <p:nvCxnSpPr>
          <p:cNvPr id="17" name="直線單箭頭接點 16"/>
          <p:cNvCxnSpPr>
            <a:stCxn id="11" idx="2"/>
          </p:cNvCxnSpPr>
          <p:nvPr/>
        </p:nvCxnSpPr>
        <p:spPr bwMode="auto">
          <a:xfrm flipH="1">
            <a:off x="1539816" y="2536176"/>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8" name="直線單箭頭接點 17"/>
          <p:cNvCxnSpPr/>
          <p:nvPr/>
        </p:nvCxnSpPr>
        <p:spPr bwMode="auto">
          <a:xfrm flipH="1">
            <a:off x="2337758" y="2515739"/>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9" name="直線單箭頭接點 18"/>
          <p:cNvCxnSpPr/>
          <p:nvPr/>
        </p:nvCxnSpPr>
        <p:spPr bwMode="auto">
          <a:xfrm flipH="1">
            <a:off x="3196090" y="2533114"/>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0" name="直線單箭頭接點 19"/>
          <p:cNvCxnSpPr/>
          <p:nvPr/>
        </p:nvCxnSpPr>
        <p:spPr bwMode="auto">
          <a:xfrm flipH="1">
            <a:off x="4514486" y="2489202"/>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1" name="直線單箭頭接點 20"/>
          <p:cNvCxnSpPr/>
          <p:nvPr/>
        </p:nvCxnSpPr>
        <p:spPr bwMode="auto">
          <a:xfrm>
            <a:off x="6612674" y="2687612"/>
            <a:ext cx="2696" cy="72933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29" name="文字方塊 28"/>
          <p:cNvSpPr txBox="1"/>
          <p:nvPr/>
        </p:nvSpPr>
        <p:spPr>
          <a:xfrm>
            <a:off x="3575659" y="1715236"/>
            <a:ext cx="534838" cy="461665"/>
          </a:xfrm>
          <a:prstGeom prst="rect">
            <a:avLst/>
          </a:prstGeom>
          <a:noFill/>
        </p:spPr>
        <p:txBody>
          <a:bodyPr wrap="square" rtlCol="0" anchor="ctr" anchorCtr="1">
            <a:spAutoFit/>
          </a:bodyPr>
          <a:lstStyle/>
          <a:p>
            <a:pPr algn="ctr"/>
            <a:r>
              <a:rPr lang="en-US" altLang="zh-TW" sz="2400" dirty="0" smtClean="0">
                <a:solidFill>
                  <a:schemeClr val="bg1">
                    <a:lumMod val="95000"/>
                  </a:schemeClr>
                </a:solidFill>
                <a:ea typeface="標楷體" pitchFamily="65" charset="-120"/>
                <a:cs typeface="Calibri" pitchFamily="34" charset="0"/>
              </a:rPr>
              <a:t>…</a:t>
            </a:r>
            <a:endParaRPr lang="zh-TW" altLang="en-US" sz="2400" dirty="0" smtClean="0">
              <a:solidFill>
                <a:schemeClr val="bg1">
                  <a:lumMod val="95000"/>
                </a:schemeClr>
              </a:solidFill>
              <a:ea typeface="標楷體" pitchFamily="65" charset="-120"/>
              <a:cs typeface="Calibri" pitchFamily="34" charset="0"/>
            </a:endParaRPr>
          </a:p>
        </p:txBody>
      </p:sp>
      <p:sp>
        <p:nvSpPr>
          <p:cNvPr id="30" name="文字方塊 29"/>
          <p:cNvSpPr txBox="1"/>
          <p:nvPr/>
        </p:nvSpPr>
        <p:spPr>
          <a:xfrm>
            <a:off x="1212011" y="1648780"/>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a:ea typeface="標楷體" pitchFamily="65" charset="-120"/>
                <a:cs typeface="Calibri" pitchFamily="34" charset="0"/>
              </a:rPr>
              <a:t>1</a:t>
            </a:r>
            <a:endParaRPr lang="zh-TW" altLang="en-US" dirty="0" smtClean="0">
              <a:ea typeface="標楷體" pitchFamily="65" charset="-120"/>
              <a:cs typeface="Calibri" pitchFamily="34" charset="0"/>
            </a:endParaRPr>
          </a:p>
        </p:txBody>
      </p:sp>
      <p:sp>
        <p:nvSpPr>
          <p:cNvPr id="31" name="文字方塊 30"/>
          <p:cNvSpPr txBox="1"/>
          <p:nvPr/>
        </p:nvSpPr>
        <p:spPr>
          <a:xfrm>
            <a:off x="2009954" y="1631528"/>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2</a:t>
            </a:r>
            <a:endParaRPr lang="zh-TW" altLang="en-US" dirty="0" smtClean="0">
              <a:ea typeface="標楷體" pitchFamily="65" charset="-120"/>
              <a:cs typeface="Calibri" pitchFamily="34" charset="0"/>
            </a:endParaRPr>
          </a:p>
        </p:txBody>
      </p:sp>
      <p:sp>
        <p:nvSpPr>
          <p:cNvPr id="32" name="文字方塊 31"/>
          <p:cNvSpPr txBox="1"/>
          <p:nvPr/>
        </p:nvSpPr>
        <p:spPr>
          <a:xfrm>
            <a:off x="2863974" y="1627994"/>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3</a:t>
            </a:r>
            <a:endParaRPr lang="zh-TW" altLang="en-US" dirty="0" smtClean="0">
              <a:ea typeface="標楷體" pitchFamily="65" charset="-120"/>
              <a:cs typeface="Calibri" pitchFamily="34" charset="0"/>
            </a:endParaRPr>
          </a:p>
        </p:txBody>
      </p:sp>
      <p:sp>
        <p:nvSpPr>
          <p:cNvPr id="33" name="文字方塊 32"/>
          <p:cNvSpPr txBox="1"/>
          <p:nvPr/>
        </p:nvSpPr>
        <p:spPr>
          <a:xfrm>
            <a:off x="4155416" y="1622902"/>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N</a:t>
            </a:r>
            <a:endParaRPr lang="zh-TW" altLang="en-US" dirty="0" smtClean="0">
              <a:ea typeface="標楷體" pitchFamily="65" charset="-120"/>
              <a:cs typeface="Calibri" pitchFamily="34" charset="0"/>
            </a:endParaRPr>
          </a:p>
        </p:txBody>
      </p:sp>
      <p:sp>
        <p:nvSpPr>
          <p:cNvPr id="34" name="文字方塊 33"/>
          <p:cNvSpPr txBox="1"/>
          <p:nvPr/>
        </p:nvSpPr>
        <p:spPr>
          <a:xfrm>
            <a:off x="6213163" y="1899901"/>
            <a:ext cx="804415" cy="369332"/>
          </a:xfrm>
          <a:prstGeom prst="rect">
            <a:avLst/>
          </a:prstGeom>
          <a:noFill/>
        </p:spPr>
        <p:txBody>
          <a:bodyPr wrap="square" rtlCol="0" anchor="ctr" anchorCtr="1">
            <a:spAutoFit/>
          </a:bodyPr>
          <a:lstStyle/>
          <a:p>
            <a:r>
              <a:rPr lang="en-US" altLang="zh-TW" dirty="0" smtClean="0">
                <a:solidFill>
                  <a:schemeClr val="bg1"/>
                </a:solidFill>
                <a:ea typeface="標楷體" pitchFamily="65" charset="-120"/>
                <a:cs typeface="Calibri" pitchFamily="34" charset="0"/>
              </a:rPr>
              <a:t>GPU</a:t>
            </a:r>
            <a:endParaRPr lang="zh-TW" altLang="en-US" dirty="0" smtClean="0">
              <a:solidFill>
                <a:schemeClr val="bg1"/>
              </a:solidFill>
              <a:ea typeface="標楷體" pitchFamily="65" charset="-120"/>
              <a:cs typeface="Calibri" pitchFamily="34" charset="0"/>
            </a:endParaRPr>
          </a:p>
        </p:txBody>
      </p:sp>
      <p:sp>
        <p:nvSpPr>
          <p:cNvPr id="24" name="左-右雙向箭號 23"/>
          <p:cNvSpPr/>
          <p:nvPr/>
        </p:nvSpPr>
        <p:spPr bwMode="auto">
          <a:xfrm>
            <a:off x="4884346" y="1899901"/>
            <a:ext cx="811955" cy="277000"/>
          </a:xfrm>
          <a:prstGeom prst="leftRightArrow">
            <a:avLst/>
          </a:prstGeom>
          <a:solidFill>
            <a:schemeClr val="bg1"/>
          </a:solidFill>
          <a:ln w="1587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35" name="文字方塊 34"/>
          <p:cNvSpPr txBox="1"/>
          <p:nvPr/>
        </p:nvSpPr>
        <p:spPr>
          <a:xfrm>
            <a:off x="4922266" y="1576735"/>
            <a:ext cx="736114" cy="369332"/>
          </a:xfrm>
          <a:prstGeom prst="rect">
            <a:avLst/>
          </a:prstGeom>
          <a:noFill/>
        </p:spPr>
        <p:txBody>
          <a:bodyPr wrap="square" rtlCol="0" anchor="ctr" anchorCtr="1">
            <a:spAutoFit/>
          </a:bodyPr>
          <a:lstStyle/>
          <a:p>
            <a:r>
              <a:rPr lang="en-US" altLang="zh-TW" b="1" dirty="0" smtClean="0">
                <a:solidFill>
                  <a:schemeClr val="bg1"/>
                </a:solidFill>
                <a:ea typeface="標楷體" pitchFamily="65" charset="-120"/>
                <a:cs typeface="Calibri" pitchFamily="34" charset="0"/>
              </a:rPr>
              <a:t>BUS</a:t>
            </a:r>
            <a:endParaRPr lang="zh-TW" altLang="en-US" b="1" dirty="0" smtClean="0">
              <a:solidFill>
                <a:schemeClr val="bg1"/>
              </a:solidFill>
              <a:ea typeface="標楷體" pitchFamily="65" charset="-120"/>
              <a:cs typeface="Calibri" pitchFamily="34" charset="0"/>
            </a:endParaRPr>
          </a:p>
        </p:txBody>
      </p:sp>
      <p:sp>
        <p:nvSpPr>
          <p:cNvPr id="38" name="標題 1"/>
          <p:cNvSpPr txBox="1">
            <a:spLocks/>
          </p:cNvSpPr>
          <p:nvPr/>
        </p:nvSpPr>
        <p:spPr bwMode="auto">
          <a:xfrm>
            <a:off x="114739" y="4212063"/>
            <a:ext cx="8882612" cy="1774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a:lstStyle>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First time CPU and GPU in the same die.</a:t>
            </a:r>
          </a:p>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The same physical memory address, but can’t be programmed.</a:t>
            </a:r>
          </a:p>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More high transition speed, make GPU to execute more instruction.</a:t>
            </a:r>
          </a:p>
          <a:p>
            <a:pPr marL="457200" indent="-457200">
              <a:buFont typeface="Arial" panose="020B0604020202020204" pitchFamily="34" charset="0"/>
              <a:buChar char="•"/>
            </a:pPr>
            <a:endParaRPr lang="en-US" altLang="zh-TW" sz="2400" b="0" kern="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06499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Heterogeneous </a:t>
            </a:r>
            <a:r>
              <a:rPr lang="en-US" altLang="zh-TW" dirty="0" smtClean="0">
                <a:latin typeface="Times New Roman" panose="02020603050405020304" pitchFamily="18" charset="0"/>
                <a:cs typeface="Times New Roman" panose="02020603050405020304" pitchFamily="18" charset="0"/>
              </a:rPr>
              <a:t>Programming </a:t>
            </a:r>
            <a:r>
              <a:rPr lang="en-US" altLang="zh-TW" dirty="0" smtClean="0">
                <a:latin typeface="Times New Roman" panose="02020603050405020304" pitchFamily="18" charset="0"/>
                <a:cs typeface="Times New Roman" panose="02020603050405020304" pitchFamily="18" charset="0"/>
              </a:rPr>
              <a:t>Issues</a:t>
            </a:r>
            <a:endParaRPr lang="zh-TW" altLang="en-US" dirty="0">
              <a:latin typeface="Times New Roman" panose="02020603050405020304" pitchFamily="18" charset="0"/>
              <a:cs typeface="Times New Roman" panose="02020603050405020304" pitchFamily="18" charset="0"/>
            </a:endParaRPr>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6871" y="1290248"/>
            <a:ext cx="6890259" cy="45978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文字方塊 4"/>
          <p:cNvSpPr txBox="1"/>
          <p:nvPr/>
        </p:nvSpPr>
        <p:spPr>
          <a:xfrm>
            <a:off x="336430" y="1285560"/>
            <a:ext cx="2191110" cy="461665"/>
          </a:xfrm>
          <a:prstGeom prst="rect">
            <a:avLst/>
          </a:prstGeom>
          <a:noFill/>
        </p:spPr>
        <p:txBody>
          <a:bodyPr wrap="square" rtlCol="0" anchor="ctr" anchorCtr="1">
            <a:spAutoFit/>
          </a:bodyPr>
          <a:lstStyle/>
          <a:p>
            <a:r>
              <a:rPr lang="en-US" altLang="zh-TW" sz="2400" dirty="0" smtClean="0">
                <a:latin typeface="Times New Roman" panose="02020603050405020304" pitchFamily="18" charset="0"/>
                <a:ea typeface="標楷體" pitchFamily="65" charset="-120"/>
                <a:cs typeface="Times New Roman" panose="02020603050405020304" pitchFamily="18" charset="0"/>
              </a:rPr>
              <a:t>CUDA example</a:t>
            </a:r>
            <a:endParaRPr lang="zh-TW" altLang="en-US" sz="2400" dirty="0" smtClean="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30551224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HSA</a:t>
            </a:r>
            <a:endParaRPr lang="zh-TW" altLang="en-US" dirty="0"/>
          </a:p>
        </p:txBody>
      </p:sp>
      <p:sp>
        <p:nvSpPr>
          <p:cNvPr id="5" name="圓角矩形 4"/>
          <p:cNvSpPr/>
          <p:nvPr/>
        </p:nvSpPr>
        <p:spPr bwMode="auto">
          <a:xfrm>
            <a:off x="215660" y="1199078"/>
            <a:ext cx="8522898" cy="2829464"/>
          </a:xfrm>
          <a:prstGeom prst="roundRect">
            <a:avLst/>
          </a:prstGeom>
          <a:solidFill>
            <a:schemeClr val="bg1">
              <a:lumMod val="65000"/>
            </a:schemeClr>
          </a:solidFill>
          <a:ln>
            <a:solidFill>
              <a:schemeClr val="bg1"/>
            </a:solidFill>
            <a:headEnd type="none" w="med" len="med"/>
            <a:tailEnd type="none" w="med" len="med"/>
          </a:ln>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7" name="圓角矩形 6"/>
          <p:cNvSpPr/>
          <p:nvPr/>
        </p:nvSpPr>
        <p:spPr bwMode="auto">
          <a:xfrm>
            <a:off x="769906" y="3445444"/>
            <a:ext cx="7414405" cy="319178"/>
          </a:xfrm>
          <a:prstGeom prst="roundRect">
            <a:avLst/>
          </a:prstGeom>
          <a:solidFill>
            <a:schemeClr val="tx1">
              <a:lumMod val="65000"/>
              <a:lumOff val="3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9" name="文字方塊 8"/>
          <p:cNvSpPr txBox="1"/>
          <p:nvPr/>
        </p:nvSpPr>
        <p:spPr>
          <a:xfrm>
            <a:off x="2129646" y="3393682"/>
            <a:ext cx="4694926" cy="369332"/>
          </a:xfrm>
          <a:prstGeom prst="rect">
            <a:avLst/>
          </a:prstGeom>
          <a:noFill/>
        </p:spPr>
        <p:txBody>
          <a:bodyPr wrap="square" rtlCol="0" anchor="ctr" anchorCtr="1">
            <a:spAutoFit/>
          </a:bodyPr>
          <a:lstStyle/>
          <a:p>
            <a:r>
              <a:rPr lang="en-US" altLang="zh-TW"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rPr>
              <a:t>Heterogeneous Uniform Memory Access</a:t>
            </a:r>
            <a:endParaRPr lang="zh-TW" altLang="en-US" dirty="0" smtClean="0">
              <a:solidFill>
                <a:schemeClr val="bg1">
                  <a:lumMod val="95000"/>
                </a:schemeClr>
              </a:solidFill>
              <a:latin typeface="Times New Roman" panose="02020603050405020304" pitchFamily="18" charset="0"/>
              <a:ea typeface="標楷體" pitchFamily="65" charset="-120"/>
              <a:cs typeface="Times New Roman" panose="02020603050405020304" pitchFamily="18" charset="0"/>
            </a:endParaRPr>
          </a:p>
        </p:txBody>
      </p:sp>
      <p:sp>
        <p:nvSpPr>
          <p:cNvPr id="11" name="圓角矩形 10"/>
          <p:cNvSpPr/>
          <p:nvPr/>
        </p:nvSpPr>
        <p:spPr bwMode="auto">
          <a:xfrm>
            <a:off x="845392"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2" name="圓角矩形 11"/>
          <p:cNvSpPr/>
          <p:nvPr/>
        </p:nvSpPr>
        <p:spPr bwMode="auto">
          <a:xfrm>
            <a:off x="1643335"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13" name="圓角矩形 12"/>
          <p:cNvSpPr/>
          <p:nvPr/>
        </p:nvSpPr>
        <p:spPr bwMode="auto">
          <a:xfrm>
            <a:off x="2501666"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dirty="0" smtClean="0">
              <a:ln>
                <a:noFill/>
              </a:ln>
              <a:solidFill>
                <a:schemeClr val="tx1"/>
              </a:solidFill>
              <a:effectLst/>
              <a:latin typeface="Arial" pitchFamily="34" charset="0"/>
              <a:ea typeface="新細明體" pitchFamily="18" charset="-120"/>
            </a:endParaRPr>
          </a:p>
        </p:txBody>
      </p:sp>
      <p:sp>
        <p:nvSpPr>
          <p:cNvPr id="14" name="圓角矩形 13"/>
          <p:cNvSpPr/>
          <p:nvPr/>
        </p:nvSpPr>
        <p:spPr bwMode="auto">
          <a:xfrm>
            <a:off x="3795627" y="1509632"/>
            <a:ext cx="646981" cy="1026544"/>
          </a:xfrm>
          <a:prstGeom prst="roundRect">
            <a:avLst/>
          </a:prstGeom>
          <a:solidFill>
            <a:schemeClr val="accent3">
              <a:lumMod val="75000"/>
            </a:schemeClr>
          </a:solidFill>
          <a:ln w="15875" cap="flat" cmpd="sng" algn="ctr">
            <a:solidFill>
              <a:schemeClr val="bg1">
                <a:lumMod val="65000"/>
              </a:schemeClr>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cxnSp>
        <p:nvCxnSpPr>
          <p:cNvPr id="17" name="直線單箭頭接點 16"/>
          <p:cNvCxnSpPr>
            <a:stCxn id="11" idx="2"/>
          </p:cNvCxnSpPr>
          <p:nvPr/>
        </p:nvCxnSpPr>
        <p:spPr bwMode="auto">
          <a:xfrm flipH="1">
            <a:off x="1168882" y="2536176"/>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8" name="直線單箭頭接點 17"/>
          <p:cNvCxnSpPr/>
          <p:nvPr/>
        </p:nvCxnSpPr>
        <p:spPr bwMode="auto">
          <a:xfrm flipH="1">
            <a:off x="1966824" y="2515739"/>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9" name="直線單箭頭接點 18"/>
          <p:cNvCxnSpPr/>
          <p:nvPr/>
        </p:nvCxnSpPr>
        <p:spPr bwMode="auto">
          <a:xfrm flipH="1">
            <a:off x="2825156" y="2533114"/>
            <a:ext cx="1" cy="90577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20" name="直線單箭頭接點 19"/>
          <p:cNvCxnSpPr/>
          <p:nvPr/>
        </p:nvCxnSpPr>
        <p:spPr bwMode="auto">
          <a:xfrm>
            <a:off x="4140681" y="2533114"/>
            <a:ext cx="2872" cy="86186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29" name="文字方塊 28"/>
          <p:cNvSpPr txBox="1"/>
          <p:nvPr/>
        </p:nvSpPr>
        <p:spPr>
          <a:xfrm>
            <a:off x="3204725" y="1715236"/>
            <a:ext cx="534838" cy="461665"/>
          </a:xfrm>
          <a:prstGeom prst="rect">
            <a:avLst/>
          </a:prstGeom>
          <a:noFill/>
        </p:spPr>
        <p:txBody>
          <a:bodyPr wrap="square" rtlCol="0" anchor="ctr" anchorCtr="1">
            <a:spAutoFit/>
          </a:bodyPr>
          <a:lstStyle/>
          <a:p>
            <a:pPr algn="ctr"/>
            <a:r>
              <a:rPr lang="en-US" altLang="zh-TW" sz="2400" dirty="0" smtClean="0">
                <a:solidFill>
                  <a:schemeClr val="bg1">
                    <a:lumMod val="95000"/>
                  </a:schemeClr>
                </a:solidFill>
                <a:ea typeface="標楷體" pitchFamily="65" charset="-120"/>
                <a:cs typeface="Calibri" pitchFamily="34" charset="0"/>
              </a:rPr>
              <a:t>…</a:t>
            </a:r>
            <a:endParaRPr lang="zh-TW" altLang="en-US" sz="2400" dirty="0" smtClean="0">
              <a:solidFill>
                <a:schemeClr val="bg1">
                  <a:lumMod val="95000"/>
                </a:schemeClr>
              </a:solidFill>
              <a:ea typeface="標楷體" pitchFamily="65" charset="-120"/>
              <a:cs typeface="Calibri" pitchFamily="34" charset="0"/>
            </a:endParaRPr>
          </a:p>
        </p:txBody>
      </p:sp>
      <p:sp>
        <p:nvSpPr>
          <p:cNvPr id="30" name="文字方塊 29"/>
          <p:cNvSpPr txBox="1"/>
          <p:nvPr/>
        </p:nvSpPr>
        <p:spPr>
          <a:xfrm>
            <a:off x="841077" y="1648780"/>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a:ea typeface="標楷體" pitchFamily="65" charset="-120"/>
                <a:cs typeface="Calibri" pitchFamily="34" charset="0"/>
              </a:rPr>
              <a:t>1</a:t>
            </a:r>
            <a:endParaRPr lang="zh-TW" altLang="en-US" dirty="0" smtClean="0">
              <a:ea typeface="標楷體" pitchFamily="65" charset="-120"/>
              <a:cs typeface="Calibri" pitchFamily="34" charset="0"/>
            </a:endParaRPr>
          </a:p>
        </p:txBody>
      </p:sp>
      <p:sp>
        <p:nvSpPr>
          <p:cNvPr id="31" name="文字方塊 30"/>
          <p:cNvSpPr txBox="1"/>
          <p:nvPr/>
        </p:nvSpPr>
        <p:spPr>
          <a:xfrm>
            <a:off x="1639020" y="1631528"/>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2</a:t>
            </a:r>
            <a:endParaRPr lang="zh-TW" altLang="en-US" dirty="0" smtClean="0">
              <a:ea typeface="標楷體" pitchFamily="65" charset="-120"/>
              <a:cs typeface="Calibri" pitchFamily="34" charset="0"/>
            </a:endParaRPr>
          </a:p>
        </p:txBody>
      </p:sp>
      <p:sp>
        <p:nvSpPr>
          <p:cNvPr id="32" name="文字方塊 31"/>
          <p:cNvSpPr txBox="1"/>
          <p:nvPr/>
        </p:nvSpPr>
        <p:spPr>
          <a:xfrm>
            <a:off x="2493040" y="1627994"/>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3</a:t>
            </a:r>
            <a:endParaRPr lang="zh-TW" altLang="en-US" dirty="0" smtClean="0">
              <a:ea typeface="標楷體" pitchFamily="65" charset="-120"/>
              <a:cs typeface="Calibri" pitchFamily="34" charset="0"/>
            </a:endParaRPr>
          </a:p>
        </p:txBody>
      </p:sp>
      <p:sp>
        <p:nvSpPr>
          <p:cNvPr id="33" name="文字方塊 32"/>
          <p:cNvSpPr txBox="1"/>
          <p:nvPr/>
        </p:nvSpPr>
        <p:spPr>
          <a:xfrm>
            <a:off x="3784482" y="1622902"/>
            <a:ext cx="668548"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CPU</a:t>
            </a:r>
          </a:p>
          <a:p>
            <a:pPr algn="ctr"/>
            <a:r>
              <a:rPr lang="en-US" altLang="zh-TW" dirty="0" smtClean="0">
                <a:ea typeface="標楷體" pitchFamily="65" charset="-120"/>
                <a:cs typeface="Calibri" pitchFamily="34" charset="0"/>
              </a:rPr>
              <a:t>N</a:t>
            </a:r>
            <a:endParaRPr lang="zh-TW" altLang="en-US" dirty="0" smtClean="0">
              <a:ea typeface="標楷體" pitchFamily="65" charset="-120"/>
              <a:cs typeface="Calibri" pitchFamily="34" charset="0"/>
            </a:endParaRPr>
          </a:p>
        </p:txBody>
      </p:sp>
      <p:sp>
        <p:nvSpPr>
          <p:cNvPr id="38" name="標題 1"/>
          <p:cNvSpPr txBox="1">
            <a:spLocks/>
          </p:cNvSpPr>
          <p:nvPr/>
        </p:nvSpPr>
        <p:spPr bwMode="auto">
          <a:xfrm>
            <a:off x="114739" y="4212063"/>
            <a:ext cx="8882612" cy="1774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a:lstStyle>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UMA design can make all CUs access the same data.</a:t>
            </a:r>
          </a:p>
          <a:p>
            <a:pPr marL="457200" indent="-457200">
              <a:buFont typeface="Arial" panose="020B0604020202020204" pitchFamily="34" charset="0"/>
              <a:buChar char="•"/>
            </a:pPr>
            <a:r>
              <a:rPr lang="en-US" altLang="zh-TW" sz="2400" b="0" kern="0" dirty="0" smtClean="0">
                <a:latin typeface="Times New Roman" panose="02020603050405020304" pitchFamily="18" charset="0"/>
                <a:cs typeface="Times New Roman" panose="02020603050405020304" pitchFamily="18" charset="0"/>
              </a:rPr>
              <a:t>Applications can choose favor CU.</a:t>
            </a:r>
          </a:p>
          <a:p>
            <a:pPr marL="457200" indent="-457200">
              <a:buFont typeface="Arial" panose="020B0604020202020204" pitchFamily="34" charset="0"/>
              <a:buChar char="•"/>
            </a:pPr>
            <a:endParaRPr lang="en-US" altLang="zh-TW" sz="2400" b="0" kern="0" dirty="0" smtClean="0">
              <a:latin typeface="Times New Roman" panose="02020603050405020304" pitchFamily="18" charset="0"/>
              <a:cs typeface="Times New Roman" panose="02020603050405020304" pitchFamily="18" charset="0"/>
            </a:endParaRPr>
          </a:p>
        </p:txBody>
      </p:sp>
      <p:sp>
        <p:nvSpPr>
          <p:cNvPr id="4" name="圓角矩形 3"/>
          <p:cNvSpPr/>
          <p:nvPr/>
        </p:nvSpPr>
        <p:spPr bwMode="auto">
          <a:xfrm>
            <a:off x="4699595" y="1527005"/>
            <a:ext cx="603849" cy="1006107"/>
          </a:xfrm>
          <a:prstGeom prst="roundRect">
            <a:avLst/>
          </a:prstGeom>
          <a:solidFill>
            <a:schemeClr val="accent6">
              <a:lumMod val="7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36" name="圓角矩形 35"/>
          <p:cNvSpPr/>
          <p:nvPr/>
        </p:nvSpPr>
        <p:spPr bwMode="auto">
          <a:xfrm>
            <a:off x="5560431" y="1527005"/>
            <a:ext cx="603849" cy="1006107"/>
          </a:xfrm>
          <a:prstGeom prst="roundRect">
            <a:avLst/>
          </a:prstGeom>
          <a:solidFill>
            <a:schemeClr val="accent6">
              <a:lumMod val="7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37" name="圓角矩形 36"/>
          <p:cNvSpPr/>
          <p:nvPr/>
        </p:nvSpPr>
        <p:spPr bwMode="auto">
          <a:xfrm>
            <a:off x="6422345" y="1519850"/>
            <a:ext cx="603849" cy="1006107"/>
          </a:xfrm>
          <a:prstGeom prst="roundRect">
            <a:avLst/>
          </a:prstGeom>
          <a:solidFill>
            <a:schemeClr val="accent6">
              <a:lumMod val="7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39" name="圓角矩形 38"/>
          <p:cNvSpPr/>
          <p:nvPr/>
        </p:nvSpPr>
        <p:spPr bwMode="auto">
          <a:xfrm>
            <a:off x="7474802" y="1527005"/>
            <a:ext cx="603849" cy="1006107"/>
          </a:xfrm>
          <a:prstGeom prst="roundRect">
            <a:avLst/>
          </a:prstGeom>
          <a:solidFill>
            <a:schemeClr val="accent6">
              <a:lumMod val="75000"/>
            </a:schemeClr>
          </a:solidFill>
          <a:ln w="15875" cap="flat" cmpd="sng" algn="ctr">
            <a:solidFill>
              <a:schemeClr val="bg1"/>
            </a:solidFill>
            <a:prstDash val="solid"/>
            <a:round/>
            <a:headEnd type="none" w="med" len="med"/>
            <a:tailEnd type="none" w="med" len="med"/>
          </a:ln>
          <a:effectLst/>
          <a:scene3d>
            <a:camera prst="orthographicFront"/>
            <a:lightRig rig="threePt" dir="t"/>
          </a:scene3d>
          <a:sp3d>
            <a:bevelT w="165100" prst="coolSlant"/>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42" name="文字方塊 41"/>
          <p:cNvSpPr txBox="1"/>
          <p:nvPr/>
        </p:nvSpPr>
        <p:spPr>
          <a:xfrm>
            <a:off x="4634600" y="1620775"/>
            <a:ext cx="737396"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HCU</a:t>
            </a:r>
          </a:p>
          <a:p>
            <a:pPr algn="ctr"/>
            <a:r>
              <a:rPr lang="en-US" altLang="zh-TW" dirty="0" smtClean="0">
                <a:ea typeface="標楷體" pitchFamily="65" charset="-120"/>
                <a:cs typeface="Calibri" pitchFamily="34" charset="0"/>
              </a:rPr>
              <a:t>1</a:t>
            </a:r>
            <a:endParaRPr lang="zh-TW" altLang="en-US" dirty="0" smtClean="0">
              <a:ea typeface="標楷體" pitchFamily="65" charset="-120"/>
              <a:cs typeface="Calibri" pitchFamily="34" charset="0"/>
            </a:endParaRPr>
          </a:p>
        </p:txBody>
      </p:sp>
      <p:sp>
        <p:nvSpPr>
          <p:cNvPr id="46" name="文字方塊 45"/>
          <p:cNvSpPr txBox="1"/>
          <p:nvPr/>
        </p:nvSpPr>
        <p:spPr>
          <a:xfrm>
            <a:off x="6996739" y="1667137"/>
            <a:ext cx="534838" cy="461665"/>
          </a:xfrm>
          <a:prstGeom prst="rect">
            <a:avLst/>
          </a:prstGeom>
          <a:noFill/>
        </p:spPr>
        <p:txBody>
          <a:bodyPr wrap="square" rtlCol="0" anchor="ctr" anchorCtr="1">
            <a:spAutoFit/>
          </a:bodyPr>
          <a:lstStyle/>
          <a:p>
            <a:pPr algn="ctr"/>
            <a:r>
              <a:rPr lang="en-US" altLang="zh-TW" sz="2400" dirty="0" smtClean="0">
                <a:solidFill>
                  <a:schemeClr val="bg1">
                    <a:lumMod val="95000"/>
                  </a:schemeClr>
                </a:solidFill>
                <a:ea typeface="標楷體" pitchFamily="65" charset="-120"/>
                <a:cs typeface="Calibri" pitchFamily="34" charset="0"/>
              </a:rPr>
              <a:t>…</a:t>
            </a:r>
            <a:endParaRPr lang="zh-TW" altLang="en-US" sz="2400" dirty="0" smtClean="0">
              <a:solidFill>
                <a:schemeClr val="bg1">
                  <a:lumMod val="95000"/>
                </a:schemeClr>
              </a:solidFill>
              <a:ea typeface="標楷體" pitchFamily="65" charset="-120"/>
              <a:cs typeface="Calibri" pitchFamily="34" charset="0"/>
            </a:endParaRPr>
          </a:p>
        </p:txBody>
      </p:sp>
      <p:cxnSp>
        <p:nvCxnSpPr>
          <p:cNvPr id="47" name="直線單箭頭接點 46"/>
          <p:cNvCxnSpPr/>
          <p:nvPr/>
        </p:nvCxnSpPr>
        <p:spPr bwMode="auto">
          <a:xfrm>
            <a:off x="4998299" y="2525957"/>
            <a:ext cx="2872" cy="86186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48" name="直線單箭頭接點 47"/>
          <p:cNvCxnSpPr/>
          <p:nvPr/>
        </p:nvCxnSpPr>
        <p:spPr bwMode="auto">
          <a:xfrm>
            <a:off x="5866140" y="2538976"/>
            <a:ext cx="2872" cy="86186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49" name="直線單箭頭接點 48"/>
          <p:cNvCxnSpPr/>
          <p:nvPr/>
        </p:nvCxnSpPr>
        <p:spPr bwMode="auto">
          <a:xfrm>
            <a:off x="6725551" y="2532467"/>
            <a:ext cx="2872" cy="86186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50" name="直線單箭頭接點 49"/>
          <p:cNvCxnSpPr/>
          <p:nvPr/>
        </p:nvCxnSpPr>
        <p:spPr bwMode="auto">
          <a:xfrm>
            <a:off x="7787588" y="2538975"/>
            <a:ext cx="2872" cy="86186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51" name="文字方塊 50"/>
          <p:cNvSpPr txBox="1"/>
          <p:nvPr/>
        </p:nvSpPr>
        <p:spPr>
          <a:xfrm>
            <a:off x="5500514" y="1612081"/>
            <a:ext cx="737396"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HCU</a:t>
            </a:r>
          </a:p>
          <a:p>
            <a:pPr algn="ctr"/>
            <a:r>
              <a:rPr lang="en-US" altLang="zh-TW" dirty="0">
                <a:ea typeface="標楷體" pitchFamily="65" charset="-120"/>
                <a:cs typeface="Calibri" pitchFamily="34" charset="0"/>
              </a:rPr>
              <a:t>2</a:t>
            </a:r>
            <a:endParaRPr lang="zh-TW" altLang="en-US" dirty="0" smtClean="0">
              <a:ea typeface="標楷體" pitchFamily="65" charset="-120"/>
              <a:cs typeface="Calibri" pitchFamily="34" charset="0"/>
            </a:endParaRPr>
          </a:p>
        </p:txBody>
      </p:sp>
      <p:sp>
        <p:nvSpPr>
          <p:cNvPr id="52" name="文字方塊 51"/>
          <p:cNvSpPr txBox="1"/>
          <p:nvPr/>
        </p:nvSpPr>
        <p:spPr>
          <a:xfrm>
            <a:off x="6355591" y="1603456"/>
            <a:ext cx="737396"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HCU</a:t>
            </a:r>
          </a:p>
          <a:p>
            <a:pPr algn="ctr"/>
            <a:r>
              <a:rPr lang="en-US" altLang="zh-TW" dirty="0">
                <a:ea typeface="標楷體" pitchFamily="65" charset="-120"/>
                <a:cs typeface="Calibri" pitchFamily="34" charset="0"/>
              </a:rPr>
              <a:t>3</a:t>
            </a:r>
            <a:endParaRPr lang="zh-TW" altLang="en-US" dirty="0" smtClean="0">
              <a:ea typeface="標楷體" pitchFamily="65" charset="-120"/>
              <a:cs typeface="Calibri" pitchFamily="34" charset="0"/>
            </a:endParaRPr>
          </a:p>
        </p:txBody>
      </p:sp>
      <p:sp>
        <p:nvSpPr>
          <p:cNvPr id="53" name="文字方塊 52"/>
          <p:cNvSpPr txBox="1"/>
          <p:nvPr/>
        </p:nvSpPr>
        <p:spPr>
          <a:xfrm>
            <a:off x="7406621" y="1594772"/>
            <a:ext cx="737396" cy="646331"/>
          </a:xfrm>
          <a:prstGeom prst="rect">
            <a:avLst/>
          </a:prstGeom>
          <a:noFill/>
        </p:spPr>
        <p:txBody>
          <a:bodyPr wrap="square" rtlCol="0" anchor="ctr" anchorCtr="1">
            <a:spAutoFit/>
          </a:bodyPr>
          <a:lstStyle/>
          <a:p>
            <a:r>
              <a:rPr lang="en-US" altLang="zh-TW" dirty="0" smtClean="0">
                <a:ea typeface="標楷體" pitchFamily="65" charset="-120"/>
                <a:cs typeface="Calibri" pitchFamily="34" charset="0"/>
              </a:rPr>
              <a:t>HCU</a:t>
            </a:r>
          </a:p>
          <a:p>
            <a:pPr algn="ctr"/>
            <a:r>
              <a:rPr lang="en-US" altLang="zh-TW" dirty="0">
                <a:ea typeface="標楷體" pitchFamily="65" charset="-120"/>
                <a:cs typeface="Calibri" pitchFamily="34" charset="0"/>
              </a:rPr>
              <a:t>m</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41557959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2800" dirty="0" smtClean="0">
                <a:latin typeface="Times New Roman" panose="02020603050405020304" pitchFamily="18" charset="0"/>
                <a:cs typeface="Times New Roman" panose="02020603050405020304" pitchFamily="18" charset="0"/>
              </a:rPr>
              <a:t>Heterogeneous Uniform Memory Access</a:t>
            </a:r>
            <a:endParaRPr lang="zh-TW" altLang="en-US" sz="28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238991" y="1125538"/>
            <a:ext cx="8686799" cy="4895850"/>
          </a:xfrm>
        </p:spPr>
        <p:txBody>
          <a:bodyPr/>
          <a:lstStyle/>
          <a:p>
            <a:r>
              <a:rPr lang="en-US" altLang="zh-TW" sz="2400" dirty="0" smtClean="0">
                <a:latin typeface="Times New Roman" panose="02020603050405020304" pitchFamily="18" charset="0"/>
                <a:cs typeface="Times New Roman" panose="02020603050405020304" pitchFamily="18" charset="0"/>
              </a:rPr>
              <a:t>Heterogeneous Uniform Memory Access:</a:t>
            </a:r>
          </a:p>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Appear in AMD promotional material in April 2013.</a:t>
            </a:r>
          </a:p>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APU memory architecture.</a:t>
            </a:r>
          </a:p>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Refer to CPU and GPU sharing the same system memory.</a:t>
            </a:r>
          </a:p>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Cache coherent views.</a:t>
            </a:r>
          </a:p>
        </p:txBody>
      </p:sp>
    </p:spTree>
    <p:extLst>
      <p:ext uri="{BB962C8B-B14F-4D97-AF65-F5344CB8AC3E}">
        <p14:creationId xmlns:p14="http://schemas.microsoft.com/office/powerpoint/2010/main" val="1394362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Proposed Solution from HSA</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To build a more easy programming environment</a:t>
            </a:r>
          </a:p>
          <a:p>
            <a:endParaRPr lang="en-US" altLang="zh-TW" sz="2400" dirty="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Don’t need programmer to pay attention to the data movement</a:t>
            </a:r>
          </a:p>
          <a:p>
            <a:endParaRPr lang="en-US" altLang="zh-TW" sz="2400" dirty="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Support shared address space between HSA components</a:t>
            </a:r>
            <a:endParaRPr lang="en-US" altLang="zh-TW" sz="2400" dirty="0" smtClean="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88877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49576" y="2962565"/>
            <a:ext cx="7772400" cy="1362075"/>
          </a:xfrm>
        </p:spPr>
        <p:txBody>
          <a:bodyPr/>
          <a:lstStyle/>
          <a:p>
            <a:pPr algn="ctr"/>
            <a:r>
              <a:rPr lang="en-US" altLang="zh-TW" dirty="0" err="1" smtClean="0">
                <a:latin typeface="Times New Roman" panose="02020603050405020304" pitchFamily="18" charset="0"/>
                <a:cs typeface="Times New Roman" panose="02020603050405020304" pitchFamily="18" charset="0"/>
              </a:rPr>
              <a:t>hUMA</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37393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Shared </a:t>
            </a:r>
            <a:r>
              <a:rPr lang="en-US" altLang="zh-TW" sz="3600" dirty="0">
                <a:latin typeface="Times New Roman" panose="02020603050405020304" pitchFamily="18" charset="0"/>
                <a:cs typeface="Times New Roman" panose="02020603050405020304" pitchFamily="18" charset="0"/>
              </a:rPr>
              <a:t>V</a:t>
            </a:r>
            <a:r>
              <a:rPr lang="en-US" altLang="zh-TW" sz="3600" dirty="0" smtClean="0">
                <a:latin typeface="Times New Roman" panose="02020603050405020304" pitchFamily="18" charset="0"/>
                <a:cs typeface="Times New Roman" panose="02020603050405020304" pitchFamily="18" charset="0"/>
              </a:rPr>
              <a:t>irtual Memory</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238991" y="1125538"/>
            <a:ext cx="8686799" cy="4895850"/>
          </a:xfrm>
        </p:spPr>
        <p:txBody>
          <a:bodyPr/>
          <a:lstStyle/>
          <a:p>
            <a:r>
              <a:rPr lang="en-US" altLang="zh-TW" sz="2400" dirty="0" smtClean="0">
                <a:latin typeface="Times New Roman" panose="02020603050405020304" pitchFamily="18" charset="0"/>
                <a:cs typeface="Times New Roman" panose="02020603050405020304" pitchFamily="18" charset="0"/>
                <a:sym typeface="Wingdings" panose="05000000000000000000" pitchFamily="2" charset="2"/>
              </a:rPr>
              <a:t>Today:</a:t>
            </a:r>
          </a:p>
          <a:p>
            <a:endParaRPr lang="en-US" altLang="zh-TW" sz="2400" dirty="0">
              <a:latin typeface="Times New Roman" panose="02020603050405020304" pitchFamily="18" charset="0"/>
              <a:cs typeface="Times New Roman" panose="02020603050405020304" pitchFamily="18" charset="0"/>
              <a:sym typeface="Wingdings" panose="05000000000000000000" pitchFamily="2" charset="2"/>
            </a:endParaRPr>
          </a:p>
        </p:txBody>
      </p:sp>
      <p:pic>
        <p:nvPicPr>
          <p:cNvPr id="4" name="圖片 3"/>
          <p:cNvPicPr>
            <a:picLocks noChangeAspect="1"/>
          </p:cNvPicPr>
          <p:nvPr/>
        </p:nvPicPr>
        <p:blipFill>
          <a:blip r:embed="rId2"/>
          <a:stretch>
            <a:fillRect/>
          </a:stretch>
        </p:blipFill>
        <p:spPr>
          <a:xfrm>
            <a:off x="1039090" y="1664628"/>
            <a:ext cx="7086600" cy="4029075"/>
          </a:xfrm>
          <a:prstGeom prst="rect">
            <a:avLst/>
          </a:prstGeom>
        </p:spPr>
      </p:pic>
    </p:spTree>
    <p:extLst>
      <p:ext uri="{BB962C8B-B14F-4D97-AF65-F5344CB8AC3E}">
        <p14:creationId xmlns:p14="http://schemas.microsoft.com/office/powerpoint/2010/main" val="16561836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Shared </a:t>
            </a:r>
            <a:r>
              <a:rPr lang="en-US" altLang="zh-TW" sz="3600" dirty="0">
                <a:latin typeface="Times New Roman" panose="02020603050405020304" pitchFamily="18" charset="0"/>
                <a:cs typeface="Times New Roman" panose="02020603050405020304" pitchFamily="18" charset="0"/>
              </a:rPr>
              <a:t>V</a:t>
            </a:r>
            <a:r>
              <a:rPr lang="en-US" altLang="zh-TW" sz="3600" dirty="0" smtClean="0">
                <a:latin typeface="Times New Roman" panose="02020603050405020304" pitchFamily="18" charset="0"/>
                <a:cs typeface="Times New Roman" panose="02020603050405020304" pitchFamily="18" charset="0"/>
              </a:rPr>
              <a:t>irtual Memory</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238991" y="1125538"/>
            <a:ext cx="8686799" cy="4895850"/>
          </a:xfrm>
        </p:spPr>
        <p:txBody>
          <a:bodyPr/>
          <a:lstStyle/>
          <a:p>
            <a:r>
              <a:rPr lang="en-US" altLang="zh-TW" sz="2400" dirty="0" smtClean="0">
                <a:latin typeface="Times New Roman" panose="02020603050405020304" pitchFamily="18" charset="0"/>
                <a:cs typeface="Times New Roman" panose="02020603050405020304" pitchFamily="18" charset="0"/>
                <a:sym typeface="Wingdings" panose="05000000000000000000" pitchFamily="2" charset="2"/>
              </a:rPr>
              <a:t>HSA:</a:t>
            </a:r>
          </a:p>
          <a:p>
            <a:endParaRPr lang="en-US" altLang="zh-TW" sz="2400" dirty="0">
              <a:latin typeface="Times New Roman" panose="02020603050405020304" pitchFamily="18" charset="0"/>
              <a:cs typeface="Times New Roman" panose="02020603050405020304" pitchFamily="18" charset="0"/>
              <a:sym typeface="Wingdings" panose="05000000000000000000" pitchFamily="2" charset="2"/>
            </a:endParaRPr>
          </a:p>
        </p:txBody>
      </p:sp>
      <p:pic>
        <p:nvPicPr>
          <p:cNvPr id="5" name="圖片 4"/>
          <p:cNvPicPr>
            <a:picLocks noChangeAspect="1"/>
          </p:cNvPicPr>
          <p:nvPr/>
        </p:nvPicPr>
        <p:blipFill>
          <a:blip r:embed="rId2"/>
          <a:stretch>
            <a:fillRect/>
          </a:stretch>
        </p:blipFill>
        <p:spPr>
          <a:xfrm>
            <a:off x="1057276" y="1763383"/>
            <a:ext cx="7029450" cy="4038600"/>
          </a:xfrm>
          <a:prstGeom prst="rect">
            <a:avLst/>
          </a:prstGeom>
        </p:spPr>
      </p:pic>
    </p:spTree>
    <p:extLst>
      <p:ext uri="{BB962C8B-B14F-4D97-AF65-F5344CB8AC3E}">
        <p14:creationId xmlns:p14="http://schemas.microsoft.com/office/powerpoint/2010/main" val="11595377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Shared </a:t>
            </a:r>
            <a:r>
              <a:rPr lang="en-US" altLang="zh-TW" sz="3600" dirty="0">
                <a:latin typeface="Times New Roman" panose="02020603050405020304" pitchFamily="18" charset="0"/>
                <a:cs typeface="Times New Roman" panose="02020603050405020304" pitchFamily="18" charset="0"/>
              </a:rPr>
              <a:t>V</a:t>
            </a:r>
            <a:r>
              <a:rPr lang="en-US" altLang="zh-TW" sz="3600" dirty="0" smtClean="0">
                <a:latin typeface="Times New Roman" panose="02020603050405020304" pitchFamily="18" charset="0"/>
                <a:cs typeface="Times New Roman" panose="02020603050405020304" pitchFamily="18" charset="0"/>
              </a:rPr>
              <a:t>irtual Memory</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238991" y="1125538"/>
            <a:ext cx="8686799" cy="4895850"/>
          </a:xfrm>
        </p:spPr>
        <p:txBody>
          <a:bodyPr/>
          <a:lstStyle/>
          <a:p>
            <a:r>
              <a:rPr lang="en-US" altLang="zh-TW" sz="2400" dirty="0" smtClean="0">
                <a:latin typeface="Times New Roman" panose="02020603050405020304" pitchFamily="18" charset="0"/>
                <a:cs typeface="Times New Roman" panose="02020603050405020304" pitchFamily="18" charset="0"/>
              </a:rPr>
              <a:t>Advantages:</a:t>
            </a:r>
            <a:endParaRPr lang="en-US" altLang="zh-TW" dirty="0">
              <a:latin typeface="Times New Roman" panose="02020603050405020304" pitchFamily="18" charset="0"/>
              <a:cs typeface="Times New Roman" panose="02020603050405020304" pitchFamily="18" charset="0"/>
            </a:endParaRPr>
          </a:p>
          <a:p>
            <a:pPr lvl="1"/>
            <a:r>
              <a:rPr lang="en-US" altLang="zh-TW" dirty="0" smtClean="0">
                <a:latin typeface="Times New Roman" panose="02020603050405020304" pitchFamily="18" charset="0"/>
                <a:cs typeface="Times New Roman" panose="02020603050405020304" pitchFamily="18" charset="0"/>
              </a:rPr>
              <a:t>No mapping tricks, no copying back-and-forth between different PA addresses</a:t>
            </a:r>
          </a:p>
          <a:p>
            <a:pPr lvl="1"/>
            <a:r>
              <a:rPr lang="en-US" altLang="zh-TW" dirty="0" smtClean="0">
                <a:latin typeface="Times New Roman" panose="02020603050405020304" pitchFamily="18" charset="0"/>
                <a:cs typeface="Times New Roman" panose="02020603050405020304" pitchFamily="18" charset="0"/>
              </a:rPr>
              <a:t>Send </a:t>
            </a:r>
            <a:r>
              <a:rPr lang="en-US" altLang="zh-TW" dirty="0" smtClean="0">
                <a:latin typeface="Times New Roman" panose="02020603050405020304" pitchFamily="18" charset="0"/>
                <a:cs typeface="Times New Roman" panose="02020603050405020304" pitchFamily="18" charset="0"/>
              </a:rPr>
              <a:t>pointers (</a:t>
            </a:r>
            <a:r>
              <a:rPr lang="en-US" altLang="zh-TW" dirty="0" smtClean="0">
                <a:latin typeface="Times New Roman" panose="02020603050405020304" pitchFamily="18" charset="0"/>
                <a:cs typeface="Times New Roman" panose="02020603050405020304" pitchFamily="18" charset="0"/>
              </a:rPr>
              <a:t>not data) back and forth between HSA agents.</a:t>
            </a:r>
          </a:p>
          <a:p>
            <a:r>
              <a:rPr lang="en-US" altLang="zh-TW" dirty="0" smtClean="0">
                <a:latin typeface="Times New Roman" panose="02020603050405020304" pitchFamily="18" charset="0"/>
                <a:cs typeface="Times New Roman" panose="02020603050405020304" pitchFamily="18" charset="0"/>
              </a:rPr>
              <a:t>Implications:</a:t>
            </a:r>
          </a:p>
          <a:p>
            <a:pPr lvl="1"/>
            <a:r>
              <a:rPr lang="en-US" altLang="zh-TW" dirty="0" smtClean="0">
                <a:latin typeface="Times New Roman" panose="02020603050405020304" pitchFamily="18" charset="0"/>
                <a:cs typeface="Times New Roman" panose="02020603050405020304" pitchFamily="18" charset="0"/>
              </a:rPr>
              <a:t>Common page </a:t>
            </a:r>
            <a:r>
              <a:rPr lang="en-US" altLang="zh-TW" dirty="0" smtClean="0">
                <a:latin typeface="Times New Roman" panose="02020603050405020304" pitchFamily="18" charset="0"/>
                <a:cs typeface="Times New Roman" panose="02020603050405020304" pitchFamily="18" charset="0"/>
              </a:rPr>
              <a:t>tables (</a:t>
            </a:r>
            <a:r>
              <a:rPr lang="en-US" altLang="zh-TW" dirty="0" smtClean="0">
                <a:latin typeface="Times New Roman" panose="02020603050405020304" pitchFamily="18" charset="0"/>
                <a:cs typeface="Times New Roman" panose="02020603050405020304" pitchFamily="18" charset="0"/>
              </a:rPr>
              <a:t>and common interpretation of architectural semantics such as </a:t>
            </a:r>
            <a:r>
              <a:rPr lang="en-US" altLang="zh-TW" dirty="0" err="1" smtClean="0">
                <a:latin typeface="Times New Roman" panose="02020603050405020304" pitchFamily="18" charset="0"/>
                <a:cs typeface="Times New Roman" panose="02020603050405020304" pitchFamily="18" charset="0"/>
              </a:rPr>
              <a:t>sharability</a:t>
            </a:r>
            <a:r>
              <a:rPr lang="en-US" altLang="zh-TW" dirty="0" smtClean="0">
                <a:latin typeface="Times New Roman" panose="02020603050405020304" pitchFamily="18" charset="0"/>
                <a:cs typeface="Times New Roman" panose="02020603050405020304" pitchFamily="18" charset="0"/>
              </a:rPr>
              <a:t>, protection, etc.)</a:t>
            </a:r>
          </a:p>
          <a:p>
            <a:pPr lvl="1"/>
            <a:r>
              <a:rPr lang="en-US" altLang="zh-TW" dirty="0" smtClean="0">
                <a:latin typeface="Times New Roman" panose="02020603050405020304" pitchFamily="18" charset="0"/>
                <a:cs typeface="Times New Roman" panose="02020603050405020304" pitchFamily="18" charset="0"/>
              </a:rPr>
              <a:t>Common mechanisms for address translation(and serving address translation faults)</a:t>
            </a:r>
          </a:p>
          <a:p>
            <a:pPr lvl="1"/>
            <a:r>
              <a:rPr lang="en-US" altLang="zh-TW" dirty="0" smtClean="0">
                <a:latin typeface="Times New Roman" panose="02020603050405020304" pitchFamily="18" charset="0"/>
                <a:cs typeface="Times New Roman" panose="02020603050405020304" pitchFamily="18" charset="0"/>
              </a:rPr>
              <a:t>Concept of a process address space(PASID) to allow multiple, per process virtual address spaces within the system.</a:t>
            </a:r>
            <a:endParaRPr lang="en-US" altLang="zh-TW" dirty="0">
              <a:latin typeface="Times New Roman" panose="02020603050405020304" pitchFamily="18" charset="0"/>
              <a:cs typeface="Times New Roman" panose="02020603050405020304" pitchFamily="18" charset="0"/>
            </a:endParaRPr>
          </a:p>
          <a:p>
            <a:endParaRPr lang="en-US" altLang="zh-TW" sz="2400" dirty="0" smtClean="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sz="2400" dirty="0" smtClean="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06819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Shared </a:t>
            </a:r>
            <a:r>
              <a:rPr lang="en-US" altLang="zh-TW" sz="3600" dirty="0">
                <a:latin typeface="Times New Roman" panose="02020603050405020304" pitchFamily="18" charset="0"/>
                <a:cs typeface="Times New Roman" panose="02020603050405020304" pitchFamily="18" charset="0"/>
              </a:rPr>
              <a:t>V</a:t>
            </a:r>
            <a:r>
              <a:rPr lang="en-US" altLang="zh-TW" sz="3600" dirty="0" smtClean="0">
                <a:latin typeface="Times New Roman" panose="02020603050405020304" pitchFamily="18" charset="0"/>
                <a:cs typeface="Times New Roman" panose="02020603050405020304" pitchFamily="18" charset="0"/>
              </a:rPr>
              <a:t>irtual Memory</a:t>
            </a:r>
            <a:endParaRPr lang="zh-TW" altLang="en-US" sz="3600"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2"/>
          <a:stretch>
            <a:fillRect/>
          </a:stretch>
        </p:blipFill>
        <p:spPr>
          <a:xfrm>
            <a:off x="1362076" y="1516063"/>
            <a:ext cx="6419850" cy="4114800"/>
          </a:xfrm>
          <a:prstGeom prst="rect">
            <a:avLst/>
          </a:prstGeom>
        </p:spPr>
      </p:pic>
    </p:spTree>
    <p:extLst>
      <p:ext uri="{BB962C8B-B14F-4D97-AF65-F5344CB8AC3E}">
        <p14:creationId xmlns:p14="http://schemas.microsoft.com/office/powerpoint/2010/main" val="11688319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Shared </a:t>
            </a:r>
            <a:r>
              <a:rPr lang="en-US" altLang="zh-TW" sz="3600" dirty="0">
                <a:latin typeface="Times New Roman" panose="02020603050405020304" pitchFamily="18" charset="0"/>
                <a:cs typeface="Times New Roman" panose="02020603050405020304" pitchFamily="18" charset="0"/>
              </a:rPr>
              <a:t>V</a:t>
            </a:r>
            <a:r>
              <a:rPr lang="en-US" altLang="zh-TW" sz="3600" dirty="0" smtClean="0">
                <a:latin typeface="Times New Roman" panose="02020603050405020304" pitchFamily="18" charset="0"/>
                <a:cs typeface="Times New Roman" panose="02020603050405020304" pitchFamily="18" charset="0"/>
              </a:rPr>
              <a:t>irtual Memory</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238991" y="1125538"/>
            <a:ext cx="8686799" cy="4895850"/>
          </a:xfrm>
        </p:spPr>
        <p:txBody>
          <a:bodyPr/>
          <a:lstStyle/>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Allow HSA agent</a:t>
            </a:r>
          </a:p>
          <a:p>
            <a:pPr marL="0" indent="0">
              <a:buNone/>
            </a:pPr>
            <a:r>
              <a:rPr lang="en-US" altLang="zh-TW" sz="2400" dirty="0" smtClean="0">
                <a:latin typeface="Times New Roman" panose="02020603050405020304" pitchFamily="18" charset="0"/>
                <a:cs typeface="Times New Roman" panose="02020603050405020304" pitchFamily="18" charset="0"/>
              </a:rPr>
              <a:t> (not </a:t>
            </a:r>
            <a:r>
              <a:rPr lang="en-US" altLang="zh-TW" sz="2400" dirty="0">
                <a:latin typeface="Times New Roman" panose="02020603050405020304" pitchFamily="18" charset="0"/>
                <a:cs typeface="Times New Roman" panose="02020603050405020304" pitchFamily="18" charset="0"/>
              </a:rPr>
              <a:t>limited to </a:t>
            </a:r>
            <a:r>
              <a:rPr lang="en-US" altLang="zh-TW" sz="2400" dirty="0" smtClean="0">
                <a:latin typeface="Times New Roman" panose="02020603050405020304" pitchFamily="18" charset="0"/>
                <a:cs typeface="Times New Roman" panose="02020603050405020304" pitchFamily="18" charset="0"/>
              </a:rPr>
              <a:t>HSA </a:t>
            </a:r>
            <a:r>
              <a:rPr lang="en-US" altLang="zh-TW" sz="2400" dirty="0">
                <a:latin typeface="Times New Roman" panose="02020603050405020304" pitchFamily="18" charset="0"/>
                <a:cs typeface="Times New Roman" panose="02020603050405020304" pitchFamily="18" charset="0"/>
              </a:rPr>
              <a:t>components and host compute </a:t>
            </a:r>
            <a:r>
              <a:rPr lang="en-US" altLang="zh-TW" sz="2400" dirty="0" smtClean="0">
                <a:latin typeface="Times New Roman" panose="02020603050405020304" pitchFamily="18" charset="0"/>
                <a:cs typeface="Times New Roman" panose="02020603050405020304" pitchFamily="18" charset="0"/>
              </a:rPr>
              <a:t>unit)</a:t>
            </a:r>
          </a:p>
          <a:p>
            <a:pPr marL="0" indent="0">
              <a:buNone/>
            </a:pPr>
            <a:r>
              <a:rPr lang="en-US" altLang="zh-TW" sz="2400" dirty="0" smtClean="0">
                <a:latin typeface="Times New Roman" panose="02020603050405020304" pitchFamily="18" charset="0"/>
                <a:cs typeface="Times New Roman" panose="02020603050405020304" pitchFamily="18" charset="0"/>
              </a:rPr>
              <a:t>using </a:t>
            </a:r>
            <a:r>
              <a:rPr lang="en-US" altLang="zh-TW" sz="2400" dirty="0">
                <a:latin typeface="Times New Roman" panose="02020603050405020304" pitchFamily="18" charset="0"/>
                <a:cs typeface="Times New Roman" panose="02020603050405020304" pitchFamily="18" charset="0"/>
              </a:rPr>
              <a:t>common virtual address to access shared virtual address</a:t>
            </a:r>
            <a:r>
              <a:rPr lang="en-US" altLang="zh-TW" sz="2400" dirty="0" smtClean="0">
                <a:latin typeface="Times New Roman" panose="02020603050405020304" pitchFamily="18" charset="0"/>
                <a:cs typeface="Times New Roman" panose="02020603050405020304" pitchFamily="18" charset="0"/>
              </a:rPr>
              <a:t>.</a:t>
            </a:r>
          </a:p>
          <a:p>
            <a:pPr marL="0" indent="0">
              <a:buNone/>
            </a:pPr>
            <a:endParaRPr lang="en-US" altLang="zh-TW" sz="2400" dirty="0" smtClean="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Support minimum virtual address width</a:t>
            </a:r>
          </a:p>
          <a:p>
            <a:pPr marL="0" indent="0">
              <a:buNone/>
            </a:pPr>
            <a:r>
              <a:rPr lang="en-US" altLang="zh-TW"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sym typeface="Wingdings" panose="05000000000000000000" pitchFamily="2" charset="2"/>
              </a:rPr>
              <a:t> 48bits for 64-bit </a:t>
            </a:r>
            <a:r>
              <a:rPr lang="en-US" altLang="zh-TW" sz="2400" dirty="0" smtClean="0">
                <a:latin typeface="Times New Roman" panose="02020603050405020304" pitchFamily="18" charset="0"/>
                <a:cs typeface="Times New Roman" panose="02020603050405020304" pitchFamily="18" charset="0"/>
                <a:sym typeface="Wingdings" panose="05000000000000000000" pitchFamily="2" charset="2"/>
              </a:rPr>
              <a:t>HSA system.</a:t>
            </a:r>
          </a:p>
          <a:p>
            <a:pPr marL="0" indent="0">
              <a:buNone/>
            </a:pPr>
            <a:r>
              <a:rPr lang="en-US" altLang="zh-TW" sz="2400" dirty="0">
                <a:latin typeface="Times New Roman" panose="02020603050405020304" pitchFamily="18" charset="0"/>
                <a:cs typeface="Times New Roman" panose="02020603050405020304" pitchFamily="18" charset="0"/>
                <a:sym typeface="Wingdings" panose="05000000000000000000" pitchFamily="2" charset="2"/>
              </a:rPr>
              <a:t> </a:t>
            </a:r>
            <a:r>
              <a:rPr lang="en-US" altLang="zh-TW" sz="2400" dirty="0" smtClean="0">
                <a:latin typeface="Times New Roman" panose="02020603050405020304" pitchFamily="18" charset="0"/>
                <a:cs typeface="Times New Roman" panose="02020603050405020304" pitchFamily="18" charset="0"/>
                <a:sym typeface="Wingdings" panose="05000000000000000000" pitchFamily="2" charset="2"/>
              </a:rPr>
              <a:t>      </a:t>
            </a:r>
            <a:r>
              <a:rPr lang="en-US" altLang="zh-TW" sz="2400" dirty="0">
                <a:latin typeface="Times New Roman" panose="02020603050405020304" pitchFamily="18" charset="0"/>
                <a:cs typeface="Times New Roman" panose="02020603050405020304" pitchFamily="18" charset="0"/>
                <a:sym typeface="Wingdings" panose="05000000000000000000" pitchFamily="2" charset="2"/>
              </a:rPr>
              <a:t>32bits for 32-bit HSA system.</a:t>
            </a:r>
          </a:p>
        </p:txBody>
      </p:sp>
    </p:spTree>
    <p:extLst>
      <p:ext uri="{BB962C8B-B14F-4D97-AF65-F5344CB8AC3E}">
        <p14:creationId xmlns:p14="http://schemas.microsoft.com/office/powerpoint/2010/main" val="20640133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Shared </a:t>
            </a:r>
            <a:r>
              <a:rPr lang="en-US" altLang="zh-TW" sz="3600" dirty="0">
                <a:latin typeface="Times New Roman" panose="02020603050405020304" pitchFamily="18" charset="0"/>
                <a:cs typeface="Times New Roman" panose="02020603050405020304" pitchFamily="18" charset="0"/>
              </a:rPr>
              <a:t>V</a:t>
            </a:r>
            <a:r>
              <a:rPr lang="en-US" altLang="zh-TW" sz="3600" dirty="0" smtClean="0">
                <a:latin typeface="Times New Roman" panose="02020603050405020304" pitchFamily="18" charset="0"/>
                <a:cs typeface="Times New Roman" panose="02020603050405020304" pitchFamily="18" charset="0"/>
              </a:rPr>
              <a:t>irtual Memory</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238991" y="1125538"/>
            <a:ext cx="8686799" cy="4895850"/>
          </a:xfrm>
        </p:spPr>
        <p:txBody>
          <a:bodyPr/>
          <a:lstStyle/>
          <a:p>
            <a:r>
              <a:rPr lang="en-US" altLang="zh-TW" sz="2400" dirty="0" err="1" smtClean="0">
                <a:latin typeface="Times New Roman" panose="02020603050405020304" pitchFamily="18" charset="0"/>
                <a:cs typeface="Times New Roman" panose="02020603050405020304" pitchFamily="18" charset="0"/>
                <a:sym typeface="Wingdings" panose="05000000000000000000" pitchFamily="2" charset="2"/>
              </a:rPr>
              <a:t>Workitem</a:t>
            </a:r>
            <a:r>
              <a:rPr lang="en-US" altLang="zh-TW" sz="2400" dirty="0" smtClean="0">
                <a:latin typeface="Times New Roman" panose="02020603050405020304" pitchFamily="18" charset="0"/>
                <a:cs typeface="Times New Roman" panose="02020603050405020304" pitchFamily="18" charset="0"/>
                <a:sym typeface="Wingdings" panose="05000000000000000000" pitchFamily="2" charset="2"/>
              </a:rPr>
              <a:t> </a:t>
            </a:r>
            <a:r>
              <a:rPr lang="en-US" altLang="zh-TW" sz="2400" dirty="0">
                <a:latin typeface="Times New Roman" panose="02020603050405020304" pitchFamily="18" charset="0"/>
                <a:cs typeface="Times New Roman" panose="02020603050405020304" pitchFamily="18" charset="0"/>
                <a:sym typeface="Wingdings" panose="05000000000000000000" pitchFamily="2" charset="2"/>
              </a:rPr>
              <a:t>or </a:t>
            </a:r>
            <a:r>
              <a:rPr lang="en-US" altLang="zh-TW" sz="2400" dirty="0" err="1">
                <a:latin typeface="Times New Roman" panose="02020603050405020304" pitchFamily="18" charset="0"/>
                <a:cs typeface="Times New Roman" panose="02020603050405020304" pitchFamily="18" charset="0"/>
                <a:sym typeface="Wingdings" panose="05000000000000000000" pitchFamily="2" charset="2"/>
              </a:rPr>
              <a:t>WorkGroup</a:t>
            </a:r>
            <a:r>
              <a:rPr lang="en-US" altLang="zh-TW" sz="2400" dirty="0">
                <a:latin typeface="Times New Roman" panose="02020603050405020304" pitchFamily="18" charset="0"/>
                <a:cs typeface="Times New Roman" panose="02020603050405020304" pitchFamily="18" charset="0"/>
                <a:sym typeface="Wingdings" panose="05000000000000000000" pitchFamily="2" charset="2"/>
              </a:rPr>
              <a:t> </a:t>
            </a:r>
            <a:r>
              <a:rPr lang="en-US" altLang="zh-TW" sz="2400" dirty="0" smtClean="0">
                <a:latin typeface="Times New Roman" panose="02020603050405020304" pitchFamily="18" charset="0"/>
                <a:cs typeface="Times New Roman" panose="02020603050405020304" pitchFamily="18" charset="0"/>
                <a:sym typeface="Wingdings" panose="05000000000000000000" pitchFamily="2" charset="2"/>
              </a:rPr>
              <a:t>memory:</a:t>
            </a:r>
          </a:p>
          <a:p>
            <a:endParaRPr lang="en-US" altLang="zh-TW" sz="2400" dirty="0" smtClean="0">
              <a:latin typeface="Times New Roman" panose="02020603050405020304" pitchFamily="18" charset="0"/>
              <a:cs typeface="Times New Roman" panose="02020603050405020304" pitchFamily="18" charset="0"/>
              <a:sym typeface="Wingdings" panose="05000000000000000000" pitchFamily="2" charset="2"/>
            </a:endParaRPr>
          </a:p>
          <a:p>
            <a:pPr lvl="1"/>
            <a:r>
              <a:rPr lang="en-US" altLang="zh-TW" sz="2400" dirty="0">
                <a:latin typeface="Times New Roman" panose="02020603050405020304" pitchFamily="18" charset="0"/>
                <a:cs typeface="Times New Roman" panose="02020603050405020304" pitchFamily="18" charset="0"/>
                <a:sym typeface="Wingdings" panose="05000000000000000000" pitchFamily="2" charset="2"/>
              </a:rPr>
              <a:t>reserve virtual address ranges through system software.</a:t>
            </a:r>
          </a:p>
          <a:p>
            <a:pPr lvl="1"/>
            <a:endParaRPr lang="en-US" altLang="zh-TW" sz="2400" dirty="0">
              <a:latin typeface="Times New Roman" panose="02020603050405020304" pitchFamily="18" charset="0"/>
              <a:cs typeface="Times New Roman" panose="02020603050405020304" pitchFamily="18" charset="0"/>
              <a:sym typeface="Wingdings" panose="05000000000000000000" pitchFamily="2" charset="2"/>
            </a:endParaRPr>
          </a:p>
          <a:p>
            <a:pPr lvl="1"/>
            <a:r>
              <a:rPr lang="en-US" altLang="zh-TW" sz="2400" dirty="0">
                <a:latin typeface="Times New Roman" panose="02020603050405020304" pitchFamily="18" charset="0"/>
                <a:cs typeface="Times New Roman" panose="02020603050405020304" pitchFamily="18" charset="0"/>
                <a:sym typeface="Wingdings" panose="05000000000000000000" pitchFamily="2" charset="2"/>
              </a:rPr>
              <a:t>must be discoverable or configurable by system software.</a:t>
            </a:r>
          </a:p>
          <a:p>
            <a:pPr lvl="1"/>
            <a:endParaRPr lang="en-US" altLang="zh-TW" sz="2400" dirty="0">
              <a:latin typeface="Times New Roman" panose="02020603050405020304" pitchFamily="18" charset="0"/>
              <a:cs typeface="Times New Roman" panose="02020603050405020304" pitchFamily="18" charset="0"/>
              <a:sym typeface="Wingdings" panose="05000000000000000000" pitchFamily="2" charset="2"/>
            </a:endParaRPr>
          </a:p>
          <a:p>
            <a:pPr lvl="1"/>
            <a:r>
              <a:rPr lang="en-US" altLang="zh-TW" sz="2400" dirty="0">
                <a:latin typeface="Times New Roman" panose="02020603050405020304" pitchFamily="18" charset="0"/>
                <a:cs typeface="Times New Roman" panose="02020603050405020304" pitchFamily="18" charset="0"/>
                <a:sym typeface="Wingdings" panose="05000000000000000000" pitchFamily="2" charset="2"/>
              </a:rPr>
              <a:t>access within this ranges may be directed to non-shared memory.</a:t>
            </a:r>
          </a:p>
        </p:txBody>
      </p:sp>
    </p:spTree>
    <p:extLst>
      <p:ext uri="{BB962C8B-B14F-4D97-AF65-F5344CB8AC3E}">
        <p14:creationId xmlns:p14="http://schemas.microsoft.com/office/powerpoint/2010/main" val="11400017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latin typeface="Times New Roman" panose="02020603050405020304" pitchFamily="18" charset="0"/>
                <a:cs typeface="Times New Roman" panose="02020603050405020304" pitchFamily="18" charset="0"/>
              </a:rPr>
              <a:t>Shared Virtual </a:t>
            </a:r>
            <a:r>
              <a:rPr lang="en-US" altLang="zh-TW" sz="3600" dirty="0" smtClean="0">
                <a:latin typeface="Times New Roman" panose="02020603050405020304" pitchFamily="18" charset="0"/>
                <a:cs typeface="Times New Roman" panose="02020603050405020304" pitchFamily="18" charset="0"/>
              </a:rPr>
              <a:t>Memory(cont.)</a:t>
            </a:r>
            <a:endParaRPr lang="zh-TW" altLang="en-US" sz="3600" dirty="0"/>
          </a:p>
        </p:txBody>
      </p:sp>
      <p:sp>
        <p:nvSpPr>
          <p:cNvPr id="3" name="內容版面配置區 2"/>
          <p:cNvSpPr>
            <a:spLocks noGrp="1"/>
          </p:cNvSpPr>
          <p:nvPr>
            <p:ph idx="1"/>
          </p:nvPr>
        </p:nvSpPr>
        <p:spPr/>
        <p:txBody>
          <a:bodyPr/>
          <a:lstStyle/>
          <a:p>
            <a:pPr marL="342900" lvl="1" indent="-342900">
              <a:buFont typeface="Wingdings" panose="05000000000000000000" pitchFamily="2" charset="2"/>
              <a:buChar char="l"/>
            </a:pPr>
            <a:r>
              <a:rPr lang="en-US" altLang="zh-TW" sz="2400" dirty="0">
                <a:latin typeface="Times New Roman" panose="02020603050405020304" pitchFamily="18" charset="0"/>
                <a:cs typeface="Times New Roman" panose="02020603050405020304" pitchFamily="18" charset="0"/>
                <a:sym typeface="Wingdings" panose="05000000000000000000" pitchFamily="2" charset="2"/>
              </a:rPr>
              <a:t>System can`t allocate pages  for accessing in this non-shareable regions.</a:t>
            </a:r>
          </a:p>
          <a:p>
            <a:pPr marL="0" lvl="1" indent="0">
              <a:buNone/>
            </a:pPr>
            <a:endParaRPr lang="en-US" altLang="zh-TW" sz="2400" dirty="0">
              <a:latin typeface="Times New Roman" panose="02020603050405020304" pitchFamily="18" charset="0"/>
              <a:cs typeface="Times New Roman" panose="02020603050405020304" pitchFamily="18" charset="0"/>
              <a:sym typeface="Wingdings" panose="05000000000000000000" pitchFamily="2" charset="2"/>
            </a:endParaRPr>
          </a:p>
          <a:p>
            <a:pPr marL="342900" lvl="1" indent="-342900">
              <a:buFont typeface="Wingdings" panose="05000000000000000000" pitchFamily="2" charset="2"/>
              <a:buChar char="l"/>
            </a:pPr>
            <a:r>
              <a:rPr lang="en-US" altLang="zh-TW" sz="2400" dirty="0">
                <a:latin typeface="Times New Roman" panose="02020603050405020304" pitchFamily="18" charset="0"/>
                <a:cs typeface="Times New Roman" panose="02020603050405020304" pitchFamily="18" charset="0"/>
                <a:sym typeface="Wingdings" panose="05000000000000000000" pitchFamily="2" charset="2"/>
              </a:rPr>
              <a:t>Using shadowed page table is permitted.</a:t>
            </a:r>
          </a:p>
          <a:p>
            <a:pPr marL="0" lvl="1" indent="0">
              <a:buNone/>
            </a:pPr>
            <a:endParaRPr lang="en-US" altLang="zh-TW" sz="2400" dirty="0">
              <a:latin typeface="Times New Roman" panose="02020603050405020304" pitchFamily="18" charset="0"/>
              <a:cs typeface="Times New Roman" panose="02020603050405020304" pitchFamily="18" charset="0"/>
              <a:sym typeface="Wingdings" panose="05000000000000000000" pitchFamily="2" charset="2"/>
            </a:endParaRPr>
          </a:p>
          <a:p>
            <a:pPr marL="342900" lvl="1" indent="-342900">
              <a:buFont typeface="Wingdings" panose="05000000000000000000" pitchFamily="2" charset="2"/>
              <a:buChar char="l"/>
            </a:pPr>
            <a:r>
              <a:rPr lang="en-US" altLang="zh-TW" sz="2400" dirty="0">
                <a:latin typeface="Times New Roman" panose="02020603050405020304" pitchFamily="18" charset="0"/>
                <a:cs typeface="Times New Roman" panose="02020603050405020304" pitchFamily="18" charset="0"/>
                <a:sym typeface="Wingdings" panose="05000000000000000000" pitchFamily="2" charset="2"/>
              </a:rPr>
              <a:t>The shadowed page table provide host system page table attributes are visible to </a:t>
            </a:r>
            <a:r>
              <a:rPr lang="en-US" altLang="zh-TW" sz="2400" dirty="0" smtClean="0">
                <a:latin typeface="Times New Roman" panose="02020603050405020304" pitchFamily="18" charset="0"/>
                <a:cs typeface="Times New Roman" panose="02020603050405020304" pitchFamily="18" charset="0"/>
                <a:sym typeface="Wingdings" panose="05000000000000000000" pitchFamily="2" charset="2"/>
              </a:rPr>
              <a:t>HSA </a:t>
            </a:r>
            <a:r>
              <a:rPr lang="en-US" altLang="zh-TW" sz="2400" dirty="0">
                <a:latin typeface="Times New Roman" panose="02020603050405020304" pitchFamily="18" charset="0"/>
                <a:cs typeface="Times New Roman" panose="02020603050405020304" pitchFamily="18" charset="0"/>
                <a:sym typeface="Wingdings" panose="05000000000000000000" pitchFamily="2" charset="2"/>
              </a:rPr>
              <a:t>agent and updates are synchronized transparently by system.</a:t>
            </a:r>
          </a:p>
          <a:p>
            <a:pPr marL="342900" lvl="1" indent="-342900">
              <a:buFont typeface="Wingdings" panose="05000000000000000000" pitchFamily="2" charset="2"/>
              <a:buChar char="l"/>
            </a:pPr>
            <a:endParaRPr lang="en-US" altLang="zh-TW" sz="2400" dirty="0">
              <a:latin typeface="Times New Roman" panose="02020603050405020304" pitchFamily="18" charset="0"/>
              <a:cs typeface="Times New Roman" panose="02020603050405020304" pitchFamily="18" charset="0"/>
              <a:sym typeface="Wingdings" panose="05000000000000000000" pitchFamily="2" charset="2"/>
            </a:endParaRPr>
          </a:p>
          <a:p>
            <a:pPr marL="342900" lvl="1" indent="-342900">
              <a:buFont typeface="Wingdings" panose="05000000000000000000" pitchFamily="2" charset="2"/>
              <a:buChar char="l"/>
            </a:pPr>
            <a:r>
              <a:rPr lang="en-US" altLang="zh-TW" sz="2400" dirty="0">
                <a:latin typeface="Times New Roman" panose="02020603050405020304" pitchFamily="18" charset="0"/>
                <a:cs typeface="Times New Roman" panose="02020603050405020304" pitchFamily="18" charset="0"/>
              </a:rPr>
              <a:t>Common set of system managed page tables should handle virtual address translation requests from all HSA agents.</a:t>
            </a:r>
          </a:p>
        </p:txBody>
      </p:sp>
    </p:spTree>
    <p:extLst>
      <p:ext uri="{BB962C8B-B14F-4D97-AF65-F5344CB8AC3E}">
        <p14:creationId xmlns:p14="http://schemas.microsoft.com/office/powerpoint/2010/main" val="11433390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latin typeface="Times New Roman" panose="02020603050405020304" pitchFamily="18" charset="0"/>
                <a:cs typeface="Times New Roman" panose="02020603050405020304" pitchFamily="18" charset="0"/>
              </a:rPr>
              <a:t>Shared Virtual Memory(cont.)</a:t>
            </a:r>
            <a:endParaRPr lang="zh-TW" altLang="en-US" sz="3600" dirty="0"/>
          </a:p>
        </p:txBody>
      </p:sp>
      <p:sp>
        <p:nvSpPr>
          <p:cNvPr id="3" name="內容版面配置區 2"/>
          <p:cNvSpPr>
            <a:spLocks noGrp="1"/>
          </p:cNvSpPr>
          <p:nvPr>
            <p:ph idx="1"/>
          </p:nvPr>
        </p:nvSpPr>
        <p:spPr/>
        <p:txBody>
          <a:bodyPr/>
          <a:lstStyle/>
          <a:p>
            <a:r>
              <a:rPr lang="en-US" altLang="zh-TW" sz="2400" dirty="0">
                <a:latin typeface="Times New Roman" panose="02020603050405020304" pitchFamily="18" charset="0"/>
                <a:cs typeface="Times New Roman" panose="02020603050405020304" pitchFamily="18" charset="0"/>
              </a:rPr>
              <a:t>Translation service shall:</a:t>
            </a:r>
          </a:p>
          <a:p>
            <a:pPr lvl="1"/>
            <a:r>
              <a:rPr lang="en-US" altLang="zh-TW" sz="2400" dirty="0" smtClean="0">
                <a:latin typeface="Times New Roman" panose="02020603050405020304" pitchFamily="18" charset="0"/>
                <a:cs typeface="Times New Roman" panose="02020603050405020304" pitchFamily="18" charset="0"/>
              </a:rPr>
              <a:t>Interpret page table attributes consistently, guarantee memory protection mechanisms, in particular:</a:t>
            </a:r>
          </a:p>
          <a:p>
            <a:pPr lvl="2">
              <a:buFont typeface="Wingdings" panose="05000000000000000000" pitchFamily="2" charset="2"/>
              <a:buChar char=""/>
            </a:pPr>
            <a:r>
              <a:rPr lang="en-US" altLang="zh-TW" sz="2400" dirty="0">
                <a:latin typeface="Times New Roman" panose="02020603050405020304" pitchFamily="18" charset="0"/>
                <a:cs typeface="Times New Roman" panose="02020603050405020304" pitchFamily="18" charset="0"/>
              </a:rPr>
              <a:t>Same page size</a:t>
            </a:r>
          </a:p>
          <a:p>
            <a:pPr lvl="2">
              <a:buFont typeface="Wingdings" panose="05000000000000000000" pitchFamily="2" charset="2"/>
              <a:buChar char=""/>
            </a:pPr>
            <a:r>
              <a:rPr lang="en-US" altLang="zh-TW" sz="2400" dirty="0" smtClean="0">
                <a:latin typeface="Times New Roman" panose="02020603050405020304" pitchFamily="18" charset="0"/>
                <a:cs typeface="Times New Roman" panose="02020603050405020304" pitchFamily="18" charset="0"/>
              </a:rPr>
              <a:t>Read/write permission</a:t>
            </a:r>
          </a:p>
          <a:p>
            <a:pPr lvl="2">
              <a:buFont typeface="Wingdings" panose="05000000000000000000" pitchFamily="2" charset="2"/>
              <a:buChar char=""/>
            </a:pPr>
            <a:r>
              <a:rPr lang="en-US" altLang="zh-TW" sz="2400" dirty="0" smtClean="0">
                <a:latin typeface="Times New Roman" panose="02020603050405020304" pitchFamily="18" charset="0"/>
                <a:cs typeface="Times New Roman" panose="02020603050405020304" pitchFamily="18" charset="0"/>
              </a:rPr>
              <a:t>Execute restrictions apply only to host compute units</a:t>
            </a:r>
          </a:p>
        </p:txBody>
      </p:sp>
    </p:spTree>
    <p:extLst>
      <p:ext uri="{BB962C8B-B14F-4D97-AF65-F5344CB8AC3E}">
        <p14:creationId xmlns:p14="http://schemas.microsoft.com/office/powerpoint/2010/main" val="19394954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latin typeface="Times New Roman" panose="02020603050405020304" pitchFamily="18" charset="0"/>
                <a:cs typeface="Times New Roman" panose="02020603050405020304" pitchFamily="18" charset="0"/>
              </a:rPr>
              <a:t>Shared Virtual Memory(cont.)</a:t>
            </a:r>
            <a:endParaRPr lang="zh-TW" altLang="en-US" sz="3600" dirty="0"/>
          </a:p>
        </p:txBody>
      </p:sp>
      <p:sp>
        <p:nvSpPr>
          <p:cNvPr id="3" name="內容版面配置區 2"/>
          <p:cNvSpPr>
            <a:spLocks noGrp="1"/>
          </p:cNvSpPr>
          <p:nvPr>
            <p:ph idx="1"/>
          </p:nvPr>
        </p:nvSpPr>
        <p:spPr/>
        <p:txBody>
          <a:bodyPr/>
          <a:lstStyle/>
          <a:p>
            <a:pPr lvl="2">
              <a:buFont typeface="Wingdings" panose="05000000000000000000" pitchFamily="2" charset="2"/>
              <a:buChar char=""/>
            </a:pPr>
            <a:r>
              <a:rPr lang="en-US" altLang="zh-TW" sz="2400" dirty="0">
                <a:latin typeface="Times New Roman" panose="02020603050405020304" pitchFamily="18" charset="0"/>
                <a:cs typeface="Times New Roman" panose="02020603050405020304" pitchFamily="18" charset="0"/>
              </a:rPr>
              <a:t>Support shared virtual memory for lowest privilege level.</a:t>
            </a:r>
            <a:br>
              <a:rPr lang="en-US" altLang="zh-TW" sz="2400" dirty="0">
                <a:latin typeface="Times New Roman" panose="02020603050405020304" pitchFamily="18" charset="0"/>
                <a:cs typeface="Times New Roman" panose="02020603050405020304" pitchFamily="18" charset="0"/>
              </a:rPr>
            </a:br>
            <a:r>
              <a:rPr lang="en-US" altLang="zh-TW" sz="2400" dirty="0">
                <a:latin typeface="Times New Roman" panose="02020603050405020304" pitchFamily="18" charset="0"/>
                <a:cs typeface="Times New Roman" panose="02020603050405020304" pitchFamily="18" charset="0"/>
              </a:rPr>
              <a:t>(higher privilege levels may be used by host operating system or hypervisor)</a:t>
            </a:r>
          </a:p>
          <a:p>
            <a:pPr lvl="2">
              <a:buFont typeface="Wingdings" panose="05000000000000000000" pitchFamily="2" charset="2"/>
              <a:buChar char=""/>
            </a:pPr>
            <a:endParaRPr lang="en-US" altLang="zh-TW" sz="2400" dirty="0" smtClean="0">
              <a:latin typeface="Times New Roman" panose="02020603050405020304" pitchFamily="18" charset="0"/>
              <a:cs typeface="Times New Roman" panose="02020603050405020304" pitchFamily="18" charset="0"/>
            </a:endParaRPr>
          </a:p>
          <a:p>
            <a:pPr lvl="2">
              <a:buFont typeface="Wingdings" panose="05000000000000000000" pitchFamily="2" charset="2"/>
              <a:buChar char=""/>
            </a:pPr>
            <a:r>
              <a:rPr lang="en-US" altLang="zh-TW" sz="2400" dirty="0" smtClean="0">
                <a:latin typeface="Times New Roman" panose="02020603050405020304" pitchFamily="18" charset="0"/>
                <a:cs typeface="Times New Roman" panose="02020603050405020304" pitchFamily="18" charset="0"/>
              </a:rPr>
              <a:t>HSA </a:t>
            </a:r>
            <a:r>
              <a:rPr lang="en-US" altLang="zh-TW" sz="2400" dirty="0">
                <a:latin typeface="Times New Roman" panose="02020603050405020304" pitchFamily="18" charset="0"/>
                <a:cs typeface="Times New Roman" panose="02020603050405020304" pitchFamily="18" charset="0"/>
              </a:rPr>
              <a:t>agent access to shared virtual memory must use only the lowest privilege level.</a:t>
            </a:r>
          </a:p>
          <a:p>
            <a:pPr lvl="2">
              <a:buFont typeface="Wingdings" panose="05000000000000000000" pitchFamily="2" charset="2"/>
              <a:buChar char=""/>
            </a:pPr>
            <a:endParaRPr lang="en-US" altLang="zh-TW" sz="2400" dirty="0" smtClean="0">
              <a:latin typeface="Times New Roman" panose="02020603050405020304" pitchFamily="18" charset="0"/>
              <a:cs typeface="Times New Roman" panose="02020603050405020304" pitchFamily="18" charset="0"/>
            </a:endParaRPr>
          </a:p>
          <a:p>
            <a:pPr lvl="2">
              <a:buFont typeface="Wingdings" panose="05000000000000000000" pitchFamily="2" charset="2"/>
              <a:buChar char=""/>
            </a:pPr>
            <a:r>
              <a:rPr lang="en-US" altLang="zh-TW" sz="2400" dirty="0" smtClean="0">
                <a:latin typeface="Times New Roman" panose="02020603050405020304" pitchFamily="18" charset="0"/>
                <a:cs typeface="Times New Roman" panose="02020603050405020304" pitchFamily="18" charset="0"/>
              </a:rPr>
              <a:t>Guarantee </a:t>
            </a:r>
            <a:r>
              <a:rPr lang="en-US" altLang="zh-TW" sz="2400" dirty="0">
                <a:latin typeface="Times New Roman" panose="02020603050405020304" pitchFamily="18" charset="0"/>
                <a:cs typeface="Times New Roman" panose="02020603050405020304" pitchFamily="18" charset="0"/>
              </a:rPr>
              <a:t>flags to track read/write access from </a:t>
            </a:r>
            <a:r>
              <a:rPr lang="en-US" altLang="zh-TW" sz="2400" dirty="0" smtClean="0">
                <a:latin typeface="Times New Roman" panose="02020603050405020304" pitchFamily="18" charset="0"/>
                <a:cs typeface="Times New Roman" panose="02020603050405020304" pitchFamily="18" charset="0"/>
              </a:rPr>
              <a:t>HSA </a:t>
            </a:r>
            <a:r>
              <a:rPr lang="en-US" altLang="zh-TW" sz="2400" dirty="0">
                <a:latin typeface="Times New Roman" panose="02020603050405020304" pitchFamily="18" charset="0"/>
                <a:cs typeface="Times New Roman" panose="02020603050405020304" pitchFamily="18" charset="0"/>
              </a:rPr>
              <a:t>agent.</a:t>
            </a:r>
          </a:p>
          <a:p>
            <a:pPr lvl="2">
              <a:buFont typeface="Wingdings" panose="05000000000000000000" pitchFamily="2" charset="2"/>
              <a:buChar char=""/>
            </a:pPr>
            <a:endParaRPr lang="en-US" altLang="zh-TW" sz="2400" dirty="0" smtClean="0">
              <a:latin typeface="Times New Roman" panose="02020603050405020304" pitchFamily="18" charset="0"/>
              <a:cs typeface="Times New Roman" panose="02020603050405020304" pitchFamily="18" charset="0"/>
            </a:endParaRPr>
          </a:p>
          <a:p>
            <a:pPr lvl="2">
              <a:buFont typeface="Wingdings" panose="05000000000000000000" pitchFamily="2" charset="2"/>
              <a:buChar char=""/>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04654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latin typeface="Times New Roman" panose="02020603050405020304" pitchFamily="18" charset="0"/>
                <a:cs typeface="Times New Roman" panose="02020603050405020304" pitchFamily="18" charset="0"/>
              </a:rPr>
              <a:t>Shared Virtual Memory(cont.)</a:t>
            </a:r>
            <a:endParaRPr lang="zh-TW" altLang="en-US" sz="3600" dirty="0"/>
          </a:p>
        </p:txBody>
      </p:sp>
      <p:sp>
        <p:nvSpPr>
          <p:cNvPr id="3" name="內容版面配置區 2"/>
          <p:cNvSpPr>
            <a:spLocks noGrp="1"/>
          </p:cNvSpPr>
          <p:nvPr>
            <p:ph idx="1"/>
          </p:nvPr>
        </p:nvSpPr>
        <p:spPr>
          <a:xfrm>
            <a:off x="457201" y="1059873"/>
            <a:ext cx="8229600" cy="4878388"/>
          </a:xfrm>
        </p:spPr>
        <p:txBody>
          <a:bodyPr/>
          <a:lstStyle/>
          <a:p>
            <a:pPr lvl="2">
              <a:buFont typeface="Wingdings" panose="05000000000000000000" pitchFamily="2" charset="2"/>
              <a:buChar char=""/>
            </a:pPr>
            <a:r>
              <a:rPr lang="en-US" altLang="zh-TW" sz="2400" dirty="0">
                <a:latin typeface="Times New Roman" panose="02020603050405020304" pitchFamily="18" charset="0"/>
                <a:cs typeface="Times New Roman" panose="02020603050405020304" pitchFamily="18" charset="0"/>
              </a:rPr>
              <a:t>Need the same interpretation of </a:t>
            </a:r>
            <a:r>
              <a:rPr lang="en-US" altLang="zh-TW" sz="2400" dirty="0" err="1">
                <a:latin typeface="Times New Roman" panose="02020603050405020304" pitchFamily="18" charset="0"/>
                <a:cs typeface="Times New Roman" panose="02020603050405020304" pitchFamily="18" charset="0"/>
              </a:rPr>
              <a:t>cacheability</a:t>
            </a:r>
            <a:r>
              <a:rPr lang="en-US" altLang="zh-TW" sz="2400" dirty="0">
                <a:latin typeface="Times New Roman" panose="02020603050405020304" pitchFamily="18" charset="0"/>
                <a:cs typeface="Times New Roman" panose="02020603050405020304" pitchFamily="18" charset="0"/>
              </a:rPr>
              <a:t> and data coherency properties for main memory type.</a:t>
            </a:r>
          </a:p>
          <a:p>
            <a:pPr lvl="2">
              <a:buFont typeface="Wingdings" panose="05000000000000000000" pitchFamily="2" charset="2"/>
              <a:buChar char=""/>
            </a:pPr>
            <a:endParaRPr lang="en-US" altLang="zh-TW" sz="2400" dirty="0" smtClean="0">
              <a:latin typeface="Times New Roman" panose="02020603050405020304" pitchFamily="18" charset="0"/>
              <a:cs typeface="Times New Roman" panose="02020603050405020304" pitchFamily="18" charset="0"/>
            </a:endParaRPr>
          </a:p>
          <a:p>
            <a:pPr lvl="2">
              <a:buFont typeface="Wingdings" panose="05000000000000000000" pitchFamily="2" charset="2"/>
              <a:buChar char=""/>
            </a:pPr>
            <a:r>
              <a:rPr lang="en-US" altLang="zh-TW" sz="2400" dirty="0" smtClean="0">
                <a:latin typeface="Times New Roman" panose="02020603050405020304" pitchFamily="18" charset="0"/>
                <a:cs typeface="Times New Roman" panose="02020603050405020304" pitchFamily="18" charset="0"/>
              </a:rPr>
              <a:t>Same </a:t>
            </a:r>
            <a:r>
              <a:rPr lang="en-US" altLang="zh-TW" sz="2400" dirty="0">
                <a:latin typeface="Times New Roman" panose="02020603050405020304" pitchFamily="18" charset="0"/>
                <a:cs typeface="Times New Roman" panose="02020603050405020304" pitchFamily="18" charset="0"/>
              </a:rPr>
              <a:t>interpretation of speculation permission properties</a:t>
            </a:r>
            <a:r>
              <a:rPr lang="en-US" altLang="zh-TW" sz="2400" dirty="0" smtClean="0">
                <a:latin typeface="Times New Roman" panose="02020603050405020304" pitchFamily="18" charset="0"/>
                <a:cs typeface="Times New Roman" panose="02020603050405020304" pitchFamily="18" charset="0"/>
              </a:rPr>
              <a:t>.</a:t>
            </a:r>
          </a:p>
          <a:p>
            <a:pPr lvl="2">
              <a:buFont typeface="Wingdings" panose="05000000000000000000" pitchFamily="2" charset="2"/>
              <a:buChar char=""/>
            </a:pPr>
            <a:endParaRPr lang="zh-TW" altLang="en-US" sz="24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
            </a:pPr>
            <a:r>
              <a:rPr lang="en-US" altLang="zh-TW" sz="2400" dirty="0">
                <a:latin typeface="Times New Roman" panose="02020603050405020304" pitchFamily="18" charset="0"/>
                <a:cs typeface="Times New Roman" panose="02020603050405020304" pitchFamily="18" charset="0"/>
              </a:rPr>
              <a:t>Interpret all memory type in common way and same way as host compute unit, with following caveats: </a:t>
            </a:r>
          </a:p>
          <a:p>
            <a:pPr lvl="3">
              <a:buFont typeface="標楷體" panose="03000509000000000000" pitchFamily="65" charset="-120"/>
              <a:buChar char="。"/>
            </a:pPr>
            <a:r>
              <a:rPr lang="en-US" altLang="zh-TW" sz="2400" dirty="0">
                <a:latin typeface="Times New Roman" panose="02020603050405020304" pitchFamily="18" charset="0"/>
                <a:cs typeface="Times New Roman" panose="02020603050405020304" pitchFamily="18" charset="0"/>
              </a:rPr>
              <a:t>There is no requirement of same interpretation of end-point ordering properties, observation ordering properties and multi-copy atomicity properties.</a:t>
            </a:r>
          </a:p>
          <a:p>
            <a:pPr lvl="3">
              <a:buFont typeface="標楷體" panose="03000509000000000000" pitchFamily="65" charset="-120"/>
              <a:buChar char="。"/>
            </a:pPr>
            <a:r>
              <a:rPr lang="en-US" altLang="zh-TW" sz="2400" dirty="0">
                <a:latin typeface="Times New Roman" panose="02020603050405020304" pitchFamily="18" charset="0"/>
                <a:cs typeface="Times New Roman" panose="02020603050405020304" pitchFamily="18" charset="0"/>
              </a:rPr>
              <a:t>Any memory type other than main memory type can either fit above caveats or generate a memory fault.</a:t>
            </a:r>
          </a:p>
          <a:p>
            <a:pPr lvl="2">
              <a:buFont typeface="Wingdings" panose="05000000000000000000" pitchFamily="2" charset="2"/>
              <a:buChar char=""/>
            </a:pPr>
            <a:endParaRPr lang="en-US" altLang="zh-TW" sz="2400" dirty="0" smtClean="0">
              <a:latin typeface="Times New Roman" panose="02020603050405020304" pitchFamily="18" charset="0"/>
              <a:cs typeface="Times New Roman" panose="02020603050405020304" pitchFamily="18" charset="0"/>
            </a:endParaRPr>
          </a:p>
          <a:p>
            <a:pPr marL="685800" lvl="2" indent="0">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05387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latin typeface="Times New Roman" panose="02020603050405020304" pitchFamily="18" charset="0"/>
                <a:cs typeface="Times New Roman" panose="02020603050405020304" pitchFamily="18" charset="0"/>
              </a:rPr>
              <a:t>Shared Virtual Memory(cont.)</a:t>
            </a:r>
            <a:endParaRPr lang="zh-TW" altLang="en-US" sz="3600" dirty="0"/>
          </a:p>
        </p:txBody>
      </p:sp>
      <p:sp>
        <p:nvSpPr>
          <p:cNvPr id="3" name="內容版面配置區 2"/>
          <p:cNvSpPr>
            <a:spLocks noGrp="1"/>
          </p:cNvSpPr>
          <p:nvPr>
            <p:ph idx="1"/>
          </p:nvPr>
        </p:nvSpPr>
        <p:spPr>
          <a:xfrm>
            <a:off x="457201" y="1059873"/>
            <a:ext cx="8229600" cy="4878388"/>
          </a:xfrm>
        </p:spPr>
        <p:txBody>
          <a:bodyPr/>
          <a:lstStyle/>
          <a:p>
            <a:pPr lvl="2">
              <a:buFont typeface="Wingdings" panose="05000000000000000000" pitchFamily="2" charset="2"/>
              <a:buChar char=""/>
            </a:pPr>
            <a:endParaRPr lang="en-US" altLang="zh-TW" sz="2400" dirty="0" smtClean="0">
              <a:latin typeface="Times New Roman" panose="02020603050405020304" pitchFamily="18" charset="0"/>
              <a:cs typeface="Times New Roman" panose="02020603050405020304" pitchFamily="18" charset="0"/>
            </a:endParaRPr>
          </a:p>
          <a:p>
            <a:pPr lvl="2">
              <a:buFont typeface="Wingdings" panose="05000000000000000000" pitchFamily="2" charset="2"/>
              <a:buChar char=""/>
            </a:pPr>
            <a:r>
              <a:rPr lang="en-US" altLang="zh-TW" sz="2400" dirty="0" smtClean="0">
                <a:latin typeface="Times New Roman" panose="02020603050405020304" pitchFamily="18" charset="0"/>
                <a:cs typeface="Times New Roman" panose="02020603050405020304" pitchFamily="18" charset="0"/>
              </a:rPr>
              <a:t>Interpret other </a:t>
            </a:r>
            <a:r>
              <a:rPr lang="en-US" altLang="zh-TW" sz="2400" dirty="0">
                <a:latin typeface="Times New Roman" panose="02020603050405020304" pitchFamily="18" charset="0"/>
                <a:cs typeface="Times New Roman" panose="02020603050405020304" pitchFamily="18" charset="0"/>
              </a:rPr>
              <a:t>memory </a:t>
            </a:r>
            <a:r>
              <a:rPr lang="en-US" altLang="zh-TW" sz="2400" dirty="0" smtClean="0">
                <a:latin typeface="Times New Roman" panose="02020603050405020304" pitchFamily="18" charset="0"/>
                <a:cs typeface="Times New Roman" panose="02020603050405020304" pitchFamily="18" charset="0"/>
              </a:rPr>
              <a:t>type can either follow the above condition or generate a memory fault on use of that memory type.</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16254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latin typeface="Times New Roman" panose="02020603050405020304" pitchFamily="18" charset="0"/>
                <a:cs typeface="Times New Roman" panose="02020603050405020304" pitchFamily="18" charset="0"/>
              </a:rPr>
              <a:t>Shared Virtual Memory(cont.)</a:t>
            </a:r>
            <a:endParaRPr lang="zh-TW" altLang="en-US" sz="3600" dirty="0"/>
          </a:p>
        </p:txBody>
      </p:sp>
      <p:sp>
        <p:nvSpPr>
          <p:cNvPr id="3" name="內容版面配置區 2"/>
          <p:cNvSpPr>
            <a:spLocks noGrp="1"/>
          </p:cNvSpPr>
          <p:nvPr>
            <p:ph idx="1"/>
          </p:nvPr>
        </p:nvSpPr>
        <p:spPr>
          <a:xfrm>
            <a:off x="457201" y="1059873"/>
            <a:ext cx="8229600" cy="4878388"/>
          </a:xfrm>
        </p:spPr>
        <p:txBody>
          <a:bodyPr/>
          <a:lstStyle/>
          <a:p>
            <a:pPr lvl="1"/>
            <a:endParaRPr lang="en-US" altLang="zh-TW" sz="2400" dirty="0" smtClean="0">
              <a:latin typeface="Times New Roman" panose="02020603050405020304" pitchFamily="18" charset="0"/>
              <a:cs typeface="Times New Roman" panose="02020603050405020304" pitchFamily="18" charset="0"/>
            </a:endParaRPr>
          </a:p>
          <a:p>
            <a:pPr lvl="1"/>
            <a:r>
              <a:rPr lang="en-US" altLang="zh-TW" sz="2400" dirty="0" smtClean="0">
                <a:latin typeface="Times New Roman" panose="02020603050405020304" pitchFamily="18" charset="0"/>
                <a:cs typeface="Times New Roman" panose="02020603050405020304" pitchFamily="18" charset="0"/>
              </a:rPr>
              <a:t>Provide mechanism to notify system software translation fault. Notification shall include virtual address and a device tag to identify HSA agent issued the translation request.</a:t>
            </a:r>
          </a:p>
          <a:p>
            <a:pPr lvl="1"/>
            <a:endParaRPr lang="en-US" altLang="zh-TW" sz="2400" dirty="0" smtClean="0">
              <a:latin typeface="Times New Roman" panose="02020603050405020304" pitchFamily="18" charset="0"/>
              <a:cs typeface="Times New Roman" panose="02020603050405020304" pitchFamily="18" charset="0"/>
            </a:endParaRPr>
          </a:p>
          <a:p>
            <a:pPr lvl="1"/>
            <a:endParaRPr lang="en-US" altLang="zh-TW" sz="2400" dirty="0">
              <a:latin typeface="Times New Roman" panose="02020603050405020304" pitchFamily="18" charset="0"/>
              <a:cs typeface="Times New Roman" panose="02020603050405020304" pitchFamily="18" charset="0"/>
            </a:endParaRPr>
          </a:p>
          <a:p>
            <a:pPr lvl="1"/>
            <a:r>
              <a:rPr lang="en-US" altLang="zh-TW" sz="2400" dirty="0" smtClean="0">
                <a:latin typeface="Times New Roman" panose="02020603050405020304" pitchFamily="18" charset="0"/>
                <a:cs typeface="Times New Roman" panose="02020603050405020304" pitchFamily="18" charset="0"/>
              </a:rPr>
              <a:t>Provide </a:t>
            </a:r>
            <a:r>
              <a:rPr lang="en-US" altLang="zh-TW" sz="2400" dirty="0">
                <a:latin typeface="Times New Roman" panose="02020603050405020304" pitchFamily="18" charset="0"/>
                <a:cs typeface="Times New Roman" panose="02020603050405020304" pitchFamily="18" charset="0"/>
              </a:rPr>
              <a:t>mechanism to handle a recoverable translation fault. System should initiate to retry a fault address translation  request.</a:t>
            </a:r>
          </a:p>
        </p:txBody>
      </p:sp>
    </p:spTree>
    <p:extLst>
      <p:ext uri="{BB962C8B-B14F-4D97-AF65-F5344CB8AC3E}">
        <p14:creationId xmlns:p14="http://schemas.microsoft.com/office/powerpoint/2010/main" val="15059056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latin typeface="Times New Roman" panose="02020603050405020304" pitchFamily="18" charset="0"/>
                <a:cs typeface="Times New Roman" panose="02020603050405020304" pitchFamily="18" charset="0"/>
              </a:rPr>
              <a:t>Shared Virtual Memory(cont.)</a:t>
            </a:r>
            <a:endParaRPr lang="zh-TW" altLang="en-US" sz="3600" dirty="0"/>
          </a:p>
        </p:txBody>
      </p:sp>
      <p:sp>
        <p:nvSpPr>
          <p:cNvPr id="3" name="內容版面配置區 2"/>
          <p:cNvSpPr>
            <a:spLocks noGrp="1"/>
          </p:cNvSpPr>
          <p:nvPr>
            <p:ph idx="1"/>
          </p:nvPr>
        </p:nvSpPr>
        <p:spPr/>
        <p:txBody>
          <a:bodyPr/>
          <a:lstStyle/>
          <a:p>
            <a:pPr lvl="1"/>
            <a:r>
              <a:rPr lang="en-US" altLang="zh-TW" sz="2400" dirty="0">
                <a:latin typeface="Times New Roman" panose="02020603050405020304" pitchFamily="18" charset="0"/>
                <a:cs typeface="Times New Roman" panose="02020603050405020304" pitchFamily="18" charset="0"/>
              </a:rPr>
              <a:t>Provide Process Address Space ID(PASID) concept to service separate, per-process virtual address space within the system.</a:t>
            </a:r>
          </a:p>
          <a:p>
            <a:pPr lvl="1"/>
            <a:endParaRPr lang="en-US" altLang="zh-TW" sz="2400" dirty="0">
              <a:latin typeface="Times New Roman" panose="02020603050405020304" pitchFamily="18" charset="0"/>
              <a:cs typeface="Times New Roman" panose="02020603050405020304" pitchFamily="18" charset="0"/>
            </a:endParaRPr>
          </a:p>
          <a:p>
            <a:pPr lvl="1"/>
            <a:r>
              <a:rPr lang="en-US" altLang="zh-TW" sz="2400" dirty="0">
                <a:latin typeface="Times New Roman" panose="02020603050405020304" pitchFamily="18" charset="0"/>
                <a:cs typeface="Times New Roman" panose="02020603050405020304" pitchFamily="18" charset="0"/>
              </a:rPr>
              <a:t>If system support hardware virtualization, PASID shall allow a separation of PASID bits(</a:t>
            </a:r>
            <a:r>
              <a:rPr lang="en-US" altLang="zh-TW" sz="2400" dirty="0" err="1">
                <a:latin typeface="Times New Roman" panose="02020603050405020304" pitchFamily="18" charset="0"/>
                <a:cs typeface="Times New Roman" panose="02020603050405020304" pitchFamily="18" charset="0"/>
              </a:rPr>
              <a:t>PartitionID</a:t>
            </a:r>
            <a:r>
              <a:rPr lang="en-US" altLang="zh-TW" sz="2400" dirty="0">
                <a:latin typeface="Times New Roman" panose="02020603050405020304" pitchFamily="18" charset="0"/>
                <a:cs typeface="Times New Roman" panose="02020603050405020304" pitchFamily="18" charset="0"/>
              </a:rPr>
              <a:t>) and PASID bits for </a:t>
            </a:r>
            <a:r>
              <a:rPr lang="en-US" altLang="zh-TW" sz="2400" dirty="0" smtClean="0">
                <a:latin typeface="Times New Roman" panose="02020603050405020304" pitchFamily="18" charset="0"/>
                <a:cs typeface="Times New Roman" panose="02020603050405020304" pitchFamily="18" charset="0"/>
              </a:rPr>
              <a:t>HSA </a:t>
            </a:r>
            <a:r>
              <a:rPr lang="en-US" altLang="zh-TW" sz="2400" dirty="0">
                <a:latin typeface="Times New Roman" panose="02020603050405020304" pitchFamily="18" charset="0"/>
                <a:cs typeface="Times New Roman" panose="02020603050405020304" pitchFamily="18" charset="0"/>
              </a:rPr>
              <a:t>MMU.</a:t>
            </a:r>
          </a:p>
          <a:p>
            <a:pPr lvl="1"/>
            <a:endParaRPr lang="en-US" altLang="zh-TW" sz="2400" dirty="0">
              <a:latin typeface="Times New Roman" panose="02020603050405020304" pitchFamily="18" charset="0"/>
              <a:cs typeface="Times New Roman" panose="02020603050405020304" pitchFamily="18" charset="0"/>
            </a:endParaRPr>
          </a:p>
          <a:p>
            <a:pPr lvl="1"/>
            <a:r>
              <a:rPr lang="en-US" altLang="zh-TW" sz="2400" dirty="0">
                <a:latin typeface="Times New Roman" panose="02020603050405020304" pitchFamily="18" charset="0"/>
                <a:cs typeface="Times New Roman" panose="02020603050405020304" pitchFamily="18" charset="0"/>
              </a:rPr>
              <a:t>The number of  PASID bits for </a:t>
            </a:r>
            <a:r>
              <a:rPr lang="en-US" altLang="zh-TW" sz="2400" dirty="0" smtClean="0">
                <a:latin typeface="Times New Roman" panose="02020603050405020304" pitchFamily="18" charset="0"/>
                <a:cs typeface="Times New Roman" panose="02020603050405020304" pitchFamily="18" charset="0"/>
              </a:rPr>
              <a:t>HSA </a:t>
            </a:r>
            <a:r>
              <a:rPr lang="en-US" altLang="zh-TW" sz="2400" dirty="0">
                <a:latin typeface="Times New Roman" panose="02020603050405020304" pitchFamily="18" charset="0"/>
                <a:cs typeface="Times New Roman" panose="02020603050405020304" pitchFamily="18" charset="0"/>
              </a:rPr>
              <a:t>MMU functionality shall at least 8.</a:t>
            </a:r>
          </a:p>
        </p:txBody>
      </p:sp>
    </p:spTree>
    <p:extLst>
      <p:ext uri="{BB962C8B-B14F-4D97-AF65-F5344CB8AC3E}">
        <p14:creationId xmlns:p14="http://schemas.microsoft.com/office/powerpoint/2010/main" val="25659967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latin typeface="Times New Roman" panose="02020603050405020304" pitchFamily="18" charset="0"/>
                <a:cs typeface="Times New Roman" panose="02020603050405020304" pitchFamily="18" charset="0"/>
              </a:rPr>
              <a:t>Shared Virtual Memory(cont.)</a:t>
            </a:r>
            <a:endParaRPr lang="zh-TW" altLang="en-US" sz="3600" dirty="0"/>
          </a:p>
        </p:txBody>
      </p:sp>
      <p:sp>
        <p:nvSpPr>
          <p:cNvPr id="3" name="內容版面配置區 2"/>
          <p:cNvSpPr>
            <a:spLocks noGrp="1"/>
          </p:cNvSpPr>
          <p:nvPr>
            <p:ph idx="1"/>
          </p:nvPr>
        </p:nvSpPr>
        <p:spPr/>
        <p:txBody>
          <a:bodyPr/>
          <a:lstStyle/>
          <a:p>
            <a:pPr lvl="1"/>
            <a:r>
              <a:rPr lang="en-US" altLang="zh-TW" sz="2400" dirty="0">
                <a:latin typeface="Times New Roman" panose="02020603050405020304" pitchFamily="18" charset="0"/>
                <a:cs typeface="Times New Roman" panose="02020603050405020304" pitchFamily="18" charset="0"/>
              </a:rPr>
              <a:t>Support TLBs that cache issued virtual address translation. Must invalid repeated translate request. </a:t>
            </a:r>
          </a:p>
          <a:p>
            <a:pPr lvl="1"/>
            <a:endParaRPr lang="en-US" altLang="zh-TW" sz="2400" dirty="0">
              <a:latin typeface="Times New Roman" panose="02020603050405020304" pitchFamily="18" charset="0"/>
              <a:cs typeface="Times New Roman" panose="02020603050405020304" pitchFamily="18" charset="0"/>
            </a:endParaRPr>
          </a:p>
          <a:p>
            <a:pPr lvl="1"/>
            <a:r>
              <a:rPr lang="en-US" altLang="zh-TW" sz="2400" dirty="0">
                <a:latin typeface="Times New Roman" panose="02020603050405020304" pitchFamily="18" charset="0"/>
                <a:cs typeface="Times New Roman" panose="02020603050405020304" pitchFamily="18" charset="0"/>
              </a:rPr>
              <a:t>The invalid shall be forward by address translation service to any client device and shall perform a per-process level and allow a global  invalidation of all TLBs.</a:t>
            </a:r>
          </a:p>
          <a:p>
            <a:pPr lvl="1"/>
            <a:endParaRPr lang="en-US" altLang="zh-TW"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63098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Read-Only image data</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Read-Only image data is required to remain static during execution of an HSA kernel.</a:t>
            </a:r>
          </a:p>
          <a:p>
            <a:endParaRPr lang="en-US" altLang="zh-TW" sz="2400" dirty="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This means it is not allowed to modify the data using a read/write view, or direct access to the data array either the same kernel, the host CPU or another kernel running in parallel.</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5743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Cache </a:t>
            </a:r>
            <a:r>
              <a:rPr lang="en-US" altLang="zh-TW" sz="3600" dirty="0">
                <a:latin typeface="Times New Roman" panose="02020603050405020304" pitchFamily="18" charset="0"/>
                <a:cs typeface="Times New Roman" panose="02020603050405020304" pitchFamily="18" charset="0"/>
              </a:rPr>
              <a:t>C</a:t>
            </a:r>
            <a:r>
              <a:rPr lang="en-US" altLang="zh-TW" sz="3600" dirty="0" smtClean="0">
                <a:latin typeface="Times New Roman" panose="02020603050405020304" pitchFamily="18" charset="0"/>
                <a:cs typeface="Times New Roman" panose="02020603050405020304" pitchFamily="18" charset="0"/>
              </a:rPr>
              <a:t>oherence Domain</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HSA </a:t>
            </a:r>
            <a:r>
              <a:rPr lang="en-US" altLang="zh-TW" sz="2400" dirty="0">
                <a:latin typeface="Times New Roman" panose="02020603050405020304" pitchFamily="18" charset="0"/>
                <a:cs typeface="Times New Roman" panose="02020603050405020304" pitchFamily="18" charset="0"/>
              </a:rPr>
              <a:t>agent access to global memory shall be coherent without need for explicit maintenance. </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This only applies to global memory location with main memory type and doesn’t apply to read-only image access. </a:t>
            </a:r>
          </a:p>
          <a:p>
            <a:pPr marL="0" indent="0">
              <a:buNone/>
            </a:pP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This specification doesn’t require that data memory access from </a:t>
            </a:r>
            <a:r>
              <a:rPr lang="en-US" altLang="zh-TW" sz="2400" dirty="0" smtClean="0">
                <a:latin typeface="Times New Roman" panose="02020603050405020304" pitchFamily="18" charset="0"/>
                <a:cs typeface="Times New Roman" panose="02020603050405020304" pitchFamily="18" charset="0"/>
              </a:rPr>
              <a:t>HSA </a:t>
            </a:r>
            <a:r>
              <a:rPr lang="en-US" altLang="zh-TW" sz="2400" dirty="0">
                <a:latin typeface="Times New Roman" panose="02020603050405020304" pitchFamily="18" charset="0"/>
                <a:cs typeface="Times New Roman" panose="02020603050405020304" pitchFamily="18" charset="0"/>
              </a:rPr>
              <a:t>agent are coherent any memory location with any memory type other than primary memory type.</a:t>
            </a:r>
          </a:p>
        </p:txBody>
      </p:sp>
    </p:spTree>
    <p:extLst>
      <p:ext uri="{BB962C8B-B14F-4D97-AF65-F5344CB8AC3E}">
        <p14:creationId xmlns:p14="http://schemas.microsoft.com/office/powerpoint/2010/main" val="39524962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Cache </a:t>
            </a:r>
            <a:r>
              <a:rPr lang="en-US" altLang="zh-TW" sz="3600" dirty="0">
                <a:latin typeface="Times New Roman" panose="02020603050405020304" pitchFamily="18" charset="0"/>
                <a:cs typeface="Times New Roman" panose="02020603050405020304" pitchFamily="18" charset="0"/>
              </a:rPr>
              <a:t>C</a:t>
            </a:r>
            <a:r>
              <a:rPr lang="en-US" altLang="zh-TW" sz="3600" dirty="0" smtClean="0">
                <a:latin typeface="Times New Roman" panose="02020603050405020304" pitchFamily="18" charset="0"/>
                <a:cs typeface="Times New Roman" panose="02020603050405020304" pitchFamily="18" charset="0"/>
              </a:rPr>
              <a:t>oherence Domain</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sz="2400" dirty="0">
                <a:latin typeface="Times New Roman" panose="02020603050405020304" pitchFamily="18" charset="0"/>
                <a:cs typeface="Times New Roman" panose="02020603050405020304" pitchFamily="18" charset="0"/>
              </a:rPr>
              <a:t>This specification doesn’t require that instruction memory access to any memory type by </a:t>
            </a:r>
            <a:r>
              <a:rPr lang="en-US" altLang="zh-TW" sz="2400" dirty="0" smtClean="0">
                <a:latin typeface="Times New Roman" panose="02020603050405020304" pitchFamily="18" charset="0"/>
                <a:cs typeface="Times New Roman" panose="02020603050405020304" pitchFamily="18" charset="0"/>
              </a:rPr>
              <a:t>HSA </a:t>
            </a:r>
            <a:r>
              <a:rPr lang="en-US" altLang="zh-TW" sz="2400" dirty="0">
                <a:latin typeface="Times New Roman" panose="02020603050405020304" pitchFamily="18" charset="0"/>
                <a:cs typeface="Times New Roman" panose="02020603050405020304" pitchFamily="18" charset="0"/>
              </a:rPr>
              <a:t>agents are coherent.</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This specification doesn’t require that </a:t>
            </a:r>
            <a:r>
              <a:rPr lang="en-US" altLang="zh-TW" sz="2400" dirty="0" smtClean="0">
                <a:latin typeface="Times New Roman" panose="02020603050405020304" pitchFamily="18" charset="0"/>
                <a:cs typeface="Times New Roman" panose="02020603050405020304" pitchFamily="18" charset="0"/>
              </a:rPr>
              <a:t>HSA </a:t>
            </a:r>
            <a:r>
              <a:rPr lang="en-US" altLang="zh-TW" sz="2400" dirty="0">
                <a:latin typeface="Times New Roman" panose="02020603050405020304" pitchFamily="18" charset="0"/>
                <a:cs typeface="Times New Roman" panose="02020603050405020304" pitchFamily="18" charset="0"/>
              </a:rPr>
              <a:t>agents have a coherent view of any memory location where </a:t>
            </a:r>
            <a:r>
              <a:rPr lang="en-US" altLang="zh-TW" sz="2400" dirty="0" smtClean="0">
                <a:latin typeface="Times New Roman" panose="02020603050405020304" pitchFamily="18" charset="0"/>
                <a:cs typeface="Times New Roman" panose="02020603050405020304" pitchFamily="18" charset="0"/>
              </a:rPr>
              <a:t>HSA </a:t>
            </a:r>
            <a:r>
              <a:rPr lang="en-US" altLang="zh-TW" sz="2400" dirty="0">
                <a:latin typeface="Times New Roman" panose="02020603050405020304" pitchFamily="18" charset="0"/>
                <a:cs typeface="Times New Roman" panose="02020603050405020304" pitchFamily="18" charset="0"/>
              </a:rPr>
              <a:t>agents don’t specify the same memory attributes.</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Coherency and ordering between </a:t>
            </a:r>
            <a:r>
              <a:rPr lang="en-US" altLang="zh-TW" sz="2400" dirty="0" smtClean="0">
                <a:latin typeface="Times New Roman" panose="02020603050405020304" pitchFamily="18" charset="0"/>
                <a:cs typeface="Times New Roman" panose="02020603050405020304" pitchFamily="18" charset="0"/>
              </a:rPr>
              <a:t>HSA </a:t>
            </a:r>
            <a:r>
              <a:rPr lang="en-US" altLang="zh-TW" sz="2400" dirty="0">
                <a:latin typeface="Times New Roman" panose="02020603050405020304" pitchFamily="18" charset="0"/>
                <a:cs typeface="Times New Roman" panose="02020603050405020304" pitchFamily="18" charset="0"/>
              </a:rPr>
              <a:t>shared virtual memory aliased to the same physical address are not guaranteed.</a:t>
            </a:r>
          </a:p>
        </p:txBody>
      </p:sp>
    </p:spTree>
    <p:extLst>
      <p:ext uri="{BB962C8B-B14F-4D97-AF65-F5344CB8AC3E}">
        <p14:creationId xmlns:p14="http://schemas.microsoft.com/office/powerpoint/2010/main" val="24088319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Cache </a:t>
            </a:r>
            <a:r>
              <a:rPr lang="en-US" altLang="zh-TW" sz="3600" dirty="0">
                <a:latin typeface="Times New Roman" panose="02020603050405020304" pitchFamily="18" charset="0"/>
                <a:cs typeface="Times New Roman" panose="02020603050405020304" pitchFamily="18" charset="0"/>
              </a:rPr>
              <a:t>C</a:t>
            </a:r>
            <a:r>
              <a:rPr lang="en-US" altLang="zh-TW" sz="3600" dirty="0" smtClean="0">
                <a:latin typeface="Times New Roman" panose="02020603050405020304" pitchFamily="18" charset="0"/>
                <a:cs typeface="Times New Roman" panose="02020603050405020304" pitchFamily="18" charset="0"/>
              </a:rPr>
              <a:t>oherence Domain</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sz="2400" dirty="0" smtClean="0">
                <a:latin typeface="Times New Roman" panose="02020603050405020304" pitchFamily="18" charset="0"/>
                <a:cs typeface="Times New Roman" panose="02020603050405020304" pitchFamily="18" charset="0"/>
              </a:rPr>
              <a:t>Advantage:</a:t>
            </a:r>
          </a:p>
          <a:p>
            <a:pPr lvl="1"/>
            <a:r>
              <a:rPr lang="en-US" altLang="zh-TW" dirty="0" err="1" smtClean="0">
                <a:latin typeface="Times New Roman" panose="02020603050405020304" pitchFamily="18" charset="0"/>
                <a:cs typeface="Times New Roman" panose="02020603050405020304" pitchFamily="18" charset="0"/>
              </a:rPr>
              <a:t>Composability</a:t>
            </a:r>
            <a:endParaRPr lang="en-US" altLang="zh-TW" dirty="0" smtClean="0">
              <a:latin typeface="Times New Roman" panose="02020603050405020304" pitchFamily="18" charset="0"/>
              <a:cs typeface="Times New Roman" panose="02020603050405020304" pitchFamily="18" charset="0"/>
            </a:endParaRPr>
          </a:p>
          <a:p>
            <a:pPr lvl="1"/>
            <a:r>
              <a:rPr lang="en-US" altLang="zh-TW" dirty="0" smtClean="0">
                <a:latin typeface="Times New Roman" panose="02020603050405020304" pitchFamily="18" charset="0"/>
                <a:cs typeface="Times New Roman" panose="02020603050405020304" pitchFamily="18" charset="0"/>
              </a:rPr>
              <a:t>Reduced SW complexity when communicating between agents</a:t>
            </a:r>
          </a:p>
          <a:p>
            <a:pPr lvl="1"/>
            <a:r>
              <a:rPr lang="en-US" altLang="zh-TW" dirty="0" smtClean="0">
                <a:latin typeface="Times New Roman" panose="02020603050405020304" pitchFamily="18" charset="0"/>
                <a:cs typeface="Times New Roman" panose="02020603050405020304" pitchFamily="18" charset="0"/>
              </a:rPr>
              <a:t>Lower barrier to entry when porting software</a:t>
            </a:r>
            <a:endParaRPr lang="en-US" altLang="zh-TW" dirty="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Implication:</a:t>
            </a:r>
          </a:p>
          <a:p>
            <a:pPr lvl="1"/>
            <a:r>
              <a:rPr lang="en-US" altLang="zh-TW" dirty="0" smtClean="0">
                <a:latin typeface="Times New Roman" panose="02020603050405020304" pitchFamily="18" charset="0"/>
                <a:cs typeface="Times New Roman" panose="02020603050405020304" pitchFamily="18" charset="0"/>
              </a:rPr>
              <a:t>Hardware coherency support between all HSA agents</a:t>
            </a:r>
          </a:p>
          <a:p>
            <a:endParaRPr lang="en-US" altLang="zh-TW" dirty="0">
              <a:latin typeface="Times New Roman" panose="02020603050405020304" pitchFamily="18" charset="0"/>
              <a:cs typeface="Times New Roman" panose="02020603050405020304" pitchFamily="18" charset="0"/>
            </a:endParaRPr>
          </a:p>
          <a:p>
            <a:endParaRPr lang="en-US" altLang="zh-TW" sz="2400" dirty="0" smtClean="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sz="2400" dirty="0" smtClean="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46428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Cache </a:t>
            </a:r>
            <a:r>
              <a:rPr lang="en-US" altLang="zh-TW" sz="3600" dirty="0">
                <a:latin typeface="Times New Roman" panose="02020603050405020304" pitchFamily="18" charset="0"/>
                <a:cs typeface="Times New Roman" panose="02020603050405020304" pitchFamily="18" charset="0"/>
              </a:rPr>
              <a:t>C</a:t>
            </a:r>
            <a:r>
              <a:rPr lang="en-US" altLang="zh-TW" sz="3600" dirty="0" smtClean="0">
                <a:latin typeface="Times New Roman" panose="02020603050405020304" pitchFamily="18" charset="0"/>
                <a:cs typeface="Times New Roman" panose="02020603050405020304" pitchFamily="18" charset="0"/>
              </a:rPr>
              <a:t>oherence Domain</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endParaRPr lang="en-US" altLang="zh-TW" dirty="0">
              <a:latin typeface="Times New Roman" panose="02020603050405020304" pitchFamily="18" charset="0"/>
              <a:cs typeface="Times New Roman" panose="02020603050405020304" pitchFamily="18" charset="0"/>
            </a:endParaRPr>
          </a:p>
          <a:p>
            <a:endParaRPr lang="en-US" altLang="zh-TW" sz="2400" dirty="0" smtClean="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sz="2400" dirty="0" smtClean="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2"/>
          <a:stretch>
            <a:fillRect/>
          </a:stretch>
        </p:blipFill>
        <p:spPr>
          <a:xfrm>
            <a:off x="1528762" y="1520825"/>
            <a:ext cx="6086475" cy="4105275"/>
          </a:xfrm>
          <a:prstGeom prst="rect">
            <a:avLst/>
          </a:prstGeom>
        </p:spPr>
      </p:pic>
    </p:spTree>
    <p:extLst>
      <p:ext uri="{BB962C8B-B14F-4D97-AF65-F5344CB8AC3E}">
        <p14:creationId xmlns:p14="http://schemas.microsoft.com/office/powerpoint/2010/main" val="31633929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signal is </a:t>
            </a:r>
            <a:r>
              <a:rPr lang="en-US" altLang="zh-TW" dirty="0" smtClean="0">
                <a:latin typeface="Times New Roman" panose="02020603050405020304" pitchFamily="18" charset="0"/>
                <a:cs typeface="Times New Roman" panose="02020603050405020304" pitchFamily="18" charset="0"/>
              </a:rPr>
              <a:t>an alternative</a:t>
            </a:r>
            <a:r>
              <a:rPr lang="en-US" altLang="zh-TW" dirty="0">
                <a:latin typeface="Times New Roman" panose="02020603050405020304" pitchFamily="18" charset="0"/>
                <a:cs typeface="Times New Roman" panose="02020603050405020304" pitchFamily="18" charset="0"/>
              </a:rPr>
              <a:t>, possibly more power-efficient, communication mechanism between two </a:t>
            </a:r>
            <a:r>
              <a:rPr lang="en-US" altLang="zh-TW" dirty="0" smtClean="0">
                <a:latin typeface="Times New Roman" panose="02020603050405020304" pitchFamily="18" charset="0"/>
                <a:cs typeface="Times New Roman" panose="02020603050405020304" pitchFamily="18" charset="0"/>
              </a:rPr>
              <a:t>entities.</a:t>
            </a:r>
          </a:p>
          <a:p>
            <a:endParaRPr lang="en-US" altLang="zh-TW" sz="2400"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signal carries a value, which can be updated or conditionally waited </a:t>
            </a:r>
            <a:r>
              <a:rPr lang="en-US" altLang="zh-TW" dirty="0" smtClean="0">
                <a:latin typeface="Times New Roman" panose="02020603050405020304" pitchFamily="18" charset="0"/>
                <a:cs typeface="Times New Roman" panose="02020603050405020304" pitchFamily="18" charset="0"/>
              </a:rPr>
              <a:t>via an API </a:t>
            </a:r>
            <a:r>
              <a:rPr lang="en-US" altLang="zh-TW" dirty="0">
                <a:latin typeface="Times New Roman" panose="02020603050405020304" pitchFamily="18" charset="0"/>
                <a:cs typeface="Times New Roman" panose="02020603050405020304" pitchFamily="18" charset="0"/>
              </a:rPr>
              <a:t>call or an HSAIL </a:t>
            </a:r>
            <a:r>
              <a:rPr lang="en-US" altLang="zh-TW" dirty="0" smtClean="0">
                <a:latin typeface="Times New Roman" panose="02020603050405020304" pitchFamily="18" charset="0"/>
                <a:cs typeface="Times New Roman" panose="02020603050405020304" pitchFamily="18" charset="0"/>
              </a:rPr>
              <a:t>instruction.</a:t>
            </a:r>
          </a:p>
          <a:p>
            <a:endParaRPr lang="en-US" altLang="zh-TW" sz="2400" dirty="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There </a:t>
            </a:r>
            <a:r>
              <a:rPr lang="en-US" altLang="zh-TW" dirty="0">
                <a:latin typeface="Times New Roman" panose="02020603050405020304" pitchFamily="18" charset="0"/>
                <a:cs typeface="Times New Roman" panose="02020603050405020304" pitchFamily="18" charset="0"/>
              </a:rPr>
              <a:t>identifies HSA Agent as a participant in a HSA memory </a:t>
            </a:r>
            <a:r>
              <a:rPr lang="en-US" altLang="zh-TW" dirty="0" smtClean="0">
                <a:latin typeface="Times New Roman" panose="02020603050405020304" pitchFamily="18" charset="0"/>
                <a:cs typeface="Times New Roman" panose="02020603050405020304" pitchFamily="18" charset="0"/>
              </a:rPr>
              <a:t>based signaling </a:t>
            </a:r>
            <a:r>
              <a:rPr lang="en-US" altLang="zh-TW" dirty="0">
                <a:latin typeface="Times New Roman" panose="02020603050405020304" pitchFamily="18" charset="0"/>
                <a:cs typeface="Times New Roman" panose="02020603050405020304" pitchFamily="18" charset="0"/>
              </a:rPr>
              <a:t>and synchronization.</a:t>
            </a:r>
            <a:endParaRPr lang="en-US" altLang="zh-TW"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979224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When multiple threads are attempting to signal without the use of atomics, no ordering </a:t>
            </a:r>
            <a:r>
              <a:rPr lang="en-US" altLang="zh-TW" dirty="0" smtClean="0">
                <a:latin typeface="Times New Roman" panose="02020603050405020304" pitchFamily="18" charset="0"/>
                <a:cs typeface="Times New Roman" panose="02020603050405020304" pitchFamily="18" charset="0"/>
              </a:rPr>
              <a:t>guarantee is </a:t>
            </a:r>
            <a:r>
              <a:rPr lang="en-US" altLang="zh-TW" dirty="0">
                <a:latin typeface="Times New Roman" panose="02020603050405020304" pitchFamily="18" charset="0"/>
                <a:cs typeface="Times New Roman" panose="02020603050405020304" pitchFamily="18" charset="0"/>
              </a:rPr>
              <a:t>given by the HSA system</a:t>
            </a:r>
            <a:r>
              <a:rPr lang="en-US" altLang="zh-TW" dirty="0" smtClean="0">
                <a:latin typeface="Times New Roman" panose="02020603050405020304" pitchFamily="18" charset="0"/>
                <a:cs typeface="Times New Roman" panose="02020603050405020304" pitchFamily="18" charset="0"/>
              </a:rPr>
              <a:t>.</a:t>
            </a:r>
          </a:p>
          <a:p>
            <a:endParaRPr lang="en-US" altLang="zh-TW" sz="2400"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The send signal API sets the signal handle with caller specified value</a:t>
            </a:r>
            <a:r>
              <a:rPr lang="en-US" altLang="zh-TW" dirty="0" smtClean="0">
                <a:latin typeface="Times New Roman" panose="02020603050405020304" pitchFamily="18" charset="0"/>
                <a:cs typeface="Times New Roman" panose="02020603050405020304" pitchFamily="18" charset="0"/>
              </a:rPr>
              <a:t>.</a:t>
            </a:r>
          </a:p>
          <a:p>
            <a:endParaRPr lang="en-US" altLang="zh-TW" sz="2400"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signal handle would be given a copy of this new signal value after the wait condition is </a:t>
            </a:r>
            <a:r>
              <a:rPr lang="en-US" altLang="zh-TW" dirty="0" smtClean="0">
                <a:latin typeface="Times New Roman" panose="02020603050405020304" pitchFamily="18" charset="0"/>
                <a:cs typeface="Times New Roman" panose="02020603050405020304" pitchFamily="18" charset="0"/>
              </a:rPr>
              <a:t>met(before timeout).</a:t>
            </a:r>
            <a:endParaRPr lang="en-US" altLang="zh-TW"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39856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The signal infrastructure allows for multiple waiters on a single signal</a:t>
            </a:r>
            <a:r>
              <a:rPr lang="en-US" altLang="zh-TW" dirty="0" smtClean="0">
                <a:latin typeface="Times New Roman" panose="02020603050405020304" pitchFamily="18" charset="0"/>
                <a:cs typeface="Times New Roman" panose="02020603050405020304" pitchFamily="18" charset="0"/>
              </a:rPr>
              <a:t>.</a:t>
            </a:r>
          </a:p>
          <a:p>
            <a:endParaRPr lang="en-US" altLang="zh-TW" sz="2400" dirty="0" smtClean="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In addition to the update of signals using Send, the API for send signal must support other </a:t>
            </a:r>
            <a:r>
              <a:rPr lang="en-US" altLang="zh-TW" dirty="0" smtClean="0">
                <a:latin typeface="Times New Roman" panose="02020603050405020304" pitchFamily="18" charset="0"/>
                <a:cs typeface="Times New Roman" panose="02020603050405020304" pitchFamily="18" charset="0"/>
              </a:rPr>
              <a:t>atomic operations </a:t>
            </a:r>
            <a:r>
              <a:rPr lang="en-US" altLang="zh-TW" dirty="0">
                <a:latin typeface="Times New Roman" panose="02020603050405020304" pitchFamily="18" charset="0"/>
                <a:cs typeface="Times New Roman" panose="02020603050405020304" pitchFamily="18" charset="0"/>
              </a:rPr>
              <a:t>as well</a:t>
            </a:r>
            <a:r>
              <a:rPr lang="en-US" altLang="zh-TW" dirty="0" smtClean="0">
                <a:latin typeface="Times New Roman" panose="02020603050405020304" pitchFamily="18" charset="0"/>
                <a:cs typeface="Times New Roman" panose="02020603050405020304" pitchFamily="18" charset="0"/>
              </a:rPr>
              <a:t>. For example AND, OR, XOR…etc.</a:t>
            </a:r>
          </a:p>
          <a:p>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endParaRPr lang="en-US" altLang="zh-TW"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96153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there are three types of synchronization defined in the systems </a:t>
            </a:r>
            <a:r>
              <a:rPr lang="en-US" altLang="zh-TW" dirty="0" smtClean="0">
                <a:latin typeface="Times New Roman" panose="02020603050405020304" pitchFamily="18" charset="0"/>
                <a:cs typeface="Times New Roman" panose="02020603050405020304" pitchFamily="18" charset="0"/>
              </a:rPr>
              <a:t>architecture requirements</a:t>
            </a:r>
            <a:r>
              <a:rPr lang="en-US" altLang="zh-TW" dirty="0">
                <a:latin typeface="Times New Roman" panose="02020603050405020304" pitchFamily="18" charset="0"/>
                <a:cs typeface="Times New Roman" panose="02020603050405020304" pitchFamily="18" charset="0"/>
              </a:rPr>
              <a:t>:</a:t>
            </a:r>
            <a:endParaRPr lang="en-US" altLang="zh-TW" sz="2400" dirty="0">
              <a:latin typeface="Times New Roman" panose="02020603050405020304" pitchFamily="18" charset="0"/>
              <a:cs typeface="Times New Roman" panose="02020603050405020304" pitchFamily="18" charset="0"/>
            </a:endParaRPr>
          </a:p>
          <a:p>
            <a:pPr lvl="1"/>
            <a:r>
              <a:rPr lang="en-US" altLang="zh-TW" dirty="0">
                <a:latin typeface="Times New Roman" panose="02020603050405020304" pitchFamily="18" charset="0"/>
                <a:cs typeface="Times New Roman" panose="02020603050405020304" pitchFamily="18" charset="0"/>
              </a:rPr>
              <a:t>Acquire </a:t>
            </a:r>
            <a:r>
              <a:rPr lang="en-US" altLang="zh-TW" dirty="0" smtClean="0">
                <a:latin typeface="Times New Roman" panose="02020603050405020304" pitchFamily="18" charset="0"/>
                <a:cs typeface="Times New Roman" panose="02020603050405020304" pitchFamily="18" charset="0"/>
              </a:rPr>
              <a:t>synchronization</a:t>
            </a:r>
          </a:p>
          <a:p>
            <a:pPr lvl="2"/>
            <a:r>
              <a:rPr lang="en-US" altLang="zh-TW" sz="1800" dirty="0">
                <a:latin typeface="Times New Roman" panose="02020603050405020304" pitchFamily="18" charset="0"/>
                <a:cs typeface="Times New Roman" panose="02020603050405020304" pitchFamily="18" charset="0"/>
              </a:rPr>
              <a:t>No memory </a:t>
            </a:r>
            <a:r>
              <a:rPr lang="en-US" altLang="zh-TW" sz="1800" dirty="0" smtClean="0">
                <a:latin typeface="Times New Roman" panose="02020603050405020304" pitchFamily="18" charset="0"/>
                <a:cs typeface="Times New Roman" panose="02020603050405020304" pitchFamily="18" charset="0"/>
              </a:rPr>
              <a:t>operation </a:t>
            </a:r>
            <a:r>
              <a:rPr lang="en-US" altLang="zh-TW" sz="1800" dirty="0">
                <a:latin typeface="Times New Roman" panose="02020603050405020304" pitchFamily="18" charset="0"/>
                <a:cs typeface="Times New Roman" panose="02020603050405020304" pitchFamily="18" charset="0"/>
              </a:rPr>
              <a:t>listed after the </a:t>
            </a:r>
            <a:r>
              <a:rPr lang="en-US" altLang="zh-TW" sz="1800" dirty="0" smtClean="0">
                <a:latin typeface="Times New Roman" panose="02020603050405020304" pitchFamily="18" charset="0"/>
                <a:cs typeface="Times New Roman" panose="02020603050405020304" pitchFamily="18" charset="0"/>
              </a:rPr>
              <a:t>acquire can </a:t>
            </a:r>
            <a:r>
              <a:rPr lang="en-US" altLang="zh-TW" sz="1800" dirty="0">
                <a:latin typeface="Times New Roman" panose="02020603050405020304" pitchFamily="18" charset="0"/>
                <a:cs typeface="Times New Roman" panose="02020603050405020304" pitchFamily="18" charset="0"/>
              </a:rPr>
              <a:t>be executed before </a:t>
            </a:r>
            <a:r>
              <a:rPr lang="en-US" altLang="zh-TW" sz="1800" dirty="0" smtClean="0">
                <a:latin typeface="Times New Roman" panose="02020603050405020304" pitchFamily="18" charset="0"/>
                <a:cs typeface="Times New Roman" panose="02020603050405020304" pitchFamily="18" charset="0"/>
              </a:rPr>
              <a:t>the acquire-synchronized </a:t>
            </a:r>
            <a:r>
              <a:rPr lang="en-US" altLang="zh-TW" sz="1800" dirty="0">
                <a:latin typeface="Times New Roman" panose="02020603050405020304" pitchFamily="18" charset="0"/>
                <a:cs typeface="Times New Roman" panose="02020603050405020304" pitchFamily="18" charset="0"/>
              </a:rPr>
              <a:t>operation.</a:t>
            </a:r>
            <a:endParaRPr lang="en-US" altLang="zh-TW" sz="1800" dirty="0" smtClean="0">
              <a:latin typeface="Times New Roman" panose="02020603050405020304" pitchFamily="18" charset="0"/>
              <a:cs typeface="Times New Roman" panose="02020603050405020304" pitchFamily="18" charset="0"/>
            </a:endParaRPr>
          </a:p>
          <a:p>
            <a:pPr lvl="1"/>
            <a:r>
              <a:rPr lang="en-US" altLang="zh-TW" dirty="0">
                <a:latin typeface="Times New Roman" panose="02020603050405020304" pitchFamily="18" charset="0"/>
                <a:cs typeface="Times New Roman" panose="02020603050405020304" pitchFamily="18" charset="0"/>
              </a:rPr>
              <a:t>Release </a:t>
            </a:r>
            <a:r>
              <a:rPr lang="en-US" altLang="zh-TW" dirty="0" smtClean="0">
                <a:latin typeface="Times New Roman" panose="02020603050405020304" pitchFamily="18" charset="0"/>
                <a:cs typeface="Times New Roman" panose="02020603050405020304" pitchFamily="18" charset="0"/>
              </a:rPr>
              <a:t>synchronization</a:t>
            </a:r>
          </a:p>
          <a:p>
            <a:pPr lvl="2"/>
            <a:r>
              <a:rPr lang="en-US" altLang="zh-TW" sz="1800" dirty="0" smtClean="0">
                <a:latin typeface="Times New Roman" panose="02020603050405020304" pitchFamily="18" charset="0"/>
                <a:cs typeface="Times New Roman" panose="02020603050405020304" pitchFamily="18" charset="0"/>
              </a:rPr>
              <a:t>No </a:t>
            </a:r>
            <a:r>
              <a:rPr lang="en-US" altLang="zh-TW" sz="1800" dirty="0">
                <a:latin typeface="Times New Roman" panose="02020603050405020304" pitchFamily="18" charset="0"/>
                <a:cs typeface="Times New Roman" panose="02020603050405020304" pitchFamily="18" charset="0"/>
              </a:rPr>
              <a:t>memory </a:t>
            </a:r>
            <a:r>
              <a:rPr lang="en-US" altLang="zh-TW" sz="1800" dirty="0" smtClean="0">
                <a:latin typeface="Times New Roman" panose="02020603050405020304" pitchFamily="18" charset="0"/>
                <a:cs typeface="Times New Roman" panose="02020603050405020304" pitchFamily="18" charset="0"/>
              </a:rPr>
              <a:t>operation </a:t>
            </a:r>
            <a:r>
              <a:rPr lang="en-US" altLang="zh-TW" sz="1800" dirty="0">
                <a:latin typeface="Times New Roman" panose="02020603050405020304" pitchFamily="18" charset="0"/>
                <a:cs typeface="Times New Roman" panose="02020603050405020304" pitchFamily="18" charset="0"/>
              </a:rPr>
              <a:t>listed </a:t>
            </a:r>
            <a:r>
              <a:rPr lang="en-US" altLang="zh-TW" sz="1800" dirty="0" smtClean="0">
                <a:latin typeface="Times New Roman" panose="02020603050405020304" pitchFamily="18" charset="0"/>
                <a:cs typeface="Times New Roman" panose="02020603050405020304" pitchFamily="18" charset="0"/>
              </a:rPr>
              <a:t>before </a:t>
            </a:r>
            <a:r>
              <a:rPr lang="en-US" altLang="zh-TW" sz="1800" dirty="0">
                <a:latin typeface="Times New Roman" panose="02020603050405020304" pitchFamily="18" charset="0"/>
                <a:cs typeface="Times New Roman" panose="02020603050405020304" pitchFamily="18" charset="0"/>
              </a:rPr>
              <a:t>the acquire</a:t>
            </a:r>
            <a:r>
              <a:rPr lang="en-US" altLang="zh-TW" sz="1800" dirty="0" smtClean="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can be executed </a:t>
            </a:r>
            <a:r>
              <a:rPr lang="en-US" altLang="zh-TW" sz="1800" dirty="0" smtClean="0">
                <a:latin typeface="Times New Roman" panose="02020603050405020304" pitchFamily="18" charset="0"/>
                <a:cs typeface="Times New Roman" panose="02020603050405020304" pitchFamily="18" charset="0"/>
              </a:rPr>
              <a:t>after the release-synchronized operation.</a:t>
            </a:r>
          </a:p>
          <a:p>
            <a:pPr lvl="1"/>
            <a:r>
              <a:rPr lang="en-US" altLang="zh-TW" dirty="0">
                <a:latin typeface="Times New Roman" panose="02020603050405020304" pitchFamily="18" charset="0"/>
                <a:cs typeface="Times New Roman" panose="02020603050405020304" pitchFamily="18" charset="0"/>
              </a:rPr>
              <a:t>Acquire-Release </a:t>
            </a:r>
            <a:r>
              <a:rPr lang="en-US" altLang="zh-TW" dirty="0" smtClean="0">
                <a:latin typeface="Times New Roman" panose="02020603050405020304" pitchFamily="18" charset="0"/>
                <a:cs typeface="Times New Roman" panose="02020603050405020304" pitchFamily="18" charset="0"/>
              </a:rPr>
              <a:t>synchronization</a:t>
            </a:r>
            <a:endParaRPr lang="en-US" altLang="zh-TW" dirty="0">
              <a:latin typeface="Times New Roman" panose="02020603050405020304" pitchFamily="18" charset="0"/>
              <a:cs typeface="Times New Roman" panose="02020603050405020304" pitchFamily="18" charset="0"/>
            </a:endParaRPr>
          </a:p>
          <a:p>
            <a:pPr lvl="2"/>
            <a:r>
              <a:rPr lang="en-US" altLang="zh-TW" sz="1800" dirty="0">
                <a:latin typeface="Times New Roman" panose="02020603050405020304" pitchFamily="18" charset="0"/>
                <a:cs typeface="Times New Roman" panose="02020603050405020304" pitchFamily="18" charset="0"/>
              </a:rPr>
              <a:t>This acts like </a:t>
            </a:r>
            <a:r>
              <a:rPr lang="en-US" altLang="zh-TW" sz="1800" dirty="0" smtClean="0">
                <a:latin typeface="Times New Roman" panose="02020603050405020304" pitchFamily="18" charset="0"/>
                <a:cs typeface="Times New Roman" panose="02020603050405020304" pitchFamily="18" charset="0"/>
              </a:rPr>
              <a:t>a fence. </a:t>
            </a:r>
          </a:p>
          <a:p>
            <a:pPr lvl="2"/>
            <a:r>
              <a:rPr lang="en-US" altLang="zh-TW" sz="1800" dirty="0">
                <a:latin typeface="Times New Roman" panose="02020603050405020304" pitchFamily="18" charset="0"/>
                <a:cs typeface="Times New Roman" panose="02020603050405020304" pitchFamily="18" charset="0"/>
              </a:rPr>
              <a:t>No memory operation listed before the Acquire-Release </a:t>
            </a:r>
            <a:r>
              <a:rPr lang="en-US" altLang="zh-TW" sz="1800" dirty="0" smtClean="0">
                <a:latin typeface="Times New Roman" panose="02020603050405020304" pitchFamily="18" charset="0"/>
                <a:cs typeface="Times New Roman" panose="02020603050405020304" pitchFamily="18" charset="0"/>
              </a:rPr>
              <a:t>synchronized operation </a:t>
            </a:r>
            <a:r>
              <a:rPr lang="en-US" altLang="zh-TW" sz="1800" dirty="0">
                <a:latin typeface="Times New Roman" panose="02020603050405020304" pitchFamily="18" charset="0"/>
                <a:cs typeface="Times New Roman" panose="02020603050405020304" pitchFamily="18" charset="0"/>
              </a:rPr>
              <a:t>can be move after </a:t>
            </a:r>
            <a:r>
              <a:rPr lang="en-US" altLang="zh-TW" sz="1800" dirty="0" smtClean="0">
                <a:latin typeface="Times New Roman" panose="02020603050405020304" pitchFamily="18" charset="0"/>
                <a:cs typeface="Times New Roman" panose="02020603050405020304" pitchFamily="18" charset="0"/>
              </a:rPr>
              <a:t>it</a:t>
            </a:r>
          </a:p>
          <a:p>
            <a:pPr lvl="2"/>
            <a:r>
              <a:rPr lang="en-US" altLang="zh-TW" sz="1800" dirty="0">
                <a:latin typeface="Times New Roman" panose="02020603050405020304" pitchFamily="18" charset="0"/>
                <a:cs typeface="Times New Roman" panose="02020603050405020304" pitchFamily="18" charset="0"/>
              </a:rPr>
              <a:t>No memory </a:t>
            </a:r>
            <a:r>
              <a:rPr lang="en-US" altLang="zh-TW" sz="1800" dirty="0" smtClean="0">
                <a:latin typeface="Times New Roman" panose="02020603050405020304" pitchFamily="18" charset="0"/>
                <a:cs typeface="Times New Roman" panose="02020603050405020304" pitchFamily="18" charset="0"/>
              </a:rPr>
              <a:t>operation </a:t>
            </a:r>
            <a:r>
              <a:rPr lang="en-US" altLang="zh-TW" sz="1800" dirty="0">
                <a:latin typeface="Times New Roman" panose="02020603050405020304" pitchFamily="18" charset="0"/>
                <a:cs typeface="Times New Roman" panose="02020603050405020304" pitchFamily="18" charset="0"/>
              </a:rPr>
              <a:t>listed after the </a:t>
            </a:r>
            <a:r>
              <a:rPr lang="en-US" altLang="zh-TW" sz="1800" dirty="0" smtClean="0">
                <a:latin typeface="Times New Roman" panose="02020603050405020304" pitchFamily="18" charset="0"/>
                <a:cs typeface="Times New Roman" panose="02020603050405020304" pitchFamily="18" charset="0"/>
              </a:rPr>
              <a:t>Acquire-Release synchronized </a:t>
            </a:r>
            <a:r>
              <a:rPr lang="en-US" altLang="zh-TW" sz="1800" dirty="0">
                <a:latin typeface="Times New Roman" panose="02020603050405020304" pitchFamily="18" charset="0"/>
                <a:cs typeface="Times New Roman" panose="02020603050405020304" pitchFamily="18" charset="0"/>
              </a:rPr>
              <a:t>operation can be executed before it.</a:t>
            </a:r>
            <a:endParaRPr lang="en-US" altLang="zh-TW" sz="1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919376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Each operation on a signal value has the type of synchronization explicitly included in its name</a:t>
            </a:r>
            <a:r>
              <a:rPr lang="en-US" altLang="zh-TW" dirty="0" smtClean="0">
                <a:latin typeface="Times New Roman" panose="02020603050405020304" pitchFamily="18" charset="0"/>
                <a:cs typeface="Times New Roman" panose="02020603050405020304" pitchFamily="18" charset="0"/>
              </a:rPr>
              <a:t>.</a:t>
            </a:r>
          </a:p>
          <a:p>
            <a:pPr marL="0" indent="0">
              <a:buNone/>
            </a:pPr>
            <a:endParaRPr lang="en-US" altLang="zh-TW" sz="2400" dirty="0" smtClean="0">
              <a:latin typeface="Times New Roman" panose="02020603050405020304" pitchFamily="18" charset="0"/>
              <a:cs typeface="Times New Roman" panose="02020603050405020304" pitchFamily="18"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221393633"/>
              </p:ext>
            </p:extLst>
          </p:nvPr>
        </p:nvGraphicFramePr>
        <p:xfrm>
          <a:off x="920151" y="2544312"/>
          <a:ext cx="5834331" cy="2001808"/>
        </p:xfrm>
        <a:graphic>
          <a:graphicData uri="http://schemas.openxmlformats.org/drawingml/2006/table">
            <a:tbl>
              <a:tblPr firstRow="1" bandRow="1">
                <a:tableStyleId>{69CF1AB2-1976-4502-BF36-3FF5EA218861}</a:tableStyleId>
              </a:tblPr>
              <a:tblGrid>
                <a:gridCol w="5834331"/>
              </a:tblGrid>
              <a:tr h="500452">
                <a:tc>
                  <a:txBody>
                    <a:bodyPr/>
                    <a:lstStyle/>
                    <a:p>
                      <a:r>
                        <a:rPr lang="en-US" altLang="zh-TW" sz="2400" b="1" i="0" u="none" strike="noStrike" kern="1200" baseline="0" dirty="0" err="1" smtClean="0">
                          <a:solidFill>
                            <a:schemeClr val="dk1"/>
                          </a:solidFill>
                          <a:latin typeface="Times New Roman" panose="02020603050405020304" pitchFamily="18" charset="0"/>
                          <a:ea typeface="+mn-ea"/>
                          <a:cs typeface="Times New Roman" panose="02020603050405020304" pitchFamily="18" charset="0"/>
                        </a:rPr>
                        <a:t>hsa_signal_send_acquire_release</a:t>
                      </a:r>
                      <a:endParaRPr lang="zh-TW" altLang="en-US" sz="2400" dirty="0">
                        <a:latin typeface="Times New Roman" panose="02020603050405020304" pitchFamily="18" charset="0"/>
                        <a:cs typeface="Times New Roman" panose="02020603050405020304" pitchFamily="18" charset="0"/>
                      </a:endParaRPr>
                    </a:p>
                  </a:txBody>
                  <a:tcPr/>
                </a:tc>
              </a:tr>
              <a:tr h="500452">
                <a:tc>
                  <a:txBody>
                    <a:bodyPr/>
                    <a:lstStyle/>
                    <a:p>
                      <a:r>
                        <a:rPr lang="en-US" altLang="zh-TW" sz="2400" b="1" i="0" u="none" strike="noStrike" kern="1200" baseline="0" dirty="0" err="1" smtClean="0">
                          <a:solidFill>
                            <a:schemeClr val="dk1"/>
                          </a:solidFill>
                          <a:latin typeface="Times New Roman" panose="02020603050405020304" pitchFamily="18" charset="0"/>
                          <a:ea typeface="+mn-ea"/>
                          <a:cs typeface="Times New Roman" panose="02020603050405020304" pitchFamily="18" charset="0"/>
                        </a:rPr>
                        <a:t>hsa_signal_cas_release</a:t>
                      </a:r>
                      <a:endParaRPr lang="zh-TW" altLang="en-US" sz="2400" dirty="0">
                        <a:latin typeface="Times New Roman" panose="02020603050405020304" pitchFamily="18" charset="0"/>
                        <a:cs typeface="Times New Roman" panose="02020603050405020304" pitchFamily="18" charset="0"/>
                      </a:endParaRPr>
                    </a:p>
                  </a:txBody>
                  <a:tcPr/>
                </a:tc>
              </a:tr>
              <a:tr h="500452">
                <a:tc>
                  <a:txBody>
                    <a:bodyPr/>
                    <a:lstStyle/>
                    <a:p>
                      <a:r>
                        <a:rPr lang="en-US" altLang="zh-TW" sz="2400" b="1" i="0" u="none" strike="noStrike" kern="1200" baseline="0" dirty="0" err="1" smtClean="0">
                          <a:solidFill>
                            <a:schemeClr val="dk1"/>
                          </a:solidFill>
                          <a:latin typeface="Times New Roman" panose="02020603050405020304" pitchFamily="18" charset="0"/>
                          <a:ea typeface="+mn-ea"/>
                          <a:cs typeface="Times New Roman" panose="02020603050405020304" pitchFamily="18" charset="0"/>
                        </a:rPr>
                        <a:t>hsa_signal_wait_acquire</a:t>
                      </a:r>
                      <a:endParaRPr lang="zh-TW" altLang="en-US" sz="2400" dirty="0">
                        <a:latin typeface="Times New Roman" panose="02020603050405020304" pitchFamily="18" charset="0"/>
                        <a:cs typeface="Times New Roman" panose="02020603050405020304" pitchFamily="18" charset="0"/>
                      </a:endParaRPr>
                    </a:p>
                  </a:txBody>
                  <a:tcPr/>
                </a:tc>
              </a:tr>
              <a:tr h="500452">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zh-TW" sz="2400" b="1" i="0" u="none" strike="noStrike" kern="1200" baseline="0" dirty="0" err="1" smtClean="0">
                          <a:solidFill>
                            <a:schemeClr val="dk1"/>
                          </a:solidFill>
                          <a:latin typeface="Times New Roman" panose="02020603050405020304" pitchFamily="18" charset="0"/>
                          <a:ea typeface="+mn-ea"/>
                          <a:cs typeface="Times New Roman" panose="02020603050405020304" pitchFamily="18" charset="0"/>
                        </a:rPr>
                        <a:t>hsa_signal_wait_acquire_release</a:t>
                      </a:r>
                      <a:endParaRPr lang="zh-TW" altLang="en-US" sz="2400"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386676906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endParaRPr lang="en-US" altLang="zh-TW" sz="2400" dirty="0" smtClean="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If </a:t>
            </a:r>
            <a:r>
              <a:rPr lang="en-US" altLang="zh-TW" sz="2400" dirty="0" smtClean="0">
                <a:latin typeface="Times New Roman" panose="02020603050405020304" pitchFamily="18" charset="0"/>
                <a:cs typeface="Times New Roman" panose="02020603050405020304" pitchFamily="18" charset="0"/>
              </a:rPr>
              <a:t>HSA </a:t>
            </a:r>
            <a:r>
              <a:rPr lang="en-US" altLang="zh-TW" sz="2400" dirty="0">
                <a:latin typeface="Times New Roman" panose="02020603050405020304" pitchFamily="18" charset="0"/>
                <a:cs typeface="Times New Roman" panose="02020603050405020304" pitchFamily="18" charset="0"/>
              </a:rPr>
              <a:t>components and host compute unit don’t specify the same memory attributes, then  </a:t>
            </a:r>
            <a:r>
              <a:rPr lang="en-US" altLang="zh-TW" sz="2400" dirty="0" smtClean="0">
                <a:latin typeface="Times New Roman" panose="02020603050405020304" pitchFamily="18" charset="0"/>
                <a:cs typeface="Times New Roman" panose="02020603050405020304" pitchFamily="18" charset="0"/>
              </a:rPr>
              <a:t>HSA </a:t>
            </a:r>
            <a:r>
              <a:rPr lang="en-US" altLang="zh-TW" sz="2400" dirty="0">
                <a:latin typeface="Times New Roman" panose="02020603050405020304" pitchFamily="18" charset="0"/>
                <a:cs typeface="Times New Roman" panose="02020603050405020304" pitchFamily="18" charset="0"/>
              </a:rPr>
              <a:t>components don’t have coherent view  of any memory location. </a:t>
            </a:r>
            <a:endParaRPr lang="en-US" altLang="zh-TW" sz="2400" dirty="0" smtClean="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An HSA-compliant platform shall provide for the ability of HSA software to define and use signaling and synchronization primitives located in shared virtual memory accessible from host CPUs and HSA Agents in a non-discriminatory way. </a:t>
            </a:r>
            <a:endParaRPr lang="en-US" altLang="zh-TW"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72417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sz="2400" dirty="0" smtClean="0">
                <a:latin typeface="Times New Roman" panose="02020603050405020304" pitchFamily="18" charset="0"/>
                <a:cs typeface="Times New Roman" panose="02020603050405020304" pitchFamily="18" charset="0"/>
              </a:rPr>
              <a:t>The signaling mechanism has following properties:</a:t>
            </a:r>
          </a:p>
          <a:p>
            <a:pPr lvl="1"/>
            <a:endParaRPr lang="en-US" altLang="zh-TW" sz="2400" dirty="0" smtClean="0">
              <a:latin typeface="Times New Roman" panose="02020603050405020304" pitchFamily="18" charset="0"/>
              <a:cs typeface="Times New Roman" panose="02020603050405020304" pitchFamily="18" charset="0"/>
            </a:endParaRPr>
          </a:p>
          <a:p>
            <a:pPr lvl="1"/>
            <a:r>
              <a:rPr lang="en-US" altLang="zh-TW" sz="2400" dirty="0" smtClean="0">
                <a:latin typeface="Times New Roman" panose="02020603050405020304" pitchFamily="18" charset="0"/>
                <a:cs typeface="Times New Roman" panose="02020603050405020304" pitchFamily="18" charset="0"/>
              </a:rPr>
              <a:t>Signal memory objects may contain additional implementation specific elements except signal data.</a:t>
            </a:r>
          </a:p>
          <a:p>
            <a:pPr lvl="1"/>
            <a:endParaRPr lang="en-US" altLang="zh-TW" sz="2400" dirty="0" smtClean="0">
              <a:latin typeface="Times New Roman" panose="02020603050405020304" pitchFamily="18" charset="0"/>
              <a:cs typeface="Times New Roman" panose="02020603050405020304" pitchFamily="18" charset="0"/>
            </a:endParaRPr>
          </a:p>
          <a:p>
            <a:pPr lvl="1"/>
            <a:r>
              <a:rPr lang="en-US" altLang="zh-TW" sz="2400" dirty="0" smtClean="0">
                <a:latin typeface="Times New Roman" panose="02020603050405020304" pitchFamily="18" charset="0"/>
                <a:cs typeface="Times New Roman" panose="02020603050405020304" pitchFamily="18" charset="0"/>
              </a:rPr>
              <a:t>Signal memory objects only manipulated by HASIL and HSA runtime</a:t>
            </a:r>
            <a:r>
              <a:rPr lang="en-US" altLang="zh-TW" sz="2400" dirty="0">
                <a:latin typeface="Times New Roman" panose="02020603050405020304" pitchFamily="18" charset="0"/>
                <a:cs typeface="Times New Roman" panose="02020603050405020304" pitchFamily="18" charset="0"/>
              </a:rPr>
              <a:t>.</a:t>
            </a:r>
            <a:endParaRPr lang="en-US" altLang="zh-TW"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728580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lvl="1"/>
            <a:r>
              <a:rPr lang="en-US" altLang="zh-TW" dirty="0" smtClean="0">
                <a:latin typeface="Times New Roman" panose="02020603050405020304" pitchFamily="18" charset="0"/>
                <a:cs typeface="Times New Roman" panose="02020603050405020304" pitchFamily="18" charset="0"/>
              </a:rPr>
              <a:t>The runtime include allocate, destroying and waiting.</a:t>
            </a:r>
          </a:p>
          <a:p>
            <a:pPr lvl="1"/>
            <a:endParaRPr lang="en-US" altLang="zh-TW" dirty="0" smtClean="0">
              <a:latin typeface="Times New Roman" panose="02020603050405020304" pitchFamily="18" charset="0"/>
              <a:cs typeface="Times New Roman" panose="02020603050405020304" pitchFamily="18" charset="0"/>
            </a:endParaRPr>
          </a:p>
          <a:p>
            <a:pPr lvl="1"/>
            <a:r>
              <a:rPr lang="en-US" altLang="zh-TW" dirty="0" smtClean="0">
                <a:latin typeface="Times New Roman" panose="02020603050405020304" pitchFamily="18" charset="0"/>
                <a:cs typeface="Times New Roman" panose="02020603050405020304" pitchFamily="18" charset="0"/>
              </a:rPr>
              <a:t>Signaling </a:t>
            </a:r>
            <a:r>
              <a:rPr lang="en-US" altLang="zh-TW" dirty="0">
                <a:latin typeface="Times New Roman" panose="02020603050405020304" pitchFamily="18" charset="0"/>
                <a:cs typeface="Times New Roman" panose="02020603050405020304" pitchFamily="18" charset="0"/>
              </a:rPr>
              <a:t>a signal object, including using atomic operations.</a:t>
            </a:r>
          </a:p>
          <a:p>
            <a:pPr lvl="2"/>
            <a:r>
              <a:rPr lang="en-US" altLang="zh-TW" sz="2400" dirty="0">
                <a:latin typeface="Times New Roman" panose="02020603050405020304" pitchFamily="18" charset="0"/>
                <a:cs typeface="Times New Roman" panose="02020603050405020304" pitchFamily="18" charset="0"/>
              </a:rPr>
              <a:t>signaling a signal object should wake up any </a:t>
            </a:r>
            <a:r>
              <a:rPr lang="en-US" altLang="zh-TW" sz="2400" dirty="0" smtClean="0">
                <a:latin typeface="Times New Roman" panose="02020603050405020304" pitchFamily="18" charset="0"/>
                <a:cs typeface="Times New Roman" panose="02020603050405020304" pitchFamily="18" charset="0"/>
              </a:rPr>
              <a:t>HSA </a:t>
            </a:r>
            <a:r>
              <a:rPr lang="en-US" altLang="zh-TW" sz="2400" dirty="0">
                <a:latin typeface="Times New Roman" panose="02020603050405020304" pitchFamily="18" charset="0"/>
                <a:cs typeface="Times New Roman" panose="02020603050405020304" pitchFamily="18" charset="0"/>
              </a:rPr>
              <a:t>agent waiting on the signal that the condition is met </a:t>
            </a:r>
            <a:r>
              <a:rPr lang="en-US" altLang="zh-TW" sz="2400" dirty="0" smtClean="0">
                <a:latin typeface="Times New Roman" panose="02020603050405020304" pitchFamily="18" charset="0"/>
                <a:cs typeface="Times New Roman" panose="02020603050405020304" pitchFamily="18" charset="0"/>
              </a:rPr>
              <a:t>for.</a:t>
            </a:r>
            <a:endParaRPr lang="en-US" altLang="zh-TW" sz="2400" dirty="0">
              <a:latin typeface="Times New Roman" panose="02020603050405020304" pitchFamily="18" charset="0"/>
              <a:cs typeface="Times New Roman" panose="02020603050405020304" pitchFamily="18" charset="0"/>
            </a:endParaRPr>
          </a:p>
          <a:p>
            <a:pPr lvl="1"/>
            <a:endParaRPr lang="en-US" altLang="zh-TW" dirty="0" smtClean="0">
              <a:latin typeface="Times New Roman" panose="02020603050405020304" pitchFamily="18" charset="0"/>
              <a:cs typeface="Times New Roman" panose="02020603050405020304" pitchFamily="18" charset="0"/>
            </a:endParaRPr>
          </a:p>
          <a:p>
            <a:pPr lvl="1"/>
            <a:r>
              <a:rPr lang="en-US" altLang="zh-TW" dirty="0" smtClean="0">
                <a:latin typeface="Times New Roman" panose="02020603050405020304" pitchFamily="18" charset="0"/>
                <a:cs typeface="Times New Roman" panose="02020603050405020304" pitchFamily="18" charset="0"/>
              </a:rPr>
              <a:t>Obtain current value of a signal object.</a:t>
            </a:r>
          </a:p>
          <a:p>
            <a:pPr lvl="1"/>
            <a:endParaRPr lang="en-US" altLang="zh-TW" dirty="0">
              <a:latin typeface="Times New Roman" panose="02020603050405020304" pitchFamily="18" charset="0"/>
              <a:cs typeface="Times New Roman" panose="02020603050405020304" pitchFamily="18" charset="0"/>
            </a:endParaRPr>
          </a:p>
          <a:p>
            <a:pPr lvl="1"/>
            <a:endParaRPr lang="en-US" altLang="zh-TW" dirty="0" smtClean="0">
              <a:latin typeface="Times New Roman" panose="02020603050405020304" pitchFamily="18" charset="0"/>
              <a:cs typeface="Times New Roman" panose="02020603050405020304" pitchFamily="18" charset="0"/>
            </a:endParaRPr>
          </a:p>
          <a:p>
            <a:pPr lvl="1"/>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81083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lvl="1"/>
            <a:r>
              <a:rPr lang="en-US" altLang="zh-TW" dirty="0">
                <a:latin typeface="Times New Roman" panose="02020603050405020304" pitchFamily="18" charset="0"/>
                <a:cs typeface="Times New Roman" panose="02020603050405020304" pitchFamily="18" charset="0"/>
              </a:rPr>
              <a:t>Waiting on a signaling memory object.</a:t>
            </a:r>
          </a:p>
          <a:p>
            <a:pPr lvl="2"/>
            <a:r>
              <a:rPr lang="en-US" altLang="zh-TW" sz="2400" dirty="0">
                <a:latin typeface="Times New Roman" panose="02020603050405020304" pitchFamily="18" charset="0"/>
                <a:cs typeface="Times New Roman" panose="02020603050405020304" pitchFamily="18" charset="0"/>
              </a:rPr>
              <a:t>Wait operation: equal, not equal, less than, greater than</a:t>
            </a:r>
            <a:r>
              <a:rPr lang="en-US" altLang="zh-TW" sz="2400" dirty="0" smtClean="0">
                <a:latin typeface="Times New Roman" panose="02020603050405020304" pitchFamily="18" charset="0"/>
                <a:cs typeface="Times New Roman" panose="02020603050405020304" pitchFamily="18" charset="0"/>
              </a:rPr>
              <a:t>.</a:t>
            </a:r>
          </a:p>
          <a:p>
            <a:pPr lvl="2"/>
            <a:r>
              <a:rPr lang="en-US" altLang="zh-TW" sz="2400" dirty="0" smtClean="0">
                <a:latin typeface="Times New Roman" panose="02020603050405020304" pitchFamily="18" charset="0"/>
                <a:cs typeface="Times New Roman" panose="02020603050405020304" pitchFamily="18" charset="0"/>
              </a:rPr>
              <a:t>Signal data is considered a signed integer for the purpose of the wait condition.</a:t>
            </a:r>
          </a:p>
          <a:p>
            <a:pPr lvl="2"/>
            <a:r>
              <a:rPr lang="en-US" altLang="zh-TW" sz="2400" dirty="0" smtClean="0">
                <a:latin typeface="Times New Roman" panose="02020603050405020304" pitchFamily="18" charset="0"/>
                <a:cs typeface="Times New Roman" panose="02020603050405020304" pitchFamily="18" charset="0"/>
              </a:rPr>
              <a:t>No guarantee the condition is met when the wait operation returns.</a:t>
            </a:r>
          </a:p>
          <a:p>
            <a:pPr lvl="2"/>
            <a:r>
              <a:rPr lang="en-US" altLang="zh-TW" sz="2400" dirty="0" smtClean="0">
                <a:latin typeface="Times New Roman" panose="02020603050405020304" pitchFamily="18" charset="0"/>
                <a:cs typeface="Times New Roman" panose="02020603050405020304" pitchFamily="18" charset="0"/>
              </a:rPr>
              <a:t>Applications/kernels must confirm the value.</a:t>
            </a:r>
          </a:p>
          <a:p>
            <a:pPr lvl="2"/>
            <a:r>
              <a:rPr lang="en-US" altLang="zh-TW" sz="2400" dirty="0" smtClean="0">
                <a:latin typeface="Times New Roman" panose="02020603050405020304" pitchFamily="18" charset="0"/>
                <a:cs typeface="Times New Roman" panose="02020603050405020304" pitchFamily="18" charset="0"/>
              </a:rPr>
              <a:t>Wait operations have a duration before returning.</a:t>
            </a:r>
          </a:p>
          <a:p>
            <a:pPr lvl="1"/>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704965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smtClean="0">
                <a:latin typeface="Times New Roman" panose="02020603050405020304" pitchFamily="18" charset="0"/>
                <a:cs typeface="Times New Roman" panose="02020603050405020304" pitchFamily="18" charset="0"/>
              </a:rPr>
              <a:t>Waiting operation:</a:t>
            </a:r>
            <a:endParaRPr lang="en-US" altLang="zh-TW"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stretch>
            <a:fillRect/>
          </a:stretch>
        </p:blipFill>
        <p:spPr>
          <a:xfrm>
            <a:off x="872968" y="2079235"/>
            <a:ext cx="7398064" cy="3355406"/>
          </a:xfrm>
          <a:prstGeom prst="rect">
            <a:avLst/>
          </a:prstGeom>
        </p:spPr>
      </p:pic>
    </p:spTree>
    <p:extLst>
      <p:ext uri="{BB962C8B-B14F-4D97-AF65-F5344CB8AC3E}">
        <p14:creationId xmlns:p14="http://schemas.microsoft.com/office/powerpoint/2010/main" val="302727914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lvl="1"/>
            <a:r>
              <a:rPr lang="en-US" altLang="zh-TW" dirty="0" smtClean="0">
                <a:latin typeface="Times New Roman" panose="02020603050405020304" pitchFamily="18" charset="0"/>
                <a:cs typeface="Times New Roman" panose="02020603050405020304" pitchFamily="18" charset="0"/>
              </a:rPr>
              <a:t>Initializing a signaling memory object(setting the value without generating an event).</a:t>
            </a:r>
          </a:p>
          <a:p>
            <a:pPr lvl="2"/>
            <a:r>
              <a:rPr lang="en-US" altLang="zh-TW" sz="2400" dirty="0" smtClean="0">
                <a:latin typeface="Times New Roman" panose="02020603050405020304" pitchFamily="18" charset="0"/>
                <a:cs typeface="Times New Roman" panose="02020603050405020304" pitchFamily="18" charset="0"/>
              </a:rPr>
              <a:t>This is an optimization – implementations can choose to implement the initialization operation to the send operation. </a:t>
            </a:r>
          </a:p>
          <a:p>
            <a:pPr lvl="1"/>
            <a:endParaRPr lang="en-US" altLang="zh-TW" dirty="0" smtClean="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a:p>
            <a:pPr lvl="1"/>
            <a:r>
              <a:rPr lang="en-US" altLang="zh-TW" dirty="0">
                <a:latin typeface="Times New Roman" panose="02020603050405020304" pitchFamily="18" charset="0"/>
                <a:cs typeface="Times New Roman" panose="02020603050405020304" pitchFamily="18" charset="0"/>
              </a:rPr>
              <a:t>Signal objects are allocated run-time. </a:t>
            </a:r>
            <a:r>
              <a:rPr lang="en-US" altLang="zh-TW" dirty="0" smtClean="0">
                <a:latin typeface="Times New Roman" panose="02020603050405020304" pitchFamily="18" charset="0"/>
                <a:cs typeface="Times New Roman" panose="02020603050405020304" pitchFamily="18" charset="0"/>
              </a:rPr>
              <a:t> Both HSA runtime and HSAIL </a:t>
            </a:r>
            <a:r>
              <a:rPr lang="en-US" altLang="zh-TW" dirty="0" err="1" smtClean="0">
                <a:latin typeface="Times New Roman" panose="02020603050405020304" pitchFamily="18" charset="0"/>
                <a:cs typeface="Times New Roman" panose="02020603050405020304" pitchFamily="18" charset="0"/>
              </a:rPr>
              <a:t>syscall</a:t>
            </a:r>
            <a:r>
              <a:rPr lang="en-US" altLang="zh-TW" dirty="0" smtClean="0">
                <a:latin typeface="Times New Roman" panose="02020603050405020304" pitchFamily="18" charset="0"/>
                <a:cs typeface="Times New Roman" panose="02020603050405020304" pitchFamily="18" charset="0"/>
              </a:rPr>
              <a:t> can allocate signal objects.</a:t>
            </a:r>
            <a:endParaRPr lang="en-US" altLang="zh-TW" dirty="0">
              <a:latin typeface="Times New Roman" panose="02020603050405020304" pitchFamily="18" charset="0"/>
              <a:cs typeface="Times New Roman" panose="02020603050405020304" pitchFamily="18" charset="0"/>
            </a:endParaRPr>
          </a:p>
          <a:p>
            <a:pPr lvl="1"/>
            <a:endParaRPr lang="en-US" altLang="zh-TW" dirty="0" smtClean="0">
              <a:latin typeface="Times New Roman" panose="02020603050405020304" pitchFamily="18" charset="0"/>
              <a:cs typeface="Times New Roman" panose="02020603050405020304" pitchFamily="18" charset="0"/>
            </a:endParaRPr>
          </a:p>
          <a:p>
            <a:pPr lvl="1"/>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95532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lvl="1"/>
            <a:r>
              <a:rPr lang="en-US" altLang="zh-TW" dirty="0" smtClean="0">
                <a:latin typeface="Times New Roman" panose="02020603050405020304" pitchFamily="18" charset="0"/>
                <a:cs typeface="Times New Roman" panose="02020603050405020304" pitchFamily="18" charset="0"/>
              </a:rPr>
              <a:t>A </a:t>
            </a:r>
            <a:r>
              <a:rPr lang="en-US" altLang="zh-TW" dirty="0">
                <a:latin typeface="Times New Roman" panose="02020603050405020304" pitchFamily="18" charset="0"/>
                <a:cs typeface="Times New Roman" panose="02020603050405020304" pitchFamily="18" charset="0"/>
              </a:rPr>
              <a:t>signal object should only be manipulated by HSA Agents within the process address space it was allocated in. </a:t>
            </a:r>
          </a:p>
          <a:p>
            <a:pPr marL="0" indent="0">
              <a:buNone/>
            </a:pPr>
            <a:endParaRPr lang="zh-TW" altLang="en-US" sz="2400" dirty="0">
              <a:latin typeface="Times New Roman" panose="02020603050405020304" pitchFamily="18" charset="0"/>
              <a:cs typeface="Times New Roman" panose="02020603050405020304" pitchFamily="18" charset="0"/>
            </a:endParaRPr>
          </a:p>
          <a:p>
            <a:pPr lvl="1"/>
            <a:r>
              <a:rPr lang="en-US" altLang="zh-TW" dirty="0">
                <a:latin typeface="Times New Roman" panose="02020603050405020304" pitchFamily="18" charset="0"/>
                <a:cs typeface="Times New Roman" panose="02020603050405020304" pitchFamily="18" charset="0"/>
              </a:rPr>
              <a:t>Signals cannot be used for Inter-Process Communication (IPC</a:t>
            </a:r>
            <a:r>
              <a:rPr lang="en-US" altLang="zh-TW" dirty="0" smtClean="0">
                <a:latin typeface="Times New Roman" panose="02020603050405020304" pitchFamily="18" charset="0"/>
                <a:cs typeface="Times New Roman" panose="02020603050405020304" pitchFamily="18" charset="0"/>
              </a:rPr>
              <a:t>).</a:t>
            </a:r>
          </a:p>
          <a:p>
            <a:pPr lvl="1"/>
            <a:endParaRPr lang="zh-TW" altLang="en-US" sz="2400" dirty="0">
              <a:latin typeface="Times New Roman" panose="02020603050405020304" pitchFamily="18" charset="0"/>
              <a:cs typeface="Times New Roman" panose="02020603050405020304" pitchFamily="18" charset="0"/>
            </a:endParaRPr>
          </a:p>
          <a:p>
            <a:pPr lvl="1"/>
            <a:r>
              <a:rPr lang="en-US" altLang="zh-TW" dirty="0">
                <a:latin typeface="Times New Roman" panose="02020603050405020304" pitchFamily="18" charset="0"/>
                <a:cs typeface="Times New Roman" panose="02020603050405020304" pitchFamily="18" charset="0"/>
              </a:rPr>
              <a:t>There should be no architectural limitation on the number of signal objects, unless implicitly limited by other requirements outlined in this document. </a:t>
            </a:r>
          </a:p>
          <a:p>
            <a:pPr lvl="1"/>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443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endParaRPr lang="zh-TW" altLang="en-US" sz="2400" dirty="0">
              <a:latin typeface="Times New Roman" panose="02020603050405020304" pitchFamily="18" charset="0"/>
              <a:cs typeface="Times New Roman" panose="02020603050405020304" pitchFamily="18" charset="0"/>
            </a:endParaRPr>
          </a:p>
          <a:p>
            <a:pPr lvl="1"/>
            <a:r>
              <a:rPr lang="en-US" altLang="zh-TW" dirty="0">
                <a:latin typeface="Times New Roman" panose="02020603050405020304" pitchFamily="18" charset="0"/>
                <a:cs typeface="Times New Roman" panose="02020603050405020304" pitchFamily="18" charset="0"/>
              </a:rPr>
              <a:t>The signal object data size is aligned with the machine size </a:t>
            </a:r>
            <a:r>
              <a:rPr lang="en-US" altLang="zh-TW" dirty="0" smtClean="0">
                <a:latin typeface="Times New Roman" panose="02020603050405020304" pitchFamily="18" charset="0"/>
                <a:cs typeface="Times New Roman" panose="02020603050405020304" pitchFamily="18" charset="0"/>
              </a:rPr>
              <a:t>. </a:t>
            </a:r>
            <a:endParaRPr lang="en-US" altLang="zh-TW" dirty="0">
              <a:latin typeface="Times New Roman" panose="02020603050405020304" pitchFamily="18" charset="0"/>
              <a:cs typeface="Times New Roman" panose="02020603050405020304" pitchFamily="18" charset="0"/>
            </a:endParaRPr>
          </a:p>
          <a:p>
            <a:pPr marL="0" indent="0">
              <a:buNone/>
            </a:pPr>
            <a:endParaRPr lang="zh-TW" altLang="en-US" sz="2400" dirty="0">
              <a:latin typeface="Times New Roman" panose="02020603050405020304" pitchFamily="18" charset="0"/>
              <a:cs typeface="Times New Roman" panose="02020603050405020304" pitchFamily="18" charset="0"/>
            </a:endParaRPr>
          </a:p>
          <a:p>
            <a:endParaRPr lang="zh-TW" altLang="en-US" sz="2400" dirty="0">
              <a:latin typeface="Times New Roman" panose="02020603050405020304" pitchFamily="18" charset="0"/>
              <a:cs typeface="Times New Roman" panose="02020603050405020304" pitchFamily="18" charset="0"/>
            </a:endParaRPr>
          </a:p>
          <a:p>
            <a:pPr lvl="1"/>
            <a:r>
              <a:rPr lang="en-US" altLang="zh-TW" dirty="0">
                <a:latin typeface="Times New Roman" panose="02020603050405020304" pitchFamily="18" charset="0"/>
                <a:cs typeface="Times New Roman" panose="02020603050405020304" pitchFamily="18" charset="0"/>
              </a:rPr>
              <a:t>The set of atomic operations defined for general data in HSAIL should be supported for signal objects in HSAIL as well as in the HSA runtime. </a:t>
            </a:r>
            <a:r>
              <a:rPr lang="en-US" altLang="zh-TW" dirty="0" smtClean="0">
                <a:latin typeface="Times New Roman" panose="02020603050405020304" pitchFamily="18" charset="0"/>
                <a:cs typeface="Times New Roman" panose="02020603050405020304" pitchFamily="18" charset="0"/>
              </a:rPr>
              <a:t> </a:t>
            </a:r>
            <a:endParaRPr lang="en-US" altLang="zh-TW" dirty="0">
              <a:latin typeface="Times New Roman" panose="02020603050405020304" pitchFamily="18" charset="0"/>
              <a:cs typeface="Times New Roman" panose="02020603050405020304" pitchFamily="18" charset="0"/>
            </a:endParaRPr>
          </a:p>
          <a:p>
            <a:pPr lvl="1"/>
            <a:endParaRPr lang="en-US" altLang="zh-TW"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73507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endParaRPr lang="zh-TW" altLang="en-US" dirty="0">
              <a:latin typeface="Times New Roman" panose="02020603050405020304" pitchFamily="18" charset="0"/>
              <a:cs typeface="Times New Roman" panose="02020603050405020304" pitchFamily="18" charset="0"/>
            </a:endParaRPr>
          </a:p>
          <a:p>
            <a:pPr lvl="1"/>
            <a:r>
              <a:rPr lang="en-US" altLang="zh-TW" dirty="0" smtClean="0">
                <a:latin typeface="Times New Roman" panose="02020603050405020304" pitchFamily="18" charset="0"/>
                <a:cs typeface="Times New Roman" panose="02020603050405020304" pitchFamily="18" charset="0"/>
              </a:rPr>
              <a:t>The following memory ordering constraints are differentiated between HSA runtime and HSAIL:</a:t>
            </a:r>
          </a:p>
          <a:p>
            <a:pPr lvl="2"/>
            <a:r>
              <a:rPr lang="en-US" altLang="zh-TW" sz="2400" dirty="0" smtClean="0">
                <a:latin typeface="Times New Roman" panose="02020603050405020304" pitchFamily="18" charset="0"/>
                <a:cs typeface="Times New Roman" panose="02020603050405020304" pitchFamily="18" charset="0"/>
              </a:rPr>
              <a:t>Send: </a:t>
            </a:r>
            <a:r>
              <a:rPr lang="en-US" altLang="zh-TW" sz="2400" dirty="0" err="1" smtClean="0">
                <a:latin typeface="Times New Roman" panose="02020603050405020304" pitchFamily="18" charset="0"/>
                <a:cs typeface="Times New Roman" panose="02020603050405020304" pitchFamily="18" charset="0"/>
              </a:rPr>
              <a:t>rel</a:t>
            </a:r>
            <a:r>
              <a:rPr lang="en-US" altLang="zh-TW" sz="2400" dirty="0" smtClean="0">
                <a:latin typeface="Times New Roman" panose="02020603050405020304" pitchFamily="18" charset="0"/>
                <a:cs typeface="Times New Roman" panose="02020603050405020304" pitchFamily="18" charset="0"/>
              </a:rPr>
              <a:t>, </a:t>
            </a:r>
            <a:r>
              <a:rPr lang="en-US" altLang="zh-TW" sz="2400" dirty="0" err="1" smtClean="0">
                <a:latin typeface="Times New Roman" panose="02020603050405020304" pitchFamily="18" charset="0"/>
                <a:cs typeface="Times New Roman" panose="02020603050405020304" pitchFamily="18" charset="0"/>
              </a:rPr>
              <a:t>acq</a:t>
            </a:r>
            <a:r>
              <a:rPr lang="en-US" altLang="zh-TW" sz="2400" dirty="0" smtClean="0">
                <a:latin typeface="Times New Roman" panose="02020603050405020304" pitchFamily="18" charset="0"/>
                <a:cs typeface="Times New Roman" panose="02020603050405020304" pitchFamily="18" charset="0"/>
              </a:rPr>
              <a:t> rel.</a:t>
            </a:r>
          </a:p>
          <a:p>
            <a:pPr lvl="2"/>
            <a:r>
              <a:rPr lang="en-US" altLang="zh-TW" sz="2400" dirty="0" smtClean="0">
                <a:latin typeface="Times New Roman" panose="02020603050405020304" pitchFamily="18" charset="0"/>
                <a:cs typeface="Times New Roman" panose="02020603050405020304" pitchFamily="18" charset="0"/>
              </a:rPr>
              <a:t>Wait: </a:t>
            </a:r>
            <a:r>
              <a:rPr lang="en-US" altLang="zh-TW" sz="2400" dirty="0" err="1" smtClean="0">
                <a:latin typeface="Times New Roman" panose="02020603050405020304" pitchFamily="18" charset="0"/>
                <a:cs typeface="Times New Roman" panose="02020603050405020304" pitchFamily="18" charset="0"/>
              </a:rPr>
              <a:t>acq</a:t>
            </a:r>
            <a:r>
              <a:rPr lang="en-US" altLang="zh-TW" sz="2400" dirty="0" smtClean="0">
                <a:latin typeface="Times New Roman" panose="02020603050405020304" pitchFamily="18" charset="0"/>
                <a:cs typeface="Times New Roman" panose="02020603050405020304" pitchFamily="18" charset="0"/>
              </a:rPr>
              <a:t>, </a:t>
            </a:r>
            <a:r>
              <a:rPr lang="en-US" altLang="zh-TW" sz="2400" dirty="0" err="1" smtClean="0">
                <a:latin typeface="Times New Roman" panose="02020603050405020304" pitchFamily="18" charset="0"/>
                <a:cs typeface="Times New Roman" panose="02020603050405020304" pitchFamily="18" charset="0"/>
              </a:rPr>
              <a:t>acq</a:t>
            </a:r>
            <a:r>
              <a:rPr lang="en-US" altLang="zh-TW" sz="2400" dirty="0" smtClean="0">
                <a:latin typeface="Times New Roman" panose="02020603050405020304" pitchFamily="18" charset="0"/>
                <a:cs typeface="Times New Roman" panose="02020603050405020304" pitchFamily="18" charset="0"/>
              </a:rPr>
              <a:t> rel.</a:t>
            </a:r>
          </a:p>
          <a:p>
            <a:pPr lvl="2"/>
            <a:r>
              <a:rPr lang="en-US" altLang="zh-TW" sz="2400" dirty="0" smtClean="0">
                <a:latin typeface="Times New Roman" panose="02020603050405020304" pitchFamily="18" charset="0"/>
                <a:cs typeface="Times New Roman" panose="02020603050405020304" pitchFamily="18" charset="0"/>
              </a:rPr>
              <a:t>Read: </a:t>
            </a:r>
            <a:r>
              <a:rPr lang="en-US" altLang="zh-TW" sz="2400" dirty="0" err="1">
                <a:latin typeface="Times New Roman" panose="02020603050405020304" pitchFamily="18" charset="0"/>
                <a:cs typeface="Times New Roman" panose="02020603050405020304" pitchFamily="18" charset="0"/>
              </a:rPr>
              <a:t>acq</a:t>
            </a:r>
            <a:r>
              <a:rPr lang="en-US" altLang="zh-TW"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acq</a:t>
            </a:r>
            <a:r>
              <a:rPr lang="en-US" altLang="zh-TW" sz="2400" dirty="0">
                <a:latin typeface="Times New Roman" panose="02020603050405020304" pitchFamily="18" charset="0"/>
                <a:cs typeface="Times New Roman" panose="02020603050405020304" pitchFamily="18" charset="0"/>
              </a:rPr>
              <a:t> rel.</a:t>
            </a:r>
          </a:p>
          <a:p>
            <a:pPr lvl="2"/>
            <a:r>
              <a:rPr lang="en-US" altLang="zh-TW" sz="2400" dirty="0" smtClean="0">
                <a:latin typeface="Times New Roman" panose="02020603050405020304" pitchFamily="18" charset="0"/>
                <a:cs typeface="Times New Roman" panose="02020603050405020304" pitchFamily="18" charset="0"/>
              </a:rPr>
              <a:t>Atomic operations: none, </a:t>
            </a:r>
            <a:r>
              <a:rPr lang="en-US" altLang="zh-TW" sz="2400" dirty="0" err="1" smtClean="0">
                <a:latin typeface="Times New Roman" panose="02020603050405020304" pitchFamily="18" charset="0"/>
                <a:cs typeface="Times New Roman" panose="02020603050405020304" pitchFamily="18" charset="0"/>
              </a:rPr>
              <a:t>rel</a:t>
            </a:r>
            <a:r>
              <a:rPr lang="en-US" altLang="zh-TW" sz="2400" dirty="0" smtClean="0">
                <a:latin typeface="Times New Roman" panose="02020603050405020304" pitchFamily="18" charset="0"/>
                <a:cs typeface="Times New Roman" panose="02020603050405020304" pitchFamily="18" charset="0"/>
              </a:rPr>
              <a:t>, </a:t>
            </a:r>
            <a:r>
              <a:rPr lang="en-US" altLang="zh-TW" sz="2400" dirty="0" err="1" smtClean="0">
                <a:latin typeface="Times New Roman" panose="02020603050405020304" pitchFamily="18" charset="0"/>
                <a:cs typeface="Times New Roman" panose="02020603050405020304" pitchFamily="18" charset="0"/>
              </a:rPr>
              <a:t>acq</a:t>
            </a:r>
            <a:r>
              <a:rPr lang="en-US" altLang="zh-TW" sz="2400" dirty="0" smtClean="0">
                <a:latin typeface="Times New Roman" panose="02020603050405020304" pitchFamily="18" charset="0"/>
                <a:cs typeface="Times New Roman" panose="02020603050405020304" pitchFamily="18" charset="0"/>
              </a:rPr>
              <a:t>, </a:t>
            </a:r>
            <a:r>
              <a:rPr lang="en-US" altLang="zh-TW" sz="2400" dirty="0" err="1" smtClean="0">
                <a:latin typeface="Times New Roman" panose="02020603050405020304" pitchFamily="18" charset="0"/>
                <a:cs typeface="Times New Roman" panose="02020603050405020304" pitchFamily="18" charset="0"/>
              </a:rPr>
              <a:t>acq</a:t>
            </a:r>
            <a:r>
              <a:rPr lang="en-US" altLang="zh-TW" sz="2400" dirty="0" smtClean="0">
                <a:latin typeface="Times New Roman" panose="02020603050405020304" pitchFamily="18" charset="0"/>
                <a:cs typeface="Times New Roman" panose="02020603050405020304" pitchFamily="18" charset="0"/>
              </a:rPr>
              <a:t> rel.</a:t>
            </a:r>
          </a:p>
        </p:txBody>
      </p:sp>
    </p:spTree>
    <p:extLst>
      <p:ext uri="{BB962C8B-B14F-4D97-AF65-F5344CB8AC3E}">
        <p14:creationId xmlns:p14="http://schemas.microsoft.com/office/powerpoint/2010/main" val="21885897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sz="2400" dirty="0" smtClean="0">
                <a:latin typeface="Times New Roman" panose="02020603050405020304" pitchFamily="18" charset="0"/>
                <a:cs typeface="Times New Roman" panose="02020603050405020304" pitchFamily="18" charset="0"/>
              </a:rPr>
              <a:t>Advantage:</a:t>
            </a:r>
            <a:endParaRPr lang="en-US" altLang="zh-TW" dirty="0">
              <a:latin typeface="Times New Roman" panose="02020603050405020304" pitchFamily="18" charset="0"/>
              <a:cs typeface="Times New Roman" panose="02020603050405020304" pitchFamily="18" charset="0"/>
            </a:endParaRPr>
          </a:p>
          <a:p>
            <a:pPr lvl="1"/>
            <a:r>
              <a:rPr lang="en-US" altLang="zh-TW" dirty="0" smtClean="0">
                <a:latin typeface="Times New Roman" panose="02020603050405020304" pitchFamily="18" charset="0"/>
                <a:cs typeface="Times New Roman" panose="02020603050405020304" pitchFamily="18" charset="0"/>
              </a:rPr>
              <a:t>Enables asynchronous interrupts between HSA agents, without involving the kernel</a:t>
            </a:r>
          </a:p>
          <a:p>
            <a:pPr lvl="1"/>
            <a:r>
              <a:rPr lang="en-US" altLang="zh-TW" dirty="0" smtClean="0">
                <a:latin typeface="Times New Roman" panose="02020603050405020304" pitchFamily="18" charset="0"/>
                <a:cs typeface="Times New Roman" panose="02020603050405020304" pitchFamily="18" charset="0"/>
              </a:rPr>
              <a:t>Common idiom for work offload</a:t>
            </a:r>
          </a:p>
          <a:p>
            <a:pPr lvl="1"/>
            <a:r>
              <a:rPr lang="en-US" altLang="zh-TW" dirty="0" smtClean="0">
                <a:latin typeface="Times New Roman" panose="02020603050405020304" pitchFamily="18" charset="0"/>
                <a:cs typeface="Times New Roman" panose="02020603050405020304" pitchFamily="18" charset="0"/>
              </a:rPr>
              <a:t>Low power waiting</a:t>
            </a:r>
          </a:p>
          <a:p>
            <a:r>
              <a:rPr lang="en-US" altLang="zh-TW" dirty="0" smtClean="0">
                <a:latin typeface="Times New Roman" panose="02020603050405020304" pitchFamily="18" charset="0"/>
                <a:cs typeface="Times New Roman" panose="02020603050405020304" pitchFamily="18" charset="0"/>
              </a:rPr>
              <a:t>Implication:</a:t>
            </a:r>
          </a:p>
          <a:p>
            <a:pPr lvl="1"/>
            <a:r>
              <a:rPr lang="en-US" altLang="zh-TW" dirty="0" smtClean="0">
                <a:latin typeface="Times New Roman" panose="02020603050405020304" pitchFamily="18" charset="0"/>
                <a:cs typeface="Times New Roman" panose="02020603050405020304" pitchFamily="18" charset="0"/>
              </a:rPr>
              <a:t>Runtime support required</a:t>
            </a:r>
          </a:p>
          <a:p>
            <a:pPr lvl="1"/>
            <a:r>
              <a:rPr lang="en-US" altLang="zh-TW" dirty="0" smtClean="0">
                <a:latin typeface="Times New Roman" panose="02020603050405020304" pitchFamily="18" charset="0"/>
                <a:cs typeface="Times New Roman" panose="02020603050405020304" pitchFamily="18" charset="0"/>
              </a:rPr>
              <a:t>Commonly implemented on the top of cache coherency flows</a:t>
            </a:r>
            <a:endParaRPr lang="en-US" altLang="zh-TW" dirty="0">
              <a:latin typeface="Times New Roman" panose="02020603050405020304" pitchFamily="18" charset="0"/>
              <a:cs typeface="Times New Roman" panose="02020603050405020304" pitchFamily="18" charset="0"/>
            </a:endParaRPr>
          </a:p>
          <a:p>
            <a:endParaRPr lang="en-US" altLang="zh-TW" sz="2400" dirty="0" smtClean="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sz="2400" dirty="0" smtClean="0">
              <a:latin typeface="Times New Roman" panose="02020603050405020304" pitchFamily="18" charset="0"/>
              <a:cs typeface="Times New Roman" panose="02020603050405020304" pitchFamily="18" charset="0"/>
            </a:endParaRPr>
          </a:p>
          <a:p>
            <a:endParaRPr lang="en-US" altLang="zh-TW"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7987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Memory-Based Signaling and Synchronization</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2"/>
          <a:stretch>
            <a:fillRect/>
          </a:stretch>
        </p:blipFill>
        <p:spPr>
          <a:xfrm>
            <a:off x="1543051" y="1604124"/>
            <a:ext cx="6057900" cy="4076700"/>
          </a:xfrm>
          <a:prstGeom prst="rect">
            <a:avLst/>
          </a:prstGeom>
        </p:spPr>
      </p:pic>
    </p:spTree>
    <p:extLst>
      <p:ext uri="{BB962C8B-B14F-4D97-AF65-F5344CB8AC3E}">
        <p14:creationId xmlns:p14="http://schemas.microsoft.com/office/powerpoint/2010/main" val="17830027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0" dirty="0"/>
              <a:t>Atomic memory </a:t>
            </a:r>
            <a:r>
              <a:rPr lang="en-US" altLang="zh-TW" b="0" dirty="0" smtClean="0"/>
              <a:t>operations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sz="2400" dirty="0" smtClean="0">
                <a:latin typeface="Times New Roman" panose="02020603050405020304" pitchFamily="18" charset="0"/>
                <a:cs typeface="Times New Roman" panose="02020603050405020304" pitchFamily="18" charset="0"/>
              </a:rPr>
              <a:t>Must be supported atomic memory operations by HSA agents:</a:t>
            </a:r>
          </a:p>
          <a:p>
            <a:pPr lvl="1"/>
            <a:r>
              <a:rPr lang="en-US" altLang="zh-TW" dirty="0" smtClean="0">
                <a:latin typeface="Times New Roman" panose="02020603050405020304" pitchFamily="18" charset="0"/>
                <a:cs typeface="Times New Roman" panose="02020603050405020304" pitchFamily="18" charset="0"/>
              </a:rPr>
              <a:t>Load from memory.</a:t>
            </a:r>
          </a:p>
          <a:p>
            <a:pPr lvl="1"/>
            <a:r>
              <a:rPr lang="en-US" altLang="zh-TW" dirty="0" smtClean="0">
                <a:latin typeface="Times New Roman" panose="02020603050405020304" pitchFamily="18" charset="0"/>
                <a:cs typeface="Times New Roman" panose="02020603050405020304" pitchFamily="18" charset="0"/>
              </a:rPr>
              <a:t>Store to memory.</a:t>
            </a:r>
          </a:p>
          <a:p>
            <a:pPr lvl="1"/>
            <a:r>
              <a:rPr lang="en-US" altLang="zh-TW" dirty="0" smtClean="0">
                <a:latin typeface="Times New Roman" panose="02020603050405020304" pitchFamily="18" charset="0"/>
                <a:cs typeface="Times New Roman" panose="02020603050405020304" pitchFamily="18" charset="0"/>
              </a:rPr>
              <a:t>Fetch </a:t>
            </a:r>
            <a:r>
              <a:rPr lang="en-US" altLang="zh-TW" dirty="0">
                <a:latin typeface="Times New Roman" panose="02020603050405020304" pitchFamily="18" charset="0"/>
                <a:cs typeface="Times New Roman" panose="02020603050405020304" pitchFamily="18" charset="0"/>
              </a:rPr>
              <a:t>from </a:t>
            </a:r>
            <a:r>
              <a:rPr lang="en-US" altLang="zh-TW" dirty="0" smtClean="0">
                <a:latin typeface="Times New Roman" panose="02020603050405020304" pitchFamily="18" charset="0"/>
                <a:cs typeface="Times New Roman" panose="02020603050405020304" pitchFamily="18" charset="0"/>
              </a:rPr>
              <a:t>memory and include basic logic operation.(and, or, </a:t>
            </a:r>
            <a:r>
              <a:rPr lang="en-US" altLang="zh-TW" dirty="0" err="1" smtClean="0">
                <a:latin typeface="Times New Roman" panose="02020603050405020304" pitchFamily="18" charset="0"/>
                <a:cs typeface="Times New Roman" panose="02020603050405020304" pitchFamily="18" charset="0"/>
              </a:rPr>
              <a:t>xor</a:t>
            </a:r>
            <a:r>
              <a:rPr lang="en-US" altLang="zh-TW" dirty="0" smtClean="0">
                <a:latin typeface="Times New Roman" panose="02020603050405020304" pitchFamily="18" charset="0"/>
                <a:cs typeface="Times New Roman" panose="02020603050405020304" pitchFamily="18" charset="0"/>
              </a:rPr>
              <a:t>…etc.)</a:t>
            </a:r>
            <a:endParaRPr lang="zh-TW" altLang="en-US" sz="2400" dirty="0">
              <a:latin typeface="Times New Roman" panose="02020603050405020304" pitchFamily="18" charset="0"/>
              <a:cs typeface="Times New Roman" panose="02020603050405020304" pitchFamily="18" charset="0"/>
            </a:endParaRPr>
          </a:p>
          <a:p>
            <a:pPr lvl="1"/>
            <a:r>
              <a:rPr lang="en-US" altLang="zh-TW" dirty="0">
                <a:latin typeface="Times New Roman" panose="02020603050405020304" pitchFamily="18" charset="0"/>
                <a:cs typeface="Times New Roman" panose="02020603050405020304" pitchFamily="18" charset="0"/>
              </a:rPr>
              <a:t>Fetch from memory, apply integer arithmetic operation with one additional operand and store back. </a:t>
            </a:r>
            <a:endParaRPr lang="zh-TW" altLang="en-US" sz="2400" dirty="0">
              <a:latin typeface="Times New Roman" panose="02020603050405020304" pitchFamily="18" charset="0"/>
              <a:cs typeface="Times New Roman" panose="02020603050405020304" pitchFamily="18" charset="0"/>
            </a:endParaRPr>
          </a:p>
          <a:p>
            <a:pPr lvl="1"/>
            <a:r>
              <a:rPr lang="en-US" altLang="zh-TW" dirty="0">
                <a:latin typeface="Times New Roman" panose="02020603050405020304" pitchFamily="18" charset="0"/>
                <a:cs typeface="Times New Roman" panose="02020603050405020304" pitchFamily="18" charset="0"/>
              </a:rPr>
              <a:t>Exchange memory location with operand. </a:t>
            </a:r>
            <a:endParaRPr lang="zh-TW" altLang="en-US" sz="2400" dirty="0">
              <a:latin typeface="Times New Roman" panose="02020603050405020304" pitchFamily="18" charset="0"/>
              <a:cs typeface="Times New Roman" panose="02020603050405020304" pitchFamily="18" charset="0"/>
            </a:endParaRPr>
          </a:p>
          <a:p>
            <a:pPr lvl="1"/>
            <a:r>
              <a:rPr lang="en-US" altLang="zh-TW" dirty="0" smtClean="0">
                <a:latin typeface="Times New Roman" panose="02020603050405020304" pitchFamily="18" charset="0"/>
                <a:cs typeface="Times New Roman" panose="02020603050405020304" pitchFamily="18" charset="0"/>
              </a:rPr>
              <a:t>Compare-and-swap.</a:t>
            </a:r>
            <a:endParaRPr lang="en-US" altLang="zh-TW" dirty="0">
              <a:latin typeface="Times New Roman" panose="02020603050405020304" pitchFamily="18" charset="0"/>
              <a:cs typeface="Times New Roman" panose="02020603050405020304" pitchFamily="18" charset="0"/>
            </a:endParaRPr>
          </a:p>
          <a:p>
            <a:pPr lvl="1"/>
            <a:endParaRPr lang="en-US" altLang="zh-TW" dirty="0">
              <a:latin typeface="Times New Roman" panose="02020603050405020304" pitchFamily="18" charset="0"/>
              <a:cs typeface="Times New Roman" panose="02020603050405020304" pitchFamily="18" charset="0"/>
            </a:endParaRPr>
          </a:p>
          <a:p>
            <a:pPr lvl="1"/>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75787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HSA </a:t>
            </a:r>
            <a:r>
              <a:rPr lang="en-US" altLang="zh-TW" sz="3600" dirty="0">
                <a:latin typeface="Times New Roman" panose="02020603050405020304" pitchFamily="18" charset="0"/>
                <a:cs typeface="Times New Roman" panose="02020603050405020304" pitchFamily="18" charset="0"/>
              </a:rPr>
              <a:t>Platform Topology Discovery </a:t>
            </a:r>
            <a:endParaRPr lang="zh-TW" altLang="en-US" sz="3600"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2"/>
          <a:stretch>
            <a:fillRect/>
          </a:stretch>
        </p:blipFill>
        <p:spPr>
          <a:xfrm>
            <a:off x="2165495" y="1125538"/>
            <a:ext cx="4813009" cy="4895850"/>
          </a:xfrm>
          <a:prstGeom prst="rect">
            <a:avLst/>
          </a:prstGeom>
        </p:spPr>
      </p:pic>
    </p:spTree>
    <p:extLst>
      <p:ext uri="{BB962C8B-B14F-4D97-AF65-F5344CB8AC3E}">
        <p14:creationId xmlns:p14="http://schemas.microsoft.com/office/powerpoint/2010/main" val="20774262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HSA </a:t>
            </a:r>
            <a:r>
              <a:rPr lang="en-US" altLang="zh-TW" sz="3600" dirty="0">
                <a:latin typeface="Times New Roman" panose="02020603050405020304" pitchFamily="18" charset="0"/>
                <a:cs typeface="Times New Roman" panose="02020603050405020304" pitchFamily="18" charset="0"/>
              </a:rPr>
              <a:t>Platform Topology Discovery </a:t>
            </a:r>
            <a:endParaRPr lang="zh-TW" altLang="en-US" sz="3600" dirty="0"/>
          </a:p>
        </p:txBody>
      </p:sp>
      <p:pic>
        <p:nvPicPr>
          <p:cNvPr id="4" name="圖片 3"/>
          <p:cNvPicPr>
            <a:picLocks noChangeAspect="1"/>
          </p:cNvPicPr>
          <p:nvPr/>
        </p:nvPicPr>
        <p:blipFill>
          <a:blip r:embed="rId2"/>
          <a:stretch>
            <a:fillRect/>
          </a:stretch>
        </p:blipFill>
        <p:spPr>
          <a:xfrm>
            <a:off x="1649125" y="1111828"/>
            <a:ext cx="5230920" cy="5535323"/>
          </a:xfrm>
          <a:prstGeom prst="rect">
            <a:avLst/>
          </a:prstGeom>
        </p:spPr>
      </p:pic>
    </p:spTree>
    <p:extLst>
      <p:ext uri="{BB962C8B-B14F-4D97-AF65-F5344CB8AC3E}">
        <p14:creationId xmlns:p14="http://schemas.microsoft.com/office/powerpoint/2010/main" val="9521914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HSA </a:t>
            </a:r>
            <a:r>
              <a:rPr lang="en-US" altLang="zh-TW" sz="3600" dirty="0">
                <a:latin typeface="Times New Roman" panose="02020603050405020304" pitchFamily="18" charset="0"/>
                <a:cs typeface="Times New Roman" panose="02020603050405020304" pitchFamily="18" charset="0"/>
              </a:rPr>
              <a:t>Platform Topology Discovery </a:t>
            </a:r>
            <a:endParaRPr lang="zh-TW" altLang="en-US" sz="3600" dirty="0"/>
          </a:p>
        </p:txBody>
      </p:sp>
      <p:sp>
        <p:nvSpPr>
          <p:cNvPr id="3" name="內容版面配置區 2"/>
          <p:cNvSpPr>
            <a:spLocks noGrp="1"/>
          </p:cNvSpPr>
          <p:nvPr>
            <p:ph idx="1"/>
          </p:nvPr>
        </p:nvSpPr>
        <p:spPr/>
        <p:txBody>
          <a:bodyPr/>
          <a:lstStyle/>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An </a:t>
            </a:r>
            <a:r>
              <a:rPr lang="en-US" altLang="zh-TW" sz="2400" i="1" dirty="0" smtClean="0">
                <a:latin typeface="Times New Roman" panose="02020603050405020304" pitchFamily="18" charset="0"/>
                <a:cs typeface="Times New Roman" panose="02020603050405020304" pitchFamily="18" charset="0"/>
              </a:rPr>
              <a:t>HSA Memory Node (HMN) </a:t>
            </a:r>
            <a:r>
              <a:rPr lang="en-US" altLang="zh-TW" sz="2400" dirty="0" smtClean="0">
                <a:latin typeface="Times New Roman" panose="02020603050405020304" pitchFamily="18" charset="0"/>
                <a:cs typeface="Times New Roman" panose="02020603050405020304" pitchFamily="18" charset="0"/>
              </a:rPr>
              <a:t>delineates a set of system components with “local” access to a set of memory resources .</a:t>
            </a:r>
          </a:p>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HSA platform discovery strictly follows a memory locality paradigm.</a:t>
            </a:r>
          </a:p>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Each of HMNs shall describe memory and memory controller capabilities, host compute unit capabilities and HSA component capabilities.</a:t>
            </a:r>
          </a:p>
        </p:txBody>
      </p:sp>
    </p:spTree>
    <p:extLst>
      <p:ext uri="{BB962C8B-B14F-4D97-AF65-F5344CB8AC3E}">
        <p14:creationId xmlns:p14="http://schemas.microsoft.com/office/powerpoint/2010/main" val="1929823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latin typeface="Times New Roman" panose="02020603050405020304" pitchFamily="18" charset="0"/>
                <a:cs typeface="Times New Roman" panose="02020603050405020304" pitchFamily="18" charset="0"/>
              </a:rPr>
              <a:t>HSA Platform Topology Discovery </a:t>
            </a:r>
            <a:endParaRPr lang="zh-TW" altLang="en-US" sz="3600" dirty="0"/>
          </a:p>
        </p:txBody>
      </p:sp>
      <p:sp>
        <p:nvSpPr>
          <p:cNvPr id="3" name="內容版面配置區 2"/>
          <p:cNvSpPr>
            <a:spLocks noGrp="1"/>
          </p:cNvSpPr>
          <p:nvPr>
            <p:ph idx="1"/>
          </p:nvPr>
        </p:nvSpPr>
        <p:spPr/>
        <p:txBody>
          <a:bodyPr/>
          <a:lstStyle/>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Node interconnect properties like bandwidth and latency can characterized as necessary.</a:t>
            </a:r>
          </a:p>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Application can query system software and retrieve relevant topology information for each node.</a:t>
            </a:r>
          </a:p>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The discovery API may be provide by the operation system.</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94793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A good memory model</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sz="2400" dirty="0" smtClean="0">
                <a:latin typeface="Times New Roman" panose="02020603050405020304" pitchFamily="18" charset="0"/>
                <a:cs typeface="Times New Roman" panose="02020603050405020304" pitchFamily="18" charset="0"/>
              </a:rPr>
              <a:t>Programmability; should make it easy to write </a:t>
            </a:r>
            <a:r>
              <a:rPr lang="en-US" altLang="zh-TW" sz="2400" dirty="0" err="1" smtClean="0">
                <a:latin typeface="Times New Roman" panose="02020603050405020304" pitchFamily="18" charset="0"/>
                <a:cs typeface="Times New Roman" panose="02020603050405020304" pitchFamily="18" charset="0"/>
              </a:rPr>
              <a:t>multiwork</a:t>
            </a:r>
            <a:r>
              <a:rPr lang="en-US" altLang="zh-TW" sz="2400" dirty="0" smtClean="0">
                <a:latin typeface="Times New Roman" panose="02020603050405020304" pitchFamily="18" charset="0"/>
                <a:cs typeface="Times New Roman" panose="02020603050405020304" pitchFamily="18" charset="0"/>
              </a:rPr>
              <a:t>-item programs. The model should be intuitive to most users.</a:t>
            </a:r>
          </a:p>
          <a:p>
            <a:endParaRPr lang="en-US" altLang="zh-TW" sz="2400" dirty="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Performance; should facilitate high-performance implementations at reasonable power, cost, etc.</a:t>
            </a:r>
          </a:p>
          <a:p>
            <a:endParaRPr lang="en-US" altLang="zh-TW" sz="2400" dirty="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Portability; would be adopted widely or at least provide backward compatibility or the ability to translate among models.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60206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HSA memory model</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sz="2400" dirty="0" err="1" smtClean="0">
                <a:latin typeface="Times New Roman" panose="02020603050405020304" pitchFamily="18" charset="0"/>
                <a:cs typeface="Times New Roman" panose="02020603050405020304" pitchFamily="18" charset="0"/>
              </a:rPr>
              <a:t>Workitems</a:t>
            </a:r>
            <a:r>
              <a:rPr lang="en-US" altLang="zh-TW" sz="2400" dirty="0" smtClean="0">
                <a:latin typeface="Times New Roman" panose="02020603050405020304" pitchFamily="18" charset="0"/>
                <a:cs typeface="Times New Roman" panose="02020603050405020304" pitchFamily="18" charset="0"/>
              </a:rPr>
              <a:t> can operate in one or more workgroups, with shared access to a set of memory regions.</a:t>
            </a:r>
          </a:p>
          <a:p>
            <a:endParaRPr lang="en-US" altLang="zh-TW" sz="2400" dirty="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A thread is a program-ordered sequence of operations through a processing element.</a:t>
            </a:r>
          </a:p>
          <a:p>
            <a:endParaRPr lang="en-US" altLang="zh-TW" sz="2400" dirty="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Some devices doesn’t subscribe to HSA memory model, but can move data in and out of HSA memory region.</a:t>
            </a:r>
          </a:p>
          <a:p>
            <a:endParaRPr lang="en-US" altLang="zh-TW" sz="2400" dirty="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HSAIL might interact with code in a stronger memory mode but is not visible to HSAIL-compliant memory system.</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77069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latin typeface="Times New Roman" panose="02020603050405020304" pitchFamily="18" charset="0"/>
                <a:cs typeface="Times New Roman" panose="02020603050405020304" pitchFamily="18" charset="0"/>
              </a:rPr>
              <a:t>HSA memory model</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The HSA memory model describes how multiple work-items interact with themselves and with HSA Agents. </a:t>
            </a:r>
            <a:endParaRPr lang="en-US" altLang="zh-TW" sz="2400" dirty="0" smtClean="0">
              <a:latin typeface="Times New Roman" panose="02020603050405020304" pitchFamily="18" charset="0"/>
              <a:cs typeface="Times New Roman" panose="02020603050405020304" pitchFamily="18" charset="0"/>
            </a:endParaRPr>
          </a:p>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Work-items can operate in one or more work-groups, with shared access to a set of memory regions. </a:t>
            </a:r>
            <a:endParaRPr lang="en-US" altLang="zh-TW" sz="2400" dirty="0" smtClean="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A </a:t>
            </a:r>
            <a:r>
              <a:rPr lang="en-US" altLang="zh-TW" sz="2400" i="1" dirty="0">
                <a:latin typeface="Times New Roman" panose="02020603050405020304" pitchFamily="18" charset="0"/>
                <a:cs typeface="Times New Roman" panose="02020603050405020304" pitchFamily="18" charset="0"/>
              </a:rPr>
              <a:t>thread </a:t>
            </a:r>
            <a:r>
              <a:rPr lang="en-US" altLang="zh-TW" sz="2400" dirty="0">
                <a:latin typeface="Times New Roman" panose="02020603050405020304" pitchFamily="18" charset="0"/>
                <a:cs typeface="Times New Roman" panose="02020603050405020304" pitchFamily="18" charset="0"/>
              </a:rPr>
              <a:t>is a program-ordered sequence of operations through a processing element. </a:t>
            </a:r>
            <a:endParaRPr lang="en-US" altLang="zh-TW" sz="2400" dirty="0" smtClean="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37518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latin typeface="Times New Roman" panose="02020603050405020304" pitchFamily="18" charset="0"/>
                <a:cs typeface="Times New Roman" panose="02020603050405020304" pitchFamily="18" charset="0"/>
              </a:rPr>
              <a:t>HSA memory model</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A thread can be any HSA Agent, a work-item, or any method of sending operations through a processing element in an HSA-compatible device. </a:t>
            </a:r>
            <a:endParaRPr lang="en-US" altLang="zh-TW" sz="2400" dirty="0" smtClean="0">
              <a:latin typeface="Times New Roman" panose="02020603050405020304" pitchFamily="18" charset="0"/>
              <a:cs typeface="Times New Roman" panose="02020603050405020304" pitchFamily="18" charset="0"/>
            </a:endParaRPr>
          </a:p>
          <a:p>
            <a:endParaRPr lang="en-US" altLang="zh-TW" sz="2400" dirty="0" smtClean="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There might be devices in a system that do not subscribe to the HSA memory model, but can move data in and out of HSA memory regions. </a:t>
            </a:r>
            <a:r>
              <a:rPr lang="en-US" altLang="zh-TW" sz="2400" dirty="0" smtClean="0">
                <a:latin typeface="Times New Roman" panose="02020603050405020304" pitchFamily="18" charset="0"/>
                <a:cs typeface="Times New Roman" panose="02020603050405020304" pitchFamily="18" charset="0"/>
              </a:rPr>
              <a:t> </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These need coarse-grain </a:t>
            </a:r>
            <a:r>
              <a:rPr lang="en-US" altLang="zh-TW" sz="2400" dirty="0" smtClean="0">
                <a:latin typeface="Times New Roman" panose="02020603050405020304" pitchFamily="18" charset="0"/>
                <a:cs typeface="Times New Roman" panose="02020603050405020304" pitchFamily="18" charset="0"/>
              </a:rPr>
              <a:t>synchronization.</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93686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latin typeface="Times New Roman" panose="02020603050405020304" pitchFamily="18" charset="0"/>
                <a:cs typeface="Times New Roman" panose="02020603050405020304" pitchFamily="18" charset="0"/>
              </a:rPr>
              <a:t>HSA Memory Model Defined </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endParaRPr lang="en-US" altLang="zh-TW" sz="2400" dirty="0" smtClean="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The HSA memory model is defined in terms of work-items, visibility, and causality ordering rules. </a:t>
            </a:r>
            <a:endParaRPr lang="en-US" altLang="zh-TW" sz="2400" dirty="0" smtClean="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For primitives of type “store,” visibility is when a store's data is available to loads from any work-item. </a:t>
            </a:r>
            <a:endParaRPr lang="en-US" altLang="zh-TW" sz="2400" dirty="0" smtClean="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For primitives of type “load,” visibility is when a load gets the data that the work-item will put in the register. </a:t>
            </a:r>
            <a:endParaRPr lang="en-US" altLang="zh-TW"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25311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smtClean="0">
                <a:latin typeface="Times New Roman" panose="02020603050405020304" pitchFamily="18" charset="0"/>
                <a:cs typeface="Times New Roman" panose="02020603050405020304" pitchFamily="18" charset="0"/>
              </a:rPr>
              <a:t>Workitem</a:t>
            </a:r>
            <a:r>
              <a:rPr lang="en-US" altLang="zh-TW" sz="3600" dirty="0" smtClean="0">
                <a:latin typeface="Times New Roman" panose="02020603050405020304" pitchFamily="18" charset="0"/>
                <a:cs typeface="Times New Roman" panose="02020603050405020304" pitchFamily="18" charset="0"/>
              </a:rPr>
              <a:t> ordering</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endParaRPr lang="en-US" altLang="zh-TW" sz="2400" dirty="0" smtClean="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err="1" smtClean="0">
                <a:latin typeface="Times New Roman" panose="02020603050405020304" pitchFamily="18" charset="0"/>
                <a:cs typeface="Times New Roman" panose="02020603050405020304" pitchFamily="18" charset="0"/>
              </a:rPr>
              <a:t>Workitem</a:t>
            </a:r>
            <a:r>
              <a:rPr lang="en-US" altLang="zh-TW" sz="2400" dirty="0" smtClean="0">
                <a:latin typeface="Times New Roman" panose="02020603050405020304" pitchFamily="18" charset="0"/>
                <a:cs typeface="Times New Roman" panose="02020603050405020304" pitchFamily="18" charset="0"/>
              </a:rPr>
              <a:t> address dependence order is maintained using virtual address only.</a:t>
            </a:r>
          </a:p>
          <a:p>
            <a:endParaRPr lang="en-US" altLang="zh-TW" sz="2400" dirty="0" smtClean="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Two accesses to the same physical address using different virtual addresses are not guaranteed to be ordered.</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53265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latin typeface="Times New Roman" panose="02020603050405020304" pitchFamily="18" charset="0"/>
                <a:cs typeface="Times New Roman" panose="02020603050405020304" pitchFamily="18" charset="0"/>
              </a:rPr>
              <a:t>Write serialization</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sz="2400" dirty="0" smtClean="0">
                <a:latin typeface="Times New Roman" panose="02020603050405020304" pitchFamily="18" charset="0"/>
                <a:cs typeface="Times New Roman" panose="02020603050405020304" pitchFamily="18" charset="0"/>
              </a:rPr>
              <a:t>There is a single order of all stores per virtual memory location, by any </a:t>
            </a:r>
            <a:r>
              <a:rPr lang="en-US" altLang="zh-TW" sz="2400" dirty="0" err="1" smtClean="0">
                <a:latin typeface="Times New Roman" panose="02020603050405020304" pitchFamily="18" charset="0"/>
                <a:cs typeface="Times New Roman" panose="02020603050405020304" pitchFamily="18" charset="0"/>
              </a:rPr>
              <a:t>workitem</a:t>
            </a:r>
            <a:r>
              <a:rPr lang="en-US" altLang="zh-TW" sz="2400" dirty="0" smtClean="0">
                <a:latin typeface="Times New Roman" panose="02020603050405020304" pitchFamily="18" charset="0"/>
                <a:cs typeface="Times New Roman" panose="02020603050405020304" pitchFamily="18" charset="0"/>
              </a:rPr>
              <a:t>.</a:t>
            </a:r>
          </a:p>
          <a:p>
            <a:endParaRPr lang="en-US" altLang="zh-TW" sz="2400" dirty="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If a single </a:t>
            </a:r>
            <a:r>
              <a:rPr lang="en-US" altLang="zh-TW" sz="2400" dirty="0" err="1" smtClean="0">
                <a:latin typeface="Times New Roman" panose="02020603050405020304" pitchFamily="18" charset="0"/>
                <a:cs typeface="Times New Roman" panose="02020603050405020304" pitchFamily="18" charset="0"/>
              </a:rPr>
              <a:t>workitem</a:t>
            </a:r>
            <a:r>
              <a:rPr lang="en-US" altLang="zh-TW" sz="2400" dirty="0" smtClean="0">
                <a:latin typeface="Times New Roman" panose="02020603050405020304" pitchFamily="18" charset="0"/>
                <a:cs typeface="Times New Roman" panose="02020603050405020304" pitchFamily="18" charset="0"/>
              </a:rPr>
              <a:t> stores repeatedly into the same address, no other </a:t>
            </a:r>
            <a:r>
              <a:rPr lang="en-US" altLang="zh-TW" sz="2400" dirty="0" err="1" smtClean="0">
                <a:latin typeface="Times New Roman" panose="02020603050405020304" pitchFamily="18" charset="0"/>
                <a:cs typeface="Times New Roman" panose="02020603050405020304" pitchFamily="18" charset="0"/>
              </a:rPr>
              <a:t>workitem</a:t>
            </a:r>
            <a:r>
              <a:rPr lang="en-US" altLang="zh-TW" sz="2400" dirty="0" smtClean="0">
                <a:latin typeface="Times New Roman" panose="02020603050405020304" pitchFamily="18" charset="0"/>
                <a:cs typeface="Times New Roman" panose="02020603050405020304" pitchFamily="18" charset="0"/>
              </a:rPr>
              <a:t> can see the stores in different order.</a:t>
            </a:r>
          </a:p>
          <a:p>
            <a:endParaRPr lang="en-US" altLang="zh-TW" sz="2400" dirty="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Allow to delay stores until kernel finishes.</a:t>
            </a:r>
          </a:p>
          <a:p>
            <a:endParaRPr lang="en-US" altLang="zh-TW" sz="2400" dirty="0">
              <a:latin typeface="Times New Roman" panose="02020603050405020304" pitchFamily="18" charset="0"/>
              <a:cs typeface="Times New Roman" panose="02020603050405020304" pitchFamily="18" charset="0"/>
            </a:endParaRPr>
          </a:p>
          <a:p>
            <a:r>
              <a:rPr lang="en-US" altLang="zh-TW" sz="2400" dirty="0" smtClean="0">
                <a:latin typeface="Times New Roman" panose="02020603050405020304" pitchFamily="18" charset="0"/>
                <a:cs typeface="Times New Roman" panose="02020603050405020304" pitchFamily="18" charset="0"/>
              </a:rPr>
              <a:t>Guarantees a kernel that just initialized a block of memory does not need explicit synchronization.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29693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49576" y="2962565"/>
            <a:ext cx="7772400" cy="1362075"/>
          </a:xfrm>
        </p:spPr>
        <p:txBody>
          <a:bodyPr/>
          <a:lstStyle/>
          <a:p>
            <a:pPr algn="ctr"/>
            <a:r>
              <a:rPr lang="en-US" altLang="zh-TW" dirty="0" err="1" smtClean="0">
                <a:latin typeface="Times New Roman" panose="02020603050405020304" pitchFamily="18" charset="0"/>
                <a:cs typeface="Times New Roman" panose="02020603050405020304" pitchFamily="18" charset="0"/>
              </a:rPr>
              <a:t>hQ</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015631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t>Introduction and Characteristic</a:t>
            </a:r>
            <a:endParaRPr lang="zh-TW" altLang="en-US" sz="3600" dirty="0"/>
          </a:p>
        </p:txBody>
      </p:sp>
      <p:sp>
        <p:nvSpPr>
          <p:cNvPr id="3" name="內容版面配置區 2"/>
          <p:cNvSpPr>
            <a:spLocks noGrp="1"/>
          </p:cNvSpPr>
          <p:nvPr>
            <p:ph idx="1"/>
          </p:nvPr>
        </p:nvSpPr>
        <p:spPr/>
        <p:txBody>
          <a:bodyPr/>
          <a:lstStyle/>
          <a:p>
            <a:endParaRPr lang="en-US" altLang="zh-TW" dirty="0" smtClean="0"/>
          </a:p>
          <a:p>
            <a:r>
              <a:rPr lang="en-US" altLang="zh-TW" sz="2400" dirty="0" smtClean="0"/>
              <a:t>HSA-compliant </a:t>
            </a:r>
            <a:r>
              <a:rPr lang="en-US" altLang="zh-TW" sz="2400" dirty="0"/>
              <a:t>platform </a:t>
            </a:r>
            <a:r>
              <a:rPr lang="en-US" altLang="zh-TW" sz="2400" dirty="0" smtClean="0"/>
              <a:t>supports </a:t>
            </a:r>
            <a:r>
              <a:rPr lang="en-US" altLang="zh-TW" sz="2400" dirty="0"/>
              <a:t>for the allocation of multiple “user-level command </a:t>
            </a:r>
            <a:r>
              <a:rPr lang="en-US" altLang="zh-TW" sz="2400" dirty="0" smtClean="0"/>
              <a:t>queues”</a:t>
            </a:r>
          </a:p>
          <a:p>
            <a:endParaRPr lang="en-US" altLang="zh-TW" sz="2400" dirty="0"/>
          </a:p>
          <a:p>
            <a:r>
              <a:rPr lang="en-US" altLang="zh-TW" sz="2400" dirty="0"/>
              <a:t>A</a:t>
            </a:r>
            <a:r>
              <a:rPr lang="en-US" altLang="zh-TW" sz="2400" dirty="0" smtClean="0"/>
              <a:t> </a:t>
            </a:r>
            <a:r>
              <a:rPr lang="en-US" altLang="zh-TW" sz="2400" dirty="0"/>
              <a:t>user-level command queue shall be characterized as </a:t>
            </a:r>
            <a:r>
              <a:rPr lang="en-US" altLang="zh-TW" sz="2400" dirty="0" smtClean="0"/>
              <a:t>follows</a:t>
            </a:r>
          </a:p>
          <a:p>
            <a:pPr lvl="1"/>
            <a:r>
              <a:rPr lang="en-US" altLang="zh-TW" sz="2400" dirty="0" smtClean="0"/>
              <a:t>application-allocated</a:t>
            </a:r>
          </a:p>
          <a:p>
            <a:pPr lvl="1"/>
            <a:r>
              <a:rPr lang="en-US" altLang="zh-TW" sz="2400" dirty="0" smtClean="0"/>
              <a:t>user-level </a:t>
            </a:r>
            <a:r>
              <a:rPr lang="en-US" altLang="zh-TW" sz="2400" dirty="0"/>
              <a:t>accessible virtual memory </a:t>
            </a:r>
          </a:p>
          <a:p>
            <a:pPr lvl="1"/>
            <a:r>
              <a:rPr lang="en-US" altLang="zh-TW" sz="2400" dirty="0"/>
              <a:t>containing packets defined in the Architected </a:t>
            </a:r>
            <a:r>
              <a:rPr lang="en-US" altLang="zh-TW" sz="2400" dirty="0" err="1"/>
              <a:t>Queueing</a:t>
            </a:r>
            <a:r>
              <a:rPr lang="en-US" altLang="zh-TW" sz="2400" dirty="0"/>
              <a:t> Language </a:t>
            </a:r>
            <a:endParaRPr lang="en-US" altLang="zh-TW" sz="2400" dirty="0" smtClean="0"/>
          </a:p>
          <a:p>
            <a:pPr lvl="1"/>
            <a:r>
              <a:rPr lang="en-US" altLang="zh-TW" sz="2400" dirty="0" smtClean="0"/>
              <a:t>AQL we will introduce it in late topic</a:t>
            </a:r>
          </a:p>
          <a:p>
            <a:endParaRPr lang="en-US" altLang="zh-TW" sz="2400" dirty="0"/>
          </a:p>
          <a:p>
            <a:endParaRPr lang="en-US" altLang="zh-TW" sz="2400" dirty="0" smtClean="0"/>
          </a:p>
          <a:p>
            <a:endParaRPr lang="en-US" altLang="zh-TW" sz="2400" dirty="0"/>
          </a:p>
          <a:p>
            <a:endParaRPr lang="zh-TW" altLang="en-US" sz="2400" dirty="0"/>
          </a:p>
        </p:txBody>
      </p:sp>
    </p:spTree>
    <p:extLst>
      <p:ext uri="{BB962C8B-B14F-4D97-AF65-F5344CB8AC3E}">
        <p14:creationId xmlns:p14="http://schemas.microsoft.com/office/powerpoint/2010/main" val="9211290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Introduction and Characteristic</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HSA </a:t>
            </a:r>
            <a:r>
              <a:rPr lang="en-US" altLang="zh-TW" sz="2400" dirty="0"/>
              <a:t>software should receive memory-based structures to configure the hardware queues </a:t>
            </a:r>
            <a:endParaRPr lang="en-US" altLang="zh-TW" sz="2400" dirty="0" smtClean="0"/>
          </a:p>
          <a:p>
            <a:pPr lvl="1"/>
            <a:r>
              <a:rPr lang="en-US" altLang="zh-TW" sz="2400" dirty="0"/>
              <a:t>allow for efficient software management of the hardware queues of the HSA Component </a:t>
            </a:r>
          </a:p>
          <a:p>
            <a:pPr lvl="1"/>
            <a:endParaRPr lang="en-US" altLang="zh-TW" sz="2400" dirty="0" smtClean="0"/>
          </a:p>
          <a:p>
            <a:r>
              <a:rPr lang="en-US" altLang="zh-TW" sz="2400" dirty="0"/>
              <a:t>This queue memory shall be processed by the HSA Component as a ring buffer </a:t>
            </a:r>
            <a:endParaRPr lang="en-US" altLang="zh-TW" sz="2400" dirty="0" smtClean="0"/>
          </a:p>
          <a:p>
            <a:endParaRPr lang="en-US" altLang="zh-TW" sz="2400" dirty="0"/>
          </a:p>
          <a:p>
            <a:r>
              <a:rPr lang="en-US" altLang="zh-TW" sz="2400" dirty="0"/>
              <a:t>with separate memory locations defining write and read state information of that queue </a:t>
            </a:r>
            <a:endParaRPr lang="en-US" altLang="zh-TW" sz="2400" dirty="0" smtClean="0"/>
          </a:p>
          <a:p>
            <a:endParaRPr lang="en-US" altLang="zh-TW" sz="2400" dirty="0" smtClean="0"/>
          </a:p>
          <a:p>
            <a:endParaRPr lang="en-US" altLang="zh-TW" sz="2400" dirty="0"/>
          </a:p>
          <a:p>
            <a:endParaRPr lang="en-US" altLang="zh-TW" sz="2400" dirty="0" smtClean="0"/>
          </a:p>
          <a:p>
            <a:endParaRPr lang="en-US" altLang="zh-TW" sz="2400" dirty="0"/>
          </a:p>
          <a:p>
            <a:endParaRPr lang="en-US" altLang="zh-TW" sz="2400" dirty="0" smtClean="0"/>
          </a:p>
          <a:p>
            <a:endParaRPr lang="en-US" altLang="zh-TW" sz="2400" dirty="0"/>
          </a:p>
          <a:p>
            <a:endParaRPr lang="en-US" altLang="zh-TW" sz="2400" dirty="0" smtClean="0"/>
          </a:p>
          <a:p>
            <a:endParaRPr lang="en-US" altLang="zh-TW" sz="2400" dirty="0" smtClean="0"/>
          </a:p>
        </p:txBody>
      </p:sp>
    </p:spTree>
    <p:extLst>
      <p:ext uri="{BB962C8B-B14F-4D97-AF65-F5344CB8AC3E}">
        <p14:creationId xmlns:p14="http://schemas.microsoft.com/office/powerpoint/2010/main" val="35910741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User Mode Queue structure</a:t>
            </a:r>
            <a:endParaRPr lang="zh-TW" altLang="en-US" sz="3600" dirty="0"/>
          </a:p>
        </p:txBody>
      </p:sp>
      <p:pic>
        <p:nvPicPr>
          <p:cNvPr id="4" name="內容版面配置區 3"/>
          <p:cNvPicPr>
            <a:picLocks noGrp="1" noChangeAspect="1"/>
          </p:cNvPicPr>
          <p:nvPr>
            <p:ph idx="1"/>
          </p:nvPr>
        </p:nvPicPr>
        <p:blipFill>
          <a:blip r:embed="rId2"/>
          <a:stretch>
            <a:fillRect/>
          </a:stretch>
        </p:blipFill>
        <p:spPr>
          <a:xfrm>
            <a:off x="457200" y="1296401"/>
            <a:ext cx="8229600" cy="4554124"/>
          </a:xfrm>
          <a:prstGeom prst="rect">
            <a:avLst/>
          </a:prstGeom>
        </p:spPr>
      </p:pic>
    </p:spTree>
    <p:extLst>
      <p:ext uri="{BB962C8B-B14F-4D97-AF65-F5344CB8AC3E}">
        <p14:creationId xmlns:p14="http://schemas.microsoft.com/office/powerpoint/2010/main" val="84151112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User Mode Queue structure</a:t>
            </a:r>
            <a:endParaRPr lang="zh-TW" altLang="en-US" sz="3600" dirty="0"/>
          </a:p>
        </p:txBody>
      </p:sp>
      <p:pic>
        <p:nvPicPr>
          <p:cNvPr id="7" name="內容版面配置區 6"/>
          <p:cNvPicPr>
            <a:picLocks noGrp="1" noChangeAspect="1"/>
          </p:cNvPicPr>
          <p:nvPr>
            <p:ph idx="1"/>
          </p:nvPr>
        </p:nvPicPr>
        <p:blipFill>
          <a:blip r:embed="rId2"/>
          <a:stretch>
            <a:fillRect/>
          </a:stretch>
        </p:blipFill>
        <p:spPr>
          <a:xfrm>
            <a:off x="457200" y="2091295"/>
            <a:ext cx="8229600" cy="2964335"/>
          </a:xfrm>
          <a:prstGeom prst="rect">
            <a:avLst/>
          </a:prstGeom>
        </p:spPr>
      </p:pic>
    </p:spTree>
    <p:extLst>
      <p:ext uri="{BB962C8B-B14F-4D97-AF65-F5344CB8AC3E}">
        <p14:creationId xmlns:p14="http://schemas.microsoft.com/office/powerpoint/2010/main" val="322106379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t>Queue head and tail</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The </a:t>
            </a:r>
            <a:r>
              <a:rPr lang="en-US" altLang="zh-TW" sz="2400" dirty="0"/>
              <a:t>queue also defines two properties that define the location of the “head” and “tail” of the queue </a:t>
            </a:r>
            <a:endParaRPr lang="en-US" altLang="zh-TW" sz="2400" dirty="0" smtClean="0"/>
          </a:p>
          <a:p>
            <a:endParaRPr lang="en-US" altLang="zh-TW" sz="2400" dirty="0"/>
          </a:p>
          <a:p>
            <a:r>
              <a:rPr lang="en-US" altLang="zh-TW" sz="2400" dirty="0" smtClean="0"/>
              <a:t>Head is the </a:t>
            </a:r>
            <a:r>
              <a:rPr lang="en-US" altLang="zh-TW" sz="2400" dirty="0" err="1" smtClean="0"/>
              <a:t>writeIndex</a:t>
            </a:r>
            <a:r>
              <a:rPr lang="en-US" altLang="zh-TW" sz="2400" dirty="0" smtClean="0"/>
              <a:t> </a:t>
            </a:r>
            <a:r>
              <a:rPr lang="en-US" altLang="zh-TW" sz="2400" dirty="0"/>
              <a:t>– A 64-bit unsigned integer </a:t>
            </a:r>
          </a:p>
          <a:p>
            <a:endParaRPr lang="en-US" altLang="zh-TW" sz="2400" dirty="0" smtClean="0"/>
          </a:p>
          <a:p>
            <a:r>
              <a:rPr lang="en-US" altLang="zh-TW" sz="2400" dirty="0" smtClean="0"/>
              <a:t>Tail is the  </a:t>
            </a:r>
            <a:r>
              <a:rPr lang="en-US" altLang="zh-TW" sz="2400" dirty="0" err="1" smtClean="0"/>
              <a:t>readIndex</a:t>
            </a:r>
            <a:r>
              <a:rPr lang="en-US" altLang="zh-TW" sz="2400" dirty="0" smtClean="0"/>
              <a:t> </a:t>
            </a:r>
            <a:r>
              <a:rPr lang="en-US" altLang="zh-TW" sz="2400" dirty="0"/>
              <a:t>– A 64-bit unsigned integer </a:t>
            </a:r>
          </a:p>
          <a:p>
            <a:endParaRPr lang="en-US" altLang="zh-TW" sz="2400" dirty="0" smtClean="0"/>
          </a:p>
        </p:txBody>
      </p:sp>
    </p:spTree>
    <p:extLst>
      <p:ext uri="{BB962C8B-B14F-4D97-AF65-F5344CB8AC3E}">
        <p14:creationId xmlns:p14="http://schemas.microsoft.com/office/powerpoint/2010/main" val="108194844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a:t>writeIndex</a:t>
            </a:r>
            <a:endParaRPr lang="zh-TW" altLang="en-US" sz="3600" dirty="0"/>
          </a:p>
        </p:txBody>
      </p:sp>
      <p:sp>
        <p:nvSpPr>
          <p:cNvPr id="3" name="內容版面配置區 2"/>
          <p:cNvSpPr>
            <a:spLocks noGrp="1"/>
          </p:cNvSpPr>
          <p:nvPr>
            <p:ph idx="1"/>
          </p:nvPr>
        </p:nvSpPr>
        <p:spPr/>
        <p:txBody>
          <a:bodyPr/>
          <a:lstStyle/>
          <a:p>
            <a:endParaRPr lang="zh-TW" altLang="en-US" sz="2400" dirty="0"/>
          </a:p>
          <a:p>
            <a:r>
              <a:rPr lang="en-US" altLang="zh-TW" sz="2400" dirty="0" err="1"/>
              <a:t>writeIndex</a:t>
            </a:r>
            <a:r>
              <a:rPr lang="en-US" altLang="zh-TW" sz="2400" dirty="0"/>
              <a:t> – A 64-bit unsigned integer </a:t>
            </a:r>
            <a:endParaRPr lang="en-US" altLang="zh-TW" sz="2400" dirty="0" smtClean="0"/>
          </a:p>
          <a:p>
            <a:endParaRPr lang="en-US" altLang="zh-TW" sz="2400" dirty="0"/>
          </a:p>
          <a:p>
            <a:r>
              <a:rPr lang="en-US" altLang="zh-TW" sz="2400" dirty="0" smtClean="0"/>
              <a:t>Specifies </a:t>
            </a:r>
            <a:r>
              <a:rPr lang="en-US" altLang="zh-TW" sz="2400" dirty="0"/>
              <a:t>the </a:t>
            </a:r>
            <a:r>
              <a:rPr lang="en-US" altLang="zh-TW" sz="2400" dirty="0" err="1"/>
              <a:t>packetID</a:t>
            </a:r>
            <a:r>
              <a:rPr lang="en-US" altLang="zh-TW" sz="2400" dirty="0"/>
              <a:t> of the next AQL packet slot to be allocated by the application or user-level runtime. </a:t>
            </a:r>
            <a:endParaRPr lang="en-US" altLang="zh-TW" sz="2400" dirty="0" smtClean="0"/>
          </a:p>
          <a:p>
            <a:endParaRPr lang="en-US" altLang="zh-TW" sz="2400" dirty="0"/>
          </a:p>
          <a:p>
            <a:r>
              <a:rPr lang="en-US" altLang="zh-TW" sz="2400" dirty="0" err="1" smtClean="0"/>
              <a:t>baseAddress</a:t>
            </a:r>
            <a:r>
              <a:rPr lang="en-US" altLang="zh-TW" sz="2400" dirty="0" smtClean="0"/>
              <a:t> </a:t>
            </a:r>
            <a:r>
              <a:rPr lang="en-US" altLang="zh-TW" sz="2400" dirty="0"/>
              <a:t>+ ((</a:t>
            </a:r>
            <a:r>
              <a:rPr lang="en-US" altLang="zh-TW" sz="2400" dirty="0" err="1"/>
              <a:t>writeIndex</a:t>
            </a:r>
            <a:r>
              <a:rPr lang="en-US" altLang="zh-TW" sz="2400" dirty="0"/>
              <a:t> % size) * AQL packet size) is the virtual address for the next AQL packet allocated. </a:t>
            </a:r>
            <a:endParaRPr lang="en-US" altLang="zh-TW" sz="2400" dirty="0" smtClean="0"/>
          </a:p>
          <a:p>
            <a:endParaRPr lang="en-US" altLang="zh-TW" sz="2400" dirty="0"/>
          </a:p>
          <a:p>
            <a:r>
              <a:rPr lang="en-US" altLang="zh-TW" sz="2400" dirty="0" smtClean="0"/>
              <a:t>Initialized </a:t>
            </a:r>
            <a:r>
              <a:rPr lang="en-US" altLang="zh-TW" sz="2400" dirty="0"/>
              <a:t>to 0 at queue creation time. </a:t>
            </a:r>
          </a:p>
          <a:p>
            <a:endParaRPr lang="en-US" altLang="zh-TW" sz="2400" dirty="0" smtClean="0"/>
          </a:p>
        </p:txBody>
      </p:sp>
    </p:spTree>
    <p:extLst>
      <p:ext uri="{BB962C8B-B14F-4D97-AF65-F5344CB8AC3E}">
        <p14:creationId xmlns:p14="http://schemas.microsoft.com/office/powerpoint/2010/main" val="11340611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a:t>readIndex</a:t>
            </a:r>
            <a:endParaRPr lang="zh-TW" altLang="en-US" sz="3600" dirty="0"/>
          </a:p>
        </p:txBody>
      </p:sp>
      <p:sp>
        <p:nvSpPr>
          <p:cNvPr id="3" name="內容版面配置區 2"/>
          <p:cNvSpPr>
            <a:spLocks noGrp="1"/>
          </p:cNvSpPr>
          <p:nvPr>
            <p:ph idx="1"/>
          </p:nvPr>
        </p:nvSpPr>
        <p:spPr/>
        <p:txBody>
          <a:bodyPr/>
          <a:lstStyle/>
          <a:p>
            <a:endParaRPr lang="zh-TW" altLang="en-US" sz="2400" dirty="0"/>
          </a:p>
          <a:p>
            <a:r>
              <a:rPr lang="en-US" altLang="zh-TW" sz="2400" dirty="0" err="1"/>
              <a:t>readIndex</a:t>
            </a:r>
            <a:r>
              <a:rPr lang="en-US" altLang="zh-TW" sz="2400" dirty="0"/>
              <a:t> – A 64-bit unsigned integer which specifies the </a:t>
            </a:r>
            <a:r>
              <a:rPr lang="en-US" altLang="zh-TW" sz="2400" dirty="0" err="1"/>
              <a:t>packetID</a:t>
            </a:r>
            <a:r>
              <a:rPr lang="en-US" altLang="zh-TW" sz="2400" dirty="0"/>
              <a:t> of the next AQL packet to be consumed by the compute unit hardware. </a:t>
            </a:r>
            <a:endParaRPr lang="en-US" altLang="zh-TW" sz="2400" dirty="0" smtClean="0"/>
          </a:p>
          <a:p>
            <a:endParaRPr lang="en-US" altLang="zh-TW" sz="2400" dirty="0" smtClean="0"/>
          </a:p>
          <a:p>
            <a:r>
              <a:rPr lang="en-US" altLang="zh-TW" sz="2400" dirty="0" err="1" smtClean="0"/>
              <a:t>baseAddress</a:t>
            </a:r>
            <a:r>
              <a:rPr lang="en-US" altLang="zh-TW" sz="2400" dirty="0" smtClean="0"/>
              <a:t> </a:t>
            </a:r>
            <a:r>
              <a:rPr lang="en-US" altLang="zh-TW" sz="2400" dirty="0"/>
              <a:t>+ ((</a:t>
            </a:r>
            <a:r>
              <a:rPr lang="en-US" altLang="zh-TW" sz="2400" dirty="0" err="1"/>
              <a:t>readIndex</a:t>
            </a:r>
            <a:r>
              <a:rPr lang="en-US" altLang="zh-TW" sz="2400" dirty="0"/>
              <a:t> % size) * AQL packet size) is the virtual address of the eldest AQL packet that is not yet released by the HSA Packet Processor. </a:t>
            </a:r>
            <a:endParaRPr lang="en-US" altLang="zh-TW" sz="2400" dirty="0" smtClean="0"/>
          </a:p>
          <a:p>
            <a:endParaRPr lang="en-US" altLang="zh-TW" sz="2400" dirty="0"/>
          </a:p>
          <a:p>
            <a:r>
              <a:rPr lang="en-US" altLang="zh-TW" sz="2400" dirty="0" smtClean="0"/>
              <a:t>Initialized </a:t>
            </a:r>
            <a:r>
              <a:rPr lang="en-US" altLang="zh-TW" sz="2400" dirty="0"/>
              <a:t>to 0 at queue creation time. </a:t>
            </a:r>
          </a:p>
          <a:p>
            <a:endParaRPr lang="en-US" altLang="zh-TW" sz="2400" dirty="0" smtClean="0"/>
          </a:p>
        </p:txBody>
      </p:sp>
    </p:spTree>
    <p:extLst>
      <p:ext uri="{BB962C8B-B14F-4D97-AF65-F5344CB8AC3E}">
        <p14:creationId xmlns:p14="http://schemas.microsoft.com/office/powerpoint/2010/main" val="107102304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smtClean="0"/>
              <a:t>writeIndex</a:t>
            </a:r>
            <a:r>
              <a:rPr lang="en-US" altLang="zh-TW" sz="3600" dirty="0" smtClean="0"/>
              <a:t> and </a:t>
            </a:r>
            <a:r>
              <a:rPr lang="en-US" altLang="zh-TW" sz="3600" dirty="0" err="1" smtClean="0"/>
              <a:t>readIndex</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The </a:t>
            </a:r>
            <a:r>
              <a:rPr lang="en-US" altLang="zh-TW" sz="2400" dirty="0" err="1"/>
              <a:t>writeIndex</a:t>
            </a:r>
            <a:r>
              <a:rPr lang="en-US" altLang="zh-TW" sz="2400" dirty="0"/>
              <a:t> and </a:t>
            </a:r>
            <a:r>
              <a:rPr lang="en-US" altLang="zh-TW" sz="2400" dirty="0" err="1"/>
              <a:t>readIndex</a:t>
            </a:r>
            <a:r>
              <a:rPr lang="en-US" altLang="zh-TW" sz="2400" dirty="0"/>
              <a:t> properties </a:t>
            </a:r>
            <a:r>
              <a:rPr lang="en-US" altLang="zh-TW" sz="2400" b="1" dirty="0"/>
              <a:t>cannot</a:t>
            </a:r>
            <a:r>
              <a:rPr lang="en-US" altLang="zh-TW" sz="2400" dirty="0"/>
              <a:t> be accessed directly using memory operations from HSA applications or HSAIL </a:t>
            </a:r>
            <a:r>
              <a:rPr lang="en-US" altLang="zh-TW" sz="2400" dirty="0" smtClean="0"/>
              <a:t>kernels</a:t>
            </a:r>
          </a:p>
          <a:p>
            <a:endParaRPr lang="en-US" altLang="zh-TW" sz="2400" dirty="0"/>
          </a:p>
          <a:p>
            <a:r>
              <a:rPr lang="en-US" altLang="zh-TW" sz="2400" dirty="0" smtClean="0"/>
              <a:t>Instead </a:t>
            </a:r>
            <a:r>
              <a:rPr lang="en-US" altLang="zh-TW" sz="2400" dirty="0"/>
              <a:t>they are accessed through the HSA runtime API (HSA applications) or specific HSAIL </a:t>
            </a:r>
            <a:r>
              <a:rPr lang="en-US" altLang="zh-TW" sz="2400" dirty="0" smtClean="0"/>
              <a:t>instructions</a:t>
            </a:r>
          </a:p>
        </p:txBody>
      </p:sp>
    </p:spTree>
    <p:extLst>
      <p:ext uri="{BB962C8B-B14F-4D97-AF65-F5344CB8AC3E}">
        <p14:creationId xmlns:p14="http://schemas.microsoft.com/office/powerpoint/2010/main" val="122881335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a:t>writeIndex</a:t>
            </a:r>
            <a:r>
              <a:rPr lang="en-US" altLang="zh-TW" sz="3600" dirty="0"/>
              <a:t> and </a:t>
            </a:r>
            <a:r>
              <a:rPr lang="en-US" altLang="zh-TW" sz="3600" dirty="0" err="1"/>
              <a:t>readIndex</a:t>
            </a:r>
            <a:endParaRPr lang="zh-TW" altLang="en-US" sz="3600" dirty="0"/>
          </a:p>
        </p:txBody>
      </p:sp>
      <p:sp>
        <p:nvSpPr>
          <p:cNvPr id="3" name="內容版面配置區 2"/>
          <p:cNvSpPr>
            <a:spLocks noGrp="1"/>
          </p:cNvSpPr>
          <p:nvPr>
            <p:ph idx="1"/>
          </p:nvPr>
        </p:nvSpPr>
        <p:spPr/>
        <p:txBody>
          <a:bodyPr/>
          <a:lstStyle/>
          <a:p>
            <a:endParaRPr lang="zh-TW" altLang="en-US" dirty="0"/>
          </a:p>
          <a:p>
            <a:r>
              <a:rPr lang="en-US" altLang="zh-TW" sz="2400" dirty="0"/>
              <a:t>The </a:t>
            </a:r>
            <a:r>
              <a:rPr lang="en-US" altLang="zh-TW" sz="2400" dirty="0" err="1" smtClean="0"/>
              <a:t>writeIndex</a:t>
            </a:r>
            <a:r>
              <a:rPr lang="en-US" altLang="zh-TW" sz="2400" dirty="0" smtClean="0"/>
              <a:t> </a:t>
            </a:r>
            <a:r>
              <a:rPr lang="en-US" altLang="zh-TW" sz="2400" dirty="0"/>
              <a:t>increases as new AQL packets are added to the queue </a:t>
            </a:r>
          </a:p>
          <a:p>
            <a:pPr lvl="1"/>
            <a:r>
              <a:rPr lang="en-US" altLang="zh-TW" sz="2400" dirty="0" smtClean="0"/>
              <a:t>AQL packets was added by </a:t>
            </a:r>
            <a:r>
              <a:rPr lang="en-US" altLang="zh-TW" sz="2400" dirty="0"/>
              <a:t>the HSA agent </a:t>
            </a:r>
            <a:endParaRPr lang="zh-TW" altLang="en-US" sz="2400" dirty="0"/>
          </a:p>
          <a:p>
            <a:pPr lvl="1"/>
            <a:r>
              <a:rPr lang="en-US" altLang="zh-TW" sz="2400" dirty="0"/>
              <a:t>wraps back to 0 when it exceeds the size of the queue </a:t>
            </a:r>
          </a:p>
          <a:p>
            <a:pPr lvl="1"/>
            <a:endParaRPr lang="en-US" altLang="zh-TW" sz="2400" dirty="0" smtClean="0"/>
          </a:p>
          <a:p>
            <a:r>
              <a:rPr lang="en-US" altLang="zh-TW" sz="2400" dirty="0" smtClean="0"/>
              <a:t>The </a:t>
            </a:r>
            <a:r>
              <a:rPr lang="en-US" altLang="zh-TW" sz="2400" dirty="0" err="1" smtClean="0"/>
              <a:t>readIndex</a:t>
            </a:r>
            <a:r>
              <a:rPr lang="en-US" altLang="zh-TW" sz="2400" dirty="0" smtClean="0"/>
              <a:t> </a:t>
            </a:r>
            <a:r>
              <a:rPr lang="en-US" altLang="zh-TW" sz="2400" dirty="0"/>
              <a:t>increases as AQL packets are consumed </a:t>
            </a:r>
          </a:p>
          <a:p>
            <a:pPr lvl="1"/>
            <a:r>
              <a:rPr lang="en-US" altLang="zh-TW" sz="2400" dirty="0" smtClean="0"/>
              <a:t>AQL packets was consumed by the HSA component</a:t>
            </a:r>
            <a:endParaRPr lang="zh-TW" altLang="en-US" sz="2400" dirty="0"/>
          </a:p>
          <a:p>
            <a:pPr lvl="1"/>
            <a:r>
              <a:rPr lang="en-US" altLang="zh-TW" sz="2400" dirty="0"/>
              <a:t>wraps back to 0 when it exceeds the size of the queue </a:t>
            </a:r>
          </a:p>
          <a:p>
            <a:endParaRPr lang="en-US" altLang="zh-TW" sz="2400" dirty="0" smtClean="0"/>
          </a:p>
          <a:p>
            <a:endParaRPr lang="en-US" altLang="zh-TW" sz="2400" dirty="0"/>
          </a:p>
          <a:p>
            <a:endParaRPr lang="en-US" altLang="zh-TW" dirty="0" smtClean="0"/>
          </a:p>
          <a:p>
            <a:endParaRPr lang="en-US" altLang="zh-TW" dirty="0" smtClean="0"/>
          </a:p>
          <a:p>
            <a:endParaRPr lang="en-US" altLang="zh-TW" dirty="0"/>
          </a:p>
          <a:p>
            <a:endParaRPr lang="en-US" altLang="zh-TW" dirty="0" smtClean="0"/>
          </a:p>
          <a:p>
            <a:endParaRPr lang="en-US" altLang="zh-TW" dirty="0"/>
          </a:p>
          <a:p>
            <a:endParaRPr lang="en-US" altLang="zh-TW" dirty="0" smtClean="0"/>
          </a:p>
          <a:p>
            <a:endParaRPr lang="zh-TW" altLang="en-US" dirty="0"/>
          </a:p>
        </p:txBody>
      </p:sp>
    </p:spTree>
    <p:extLst>
      <p:ext uri="{BB962C8B-B14F-4D97-AF65-F5344CB8AC3E}">
        <p14:creationId xmlns:p14="http://schemas.microsoft.com/office/powerpoint/2010/main" val="30547852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t>Queue type</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endParaRPr lang="en-US" altLang="zh-TW" sz="2400" dirty="0"/>
          </a:p>
          <a:p>
            <a:endParaRPr lang="en-US" altLang="zh-TW" sz="2400" dirty="0" smtClean="0"/>
          </a:p>
          <a:p>
            <a:endParaRPr lang="en-US" altLang="zh-TW" sz="2400" dirty="0"/>
          </a:p>
          <a:p>
            <a:endParaRPr lang="en-US" altLang="zh-TW" sz="2400" dirty="0" smtClean="0"/>
          </a:p>
          <a:p>
            <a:endParaRPr lang="en-US" altLang="zh-TW" sz="2400" dirty="0"/>
          </a:p>
          <a:p>
            <a:r>
              <a:rPr lang="en-US" altLang="zh-TW" sz="2400" dirty="0" smtClean="0"/>
              <a:t>MULTI means the queue have more than one AQL packet producers. So we have to take care of </a:t>
            </a:r>
            <a:r>
              <a:rPr lang="en-US" altLang="zh-TW" sz="2400" dirty="0" err="1" smtClean="0"/>
              <a:t>writeIndex</a:t>
            </a:r>
            <a:r>
              <a:rPr lang="en-US" altLang="zh-TW" sz="2400" dirty="0" smtClean="0"/>
              <a:t> and </a:t>
            </a:r>
            <a:r>
              <a:rPr lang="en-US" altLang="zh-TW" sz="2400" dirty="0" err="1" smtClean="0"/>
              <a:t>readIndex</a:t>
            </a:r>
            <a:r>
              <a:rPr lang="en-US" altLang="zh-TW" sz="2400" dirty="0" smtClean="0"/>
              <a:t> value.</a:t>
            </a:r>
          </a:p>
          <a:p>
            <a:endParaRPr lang="en-US" altLang="zh-TW" sz="2400" dirty="0"/>
          </a:p>
          <a:p>
            <a:pPr marL="0" indent="0">
              <a:buNone/>
            </a:pPr>
            <a:endParaRPr lang="en-US" altLang="zh-TW" sz="2400" dirty="0" smtClean="0"/>
          </a:p>
          <a:p>
            <a:endParaRPr lang="en-US" altLang="zh-TW" sz="2400" dirty="0" smtClean="0"/>
          </a:p>
        </p:txBody>
      </p:sp>
      <p:pic>
        <p:nvPicPr>
          <p:cNvPr id="8" name="圖片 7"/>
          <p:cNvPicPr>
            <a:picLocks noChangeAspect="1"/>
          </p:cNvPicPr>
          <p:nvPr/>
        </p:nvPicPr>
        <p:blipFill>
          <a:blip r:embed="rId2"/>
          <a:stretch>
            <a:fillRect/>
          </a:stretch>
        </p:blipFill>
        <p:spPr>
          <a:xfrm>
            <a:off x="457200" y="1558298"/>
            <a:ext cx="8208046" cy="1687410"/>
          </a:xfrm>
          <a:prstGeom prst="rect">
            <a:avLst/>
          </a:prstGeom>
        </p:spPr>
      </p:pic>
    </p:spTree>
    <p:extLst>
      <p:ext uri="{BB962C8B-B14F-4D97-AF65-F5344CB8AC3E}">
        <p14:creationId xmlns:p14="http://schemas.microsoft.com/office/powerpoint/2010/main" val="293163852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Features</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endParaRPr lang="en-US" altLang="zh-TW" sz="2400" dirty="0"/>
          </a:p>
          <a:p>
            <a:endParaRPr lang="en-US" altLang="zh-TW" sz="2400" dirty="0" smtClean="0"/>
          </a:p>
          <a:p>
            <a:endParaRPr lang="en-US" altLang="zh-TW" sz="2400" dirty="0"/>
          </a:p>
          <a:p>
            <a:endParaRPr lang="en-US" altLang="zh-TW" sz="2400" dirty="0" smtClean="0"/>
          </a:p>
          <a:p>
            <a:endParaRPr lang="en-US" altLang="zh-TW" sz="2400" dirty="0" smtClean="0"/>
          </a:p>
          <a:p>
            <a:endParaRPr lang="en-US" altLang="zh-TW" sz="2400" dirty="0" smtClean="0"/>
          </a:p>
          <a:p>
            <a:r>
              <a:rPr lang="en-US" altLang="zh-TW" sz="2400" dirty="0" smtClean="0"/>
              <a:t>DISPATCH and AGENT_DISPATCH will be introduced in AQL topic</a:t>
            </a:r>
            <a:endParaRPr lang="en-US" altLang="zh-TW" sz="2400" dirty="0"/>
          </a:p>
          <a:p>
            <a:endParaRPr lang="en-US" altLang="zh-TW" sz="2400" dirty="0" smtClean="0"/>
          </a:p>
          <a:p>
            <a:endParaRPr lang="en-US" altLang="zh-TW" sz="2400" dirty="0" smtClean="0"/>
          </a:p>
          <a:p>
            <a:endParaRPr lang="en-US" altLang="zh-TW" sz="2400" dirty="0"/>
          </a:p>
          <a:p>
            <a:endParaRPr lang="en-US" altLang="zh-TW" sz="2400" dirty="0" smtClean="0"/>
          </a:p>
        </p:txBody>
      </p:sp>
      <p:pic>
        <p:nvPicPr>
          <p:cNvPr id="5" name="圖片 4"/>
          <p:cNvPicPr>
            <a:picLocks noChangeAspect="1"/>
          </p:cNvPicPr>
          <p:nvPr/>
        </p:nvPicPr>
        <p:blipFill>
          <a:blip r:embed="rId2"/>
          <a:stretch>
            <a:fillRect/>
          </a:stretch>
        </p:blipFill>
        <p:spPr>
          <a:xfrm>
            <a:off x="468314" y="1932931"/>
            <a:ext cx="7951618" cy="1640532"/>
          </a:xfrm>
          <a:prstGeom prst="rect">
            <a:avLst/>
          </a:prstGeom>
        </p:spPr>
      </p:pic>
    </p:spTree>
    <p:extLst>
      <p:ext uri="{BB962C8B-B14F-4D97-AF65-F5344CB8AC3E}">
        <p14:creationId xmlns:p14="http://schemas.microsoft.com/office/powerpoint/2010/main" val="140103495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mechanics</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HSA </a:t>
            </a:r>
            <a:r>
              <a:rPr lang="en-US" altLang="zh-TW" sz="2400" dirty="0"/>
              <a:t>specifies the following rules for how the queue must be implemented using the information defined above </a:t>
            </a:r>
            <a:endParaRPr lang="en-US" altLang="zh-TW" sz="2400" dirty="0" smtClean="0"/>
          </a:p>
          <a:p>
            <a:endParaRPr lang="en-US" altLang="zh-TW" sz="2400" dirty="0"/>
          </a:p>
          <a:p>
            <a:r>
              <a:rPr lang="en-US" altLang="zh-TW" sz="2400" dirty="0"/>
              <a:t>The rules define a contract between the submitting HSA Agent and the HSA Packet Processor which enables the submitting HSA Agent to </a:t>
            </a:r>
            <a:r>
              <a:rPr lang="en-US" altLang="zh-TW" sz="2400" dirty="0" err="1"/>
              <a:t>enqueue</a:t>
            </a:r>
            <a:r>
              <a:rPr lang="en-US" altLang="zh-TW" sz="2400" dirty="0"/>
              <a:t> work for the associated HSA Agents in a manner that is portable across HSA implementations </a:t>
            </a:r>
            <a:endParaRPr lang="en-US" altLang="zh-TW" sz="2400" dirty="0" smtClean="0"/>
          </a:p>
        </p:txBody>
      </p:sp>
    </p:spTree>
    <p:extLst>
      <p:ext uri="{BB962C8B-B14F-4D97-AF65-F5344CB8AC3E}">
        <p14:creationId xmlns:p14="http://schemas.microsoft.com/office/powerpoint/2010/main" val="240085503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mechanics</a:t>
            </a:r>
            <a:endParaRPr lang="zh-TW" altLang="en-US" sz="3600" dirty="0"/>
          </a:p>
        </p:txBody>
      </p:sp>
      <p:sp>
        <p:nvSpPr>
          <p:cNvPr id="3" name="內容版面配置區 2"/>
          <p:cNvSpPr>
            <a:spLocks noGrp="1"/>
          </p:cNvSpPr>
          <p:nvPr>
            <p:ph idx="1"/>
          </p:nvPr>
        </p:nvSpPr>
        <p:spPr/>
        <p:txBody>
          <a:bodyPr/>
          <a:lstStyle/>
          <a:p>
            <a:endParaRPr lang="zh-TW" altLang="en-US" sz="2400" dirty="0"/>
          </a:p>
          <a:p>
            <a:r>
              <a:rPr lang="en-US" altLang="zh-TW" sz="2400" dirty="0"/>
              <a:t>T</a:t>
            </a:r>
            <a:r>
              <a:rPr lang="en-US" altLang="zh-TW" sz="2400" dirty="0" smtClean="0"/>
              <a:t>he </a:t>
            </a:r>
            <a:r>
              <a:rPr lang="en-US" altLang="zh-TW" sz="2400" dirty="0"/>
              <a:t>use of this signaling mechanism in the user mode queue implementation implies the same restriction on the user mode queues </a:t>
            </a:r>
          </a:p>
          <a:p>
            <a:endParaRPr lang="en-US" altLang="zh-TW" sz="2400" dirty="0" smtClean="0"/>
          </a:p>
          <a:p>
            <a:r>
              <a:rPr lang="en-US" altLang="zh-TW" sz="2400" dirty="0" smtClean="0"/>
              <a:t>Only </a:t>
            </a:r>
            <a:r>
              <a:rPr lang="en-US" altLang="zh-TW" sz="2400" dirty="0"/>
              <a:t>HSA Agents within the queue process address space are allowed to submit AQL packets to a queue</a:t>
            </a:r>
            <a:endParaRPr lang="en-US" altLang="zh-TW" sz="2400" dirty="0" smtClean="0"/>
          </a:p>
        </p:txBody>
      </p:sp>
    </p:spTree>
    <p:extLst>
      <p:ext uri="{BB962C8B-B14F-4D97-AF65-F5344CB8AC3E}">
        <p14:creationId xmlns:p14="http://schemas.microsoft.com/office/powerpoint/2010/main" val="230139419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mechanics</a:t>
            </a:r>
            <a:endParaRPr lang="zh-TW" altLang="en-US" sz="3600" dirty="0"/>
          </a:p>
        </p:txBody>
      </p:sp>
      <p:sp>
        <p:nvSpPr>
          <p:cNvPr id="3" name="內容版面配置區 2"/>
          <p:cNvSpPr>
            <a:spLocks noGrp="1"/>
          </p:cNvSpPr>
          <p:nvPr>
            <p:ph idx="1"/>
          </p:nvPr>
        </p:nvSpPr>
        <p:spPr/>
        <p:txBody>
          <a:bodyPr/>
          <a:lstStyle/>
          <a:p>
            <a:r>
              <a:rPr lang="en-US" altLang="zh-TW" sz="2400" dirty="0" smtClean="0"/>
              <a:t>The </a:t>
            </a:r>
            <a:r>
              <a:rPr lang="en-US" altLang="zh-TW" sz="2400" dirty="0"/>
              <a:t>size of the queue is a power of two number of AQL packets</a:t>
            </a:r>
            <a:r>
              <a:rPr lang="en-US" altLang="zh-TW" sz="2400" dirty="0" smtClean="0"/>
              <a:t>.</a:t>
            </a:r>
          </a:p>
          <a:p>
            <a:endParaRPr lang="zh-TW" altLang="en-US" sz="2400" dirty="0"/>
          </a:p>
          <a:p>
            <a:r>
              <a:rPr lang="en-US" altLang="zh-TW" sz="2400" dirty="0"/>
              <a:t>The </a:t>
            </a:r>
            <a:r>
              <a:rPr lang="en-US" altLang="zh-TW" sz="2400" dirty="0" err="1"/>
              <a:t>baseAddress</a:t>
            </a:r>
            <a:r>
              <a:rPr lang="en-US" altLang="zh-TW" sz="2400" dirty="0"/>
              <a:t> must always be aligned to the AQL packet size. </a:t>
            </a:r>
          </a:p>
          <a:p>
            <a:endParaRPr lang="zh-TW" altLang="en-US" sz="2400" dirty="0"/>
          </a:p>
          <a:p>
            <a:r>
              <a:rPr lang="en-US" altLang="zh-TW" sz="2400" dirty="0"/>
              <a:t>The </a:t>
            </a:r>
            <a:r>
              <a:rPr lang="en-US" altLang="zh-TW" sz="2400" dirty="0" err="1"/>
              <a:t>writeIndex</a:t>
            </a:r>
            <a:r>
              <a:rPr lang="en-US" altLang="zh-TW" sz="2400" dirty="0"/>
              <a:t> increases as new AQL packets are added to the queue by the HSA Agent </a:t>
            </a:r>
            <a:endParaRPr lang="en-US" altLang="zh-TW" sz="2400" dirty="0" smtClean="0"/>
          </a:p>
          <a:p>
            <a:endParaRPr lang="zh-TW" altLang="en-US" sz="2400" dirty="0"/>
          </a:p>
          <a:p>
            <a:r>
              <a:rPr lang="en-US" altLang="zh-TW" sz="2400" dirty="0"/>
              <a:t>The </a:t>
            </a:r>
            <a:r>
              <a:rPr lang="en-US" altLang="zh-TW" sz="2400" dirty="0" err="1"/>
              <a:t>readIndex</a:t>
            </a:r>
            <a:r>
              <a:rPr lang="en-US" altLang="zh-TW" sz="2400" dirty="0"/>
              <a:t> increases as AQL packets are processed and released by the HSA Packet Processor. </a:t>
            </a:r>
          </a:p>
          <a:p>
            <a:endParaRPr lang="en-US" altLang="zh-TW" sz="2400" dirty="0"/>
          </a:p>
          <a:p>
            <a:endParaRPr lang="en-US" altLang="zh-TW" sz="2400" dirty="0" smtClean="0"/>
          </a:p>
          <a:p>
            <a:endParaRPr lang="en-US" altLang="zh-TW" sz="2400" dirty="0" smtClean="0"/>
          </a:p>
        </p:txBody>
      </p:sp>
    </p:spTree>
    <p:extLst>
      <p:ext uri="{BB962C8B-B14F-4D97-AF65-F5344CB8AC3E}">
        <p14:creationId xmlns:p14="http://schemas.microsoft.com/office/powerpoint/2010/main" val="102429010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mechanics</a:t>
            </a:r>
            <a:endParaRPr lang="zh-TW" altLang="en-US" sz="3600" dirty="0"/>
          </a:p>
        </p:txBody>
      </p:sp>
      <p:sp>
        <p:nvSpPr>
          <p:cNvPr id="3" name="內容版面配置區 2"/>
          <p:cNvSpPr>
            <a:spLocks noGrp="1"/>
          </p:cNvSpPr>
          <p:nvPr>
            <p:ph idx="1"/>
          </p:nvPr>
        </p:nvSpPr>
        <p:spPr/>
        <p:txBody>
          <a:bodyPr/>
          <a:lstStyle/>
          <a:p>
            <a:endParaRPr lang="zh-TW" altLang="en-US" sz="2400" dirty="0"/>
          </a:p>
          <a:p>
            <a:r>
              <a:rPr lang="en-US" altLang="zh-TW" sz="2400" dirty="0"/>
              <a:t>The </a:t>
            </a:r>
            <a:r>
              <a:rPr lang="en-US" altLang="zh-TW" sz="2400" dirty="0" err="1"/>
              <a:t>writeIndex</a:t>
            </a:r>
            <a:r>
              <a:rPr lang="en-US" altLang="zh-TW" sz="2400" dirty="0"/>
              <a:t> never wraps around, but the actual address offset used is ((</a:t>
            </a:r>
            <a:r>
              <a:rPr lang="en-US" altLang="zh-TW" sz="2400" dirty="0" err="1"/>
              <a:t>writeIndex</a:t>
            </a:r>
            <a:r>
              <a:rPr lang="en-US" altLang="zh-TW" sz="2400" dirty="0"/>
              <a:t> % size) * AQL packet size). </a:t>
            </a:r>
          </a:p>
          <a:p>
            <a:endParaRPr lang="zh-TW" altLang="en-US" sz="2400" dirty="0"/>
          </a:p>
          <a:p>
            <a:r>
              <a:rPr lang="en-US" altLang="zh-TW" sz="2400" dirty="0"/>
              <a:t>The </a:t>
            </a:r>
            <a:r>
              <a:rPr lang="en-US" altLang="zh-TW" sz="2400" dirty="0" err="1"/>
              <a:t>readIndex</a:t>
            </a:r>
            <a:r>
              <a:rPr lang="en-US" altLang="zh-TW" sz="2400" dirty="0"/>
              <a:t> never wraps around, but the actual address offset used is ((</a:t>
            </a:r>
            <a:r>
              <a:rPr lang="en-US" altLang="zh-TW" sz="2400" dirty="0" err="1"/>
              <a:t>readIndex</a:t>
            </a:r>
            <a:r>
              <a:rPr lang="en-US" altLang="zh-TW" sz="2400" dirty="0"/>
              <a:t> % size) * AQL packet size). </a:t>
            </a:r>
          </a:p>
          <a:p>
            <a:endParaRPr lang="zh-TW" altLang="en-US" sz="2400" dirty="0"/>
          </a:p>
          <a:p>
            <a:r>
              <a:rPr lang="en-US" altLang="zh-TW" sz="2400" dirty="0"/>
              <a:t>AQL packets are 64 bytes in size. </a:t>
            </a:r>
          </a:p>
          <a:p>
            <a:endParaRPr lang="zh-TW" altLang="en-US" sz="2400" dirty="0"/>
          </a:p>
          <a:p>
            <a:r>
              <a:rPr lang="en-US" altLang="zh-TW" sz="2400" dirty="0"/>
              <a:t>When the </a:t>
            </a:r>
            <a:r>
              <a:rPr lang="en-US" altLang="zh-TW" sz="2400" dirty="0" err="1"/>
              <a:t>writeIndex</a:t>
            </a:r>
            <a:r>
              <a:rPr lang="en-US" altLang="zh-TW" sz="2400" dirty="0"/>
              <a:t> == </a:t>
            </a:r>
            <a:r>
              <a:rPr lang="en-US" altLang="zh-TW" sz="2400" dirty="0" err="1"/>
              <a:t>readIndex</a:t>
            </a:r>
            <a:r>
              <a:rPr lang="en-US" altLang="zh-TW" sz="2400" dirty="0"/>
              <a:t>, the queue is empty. </a:t>
            </a:r>
          </a:p>
          <a:p>
            <a:endParaRPr lang="en-US" altLang="zh-TW" sz="2400" dirty="0" smtClean="0"/>
          </a:p>
        </p:txBody>
      </p:sp>
    </p:spTree>
    <p:extLst>
      <p:ext uri="{BB962C8B-B14F-4D97-AF65-F5344CB8AC3E}">
        <p14:creationId xmlns:p14="http://schemas.microsoft.com/office/powerpoint/2010/main" val="322974813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mechanics</a:t>
            </a:r>
            <a:endParaRPr lang="zh-TW" altLang="en-US" sz="3600" dirty="0"/>
          </a:p>
        </p:txBody>
      </p:sp>
      <p:sp>
        <p:nvSpPr>
          <p:cNvPr id="3" name="內容版面配置區 2"/>
          <p:cNvSpPr>
            <a:spLocks noGrp="1"/>
          </p:cNvSpPr>
          <p:nvPr>
            <p:ph idx="1"/>
          </p:nvPr>
        </p:nvSpPr>
        <p:spPr/>
        <p:txBody>
          <a:bodyPr/>
          <a:lstStyle/>
          <a:p>
            <a:endParaRPr lang="zh-TW" altLang="en-US" sz="2400" dirty="0"/>
          </a:p>
          <a:p>
            <a:r>
              <a:rPr lang="en-US" altLang="zh-TW" sz="2400" dirty="0"/>
              <a:t>An HSA Agent allocates an AQL packet slot by incrementing the </a:t>
            </a:r>
            <a:r>
              <a:rPr lang="en-US" altLang="zh-TW" sz="2400" dirty="0" err="1"/>
              <a:t>writeIndex</a:t>
            </a:r>
            <a:r>
              <a:rPr lang="en-US" altLang="zh-TW" sz="2400" dirty="0"/>
              <a:t>. </a:t>
            </a:r>
            <a:endParaRPr lang="en-US" altLang="zh-TW" sz="2400" dirty="0" smtClean="0"/>
          </a:p>
          <a:p>
            <a:endParaRPr lang="en-US" altLang="zh-TW" sz="2400" dirty="0"/>
          </a:p>
          <a:p>
            <a:r>
              <a:rPr lang="en-US" altLang="zh-TW" sz="2400" dirty="0" smtClean="0"/>
              <a:t>The </a:t>
            </a:r>
            <a:r>
              <a:rPr lang="en-US" altLang="zh-TW" sz="2400" dirty="0"/>
              <a:t>value of the </a:t>
            </a:r>
            <a:r>
              <a:rPr lang="en-US" altLang="zh-TW" sz="2400" dirty="0" err="1"/>
              <a:t>writeIndex</a:t>
            </a:r>
            <a:r>
              <a:rPr lang="en-US" altLang="zh-TW" sz="2400" dirty="0"/>
              <a:t> before the increment operation is the </a:t>
            </a:r>
            <a:r>
              <a:rPr lang="en-US" altLang="zh-TW" sz="2400" dirty="0" err="1"/>
              <a:t>packetID</a:t>
            </a:r>
            <a:r>
              <a:rPr lang="en-US" altLang="zh-TW" sz="2400" dirty="0"/>
              <a:t> of the AQL packet allocated. </a:t>
            </a:r>
          </a:p>
          <a:p>
            <a:endParaRPr lang="zh-TW" altLang="en-US" sz="2400" dirty="0"/>
          </a:p>
          <a:p>
            <a:r>
              <a:rPr lang="en-US" altLang="zh-TW" sz="2400" dirty="0"/>
              <a:t>The format field of AQL packet slots is initialized to INVALID by the HSA system when a queue is created and when a packet has been processed. </a:t>
            </a:r>
          </a:p>
          <a:p>
            <a:endParaRPr lang="en-US" altLang="zh-TW" sz="2400" dirty="0" smtClean="0"/>
          </a:p>
        </p:txBody>
      </p:sp>
    </p:spTree>
    <p:extLst>
      <p:ext uri="{BB962C8B-B14F-4D97-AF65-F5344CB8AC3E}">
        <p14:creationId xmlns:p14="http://schemas.microsoft.com/office/powerpoint/2010/main" val="299423144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mechanics</a:t>
            </a:r>
            <a:endParaRPr lang="zh-TW" altLang="en-US" sz="3600" dirty="0"/>
          </a:p>
        </p:txBody>
      </p:sp>
      <p:sp>
        <p:nvSpPr>
          <p:cNvPr id="3" name="內容版面配置區 2"/>
          <p:cNvSpPr>
            <a:spLocks noGrp="1"/>
          </p:cNvSpPr>
          <p:nvPr>
            <p:ph idx="1"/>
          </p:nvPr>
        </p:nvSpPr>
        <p:spPr/>
        <p:txBody>
          <a:bodyPr/>
          <a:lstStyle/>
          <a:p>
            <a:endParaRPr lang="zh-TW" altLang="en-US" sz="2400" dirty="0"/>
          </a:p>
          <a:p>
            <a:r>
              <a:rPr lang="en-US" altLang="zh-TW" sz="2400" dirty="0"/>
              <a:t>A submitting HSA Agent may only modify an allocated AQL packet when </a:t>
            </a:r>
            <a:r>
              <a:rPr lang="en-US" altLang="zh-TW" sz="2400" i="1" dirty="0" err="1"/>
              <a:t>packetID</a:t>
            </a:r>
            <a:r>
              <a:rPr lang="en-US" altLang="zh-TW" sz="2400" i="1" dirty="0"/>
              <a:t> &lt; </a:t>
            </a:r>
            <a:r>
              <a:rPr lang="en-US" altLang="zh-TW" sz="2400" i="1" dirty="0" err="1"/>
              <a:t>readIndex</a:t>
            </a:r>
            <a:r>
              <a:rPr lang="en-US" altLang="zh-TW" sz="2400" i="1" dirty="0"/>
              <a:t> + size </a:t>
            </a:r>
            <a:r>
              <a:rPr lang="en-US" altLang="zh-TW" sz="2400" dirty="0"/>
              <a:t>and the AQL packet format field is set to INVALID. </a:t>
            </a:r>
            <a:r>
              <a:rPr lang="en-US" altLang="zh-TW" sz="2400" dirty="0" smtClean="0"/>
              <a:t>  </a:t>
            </a:r>
            <a:r>
              <a:rPr lang="en-US" altLang="zh-TW" sz="2400" dirty="0" smtClean="0">
                <a:solidFill>
                  <a:schemeClr val="bg1">
                    <a:lumMod val="85000"/>
                  </a:schemeClr>
                </a:solidFill>
              </a:rPr>
              <a:t>(size??  What size??)</a:t>
            </a:r>
            <a:endParaRPr lang="en-US" altLang="zh-TW" sz="2400" dirty="0">
              <a:solidFill>
                <a:schemeClr val="bg1">
                  <a:lumMod val="85000"/>
                </a:schemeClr>
              </a:solidFill>
            </a:endParaRPr>
          </a:p>
          <a:p>
            <a:endParaRPr lang="zh-TW" altLang="en-US" sz="2400" dirty="0"/>
          </a:p>
          <a:p>
            <a:r>
              <a:rPr lang="en-US" altLang="zh-TW" sz="2400" dirty="0"/>
              <a:t>HSA Packet Processor </a:t>
            </a:r>
          </a:p>
          <a:p>
            <a:pPr lvl="1"/>
            <a:r>
              <a:rPr lang="en-US" altLang="zh-TW" sz="2400" dirty="0"/>
              <a:t>HSA Packet Processors are tightly bound to one or more HSA Agents, and provide the user mode queue functionality for the HSA Agents. HSA Packet Processors participate in the HSA memory model and are HSA Agents. </a:t>
            </a:r>
            <a:endParaRPr lang="en-US" altLang="zh-TW" sz="2400" dirty="0" smtClean="0"/>
          </a:p>
        </p:txBody>
      </p:sp>
    </p:spTree>
    <p:extLst>
      <p:ext uri="{BB962C8B-B14F-4D97-AF65-F5344CB8AC3E}">
        <p14:creationId xmlns:p14="http://schemas.microsoft.com/office/powerpoint/2010/main" val="135278259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mechanics</a:t>
            </a:r>
            <a:endParaRPr lang="zh-TW" altLang="en-US" sz="3600" dirty="0"/>
          </a:p>
        </p:txBody>
      </p:sp>
      <p:sp>
        <p:nvSpPr>
          <p:cNvPr id="3" name="內容版面配置區 2"/>
          <p:cNvSpPr>
            <a:spLocks noGrp="1"/>
          </p:cNvSpPr>
          <p:nvPr>
            <p:ph idx="1"/>
          </p:nvPr>
        </p:nvSpPr>
        <p:spPr/>
        <p:txBody>
          <a:bodyPr/>
          <a:lstStyle/>
          <a:p>
            <a:r>
              <a:rPr lang="en-US" altLang="zh-TW" sz="2400" dirty="0" smtClean="0"/>
              <a:t>AQL </a:t>
            </a:r>
            <a:r>
              <a:rPr lang="en-US" altLang="zh-TW" sz="2400" dirty="0"/>
              <a:t>packets are submitted to the HSA Packet Processor by changing the AQL packet format field from INVALID, and signaling the queue doorbell. </a:t>
            </a:r>
            <a:endParaRPr lang="en-US" altLang="zh-TW" sz="2400" dirty="0" smtClean="0"/>
          </a:p>
          <a:p>
            <a:endParaRPr lang="en-US" altLang="zh-TW" sz="2400" dirty="0" smtClean="0"/>
          </a:p>
          <a:p>
            <a:r>
              <a:rPr lang="en-US" altLang="zh-TW" sz="2400" dirty="0" smtClean="0"/>
              <a:t>The </a:t>
            </a:r>
            <a:r>
              <a:rPr lang="en-US" altLang="zh-TW" sz="2400" dirty="0"/>
              <a:t>HSA Agent must ensure the following constraints are respected: </a:t>
            </a:r>
          </a:p>
          <a:p>
            <a:pPr lvl="1"/>
            <a:r>
              <a:rPr lang="en-US" altLang="zh-TW" sz="2400" dirty="0" smtClean="0"/>
              <a:t>The </a:t>
            </a:r>
            <a:r>
              <a:rPr lang="en-US" altLang="zh-TW" sz="2400" dirty="0"/>
              <a:t>HSA Agent is required to ensure that the rest of the AQL packet is globally visible before or at the same time as the format field is written. </a:t>
            </a:r>
          </a:p>
          <a:p>
            <a:pPr lvl="1"/>
            <a:r>
              <a:rPr lang="en-US" altLang="zh-TW" sz="2400" dirty="0" smtClean="0"/>
              <a:t>When </a:t>
            </a:r>
            <a:r>
              <a:rPr lang="en-US" altLang="zh-TW" sz="2400" dirty="0"/>
              <a:t>the queue doorbell is signaled the HSA Agent is required to ensure that the AQL packet referenced by the doorbell value is already globally visible. </a:t>
            </a:r>
          </a:p>
          <a:p>
            <a:endParaRPr lang="en-US" altLang="zh-TW" sz="2400" dirty="0" smtClean="0"/>
          </a:p>
        </p:txBody>
      </p:sp>
    </p:spTree>
    <p:extLst>
      <p:ext uri="{BB962C8B-B14F-4D97-AF65-F5344CB8AC3E}">
        <p14:creationId xmlns:p14="http://schemas.microsoft.com/office/powerpoint/2010/main" val="250042628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mechanics</a:t>
            </a:r>
            <a:endParaRPr lang="zh-TW" altLang="en-US" sz="3600" dirty="0"/>
          </a:p>
        </p:txBody>
      </p:sp>
      <p:sp>
        <p:nvSpPr>
          <p:cNvPr id="3" name="內容版面配置區 2"/>
          <p:cNvSpPr>
            <a:spLocks noGrp="1"/>
          </p:cNvSpPr>
          <p:nvPr>
            <p:ph idx="1"/>
          </p:nvPr>
        </p:nvSpPr>
        <p:spPr/>
        <p:txBody>
          <a:bodyPr/>
          <a:lstStyle/>
          <a:p>
            <a:r>
              <a:rPr lang="en-US" altLang="zh-TW" sz="2400" dirty="0" smtClean="0"/>
              <a:t>When </a:t>
            </a:r>
            <a:r>
              <a:rPr lang="en-US" altLang="zh-TW" sz="2400" dirty="0"/>
              <a:t>an HSA Agent submits an AQL packet to the HSA Packet Processor the ownership of the AQL packet is transferred. </a:t>
            </a:r>
            <a:endParaRPr lang="en-US" altLang="zh-TW" sz="2400" dirty="0" smtClean="0"/>
          </a:p>
          <a:p>
            <a:endParaRPr lang="en-US" altLang="zh-TW" sz="2400" dirty="0" smtClean="0"/>
          </a:p>
          <a:p>
            <a:r>
              <a:rPr lang="en-US" altLang="zh-TW" sz="2400" dirty="0" smtClean="0"/>
              <a:t>The </a:t>
            </a:r>
            <a:r>
              <a:rPr lang="en-US" altLang="zh-TW" sz="2400" dirty="0"/>
              <a:t>HSA Packet Processor may update the AQL packet at any time after packet submission, and the submitting HSA Agent should not rely on the content of the AQL packet after submission. </a:t>
            </a:r>
          </a:p>
          <a:p>
            <a:endParaRPr lang="zh-TW" altLang="en-US" sz="2400" dirty="0"/>
          </a:p>
          <a:p>
            <a:r>
              <a:rPr lang="en-US" altLang="zh-TW" sz="2400" dirty="0"/>
              <a:t>HSA Packet Processors must not process an AQL packet with the format field set to INVALID. </a:t>
            </a:r>
          </a:p>
          <a:p>
            <a:endParaRPr lang="en-US" altLang="zh-TW" sz="2400" dirty="0" smtClean="0"/>
          </a:p>
        </p:txBody>
      </p:sp>
    </p:spTree>
    <p:extLst>
      <p:ext uri="{BB962C8B-B14F-4D97-AF65-F5344CB8AC3E}">
        <p14:creationId xmlns:p14="http://schemas.microsoft.com/office/powerpoint/2010/main" val="409987648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mechanics</a:t>
            </a:r>
            <a:endParaRPr lang="zh-TW" altLang="en-US" sz="3600" dirty="0"/>
          </a:p>
        </p:txBody>
      </p:sp>
      <p:sp>
        <p:nvSpPr>
          <p:cNvPr id="3" name="內容版面配置區 2"/>
          <p:cNvSpPr>
            <a:spLocks noGrp="1"/>
          </p:cNvSpPr>
          <p:nvPr>
            <p:ph idx="1"/>
          </p:nvPr>
        </p:nvSpPr>
        <p:spPr/>
        <p:txBody>
          <a:bodyPr/>
          <a:lstStyle/>
          <a:p>
            <a:r>
              <a:rPr lang="en-US" altLang="zh-TW" sz="2400" dirty="0"/>
              <a:t>HSA Packet Processors are not required to process an AQL packet until the doorbell is signaled with a </a:t>
            </a:r>
            <a:r>
              <a:rPr lang="en-US" altLang="zh-TW" sz="2400" dirty="0" err="1"/>
              <a:t>packetID</a:t>
            </a:r>
            <a:r>
              <a:rPr lang="en-US" altLang="zh-TW" sz="2400" dirty="0"/>
              <a:t> equal to the </a:t>
            </a:r>
            <a:r>
              <a:rPr lang="en-US" altLang="zh-TW" sz="2400" dirty="0" err="1"/>
              <a:t>packetID</a:t>
            </a:r>
            <a:r>
              <a:rPr lang="en-US" altLang="zh-TW" sz="2400" dirty="0"/>
              <a:t> of the packet or to a subsequent </a:t>
            </a:r>
            <a:r>
              <a:rPr lang="en-US" altLang="zh-TW" sz="2400" dirty="0" err="1"/>
              <a:t>packetID</a:t>
            </a:r>
            <a:r>
              <a:rPr lang="en-US" altLang="zh-TW" sz="2400" dirty="0"/>
              <a:t>. </a:t>
            </a:r>
          </a:p>
          <a:p>
            <a:endParaRPr lang="en-US" altLang="zh-TW" sz="2400" dirty="0" smtClean="0"/>
          </a:p>
          <a:p>
            <a:r>
              <a:rPr lang="en-US" altLang="zh-TW" sz="2400" dirty="0" smtClean="0"/>
              <a:t>It </a:t>
            </a:r>
            <a:r>
              <a:rPr lang="en-US" altLang="zh-TW" sz="2400" dirty="0"/>
              <a:t>is not allowed to signal the doorbell with the </a:t>
            </a:r>
            <a:r>
              <a:rPr lang="en-US" altLang="zh-TW" sz="2400" dirty="0" err="1"/>
              <a:t>packetID</a:t>
            </a:r>
            <a:r>
              <a:rPr lang="en-US" altLang="zh-TW" sz="2400" dirty="0"/>
              <a:t> for an invalid </a:t>
            </a:r>
            <a:r>
              <a:rPr lang="en-US" altLang="zh-TW" sz="2400" dirty="0" smtClean="0"/>
              <a:t>packet.</a:t>
            </a:r>
          </a:p>
          <a:p>
            <a:endParaRPr lang="en-US" altLang="zh-TW" sz="2400" dirty="0" smtClean="0"/>
          </a:p>
          <a:p>
            <a:r>
              <a:rPr lang="en-US" altLang="zh-TW" sz="2400" dirty="0" smtClean="0"/>
              <a:t>The </a:t>
            </a:r>
            <a:r>
              <a:rPr lang="en-US" altLang="zh-TW" sz="2400" dirty="0"/>
              <a:t>submitting HSA Agent must ensure the doorbell is signaled with a value meeting these conditions in order to make the dispatch visible to the HSA Packet Processor. </a:t>
            </a:r>
          </a:p>
          <a:p>
            <a:endParaRPr lang="en-US" altLang="zh-TW" sz="2400" dirty="0" smtClean="0"/>
          </a:p>
          <a:p>
            <a:endParaRPr lang="en-US" altLang="zh-TW" sz="2400" dirty="0" smtClean="0"/>
          </a:p>
        </p:txBody>
      </p:sp>
    </p:spTree>
    <p:extLst>
      <p:ext uri="{BB962C8B-B14F-4D97-AF65-F5344CB8AC3E}">
        <p14:creationId xmlns:p14="http://schemas.microsoft.com/office/powerpoint/2010/main" val="327864380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mechanics</a:t>
            </a:r>
            <a:endParaRPr lang="zh-TW" altLang="en-US" sz="3600" dirty="0"/>
          </a:p>
        </p:txBody>
      </p:sp>
      <p:sp>
        <p:nvSpPr>
          <p:cNvPr id="3" name="內容版面配置區 2"/>
          <p:cNvSpPr>
            <a:spLocks noGrp="1"/>
          </p:cNvSpPr>
          <p:nvPr>
            <p:ph idx="1"/>
          </p:nvPr>
        </p:nvSpPr>
        <p:spPr/>
        <p:txBody>
          <a:bodyPr/>
          <a:lstStyle/>
          <a:p>
            <a:r>
              <a:rPr lang="en-US" altLang="zh-TW" sz="2400" dirty="0"/>
              <a:t>On a small machine model platform the least significant 32 bits of the </a:t>
            </a:r>
            <a:r>
              <a:rPr lang="en-US" altLang="zh-TW" sz="2400" dirty="0" err="1"/>
              <a:t>packetID</a:t>
            </a:r>
            <a:r>
              <a:rPr lang="en-US" altLang="zh-TW" sz="2400" dirty="0"/>
              <a:t> is used for the doorbell value. </a:t>
            </a:r>
            <a:endParaRPr lang="en-US" altLang="zh-TW" sz="2400" dirty="0" smtClean="0"/>
          </a:p>
          <a:p>
            <a:endParaRPr lang="en-US" altLang="zh-TW" sz="2400" dirty="0"/>
          </a:p>
          <a:p>
            <a:r>
              <a:rPr lang="en-US" altLang="zh-TW" sz="2400" dirty="0" smtClean="0"/>
              <a:t>Note </a:t>
            </a:r>
            <a:r>
              <a:rPr lang="en-US" altLang="zh-TW" sz="2400" dirty="0"/>
              <a:t>that if multiple packets are submitted then the doorbell only needs to be signaled once, with the value corresponding to the last packet submitted. </a:t>
            </a:r>
            <a:endParaRPr lang="en-US" altLang="zh-TW" sz="2400" dirty="0" smtClean="0"/>
          </a:p>
          <a:p>
            <a:endParaRPr lang="zh-TW" altLang="en-US" sz="2400" dirty="0"/>
          </a:p>
          <a:p>
            <a:r>
              <a:rPr lang="en-US" altLang="zh-TW" sz="2400" dirty="0"/>
              <a:t>For queues with a </a:t>
            </a:r>
            <a:r>
              <a:rPr lang="en-US" altLang="zh-TW" sz="2400" dirty="0" err="1"/>
              <a:t>queueType</a:t>
            </a:r>
            <a:r>
              <a:rPr lang="en-US" altLang="zh-TW" sz="2400" dirty="0"/>
              <a:t> restricting them to single producer mechanics the value signaled on the doorbell must be monotonically increasing. </a:t>
            </a:r>
          </a:p>
          <a:p>
            <a:endParaRPr lang="en-US" altLang="zh-TW" sz="2400" dirty="0"/>
          </a:p>
          <a:p>
            <a:endParaRPr lang="en-US" altLang="zh-TW" sz="2400" dirty="0" smtClean="0"/>
          </a:p>
        </p:txBody>
      </p:sp>
    </p:spTree>
    <p:extLst>
      <p:ext uri="{BB962C8B-B14F-4D97-AF65-F5344CB8AC3E}">
        <p14:creationId xmlns:p14="http://schemas.microsoft.com/office/powerpoint/2010/main" val="226141552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mechanics</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HSA </a:t>
            </a:r>
            <a:r>
              <a:rPr lang="en-US" altLang="zh-TW" sz="2400" dirty="0"/>
              <a:t>Packet Processors may process AQL packets after the packet format field is updated, but before the doorbell is signaled. HSA Agents must not rely on the doorbell as a “gate” to hold off execution of an AQL packet. </a:t>
            </a:r>
          </a:p>
          <a:p>
            <a:endParaRPr lang="zh-TW" altLang="en-US" sz="2400" dirty="0"/>
          </a:p>
          <a:p>
            <a:r>
              <a:rPr lang="en-US" altLang="zh-TW" sz="2400" dirty="0"/>
              <a:t>AQL packets in a queue are dispatched in-order, but may complete in any order. </a:t>
            </a:r>
            <a:endParaRPr lang="en-US" altLang="zh-TW" sz="2400" dirty="0" smtClean="0"/>
          </a:p>
          <a:p>
            <a:endParaRPr lang="en-US" altLang="zh-TW" sz="2400" dirty="0"/>
          </a:p>
          <a:p>
            <a:r>
              <a:rPr lang="en-US" altLang="zh-TW" sz="2400" dirty="0" smtClean="0"/>
              <a:t>If </a:t>
            </a:r>
            <a:r>
              <a:rPr lang="en-US" altLang="zh-TW" sz="2400" dirty="0"/>
              <a:t>the entry at the head of the queue is not ready, other entries in the same queue will not make forward progress. </a:t>
            </a:r>
          </a:p>
          <a:p>
            <a:endParaRPr lang="en-US" altLang="zh-TW" sz="2400" dirty="0" smtClean="0"/>
          </a:p>
        </p:txBody>
      </p:sp>
    </p:spTree>
    <p:extLst>
      <p:ext uri="{BB962C8B-B14F-4D97-AF65-F5344CB8AC3E}">
        <p14:creationId xmlns:p14="http://schemas.microsoft.com/office/powerpoint/2010/main" val="96574753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mechanics</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An </a:t>
            </a:r>
            <a:r>
              <a:rPr lang="en-US" altLang="zh-TW" sz="2400" dirty="0"/>
              <a:t>HSA Packet Processor may choose to release a packet slot (by incrementing </a:t>
            </a:r>
            <a:r>
              <a:rPr lang="en-US" altLang="zh-TW" sz="2400" dirty="0" err="1"/>
              <a:t>readIndex</a:t>
            </a:r>
            <a:r>
              <a:rPr lang="en-US" altLang="zh-TW" sz="2400" dirty="0"/>
              <a:t> and setting the format field to INVALID) at any time after a packet has been submitted, regardless of the state of the task specified by the packet. </a:t>
            </a:r>
            <a:endParaRPr lang="en-US" altLang="zh-TW" sz="2400" dirty="0" smtClean="0"/>
          </a:p>
          <a:p>
            <a:endParaRPr lang="en-US" altLang="zh-TW" sz="2400" dirty="0"/>
          </a:p>
          <a:p>
            <a:r>
              <a:rPr lang="en-US" altLang="zh-TW" sz="2400" dirty="0" smtClean="0"/>
              <a:t>HSA </a:t>
            </a:r>
            <a:r>
              <a:rPr lang="en-US" altLang="zh-TW" sz="2400" dirty="0"/>
              <a:t>Agents should not rely on the </a:t>
            </a:r>
            <a:r>
              <a:rPr lang="en-US" altLang="zh-TW" sz="2400" dirty="0" err="1"/>
              <a:t>readIndex</a:t>
            </a:r>
            <a:r>
              <a:rPr lang="en-US" altLang="zh-TW" sz="2400" dirty="0"/>
              <a:t> value to imply any state of a particular task. </a:t>
            </a:r>
          </a:p>
          <a:p>
            <a:endParaRPr lang="en-US" altLang="zh-TW" sz="2400" dirty="0" smtClean="0"/>
          </a:p>
        </p:txBody>
      </p:sp>
    </p:spTree>
    <p:extLst>
      <p:ext uri="{BB962C8B-B14F-4D97-AF65-F5344CB8AC3E}">
        <p14:creationId xmlns:p14="http://schemas.microsoft.com/office/powerpoint/2010/main" val="61611506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mechanics</a:t>
            </a:r>
            <a:endParaRPr lang="zh-TW" altLang="en-US" sz="3600" dirty="0"/>
          </a:p>
        </p:txBody>
      </p:sp>
      <p:sp>
        <p:nvSpPr>
          <p:cNvPr id="3" name="內容版面配置區 2"/>
          <p:cNvSpPr>
            <a:spLocks noGrp="1"/>
          </p:cNvSpPr>
          <p:nvPr>
            <p:ph idx="1"/>
          </p:nvPr>
        </p:nvSpPr>
        <p:spPr/>
        <p:txBody>
          <a:bodyPr/>
          <a:lstStyle/>
          <a:p>
            <a:endParaRPr lang="zh-TW" altLang="en-US" sz="2400" dirty="0"/>
          </a:p>
          <a:p>
            <a:r>
              <a:rPr lang="en-US" altLang="zh-TW" sz="2400" dirty="0"/>
              <a:t>The Packet Processor must make sure the packet slot format field is set to INVALID and made globally visible before the </a:t>
            </a:r>
            <a:r>
              <a:rPr lang="en-US" altLang="zh-TW" sz="2400" dirty="0" err="1"/>
              <a:t>readIndex</a:t>
            </a:r>
            <a:r>
              <a:rPr lang="en-US" altLang="zh-TW" sz="2400" dirty="0"/>
              <a:t> is moved past the packet and it is made available for new task submission. </a:t>
            </a:r>
          </a:p>
          <a:p>
            <a:endParaRPr lang="en-US" altLang="zh-TW" sz="2400" dirty="0" smtClean="0"/>
          </a:p>
          <a:p>
            <a:r>
              <a:rPr lang="en-US" altLang="zh-TW" sz="2400" dirty="0"/>
              <a:t>The User Mode queue base address and queue size of each </a:t>
            </a:r>
            <a:r>
              <a:rPr lang="en-US" altLang="zh-TW" sz="2400" dirty="0" smtClean="0"/>
              <a:t>User </a:t>
            </a:r>
            <a:r>
              <a:rPr lang="en-US" altLang="zh-TW" sz="2400" dirty="0"/>
              <a:t>Mode queues may be confined by system software to system-dependent restrictions </a:t>
            </a:r>
            <a:endParaRPr lang="en-US" altLang="zh-TW" sz="2400" dirty="0" smtClean="0"/>
          </a:p>
          <a:p>
            <a:pPr lvl="1"/>
            <a:r>
              <a:rPr lang="en-US" altLang="zh-TW" sz="2400" dirty="0"/>
              <a:t>for example, queue size and base address aligned to system page size, and so forth </a:t>
            </a:r>
            <a:endParaRPr lang="en-US" altLang="zh-TW" sz="2400" dirty="0" smtClean="0"/>
          </a:p>
        </p:txBody>
      </p:sp>
    </p:spTree>
    <p:extLst>
      <p:ext uri="{BB962C8B-B14F-4D97-AF65-F5344CB8AC3E}">
        <p14:creationId xmlns:p14="http://schemas.microsoft.com/office/powerpoint/2010/main" val="82895572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mechanics</a:t>
            </a:r>
            <a:endParaRPr lang="zh-TW" altLang="en-US" sz="3600" dirty="0"/>
          </a:p>
        </p:txBody>
      </p:sp>
      <p:sp>
        <p:nvSpPr>
          <p:cNvPr id="3" name="內容版面配置區 2"/>
          <p:cNvSpPr>
            <a:spLocks noGrp="1"/>
          </p:cNvSpPr>
          <p:nvPr>
            <p:ph idx="1"/>
          </p:nvPr>
        </p:nvSpPr>
        <p:spPr/>
        <p:txBody>
          <a:bodyPr/>
          <a:lstStyle/>
          <a:p>
            <a:r>
              <a:rPr lang="en-US" altLang="zh-TW" sz="2400" dirty="0"/>
              <a:t>A</a:t>
            </a:r>
            <a:r>
              <a:rPr lang="en-US" altLang="zh-TW" sz="2400" dirty="0" smtClean="0"/>
              <a:t>s </a:t>
            </a:r>
            <a:r>
              <a:rPr lang="en-US" altLang="zh-TW" sz="2400" dirty="0"/>
              <a:t>long as the imposed hardware restrictions do not impede HSA software’s use to allocate multiple such User Mode queues per application process </a:t>
            </a:r>
            <a:endParaRPr lang="en-US" altLang="zh-TW" sz="2400" dirty="0" smtClean="0"/>
          </a:p>
          <a:p>
            <a:endParaRPr lang="en-US" altLang="zh-TW" sz="2400" dirty="0" smtClean="0"/>
          </a:p>
          <a:p>
            <a:r>
              <a:rPr lang="en-US" altLang="zh-TW" sz="2400" dirty="0" smtClean="0"/>
              <a:t>And </a:t>
            </a:r>
            <a:r>
              <a:rPr lang="en-US" altLang="zh-TW" sz="2400" dirty="0"/>
              <a:t>system software provides for APIs allowing to impose such limits on a particular operating system. </a:t>
            </a:r>
            <a:endParaRPr lang="en-US" altLang="zh-TW" sz="2400" dirty="0" smtClean="0"/>
          </a:p>
          <a:p>
            <a:endParaRPr lang="en-US" altLang="zh-TW" sz="2400" dirty="0" smtClean="0"/>
          </a:p>
          <a:p>
            <a:r>
              <a:rPr lang="en-US" altLang="zh-TW" sz="2400" dirty="0"/>
              <a:t>Queues are allocated by HSA applications through the HSA runtime. </a:t>
            </a:r>
            <a:endParaRPr lang="en-US" altLang="zh-TW" sz="2400" dirty="0" smtClean="0"/>
          </a:p>
        </p:txBody>
      </p:sp>
    </p:spTree>
    <p:extLst>
      <p:ext uri="{BB962C8B-B14F-4D97-AF65-F5344CB8AC3E}">
        <p14:creationId xmlns:p14="http://schemas.microsoft.com/office/powerpoint/2010/main" val="166387361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mechanics</a:t>
            </a:r>
            <a:endParaRPr lang="zh-TW" altLang="en-US" sz="3600" dirty="0"/>
          </a:p>
        </p:txBody>
      </p:sp>
      <p:sp>
        <p:nvSpPr>
          <p:cNvPr id="3" name="內容版面配置區 2"/>
          <p:cNvSpPr>
            <a:spLocks noGrp="1"/>
          </p:cNvSpPr>
          <p:nvPr>
            <p:ph idx="1"/>
          </p:nvPr>
        </p:nvSpPr>
        <p:spPr/>
        <p:txBody>
          <a:bodyPr/>
          <a:lstStyle/>
          <a:p>
            <a:r>
              <a:rPr lang="en-US" altLang="zh-TW" sz="2400" dirty="0"/>
              <a:t>HSA Packet Processors shall have visibility of all their associated User Mode queues of all concurrently running </a:t>
            </a:r>
            <a:r>
              <a:rPr lang="en-US" altLang="zh-TW" sz="2400" dirty="0" smtClean="0"/>
              <a:t>processes. </a:t>
            </a:r>
          </a:p>
          <a:p>
            <a:endParaRPr lang="en-US" altLang="zh-TW" sz="2400" dirty="0" smtClean="0"/>
          </a:p>
          <a:p>
            <a:r>
              <a:rPr lang="en-US" altLang="zh-TW" sz="2400" dirty="0"/>
              <a:t>And shall provide process-relative memory isolation and support privilege limitations for the instructions in the user-level command queue. </a:t>
            </a:r>
          </a:p>
          <a:p>
            <a:pPr lvl="1"/>
            <a:r>
              <a:rPr lang="en-US" altLang="zh-TW" sz="2400" dirty="0"/>
              <a:t>These instructions shall consistent with the application-level privileges as defined for the host CPU instruction set. </a:t>
            </a:r>
          </a:p>
          <a:p>
            <a:endParaRPr lang="en-US" altLang="zh-TW" sz="2400" dirty="0" smtClean="0"/>
          </a:p>
          <a:p>
            <a:r>
              <a:rPr lang="en-US" altLang="zh-TW" sz="2400" dirty="0" smtClean="0"/>
              <a:t>The </a:t>
            </a:r>
            <a:r>
              <a:rPr lang="en-US" altLang="zh-TW" sz="2400" dirty="0"/>
              <a:t>HSA system handles switching among the list of available queues for an HSA Packet Processor</a:t>
            </a:r>
            <a:endParaRPr lang="en-US" altLang="zh-TW" sz="2400" dirty="0" smtClean="0"/>
          </a:p>
          <a:p>
            <a:endParaRPr lang="en-US" altLang="zh-TW" sz="2400" dirty="0" smtClean="0"/>
          </a:p>
          <a:p>
            <a:endParaRPr lang="en-US" altLang="zh-TW" sz="2400" dirty="0" smtClean="0"/>
          </a:p>
        </p:txBody>
      </p:sp>
    </p:spTree>
    <p:extLst>
      <p:ext uri="{BB962C8B-B14F-4D97-AF65-F5344CB8AC3E}">
        <p14:creationId xmlns:p14="http://schemas.microsoft.com/office/powerpoint/2010/main" val="281130374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Multiple </a:t>
            </a:r>
            <a:r>
              <a:rPr lang="en-US" altLang="zh-TW" sz="3600" dirty="0" smtClean="0"/>
              <a:t>vs Single HSA </a:t>
            </a:r>
            <a:r>
              <a:rPr lang="en-US" altLang="zh-TW" sz="3600" dirty="0"/>
              <a:t>Agents</a:t>
            </a:r>
            <a:endParaRPr lang="zh-TW" altLang="en-US" sz="3600" dirty="0"/>
          </a:p>
        </p:txBody>
      </p:sp>
      <p:sp>
        <p:nvSpPr>
          <p:cNvPr id="3" name="內容版面配置區 2"/>
          <p:cNvSpPr>
            <a:spLocks noGrp="1"/>
          </p:cNvSpPr>
          <p:nvPr>
            <p:ph idx="1"/>
          </p:nvPr>
        </p:nvSpPr>
        <p:spPr/>
        <p:txBody>
          <a:bodyPr/>
          <a:lstStyle/>
          <a:p>
            <a:r>
              <a:rPr lang="en-US" altLang="zh-TW" sz="2400" dirty="0"/>
              <a:t>An HSA application may incorporate multiple HSA Agents or multiple threads on an HSA Agent that submit jobs to the same AQL queue. </a:t>
            </a:r>
          </a:p>
          <a:p>
            <a:pPr lvl="1"/>
            <a:r>
              <a:rPr lang="en-US" altLang="zh-TW" sz="2400" dirty="0"/>
              <a:t>In the common case this will be multiple host CPU threads, or multiple threads running on a HSA Component. </a:t>
            </a:r>
          </a:p>
          <a:p>
            <a:endParaRPr lang="en-US" altLang="zh-TW" sz="2400" dirty="0" smtClean="0"/>
          </a:p>
          <a:p>
            <a:r>
              <a:rPr lang="en-US" altLang="zh-TW" sz="2400" dirty="0" smtClean="0"/>
              <a:t>In </a:t>
            </a:r>
            <a:r>
              <a:rPr lang="en-US" altLang="zh-TW" sz="2400" dirty="0"/>
              <a:t>order to support job submission from multiple HSA Agents, the update of the queue </a:t>
            </a:r>
            <a:r>
              <a:rPr lang="en-US" altLang="zh-TW" sz="2400" dirty="0" err="1"/>
              <a:t>writeIndex</a:t>
            </a:r>
            <a:r>
              <a:rPr lang="en-US" altLang="zh-TW" sz="2400" dirty="0"/>
              <a:t> must use read-modify-write atomic memory operations. </a:t>
            </a:r>
            <a:endParaRPr lang="en-US" altLang="zh-TW" sz="2400" dirty="0" smtClean="0"/>
          </a:p>
          <a:p>
            <a:endParaRPr lang="en-US" altLang="zh-TW" sz="2400" dirty="0"/>
          </a:p>
          <a:p>
            <a:endParaRPr lang="en-US" altLang="zh-TW" sz="2400" dirty="0" smtClean="0"/>
          </a:p>
        </p:txBody>
      </p:sp>
    </p:spTree>
    <p:extLst>
      <p:ext uri="{BB962C8B-B14F-4D97-AF65-F5344CB8AC3E}">
        <p14:creationId xmlns:p14="http://schemas.microsoft.com/office/powerpoint/2010/main" val="31805189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t>Avoid Deadlocks</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There </a:t>
            </a:r>
            <a:r>
              <a:rPr lang="en-US" altLang="zh-TW" sz="2400" dirty="0"/>
              <a:t>are several options of implementing multiple thread packet submission, each with different characteristics for avoiding deadlocks if/when a queue is full </a:t>
            </a:r>
            <a:endParaRPr lang="en-US" altLang="zh-TW" sz="2400" dirty="0" smtClean="0"/>
          </a:p>
          <a:p>
            <a:endParaRPr lang="en-US" altLang="zh-TW" sz="2400" dirty="0"/>
          </a:p>
          <a:p>
            <a:r>
              <a:rPr lang="en-US" altLang="zh-TW" sz="2400" dirty="0" smtClean="0"/>
              <a:t>And we will give two examples later</a:t>
            </a:r>
          </a:p>
        </p:txBody>
      </p:sp>
    </p:spTree>
    <p:extLst>
      <p:ext uri="{BB962C8B-B14F-4D97-AF65-F5344CB8AC3E}">
        <p14:creationId xmlns:p14="http://schemas.microsoft.com/office/powerpoint/2010/main" val="12021546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t>Example1</a:t>
            </a:r>
            <a:endParaRPr lang="zh-TW" altLang="en-US" sz="3600" dirty="0"/>
          </a:p>
        </p:txBody>
      </p:sp>
      <p:sp>
        <p:nvSpPr>
          <p:cNvPr id="3" name="內容版面配置區 2"/>
          <p:cNvSpPr>
            <a:spLocks noGrp="1"/>
          </p:cNvSpPr>
          <p:nvPr>
            <p:ph idx="1"/>
          </p:nvPr>
        </p:nvSpPr>
        <p:spPr/>
        <p:txBody>
          <a:bodyPr/>
          <a:lstStyle/>
          <a:p>
            <a:endParaRPr lang="zh-TW" altLang="en-US" sz="2400" dirty="0"/>
          </a:p>
          <a:p>
            <a:r>
              <a:rPr lang="en-US" altLang="zh-TW" sz="2400" dirty="0"/>
              <a:t>Check for queue full before incrementing the </a:t>
            </a:r>
            <a:r>
              <a:rPr lang="en-US" altLang="zh-TW" sz="2400" dirty="0" err="1"/>
              <a:t>writeIndex</a:t>
            </a:r>
            <a:r>
              <a:rPr lang="en-US" altLang="zh-TW" sz="2400" dirty="0"/>
              <a:t>, </a:t>
            </a:r>
            <a:endParaRPr lang="en-US" altLang="zh-TW" sz="2400" dirty="0" smtClean="0"/>
          </a:p>
          <a:p>
            <a:endParaRPr lang="en-US" altLang="zh-TW" sz="2400" dirty="0"/>
          </a:p>
          <a:p>
            <a:r>
              <a:rPr lang="en-US" altLang="zh-TW" sz="2400" dirty="0" smtClean="0"/>
              <a:t>And </a:t>
            </a:r>
            <a:r>
              <a:rPr lang="en-US" altLang="zh-TW" sz="2400" dirty="0"/>
              <a:t>use an atomic </a:t>
            </a:r>
            <a:r>
              <a:rPr lang="en-US" altLang="zh-TW" sz="2400" dirty="0" smtClean="0"/>
              <a:t>CAS(Compare And Swap) </a:t>
            </a:r>
            <a:r>
              <a:rPr lang="en-US" altLang="zh-TW" sz="2400" dirty="0"/>
              <a:t>operation for the </a:t>
            </a:r>
            <a:r>
              <a:rPr lang="en-US" altLang="zh-TW" sz="2400" dirty="0" err="1"/>
              <a:t>writeIndex</a:t>
            </a:r>
            <a:r>
              <a:rPr lang="en-US" altLang="zh-TW" sz="2400" dirty="0"/>
              <a:t> increment. </a:t>
            </a:r>
            <a:endParaRPr lang="en-US" altLang="zh-TW" sz="2400" dirty="0" smtClean="0"/>
          </a:p>
          <a:p>
            <a:endParaRPr lang="en-US" altLang="zh-TW" sz="2400" dirty="0"/>
          </a:p>
          <a:p>
            <a:r>
              <a:rPr lang="en-US" altLang="zh-TW" sz="2400" dirty="0" smtClean="0"/>
              <a:t>This </a:t>
            </a:r>
            <a:r>
              <a:rPr lang="en-US" altLang="zh-TW" sz="2400" dirty="0"/>
              <a:t>allows aborting the packet slot allocation in all cases if the queue is full, but when multiple writers collide this requires retrying the packet slot allocation. </a:t>
            </a:r>
          </a:p>
          <a:p>
            <a:endParaRPr lang="en-US" altLang="zh-TW" sz="2400" dirty="0" smtClean="0"/>
          </a:p>
        </p:txBody>
      </p:sp>
    </p:spTree>
    <p:extLst>
      <p:ext uri="{BB962C8B-B14F-4D97-AF65-F5344CB8AC3E}">
        <p14:creationId xmlns:p14="http://schemas.microsoft.com/office/powerpoint/2010/main" val="213361257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t>Example2</a:t>
            </a:r>
            <a:endParaRPr lang="zh-TW" altLang="en-US" sz="3600" dirty="0"/>
          </a:p>
        </p:txBody>
      </p:sp>
      <p:sp>
        <p:nvSpPr>
          <p:cNvPr id="3" name="內容版面配置區 2"/>
          <p:cNvSpPr>
            <a:spLocks noGrp="1"/>
          </p:cNvSpPr>
          <p:nvPr>
            <p:ph idx="1"/>
          </p:nvPr>
        </p:nvSpPr>
        <p:spPr/>
        <p:txBody>
          <a:bodyPr/>
          <a:lstStyle/>
          <a:p>
            <a:endParaRPr lang="zh-TW" altLang="en-US" sz="2400" dirty="0"/>
          </a:p>
          <a:p>
            <a:r>
              <a:rPr lang="en-US" altLang="zh-TW" sz="2400" dirty="0"/>
              <a:t>First atomic add the number of AQL packets to allocate to the </a:t>
            </a:r>
            <a:r>
              <a:rPr lang="en-US" altLang="zh-TW" sz="2400" dirty="0" err="1" smtClean="0"/>
              <a:t>writeIndex</a:t>
            </a:r>
            <a:endParaRPr lang="en-US" altLang="zh-TW" sz="2400" dirty="0"/>
          </a:p>
          <a:p>
            <a:endParaRPr lang="en-US" altLang="zh-TW" sz="2400" dirty="0" smtClean="0"/>
          </a:p>
          <a:p>
            <a:r>
              <a:rPr lang="en-US" altLang="zh-TW" sz="2400" dirty="0" smtClean="0"/>
              <a:t>Then </a:t>
            </a:r>
            <a:r>
              <a:rPr lang="en-US" altLang="zh-TW" sz="2400" dirty="0"/>
              <a:t>check if the queue is full. </a:t>
            </a:r>
            <a:endParaRPr lang="en-US" altLang="zh-TW" sz="2400" dirty="0" smtClean="0"/>
          </a:p>
          <a:p>
            <a:endParaRPr lang="en-US" altLang="zh-TW" sz="2400" dirty="0"/>
          </a:p>
          <a:p>
            <a:r>
              <a:rPr lang="en-US" altLang="zh-TW" sz="2400" dirty="0" smtClean="0"/>
              <a:t>This </a:t>
            </a:r>
            <a:r>
              <a:rPr lang="en-US" altLang="zh-TW" sz="2400" dirty="0"/>
              <a:t>can be more efficient when many threads submit AQL packets, but it may be more difficult to manage queue full conditions gracefully. </a:t>
            </a:r>
          </a:p>
          <a:p>
            <a:endParaRPr lang="en-US" altLang="zh-TW" sz="2400" dirty="0" smtClean="0"/>
          </a:p>
        </p:txBody>
      </p:sp>
    </p:spTree>
    <p:extLst>
      <p:ext uri="{BB962C8B-B14F-4D97-AF65-F5344CB8AC3E}">
        <p14:creationId xmlns:p14="http://schemas.microsoft.com/office/powerpoint/2010/main" val="230260840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Single submitting HSA Agent</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An </a:t>
            </a:r>
            <a:r>
              <a:rPr lang="en-US" altLang="zh-TW" sz="2400" dirty="0"/>
              <a:t>HSA application may limit the job submission to one HSA Agent thread only ("Single submitting HSA Agent</a:t>
            </a:r>
            <a:r>
              <a:rPr lang="en-US" altLang="zh-TW" sz="2400" dirty="0" smtClean="0"/>
              <a:t>").</a:t>
            </a:r>
          </a:p>
          <a:p>
            <a:endParaRPr lang="en-US" altLang="zh-TW" sz="2400" dirty="0"/>
          </a:p>
          <a:p>
            <a:r>
              <a:rPr lang="en-US" altLang="zh-TW" sz="2400" dirty="0"/>
              <a:t>A</a:t>
            </a:r>
            <a:r>
              <a:rPr lang="en-US" altLang="zh-TW" sz="2400" dirty="0" smtClean="0"/>
              <a:t>llowing </a:t>
            </a:r>
            <a:r>
              <a:rPr lang="en-US" altLang="zh-TW" sz="2400" dirty="0"/>
              <a:t>the HSA Agent and packet processor to leverage this property and streamline the job submission process for such a queue. </a:t>
            </a:r>
            <a:endParaRPr lang="en-US" altLang="zh-TW" sz="2400" dirty="0" smtClean="0"/>
          </a:p>
          <a:p>
            <a:endParaRPr lang="en-US" altLang="zh-TW" sz="2400" dirty="0"/>
          </a:p>
          <a:p>
            <a:endParaRPr lang="en-US" altLang="zh-TW" sz="2400" dirty="0" smtClean="0"/>
          </a:p>
          <a:p>
            <a:endParaRPr lang="en-US" altLang="zh-TW" sz="2400" dirty="0"/>
          </a:p>
          <a:p>
            <a:endParaRPr lang="en-US" altLang="zh-TW" sz="2400" dirty="0" smtClean="0"/>
          </a:p>
        </p:txBody>
      </p:sp>
    </p:spTree>
    <p:extLst>
      <p:ext uri="{BB962C8B-B14F-4D97-AF65-F5344CB8AC3E}">
        <p14:creationId xmlns:p14="http://schemas.microsoft.com/office/powerpoint/2010/main" val="367248525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Single submitting HSA Agent</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The </a:t>
            </a:r>
            <a:r>
              <a:rPr lang="en-US" altLang="zh-TW" sz="2400" dirty="0"/>
              <a:t>submission process can be simplified for queues that are only submitted to by a </a:t>
            </a:r>
            <a:r>
              <a:rPr lang="en-US" altLang="zh-TW" sz="2400" dirty="0" smtClean="0"/>
              <a:t> single </a:t>
            </a:r>
            <a:r>
              <a:rPr lang="en-US" altLang="zh-TW" sz="2400" dirty="0"/>
              <a:t>HSA Agent</a:t>
            </a:r>
            <a:r>
              <a:rPr lang="en-US" altLang="zh-TW" sz="2400" dirty="0" smtClean="0"/>
              <a:t>:</a:t>
            </a:r>
          </a:p>
          <a:p>
            <a:pPr lvl="1"/>
            <a:r>
              <a:rPr lang="en-US" altLang="zh-TW" sz="2400" dirty="0" smtClean="0"/>
              <a:t>The </a:t>
            </a:r>
            <a:r>
              <a:rPr lang="en-US" altLang="zh-TW" sz="2400" dirty="0"/>
              <a:t>increment of the </a:t>
            </a:r>
            <a:r>
              <a:rPr lang="en-US" altLang="zh-TW" sz="2400" dirty="0" err="1"/>
              <a:t>writeIndex</a:t>
            </a:r>
            <a:r>
              <a:rPr lang="en-US" altLang="zh-TW" sz="2400" dirty="0"/>
              <a:t> value by the job-submitting HSA Agent can be done using an atomic store, as it is the only HSA Agent permitted to update the value. </a:t>
            </a:r>
            <a:endParaRPr lang="zh-TW" altLang="en-US" sz="2400" dirty="0"/>
          </a:p>
          <a:p>
            <a:pPr lvl="1"/>
            <a:r>
              <a:rPr lang="en-US" altLang="zh-TW" sz="2400" dirty="0"/>
              <a:t>The submitting HSA Agent may use a private variable to hold a copy of the </a:t>
            </a:r>
            <a:r>
              <a:rPr lang="en-US" altLang="zh-TW" sz="2400" dirty="0" err="1"/>
              <a:t>writeIndex</a:t>
            </a:r>
            <a:r>
              <a:rPr lang="en-US" altLang="zh-TW" sz="2400" dirty="0"/>
              <a:t> value and can rely on no one else modifying the </a:t>
            </a:r>
            <a:r>
              <a:rPr lang="en-US" altLang="zh-TW" sz="2400" dirty="0" err="1"/>
              <a:t>writeIndex</a:t>
            </a:r>
            <a:r>
              <a:rPr lang="en-US" altLang="zh-TW" sz="2400" dirty="0"/>
              <a:t> to avoid reading the </a:t>
            </a:r>
            <a:r>
              <a:rPr lang="en-US" altLang="zh-TW" sz="2400" dirty="0" err="1"/>
              <a:t>writeIndex</a:t>
            </a:r>
            <a:r>
              <a:rPr lang="en-US" altLang="zh-TW" sz="2400" dirty="0"/>
              <a:t>. </a:t>
            </a:r>
          </a:p>
          <a:p>
            <a:pPr lvl="1"/>
            <a:endParaRPr lang="en-US" altLang="zh-TW" dirty="0"/>
          </a:p>
          <a:p>
            <a:endParaRPr lang="en-US" altLang="zh-TW" sz="2400" dirty="0" smtClean="0"/>
          </a:p>
        </p:txBody>
      </p:sp>
    </p:spTree>
    <p:extLst>
      <p:ext uri="{BB962C8B-B14F-4D97-AF65-F5344CB8AC3E}">
        <p14:creationId xmlns:p14="http://schemas.microsoft.com/office/powerpoint/2010/main" val="96581262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Packet Processor</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Packet </a:t>
            </a:r>
            <a:r>
              <a:rPr lang="en-US" altLang="zh-TW" sz="2400" dirty="0"/>
              <a:t>Processor behavior can be optimized as long as it complies with the specification. </a:t>
            </a:r>
            <a:endParaRPr lang="en-US" altLang="zh-TW" sz="2400" dirty="0" smtClean="0"/>
          </a:p>
          <a:p>
            <a:endParaRPr lang="en-US" altLang="zh-TW" sz="2400" dirty="0" smtClean="0"/>
          </a:p>
          <a:p>
            <a:r>
              <a:rPr lang="en-US" altLang="zh-TW" sz="2400" dirty="0" smtClean="0"/>
              <a:t>For </a:t>
            </a:r>
            <a:r>
              <a:rPr lang="en-US" altLang="zh-TW" sz="2400" dirty="0"/>
              <a:t>example </a:t>
            </a:r>
            <a:r>
              <a:rPr lang="en-US" altLang="zh-TW" sz="2400" dirty="0" smtClean="0"/>
              <a:t>:</a:t>
            </a:r>
            <a:endParaRPr lang="zh-TW" altLang="en-US" sz="2400" dirty="0"/>
          </a:p>
          <a:p>
            <a:pPr lvl="1"/>
            <a:r>
              <a:rPr lang="en-US" altLang="zh-TW" sz="2400" dirty="0"/>
              <a:t>Use the packet format field to determine whether a packet has been submitted rather than reading the </a:t>
            </a:r>
            <a:r>
              <a:rPr lang="en-US" altLang="zh-TW" sz="2400" dirty="0" err="1"/>
              <a:t>writeIndex</a:t>
            </a:r>
            <a:r>
              <a:rPr lang="en-US" altLang="zh-TW" sz="2400" dirty="0"/>
              <a:t> queue field. </a:t>
            </a:r>
          </a:p>
          <a:p>
            <a:pPr lvl="1"/>
            <a:r>
              <a:rPr lang="en-US" altLang="zh-TW" sz="2400" dirty="0" smtClean="0"/>
              <a:t>Speculatively </a:t>
            </a:r>
            <a:r>
              <a:rPr lang="en-US" altLang="zh-TW" sz="2400" dirty="0"/>
              <a:t>read multiple packets from the queue. </a:t>
            </a:r>
          </a:p>
          <a:p>
            <a:pPr lvl="1"/>
            <a:r>
              <a:rPr lang="en-US" altLang="zh-TW" sz="2400" dirty="0" smtClean="0"/>
              <a:t>Not </a:t>
            </a:r>
            <a:r>
              <a:rPr lang="en-US" altLang="zh-TW" sz="2400" dirty="0"/>
              <a:t>update the </a:t>
            </a:r>
            <a:r>
              <a:rPr lang="en-US" altLang="zh-TW" sz="2400" dirty="0" err="1"/>
              <a:t>readIndex</a:t>
            </a:r>
            <a:r>
              <a:rPr lang="en-US" altLang="zh-TW" sz="2400" dirty="0"/>
              <a:t> for every packet processed. </a:t>
            </a:r>
          </a:p>
          <a:p>
            <a:endParaRPr lang="en-US" altLang="zh-TW" sz="2400" dirty="0" smtClean="0"/>
          </a:p>
        </p:txBody>
      </p:sp>
    </p:spTree>
    <p:extLst>
      <p:ext uri="{BB962C8B-B14F-4D97-AF65-F5344CB8AC3E}">
        <p14:creationId xmlns:p14="http://schemas.microsoft.com/office/powerpoint/2010/main" val="369957195"/>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Packet Processor</a:t>
            </a:r>
            <a:endParaRPr lang="zh-TW" altLang="en-US" sz="3600" dirty="0"/>
          </a:p>
        </p:txBody>
      </p:sp>
      <p:sp>
        <p:nvSpPr>
          <p:cNvPr id="3" name="內容版面配置區 2"/>
          <p:cNvSpPr>
            <a:spLocks noGrp="1"/>
          </p:cNvSpPr>
          <p:nvPr>
            <p:ph idx="1"/>
          </p:nvPr>
        </p:nvSpPr>
        <p:spPr/>
        <p:txBody>
          <a:bodyPr/>
          <a:lstStyle/>
          <a:p>
            <a:r>
              <a:rPr lang="en-US" altLang="zh-TW" sz="2400" dirty="0"/>
              <a:t>The queue mechanics do not require packets to be submitted in order. </a:t>
            </a:r>
          </a:p>
          <a:p>
            <a:pPr lvl="1"/>
            <a:r>
              <a:rPr lang="en-US" altLang="zh-TW" sz="2400" dirty="0"/>
              <a:t>except for queues restricted to single producer mechanics</a:t>
            </a:r>
          </a:p>
          <a:p>
            <a:endParaRPr lang="en-US" altLang="zh-TW" sz="2400" dirty="0" smtClean="0"/>
          </a:p>
          <a:p>
            <a:r>
              <a:rPr lang="en-US" altLang="zh-TW" sz="2400" dirty="0" smtClean="0"/>
              <a:t>However</a:t>
            </a:r>
            <a:r>
              <a:rPr lang="en-US" altLang="zh-TW" sz="2400" dirty="0"/>
              <a:t>, the Packet Processor performance and </a:t>
            </a:r>
            <a:r>
              <a:rPr lang="en-US" altLang="zh-TW" sz="2400" dirty="0" smtClean="0"/>
              <a:t>dispatch </a:t>
            </a:r>
            <a:r>
              <a:rPr lang="en-US" altLang="zh-TW" sz="2400" dirty="0"/>
              <a:t>latency can benefit from the doorbell </a:t>
            </a:r>
            <a:r>
              <a:rPr lang="en-US" altLang="zh-TW" sz="2400" dirty="0" smtClean="0"/>
              <a:t>being </a:t>
            </a:r>
            <a:r>
              <a:rPr lang="en-US" altLang="zh-TW" sz="2400" dirty="0"/>
              <a:t>signaled in order.</a:t>
            </a:r>
            <a:endParaRPr lang="en-US" altLang="zh-TW" sz="2400" dirty="0" smtClean="0"/>
          </a:p>
          <a:p>
            <a:endParaRPr lang="en-US" altLang="zh-TW" sz="2400" dirty="0" smtClean="0"/>
          </a:p>
          <a:p>
            <a:r>
              <a:rPr lang="en-US" altLang="zh-TW" sz="2400" dirty="0"/>
              <a:t>For this reason it is recommended that the doorbell is always signaled in order from within a single thread </a:t>
            </a:r>
            <a:endParaRPr lang="en-US" altLang="zh-TW" sz="2400" dirty="0" smtClean="0"/>
          </a:p>
          <a:p>
            <a:pPr lvl="1"/>
            <a:r>
              <a:rPr lang="en-US" altLang="zh-TW" sz="2400" dirty="0" smtClean="0"/>
              <a:t>this </a:t>
            </a:r>
            <a:r>
              <a:rPr lang="en-US" altLang="zh-TW" sz="2400" dirty="0"/>
              <a:t>is a strict requirement for queues using single producer </a:t>
            </a:r>
            <a:r>
              <a:rPr lang="en-US" altLang="zh-TW" sz="2400" dirty="0" smtClean="0"/>
              <a:t>mechanics</a:t>
            </a:r>
            <a:endParaRPr lang="en-US" altLang="zh-TW" sz="2400" dirty="0"/>
          </a:p>
          <a:p>
            <a:endParaRPr lang="en-US" altLang="zh-TW" sz="2400" dirty="0" smtClean="0"/>
          </a:p>
        </p:txBody>
      </p:sp>
    </p:spTree>
    <p:extLst>
      <p:ext uri="{BB962C8B-B14F-4D97-AF65-F5344CB8AC3E}">
        <p14:creationId xmlns:p14="http://schemas.microsoft.com/office/powerpoint/2010/main" val="333813488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index access</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The </a:t>
            </a:r>
            <a:r>
              <a:rPr lang="en-US" altLang="zh-TW" sz="2400" dirty="0"/>
              <a:t>queue </a:t>
            </a:r>
            <a:r>
              <a:rPr lang="en-US" altLang="zh-TW" sz="2400" dirty="0" err="1"/>
              <a:t>writeIndex</a:t>
            </a:r>
            <a:r>
              <a:rPr lang="en-US" altLang="zh-TW" sz="2400" dirty="0"/>
              <a:t> and </a:t>
            </a:r>
            <a:r>
              <a:rPr lang="en-US" altLang="zh-TW" sz="2400" dirty="0" err="1"/>
              <a:t>readIndex</a:t>
            </a:r>
            <a:r>
              <a:rPr lang="en-US" altLang="zh-TW" sz="2400" dirty="0"/>
              <a:t> properties are accessed from HSA applications using HSA runtime API calls and from HSAIL kernels using specific instructions. </a:t>
            </a:r>
            <a:endParaRPr lang="en-US" altLang="zh-TW" sz="2400" dirty="0" smtClean="0"/>
          </a:p>
          <a:p>
            <a:endParaRPr lang="en-US" altLang="zh-TW" sz="2400" dirty="0"/>
          </a:p>
          <a:p>
            <a:r>
              <a:rPr lang="en-US" altLang="zh-TW" sz="2400" dirty="0"/>
              <a:t>The operations provided through the HSA runtime API and specific HSAIL instructions for accessing the queue </a:t>
            </a:r>
            <a:r>
              <a:rPr lang="en-US" altLang="zh-TW" sz="2400" dirty="0" err="1"/>
              <a:t>writeIndex</a:t>
            </a:r>
            <a:r>
              <a:rPr lang="en-US" altLang="zh-TW" sz="2400" dirty="0"/>
              <a:t> and </a:t>
            </a:r>
            <a:r>
              <a:rPr lang="en-US" altLang="zh-TW" sz="2400" dirty="0" err="1"/>
              <a:t>readIndex</a:t>
            </a:r>
            <a:r>
              <a:rPr lang="en-US" altLang="zh-TW" sz="2400" dirty="0"/>
              <a:t> properties are equivalent</a:t>
            </a:r>
            <a:r>
              <a:rPr lang="en-US" altLang="zh-TW" sz="2400" dirty="0" smtClean="0"/>
              <a:t>.</a:t>
            </a:r>
          </a:p>
          <a:p>
            <a:endParaRPr lang="en-US" altLang="zh-TW" sz="2400" dirty="0"/>
          </a:p>
          <a:p>
            <a:r>
              <a:rPr lang="en-US" altLang="zh-TW" sz="2400" dirty="0"/>
              <a:t>All access operations for the queue indices are relaxed atomics with global visibility. </a:t>
            </a:r>
            <a:r>
              <a:rPr lang="en-US" altLang="zh-TW" sz="2400" dirty="0" smtClean="0"/>
              <a:t> </a:t>
            </a:r>
          </a:p>
        </p:txBody>
      </p:sp>
    </p:spTree>
    <p:extLst>
      <p:ext uri="{BB962C8B-B14F-4D97-AF65-F5344CB8AC3E}">
        <p14:creationId xmlns:p14="http://schemas.microsoft.com/office/powerpoint/2010/main" val="328473203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t>Index Access Operation </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Load </a:t>
            </a:r>
            <a:r>
              <a:rPr lang="en-US" altLang="zh-TW" sz="2400" dirty="0"/>
              <a:t>the queue </a:t>
            </a:r>
            <a:r>
              <a:rPr lang="en-US" altLang="zh-TW" sz="2400" dirty="0" err="1"/>
              <a:t>writeIndex</a:t>
            </a:r>
            <a:r>
              <a:rPr lang="en-US" altLang="zh-TW" sz="2400" dirty="0"/>
              <a:t> property. Returns the 64 bit </a:t>
            </a:r>
            <a:r>
              <a:rPr lang="en-US" altLang="zh-TW" sz="2400" dirty="0" err="1"/>
              <a:t>writeIndex</a:t>
            </a:r>
            <a:r>
              <a:rPr lang="en-US" altLang="zh-TW" sz="2400" dirty="0"/>
              <a:t> value and takes the following parameters:</a:t>
            </a:r>
          </a:p>
          <a:p>
            <a:pPr lvl="1"/>
            <a:r>
              <a:rPr lang="en-US" altLang="zh-TW" sz="2400" dirty="0"/>
              <a:t>Pointer to the queue structure.</a:t>
            </a:r>
          </a:p>
          <a:p>
            <a:endParaRPr lang="zh-TW" altLang="en-US" sz="2400" dirty="0"/>
          </a:p>
          <a:p>
            <a:r>
              <a:rPr lang="en-US" altLang="zh-TW" sz="2400" dirty="0"/>
              <a:t>Store new value for the </a:t>
            </a:r>
            <a:r>
              <a:rPr lang="en-US" altLang="zh-TW" sz="2400" dirty="0" err="1"/>
              <a:t>writeIndex</a:t>
            </a:r>
            <a:r>
              <a:rPr lang="en-US" altLang="zh-TW" sz="2400" dirty="0"/>
              <a:t> property. No return value, takes the following parameters: </a:t>
            </a:r>
          </a:p>
          <a:p>
            <a:pPr lvl="1"/>
            <a:r>
              <a:rPr lang="en-US" altLang="zh-TW" sz="2400" dirty="0" smtClean="0"/>
              <a:t>Pointer </a:t>
            </a:r>
            <a:r>
              <a:rPr lang="en-US" altLang="zh-TW" sz="2400" dirty="0"/>
              <a:t>to the queue structure. </a:t>
            </a:r>
          </a:p>
          <a:p>
            <a:pPr lvl="1"/>
            <a:r>
              <a:rPr lang="en-US" altLang="zh-TW" sz="2400" dirty="0" smtClean="0"/>
              <a:t>New </a:t>
            </a:r>
            <a:r>
              <a:rPr lang="en-US" altLang="zh-TW" sz="2400" dirty="0"/>
              <a:t>64 bit value to store in the </a:t>
            </a:r>
            <a:r>
              <a:rPr lang="en-US" altLang="zh-TW" sz="2400" dirty="0" err="1"/>
              <a:t>writeIndex</a:t>
            </a:r>
            <a:r>
              <a:rPr lang="en-US" altLang="zh-TW" sz="2400" dirty="0"/>
              <a:t> property </a:t>
            </a:r>
          </a:p>
          <a:p>
            <a:endParaRPr lang="en-US" altLang="zh-TW" sz="2400" dirty="0" smtClean="0"/>
          </a:p>
          <a:p>
            <a:endParaRPr lang="en-US" altLang="zh-TW" sz="2400" dirty="0"/>
          </a:p>
          <a:p>
            <a:endParaRPr lang="en-US" altLang="zh-TW" sz="2400" dirty="0" smtClean="0"/>
          </a:p>
          <a:p>
            <a:endParaRPr lang="en-US" altLang="zh-TW" sz="2400" dirty="0"/>
          </a:p>
          <a:p>
            <a:endParaRPr lang="en-US" altLang="zh-TW" sz="2400" dirty="0" smtClean="0"/>
          </a:p>
        </p:txBody>
      </p:sp>
    </p:spTree>
    <p:extLst>
      <p:ext uri="{BB962C8B-B14F-4D97-AF65-F5344CB8AC3E}">
        <p14:creationId xmlns:p14="http://schemas.microsoft.com/office/powerpoint/2010/main" val="370753695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Index Access Operation </a:t>
            </a:r>
            <a:endParaRPr lang="zh-TW" altLang="en-US" sz="3600" dirty="0"/>
          </a:p>
        </p:txBody>
      </p:sp>
      <p:sp>
        <p:nvSpPr>
          <p:cNvPr id="3" name="內容版面配置區 2"/>
          <p:cNvSpPr>
            <a:spLocks noGrp="1"/>
          </p:cNvSpPr>
          <p:nvPr>
            <p:ph idx="1"/>
          </p:nvPr>
        </p:nvSpPr>
        <p:spPr/>
        <p:txBody>
          <a:bodyPr/>
          <a:lstStyle/>
          <a:p>
            <a:endParaRPr lang="zh-TW" altLang="en-US" sz="2400" dirty="0"/>
          </a:p>
          <a:p>
            <a:r>
              <a:rPr lang="en-US" altLang="zh-TW" sz="2400" dirty="0"/>
              <a:t>Compare-and-swap operation on the </a:t>
            </a:r>
            <a:r>
              <a:rPr lang="en-US" altLang="zh-TW" sz="2400" dirty="0" err="1"/>
              <a:t>writeIndex</a:t>
            </a:r>
            <a:r>
              <a:rPr lang="en-US" altLang="zh-TW" sz="2400" dirty="0"/>
              <a:t> property. The compare-and-swap operation updates the </a:t>
            </a:r>
            <a:r>
              <a:rPr lang="en-US" altLang="zh-TW" sz="2400" dirty="0" err="1"/>
              <a:t>writeIndex</a:t>
            </a:r>
            <a:r>
              <a:rPr lang="en-US" altLang="zh-TW" sz="2400" dirty="0"/>
              <a:t> property if the original value matches the comparison parameter. Returns the original value of the </a:t>
            </a:r>
            <a:r>
              <a:rPr lang="en-US" altLang="zh-TW" sz="2400" dirty="0" err="1"/>
              <a:t>writeIndex</a:t>
            </a:r>
            <a:r>
              <a:rPr lang="en-US" altLang="zh-TW" sz="2400" dirty="0"/>
              <a:t> property and takes the following parameters: </a:t>
            </a:r>
          </a:p>
          <a:p>
            <a:pPr lvl="1"/>
            <a:r>
              <a:rPr lang="en-US" altLang="zh-TW" sz="2400" dirty="0" smtClean="0"/>
              <a:t>Pointer </a:t>
            </a:r>
            <a:r>
              <a:rPr lang="en-US" altLang="zh-TW" sz="2400" dirty="0"/>
              <a:t>to the queue structure. </a:t>
            </a:r>
          </a:p>
          <a:p>
            <a:pPr lvl="1"/>
            <a:r>
              <a:rPr lang="en-US" altLang="zh-TW" sz="2400" dirty="0" smtClean="0"/>
              <a:t>64 </a:t>
            </a:r>
            <a:r>
              <a:rPr lang="en-US" altLang="zh-TW" sz="2400" dirty="0"/>
              <a:t>bit comparison value </a:t>
            </a:r>
          </a:p>
          <a:p>
            <a:pPr lvl="1"/>
            <a:r>
              <a:rPr lang="en-US" altLang="zh-TW" sz="2400" dirty="0" smtClean="0"/>
              <a:t>New </a:t>
            </a:r>
            <a:r>
              <a:rPr lang="en-US" altLang="zh-TW" sz="2400" dirty="0"/>
              <a:t>64 bit value to store in the </a:t>
            </a:r>
            <a:r>
              <a:rPr lang="en-US" altLang="zh-TW" sz="2400" dirty="0" err="1"/>
              <a:t>writeIndex</a:t>
            </a:r>
            <a:r>
              <a:rPr lang="en-US" altLang="zh-TW" sz="2400" dirty="0"/>
              <a:t> property if comparison value matches original value. </a:t>
            </a:r>
          </a:p>
          <a:p>
            <a:endParaRPr lang="en-US" altLang="zh-TW" sz="2400" dirty="0" smtClean="0"/>
          </a:p>
        </p:txBody>
      </p:sp>
    </p:spTree>
    <p:extLst>
      <p:ext uri="{BB962C8B-B14F-4D97-AF65-F5344CB8AC3E}">
        <p14:creationId xmlns:p14="http://schemas.microsoft.com/office/powerpoint/2010/main" val="2151523477"/>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Index Access Operation </a:t>
            </a:r>
            <a:endParaRPr lang="zh-TW" altLang="en-US" sz="3600" dirty="0"/>
          </a:p>
        </p:txBody>
      </p:sp>
      <p:sp>
        <p:nvSpPr>
          <p:cNvPr id="3" name="內容版面配置區 2"/>
          <p:cNvSpPr>
            <a:spLocks noGrp="1"/>
          </p:cNvSpPr>
          <p:nvPr>
            <p:ph idx="1"/>
          </p:nvPr>
        </p:nvSpPr>
        <p:spPr/>
        <p:txBody>
          <a:bodyPr/>
          <a:lstStyle/>
          <a:p>
            <a:endParaRPr lang="zh-TW" altLang="en-US" sz="2400" dirty="0"/>
          </a:p>
          <a:p>
            <a:r>
              <a:rPr lang="en-US" altLang="zh-TW" sz="2400" dirty="0"/>
              <a:t>Add operation on the </a:t>
            </a:r>
            <a:r>
              <a:rPr lang="en-US" altLang="zh-TW" sz="2400" dirty="0" err="1"/>
              <a:t>writeIndex</a:t>
            </a:r>
            <a:r>
              <a:rPr lang="en-US" altLang="zh-TW" sz="2400" dirty="0"/>
              <a:t> property. Returns the original value of the </a:t>
            </a:r>
            <a:r>
              <a:rPr lang="en-US" altLang="zh-TW" sz="2400" dirty="0" err="1"/>
              <a:t>writeIndex</a:t>
            </a:r>
            <a:r>
              <a:rPr lang="en-US" altLang="zh-TW" sz="2400" dirty="0"/>
              <a:t> property and takes the following parameters: </a:t>
            </a:r>
          </a:p>
          <a:p>
            <a:pPr lvl="1"/>
            <a:r>
              <a:rPr lang="en-US" altLang="zh-TW" sz="2400" dirty="0" smtClean="0"/>
              <a:t>Pointer </a:t>
            </a:r>
            <a:r>
              <a:rPr lang="en-US" altLang="zh-TW" sz="2400" dirty="0"/>
              <a:t>to the queue structure. </a:t>
            </a:r>
          </a:p>
          <a:p>
            <a:pPr lvl="1"/>
            <a:r>
              <a:rPr lang="en-US" altLang="zh-TW" sz="2400" dirty="0" smtClean="0"/>
              <a:t>64 </a:t>
            </a:r>
            <a:r>
              <a:rPr lang="en-US" altLang="zh-TW" sz="2400" dirty="0"/>
              <a:t>bit increment value </a:t>
            </a:r>
            <a:endParaRPr lang="en-US" altLang="zh-TW" sz="2400" dirty="0" smtClean="0"/>
          </a:p>
          <a:p>
            <a:endParaRPr lang="zh-TW" altLang="en-US" sz="2400" dirty="0"/>
          </a:p>
          <a:p>
            <a:r>
              <a:rPr lang="en-US" altLang="zh-TW" sz="2400" dirty="0"/>
              <a:t>Load the </a:t>
            </a:r>
            <a:r>
              <a:rPr lang="en-US" altLang="zh-TW" sz="2400" dirty="0" err="1"/>
              <a:t>readIndex</a:t>
            </a:r>
            <a:r>
              <a:rPr lang="en-US" altLang="zh-TW" sz="2400" dirty="0"/>
              <a:t> property. Returns the 64 bit </a:t>
            </a:r>
            <a:r>
              <a:rPr lang="en-US" altLang="zh-TW" sz="2400" dirty="0" err="1"/>
              <a:t>readIndex</a:t>
            </a:r>
            <a:r>
              <a:rPr lang="en-US" altLang="zh-TW" sz="2400" dirty="0"/>
              <a:t> value and takes the following parameters: </a:t>
            </a:r>
          </a:p>
          <a:p>
            <a:pPr lvl="1"/>
            <a:r>
              <a:rPr lang="en-US" altLang="zh-TW" sz="2400" dirty="0" smtClean="0"/>
              <a:t>Pointer </a:t>
            </a:r>
            <a:r>
              <a:rPr lang="en-US" altLang="zh-TW" sz="2400" dirty="0"/>
              <a:t>to the queue structure. </a:t>
            </a:r>
          </a:p>
          <a:p>
            <a:endParaRPr lang="en-US" altLang="zh-TW" sz="2400" dirty="0"/>
          </a:p>
          <a:p>
            <a:endParaRPr lang="en-US" altLang="zh-TW" sz="2400" dirty="0" smtClean="0"/>
          </a:p>
        </p:txBody>
      </p:sp>
    </p:spTree>
    <p:extLst>
      <p:ext uri="{BB962C8B-B14F-4D97-AF65-F5344CB8AC3E}">
        <p14:creationId xmlns:p14="http://schemas.microsoft.com/office/powerpoint/2010/main" val="236164805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Index Access</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HSA </a:t>
            </a:r>
            <a:r>
              <a:rPr lang="en-US" altLang="zh-TW" sz="2400" dirty="0"/>
              <a:t>Agents other than host CPUs or HSA Components may access the </a:t>
            </a:r>
            <a:r>
              <a:rPr lang="en-US" altLang="zh-TW" sz="2400" dirty="0" err="1"/>
              <a:t>writeIndex</a:t>
            </a:r>
            <a:r>
              <a:rPr lang="en-US" altLang="zh-TW" sz="2400" dirty="0"/>
              <a:t> and </a:t>
            </a:r>
            <a:r>
              <a:rPr lang="en-US" altLang="zh-TW" sz="2400" dirty="0" err="1"/>
              <a:t>readIndex</a:t>
            </a:r>
            <a:r>
              <a:rPr lang="en-US" altLang="zh-TW" sz="2400" dirty="0"/>
              <a:t> properties through implementation specific means. </a:t>
            </a:r>
            <a:endParaRPr lang="en-US" altLang="zh-TW" sz="2400" dirty="0" smtClean="0"/>
          </a:p>
          <a:p>
            <a:endParaRPr lang="en-US" altLang="zh-TW" sz="2400" dirty="0"/>
          </a:p>
          <a:p>
            <a:r>
              <a:rPr lang="en-US" altLang="zh-TW" sz="2400" dirty="0"/>
              <a:t>All HSA Agents accessing the queue indices must do so using relaxed atomic transactions with global visibility. </a:t>
            </a:r>
            <a:endParaRPr lang="en-US" altLang="zh-TW" sz="2400" dirty="0" smtClean="0"/>
          </a:p>
        </p:txBody>
      </p:sp>
    </p:spTree>
    <p:extLst>
      <p:ext uri="{BB962C8B-B14F-4D97-AF65-F5344CB8AC3E}">
        <p14:creationId xmlns:p14="http://schemas.microsoft.com/office/powerpoint/2010/main" val="408024269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smtClean="0"/>
              <a:t>HSA_Queue</a:t>
            </a:r>
            <a:r>
              <a:rPr lang="en-US" altLang="zh-TW" sz="3600" dirty="0" err="1"/>
              <a:t>_</a:t>
            </a:r>
            <a:r>
              <a:rPr lang="en-US" altLang="zh-TW" sz="3600" dirty="0" err="1" smtClean="0"/>
              <a:t>Structure</a:t>
            </a:r>
            <a:endParaRPr lang="zh-TW" altLang="en-US" sz="3600" dirty="0"/>
          </a:p>
        </p:txBody>
      </p:sp>
      <p:sp>
        <p:nvSpPr>
          <p:cNvPr id="3" name="內容版面配置區 2"/>
          <p:cNvSpPr>
            <a:spLocks noGrp="1"/>
          </p:cNvSpPr>
          <p:nvPr>
            <p:ph idx="1"/>
          </p:nvPr>
        </p:nvSpPr>
        <p:spPr/>
        <p:txBody>
          <a:bodyPr/>
          <a:lstStyle/>
          <a:p>
            <a:r>
              <a:rPr lang="en-US" altLang="zh-TW" sz="2400" dirty="0"/>
              <a:t>A queue in HSA is defined with the following structure</a:t>
            </a:r>
            <a:r>
              <a:rPr lang="en-US" altLang="zh-TW" sz="2400" dirty="0" smtClean="0"/>
              <a:t>:</a:t>
            </a:r>
          </a:p>
          <a:p>
            <a:endParaRPr lang="zh-TW" altLang="en-US" sz="2400" dirty="0"/>
          </a:p>
        </p:txBody>
      </p:sp>
      <p:pic>
        <p:nvPicPr>
          <p:cNvPr id="4" name="圖片 3"/>
          <p:cNvPicPr>
            <a:picLocks noChangeAspect="1"/>
          </p:cNvPicPr>
          <p:nvPr/>
        </p:nvPicPr>
        <p:blipFill>
          <a:blip r:embed="rId2"/>
          <a:stretch>
            <a:fillRect/>
          </a:stretch>
        </p:blipFill>
        <p:spPr>
          <a:xfrm>
            <a:off x="369889" y="1884706"/>
            <a:ext cx="8305800" cy="3971925"/>
          </a:xfrm>
          <a:prstGeom prst="rect">
            <a:avLst/>
          </a:prstGeom>
        </p:spPr>
      </p:pic>
    </p:spTree>
    <p:extLst>
      <p:ext uri="{BB962C8B-B14F-4D97-AF65-F5344CB8AC3E}">
        <p14:creationId xmlns:p14="http://schemas.microsoft.com/office/powerpoint/2010/main" val="204740277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a:t>HSA_Queue_Structure</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queue </a:t>
            </a:r>
            <a:r>
              <a:rPr lang="en-US" altLang="zh-TW" sz="2400" dirty="0"/>
              <a:t>type used for dynamic queue protocol determination</a:t>
            </a:r>
          </a:p>
          <a:p>
            <a:pPr lvl="1"/>
            <a:r>
              <a:rPr lang="en-US" altLang="zh-TW" sz="2400" dirty="0"/>
              <a:t>0, the default queue type, is the only type supported</a:t>
            </a:r>
          </a:p>
          <a:p>
            <a:pPr marL="257175" lvl="1" indent="-257175">
              <a:buSzPct val="80000"/>
              <a:buFont typeface="Wingdings" pitchFamily="2" charset="2"/>
              <a:buChar char="l"/>
            </a:pPr>
            <a:endParaRPr lang="en-US" altLang="zh-TW" sz="2400" dirty="0" smtClean="0"/>
          </a:p>
          <a:p>
            <a:pPr marL="257175" lvl="1" indent="-257175">
              <a:buSzPct val="80000"/>
              <a:buFont typeface="Wingdings" pitchFamily="2" charset="2"/>
              <a:buChar char="l"/>
            </a:pPr>
            <a:r>
              <a:rPr lang="en-US" altLang="zh-TW" sz="2400" dirty="0" smtClean="0"/>
              <a:t>queue </a:t>
            </a:r>
            <a:r>
              <a:rPr lang="en-US" altLang="zh-TW" sz="2400" dirty="0"/>
              <a:t>features </a:t>
            </a:r>
            <a:r>
              <a:rPr lang="en-US" altLang="zh-TW" sz="2400" dirty="0" err="1"/>
              <a:t>bitfield</a:t>
            </a:r>
            <a:r>
              <a:rPr lang="en-US" altLang="zh-TW" sz="2400" dirty="0"/>
              <a:t> to indicate specific features supported by queue</a:t>
            </a:r>
            <a:endParaRPr lang="zh-TW" altLang="en-US" sz="2400" dirty="0"/>
          </a:p>
          <a:p>
            <a:endParaRPr lang="en-US" altLang="zh-TW" sz="2400" dirty="0" smtClean="0"/>
          </a:p>
          <a:p>
            <a:r>
              <a:rPr lang="en-US" altLang="zh-TW" sz="2400" dirty="0" smtClean="0"/>
              <a:t>base </a:t>
            </a:r>
            <a:r>
              <a:rPr lang="en-US" altLang="zh-TW" sz="2400" dirty="0"/>
              <a:t>address A 64-bit pointer to the base of the virtual memory which holds the AQL </a:t>
            </a:r>
            <a:r>
              <a:rPr lang="en-US" altLang="zh-TW" sz="2400" dirty="0" smtClean="0"/>
              <a:t>packets for </a:t>
            </a:r>
            <a:r>
              <a:rPr lang="en-US" altLang="zh-TW" sz="2400" dirty="0"/>
              <a:t>the queue</a:t>
            </a:r>
            <a:endParaRPr lang="en-US" altLang="zh-TW" sz="2400" dirty="0" smtClean="0"/>
          </a:p>
        </p:txBody>
      </p:sp>
    </p:spTree>
    <p:extLst>
      <p:ext uri="{BB962C8B-B14F-4D97-AF65-F5344CB8AC3E}">
        <p14:creationId xmlns:p14="http://schemas.microsoft.com/office/powerpoint/2010/main" val="335874206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a:t>HSA_Queue_Structure</a:t>
            </a:r>
            <a:endParaRPr lang="zh-TW" altLang="en-US" sz="3600" dirty="0"/>
          </a:p>
        </p:txBody>
      </p:sp>
      <p:sp>
        <p:nvSpPr>
          <p:cNvPr id="3" name="內容版面配置區 2"/>
          <p:cNvSpPr>
            <a:spLocks noGrp="1"/>
          </p:cNvSpPr>
          <p:nvPr>
            <p:ph idx="1"/>
          </p:nvPr>
        </p:nvSpPr>
        <p:spPr/>
        <p:txBody>
          <a:bodyPr/>
          <a:lstStyle/>
          <a:p>
            <a:r>
              <a:rPr lang="en-US" altLang="zh-TW" sz="2400" dirty="0"/>
              <a:t>doorbell signal After writing a packet to the queue, user must signal this signal object with </a:t>
            </a:r>
            <a:r>
              <a:rPr lang="en-US" altLang="zh-TW" sz="2400" dirty="0" smtClean="0"/>
              <a:t>the most </a:t>
            </a:r>
            <a:r>
              <a:rPr lang="en-US" altLang="zh-TW" sz="2400" dirty="0"/>
              <a:t>recent write </a:t>
            </a:r>
            <a:r>
              <a:rPr lang="en-US" altLang="zh-TW" sz="2400" dirty="0" smtClean="0"/>
              <a:t>offset</a:t>
            </a:r>
          </a:p>
          <a:p>
            <a:endParaRPr lang="en-US" altLang="zh-TW" sz="2400" dirty="0"/>
          </a:p>
          <a:p>
            <a:r>
              <a:rPr lang="en-US" altLang="zh-TW" sz="2400" dirty="0"/>
              <a:t>queue active group count global maximum number of concurrent workgroups that can run </a:t>
            </a:r>
            <a:r>
              <a:rPr lang="en-US" altLang="zh-TW" sz="2400" dirty="0" smtClean="0"/>
              <a:t>out of </a:t>
            </a:r>
            <a:r>
              <a:rPr lang="en-US" altLang="zh-TW" sz="2400" dirty="0"/>
              <a:t>this </a:t>
            </a:r>
            <a:r>
              <a:rPr lang="en-US" altLang="zh-TW" sz="2400" dirty="0" smtClean="0"/>
              <a:t>queue</a:t>
            </a:r>
          </a:p>
          <a:p>
            <a:endParaRPr lang="en-US" altLang="zh-TW" sz="2400" dirty="0" smtClean="0"/>
          </a:p>
          <a:p>
            <a:r>
              <a:rPr lang="en-US" altLang="zh-TW" sz="2400" dirty="0" err="1" smtClean="0"/>
              <a:t>hsa</a:t>
            </a:r>
            <a:r>
              <a:rPr lang="en-US" altLang="zh-TW" sz="2400" dirty="0" smtClean="0"/>
              <a:t> </a:t>
            </a:r>
            <a:r>
              <a:rPr lang="en-US" altLang="zh-TW" sz="2400" dirty="0"/>
              <a:t>group execution info t A pointer to the </a:t>
            </a:r>
            <a:r>
              <a:rPr lang="en-US" altLang="zh-TW" sz="2400" dirty="0" smtClean="0"/>
              <a:t>mailbox</a:t>
            </a:r>
          </a:p>
          <a:p>
            <a:endParaRPr lang="en-US" altLang="zh-TW" sz="2400" dirty="0" smtClean="0"/>
          </a:p>
          <a:p>
            <a:r>
              <a:rPr lang="en-US" altLang="zh-TW" sz="2400" dirty="0" smtClean="0"/>
              <a:t>mailbox </a:t>
            </a:r>
            <a:r>
              <a:rPr lang="en-US" altLang="zh-TW" sz="2400" dirty="0"/>
              <a:t>signal the signal that user can wait on to get an indication that mailbox </a:t>
            </a:r>
            <a:r>
              <a:rPr lang="en-US" altLang="zh-TW" sz="2400" dirty="0" smtClean="0"/>
              <a:t>needs processing</a:t>
            </a:r>
            <a:endParaRPr lang="zh-TW" altLang="en-US" sz="2400" dirty="0"/>
          </a:p>
        </p:txBody>
      </p:sp>
    </p:spTree>
    <p:extLst>
      <p:ext uri="{BB962C8B-B14F-4D97-AF65-F5344CB8AC3E}">
        <p14:creationId xmlns:p14="http://schemas.microsoft.com/office/powerpoint/2010/main" val="1044257667"/>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a:t>HSA_Queue_Structure</a:t>
            </a:r>
            <a:endParaRPr lang="zh-TW" altLang="en-US" sz="3600" dirty="0"/>
          </a:p>
        </p:txBody>
      </p:sp>
      <p:sp>
        <p:nvSpPr>
          <p:cNvPr id="3" name="內容版面配置區 2"/>
          <p:cNvSpPr>
            <a:spLocks noGrp="1"/>
          </p:cNvSpPr>
          <p:nvPr>
            <p:ph idx="1"/>
          </p:nvPr>
        </p:nvSpPr>
        <p:spPr/>
        <p:txBody>
          <a:bodyPr/>
          <a:lstStyle/>
          <a:p>
            <a:endParaRPr lang="en-US" altLang="zh-TW" dirty="0" smtClean="0"/>
          </a:p>
          <a:p>
            <a:endParaRPr lang="en-US" altLang="zh-TW" sz="2400" dirty="0"/>
          </a:p>
          <a:p>
            <a:r>
              <a:rPr lang="en-US" altLang="zh-TW" sz="2400" dirty="0" smtClean="0"/>
              <a:t>the </a:t>
            </a:r>
            <a:r>
              <a:rPr lang="en-US" altLang="zh-TW" sz="2400" dirty="0"/>
              <a:t>queue structure contains read index and write index. These are not </a:t>
            </a:r>
            <a:r>
              <a:rPr lang="en-US" altLang="zh-TW" sz="2400" dirty="0" smtClean="0"/>
              <a:t>exposed </a:t>
            </a:r>
            <a:r>
              <a:rPr lang="en-US" altLang="zh-TW" sz="2400" dirty="0"/>
              <a:t>to </a:t>
            </a:r>
            <a:r>
              <a:rPr lang="en-US" altLang="zh-TW" sz="2400" dirty="0" smtClean="0"/>
              <a:t>the </a:t>
            </a:r>
            <a:r>
              <a:rPr lang="en-US" altLang="zh-TW" sz="2400" dirty="0"/>
              <a:t>user </a:t>
            </a:r>
            <a:r>
              <a:rPr lang="en-US" altLang="zh-TW" sz="2400" dirty="0" smtClean="0"/>
              <a:t>directly</a:t>
            </a:r>
          </a:p>
          <a:p>
            <a:endParaRPr lang="en-US" altLang="zh-TW" sz="2400" dirty="0"/>
          </a:p>
          <a:p>
            <a:r>
              <a:rPr lang="en-US" altLang="zh-TW" sz="2400" dirty="0"/>
              <a:t>The user can access them via </a:t>
            </a:r>
            <a:r>
              <a:rPr lang="en-US" altLang="zh-TW" sz="2400" dirty="0" err="1"/>
              <a:t>hsa</a:t>
            </a:r>
            <a:r>
              <a:rPr lang="en-US" altLang="zh-TW" sz="2400" dirty="0"/>
              <a:t> queue get/</a:t>
            </a:r>
            <a:r>
              <a:rPr lang="en-US" altLang="zh-TW" sz="2400" dirty="0" err="1"/>
              <a:t>cas</a:t>
            </a:r>
            <a:r>
              <a:rPr lang="en-US" altLang="zh-TW" sz="2400" dirty="0"/>
              <a:t>/add write index </a:t>
            </a:r>
            <a:r>
              <a:rPr lang="en-US" altLang="zh-TW" sz="2400" dirty="0" smtClean="0"/>
              <a:t>and </a:t>
            </a:r>
            <a:r>
              <a:rPr lang="en-US" altLang="zh-TW" sz="2400" dirty="0" err="1" smtClean="0"/>
              <a:t>hsa</a:t>
            </a:r>
            <a:r>
              <a:rPr lang="en-US" altLang="zh-TW" sz="2400" dirty="0" smtClean="0"/>
              <a:t> </a:t>
            </a:r>
            <a:r>
              <a:rPr lang="en-US" altLang="zh-TW" sz="2400" dirty="0"/>
              <a:t>queue get read index API</a:t>
            </a:r>
            <a:endParaRPr lang="en-US" altLang="zh-TW" sz="2400" dirty="0" smtClean="0"/>
          </a:p>
        </p:txBody>
      </p:sp>
    </p:spTree>
    <p:extLst>
      <p:ext uri="{BB962C8B-B14F-4D97-AF65-F5344CB8AC3E}">
        <p14:creationId xmlns:p14="http://schemas.microsoft.com/office/powerpoint/2010/main" val="316635210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smtClean="0"/>
              <a:t>HSA_Queue_Get_Read</a:t>
            </a:r>
            <a:r>
              <a:rPr lang="en-US" altLang="zh-TW" sz="3600" dirty="0" smtClean="0"/>
              <a:t>/</a:t>
            </a:r>
            <a:r>
              <a:rPr lang="en-US" altLang="zh-TW" sz="3600" dirty="0" err="1" smtClean="0"/>
              <a:t>Write_Index</a:t>
            </a:r>
            <a:endParaRPr lang="zh-TW" altLang="en-US" sz="3600" dirty="0"/>
          </a:p>
        </p:txBody>
      </p:sp>
      <p:pic>
        <p:nvPicPr>
          <p:cNvPr id="4" name="內容版面配置區 3"/>
          <p:cNvPicPr>
            <a:picLocks noGrp="1" noChangeAspect="1"/>
          </p:cNvPicPr>
          <p:nvPr>
            <p:ph idx="1"/>
          </p:nvPr>
        </p:nvPicPr>
        <p:blipFill>
          <a:blip r:embed="rId2"/>
          <a:stretch>
            <a:fillRect/>
          </a:stretch>
        </p:blipFill>
        <p:spPr>
          <a:xfrm>
            <a:off x="457200" y="1759138"/>
            <a:ext cx="8229600" cy="3628649"/>
          </a:xfrm>
          <a:prstGeom prst="rect">
            <a:avLst/>
          </a:prstGeom>
        </p:spPr>
      </p:pic>
    </p:spTree>
    <p:extLst>
      <p:ext uri="{BB962C8B-B14F-4D97-AF65-F5344CB8AC3E}">
        <p14:creationId xmlns:p14="http://schemas.microsoft.com/office/powerpoint/2010/main" val="199656587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a:t>HSA_Queue_CAS_Write_Index</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CAS means Compare And Swap</a:t>
            </a:r>
          </a:p>
          <a:p>
            <a:endParaRPr lang="en-US" altLang="zh-TW" sz="2400" dirty="0" smtClean="0"/>
          </a:p>
        </p:txBody>
      </p:sp>
      <p:pic>
        <p:nvPicPr>
          <p:cNvPr id="4" name="內容版面配置區 3"/>
          <p:cNvPicPr>
            <a:picLocks noChangeAspect="1"/>
          </p:cNvPicPr>
          <p:nvPr/>
        </p:nvPicPr>
        <p:blipFill>
          <a:blip r:embed="rId2"/>
          <a:stretch>
            <a:fillRect/>
          </a:stretch>
        </p:blipFill>
        <p:spPr bwMode="auto">
          <a:xfrm>
            <a:off x="308919" y="2311202"/>
            <a:ext cx="8229600" cy="2903462"/>
          </a:xfrm>
          <a:prstGeom prst="rect">
            <a:avLst/>
          </a:prstGeom>
          <a:noFill/>
          <a:ln w="9525">
            <a:noFill/>
            <a:miter lim="800000"/>
            <a:headEnd/>
            <a:tailEnd/>
          </a:ln>
        </p:spPr>
      </p:pic>
    </p:spTree>
    <p:extLst>
      <p:ext uri="{BB962C8B-B14F-4D97-AF65-F5344CB8AC3E}">
        <p14:creationId xmlns:p14="http://schemas.microsoft.com/office/powerpoint/2010/main" val="4268816783"/>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smtClean="0"/>
              <a:t>HSA_Queue_Add_Write_Index</a:t>
            </a:r>
            <a:endParaRPr lang="zh-TW" altLang="en-US" sz="3600" dirty="0"/>
          </a:p>
        </p:txBody>
      </p:sp>
      <p:pic>
        <p:nvPicPr>
          <p:cNvPr id="4" name="內容版面配置區 3"/>
          <p:cNvPicPr>
            <a:picLocks noGrp="1" noChangeAspect="1"/>
          </p:cNvPicPr>
          <p:nvPr>
            <p:ph idx="1"/>
          </p:nvPr>
        </p:nvPicPr>
        <p:blipFill>
          <a:blip r:embed="rId2"/>
          <a:stretch>
            <a:fillRect/>
          </a:stretch>
        </p:blipFill>
        <p:spPr>
          <a:xfrm>
            <a:off x="457200" y="2495474"/>
            <a:ext cx="8229600" cy="2155977"/>
          </a:xfrm>
          <a:prstGeom prst="rect">
            <a:avLst/>
          </a:prstGeom>
        </p:spPr>
      </p:pic>
    </p:spTree>
    <p:extLst>
      <p:ext uri="{BB962C8B-B14F-4D97-AF65-F5344CB8AC3E}">
        <p14:creationId xmlns:p14="http://schemas.microsoft.com/office/powerpoint/2010/main" val="454143009"/>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t>Queue read index</a:t>
            </a:r>
            <a:endParaRPr lang="zh-TW" altLang="en-US" sz="3600" dirty="0"/>
          </a:p>
        </p:txBody>
      </p:sp>
      <p:sp>
        <p:nvSpPr>
          <p:cNvPr id="3" name="內容版面配置區 2"/>
          <p:cNvSpPr>
            <a:spLocks noGrp="1"/>
          </p:cNvSpPr>
          <p:nvPr>
            <p:ph idx="1"/>
          </p:nvPr>
        </p:nvSpPr>
        <p:spPr/>
        <p:txBody>
          <a:bodyPr/>
          <a:lstStyle/>
          <a:p>
            <a:r>
              <a:rPr lang="en-US" altLang="zh-TW" sz="2400" dirty="0"/>
              <a:t>The read index is automatically advanced when a packet is read by </a:t>
            </a:r>
            <a:r>
              <a:rPr lang="en-US" altLang="zh-TW" sz="2400" dirty="0" smtClean="0"/>
              <a:t>the HSA </a:t>
            </a:r>
            <a:r>
              <a:rPr lang="en-US" altLang="zh-TW" sz="2400" dirty="0"/>
              <a:t>packet </a:t>
            </a:r>
            <a:r>
              <a:rPr lang="en-US" altLang="zh-TW" sz="2400" dirty="0" smtClean="0"/>
              <a:t>processor</a:t>
            </a:r>
          </a:p>
          <a:p>
            <a:endParaRPr lang="en-US" altLang="zh-TW" sz="2400" dirty="0" smtClean="0"/>
          </a:p>
          <a:p>
            <a:r>
              <a:rPr lang="en-US" altLang="zh-TW" sz="2400" dirty="0" smtClean="0"/>
              <a:t>The </a:t>
            </a:r>
            <a:r>
              <a:rPr lang="en-US" altLang="zh-TW" sz="2400" dirty="0"/>
              <a:t>read index indicates the next AQL packet that will be consumed by the HSA packet </a:t>
            </a:r>
            <a:r>
              <a:rPr lang="en-US" altLang="zh-TW" sz="2400" dirty="0" smtClean="0"/>
              <a:t>processor</a:t>
            </a:r>
          </a:p>
          <a:p>
            <a:endParaRPr lang="en-US" altLang="zh-TW" sz="2400" dirty="0" smtClean="0"/>
          </a:p>
          <a:p>
            <a:r>
              <a:rPr lang="en-US" altLang="zh-TW" sz="2400" dirty="0" smtClean="0"/>
              <a:t>while </a:t>
            </a:r>
            <a:r>
              <a:rPr lang="en-US" altLang="zh-TW" sz="2400" dirty="0"/>
              <a:t>the read index memory location is updated by the HSA Component and can be read by the </a:t>
            </a:r>
            <a:r>
              <a:rPr lang="en-US" altLang="zh-TW" sz="2400" dirty="0" smtClean="0"/>
              <a:t>agent</a:t>
            </a:r>
          </a:p>
          <a:p>
            <a:endParaRPr lang="en-US" altLang="zh-TW" sz="2400" dirty="0" smtClean="0"/>
          </a:p>
          <a:p>
            <a:r>
              <a:rPr lang="en-US" altLang="zh-TW" sz="2400" dirty="0" smtClean="0"/>
              <a:t>When </a:t>
            </a:r>
            <a:r>
              <a:rPr lang="en-US" altLang="zh-TW" sz="2400" dirty="0"/>
              <a:t>the agent observes read index matches write index, at that </a:t>
            </a:r>
            <a:r>
              <a:rPr lang="en-US" altLang="zh-TW" sz="2400" dirty="0" smtClean="0"/>
              <a:t>instance, the </a:t>
            </a:r>
            <a:r>
              <a:rPr lang="en-US" altLang="zh-TW" sz="2400" dirty="0"/>
              <a:t>queue can be considered empty</a:t>
            </a:r>
          </a:p>
          <a:p>
            <a:endParaRPr lang="en-US" altLang="zh-TW" sz="2000" dirty="0"/>
          </a:p>
          <a:p>
            <a:endParaRPr lang="zh-TW" altLang="en-US" dirty="0"/>
          </a:p>
        </p:txBody>
      </p:sp>
    </p:spTree>
    <p:extLst>
      <p:ext uri="{BB962C8B-B14F-4D97-AF65-F5344CB8AC3E}">
        <p14:creationId xmlns:p14="http://schemas.microsoft.com/office/powerpoint/2010/main" val="230645262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a:t>
            </a:r>
            <a:r>
              <a:rPr lang="en-US" altLang="zh-TW" sz="3600" dirty="0" smtClean="0"/>
              <a:t>write </a:t>
            </a:r>
            <a:r>
              <a:rPr lang="en-US" altLang="zh-TW" sz="3600" dirty="0"/>
              <a:t>index</a:t>
            </a:r>
            <a:endParaRPr lang="zh-TW" altLang="en-US" sz="3600" dirty="0"/>
          </a:p>
        </p:txBody>
      </p:sp>
      <p:sp>
        <p:nvSpPr>
          <p:cNvPr id="3" name="內容版面配置區 2"/>
          <p:cNvSpPr>
            <a:spLocks noGrp="1"/>
          </p:cNvSpPr>
          <p:nvPr>
            <p:ph idx="1"/>
          </p:nvPr>
        </p:nvSpPr>
        <p:spPr/>
        <p:txBody>
          <a:bodyPr/>
          <a:lstStyle/>
          <a:p>
            <a:pPr marL="257175" lvl="1" indent="-257175">
              <a:buSzPct val="80000"/>
              <a:buFont typeface="Wingdings" pitchFamily="2" charset="2"/>
              <a:buChar char="l"/>
            </a:pPr>
            <a:endParaRPr lang="en-US" altLang="zh-TW" sz="2400" dirty="0" smtClean="0"/>
          </a:p>
          <a:p>
            <a:pPr marL="257175" lvl="1" indent="-257175">
              <a:buSzPct val="80000"/>
              <a:buFont typeface="Wingdings" pitchFamily="2" charset="2"/>
              <a:buChar char="l"/>
            </a:pPr>
            <a:r>
              <a:rPr lang="en-US" altLang="zh-TW" sz="2400" dirty="0" smtClean="0"/>
              <a:t>The </a:t>
            </a:r>
            <a:r>
              <a:rPr lang="en-US" altLang="zh-TW" sz="2400" dirty="0"/>
              <a:t>write index is a unique identifier for AQL packets in the queue</a:t>
            </a:r>
            <a:endParaRPr lang="zh-TW" altLang="en-US" sz="2400" dirty="0"/>
          </a:p>
          <a:p>
            <a:pPr marL="0" indent="0">
              <a:buNone/>
            </a:pPr>
            <a:endParaRPr lang="en-US" altLang="zh-TW" sz="2400" dirty="0" smtClean="0"/>
          </a:p>
          <a:p>
            <a:r>
              <a:rPr lang="en-US" altLang="zh-TW" sz="2400" dirty="0" smtClean="0"/>
              <a:t>The </a:t>
            </a:r>
            <a:r>
              <a:rPr lang="en-US" altLang="zh-TW" sz="2400" dirty="0"/>
              <a:t>write index memory </a:t>
            </a:r>
            <a:r>
              <a:rPr lang="en-US" altLang="zh-TW" sz="2400" dirty="0" smtClean="0"/>
              <a:t>is updated </a:t>
            </a:r>
            <a:r>
              <a:rPr lang="en-US" altLang="zh-TW" sz="2400" dirty="0"/>
              <a:t>by the agents via. the runtime defined </a:t>
            </a:r>
            <a:r>
              <a:rPr lang="en-US" altLang="zh-TW" sz="2400" dirty="0" smtClean="0"/>
              <a:t>API</a:t>
            </a:r>
          </a:p>
          <a:p>
            <a:endParaRPr lang="en-US" altLang="zh-TW" sz="2400" dirty="0" smtClean="0"/>
          </a:p>
          <a:p>
            <a:r>
              <a:rPr lang="en-US" altLang="zh-TW" sz="2400" dirty="0" smtClean="0"/>
              <a:t>when the write </a:t>
            </a:r>
            <a:r>
              <a:rPr lang="en-US" altLang="zh-TW" sz="2400" dirty="0"/>
              <a:t>index reaches its maximum value, an asynchronous error is generated by the </a:t>
            </a:r>
            <a:r>
              <a:rPr lang="en-US" altLang="zh-TW" sz="2400" dirty="0" smtClean="0"/>
              <a:t>packet processor </a:t>
            </a:r>
            <a:r>
              <a:rPr lang="en-US" altLang="zh-TW" sz="2400" dirty="0"/>
              <a:t>and queue is put in error state</a:t>
            </a:r>
            <a:endParaRPr lang="en-US" altLang="zh-TW" sz="2400" dirty="0" smtClean="0"/>
          </a:p>
        </p:txBody>
      </p:sp>
    </p:spTree>
    <p:extLst>
      <p:ext uri="{BB962C8B-B14F-4D97-AF65-F5344CB8AC3E}">
        <p14:creationId xmlns:p14="http://schemas.microsoft.com/office/powerpoint/2010/main" val="310634473"/>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t>Doorbell </a:t>
            </a:r>
            <a:r>
              <a:rPr lang="en-US" altLang="zh-TW" sz="3600" dirty="0"/>
              <a:t>signal</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The </a:t>
            </a:r>
            <a:r>
              <a:rPr lang="en-US" altLang="zh-TW" sz="2400" dirty="0"/>
              <a:t>doorbell signal is a signal from the agent writing the AQL packet to the HSA </a:t>
            </a:r>
            <a:r>
              <a:rPr lang="en-US" altLang="zh-TW" sz="2400" dirty="0" smtClean="0"/>
              <a:t>packet processor </a:t>
            </a:r>
            <a:r>
              <a:rPr lang="en-US" altLang="zh-TW" sz="2400" dirty="0"/>
              <a:t>indicating that it has work to </a:t>
            </a:r>
            <a:r>
              <a:rPr lang="en-US" altLang="zh-TW" sz="2400" dirty="0" smtClean="0"/>
              <a:t>do</a:t>
            </a:r>
          </a:p>
          <a:p>
            <a:endParaRPr lang="en-US" altLang="zh-TW" sz="2400" dirty="0" smtClean="0"/>
          </a:p>
          <a:p>
            <a:r>
              <a:rPr lang="en-US" altLang="zh-TW" sz="2400" dirty="0" smtClean="0"/>
              <a:t>The </a:t>
            </a:r>
            <a:r>
              <a:rPr lang="en-US" altLang="zh-TW" sz="2400" dirty="0"/>
              <a:t>value which the doorbell signal must </a:t>
            </a:r>
            <a:r>
              <a:rPr lang="en-US" altLang="zh-TW" sz="2400" dirty="0" smtClean="0"/>
              <a:t>be signaled </a:t>
            </a:r>
            <a:r>
              <a:rPr lang="en-US" altLang="zh-TW" sz="2400" dirty="0"/>
              <a:t>with </a:t>
            </a:r>
            <a:r>
              <a:rPr lang="en-US" altLang="zh-TW" sz="2400" dirty="0" smtClean="0"/>
              <a:t>shall </a:t>
            </a:r>
            <a:r>
              <a:rPr lang="en-US" altLang="zh-TW" sz="2400" dirty="0"/>
              <a:t>be the latest write </a:t>
            </a:r>
            <a:r>
              <a:rPr lang="en-US" altLang="zh-TW" sz="2400" dirty="0" smtClean="0"/>
              <a:t>index</a:t>
            </a:r>
          </a:p>
          <a:p>
            <a:endParaRPr lang="en-US" altLang="zh-TW" sz="2400" dirty="0" smtClean="0"/>
          </a:p>
          <a:p>
            <a:r>
              <a:rPr lang="en-US" altLang="zh-TW" sz="2400" dirty="0" smtClean="0"/>
              <a:t>The purpose </a:t>
            </a:r>
            <a:r>
              <a:rPr lang="en-US" altLang="zh-TW" sz="2400" dirty="0"/>
              <a:t>of this signal is to inform the HSA packet processor that it has packets that need to </a:t>
            </a:r>
            <a:r>
              <a:rPr lang="en-US" altLang="zh-TW" sz="2400" dirty="0" smtClean="0"/>
              <a:t>be processed</a:t>
            </a:r>
            <a:endParaRPr lang="zh-TW" altLang="en-US" sz="2400" dirty="0"/>
          </a:p>
        </p:txBody>
      </p:sp>
    </p:spTree>
    <p:extLst>
      <p:ext uri="{BB962C8B-B14F-4D97-AF65-F5344CB8AC3E}">
        <p14:creationId xmlns:p14="http://schemas.microsoft.com/office/powerpoint/2010/main" val="2731251593"/>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Doorbell signal</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However</a:t>
            </a:r>
            <a:r>
              <a:rPr lang="en-US" altLang="zh-TW" sz="2400" dirty="0"/>
              <a:t>, packets may be processed by the HSA packet processor even before </a:t>
            </a:r>
            <a:r>
              <a:rPr lang="en-US" altLang="zh-TW" sz="2400" dirty="0" smtClean="0"/>
              <a:t>the doorbell </a:t>
            </a:r>
            <a:r>
              <a:rPr lang="en-US" altLang="zh-TW" sz="2400" dirty="0"/>
              <a:t>signal has been </a:t>
            </a:r>
            <a:r>
              <a:rPr lang="en-US" altLang="zh-TW" sz="2400" dirty="0" smtClean="0"/>
              <a:t>signaled</a:t>
            </a:r>
          </a:p>
          <a:p>
            <a:endParaRPr lang="en-US" altLang="zh-TW" sz="2400" dirty="0" smtClean="0"/>
          </a:p>
          <a:p>
            <a:r>
              <a:rPr lang="en-US" altLang="zh-TW" sz="2400" dirty="0" smtClean="0"/>
              <a:t>When write </a:t>
            </a:r>
            <a:r>
              <a:rPr lang="en-US" altLang="zh-TW" sz="2400" dirty="0"/>
              <a:t>index is advanced by the agent there are two scenarios that could </a:t>
            </a:r>
            <a:r>
              <a:rPr lang="en-US" altLang="zh-TW" sz="2400" dirty="0" smtClean="0"/>
              <a:t>arise</a:t>
            </a:r>
          </a:p>
          <a:p>
            <a:endParaRPr lang="en-US" altLang="zh-TW" sz="2400" dirty="0" smtClean="0"/>
          </a:p>
          <a:p>
            <a:r>
              <a:rPr lang="en-US" altLang="zh-TW" sz="2400" dirty="0" smtClean="0"/>
              <a:t>Scenario1</a:t>
            </a:r>
            <a:r>
              <a:rPr lang="en-US" altLang="zh-TW" sz="2400" dirty="0"/>
              <a:t>: </a:t>
            </a:r>
            <a:r>
              <a:rPr lang="en-US" altLang="zh-TW" sz="2400" dirty="0" smtClean="0"/>
              <a:t>the </a:t>
            </a:r>
            <a:r>
              <a:rPr lang="en-US" altLang="zh-TW" sz="2400" dirty="0"/>
              <a:t>HSA packet processor is in some low-powered state awaiting work and requires </a:t>
            </a:r>
            <a:r>
              <a:rPr lang="en-US" altLang="zh-TW" sz="2400" dirty="0" err="1"/>
              <a:t>thedoorbell</a:t>
            </a:r>
            <a:r>
              <a:rPr lang="en-US" altLang="zh-TW" sz="2400" dirty="0"/>
              <a:t> signal </a:t>
            </a:r>
            <a:r>
              <a:rPr lang="en-US" altLang="zh-TW" sz="2400" dirty="0" err="1"/>
              <a:t>signal</a:t>
            </a:r>
            <a:r>
              <a:rPr lang="en-US" altLang="zh-TW" sz="2400" dirty="0"/>
              <a:t> to wake it to continue reading packets.</a:t>
            </a:r>
          </a:p>
          <a:p>
            <a:endParaRPr lang="en-US" altLang="zh-TW" sz="2400" dirty="0" smtClean="0"/>
          </a:p>
        </p:txBody>
      </p:sp>
    </p:spTree>
    <p:extLst>
      <p:ext uri="{BB962C8B-B14F-4D97-AF65-F5344CB8AC3E}">
        <p14:creationId xmlns:p14="http://schemas.microsoft.com/office/powerpoint/2010/main" val="1617283200"/>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Doorbell signal</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Scenario 2:  the </a:t>
            </a:r>
            <a:r>
              <a:rPr lang="en-US" altLang="zh-TW" sz="2400" dirty="0"/>
              <a:t>HSA packet processor is already actively processing a packet and observers the write index be updated</a:t>
            </a:r>
          </a:p>
          <a:p>
            <a:pPr lvl="1"/>
            <a:r>
              <a:rPr lang="en-US" altLang="zh-TW" sz="2400" dirty="0"/>
              <a:t>continues to process the new packets written – </a:t>
            </a:r>
            <a:r>
              <a:rPr lang="en-US" altLang="zh-TW" sz="2400" dirty="0" smtClean="0"/>
              <a:t>even before </a:t>
            </a:r>
            <a:r>
              <a:rPr lang="en-US" altLang="zh-TW" sz="2400" dirty="0"/>
              <a:t>the agent has signaled the doorbell signal.</a:t>
            </a:r>
            <a:endParaRPr lang="zh-TW" altLang="en-US" sz="2400" dirty="0"/>
          </a:p>
          <a:p>
            <a:endParaRPr lang="en-US" altLang="zh-TW" dirty="0" smtClean="0"/>
          </a:p>
          <a:p>
            <a:r>
              <a:rPr lang="en-US" altLang="zh-TW" sz="2400" dirty="0" smtClean="0"/>
              <a:t>Despite the </a:t>
            </a:r>
            <a:r>
              <a:rPr lang="en-US" altLang="zh-TW" sz="2400" dirty="0"/>
              <a:t>AQL packet for which the agent is </a:t>
            </a:r>
            <a:r>
              <a:rPr lang="en-US" altLang="zh-TW" sz="2400" dirty="0" smtClean="0"/>
              <a:t>signaling, </a:t>
            </a:r>
            <a:r>
              <a:rPr lang="en-US" altLang="zh-TW" sz="2400" dirty="0"/>
              <a:t>the doorbell </a:t>
            </a:r>
            <a:r>
              <a:rPr lang="en-US" altLang="zh-TW" sz="2400" dirty="0" smtClean="0"/>
              <a:t>may already </a:t>
            </a:r>
            <a:r>
              <a:rPr lang="en-US" altLang="zh-TW" sz="2400" dirty="0"/>
              <a:t>have been processed, the agent must ring the doorbell for every batch of AQL </a:t>
            </a:r>
            <a:r>
              <a:rPr lang="en-US" altLang="zh-TW" sz="2400" dirty="0" smtClean="0"/>
              <a:t>packets written</a:t>
            </a:r>
            <a:r>
              <a:rPr lang="en-US" altLang="zh-TW" sz="2400" dirty="0"/>
              <a:t>.</a:t>
            </a:r>
            <a:endParaRPr lang="en-US" altLang="zh-TW" sz="2400" dirty="0" smtClean="0"/>
          </a:p>
        </p:txBody>
      </p:sp>
    </p:spTree>
    <p:extLst>
      <p:ext uri="{BB962C8B-B14F-4D97-AF65-F5344CB8AC3E}">
        <p14:creationId xmlns:p14="http://schemas.microsoft.com/office/powerpoint/2010/main" val="35219890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smtClean="0"/>
              <a:t>HSA_Queue_Creat</a:t>
            </a:r>
            <a:endParaRPr lang="zh-TW" altLang="en-US" sz="3600" dirty="0"/>
          </a:p>
        </p:txBody>
      </p:sp>
      <p:pic>
        <p:nvPicPr>
          <p:cNvPr id="4" name="內容版面配置區 3"/>
          <p:cNvPicPr>
            <a:picLocks noGrp="1" noChangeAspect="1"/>
          </p:cNvPicPr>
          <p:nvPr>
            <p:ph idx="1"/>
          </p:nvPr>
        </p:nvPicPr>
        <p:blipFill>
          <a:blip r:embed="rId2"/>
          <a:stretch>
            <a:fillRect/>
          </a:stretch>
        </p:blipFill>
        <p:spPr>
          <a:xfrm>
            <a:off x="457200" y="1272444"/>
            <a:ext cx="8229600" cy="4602037"/>
          </a:xfrm>
          <a:prstGeom prst="rect">
            <a:avLst/>
          </a:prstGeom>
        </p:spPr>
      </p:pic>
    </p:spTree>
    <p:extLst>
      <p:ext uri="{BB962C8B-B14F-4D97-AF65-F5344CB8AC3E}">
        <p14:creationId xmlns:p14="http://schemas.microsoft.com/office/powerpoint/2010/main" val="690219234"/>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smtClean="0"/>
              <a:t>HSA_Queue_Creat</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The </a:t>
            </a:r>
            <a:r>
              <a:rPr lang="en-US" altLang="zh-TW" sz="2400" dirty="0" err="1"/>
              <a:t>hsa</a:t>
            </a:r>
            <a:r>
              <a:rPr lang="en-US" altLang="zh-TW" sz="2400" dirty="0"/>
              <a:t> queue create API allocates the memory for the </a:t>
            </a:r>
            <a:r>
              <a:rPr lang="en-US" altLang="zh-TW" sz="2400" dirty="0" smtClean="0"/>
              <a:t>queue</a:t>
            </a:r>
          </a:p>
          <a:p>
            <a:endParaRPr lang="en-US" altLang="zh-TW" sz="2400" dirty="0" smtClean="0"/>
          </a:p>
          <a:p>
            <a:r>
              <a:rPr lang="en-US" altLang="zh-TW" sz="2400" dirty="0" smtClean="0"/>
              <a:t>The </a:t>
            </a:r>
            <a:r>
              <a:rPr lang="en-US" altLang="zh-TW" sz="2400" dirty="0"/>
              <a:t>size is required to be aligned with a power of </a:t>
            </a:r>
            <a:r>
              <a:rPr lang="en-US" altLang="zh-TW" sz="2400" dirty="0" smtClean="0"/>
              <a:t>two number </a:t>
            </a:r>
            <a:r>
              <a:rPr lang="en-US" altLang="zh-TW" sz="2400" dirty="0"/>
              <a:t>of AQL packets</a:t>
            </a:r>
            <a:r>
              <a:rPr lang="en-US" altLang="zh-TW" sz="2400" dirty="0" smtClean="0"/>
              <a:t>.</a:t>
            </a:r>
          </a:p>
          <a:p>
            <a:endParaRPr lang="en-US" altLang="zh-TW" sz="2400" dirty="0" smtClean="0"/>
          </a:p>
          <a:p>
            <a:r>
              <a:rPr lang="en-US" altLang="zh-TW" sz="2400" dirty="0" smtClean="0"/>
              <a:t>The </a:t>
            </a:r>
            <a:r>
              <a:rPr lang="en-US" altLang="zh-TW" sz="2400" dirty="0"/>
              <a:t>pointer to the beginning of the memory allocated can be </a:t>
            </a:r>
            <a:r>
              <a:rPr lang="en-US" altLang="zh-TW" sz="2400" dirty="0" smtClean="0"/>
              <a:t>obtained in </a:t>
            </a:r>
            <a:r>
              <a:rPr lang="en-US" altLang="zh-TW" sz="2400" dirty="0"/>
              <a:t>the field base </a:t>
            </a:r>
            <a:r>
              <a:rPr lang="en-US" altLang="zh-TW" sz="2400" dirty="0" smtClean="0"/>
              <a:t>address</a:t>
            </a:r>
          </a:p>
          <a:p>
            <a:endParaRPr lang="en-US" altLang="zh-TW" sz="2400" dirty="0" smtClean="0"/>
          </a:p>
          <a:p>
            <a:r>
              <a:rPr lang="en-US" altLang="zh-TW" sz="2400" dirty="0" smtClean="0"/>
              <a:t>No </a:t>
            </a:r>
            <a:r>
              <a:rPr lang="en-US" altLang="zh-TW" sz="2400" dirty="0"/>
              <a:t>memory shall be allocated by </a:t>
            </a:r>
            <a:r>
              <a:rPr lang="en-US" altLang="zh-TW" sz="2400" dirty="0" smtClean="0"/>
              <a:t>an implementation </a:t>
            </a:r>
            <a:r>
              <a:rPr lang="en-US" altLang="zh-TW" sz="2400" dirty="0"/>
              <a:t>if the queue creation fails</a:t>
            </a:r>
            <a:endParaRPr lang="zh-TW" altLang="en-US" sz="2400" dirty="0"/>
          </a:p>
        </p:txBody>
      </p:sp>
    </p:spTree>
    <p:extLst>
      <p:ext uri="{BB962C8B-B14F-4D97-AF65-F5344CB8AC3E}">
        <p14:creationId xmlns:p14="http://schemas.microsoft.com/office/powerpoint/2010/main" val="2587560345"/>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smtClean="0"/>
              <a:t>HSA_Queue_Creat</a:t>
            </a:r>
            <a:endParaRPr lang="zh-TW" altLang="en-US" sz="3600" dirty="0"/>
          </a:p>
        </p:txBody>
      </p:sp>
      <p:sp>
        <p:nvSpPr>
          <p:cNvPr id="3" name="內容版面配置區 2"/>
          <p:cNvSpPr>
            <a:spLocks noGrp="1"/>
          </p:cNvSpPr>
          <p:nvPr>
            <p:ph idx="1"/>
          </p:nvPr>
        </p:nvSpPr>
        <p:spPr/>
        <p:txBody>
          <a:bodyPr/>
          <a:lstStyle/>
          <a:p>
            <a:r>
              <a:rPr lang="en-US" altLang="zh-TW" sz="2400" dirty="0" smtClean="0"/>
              <a:t>The </a:t>
            </a:r>
            <a:r>
              <a:rPr lang="en-US" altLang="zh-TW" sz="2400" dirty="0" err="1"/>
              <a:t>hsa</a:t>
            </a:r>
            <a:r>
              <a:rPr lang="en-US" altLang="zh-TW" sz="2400" dirty="0"/>
              <a:t> queue create API </a:t>
            </a:r>
            <a:r>
              <a:rPr lang="en-US" altLang="zh-TW" sz="2400" dirty="0" smtClean="0"/>
              <a:t>returns HSA_STATUS_SUCCESS </a:t>
            </a:r>
            <a:r>
              <a:rPr lang="en-US" altLang="zh-TW" sz="2400" dirty="0"/>
              <a:t>when the queue is successfully created</a:t>
            </a:r>
            <a:r>
              <a:rPr lang="en-US" altLang="zh-TW" sz="2400" dirty="0" smtClean="0"/>
              <a:t>.</a:t>
            </a:r>
          </a:p>
          <a:p>
            <a:endParaRPr lang="en-US" altLang="zh-TW" sz="2400" dirty="0"/>
          </a:p>
          <a:p>
            <a:r>
              <a:rPr lang="en-US" altLang="zh-TW" sz="2400" dirty="0"/>
              <a:t>Otherwise, it can return one of </a:t>
            </a:r>
            <a:r>
              <a:rPr lang="en-US" altLang="zh-TW" sz="2400" dirty="0" smtClean="0"/>
              <a:t>the following </a:t>
            </a:r>
            <a:r>
              <a:rPr lang="en-US" altLang="zh-TW" sz="2400" dirty="0"/>
              <a:t>status </a:t>
            </a:r>
            <a:r>
              <a:rPr lang="en-US" altLang="zh-TW" sz="2400" dirty="0" smtClean="0"/>
              <a:t>messages</a:t>
            </a:r>
          </a:p>
          <a:p>
            <a:pPr lvl="1"/>
            <a:r>
              <a:rPr lang="en-US" altLang="zh-TW" sz="2400" dirty="0" smtClean="0"/>
              <a:t>HSA_STATUS_ERROR_INVALID_ARGUMENT</a:t>
            </a:r>
          </a:p>
          <a:p>
            <a:pPr lvl="1"/>
            <a:r>
              <a:rPr lang="en-US" altLang="zh-TW" sz="2400" dirty="0" smtClean="0"/>
              <a:t>HSA_STATUS_ERROR_OUT_OF</a:t>
            </a:r>
            <a:r>
              <a:rPr lang="en-US" altLang="zh-TW" sz="2400" dirty="0"/>
              <a:t>_</a:t>
            </a:r>
            <a:r>
              <a:rPr lang="en-US" altLang="zh-TW" sz="2400" dirty="0" smtClean="0"/>
              <a:t>RESOURCES</a:t>
            </a:r>
          </a:p>
          <a:p>
            <a:pPr lvl="1"/>
            <a:r>
              <a:rPr lang="en-US" altLang="zh-TW" sz="2400" dirty="0" smtClean="0"/>
              <a:t>HSA_STATUS_OTHER</a:t>
            </a:r>
            <a:r>
              <a:rPr lang="en-US" altLang="zh-TW" sz="2400" dirty="0"/>
              <a:t>_</a:t>
            </a:r>
            <a:r>
              <a:rPr lang="en-US" altLang="zh-TW" sz="2400" dirty="0" smtClean="0"/>
              <a:t>BEGIN </a:t>
            </a:r>
            <a:r>
              <a:rPr lang="en-US" altLang="zh-TW" sz="2400" dirty="0"/>
              <a:t>(see 2.1 for details</a:t>
            </a:r>
            <a:r>
              <a:rPr lang="en-US" altLang="zh-TW" sz="2400" dirty="0" smtClean="0"/>
              <a:t>).</a:t>
            </a:r>
          </a:p>
          <a:p>
            <a:pPr lvl="2"/>
            <a:r>
              <a:rPr lang="en-US" altLang="zh-TW" sz="2100" dirty="0" smtClean="0">
                <a:solidFill>
                  <a:schemeClr val="bg1">
                    <a:lumMod val="85000"/>
                  </a:schemeClr>
                </a:solidFill>
              </a:rPr>
              <a:t>What is 2.1?? Need to be verify</a:t>
            </a:r>
          </a:p>
          <a:p>
            <a:r>
              <a:rPr lang="en-US" altLang="zh-TW" sz="2400" dirty="0"/>
              <a:t>The first ratified version </a:t>
            </a:r>
            <a:r>
              <a:rPr lang="en-US" altLang="zh-TW" sz="2400" dirty="0" smtClean="0"/>
              <a:t>does </a:t>
            </a:r>
            <a:r>
              <a:rPr lang="en-US" altLang="zh-TW" sz="2400" dirty="0"/>
              <a:t>not define the queue type </a:t>
            </a:r>
            <a:r>
              <a:rPr lang="en-US" altLang="zh-TW" sz="2400" dirty="0" smtClean="0"/>
              <a:t>and queue </a:t>
            </a:r>
            <a:r>
              <a:rPr lang="en-US" altLang="zh-TW" sz="2400" dirty="0"/>
              <a:t>feature – they have been marked as fields for future expansion</a:t>
            </a:r>
            <a:endParaRPr lang="zh-TW" altLang="en-US" sz="2400" dirty="0"/>
          </a:p>
        </p:txBody>
      </p:sp>
    </p:spTree>
    <p:extLst>
      <p:ext uri="{BB962C8B-B14F-4D97-AF65-F5344CB8AC3E}">
        <p14:creationId xmlns:p14="http://schemas.microsoft.com/office/powerpoint/2010/main" val="1065654135"/>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smtClean="0"/>
              <a:t>HSA_Queue_Creat</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HSA </a:t>
            </a:r>
            <a:r>
              <a:rPr lang="en-US" altLang="zh-TW" sz="2400" dirty="0"/>
              <a:t>STATUS ERROR INVALID ARGUMENT </a:t>
            </a:r>
          </a:p>
          <a:p>
            <a:pPr lvl="1"/>
            <a:r>
              <a:rPr lang="en-US" altLang="zh-TW" sz="2400" dirty="0"/>
              <a:t>error code is returned when the queue size is not a power of two</a:t>
            </a:r>
          </a:p>
          <a:p>
            <a:pPr lvl="1"/>
            <a:endParaRPr lang="zh-TW" altLang="en-US" sz="2400" dirty="0"/>
          </a:p>
          <a:p>
            <a:r>
              <a:rPr lang="en-US" altLang="zh-TW" sz="2400" dirty="0"/>
              <a:t>HSA STATUS ERROR OUT OF RESOURCES </a:t>
            </a:r>
            <a:endParaRPr lang="en-US" altLang="zh-TW" sz="2400" dirty="0" smtClean="0"/>
          </a:p>
          <a:p>
            <a:pPr lvl="1"/>
            <a:r>
              <a:rPr lang="en-US" altLang="zh-TW" sz="2400" dirty="0" smtClean="0"/>
              <a:t>if </a:t>
            </a:r>
            <a:r>
              <a:rPr lang="en-US" altLang="zh-TW" sz="2400" dirty="0"/>
              <a:t>there is a failure in allocation of an </a:t>
            </a:r>
            <a:r>
              <a:rPr lang="en-US" altLang="zh-TW" sz="2400" dirty="0" smtClean="0"/>
              <a:t>internal structure required by the core runtime library. </a:t>
            </a:r>
          </a:p>
          <a:p>
            <a:pPr lvl="1"/>
            <a:r>
              <a:rPr lang="en-US" altLang="zh-TW" sz="2400" dirty="0" smtClean="0"/>
              <a:t>This error may </a:t>
            </a:r>
            <a:r>
              <a:rPr lang="en-US" altLang="zh-TW" sz="2400" dirty="0"/>
              <a:t>also occur when the core runtime library needs to spawn threads or create </a:t>
            </a:r>
            <a:r>
              <a:rPr lang="en-US" altLang="zh-TW" sz="2400" dirty="0" smtClean="0"/>
              <a:t>internal OS-specific </a:t>
            </a:r>
            <a:r>
              <a:rPr lang="en-US" altLang="zh-TW" sz="2400" dirty="0"/>
              <a:t>events.</a:t>
            </a:r>
            <a:endParaRPr lang="en-US" altLang="zh-TW" sz="2400" dirty="0" smtClean="0"/>
          </a:p>
        </p:txBody>
      </p:sp>
    </p:spTree>
    <p:extLst>
      <p:ext uri="{BB962C8B-B14F-4D97-AF65-F5344CB8AC3E}">
        <p14:creationId xmlns:p14="http://schemas.microsoft.com/office/powerpoint/2010/main" val="8447801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smtClean="0"/>
              <a:t>HSA_Queue_Destory</a:t>
            </a:r>
            <a:r>
              <a:rPr lang="en-US" altLang="zh-TW" sz="3600" dirty="0" smtClean="0"/>
              <a:t> </a:t>
            </a:r>
            <a:endParaRPr lang="zh-TW" altLang="en-US" sz="3600" dirty="0"/>
          </a:p>
        </p:txBody>
      </p:sp>
      <p:pic>
        <p:nvPicPr>
          <p:cNvPr id="4" name="內容版面配置區 3"/>
          <p:cNvPicPr>
            <a:picLocks noGrp="1" noChangeAspect="1"/>
          </p:cNvPicPr>
          <p:nvPr>
            <p:ph idx="1"/>
          </p:nvPr>
        </p:nvPicPr>
        <p:blipFill>
          <a:blip r:embed="rId2"/>
          <a:stretch>
            <a:fillRect/>
          </a:stretch>
        </p:blipFill>
        <p:spPr>
          <a:xfrm>
            <a:off x="457200" y="2495777"/>
            <a:ext cx="8229600" cy="2155371"/>
          </a:xfrm>
          <a:prstGeom prst="rect">
            <a:avLst/>
          </a:prstGeom>
        </p:spPr>
      </p:pic>
    </p:spTree>
    <p:extLst>
      <p:ext uri="{BB962C8B-B14F-4D97-AF65-F5344CB8AC3E}">
        <p14:creationId xmlns:p14="http://schemas.microsoft.com/office/powerpoint/2010/main" val="360146116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smtClean="0"/>
              <a:t>HSA_Queue_Destory</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After </a:t>
            </a:r>
            <a:r>
              <a:rPr lang="en-US" altLang="zh-TW" sz="2400" dirty="0"/>
              <a:t>queue destruction, it is considered undefined to access the memory pointed to be </a:t>
            </a:r>
            <a:r>
              <a:rPr lang="en-US" altLang="zh-TW" sz="2400" dirty="0" smtClean="0"/>
              <a:t>the base address</a:t>
            </a:r>
          </a:p>
          <a:p>
            <a:endParaRPr lang="en-US" altLang="zh-TW" sz="2400" dirty="0" smtClean="0"/>
          </a:p>
          <a:p>
            <a:r>
              <a:rPr lang="en-US" altLang="zh-TW" sz="2400" dirty="0" smtClean="0"/>
              <a:t>An </a:t>
            </a:r>
            <a:r>
              <a:rPr lang="en-US" altLang="zh-TW" sz="2400" dirty="0"/>
              <a:t>implementation may choose to do internal memory management and </a:t>
            </a:r>
            <a:r>
              <a:rPr lang="en-US" altLang="zh-TW" sz="2400" dirty="0" smtClean="0"/>
              <a:t>reuse this </a:t>
            </a:r>
            <a:r>
              <a:rPr lang="en-US" altLang="zh-TW" sz="2400" dirty="0"/>
              <a:t>memory for another queue</a:t>
            </a:r>
            <a:endParaRPr lang="zh-TW" altLang="en-US" sz="2400" dirty="0"/>
          </a:p>
        </p:txBody>
      </p:sp>
    </p:spTree>
    <p:extLst>
      <p:ext uri="{BB962C8B-B14F-4D97-AF65-F5344CB8AC3E}">
        <p14:creationId xmlns:p14="http://schemas.microsoft.com/office/powerpoint/2010/main" val="3110585271"/>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smtClean="0"/>
              <a:t>HSA_Queue_Force_Inactivate</a:t>
            </a:r>
            <a:endParaRPr lang="zh-TW" altLang="en-US" sz="3600" dirty="0"/>
          </a:p>
        </p:txBody>
      </p:sp>
      <p:pic>
        <p:nvPicPr>
          <p:cNvPr id="4" name="內容版面配置區 3"/>
          <p:cNvPicPr>
            <a:picLocks noGrp="1" noChangeAspect="1"/>
          </p:cNvPicPr>
          <p:nvPr>
            <p:ph idx="1"/>
          </p:nvPr>
        </p:nvPicPr>
        <p:blipFill>
          <a:blip r:embed="rId2"/>
          <a:stretch>
            <a:fillRect/>
          </a:stretch>
        </p:blipFill>
        <p:spPr>
          <a:xfrm>
            <a:off x="457200" y="2717003"/>
            <a:ext cx="8229600" cy="1712919"/>
          </a:xfrm>
          <a:prstGeom prst="rect">
            <a:avLst/>
          </a:prstGeom>
        </p:spPr>
      </p:pic>
    </p:spTree>
    <p:extLst>
      <p:ext uri="{BB962C8B-B14F-4D97-AF65-F5344CB8AC3E}">
        <p14:creationId xmlns:p14="http://schemas.microsoft.com/office/powerpoint/2010/main" val="2532789904"/>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err="1"/>
              <a:t>HSA_Queue_Force_Inactivate</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The </a:t>
            </a:r>
            <a:r>
              <a:rPr lang="en-US" altLang="zh-TW" sz="2400" dirty="0"/>
              <a:t>queue can forcefully be </a:t>
            </a:r>
            <a:r>
              <a:rPr lang="en-US" altLang="zh-TW" sz="2400" dirty="0" smtClean="0"/>
              <a:t>inactivated </a:t>
            </a:r>
            <a:r>
              <a:rPr lang="en-US" altLang="zh-TW" sz="2400" dirty="0"/>
              <a:t>by the </a:t>
            </a:r>
            <a:r>
              <a:rPr lang="en-US" altLang="zh-TW" sz="2400" dirty="0" smtClean="0"/>
              <a:t>user</a:t>
            </a:r>
          </a:p>
          <a:p>
            <a:endParaRPr lang="en-US" altLang="zh-TW" sz="2400" dirty="0"/>
          </a:p>
          <a:p>
            <a:r>
              <a:rPr lang="en-US" altLang="zh-TW" sz="2400" dirty="0"/>
              <a:t>This will kill any </a:t>
            </a:r>
            <a:r>
              <a:rPr lang="en-US" altLang="zh-TW" sz="2400" dirty="0" smtClean="0"/>
              <a:t>pending executions </a:t>
            </a:r>
            <a:r>
              <a:rPr lang="en-US" altLang="zh-TW" sz="2400" dirty="0"/>
              <a:t>and prevent any new packets to be processed.</a:t>
            </a:r>
            <a:endParaRPr lang="en-US" altLang="zh-TW" sz="2400" dirty="0" smtClean="0"/>
          </a:p>
          <a:p>
            <a:endParaRPr lang="en-US" altLang="zh-TW" sz="2400" dirty="0"/>
          </a:p>
          <a:p>
            <a:r>
              <a:rPr lang="en-US" altLang="zh-TW" sz="2400" dirty="0"/>
              <a:t>Any more packets written to the inactivated </a:t>
            </a:r>
            <a:r>
              <a:rPr lang="en-US" altLang="zh-TW" sz="2400" dirty="0" smtClean="0"/>
              <a:t> queue  will </a:t>
            </a:r>
            <a:r>
              <a:rPr lang="en-US" altLang="zh-TW" sz="2400" dirty="0"/>
              <a:t>be ignored by the packet processor</a:t>
            </a:r>
            <a:endParaRPr lang="zh-TW" altLang="en-US" sz="2400" dirty="0"/>
          </a:p>
        </p:txBody>
      </p:sp>
    </p:spTree>
    <p:extLst>
      <p:ext uri="{BB962C8B-B14F-4D97-AF65-F5344CB8AC3E}">
        <p14:creationId xmlns:p14="http://schemas.microsoft.com/office/powerpoint/2010/main" val="1100365716"/>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Error Reporting</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The </a:t>
            </a:r>
            <a:r>
              <a:rPr lang="en-US" altLang="zh-TW" sz="2400" dirty="0"/>
              <a:t>HSA queue structure includes an error message queue, message queue </a:t>
            </a:r>
            <a:r>
              <a:rPr lang="en-US" altLang="zh-TW" sz="2400" dirty="0" smtClean="0"/>
              <a:t>handle</a:t>
            </a:r>
          </a:p>
          <a:p>
            <a:pPr lvl="1"/>
            <a:r>
              <a:rPr lang="en-US" altLang="zh-TW" sz="2400" dirty="0" smtClean="0"/>
              <a:t>User must </a:t>
            </a:r>
            <a:r>
              <a:rPr lang="en-US" altLang="zh-TW" sz="2400" dirty="0"/>
              <a:t>initialize and pass as an argument at queue creation</a:t>
            </a:r>
          </a:p>
          <a:p>
            <a:endParaRPr lang="en-US" altLang="zh-TW" sz="2400" dirty="0" smtClean="0"/>
          </a:p>
          <a:p>
            <a:r>
              <a:rPr lang="en-US" altLang="zh-TW" sz="2400" dirty="0" smtClean="0"/>
              <a:t>Error </a:t>
            </a:r>
            <a:r>
              <a:rPr lang="en-US" altLang="zh-TW" sz="2400" dirty="0"/>
              <a:t>message queue may </a:t>
            </a:r>
            <a:r>
              <a:rPr lang="en-US" altLang="zh-TW" sz="2400" dirty="0" smtClean="0"/>
              <a:t>either be </a:t>
            </a:r>
            <a:r>
              <a:rPr lang="en-US" altLang="zh-TW" sz="2400" dirty="0"/>
              <a:t>created by the user using </a:t>
            </a:r>
            <a:r>
              <a:rPr lang="en-US" altLang="zh-TW" sz="2400" dirty="0" err="1" smtClean="0"/>
              <a:t>has_error_message_queue_create</a:t>
            </a:r>
            <a:r>
              <a:rPr lang="en-US" altLang="zh-TW" sz="2400" dirty="0" smtClean="0"/>
              <a:t> API or use the default error message queue generated </a:t>
            </a:r>
            <a:r>
              <a:rPr lang="en-US" altLang="zh-TW" sz="2400" dirty="0"/>
              <a:t>by the </a:t>
            </a:r>
            <a:r>
              <a:rPr lang="en-US" altLang="zh-TW" sz="2400" dirty="0" err="1" smtClean="0"/>
              <a:t>has_initialize</a:t>
            </a:r>
            <a:r>
              <a:rPr lang="en-US" altLang="zh-TW" sz="2400" dirty="0" smtClean="0"/>
              <a:t> </a:t>
            </a:r>
            <a:r>
              <a:rPr lang="en-US" altLang="zh-TW" sz="2400" dirty="0"/>
              <a:t>API.</a:t>
            </a:r>
            <a:endParaRPr lang="zh-TW" altLang="en-US" sz="2400" dirty="0"/>
          </a:p>
        </p:txBody>
      </p:sp>
    </p:spTree>
    <p:extLst>
      <p:ext uri="{BB962C8B-B14F-4D97-AF65-F5344CB8AC3E}">
        <p14:creationId xmlns:p14="http://schemas.microsoft.com/office/powerpoint/2010/main" val="3428238567"/>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Error Reporting</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There </a:t>
            </a:r>
            <a:r>
              <a:rPr lang="en-US" altLang="zh-TW" sz="2400" dirty="0"/>
              <a:t>are two primary kinds of </a:t>
            </a:r>
            <a:r>
              <a:rPr lang="en-US" altLang="zh-TW" sz="2400" dirty="0" smtClean="0"/>
              <a:t>errors</a:t>
            </a:r>
          </a:p>
          <a:p>
            <a:endParaRPr lang="en-US" altLang="zh-TW" sz="2400" dirty="0" smtClean="0"/>
          </a:p>
          <a:p>
            <a:r>
              <a:rPr lang="en-US" altLang="zh-TW" sz="2400" dirty="0" smtClean="0"/>
              <a:t>1. Errors </a:t>
            </a:r>
            <a:r>
              <a:rPr lang="en-US" altLang="zh-TW" sz="2400" dirty="0"/>
              <a:t>due to packet processing, such as invalid format, field-value, invalid signal, etc.</a:t>
            </a:r>
          </a:p>
          <a:p>
            <a:endParaRPr lang="en-US" altLang="zh-TW" sz="2400" dirty="0" smtClean="0"/>
          </a:p>
          <a:p>
            <a:r>
              <a:rPr lang="en-US" altLang="zh-TW" sz="2400" dirty="0" smtClean="0"/>
              <a:t>2. Errors </a:t>
            </a:r>
            <a:r>
              <a:rPr lang="en-US" altLang="zh-TW" sz="2400" dirty="0"/>
              <a:t>occurring during subsequent resource/dispatch setup or system errors during dispatch</a:t>
            </a:r>
            <a:endParaRPr lang="zh-TW" altLang="en-US" sz="2400" dirty="0"/>
          </a:p>
        </p:txBody>
      </p:sp>
    </p:spTree>
    <p:extLst>
      <p:ext uri="{BB962C8B-B14F-4D97-AF65-F5344CB8AC3E}">
        <p14:creationId xmlns:p14="http://schemas.microsoft.com/office/powerpoint/2010/main" val="289071506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State</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A </a:t>
            </a:r>
            <a:r>
              <a:rPr lang="en-US" altLang="zh-TW" sz="2400" dirty="0"/>
              <a:t>queue in HSA, once created, can be in one of the following states: </a:t>
            </a:r>
            <a:endParaRPr lang="en-US" altLang="zh-TW" sz="2400" dirty="0" smtClean="0"/>
          </a:p>
          <a:p>
            <a:pPr lvl="1"/>
            <a:r>
              <a:rPr lang="en-US" altLang="zh-TW" sz="2400" dirty="0" smtClean="0"/>
              <a:t>active</a:t>
            </a:r>
          </a:p>
          <a:p>
            <a:pPr lvl="1"/>
            <a:r>
              <a:rPr lang="en-US" altLang="zh-TW" sz="2400" dirty="0" smtClean="0"/>
              <a:t>error </a:t>
            </a:r>
            <a:r>
              <a:rPr lang="en-US" altLang="zh-TW" sz="2400" dirty="0"/>
              <a:t>pending </a:t>
            </a:r>
            <a:r>
              <a:rPr lang="en-US" altLang="zh-TW" sz="2400" dirty="0" smtClean="0"/>
              <a:t>inactive</a:t>
            </a:r>
          </a:p>
          <a:p>
            <a:pPr lvl="1"/>
            <a:r>
              <a:rPr lang="en-US" altLang="zh-TW" sz="2400" dirty="0" smtClean="0"/>
              <a:t>error </a:t>
            </a:r>
            <a:r>
              <a:rPr lang="en-US" altLang="zh-TW" sz="2400" dirty="0"/>
              <a:t>inactive </a:t>
            </a:r>
            <a:endParaRPr lang="en-US" altLang="zh-TW" sz="2400" dirty="0" smtClean="0"/>
          </a:p>
          <a:p>
            <a:pPr lvl="1"/>
            <a:r>
              <a:rPr lang="en-US" altLang="zh-TW" sz="2400" dirty="0" smtClean="0"/>
              <a:t>destroyed</a:t>
            </a:r>
          </a:p>
        </p:txBody>
      </p:sp>
    </p:spTree>
    <p:extLst>
      <p:ext uri="{BB962C8B-B14F-4D97-AF65-F5344CB8AC3E}">
        <p14:creationId xmlns:p14="http://schemas.microsoft.com/office/powerpoint/2010/main" val="628930938"/>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a:t>
            </a:r>
            <a:r>
              <a:rPr lang="en-US" altLang="zh-TW" sz="3600" dirty="0" smtClean="0"/>
              <a:t>State - Active</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Once </a:t>
            </a:r>
            <a:r>
              <a:rPr lang="en-US" altLang="zh-TW" sz="2400" dirty="0"/>
              <a:t>a queue is successfully </a:t>
            </a:r>
            <a:r>
              <a:rPr lang="en-US" altLang="zh-TW" sz="2400" dirty="0" smtClean="0"/>
              <a:t>created, </a:t>
            </a:r>
            <a:r>
              <a:rPr lang="en-US" altLang="zh-TW" sz="2400" dirty="0"/>
              <a:t>it enters </a:t>
            </a:r>
            <a:r>
              <a:rPr lang="en-US" altLang="zh-TW" sz="2400" dirty="0" smtClean="0"/>
              <a:t>an active state</a:t>
            </a:r>
          </a:p>
          <a:p>
            <a:endParaRPr lang="en-US" altLang="zh-TW" sz="2400" dirty="0"/>
          </a:p>
          <a:p>
            <a:r>
              <a:rPr lang="en-US" altLang="zh-TW" sz="2400" dirty="0"/>
              <a:t>Only in the active </a:t>
            </a:r>
            <a:r>
              <a:rPr lang="en-US" altLang="zh-TW" sz="2400" dirty="0" smtClean="0"/>
              <a:t>state, writing </a:t>
            </a:r>
            <a:r>
              <a:rPr lang="en-US" altLang="zh-TW" sz="2400" dirty="0"/>
              <a:t>packets to the queue, updating the write index or ringing the doorbell has any effect</a:t>
            </a:r>
            <a:endParaRPr lang="en-US" altLang="zh-TW" sz="2400" dirty="0" smtClean="0"/>
          </a:p>
        </p:txBody>
      </p:sp>
    </p:spTree>
    <p:extLst>
      <p:ext uri="{BB962C8B-B14F-4D97-AF65-F5344CB8AC3E}">
        <p14:creationId xmlns:p14="http://schemas.microsoft.com/office/powerpoint/2010/main" val="3498106722"/>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State </a:t>
            </a:r>
            <a:r>
              <a:rPr lang="en-US" altLang="zh-TW" sz="3600" dirty="0" smtClean="0"/>
              <a:t>- </a:t>
            </a:r>
            <a:r>
              <a:rPr lang="en-US" altLang="zh-TW" sz="3600" dirty="0"/>
              <a:t>Error pending inactive</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When </a:t>
            </a:r>
            <a:r>
              <a:rPr lang="en-US" altLang="zh-TW" sz="2400" dirty="0"/>
              <a:t>packet processing or dispatch setup encounters one of the </a:t>
            </a:r>
            <a:r>
              <a:rPr lang="en-US" altLang="zh-TW" sz="2400" dirty="0" smtClean="0"/>
              <a:t>errors described above the queue enters this state</a:t>
            </a:r>
          </a:p>
          <a:p>
            <a:endParaRPr lang="en-US" altLang="zh-TW" sz="2400" dirty="0"/>
          </a:p>
          <a:p>
            <a:r>
              <a:rPr lang="en-US" altLang="zh-TW" sz="2400" dirty="0"/>
              <a:t>the queue is not entirely inactive, but once </a:t>
            </a:r>
            <a:r>
              <a:rPr lang="en-US" altLang="zh-TW" sz="2400" dirty="0" smtClean="0"/>
              <a:t>the asynchronous </a:t>
            </a:r>
            <a:r>
              <a:rPr lang="en-US" altLang="zh-TW" sz="2400" dirty="0"/>
              <a:t>activity concludes, it will become </a:t>
            </a:r>
            <a:r>
              <a:rPr lang="en-US" altLang="zh-TW" sz="2400" dirty="0" smtClean="0"/>
              <a:t>inactive</a:t>
            </a:r>
          </a:p>
          <a:p>
            <a:endParaRPr lang="en-US" altLang="zh-TW" sz="2400" dirty="0"/>
          </a:p>
          <a:p>
            <a:r>
              <a:rPr lang="en-US" altLang="zh-TW" sz="2400" dirty="0" smtClean="0"/>
              <a:t>In </a:t>
            </a:r>
            <a:r>
              <a:rPr lang="en-US" altLang="zh-TW" sz="2400" dirty="0"/>
              <a:t>error pending </a:t>
            </a:r>
            <a:r>
              <a:rPr lang="en-US" altLang="zh-TW" sz="2400" dirty="0" smtClean="0"/>
              <a:t>inactive state </a:t>
            </a:r>
            <a:r>
              <a:rPr lang="en-US" altLang="zh-TW" sz="2400" dirty="0"/>
              <a:t>is not to be considered as destroyed, it still needs to be destroyed so the runtime </a:t>
            </a:r>
            <a:r>
              <a:rPr lang="en-US" altLang="zh-TW" sz="2400" dirty="0" smtClean="0"/>
              <a:t>can reclaim </a:t>
            </a:r>
            <a:r>
              <a:rPr lang="en-US" altLang="zh-TW" sz="2400" dirty="0"/>
              <a:t>the memory allocated for this queue</a:t>
            </a:r>
            <a:endParaRPr lang="en-US" altLang="zh-TW" sz="2400" dirty="0" smtClean="0"/>
          </a:p>
        </p:txBody>
      </p:sp>
    </p:spTree>
    <p:extLst>
      <p:ext uri="{BB962C8B-B14F-4D97-AF65-F5344CB8AC3E}">
        <p14:creationId xmlns:p14="http://schemas.microsoft.com/office/powerpoint/2010/main" val="2586960875"/>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State </a:t>
            </a:r>
            <a:r>
              <a:rPr lang="en-US" altLang="zh-TW" sz="3600" dirty="0" smtClean="0"/>
              <a:t>- </a:t>
            </a:r>
            <a:r>
              <a:rPr lang="en-US" altLang="zh-TW" sz="3600" dirty="0"/>
              <a:t>Inactive</a:t>
            </a:r>
            <a:endParaRPr lang="zh-TW" altLang="en-US" sz="3600" dirty="0"/>
          </a:p>
        </p:txBody>
      </p:sp>
      <p:sp>
        <p:nvSpPr>
          <p:cNvPr id="3" name="內容版面配置區 2"/>
          <p:cNvSpPr>
            <a:spLocks noGrp="1"/>
          </p:cNvSpPr>
          <p:nvPr>
            <p:ph idx="1"/>
          </p:nvPr>
        </p:nvSpPr>
        <p:spPr/>
        <p:txBody>
          <a:bodyPr/>
          <a:lstStyle/>
          <a:p>
            <a:r>
              <a:rPr lang="en-US" altLang="zh-TW" sz="2400" dirty="0"/>
              <a:t>If all the asynchronous activity concludes, the queue enters the inactive </a:t>
            </a:r>
            <a:r>
              <a:rPr lang="en-US" altLang="zh-TW" sz="2400" dirty="0" smtClean="0"/>
              <a:t>state</a:t>
            </a:r>
          </a:p>
          <a:p>
            <a:endParaRPr lang="en-US" altLang="zh-TW" sz="2400" dirty="0" smtClean="0"/>
          </a:p>
          <a:p>
            <a:r>
              <a:rPr lang="en-US" altLang="zh-TW" sz="2400" dirty="0" smtClean="0"/>
              <a:t>A queue can </a:t>
            </a:r>
            <a:r>
              <a:rPr lang="en-US" altLang="zh-TW" sz="2400" dirty="0"/>
              <a:t>also enter this state when the user </a:t>
            </a:r>
            <a:r>
              <a:rPr lang="en-US" altLang="zh-TW" sz="2400" dirty="0" smtClean="0"/>
              <a:t>invokes </a:t>
            </a:r>
            <a:r>
              <a:rPr lang="en-US" altLang="zh-TW" sz="2400" dirty="0"/>
              <a:t>the </a:t>
            </a:r>
            <a:r>
              <a:rPr lang="en-US" altLang="zh-TW" sz="2400" dirty="0" err="1" smtClean="0"/>
              <a:t>hsa_queue_force_inactivate</a:t>
            </a:r>
            <a:r>
              <a:rPr lang="en-US" altLang="zh-TW" sz="2400" dirty="0" smtClean="0"/>
              <a:t> API</a:t>
            </a:r>
          </a:p>
          <a:p>
            <a:endParaRPr lang="en-US" altLang="zh-TW" sz="2400" dirty="0" smtClean="0"/>
          </a:p>
          <a:p>
            <a:r>
              <a:rPr lang="en-US" altLang="zh-TW" sz="2400" dirty="0" smtClean="0"/>
              <a:t>In </a:t>
            </a:r>
            <a:r>
              <a:rPr lang="en-US" altLang="zh-TW" sz="2400" dirty="0"/>
              <a:t>an inactive state, the queue structure and its packets may be </a:t>
            </a:r>
            <a:r>
              <a:rPr lang="en-US" altLang="zh-TW" sz="2400" dirty="0" smtClean="0"/>
              <a:t>inspected</a:t>
            </a:r>
          </a:p>
          <a:p>
            <a:pPr lvl="1"/>
            <a:r>
              <a:rPr lang="en-US" altLang="zh-TW" sz="2400" dirty="0" smtClean="0"/>
              <a:t>Only </a:t>
            </a:r>
            <a:r>
              <a:rPr lang="en-US" altLang="zh-TW" sz="2400" dirty="0"/>
              <a:t>the </a:t>
            </a:r>
            <a:r>
              <a:rPr lang="en-US" altLang="zh-TW" sz="2400" dirty="0" smtClean="0"/>
              <a:t>packets that </a:t>
            </a:r>
            <a:r>
              <a:rPr lang="en-US" altLang="zh-TW" sz="2400" dirty="0"/>
              <a:t>are between the read index and the write index </a:t>
            </a:r>
            <a:r>
              <a:rPr lang="en-US" altLang="zh-TW" sz="2400" dirty="0" smtClean="0"/>
              <a:t>are </a:t>
            </a:r>
            <a:r>
              <a:rPr lang="en-US" altLang="zh-TW" sz="2400" dirty="0"/>
              <a:t>considered </a:t>
            </a:r>
            <a:r>
              <a:rPr lang="en-US" altLang="zh-TW" sz="2400" dirty="0" smtClean="0"/>
              <a:t>to be </a:t>
            </a:r>
            <a:r>
              <a:rPr lang="en-US" altLang="zh-TW" sz="2400" dirty="0"/>
              <a:t>valid for inspection by the user.</a:t>
            </a:r>
            <a:endParaRPr lang="en-US" altLang="zh-TW" sz="2400" dirty="0" smtClean="0"/>
          </a:p>
        </p:txBody>
      </p:sp>
    </p:spTree>
    <p:extLst>
      <p:ext uri="{BB962C8B-B14F-4D97-AF65-F5344CB8AC3E}">
        <p14:creationId xmlns:p14="http://schemas.microsoft.com/office/powerpoint/2010/main" val="2475961728"/>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State - Inactive</a:t>
            </a:r>
            <a:endParaRPr lang="zh-TW" altLang="en-US" sz="3600" dirty="0"/>
          </a:p>
        </p:txBody>
      </p:sp>
      <p:sp>
        <p:nvSpPr>
          <p:cNvPr id="3" name="內容版面配置區 2"/>
          <p:cNvSpPr>
            <a:spLocks noGrp="1"/>
          </p:cNvSpPr>
          <p:nvPr>
            <p:ph idx="1"/>
          </p:nvPr>
        </p:nvSpPr>
        <p:spPr/>
        <p:txBody>
          <a:bodyPr/>
          <a:lstStyle/>
          <a:p>
            <a:r>
              <a:rPr lang="en-US" altLang="zh-TW" sz="2400" dirty="0"/>
              <a:t>The packet processor guarantees that all the packets </a:t>
            </a:r>
            <a:r>
              <a:rPr lang="en-US" altLang="zh-TW" sz="2400" dirty="0" smtClean="0"/>
              <a:t>that have </a:t>
            </a:r>
            <a:r>
              <a:rPr lang="en-US" altLang="zh-TW" sz="2400" dirty="0"/>
              <a:t>been consumed by the packet processor </a:t>
            </a:r>
            <a:r>
              <a:rPr lang="en-US" altLang="zh-TW" sz="2400" dirty="0" smtClean="0"/>
              <a:t>will </a:t>
            </a:r>
            <a:r>
              <a:rPr lang="en-US" altLang="zh-TW" sz="2400" dirty="0"/>
              <a:t>be signaled with </a:t>
            </a:r>
            <a:r>
              <a:rPr lang="en-US" altLang="zh-TW" sz="2400" dirty="0" smtClean="0"/>
              <a:t>either the </a:t>
            </a:r>
            <a:r>
              <a:rPr lang="en-US" altLang="zh-TW" sz="2400" dirty="0"/>
              <a:t>completion information or an </a:t>
            </a:r>
            <a:r>
              <a:rPr lang="en-US" altLang="zh-TW" sz="2400" dirty="0" smtClean="0"/>
              <a:t>error</a:t>
            </a:r>
          </a:p>
          <a:p>
            <a:endParaRPr lang="en-US" altLang="zh-TW" sz="2400" dirty="0"/>
          </a:p>
          <a:p>
            <a:r>
              <a:rPr lang="en-US" altLang="zh-TW" sz="2400" dirty="0"/>
              <a:t>Invocation of </a:t>
            </a:r>
            <a:r>
              <a:rPr lang="en-US" altLang="zh-TW" sz="2400" dirty="0" err="1" smtClean="0"/>
              <a:t>has_queue_force</a:t>
            </a:r>
            <a:r>
              <a:rPr lang="en-US" altLang="zh-TW" sz="2400" dirty="0" err="1"/>
              <a:t>_</a:t>
            </a:r>
            <a:r>
              <a:rPr lang="en-US" altLang="zh-TW" sz="2400" dirty="0" err="1" smtClean="0"/>
              <a:t>inactivate</a:t>
            </a:r>
            <a:r>
              <a:rPr lang="en-US" altLang="zh-TW" sz="2400" dirty="0" smtClean="0"/>
              <a:t> API when </a:t>
            </a:r>
            <a:r>
              <a:rPr lang="en-US" altLang="zh-TW" sz="2400" dirty="0"/>
              <a:t>the queue already is in the inactive state has no effect.</a:t>
            </a:r>
            <a:endParaRPr lang="en-US" altLang="zh-TW" sz="2400" dirty="0" smtClean="0"/>
          </a:p>
        </p:txBody>
      </p:sp>
    </p:spTree>
    <p:extLst>
      <p:ext uri="{BB962C8B-B14F-4D97-AF65-F5344CB8AC3E}">
        <p14:creationId xmlns:p14="http://schemas.microsoft.com/office/powerpoint/2010/main" val="3861195650"/>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Queue State </a:t>
            </a:r>
            <a:r>
              <a:rPr lang="en-US" altLang="zh-TW" sz="3600" dirty="0" smtClean="0"/>
              <a:t>- </a:t>
            </a:r>
            <a:r>
              <a:rPr lang="en-US" altLang="zh-TW" sz="3600" dirty="0"/>
              <a:t>Destroyed</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The </a:t>
            </a:r>
            <a:r>
              <a:rPr lang="en-US" altLang="zh-TW" sz="2400" dirty="0"/>
              <a:t>queue has been destroyed by the user. </a:t>
            </a:r>
            <a:endParaRPr lang="en-US" altLang="zh-TW" sz="2400" dirty="0" smtClean="0"/>
          </a:p>
          <a:p>
            <a:endParaRPr lang="en-US" altLang="zh-TW" sz="2400" dirty="0"/>
          </a:p>
          <a:p>
            <a:r>
              <a:rPr lang="en-US" altLang="zh-TW" sz="2400" dirty="0" smtClean="0"/>
              <a:t>The </a:t>
            </a:r>
            <a:r>
              <a:rPr lang="en-US" altLang="zh-TW" sz="2400" dirty="0"/>
              <a:t>resources allocated to the queue </a:t>
            </a:r>
            <a:r>
              <a:rPr lang="en-US" altLang="zh-TW" sz="2400" dirty="0" smtClean="0"/>
              <a:t>and the </a:t>
            </a:r>
            <a:r>
              <a:rPr lang="en-US" altLang="zh-TW" sz="2400" dirty="0"/>
              <a:t>memory for the queue are no longer valid. </a:t>
            </a:r>
            <a:endParaRPr lang="en-US" altLang="zh-TW" sz="2400" dirty="0" smtClean="0"/>
          </a:p>
          <a:p>
            <a:endParaRPr lang="en-US" altLang="zh-TW" sz="2400" dirty="0"/>
          </a:p>
          <a:p>
            <a:r>
              <a:rPr lang="en-US" altLang="zh-TW" sz="2400" dirty="0" smtClean="0"/>
              <a:t>The </a:t>
            </a:r>
            <a:r>
              <a:rPr lang="en-US" altLang="zh-TW" sz="2400" dirty="0"/>
              <a:t>queue structure is no longer valid.</a:t>
            </a:r>
            <a:endParaRPr lang="en-US" altLang="zh-TW" sz="2400" dirty="0" smtClean="0"/>
          </a:p>
        </p:txBody>
      </p:sp>
    </p:spTree>
    <p:extLst>
      <p:ext uri="{BB962C8B-B14F-4D97-AF65-F5344CB8AC3E}">
        <p14:creationId xmlns:p14="http://schemas.microsoft.com/office/powerpoint/2010/main" val="1194242349"/>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smtClean="0"/>
              <a:t>Queue State </a:t>
            </a:r>
            <a:r>
              <a:rPr lang="en-US" altLang="zh-TW" sz="3600" dirty="0"/>
              <a:t>D</a:t>
            </a:r>
            <a:r>
              <a:rPr lang="en-US" altLang="zh-TW" sz="3600" dirty="0" smtClean="0"/>
              <a:t>iagram</a:t>
            </a:r>
            <a:endParaRPr lang="zh-TW" altLang="en-US" sz="3600" dirty="0"/>
          </a:p>
        </p:txBody>
      </p:sp>
      <p:pic>
        <p:nvPicPr>
          <p:cNvPr id="4" name="內容版面配置區 3"/>
          <p:cNvPicPr>
            <a:picLocks noGrp="1" noChangeAspect="1"/>
          </p:cNvPicPr>
          <p:nvPr>
            <p:ph idx="1"/>
          </p:nvPr>
        </p:nvPicPr>
        <p:blipFill>
          <a:blip r:embed="rId2"/>
          <a:stretch>
            <a:fillRect/>
          </a:stretch>
        </p:blipFill>
        <p:spPr>
          <a:xfrm>
            <a:off x="1467199" y="1125538"/>
            <a:ext cx="6209601" cy="4895850"/>
          </a:xfrm>
          <a:prstGeom prst="rect">
            <a:avLst/>
          </a:prstGeom>
        </p:spPr>
      </p:pic>
    </p:spTree>
    <p:extLst>
      <p:ext uri="{BB962C8B-B14F-4D97-AF65-F5344CB8AC3E}">
        <p14:creationId xmlns:p14="http://schemas.microsoft.com/office/powerpoint/2010/main" val="3679798179"/>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Multi-Threaded Queue Access</a:t>
            </a:r>
            <a:endParaRPr lang="zh-TW" altLang="en-US" sz="3600" dirty="0"/>
          </a:p>
        </p:txBody>
      </p:sp>
      <p:sp>
        <p:nvSpPr>
          <p:cNvPr id="3" name="內容版面配置區 2"/>
          <p:cNvSpPr>
            <a:spLocks noGrp="1"/>
          </p:cNvSpPr>
          <p:nvPr>
            <p:ph idx="1"/>
          </p:nvPr>
        </p:nvSpPr>
        <p:spPr/>
        <p:txBody>
          <a:bodyPr/>
          <a:lstStyle/>
          <a:p>
            <a:endParaRPr lang="en-US" altLang="zh-TW" sz="2400" dirty="0" smtClean="0"/>
          </a:p>
          <a:p>
            <a:r>
              <a:rPr lang="en-US" altLang="zh-TW" sz="2400" dirty="0" smtClean="0"/>
              <a:t>HSA </a:t>
            </a:r>
            <a:r>
              <a:rPr lang="en-US" altLang="zh-TW" sz="2400" dirty="0"/>
              <a:t>Core API does not provide explicit API for synchronized access to the </a:t>
            </a:r>
            <a:r>
              <a:rPr lang="en-US" altLang="zh-TW" sz="2400" dirty="0" smtClean="0"/>
              <a:t>queues</a:t>
            </a:r>
          </a:p>
          <a:p>
            <a:endParaRPr lang="en-US" altLang="zh-TW" sz="2400" dirty="0" smtClean="0"/>
          </a:p>
          <a:p>
            <a:r>
              <a:rPr lang="en-US" altLang="zh-TW" sz="2400" dirty="0" smtClean="0"/>
              <a:t>The architected </a:t>
            </a:r>
            <a:r>
              <a:rPr lang="en-US" altLang="zh-TW" sz="2400" dirty="0"/>
              <a:t>queue data structure and read/write index update API are sufficient to allow users </a:t>
            </a:r>
            <a:r>
              <a:rPr lang="en-US" altLang="zh-TW" sz="2400" dirty="0" smtClean="0"/>
              <a:t>to implement </a:t>
            </a:r>
            <a:r>
              <a:rPr lang="en-US" altLang="zh-TW" sz="2400" dirty="0"/>
              <a:t>thread-safe packet </a:t>
            </a:r>
            <a:r>
              <a:rPr lang="en-US" altLang="zh-TW" sz="2400" dirty="0" smtClean="0"/>
              <a:t>insertion</a:t>
            </a:r>
          </a:p>
        </p:txBody>
      </p:sp>
    </p:spTree>
    <p:extLst>
      <p:ext uri="{BB962C8B-B14F-4D97-AF65-F5344CB8AC3E}">
        <p14:creationId xmlns:p14="http://schemas.microsoft.com/office/powerpoint/2010/main" val="2691574410"/>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t>Multi-Threaded Queue Access</a:t>
            </a:r>
            <a:endParaRPr lang="zh-TW" altLang="en-US" sz="3600" dirty="0"/>
          </a:p>
        </p:txBody>
      </p:sp>
      <p:pic>
        <p:nvPicPr>
          <p:cNvPr id="4" name="內容版面配置區 3"/>
          <p:cNvPicPr>
            <a:picLocks noGrp="1" noChangeAspect="1"/>
          </p:cNvPicPr>
          <p:nvPr>
            <p:ph idx="1"/>
          </p:nvPr>
        </p:nvPicPr>
        <p:blipFill>
          <a:blip r:embed="rId2"/>
          <a:stretch>
            <a:fillRect/>
          </a:stretch>
        </p:blipFill>
        <p:spPr>
          <a:xfrm>
            <a:off x="1389697" y="1125538"/>
            <a:ext cx="6364605" cy="4895850"/>
          </a:xfrm>
          <a:prstGeom prst="rect">
            <a:avLst/>
          </a:prstGeom>
        </p:spPr>
      </p:pic>
    </p:spTree>
    <p:extLst>
      <p:ext uri="{BB962C8B-B14F-4D97-AF65-F5344CB8AC3E}">
        <p14:creationId xmlns:p14="http://schemas.microsoft.com/office/powerpoint/2010/main" val="4194987213"/>
      </p:ext>
    </p:extLst>
  </p:cSld>
  <p:clrMapOvr>
    <a:masterClrMapping/>
  </p:clrMapOvr>
  <p:timing>
    <p:tnLst>
      <p:par>
        <p:cTn id="1" dur="indefinite" restart="never" nodeType="tmRoot"/>
      </p:par>
    </p:tnLst>
  </p:timing>
</p:sld>
</file>

<file path=ppt/theme/theme1.xml><?xml version="1.0" encoding="utf-8"?>
<a:theme xmlns:a="http://schemas.openxmlformats.org/drawingml/2006/main" name="佈景主題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佈景主題1" id="{52425C63-842A-4F95-A16C-1C0CCEA90123}" vid="{F27CB42A-B114-46CF-86BE-45D629310C51}"/>
    </a:ext>
  </a:extLst>
</a:theme>
</file>

<file path=docProps/app.xml><?xml version="1.0" encoding="utf-8"?>
<Properties xmlns="http://schemas.openxmlformats.org/officeDocument/2006/extended-properties" xmlns:vt="http://schemas.openxmlformats.org/officeDocument/2006/docPropsVTypes">
  <Template>佈景主題1</Template>
  <TotalTime>1895</TotalTime>
  <Words>5722</Words>
  <Application>Microsoft Office PowerPoint</Application>
  <PresentationFormat>如螢幕大小 (4:3)</PresentationFormat>
  <Paragraphs>807</Paragraphs>
  <Slides>126</Slides>
  <Notes>0</Notes>
  <HiddenSlides>0</HiddenSlides>
  <MMClips>0</MMClips>
  <ScaleCrop>false</ScaleCrop>
  <HeadingPairs>
    <vt:vector size="4" baseType="variant">
      <vt:variant>
        <vt:lpstr>佈景主題</vt:lpstr>
      </vt:variant>
      <vt:variant>
        <vt:i4>1</vt:i4>
      </vt:variant>
      <vt:variant>
        <vt:lpstr>投影片標題</vt:lpstr>
      </vt:variant>
      <vt:variant>
        <vt:i4>126</vt:i4>
      </vt:variant>
    </vt:vector>
  </HeadingPairs>
  <TitlesOfParts>
    <vt:vector size="127" baseType="lpstr">
      <vt:lpstr>佈景主題1</vt:lpstr>
      <vt:lpstr>HSA Hardware Specification hUMA and hQ</vt:lpstr>
      <vt:lpstr>Traditional system with CPU and GPU</vt:lpstr>
      <vt:lpstr>APU</vt:lpstr>
      <vt:lpstr>Heterogeneous Programming Issues</vt:lpstr>
      <vt:lpstr>HSA</vt:lpstr>
      <vt:lpstr>Heterogeneous Uniform Memory Access</vt:lpstr>
      <vt:lpstr>Proposed Solution from HSA</vt:lpstr>
      <vt:lpstr>hUMA</vt:lpstr>
      <vt:lpstr>Shared Virtual Memory</vt:lpstr>
      <vt:lpstr>Shared Virtual Memory</vt:lpstr>
      <vt:lpstr>Shared Virtual Memory</vt:lpstr>
      <vt:lpstr>Shared Virtual Memory</vt:lpstr>
      <vt:lpstr>Shared Virtual Memory</vt:lpstr>
      <vt:lpstr>Shared Virtual Memory</vt:lpstr>
      <vt:lpstr>Shared Virtual Memory(cont.)</vt:lpstr>
      <vt:lpstr>Shared Virtual Memory(cont.)</vt:lpstr>
      <vt:lpstr>Shared Virtual Memory(cont.)</vt:lpstr>
      <vt:lpstr>Shared Virtual Memory(cont.)</vt:lpstr>
      <vt:lpstr>Shared Virtual Memory(cont.)</vt:lpstr>
      <vt:lpstr>Shared Virtual Memory(cont.)</vt:lpstr>
      <vt:lpstr>Shared Virtual Memory(cont.)</vt:lpstr>
      <vt:lpstr>Shared Virtual Memory(cont.)</vt:lpstr>
      <vt:lpstr>Read-Only image data</vt:lpstr>
      <vt:lpstr>Cache Coherence Domain</vt:lpstr>
      <vt:lpstr>Cache Coherence Domain</vt:lpstr>
      <vt:lpstr>Cache Coherence Domain</vt:lpstr>
      <vt:lpstr>Cache Coherence Domain</vt:lpstr>
      <vt:lpstr>Memory-Based Signaling and Synchronization</vt:lpstr>
      <vt:lpstr>Memory-Based Signaling and Synchronization</vt:lpstr>
      <vt:lpstr>Memory-Based Signaling and Synchronization</vt:lpstr>
      <vt:lpstr>Memory-Based Signaling and Synchronization</vt:lpstr>
      <vt:lpstr>Memory-Based Signaling and Synchronization</vt:lpstr>
      <vt:lpstr>Memory-Based Signaling and Synchronization</vt:lpstr>
      <vt:lpstr>Memory-Based Signaling and Synchronization</vt:lpstr>
      <vt:lpstr>Memory-Based Signaling and Synchronization</vt:lpstr>
      <vt:lpstr>Memory-Based Signaling and Synchronization</vt:lpstr>
      <vt:lpstr>Memory-Based Signaling and Synchronization</vt:lpstr>
      <vt:lpstr>Memory-Based Signaling and Synchronization</vt:lpstr>
      <vt:lpstr>Memory-Based Signaling and Synchronization</vt:lpstr>
      <vt:lpstr>Memory-Based Signaling and Synchronization</vt:lpstr>
      <vt:lpstr>Memory-Based Signaling and Synchronization</vt:lpstr>
      <vt:lpstr>Memory-Based Signaling and Synchronization</vt:lpstr>
      <vt:lpstr>Memory-Based Signaling and Synchronization</vt:lpstr>
      <vt:lpstr>Atomic memory operations</vt:lpstr>
      <vt:lpstr>HSA Platform Topology Discovery </vt:lpstr>
      <vt:lpstr>HSA Platform Topology Discovery </vt:lpstr>
      <vt:lpstr>HSA Platform Topology Discovery </vt:lpstr>
      <vt:lpstr>HSA Platform Topology Discovery </vt:lpstr>
      <vt:lpstr>A good memory model</vt:lpstr>
      <vt:lpstr>HSA memory model</vt:lpstr>
      <vt:lpstr>HSA memory model</vt:lpstr>
      <vt:lpstr>HSA memory model</vt:lpstr>
      <vt:lpstr>HSA Memory Model Defined </vt:lpstr>
      <vt:lpstr>Workitem ordering</vt:lpstr>
      <vt:lpstr>Write serialization</vt:lpstr>
      <vt:lpstr>hQ</vt:lpstr>
      <vt:lpstr>Introduction and Characteristic</vt:lpstr>
      <vt:lpstr>Introduction and Characteristic</vt:lpstr>
      <vt:lpstr>User Mode Queue structure</vt:lpstr>
      <vt:lpstr>User Mode Queue structure</vt:lpstr>
      <vt:lpstr>Queue head and tail</vt:lpstr>
      <vt:lpstr>writeIndex</vt:lpstr>
      <vt:lpstr>readIndex</vt:lpstr>
      <vt:lpstr>writeIndex and readIndex</vt:lpstr>
      <vt:lpstr>writeIndex and readIndex</vt:lpstr>
      <vt:lpstr>Queue type</vt:lpstr>
      <vt:lpstr>Queue Features</vt:lpstr>
      <vt:lpstr>Queue mechanics</vt:lpstr>
      <vt:lpstr>Queue mechanics</vt:lpstr>
      <vt:lpstr>Queue mechanics</vt:lpstr>
      <vt:lpstr>Queue mechanics</vt:lpstr>
      <vt:lpstr>Queue mechanics</vt:lpstr>
      <vt:lpstr>Queue mechanics</vt:lpstr>
      <vt:lpstr>Queue mechanics</vt:lpstr>
      <vt:lpstr>Queue mechanics</vt:lpstr>
      <vt:lpstr>Queue mechanics</vt:lpstr>
      <vt:lpstr>Queue mechanics</vt:lpstr>
      <vt:lpstr>Queue mechanics</vt:lpstr>
      <vt:lpstr>Queue mechanics</vt:lpstr>
      <vt:lpstr>Queue mechanics</vt:lpstr>
      <vt:lpstr>Queue mechanics</vt:lpstr>
      <vt:lpstr>Queue mechanics</vt:lpstr>
      <vt:lpstr>Multiple vs Single HSA Agents</vt:lpstr>
      <vt:lpstr>Avoid Deadlocks</vt:lpstr>
      <vt:lpstr>Example1</vt:lpstr>
      <vt:lpstr>Example2</vt:lpstr>
      <vt:lpstr>Single submitting HSA Agent</vt:lpstr>
      <vt:lpstr>Single submitting HSA Agent</vt:lpstr>
      <vt:lpstr>Packet Processor</vt:lpstr>
      <vt:lpstr>Packet Processor</vt:lpstr>
      <vt:lpstr>Queue index access</vt:lpstr>
      <vt:lpstr>Index Access Operation </vt:lpstr>
      <vt:lpstr>Index Access Operation </vt:lpstr>
      <vt:lpstr>Index Access Operation </vt:lpstr>
      <vt:lpstr>Index Access</vt:lpstr>
      <vt:lpstr>HSA_Queue_Structure</vt:lpstr>
      <vt:lpstr>HSA_Queue_Structure</vt:lpstr>
      <vt:lpstr>HSA_Queue_Structure</vt:lpstr>
      <vt:lpstr>HSA_Queue_Structure</vt:lpstr>
      <vt:lpstr>HSA_Queue_Get_Read/Write_Index</vt:lpstr>
      <vt:lpstr>HSA_Queue_CAS_Write_Index</vt:lpstr>
      <vt:lpstr>HSA_Queue_Add_Write_Index</vt:lpstr>
      <vt:lpstr>Queue read index</vt:lpstr>
      <vt:lpstr>Queue write index</vt:lpstr>
      <vt:lpstr>Doorbell signal</vt:lpstr>
      <vt:lpstr>Doorbell signal</vt:lpstr>
      <vt:lpstr>Doorbell signal</vt:lpstr>
      <vt:lpstr>HSA_Queue_Creat</vt:lpstr>
      <vt:lpstr>HSA_Queue_Creat</vt:lpstr>
      <vt:lpstr>HSA_Queue_Creat</vt:lpstr>
      <vt:lpstr>HSA_Queue_Creat</vt:lpstr>
      <vt:lpstr>HSA_Queue_Destory </vt:lpstr>
      <vt:lpstr>HSA_Queue_Destory</vt:lpstr>
      <vt:lpstr>HSA_Queue_Force_Inactivate</vt:lpstr>
      <vt:lpstr>HSA_Queue_Force_Inactivate</vt:lpstr>
      <vt:lpstr>Queue Error Reporting</vt:lpstr>
      <vt:lpstr>Queue Error Reporting</vt:lpstr>
      <vt:lpstr>Queue State</vt:lpstr>
      <vt:lpstr>Queue State - Active</vt:lpstr>
      <vt:lpstr>Queue State - Error pending inactive</vt:lpstr>
      <vt:lpstr>Queue State - Inactive</vt:lpstr>
      <vt:lpstr>Queue State - Inactive</vt:lpstr>
      <vt:lpstr>Queue State - Destroyed</vt:lpstr>
      <vt:lpstr>Queue State Diagram</vt:lpstr>
      <vt:lpstr>Multi-Threaded Queue Access</vt:lpstr>
      <vt:lpstr>Multi-Threaded Queue Access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EsonFred</dc:creator>
  <cp:lastModifiedBy>Sam</cp:lastModifiedBy>
  <cp:revision>520</cp:revision>
  <dcterms:created xsi:type="dcterms:W3CDTF">2013-12-11T02:49:40Z</dcterms:created>
  <dcterms:modified xsi:type="dcterms:W3CDTF">2014-02-12T11:35:00Z</dcterms:modified>
</cp:coreProperties>
</file>