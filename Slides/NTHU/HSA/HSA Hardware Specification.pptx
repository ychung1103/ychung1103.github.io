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6"/>
  </p:notesMasterIdLst>
  <p:sldIdLst>
    <p:sldId id="256" r:id="rId2"/>
    <p:sldId id="396" r:id="rId3"/>
    <p:sldId id="397" r:id="rId4"/>
    <p:sldId id="287" r:id="rId5"/>
    <p:sldId id="304" r:id="rId6"/>
    <p:sldId id="323" r:id="rId7"/>
    <p:sldId id="305" r:id="rId8"/>
    <p:sldId id="398" r:id="rId9"/>
    <p:sldId id="399" r:id="rId10"/>
    <p:sldId id="401" r:id="rId11"/>
    <p:sldId id="402" r:id="rId12"/>
    <p:sldId id="403" r:id="rId13"/>
    <p:sldId id="404" r:id="rId14"/>
    <p:sldId id="405" r:id="rId15"/>
    <p:sldId id="409" r:id="rId16"/>
    <p:sldId id="410" r:id="rId17"/>
    <p:sldId id="411" r:id="rId18"/>
    <p:sldId id="412" r:id="rId19"/>
    <p:sldId id="413" r:id="rId20"/>
    <p:sldId id="414" r:id="rId21"/>
    <p:sldId id="415" r:id="rId22"/>
    <p:sldId id="416" r:id="rId23"/>
    <p:sldId id="417" r:id="rId24"/>
    <p:sldId id="418" r:id="rId25"/>
    <p:sldId id="408" r:id="rId26"/>
    <p:sldId id="406" r:id="rId27"/>
    <p:sldId id="407" r:id="rId28"/>
    <p:sldId id="419" r:id="rId29"/>
    <p:sldId id="420" r:id="rId30"/>
    <p:sldId id="421" r:id="rId31"/>
    <p:sldId id="422" r:id="rId32"/>
    <p:sldId id="423" r:id="rId33"/>
    <p:sldId id="424" r:id="rId34"/>
    <p:sldId id="425" r:id="rId35"/>
    <p:sldId id="426" r:id="rId36"/>
    <p:sldId id="428" r:id="rId37"/>
    <p:sldId id="427" r:id="rId38"/>
    <p:sldId id="429" r:id="rId39"/>
    <p:sldId id="430" r:id="rId40"/>
    <p:sldId id="431" r:id="rId41"/>
    <p:sldId id="432" r:id="rId42"/>
    <p:sldId id="433" r:id="rId43"/>
    <p:sldId id="434" r:id="rId44"/>
    <p:sldId id="435" r:id="rId45"/>
    <p:sldId id="436" r:id="rId46"/>
    <p:sldId id="437" r:id="rId47"/>
    <p:sldId id="439" r:id="rId48"/>
    <p:sldId id="438" r:id="rId49"/>
    <p:sldId id="440" r:id="rId50"/>
    <p:sldId id="442" r:id="rId51"/>
    <p:sldId id="443" r:id="rId52"/>
    <p:sldId id="441" r:id="rId53"/>
    <p:sldId id="444" r:id="rId54"/>
    <p:sldId id="445" r:id="rId55"/>
    <p:sldId id="446" r:id="rId56"/>
    <p:sldId id="447" r:id="rId57"/>
    <p:sldId id="448" r:id="rId58"/>
    <p:sldId id="449" r:id="rId59"/>
    <p:sldId id="450" r:id="rId60"/>
    <p:sldId id="451" r:id="rId61"/>
    <p:sldId id="452" r:id="rId62"/>
    <p:sldId id="453" r:id="rId63"/>
    <p:sldId id="454" r:id="rId64"/>
    <p:sldId id="455" r:id="rId65"/>
    <p:sldId id="456" r:id="rId66"/>
    <p:sldId id="457" r:id="rId67"/>
    <p:sldId id="458" r:id="rId68"/>
    <p:sldId id="459" r:id="rId69"/>
    <p:sldId id="460" r:id="rId70"/>
    <p:sldId id="461" r:id="rId71"/>
    <p:sldId id="464" r:id="rId72"/>
    <p:sldId id="462" r:id="rId73"/>
    <p:sldId id="463" r:id="rId74"/>
    <p:sldId id="465" r:id="rId75"/>
    <p:sldId id="466" r:id="rId76"/>
    <p:sldId id="467" r:id="rId77"/>
    <p:sldId id="468" r:id="rId78"/>
    <p:sldId id="469" r:id="rId79"/>
    <p:sldId id="470" r:id="rId80"/>
    <p:sldId id="471" r:id="rId81"/>
    <p:sldId id="472" r:id="rId82"/>
    <p:sldId id="473" r:id="rId83"/>
    <p:sldId id="474" r:id="rId84"/>
    <p:sldId id="475" r:id="rId85"/>
    <p:sldId id="476" r:id="rId86"/>
    <p:sldId id="477" r:id="rId87"/>
    <p:sldId id="478" r:id="rId88"/>
    <p:sldId id="479" r:id="rId89"/>
    <p:sldId id="480" r:id="rId90"/>
    <p:sldId id="481" r:id="rId91"/>
    <p:sldId id="482" r:id="rId92"/>
    <p:sldId id="483" r:id="rId93"/>
    <p:sldId id="484" r:id="rId94"/>
    <p:sldId id="485" r:id="rId9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9" autoAdjust="0"/>
    <p:restoredTop sz="92252" autoAdjust="0"/>
  </p:normalViewPr>
  <p:slideViewPr>
    <p:cSldViewPr snapToGrid="0">
      <p:cViewPr varScale="1">
        <p:scale>
          <a:sx n="76" d="100"/>
          <a:sy n="76" d="100"/>
        </p:scale>
        <p:origin x="-1368"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5E65B2-C26C-4772-8090-D23CAD6FF382}" type="datetimeFigureOut">
              <a:rPr lang="zh-TW" altLang="en-US" smtClean="0"/>
              <a:t>2015/3/2</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58655-8CE1-4ACA-8838-7FFA789CDD7B}" type="slidenum">
              <a:rPr lang="zh-TW" altLang="en-US" smtClean="0"/>
              <a:t>‹#›</a:t>
            </a:fld>
            <a:endParaRPr lang="zh-TW" altLang="en-US"/>
          </a:p>
        </p:txBody>
      </p:sp>
    </p:spTree>
    <p:extLst>
      <p:ext uri="{BB962C8B-B14F-4D97-AF65-F5344CB8AC3E}">
        <p14:creationId xmlns:p14="http://schemas.microsoft.com/office/powerpoint/2010/main" val="2167756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mtClean="0"/>
              <a:t>ACPI  -  Advance</a:t>
            </a:r>
            <a:r>
              <a:rPr lang="en-US" altLang="zh-TW" baseline="0" smtClean="0"/>
              <a:t> Configuration and Power Interface     Intel.</a:t>
            </a:r>
            <a:endParaRPr lang="zh-TW" altLang="en-US"/>
          </a:p>
        </p:txBody>
      </p:sp>
      <p:sp>
        <p:nvSpPr>
          <p:cNvPr id="4" name="投影片編號版面配置區 3"/>
          <p:cNvSpPr>
            <a:spLocks noGrp="1"/>
          </p:cNvSpPr>
          <p:nvPr>
            <p:ph type="sldNum" sz="quarter" idx="10"/>
          </p:nvPr>
        </p:nvSpPr>
        <p:spPr/>
        <p:txBody>
          <a:bodyPr/>
          <a:lstStyle/>
          <a:p>
            <a:fld id="{DC058655-8CE1-4ACA-8838-7FFA789CDD7B}" type="slidenum">
              <a:rPr lang="zh-TW" altLang="en-US" smtClean="0"/>
              <a:t>84</a:t>
            </a:fld>
            <a:endParaRPr lang="zh-TW" altLang="en-US"/>
          </a:p>
        </p:txBody>
      </p:sp>
    </p:spTree>
    <p:extLst>
      <p:ext uri="{BB962C8B-B14F-4D97-AF65-F5344CB8AC3E}">
        <p14:creationId xmlns:p14="http://schemas.microsoft.com/office/powerpoint/2010/main" val="2347058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dirty="0"/>
          </a:p>
        </p:txBody>
      </p:sp>
      <p:sp>
        <p:nvSpPr>
          <p:cNvPr id="3" name="內容版面配置區 2"/>
          <p:cNvSpPr>
            <a:spLocks noGrp="1"/>
          </p:cNvSpPr>
          <p:nvPr>
            <p:ph idx="1"/>
          </p:nvPr>
        </p:nvSpPr>
        <p:spPr/>
        <p:txBody>
          <a:bodyPr/>
          <a:lstStyle>
            <a:lvl3pPr>
              <a:defRPr sz="1500">
                <a:latin typeface="Calibri" pitchFamily="34" charset="0"/>
                <a:ea typeface="標楷體" pitchFamily="65" charset="-120"/>
                <a:cs typeface="Calibri" pitchFamily="34" charset="0"/>
              </a:defRPr>
            </a:lvl3pPr>
            <a:lvl4pPr>
              <a:defRPr sz="1350">
                <a:latin typeface="Calibri" pitchFamily="34" charset="0"/>
                <a:ea typeface="標楷體" pitchFamily="65" charset="-120"/>
                <a:cs typeface="Calibri" pitchFamily="34" charset="0"/>
              </a:defRPr>
            </a:lvl4pPr>
            <a:lvl5pPr>
              <a:defRPr sz="1350">
                <a:latin typeface="Calibri" pitchFamily="34" charset="0"/>
                <a:ea typeface="標楷體" pitchFamily="65" charset="-120"/>
                <a:cs typeface="Calibri" pitchFamily="34" charset="0"/>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042411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smtClean="0"/>
              <a:t>按一下以編輯母片文字樣式</a:t>
            </a:r>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390882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726693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70691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2766958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897416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361283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185646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549674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73027"/>
            <a:ext cx="2057400" cy="1700213"/>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73027"/>
            <a:ext cx="6019800" cy="1700213"/>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617390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73027"/>
            <a:ext cx="8229600" cy="170021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387090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68313" y="73025"/>
            <a:ext cx="4248150" cy="69215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125538"/>
            <a:ext cx="8229600" cy="647700"/>
          </a:xfrm>
        </p:spPr>
        <p:txBody>
          <a:bodyPr/>
          <a:lstStyle/>
          <a:p>
            <a:pPr lvl="0"/>
            <a:r>
              <a:rPr lang="zh-TW" altLang="en-US" noProof="0" smtClean="0"/>
              <a:t>按一下圖示以新增表格</a:t>
            </a:r>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784777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7"/>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TW" altLang="en-US" smtClean="0"/>
              <a:t>按一下以編輯母片副標題樣式</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443044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em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1" descr="清大LOGO(鳥)"/>
          <p:cNvPicPr>
            <a:picLocks noChangeAspect="1" noChangeArrowheads="1"/>
          </p:cNvPicPr>
          <p:nvPr/>
        </p:nvPicPr>
        <p:blipFill>
          <a:blip r:embed="rId15" cstate="print">
            <a:lum bright="70000" contrast="-70000"/>
          </a:blip>
          <a:srcRect/>
          <a:stretch>
            <a:fillRect/>
          </a:stretch>
        </p:blipFill>
        <p:spPr bwMode="auto">
          <a:xfrm>
            <a:off x="0" y="30163"/>
            <a:ext cx="1619250" cy="806450"/>
          </a:xfrm>
          <a:prstGeom prst="rect">
            <a:avLst/>
          </a:prstGeom>
          <a:noFill/>
          <a:ln w="9525">
            <a:noFill/>
            <a:miter lim="800000"/>
            <a:headEnd/>
            <a:tailEnd/>
          </a:ln>
        </p:spPr>
      </p:pic>
      <p:sp>
        <p:nvSpPr>
          <p:cNvPr id="1027" name="Rectangle 17"/>
          <p:cNvSpPr>
            <a:spLocks noGrp="1" noChangeArrowheads="1"/>
          </p:cNvSpPr>
          <p:nvPr>
            <p:ph type="title"/>
          </p:nvPr>
        </p:nvSpPr>
        <p:spPr bwMode="auto">
          <a:xfrm>
            <a:off x="468314" y="144463"/>
            <a:ext cx="8207375" cy="6921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smtClean="0"/>
              <a:t>按一下以編輯母片標題樣式</a:t>
            </a:r>
          </a:p>
        </p:txBody>
      </p:sp>
      <p:sp>
        <p:nvSpPr>
          <p:cNvPr id="1028" name="Rectangle 18"/>
          <p:cNvSpPr>
            <a:spLocks noGrp="1" noChangeArrowheads="1"/>
          </p:cNvSpPr>
          <p:nvPr>
            <p:ph type="body" idx="1"/>
          </p:nvPr>
        </p:nvSpPr>
        <p:spPr bwMode="auto">
          <a:xfrm>
            <a:off x="457200"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smtClean="0"/>
              <a:t>按一下以編輯母片</a:t>
            </a:r>
          </a:p>
          <a:p>
            <a:pPr lvl="1"/>
            <a:r>
              <a:rPr lang="zh-TW" altLang="en-US" dirty="0" smtClean="0"/>
              <a:t>按一下以編輯母片</a:t>
            </a:r>
          </a:p>
          <a:p>
            <a:pPr lvl="1"/>
            <a:endParaRPr lang="zh-TW" altLang="en-US" dirty="0" smtClean="0"/>
          </a:p>
          <a:p>
            <a:pPr lvl="0"/>
            <a:endParaRPr lang="en-US" altLang="zh-TW" dirty="0" smtClean="0"/>
          </a:p>
        </p:txBody>
      </p:sp>
      <p:pic>
        <p:nvPicPr>
          <p:cNvPr id="1029" name="Picture 25" descr="name"/>
          <p:cNvPicPr>
            <a:picLocks noChangeAspect="1" noChangeArrowheads="1"/>
          </p:cNvPicPr>
          <p:nvPr/>
        </p:nvPicPr>
        <p:blipFill>
          <a:blip r:embed="rId16" cstate="print"/>
          <a:srcRect/>
          <a:stretch>
            <a:fillRect/>
          </a:stretch>
        </p:blipFill>
        <p:spPr bwMode="auto">
          <a:xfrm>
            <a:off x="1" y="6357940"/>
            <a:ext cx="3833813" cy="198437"/>
          </a:xfrm>
          <a:prstGeom prst="rect">
            <a:avLst/>
          </a:prstGeom>
          <a:noFill/>
          <a:ln w="9525">
            <a:noFill/>
            <a:miter lim="800000"/>
            <a:headEnd/>
            <a:tailEnd/>
          </a:ln>
        </p:spPr>
      </p:pic>
      <p:sp>
        <p:nvSpPr>
          <p:cNvPr id="8" name="矩形 7"/>
          <p:cNvSpPr/>
          <p:nvPr/>
        </p:nvSpPr>
        <p:spPr>
          <a:xfrm>
            <a:off x="569245" y="6581776"/>
            <a:ext cx="2731838"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1"/>
            <a:ext cx="9144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ea typeface="新細明體" pitchFamily="18" charset="-120"/>
            </a:endParaRPr>
          </a:p>
        </p:txBody>
      </p:sp>
      <p:sp>
        <p:nvSpPr>
          <p:cNvPr id="4106" name="Rectangle 10"/>
          <p:cNvSpPr>
            <a:spLocks noChangeArrowheads="1"/>
          </p:cNvSpPr>
          <p:nvPr/>
        </p:nvSpPr>
        <p:spPr bwMode="auto">
          <a:xfrm>
            <a:off x="0" y="6165850"/>
            <a:ext cx="9144000" cy="719138"/>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ea typeface="新細明體" pitchFamily="18" charset="-120"/>
            </a:endParaRPr>
          </a:p>
        </p:txBody>
      </p:sp>
      <p:sp>
        <p:nvSpPr>
          <p:cNvPr id="1043" name="Rectangle 19"/>
          <p:cNvSpPr>
            <a:spLocks noGrp="1" noChangeArrowheads="1"/>
          </p:cNvSpPr>
          <p:nvPr>
            <p:ph type="sldNum" sz="quarter" idx="4"/>
          </p:nvPr>
        </p:nvSpPr>
        <p:spPr bwMode="auto">
          <a:xfrm>
            <a:off x="6831013" y="6524627"/>
            <a:ext cx="21336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latin typeface="Arial" pitchFamily="34" charset="0"/>
                <a:ea typeface="新細明體" pitchFamily="18" charset="-120"/>
              </a:defRPr>
            </a:lvl1pPr>
          </a:lstStyle>
          <a:p>
            <a:fld id="{0CEDBC1A-3146-49B8-886C-F32E59ACB08E}" type="slidenum">
              <a:rPr lang="zh-TW" altLang="en-US" smtClean="0"/>
              <a:t>‹#›</a:t>
            </a:fld>
            <a:endParaRPr lang="zh-TW" altLang="en-US"/>
          </a:p>
        </p:txBody>
      </p:sp>
      <p:pic>
        <p:nvPicPr>
          <p:cNvPr id="1034" name="Picture 13" descr="清大LOGO(圓)"/>
          <p:cNvPicPr>
            <a:picLocks noChangeAspect="1" noChangeArrowheads="1"/>
          </p:cNvPicPr>
          <p:nvPr/>
        </p:nvPicPr>
        <p:blipFill>
          <a:blip r:embed="rId17" cstate="print"/>
          <a:srcRect/>
          <a:stretch>
            <a:fillRect/>
          </a:stretch>
        </p:blipFill>
        <p:spPr bwMode="auto">
          <a:xfrm>
            <a:off x="1" y="6181727"/>
            <a:ext cx="684213" cy="676275"/>
          </a:xfrm>
          <a:prstGeom prst="rect">
            <a:avLst/>
          </a:prstGeom>
          <a:noFill/>
          <a:ln w="9525">
            <a:noFill/>
            <a:miter lim="800000"/>
            <a:headEnd/>
            <a:tailEnd/>
          </a:ln>
        </p:spPr>
      </p:pic>
      <p:pic>
        <p:nvPicPr>
          <p:cNvPr id="1035" name="Picture 14" descr="清大書法字 "/>
          <p:cNvPicPr>
            <a:picLocks noChangeAspect="1" noChangeArrowheads="1"/>
          </p:cNvPicPr>
          <p:nvPr/>
        </p:nvPicPr>
        <p:blipFill>
          <a:blip r:embed="rId18" cstate="print"/>
          <a:srcRect/>
          <a:stretch>
            <a:fillRect/>
          </a:stretch>
        </p:blipFill>
        <p:spPr bwMode="auto">
          <a:xfrm>
            <a:off x="755651" y="6237288"/>
            <a:ext cx="2087563" cy="323850"/>
          </a:xfrm>
          <a:prstGeom prst="rect">
            <a:avLst/>
          </a:prstGeom>
          <a:noFill/>
          <a:ln w="9525">
            <a:noFill/>
            <a:miter lim="800000"/>
            <a:headEnd/>
            <a:tailEnd/>
          </a:ln>
        </p:spPr>
      </p:pic>
      <p:sp>
        <p:nvSpPr>
          <p:cNvPr id="4111" name="Text Box 15"/>
          <p:cNvSpPr txBox="1">
            <a:spLocks noChangeArrowheads="1"/>
          </p:cNvSpPr>
          <p:nvPr/>
        </p:nvSpPr>
        <p:spPr bwMode="auto">
          <a:xfrm>
            <a:off x="682626" y="6580188"/>
            <a:ext cx="1963999" cy="253916"/>
          </a:xfrm>
          <a:prstGeom prst="rect">
            <a:avLst/>
          </a:prstGeom>
          <a:noFill/>
          <a:ln w="15875">
            <a:noFill/>
            <a:miter lim="800000"/>
            <a:headEnd/>
            <a:tailEnd/>
          </a:ln>
          <a:effectLst>
            <a:prstShdw prst="shdw18" dist="17961" dir="13500000">
              <a:schemeClr val="accent1">
                <a:gamma/>
                <a:shade val="60000"/>
                <a:invGamma/>
              </a:schemeClr>
            </a:prstShdw>
          </a:effectLst>
        </p:spPr>
        <p:txBody>
          <a:bodyPr wrap="none">
            <a:spAutoFit/>
          </a:bodyPr>
          <a:lstStyle/>
          <a:p>
            <a:pPr>
              <a:defRPr/>
            </a:pPr>
            <a:r>
              <a:rPr lang="en-US" altLang="zh-TW" sz="1050">
                <a:solidFill>
                  <a:schemeClr val="bg1"/>
                </a:solidFill>
                <a:latin typeface="Arial" pitchFamily="34" charset="0"/>
                <a:ea typeface="新細明體" pitchFamily="18" charset="-120"/>
              </a:rPr>
              <a:t>National Tsing Hua University</a:t>
            </a:r>
          </a:p>
        </p:txBody>
      </p:sp>
      <p:pic>
        <p:nvPicPr>
          <p:cNvPr id="13" name="圖片 1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376697" y="151801"/>
            <a:ext cx="1659800" cy="684812"/>
          </a:xfrm>
          <a:prstGeom prst="rect">
            <a:avLst/>
          </a:prstGeom>
        </p:spPr>
      </p:pic>
    </p:spTree>
    <p:extLst>
      <p:ext uri="{BB962C8B-B14F-4D97-AF65-F5344CB8AC3E}">
        <p14:creationId xmlns:p14="http://schemas.microsoft.com/office/powerpoint/2010/main" val="3125321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txStyles>
    <p:title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63682" y="2130427"/>
            <a:ext cx="8458200" cy="1470025"/>
          </a:xfrm>
        </p:spPr>
        <p:txBody>
          <a:bodyPr/>
          <a:lstStyle/>
          <a:p>
            <a:pPr algn="ctr"/>
            <a:r>
              <a:rPr lang="en-US" altLang="zh-TW" sz="3600" dirty="0">
                <a:latin typeface="Times New Roman" panose="02020603050405020304" pitchFamily="18" charset="0"/>
                <a:cs typeface="Times New Roman" panose="02020603050405020304" pitchFamily="18" charset="0"/>
              </a:rPr>
              <a:t>HSA </a:t>
            </a:r>
            <a:r>
              <a:rPr lang="en-US" altLang="zh-TW" sz="3600">
                <a:latin typeface="Times New Roman" panose="02020603050405020304" pitchFamily="18" charset="0"/>
                <a:cs typeface="Times New Roman" panose="02020603050405020304" pitchFamily="18" charset="0"/>
              </a:rPr>
              <a:t>Hardware </a:t>
            </a:r>
            <a:r>
              <a:rPr lang="en-US" altLang="zh-TW" sz="3600" smtClean="0">
                <a:latin typeface="Times New Roman" panose="02020603050405020304" pitchFamily="18" charset="0"/>
                <a:cs typeface="Times New Roman" panose="02020603050405020304" pitchFamily="18" charset="0"/>
              </a:rPr>
              <a:t>Specification</a:t>
            </a:r>
            <a:endParaRPr lang="zh-TW" altLang="en-US" sz="36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p:txBody>
          <a:bodyPr/>
          <a:lstStyle/>
          <a:p>
            <a:r>
              <a:rPr lang="en-US" altLang="zh-TW" smtClean="0"/>
              <a:t>Instructor</a:t>
            </a:r>
            <a:r>
              <a:rPr lang="en-US" altLang="zh-TW" dirty="0" smtClean="0"/>
              <a:t>: </a:t>
            </a:r>
            <a:r>
              <a:rPr lang="en-US" altLang="zh-TW" dirty="0" err="1" smtClean="0"/>
              <a:t>Yeh-Ching</a:t>
            </a:r>
            <a:r>
              <a:rPr lang="en-US" altLang="zh-TW" dirty="0" smtClean="0"/>
              <a:t> Chung</a:t>
            </a:r>
          </a:p>
          <a:p>
            <a:r>
              <a:rPr lang="en-US" altLang="zh-TW" i="1" dirty="0" smtClean="0"/>
              <a:t>SSLAB</a:t>
            </a:r>
            <a:endParaRPr lang="en-US" altLang="zh-TW" i="1" dirty="0"/>
          </a:p>
        </p:txBody>
      </p:sp>
    </p:spTree>
    <p:extLst>
      <p:ext uri="{BB962C8B-B14F-4D97-AF65-F5344CB8AC3E}">
        <p14:creationId xmlns:p14="http://schemas.microsoft.com/office/powerpoint/2010/main" val="41151961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OutLine</a:t>
            </a:r>
            <a:endParaRPr lang="zh-TW" altLang="en-US"/>
          </a:p>
        </p:txBody>
      </p:sp>
      <p:sp>
        <p:nvSpPr>
          <p:cNvPr id="3" name="內容版面配置區 2"/>
          <p:cNvSpPr>
            <a:spLocks noGrp="1"/>
          </p:cNvSpPr>
          <p:nvPr>
            <p:ph idx="1"/>
          </p:nvPr>
        </p:nvSpPr>
        <p:spPr/>
        <p:txBody>
          <a:bodyPr/>
          <a:lstStyle/>
          <a:p>
            <a:r>
              <a:rPr lang="en-US" altLang="zh-TW" smtClean="0"/>
              <a:t>Introduction</a:t>
            </a:r>
          </a:p>
          <a:p>
            <a:endParaRPr lang="en-US" altLang="zh-TW"/>
          </a:p>
          <a:p>
            <a:r>
              <a:rPr lang="en-US" altLang="zh-TW" smtClean="0"/>
              <a:t>Heterogeneous System Architecture</a:t>
            </a:r>
          </a:p>
          <a:p>
            <a:endParaRPr lang="en-US" altLang="zh-TW"/>
          </a:p>
          <a:p>
            <a:r>
              <a:rPr lang="en-US" altLang="zh-TW" smtClean="0"/>
              <a:t>Q &amp; A</a:t>
            </a:r>
            <a:endParaRPr lang="zh-TW" altLang="en-US"/>
          </a:p>
        </p:txBody>
      </p:sp>
    </p:spTree>
    <p:extLst>
      <p:ext uri="{BB962C8B-B14F-4D97-AF65-F5344CB8AC3E}">
        <p14:creationId xmlns:p14="http://schemas.microsoft.com/office/powerpoint/2010/main" val="1625884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Intorduction</a:t>
            </a:r>
            <a:endParaRPr lang="zh-TW" altLang="en-US"/>
          </a:p>
        </p:txBody>
      </p:sp>
      <p:sp>
        <p:nvSpPr>
          <p:cNvPr id="3" name="內容版面配置區 2"/>
          <p:cNvSpPr>
            <a:spLocks noGrp="1"/>
          </p:cNvSpPr>
          <p:nvPr>
            <p:ph idx="1"/>
          </p:nvPr>
        </p:nvSpPr>
        <p:spPr/>
        <p:txBody>
          <a:bodyPr/>
          <a:lstStyle/>
          <a:p>
            <a:r>
              <a:rPr lang="en-US" altLang="zh-TW" dirty="0" smtClean="0"/>
              <a:t>There are three specifications proposed by HSA foundation:</a:t>
            </a:r>
          </a:p>
          <a:p>
            <a:endParaRPr lang="en-US" altLang="zh-TW" dirty="0"/>
          </a:p>
          <a:p>
            <a:pPr lvl="1"/>
            <a:r>
              <a:rPr lang="en-US" altLang="zh-TW" dirty="0" smtClean="0">
                <a:solidFill>
                  <a:srgbClr val="FF0000"/>
                </a:solidFill>
              </a:rPr>
              <a:t>HSA Platform System Architecture Specification</a:t>
            </a:r>
          </a:p>
          <a:p>
            <a:pPr lvl="1"/>
            <a:endParaRPr lang="en-US" altLang="zh-TW" dirty="0"/>
          </a:p>
          <a:p>
            <a:pPr lvl="1"/>
            <a:r>
              <a:rPr lang="en-US" altLang="zh-TW" dirty="0" smtClean="0"/>
              <a:t>HSA Programmers Reference Manual </a:t>
            </a:r>
          </a:p>
          <a:p>
            <a:pPr lvl="1"/>
            <a:endParaRPr lang="en-US" altLang="zh-TW" dirty="0"/>
          </a:p>
          <a:p>
            <a:pPr lvl="1"/>
            <a:r>
              <a:rPr lang="en-US" altLang="zh-TW" dirty="0" smtClean="0"/>
              <a:t>HSA Runtime</a:t>
            </a:r>
            <a:endParaRPr lang="zh-TW" altLang="en-US" dirty="0"/>
          </a:p>
        </p:txBody>
      </p:sp>
    </p:spTree>
    <p:extLst>
      <p:ext uri="{BB962C8B-B14F-4D97-AF65-F5344CB8AC3E}">
        <p14:creationId xmlns:p14="http://schemas.microsoft.com/office/powerpoint/2010/main" val="4205048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 4"/>
          <p:cNvSpPr/>
          <p:nvPr/>
        </p:nvSpPr>
        <p:spPr bwMode="auto">
          <a:xfrm>
            <a:off x="215660" y="1164585"/>
            <a:ext cx="4779034"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6" name="內容版面配置區 5"/>
          <p:cNvSpPr>
            <a:spLocks noGrp="1"/>
          </p:cNvSpPr>
          <p:nvPr>
            <p:ph idx="1"/>
          </p:nvPr>
        </p:nvSpPr>
        <p:spPr bwMode="auto">
          <a:xfrm>
            <a:off x="6297283" y="1164585"/>
            <a:ext cx="2700068"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indent="0">
              <a:buNone/>
            </a:pPr>
            <a:endParaRPr lang="zh-TW" altLang="en-US" dirty="0"/>
          </a:p>
        </p:txBody>
      </p:sp>
      <p:sp>
        <p:nvSpPr>
          <p:cNvPr id="7" name="圓角矩形 6"/>
          <p:cNvSpPr/>
          <p:nvPr/>
        </p:nvSpPr>
        <p:spPr bwMode="auto">
          <a:xfrm>
            <a:off x="552092" y="3485090"/>
            <a:ext cx="4106172"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圓角矩形 7"/>
          <p:cNvSpPr/>
          <p:nvPr/>
        </p:nvSpPr>
        <p:spPr bwMode="auto">
          <a:xfrm>
            <a:off x="6787551" y="3485090"/>
            <a:ext cx="1719531"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9" name="文字方塊 8"/>
          <p:cNvSpPr txBox="1"/>
          <p:nvPr/>
        </p:nvSpPr>
        <p:spPr>
          <a:xfrm>
            <a:off x="1621767" y="3448553"/>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CPU memory(UMA)</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0" name="文字方塊 9"/>
          <p:cNvSpPr txBox="1"/>
          <p:nvPr/>
        </p:nvSpPr>
        <p:spPr>
          <a:xfrm>
            <a:off x="6556075" y="3434936"/>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GPU memory</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1" name="圓角矩形 10"/>
          <p:cNvSpPr/>
          <p:nvPr/>
        </p:nvSpPr>
        <p:spPr bwMode="auto">
          <a:xfrm>
            <a:off x="690113"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2" name="圓角矩形 11"/>
          <p:cNvSpPr/>
          <p:nvPr/>
        </p:nvSpPr>
        <p:spPr bwMode="auto">
          <a:xfrm>
            <a:off x="1488056"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3" name="圓角矩形 12"/>
          <p:cNvSpPr/>
          <p:nvPr/>
        </p:nvSpPr>
        <p:spPr bwMode="auto">
          <a:xfrm>
            <a:off x="2329135"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4" name="圓角矩形 13"/>
          <p:cNvSpPr/>
          <p:nvPr/>
        </p:nvSpPr>
        <p:spPr bwMode="auto">
          <a:xfrm>
            <a:off x="3925020"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5" name="圓角矩形 14"/>
          <p:cNvSpPr/>
          <p:nvPr/>
        </p:nvSpPr>
        <p:spPr bwMode="auto">
          <a:xfrm>
            <a:off x="6787551" y="1552773"/>
            <a:ext cx="1719531" cy="1242204"/>
          </a:xfrm>
          <a:prstGeom prst="roundRect">
            <a:avLst/>
          </a:prstGeom>
          <a:solidFill>
            <a:srgbClr val="C00000"/>
          </a:solidFill>
          <a:ln w="15875" cap="flat" cmpd="sng" algn="ctr">
            <a:solidFill>
              <a:srgbClr val="FF0000"/>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單箭頭接點 16"/>
          <p:cNvCxnSpPr>
            <a:stCxn id="11" idx="2"/>
          </p:cNvCxnSpPr>
          <p:nvPr/>
        </p:nvCxnSpPr>
        <p:spPr bwMode="auto">
          <a:xfrm flipH="1">
            <a:off x="1013603" y="2579317"/>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直線單箭頭接點 17"/>
          <p:cNvCxnSpPr/>
          <p:nvPr/>
        </p:nvCxnSpPr>
        <p:spPr bwMode="auto">
          <a:xfrm flipH="1">
            <a:off x="1827361" y="2579317"/>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9" name="直線單箭頭接點 18"/>
          <p:cNvCxnSpPr/>
          <p:nvPr/>
        </p:nvCxnSpPr>
        <p:spPr bwMode="auto">
          <a:xfrm flipH="1">
            <a:off x="2637529" y="2579317"/>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直線單箭頭接點 19"/>
          <p:cNvCxnSpPr/>
          <p:nvPr/>
        </p:nvCxnSpPr>
        <p:spPr bwMode="auto">
          <a:xfrm flipH="1">
            <a:off x="4248149" y="2540499"/>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1" name="直線單箭頭接點 20"/>
          <p:cNvCxnSpPr>
            <a:stCxn id="15" idx="2"/>
            <a:endCxn id="10" idx="0"/>
          </p:cNvCxnSpPr>
          <p:nvPr/>
        </p:nvCxnSpPr>
        <p:spPr bwMode="auto">
          <a:xfrm flipH="1">
            <a:off x="7647316" y="2794977"/>
            <a:ext cx="1" cy="639959"/>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9" name="文字方塊 28"/>
          <p:cNvSpPr txBox="1"/>
          <p:nvPr/>
        </p:nvSpPr>
        <p:spPr>
          <a:xfrm>
            <a:off x="3187462" y="1758377"/>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sp>
        <p:nvSpPr>
          <p:cNvPr id="30" name="文字方塊 29"/>
          <p:cNvSpPr txBox="1"/>
          <p:nvPr/>
        </p:nvSpPr>
        <p:spPr>
          <a:xfrm>
            <a:off x="685798" y="1691921"/>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31" name="文字方塊 30"/>
          <p:cNvSpPr txBox="1"/>
          <p:nvPr/>
        </p:nvSpPr>
        <p:spPr>
          <a:xfrm>
            <a:off x="1483741" y="1674669"/>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32" name="文字方塊 31"/>
          <p:cNvSpPr txBox="1"/>
          <p:nvPr/>
        </p:nvSpPr>
        <p:spPr>
          <a:xfrm>
            <a:off x="2320509" y="1671135"/>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33" name="文字方塊 32"/>
          <p:cNvSpPr txBox="1"/>
          <p:nvPr/>
        </p:nvSpPr>
        <p:spPr>
          <a:xfrm>
            <a:off x="3913875" y="1666043"/>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N</a:t>
            </a:r>
            <a:endParaRPr lang="zh-TW" altLang="en-US" dirty="0" smtClean="0">
              <a:ea typeface="標楷體" pitchFamily="65" charset="-120"/>
              <a:cs typeface="Calibri" pitchFamily="34" charset="0"/>
            </a:endParaRPr>
          </a:p>
        </p:txBody>
      </p:sp>
      <p:sp>
        <p:nvSpPr>
          <p:cNvPr id="34" name="文字方塊 33"/>
          <p:cNvSpPr txBox="1"/>
          <p:nvPr/>
        </p:nvSpPr>
        <p:spPr>
          <a:xfrm>
            <a:off x="7245108" y="1943042"/>
            <a:ext cx="804415" cy="369332"/>
          </a:xfrm>
          <a:prstGeom prst="rect">
            <a:avLst/>
          </a:prstGeom>
          <a:noFill/>
        </p:spPr>
        <p:txBody>
          <a:bodyPr wrap="square" rtlCol="0" anchor="ctr" anchorCtr="1">
            <a:spAutoFit/>
          </a:bodyPr>
          <a:lstStyle/>
          <a:p>
            <a:r>
              <a:rPr lang="en-US" altLang="zh-TW" dirty="0" smtClean="0">
                <a:solidFill>
                  <a:schemeClr val="bg1"/>
                </a:solidFill>
                <a:ea typeface="標楷體" pitchFamily="65" charset="-120"/>
                <a:cs typeface="Calibri" pitchFamily="34" charset="0"/>
              </a:rPr>
              <a:t>GPU</a:t>
            </a:r>
            <a:endParaRPr lang="zh-TW" altLang="en-US" dirty="0" smtClean="0">
              <a:solidFill>
                <a:schemeClr val="bg1"/>
              </a:solidFill>
              <a:ea typeface="標楷體" pitchFamily="65" charset="-120"/>
              <a:cs typeface="Calibri" pitchFamily="34" charset="0"/>
            </a:endParaRPr>
          </a:p>
        </p:txBody>
      </p:sp>
      <p:cxnSp>
        <p:nvCxnSpPr>
          <p:cNvPr id="36" name="直線單箭頭接點 35"/>
          <p:cNvCxnSpPr>
            <a:stCxn id="5" idx="3"/>
            <a:endCxn id="6" idx="1"/>
          </p:cNvCxnSpPr>
          <p:nvPr/>
        </p:nvCxnSpPr>
        <p:spPr bwMode="auto">
          <a:xfrm>
            <a:off x="4994694" y="2579317"/>
            <a:ext cx="1302589" cy="0"/>
          </a:xfrm>
          <a:prstGeom prst="straightConnector1">
            <a:avLst/>
          </a:prstGeom>
          <a:noFill/>
          <a:ln w="15875" cap="flat" cmpd="sng" algn="ctr">
            <a:solidFill>
              <a:schemeClr val="tx1"/>
            </a:solidFill>
            <a:prstDash val="solid"/>
            <a:round/>
            <a:headEnd type="triangle"/>
            <a:tailEnd type="triangle"/>
          </a:ln>
          <a:effectLst/>
        </p:spPr>
      </p:cxnSp>
      <p:sp>
        <p:nvSpPr>
          <p:cNvPr id="37" name="文字方塊 36"/>
          <p:cNvSpPr txBox="1"/>
          <p:nvPr/>
        </p:nvSpPr>
        <p:spPr>
          <a:xfrm>
            <a:off x="5183755" y="2203264"/>
            <a:ext cx="931653" cy="369332"/>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PCI-e</a:t>
            </a:r>
            <a:endParaRPr lang="zh-TW" altLang="en-US" dirty="0" smtClean="0">
              <a:ea typeface="標楷體" pitchFamily="65" charset="-120"/>
              <a:cs typeface="Calibri" pitchFamily="34" charset="0"/>
            </a:endParaRPr>
          </a:p>
        </p:txBody>
      </p:sp>
      <p:sp>
        <p:nvSpPr>
          <p:cNvPr id="2" name="標題 1"/>
          <p:cNvSpPr>
            <a:spLocks noGrp="1"/>
          </p:cNvSpPr>
          <p:nvPr>
            <p:ph type="title"/>
          </p:nvPr>
        </p:nvSpPr>
        <p:spPr/>
        <p:txBody>
          <a:bodyPr/>
          <a:lstStyle/>
          <a:p>
            <a:r>
              <a:rPr lang="en-US" altLang="zh-TW" dirty="0" smtClean="0"/>
              <a:t>Traditional system with CPU and GPU</a:t>
            </a:r>
            <a:endParaRPr lang="zh-TW" altLang="en-US" dirty="0"/>
          </a:p>
        </p:txBody>
      </p:sp>
      <p:sp>
        <p:nvSpPr>
          <p:cNvPr id="39" name="標題 1"/>
          <p:cNvSpPr txBox="1">
            <a:spLocks/>
          </p:cNvSpPr>
          <p:nvPr/>
        </p:nvSpPr>
        <p:spPr bwMode="auto">
          <a:xfrm>
            <a:off x="114739" y="4212063"/>
            <a:ext cx="8882612" cy="1774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For heavy compute bound process</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Slow transition speed through PCI-e bus</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Need advance programming skill</a:t>
            </a:r>
            <a:endParaRPr lang="zh-TW" altLang="en-US" sz="2400" b="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68459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APU</a:t>
            </a:r>
            <a:endParaRPr lang="zh-TW" altLang="en-US" dirty="0"/>
          </a:p>
        </p:txBody>
      </p:sp>
      <p:sp>
        <p:nvSpPr>
          <p:cNvPr id="5" name="圓角矩形 4"/>
          <p:cNvSpPr/>
          <p:nvPr/>
        </p:nvSpPr>
        <p:spPr bwMode="auto">
          <a:xfrm>
            <a:off x="215660" y="1199078"/>
            <a:ext cx="8522898"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7" name="圓角矩形 6"/>
          <p:cNvSpPr/>
          <p:nvPr/>
        </p:nvSpPr>
        <p:spPr bwMode="auto">
          <a:xfrm>
            <a:off x="1013603" y="3442421"/>
            <a:ext cx="4554719"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圓角矩形 7"/>
          <p:cNvSpPr/>
          <p:nvPr/>
        </p:nvSpPr>
        <p:spPr bwMode="auto">
          <a:xfrm>
            <a:off x="5581288" y="3442421"/>
            <a:ext cx="2265510"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9" name="文字方塊 8"/>
          <p:cNvSpPr txBox="1"/>
          <p:nvPr/>
        </p:nvSpPr>
        <p:spPr>
          <a:xfrm>
            <a:off x="2361474" y="3408718"/>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CPU memory(UMA)</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0" name="文字方塊 9"/>
          <p:cNvSpPr txBox="1"/>
          <p:nvPr/>
        </p:nvSpPr>
        <p:spPr>
          <a:xfrm>
            <a:off x="5616319" y="3382517"/>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GPU memory</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1" name="圓角矩形 10"/>
          <p:cNvSpPr/>
          <p:nvPr/>
        </p:nvSpPr>
        <p:spPr bwMode="auto">
          <a:xfrm>
            <a:off x="1216326"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2" name="圓角矩形 11"/>
          <p:cNvSpPr/>
          <p:nvPr/>
        </p:nvSpPr>
        <p:spPr bwMode="auto">
          <a:xfrm>
            <a:off x="2014269"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3" name="圓角矩形 12"/>
          <p:cNvSpPr/>
          <p:nvPr/>
        </p:nvSpPr>
        <p:spPr bwMode="auto">
          <a:xfrm>
            <a:off x="2872600"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dirty="0" smtClean="0">
              <a:ln>
                <a:noFill/>
              </a:ln>
              <a:solidFill>
                <a:schemeClr val="tx1"/>
              </a:solidFill>
              <a:effectLst/>
              <a:latin typeface="Arial" pitchFamily="34" charset="0"/>
              <a:ea typeface="新細明體" pitchFamily="18" charset="-120"/>
            </a:endParaRPr>
          </a:p>
        </p:txBody>
      </p:sp>
      <p:sp>
        <p:nvSpPr>
          <p:cNvPr id="14" name="圓角矩形 13"/>
          <p:cNvSpPr/>
          <p:nvPr/>
        </p:nvSpPr>
        <p:spPr bwMode="auto">
          <a:xfrm>
            <a:off x="4166561"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5" name="圓角矩形 14"/>
          <p:cNvSpPr/>
          <p:nvPr/>
        </p:nvSpPr>
        <p:spPr bwMode="auto">
          <a:xfrm>
            <a:off x="5756683" y="1476953"/>
            <a:ext cx="1719531" cy="1242204"/>
          </a:xfrm>
          <a:prstGeom prst="roundRect">
            <a:avLst/>
          </a:prstGeom>
          <a:solidFill>
            <a:srgbClr val="C00000"/>
          </a:solidFill>
          <a:ln w="15875" cap="flat" cmpd="sng" algn="ctr">
            <a:solidFill>
              <a:srgbClr val="FF0000"/>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單箭頭接點 16"/>
          <p:cNvCxnSpPr>
            <a:stCxn id="11" idx="2"/>
          </p:cNvCxnSpPr>
          <p:nvPr/>
        </p:nvCxnSpPr>
        <p:spPr bwMode="auto">
          <a:xfrm flipH="1">
            <a:off x="1539816" y="2536176"/>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直線單箭頭接點 17"/>
          <p:cNvCxnSpPr/>
          <p:nvPr/>
        </p:nvCxnSpPr>
        <p:spPr bwMode="auto">
          <a:xfrm flipH="1">
            <a:off x="2337758" y="2515739"/>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9" name="直線單箭頭接點 18"/>
          <p:cNvCxnSpPr/>
          <p:nvPr/>
        </p:nvCxnSpPr>
        <p:spPr bwMode="auto">
          <a:xfrm flipH="1">
            <a:off x="3196090" y="2533114"/>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直線單箭頭接點 19"/>
          <p:cNvCxnSpPr/>
          <p:nvPr/>
        </p:nvCxnSpPr>
        <p:spPr bwMode="auto">
          <a:xfrm flipH="1">
            <a:off x="4514486" y="2489202"/>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1" name="直線單箭頭接點 20"/>
          <p:cNvCxnSpPr/>
          <p:nvPr/>
        </p:nvCxnSpPr>
        <p:spPr bwMode="auto">
          <a:xfrm>
            <a:off x="6612674" y="2687612"/>
            <a:ext cx="2696" cy="72933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9" name="文字方塊 28"/>
          <p:cNvSpPr txBox="1"/>
          <p:nvPr/>
        </p:nvSpPr>
        <p:spPr>
          <a:xfrm>
            <a:off x="3575659" y="1715236"/>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sp>
        <p:nvSpPr>
          <p:cNvPr id="30" name="文字方塊 29"/>
          <p:cNvSpPr txBox="1"/>
          <p:nvPr/>
        </p:nvSpPr>
        <p:spPr>
          <a:xfrm>
            <a:off x="1212011" y="1648780"/>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31" name="文字方塊 30"/>
          <p:cNvSpPr txBox="1"/>
          <p:nvPr/>
        </p:nvSpPr>
        <p:spPr>
          <a:xfrm>
            <a:off x="2009954" y="1631528"/>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32" name="文字方塊 31"/>
          <p:cNvSpPr txBox="1"/>
          <p:nvPr/>
        </p:nvSpPr>
        <p:spPr>
          <a:xfrm>
            <a:off x="2863974" y="1627994"/>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33" name="文字方塊 32"/>
          <p:cNvSpPr txBox="1"/>
          <p:nvPr/>
        </p:nvSpPr>
        <p:spPr>
          <a:xfrm>
            <a:off x="4155416" y="1622902"/>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N</a:t>
            </a:r>
            <a:endParaRPr lang="zh-TW" altLang="en-US" dirty="0" smtClean="0">
              <a:ea typeface="標楷體" pitchFamily="65" charset="-120"/>
              <a:cs typeface="Calibri" pitchFamily="34" charset="0"/>
            </a:endParaRPr>
          </a:p>
        </p:txBody>
      </p:sp>
      <p:sp>
        <p:nvSpPr>
          <p:cNvPr id="34" name="文字方塊 33"/>
          <p:cNvSpPr txBox="1"/>
          <p:nvPr/>
        </p:nvSpPr>
        <p:spPr>
          <a:xfrm>
            <a:off x="6213163" y="1899901"/>
            <a:ext cx="804415" cy="369332"/>
          </a:xfrm>
          <a:prstGeom prst="rect">
            <a:avLst/>
          </a:prstGeom>
          <a:noFill/>
        </p:spPr>
        <p:txBody>
          <a:bodyPr wrap="square" rtlCol="0" anchor="ctr" anchorCtr="1">
            <a:spAutoFit/>
          </a:bodyPr>
          <a:lstStyle/>
          <a:p>
            <a:r>
              <a:rPr lang="en-US" altLang="zh-TW" dirty="0" smtClean="0">
                <a:solidFill>
                  <a:schemeClr val="bg1"/>
                </a:solidFill>
                <a:ea typeface="標楷體" pitchFamily="65" charset="-120"/>
                <a:cs typeface="Calibri" pitchFamily="34" charset="0"/>
              </a:rPr>
              <a:t>GPU</a:t>
            </a:r>
            <a:endParaRPr lang="zh-TW" altLang="en-US" dirty="0" smtClean="0">
              <a:solidFill>
                <a:schemeClr val="bg1"/>
              </a:solidFill>
              <a:ea typeface="標楷體" pitchFamily="65" charset="-120"/>
              <a:cs typeface="Calibri" pitchFamily="34" charset="0"/>
            </a:endParaRPr>
          </a:p>
        </p:txBody>
      </p:sp>
      <p:sp>
        <p:nvSpPr>
          <p:cNvPr id="24" name="左-右雙向箭號 23"/>
          <p:cNvSpPr/>
          <p:nvPr/>
        </p:nvSpPr>
        <p:spPr bwMode="auto">
          <a:xfrm>
            <a:off x="4884346" y="1899901"/>
            <a:ext cx="811955" cy="277000"/>
          </a:xfrm>
          <a:prstGeom prst="leftRightArrow">
            <a:avLst/>
          </a:prstGeom>
          <a:solidFill>
            <a:schemeClr val="bg1"/>
          </a:solidFill>
          <a:ln w="1587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5" name="文字方塊 34"/>
          <p:cNvSpPr txBox="1"/>
          <p:nvPr/>
        </p:nvSpPr>
        <p:spPr>
          <a:xfrm>
            <a:off x="4922266" y="1576735"/>
            <a:ext cx="736114" cy="369332"/>
          </a:xfrm>
          <a:prstGeom prst="rect">
            <a:avLst/>
          </a:prstGeom>
          <a:noFill/>
        </p:spPr>
        <p:txBody>
          <a:bodyPr wrap="square" rtlCol="0" anchor="ctr" anchorCtr="1">
            <a:spAutoFit/>
          </a:bodyPr>
          <a:lstStyle/>
          <a:p>
            <a:r>
              <a:rPr lang="en-US" altLang="zh-TW" b="1" dirty="0" smtClean="0">
                <a:solidFill>
                  <a:schemeClr val="bg1"/>
                </a:solidFill>
                <a:ea typeface="標楷體" pitchFamily="65" charset="-120"/>
                <a:cs typeface="Calibri" pitchFamily="34" charset="0"/>
              </a:rPr>
              <a:t>BUS</a:t>
            </a:r>
            <a:endParaRPr lang="zh-TW" altLang="en-US" b="1" dirty="0" smtClean="0">
              <a:solidFill>
                <a:schemeClr val="bg1"/>
              </a:solidFill>
              <a:ea typeface="標楷體" pitchFamily="65" charset="-120"/>
              <a:cs typeface="Calibri" pitchFamily="34" charset="0"/>
            </a:endParaRPr>
          </a:p>
        </p:txBody>
      </p:sp>
      <p:sp>
        <p:nvSpPr>
          <p:cNvPr id="38" name="標題 1"/>
          <p:cNvSpPr txBox="1">
            <a:spLocks/>
          </p:cNvSpPr>
          <p:nvPr/>
        </p:nvSpPr>
        <p:spPr bwMode="auto">
          <a:xfrm>
            <a:off x="114739" y="4212063"/>
            <a:ext cx="8882612" cy="1774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First time CPU and GPU in the same die.</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The same physical memory address, but can’t be programmed.</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More high transition speed, make GPU to execute more instruction.</a:t>
            </a:r>
          </a:p>
          <a:p>
            <a:pPr marL="457200" indent="-457200">
              <a:buFont typeface="Arial" panose="020B0604020202020204" pitchFamily="34" charset="0"/>
              <a:buChar char="•"/>
            </a:pPr>
            <a:endParaRPr lang="en-US" altLang="zh-TW" sz="2400" b="0" kern="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0649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Heterogeneous Programming Issues</a:t>
            </a:r>
            <a:endParaRPr lang="zh-TW" altLang="en-US" dirty="0">
              <a:latin typeface="Times New Roman" panose="02020603050405020304" pitchFamily="18" charset="0"/>
              <a:cs typeface="Times New Roman" panose="02020603050405020304" pitchFamily="18" charset="0"/>
            </a:endParaRPr>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6871" y="1290248"/>
            <a:ext cx="6890259" cy="4597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字方塊 4"/>
          <p:cNvSpPr txBox="1"/>
          <p:nvPr/>
        </p:nvSpPr>
        <p:spPr>
          <a:xfrm>
            <a:off x="336430" y="1285560"/>
            <a:ext cx="2191110" cy="461665"/>
          </a:xfrm>
          <a:prstGeom prst="rect">
            <a:avLst/>
          </a:prstGeom>
          <a:noFill/>
        </p:spPr>
        <p:txBody>
          <a:bodyPr wrap="square" rtlCol="0" anchor="ctr" anchorCtr="1">
            <a:spAutoFit/>
          </a:bodyPr>
          <a:lstStyle/>
          <a:p>
            <a:r>
              <a:rPr lang="en-US" altLang="zh-TW" sz="2400" dirty="0" smtClean="0">
                <a:latin typeface="Times New Roman" panose="02020603050405020304" pitchFamily="18" charset="0"/>
                <a:ea typeface="標楷體" pitchFamily="65" charset="-120"/>
                <a:cs typeface="Times New Roman" panose="02020603050405020304" pitchFamily="18" charset="0"/>
              </a:rPr>
              <a:t>CUDA example</a:t>
            </a:r>
            <a:endParaRPr lang="zh-TW" altLang="en-US" sz="2400" dirty="0" smtClean="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055122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a:t>
            </a:r>
            <a:endParaRPr lang="zh-TW" altLang="en-US" dirty="0"/>
          </a:p>
        </p:txBody>
      </p:sp>
      <p:sp>
        <p:nvSpPr>
          <p:cNvPr id="5" name="圓角矩形 4"/>
          <p:cNvSpPr/>
          <p:nvPr/>
        </p:nvSpPr>
        <p:spPr bwMode="auto">
          <a:xfrm>
            <a:off x="215660" y="1199078"/>
            <a:ext cx="8522898"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7" name="圓角矩形 6"/>
          <p:cNvSpPr/>
          <p:nvPr/>
        </p:nvSpPr>
        <p:spPr bwMode="auto">
          <a:xfrm>
            <a:off x="769906" y="3445444"/>
            <a:ext cx="7414405"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9" name="文字方塊 8"/>
          <p:cNvSpPr txBox="1"/>
          <p:nvPr/>
        </p:nvSpPr>
        <p:spPr>
          <a:xfrm>
            <a:off x="2129646" y="3393682"/>
            <a:ext cx="4694926"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Heterogeneous Uniform Memory Access</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1" name="圓角矩形 10"/>
          <p:cNvSpPr/>
          <p:nvPr/>
        </p:nvSpPr>
        <p:spPr bwMode="auto">
          <a:xfrm>
            <a:off x="845392"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2" name="圓角矩形 11"/>
          <p:cNvSpPr/>
          <p:nvPr/>
        </p:nvSpPr>
        <p:spPr bwMode="auto">
          <a:xfrm>
            <a:off x="1643335"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3" name="圓角矩形 12"/>
          <p:cNvSpPr/>
          <p:nvPr/>
        </p:nvSpPr>
        <p:spPr bwMode="auto">
          <a:xfrm>
            <a:off x="2501666"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dirty="0" smtClean="0">
              <a:ln>
                <a:noFill/>
              </a:ln>
              <a:solidFill>
                <a:schemeClr val="tx1"/>
              </a:solidFill>
              <a:effectLst/>
              <a:latin typeface="Arial" pitchFamily="34" charset="0"/>
              <a:ea typeface="新細明體" pitchFamily="18" charset="-120"/>
            </a:endParaRPr>
          </a:p>
        </p:txBody>
      </p:sp>
      <p:sp>
        <p:nvSpPr>
          <p:cNvPr id="14" name="圓角矩形 13"/>
          <p:cNvSpPr/>
          <p:nvPr/>
        </p:nvSpPr>
        <p:spPr bwMode="auto">
          <a:xfrm>
            <a:off x="3795627"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單箭頭接點 16"/>
          <p:cNvCxnSpPr>
            <a:stCxn id="11" idx="2"/>
          </p:cNvCxnSpPr>
          <p:nvPr/>
        </p:nvCxnSpPr>
        <p:spPr bwMode="auto">
          <a:xfrm flipH="1">
            <a:off x="1168882" y="2536176"/>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直線單箭頭接點 17"/>
          <p:cNvCxnSpPr/>
          <p:nvPr/>
        </p:nvCxnSpPr>
        <p:spPr bwMode="auto">
          <a:xfrm flipH="1">
            <a:off x="1966824" y="2515739"/>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9" name="直線單箭頭接點 18"/>
          <p:cNvCxnSpPr/>
          <p:nvPr/>
        </p:nvCxnSpPr>
        <p:spPr bwMode="auto">
          <a:xfrm flipH="1">
            <a:off x="2825156" y="2533114"/>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直線單箭頭接點 19"/>
          <p:cNvCxnSpPr/>
          <p:nvPr/>
        </p:nvCxnSpPr>
        <p:spPr bwMode="auto">
          <a:xfrm>
            <a:off x="4140681" y="2533114"/>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9" name="文字方塊 28"/>
          <p:cNvSpPr txBox="1"/>
          <p:nvPr/>
        </p:nvSpPr>
        <p:spPr>
          <a:xfrm>
            <a:off x="3204725" y="1715236"/>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sp>
        <p:nvSpPr>
          <p:cNvPr id="30" name="文字方塊 29"/>
          <p:cNvSpPr txBox="1"/>
          <p:nvPr/>
        </p:nvSpPr>
        <p:spPr>
          <a:xfrm>
            <a:off x="841077" y="1648780"/>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31" name="文字方塊 30"/>
          <p:cNvSpPr txBox="1"/>
          <p:nvPr/>
        </p:nvSpPr>
        <p:spPr>
          <a:xfrm>
            <a:off x="1639020" y="1631528"/>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32" name="文字方塊 31"/>
          <p:cNvSpPr txBox="1"/>
          <p:nvPr/>
        </p:nvSpPr>
        <p:spPr>
          <a:xfrm>
            <a:off x="2493040" y="1627994"/>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33" name="文字方塊 32"/>
          <p:cNvSpPr txBox="1"/>
          <p:nvPr/>
        </p:nvSpPr>
        <p:spPr>
          <a:xfrm>
            <a:off x="3784482" y="1622902"/>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N</a:t>
            </a:r>
            <a:endParaRPr lang="zh-TW" altLang="en-US" dirty="0" smtClean="0">
              <a:ea typeface="標楷體" pitchFamily="65" charset="-120"/>
              <a:cs typeface="Calibri" pitchFamily="34" charset="0"/>
            </a:endParaRPr>
          </a:p>
        </p:txBody>
      </p:sp>
      <p:sp>
        <p:nvSpPr>
          <p:cNvPr id="38" name="標題 1"/>
          <p:cNvSpPr txBox="1">
            <a:spLocks/>
          </p:cNvSpPr>
          <p:nvPr/>
        </p:nvSpPr>
        <p:spPr bwMode="auto">
          <a:xfrm>
            <a:off x="114739" y="4212063"/>
            <a:ext cx="8882612" cy="1774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UMA design can make all CUs access the same data.</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Applications can choose favor CU.</a:t>
            </a:r>
          </a:p>
          <a:p>
            <a:pPr marL="457200" indent="-457200">
              <a:buFont typeface="Arial" panose="020B0604020202020204" pitchFamily="34" charset="0"/>
              <a:buChar char="•"/>
            </a:pPr>
            <a:endParaRPr lang="en-US" altLang="zh-TW" sz="2400" b="0" kern="0" dirty="0" smtClean="0">
              <a:latin typeface="Times New Roman" panose="02020603050405020304" pitchFamily="18" charset="0"/>
              <a:cs typeface="Times New Roman" panose="02020603050405020304" pitchFamily="18" charset="0"/>
            </a:endParaRPr>
          </a:p>
        </p:txBody>
      </p:sp>
      <p:sp>
        <p:nvSpPr>
          <p:cNvPr id="4" name="圓角矩形 3"/>
          <p:cNvSpPr/>
          <p:nvPr/>
        </p:nvSpPr>
        <p:spPr bwMode="auto">
          <a:xfrm>
            <a:off x="4699595" y="1527005"/>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6" name="圓角矩形 35"/>
          <p:cNvSpPr/>
          <p:nvPr/>
        </p:nvSpPr>
        <p:spPr bwMode="auto">
          <a:xfrm>
            <a:off x="5560431" y="1527005"/>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7" name="圓角矩形 36"/>
          <p:cNvSpPr/>
          <p:nvPr/>
        </p:nvSpPr>
        <p:spPr bwMode="auto">
          <a:xfrm>
            <a:off x="6422345" y="1519850"/>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9" name="圓角矩形 38"/>
          <p:cNvSpPr/>
          <p:nvPr/>
        </p:nvSpPr>
        <p:spPr bwMode="auto">
          <a:xfrm>
            <a:off x="7474802" y="1527005"/>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42" name="文字方塊 41"/>
          <p:cNvSpPr txBox="1"/>
          <p:nvPr/>
        </p:nvSpPr>
        <p:spPr>
          <a:xfrm>
            <a:off x="4634600" y="1620775"/>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smtClean="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46" name="文字方塊 45"/>
          <p:cNvSpPr txBox="1"/>
          <p:nvPr/>
        </p:nvSpPr>
        <p:spPr>
          <a:xfrm>
            <a:off x="6996739" y="1667137"/>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cxnSp>
        <p:nvCxnSpPr>
          <p:cNvPr id="47" name="直線單箭頭接點 46"/>
          <p:cNvCxnSpPr/>
          <p:nvPr/>
        </p:nvCxnSpPr>
        <p:spPr bwMode="auto">
          <a:xfrm>
            <a:off x="4998299" y="2525957"/>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8" name="直線單箭頭接點 47"/>
          <p:cNvCxnSpPr/>
          <p:nvPr/>
        </p:nvCxnSpPr>
        <p:spPr bwMode="auto">
          <a:xfrm>
            <a:off x="5866140" y="2538976"/>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9" name="直線單箭頭接點 48"/>
          <p:cNvCxnSpPr/>
          <p:nvPr/>
        </p:nvCxnSpPr>
        <p:spPr bwMode="auto">
          <a:xfrm>
            <a:off x="6725551" y="2532467"/>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50" name="直線單箭頭接點 49"/>
          <p:cNvCxnSpPr/>
          <p:nvPr/>
        </p:nvCxnSpPr>
        <p:spPr bwMode="auto">
          <a:xfrm>
            <a:off x="7787588" y="2538975"/>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51" name="文字方塊 50"/>
          <p:cNvSpPr txBox="1"/>
          <p:nvPr/>
        </p:nvSpPr>
        <p:spPr>
          <a:xfrm>
            <a:off x="5500514" y="1612081"/>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52" name="文字方塊 51"/>
          <p:cNvSpPr txBox="1"/>
          <p:nvPr/>
        </p:nvSpPr>
        <p:spPr>
          <a:xfrm>
            <a:off x="6355591" y="1603456"/>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53" name="文字方塊 52"/>
          <p:cNvSpPr txBox="1"/>
          <p:nvPr/>
        </p:nvSpPr>
        <p:spPr>
          <a:xfrm>
            <a:off x="7406621" y="1594772"/>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a:ea typeface="標楷體" pitchFamily="65" charset="-120"/>
                <a:cs typeface="Calibri" pitchFamily="34" charset="0"/>
              </a:rPr>
              <a:t>m</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41557959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Current Heterogeneous Programming Problem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err="1" smtClean="0">
                <a:latin typeface="Times New Roman" panose="02020603050405020304" pitchFamily="18" charset="0"/>
                <a:cs typeface="Times New Roman" panose="02020603050405020304" pitchFamily="18" charset="0"/>
              </a:rPr>
              <a:t>OpenCL</a:t>
            </a:r>
            <a:r>
              <a:rPr lang="en-US" altLang="zh-TW" dirty="0" smtClean="0">
                <a:latin typeface="Times New Roman" panose="02020603050405020304" pitchFamily="18" charset="0"/>
                <a:cs typeface="Times New Roman" panose="02020603050405020304" pitchFamily="18" charset="0"/>
              </a:rPr>
              <a:t> is more complicated.</a:t>
            </a:r>
          </a:p>
          <a:p>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Programmer need to prepare all the memory space before running.(can’t allocate memory in runtime)</a:t>
            </a:r>
          </a:p>
          <a:p>
            <a:endParaRPr lang="en-US" altLang="zh-TW" dirty="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Need to send kernel argument from agent to kernel clearly.</a:t>
            </a:r>
          </a:p>
          <a:p>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Need to write another kernel file to program </a:t>
            </a:r>
            <a:r>
              <a:rPr lang="en-US" altLang="zh-TW" dirty="0">
                <a:latin typeface="Times New Roman" panose="02020603050405020304" pitchFamily="18" charset="0"/>
                <a:cs typeface="Times New Roman" panose="02020603050405020304" pitchFamily="18" charset="0"/>
              </a:rPr>
              <a:t>the algorithm </a:t>
            </a:r>
            <a:r>
              <a:rPr lang="en-US" altLang="zh-TW" dirty="0" smtClean="0">
                <a:latin typeface="Times New Roman" panose="02020603050405020304" pitchFamily="18" charset="0"/>
                <a:cs typeface="Times New Roman" panose="02020603050405020304" pitchFamily="18" charset="0"/>
              </a:rPr>
              <a:t>of kernel.</a:t>
            </a:r>
          </a:p>
          <a:p>
            <a:endParaRPr lang="en-US" altLang="zh-TW" dirty="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Programmer must aware a lot of detail.</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9007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Current Heterogeneous Programming Problem</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72391"/>
            <a:ext cx="9144000" cy="1208500"/>
          </a:xfrm>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45870"/>
            <a:ext cx="9144000" cy="1146235"/>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857084"/>
            <a:ext cx="9144000" cy="956456"/>
          </a:xfrm>
          <a:prstGeom prst="rect">
            <a:avLst/>
          </a:prstGeom>
        </p:spPr>
      </p:pic>
      <p:pic>
        <p:nvPicPr>
          <p:cNvPr id="8" name="圖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978519"/>
            <a:ext cx="9144000" cy="1120356"/>
          </a:xfrm>
          <a:prstGeom prst="rect">
            <a:avLst/>
          </a:prstGeom>
        </p:spPr>
      </p:pic>
    </p:spTree>
    <p:extLst>
      <p:ext uri="{BB962C8B-B14F-4D97-AF65-F5344CB8AC3E}">
        <p14:creationId xmlns:p14="http://schemas.microsoft.com/office/powerpoint/2010/main" val="16182917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Current Heterogeneous Programming Problem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1019175" y="1292225"/>
            <a:ext cx="7105650" cy="4562475"/>
          </a:xfrm>
          <a:prstGeom prst="rect">
            <a:avLst/>
          </a:prstGeom>
        </p:spPr>
      </p:pic>
    </p:spTree>
    <p:extLst>
      <p:ext uri="{BB962C8B-B14F-4D97-AF65-F5344CB8AC3E}">
        <p14:creationId xmlns:p14="http://schemas.microsoft.com/office/powerpoint/2010/main" val="31607493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Current resolution</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To build a more easy programming environment</a:t>
            </a:r>
          </a:p>
          <a:p>
            <a:endParaRPr lang="en-US" altLang="zh-TW" sz="2400" dirty="0">
              <a:latin typeface="Times New Roman" panose="02020603050405020304" pitchFamily="18" charset="0"/>
              <a:cs typeface="Times New Roman" panose="02020603050405020304" pitchFamily="18" charset="0"/>
            </a:endParaRPr>
          </a:p>
          <a:p>
            <a:r>
              <a:rPr lang="en-US" altLang="zh-TW" smtClean="0">
                <a:latin typeface="Times New Roman" panose="02020603050405020304" pitchFamily="18" charset="0"/>
                <a:cs typeface="Times New Roman" panose="02020603050405020304" pitchFamily="18" charset="0"/>
              </a:rPr>
              <a:t>Programmer don’t </a:t>
            </a:r>
            <a:r>
              <a:rPr lang="en-US" altLang="zh-TW">
                <a:latin typeface="Times New Roman" panose="02020603050405020304" pitchFamily="18" charset="0"/>
                <a:cs typeface="Times New Roman" panose="02020603050405020304" pitchFamily="18" charset="0"/>
              </a:rPr>
              <a:t>need to </a:t>
            </a:r>
            <a:r>
              <a:rPr lang="en-US" altLang="zh-TW" sz="2400" dirty="0" smtClean="0">
                <a:latin typeface="Times New Roman" panose="02020603050405020304" pitchFamily="18" charset="0"/>
                <a:cs typeface="Times New Roman" panose="02020603050405020304" pitchFamily="18" charset="0"/>
              </a:rPr>
              <a:t>pay attention to the data movement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The hardware guaranteed the data movement.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Programmer can focus on how to generate their program much more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3904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Table of Contents</a:t>
            </a:r>
            <a:endParaRPr lang="zh-TW" altLang="en-US"/>
          </a:p>
        </p:txBody>
      </p:sp>
      <p:sp>
        <p:nvSpPr>
          <p:cNvPr id="3" name="內容版面配置區 2"/>
          <p:cNvSpPr>
            <a:spLocks noGrp="1"/>
          </p:cNvSpPr>
          <p:nvPr>
            <p:ph idx="1"/>
          </p:nvPr>
        </p:nvSpPr>
        <p:spPr/>
        <p:txBody>
          <a:bodyPr/>
          <a:lstStyle/>
          <a:p>
            <a:r>
              <a:rPr lang="en-US" altLang="zh-TW" smtClean="0"/>
              <a:t>Shared virtual memory</a:t>
            </a:r>
          </a:p>
          <a:p>
            <a:r>
              <a:rPr lang="en-US" altLang="zh-TW" smtClean="0"/>
              <a:t>Cache coherency domains</a:t>
            </a:r>
          </a:p>
          <a:p>
            <a:r>
              <a:rPr lang="en-US" altLang="zh-TW" smtClean="0"/>
              <a:t>Flat addressing</a:t>
            </a:r>
          </a:p>
          <a:p>
            <a:r>
              <a:rPr lang="en-US" altLang="zh-TW" smtClean="0"/>
              <a:t>Endians</a:t>
            </a:r>
          </a:p>
          <a:p>
            <a:r>
              <a:rPr lang="en-US" altLang="zh-TW" smtClean="0"/>
              <a:t>Signaling and synchronization</a:t>
            </a:r>
          </a:p>
          <a:p>
            <a:r>
              <a:rPr lang="en-US" altLang="zh-TW" smtClean="0"/>
              <a:t>Atomic memory operation</a:t>
            </a:r>
          </a:p>
          <a:p>
            <a:r>
              <a:rPr lang="en-US" altLang="zh-TW" smtClean="0"/>
              <a:t>HSA system timestamp</a:t>
            </a:r>
          </a:p>
          <a:p>
            <a:r>
              <a:rPr lang="en-US" altLang="zh-TW" smtClean="0"/>
              <a:t>User mode queuing</a:t>
            </a:r>
          </a:p>
          <a:p>
            <a:r>
              <a:rPr lang="en-US" altLang="zh-TW" smtClean="0"/>
              <a:t>Architected Queuing Language</a:t>
            </a:r>
          </a:p>
          <a:p>
            <a:r>
              <a:rPr lang="en-US" altLang="zh-TW" smtClean="0"/>
              <a:t>Agent scheduling</a:t>
            </a:r>
          </a:p>
          <a:p>
            <a:r>
              <a:rPr lang="en-US" altLang="zh-TW" smtClean="0"/>
              <a:t>Kernel agent context switching</a:t>
            </a:r>
            <a:endParaRPr lang="zh-TW" altLang="en-US"/>
          </a:p>
        </p:txBody>
      </p:sp>
    </p:spTree>
    <p:extLst>
      <p:ext uri="{BB962C8B-B14F-4D97-AF65-F5344CB8AC3E}">
        <p14:creationId xmlns:p14="http://schemas.microsoft.com/office/powerpoint/2010/main" val="31392045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Table of Contents(cont.)</a:t>
            </a:r>
            <a:endParaRPr lang="zh-TW" altLang="en-US"/>
          </a:p>
        </p:txBody>
      </p:sp>
      <p:sp>
        <p:nvSpPr>
          <p:cNvPr id="3" name="內容版面配置區 2"/>
          <p:cNvSpPr>
            <a:spLocks noGrp="1"/>
          </p:cNvSpPr>
          <p:nvPr>
            <p:ph idx="1"/>
          </p:nvPr>
        </p:nvSpPr>
        <p:spPr/>
        <p:txBody>
          <a:bodyPr/>
          <a:lstStyle/>
          <a:p>
            <a:r>
              <a:rPr lang="en-US" altLang="zh-TW" smtClean="0"/>
              <a:t>IEEE754-2008 floating point exceptions</a:t>
            </a:r>
          </a:p>
          <a:p>
            <a:r>
              <a:rPr lang="en-US" altLang="zh-TW" smtClean="0"/>
              <a:t>Kernel agent hardware debug infrastructure</a:t>
            </a:r>
          </a:p>
          <a:p>
            <a:r>
              <a:rPr lang="en-US" altLang="zh-TW" smtClean="0"/>
              <a:t>HSA platform topology discovery</a:t>
            </a:r>
          </a:p>
          <a:p>
            <a:r>
              <a:rPr lang="en-US" altLang="zh-TW" smtClean="0">
                <a:solidFill>
                  <a:srgbClr val="FF0000"/>
                </a:solidFill>
              </a:rPr>
              <a:t>Images</a:t>
            </a:r>
          </a:p>
        </p:txBody>
      </p:sp>
    </p:spTree>
    <p:extLst>
      <p:ext uri="{BB962C8B-B14F-4D97-AF65-F5344CB8AC3E}">
        <p14:creationId xmlns:p14="http://schemas.microsoft.com/office/powerpoint/2010/main" val="13600514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smtClean="0">
                <a:latin typeface="Times New Roman" panose="02020603050405020304" pitchFamily="18" charset="0"/>
                <a:cs typeface="Times New Roman" panose="02020603050405020304" pitchFamily="18" charset="0"/>
              </a:rPr>
              <a:t>Share virtual memory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82232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Today:</a:t>
            </a:r>
          </a:p>
          <a:p>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4" name="圖片 3"/>
          <p:cNvPicPr>
            <a:picLocks noChangeAspect="1"/>
          </p:cNvPicPr>
          <p:nvPr/>
        </p:nvPicPr>
        <p:blipFill>
          <a:blip r:embed="rId2"/>
          <a:stretch>
            <a:fillRect/>
          </a:stretch>
        </p:blipFill>
        <p:spPr>
          <a:xfrm>
            <a:off x="1039090" y="1664628"/>
            <a:ext cx="7086600" cy="4029075"/>
          </a:xfrm>
          <a:prstGeom prst="rect">
            <a:avLst/>
          </a:prstGeom>
        </p:spPr>
      </p:pic>
    </p:spTree>
    <p:extLst>
      <p:ext uri="{BB962C8B-B14F-4D97-AF65-F5344CB8AC3E}">
        <p14:creationId xmlns:p14="http://schemas.microsoft.com/office/powerpoint/2010/main" val="1691906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HSA:</a:t>
            </a:r>
          </a:p>
          <a:p>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5" name="圖片 4"/>
          <p:cNvPicPr>
            <a:picLocks noChangeAspect="1"/>
          </p:cNvPicPr>
          <p:nvPr/>
        </p:nvPicPr>
        <p:blipFill>
          <a:blip r:embed="rId2"/>
          <a:stretch>
            <a:fillRect/>
          </a:stretch>
        </p:blipFill>
        <p:spPr>
          <a:xfrm>
            <a:off x="1057276" y="1763383"/>
            <a:ext cx="7029450" cy="4038600"/>
          </a:xfrm>
          <a:prstGeom prst="rect">
            <a:avLst/>
          </a:prstGeom>
        </p:spPr>
      </p:pic>
    </p:spTree>
    <p:extLst>
      <p:ext uri="{BB962C8B-B14F-4D97-AF65-F5344CB8AC3E}">
        <p14:creationId xmlns:p14="http://schemas.microsoft.com/office/powerpoint/2010/main" val="28992774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2800">
                <a:latin typeface="Times New Roman" panose="02020603050405020304" pitchFamily="18" charset="0"/>
                <a:cs typeface="Times New Roman" panose="02020603050405020304" pitchFamily="18" charset="0"/>
              </a:rPr>
              <a:t>Shared Virtual Memory</a:t>
            </a:r>
            <a:endParaRPr lang="zh-TW" altLang="en-US"/>
          </a:p>
        </p:txBody>
      </p:sp>
      <p:sp>
        <p:nvSpPr>
          <p:cNvPr id="3" name="內容版面配置區 2"/>
          <p:cNvSpPr>
            <a:spLocks noGrp="1"/>
          </p:cNvSpPr>
          <p:nvPr>
            <p:ph idx="1"/>
          </p:nvPr>
        </p:nvSpPr>
        <p:spPr/>
        <p:txBody>
          <a:bodyPr/>
          <a:lstStyle/>
          <a:p>
            <a:r>
              <a:rPr lang="en-US" altLang="zh-TW" smtClean="0"/>
              <a:t>Big machine model: 64 bits word</a:t>
            </a:r>
          </a:p>
          <a:p>
            <a:pPr marL="0" indent="0">
              <a:buNone/>
            </a:pPr>
            <a:r>
              <a:rPr lang="en-US" altLang="zh-TW"/>
              <a:t> </a:t>
            </a:r>
            <a:r>
              <a:rPr lang="en-US" altLang="zh-TW" smtClean="0"/>
              <a:t>   Small machine model: 32 bits word</a:t>
            </a:r>
            <a:endParaRPr lang="en-US" altLang="zh-TW"/>
          </a:p>
          <a:p>
            <a:endParaRPr lang="en-US" altLang="zh-TW"/>
          </a:p>
          <a:p>
            <a:r>
              <a:rPr lang="en-US" altLang="zh-TW" smtClean="0"/>
              <a:t>Reserve ranges of the virtual address space for system internal use, e.g. </a:t>
            </a:r>
            <a:r>
              <a:rPr lang="en-US" altLang="zh-TW" smtClean="0">
                <a:solidFill>
                  <a:srgbClr val="FF0000"/>
                </a:solidFill>
              </a:rPr>
              <a:t>private and group memory segments</a:t>
            </a:r>
            <a:r>
              <a:rPr lang="en-US" altLang="zh-TW" sz="1400" smtClean="0"/>
              <a:t>(explain in flat addressing)</a:t>
            </a:r>
            <a:r>
              <a:rPr lang="en-US" altLang="zh-TW" smtClean="0"/>
              <a:t>.</a:t>
            </a:r>
          </a:p>
          <a:p>
            <a:endParaRPr lang="en-US" altLang="zh-TW"/>
          </a:p>
          <a:p>
            <a:r>
              <a:rPr lang="en-US" altLang="zh-TW" smtClean="0"/>
              <a:t>The buffer which is used by program can allocate in shared memory or in the ranges you don’t want share.</a:t>
            </a:r>
          </a:p>
          <a:p>
            <a:endParaRPr lang="en-US" altLang="zh-TW"/>
          </a:p>
          <a:p>
            <a:r>
              <a:rPr lang="en-US" altLang="zh-TW" smtClean="0"/>
              <a:t>Kernel Argument should allocate in shared part. Whatever you want to allocate in shared memory must through the HSA runtime memory allocator.</a:t>
            </a:r>
            <a:endParaRPr lang="zh-TW" altLang="en-US"/>
          </a:p>
        </p:txBody>
      </p:sp>
    </p:spTree>
    <p:extLst>
      <p:ext uri="{BB962C8B-B14F-4D97-AF65-F5344CB8AC3E}">
        <p14:creationId xmlns:p14="http://schemas.microsoft.com/office/powerpoint/2010/main" val="39582645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2800">
                <a:latin typeface="Times New Roman" panose="02020603050405020304" pitchFamily="18" charset="0"/>
                <a:cs typeface="Times New Roman" panose="02020603050405020304" pitchFamily="18" charset="0"/>
              </a:rPr>
              <a:t>Shared Virtual Memory</a:t>
            </a:r>
            <a:endParaRPr lang="zh-TW" altLang="en-US"/>
          </a:p>
        </p:txBody>
      </p:sp>
      <p:sp>
        <p:nvSpPr>
          <p:cNvPr id="3" name="內容版面配置區 2"/>
          <p:cNvSpPr>
            <a:spLocks noGrp="1"/>
          </p:cNvSpPr>
          <p:nvPr>
            <p:ph idx="1"/>
          </p:nvPr>
        </p:nvSpPr>
        <p:spPr/>
        <p:txBody>
          <a:bodyPr/>
          <a:lstStyle/>
          <a:p>
            <a:r>
              <a:rPr lang="en-US" altLang="zh-TW" smtClean="0"/>
              <a:t>System software is expected not to allocate pages for HSA application access in these non-shareable ranges.</a:t>
            </a:r>
          </a:p>
          <a:p>
            <a:endParaRPr lang="en-US" altLang="zh-TW"/>
          </a:p>
          <a:p>
            <a:r>
              <a:rPr lang="en-US" altLang="zh-TW" smtClean="0"/>
              <a:t>System software is responsible for setting, maintaining, and invalidating these page tables according to its policy.</a:t>
            </a:r>
          </a:p>
          <a:p>
            <a:endParaRPr lang="en-US" altLang="zh-TW" smtClean="0"/>
          </a:p>
          <a:p>
            <a:r>
              <a:rPr lang="en-US" altLang="zh-TW" smtClean="0"/>
              <a:t>Trade off of page sizes, GPU prefer large but CPU not.</a:t>
            </a:r>
          </a:p>
          <a:p>
            <a:endParaRPr lang="en-US" altLang="zh-TW"/>
          </a:p>
          <a:p>
            <a:r>
              <a:rPr lang="en-US" altLang="zh-TW" smtClean="0"/>
              <a:t>The privilege of CPU and GPU should be equal.</a:t>
            </a:r>
            <a:endParaRPr lang="en-US" altLang="zh-TW"/>
          </a:p>
        </p:txBody>
      </p:sp>
    </p:spTree>
    <p:extLst>
      <p:ext uri="{BB962C8B-B14F-4D97-AF65-F5344CB8AC3E}">
        <p14:creationId xmlns:p14="http://schemas.microsoft.com/office/powerpoint/2010/main" val="4624690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How Hardware to implement …</a:t>
            </a:r>
            <a:endParaRPr lang="zh-TW" altLang="en-US"/>
          </a:p>
        </p:txBody>
      </p:sp>
      <p:sp>
        <p:nvSpPr>
          <p:cNvPr id="3" name="內容版面配置區 2"/>
          <p:cNvSpPr>
            <a:spLocks noGrp="1"/>
          </p:cNvSpPr>
          <p:nvPr>
            <p:ph idx="1"/>
          </p:nvPr>
        </p:nvSpPr>
        <p:spPr/>
        <p:txBody>
          <a:bodyPr/>
          <a:lstStyle/>
          <a:p>
            <a:r>
              <a:rPr lang="en-US" altLang="zh-TW" smtClean="0"/>
              <a:t>Share virtual memory ? Uniform Memory Access?</a:t>
            </a:r>
          </a:p>
          <a:p>
            <a:endParaRPr lang="en-US" altLang="zh-TW"/>
          </a:p>
          <a:p>
            <a:r>
              <a:rPr lang="en-US" altLang="zh-TW" smtClean="0"/>
              <a:t>Is uniformation memory access a new idea?</a:t>
            </a:r>
          </a:p>
          <a:p>
            <a:endParaRPr lang="en-US" altLang="zh-TW"/>
          </a:p>
          <a:p>
            <a:r>
              <a:rPr lang="en-US" altLang="zh-TW" smtClean="0"/>
              <a:t>Is Hard to implement uniformation memory access?</a:t>
            </a:r>
          </a:p>
          <a:p>
            <a:endParaRPr lang="en-US" altLang="zh-TW"/>
          </a:p>
          <a:p>
            <a:r>
              <a:rPr lang="en-US" altLang="zh-TW" smtClean="0"/>
              <a:t>How to implement UMA in HSA system?</a:t>
            </a:r>
            <a:endParaRPr lang="zh-TW" altLang="en-US"/>
          </a:p>
        </p:txBody>
      </p:sp>
    </p:spTree>
    <p:extLst>
      <p:ext uri="{BB962C8B-B14F-4D97-AF65-F5344CB8AC3E}">
        <p14:creationId xmlns:p14="http://schemas.microsoft.com/office/powerpoint/2010/main" val="18732184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Uniform Memory Access</a:t>
            </a:r>
            <a:endParaRPr lang="zh-TW" altLang="en-US"/>
          </a:p>
        </p:txBody>
      </p:sp>
      <p:sp>
        <p:nvSpPr>
          <p:cNvPr id="3" name="內容版面配置區 2"/>
          <p:cNvSpPr>
            <a:spLocks noGrp="1"/>
          </p:cNvSpPr>
          <p:nvPr>
            <p:ph idx="1"/>
          </p:nvPr>
        </p:nvSpPr>
        <p:spPr/>
        <p:txBody>
          <a:bodyPr/>
          <a:lstStyle/>
          <a:p>
            <a:r>
              <a:rPr lang="en-US" altLang="zh-TW" smtClean="0"/>
              <a:t>Uniform memory access is a </a:t>
            </a:r>
            <a:r>
              <a:rPr lang="en-US" altLang="zh-TW" smtClean="0">
                <a:solidFill>
                  <a:srgbClr val="FF0000"/>
                </a:solidFill>
              </a:rPr>
              <a:t>shared memory</a:t>
            </a:r>
            <a:r>
              <a:rPr lang="en-US" altLang="zh-TW" smtClean="0"/>
              <a:t> used in parallel computers.</a:t>
            </a:r>
          </a:p>
          <a:p>
            <a:endParaRPr lang="en-US" altLang="zh-TW"/>
          </a:p>
          <a:p>
            <a:r>
              <a:rPr lang="en-US" altLang="zh-TW" smtClean="0"/>
              <a:t>All the processors in the UMA model share the physical memory uniformly.</a:t>
            </a:r>
          </a:p>
          <a:p>
            <a:endParaRPr lang="en-US" altLang="zh-TW"/>
          </a:p>
          <a:p>
            <a:r>
              <a:rPr lang="en-US" altLang="zh-TW" smtClean="0"/>
              <a:t>UMA model is suitable for general purpose and time sharing applications by multiple users.</a:t>
            </a:r>
            <a:endParaRPr lang="zh-TW" altLang="en-US"/>
          </a:p>
        </p:txBody>
      </p:sp>
    </p:spTree>
    <p:extLst>
      <p:ext uri="{BB962C8B-B14F-4D97-AF65-F5344CB8AC3E}">
        <p14:creationId xmlns:p14="http://schemas.microsoft.com/office/powerpoint/2010/main" val="5357240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Uniform Memory Access</a:t>
            </a:r>
            <a:endParaRPr lang="zh-TW" altLang="en-US"/>
          </a:p>
        </p:txBody>
      </p:sp>
      <p:sp>
        <p:nvSpPr>
          <p:cNvPr id="11" name="矩形 10"/>
          <p:cNvSpPr/>
          <p:nvPr/>
        </p:nvSpPr>
        <p:spPr bwMode="auto">
          <a:xfrm>
            <a:off x="7443107" y="3034392"/>
            <a:ext cx="947057" cy="873578"/>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2" name="矩形 11"/>
          <p:cNvSpPr/>
          <p:nvPr/>
        </p:nvSpPr>
        <p:spPr bwMode="auto">
          <a:xfrm>
            <a:off x="2095500" y="4340679"/>
            <a:ext cx="947057" cy="87357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3" name="矩形 12"/>
          <p:cNvSpPr/>
          <p:nvPr/>
        </p:nvSpPr>
        <p:spPr bwMode="auto">
          <a:xfrm>
            <a:off x="3344636" y="4340679"/>
            <a:ext cx="947057" cy="87357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4" name="矩形 13"/>
          <p:cNvSpPr/>
          <p:nvPr/>
        </p:nvSpPr>
        <p:spPr bwMode="auto">
          <a:xfrm>
            <a:off x="4569279" y="4340679"/>
            <a:ext cx="947057" cy="87357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5" name="矩形 14"/>
          <p:cNvSpPr/>
          <p:nvPr/>
        </p:nvSpPr>
        <p:spPr bwMode="auto">
          <a:xfrm>
            <a:off x="5840186" y="4340679"/>
            <a:ext cx="947057" cy="87357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接點 16"/>
          <p:cNvCxnSpPr>
            <a:stCxn id="11" idx="1"/>
          </p:cNvCxnSpPr>
          <p:nvPr/>
        </p:nvCxnSpPr>
        <p:spPr bwMode="auto">
          <a:xfrm flipH="1">
            <a:off x="832757" y="3471181"/>
            <a:ext cx="6610350" cy="0"/>
          </a:xfrm>
          <a:prstGeom prst="line">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直線接點 18"/>
          <p:cNvCxnSpPr>
            <a:stCxn id="31" idx="2"/>
          </p:cNvCxnSpPr>
          <p:nvPr/>
        </p:nvCxnSpPr>
        <p:spPr bwMode="auto">
          <a:xfrm>
            <a:off x="1981197" y="2752295"/>
            <a:ext cx="2725" cy="689099"/>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直線接點 19"/>
          <p:cNvCxnSpPr/>
          <p:nvPr/>
        </p:nvCxnSpPr>
        <p:spPr bwMode="auto">
          <a:xfrm flipH="1">
            <a:off x="3230335" y="2751364"/>
            <a:ext cx="1" cy="719817"/>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直線接點 20"/>
          <p:cNvCxnSpPr/>
          <p:nvPr/>
        </p:nvCxnSpPr>
        <p:spPr bwMode="auto">
          <a:xfrm flipH="1">
            <a:off x="4475387" y="2751364"/>
            <a:ext cx="1" cy="719817"/>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直線接點 21"/>
          <p:cNvCxnSpPr/>
          <p:nvPr/>
        </p:nvCxnSpPr>
        <p:spPr bwMode="auto">
          <a:xfrm flipH="1">
            <a:off x="5720439" y="2751364"/>
            <a:ext cx="1" cy="719817"/>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直線接點 22"/>
          <p:cNvCxnSpPr/>
          <p:nvPr/>
        </p:nvCxnSpPr>
        <p:spPr bwMode="auto">
          <a:xfrm>
            <a:off x="2569028" y="3471181"/>
            <a:ext cx="1" cy="869498"/>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直線接點 24"/>
          <p:cNvCxnSpPr/>
          <p:nvPr/>
        </p:nvCxnSpPr>
        <p:spPr bwMode="auto">
          <a:xfrm>
            <a:off x="3819521" y="3471181"/>
            <a:ext cx="1" cy="869498"/>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直線接點 25"/>
          <p:cNvCxnSpPr/>
          <p:nvPr/>
        </p:nvCxnSpPr>
        <p:spPr bwMode="auto">
          <a:xfrm>
            <a:off x="5057766" y="3471181"/>
            <a:ext cx="1" cy="869498"/>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線接點 26"/>
          <p:cNvCxnSpPr/>
          <p:nvPr/>
        </p:nvCxnSpPr>
        <p:spPr bwMode="auto">
          <a:xfrm>
            <a:off x="6313714" y="3471181"/>
            <a:ext cx="1" cy="869498"/>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34" name="群組 33"/>
          <p:cNvGrpSpPr/>
          <p:nvPr/>
        </p:nvGrpSpPr>
        <p:grpSpPr>
          <a:xfrm>
            <a:off x="1507668" y="1847998"/>
            <a:ext cx="949782" cy="904297"/>
            <a:chOff x="1507668" y="1877785"/>
            <a:chExt cx="949782" cy="904297"/>
          </a:xfrm>
        </p:grpSpPr>
        <p:sp>
          <p:nvSpPr>
            <p:cNvPr id="7" name="矩形 6"/>
            <p:cNvSpPr/>
            <p:nvPr/>
          </p:nvSpPr>
          <p:spPr bwMode="auto">
            <a:xfrm>
              <a:off x="1510393" y="1877785"/>
              <a:ext cx="947057" cy="534963"/>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28" name="文字方塊 27"/>
            <p:cNvSpPr txBox="1"/>
            <p:nvPr/>
          </p:nvSpPr>
          <p:spPr>
            <a:xfrm>
              <a:off x="1543049" y="1960602"/>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CPU</a:t>
              </a:r>
              <a:endParaRPr lang="zh-TW" altLang="en-US" dirty="0" smtClean="0">
                <a:ea typeface="標楷體" pitchFamily="65" charset="-120"/>
                <a:cs typeface="Calibri" pitchFamily="34" charset="0"/>
              </a:endParaRPr>
            </a:p>
          </p:txBody>
        </p:sp>
        <p:sp>
          <p:nvSpPr>
            <p:cNvPr id="31" name="矩形 30"/>
            <p:cNvSpPr/>
            <p:nvPr/>
          </p:nvSpPr>
          <p:spPr bwMode="auto">
            <a:xfrm>
              <a:off x="1507668" y="2412750"/>
              <a:ext cx="947057" cy="369332"/>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2" name="文字方塊 31"/>
            <p:cNvSpPr txBox="1"/>
            <p:nvPr/>
          </p:nvSpPr>
          <p:spPr>
            <a:xfrm>
              <a:off x="1547131" y="2412750"/>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cache</a:t>
              </a:r>
              <a:endParaRPr lang="zh-TW" altLang="en-US" dirty="0" smtClean="0">
                <a:ea typeface="標楷體" pitchFamily="65" charset="-120"/>
                <a:cs typeface="Calibri" pitchFamily="34" charset="0"/>
              </a:endParaRPr>
            </a:p>
          </p:txBody>
        </p:sp>
      </p:grpSp>
      <p:grpSp>
        <p:nvGrpSpPr>
          <p:cNvPr id="35" name="群組 34"/>
          <p:cNvGrpSpPr/>
          <p:nvPr/>
        </p:nvGrpSpPr>
        <p:grpSpPr>
          <a:xfrm>
            <a:off x="2758836" y="1847066"/>
            <a:ext cx="949782" cy="904297"/>
            <a:chOff x="1507668" y="1877785"/>
            <a:chExt cx="949782" cy="904297"/>
          </a:xfrm>
        </p:grpSpPr>
        <p:sp>
          <p:nvSpPr>
            <p:cNvPr id="36" name="矩形 35"/>
            <p:cNvSpPr/>
            <p:nvPr/>
          </p:nvSpPr>
          <p:spPr bwMode="auto">
            <a:xfrm>
              <a:off x="1510393" y="1877785"/>
              <a:ext cx="947057" cy="534963"/>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7" name="文字方塊 36"/>
            <p:cNvSpPr txBox="1"/>
            <p:nvPr/>
          </p:nvSpPr>
          <p:spPr>
            <a:xfrm>
              <a:off x="1543049" y="1960602"/>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CPU</a:t>
              </a:r>
              <a:endParaRPr lang="zh-TW" altLang="en-US" dirty="0" smtClean="0">
                <a:ea typeface="標楷體" pitchFamily="65" charset="-120"/>
                <a:cs typeface="Calibri" pitchFamily="34" charset="0"/>
              </a:endParaRPr>
            </a:p>
          </p:txBody>
        </p:sp>
        <p:sp>
          <p:nvSpPr>
            <p:cNvPr id="38" name="矩形 37"/>
            <p:cNvSpPr/>
            <p:nvPr/>
          </p:nvSpPr>
          <p:spPr bwMode="auto">
            <a:xfrm>
              <a:off x="1507668" y="2412750"/>
              <a:ext cx="947057" cy="369332"/>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9" name="文字方塊 38"/>
            <p:cNvSpPr txBox="1"/>
            <p:nvPr/>
          </p:nvSpPr>
          <p:spPr>
            <a:xfrm>
              <a:off x="1547131" y="2412750"/>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cache</a:t>
              </a:r>
              <a:endParaRPr lang="zh-TW" altLang="en-US" dirty="0" smtClean="0">
                <a:ea typeface="標楷體" pitchFamily="65" charset="-120"/>
                <a:cs typeface="Calibri" pitchFamily="34" charset="0"/>
              </a:endParaRPr>
            </a:p>
          </p:txBody>
        </p:sp>
      </p:grpSp>
      <p:grpSp>
        <p:nvGrpSpPr>
          <p:cNvPr id="40" name="群組 39"/>
          <p:cNvGrpSpPr/>
          <p:nvPr/>
        </p:nvGrpSpPr>
        <p:grpSpPr>
          <a:xfrm>
            <a:off x="4000496" y="1832173"/>
            <a:ext cx="949782" cy="904297"/>
            <a:chOff x="1507668" y="1877785"/>
            <a:chExt cx="949782" cy="904297"/>
          </a:xfrm>
        </p:grpSpPr>
        <p:sp>
          <p:nvSpPr>
            <p:cNvPr id="41" name="矩形 40"/>
            <p:cNvSpPr/>
            <p:nvPr/>
          </p:nvSpPr>
          <p:spPr bwMode="auto">
            <a:xfrm>
              <a:off x="1510393" y="1877785"/>
              <a:ext cx="947057" cy="534963"/>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42" name="文字方塊 41"/>
            <p:cNvSpPr txBox="1"/>
            <p:nvPr/>
          </p:nvSpPr>
          <p:spPr>
            <a:xfrm>
              <a:off x="1543049" y="1960602"/>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CPU</a:t>
              </a:r>
              <a:endParaRPr lang="zh-TW" altLang="en-US" dirty="0" smtClean="0">
                <a:ea typeface="標楷體" pitchFamily="65" charset="-120"/>
                <a:cs typeface="Calibri" pitchFamily="34" charset="0"/>
              </a:endParaRPr>
            </a:p>
          </p:txBody>
        </p:sp>
        <p:sp>
          <p:nvSpPr>
            <p:cNvPr id="43" name="矩形 42"/>
            <p:cNvSpPr/>
            <p:nvPr/>
          </p:nvSpPr>
          <p:spPr bwMode="auto">
            <a:xfrm>
              <a:off x="1507668" y="2412750"/>
              <a:ext cx="947057" cy="369332"/>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44" name="文字方塊 43"/>
            <p:cNvSpPr txBox="1"/>
            <p:nvPr/>
          </p:nvSpPr>
          <p:spPr>
            <a:xfrm>
              <a:off x="1547131" y="2412750"/>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cache</a:t>
              </a:r>
              <a:endParaRPr lang="zh-TW" altLang="en-US" dirty="0" smtClean="0">
                <a:ea typeface="標楷體" pitchFamily="65" charset="-120"/>
                <a:cs typeface="Calibri" pitchFamily="34" charset="0"/>
              </a:endParaRPr>
            </a:p>
          </p:txBody>
        </p:sp>
      </p:grpSp>
      <p:grpSp>
        <p:nvGrpSpPr>
          <p:cNvPr id="45" name="群組 44"/>
          <p:cNvGrpSpPr/>
          <p:nvPr/>
        </p:nvGrpSpPr>
        <p:grpSpPr>
          <a:xfrm>
            <a:off x="5268007" y="1832173"/>
            <a:ext cx="949782" cy="904297"/>
            <a:chOff x="1507668" y="1877785"/>
            <a:chExt cx="949782" cy="904297"/>
          </a:xfrm>
        </p:grpSpPr>
        <p:sp>
          <p:nvSpPr>
            <p:cNvPr id="46" name="矩形 45"/>
            <p:cNvSpPr/>
            <p:nvPr/>
          </p:nvSpPr>
          <p:spPr bwMode="auto">
            <a:xfrm>
              <a:off x="1510393" y="1877785"/>
              <a:ext cx="947057" cy="534963"/>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47" name="文字方塊 46"/>
            <p:cNvSpPr txBox="1"/>
            <p:nvPr/>
          </p:nvSpPr>
          <p:spPr>
            <a:xfrm>
              <a:off x="1543049" y="1960602"/>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CPU</a:t>
              </a:r>
              <a:endParaRPr lang="zh-TW" altLang="en-US" dirty="0" smtClean="0">
                <a:ea typeface="標楷體" pitchFamily="65" charset="-120"/>
                <a:cs typeface="Calibri" pitchFamily="34" charset="0"/>
              </a:endParaRPr>
            </a:p>
          </p:txBody>
        </p:sp>
        <p:sp>
          <p:nvSpPr>
            <p:cNvPr id="48" name="矩形 47"/>
            <p:cNvSpPr/>
            <p:nvPr/>
          </p:nvSpPr>
          <p:spPr bwMode="auto">
            <a:xfrm>
              <a:off x="1507668" y="2412750"/>
              <a:ext cx="947057" cy="369332"/>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49" name="文字方塊 48"/>
            <p:cNvSpPr txBox="1"/>
            <p:nvPr/>
          </p:nvSpPr>
          <p:spPr>
            <a:xfrm>
              <a:off x="1547131" y="2412750"/>
              <a:ext cx="881743"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cache</a:t>
              </a:r>
              <a:endParaRPr lang="zh-TW" altLang="en-US" dirty="0" smtClean="0">
                <a:ea typeface="標楷體" pitchFamily="65" charset="-120"/>
                <a:cs typeface="Calibri" pitchFamily="34" charset="0"/>
              </a:endParaRPr>
            </a:p>
          </p:txBody>
        </p:sp>
      </p:grpSp>
      <p:sp>
        <p:nvSpPr>
          <p:cNvPr id="50" name="文字方塊 49"/>
          <p:cNvSpPr txBox="1"/>
          <p:nvPr/>
        </p:nvSpPr>
        <p:spPr>
          <a:xfrm>
            <a:off x="2038348" y="4592802"/>
            <a:ext cx="1061360"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memory</a:t>
            </a:r>
            <a:endParaRPr lang="zh-TW" altLang="en-US" dirty="0" smtClean="0">
              <a:ea typeface="標楷體" pitchFamily="65" charset="-120"/>
              <a:cs typeface="Calibri" pitchFamily="34" charset="0"/>
            </a:endParaRPr>
          </a:p>
        </p:txBody>
      </p:sp>
      <p:sp>
        <p:nvSpPr>
          <p:cNvPr id="51" name="文字方塊 50"/>
          <p:cNvSpPr txBox="1"/>
          <p:nvPr/>
        </p:nvSpPr>
        <p:spPr>
          <a:xfrm>
            <a:off x="3287484" y="4592802"/>
            <a:ext cx="1061360"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memory</a:t>
            </a:r>
            <a:endParaRPr lang="zh-TW" altLang="en-US" dirty="0" smtClean="0">
              <a:ea typeface="標楷體" pitchFamily="65" charset="-120"/>
              <a:cs typeface="Calibri" pitchFamily="34" charset="0"/>
            </a:endParaRPr>
          </a:p>
        </p:txBody>
      </p:sp>
      <p:sp>
        <p:nvSpPr>
          <p:cNvPr id="52" name="文字方塊 51"/>
          <p:cNvSpPr txBox="1"/>
          <p:nvPr/>
        </p:nvSpPr>
        <p:spPr>
          <a:xfrm>
            <a:off x="4512127" y="4594163"/>
            <a:ext cx="1061360"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memory</a:t>
            </a:r>
            <a:endParaRPr lang="zh-TW" altLang="en-US" dirty="0" smtClean="0">
              <a:ea typeface="標楷體" pitchFamily="65" charset="-120"/>
              <a:cs typeface="Calibri" pitchFamily="34" charset="0"/>
            </a:endParaRPr>
          </a:p>
        </p:txBody>
      </p:sp>
      <p:sp>
        <p:nvSpPr>
          <p:cNvPr id="53" name="文字方塊 52"/>
          <p:cNvSpPr txBox="1"/>
          <p:nvPr/>
        </p:nvSpPr>
        <p:spPr>
          <a:xfrm>
            <a:off x="5783034" y="4597275"/>
            <a:ext cx="1061360"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memory</a:t>
            </a:r>
            <a:endParaRPr lang="zh-TW" altLang="en-US" dirty="0" smtClean="0">
              <a:ea typeface="標楷體" pitchFamily="65" charset="-120"/>
              <a:cs typeface="Calibri" pitchFamily="34" charset="0"/>
            </a:endParaRPr>
          </a:p>
        </p:txBody>
      </p:sp>
      <p:sp>
        <p:nvSpPr>
          <p:cNvPr id="54" name="文字方塊 53"/>
          <p:cNvSpPr txBox="1"/>
          <p:nvPr/>
        </p:nvSpPr>
        <p:spPr>
          <a:xfrm>
            <a:off x="7520667" y="3286515"/>
            <a:ext cx="791935"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I/O</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36488398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Uniform Memory Access</a:t>
            </a:r>
            <a:endParaRPr lang="zh-TW" altLang="en-US"/>
          </a:p>
        </p:txBody>
      </p:sp>
      <p:sp>
        <p:nvSpPr>
          <p:cNvPr id="3" name="內容版面配置區 2"/>
          <p:cNvSpPr>
            <a:spLocks noGrp="1"/>
          </p:cNvSpPr>
          <p:nvPr>
            <p:ph idx="1"/>
          </p:nvPr>
        </p:nvSpPr>
        <p:spPr/>
        <p:txBody>
          <a:bodyPr/>
          <a:lstStyle/>
          <a:p>
            <a:r>
              <a:rPr lang="en-US" altLang="zh-TW" smtClean="0"/>
              <a:t>Not a new idea, has been used in multi-core system for many years.</a:t>
            </a:r>
          </a:p>
          <a:p>
            <a:endParaRPr lang="en-US" altLang="zh-TW"/>
          </a:p>
          <a:p>
            <a:r>
              <a:rPr lang="en-US" altLang="zh-TW" smtClean="0"/>
              <a:t>Two ways to implement UMA</a:t>
            </a:r>
          </a:p>
          <a:p>
            <a:pPr lvl="1"/>
            <a:r>
              <a:rPr lang="en-US" altLang="zh-TW" smtClean="0"/>
              <a:t>Fixed address.  When one core set/modify memory, other cores go the same address to see the changes.</a:t>
            </a:r>
          </a:p>
          <a:p>
            <a:pPr lvl="1"/>
            <a:endParaRPr lang="en-US" altLang="zh-TW"/>
          </a:p>
          <a:p>
            <a:pPr lvl="1"/>
            <a:r>
              <a:rPr lang="en-US" altLang="zh-TW" smtClean="0"/>
              <a:t>Brocasting.  One core set/modify memory, the one who makes the change to inform others.</a:t>
            </a:r>
          </a:p>
        </p:txBody>
      </p:sp>
    </p:spTree>
    <p:extLst>
      <p:ext uri="{BB962C8B-B14F-4D97-AF65-F5344CB8AC3E}">
        <p14:creationId xmlns:p14="http://schemas.microsoft.com/office/powerpoint/2010/main" val="22374094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How to implement UMA in HSA System?</a:t>
            </a:r>
            <a:endParaRPr lang="zh-TW" altLang="en-US"/>
          </a:p>
        </p:txBody>
      </p:sp>
      <p:sp>
        <p:nvSpPr>
          <p:cNvPr id="3" name="內容版面配置區 2"/>
          <p:cNvSpPr>
            <a:spLocks noGrp="1"/>
          </p:cNvSpPr>
          <p:nvPr>
            <p:ph idx="1"/>
          </p:nvPr>
        </p:nvSpPr>
        <p:spPr/>
        <p:txBody>
          <a:bodyPr/>
          <a:lstStyle/>
          <a:p>
            <a:r>
              <a:rPr lang="en-US" altLang="zh-TW" smtClean="0"/>
              <a:t>When GPU participating in the memory access, the situation becomes more complex.</a:t>
            </a:r>
          </a:p>
          <a:p>
            <a:endParaRPr lang="en-US" altLang="zh-TW"/>
          </a:p>
          <a:p>
            <a:r>
              <a:rPr lang="en-US" altLang="zh-TW" smtClean="0"/>
              <a:t>Two scenario we should care:</a:t>
            </a:r>
          </a:p>
          <a:p>
            <a:pPr lvl="1"/>
            <a:r>
              <a:rPr lang="en-US" altLang="zh-TW" smtClean="0"/>
              <a:t>After GPU handling the page miss, how to inform CPU?</a:t>
            </a:r>
          </a:p>
          <a:p>
            <a:pPr lvl="1"/>
            <a:endParaRPr lang="en-US" altLang="zh-TW"/>
          </a:p>
          <a:p>
            <a:pPr lvl="1"/>
            <a:r>
              <a:rPr lang="en-US" altLang="zh-TW" smtClean="0"/>
              <a:t>Who is responsible for initialing? How other cores know after initial?</a:t>
            </a:r>
            <a:endParaRPr lang="zh-TW" altLang="en-US"/>
          </a:p>
        </p:txBody>
      </p:sp>
    </p:spTree>
    <p:extLst>
      <p:ext uri="{BB962C8B-B14F-4D97-AF65-F5344CB8AC3E}">
        <p14:creationId xmlns:p14="http://schemas.microsoft.com/office/powerpoint/2010/main" val="24981710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How to implement UMA in HSA System?</a:t>
            </a:r>
            <a:endParaRPr lang="zh-TW" altLang="en-US"/>
          </a:p>
        </p:txBody>
      </p:sp>
      <p:sp>
        <p:nvSpPr>
          <p:cNvPr id="3" name="內容版面配置區 2"/>
          <p:cNvSpPr>
            <a:spLocks noGrp="1"/>
          </p:cNvSpPr>
          <p:nvPr>
            <p:ph idx="1"/>
          </p:nvPr>
        </p:nvSpPr>
        <p:spPr/>
        <p:txBody>
          <a:bodyPr/>
          <a:lstStyle/>
          <a:p>
            <a:r>
              <a:rPr lang="en-US" altLang="zh-TW"/>
              <a:t>Is fixed addressing or broadcasting still working?</a:t>
            </a:r>
          </a:p>
          <a:p>
            <a:pPr lvl="1"/>
            <a:r>
              <a:rPr lang="en-US" altLang="zh-TW"/>
              <a:t>Yes, it is still work. But fixed addressing is more appropriate.</a:t>
            </a:r>
          </a:p>
          <a:p>
            <a:pPr lvl="1"/>
            <a:r>
              <a:rPr lang="en-US" altLang="zh-TW"/>
              <a:t>The cost of broadcasting is too high </a:t>
            </a:r>
            <a:r>
              <a:rPr lang="en-US" altLang="zh-TW" smtClean="0"/>
              <a:t>and </a:t>
            </a:r>
            <a:r>
              <a:rPr lang="en-US" altLang="zh-TW"/>
              <a:t>slow.</a:t>
            </a:r>
          </a:p>
          <a:p>
            <a:endParaRPr lang="en-US" altLang="zh-TW" smtClean="0"/>
          </a:p>
          <a:p>
            <a:r>
              <a:rPr lang="en-US" altLang="zh-TW" smtClean="0"/>
              <a:t>In initial step, fixed addressing is good enough.</a:t>
            </a:r>
          </a:p>
          <a:p>
            <a:endParaRPr lang="en-US" altLang="zh-TW"/>
          </a:p>
          <a:p>
            <a:r>
              <a:rPr lang="en-US" altLang="zh-TW" smtClean="0"/>
              <a:t>When GPU core modify page or page entry, it need to launch “INTERRUPT” to CPU. To tell CPU it need to make the same change done by GPU.</a:t>
            </a:r>
            <a:endParaRPr lang="en-US" altLang="zh-TW"/>
          </a:p>
        </p:txBody>
      </p:sp>
    </p:spTree>
    <p:extLst>
      <p:ext uri="{BB962C8B-B14F-4D97-AF65-F5344CB8AC3E}">
        <p14:creationId xmlns:p14="http://schemas.microsoft.com/office/powerpoint/2010/main" val="42018573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smtClean="0">
                <a:latin typeface="Times New Roman" panose="02020603050405020304" pitchFamily="18" charset="0"/>
                <a:cs typeface="Times New Roman" panose="02020603050405020304" pitchFamily="18" charset="0"/>
              </a:rPr>
              <a:t>Flat addressing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04246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Memory </a:t>
            </a:r>
            <a:r>
              <a:rPr lang="en-US" altLang="zh-TW" smtClean="0"/>
              <a:t>hierarchy</a:t>
            </a:r>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3320" y="1151956"/>
            <a:ext cx="7497361" cy="4875969"/>
          </a:xfrm>
        </p:spPr>
      </p:pic>
    </p:spTree>
    <p:extLst>
      <p:ext uri="{BB962C8B-B14F-4D97-AF65-F5344CB8AC3E}">
        <p14:creationId xmlns:p14="http://schemas.microsoft.com/office/powerpoint/2010/main" val="24934975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Flat Addressing</a:t>
            </a:r>
            <a:endParaRPr lang="zh-TW" altLang="en-US"/>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4083178837"/>
              </p:ext>
            </p:extLst>
          </p:nvPr>
        </p:nvGraphicFramePr>
        <p:xfrm>
          <a:off x="468314" y="1246307"/>
          <a:ext cx="8229600" cy="370840"/>
        </p:xfrm>
        <a:graphic>
          <a:graphicData uri="http://schemas.openxmlformats.org/drawingml/2006/table">
            <a:tbl>
              <a:tblPr firstRow="1" bandRow="1">
                <a:tableStyleId>{22838BEF-8BB2-4498-84A7-C5851F593DF1}</a:tableStyleId>
              </a:tblPr>
              <a:tblGrid>
                <a:gridCol w="2743200"/>
                <a:gridCol w="2743200"/>
                <a:gridCol w="2743200"/>
              </a:tblGrid>
              <a:tr h="370840">
                <a:tc>
                  <a:txBody>
                    <a:bodyPr/>
                    <a:lstStyle/>
                    <a:p>
                      <a:pPr algn="ctr"/>
                      <a:r>
                        <a:rPr lang="en-US" altLang="zh-TW" sz="1600" smtClean="0"/>
                        <a:t>Global(shared)</a:t>
                      </a:r>
                      <a:endParaRPr lang="zh-TW" altLang="en-US" sz="1600"/>
                    </a:p>
                  </a:txBody>
                  <a:tcPr/>
                </a:tc>
                <a:tc>
                  <a:txBody>
                    <a:bodyPr/>
                    <a:lstStyle/>
                    <a:p>
                      <a:pPr algn="ctr"/>
                      <a:r>
                        <a:rPr lang="en-US" altLang="zh-TW" sz="1600" smtClean="0"/>
                        <a:t>Group</a:t>
                      </a:r>
                      <a:endParaRPr lang="zh-TW" altLang="en-US" sz="1600"/>
                    </a:p>
                  </a:txBody>
                  <a:tcPr/>
                </a:tc>
                <a:tc>
                  <a:txBody>
                    <a:bodyPr/>
                    <a:lstStyle/>
                    <a:p>
                      <a:pPr algn="ctr"/>
                      <a:r>
                        <a:rPr lang="en-US" altLang="zh-TW" sz="1600" smtClean="0"/>
                        <a:t>private</a:t>
                      </a:r>
                      <a:endParaRPr lang="zh-TW" altLang="en-US" sz="1600"/>
                    </a:p>
                  </a:txBody>
                  <a:tcPr/>
                </a:tc>
              </a:tr>
            </a:tbl>
          </a:graphicData>
        </a:graphic>
      </p:graphicFrame>
      <p:sp>
        <p:nvSpPr>
          <p:cNvPr id="35" name="內容版面配置區 2"/>
          <p:cNvSpPr txBox="1">
            <a:spLocks/>
          </p:cNvSpPr>
          <p:nvPr/>
        </p:nvSpPr>
        <p:spPr bwMode="auto">
          <a:xfrm>
            <a:off x="457200" y="1785668"/>
            <a:ext cx="8229600" cy="4235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500">
                <a:solidFill>
                  <a:schemeClr val="tx1"/>
                </a:solidFill>
                <a:latin typeface="Calibri" pitchFamily="34" charset="0"/>
                <a:ea typeface="標楷體" pitchFamily="65" charset="-120"/>
                <a:cs typeface="Calibri" pitchFamily="34" charset="0"/>
              </a:defRPr>
            </a:lvl3pPr>
            <a:lvl4pPr marL="12001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4pPr>
            <a:lvl5pPr marL="15430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TW" kern="0" smtClean="0"/>
              <a:t>Flat addressing is like an one dimension array, is still composed by Main memory, GPU memory, cache, …,etc.</a:t>
            </a:r>
          </a:p>
          <a:p>
            <a:endParaRPr lang="en-US" altLang="zh-TW" kern="0"/>
          </a:p>
          <a:p>
            <a:r>
              <a:rPr lang="en-US" altLang="zh-TW" kern="0" smtClean="0"/>
              <a:t>Global segment: main memory, part of L2 cache.</a:t>
            </a:r>
          </a:p>
          <a:p>
            <a:endParaRPr lang="en-US" altLang="zh-TW" kern="0"/>
          </a:p>
          <a:p>
            <a:r>
              <a:rPr lang="en-US" altLang="zh-TW" kern="0" smtClean="0"/>
              <a:t>Group segment: GPU local memory.</a:t>
            </a:r>
          </a:p>
          <a:p>
            <a:endParaRPr lang="en-US" altLang="zh-TW" kern="0"/>
          </a:p>
          <a:p>
            <a:r>
              <a:rPr lang="en-US" altLang="zh-TW" kern="0" smtClean="0"/>
              <a:t>Private: register, L1 cache.</a:t>
            </a:r>
            <a:endParaRPr lang="en-US" altLang="zh-TW" kern="0"/>
          </a:p>
        </p:txBody>
      </p:sp>
    </p:spTree>
    <p:extLst>
      <p:ext uri="{BB962C8B-B14F-4D97-AF65-F5344CB8AC3E}">
        <p14:creationId xmlns:p14="http://schemas.microsoft.com/office/powerpoint/2010/main" val="22959887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Flat addressing concept</a:t>
            </a:r>
            <a:endParaRPr lang="zh-TW" altLang="en-US"/>
          </a:p>
        </p:txBody>
      </p:sp>
      <p:sp>
        <p:nvSpPr>
          <p:cNvPr id="3" name="內容版面配置區 2"/>
          <p:cNvSpPr>
            <a:spLocks noGrp="1"/>
          </p:cNvSpPr>
          <p:nvPr>
            <p:ph idx="1"/>
          </p:nvPr>
        </p:nvSpPr>
        <p:spPr/>
        <p:txBody>
          <a:bodyPr/>
          <a:lstStyle/>
          <a:p>
            <a:r>
              <a:rPr lang="en-US" altLang="zh-TW"/>
              <a:t>There are two memory access operation format.</a:t>
            </a:r>
          </a:p>
          <a:p>
            <a:pPr lvl="1"/>
            <a:r>
              <a:rPr lang="en-US" altLang="zh-TW"/>
              <a:t>Take load as </a:t>
            </a:r>
            <a:r>
              <a:rPr lang="en-US" altLang="zh-TW" smtClean="0"/>
              <a:t>example.</a:t>
            </a:r>
          </a:p>
          <a:p>
            <a:pPr marL="0" indent="0">
              <a:buNone/>
            </a:pPr>
            <a:endParaRPr lang="en-US" altLang="zh-TW" smtClean="0"/>
          </a:p>
          <a:p>
            <a:pPr marL="0" indent="0">
              <a:buNone/>
            </a:pPr>
            <a:endParaRPr lang="en-US" altLang="zh-TW"/>
          </a:p>
          <a:p>
            <a:pPr marL="0" indent="0">
              <a:buNone/>
            </a:pPr>
            <a:r>
              <a:rPr lang="en-US" altLang="zh-TW" smtClean="0">
                <a:sym typeface="Wingdings" panose="05000000000000000000" pitchFamily="2" charset="2"/>
              </a:rPr>
              <a:t>ld_group_u32    segment format</a:t>
            </a:r>
          </a:p>
          <a:p>
            <a:pPr marL="0" indent="0">
              <a:buNone/>
            </a:pPr>
            <a:r>
              <a:rPr lang="en-US" altLang="zh-TW" smtClean="0">
                <a:sym typeface="Wingdings" panose="05000000000000000000" pitchFamily="2" charset="2"/>
              </a:rPr>
              <a:t>ld_u32                 flat addressing</a:t>
            </a:r>
          </a:p>
          <a:p>
            <a:pPr marL="0" indent="0">
              <a:buNone/>
            </a:pPr>
            <a:endParaRPr lang="en-US" altLang="zh-TW" smtClean="0">
              <a:sym typeface="Wingdings" panose="05000000000000000000" pitchFamily="2" charset="2"/>
            </a:endParaRPr>
          </a:p>
          <a:p>
            <a:r>
              <a:rPr lang="en-US" altLang="zh-TW" smtClean="0">
                <a:sym typeface="Wingdings" panose="05000000000000000000" pitchFamily="2" charset="2"/>
              </a:rPr>
              <a:t>Flat addressing will depend on the offset to access the corresponding segemt</a:t>
            </a:r>
          </a:p>
          <a:p>
            <a:r>
              <a:rPr lang="en-US" altLang="zh-TW" smtClean="0">
                <a:sym typeface="Wingdings" panose="05000000000000000000" pitchFamily="2" charset="2"/>
              </a:rPr>
              <a:t>User must be careful about the offset.</a:t>
            </a:r>
            <a:endParaRPr lang="en-US" altLang="zh-TW">
              <a:sym typeface="Wingdings" panose="05000000000000000000" pitchFamily="2" charset="2"/>
            </a:endParaRPr>
          </a:p>
          <a:p>
            <a:pPr marL="0" indent="0">
              <a:buNone/>
            </a:pPr>
            <a:endParaRPr lang="en-US" altLang="zh-TW" smtClean="0">
              <a:sym typeface="Wingdings" panose="05000000000000000000" pitchFamily="2" charset="2"/>
            </a:endParaRPr>
          </a:p>
          <a:p>
            <a:pPr marL="0" indent="0">
              <a:buNone/>
            </a:pPr>
            <a:endParaRPr lang="en-US" altLang="zh-TW">
              <a:sym typeface="Wingdings" panose="05000000000000000000" pitchFamily="2" charset="2"/>
            </a:endParaRPr>
          </a:p>
          <a:p>
            <a:pPr marL="0" indent="0">
              <a:buNone/>
            </a:pPr>
            <a:endParaRPr lang="en-US" altLang="zh-TW" smtClean="0"/>
          </a:p>
          <a:p>
            <a:pPr marL="342900" lvl="1" indent="0">
              <a:buNone/>
            </a:pPr>
            <a:endParaRPr lang="en-US" altLang="zh-TW"/>
          </a:p>
          <a:p>
            <a:pPr marL="342900" lvl="1" indent="0">
              <a:buNone/>
            </a:pPr>
            <a:endParaRPr lang="en-US" altLang="zh-TW" smtClean="0"/>
          </a:p>
        </p:txBody>
      </p:sp>
    </p:spTree>
    <p:extLst>
      <p:ext uri="{BB962C8B-B14F-4D97-AF65-F5344CB8AC3E}">
        <p14:creationId xmlns:p14="http://schemas.microsoft.com/office/powerpoint/2010/main" val="41996217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OpenCL generic address space</a:t>
            </a:r>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2031" y="1237647"/>
            <a:ext cx="3979940" cy="4523592"/>
          </a:xfrm>
        </p:spPr>
      </p:pic>
    </p:spTree>
    <p:extLst>
      <p:ext uri="{BB962C8B-B14F-4D97-AF65-F5344CB8AC3E}">
        <p14:creationId xmlns:p14="http://schemas.microsoft.com/office/powerpoint/2010/main" val="10021674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OpenCL generic address space</a:t>
            </a:r>
            <a:endParaRPr lang="zh-TW" altLang="en-US"/>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6325" y="1930633"/>
            <a:ext cx="6970144" cy="2951918"/>
          </a:xfrm>
        </p:spPr>
      </p:pic>
    </p:spTree>
    <p:extLst>
      <p:ext uri="{BB962C8B-B14F-4D97-AF65-F5344CB8AC3E}">
        <p14:creationId xmlns:p14="http://schemas.microsoft.com/office/powerpoint/2010/main" val="27001942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 assembly view</a:t>
            </a:r>
            <a:endParaRPr lang="zh-TW" altLang="en-US" dirty="0"/>
          </a:p>
        </p:txBody>
      </p:sp>
      <p:sp>
        <p:nvSpPr>
          <p:cNvPr id="3" name="內容版面配置區 2"/>
          <p:cNvSpPr>
            <a:spLocks noGrp="1"/>
          </p:cNvSpPr>
          <p:nvPr>
            <p:ph idx="1"/>
          </p:nvPr>
        </p:nvSpPr>
        <p:spPr/>
        <p:txBody>
          <a:bodyPr/>
          <a:lstStyle/>
          <a:p>
            <a:r>
              <a:rPr lang="en-US" altLang="zh-TW" dirty="0" smtClean="0"/>
              <a:t>Can save branch, free from </a:t>
            </a:r>
            <a:r>
              <a:rPr lang="en-US" altLang="zh-TW" dirty="0" err="1" smtClean="0"/>
              <a:t>banch</a:t>
            </a:r>
            <a:r>
              <a:rPr lang="en-US" altLang="zh-TW" dirty="0" smtClean="0"/>
              <a:t> prediction fault and cycle stall.</a:t>
            </a:r>
          </a:p>
          <a:p>
            <a:endParaRPr lang="en-US" altLang="zh-TW" dirty="0"/>
          </a:p>
          <a:p>
            <a:r>
              <a:rPr lang="en-US" altLang="zh-TW" dirty="0" smtClean="0"/>
              <a:t>Need hardware to support an powerful instruction, knowing the addressing in which segment.</a:t>
            </a:r>
          </a:p>
          <a:p>
            <a:endParaRPr lang="en-US" altLang="zh-TW" dirty="0"/>
          </a:p>
          <a:p>
            <a:r>
              <a:rPr lang="en-US" altLang="zh-TW" dirty="0" smtClean="0"/>
              <a:t>Ease user to program, but need to know some hardware limit, and maybe pay more effect in optimization.</a:t>
            </a:r>
            <a:endParaRPr lang="zh-TW" altLang="en-US" dirty="0"/>
          </a:p>
        </p:txBody>
      </p:sp>
    </p:spTree>
    <p:extLst>
      <p:ext uri="{BB962C8B-B14F-4D97-AF65-F5344CB8AC3E}">
        <p14:creationId xmlns:p14="http://schemas.microsoft.com/office/powerpoint/2010/main" val="19913144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smtClean="0">
                <a:latin typeface="Times New Roman" panose="02020603050405020304" pitchFamily="18" charset="0"/>
                <a:cs typeface="Times New Roman" panose="02020603050405020304" pitchFamily="18" charset="0"/>
              </a:rPr>
              <a:t>Cache coherence domains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073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Cache coherence</a:t>
            </a:r>
            <a:endParaRPr lang="zh-TW" altLang="en-US" dirty="0"/>
          </a:p>
        </p:txBody>
      </p:sp>
      <p:sp>
        <p:nvSpPr>
          <p:cNvPr id="3" name="內容版面配置區 2"/>
          <p:cNvSpPr>
            <a:spLocks noGrp="1"/>
          </p:cNvSpPr>
          <p:nvPr>
            <p:ph idx="1"/>
          </p:nvPr>
        </p:nvSpPr>
        <p:spPr/>
        <p:txBody>
          <a:bodyPr/>
          <a:lstStyle/>
          <a:p>
            <a:r>
              <a:rPr lang="en-US" altLang="zh-TW" dirty="0" smtClean="0"/>
              <a:t>Data access to global memory from all agents shall be coherent without  the need for explicit cache maintenance.</a:t>
            </a:r>
          </a:p>
          <a:p>
            <a:endParaRPr lang="en-US" altLang="zh-TW" dirty="0"/>
          </a:p>
          <a:p>
            <a:r>
              <a:rPr lang="en-US" altLang="zh-TW" dirty="0" smtClean="0"/>
              <a:t>Only for primary memory type in global segment, not include image access</a:t>
            </a:r>
          </a:p>
          <a:p>
            <a:endParaRPr lang="en-US" altLang="zh-TW" dirty="0"/>
          </a:p>
          <a:p>
            <a:r>
              <a:rPr lang="en-US" altLang="zh-TW" dirty="0" smtClean="0"/>
              <a:t>Read-only image data is required to remain static during the execution of an HSA kernel.</a:t>
            </a:r>
            <a:endParaRPr lang="zh-TW" altLang="en-US" dirty="0"/>
          </a:p>
        </p:txBody>
      </p:sp>
    </p:spTree>
    <p:extLst>
      <p:ext uri="{BB962C8B-B14F-4D97-AF65-F5344CB8AC3E}">
        <p14:creationId xmlns:p14="http://schemas.microsoft.com/office/powerpoint/2010/main" val="8155139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Main idea of cache </a:t>
            </a:r>
            <a:r>
              <a:rPr lang="en-US" altLang="zh-TW" dirty="0"/>
              <a:t>coherence</a:t>
            </a:r>
            <a:endParaRPr lang="zh-TW" altLang="en-US" dirty="0"/>
          </a:p>
        </p:txBody>
      </p:sp>
      <p:sp>
        <p:nvSpPr>
          <p:cNvPr id="3" name="內容版面配置區 2"/>
          <p:cNvSpPr>
            <a:spLocks noGrp="1"/>
          </p:cNvSpPr>
          <p:nvPr>
            <p:ph idx="1"/>
          </p:nvPr>
        </p:nvSpPr>
        <p:spPr/>
        <p:txBody>
          <a:bodyPr/>
          <a:lstStyle/>
          <a:p>
            <a:r>
              <a:rPr lang="en-US" altLang="zh-TW" dirty="0" smtClean="0"/>
              <a:t>Wants hardware to maintain the consistency.</a:t>
            </a:r>
          </a:p>
          <a:p>
            <a:pPr lvl="1"/>
            <a:r>
              <a:rPr lang="en-US" altLang="zh-TW" dirty="0" smtClean="0"/>
              <a:t>Programmer no need to maintain cache coherence by themselves.</a:t>
            </a:r>
          </a:p>
          <a:p>
            <a:endParaRPr lang="en-US" altLang="zh-TW" dirty="0"/>
          </a:p>
          <a:p>
            <a:r>
              <a:rPr lang="en-US" altLang="zh-TW" dirty="0" smtClean="0"/>
              <a:t>The traffics of maintaining  consistency between CPU cache and GPU cache are too heavy.</a:t>
            </a:r>
          </a:p>
          <a:p>
            <a:endParaRPr lang="en-US" altLang="zh-TW" dirty="0"/>
          </a:p>
          <a:p>
            <a:r>
              <a:rPr lang="en-US" altLang="zh-TW" dirty="0" smtClean="0"/>
              <a:t>But, don’t want to put much more pressure to the vender.</a:t>
            </a:r>
          </a:p>
          <a:p>
            <a:pPr lvl="1"/>
            <a:r>
              <a:rPr lang="en-US" altLang="zh-TW" dirty="0" smtClean="0"/>
              <a:t>Only for primary memory type.</a:t>
            </a:r>
          </a:p>
          <a:p>
            <a:pPr lvl="1"/>
            <a:r>
              <a:rPr lang="en-US" altLang="zh-TW" dirty="0" smtClean="0"/>
              <a:t>Not for instruction memory.</a:t>
            </a:r>
          </a:p>
          <a:p>
            <a:pPr lvl="1"/>
            <a:r>
              <a:rPr lang="en-US" altLang="zh-TW" dirty="0" smtClean="0"/>
              <a:t>Not for the agents that there is not the same memory attribute.</a:t>
            </a:r>
            <a:endParaRPr lang="en-US" altLang="zh-TW" dirty="0"/>
          </a:p>
        </p:txBody>
      </p:sp>
    </p:spTree>
    <p:extLst>
      <p:ext uri="{BB962C8B-B14F-4D97-AF65-F5344CB8AC3E}">
        <p14:creationId xmlns:p14="http://schemas.microsoft.com/office/powerpoint/2010/main" val="8155139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Endianess</a:t>
            </a:r>
            <a:endParaRPr lang="zh-TW" altLang="en-US" dirty="0"/>
          </a:p>
        </p:txBody>
      </p:sp>
      <p:sp>
        <p:nvSpPr>
          <p:cNvPr id="3" name="內容版面配置區 2"/>
          <p:cNvSpPr>
            <a:spLocks noGrp="1"/>
          </p:cNvSpPr>
          <p:nvPr>
            <p:ph idx="1"/>
          </p:nvPr>
        </p:nvSpPr>
        <p:spPr/>
        <p:txBody>
          <a:bodyPr/>
          <a:lstStyle/>
          <a:p>
            <a:r>
              <a:rPr lang="en-US" altLang="zh-TW" dirty="0" smtClean="0"/>
              <a:t>HSA system can be implemented as either little or big endian.</a:t>
            </a:r>
            <a:endParaRPr lang="en-US" altLang="zh-TW" dirty="0"/>
          </a:p>
          <a:p>
            <a:pPr lvl="1"/>
            <a:r>
              <a:rPr lang="en-US" altLang="zh-TW" dirty="0" smtClean="0"/>
              <a:t>Assumed only one </a:t>
            </a:r>
            <a:r>
              <a:rPr lang="en-US" altLang="zh-TW" dirty="0" err="1" smtClean="0"/>
              <a:t>endianess</a:t>
            </a:r>
            <a:r>
              <a:rPr lang="en-US" altLang="zh-TW" dirty="0" smtClean="0"/>
              <a:t> is used</a:t>
            </a:r>
            <a:endParaRPr lang="en-US" altLang="zh-TW" dirty="0"/>
          </a:p>
          <a:p>
            <a:endParaRPr lang="en-US" altLang="zh-TW" dirty="0" smtClean="0"/>
          </a:p>
          <a:p>
            <a:r>
              <a:rPr lang="en-US" altLang="zh-TW" dirty="0" smtClean="0"/>
              <a:t>Basic definition:</a:t>
            </a:r>
          </a:p>
          <a:p>
            <a:pPr lvl="1"/>
            <a:r>
              <a:rPr lang="en-US" altLang="zh-TW" dirty="0" smtClean="0"/>
              <a:t>Bits [0:7] in byte 0, bits [8:15] in byte 1, …, etc.</a:t>
            </a:r>
          </a:p>
          <a:p>
            <a:pPr lvl="1"/>
            <a:r>
              <a:rPr lang="en-US" altLang="zh-TW" dirty="0" smtClean="0"/>
              <a:t>All agents in a system must have the same definition for assigning bit value in multi-bits fields.</a:t>
            </a:r>
          </a:p>
        </p:txBody>
      </p:sp>
    </p:spTree>
    <p:extLst>
      <p:ext uri="{BB962C8B-B14F-4D97-AF65-F5344CB8AC3E}">
        <p14:creationId xmlns:p14="http://schemas.microsoft.com/office/powerpoint/2010/main" val="27657055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smtClean="0">
                <a:latin typeface="Times New Roman" panose="02020603050405020304" pitchFamily="18" charset="0"/>
                <a:cs typeface="Times New Roman" panose="02020603050405020304" pitchFamily="18" charset="0"/>
              </a:rPr>
              <a:t>Signaling and synchronization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1538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Signaling and synchronization</a:t>
            </a:r>
            <a:endParaRPr lang="zh-TW" altLang="en-US" dirty="0"/>
          </a:p>
        </p:txBody>
      </p:sp>
      <p:sp>
        <p:nvSpPr>
          <p:cNvPr id="3" name="內容版面配置區 2"/>
          <p:cNvSpPr>
            <a:spLocks noGrp="1"/>
          </p:cNvSpPr>
          <p:nvPr>
            <p:ph idx="1"/>
          </p:nvPr>
        </p:nvSpPr>
        <p:spPr/>
        <p:txBody>
          <a:bodyPr/>
          <a:lstStyle/>
          <a:p>
            <a:r>
              <a:rPr lang="en-US" altLang="zh-TW" dirty="0" smtClean="0"/>
              <a:t>HSA-compliant platform shall provide signal mechanism.</a:t>
            </a:r>
          </a:p>
          <a:p>
            <a:endParaRPr lang="en-US" altLang="zh-TW" dirty="0"/>
          </a:p>
          <a:p>
            <a:r>
              <a:rPr lang="en-US" altLang="zh-TW" dirty="0" smtClean="0"/>
              <a:t>All operation on signal value should be manipulated by a signal handler.</a:t>
            </a:r>
            <a:endParaRPr lang="en-US" altLang="zh-TW" dirty="0"/>
          </a:p>
          <a:p>
            <a:pPr lvl="1"/>
            <a:r>
              <a:rPr lang="en-US" altLang="zh-TW" dirty="0" smtClean="0"/>
              <a:t>Signal and signal handler are opaque.</a:t>
            </a:r>
          </a:p>
          <a:p>
            <a:endParaRPr lang="en-US" altLang="zh-TW" dirty="0" smtClean="0"/>
          </a:p>
          <a:p>
            <a:r>
              <a:rPr lang="en-US" altLang="zh-TW" dirty="0" smtClean="0"/>
              <a:t>Agents only can manipulate HSA signals which are within the same user process address space.</a:t>
            </a:r>
          </a:p>
          <a:p>
            <a:pPr lvl="1"/>
            <a:r>
              <a:rPr lang="en-US" altLang="zh-TW" dirty="0" smtClean="0"/>
              <a:t>Not support IPC.</a:t>
            </a:r>
          </a:p>
        </p:txBody>
      </p:sp>
    </p:spTree>
    <p:extLst>
      <p:ext uri="{BB962C8B-B14F-4D97-AF65-F5344CB8AC3E}">
        <p14:creationId xmlns:p14="http://schemas.microsoft.com/office/powerpoint/2010/main" val="276570550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Signaling and synchronization</a:t>
            </a:r>
            <a:endParaRPr lang="zh-TW" altLang="en-US" dirty="0"/>
          </a:p>
        </p:txBody>
      </p:sp>
      <p:sp>
        <p:nvSpPr>
          <p:cNvPr id="3" name="內容版面配置區 2"/>
          <p:cNvSpPr>
            <a:spLocks noGrp="1"/>
          </p:cNvSpPr>
          <p:nvPr>
            <p:ph idx="1"/>
          </p:nvPr>
        </p:nvSpPr>
        <p:spPr/>
        <p:txBody>
          <a:bodyPr/>
          <a:lstStyle/>
          <a:p>
            <a:r>
              <a:rPr lang="en-US" altLang="zh-TW" dirty="0" smtClean="0"/>
              <a:t>There is no architectural limitation on the number of HSA signals.</a:t>
            </a:r>
          </a:p>
          <a:p>
            <a:endParaRPr lang="en-US" altLang="zh-TW" dirty="0"/>
          </a:p>
          <a:p>
            <a:r>
              <a:rPr lang="en-US" altLang="zh-TW" dirty="0" smtClean="0"/>
              <a:t>HSA signal value must only be manipulated by kernel agent using HSAIL and host CPU using HSA runtime.</a:t>
            </a:r>
          </a:p>
          <a:p>
            <a:pPr marL="0" indent="0">
              <a:buNone/>
            </a:pPr>
            <a:endParaRPr lang="en-US" altLang="zh-TW" dirty="0"/>
          </a:p>
        </p:txBody>
      </p:sp>
    </p:spTree>
    <p:extLst>
      <p:ext uri="{BB962C8B-B14F-4D97-AF65-F5344CB8AC3E}">
        <p14:creationId xmlns:p14="http://schemas.microsoft.com/office/powerpoint/2010/main" val="7466123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Signaling and synchronization</a:t>
            </a:r>
            <a:endParaRPr lang="zh-TW" altLang="en-US" dirty="0"/>
          </a:p>
        </p:txBody>
      </p:sp>
      <p:sp>
        <p:nvSpPr>
          <p:cNvPr id="3" name="內容版面配置區 2"/>
          <p:cNvSpPr>
            <a:spLocks noGrp="1"/>
          </p:cNvSpPr>
          <p:nvPr>
            <p:ph idx="1"/>
          </p:nvPr>
        </p:nvSpPr>
        <p:spPr/>
        <p:txBody>
          <a:bodyPr/>
          <a:lstStyle/>
          <a:p>
            <a:r>
              <a:rPr lang="en-US" altLang="zh-TW" dirty="0"/>
              <a:t>Operation as follows:</a:t>
            </a:r>
          </a:p>
          <a:p>
            <a:pPr lvl="1"/>
            <a:r>
              <a:rPr lang="en-US" altLang="zh-TW" dirty="0"/>
              <a:t>Allocate</a:t>
            </a:r>
          </a:p>
          <a:p>
            <a:pPr lvl="1"/>
            <a:r>
              <a:rPr lang="en-US" altLang="zh-TW" dirty="0"/>
              <a:t>Destroy</a:t>
            </a:r>
          </a:p>
          <a:p>
            <a:pPr lvl="1"/>
            <a:r>
              <a:rPr lang="en-US" altLang="zh-TW" dirty="0"/>
              <a:t>Read</a:t>
            </a:r>
          </a:p>
          <a:p>
            <a:pPr lvl="1"/>
            <a:r>
              <a:rPr lang="en-US" altLang="zh-TW" dirty="0"/>
              <a:t>Wait/wait with duration</a:t>
            </a:r>
          </a:p>
          <a:p>
            <a:pPr lvl="1"/>
            <a:r>
              <a:rPr lang="en-US" altLang="zh-TW" dirty="0"/>
              <a:t>Atomic</a:t>
            </a:r>
          </a:p>
          <a:p>
            <a:r>
              <a:rPr lang="en-US" altLang="zh-TW" dirty="0" smtClean="0"/>
              <a:t>Combination with memory order semantics</a:t>
            </a:r>
          </a:p>
          <a:p>
            <a:pPr lvl="1"/>
            <a:r>
              <a:rPr lang="en-US" altLang="zh-TW" dirty="0" smtClean="0"/>
              <a:t>Release</a:t>
            </a:r>
          </a:p>
          <a:p>
            <a:pPr lvl="1"/>
            <a:r>
              <a:rPr lang="en-US" altLang="zh-TW" dirty="0" smtClean="0"/>
              <a:t>Acquire</a:t>
            </a:r>
          </a:p>
          <a:p>
            <a:pPr lvl="1"/>
            <a:r>
              <a:rPr lang="en-US" altLang="zh-TW" dirty="0" smtClean="0"/>
              <a:t>Relax</a:t>
            </a:r>
          </a:p>
          <a:p>
            <a:pPr lvl="1"/>
            <a:r>
              <a:rPr lang="en-US" altLang="zh-TW" dirty="0" smtClean="0"/>
              <a:t>Acquire-release</a:t>
            </a:r>
            <a:endParaRPr lang="en-US" altLang="zh-TW" dirty="0"/>
          </a:p>
        </p:txBody>
      </p:sp>
    </p:spTree>
    <p:extLst>
      <p:ext uri="{BB962C8B-B14F-4D97-AF65-F5344CB8AC3E}">
        <p14:creationId xmlns:p14="http://schemas.microsoft.com/office/powerpoint/2010/main" val="33581746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Signaling and synchronization</a:t>
            </a:r>
            <a:endParaRPr lang="zh-TW" altLang="en-US" dirty="0"/>
          </a:p>
        </p:txBody>
      </p:sp>
      <p:sp>
        <p:nvSpPr>
          <p:cNvPr id="3" name="內容版面配置區 2"/>
          <p:cNvSpPr>
            <a:spLocks noGrp="1"/>
          </p:cNvSpPr>
          <p:nvPr>
            <p:ph idx="1"/>
          </p:nvPr>
        </p:nvSpPr>
        <p:spPr/>
        <p:txBody>
          <a:bodyPr/>
          <a:lstStyle/>
          <a:p>
            <a:r>
              <a:rPr lang="en-US" altLang="zh-TW" dirty="0" smtClean="0"/>
              <a:t>Signals are generally intended for notification between agents.</a:t>
            </a:r>
          </a:p>
          <a:p>
            <a:pPr lvl="1"/>
            <a:r>
              <a:rPr lang="en-US" altLang="zh-TW" dirty="0" smtClean="0"/>
              <a:t>Signal interact with memory model as if it resides in global segment memory.</a:t>
            </a:r>
            <a:endParaRPr lang="en-US" altLang="zh-TW" dirty="0"/>
          </a:p>
          <a:p>
            <a:endParaRPr lang="en-US" altLang="zh-TW" dirty="0" smtClean="0"/>
          </a:p>
          <a:p>
            <a:endParaRPr lang="en-US" altLang="zh-TW" dirty="0"/>
          </a:p>
          <a:p>
            <a:r>
              <a:rPr lang="en-US" altLang="zh-TW" dirty="0" smtClean="0"/>
              <a:t>These definitions are for the doorbell and completion signal using in</a:t>
            </a:r>
            <a:r>
              <a:rPr lang="en-US" altLang="zh-TW" dirty="0" smtClean="0">
                <a:solidFill>
                  <a:srgbClr val="FF0000"/>
                </a:solidFill>
              </a:rPr>
              <a:t> User Mode Queue </a:t>
            </a:r>
            <a:r>
              <a:rPr lang="en-US" altLang="zh-TW" dirty="0" smtClean="0"/>
              <a:t>and </a:t>
            </a:r>
            <a:r>
              <a:rPr lang="en-US" altLang="zh-TW" dirty="0" smtClean="0">
                <a:solidFill>
                  <a:srgbClr val="FF0000"/>
                </a:solidFill>
              </a:rPr>
              <a:t>AQL packets</a:t>
            </a:r>
            <a:r>
              <a:rPr lang="en-US" altLang="zh-TW" dirty="0" smtClean="0"/>
              <a:t>.</a:t>
            </a:r>
          </a:p>
          <a:p>
            <a:endParaRPr lang="en-US" altLang="zh-TW" dirty="0" smtClean="0"/>
          </a:p>
          <a:p>
            <a:pPr marL="257175" lvl="1" indent="-257175">
              <a:buSzPct val="80000"/>
              <a:buFont typeface="Wingdings" pitchFamily="2" charset="2"/>
              <a:buChar char="l"/>
            </a:pPr>
            <a:r>
              <a:rPr lang="en-US" altLang="zh-TW" dirty="0" smtClean="0"/>
              <a:t>More detail in </a:t>
            </a:r>
            <a:r>
              <a:rPr lang="en-US" altLang="zh-TW" dirty="0"/>
              <a:t>HSA </a:t>
            </a:r>
            <a:r>
              <a:rPr lang="en-US" altLang="zh-TW" dirty="0" smtClean="0"/>
              <a:t>Runtime.</a:t>
            </a:r>
            <a:endParaRPr lang="zh-TW" altLang="en-US" dirty="0"/>
          </a:p>
        </p:txBody>
      </p:sp>
    </p:spTree>
    <p:extLst>
      <p:ext uri="{BB962C8B-B14F-4D97-AF65-F5344CB8AC3E}">
        <p14:creationId xmlns:p14="http://schemas.microsoft.com/office/powerpoint/2010/main" val="19905046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smtClean="0">
                <a:latin typeface="Times New Roman" panose="02020603050405020304" pitchFamily="18" charset="0"/>
                <a:cs typeface="Times New Roman" panose="02020603050405020304" pitchFamily="18" charset="0"/>
              </a:rPr>
              <a:t>Atomic memory operation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8209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Atomic memory operations</a:t>
            </a:r>
            <a:endParaRPr lang="zh-TW" altLang="en-US" dirty="0"/>
          </a:p>
        </p:txBody>
      </p:sp>
      <p:sp>
        <p:nvSpPr>
          <p:cNvPr id="3" name="內容版面配置區 2"/>
          <p:cNvSpPr>
            <a:spLocks noGrp="1"/>
          </p:cNvSpPr>
          <p:nvPr>
            <p:ph idx="1"/>
          </p:nvPr>
        </p:nvSpPr>
        <p:spPr/>
        <p:txBody>
          <a:bodyPr/>
          <a:lstStyle/>
          <a:p>
            <a:r>
              <a:rPr lang="en-US" altLang="zh-TW" dirty="0" smtClean="0"/>
              <a:t>Kernel agent should support standard atomic memory operations</a:t>
            </a:r>
          </a:p>
          <a:p>
            <a:pPr marL="0" indent="0">
              <a:buNone/>
            </a:pPr>
            <a:endParaRPr lang="en-US" altLang="zh-TW" dirty="0"/>
          </a:p>
          <a:p>
            <a:r>
              <a:rPr lang="en-US" altLang="zh-TW" dirty="0" smtClean="0"/>
              <a:t>Operation as follows:</a:t>
            </a:r>
          </a:p>
          <a:p>
            <a:pPr lvl="1"/>
            <a:r>
              <a:rPr lang="en-US" altLang="zh-TW" dirty="0" smtClean="0"/>
              <a:t>Load from memory</a:t>
            </a:r>
          </a:p>
          <a:p>
            <a:pPr lvl="1"/>
            <a:r>
              <a:rPr lang="en-US" altLang="zh-TW" dirty="0" smtClean="0"/>
              <a:t>Store to memory</a:t>
            </a:r>
          </a:p>
          <a:p>
            <a:pPr lvl="1"/>
            <a:r>
              <a:rPr lang="en-US" altLang="zh-TW" dirty="0" smtClean="0"/>
              <a:t>Logic operation</a:t>
            </a:r>
          </a:p>
          <a:p>
            <a:pPr lvl="1"/>
            <a:r>
              <a:rPr lang="en-US" altLang="zh-TW" dirty="0" smtClean="0"/>
              <a:t>Arithmetic operation</a:t>
            </a:r>
          </a:p>
          <a:p>
            <a:pPr lvl="1"/>
            <a:r>
              <a:rPr lang="en-US" altLang="zh-TW" dirty="0" smtClean="0"/>
              <a:t>Exchange</a:t>
            </a:r>
          </a:p>
          <a:p>
            <a:pPr lvl="1"/>
            <a:r>
              <a:rPr lang="en-US" altLang="zh-TW" dirty="0" smtClean="0"/>
              <a:t>CAS (compare and swap)</a:t>
            </a:r>
            <a:endParaRPr lang="zh-TW" altLang="en-US" dirty="0"/>
          </a:p>
        </p:txBody>
      </p:sp>
    </p:spTree>
    <p:extLst>
      <p:ext uri="{BB962C8B-B14F-4D97-AF65-F5344CB8AC3E}">
        <p14:creationId xmlns:p14="http://schemas.microsoft.com/office/powerpoint/2010/main" val="331035590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smtClean="0">
                <a:latin typeface="Times New Roman" panose="02020603050405020304" pitchFamily="18" charset="0"/>
                <a:cs typeface="Times New Roman" panose="02020603050405020304" pitchFamily="18" charset="0"/>
              </a:rPr>
              <a:t>HSA system timestamp</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64692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 system timestamp</a:t>
            </a:r>
            <a:endParaRPr lang="zh-TW" altLang="en-US" dirty="0"/>
          </a:p>
        </p:txBody>
      </p:sp>
      <p:sp>
        <p:nvSpPr>
          <p:cNvPr id="3" name="內容版面配置區 2"/>
          <p:cNvSpPr>
            <a:spLocks noGrp="1"/>
          </p:cNvSpPr>
          <p:nvPr>
            <p:ph idx="1"/>
          </p:nvPr>
        </p:nvSpPr>
        <p:spPr/>
        <p:txBody>
          <a:bodyPr/>
          <a:lstStyle/>
          <a:p>
            <a:r>
              <a:rPr lang="en-US" altLang="zh-TW" dirty="0" smtClean="0"/>
              <a:t>A low </a:t>
            </a:r>
            <a:r>
              <a:rPr lang="en-US" altLang="zh-TW" smtClean="0"/>
              <a:t>overhead mechanism </a:t>
            </a:r>
            <a:r>
              <a:rPr lang="en-US" altLang="zh-TW" dirty="0" smtClean="0"/>
              <a:t>of determining the passing of time.</a:t>
            </a:r>
          </a:p>
          <a:p>
            <a:endParaRPr lang="en-US" altLang="zh-TW" dirty="0"/>
          </a:p>
          <a:p>
            <a:r>
              <a:rPr lang="en-US" altLang="zh-TW" dirty="0" smtClean="0"/>
              <a:t>Only can be read from HSAIL or HSA runtime.</a:t>
            </a:r>
          </a:p>
          <a:p>
            <a:endParaRPr lang="en-US" altLang="zh-TW" dirty="0"/>
          </a:p>
          <a:p>
            <a:r>
              <a:rPr lang="en-US" altLang="zh-TW" dirty="0" smtClean="0"/>
              <a:t>Let GPU ease coherent with CPU at certain time.</a:t>
            </a:r>
          </a:p>
          <a:p>
            <a:pPr marL="0" indent="0">
              <a:buNone/>
            </a:pPr>
            <a:endParaRPr lang="en-US" altLang="zh-TW" dirty="0"/>
          </a:p>
        </p:txBody>
      </p:sp>
    </p:spTree>
    <p:extLst>
      <p:ext uri="{BB962C8B-B14F-4D97-AF65-F5344CB8AC3E}">
        <p14:creationId xmlns:p14="http://schemas.microsoft.com/office/powerpoint/2010/main" val="22756903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 system timestamp</a:t>
            </a:r>
            <a:endParaRPr lang="zh-TW" altLang="en-US" dirty="0"/>
          </a:p>
        </p:txBody>
      </p:sp>
      <p:sp>
        <p:nvSpPr>
          <p:cNvPr id="3" name="內容版面配置區 2"/>
          <p:cNvSpPr>
            <a:spLocks noGrp="1"/>
          </p:cNvSpPr>
          <p:nvPr>
            <p:ph idx="1"/>
          </p:nvPr>
        </p:nvSpPr>
        <p:spPr/>
        <p:txBody>
          <a:bodyPr/>
          <a:lstStyle/>
          <a:p>
            <a:r>
              <a:rPr lang="en-US" altLang="zh-TW" dirty="0" smtClean="0"/>
              <a:t>Some limit as follows:</a:t>
            </a:r>
          </a:p>
          <a:p>
            <a:pPr lvl="1"/>
            <a:r>
              <a:rPr lang="en-US" altLang="zh-TW" dirty="0" smtClean="0"/>
              <a:t>Timestamp value is 64bit integer.</a:t>
            </a:r>
          </a:p>
          <a:p>
            <a:pPr lvl="1"/>
            <a:r>
              <a:rPr lang="en-US" altLang="zh-TW" dirty="0" smtClean="0"/>
              <a:t>Should not roll over.</a:t>
            </a:r>
          </a:p>
          <a:p>
            <a:pPr lvl="1"/>
            <a:r>
              <a:rPr lang="en-US" altLang="zh-TW" dirty="0" smtClean="0"/>
              <a:t>Increase at a constant rate, regardless of any low power state or any change to operating frequency.</a:t>
            </a:r>
          </a:p>
          <a:p>
            <a:pPr lvl="1"/>
            <a:r>
              <a:rPr lang="en-US" altLang="zh-TW" dirty="0" smtClean="0"/>
              <a:t>Increase rate range is [1,400] </a:t>
            </a:r>
            <a:r>
              <a:rPr lang="en-US" altLang="zh-TW" dirty="0" err="1" smtClean="0"/>
              <a:t>MHz.</a:t>
            </a:r>
            <a:endParaRPr lang="en-US" altLang="zh-TW" dirty="0" smtClean="0"/>
          </a:p>
          <a:p>
            <a:pPr lvl="1"/>
            <a:r>
              <a:rPr lang="en-US" altLang="zh-TW" dirty="0" smtClean="0"/>
              <a:t>Uniform view of time (ex. Never appear in decrease value)</a:t>
            </a:r>
            <a:endParaRPr lang="en-US" altLang="zh-TW" dirty="0"/>
          </a:p>
          <a:p>
            <a:endParaRPr lang="en-US" altLang="zh-TW" dirty="0" smtClean="0"/>
          </a:p>
          <a:p>
            <a:pPr marL="0" indent="0">
              <a:buNone/>
            </a:pPr>
            <a:endParaRPr lang="en-US" altLang="zh-TW" dirty="0"/>
          </a:p>
        </p:txBody>
      </p:sp>
    </p:spTree>
    <p:extLst>
      <p:ext uri="{BB962C8B-B14F-4D97-AF65-F5344CB8AC3E}">
        <p14:creationId xmlns:p14="http://schemas.microsoft.com/office/powerpoint/2010/main" val="97870957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Implement of HSA system timestamp</a:t>
            </a:r>
            <a:endParaRPr lang="zh-TW" altLang="en-US" dirty="0"/>
          </a:p>
        </p:txBody>
      </p:sp>
      <p:sp>
        <p:nvSpPr>
          <p:cNvPr id="3" name="內容版面配置區 2"/>
          <p:cNvSpPr>
            <a:spLocks noGrp="1"/>
          </p:cNvSpPr>
          <p:nvPr>
            <p:ph idx="1"/>
          </p:nvPr>
        </p:nvSpPr>
        <p:spPr/>
        <p:txBody>
          <a:bodyPr/>
          <a:lstStyle/>
          <a:p>
            <a:endParaRPr lang="en-US" altLang="zh-TW" dirty="0" smtClean="0"/>
          </a:p>
          <a:p>
            <a:endParaRPr lang="en-US" altLang="zh-TW" dirty="0" smtClean="0"/>
          </a:p>
          <a:p>
            <a:r>
              <a:rPr lang="en-US" altLang="zh-TW" dirty="0" smtClean="0"/>
              <a:t>A single timestamp counter peripheral in the system</a:t>
            </a:r>
          </a:p>
          <a:p>
            <a:endParaRPr lang="en-US" altLang="zh-TW" dirty="0" smtClean="0"/>
          </a:p>
          <a:p>
            <a:endParaRPr lang="en-US" altLang="zh-TW" dirty="0"/>
          </a:p>
          <a:p>
            <a:r>
              <a:rPr lang="en-US" altLang="zh-TW" dirty="0" smtClean="0"/>
              <a:t>Many counters distribute in CPUs or GPUs that increment at the same rate and synchronized startup</a:t>
            </a:r>
          </a:p>
          <a:p>
            <a:endParaRPr lang="en-US" altLang="zh-TW" dirty="0"/>
          </a:p>
          <a:p>
            <a:endParaRPr lang="en-US" altLang="zh-TW" dirty="0" smtClean="0"/>
          </a:p>
        </p:txBody>
      </p:sp>
    </p:spTree>
    <p:extLst>
      <p:ext uri="{BB962C8B-B14F-4D97-AF65-F5344CB8AC3E}">
        <p14:creationId xmlns:p14="http://schemas.microsoft.com/office/powerpoint/2010/main" val="20618106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smtClean="0">
                <a:latin typeface="Times New Roman" panose="02020603050405020304" pitchFamily="18" charset="0"/>
                <a:cs typeface="Times New Roman" panose="02020603050405020304" pitchFamily="18" charset="0"/>
              </a:rPr>
              <a:t>User mode queuing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2170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User mode queuing</a:t>
            </a:r>
            <a:endParaRPr lang="zh-TW" altLang="en-US" dirty="0"/>
          </a:p>
        </p:txBody>
      </p:sp>
      <p:sp>
        <p:nvSpPr>
          <p:cNvPr id="3" name="內容版面配置區 2"/>
          <p:cNvSpPr>
            <a:spLocks noGrp="1"/>
          </p:cNvSpPr>
          <p:nvPr>
            <p:ph idx="1"/>
          </p:nvPr>
        </p:nvSpPr>
        <p:spPr/>
        <p:txBody>
          <a:bodyPr/>
          <a:lstStyle/>
          <a:p>
            <a:r>
              <a:rPr lang="en-US" altLang="zh-TW" dirty="0" smtClean="0"/>
              <a:t>HSA agents can launch job fast by user mode queue directly map on its hardware queue.</a:t>
            </a:r>
          </a:p>
          <a:p>
            <a:endParaRPr lang="en-US" altLang="zh-TW" dirty="0"/>
          </a:p>
          <a:p>
            <a:r>
              <a:rPr lang="en-US" altLang="zh-TW" dirty="0" smtClean="0"/>
              <a:t>The following operations on this queue no need to pass through kernel mode driver anymore.</a:t>
            </a:r>
          </a:p>
          <a:p>
            <a:endParaRPr lang="en-US" altLang="zh-TW" dirty="0"/>
          </a:p>
          <a:p>
            <a:r>
              <a:rPr lang="en-US" altLang="zh-TW" dirty="0" smtClean="0"/>
              <a:t>Shall be characterized as runtime-allocated, user-level, accessible virtual memory of a certain size.</a:t>
            </a:r>
          </a:p>
        </p:txBody>
      </p:sp>
    </p:spTree>
    <p:extLst>
      <p:ext uri="{BB962C8B-B14F-4D97-AF65-F5344CB8AC3E}">
        <p14:creationId xmlns:p14="http://schemas.microsoft.com/office/powerpoint/2010/main" val="9787095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User mode queuing</a:t>
            </a:r>
            <a:endParaRPr lang="zh-TW" altLang="en-US" dirty="0"/>
          </a:p>
        </p:txBody>
      </p:sp>
      <p:sp>
        <p:nvSpPr>
          <p:cNvPr id="3" name="內容版面配置區 2"/>
          <p:cNvSpPr>
            <a:spLocks noGrp="1"/>
          </p:cNvSpPr>
          <p:nvPr>
            <p:ph idx="1"/>
          </p:nvPr>
        </p:nvSpPr>
        <p:spPr/>
        <p:txBody>
          <a:bodyPr/>
          <a:lstStyle/>
          <a:p>
            <a:r>
              <a:rPr lang="en-US" altLang="zh-TW" dirty="0" smtClean="0"/>
              <a:t>HSA software should receive memory-based structures to configure the hardware queue to allow for efficient software management of the hardware queues of the agents.</a:t>
            </a:r>
          </a:p>
          <a:p>
            <a:endParaRPr lang="en-US" altLang="zh-TW" dirty="0"/>
          </a:p>
          <a:p>
            <a:r>
              <a:rPr lang="en-US" altLang="zh-TW" dirty="0" smtClean="0"/>
              <a:t>Like a ring buffer with separate memory locations defining write and read state information of that queue.</a:t>
            </a:r>
          </a:p>
          <a:p>
            <a:endParaRPr lang="en-US" altLang="zh-TW" dirty="0"/>
          </a:p>
          <a:p>
            <a:r>
              <a:rPr lang="en-US" altLang="zh-TW" dirty="0" smtClean="0">
                <a:solidFill>
                  <a:srgbClr val="FF0000"/>
                </a:solidFill>
              </a:rPr>
              <a:t>Packet processor</a:t>
            </a:r>
            <a:r>
              <a:rPr lang="en-US" altLang="zh-TW" dirty="0" smtClean="0"/>
              <a:t> is logically a separate agent from kernel agent, and may have a separate identification as a listener when allocating signals.</a:t>
            </a:r>
            <a:endParaRPr lang="en-US" altLang="zh-TW" dirty="0">
              <a:solidFill>
                <a:srgbClr val="FF0000"/>
              </a:solidFill>
            </a:endParaRPr>
          </a:p>
        </p:txBody>
      </p:sp>
    </p:spTree>
    <p:extLst>
      <p:ext uri="{BB962C8B-B14F-4D97-AF65-F5344CB8AC3E}">
        <p14:creationId xmlns:p14="http://schemas.microsoft.com/office/powerpoint/2010/main" val="245987343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User mode queuing</a:t>
            </a:r>
            <a:endParaRPr lang="zh-TW" altLang="en-US" dirty="0"/>
          </a:p>
        </p:txBody>
      </p:sp>
      <p:sp>
        <p:nvSpPr>
          <p:cNvPr id="3" name="內容版面配置區 2"/>
          <p:cNvSpPr>
            <a:spLocks noGrp="1"/>
          </p:cNvSpPr>
          <p:nvPr>
            <p:ph idx="1"/>
          </p:nvPr>
        </p:nvSpPr>
        <p:spPr/>
        <p:txBody>
          <a:bodyPr/>
          <a:lstStyle/>
          <a:p>
            <a:r>
              <a:rPr lang="en-US" altLang="zh-TW" dirty="0" smtClean="0"/>
              <a:t>Two queue types, </a:t>
            </a:r>
            <a:r>
              <a:rPr lang="en-US" altLang="zh-TW" dirty="0" smtClean="0">
                <a:solidFill>
                  <a:srgbClr val="FF0000"/>
                </a:solidFill>
              </a:rPr>
              <a:t>user mode queue</a:t>
            </a:r>
            <a:r>
              <a:rPr lang="en-US" altLang="zh-TW" dirty="0" smtClean="0"/>
              <a:t> and </a:t>
            </a:r>
            <a:r>
              <a:rPr lang="en-US" altLang="zh-TW" dirty="0" smtClean="0">
                <a:solidFill>
                  <a:srgbClr val="FF0000"/>
                </a:solidFill>
              </a:rPr>
              <a:t>runtime services dispatch queue</a:t>
            </a:r>
          </a:p>
          <a:p>
            <a:pPr lvl="1"/>
            <a:r>
              <a:rPr lang="en-US" altLang="zh-TW" dirty="0" smtClean="0">
                <a:solidFill>
                  <a:srgbClr val="FF0000"/>
                </a:solidFill>
              </a:rPr>
              <a:t>User mode queue</a:t>
            </a:r>
            <a:r>
              <a:rPr lang="en-US" altLang="zh-TW" dirty="0" smtClean="0"/>
              <a:t>, consumes kernel dispatch packets that are used to specify the information of kernel functions that will be executed on the component</a:t>
            </a:r>
          </a:p>
          <a:p>
            <a:pPr lvl="1"/>
            <a:r>
              <a:rPr lang="en-US" altLang="zh-TW" dirty="0" smtClean="0">
                <a:solidFill>
                  <a:srgbClr val="FF0000"/>
                </a:solidFill>
              </a:rPr>
              <a:t>Runtime service dispatch queue</a:t>
            </a:r>
            <a:r>
              <a:rPr lang="en-US" altLang="zh-TW" dirty="0" smtClean="0"/>
              <a:t>, consumes agent dispatch packets that are used to specify runtime-defined or user registered functions that will be execute on the agent</a:t>
            </a:r>
            <a:endParaRPr lang="en-US" altLang="zh-TW" dirty="0">
              <a:solidFill>
                <a:srgbClr val="FF0000"/>
              </a:solidFill>
            </a:endParaRPr>
          </a:p>
        </p:txBody>
      </p:sp>
      <p:pic>
        <p:nvPicPr>
          <p:cNvPr id="4" name="內容版面配置區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35924" y="4318192"/>
            <a:ext cx="8847438" cy="2428597"/>
          </a:xfrm>
          <a:prstGeom prst="rect">
            <a:avLst/>
          </a:prstGeom>
          <a:noFill/>
          <a:ln w="9525">
            <a:noFill/>
            <a:miter lim="800000"/>
            <a:headEnd/>
            <a:tailEnd/>
          </a:ln>
        </p:spPr>
      </p:pic>
    </p:spTree>
    <p:extLst>
      <p:ext uri="{BB962C8B-B14F-4D97-AF65-F5344CB8AC3E}">
        <p14:creationId xmlns:p14="http://schemas.microsoft.com/office/powerpoint/2010/main" val="284821364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Runtime services dispatch queue</a:t>
            </a:r>
            <a:endParaRPr lang="zh-TW" altLang="en-US" dirty="0"/>
          </a:p>
        </p:txBody>
      </p:sp>
      <p:sp>
        <p:nvSpPr>
          <p:cNvPr id="3" name="內容版面配置區 2"/>
          <p:cNvSpPr>
            <a:spLocks noGrp="1"/>
          </p:cNvSpPr>
          <p:nvPr>
            <p:ph idx="1"/>
          </p:nvPr>
        </p:nvSpPr>
        <p:spPr/>
        <p:txBody>
          <a:bodyPr/>
          <a:lstStyle/>
          <a:p>
            <a:r>
              <a:rPr lang="en-US" altLang="zh-TW" dirty="0" smtClean="0"/>
              <a:t>To invoke a runtime service, or function, the caller passes the arguments and function code in the </a:t>
            </a:r>
            <a:r>
              <a:rPr lang="en-US" altLang="zh-TW" dirty="0" smtClean="0">
                <a:solidFill>
                  <a:srgbClr val="FF0000"/>
                </a:solidFill>
              </a:rPr>
              <a:t>AGENT_DISPATCH</a:t>
            </a:r>
            <a:r>
              <a:rPr lang="en-US" altLang="zh-TW" dirty="0" smtClean="0"/>
              <a:t> packet</a:t>
            </a:r>
          </a:p>
          <a:p>
            <a:endParaRPr lang="en-US" altLang="zh-TW" dirty="0"/>
          </a:p>
          <a:p>
            <a:r>
              <a:rPr lang="en-US" altLang="zh-TW" dirty="0" smtClean="0"/>
              <a:t>Caller monitor or wait on a completion signal to identify when the “call” has finished.</a:t>
            </a:r>
          </a:p>
          <a:p>
            <a:endParaRPr lang="en-US" altLang="zh-TW" dirty="0"/>
          </a:p>
          <a:p>
            <a:r>
              <a:rPr lang="en-US" altLang="zh-TW" dirty="0" smtClean="0"/>
              <a:t>The </a:t>
            </a:r>
            <a:r>
              <a:rPr lang="en-US" altLang="zh-TW" dirty="0" err="1" smtClean="0"/>
              <a:t>return_address</a:t>
            </a:r>
            <a:r>
              <a:rPr lang="en-US" altLang="zh-TW" dirty="0" smtClean="0"/>
              <a:t> referenced within the AGENT_DISPATCH packet will contain the function ‘s return value.</a:t>
            </a:r>
          </a:p>
          <a:p>
            <a:endParaRPr lang="en-US" altLang="zh-TW" dirty="0"/>
          </a:p>
          <a:p>
            <a:r>
              <a:rPr lang="en-US" altLang="zh-TW" dirty="0" smtClean="0"/>
              <a:t>Exact services are defined by the application implementing the runtime services queue.</a:t>
            </a:r>
            <a:endParaRPr lang="en-US" altLang="zh-TW" dirty="0"/>
          </a:p>
        </p:txBody>
      </p:sp>
    </p:spTree>
    <p:extLst>
      <p:ext uri="{BB962C8B-B14F-4D97-AF65-F5344CB8AC3E}">
        <p14:creationId xmlns:p14="http://schemas.microsoft.com/office/powerpoint/2010/main" val="8154244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User mode queuing format</a:t>
            </a:r>
            <a:endParaRPr lang="zh-TW" altLang="en-US"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19" y="883920"/>
            <a:ext cx="7985760" cy="5974080"/>
          </a:xfrm>
          <a:prstGeom prst="rect">
            <a:avLst/>
          </a:prstGeom>
        </p:spPr>
      </p:pic>
    </p:spTree>
    <p:extLst>
      <p:ext uri="{BB962C8B-B14F-4D97-AF65-F5344CB8AC3E}">
        <p14:creationId xmlns:p14="http://schemas.microsoft.com/office/powerpoint/2010/main" val="3034299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Submit a task to a queue</a:t>
            </a:r>
            <a:endParaRPr lang="zh-TW" altLang="en-US" dirty="0"/>
          </a:p>
        </p:txBody>
      </p:sp>
      <p:sp>
        <p:nvSpPr>
          <p:cNvPr id="3" name="內容版面配置區 2"/>
          <p:cNvSpPr>
            <a:spLocks noGrp="1"/>
          </p:cNvSpPr>
          <p:nvPr>
            <p:ph idx="1"/>
          </p:nvPr>
        </p:nvSpPr>
        <p:spPr/>
        <p:txBody>
          <a:bodyPr/>
          <a:lstStyle/>
          <a:p>
            <a:r>
              <a:rPr lang="en-US" altLang="zh-TW" dirty="0" smtClean="0">
                <a:solidFill>
                  <a:srgbClr val="FF0000"/>
                </a:solidFill>
              </a:rPr>
              <a:t>Allocating</a:t>
            </a:r>
            <a:r>
              <a:rPr lang="en-US" altLang="zh-TW" dirty="0" smtClean="0"/>
              <a:t> an AQL packet slot.</a:t>
            </a:r>
          </a:p>
          <a:p>
            <a:endParaRPr lang="en-US" altLang="zh-TW" dirty="0"/>
          </a:p>
          <a:p>
            <a:r>
              <a:rPr lang="en-US" altLang="zh-TW" dirty="0" smtClean="0">
                <a:solidFill>
                  <a:srgbClr val="FF0000"/>
                </a:solidFill>
              </a:rPr>
              <a:t>Update</a:t>
            </a:r>
            <a:r>
              <a:rPr lang="en-US" altLang="zh-TW" dirty="0" smtClean="0"/>
              <a:t> the AQL packet with the task particulars (note, the format field must remain unchanged)</a:t>
            </a:r>
          </a:p>
          <a:p>
            <a:endParaRPr lang="en-US" altLang="zh-TW" dirty="0"/>
          </a:p>
          <a:p>
            <a:r>
              <a:rPr lang="en-US" altLang="zh-TW" dirty="0" smtClean="0">
                <a:solidFill>
                  <a:srgbClr val="FF0000"/>
                </a:solidFill>
              </a:rPr>
              <a:t>Assigning </a:t>
            </a:r>
            <a:r>
              <a:rPr lang="en-US" altLang="zh-TW" dirty="0" smtClean="0"/>
              <a:t>the packet to the packet processor</a:t>
            </a:r>
          </a:p>
          <a:p>
            <a:endParaRPr lang="en-US" altLang="zh-TW" dirty="0"/>
          </a:p>
          <a:p>
            <a:r>
              <a:rPr lang="en-US" altLang="zh-TW" dirty="0" smtClean="0">
                <a:solidFill>
                  <a:srgbClr val="FF0000"/>
                </a:solidFill>
              </a:rPr>
              <a:t>Notifying</a:t>
            </a:r>
            <a:r>
              <a:rPr lang="en-US" altLang="zh-TW" dirty="0" smtClean="0"/>
              <a:t> the packet processor of the packet</a:t>
            </a:r>
          </a:p>
          <a:p>
            <a:endParaRPr lang="en-US" altLang="zh-TW" dirty="0"/>
          </a:p>
          <a:p>
            <a:r>
              <a:rPr lang="en-US" altLang="zh-TW" dirty="0" smtClean="0">
                <a:solidFill>
                  <a:srgbClr val="FF0000"/>
                </a:solidFill>
              </a:rPr>
              <a:t>More detail in HSA Runtime</a:t>
            </a:r>
            <a:endParaRPr lang="en-US" altLang="zh-TW" dirty="0">
              <a:solidFill>
                <a:srgbClr val="FF0000"/>
              </a:solidFill>
            </a:endParaRPr>
          </a:p>
        </p:txBody>
      </p:sp>
    </p:spTree>
    <p:extLst>
      <p:ext uri="{BB962C8B-B14F-4D97-AF65-F5344CB8AC3E}">
        <p14:creationId xmlns:p14="http://schemas.microsoft.com/office/powerpoint/2010/main" val="393162103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Multiple vs. single submitting agents</a:t>
            </a:r>
            <a:endParaRPr lang="zh-TW" altLang="en-US" dirty="0"/>
          </a:p>
        </p:txBody>
      </p:sp>
      <p:sp>
        <p:nvSpPr>
          <p:cNvPr id="3" name="內容版面配置區 2"/>
          <p:cNvSpPr>
            <a:spLocks noGrp="1"/>
          </p:cNvSpPr>
          <p:nvPr>
            <p:ph idx="1"/>
          </p:nvPr>
        </p:nvSpPr>
        <p:spPr/>
        <p:txBody>
          <a:bodyPr/>
          <a:lstStyle/>
          <a:p>
            <a:r>
              <a:rPr lang="en-US" altLang="zh-TW" dirty="0"/>
              <a:t>In order to avoid deadlock when there are multiple agents submit jobs to a full queue</a:t>
            </a:r>
          </a:p>
          <a:p>
            <a:pPr lvl="1"/>
            <a:r>
              <a:rPr lang="en-US" altLang="zh-TW" dirty="0"/>
              <a:t>Check for queue full before incrementing the </a:t>
            </a:r>
            <a:r>
              <a:rPr lang="en-US" altLang="zh-TW" dirty="0" err="1"/>
              <a:t>writeindex</a:t>
            </a:r>
            <a:r>
              <a:rPr lang="en-US" altLang="zh-TW" dirty="0"/>
              <a:t> and use atomic CAS operation to change </a:t>
            </a:r>
            <a:r>
              <a:rPr lang="en-US" altLang="zh-TW" dirty="0" err="1"/>
              <a:t>writeindex</a:t>
            </a:r>
            <a:r>
              <a:rPr lang="en-US" altLang="zh-TW" dirty="0"/>
              <a:t>.</a:t>
            </a:r>
          </a:p>
          <a:p>
            <a:pPr lvl="1"/>
            <a:r>
              <a:rPr lang="en-US" altLang="zh-TW" dirty="0"/>
              <a:t>Atomic-add the number of AQL packets to allocate to the </a:t>
            </a:r>
            <a:r>
              <a:rPr lang="en-US" altLang="zh-TW" dirty="0" err="1"/>
              <a:t>writeindex</a:t>
            </a:r>
            <a:r>
              <a:rPr lang="en-US" altLang="zh-TW" dirty="0"/>
              <a:t>, then check if the queue is full.(difficult to manage)</a:t>
            </a:r>
          </a:p>
          <a:p>
            <a:endParaRPr lang="en-US" altLang="zh-TW" dirty="0" smtClean="0"/>
          </a:p>
          <a:p>
            <a:r>
              <a:rPr lang="en-US" altLang="zh-TW" dirty="0" smtClean="0"/>
              <a:t>There will be a dependency on index when multiple agents submit jobs, so use </a:t>
            </a:r>
            <a:r>
              <a:rPr lang="en-US" altLang="zh-TW" dirty="0" smtClean="0">
                <a:solidFill>
                  <a:srgbClr val="FF0000"/>
                </a:solidFill>
              </a:rPr>
              <a:t>read-modify-write</a:t>
            </a:r>
            <a:r>
              <a:rPr lang="en-US" altLang="zh-TW" dirty="0" smtClean="0"/>
              <a:t> atomic memory operations will be better.</a:t>
            </a:r>
          </a:p>
        </p:txBody>
      </p:sp>
    </p:spTree>
    <p:extLst>
      <p:ext uri="{BB962C8B-B14F-4D97-AF65-F5344CB8AC3E}">
        <p14:creationId xmlns:p14="http://schemas.microsoft.com/office/powerpoint/2010/main" val="381647695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Multiple vs. single submitting agents</a:t>
            </a:r>
            <a:endParaRPr lang="zh-TW" altLang="en-US" dirty="0"/>
          </a:p>
        </p:txBody>
      </p:sp>
      <p:sp>
        <p:nvSpPr>
          <p:cNvPr id="3" name="內容版面配置區 2"/>
          <p:cNvSpPr>
            <a:spLocks noGrp="1"/>
          </p:cNvSpPr>
          <p:nvPr>
            <p:ph idx="1"/>
          </p:nvPr>
        </p:nvSpPr>
        <p:spPr/>
        <p:txBody>
          <a:bodyPr/>
          <a:lstStyle/>
          <a:p>
            <a:r>
              <a:rPr lang="en-US" altLang="zh-TW" dirty="0" smtClean="0"/>
              <a:t>Due to the queue mechanism this specification defined, it is good to single agent submits job.</a:t>
            </a:r>
          </a:p>
          <a:p>
            <a:endParaRPr lang="en-US" altLang="zh-TW" dirty="0"/>
          </a:p>
          <a:p>
            <a:r>
              <a:rPr lang="en-US" altLang="zh-TW" dirty="0" smtClean="0"/>
              <a:t>The doorbell can be incremented in order by leveraging </a:t>
            </a:r>
            <a:r>
              <a:rPr lang="en-US" altLang="zh-TW" dirty="0" err="1" smtClean="0"/>
              <a:t>writeindex</a:t>
            </a:r>
            <a:r>
              <a:rPr lang="en-US" altLang="zh-TW" dirty="0" smtClean="0"/>
              <a:t>.</a:t>
            </a:r>
          </a:p>
          <a:p>
            <a:endParaRPr lang="en-US" altLang="zh-TW" dirty="0"/>
          </a:p>
          <a:p>
            <a:r>
              <a:rPr lang="en-US" altLang="zh-TW" dirty="0" smtClean="0"/>
              <a:t>Although there are many ways to implement multiple submitters without changing current queue mechanism, it still need more effect on manipulating index.</a:t>
            </a:r>
          </a:p>
          <a:p>
            <a:endParaRPr lang="en-US" altLang="zh-TW" dirty="0"/>
          </a:p>
          <a:p>
            <a:r>
              <a:rPr lang="en-US" altLang="zh-TW" dirty="0" smtClean="0"/>
              <a:t>Because above reasons, this specification recommend using single submitting agent.</a:t>
            </a:r>
          </a:p>
        </p:txBody>
      </p:sp>
    </p:spTree>
    <p:extLst>
      <p:ext uri="{BB962C8B-B14F-4D97-AF65-F5344CB8AC3E}">
        <p14:creationId xmlns:p14="http://schemas.microsoft.com/office/powerpoint/2010/main" val="386733629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smtClean="0">
                <a:latin typeface="Times New Roman" panose="02020603050405020304" pitchFamily="18" charset="0"/>
                <a:cs typeface="Times New Roman" panose="02020603050405020304" pitchFamily="18" charset="0"/>
              </a:rPr>
              <a:t>Architected  Queuing  language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56072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Architected Queuing Language</a:t>
            </a:r>
            <a:endParaRPr lang="zh-TW" altLang="en-US" dirty="0"/>
          </a:p>
        </p:txBody>
      </p:sp>
      <p:sp>
        <p:nvSpPr>
          <p:cNvPr id="3" name="內容版面配置區 2"/>
          <p:cNvSpPr>
            <a:spLocks noGrp="1"/>
          </p:cNvSpPr>
          <p:nvPr>
            <p:ph idx="1"/>
          </p:nvPr>
        </p:nvSpPr>
        <p:spPr/>
        <p:txBody>
          <a:bodyPr/>
          <a:lstStyle/>
          <a:p>
            <a:r>
              <a:rPr lang="en-US" altLang="zh-TW" dirty="0" smtClean="0"/>
              <a:t>A command interface for the dispatch of agent commands</a:t>
            </a:r>
          </a:p>
          <a:p>
            <a:endParaRPr lang="en-US" altLang="zh-TW" dirty="0"/>
          </a:p>
          <a:p>
            <a:r>
              <a:rPr lang="en-US" altLang="zh-TW" dirty="0" smtClean="0"/>
              <a:t>Defines several different packet types:</a:t>
            </a:r>
          </a:p>
          <a:p>
            <a:pPr lvl="1"/>
            <a:r>
              <a:rPr lang="en-US" altLang="zh-TW" dirty="0" smtClean="0"/>
              <a:t>Vendor-specific packet</a:t>
            </a:r>
          </a:p>
          <a:p>
            <a:pPr lvl="1"/>
            <a:r>
              <a:rPr lang="en-US" altLang="zh-TW" dirty="0" smtClean="0"/>
              <a:t>Invalid packet</a:t>
            </a:r>
          </a:p>
          <a:p>
            <a:pPr lvl="1"/>
            <a:r>
              <a:rPr lang="en-US" altLang="zh-TW" dirty="0" smtClean="0"/>
              <a:t>Kernel dispatch packet</a:t>
            </a:r>
          </a:p>
          <a:p>
            <a:pPr lvl="1"/>
            <a:r>
              <a:rPr lang="en-US" altLang="zh-TW" dirty="0" smtClean="0"/>
              <a:t>Agent dispatch packet</a:t>
            </a:r>
          </a:p>
          <a:p>
            <a:pPr lvl="1"/>
            <a:r>
              <a:rPr lang="en-US" altLang="zh-TW" dirty="0" smtClean="0"/>
              <a:t>Barrier-AND packet</a:t>
            </a:r>
          </a:p>
          <a:p>
            <a:pPr lvl="1"/>
            <a:r>
              <a:rPr lang="en-US" altLang="zh-TW" dirty="0" smtClean="0"/>
              <a:t>Barrier-OR packet</a:t>
            </a:r>
          </a:p>
        </p:txBody>
      </p:sp>
    </p:spTree>
    <p:extLst>
      <p:ext uri="{BB962C8B-B14F-4D97-AF65-F5344CB8AC3E}">
        <p14:creationId xmlns:p14="http://schemas.microsoft.com/office/powerpoint/2010/main" val="149823030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Packet header</a:t>
            </a:r>
            <a:endParaRPr lang="zh-TW" altLang="en-US" dirty="0"/>
          </a:p>
        </p:txBody>
      </p:sp>
      <p:pic>
        <p:nvPicPr>
          <p:cNvPr id="4" name="Picture 2"/>
          <p:cNvPicPr>
            <a:picLocks noGrp="1" noChangeAspect="1" noChangeArrowheads="1"/>
          </p:cNvPicPr>
          <p:nvPr>
            <p:ph idx="1"/>
          </p:nvPr>
        </p:nvPicPr>
        <p:blipFill>
          <a:blip r:embed="rId2"/>
          <a:srcRect/>
          <a:stretch>
            <a:fillRect/>
          </a:stretch>
        </p:blipFill>
        <p:spPr bwMode="auto">
          <a:xfrm>
            <a:off x="1097588" y="1177898"/>
            <a:ext cx="7201275" cy="2133711"/>
          </a:xfrm>
          <a:prstGeom prst="rect">
            <a:avLst/>
          </a:prstGeom>
          <a:noFill/>
          <a:ln w="9525">
            <a:noFill/>
            <a:miter lim="800000"/>
            <a:headEnd/>
            <a:tailEnd/>
          </a:ln>
        </p:spPr>
      </p:pic>
      <p:sp>
        <p:nvSpPr>
          <p:cNvPr id="6" name="內容版面配置區 2"/>
          <p:cNvSpPr txBox="1">
            <a:spLocks/>
          </p:cNvSpPr>
          <p:nvPr/>
        </p:nvSpPr>
        <p:spPr bwMode="auto">
          <a:xfrm>
            <a:off x="3027405" y="3150972"/>
            <a:ext cx="3472249" cy="28704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500">
                <a:solidFill>
                  <a:schemeClr val="tx1"/>
                </a:solidFill>
                <a:latin typeface="Calibri" pitchFamily="34" charset="0"/>
                <a:ea typeface="標楷體" pitchFamily="65" charset="-120"/>
                <a:cs typeface="Calibri" pitchFamily="34" charset="0"/>
              </a:defRPr>
            </a:lvl3pPr>
            <a:lvl4pPr marL="12001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4pPr>
            <a:lvl5pPr marL="15430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TW" kern="0" dirty="0" smtClean="0"/>
              <a:t>AQL_FORMAT:</a:t>
            </a:r>
          </a:p>
          <a:p>
            <a:pPr lvl="1"/>
            <a:r>
              <a:rPr lang="en-US" altLang="zh-TW" sz="2300" kern="0" dirty="0" smtClean="0"/>
              <a:t>0=VENDER_SPECIFIC</a:t>
            </a:r>
          </a:p>
          <a:p>
            <a:pPr lvl="1"/>
            <a:r>
              <a:rPr lang="en-US" altLang="zh-TW" sz="2300" kern="0" dirty="0" smtClean="0"/>
              <a:t>1=INVALID</a:t>
            </a:r>
          </a:p>
          <a:p>
            <a:pPr lvl="1"/>
            <a:r>
              <a:rPr lang="en-US" altLang="zh-TW" sz="2300" kern="0" dirty="0" smtClean="0"/>
              <a:t>2=KERNEL_DISPATCH</a:t>
            </a:r>
          </a:p>
          <a:p>
            <a:pPr lvl="1"/>
            <a:r>
              <a:rPr lang="en-US" altLang="zh-TW" sz="2300" kern="0" dirty="0" smtClean="0"/>
              <a:t>3=BARRIER_AND</a:t>
            </a:r>
          </a:p>
          <a:p>
            <a:pPr lvl="1"/>
            <a:r>
              <a:rPr lang="en-US" altLang="zh-TW" sz="2300" kern="0" dirty="0" smtClean="0"/>
              <a:t>4=AGENT_DISPATCH</a:t>
            </a:r>
          </a:p>
          <a:p>
            <a:pPr lvl="1"/>
            <a:r>
              <a:rPr lang="en-US" altLang="zh-TW" sz="2300" kern="0" dirty="0" smtClean="0"/>
              <a:t>5=BARRIER_OR</a:t>
            </a:r>
          </a:p>
        </p:txBody>
      </p:sp>
    </p:spTree>
    <p:extLst>
      <p:ext uri="{BB962C8B-B14F-4D97-AF65-F5344CB8AC3E}">
        <p14:creationId xmlns:p14="http://schemas.microsoft.com/office/powerpoint/2010/main" val="134209592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Packet header</a:t>
            </a:r>
            <a:endParaRPr lang="zh-TW" altLang="en-US" dirty="0"/>
          </a:p>
        </p:txBody>
      </p:sp>
      <p:pic>
        <p:nvPicPr>
          <p:cNvPr id="4" name="Picture 2"/>
          <p:cNvPicPr>
            <a:picLocks noGrp="1" noChangeAspect="1" noChangeArrowheads="1"/>
          </p:cNvPicPr>
          <p:nvPr>
            <p:ph idx="1"/>
          </p:nvPr>
        </p:nvPicPr>
        <p:blipFill>
          <a:blip r:embed="rId2"/>
          <a:srcRect/>
          <a:stretch>
            <a:fillRect/>
          </a:stretch>
        </p:blipFill>
        <p:spPr bwMode="auto">
          <a:xfrm>
            <a:off x="1097588" y="1177898"/>
            <a:ext cx="7201275" cy="2133711"/>
          </a:xfrm>
          <a:prstGeom prst="rect">
            <a:avLst/>
          </a:prstGeom>
          <a:noFill/>
          <a:ln w="9525">
            <a:noFill/>
            <a:miter lim="800000"/>
            <a:headEnd/>
            <a:tailEnd/>
          </a:ln>
        </p:spPr>
      </p:pic>
      <p:sp>
        <p:nvSpPr>
          <p:cNvPr id="6" name="內容版面配置區 2"/>
          <p:cNvSpPr txBox="1">
            <a:spLocks/>
          </p:cNvSpPr>
          <p:nvPr/>
        </p:nvSpPr>
        <p:spPr bwMode="auto">
          <a:xfrm>
            <a:off x="1606380" y="3620529"/>
            <a:ext cx="6017740" cy="17670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500">
                <a:solidFill>
                  <a:schemeClr val="tx1"/>
                </a:solidFill>
                <a:latin typeface="Calibri" pitchFamily="34" charset="0"/>
                <a:ea typeface="標楷體" pitchFamily="65" charset="-120"/>
                <a:cs typeface="Calibri" pitchFamily="34" charset="0"/>
              </a:defRPr>
            </a:lvl3pPr>
            <a:lvl4pPr marL="12001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4pPr>
            <a:lvl5pPr marL="15430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TW" kern="0" dirty="0" smtClean="0"/>
              <a:t>barrier:</a:t>
            </a:r>
          </a:p>
          <a:p>
            <a:pPr marL="0" indent="0">
              <a:buNone/>
            </a:pPr>
            <a:r>
              <a:rPr lang="en-US" altLang="zh-TW" kern="0" dirty="0" smtClean="0"/>
              <a:t>	If set, then processing of the packet will only begin when all preceding packets are complete.</a:t>
            </a:r>
          </a:p>
        </p:txBody>
      </p:sp>
    </p:spTree>
    <p:extLst>
      <p:ext uri="{BB962C8B-B14F-4D97-AF65-F5344CB8AC3E}">
        <p14:creationId xmlns:p14="http://schemas.microsoft.com/office/powerpoint/2010/main" val="135879518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Packet header</a:t>
            </a:r>
            <a:endParaRPr lang="zh-TW" altLang="en-US" dirty="0"/>
          </a:p>
        </p:txBody>
      </p:sp>
      <p:pic>
        <p:nvPicPr>
          <p:cNvPr id="4" name="Picture 2"/>
          <p:cNvPicPr>
            <a:picLocks noGrp="1" noChangeAspect="1" noChangeArrowheads="1"/>
          </p:cNvPicPr>
          <p:nvPr>
            <p:ph idx="1"/>
          </p:nvPr>
        </p:nvPicPr>
        <p:blipFill>
          <a:blip r:embed="rId2"/>
          <a:srcRect/>
          <a:stretch>
            <a:fillRect/>
          </a:stretch>
        </p:blipFill>
        <p:spPr bwMode="auto">
          <a:xfrm>
            <a:off x="1097588" y="1177898"/>
            <a:ext cx="7201275" cy="2133711"/>
          </a:xfrm>
          <a:prstGeom prst="rect">
            <a:avLst/>
          </a:prstGeom>
          <a:noFill/>
          <a:ln w="9525">
            <a:noFill/>
            <a:miter lim="800000"/>
            <a:headEnd/>
            <a:tailEnd/>
          </a:ln>
        </p:spPr>
      </p:pic>
      <p:sp>
        <p:nvSpPr>
          <p:cNvPr id="6" name="內容版面配置區 2"/>
          <p:cNvSpPr txBox="1">
            <a:spLocks/>
          </p:cNvSpPr>
          <p:nvPr/>
        </p:nvSpPr>
        <p:spPr bwMode="auto">
          <a:xfrm>
            <a:off x="1606380" y="3509326"/>
            <a:ext cx="6017740" cy="17670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500">
                <a:solidFill>
                  <a:schemeClr val="tx1"/>
                </a:solidFill>
                <a:latin typeface="Calibri" pitchFamily="34" charset="0"/>
                <a:ea typeface="標楷體" pitchFamily="65" charset="-120"/>
                <a:cs typeface="Calibri" pitchFamily="34" charset="0"/>
              </a:defRPr>
            </a:lvl3pPr>
            <a:lvl4pPr marL="12001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4pPr>
            <a:lvl5pPr marL="15430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TW" kern="0" dirty="0" err="1" smtClean="0"/>
              <a:t>fence_scope</a:t>
            </a:r>
            <a:r>
              <a:rPr lang="en-US" altLang="zh-TW" kern="0" dirty="0" smtClean="0"/>
              <a:t>:</a:t>
            </a:r>
          </a:p>
          <a:p>
            <a:pPr marL="0" indent="0">
              <a:buNone/>
            </a:pPr>
            <a:r>
              <a:rPr lang="en-US" altLang="zh-TW" kern="0" dirty="0" smtClean="0"/>
              <a:t>	Determines the scope and type of the acquire memory fence operation for a packet.</a:t>
            </a:r>
            <a:r>
              <a:rPr lang="en-US" altLang="zh-TW" kern="0" dirty="0"/>
              <a:t> </a:t>
            </a:r>
            <a:r>
              <a:rPr lang="en-US" altLang="zh-TW" kern="0" dirty="0" smtClean="0"/>
              <a:t> It is applied for the </a:t>
            </a:r>
            <a:r>
              <a:rPr lang="en-US" altLang="zh-TW" kern="0" dirty="0" smtClean="0">
                <a:solidFill>
                  <a:srgbClr val="FF0000"/>
                </a:solidFill>
              </a:rPr>
              <a:t>packet process flow.</a:t>
            </a:r>
          </a:p>
        </p:txBody>
      </p:sp>
    </p:spTree>
    <p:extLst>
      <p:ext uri="{BB962C8B-B14F-4D97-AF65-F5344CB8AC3E}">
        <p14:creationId xmlns:p14="http://schemas.microsoft.com/office/powerpoint/2010/main" val="329843980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Packet process flow</a:t>
            </a:r>
            <a:endParaRPr lang="zh-TW" altLang="en-US" dirty="0"/>
          </a:p>
        </p:txBody>
      </p:sp>
      <p:pic>
        <p:nvPicPr>
          <p:cNvPr id="7" name="內容版面配置區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2002" y="1109208"/>
            <a:ext cx="7609874" cy="5027907"/>
          </a:xfrm>
        </p:spPr>
      </p:pic>
    </p:spTree>
    <p:extLst>
      <p:ext uri="{BB962C8B-B14F-4D97-AF65-F5344CB8AC3E}">
        <p14:creationId xmlns:p14="http://schemas.microsoft.com/office/powerpoint/2010/main" val="167269959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Error handling</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410205808"/>
              </p:ext>
            </p:extLst>
          </p:nvPr>
        </p:nvGraphicFramePr>
        <p:xfrm>
          <a:off x="446089" y="1988179"/>
          <a:ext cx="8229600" cy="370840"/>
        </p:xfrm>
        <a:graphic>
          <a:graphicData uri="http://schemas.openxmlformats.org/drawingml/2006/table">
            <a:tbl>
              <a:tblPr firstRow="1" bandRow="1">
                <a:tableStyleId>{5940675A-B579-460E-94D1-54222C63F5DA}</a:tableStyleId>
              </a:tblPr>
              <a:tblGrid>
                <a:gridCol w="822960"/>
                <a:gridCol w="822960"/>
                <a:gridCol w="822960"/>
                <a:gridCol w="822960"/>
                <a:gridCol w="822960"/>
                <a:gridCol w="822960"/>
                <a:gridCol w="822960"/>
                <a:gridCol w="822960"/>
                <a:gridCol w="822960"/>
                <a:gridCol w="822960"/>
              </a:tblGrid>
              <a:tr h="370840">
                <a:tc>
                  <a:txBody>
                    <a:bodyPr/>
                    <a:lstStyle/>
                    <a:p>
                      <a:endParaRPr lang="zh-TW" altLang="en-US"/>
                    </a:p>
                  </a:txBody>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tc>
                <a:tc>
                  <a:txBody>
                    <a:bodyPr/>
                    <a:lstStyle/>
                    <a:p>
                      <a:pPr algn="ctr"/>
                      <a:r>
                        <a:rPr lang="en-US" altLang="zh-TW" smtClean="0"/>
                        <a:t>ERROR</a:t>
                      </a:r>
                      <a:endParaRPr lang="zh-TW" altLang="en-US"/>
                    </a:p>
                  </a:txBody>
                  <a:tcPr anchor="ctr">
                    <a:solidFill>
                      <a:srgbClr val="FF0000"/>
                    </a:solidFill>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tc>
                <a:tc>
                  <a:txBody>
                    <a:bodyPr/>
                    <a:lstStyle/>
                    <a:p>
                      <a:endParaRPr lang="zh-TW" altLang="en-US"/>
                    </a:p>
                  </a:txBody>
                  <a:tcPr/>
                </a:tc>
              </a:tr>
            </a:tbl>
          </a:graphicData>
        </a:graphic>
      </p:graphicFrame>
      <p:graphicFrame>
        <p:nvGraphicFramePr>
          <p:cNvPr id="6" name="內容版面配置區 3"/>
          <p:cNvGraphicFramePr>
            <a:graphicFrameLocks/>
          </p:cNvGraphicFramePr>
          <p:nvPr>
            <p:extLst>
              <p:ext uri="{D42A27DB-BD31-4B8C-83A1-F6EECF244321}">
                <p14:modId xmlns:p14="http://schemas.microsoft.com/office/powerpoint/2010/main" val="1057051207"/>
              </p:ext>
            </p:extLst>
          </p:nvPr>
        </p:nvGraphicFramePr>
        <p:xfrm>
          <a:off x="2560320" y="3443168"/>
          <a:ext cx="6583680" cy="370840"/>
        </p:xfrm>
        <a:graphic>
          <a:graphicData uri="http://schemas.openxmlformats.org/drawingml/2006/table">
            <a:tbl>
              <a:tblPr firstRow="1" bandRow="1">
                <a:tableStyleId>{5940675A-B579-460E-94D1-54222C63F5DA}</a:tableStyleId>
              </a:tblPr>
              <a:tblGrid>
                <a:gridCol w="822960"/>
                <a:gridCol w="822960"/>
                <a:gridCol w="822960"/>
                <a:gridCol w="822960"/>
                <a:gridCol w="822960"/>
                <a:gridCol w="822960"/>
                <a:gridCol w="822960"/>
                <a:gridCol w="822960"/>
              </a:tblGrid>
              <a:tr h="370840">
                <a:tc>
                  <a:txBody>
                    <a:bodyPr/>
                    <a:lstStyle/>
                    <a:p>
                      <a:endParaRPr lang="zh-TW" altLang="en-US"/>
                    </a:p>
                  </a:txBody>
                  <a:tcPr/>
                </a:tc>
                <a:tc>
                  <a:txBody>
                    <a:bodyPr/>
                    <a:lstStyle/>
                    <a:p>
                      <a:endParaRPr lang="zh-TW" altLang="en-US"/>
                    </a:p>
                  </a:txBody>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tc>
                <a:tc>
                  <a:txBody>
                    <a:bodyPr/>
                    <a:lstStyle/>
                    <a:p>
                      <a:endParaRPr lang="zh-TW" altLang="en-US"/>
                    </a:p>
                  </a:txBody>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r>
            </a:tbl>
          </a:graphicData>
        </a:graphic>
      </p:graphicFrame>
      <p:graphicFrame>
        <p:nvGraphicFramePr>
          <p:cNvPr id="8" name="內容版面配置區 3"/>
          <p:cNvGraphicFramePr>
            <a:graphicFrameLocks/>
          </p:cNvGraphicFramePr>
          <p:nvPr>
            <p:extLst>
              <p:ext uri="{D42A27DB-BD31-4B8C-83A1-F6EECF244321}">
                <p14:modId xmlns:p14="http://schemas.microsoft.com/office/powerpoint/2010/main" val="4258570200"/>
              </p:ext>
            </p:extLst>
          </p:nvPr>
        </p:nvGraphicFramePr>
        <p:xfrm>
          <a:off x="676127" y="5013176"/>
          <a:ext cx="8229600" cy="370840"/>
        </p:xfrm>
        <a:graphic>
          <a:graphicData uri="http://schemas.openxmlformats.org/drawingml/2006/table">
            <a:tbl>
              <a:tblPr firstRow="1" bandRow="1">
                <a:tableStyleId>{5940675A-B579-460E-94D1-54222C63F5DA}</a:tableStyleId>
              </a:tblPr>
              <a:tblGrid>
                <a:gridCol w="822960"/>
                <a:gridCol w="822960"/>
                <a:gridCol w="822960"/>
                <a:gridCol w="822960"/>
                <a:gridCol w="822960"/>
                <a:gridCol w="822960"/>
                <a:gridCol w="822960"/>
                <a:gridCol w="822960"/>
                <a:gridCol w="822960"/>
                <a:gridCol w="822960"/>
              </a:tblGrid>
              <a:tr h="370840">
                <a:tc>
                  <a:txBody>
                    <a:bodyPr/>
                    <a:lstStyle/>
                    <a:p>
                      <a:endParaRPr lang="zh-TW" altLang="en-US"/>
                    </a:p>
                  </a:txBody>
                  <a:tcPr>
                    <a:solidFill>
                      <a:srgbClr val="0070C0"/>
                    </a:solidFill>
                  </a:tcPr>
                </a:tc>
                <a:tc>
                  <a:txBody>
                    <a:bodyPr/>
                    <a:lstStyle/>
                    <a:p>
                      <a:endParaRPr lang="zh-TW" altLang="en-US"/>
                    </a:p>
                  </a:txBody>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tc>
                <a:tc>
                  <a:txBody>
                    <a:bodyPr/>
                    <a:lstStyle/>
                    <a:p>
                      <a:endParaRPr lang="zh-TW" altLang="en-US"/>
                    </a:p>
                  </a:txBody>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r>
            </a:tbl>
          </a:graphicData>
        </a:graphic>
      </p:graphicFrame>
      <p:sp>
        <p:nvSpPr>
          <p:cNvPr id="5" name="文字方塊 4"/>
          <p:cNvSpPr txBox="1"/>
          <p:nvPr/>
        </p:nvSpPr>
        <p:spPr>
          <a:xfrm>
            <a:off x="7418716" y="1512272"/>
            <a:ext cx="1602026"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Queue 1</a:t>
            </a:r>
            <a:endParaRPr lang="zh-TW" altLang="en-US" dirty="0" smtClean="0">
              <a:ea typeface="標楷體" pitchFamily="65" charset="-120"/>
              <a:cs typeface="Calibri" pitchFamily="34" charset="0"/>
            </a:endParaRPr>
          </a:p>
        </p:txBody>
      </p:sp>
      <p:sp>
        <p:nvSpPr>
          <p:cNvPr id="9" name="文字方塊 8"/>
          <p:cNvSpPr txBox="1"/>
          <p:nvPr/>
        </p:nvSpPr>
        <p:spPr>
          <a:xfrm>
            <a:off x="7418716" y="2909343"/>
            <a:ext cx="1602026"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Queue 2</a:t>
            </a:r>
            <a:endParaRPr lang="zh-TW" altLang="en-US" dirty="0" smtClean="0">
              <a:ea typeface="標楷體" pitchFamily="65" charset="-120"/>
              <a:cs typeface="Calibri" pitchFamily="34" charset="0"/>
            </a:endParaRPr>
          </a:p>
        </p:txBody>
      </p:sp>
      <p:sp>
        <p:nvSpPr>
          <p:cNvPr id="10" name="文字方塊 9"/>
          <p:cNvSpPr txBox="1"/>
          <p:nvPr/>
        </p:nvSpPr>
        <p:spPr>
          <a:xfrm>
            <a:off x="7418716" y="4494136"/>
            <a:ext cx="1602026"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Queue 3</a:t>
            </a:r>
            <a:endParaRPr lang="zh-TW" altLang="en-US" dirty="0" smtClean="0">
              <a:ea typeface="標楷體" pitchFamily="65" charset="-120"/>
              <a:cs typeface="Calibri" pitchFamily="34" charset="0"/>
            </a:endParaRPr>
          </a:p>
        </p:txBody>
      </p:sp>
      <p:graphicFrame>
        <p:nvGraphicFramePr>
          <p:cNvPr id="11" name="內容版面配置區 3"/>
          <p:cNvGraphicFramePr>
            <a:graphicFrameLocks/>
          </p:cNvGraphicFramePr>
          <p:nvPr>
            <p:extLst>
              <p:ext uri="{D42A27DB-BD31-4B8C-83A1-F6EECF244321}">
                <p14:modId xmlns:p14="http://schemas.microsoft.com/office/powerpoint/2010/main" val="1964450678"/>
              </p:ext>
            </p:extLst>
          </p:nvPr>
        </p:nvGraphicFramePr>
        <p:xfrm>
          <a:off x="446089" y="1990129"/>
          <a:ext cx="8229600" cy="370840"/>
        </p:xfrm>
        <a:graphic>
          <a:graphicData uri="http://schemas.openxmlformats.org/drawingml/2006/table">
            <a:tbl>
              <a:tblPr firstRow="1" bandRow="1">
                <a:tableStyleId>{5940675A-B579-460E-94D1-54222C63F5DA}</a:tableStyleId>
              </a:tblPr>
              <a:tblGrid>
                <a:gridCol w="822960"/>
                <a:gridCol w="822960"/>
                <a:gridCol w="822960"/>
                <a:gridCol w="822960"/>
                <a:gridCol w="822960"/>
                <a:gridCol w="822960"/>
                <a:gridCol w="822960"/>
                <a:gridCol w="822960"/>
                <a:gridCol w="822960"/>
                <a:gridCol w="822960"/>
              </a:tblGrid>
              <a:tr h="370840">
                <a:tc>
                  <a:txBody>
                    <a:bodyPr/>
                    <a:lstStyle/>
                    <a:p>
                      <a:endParaRPr lang="zh-TW" altLang="en-US"/>
                    </a:p>
                  </a:txBody>
                  <a:tcPr>
                    <a:solidFill>
                      <a:schemeClr val="tx1">
                        <a:lumMod val="50000"/>
                        <a:lumOff val="50000"/>
                      </a:schemeClr>
                    </a:solidFill>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solidFill>
                      <a:schemeClr val="tx1">
                        <a:lumMod val="50000"/>
                        <a:lumOff val="50000"/>
                      </a:schemeClr>
                    </a:solidFill>
                  </a:tcPr>
                </a:tc>
                <a:tc>
                  <a:txBody>
                    <a:bodyPr/>
                    <a:lstStyle/>
                    <a:p>
                      <a:pPr algn="ctr"/>
                      <a:r>
                        <a:rPr lang="en-US" altLang="zh-TW" smtClean="0"/>
                        <a:t>ERROR</a:t>
                      </a:r>
                      <a:endParaRPr lang="zh-TW" altLang="en-US"/>
                    </a:p>
                  </a:txBody>
                  <a:tcPr anchor="ctr">
                    <a:solidFill>
                      <a:schemeClr val="accent2">
                        <a:lumMod val="75000"/>
                      </a:schemeClr>
                    </a:solidFill>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solidFill>
                      <a:srgbClr val="0070C0"/>
                    </a:solidFill>
                  </a:tcPr>
                </a:tc>
                <a:tc>
                  <a:txBody>
                    <a:bodyPr/>
                    <a:lstStyle/>
                    <a:p>
                      <a:endParaRPr lang="zh-TW" altLang="en-US"/>
                    </a:p>
                  </a:txBody>
                  <a:tcPr>
                    <a:solidFill>
                      <a:schemeClr val="tx1">
                        <a:lumMod val="50000"/>
                        <a:lumOff val="50000"/>
                      </a:schemeClr>
                    </a:solidFill>
                  </a:tcPr>
                </a:tc>
                <a:tc>
                  <a:txBody>
                    <a:bodyPr/>
                    <a:lstStyle/>
                    <a:p>
                      <a:endParaRPr lang="zh-TW" altLang="en-US"/>
                    </a:p>
                  </a:txBody>
                  <a:tcPr>
                    <a:solidFill>
                      <a:schemeClr val="tx1">
                        <a:lumMod val="50000"/>
                        <a:lumOff val="50000"/>
                      </a:schemeClr>
                    </a:solidFill>
                  </a:tcPr>
                </a:tc>
              </a:tr>
            </a:tbl>
          </a:graphicData>
        </a:graphic>
      </p:graphicFrame>
      <p:cxnSp>
        <p:nvCxnSpPr>
          <p:cNvPr id="15" name="直線單箭頭接點 14"/>
          <p:cNvCxnSpPr/>
          <p:nvPr/>
        </p:nvCxnSpPr>
        <p:spPr bwMode="auto">
          <a:xfrm flipV="1">
            <a:off x="4451230" y="1696938"/>
            <a:ext cx="0" cy="364775"/>
          </a:xfrm>
          <a:prstGeom prst="straightConnector1">
            <a:avLst/>
          </a:prstGeom>
          <a:noFill/>
          <a:ln w="15875" cap="flat" cmpd="sng" algn="ctr">
            <a:solidFill>
              <a:srgbClr val="FF0000"/>
            </a:solidFill>
            <a:prstDash val="solid"/>
            <a:round/>
            <a:headEnd type="none" w="med" len="med"/>
            <a:tailEnd type="triangle"/>
          </a:ln>
          <a:effectLst/>
        </p:spPr>
      </p:cxnSp>
      <p:sp>
        <p:nvSpPr>
          <p:cNvPr id="16" name="文字方塊 15"/>
          <p:cNvSpPr txBox="1"/>
          <p:nvPr/>
        </p:nvSpPr>
        <p:spPr>
          <a:xfrm>
            <a:off x="3994030" y="1315097"/>
            <a:ext cx="2510287" cy="369332"/>
          </a:xfrm>
          <a:prstGeom prst="rect">
            <a:avLst/>
          </a:prstGeom>
          <a:noFill/>
          <a:ln>
            <a:solidFill>
              <a:schemeClr val="tx1"/>
            </a:solidFill>
            <a:prstDash val="dash"/>
          </a:ln>
        </p:spPr>
        <p:txBody>
          <a:bodyPr wrap="square" rtlCol="0" anchor="ctr" anchorCtr="1">
            <a:spAutoFit/>
          </a:bodyPr>
          <a:lstStyle/>
          <a:p>
            <a:r>
              <a:rPr lang="en-US" altLang="zh-TW" smtClean="0">
                <a:ea typeface="標楷體" pitchFamily="65" charset="-120"/>
                <a:cs typeface="Calibri" pitchFamily="34" charset="0"/>
              </a:rPr>
              <a:t>Release fence applied</a:t>
            </a:r>
            <a:endParaRPr lang="zh-TW" altLang="en-US" dirty="0" smtClean="0">
              <a:ea typeface="標楷體" pitchFamily="65" charset="-120"/>
              <a:cs typeface="Calibri" pitchFamily="34" charset="0"/>
            </a:endParaRPr>
          </a:p>
        </p:txBody>
      </p:sp>
      <p:sp>
        <p:nvSpPr>
          <p:cNvPr id="21" name="文字方塊 20"/>
          <p:cNvSpPr txBox="1"/>
          <p:nvPr/>
        </p:nvSpPr>
        <p:spPr>
          <a:xfrm>
            <a:off x="5624422" y="2430929"/>
            <a:ext cx="3051267" cy="369332"/>
          </a:xfrm>
          <a:prstGeom prst="rect">
            <a:avLst/>
          </a:prstGeom>
          <a:noFill/>
          <a:ln>
            <a:solidFill>
              <a:schemeClr val="tx1"/>
            </a:solidFill>
            <a:prstDash val="dash"/>
          </a:ln>
        </p:spPr>
        <p:txBody>
          <a:bodyPr wrap="square" rtlCol="0" anchor="ctr" anchorCtr="1">
            <a:spAutoFit/>
          </a:bodyPr>
          <a:lstStyle/>
          <a:p>
            <a:r>
              <a:rPr lang="en-US" altLang="zh-TW" smtClean="0">
                <a:ea typeface="標楷體" pitchFamily="65" charset="-120"/>
                <a:cs typeface="Calibri" pitchFamily="34" charset="0"/>
              </a:rPr>
              <a:t>HSA runtime error call back</a:t>
            </a:r>
            <a:endParaRPr lang="zh-TW" altLang="en-US" dirty="0" smtClean="0">
              <a:ea typeface="標楷體" pitchFamily="65" charset="-120"/>
              <a:cs typeface="Calibri" pitchFamily="34" charset="0"/>
            </a:endParaRPr>
          </a:p>
        </p:txBody>
      </p:sp>
      <p:cxnSp>
        <p:nvCxnSpPr>
          <p:cNvPr id="29" name="肘形接點 28"/>
          <p:cNvCxnSpPr/>
          <p:nvPr/>
        </p:nvCxnSpPr>
        <p:spPr bwMode="auto">
          <a:xfrm rot="5400000">
            <a:off x="5157902" y="2398441"/>
            <a:ext cx="415447" cy="388192"/>
          </a:xfrm>
          <a:prstGeom prst="bentConnector2">
            <a:avLst/>
          </a:prstGeom>
          <a:noFill/>
          <a:ln w="15875" cap="flat" cmpd="sng" algn="ctr">
            <a:solidFill>
              <a:srgbClr val="FF0000"/>
            </a:solidFill>
            <a:prstDash val="solid"/>
            <a:round/>
            <a:headEnd type="none" w="med" len="med"/>
            <a:tailEnd type="triangle"/>
          </a:ln>
          <a:effectLst/>
        </p:spPr>
      </p:cxnSp>
      <p:sp>
        <p:nvSpPr>
          <p:cNvPr id="37" name="文字方塊 36"/>
          <p:cNvSpPr txBox="1"/>
          <p:nvPr/>
        </p:nvSpPr>
        <p:spPr>
          <a:xfrm>
            <a:off x="250166" y="3077260"/>
            <a:ext cx="2147977" cy="923330"/>
          </a:xfrm>
          <a:prstGeom prst="rect">
            <a:avLst/>
          </a:prstGeom>
          <a:noFill/>
          <a:ln>
            <a:solidFill>
              <a:schemeClr val="tx1"/>
            </a:solidFill>
            <a:prstDash val="dash"/>
          </a:ln>
        </p:spPr>
        <p:txBody>
          <a:bodyPr wrap="square" rtlCol="0" anchor="ctr" anchorCtr="1">
            <a:spAutoFit/>
          </a:bodyPr>
          <a:lstStyle/>
          <a:p>
            <a:r>
              <a:rPr lang="en-US" altLang="zh-TW" smtClean="0">
                <a:ea typeface="標楷體" pitchFamily="65" charset="-120"/>
                <a:cs typeface="Calibri" pitchFamily="34" charset="0"/>
              </a:rPr>
              <a:t>Packets within the same process still be process.</a:t>
            </a:r>
          </a:p>
        </p:txBody>
      </p:sp>
      <p:cxnSp>
        <p:nvCxnSpPr>
          <p:cNvPr id="45" name="直線單箭頭接點 44"/>
          <p:cNvCxnSpPr>
            <a:endCxn id="37" idx="0"/>
          </p:cNvCxnSpPr>
          <p:nvPr/>
        </p:nvCxnSpPr>
        <p:spPr bwMode="auto">
          <a:xfrm flipH="1">
            <a:off x="1324155" y="2294626"/>
            <a:ext cx="2549105" cy="782634"/>
          </a:xfrm>
          <a:prstGeom prst="straightConnector1">
            <a:avLst/>
          </a:prstGeom>
          <a:noFill/>
          <a:ln w="15875" cap="flat" cmpd="sng" algn="ctr">
            <a:solidFill>
              <a:srgbClr val="FF0000"/>
            </a:solidFill>
            <a:prstDash val="solid"/>
            <a:round/>
            <a:headEnd type="none" w="med" len="med"/>
            <a:tailEnd type="triangle"/>
          </a:ln>
          <a:effectLst/>
        </p:spPr>
      </p:cxnSp>
      <p:cxnSp>
        <p:nvCxnSpPr>
          <p:cNvPr id="47" name="直線單箭頭接點 46"/>
          <p:cNvCxnSpPr>
            <a:endCxn id="37" idx="3"/>
          </p:cNvCxnSpPr>
          <p:nvPr/>
        </p:nvCxnSpPr>
        <p:spPr bwMode="auto">
          <a:xfrm flipH="1" flipV="1">
            <a:off x="2398143" y="3538925"/>
            <a:ext cx="2268748" cy="75543"/>
          </a:xfrm>
          <a:prstGeom prst="straightConnector1">
            <a:avLst/>
          </a:prstGeom>
          <a:noFill/>
          <a:ln w="15875" cap="flat" cmpd="sng" algn="ctr">
            <a:solidFill>
              <a:srgbClr val="FF0000"/>
            </a:solidFill>
            <a:prstDash val="solid"/>
            <a:round/>
            <a:headEnd type="none" w="med" len="med"/>
            <a:tailEnd type="triangle"/>
          </a:ln>
          <a:effectLst/>
        </p:spPr>
      </p:cxnSp>
      <p:cxnSp>
        <p:nvCxnSpPr>
          <p:cNvPr id="49" name="直線單箭頭接點 48"/>
          <p:cNvCxnSpPr>
            <a:endCxn id="37" idx="2"/>
          </p:cNvCxnSpPr>
          <p:nvPr/>
        </p:nvCxnSpPr>
        <p:spPr bwMode="auto">
          <a:xfrm flipH="1" flipV="1">
            <a:off x="1324155" y="4000590"/>
            <a:ext cx="2290313" cy="1183885"/>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97388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1000"/>
                                        <p:tgtEl>
                                          <p:spTgt spid="21"/>
                                        </p:tgtEl>
                                      </p:cBhvr>
                                    </p:animEffect>
                                    <p:anim calcmode="lin" valueType="num">
                                      <p:cBhvr>
                                        <p:cTn id="25" dur="1000" fill="hold"/>
                                        <p:tgtEl>
                                          <p:spTgt spid="21"/>
                                        </p:tgtEl>
                                        <p:attrNameLst>
                                          <p:attrName>ppt_x</p:attrName>
                                        </p:attrNameLst>
                                      </p:cBhvr>
                                      <p:tavLst>
                                        <p:tav tm="0">
                                          <p:val>
                                            <p:strVal val="#ppt_x"/>
                                          </p:val>
                                        </p:tav>
                                        <p:tav tm="100000">
                                          <p:val>
                                            <p:strVal val="#ppt_x"/>
                                          </p:val>
                                        </p:tav>
                                      </p:tavLst>
                                    </p:anim>
                                    <p:anim calcmode="lin" valueType="num">
                                      <p:cBhvr>
                                        <p:cTn id="26" dur="1000" fill="hold"/>
                                        <p:tgtEl>
                                          <p:spTgt spid="21"/>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1000"/>
                                        <p:tgtEl>
                                          <p:spTgt spid="29"/>
                                        </p:tgtEl>
                                      </p:cBhvr>
                                    </p:animEffect>
                                    <p:anim calcmode="lin" valueType="num">
                                      <p:cBhvr>
                                        <p:cTn id="30" dur="1000" fill="hold"/>
                                        <p:tgtEl>
                                          <p:spTgt spid="29"/>
                                        </p:tgtEl>
                                        <p:attrNameLst>
                                          <p:attrName>ppt_x</p:attrName>
                                        </p:attrNameLst>
                                      </p:cBhvr>
                                      <p:tavLst>
                                        <p:tav tm="0">
                                          <p:val>
                                            <p:strVal val="#ppt_x"/>
                                          </p:val>
                                        </p:tav>
                                        <p:tav tm="100000">
                                          <p:val>
                                            <p:strVal val="#ppt_x"/>
                                          </p:val>
                                        </p:tav>
                                      </p:tavLst>
                                    </p:anim>
                                    <p:anim calcmode="lin" valueType="num">
                                      <p:cBhvr>
                                        <p:cTn id="3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1000"/>
                                        <p:tgtEl>
                                          <p:spTgt spid="37"/>
                                        </p:tgtEl>
                                      </p:cBhvr>
                                    </p:animEffect>
                                    <p:anim calcmode="lin" valueType="num">
                                      <p:cBhvr>
                                        <p:cTn id="37" dur="1000" fill="hold"/>
                                        <p:tgtEl>
                                          <p:spTgt spid="37"/>
                                        </p:tgtEl>
                                        <p:attrNameLst>
                                          <p:attrName>ppt_x</p:attrName>
                                        </p:attrNameLst>
                                      </p:cBhvr>
                                      <p:tavLst>
                                        <p:tav tm="0">
                                          <p:val>
                                            <p:strVal val="#ppt_x"/>
                                          </p:val>
                                        </p:tav>
                                        <p:tav tm="100000">
                                          <p:val>
                                            <p:strVal val="#ppt_x"/>
                                          </p:val>
                                        </p:tav>
                                      </p:tavLst>
                                    </p:anim>
                                    <p:anim calcmode="lin" valueType="num">
                                      <p:cBhvr>
                                        <p:cTn id="38" dur="1000" fill="hold"/>
                                        <p:tgtEl>
                                          <p:spTgt spid="37"/>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1000"/>
                                        <p:tgtEl>
                                          <p:spTgt spid="45"/>
                                        </p:tgtEl>
                                      </p:cBhvr>
                                    </p:animEffect>
                                    <p:anim calcmode="lin" valueType="num">
                                      <p:cBhvr>
                                        <p:cTn id="42" dur="1000" fill="hold"/>
                                        <p:tgtEl>
                                          <p:spTgt spid="45"/>
                                        </p:tgtEl>
                                        <p:attrNameLst>
                                          <p:attrName>ppt_x</p:attrName>
                                        </p:attrNameLst>
                                      </p:cBhvr>
                                      <p:tavLst>
                                        <p:tav tm="0">
                                          <p:val>
                                            <p:strVal val="#ppt_x"/>
                                          </p:val>
                                        </p:tav>
                                        <p:tav tm="100000">
                                          <p:val>
                                            <p:strVal val="#ppt_x"/>
                                          </p:val>
                                        </p:tav>
                                      </p:tavLst>
                                    </p:anim>
                                    <p:anim calcmode="lin" valueType="num">
                                      <p:cBhvr>
                                        <p:cTn id="43" dur="1000" fill="hold"/>
                                        <p:tgtEl>
                                          <p:spTgt spid="45"/>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1000"/>
                                        <p:tgtEl>
                                          <p:spTgt spid="47"/>
                                        </p:tgtEl>
                                      </p:cBhvr>
                                    </p:animEffect>
                                    <p:anim calcmode="lin" valueType="num">
                                      <p:cBhvr>
                                        <p:cTn id="47" dur="1000" fill="hold"/>
                                        <p:tgtEl>
                                          <p:spTgt spid="47"/>
                                        </p:tgtEl>
                                        <p:attrNameLst>
                                          <p:attrName>ppt_x</p:attrName>
                                        </p:attrNameLst>
                                      </p:cBhvr>
                                      <p:tavLst>
                                        <p:tav tm="0">
                                          <p:val>
                                            <p:strVal val="#ppt_x"/>
                                          </p:val>
                                        </p:tav>
                                        <p:tav tm="100000">
                                          <p:val>
                                            <p:strVal val="#ppt_x"/>
                                          </p:val>
                                        </p:tav>
                                      </p:tavLst>
                                    </p:anim>
                                    <p:anim calcmode="lin" valueType="num">
                                      <p:cBhvr>
                                        <p:cTn id="48" dur="1000" fill="hold"/>
                                        <p:tgtEl>
                                          <p:spTgt spid="47"/>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1000"/>
                                        <p:tgtEl>
                                          <p:spTgt spid="49"/>
                                        </p:tgtEl>
                                      </p:cBhvr>
                                    </p:animEffect>
                                    <p:anim calcmode="lin" valueType="num">
                                      <p:cBhvr>
                                        <p:cTn id="52" dur="1000" fill="hold"/>
                                        <p:tgtEl>
                                          <p:spTgt spid="49"/>
                                        </p:tgtEl>
                                        <p:attrNameLst>
                                          <p:attrName>ppt_x</p:attrName>
                                        </p:attrNameLst>
                                      </p:cBhvr>
                                      <p:tavLst>
                                        <p:tav tm="0">
                                          <p:val>
                                            <p:strVal val="#ppt_x"/>
                                          </p:val>
                                        </p:tav>
                                        <p:tav tm="100000">
                                          <p:val>
                                            <p:strVal val="#ppt_x"/>
                                          </p:val>
                                        </p:tav>
                                      </p:tavLst>
                                    </p:anim>
                                    <p:anim calcmode="lin" valueType="num">
                                      <p:cBhvr>
                                        <p:cTn id="53"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P spid="3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Vendor-specific packet</a:t>
            </a:r>
            <a:endParaRPr lang="zh-TW" altLang="en-US" dirty="0"/>
          </a:p>
        </p:txBody>
      </p:sp>
      <p:sp>
        <p:nvSpPr>
          <p:cNvPr id="3" name="內容版面配置區 2"/>
          <p:cNvSpPr>
            <a:spLocks noGrp="1"/>
          </p:cNvSpPr>
          <p:nvPr>
            <p:ph idx="1"/>
          </p:nvPr>
        </p:nvSpPr>
        <p:spPr/>
        <p:txBody>
          <a:bodyPr/>
          <a:lstStyle/>
          <a:p>
            <a:r>
              <a:rPr lang="en-US" altLang="zh-TW" smtClean="0"/>
              <a:t>Packet header set to VENDOR_SPECIFIC</a:t>
            </a:r>
          </a:p>
          <a:p>
            <a:endParaRPr lang="en-US" altLang="zh-TW"/>
          </a:p>
          <a:p>
            <a:r>
              <a:rPr lang="en-US" altLang="zh-TW" smtClean="0"/>
              <a:t>All other fields of the packet are implementation specific</a:t>
            </a:r>
          </a:p>
          <a:p>
            <a:endParaRPr lang="en-US" altLang="zh-TW"/>
          </a:p>
          <a:p>
            <a:r>
              <a:rPr lang="en-US" altLang="zh-TW" smtClean="0"/>
              <a:t>Let other vendor can design their own product and combine into the HSA system</a:t>
            </a:r>
            <a:endParaRPr lang="zh-TW" altLang="en-US"/>
          </a:p>
        </p:txBody>
      </p:sp>
    </p:spTree>
    <p:extLst>
      <p:ext uri="{BB962C8B-B14F-4D97-AF65-F5344CB8AC3E}">
        <p14:creationId xmlns:p14="http://schemas.microsoft.com/office/powerpoint/2010/main" val="125336222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Invalid packet</a:t>
            </a:r>
            <a:endParaRPr lang="zh-TW" altLang="en-US" dirty="0"/>
          </a:p>
        </p:txBody>
      </p:sp>
      <p:sp>
        <p:nvSpPr>
          <p:cNvPr id="3" name="內容版面配置區 2"/>
          <p:cNvSpPr>
            <a:spLocks noGrp="1"/>
          </p:cNvSpPr>
          <p:nvPr>
            <p:ph idx="1"/>
          </p:nvPr>
        </p:nvSpPr>
        <p:spPr/>
        <p:txBody>
          <a:bodyPr/>
          <a:lstStyle/>
          <a:p>
            <a:r>
              <a:rPr lang="en-US" altLang="zh-TW" smtClean="0"/>
              <a:t>Packet header set to INVALID</a:t>
            </a:r>
          </a:p>
          <a:p>
            <a:endParaRPr lang="en-US" altLang="zh-TW"/>
          </a:p>
          <a:p>
            <a:r>
              <a:rPr lang="en-US" altLang="zh-TW" smtClean="0"/>
              <a:t>All other fields of the packet are don’t care</a:t>
            </a:r>
          </a:p>
          <a:p>
            <a:endParaRPr lang="en-US" altLang="zh-TW"/>
          </a:p>
          <a:p>
            <a:r>
              <a:rPr lang="en-US" altLang="zh-TW" smtClean="0"/>
              <a:t>When packet has been completed but process not yet, the packet will change into this state</a:t>
            </a:r>
            <a:endParaRPr lang="zh-TW" altLang="en-US"/>
          </a:p>
        </p:txBody>
      </p:sp>
    </p:spTree>
    <p:extLst>
      <p:ext uri="{BB962C8B-B14F-4D97-AF65-F5344CB8AC3E}">
        <p14:creationId xmlns:p14="http://schemas.microsoft.com/office/powerpoint/2010/main" val="32526965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Kernel dispatch packet</a:t>
            </a:r>
            <a:endParaRPr lang="zh-TW" altLang="en-US" dirty="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017" y="1166292"/>
            <a:ext cx="6690360" cy="5577840"/>
          </a:xfrm>
          <a:prstGeom prst="rect">
            <a:avLst/>
          </a:prstGeom>
        </p:spPr>
      </p:pic>
    </p:spTree>
    <p:extLst>
      <p:ext uri="{BB962C8B-B14F-4D97-AF65-F5344CB8AC3E}">
        <p14:creationId xmlns:p14="http://schemas.microsoft.com/office/powerpoint/2010/main" val="381992099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Kernel dispatch packet</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mtClean="0"/>
              <a:t>Kernel dispatch packets contain jobs for the kernel agent and are created by agents</a:t>
            </a:r>
          </a:p>
          <a:p>
            <a:endParaRPr lang="en-US" altLang="zh-TW"/>
          </a:p>
          <a:p>
            <a:r>
              <a:rPr lang="en-US" altLang="zh-TW" smtClean="0"/>
              <a:t>Kernarg minimum aligment granule is 16 bytes.  HSAIL may enforce larger aligment granules.</a:t>
            </a:r>
          </a:p>
          <a:p>
            <a:endParaRPr lang="en-US" altLang="zh-TW"/>
          </a:p>
          <a:p>
            <a:r>
              <a:rPr lang="en-US" altLang="zh-TW" smtClean="0"/>
              <a:t>Kernel argument must be allocated by HSA runtime API, and must be visible before kernel dispatch packet is assigned until kernel completes</a:t>
            </a:r>
          </a:p>
          <a:p>
            <a:endParaRPr lang="en-US" altLang="zh-TW"/>
          </a:p>
          <a:p>
            <a:r>
              <a:rPr lang="en-US" altLang="zh-TW" smtClean="0"/>
              <a:t>Minimum required size of  kernarg segment is 4kB</a:t>
            </a:r>
            <a:endParaRPr lang="zh-TW" altLang="en-US"/>
          </a:p>
        </p:txBody>
      </p:sp>
    </p:spTree>
    <p:extLst>
      <p:ext uri="{BB962C8B-B14F-4D97-AF65-F5344CB8AC3E}">
        <p14:creationId xmlns:p14="http://schemas.microsoft.com/office/powerpoint/2010/main" val="199160440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Agent dispatch packet</a:t>
            </a:r>
            <a:endParaRPr lang="zh-TW" altLang="en-US" dirty="0"/>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86" y="1284401"/>
            <a:ext cx="5677906" cy="4427220"/>
          </a:xfrm>
          <a:prstGeom prst="rect">
            <a:avLst/>
          </a:prstGeom>
        </p:spPr>
      </p:pic>
      <p:cxnSp>
        <p:nvCxnSpPr>
          <p:cNvPr id="6" name="直線單箭頭接點 5"/>
          <p:cNvCxnSpPr/>
          <p:nvPr/>
        </p:nvCxnSpPr>
        <p:spPr bwMode="auto">
          <a:xfrm flipV="1">
            <a:off x="5218981" y="1966823"/>
            <a:ext cx="888521" cy="34505"/>
          </a:xfrm>
          <a:prstGeom prst="straightConnector1">
            <a:avLst/>
          </a:prstGeom>
          <a:noFill/>
          <a:ln w="15875" cap="flat" cmpd="sng" algn="ctr">
            <a:solidFill>
              <a:srgbClr val="FF0000"/>
            </a:solidFill>
            <a:prstDash val="solid"/>
            <a:round/>
            <a:headEnd type="none" w="med" len="med"/>
            <a:tailEnd type="triangle"/>
          </a:ln>
          <a:effectLst/>
        </p:spPr>
      </p:cxnSp>
      <p:sp>
        <p:nvSpPr>
          <p:cNvPr id="7" name="文字方塊 6"/>
          <p:cNvSpPr txBox="1"/>
          <p:nvPr/>
        </p:nvSpPr>
        <p:spPr>
          <a:xfrm>
            <a:off x="6107502" y="1549243"/>
            <a:ext cx="2475781" cy="1200329"/>
          </a:xfrm>
          <a:prstGeom prst="rect">
            <a:avLst/>
          </a:prstGeom>
          <a:noFill/>
          <a:ln>
            <a:solidFill>
              <a:schemeClr val="tx1"/>
            </a:solidFill>
            <a:prstDash val="dash"/>
          </a:ln>
        </p:spPr>
        <p:txBody>
          <a:bodyPr wrap="square" rtlCol="0" anchor="t" anchorCtr="1">
            <a:spAutoFit/>
          </a:bodyPr>
          <a:lstStyle/>
          <a:p>
            <a:r>
              <a:rPr lang="en-US" altLang="zh-TW" smtClean="0">
                <a:ea typeface="標楷體" pitchFamily="65" charset="-120"/>
                <a:cs typeface="Calibri" pitchFamily="34" charset="0"/>
              </a:rPr>
              <a:t>Function to be performed.  Function codes are application defined.</a:t>
            </a:r>
            <a:endParaRPr lang="zh-TW" altLang="en-US" dirty="0" smtClean="0">
              <a:ea typeface="標楷體" pitchFamily="65" charset="-120"/>
              <a:cs typeface="Calibri" pitchFamily="34" charset="0"/>
            </a:endParaRPr>
          </a:p>
        </p:txBody>
      </p:sp>
      <p:cxnSp>
        <p:nvCxnSpPr>
          <p:cNvPr id="9" name="直線單箭頭接點 8"/>
          <p:cNvCxnSpPr/>
          <p:nvPr/>
        </p:nvCxnSpPr>
        <p:spPr bwMode="auto">
          <a:xfrm>
            <a:off x="5218981" y="2881223"/>
            <a:ext cx="983411" cy="526211"/>
          </a:xfrm>
          <a:prstGeom prst="straightConnector1">
            <a:avLst/>
          </a:prstGeom>
          <a:noFill/>
          <a:ln w="15875" cap="flat" cmpd="sng" algn="ctr">
            <a:solidFill>
              <a:srgbClr val="FF0000"/>
            </a:solidFill>
            <a:prstDash val="solid"/>
            <a:round/>
            <a:headEnd type="none" w="med" len="med"/>
            <a:tailEnd type="triangle"/>
          </a:ln>
          <a:effectLst/>
        </p:spPr>
      </p:cxnSp>
      <p:sp>
        <p:nvSpPr>
          <p:cNvPr id="10" name="文字方塊 9"/>
          <p:cNvSpPr txBox="1"/>
          <p:nvPr/>
        </p:nvSpPr>
        <p:spPr>
          <a:xfrm>
            <a:off x="6199908" y="3275622"/>
            <a:ext cx="2475781" cy="923330"/>
          </a:xfrm>
          <a:prstGeom prst="rect">
            <a:avLst/>
          </a:prstGeom>
          <a:noFill/>
          <a:ln>
            <a:solidFill>
              <a:schemeClr val="tx1"/>
            </a:solidFill>
            <a:prstDash val="dash"/>
          </a:ln>
        </p:spPr>
        <p:txBody>
          <a:bodyPr wrap="square" rtlCol="0" anchor="t" anchorCtr="1">
            <a:spAutoFit/>
          </a:bodyPr>
          <a:lstStyle/>
          <a:p>
            <a:r>
              <a:rPr lang="en-US" altLang="zh-TW" smtClean="0">
                <a:ea typeface="標楷體" pitchFamily="65" charset="-120"/>
                <a:cs typeface="Calibri" pitchFamily="34" charset="0"/>
              </a:rPr>
              <a:t>Pointer to location to store the function return value.</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122354291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Agent dispatch packet</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a:t>A</a:t>
            </a:r>
            <a:r>
              <a:rPr lang="en-US" altLang="zh-TW" smtClean="0"/>
              <a:t>gent dispatch packets contain jobs for the agent and are created by agents</a:t>
            </a:r>
          </a:p>
          <a:p>
            <a:endParaRPr lang="en-US" altLang="zh-TW"/>
          </a:p>
          <a:p>
            <a:r>
              <a:rPr lang="en-US" altLang="zh-TW" smtClean="0"/>
              <a:t>For using user defined function.  Let kernel can call the user defined function for special purpose</a:t>
            </a:r>
          </a:p>
          <a:p>
            <a:endParaRPr lang="en-US" altLang="zh-TW"/>
          </a:p>
          <a:p>
            <a:r>
              <a:rPr lang="en-US" altLang="zh-TW" smtClean="0"/>
              <a:t>Ex. GPU call the function in CPU to do something for it.</a:t>
            </a:r>
          </a:p>
        </p:txBody>
      </p:sp>
    </p:spTree>
    <p:extLst>
      <p:ext uri="{BB962C8B-B14F-4D97-AF65-F5344CB8AC3E}">
        <p14:creationId xmlns:p14="http://schemas.microsoft.com/office/powerpoint/2010/main" val="182649855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Barrier-AND packet/Barrier-OR packet</a:t>
            </a:r>
            <a:endParaRPr lang="zh-TW" altLang="en-US" dirty="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86" y="1463471"/>
            <a:ext cx="5470872" cy="4069080"/>
          </a:xfrm>
          <a:prstGeom prst="rect">
            <a:avLst/>
          </a:prstGeom>
        </p:spPr>
      </p:pic>
      <p:sp>
        <p:nvSpPr>
          <p:cNvPr id="5" name="圓角矩形 4"/>
          <p:cNvSpPr/>
          <p:nvPr/>
        </p:nvSpPr>
        <p:spPr bwMode="auto">
          <a:xfrm>
            <a:off x="621102" y="2441275"/>
            <a:ext cx="4804913" cy="2018582"/>
          </a:xfrm>
          <a:prstGeom prst="round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1" name="直線單箭頭接點 10"/>
          <p:cNvCxnSpPr/>
          <p:nvPr/>
        </p:nvCxnSpPr>
        <p:spPr bwMode="auto">
          <a:xfrm>
            <a:off x="5426015" y="3234906"/>
            <a:ext cx="405442" cy="8626"/>
          </a:xfrm>
          <a:prstGeom prst="straightConnector1">
            <a:avLst/>
          </a:prstGeom>
          <a:noFill/>
          <a:ln w="15875" cap="flat" cmpd="sng" algn="ctr">
            <a:solidFill>
              <a:srgbClr val="FF0000"/>
            </a:solidFill>
            <a:prstDash val="solid"/>
            <a:round/>
            <a:headEnd type="none" w="med" len="med"/>
            <a:tailEnd type="triangle"/>
          </a:ln>
          <a:effectLst/>
        </p:spPr>
      </p:cxnSp>
      <p:sp>
        <p:nvSpPr>
          <p:cNvPr id="12" name="文字方塊 11"/>
          <p:cNvSpPr txBox="1"/>
          <p:nvPr/>
        </p:nvSpPr>
        <p:spPr>
          <a:xfrm>
            <a:off x="5831457" y="2773241"/>
            <a:ext cx="2475781" cy="923330"/>
          </a:xfrm>
          <a:prstGeom prst="rect">
            <a:avLst/>
          </a:prstGeom>
          <a:noFill/>
          <a:ln>
            <a:solidFill>
              <a:schemeClr val="tx1"/>
            </a:solidFill>
            <a:prstDash val="dash"/>
          </a:ln>
        </p:spPr>
        <p:txBody>
          <a:bodyPr wrap="square" rtlCol="0" anchor="t" anchorCtr="1">
            <a:spAutoFit/>
          </a:bodyPr>
          <a:lstStyle/>
          <a:p>
            <a:r>
              <a:rPr lang="en-US" altLang="zh-TW" smtClean="0">
                <a:ea typeface="標楷體" pitchFamily="65" charset="-120"/>
                <a:cs typeface="Calibri" pitchFamily="34" charset="0"/>
              </a:rPr>
              <a:t>Handles for dependent signaling objects</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19590167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Barrier-AND packet/Barrier-OR packet</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mtClean="0"/>
              <a:t>Barrier-AND packets can insert by agents to delay processing subsequent packets.  All queues support barrier-AND packets</a:t>
            </a:r>
          </a:p>
          <a:p>
            <a:endParaRPr lang="en-US" altLang="zh-TW" smtClean="0"/>
          </a:p>
          <a:p>
            <a:r>
              <a:rPr lang="en-US" altLang="zh-TW" smtClean="0"/>
              <a:t>The execution phase for the barrier-AND packet completes when the following condition is met:</a:t>
            </a:r>
          </a:p>
          <a:p>
            <a:pPr lvl="1"/>
            <a:r>
              <a:rPr lang="en-US" altLang="zh-TW" sz="2200" smtClean="0"/>
              <a:t>All dependent signals have been observed with value 0 after launched(no need to be 0 at the same time)</a:t>
            </a:r>
          </a:p>
          <a:p>
            <a:pPr lvl="1"/>
            <a:r>
              <a:rPr lang="en-US" altLang="zh-TW" sz="2200" smtClean="0"/>
              <a:t>Completion_signal will be signaled with an atomic decrementing operation</a:t>
            </a:r>
          </a:p>
          <a:p>
            <a:pPr lvl="1"/>
            <a:r>
              <a:rPr lang="en-US" altLang="zh-TW" sz="2200" smtClean="0"/>
              <a:t>Packet processor should monitor all the dependent signals continuously</a:t>
            </a:r>
          </a:p>
          <a:p>
            <a:pPr lvl="1"/>
            <a:r>
              <a:rPr lang="en-US" altLang="zh-TW" sz="2200" smtClean="0"/>
              <a:t>No need to see all the intermediate values on the signals</a:t>
            </a:r>
          </a:p>
          <a:p>
            <a:pPr lvl="1"/>
            <a:r>
              <a:rPr lang="en-US" altLang="zh-TW" sz="2200" smtClean="0"/>
              <a:t>In some condition, NULL = 0(Barrier-OR think NULL as non-zero)</a:t>
            </a:r>
          </a:p>
        </p:txBody>
      </p:sp>
    </p:spTree>
    <p:extLst>
      <p:ext uri="{BB962C8B-B14F-4D97-AF65-F5344CB8AC3E}">
        <p14:creationId xmlns:p14="http://schemas.microsoft.com/office/powerpoint/2010/main" val="421442688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Barrier-AND packet/Barrier-OR packet(</a:t>
            </a:r>
            <a:r>
              <a:rPr lang="zh-TW" altLang="en-US" smtClean="0"/>
              <a:t>圖例</a:t>
            </a:r>
            <a:r>
              <a:rPr lang="en-US" altLang="zh-TW" smtClean="0"/>
              <a:t>)</a:t>
            </a:r>
            <a:endParaRPr lang="zh-TW" altLang="en-US" dirty="0"/>
          </a:p>
        </p:txBody>
      </p:sp>
      <p:graphicFrame>
        <p:nvGraphicFramePr>
          <p:cNvPr id="3" name="表格 2"/>
          <p:cNvGraphicFramePr>
            <a:graphicFrameLocks noGrp="1"/>
          </p:cNvGraphicFramePr>
          <p:nvPr>
            <p:extLst>
              <p:ext uri="{D42A27DB-BD31-4B8C-83A1-F6EECF244321}">
                <p14:modId xmlns:p14="http://schemas.microsoft.com/office/powerpoint/2010/main" val="3141578589"/>
              </p:ext>
            </p:extLst>
          </p:nvPr>
        </p:nvGraphicFramePr>
        <p:xfrm>
          <a:off x="468314" y="1587260"/>
          <a:ext cx="7884540" cy="361734"/>
        </p:xfrm>
        <a:graphic>
          <a:graphicData uri="http://schemas.openxmlformats.org/drawingml/2006/table">
            <a:tbl>
              <a:tblPr firstRow="1" bandRow="1">
                <a:tableStyleId>{5940675A-B579-460E-94D1-54222C63F5DA}</a:tableStyleId>
              </a:tblPr>
              <a:tblGrid>
                <a:gridCol w="788454"/>
                <a:gridCol w="788454"/>
                <a:gridCol w="788454"/>
                <a:gridCol w="788454"/>
                <a:gridCol w="788454"/>
                <a:gridCol w="788454"/>
                <a:gridCol w="788454"/>
                <a:gridCol w="788454"/>
                <a:gridCol w="788454"/>
                <a:gridCol w="788454"/>
              </a:tblGrid>
              <a:tr h="361734">
                <a:tc>
                  <a:txBody>
                    <a:bodyPr/>
                    <a:lstStyle/>
                    <a:p>
                      <a:endParaRPr lang="zh-TW" altLang="en-US"/>
                    </a:p>
                  </a:txBody>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tc>
                <a:tc>
                  <a:txBody>
                    <a:bodyPr/>
                    <a:lstStyle/>
                    <a:p>
                      <a:endParaRPr lang="zh-TW" altLang="en-US"/>
                    </a:p>
                  </a:txBody>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606734706"/>
              </p:ext>
            </p:extLst>
          </p:nvPr>
        </p:nvGraphicFramePr>
        <p:xfrm>
          <a:off x="974397" y="3050875"/>
          <a:ext cx="7884540" cy="361734"/>
        </p:xfrm>
        <a:graphic>
          <a:graphicData uri="http://schemas.openxmlformats.org/drawingml/2006/table">
            <a:tbl>
              <a:tblPr firstRow="1" bandRow="1">
                <a:tableStyleId>{5940675A-B579-460E-94D1-54222C63F5DA}</a:tableStyleId>
              </a:tblPr>
              <a:tblGrid>
                <a:gridCol w="788454"/>
                <a:gridCol w="788454"/>
                <a:gridCol w="788454"/>
                <a:gridCol w="788454"/>
                <a:gridCol w="788454"/>
                <a:gridCol w="788454"/>
                <a:gridCol w="788454"/>
                <a:gridCol w="788454"/>
                <a:gridCol w="788454"/>
                <a:gridCol w="788454"/>
              </a:tblGrid>
              <a:tr h="361734">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pPr algn="ctr"/>
                      <a:r>
                        <a:rPr lang="en-US" altLang="zh-TW" smtClean="0"/>
                        <a:t>Barrier</a:t>
                      </a:r>
                      <a:endParaRPr lang="zh-TW" altLang="en-US"/>
                    </a:p>
                  </a:txBody>
                  <a:tcPr anchor="ctr">
                    <a:solidFill>
                      <a:srgbClr val="FFC000"/>
                    </a:solidFill>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782238142"/>
              </p:ext>
            </p:extLst>
          </p:nvPr>
        </p:nvGraphicFramePr>
        <p:xfrm>
          <a:off x="577582" y="4646762"/>
          <a:ext cx="7884540" cy="361734"/>
        </p:xfrm>
        <a:graphic>
          <a:graphicData uri="http://schemas.openxmlformats.org/drawingml/2006/table">
            <a:tbl>
              <a:tblPr firstRow="1" bandRow="1">
                <a:tableStyleId>{5940675A-B579-460E-94D1-54222C63F5DA}</a:tableStyleId>
              </a:tblPr>
              <a:tblGrid>
                <a:gridCol w="788454"/>
                <a:gridCol w="788454"/>
                <a:gridCol w="788454"/>
                <a:gridCol w="788454"/>
                <a:gridCol w="788454"/>
                <a:gridCol w="788454"/>
                <a:gridCol w="788454"/>
                <a:gridCol w="788454"/>
                <a:gridCol w="788454"/>
                <a:gridCol w="788454"/>
              </a:tblGrid>
              <a:tr h="361734">
                <a:tc>
                  <a:txBody>
                    <a:bodyPr/>
                    <a:lstStyle/>
                    <a:p>
                      <a:endParaRPr lang="zh-TW" altLang="en-US"/>
                    </a:p>
                  </a:txBody>
                  <a:tcPr/>
                </a:tc>
                <a:tc>
                  <a:txBody>
                    <a:bodyPr/>
                    <a:lstStyle/>
                    <a:p>
                      <a:endParaRPr lang="zh-TW" altLang="en-US"/>
                    </a:p>
                  </a:txBody>
                  <a:tcPr>
                    <a:solidFill>
                      <a:schemeClr val="tx2">
                        <a:lumMod val="60000"/>
                        <a:lumOff val="40000"/>
                      </a:schemeClr>
                    </a:solidFill>
                  </a:tcPr>
                </a:tc>
                <a:tc>
                  <a:txBody>
                    <a:bodyPr/>
                    <a:lstStyle/>
                    <a:p>
                      <a:endParaRPr lang="zh-TW" altLang="en-US"/>
                    </a:p>
                  </a:txBody>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tc>
                <a:tc>
                  <a:txBody>
                    <a:bodyPr/>
                    <a:lstStyle/>
                    <a:p>
                      <a:endParaRPr lang="zh-TW" altLang="en-US"/>
                    </a:p>
                  </a:txBody>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c>
                  <a:txBody>
                    <a:bodyPr/>
                    <a:lstStyle/>
                    <a:p>
                      <a:endParaRPr lang="zh-TW" altLang="en-US"/>
                    </a:p>
                  </a:txBody>
                  <a:tcPr>
                    <a:solidFill>
                      <a:schemeClr val="tx2">
                        <a:lumMod val="60000"/>
                        <a:lumOff val="40000"/>
                      </a:schemeClr>
                    </a:solidFill>
                  </a:tcPr>
                </a:tc>
              </a:tr>
            </a:tbl>
          </a:graphicData>
        </a:graphic>
      </p:graphicFrame>
      <p:sp>
        <p:nvSpPr>
          <p:cNvPr id="6" name="文字方塊 5"/>
          <p:cNvSpPr txBox="1"/>
          <p:nvPr/>
        </p:nvSpPr>
        <p:spPr>
          <a:xfrm>
            <a:off x="7493870" y="4078237"/>
            <a:ext cx="1181819"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Queue 3</a:t>
            </a:r>
            <a:endParaRPr lang="zh-TW" altLang="en-US" dirty="0" smtClean="0">
              <a:ea typeface="標楷體" pitchFamily="65" charset="-120"/>
              <a:cs typeface="Calibri" pitchFamily="34" charset="0"/>
            </a:endParaRPr>
          </a:p>
        </p:txBody>
      </p:sp>
      <p:sp>
        <p:nvSpPr>
          <p:cNvPr id="7" name="文字方塊 6"/>
          <p:cNvSpPr txBox="1"/>
          <p:nvPr/>
        </p:nvSpPr>
        <p:spPr>
          <a:xfrm>
            <a:off x="7838536" y="2628983"/>
            <a:ext cx="1181819"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Queue 2</a:t>
            </a:r>
            <a:endParaRPr lang="zh-TW" altLang="en-US" dirty="0" smtClean="0">
              <a:ea typeface="標楷體" pitchFamily="65" charset="-120"/>
              <a:cs typeface="Calibri" pitchFamily="34" charset="0"/>
            </a:endParaRPr>
          </a:p>
        </p:txBody>
      </p:sp>
      <p:sp>
        <p:nvSpPr>
          <p:cNvPr id="8" name="文字方塊 7"/>
          <p:cNvSpPr txBox="1"/>
          <p:nvPr/>
        </p:nvSpPr>
        <p:spPr>
          <a:xfrm>
            <a:off x="7527985" y="1231504"/>
            <a:ext cx="1181819" cy="369332"/>
          </a:xfrm>
          <a:prstGeom prst="rect">
            <a:avLst/>
          </a:prstGeom>
          <a:noFill/>
        </p:spPr>
        <p:txBody>
          <a:bodyPr wrap="square" rtlCol="0" anchor="ctr" anchorCtr="1">
            <a:spAutoFit/>
          </a:bodyPr>
          <a:lstStyle/>
          <a:p>
            <a:r>
              <a:rPr lang="en-US" altLang="zh-TW" smtClean="0">
                <a:ea typeface="標楷體" pitchFamily="65" charset="-120"/>
                <a:cs typeface="Calibri" pitchFamily="34" charset="0"/>
              </a:rPr>
              <a:t>Queue 1</a:t>
            </a:r>
            <a:endParaRPr lang="zh-TW" altLang="en-US" dirty="0" smtClean="0">
              <a:ea typeface="標楷體" pitchFamily="65" charset="-120"/>
              <a:cs typeface="Calibri" pitchFamily="34" charset="0"/>
            </a:endParaRPr>
          </a:p>
        </p:txBody>
      </p:sp>
      <p:cxnSp>
        <p:nvCxnSpPr>
          <p:cNvPr id="12" name="直線單箭頭接點 11"/>
          <p:cNvCxnSpPr/>
          <p:nvPr/>
        </p:nvCxnSpPr>
        <p:spPr bwMode="auto">
          <a:xfrm flipH="1">
            <a:off x="4114800" y="3407434"/>
            <a:ext cx="1242204" cy="1250830"/>
          </a:xfrm>
          <a:prstGeom prst="straightConnector1">
            <a:avLst/>
          </a:prstGeom>
          <a:noFill/>
          <a:ln w="15875" cap="flat" cmpd="sng" algn="ctr">
            <a:solidFill>
              <a:srgbClr val="FF0000"/>
            </a:solidFill>
            <a:prstDash val="solid"/>
            <a:round/>
            <a:headEnd type="none" w="med" len="med"/>
            <a:tailEnd type="triangle"/>
          </a:ln>
          <a:effectLst/>
        </p:spPr>
      </p:cxnSp>
      <p:sp>
        <p:nvSpPr>
          <p:cNvPr id="15" name="橢圓 14"/>
          <p:cNvSpPr/>
          <p:nvPr/>
        </p:nvSpPr>
        <p:spPr bwMode="auto">
          <a:xfrm>
            <a:off x="5710687" y="2882668"/>
            <a:ext cx="3309668" cy="655607"/>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單箭頭接點 16"/>
          <p:cNvCxnSpPr/>
          <p:nvPr/>
        </p:nvCxnSpPr>
        <p:spPr bwMode="auto">
          <a:xfrm flipH="1">
            <a:off x="6426679" y="3538275"/>
            <a:ext cx="198408" cy="257348"/>
          </a:xfrm>
          <a:prstGeom prst="straightConnector1">
            <a:avLst/>
          </a:prstGeom>
          <a:noFill/>
          <a:ln w="15875" cap="flat" cmpd="sng" algn="ctr">
            <a:solidFill>
              <a:srgbClr val="FF0000"/>
            </a:solidFill>
            <a:prstDash val="solid"/>
            <a:round/>
            <a:headEnd type="none" w="med" len="med"/>
            <a:tailEnd type="triangle"/>
          </a:ln>
          <a:effectLst/>
        </p:spPr>
      </p:cxnSp>
      <p:sp>
        <p:nvSpPr>
          <p:cNvPr id="18" name="文字方塊 17"/>
          <p:cNvSpPr txBox="1"/>
          <p:nvPr/>
        </p:nvSpPr>
        <p:spPr>
          <a:xfrm>
            <a:off x="5598543" y="3785967"/>
            <a:ext cx="3421812" cy="369332"/>
          </a:xfrm>
          <a:prstGeom prst="rect">
            <a:avLst/>
          </a:prstGeom>
          <a:noFill/>
          <a:ln>
            <a:solidFill>
              <a:schemeClr val="tx1"/>
            </a:solidFill>
            <a:prstDash val="dash"/>
          </a:ln>
        </p:spPr>
        <p:txBody>
          <a:bodyPr wrap="square" rtlCol="0" anchor="ctr" anchorCtr="1">
            <a:spAutoFit/>
          </a:bodyPr>
          <a:lstStyle/>
          <a:p>
            <a:r>
              <a:rPr lang="en-US" altLang="zh-TW" smtClean="0">
                <a:ea typeface="標楷體" pitchFamily="65" charset="-120"/>
                <a:cs typeface="Calibri" pitchFamily="34" charset="0"/>
              </a:rPr>
              <a:t>Can’t launch until barrier finish</a:t>
            </a:r>
            <a:endParaRPr lang="zh-TW" altLang="en-US" dirty="0" smtClean="0">
              <a:ea typeface="標楷體" pitchFamily="65" charset="-120"/>
              <a:cs typeface="Calibri" pitchFamily="34" charset="0"/>
            </a:endParaRPr>
          </a:p>
        </p:txBody>
      </p:sp>
      <p:cxnSp>
        <p:nvCxnSpPr>
          <p:cNvPr id="27" name="直線單箭頭接點 26"/>
          <p:cNvCxnSpPr/>
          <p:nvPr/>
        </p:nvCxnSpPr>
        <p:spPr bwMode="auto">
          <a:xfrm flipH="1" flipV="1">
            <a:off x="2424023" y="1949570"/>
            <a:ext cx="2855343" cy="1112807"/>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94161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Agent scheduling</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Provide ability to schedule tasks in queue or any from additional pool of non-HSA tasks</a:t>
            </a:r>
          </a:p>
          <a:p>
            <a:pPr marL="0" indent="0">
              <a:buNone/>
            </a:pPr>
            <a:endParaRPr lang="en-US" altLang="zh-TW" sz="2200"/>
          </a:p>
          <a:p>
            <a:r>
              <a:rPr lang="en-US" altLang="zh-TW" sz="2200" smtClean="0"/>
              <a:t>HSA programming model encourages the use of multiple queues per application to enable complex sequences of tasks to be scheduled</a:t>
            </a:r>
          </a:p>
          <a:p>
            <a:endParaRPr lang="en-US" altLang="zh-TW" sz="2200"/>
          </a:p>
          <a:p>
            <a:r>
              <a:rPr lang="en-US" altLang="zh-TW" sz="2200" smtClean="0"/>
              <a:t>To ensure consistent performance across HSA-complicant systems, it is recommended that when using multiple queues the scheduling algorithm will schedule efficiently across them and minimize the overhead for managing multiple queues</a:t>
            </a:r>
          </a:p>
        </p:txBody>
      </p:sp>
    </p:spTree>
    <p:extLst>
      <p:ext uri="{BB962C8B-B14F-4D97-AF65-F5344CB8AC3E}">
        <p14:creationId xmlns:p14="http://schemas.microsoft.com/office/powerpoint/2010/main" val="268264235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Agent scheduling</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Agent scheduling must have the following characteristics:</a:t>
            </a:r>
          </a:p>
          <a:p>
            <a:pPr lvl="1"/>
            <a:r>
              <a:rPr lang="en-US" altLang="zh-TW" sz="2200" smtClean="0"/>
              <a:t>Packet submission to any queue connected to the agent</a:t>
            </a:r>
          </a:p>
          <a:p>
            <a:pPr lvl="1"/>
            <a:r>
              <a:rPr lang="en-US" altLang="zh-TW" sz="2200" smtClean="0"/>
              <a:t>Agent scheduling must be able to monitor the AQL packet being active on each queue</a:t>
            </a:r>
          </a:p>
          <a:p>
            <a:pPr lvl="1"/>
            <a:r>
              <a:rPr lang="en-US" altLang="zh-TW" sz="2200" smtClean="0"/>
              <a:t>Monitoring includes any combination of supported AQL packets and their dependencies</a:t>
            </a:r>
          </a:p>
          <a:p>
            <a:pPr lvl="1"/>
            <a:r>
              <a:rPr lang="en-US" altLang="zh-TW" sz="2200" smtClean="0"/>
              <a:t>Avoid deadlock</a:t>
            </a:r>
          </a:p>
          <a:p>
            <a:pPr lvl="1"/>
            <a:r>
              <a:rPr lang="en-US" altLang="zh-TW" sz="2200" smtClean="0"/>
              <a:t>Monitoring can’t occupy any execution resources</a:t>
            </a:r>
          </a:p>
          <a:p>
            <a:pPr lvl="1"/>
            <a:r>
              <a:rPr lang="en-US" altLang="zh-TW" sz="2200" smtClean="0"/>
              <a:t>Scheduling should reply events in a responable time</a:t>
            </a:r>
          </a:p>
          <a:p>
            <a:pPr lvl="1"/>
            <a:r>
              <a:rPr lang="en-US" altLang="zh-TW" sz="2200" smtClean="0"/>
              <a:t>Full utilization, more efficient</a:t>
            </a:r>
          </a:p>
          <a:p>
            <a:pPr lvl="1"/>
            <a:r>
              <a:rPr lang="en-US" altLang="zh-TW" sz="2200" smtClean="0"/>
              <a:t>Kinds of barrier packets are not allowed to occupy agent/kernel agent execution resources</a:t>
            </a:r>
          </a:p>
        </p:txBody>
      </p:sp>
    </p:spTree>
    <p:extLst>
      <p:ext uri="{BB962C8B-B14F-4D97-AF65-F5344CB8AC3E}">
        <p14:creationId xmlns:p14="http://schemas.microsoft.com/office/powerpoint/2010/main" val="417265509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Kernel Agent context switching</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Scheduling of multiple HSA contexts to a device with appropriate prioritization, throughput, and latency constraints</a:t>
            </a:r>
          </a:p>
          <a:p>
            <a:endParaRPr lang="en-US" altLang="zh-TW" sz="2200"/>
          </a:p>
          <a:p>
            <a:r>
              <a:rPr lang="en-US" altLang="zh-TW" sz="2200" smtClean="0"/>
              <a:t>Scheduling of both HSA and non-HSA tasks on devices that can support both task types</a:t>
            </a:r>
          </a:p>
          <a:p>
            <a:endParaRPr lang="en-US" altLang="zh-TW" sz="2200"/>
          </a:p>
          <a:p>
            <a:r>
              <a:rPr lang="en-US" altLang="zh-TW" sz="2200" smtClean="0"/>
              <a:t>Stopping any currently running wavrfronts </a:t>
            </a:r>
            <a:r>
              <a:rPr lang="en-US" altLang="zh-TW" sz="2200" smtClean="0">
                <a:sym typeface="Wingdings" panose="05000000000000000000" pitchFamily="2" charset="2"/>
              </a:rPr>
              <a:t> saving the current context state to memory  restoring context state of another context from memory starting execution at the state left when it was stopped previously</a:t>
            </a:r>
            <a:r>
              <a:rPr lang="en-US" altLang="zh-TW" sz="2200" smtClean="0"/>
              <a:t> </a:t>
            </a:r>
          </a:p>
        </p:txBody>
      </p:sp>
    </p:spTree>
    <p:extLst>
      <p:ext uri="{BB962C8B-B14F-4D97-AF65-F5344CB8AC3E}">
        <p14:creationId xmlns:p14="http://schemas.microsoft.com/office/powerpoint/2010/main" val="174037412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Kernel Agent context switching</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Three priorities pf context switch</a:t>
            </a:r>
          </a:p>
          <a:p>
            <a:pPr lvl="1"/>
            <a:r>
              <a:rPr lang="en-US" altLang="zh-TW" sz="2200" i="1" smtClean="0">
                <a:solidFill>
                  <a:srgbClr val="FF0000"/>
                </a:solidFill>
              </a:rPr>
              <a:t>Switch</a:t>
            </a:r>
            <a:r>
              <a:rPr lang="en-US" altLang="zh-TW" sz="2200" smtClean="0"/>
              <a:t> </a:t>
            </a:r>
            <a:r>
              <a:rPr lang="en-US" altLang="zh-TW" sz="2200" smtClean="0">
                <a:sym typeface="Wingdings" panose="05000000000000000000" pitchFamily="2" charset="2"/>
              </a:rPr>
              <a:t>  Context switch not required to occur immediately.  Hardware may continue to issue work-items, and context switch happened at a point where the size of HSA context can be reduced</a:t>
            </a:r>
          </a:p>
          <a:p>
            <a:pPr lvl="1"/>
            <a:r>
              <a:rPr lang="en-US" altLang="zh-TW" sz="2200" i="1" smtClean="0">
                <a:solidFill>
                  <a:srgbClr val="FF0000"/>
                </a:solidFill>
                <a:sym typeface="Wingdings" panose="05000000000000000000" pitchFamily="2" charset="2"/>
              </a:rPr>
              <a:t>Preempt </a:t>
            </a:r>
            <a:r>
              <a:rPr lang="en-US" altLang="zh-TW" sz="2200" smtClean="0">
                <a:sym typeface="Wingdings" panose="05000000000000000000" pitchFamily="2" charset="2"/>
              </a:rPr>
              <a:t>  Context switch is required as soon as possible.  System software should know how long the hardware guaranteed context switch latency</a:t>
            </a:r>
          </a:p>
          <a:p>
            <a:pPr lvl="1"/>
            <a:r>
              <a:rPr lang="en-US" altLang="zh-TW" sz="2200" i="1" smtClean="0">
                <a:solidFill>
                  <a:srgbClr val="FF0000"/>
                </a:solidFill>
                <a:sym typeface="Wingdings" panose="05000000000000000000" pitchFamily="2" charset="2"/>
              </a:rPr>
              <a:t>Terminate and context reset </a:t>
            </a:r>
            <a:r>
              <a:rPr lang="en-US" altLang="zh-TW" sz="2200" smtClean="0">
                <a:sym typeface="Wingdings" panose="05000000000000000000" pitchFamily="2" charset="2"/>
              </a:rPr>
              <a:t>  HSA context should be terminated as fast as possible.  There is no requirement to preserve state.  The kernel agent is available for scheduling another context afterwords</a:t>
            </a:r>
            <a:endParaRPr lang="en-US" altLang="zh-TW" sz="2200" i="1" smtClean="0">
              <a:solidFill>
                <a:srgbClr val="FF0000"/>
              </a:solidFill>
            </a:endParaRPr>
          </a:p>
        </p:txBody>
      </p:sp>
    </p:spTree>
    <p:extLst>
      <p:ext uri="{BB962C8B-B14F-4D97-AF65-F5344CB8AC3E}">
        <p14:creationId xmlns:p14="http://schemas.microsoft.com/office/powerpoint/2010/main" val="396751336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Implement through hard preemption</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Context switch mechanism shall provide “</a:t>
            </a:r>
            <a:r>
              <a:rPr lang="en-US" altLang="zh-TW" sz="2200" i="1" smtClean="0"/>
              <a:t>preempt” </a:t>
            </a:r>
            <a:r>
              <a:rPr lang="en-US" altLang="zh-TW" sz="2200" smtClean="0"/>
              <a:t>and forced exit of currently running wavefronts</a:t>
            </a:r>
          </a:p>
          <a:p>
            <a:endParaRPr lang="en-US" altLang="zh-TW" sz="2200" i="1"/>
          </a:p>
          <a:p>
            <a:r>
              <a:rPr lang="en-US" altLang="zh-TW" sz="2200" smtClean="0"/>
              <a:t>On preemption,  kernel agent shall save all state to memory that would be required to restart the preempted context again</a:t>
            </a:r>
          </a:p>
          <a:p>
            <a:endParaRPr lang="en-US" altLang="zh-TW" sz="2200"/>
          </a:p>
          <a:p>
            <a:r>
              <a:rPr lang="en-US" altLang="zh-TW" sz="2200" smtClean="0"/>
              <a:t>The preemption mechanism must not wait for events that have undetermined latency</a:t>
            </a:r>
          </a:p>
        </p:txBody>
      </p:sp>
    </p:spTree>
    <p:extLst>
      <p:ext uri="{BB962C8B-B14F-4D97-AF65-F5344CB8AC3E}">
        <p14:creationId xmlns:p14="http://schemas.microsoft.com/office/powerpoint/2010/main" val="304631056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IEEE754-2008 floating point exceptions</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IEEE754-2008 exceptions:</a:t>
            </a:r>
          </a:p>
          <a:p>
            <a:pPr lvl="1"/>
            <a:r>
              <a:rPr lang="en-US" altLang="zh-TW" sz="2200" smtClean="0"/>
              <a:t>INVALID_OPERATION</a:t>
            </a:r>
          </a:p>
          <a:p>
            <a:pPr lvl="1"/>
            <a:r>
              <a:rPr lang="en-US" altLang="zh-TW" sz="2200" smtClean="0"/>
              <a:t>DIVIDE_BY_ZERO</a:t>
            </a:r>
          </a:p>
          <a:p>
            <a:pPr lvl="1"/>
            <a:r>
              <a:rPr lang="en-US" altLang="zh-TW" sz="2200" smtClean="0"/>
              <a:t>OVERFLOW</a:t>
            </a:r>
          </a:p>
          <a:p>
            <a:pPr lvl="1"/>
            <a:r>
              <a:rPr lang="en-US" altLang="zh-TW" sz="2200" smtClean="0"/>
              <a:t>UNDERFLOW</a:t>
            </a:r>
          </a:p>
          <a:p>
            <a:pPr lvl="1"/>
            <a:r>
              <a:rPr lang="en-US" altLang="zh-TW" sz="2200" smtClean="0"/>
              <a:t>INEXACT (significant bit lose, destination register can’t hold)</a:t>
            </a:r>
          </a:p>
        </p:txBody>
      </p:sp>
    </p:spTree>
    <p:extLst>
      <p:ext uri="{BB962C8B-B14F-4D97-AF65-F5344CB8AC3E}">
        <p14:creationId xmlns:p14="http://schemas.microsoft.com/office/powerpoint/2010/main" val="358915044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IEEE754-2008 floating point exceptions</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Two mechanism</a:t>
            </a:r>
          </a:p>
          <a:p>
            <a:pPr lvl="1"/>
            <a:r>
              <a:rPr lang="en-US" altLang="zh-TW" sz="2200" smtClean="0"/>
              <a:t>DETECT </a:t>
            </a:r>
            <a:r>
              <a:rPr lang="en-US" altLang="zh-TW" sz="2200" smtClean="0">
                <a:sym typeface="Wingdings" panose="05000000000000000000" pitchFamily="2" charset="2"/>
              </a:rPr>
              <a:t>  kernel agent must maintain a status bit for each of the DETECT-enabled arithmetic exceptions for each work group and initiated by 0 (support HSAIL instructions that can read or write the exception status field while the kernel is running)</a:t>
            </a:r>
          </a:p>
          <a:p>
            <a:pPr lvl="1"/>
            <a:endParaRPr lang="en-US" altLang="zh-TW" sz="2200">
              <a:sym typeface="Wingdings" panose="05000000000000000000" pitchFamily="2" charset="2"/>
            </a:endParaRPr>
          </a:p>
          <a:p>
            <a:pPr lvl="1"/>
            <a:r>
              <a:rPr lang="en-US" altLang="zh-TW" sz="2200" smtClean="0">
                <a:sym typeface="Wingdings" panose="05000000000000000000" pitchFamily="2" charset="2"/>
              </a:rPr>
              <a:t>BREAK   kernel agent must stop the excepting wavefront’s execution of the HSAIL instruction stream precisely at the instruction which generated the exception(other continue to end, not launch will stop)</a:t>
            </a:r>
            <a:endParaRPr lang="en-US" altLang="zh-TW" sz="2200" smtClean="0"/>
          </a:p>
        </p:txBody>
      </p:sp>
    </p:spTree>
    <p:extLst>
      <p:ext uri="{BB962C8B-B14F-4D97-AF65-F5344CB8AC3E}">
        <p14:creationId xmlns:p14="http://schemas.microsoft.com/office/powerpoint/2010/main" val="126405221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IEEE754-2008 floating point exceptions</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The kernel agent signals the runtime, which invokes an exception handler defined in the HSA runtime.</a:t>
            </a:r>
          </a:p>
          <a:p>
            <a:endParaRPr lang="en-US" altLang="zh-TW" sz="2200"/>
          </a:p>
          <a:p>
            <a:r>
              <a:rPr lang="en-US" altLang="zh-TW" sz="2200" smtClean="0"/>
              <a:t>Reported information must include:</a:t>
            </a:r>
          </a:p>
          <a:p>
            <a:pPr lvl="1"/>
            <a:r>
              <a:rPr lang="en-US" altLang="zh-TW" sz="2200" smtClean="0"/>
              <a:t>Exception code</a:t>
            </a:r>
          </a:p>
          <a:p>
            <a:pPr lvl="1"/>
            <a:r>
              <a:rPr lang="en-US" altLang="zh-TW" sz="2200" smtClean="0"/>
              <a:t>PASID (process address space ID)</a:t>
            </a:r>
          </a:p>
          <a:p>
            <a:pPr lvl="1"/>
            <a:r>
              <a:rPr lang="en-US" altLang="zh-TW" sz="2200" smtClean="0"/>
              <a:t>Queue id</a:t>
            </a:r>
          </a:p>
          <a:p>
            <a:pPr lvl="1"/>
            <a:r>
              <a:rPr lang="en-US" altLang="zh-TW" sz="2200" smtClean="0"/>
              <a:t>Packet id</a:t>
            </a:r>
          </a:p>
          <a:p>
            <a:pPr lvl="1"/>
            <a:r>
              <a:rPr lang="en-US" altLang="zh-TW" sz="2200" smtClean="0"/>
              <a:t>Precise instruction counter that caused the exception</a:t>
            </a:r>
          </a:p>
        </p:txBody>
      </p:sp>
    </p:spTree>
    <p:extLst>
      <p:ext uri="{BB962C8B-B14F-4D97-AF65-F5344CB8AC3E}">
        <p14:creationId xmlns:p14="http://schemas.microsoft.com/office/powerpoint/2010/main" val="400067931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IEEE754-2008 floating point exceptions</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a:t>Some possible uses for the runtime exception handler are:</a:t>
            </a:r>
          </a:p>
          <a:p>
            <a:pPr lvl="1"/>
            <a:r>
              <a:rPr lang="en-US" altLang="zh-TW" sz="2200"/>
              <a:t>Invoking a debugger which allows the developer to determine which fuction caused the exception and inspect the surrounding memory and register state</a:t>
            </a:r>
          </a:p>
          <a:p>
            <a:pPr lvl="1"/>
            <a:r>
              <a:rPr lang="en-US" altLang="zh-TW" sz="2200"/>
              <a:t>Logging the exception to a file</a:t>
            </a:r>
          </a:p>
          <a:p>
            <a:pPr lvl="1"/>
            <a:r>
              <a:rPr lang="en-US" altLang="zh-TW" sz="2200"/>
              <a:t>Killing the process</a:t>
            </a:r>
          </a:p>
          <a:p>
            <a:endParaRPr lang="en-US" altLang="zh-TW" sz="2200" smtClean="0"/>
          </a:p>
          <a:p>
            <a:r>
              <a:rPr lang="en-US" altLang="zh-TW" sz="2200" smtClean="0"/>
              <a:t>The enabling of the DETECT and BREAK exception polices is controlled through the HSAIL finalization</a:t>
            </a:r>
          </a:p>
          <a:p>
            <a:endParaRPr lang="en-US" altLang="zh-TW" sz="2200"/>
          </a:p>
          <a:p>
            <a:r>
              <a:rPr lang="en-US" altLang="zh-TW" sz="2200" smtClean="0"/>
              <a:t>It is recommended that performance with DETECT policy be close to native code performance since this is a commonly-used exeception policy</a:t>
            </a:r>
          </a:p>
        </p:txBody>
      </p:sp>
    </p:spTree>
    <p:extLst>
      <p:ext uri="{BB962C8B-B14F-4D97-AF65-F5344CB8AC3E}">
        <p14:creationId xmlns:p14="http://schemas.microsoft.com/office/powerpoint/2010/main" val="419017982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Kernel agent hardware debug</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At minimum, instruction breakpoints shall be supported.</a:t>
            </a:r>
          </a:p>
          <a:p>
            <a:endParaRPr lang="en-US" altLang="zh-TW" sz="2200"/>
          </a:p>
          <a:p>
            <a:r>
              <a:rPr lang="en-US" altLang="zh-TW" sz="2200" smtClean="0"/>
              <a:t>Memory breakpoints,  memory faults,  conditional breakpoints is optional</a:t>
            </a:r>
          </a:p>
          <a:p>
            <a:endParaRPr lang="en-US" altLang="zh-TW" sz="2200"/>
          </a:p>
          <a:p>
            <a:r>
              <a:rPr lang="en-US" altLang="zh-TW" sz="2200" smtClean="0"/>
              <a:t>When hitting break point, retire all pending writes to memory, stop wavefront, provide information about breakpoint condition, affected PASID, user level queue, instruction, and wvaefront/group ID</a:t>
            </a:r>
          </a:p>
          <a:p>
            <a:endParaRPr lang="en-US" altLang="zh-TW" sz="2200"/>
          </a:p>
          <a:p>
            <a:r>
              <a:rPr lang="en-US" altLang="zh-TW" sz="2200" smtClean="0"/>
              <a:t>System software shall provide appropriate resident memory to allow kernel agent write out state information</a:t>
            </a:r>
          </a:p>
        </p:txBody>
      </p:sp>
    </p:spTree>
    <p:extLst>
      <p:ext uri="{BB962C8B-B14F-4D97-AF65-F5344CB8AC3E}">
        <p14:creationId xmlns:p14="http://schemas.microsoft.com/office/powerpoint/2010/main" val="420444538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HSA Platform Topology Discovery</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The HSA System Architecture requirements cover a wide range of systems with variety of elements</a:t>
            </a:r>
          </a:p>
          <a:p>
            <a:endParaRPr lang="en-US" altLang="zh-TW" sz="2200"/>
          </a:p>
          <a:p>
            <a:r>
              <a:rPr lang="en-US" altLang="zh-TW" sz="2200" smtClean="0"/>
              <a:t>In order to leverage the available elements to their fullest, application and system software need a way to discovery and chatacterize following:</a:t>
            </a:r>
          </a:p>
          <a:p>
            <a:pPr lvl="1"/>
            <a:r>
              <a:rPr lang="en-US" altLang="zh-TW" sz="2200" smtClean="0"/>
              <a:t>The available HSA agents</a:t>
            </a:r>
          </a:p>
          <a:p>
            <a:pPr lvl="1"/>
            <a:r>
              <a:rPr lang="en-US" altLang="zh-TW" sz="2200" smtClean="0"/>
              <a:t>Their topological relation to each other</a:t>
            </a:r>
          </a:p>
          <a:p>
            <a:pPr lvl="1"/>
            <a:r>
              <a:rPr lang="en-US" altLang="zh-TW" sz="2200" smtClean="0"/>
              <a:t>Other relevant system resource    e.g.  Memory, caches, I/O, and host agents</a:t>
            </a:r>
          </a:p>
        </p:txBody>
      </p:sp>
    </p:spTree>
    <p:extLst>
      <p:ext uri="{BB962C8B-B14F-4D97-AF65-F5344CB8AC3E}">
        <p14:creationId xmlns:p14="http://schemas.microsoft.com/office/powerpoint/2010/main" val="405347880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HSA Platform Topology Discovery</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smtClean="0"/>
              <a:t>Application can discover these through various runtime APIs and software may leverage these parameters for optimizing performance on specific platform</a:t>
            </a:r>
          </a:p>
          <a:p>
            <a:endParaRPr lang="en-US" altLang="zh-TW" sz="2200"/>
          </a:p>
          <a:p>
            <a:r>
              <a:rPr lang="en-US" altLang="zh-TW" sz="2200" smtClean="0"/>
              <a:t>The relationships of kernel agent to each other can be established by the system software parsing the data and communicated to the HSA runtime and HSA applications</a:t>
            </a:r>
          </a:p>
          <a:p>
            <a:endParaRPr lang="en-US" altLang="zh-TW" sz="2200"/>
          </a:p>
          <a:p>
            <a:r>
              <a:rPr lang="en-US" altLang="zh-TW" sz="2200" smtClean="0"/>
              <a:t>Depending on the platform, the data should be group hierarchically to correspond to components such as Agent, memory, compute properties, caches, and I/O</a:t>
            </a:r>
          </a:p>
        </p:txBody>
      </p:sp>
    </p:spTree>
    <p:extLst>
      <p:ext uri="{BB962C8B-B14F-4D97-AF65-F5344CB8AC3E}">
        <p14:creationId xmlns:p14="http://schemas.microsoft.com/office/powerpoint/2010/main" val="135830631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HSA Platform Topology Discovery</a:t>
            </a:r>
            <a:endParaRPr lang="zh-TW" altLang="en-US" dirty="0"/>
          </a:p>
        </p:txBody>
      </p:sp>
      <p:sp>
        <p:nvSpPr>
          <p:cNvPr id="5" name="內容版面配置區 2"/>
          <p:cNvSpPr>
            <a:spLocks noGrp="1"/>
          </p:cNvSpPr>
          <p:nvPr>
            <p:ph idx="1"/>
          </p:nvPr>
        </p:nvSpPr>
        <p:spPr>
          <a:xfrm>
            <a:off x="457200" y="1125538"/>
            <a:ext cx="8229600" cy="4895850"/>
          </a:xfrm>
        </p:spPr>
        <p:txBody>
          <a:bodyPr/>
          <a:lstStyle/>
          <a:p>
            <a:r>
              <a:rPr lang="en-US" altLang="zh-TW" sz="2200"/>
              <a:t>The data are associated with a node ID, forming a per-node element list which references the elements contained at relative offsets within that </a:t>
            </a:r>
            <a:r>
              <a:rPr lang="en-US" altLang="zh-TW" sz="2200" smtClean="0"/>
              <a:t>list</a:t>
            </a:r>
          </a:p>
          <a:p>
            <a:endParaRPr lang="en-US" altLang="zh-TW" sz="2200"/>
          </a:p>
          <a:p>
            <a:r>
              <a:rPr lang="en-US" altLang="zh-TW" sz="2200"/>
              <a:t>Node ID should be 0-based, </a:t>
            </a:r>
            <a:r>
              <a:rPr lang="en-US" altLang="zh-TW" sz="2200" smtClean="0"/>
              <a:t> 0 ID also representing the primary elements of the system(Whether the oder of number should met with other specification(e.g. ACPI) is out of the scope of the System Architecture and outlined in the Runtime API specification)</a:t>
            </a:r>
          </a:p>
          <a:p>
            <a:endParaRPr lang="en-US" altLang="zh-TW" sz="2200"/>
          </a:p>
          <a:p>
            <a:r>
              <a:rPr lang="en-US" altLang="zh-TW" sz="2200" smtClean="0"/>
              <a:t>The node grouping of physical memory follows NUMA principles to leverage memory locality in software when multiple physical memory blocks are available in the system and agents have a different “access cost” to that memory</a:t>
            </a:r>
            <a:endParaRPr lang="en-US" altLang="zh-TW" sz="2200"/>
          </a:p>
          <a:p>
            <a:endParaRPr lang="en-US" altLang="zh-TW" sz="2200"/>
          </a:p>
        </p:txBody>
      </p:sp>
    </p:spTree>
    <p:extLst>
      <p:ext uri="{BB962C8B-B14F-4D97-AF65-F5344CB8AC3E}">
        <p14:creationId xmlns:p14="http://schemas.microsoft.com/office/powerpoint/2010/main" val="78686497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HSA Platform Topology Discovery</a:t>
            </a:r>
            <a:endParaRPr lang="zh-TW" altLang="en-US" dirty="0"/>
          </a:p>
        </p:txBody>
      </p:sp>
      <p:pic>
        <p:nvPicPr>
          <p:cNvPr id="4" name="Picture 2"/>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0045" y="1384174"/>
            <a:ext cx="4740914" cy="4369644"/>
          </a:xfrm>
          <a:prstGeom prst="rect">
            <a:avLst/>
          </a:prstGeom>
          <a:noFill/>
        </p:spPr>
      </p:pic>
      <p:sp>
        <p:nvSpPr>
          <p:cNvPr id="6" name="文字方塊 5"/>
          <p:cNvSpPr txBox="1"/>
          <p:nvPr/>
        </p:nvSpPr>
        <p:spPr>
          <a:xfrm>
            <a:off x="5300587" y="2265529"/>
            <a:ext cx="3767328" cy="2308324"/>
          </a:xfrm>
          <a:prstGeom prst="rect">
            <a:avLst/>
          </a:prstGeom>
          <a:noFill/>
        </p:spPr>
        <p:txBody>
          <a:bodyPr wrap="square" rtlCol="0" anchor="ctr" anchorCtr="1">
            <a:spAutoFit/>
          </a:bodyPr>
          <a:lstStyle/>
          <a:p>
            <a:r>
              <a:rPr lang="en-GB" altLang="zh-TW" sz="2400" dirty="0" smtClean="0"/>
              <a:t>this figure is an </a:t>
            </a:r>
            <a:r>
              <a:rPr lang="en-GB" altLang="zh-TW" sz="2400" dirty="0"/>
              <a:t>example for a structurally simpler platform with only one “node”, containing HSA agent and memory resources</a:t>
            </a:r>
            <a:endParaRPr lang="zh-TW" altLang="en-US" sz="2400" dirty="0" smtClean="0">
              <a:ea typeface="標楷體" pitchFamily="65" charset="-120"/>
              <a:cs typeface="Calibri" pitchFamily="34" charset="0"/>
            </a:endParaRPr>
          </a:p>
        </p:txBody>
      </p:sp>
    </p:spTree>
    <p:extLst>
      <p:ext uri="{BB962C8B-B14F-4D97-AF65-F5344CB8AC3E}">
        <p14:creationId xmlns:p14="http://schemas.microsoft.com/office/powerpoint/2010/main" val="109714978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Topology requirement</a:t>
            </a:r>
            <a:endParaRPr lang="zh-TW" altLang="en-US" dirty="0"/>
          </a:p>
        </p:txBody>
      </p:sp>
      <p:sp>
        <p:nvSpPr>
          <p:cNvPr id="3" name="內容版面配置區 2"/>
          <p:cNvSpPr>
            <a:spLocks noGrp="1"/>
          </p:cNvSpPr>
          <p:nvPr>
            <p:ph idx="1"/>
          </p:nvPr>
        </p:nvSpPr>
        <p:spPr/>
        <p:txBody>
          <a:bodyPr/>
          <a:lstStyle/>
          <a:p>
            <a:r>
              <a:rPr lang="en-US" altLang="zh-TW" smtClean="0"/>
              <a:t>Topology should not change during the application enumeration process itself, but some advance system that support “docking”, the system must provide properties to detect ephermeral vs persistent components and use notification that allow them to re-enurmerate the updated topology</a:t>
            </a:r>
          </a:p>
          <a:p>
            <a:endParaRPr lang="en-US" altLang="zh-TW"/>
          </a:p>
          <a:p>
            <a:r>
              <a:rPr lang="en-US" altLang="zh-TW" smtClean="0"/>
              <a:t>System software and runtime may provide mechanisms to the application to notify it about topology changes that may be caused by platform and system events</a:t>
            </a:r>
            <a:endParaRPr lang="zh-TW" altLang="en-US"/>
          </a:p>
        </p:txBody>
      </p:sp>
    </p:spTree>
    <p:extLst>
      <p:ext uri="{BB962C8B-B14F-4D97-AF65-F5344CB8AC3E}">
        <p14:creationId xmlns:p14="http://schemas.microsoft.com/office/powerpoint/2010/main" val="319231799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Agent &amp; kernel entry</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0472" y="1139729"/>
            <a:ext cx="5932637" cy="5285606"/>
          </a:xfrm>
        </p:spPr>
      </p:pic>
    </p:spTree>
    <p:extLst>
      <p:ext uri="{BB962C8B-B14F-4D97-AF65-F5344CB8AC3E}">
        <p14:creationId xmlns:p14="http://schemas.microsoft.com/office/powerpoint/2010/main" val="94193082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GB" altLang="zh-TW" dirty="0"/>
              <a:t>HSA Agent Entry</a:t>
            </a:r>
            <a:endParaRPr lang="zh-TW" altLang="en-US" dirty="0"/>
          </a:p>
        </p:txBody>
      </p:sp>
      <p:sp>
        <p:nvSpPr>
          <p:cNvPr id="3" name="內容版面配置區 2"/>
          <p:cNvSpPr>
            <a:spLocks noGrp="1"/>
          </p:cNvSpPr>
          <p:nvPr>
            <p:ph idx="1"/>
          </p:nvPr>
        </p:nvSpPr>
        <p:spPr/>
        <p:txBody>
          <a:bodyPr/>
          <a:lstStyle/>
          <a:p>
            <a:r>
              <a:rPr lang="en-GB" altLang="zh-TW" dirty="0"/>
              <a:t>At minimum, the following HSA agent parameters would be made </a:t>
            </a:r>
            <a:r>
              <a:rPr lang="en-GB" altLang="zh-TW"/>
              <a:t>available </a:t>
            </a:r>
            <a:r>
              <a:rPr lang="en-GB" altLang="zh-TW" smtClean="0"/>
              <a:t>via APIs:</a:t>
            </a:r>
          </a:p>
          <a:p>
            <a:pPr lvl="1"/>
            <a:r>
              <a:rPr lang="en-GB" altLang="zh-TW" sz="2200" smtClean="0"/>
              <a:t>Kernel agent &amp; agent indicator</a:t>
            </a:r>
            <a:endParaRPr lang="en-GB" altLang="zh-TW" sz="2200" dirty="0" smtClean="0"/>
          </a:p>
          <a:p>
            <a:pPr lvl="1"/>
            <a:r>
              <a:rPr lang="en-US" altLang="zh-TW" sz="2200" smtClean="0"/>
              <a:t>Type(throughput/vector, latency/scalar, DSP)</a:t>
            </a:r>
          </a:p>
          <a:p>
            <a:pPr lvl="1"/>
            <a:r>
              <a:rPr lang="en-US" altLang="zh-TW" sz="2200" smtClean="0"/>
              <a:t>Node ID</a:t>
            </a:r>
            <a:endParaRPr lang="zh-TW" altLang="zh-TW" sz="2200" dirty="0"/>
          </a:p>
          <a:p>
            <a:pPr lvl="1"/>
            <a:r>
              <a:rPr lang="en-GB" altLang="zh-TW" sz="2200"/>
              <a:t>Element </a:t>
            </a:r>
            <a:r>
              <a:rPr lang="en-GB" altLang="zh-TW" sz="2200" smtClean="0"/>
              <a:t>ID</a:t>
            </a:r>
          </a:p>
          <a:p>
            <a:pPr lvl="2"/>
            <a:r>
              <a:rPr lang="en-US" altLang="zh-TW" smtClean="0"/>
              <a:t>Used to individually identify the agent on that platform</a:t>
            </a:r>
            <a:endParaRPr lang="zh-TW" altLang="en-US" smtClean="0"/>
          </a:p>
          <a:p>
            <a:pPr lvl="1"/>
            <a:r>
              <a:rPr lang="en-GB" altLang="zh-TW" sz="2200" smtClean="0"/>
              <a:t>Maximum </a:t>
            </a:r>
            <a:r>
              <a:rPr lang="en-GB" altLang="zh-TW" sz="2200" dirty="0"/>
              <a:t>number of Compute </a:t>
            </a:r>
            <a:r>
              <a:rPr lang="en-GB" altLang="zh-TW" sz="2200" dirty="0" smtClean="0"/>
              <a:t>Units</a:t>
            </a:r>
          </a:p>
          <a:p>
            <a:pPr lvl="1"/>
            <a:r>
              <a:rPr lang="en-GB" altLang="zh-TW" sz="2200" dirty="0"/>
              <a:t>Maximum work-item </a:t>
            </a:r>
            <a:r>
              <a:rPr lang="en-GB" altLang="zh-TW" sz="2200" dirty="0" smtClean="0"/>
              <a:t>dimensions</a:t>
            </a:r>
          </a:p>
          <a:p>
            <a:pPr lvl="1"/>
            <a:r>
              <a:rPr lang="en-GB" altLang="zh-TW" sz="2200" dirty="0"/>
              <a:t>Maximum work-item </a:t>
            </a:r>
            <a:r>
              <a:rPr lang="en-GB" altLang="zh-TW" sz="2200" dirty="0" smtClean="0"/>
              <a:t>sizes</a:t>
            </a:r>
          </a:p>
          <a:p>
            <a:pPr lvl="1"/>
            <a:r>
              <a:rPr lang="en-GB" altLang="zh-TW" sz="2200" dirty="0"/>
              <a:t>Machine </a:t>
            </a:r>
            <a:r>
              <a:rPr lang="en-GB" altLang="zh-TW" sz="2200" dirty="0" smtClean="0"/>
              <a:t>model</a:t>
            </a:r>
          </a:p>
          <a:p>
            <a:pPr lvl="1"/>
            <a:r>
              <a:rPr lang="en-US" altLang="zh-TW" sz="2200" smtClean="0"/>
              <a:t>Endianness</a:t>
            </a:r>
          </a:p>
          <a:p>
            <a:pPr lvl="1"/>
            <a:r>
              <a:rPr lang="en-US" altLang="zh-TW" sz="2200" smtClean="0"/>
              <a:t>Queue size</a:t>
            </a:r>
            <a:endParaRPr lang="zh-TW" altLang="zh-TW" sz="2200" dirty="0"/>
          </a:p>
          <a:p>
            <a:pPr lvl="1"/>
            <a:endParaRPr lang="en-GB" altLang="zh-TW" dirty="0" smtClean="0"/>
          </a:p>
        </p:txBody>
      </p:sp>
    </p:spTree>
    <p:extLst>
      <p:ext uri="{BB962C8B-B14F-4D97-AF65-F5344CB8AC3E}">
        <p14:creationId xmlns:p14="http://schemas.microsoft.com/office/powerpoint/2010/main" val="238690341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GB" altLang="zh-TW" dirty="0"/>
              <a:t>HSA Agent Entry</a:t>
            </a:r>
            <a:endParaRPr lang="zh-TW" altLang="en-US" dirty="0"/>
          </a:p>
        </p:txBody>
      </p:sp>
      <p:sp>
        <p:nvSpPr>
          <p:cNvPr id="3" name="內容版面配置區 2"/>
          <p:cNvSpPr>
            <a:spLocks noGrp="1"/>
          </p:cNvSpPr>
          <p:nvPr>
            <p:ph idx="1"/>
          </p:nvPr>
        </p:nvSpPr>
        <p:spPr/>
        <p:txBody>
          <a:bodyPr/>
          <a:lstStyle/>
          <a:p>
            <a:r>
              <a:rPr lang="en-GB" altLang="zh-TW" dirty="0"/>
              <a:t>Other optional </a:t>
            </a:r>
            <a:r>
              <a:rPr lang="en-GB" altLang="zh-TW" dirty="0" smtClean="0"/>
              <a:t>parameters:</a:t>
            </a:r>
          </a:p>
          <a:p>
            <a:pPr lvl="1"/>
            <a:r>
              <a:rPr lang="en-GB" altLang="zh-TW" dirty="0"/>
              <a:t>Maximum Clock Frequency in MHz (0 if not exposed on a platform</a:t>
            </a:r>
            <a:r>
              <a:rPr lang="en-GB" altLang="zh-TW" dirty="0" smtClean="0"/>
              <a:t>)</a:t>
            </a:r>
          </a:p>
          <a:p>
            <a:pPr lvl="1"/>
            <a:r>
              <a:rPr lang="en-GB" altLang="zh-TW" dirty="0"/>
              <a:t>Friendly name (equivalent to “device name” in </a:t>
            </a:r>
            <a:r>
              <a:rPr lang="en-GB" altLang="zh-TW" dirty="0" err="1"/>
              <a:t>OpenCL</a:t>
            </a:r>
            <a:r>
              <a:rPr lang="en-GB" altLang="zh-TW" dirty="0"/>
              <a:t>™</a:t>
            </a:r>
            <a:r>
              <a:rPr lang="en-GB" altLang="zh-TW" dirty="0" smtClean="0"/>
              <a:t>)</a:t>
            </a:r>
          </a:p>
          <a:p>
            <a:pPr lvl="1"/>
            <a:r>
              <a:rPr lang="en-GB" altLang="zh-TW" dirty="0"/>
              <a:t>Floating point capabilities</a:t>
            </a:r>
            <a:endParaRPr lang="zh-TW" altLang="en-US" dirty="0"/>
          </a:p>
        </p:txBody>
      </p:sp>
    </p:spTree>
    <p:extLst>
      <p:ext uri="{BB962C8B-B14F-4D97-AF65-F5344CB8AC3E}">
        <p14:creationId xmlns:p14="http://schemas.microsoft.com/office/powerpoint/2010/main" val="28539532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 memory entry </a:t>
            </a:r>
            <a:endParaRPr lang="zh-TW" altLang="en-US" dirty="0"/>
          </a:p>
        </p:txBody>
      </p:sp>
      <p:sp>
        <p:nvSpPr>
          <p:cNvPr id="3" name="內容版面配置區 2"/>
          <p:cNvSpPr>
            <a:spLocks noGrp="1"/>
          </p:cNvSpPr>
          <p:nvPr>
            <p:ph idx="1"/>
          </p:nvPr>
        </p:nvSpPr>
        <p:spPr/>
        <p:txBody>
          <a:bodyPr/>
          <a:lstStyle/>
          <a:p>
            <a:r>
              <a:rPr lang="en-GB" altLang="zh-TW" dirty="0"/>
              <a:t>The HSA Memory Entry describes the physical properties of a block memory in the system with identifiable characteristics that can be </a:t>
            </a:r>
            <a:r>
              <a:rPr lang="en-GB" altLang="zh-TW" dirty="0" err="1" smtClean="0"/>
              <a:t>accessed</a:t>
            </a:r>
            <a:r>
              <a:rPr lang="en-GB" altLang="zh-TW" dirty="0" err="1"/>
              <a:t>by</a:t>
            </a:r>
            <a:r>
              <a:rPr lang="en-GB" altLang="zh-TW" dirty="0"/>
              <a:t> the HSA </a:t>
            </a:r>
            <a:r>
              <a:rPr lang="en-GB" altLang="zh-TW" dirty="0" smtClean="0"/>
              <a:t>agents</a:t>
            </a:r>
          </a:p>
          <a:p>
            <a:endParaRPr lang="en-GB" altLang="zh-TW" dirty="0"/>
          </a:p>
          <a:p>
            <a:r>
              <a:rPr lang="en-GB" altLang="zh-TW" dirty="0" smtClean="0"/>
              <a:t>The </a:t>
            </a:r>
            <a:r>
              <a:rPr lang="en-GB" altLang="zh-TW" dirty="0"/>
              <a:t>following HSA memory parameters of each physically distinguishable memory block would be made available to system software and </a:t>
            </a:r>
            <a:r>
              <a:rPr lang="en-GB" altLang="zh-TW" dirty="0" smtClean="0"/>
              <a:t>potentially </a:t>
            </a:r>
            <a:r>
              <a:rPr lang="en-GB" altLang="zh-TW" dirty="0"/>
              <a:t>made available to applications via </a:t>
            </a:r>
            <a:r>
              <a:rPr lang="en-GB" altLang="zh-TW" dirty="0" smtClean="0"/>
              <a:t>APIs</a:t>
            </a:r>
          </a:p>
          <a:p>
            <a:pPr lvl="1"/>
            <a:r>
              <a:rPr lang="en-GB" altLang="zh-TW" dirty="0"/>
              <a:t>Node </a:t>
            </a:r>
            <a:r>
              <a:rPr lang="en-GB" altLang="zh-TW" dirty="0" smtClean="0"/>
              <a:t>ID</a:t>
            </a:r>
          </a:p>
          <a:p>
            <a:pPr lvl="1"/>
            <a:r>
              <a:rPr lang="en-GB" altLang="zh-TW" dirty="0"/>
              <a:t>Element ID </a:t>
            </a:r>
            <a:endParaRPr lang="en-GB" altLang="zh-TW" dirty="0" smtClean="0"/>
          </a:p>
          <a:p>
            <a:pPr lvl="1"/>
            <a:r>
              <a:rPr lang="en-GB" altLang="zh-TW" dirty="0"/>
              <a:t>Virtual base </a:t>
            </a:r>
            <a:r>
              <a:rPr lang="en-GB" altLang="zh-TW" dirty="0" smtClean="0"/>
              <a:t>address</a:t>
            </a:r>
          </a:p>
          <a:p>
            <a:pPr lvl="1"/>
            <a:r>
              <a:rPr lang="en-GB" altLang="zh-TW" dirty="0"/>
              <a:t>Physical memory size in bytes</a:t>
            </a:r>
            <a:endParaRPr lang="zh-TW" altLang="en-US" dirty="0"/>
          </a:p>
        </p:txBody>
      </p:sp>
    </p:spTree>
    <p:extLst>
      <p:ext uri="{BB962C8B-B14F-4D97-AF65-F5344CB8AC3E}">
        <p14:creationId xmlns:p14="http://schemas.microsoft.com/office/powerpoint/2010/main" val="236276622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HSA memory entry </a:t>
            </a:r>
            <a:endParaRPr lang="zh-TW" altLang="en-US" dirty="0"/>
          </a:p>
        </p:txBody>
      </p:sp>
      <p:sp>
        <p:nvSpPr>
          <p:cNvPr id="3" name="內容版面配置區 2"/>
          <p:cNvSpPr>
            <a:spLocks noGrp="1"/>
          </p:cNvSpPr>
          <p:nvPr>
            <p:ph idx="1"/>
          </p:nvPr>
        </p:nvSpPr>
        <p:spPr/>
        <p:txBody>
          <a:bodyPr/>
          <a:lstStyle/>
          <a:p>
            <a:r>
              <a:rPr lang="en-GB" altLang="zh-TW" dirty="0"/>
              <a:t>Optional HSA memory parameters </a:t>
            </a:r>
            <a:endParaRPr lang="en-GB" altLang="zh-TW" dirty="0" smtClean="0"/>
          </a:p>
          <a:p>
            <a:pPr lvl="1"/>
            <a:r>
              <a:rPr lang="en-GB" altLang="zh-TW" dirty="0"/>
              <a:t>Memory </a:t>
            </a:r>
            <a:r>
              <a:rPr lang="en-GB" altLang="zh-TW" dirty="0" smtClean="0"/>
              <a:t>interleave</a:t>
            </a:r>
          </a:p>
          <a:p>
            <a:pPr lvl="1"/>
            <a:r>
              <a:rPr lang="en-GB" altLang="zh-TW" dirty="0"/>
              <a:t>Number of memory </a:t>
            </a:r>
            <a:r>
              <a:rPr lang="en-GB" altLang="zh-TW" dirty="0" smtClean="0"/>
              <a:t>channels</a:t>
            </a:r>
          </a:p>
          <a:p>
            <a:pPr lvl="1"/>
            <a:r>
              <a:rPr lang="en-US" altLang="zh-TW" dirty="0"/>
              <a:t>Memory width per memory channel</a:t>
            </a:r>
            <a:endParaRPr lang="zh-TW" altLang="zh-TW" dirty="0"/>
          </a:p>
          <a:p>
            <a:pPr lvl="1"/>
            <a:r>
              <a:rPr lang="en-GB" altLang="zh-TW" dirty="0"/>
              <a:t>Maximum memory throughput in </a:t>
            </a:r>
            <a:r>
              <a:rPr lang="en-GB" altLang="zh-TW" dirty="0" err="1" smtClean="0"/>
              <a:t>MByte</a:t>
            </a:r>
            <a:r>
              <a:rPr lang="en-GB" altLang="zh-TW" dirty="0" smtClean="0"/>
              <a:t>/s</a:t>
            </a:r>
          </a:p>
          <a:p>
            <a:pPr lvl="1"/>
            <a:r>
              <a:rPr lang="en-GB" altLang="zh-TW" dirty="0"/>
              <a:t>Minimum memory access latency in picoseconds</a:t>
            </a:r>
            <a:endParaRPr lang="en-US" altLang="zh-TW" dirty="0" smtClean="0"/>
          </a:p>
        </p:txBody>
      </p:sp>
    </p:spTree>
    <p:extLst>
      <p:ext uri="{BB962C8B-B14F-4D97-AF65-F5344CB8AC3E}">
        <p14:creationId xmlns:p14="http://schemas.microsoft.com/office/powerpoint/2010/main" val="238731472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 cache entry </a:t>
            </a:r>
            <a:endParaRPr lang="zh-TW" altLang="en-US" dirty="0"/>
          </a:p>
        </p:txBody>
      </p:sp>
      <p:sp>
        <p:nvSpPr>
          <p:cNvPr id="3" name="內容版面配置區 2"/>
          <p:cNvSpPr>
            <a:spLocks noGrp="1"/>
          </p:cNvSpPr>
          <p:nvPr>
            <p:ph idx="1"/>
          </p:nvPr>
        </p:nvSpPr>
        <p:spPr/>
        <p:txBody>
          <a:bodyPr/>
          <a:lstStyle/>
          <a:p>
            <a:r>
              <a:rPr lang="en-GB" altLang="zh-TW" smtClean="0"/>
              <a:t>At </a:t>
            </a:r>
            <a:r>
              <a:rPr lang="en-GB" altLang="zh-TW" dirty="0"/>
              <a:t>minimum, the following HSA memory parameters would be made </a:t>
            </a:r>
            <a:r>
              <a:rPr lang="en-GB" altLang="zh-TW"/>
              <a:t>available </a:t>
            </a:r>
            <a:r>
              <a:rPr lang="en-GB" altLang="zh-TW" smtClean="0"/>
              <a:t>via </a:t>
            </a:r>
            <a:r>
              <a:rPr lang="en-GB" altLang="zh-TW" dirty="0" smtClean="0"/>
              <a:t>APIs</a:t>
            </a:r>
          </a:p>
          <a:p>
            <a:pPr lvl="1"/>
            <a:r>
              <a:rPr lang="en-GB" altLang="zh-TW" sz="2200" dirty="0"/>
              <a:t>Node </a:t>
            </a:r>
            <a:r>
              <a:rPr lang="en-GB" altLang="zh-TW" sz="2200" dirty="0" smtClean="0"/>
              <a:t>ID</a:t>
            </a:r>
          </a:p>
          <a:p>
            <a:pPr lvl="1"/>
            <a:r>
              <a:rPr lang="en-GB" altLang="zh-TW" sz="2200" dirty="0"/>
              <a:t>Element </a:t>
            </a:r>
            <a:r>
              <a:rPr lang="en-GB" altLang="zh-TW" sz="2200"/>
              <a:t>ID </a:t>
            </a:r>
            <a:endParaRPr lang="en-GB" altLang="zh-TW" sz="2200" smtClean="0"/>
          </a:p>
          <a:p>
            <a:pPr lvl="1"/>
            <a:r>
              <a:rPr lang="en-GB" altLang="zh-TW" sz="2200" smtClean="0"/>
              <a:t>Cache </a:t>
            </a:r>
            <a:r>
              <a:rPr lang="en-GB" altLang="zh-TW" sz="2200" dirty="0"/>
              <a:t>type, e.g. read-only or read/write </a:t>
            </a:r>
            <a:r>
              <a:rPr lang="en-GB" altLang="zh-TW" sz="2200" dirty="0" smtClean="0"/>
              <a:t>cache</a:t>
            </a:r>
          </a:p>
          <a:p>
            <a:pPr lvl="1"/>
            <a:r>
              <a:rPr lang="en-GB" altLang="zh-TW" sz="2200" dirty="0"/>
              <a:t>Total size of cache </a:t>
            </a:r>
            <a:r>
              <a:rPr lang="en-GB" altLang="zh-TW" sz="2200"/>
              <a:t>in </a:t>
            </a:r>
            <a:r>
              <a:rPr lang="en-GB" altLang="zh-TW" sz="2200" smtClean="0"/>
              <a:t>kilobytes</a:t>
            </a:r>
          </a:p>
          <a:p>
            <a:pPr lvl="1"/>
            <a:r>
              <a:rPr lang="en-GB" altLang="zh-TW" sz="2200" smtClean="0"/>
              <a:t>Cache line size in bytes</a:t>
            </a:r>
          </a:p>
          <a:p>
            <a:pPr lvl="1"/>
            <a:r>
              <a:rPr lang="en-GB" altLang="zh-TW" sz="2200"/>
              <a:t>Cache level (1, 2, 3, …)</a:t>
            </a:r>
          </a:p>
          <a:p>
            <a:pPr lvl="1"/>
            <a:r>
              <a:rPr lang="en-GB" altLang="zh-TW" sz="2200"/>
              <a:t>Associativity (0 = reserved, 1= direct mapped, </a:t>
            </a:r>
            <a:r>
              <a:rPr lang="en-GB" altLang="zh-TW" sz="2200" smtClean="0"/>
              <a:t>2=0xFE </a:t>
            </a:r>
            <a:r>
              <a:rPr lang="en-GB" altLang="zh-TW" sz="2200"/>
              <a:t>associativity, 0xFFh=fully associative)</a:t>
            </a:r>
          </a:p>
          <a:p>
            <a:pPr lvl="1"/>
            <a:r>
              <a:rPr lang="en-GB" altLang="zh-TW" sz="2200"/>
              <a:t>Exclusive/inclusive to lower level caches</a:t>
            </a:r>
          </a:p>
          <a:p>
            <a:pPr lvl="1"/>
            <a:r>
              <a:rPr lang="en-GB" altLang="zh-TW" sz="2200"/>
              <a:t>Agent association if cache is shared between agents (identified via nodemask</a:t>
            </a:r>
            <a:r>
              <a:rPr lang="en-GB" altLang="zh-TW" sz="2200" smtClean="0"/>
              <a:t>)</a:t>
            </a:r>
            <a:endParaRPr lang="en-US" altLang="zh-TW" sz="2200"/>
          </a:p>
        </p:txBody>
      </p:sp>
    </p:spTree>
    <p:extLst>
      <p:ext uri="{BB962C8B-B14F-4D97-AF65-F5344CB8AC3E}">
        <p14:creationId xmlns:p14="http://schemas.microsoft.com/office/powerpoint/2010/main" val="296556425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HSA cache entry </a:t>
            </a:r>
            <a:endParaRPr lang="zh-TW" altLang="en-US" dirty="0"/>
          </a:p>
        </p:txBody>
      </p:sp>
      <p:sp>
        <p:nvSpPr>
          <p:cNvPr id="3" name="內容版面配置區 2"/>
          <p:cNvSpPr>
            <a:spLocks noGrp="1"/>
          </p:cNvSpPr>
          <p:nvPr>
            <p:ph idx="1"/>
          </p:nvPr>
        </p:nvSpPr>
        <p:spPr/>
        <p:txBody>
          <a:bodyPr/>
          <a:lstStyle/>
          <a:p>
            <a:r>
              <a:rPr lang="en-GB" altLang="zh-TW" smtClean="0"/>
              <a:t>Optional </a:t>
            </a:r>
            <a:r>
              <a:rPr lang="en-GB" altLang="zh-TW" dirty="0" smtClean="0"/>
              <a:t>HSA memory parameters</a:t>
            </a:r>
          </a:p>
          <a:p>
            <a:pPr lvl="1"/>
            <a:r>
              <a:rPr lang="en-GB" altLang="zh-TW" dirty="0" smtClean="0"/>
              <a:t>Maximum latency (in picoseconds)</a:t>
            </a:r>
            <a:endParaRPr lang="zh-TW" altLang="en-US" dirty="0"/>
          </a:p>
        </p:txBody>
      </p:sp>
    </p:spTree>
    <p:extLst>
      <p:ext uri="{BB962C8B-B14F-4D97-AF65-F5344CB8AC3E}">
        <p14:creationId xmlns:p14="http://schemas.microsoft.com/office/powerpoint/2010/main" val="223560329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2"/>
            <a:r>
              <a:rPr lang="en-US" altLang="zh-TW" dirty="0">
                <a:effectLst>
                  <a:glow>
                    <a:srgbClr val="000000"/>
                  </a:glow>
                  <a:outerShdw sx="0" sy="0">
                    <a:srgbClr val="000000"/>
                  </a:outerShdw>
                  <a:reflection stA="0" endPos="0" fadeDir="0" sx="0" sy="0"/>
                </a:effectLst>
              </a:rPr>
              <a:t>Topology Structure </a:t>
            </a:r>
            <a:r>
              <a:rPr lang="en-US" altLang="zh-TW" dirty="0" smtClean="0">
                <a:effectLst>
                  <a:glow>
                    <a:srgbClr val="000000"/>
                  </a:glow>
                  <a:outerShdw sx="0" sy="0">
                    <a:srgbClr val="000000"/>
                  </a:outerShdw>
                  <a:reflection stA="0" endPos="0" fadeDir="0" sx="0" sy="0"/>
                </a:effectLst>
              </a:rPr>
              <a:t>Example</a:t>
            </a:r>
            <a:endParaRPr lang="zh-TW" altLang="en-US" dirty="0"/>
          </a:p>
        </p:txBody>
      </p:sp>
      <p:pic>
        <p:nvPicPr>
          <p:cNvPr id="4"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0" y="1194318"/>
            <a:ext cx="6939876" cy="4917233"/>
          </a:xfrm>
          <a:prstGeom prst="rect">
            <a:avLst/>
          </a:prstGeom>
          <a:noFill/>
          <a:ln w="9525">
            <a:noFill/>
            <a:miter lim="800000"/>
            <a:headEnd/>
            <a:tailEnd/>
          </a:ln>
          <a:effectLst/>
          <a:extLst/>
        </p:spPr>
      </p:pic>
      <p:sp>
        <p:nvSpPr>
          <p:cNvPr id="10" name="文字方塊 9"/>
          <p:cNvSpPr txBox="1"/>
          <p:nvPr/>
        </p:nvSpPr>
        <p:spPr>
          <a:xfrm>
            <a:off x="6939876" y="2676111"/>
            <a:ext cx="2082826" cy="1546577"/>
          </a:xfrm>
          <a:prstGeom prst="rect">
            <a:avLst/>
          </a:prstGeom>
          <a:noFill/>
        </p:spPr>
        <p:txBody>
          <a:bodyPr wrap="square" rtlCol="0" anchor="ctr" anchorCtr="1">
            <a:spAutoFit/>
          </a:bodyPr>
          <a:lstStyle/>
          <a:p>
            <a:r>
              <a:rPr lang="en-US" altLang="zh-TW" sz="1350" dirty="0">
                <a:ea typeface="標楷體" pitchFamily="65" charset="-120"/>
                <a:cs typeface="Calibri" pitchFamily="34" charset="0"/>
              </a:rPr>
              <a:t>This figure outlines an illustrative example of how the information can be used to express specific system topology, using 71 page block diagram as the basis</a:t>
            </a:r>
            <a:endParaRPr lang="zh-TW" altLang="en-US" sz="1350" dirty="0">
              <a:ea typeface="標楷體" pitchFamily="65" charset="-120"/>
              <a:cs typeface="Calibri" pitchFamily="34" charset="0"/>
            </a:endParaRPr>
          </a:p>
        </p:txBody>
      </p:sp>
    </p:spTree>
    <p:extLst>
      <p:ext uri="{BB962C8B-B14F-4D97-AF65-F5344CB8AC3E}">
        <p14:creationId xmlns:p14="http://schemas.microsoft.com/office/powerpoint/2010/main" val="3381330264"/>
      </p:ext>
    </p:extLst>
  </p:cSld>
  <p:clrMapOvr>
    <a:masterClrMapping/>
  </p:clrMapOvr>
  <p:timing>
    <p:tnLst>
      <p:par>
        <p:cTn id="1" dur="indefinite" restart="never" nodeType="tmRoot"/>
      </p:par>
    </p:tnLst>
  </p:timing>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squar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佈景主題1" id="{52425C63-842A-4F95-A16C-1C0CCEA90123}" vid="{F27CB42A-B114-46CF-86BE-45D629310C5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佈景主題1</Template>
  <TotalTime>3909</TotalTime>
  <Words>3680</Words>
  <Application>Microsoft Office PowerPoint</Application>
  <PresentationFormat>如螢幕大小 (4:3)</PresentationFormat>
  <Paragraphs>588</Paragraphs>
  <Slides>94</Slides>
  <Notes>1</Notes>
  <HiddenSlides>0</HiddenSlides>
  <MMClips>0</MMClips>
  <ScaleCrop>false</ScaleCrop>
  <HeadingPairs>
    <vt:vector size="4" baseType="variant">
      <vt:variant>
        <vt:lpstr>佈景主題</vt:lpstr>
      </vt:variant>
      <vt:variant>
        <vt:i4>1</vt:i4>
      </vt:variant>
      <vt:variant>
        <vt:lpstr>投影片標題</vt:lpstr>
      </vt:variant>
      <vt:variant>
        <vt:i4>94</vt:i4>
      </vt:variant>
    </vt:vector>
  </HeadingPairs>
  <TitlesOfParts>
    <vt:vector size="95" baseType="lpstr">
      <vt:lpstr>佈景主題1</vt:lpstr>
      <vt:lpstr>HSA Hardware Specification</vt:lpstr>
      <vt:lpstr>OutLine</vt:lpstr>
      <vt:lpstr>Intorduction</vt:lpstr>
      <vt:lpstr>Traditional system with CPU and GPU</vt:lpstr>
      <vt:lpstr>APU</vt:lpstr>
      <vt:lpstr>Heterogeneous Programming Issues</vt:lpstr>
      <vt:lpstr>HSA</vt:lpstr>
      <vt:lpstr>Current Heterogeneous Programming Problem</vt:lpstr>
      <vt:lpstr>Current Heterogeneous Programming Problem</vt:lpstr>
      <vt:lpstr>Current Heterogeneous Programming Problem</vt:lpstr>
      <vt:lpstr>Current resolution</vt:lpstr>
      <vt:lpstr>Table of Contents</vt:lpstr>
      <vt:lpstr>Table of Contents(cont.)</vt:lpstr>
      <vt:lpstr>Share virtual memory</vt:lpstr>
      <vt:lpstr>Shared Virtual Memory</vt:lpstr>
      <vt:lpstr>Shared Virtual Memory</vt:lpstr>
      <vt:lpstr>Shared Virtual Memory</vt:lpstr>
      <vt:lpstr>Shared Virtual Memory</vt:lpstr>
      <vt:lpstr>How Hardware to implement …</vt:lpstr>
      <vt:lpstr>Uniform Memory Access</vt:lpstr>
      <vt:lpstr>Uniform Memory Access</vt:lpstr>
      <vt:lpstr>Uniform Memory Access</vt:lpstr>
      <vt:lpstr>How to implement UMA in HSA System?</vt:lpstr>
      <vt:lpstr>How to implement UMA in HSA System?</vt:lpstr>
      <vt:lpstr>Flat addressing</vt:lpstr>
      <vt:lpstr>Memory hierarchy</vt:lpstr>
      <vt:lpstr>Flat Addressing</vt:lpstr>
      <vt:lpstr>Flat addressing concept</vt:lpstr>
      <vt:lpstr>OpenCL generic address space</vt:lpstr>
      <vt:lpstr>OpenCL generic address space</vt:lpstr>
      <vt:lpstr>In assembly view</vt:lpstr>
      <vt:lpstr>Cache coherence domains</vt:lpstr>
      <vt:lpstr>Cache coherence</vt:lpstr>
      <vt:lpstr>Main idea of cache coherence</vt:lpstr>
      <vt:lpstr>Endianess</vt:lpstr>
      <vt:lpstr>Signaling and synchronization</vt:lpstr>
      <vt:lpstr>Signaling and synchronization</vt:lpstr>
      <vt:lpstr>Signaling and synchronization</vt:lpstr>
      <vt:lpstr>Signaling and synchronization</vt:lpstr>
      <vt:lpstr>Signaling and synchronization</vt:lpstr>
      <vt:lpstr>Atomic memory operation</vt:lpstr>
      <vt:lpstr>Atomic memory operations</vt:lpstr>
      <vt:lpstr>HSA system timestamp</vt:lpstr>
      <vt:lpstr>HSA system timestamp</vt:lpstr>
      <vt:lpstr>HSA system timestamp</vt:lpstr>
      <vt:lpstr>Implement of HSA system timestamp</vt:lpstr>
      <vt:lpstr>User mode queuing</vt:lpstr>
      <vt:lpstr>User mode queuing</vt:lpstr>
      <vt:lpstr>User mode queuing</vt:lpstr>
      <vt:lpstr>User mode queuing</vt:lpstr>
      <vt:lpstr>Runtime services dispatch queue</vt:lpstr>
      <vt:lpstr>User mode queuing format</vt:lpstr>
      <vt:lpstr>Submit a task to a queue</vt:lpstr>
      <vt:lpstr>Multiple vs. single submitting agents</vt:lpstr>
      <vt:lpstr>Multiple vs. single submitting agents</vt:lpstr>
      <vt:lpstr>Architected  Queuing  language</vt:lpstr>
      <vt:lpstr>Architected Queuing Language</vt:lpstr>
      <vt:lpstr>Packet header</vt:lpstr>
      <vt:lpstr>Packet header</vt:lpstr>
      <vt:lpstr>Packet header</vt:lpstr>
      <vt:lpstr>Packet process flow</vt:lpstr>
      <vt:lpstr>Error handling</vt:lpstr>
      <vt:lpstr>Vendor-specific packet</vt:lpstr>
      <vt:lpstr>Invalid packet</vt:lpstr>
      <vt:lpstr>Kernel dispatch packet</vt:lpstr>
      <vt:lpstr>Kernel dispatch packet</vt:lpstr>
      <vt:lpstr>Agent dispatch packet</vt:lpstr>
      <vt:lpstr>Agent dispatch packet</vt:lpstr>
      <vt:lpstr>Barrier-AND packet/Barrier-OR packet</vt:lpstr>
      <vt:lpstr>Barrier-AND packet/Barrier-OR packet</vt:lpstr>
      <vt:lpstr>Barrier-AND packet/Barrier-OR packet(圖例)</vt:lpstr>
      <vt:lpstr>Agent scheduling</vt:lpstr>
      <vt:lpstr>Agent scheduling</vt:lpstr>
      <vt:lpstr>Kernel Agent context switching</vt:lpstr>
      <vt:lpstr>Kernel Agent context switching</vt:lpstr>
      <vt:lpstr>Implement through hard preemption</vt:lpstr>
      <vt:lpstr>IEEE754-2008 floating point exceptions</vt:lpstr>
      <vt:lpstr>IEEE754-2008 floating point exceptions</vt:lpstr>
      <vt:lpstr>IEEE754-2008 floating point exceptions</vt:lpstr>
      <vt:lpstr>IEEE754-2008 floating point exceptions</vt:lpstr>
      <vt:lpstr>Kernel agent hardware debug</vt:lpstr>
      <vt:lpstr>HSA Platform Topology Discovery</vt:lpstr>
      <vt:lpstr>HSA Platform Topology Discovery</vt:lpstr>
      <vt:lpstr>HSA Platform Topology Discovery</vt:lpstr>
      <vt:lpstr>HSA Platform Topology Discovery</vt:lpstr>
      <vt:lpstr>Topology requirement</vt:lpstr>
      <vt:lpstr>Agent &amp; kernel entry</vt:lpstr>
      <vt:lpstr>HSA Agent Entry</vt:lpstr>
      <vt:lpstr>HSA Agent Entry</vt:lpstr>
      <vt:lpstr>HSA memory entry </vt:lpstr>
      <vt:lpstr>HSA memory entry </vt:lpstr>
      <vt:lpstr>HSA cache entry </vt:lpstr>
      <vt:lpstr>HSA cache entry </vt:lpstr>
      <vt:lpstr>Topology Structure 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EsonFred</dc:creator>
  <cp:lastModifiedBy>Yeh-Ching Chung</cp:lastModifiedBy>
  <cp:revision>854</cp:revision>
  <dcterms:created xsi:type="dcterms:W3CDTF">2013-12-11T02:49:40Z</dcterms:created>
  <dcterms:modified xsi:type="dcterms:W3CDTF">2015-03-02T02:19:14Z</dcterms:modified>
</cp:coreProperties>
</file>