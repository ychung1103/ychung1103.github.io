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67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63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Masters/slideMaster4.xml" ContentType="application/vnd.openxmlformats-officedocument.presentationml.slideMaster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notesSlides/notesSlide3.xml" ContentType="application/vnd.openxmlformats-officedocument.presentationml.notesSlide+xml"/>
  <Default Extension="png" ContentType="image/png"/>
  <Override PartName="/ppt/notesSlides/notesSlide68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notesSlides/notesSlide39.xml" ContentType="application/vnd.openxmlformats-officedocument.presentationml.notesSlide+xml"/>
  <Override PartName="/ppt/notesSlides/notesSlide57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64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4.xml" ContentType="application/vnd.openxmlformats-officedocument.presentationml.slideLayout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53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slideLayouts/slideLayout2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60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69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65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Layouts/slideLayout22.xml" ContentType="application/vnd.openxmlformats-officedocument.presentationml.slideLayout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59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66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Layouts/slideLayout16.xml" ContentType="application/vnd.openxmlformats-officedocument.presentationml.slideLayout+xml"/>
  <Default Extension="jpeg" ContentType="image/jpeg"/>
  <Override PartName="/ppt/notesSlides/notesSlide37.xml" ContentType="application/vnd.openxmlformats-officedocument.presentationml.notesSlide+xml"/>
  <Override PartName="/ppt/notesSlides/notesSlide55.xml" ContentType="application/vnd.openxmlformats-officedocument.presentationml.notesSlide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62.xml" ContentType="application/vnd.openxmlformats-officedocument.presentationml.notes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30.xml" ContentType="application/vnd.openxmlformats-officedocument.presentationml.slideLayout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9" r:id="rId1"/>
    <p:sldMasterId id="2147483680" r:id="rId2"/>
    <p:sldMasterId id="2147483681" r:id="rId3"/>
    <p:sldMasterId id="2147483682" r:id="rId4"/>
  </p:sldMasterIdLst>
  <p:notesMasterIdLst>
    <p:notesMasterId r:id="rId7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</p:sldIdLst>
  <p:sldSz cx="9144000" cy="6858000" type="screen4x3"/>
  <p:notesSz cx="6858000" cy="9144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DAC5F1D-328B-46C2-A54A-46B9A575CA48}">
  <a:tblStyle styleId="{6DAC5F1D-328B-46C2-A54A-46B9A575CA48}" styleName="Table_0">
    <a:wholeTbl>
      <a:tcStyle>
        <a:tcBdr>
          <a:left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  <a:tblStyle styleId="{BA747805-2EEC-4042-B160-00B744FA1B2D}" styleName="Table_1">
    <a:wholeTbl>
      <a:tcStyle>
        <a:tcBdr>
          <a:left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  <a:tblStyle styleId="{ABF9A0B2-4944-4BF8-B593-E58BC385194B}" styleName="Table_2">
    <a:wholeTbl>
      <a:tcStyle>
        <a:tcBdr>
          <a:left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  <a:tblStyle styleId="{747217D8-71EA-4A07-AFBF-91B5EFB1C8D8}" styleName="Table_3">
    <a:wholeTbl>
      <a:tcStyle>
        <a:tcBdr>
          <a:left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  <a:tblStyle styleId="{DAB44812-4B51-4029-824A-D21EC2534C26}" styleName="Table_4">
    <a:wholeTbl>
      <a:tcStyle>
        <a:tcBdr>
          <a:left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749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slide" Target="slides/slide70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 sz="1100"/>
            </a:lvl1pPr>
            <a:lvl2pPr>
              <a:spcBef>
                <a:spcPts val="0"/>
              </a:spcBef>
              <a:defRPr sz="1100"/>
            </a:lvl2pPr>
            <a:lvl3pPr>
              <a:spcBef>
                <a:spcPts val="0"/>
              </a:spcBef>
              <a:defRPr sz="1100"/>
            </a:lvl3pPr>
            <a:lvl4pPr>
              <a:spcBef>
                <a:spcPts val="0"/>
              </a:spcBef>
              <a:defRPr sz="1100"/>
            </a:lvl4pPr>
            <a:lvl5pPr>
              <a:spcBef>
                <a:spcPts val="0"/>
              </a:spcBef>
              <a:defRPr sz="1100"/>
            </a:lvl5pPr>
            <a:lvl6pPr>
              <a:spcBef>
                <a:spcPts val="0"/>
              </a:spcBef>
              <a:defRPr sz="1100"/>
            </a:lvl6pPr>
            <a:lvl7pPr>
              <a:spcBef>
                <a:spcPts val="0"/>
              </a:spcBef>
              <a:defRPr sz="1100"/>
            </a:lvl7pPr>
            <a:lvl8pPr>
              <a:spcBef>
                <a:spcPts val="0"/>
              </a:spcBef>
              <a:defRPr sz="1100"/>
            </a:lvl8pPr>
            <a:lvl9pPr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amd-dev.wpengine.netdna-cdn.com/wordpress/media/2013/10/R6xx_R7xx_3D.pdf" TargetMode="External"/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www.spinics.net/linux/lists/kernel/msg1784187.html" TargetMode="External"/></Relationships>
</file>

<file path=ppt/notesSlides/_rels/notes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amd-dev.wpengine.netdna-cdn.com/wordpress/media/2013/10/R6xx_R7xx_3D.pdf" TargetMode="External"/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www.spinics.net/linux/lists/kernel/msg1784187.html" TargetMode="Externa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146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7" name="Shape 14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53" name="Shape 15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0" name="Shape 16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6" name="Shape 1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3" name="Shape 17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hape 27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" name="Shape 27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Font typeface="Arial"/>
              <a:buNone/>
            </a:pPr>
            <a:endParaRPr sz="1100" b="0" i="0" u="none" strike="noStrike" cap="none" baseline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Shape 280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81" name="Shape 28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Shape 304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5" name="Shape 30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Shape 310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11" name="Shape 31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Shape 337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38" name="Shape 33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User queue with information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Shape 34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44" name="Shape 34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Shape 447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48" name="Shape 44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/>
              <a:t>Driver’s help</a:t>
            </a:r>
          </a:p>
          <a:p>
            <a:pPr rtl="0">
              <a:spcBef>
                <a:spcPts val="0"/>
              </a:spcBef>
              <a:buNone/>
            </a:pPr>
            <a:r>
              <a:rPr lang="zh-TW"/>
              <a:t>ring VA</a:t>
            </a:r>
          </a:p>
          <a:p>
            <a:pPr>
              <a:spcBef>
                <a:spcPts val="0"/>
              </a:spcBef>
              <a:buNone/>
            </a:pPr>
            <a:r>
              <a:rPr lang="zh-TW"/>
              <a:t>SW 7*8 = 56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zh-TW"/>
              <a:t>Oversubscription</a:t>
            </a:r>
          </a:p>
          <a:p>
            <a:pPr lvl="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zh-TW"/>
              <a:t>dqm-&gt;processes_count &gt;= VMID_PER_DEVICE) ||    // 8</a:t>
            </a:r>
          </a:p>
          <a:p>
            <a:pPr lvl="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</a:pPr>
            <a:r>
              <a:rPr lang="zh-TW"/>
              <a:t>dqm-&gt;queue_count &gt;= PIPE_PER_ME_CP_SCHEDULING * QUEUES_PER_PIPE)))    // 24</a:t>
            </a:r>
          </a:p>
          <a:p>
            <a:pPr lvl="0" rtl="0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endParaRPr/>
          </a:p>
          <a:p>
            <a:pPr lvl="0" rtl="0">
              <a:spcBef>
                <a:spcPts val="0"/>
              </a:spcBef>
              <a:buNone/>
            </a:pPr>
            <a:r>
              <a:rPr lang="zh-TW"/>
              <a:t>SW 7*8 = 56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Shape 604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05" name="Shape 60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/>
              <a:t>per_device_data</a:t>
            </a:r>
          </a:p>
          <a:p>
            <a:pPr lvl="0" rtl="0">
              <a:spcBef>
                <a:spcPts val="0"/>
              </a:spcBef>
              <a:buNone/>
            </a:pPr>
            <a:r>
              <a:rPr lang="zh-TW"/>
              <a:t>scheduler_class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Shape 610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11" name="Shape 61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KFD is HSA driver!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Shape 62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24" name="Shape 62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Start code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Shape 62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30" name="Shape 63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Shape 634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35" name="Shape 6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Shape 640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41" name="Shape 64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rtl="0">
              <a:spcBef>
                <a:spcPts val="0"/>
              </a:spcBef>
              <a:buNone/>
            </a:pPr>
            <a:r>
              <a:rPr lang="zh-TW" sz="1000">
                <a:solidFill>
                  <a:schemeClr val="dk1"/>
                </a:solidFill>
              </a:rPr>
              <a:t>kfd_topology_add_device: dev-&gt;gpu_id</a:t>
            </a:r>
          </a:p>
          <a:p>
            <a:pPr>
              <a:spcBef>
                <a:spcPts val="0"/>
              </a:spcBef>
              <a:buNone/>
            </a:pP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Shape 646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47" name="Shape 64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Shape 65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53" name="Shape 65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Shape 660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61" name="Shape 66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Wait for spec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Shape 666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67" name="Shape 66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per_device_data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Shape 67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74" name="Shape 67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Shape 67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80" name="Shape 68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Shape 69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93" name="Shape 69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Shape 795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96" name="Shape 79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/>
              <a:t>Driver’s help</a:t>
            </a:r>
          </a:p>
          <a:p>
            <a:pPr lvl="0" rtl="0">
              <a:spcBef>
                <a:spcPts val="0"/>
              </a:spcBef>
              <a:buNone/>
            </a:pPr>
            <a:r>
              <a:rPr lang="zh-TW"/>
              <a:t>ring VA</a:t>
            </a:r>
          </a:p>
          <a:p>
            <a:pPr lvl="0" rtl="0">
              <a:spcBef>
                <a:spcPts val="0"/>
              </a:spcBef>
              <a:buNone/>
            </a:pPr>
            <a:r>
              <a:rPr lang="zh-TW"/>
              <a:t>SW 7*8 = 56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Shape 800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01" name="Shape 80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Shape 806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07" name="Shape 80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000">
                <a:solidFill>
                  <a:schemeClr val="dk1"/>
                </a:solidFill>
              </a:rPr>
              <a:t>kfd_topology_add_device: dev-&gt;gpu_id</a:t>
            </a:r>
          </a:p>
          <a:p>
            <a:pPr lvl="0" rtl="0">
              <a:spcBef>
                <a:spcPts val="0"/>
              </a:spcBef>
              <a:buNone/>
            </a:pP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Shape 81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13" name="Shape 81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packet_manager’s most important member: kernel_queue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Shape 818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19" name="Shape 81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Shape 831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32" name="Shape 8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Shape 881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82" name="Shape 88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u="sng">
                <a:solidFill>
                  <a:schemeClr val="hlink"/>
                </a:solidFill>
                <a:hlinkClick r:id="rId3"/>
              </a:rPr>
              <a:t>http://amd-dev.wpengine.netdna-cdn.com/wordpress/media/2013/10/R6xx_R7xx_3D.pdf</a:t>
            </a:r>
          </a:p>
          <a:p>
            <a:pPr lvl="0" rtl="0">
              <a:spcBef>
                <a:spcPts val="0"/>
              </a:spcBef>
              <a:buClr>
                <a:schemeClr val="dk1"/>
              </a:buClr>
              <a:buSzPct val="110000"/>
              <a:buFont typeface="Arial"/>
              <a:buNone/>
            </a:pPr>
            <a:r>
              <a:rPr lang="zh-TW" sz="1000">
                <a:solidFill>
                  <a:schemeClr val="dk1"/>
                </a:solidFill>
              </a:rPr>
              <a:t>HSA compilant HW need to understand </a:t>
            </a:r>
            <a:r>
              <a:rPr lang="zh-TW" i="1">
                <a:solidFill>
                  <a:schemeClr val="dk1"/>
                </a:solidFill>
              </a:rPr>
              <a:t>pm4 packet format of radeon   </a:t>
            </a:r>
            <a:r>
              <a:rPr lang="zh-TW" i="1" u="sng">
                <a:solidFill>
                  <a:schemeClr val="hlink"/>
                </a:solidFill>
                <a:hlinkClick r:id="rId4"/>
              </a:rPr>
              <a:t>http://www.spinics.net/linux/lists/kernel/msg1784187.html</a:t>
            </a:r>
          </a:p>
          <a:p>
            <a:pPr lvl="0" rtl="0">
              <a:spcBef>
                <a:spcPts val="0"/>
              </a:spcBef>
              <a:buNone/>
            </a:pPr>
            <a:endParaRPr sz="1000">
              <a:solidFill>
                <a:schemeClr val="dk1"/>
              </a:solidFill>
            </a:endParaRPr>
          </a:p>
          <a:p>
            <a:pPr lvl="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10000"/>
              <a:buFont typeface="Arial"/>
              <a:buNone/>
            </a:pPr>
            <a:r>
              <a:rPr lang="zh-TW" sz="1000">
                <a:solidFill>
                  <a:schemeClr val="dk1"/>
                </a:solidFill>
              </a:rPr>
              <a:t>Type-0 Packet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10000"/>
              <a:buFont typeface="Arial"/>
              <a:buNone/>
            </a:pPr>
            <a:r>
              <a:rPr lang="zh-TW" sz="1000">
                <a:solidFill>
                  <a:schemeClr val="dk1"/>
                </a:solidFill>
              </a:rPr>
              <a:t>Write N DWORDs in the information body to the N consecutive registers, or to the register, pointed to by the BASE_INDEX field of the packet header .</a:t>
            </a:r>
          </a:p>
          <a:p>
            <a:pPr lvl="0" rtl="0">
              <a:spcBef>
                <a:spcPts val="0"/>
              </a:spcBef>
              <a:buNone/>
            </a:pPr>
            <a:r>
              <a:rPr lang="zh-TW"/>
              <a:t>Type3:Carry out the operation indicated by field IT_OPCODE.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Shape 940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41" name="Shape 94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u="sng">
                <a:solidFill>
                  <a:schemeClr val="hlink"/>
                </a:solidFill>
                <a:hlinkClick r:id="rId3"/>
              </a:rPr>
              <a:t>http://amd-dev.wpengine.netdna-cdn.com/wordpress/media/2013/10/R6xx_R7xx_3D.pdf</a:t>
            </a:r>
          </a:p>
          <a:p>
            <a:pPr lvl="0" rtl="0">
              <a:spcBef>
                <a:spcPts val="0"/>
              </a:spcBef>
              <a:buNone/>
            </a:pPr>
            <a:r>
              <a:rPr lang="zh-TW" sz="1000">
                <a:solidFill>
                  <a:schemeClr val="dk1"/>
                </a:solidFill>
              </a:rPr>
              <a:t>HSA compilant HW need to understand </a:t>
            </a:r>
            <a:r>
              <a:rPr lang="zh-TW" i="1">
                <a:solidFill>
                  <a:schemeClr val="dk1"/>
                </a:solidFill>
              </a:rPr>
              <a:t>pm4 packet format of radeon   </a:t>
            </a:r>
            <a:r>
              <a:rPr lang="zh-TW" i="1" u="sng">
                <a:solidFill>
                  <a:schemeClr val="hlink"/>
                </a:solidFill>
                <a:hlinkClick r:id="rId4"/>
              </a:rPr>
              <a:t>http://www.spinics.net/linux/lists/kernel/msg1784187.html</a:t>
            </a:r>
          </a:p>
          <a:p>
            <a:pPr lvl="0" rtl="0">
              <a:spcBef>
                <a:spcPts val="0"/>
              </a:spcBef>
              <a:buNone/>
            </a:pPr>
            <a:endParaRPr sz="1000">
              <a:solidFill>
                <a:schemeClr val="dk1"/>
              </a:solidFill>
            </a:endParaRPr>
          </a:p>
          <a:p>
            <a:pPr lvl="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10000"/>
              <a:buFont typeface="Arial"/>
              <a:buNone/>
            </a:pPr>
            <a:r>
              <a:rPr lang="zh-TW" sz="1000">
                <a:solidFill>
                  <a:schemeClr val="dk1"/>
                </a:solidFill>
              </a:rPr>
              <a:t>Type-0 Packet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10000"/>
              <a:buFont typeface="Arial"/>
              <a:buNone/>
            </a:pPr>
            <a:r>
              <a:rPr lang="zh-TW" sz="1000">
                <a:solidFill>
                  <a:schemeClr val="dk1"/>
                </a:solidFill>
              </a:rPr>
              <a:t>Write N DWORDs in the information body to the N consecutive registers, or to the register, pointed to by the BASE_INDEX field of the packet header .</a:t>
            </a:r>
          </a:p>
          <a:p>
            <a:pPr lvl="0" rtl="0">
              <a:spcBef>
                <a:spcPts val="0"/>
              </a:spcBef>
              <a:buNone/>
            </a:pPr>
            <a:r>
              <a:rPr lang="zh-TW"/>
              <a:t>Type3:Carry out the operation indicated by field IT_OPCODE.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Shape 980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1" name="Shape 98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Shape 988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9" name="Shape 98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Shape 994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95" name="Shape 99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Shape 1000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01" name="Shape 100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Shape 1006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07" name="Shape 100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Shape 101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13" name="Shape 101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Shape 1018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19" name="Shape 101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Shape 1025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26" name="Shape 102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Shape 1071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72" name="Shape 10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Shape 1077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78" name="Shape 10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/>
              <a:t>以前沒差,IOMMU只摸device address</a:t>
            </a:r>
          </a:p>
          <a:p>
            <a:pPr>
              <a:spcBef>
                <a:spcPts val="0"/>
              </a:spcBef>
              <a:buNone/>
            </a:pPr>
            <a:r>
              <a:rPr lang="zh-TW"/>
              <a:t>For now, data in AQL packet is VA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Shape 108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84" name="Shape 10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Shape 108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90" name="Shape 109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Shape 1095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96" name="Shape 109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IO page fault service and need to notify CPU page service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Shape 1141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42" name="Shape 11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Shape 1151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52" name="Shape 115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Shape 1166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67" name="Shape 116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Shape 117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73" name="Shape 117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Shape 1196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97" name="Shape 119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Shape 120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03" name="Shape 120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Shape 1208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09" name="Shape 12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Shape 1244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45" name="Shape 124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Shape 127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75" name="Shape 12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endParaRPr sz="1200" b="0" i="0" u="none" strike="noStrike" cap="none" baseline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Shape 1280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1" name="Shape 128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Shape 130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05" name="Shape 130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endParaRPr sz="1200" b="0" i="0" u="none" strike="noStrike" cap="none" baseline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Shape 131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13" name="Shape 131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endParaRPr sz="1200" b="0" i="0" u="none" strike="noStrike" cap="none" baseline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Shape 133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3" name="Shape 133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Font typeface="Arial"/>
              <a:buNone/>
            </a:pPr>
            <a:endParaRPr sz="1800" b="0" i="0" u="none" strike="noStrike" cap="none" baseline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Shape 134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43" name="Shape 134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endParaRPr sz="1200" b="0" i="0" u="none" strike="noStrike" cap="none" baseline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Shape 137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77" name="Shape 137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endParaRPr sz="1200" b="0" i="0" u="none" strike="noStrike" cap="none" baseline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Shape 138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83" name="Shape 13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Shape 148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9" name="Shape 148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Font typeface="Arial"/>
              <a:buNone/>
            </a:pPr>
            <a:endParaRPr sz="1100" b="0" i="0" u="none" strike="noStrike" cap="none" baseline="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Shape 1517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518" name="Shape 15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Shape 1534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535" name="Shape 15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Shape 157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573" name="Shape 157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Shape 1608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09" name="Shape 16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Shape 161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14" name="Shape 161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 txBox="1">
            <a:spLocks noGrp="1"/>
          </p:cNvSpPr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algn="ctr">
              <a:spcBef>
                <a:spcPts val="0"/>
              </a:spcBef>
              <a:buSzPct val="100000"/>
              <a:defRPr sz="4800"/>
            </a:lvl1pPr>
            <a:lvl2pPr algn="ctr">
              <a:spcBef>
                <a:spcPts val="0"/>
              </a:spcBef>
              <a:buSzPct val="100000"/>
              <a:defRPr sz="4800"/>
            </a:lvl2pPr>
            <a:lvl3pPr algn="ctr">
              <a:spcBef>
                <a:spcPts val="0"/>
              </a:spcBef>
              <a:buSzPct val="100000"/>
              <a:defRPr sz="4800"/>
            </a:lvl3pPr>
            <a:lvl4pPr algn="ctr">
              <a:spcBef>
                <a:spcPts val="0"/>
              </a:spcBef>
              <a:buSzPct val="100000"/>
              <a:defRPr sz="4800"/>
            </a:lvl4pPr>
            <a:lvl5pPr algn="ctr">
              <a:spcBef>
                <a:spcPts val="0"/>
              </a:spcBef>
              <a:buSzPct val="100000"/>
              <a:defRPr sz="4800"/>
            </a:lvl5pPr>
            <a:lvl6pPr algn="ctr">
              <a:spcBef>
                <a:spcPts val="0"/>
              </a:spcBef>
              <a:buSzPct val="100000"/>
              <a:defRPr sz="4800"/>
            </a:lvl6pPr>
            <a:lvl7pPr algn="ctr">
              <a:spcBef>
                <a:spcPts val="0"/>
              </a:spcBef>
              <a:buSzPct val="100000"/>
              <a:defRPr sz="4800"/>
            </a:lvl7pPr>
            <a:lvl8pPr algn="ctr">
              <a:spcBef>
                <a:spcPts val="0"/>
              </a:spcBef>
              <a:buSzPct val="100000"/>
              <a:defRPr sz="4800"/>
            </a:lvl8pPr>
            <a:lvl9pPr algn="ctr">
              <a:spcBef>
                <a:spcPts val="0"/>
              </a:spcBef>
              <a:buSzPct val="100000"/>
              <a:defRPr sz="4800"/>
            </a:lvl9pPr>
          </a:lstStyle>
          <a:p>
            <a:endParaRPr/>
          </a:p>
        </p:txBody>
      </p:sp>
      <p:sp>
        <p:nvSpPr>
          <p:cNvPr id="9" name="Shape 9"/>
          <p:cNvSpPr txBox="1">
            <a:spLocks noGrp="1"/>
          </p:cNvSpPr>
          <p:nvPr>
            <p:ph type="subTitle" idx="1"/>
          </p:nvPr>
        </p:nvSpPr>
        <p:spPr>
          <a:xfrm>
            <a:off x="685800" y="3786737"/>
            <a:ext cx="7772400" cy="104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algn="ctr">
              <a:spcBef>
                <a:spcPts val="0"/>
              </a:spcBef>
              <a:buClr>
                <a:schemeClr val="dk2"/>
              </a:buClr>
              <a:buNone/>
              <a:defRPr>
                <a:solidFill>
                  <a:schemeClr val="dk2"/>
                </a:solidFill>
              </a:defRPr>
            </a:lvl1pPr>
            <a:lvl2pPr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2pPr>
            <a:lvl3pPr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3pPr>
            <a:lvl4pPr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4pPr>
            <a:lvl5pPr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5pPr>
            <a:lvl6pPr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6pPr>
            <a:lvl7pPr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7pPr>
            <a:lvl8pPr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8pPr>
            <a:lvl9pPr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body" idx="2"/>
          </p:nvPr>
        </p:nvSpPr>
        <p:spPr>
          <a:xfrm>
            <a:off x="4692273" y="1600200"/>
            <a:ext cx="3994500" cy="4967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body" idx="1"/>
          </p:nvPr>
        </p:nvSpPr>
        <p:spPr>
          <a:xfrm>
            <a:off x="457200" y="5875078"/>
            <a:ext cx="8229600" cy="69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algn="ctr">
              <a:spcBef>
                <a:spcPts val="360"/>
              </a:spcBef>
              <a:buSzPct val="100000"/>
              <a:buNone/>
              <a:defRPr sz="18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物件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rtl="0">
              <a:spcBef>
                <a:spcPts val="0"/>
              </a:spcBef>
              <a:buClr>
                <a:schemeClr val="dk1"/>
              </a:buClr>
              <a:buFont typeface="Arial"/>
              <a:buNone/>
              <a:defRPr/>
            </a:lvl1pPr>
            <a:lvl2pPr rtl="0">
              <a:spcBef>
                <a:spcPts val="0"/>
              </a:spcBef>
              <a:buClr>
                <a:schemeClr val="dk1"/>
              </a:buClr>
              <a:buFont typeface="Arial"/>
              <a:buNone/>
              <a:defRPr/>
            </a:lvl2pPr>
            <a:lvl3pPr rtl="0">
              <a:spcBef>
                <a:spcPts val="0"/>
              </a:spcBef>
              <a:buClr>
                <a:schemeClr val="dk1"/>
              </a:buClr>
              <a:buNone/>
              <a:defRPr/>
            </a:lvl3pPr>
            <a:lvl4pPr rtl="0">
              <a:spcBef>
                <a:spcPts val="0"/>
              </a:spcBef>
              <a:buClr>
                <a:schemeClr val="dk1"/>
              </a:buClr>
              <a:buNone/>
              <a:defRPr/>
            </a:lvl4pPr>
            <a:lvl5pPr rtl="0">
              <a:spcBef>
                <a:spcPts val="0"/>
              </a:spcBef>
              <a:buClr>
                <a:schemeClr val="dk1"/>
              </a:buClr>
              <a:buNone/>
              <a:defRPr/>
            </a:lvl5pPr>
            <a:lvl6pPr rtl="0">
              <a:spcBef>
                <a:spcPts val="0"/>
              </a:spcBef>
              <a:buClr>
                <a:schemeClr val="dk1"/>
              </a:buClr>
              <a:buNone/>
              <a:defRPr/>
            </a:lvl6pPr>
            <a:lvl7pPr rtl="0">
              <a:spcBef>
                <a:spcPts val="0"/>
              </a:spcBef>
              <a:buClr>
                <a:schemeClr val="dk1"/>
              </a:buClr>
              <a:buNone/>
              <a:defRPr/>
            </a:lvl7pPr>
            <a:lvl8pPr rtl="0">
              <a:spcBef>
                <a:spcPts val="0"/>
              </a:spcBef>
              <a:buClr>
                <a:schemeClr val="dk1"/>
              </a:buClr>
              <a:buNone/>
              <a:defRPr/>
            </a:lvl8pPr>
            <a:lvl9pPr rtl="0">
              <a:spcBef>
                <a:spcPts val="0"/>
              </a:spcBef>
              <a:buClr>
                <a:schemeClr val="dk1"/>
              </a:buClr>
              <a:buNone/>
              <a:defRPr/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600"/>
              </a:spcBef>
              <a:defRPr/>
            </a:lvl1pPr>
            <a:lvl2pPr rtl="0">
              <a:spcBef>
                <a:spcPts val="480"/>
              </a:spcBef>
              <a:defRPr/>
            </a:lvl2pPr>
            <a:lvl3pPr rtl="0">
              <a:spcBef>
                <a:spcPts val="480"/>
              </a:spcBef>
              <a:defRPr/>
            </a:lvl3pPr>
            <a:lvl4pPr rtl="0">
              <a:spcBef>
                <a:spcPts val="360"/>
              </a:spcBef>
              <a:defRPr/>
            </a:lvl4pPr>
            <a:lvl5pPr rtl="0">
              <a:spcBef>
                <a:spcPts val="360"/>
              </a:spcBef>
              <a:defRPr/>
            </a:lvl5pPr>
            <a:lvl6pPr rtl="0">
              <a:spcBef>
                <a:spcPts val="360"/>
              </a:spcBef>
              <a:defRPr/>
            </a:lvl6pPr>
            <a:lvl7pPr rtl="0">
              <a:spcBef>
                <a:spcPts val="360"/>
              </a:spcBef>
              <a:defRPr/>
            </a:lvl7pPr>
            <a:lvl8pPr rtl="0">
              <a:spcBef>
                <a:spcPts val="360"/>
              </a:spcBef>
              <a:defRPr/>
            </a:lvl8pPr>
            <a:lvl9pPr rtl="0">
              <a:spcBef>
                <a:spcPts val="360"/>
              </a:spcBef>
              <a:defRPr/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1pPr>
            <a:lvl2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2pPr>
            <a:lvl3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3pPr>
            <a:lvl4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4pPr>
            <a:lvl5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5pPr>
            <a:lvl6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6pPr>
            <a:lvl7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7pPr>
            <a:lvl8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8pPr>
            <a:lvl9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1pPr>
            <a:lvl2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2pPr>
            <a:lvl3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3pPr>
            <a:lvl4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4pPr>
            <a:lvl5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5pPr>
            <a:lvl6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6pPr>
            <a:lvl7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7pPr>
            <a:lvl8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8pPr>
            <a:lvl9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/>
          </a:p>
          <a:p>
            <a:pPr marL="0" lvl="1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/>
          </a:p>
          <a:p>
            <a:pPr marL="0" lvl="2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/>
          </a:p>
          <a:p>
            <a:pPr marL="0" lvl="3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/>
          </a:p>
          <a:p>
            <a:pPr marL="0" lvl="4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/>
          </a:p>
          <a:p>
            <a:pPr marL="0" lvl="5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/>
          </a:p>
          <a:p>
            <a:pPr marL="0" lvl="6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/>
          </a:p>
          <a:p>
            <a:pPr marL="0" lvl="7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/>
          </a:p>
          <a:p>
            <a:pPr marL="0" lvl="8" indent="0">
              <a:spcBef>
                <a:spcPts val="0"/>
              </a:spcBef>
              <a:buClr>
                <a:srgbClr val="000000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 txBox="1">
            <a:spLocks noGrp="1"/>
          </p:cNvSpPr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/>
            </a:lvl1pPr>
            <a:lvl2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/>
            </a:lvl2pPr>
            <a:lvl3pPr marL="0" marR="0" indent="0" algn="ctr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/>
            </a:lvl3pPr>
            <a:lvl4pPr marL="0" marR="0" indent="0" algn="ctr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/>
            </a:lvl4pPr>
            <a:lvl5pPr marL="0" marR="0" indent="0" algn="ctr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/>
            </a:lvl5pPr>
            <a:lvl6pPr marL="0" marR="0" indent="0" algn="ctr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/>
            </a:lvl6pPr>
            <a:lvl7pPr marL="0" marR="0" indent="0" algn="ctr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/>
            </a:lvl7pPr>
            <a:lvl8pPr marL="0" marR="0" indent="0" algn="ctr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/>
            </a:lvl8pPr>
            <a:lvl9pPr marL="0" marR="0" indent="0" algn="ctr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subTitle" idx="1"/>
          </p:nvPr>
        </p:nvSpPr>
        <p:spPr>
          <a:xfrm>
            <a:off x="685800" y="3786737"/>
            <a:ext cx="7772400" cy="104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/>
            </a:lvl1pPr>
            <a:lvl2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/>
            </a:lvl2pPr>
            <a:lvl3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/>
            </a:lvl3pPr>
            <a:lvl4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/>
            </a:lvl4pPr>
            <a:lvl5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/>
            </a:lvl5pPr>
            <a:lvl6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/>
            </a:lvl6pPr>
            <a:lvl7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/>
            </a:lvl7pPr>
            <a:lvl8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/>
            </a:lvl8pPr>
            <a:lvl9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2"/>
          </p:nvPr>
        </p:nvSpPr>
        <p:spPr>
          <a:xfrm>
            <a:off x="4692273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>
            <a:spLocks noGrp="1"/>
          </p:cNvSpPr>
          <p:nvPr>
            <p:ph type="body" idx="1"/>
          </p:nvPr>
        </p:nvSpPr>
        <p:spPr>
          <a:xfrm>
            <a:off x="457200" y="5875078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spcBef>
                <a:spcPts val="360"/>
              </a:spcBef>
              <a:buFont typeface="Arial"/>
              <a:buNone/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標題投影片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/>
            </a:lvl1pPr>
            <a:lvl2pPr marL="0" marR="0" indent="0" algn="l" rtl="0">
              <a:spcBef>
                <a:spcPts val="0"/>
              </a:spcBef>
              <a:defRPr/>
            </a:lvl2pPr>
            <a:lvl3pPr marL="0" marR="0" indent="0" algn="l" rtl="0">
              <a:spcBef>
                <a:spcPts val="0"/>
              </a:spcBef>
              <a:defRPr/>
            </a:lvl3pPr>
            <a:lvl4pPr marL="0" marR="0" indent="0" algn="l" rtl="0">
              <a:spcBef>
                <a:spcPts val="0"/>
              </a:spcBef>
              <a:defRPr/>
            </a:lvl4pPr>
            <a:lvl5pPr marL="0" marR="0" indent="0" algn="l" rtl="0">
              <a:spcBef>
                <a:spcPts val="0"/>
              </a:spcBef>
              <a:defRPr/>
            </a:lvl5pPr>
            <a:lvl6pPr marL="0" marR="0" indent="0" algn="l" rtl="0">
              <a:spcBef>
                <a:spcPts val="0"/>
              </a:spcBef>
              <a:defRPr/>
            </a:lvl6pPr>
            <a:lvl7pPr marL="0" marR="0" indent="0" algn="l" rtl="0">
              <a:spcBef>
                <a:spcPts val="0"/>
              </a:spcBef>
              <a:defRPr/>
            </a:lvl7pPr>
            <a:lvl8pPr marL="0" marR="0" indent="0" algn="l" rtl="0">
              <a:spcBef>
                <a:spcPts val="0"/>
              </a:spcBef>
              <a:defRPr/>
            </a:lvl8pPr>
            <a:lvl9pPr marL="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4" name="Shape 5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799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ctr" rtl="0">
              <a:spcBef>
                <a:spcPts val="640"/>
              </a:spcBef>
              <a:buClr>
                <a:srgbClr val="888888"/>
              </a:buClr>
              <a:buFont typeface="Calibri"/>
              <a:buNone/>
              <a:defRPr/>
            </a:lvl1pPr>
            <a:lvl2pPr marL="457200" marR="0" indent="0" algn="ctr" rtl="0">
              <a:spcBef>
                <a:spcPts val="560"/>
              </a:spcBef>
              <a:buClr>
                <a:srgbClr val="888888"/>
              </a:buClr>
              <a:buFont typeface="Calibri"/>
              <a:buNone/>
              <a:defRPr/>
            </a:lvl2pPr>
            <a:lvl3pPr marL="914400" marR="0" indent="0" algn="ctr" rtl="0">
              <a:spcBef>
                <a:spcPts val="480"/>
              </a:spcBef>
              <a:buClr>
                <a:srgbClr val="888888"/>
              </a:buClr>
              <a:buFont typeface="Calibri"/>
              <a:buNone/>
              <a:defRPr/>
            </a:lvl3pPr>
            <a:lvl4pPr marL="1371600" marR="0" indent="0" algn="ctr" rtl="0">
              <a:spcBef>
                <a:spcPts val="400"/>
              </a:spcBef>
              <a:buClr>
                <a:srgbClr val="888888"/>
              </a:buClr>
              <a:buFont typeface="Calibri"/>
              <a:buNone/>
              <a:defRPr/>
            </a:lvl4pPr>
            <a:lvl5pPr marL="1828800" marR="0" indent="0" algn="ctr" rtl="0">
              <a:spcBef>
                <a:spcPts val="400"/>
              </a:spcBef>
              <a:buClr>
                <a:srgbClr val="888888"/>
              </a:buClr>
              <a:buFont typeface="Calibri"/>
              <a:buNone/>
              <a:defRPr/>
            </a:lvl5pPr>
            <a:lvl6pPr marL="2286000" marR="0" indent="0" algn="ctr" rtl="0">
              <a:spcBef>
                <a:spcPts val="400"/>
              </a:spcBef>
              <a:buClr>
                <a:srgbClr val="888888"/>
              </a:buClr>
              <a:buFont typeface="Calibri"/>
              <a:buNone/>
              <a:defRPr/>
            </a:lvl6pPr>
            <a:lvl7pPr marL="2743200" marR="0" indent="0" algn="ctr" rtl="0">
              <a:spcBef>
                <a:spcPts val="400"/>
              </a:spcBef>
              <a:buClr>
                <a:srgbClr val="888888"/>
              </a:buClr>
              <a:buFont typeface="Calibri"/>
              <a:buNone/>
              <a:defRPr/>
            </a:lvl7pPr>
            <a:lvl8pPr marL="3200400" marR="0" indent="0" algn="ctr" rtl="0">
              <a:spcBef>
                <a:spcPts val="400"/>
              </a:spcBef>
              <a:buClr>
                <a:srgbClr val="888888"/>
              </a:buClr>
              <a:buFont typeface="Calibri"/>
              <a:buNone/>
              <a:defRPr/>
            </a:lvl8pPr>
            <a:lvl9pPr marL="3657600" marR="0" indent="0" algn="ctr" rtl="0">
              <a:spcBef>
                <a:spcPts val="400"/>
              </a:spcBef>
              <a:buClr>
                <a:srgbClr val="888888"/>
              </a:buClr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5" name="Shape 5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6" name="Shape 5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lvl="0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457200" lvl="1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914400" lvl="2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1371600" lvl="3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1828800" lvl="4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2286000" lvl="5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2743200" lvl="6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3200400" lvl="7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3657600" lvl="8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物件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139700" algn="l" rtl="0">
              <a:spcBef>
                <a:spcPts val="640"/>
              </a:spcBef>
              <a:buClr>
                <a:schemeClr val="dk1"/>
              </a:buClr>
              <a:buFont typeface="Calibri"/>
              <a:buChar char="•"/>
              <a:defRPr/>
            </a:lvl1pPr>
            <a:lvl2pPr marL="742950" indent="-107950" algn="l" rtl="0">
              <a:spcBef>
                <a:spcPts val="560"/>
              </a:spcBef>
              <a:buClr>
                <a:schemeClr val="dk1"/>
              </a:buClr>
              <a:buFont typeface="Calibri"/>
              <a:buChar char="–"/>
              <a:defRPr/>
            </a:lvl2pPr>
            <a:lvl3pPr marL="1143000" indent="-76200" algn="l" rtl="0">
              <a:spcBef>
                <a:spcPts val="480"/>
              </a:spcBef>
              <a:buClr>
                <a:schemeClr val="dk1"/>
              </a:buClr>
              <a:buFont typeface="Calibri"/>
              <a:buChar char="•"/>
              <a:defRPr/>
            </a:lvl3pPr>
            <a:lvl4pPr marL="160020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–"/>
              <a:defRPr/>
            </a:lvl4pPr>
            <a:lvl5pPr marL="205740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»"/>
              <a:defRPr/>
            </a:lvl5pPr>
            <a:lvl6pPr marL="251460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•"/>
              <a:defRPr/>
            </a:lvl6pPr>
            <a:lvl7pPr marL="297180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•"/>
              <a:defRPr/>
            </a:lvl7pPr>
            <a:lvl8pPr marL="342900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•"/>
              <a:defRPr/>
            </a:lvl8pPr>
            <a:lvl9pPr marL="388620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•"/>
              <a:defRPr/>
            </a:lvl9pPr>
          </a:lstStyle>
          <a:p>
            <a:endParaRPr/>
          </a:p>
        </p:txBody>
      </p:sp>
      <p:sp>
        <p:nvSpPr>
          <p:cNvPr id="61" name="Shape 6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2" name="Shape 6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3" name="Shape 6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lvl="0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457200" lvl="1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914400" lvl="2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1371600" lvl="3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1828800" lvl="4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2286000" lvl="5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2743200" lvl="6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3200400" lvl="7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3657600" lvl="8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章節標題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body" idx="1"/>
          </p:nvPr>
        </p:nvSpPr>
        <p:spPr>
          <a:xfrm>
            <a:off x="722312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/>
            </a:lvl1pPr>
            <a:lvl2pPr marL="457200" indent="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/>
            </a:lvl2pPr>
            <a:lvl3pPr marL="914400" indent="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/>
            </a:lvl3pPr>
            <a:lvl4pPr marL="1371600" indent="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/>
            </a:lvl4pPr>
            <a:lvl5pPr marL="1828800" indent="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/>
            </a:lvl5pPr>
            <a:lvl6pPr marL="2286000" indent="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/>
            </a:lvl6pPr>
            <a:lvl7pPr marL="2743200" indent="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/>
            </a:lvl7pPr>
            <a:lvl8pPr marL="3200400" indent="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/>
            </a:lvl8pPr>
            <a:lvl9pPr marL="3657600" indent="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9" name="Shape 6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lvl="0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457200" lvl="1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914400" lvl="2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1371600" lvl="3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1828800" lvl="4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2286000" lvl="5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2743200" lvl="6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3200400" lvl="7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3657600" lvl="8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兩項物件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599" cy="45259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3" name="Shape 7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599" cy="45259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5" name="Shape 7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lvl="0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457200" lvl="1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914400" lvl="2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1371600" lvl="3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1828800" lvl="4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2286000" lvl="5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2743200" lvl="6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3200400" lvl="7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3657600" lvl="8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對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457200" y="1535112"/>
            <a:ext cx="4040187" cy="6397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libri"/>
              <a:buNone/>
              <a:defRPr/>
            </a:lvl1pPr>
            <a:lvl2pPr marL="457200" indent="0" rtl="0">
              <a:spcBef>
                <a:spcPts val="0"/>
              </a:spcBef>
              <a:buFont typeface="Calibri"/>
              <a:buNone/>
              <a:defRPr/>
            </a:lvl2pPr>
            <a:lvl3pPr marL="914400" indent="0" rtl="0">
              <a:spcBef>
                <a:spcPts val="0"/>
              </a:spcBef>
              <a:buFont typeface="Calibri"/>
              <a:buNone/>
              <a:defRPr/>
            </a:lvl3pPr>
            <a:lvl4pPr marL="1371600" indent="0" rtl="0">
              <a:spcBef>
                <a:spcPts val="0"/>
              </a:spcBef>
              <a:buFont typeface="Calibri"/>
              <a:buNone/>
              <a:defRPr/>
            </a:lvl4pPr>
            <a:lvl5pPr marL="1828800" indent="0" rtl="0">
              <a:spcBef>
                <a:spcPts val="0"/>
              </a:spcBef>
              <a:buFont typeface="Calibri"/>
              <a:buNone/>
              <a:defRPr/>
            </a:lvl5pPr>
            <a:lvl6pPr marL="2286000" indent="0" rtl="0">
              <a:spcBef>
                <a:spcPts val="0"/>
              </a:spcBef>
              <a:buFont typeface="Calibri"/>
              <a:buNone/>
              <a:defRPr/>
            </a:lvl6pPr>
            <a:lvl7pPr marL="2743200" indent="0" rtl="0">
              <a:spcBef>
                <a:spcPts val="0"/>
              </a:spcBef>
              <a:buFont typeface="Calibri"/>
              <a:buNone/>
              <a:defRPr/>
            </a:lvl7pPr>
            <a:lvl8pPr marL="3200400" indent="0" rtl="0">
              <a:spcBef>
                <a:spcPts val="0"/>
              </a:spcBef>
              <a:buFont typeface="Calibri"/>
              <a:buNone/>
              <a:defRPr/>
            </a:lvl8pPr>
            <a:lvl9pPr marL="3657600" indent="0" rtl="0">
              <a:spcBef>
                <a:spcPts val="0"/>
              </a:spcBef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7" cy="39512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1" name="Shape 81"/>
          <p:cNvSpPr txBox="1">
            <a:spLocks noGrp="1"/>
          </p:cNvSpPr>
          <p:nvPr>
            <p:ph type="body" idx="3"/>
          </p:nvPr>
        </p:nvSpPr>
        <p:spPr>
          <a:xfrm>
            <a:off x="4645025" y="1535112"/>
            <a:ext cx="4041774" cy="6397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libri"/>
              <a:buNone/>
              <a:defRPr/>
            </a:lvl1pPr>
            <a:lvl2pPr marL="457200" indent="0" rtl="0">
              <a:spcBef>
                <a:spcPts val="0"/>
              </a:spcBef>
              <a:buFont typeface="Calibri"/>
              <a:buNone/>
              <a:defRPr/>
            </a:lvl2pPr>
            <a:lvl3pPr marL="914400" indent="0" rtl="0">
              <a:spcBef>
                <a:spcPts val="0"/>
              </a:spcBef>
              <a:buFont typeface="Calibri"/>
              <a:buNone/>
              <a:defRPr/>
            </a:lvl3pPr>
            <a:lvl4pPr marL="1371600" indent="0" rtl="0">
              <a:spcBef>
                <a:spcPts val="0"/>
              </a:spcBef>
              <a:buFont typeface="Calibri"/>
              <a:buNone/>
              <a:defRPr/>
            </a:lvl4pPr>
            <a:lvl5pPr marL="1828800" indent="0" rtl="0">
              <a:spcBef>
                <a:spcPts val="0"/>
              </a:spcBef>
              <a:buFont typeface="Calibri"/>
              <a:buNone/>
              <a:defRPr/>
            </a:lvl5pPr>
            <a:lvl6pPr marL="2286000" indent="0" rtl="0">
              <a:spcBef>
                <a:spcPts val="0"/>
              </a:spcBef>
              <a:buFont typeface="Calibri"/>
              <a:buNone/>
              <a:defRPr/>
            </a:lvl6pPr>
            <a:lvl7pPr marL="2743200" indent="0" rtl="0">
              <a:spcBef>
                <a:spcPts val="0"/>
              </a:spcBef>
              <a:buFont typeface="Calibri"/>
              <a:buNone/>
              <a:defRPr/>
            </a:lvl7pPr>
            <a:lvl8pPr marL="3200400" indent="0" rtl="0">
              <a:spcBef>
                <a:spcPts val="0"/>
              </a:spcBef>
              <a:buFont typeface="Calibri"/>
              <a:buNone/>
              <a:defRPr/>
            </a:lvl8pPr>
            <a:lvl9pPr marL="3657600" indent="0" rtl="0">
              <a:spcBef>
                <a:spcPts val="0"/>
              </a:spcBef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82" name="Shape 8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4" cy="39512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3" name="Shape 8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4" name="Shape 8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5" name="Shape 8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lvl="0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457200" lvl="1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914400" lvl="2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1371600" lvl="3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1828800" lvl="4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2286000" lvl="5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2743200" lvl="6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3200400" lvl="7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3657600" lvl="8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只有標題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8" name="Shape 8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9" name="Shape 8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90" name="Shape 9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lvl="0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457200" lvl="1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914400" lvl="2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1371600" lvl="3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1828800" lvl="4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2286000" lvl="5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2743200" lvl="6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3200400" lvl="7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3657600" lvl="8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93" name="Shape 9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94" name="Shape 9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lvl="0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457200" lvl="1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914400" lvl="2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1371600" lvl="3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1828800" lvl="4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2286000" lvl="5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2743200" lvl="6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3200400" lvl="7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3657600" lvl="8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含標題的內容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97" name="Shape 9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98" name="Shape 9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libri"/>
              <a:buNone/>
              <a:defRPr/>
            </a:lvl1pPr>
            <a:lvl2pPr marL="457200" indent="0" rtl="0">
              <a:spcBef>
                <a:spcPts val="0"/>
              </a:spcBef>
              <a:buFont typeface="Calibri"/>
              <a:buNone/>
              <a:defRPr/>
            </a:lvl2pPr>
            <a:lvl3pPr marL="914400" indent="0" rtl="0">
              <a:spcBef>
                <a:spcPts val="0"/>
              </a:spcBef>
              <a:buFont typeface="Calibri"/>
              <a:buNone/>
              <a:defRPr/>
            </a:lvl3pPr>
            <a:lvl4pPr marL="1371600" indent="0" rtl="0">
              <a:spcBef>
                <a:spcPts val="0"/>
              </a:spcBef>
              <a:buFont typeface="Calibri"/>
              <a:buNone/>
              <a:defRPr/>
            </a:lvl4pPr>
            <a:lvl5pPr marL="1828800" indent="0" rtl="0">
              <a:spcBef>
                <a:spcPts val="0"/>
              </a:spcBef>
              <a:buFont typeface="Calibri"/>
              <a:buNone/>
              <a:defRPr/>
            </a:lvl5pPr>
            <a:lvl6pPr marL="2286000" indent="0" rtl="0">
              <a:spcBef>
                <a:spcPts val="0"/>
              </a:spcBef>
              <a:buFont typeface="Calibri"/>
              <a:buNone/>
              <a:defRPr/>
            </a:lvl6pPr>
            <a:lvl7pPr marL="2743200" indent="0" rtl="0">
              <a:spcBef>
                <a:spcPts val="0"/>
              </a:spcBef>
              <a:buFont typeface="Calibri"/>
              <a:buNone/>
              <a:defRPr/>
            </a:lvl7pPr>
            <a:lvl8pPr marL="3200400" indent="0" rtl="0">
              <a:spcBef>
                <a:spcPts val="0"/>
              </a:spcBef>
              <a:buFont typeface="Calibri"/>
              <a:buNone/>
              <a:defRPr/>
            </a:lvl8pPr>
            <a:lvl9pPr marL="3657600" indent="0" rtl="0">
              <a:spcBef>
                <a:spcPts val="0"/>
              </a:spcBef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99" name="Shape 9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00" name="Shape 10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01" name="Shape 10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lvl="0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457200" lvl="1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914400" lvl="2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1371600" lvl="3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1828800" lvl="4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2286000" lvl="5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2743200" lvl="6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3200400" lvl="7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3657600" lvl="8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含標題的圖片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399" cy="5667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04" name="Shape 10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399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Shape 105"/>
          <p:cNvSpPr txBox="1">
            <a:spLocks noGrp="1"/>
          </p:cNvSpPr>
          <p:nvPr>
            <p:ph type="body" idx="1"/>
          </p:nvPr>
        </p:nvSpPr>
        <p:spPr>
          <a:xfrm>
            <a:off x="1792288" y="5367337"/>
            <a:ext cx="5486399" cy="8048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libri"/>
              <a:buNone/>
              <a:defRPr/>
            </a:lvl1pPr>
            <a:lvl2pPr marL="457200" indent="0" rtl="0">
              <a:spcBef>
                <a:spcPts val="0"/>
              </a:spcBef>
              <a:buFont typeface="Calibri"/>
              <a:buNone/>
              <a:defRPr/>
            </a:lvl2pPr>
            <a:lvl3pPr marL="914400" indent="0" rtl="0">
              <a:spcBef>
                <a:spcPts val="0"/>
              </a:spcBef>
              <a:buFont typeface="Calibri"/>
              <a:buNone/>
              <a:defRPr/>
            </a:lvl3pPr>
            <a:lvl4pPr marL="1371600" indent="0" rtl="0">
              <a:spcBef>
                <a:spcPts val="0"/>
              </a:spcBef>
              <a:buFont typeface="Calibri"/>
              <a:buNone/>
              <a:defRPr/>
            </a:lvl4pPr>
            <a:lvl5pPr marL="1828800" indent="0" rtl="0">
              <a:spcBef>
                <a:spcPts val="0"/>
              </a:spcBef>
              <a:buFont typeface="Calibri"/>
              <a:buNone/>
              <a:defRPr/>
            </a:lvl5pPr>
            <a:lvl6pPr marL="2286000" indent="0" rtl="0">
              <a:spcBef>
                <a:spcPts val="0"/>
              </a:spcBef>
              <a:buFont typeface="Calibri"/>
              <a:buNone/>
              <a:defRPr/>
            </a:lvl6pPr>
            <a:lvl7pPr marL="2743200" indent="0" rtl="0">
              <a:spcBef>
                <a:spcPts val="0"/>
              </a:spcBef>
              <a:buFont typeface="Calibri"/>
              <a:buNone/>
              <a:defRPr/>
            </a:lvl7pPr>
            <a:lvl8pPr marL="3200400" indent="0" rtl="0">
              <a:spcBef>
                <a:spcPts val="0"/>
              </a:spcBef>
              <a:buFont typeface="Calibri"/>
              <a:buNone/>
              <a:defRPr/>
            </a:lvl8pPr>
            <a:lvl9pPr marL="3657600" indent="0" rtl="0">
              <a:spcBef>
                <a:spcPts val="0"/>
              </a:spcBef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06" name="Shape 10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07" name="Shape 10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08" name="Shape 10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lvl="0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457200" lvl="1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914400" lvl="2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1371600" lvl="3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1828800" lvl="4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2286000" lvl="5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2743200" lvl="6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3200400" lvl="7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3657600" lvl="8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標題及直排文字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11" name="Shape 111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139700" algn="l" rtl="0">
              <a:spcBef>
                <a:spcPts val="640"/>
              </a:spcBef>
              <a:buClr>
                <a:schemeClr val="dk1"/>
              </a:buClr>
              <a:buFont typeface="Calibri"/>
              <a:buChar char="•"/>
              <a:defRPr/>
            </a:lvl1pPr>
            <a:lvl2pPr marL="742950" indent="-107950" algn="l" rtl="0">
              <a:spcBef>
                <a:spcPts val="560"/>
              </a:spcBef>
              <a:buClr>
                <a:schemeClr val="dk1"/>
              </a:buClr>
              <a:buFont typeface="Calibri"/>
              <a:buChar char="–"/>
              <a:defRPr/>
            </a:lvl2pPr>
            <a:lvl3pPr marL="1143000" indent="-76200" algn="l" rtl="0">
              <a:spcBef>
                <a:spcPts val="480"/>
              </a:spcBef>
              <a:buClr>
                <a:schemeClr val="dk1"/>
              </a:buClr>
              <a:buFont typeface="Calibri"/>
              <a:buChar char="•"/>
              <a:defRPr/>
            </a:lvl3pPr>
            <a:lvl4pPr marL="160020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–"/>
              <a:defRPr/>
            </a:lvl4pPr>
            <a:lvl5pPr marL="205740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»"/>
              <a:defRPr/>
            </a:lvl5pPr>
            <a:lvl6pPr marL="251460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•"/>
              <a:defRPr/>
            </a:lvl6pPr>
            <a:lvl7pPr marL="297180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•"/>
              <a:defRPr/>
            </a:lvl7pPr>
            <a:lvl8pPr marL="342900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•"/>
              <a:defRPr/>
            </a:lvl8pPr>
            <a:lvl9pPr marL="388620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•"/>
              <a:defRPr/>
            </a:lvl9pPr>
          </a:lstStyle>
          <a:p>
            <a:endParaRPr/>
          </a:p>
        </p:txBody>
      </p:sp>
      <p:sp>
        <p:nvSpPr>
          <p:cNvPr id="112" name="Shape 1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13" name="Shape 1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14" name="Shape 1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lvl="0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457200" lvl="1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914400" lvl="2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1371600" lvl="3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1828800" lvl="4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2286000" lvl="5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2743200" lvl="6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3200400" lvl="7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3657600" lvl="8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直排標題及文字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17" name="Shape 117"/>
          <p:cNvSpPr txBox="1">
            <a:spLocks noGrp="1"/>
          </p:cNvSpPr>
          <p:nvPr>
            <p:ph type="body" idx="1"/>
          </p:nvPr>
        </p:nvSpPr>
        <p:spPr>
          <a:xfrm rot="5400000">
            <a:off x="541337" y="190500"/>
            <a:ext cx="5851525" cy="6019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139700" algn="l" rtl="0">
              <a:spcBef>
                <a:spcPts val="640"/>
              </a:spcBef>
              <a:buClr>
                <a:schemeClr val="dk1"/>
              </a:buClr>
              <a:buFont typeface="Calibri"/>
              <a:buChar char="•"/>
              <a:defRPr/>
            </a:lvl1pPr>
            <a:lvl2pPr marL="742950" indent="-107950" algn="l" rtl="0">
              <a:spcBef>
                <a:spcPts val="560"/>
              </a:spcBef>
              <a:buClr>
                <a:schemeClr val="dk1"/>
              </a:buClr>
              <a:buFont typeface="Calibri"/>
              <a:buChar char="–"/>
              <a:defRPr/>
            </a:lvl2pPr>
            <a:lvl3pPr marL="1143000" indent="-76200" algn="l" rtl="0">
              <a:spcBef>
                <a:spcPts val="480"/>
              </a:spcBef>
              <a:buClr>
                <a:schemeClr val="dk1"/>
              </a:buClr>
              <a:buFont typeface="Calibri"/>
              <a:buChar char="•"/>
              <a:defRPr/>
            </a:lvl3pPr>
            <a:lvl4pPr marL="160020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–"/>
              <a:defRPr/>
            </a:lvl4pPr>
            <a:lvl5pPr marL="205740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»"/>
              <a:defRPr/>
            </a:lvl5pPr>
            <a:lvl6pPr marL="251460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•"/>
              <a:defRPr/>
            </a:lvl6pPr>
            <a:lvl7pPr marL="297180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•"/>
              <a:defRPr/>
            </a:lvl7pPr>
            <a:lvl8pPr marL="342900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•"/>
              <a:defRPr/>
            </a:lvl8pPr>
            <a:lvl9pPr marL="388620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•"/>
              <a:defRPr/>
            </a:lvl9pPr>
          </a:lstStyle>
          <a:p>
            <a:endParaRPr/>
          </a:p>
        </p:txBody>
      </p:sp>
      <p:sp>
        <p:nvSpPr>
          <p:cNvPr id="118" name="Shape 1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19" name="Shape 1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20" name="Shape 1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lvl="0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457200" lvl="1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914400" lvl="2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1371600" lvl="3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1828800" lvl="4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2286000" lvl="5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2743200" lvl="6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3200400" lvl="7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3657600" lvl="8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23" name="Shape 1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57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indent="457200" rtl="0">
              <a:spcBef>
                <a:spcPts val="0"/>
              </a:spcBef>
              <a:defRPr/>
            </a:lvl2pPr>
            <a:lvl3pPr indent="914400" rtl="0">
              <a:spcBef>
                <a:spcPts val="0"/>
              </a:spcBef>
              <a:defRPr/>
            </a:lvl3pPr>
            <a:lvl4pPr indent="1371600"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/>
          <p:cNvSpPr txBox="1">
            <a:spLocks noGrp="1"/>
          </p:cNvSpPr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/>
            </a:lvl1pPr>
            <a:lvl2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/>
            </a:lvl2pPr>
            <a:lvl3pPr marL="0" marR="0" indent="0" algn="ctr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/>
            </a:lvl3pPr>
            <a:lvl4pPr marL="0" marR="0" indent="0" algn="ctr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/>
            </a:lvl4pPr>
            <a:lvl5pPr marL="0" marR="0" indent="0" algn="ctr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/>
            </a:lvl5pPr>
            <a:lvl6pPr marL="0" marR="0" indent="0" algn="ctr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/>
            </a:lvl6pPr>
            <a:lvl7pPr marL="0" marR="0" indent="0" algn="ctr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/>
            </a:lvl7pPr>
            <a:lvl8pPr marL="0" marR="0" indent="0" algn="ctr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/>
            </a:lvl8pPr>
            <a:lvl9pPr marL="0" marR="0" indent="0" algn="ctr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129" name="Shape 129"/>
          <p:cNvSpPr txBox="1">
            <a:spLocks noGrp="1"/>
          </p:cNvSpPr>
          <p:nvPr>
            <p:ph type="subTitle" idx="1"/>
          </p:nvPr>
        </p:nvSpPr>
        <p:spPr>
          <a:xfrm>
            <a:off x="685800" y="3786737"/>
            <a:ext cx="7772400" cy="104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/>
            </a:lvl1pPr>
            <a:lvl2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/>
            </a:lvl2pPr>
            <a:lvl3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/>
            </a:lvl3pPr>
            <a:lvl4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/>
            </a:lvl4pPr>
            <a:lvl5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/>
            </a:lvl5pPr>
            <a:lvl6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/>
            </a:lvl6pPr>
            <a:lvl7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/>
            </a:lvl7pPr>
            <a:lvl8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/>
            </a:lvl8pPr>
            <a:lvl9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32" name="Shape 1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36" name="Shape 136"/>
          <p:cNvSpPr txBox="1">
            <a:spLocks noGrp="1"/>
          </p:cNvSpPr>
          <p:nvPr>
            <p:ph type="body" idx="2"/>
          </p:nvPr>
        </p:nvSpPr>
        <p:spPr>
          <a:xfrm>
            <a:off x="4692273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 txBox="1">
            <a:spLocks noGrp="1"/>
          </p:cNvSpPr>
          <p:nvPr>
            <p:ph type="body" idx="1"/>
          </p:nvPr>
        </p:nvSpPr>
        <p:spPr>
          <a:xfrm>
            <a:off x="457200" y="5875078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spcBef>
                <a:spcPts val="360"/>
              </a:spcBef>
              <a:buFont typeface="Arial"/>
              <a:buNone/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buClr>
                <a:schemeClr val="dk1"/>
              </a:buClr>
              <a:buSzPct val="100000"/>
              <a:buNone/>
              <a:defRPr sz="36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spcBef>
                <a:spcPts val="600"/>
              </a:spcBef>
              <a:buClr>
                <a:schemeClr val="dk1"/>
              </a:buClr>
              <a:buSzPct val="100000"/>
              <a:defRPr sz="3000">
                <a:solidFill>
                  <a:schemeClr val="dk1"/>
                </a:solidFill>
              </a:defRPr>
            </a:lvl1pPr>
            <a:lvl2pPr>
              <a:spcBef>
                <a:spcPts val="480"/>
              </a:spcBef>
              <a:buClr>
                <a:schemeClr val="dk1"/>
              </a:buClr>
              <a:buSzPct val="100000"/>
              <a:defRPr sz="2400">
                <a:solidFill>
                  <a:schemeClr val="dk1"/>
                </a:solidFill>
              </a:defRPr>
            </a:lvl2pPr>
            <a:lvl3pPr>
              <a:spcBef>
                <a:spcPts val="480"/>
              </a:spcBef>
              <a:buClr>
                <a:schemeClr val="dk1"/>
              </a:buClr>
              <a:buSzPct val="100000"/>
              <a:defRPr sz="2400">
                <a:solidFill>
                  <a:schemeClr val="dk1"/>
                </a:solidFill>
              </a:defRPr>
            </a:lvl3pPr>
            <a:lvl4pPr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4pPr>
            <a:lvl5pPr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5pPr>
            <a:lvl6pPr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6pPr>
            <a:lvl7pPr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7pPr>
            <a:lvl8pPr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8pPr>
            <a:lvl9pPr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/>
            </a:lvl1pPr>
            <a:lvl2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/>
            </a:lvl2pPr>
            <a:lvl3pPr marL="0" marR="0" indent="0" algn="l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/>
            </a:lvl3pPr>
            <a:lvl4pPr marL="0" marR="0" indent="0" algn="l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/>
            </a:lvl4pPr>
            <a:lvl5pPr marL="0" marR="0" indent="0" algn="l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/>
            </a:lvl5pPr>
            <a:lvl6pPr marL="0" marR="0" indent="0" algn="l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/>
            </a:lvl6pPr>
            <a:lvl7pPr marL="0" marR="0" indent="0" algn="l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/>
            </a:lvl7pPr>
            <a:lvl8pPr marL="0" marR="0" indent="0" algn="l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/>
            </a:lvl8pPr>
            <a:lvl9pPr marL="0" marR="0" indent="0" algn="l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/>
            </a:lvl1pPr>
            <a:lvl2pPr marL="0" marR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/>
            </a:lvl2pPr>
            <a:lvl3pPr marL="0" marR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/>
            </a:lvl3pPr>
            <a:lvl4pPr marL="0" marR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/>
            </a:lvl4pPr>
            <a:lvl5pPr marL="0" marR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/>
            </a:lvl5pPr>
            <a:lvl6pPr marL="0" marR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/>
            </a:lvl6pPr>
            <a:lvl7pPr marL="0" marR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/>
            </a:lvl7pPr>
            <a:lvl8pPr marL="0" marR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/>
            </a:lvl8pPr>
            <a:lvl9pPr marL="0" marR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/>
            </a:lvl1pPr>
            <a:lvl2pPr marL="0" marR="0" indent="0" algn="l" rtl="0">
              <a:spcBef>
                <a:spcPts val="0"/>
              </a:spcBef>
              <a:defRPr/>
            </a:lvl2pPr>
            <a:lvl3pPr marL="0" marR="0" indent="0" algn="l" rtl="0">
              <a:spcBef>
                <a:spcPts val="0"/>
              </a:spcBef>
              <a:defRPr/>
            </a:lvl3pPr>
            <a:lvl4pPr marL="0" marR="0" indent="0" algn="l" rtl="0">
              <a:spcBef>
                <a:spcPts val="0"/>
              </a:spcBef>
              <a:defRPr/>
            </a:lvl4pPr>
            <a:lvl5pPr marL="0" marR="0" indent="0" algn="l" rtl="0">
              <a:spcBef>
                <a:spcPts val="0"/>
              </a:spcBef>
              <a:defRPr/>
            </a:lvl5pPr>
            <a:lvl6pPr marL="0" marR="0" indent="0" algn="l" rtl="0">
              <a:spcBef>
                <a:spcPts val="0"/>
              </a:spcBef>
              <a:defRPr/>
            </a:lvl6pPr>
            <a:lvl7pPr marL="0" marR="0" indent="0" algn="l" rtl="0">
              <a:spcBef>
                <a:spcPts val="0"/>
              </a:spcBef>
              <a:defRPr/>
            </a:lvl7pPr>
            <a:lvl8pPr marL="0" marR="0" indent="0" algn="l" rtl="0">
              <a:spcBef>
                <a:spcPts val="0"/>
              </a:spcBef>
              <a:defRPr/>
            </a:lvl8pPr>
            <a:lvl9pPr marL="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indent="-139700" algn="l" rtl="0">
              <a:spcBef>
                <a:spcPts val="640"/>
              </a:spcBef>
              <a:buClr>
                <a:schemeClr val="dk1"/>
              </a:buClr>
              <a:buFont typeface="Calibri"/>
              <a:buChar char="•"/>
              <a:defRPr/>
            </a:lvl1pPr>
            <a:lvl2pPr marL="742950" marR="0" indent="-107950" algn="l" rtl="0">
              <a:spcBef>
                <a:spcPts val="560"/>
              </a:spcBef>
              <a:buClr>
                <a:schemeClr val="dk1"/>
              </a:buClr>
              <a:buFont typeface="Calibri"/>
              <a:buChar char="–"/>
              <a:defRPr/>
            </a:lvl2pPr>
            <a:lvl3pPr marL="1143000" marR="0" indent="-76200" algn="l" rtl="0">
              <a:spcBef>
                <a:spcPts val="480"/>
              </a:spcBef>
              <a:buClr>
                <a:schemeClr val="dk1"/>
              </a:buClr>
              <a:buFont typeface="Calibri"/>
              <a:buChar char="•"/>
              <a:defRPr/>
            </a:lvl3pPr>
            <a:lvl4pPr marL="1600200" marR="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–"/>
              <a:defRPr/>
            </a:lvl4pPr>
            <a:lvl5pPr marL="2057400" marR="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»"/>
              <a:defRPr/>
            </a:lvl5pPr>
            <a:lvl6pPr marL="2514600" marR="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•"/>
              <a:defRPr/>
            </a:lvl6pPr>
            <a:lvl7pPr marL="2971800" marR="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•"/>
              <a:defRPr/>
            </a:lvl7pPr>
            <a:lvl8pPr marL="3429000" marR="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•"/>
              <a:defRPr/>
            </a:lvl8pPr>
            <a:lvl9pPr marL="3886200" marR="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•"/>
              <a:defRPr/>
            </a:lvl9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lvl="0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457200" lvl="1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914400" lvl="2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1371600" lvl="3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1828800" lvl="4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2286000" lvl="5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2743200" lvl="6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3200400" lvl="7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3657600" lvl="8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/>
            </a:lvl1pPr>
            <a:lvl2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/>
            </a:lvl2pPr>
            <a:lvl3pPr marL="0" marR="0" indent="0" algn="l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/>
            </a:lvl3pPr>
            <a:lvl4pPr marL="0" marR="0" indent="0" algn="l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/>
            </a:lvl4pPr>
            <a:lvl5pPr marL="0" marR="0" indent="0" algn="l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/>
            </a:lvl5pPr>
            <a:lvl6pPr marL="0" marR="0" indent="0" algn="l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/>
            </a:lvl6pPr>
            <a:lvl7pPr marL="0" marR="0" indent="0" algn="l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/>
            </a:lvl7pPr>
            <a:lvl8pPr marL="0" marR="0" indent="0" algn="l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/>
            </a:lvl8pPr>
            <a:lvl9pPr marL="0" marR="0" indent="0" algn="l" rtl="0">
              <a:spcBef>
                <a:spcPts val="0"/>
              </a:spcBef>
              <a:buClr>
                <a:schemeClr val="dk1"/>
              </a:buClr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126" name="Shape 1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/>
            </a:lvl1pPr>
            <a:lvl2pPr marL="0" marR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/>
            </a:lvl2pPr>
            <a:lvl3pPr marL="0" marR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/>
            </a:lvl3pPr>
            <a:lvl4pPr marL="0" marR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/>
            </a:lvl4pPr>
            <a:lvl5pPr marL="0" marR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/>
            </a:lvl5pPr>
            <a:lvl6pPr marL="0" marR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/>
            </a:lvl6pPr>
            <a:lvl7pPr marL="0" marR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/>
            </a:lvl7pPr>
            <a:lvl8pPr marL="0" marR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/>
            </a:lvl8pPr>
            <a:lvl9pPr marL="0" marR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9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9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9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5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9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9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SAFoundation/HSA-Drivers-Linux-AMD" TargetMode="External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usenix.org/system/files/conference/atc14/atc14-paper-tian.pdf" TargetMode="External"/><Relationship Id="rId5" Type="http://schemas.openxmlformats.org/officeDocument/2006/relationships/hyperlink" Target="http://www.intel.com/content/www/us/en/pci-express/pci-sig-sr-iov-primer-sr-iov-technology-paper.html" TargetMode="External"/><Relationship Id="rId4" Type="http://schemas.openxmlformats.org/officeDocument/2006/relationships/hyperlink" Target="http://www.hsafoundation.com/standards/" TargetMode="Externa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 txBox="1">
            <a:spLocks noGrp="1"/>
          </p:cNvSpPr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HSA Kernel Mode Driver  </a:t>
            </a:r>
          </a:p>
        </p:txBody>
      </p:sp>
      <p:sp>
        <p:nvSpPr>
          <p:cNvPr id="144" name="Shape 144"/>
          <p:cNvSpPr txBox="1">
            <a:spLocks noGrp="1"/>
          </p:cNvSpPr>
          <p:nvPr>
            <p:ph type="subTitle" idx="1"/>
          </p:nvPr>
        </p:nvSpPr>
        <p:spPr>
          <a:xfrm>
            <a:off x="1252700" y="4156425"/>
            <a:ext cx="5037000" cy="15975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l" rtl="0">
              <a:lnSpc>
                <a:spcPct val="100000"/>
              </a:lnSpc>
              <a:spcBef>
                <a:spcPts val="0"/>
              </a:spcBef>
              <a:buNone/>
            </a:pPr>
            <a:endParaRPr sz="2000"/>
          </a:p>
          <a:p>
            <a:pPr lvl="0" algn="l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55000"/>
              <a:buFont typeface="Arial"/>
              <a:buNone/>
            </a:pPr>
            <a:r>
              <a:rPr lang="zh-TW" sz="2000"/>
              <a:t>Advisor:  </a:t>
            </a:r>
            <a:r>
              <a:rPr lang="zh-TW" sz="2400"/>
              <a:t>徐慰中教授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55000"/>
              <a:buFont typeface="Arial"/>
              <a:buNone/>
            </a:pPr>
            <a:r>
              <a:rPr lang="zh-TW" sz="2000"/>
              <a:t>Student: </a:t>
            </a:r>
            <a:r>
              <a:rPr lang="zh-TW" sz="2400"/>
              <a:t>黃昱儒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zh-TW" sz="2000"/>
              <a:t>2015/4/20</a:t>
            </a:r>
          </a:p>
          <a:p>
            <a:pPr rtl="0">
              <a:lnSpc>
                <a:spcPct val="100000"/>
              </a:lnSpc>
              <a:spcBef>
                <a:spcPts val="0"/>
              </a:spcBef>
              <a:buNone/>
            </a:pPr>
            <a:endParaRPr sz="2000"/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4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/>
              <a:t>Agenda</a:t>
            </a:r>
          </a:p>
        </p:txBody>
      </p:sp>
      <p:sp>
        <p:nvSpPr>
          <p:cNvPr id="150" name="Shape 150"/>
          <p:cNvSpPr txBox="1">
            <a:spLocks noGrp="1"/>
          </p:cNvSpPr>
          <p:nvPr>
            <p:ph type="body" idx="1"/>
          </p:nvPr>
        </p:nvSpPr>
        <p:spPr>
          <a:xfrm>
            <a:off x="457200" y="14478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Introduction to HSA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hUMA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User Level Queueing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HSA Driver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Flow Overview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User &amp; Hardware Queues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IOMMU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GCR3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PPR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HSA Virtualization</a:t>
            </a:r>
          </a:p>
          <a:p>
            <a:pPr marL="914400" lvl="1" indent="-381000" rtl="0">
              <a:spcBef>
                <a:spcPts val="480"/>
              </a:spcBef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zh-TW" sz="2400"/>
              <a:t>Background</a:t>
            </a:r>
          </a:p>
          <a:p>
            <a:pPr marL="914400" lvl="1" indent="-381000" rtl="0">
              <a:spcBef>
                <a:spcPts val="480"/>
              </a:spcBef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zh-TW" sz="2400"/>
              <a:t>Virtualization Idea &amp; Architecture</a:t>
            </a:r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hUMA</a:t>
            </a:r>
          </a:p>
        </p:txBody>
      </p:sp>
      <p:sp>
        <p:nvSpPr>
          <p:cNvPr id="156" name="Shape 15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pic>
        <p:nvPicPr>
          <p:cNvPr id="157" name="Shape 1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26025"/>
            <a:ext cx="9143999" cy="5154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Shape 1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00" y="1500500"/>
            <a:ext cx="9084999" cy="519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Shape 16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/>
              <a:t>User Level Queuing - Before HSA</a:t>
            </a:r>
          </a:p>
        </p:txBody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/>
              <a:t>User Level Queuing</a:t>
            </a:r>
          </a:p>
        </p:txBody>
      </p:sp>
      <p:sp>
        <p:nvSpPr>
          <p:cNvPr id="169" name="Shape 16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pic>
        <p:nvPicPr>
          <p:cNvPr id="170" name="Shape 1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00200"/>
            <a:ext cx="9144000" cy="5175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/>
          <p:nvPr/>
        </p:nvSpPr>
        <p:spPr>
          <a:xfrm>
            <a:off x="1152000" y="525925"/>
            <a:ext cx="1456199" cy="659099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 </a:t>
            </a:r>
            <a:r>
              <a:rPr lang="zh-TW"/>
              <a:t>1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/>
              <a:t>Queue 1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/>
              <a:t>(In VA)</a:t>
            </a:r>
          </a:p>
        </p:txBody>
      </p:sp>
      <p:sp>
        <p:nvSpPr>
          <p:cNvPr id="176" name="Shape 176"/>
          <p:cNvSpPr/>
          <p:nvPr/>
        </p:nvSpPr>
        <p:spPr>
          <a:xfrm>
            <a:off x="3725850" y="127411"/>
            <a:ext cx="1623599" cy="1453800"/>
          </a:xfrm>
          <a:prstGeom prst="ellipse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Shape 177"/>
          <p:cNvSpPr/>
          <p:nvPr/>
        </p:nvSpPr>
        <p:spPr>
          <a:xfrm>
            <a:off x="4183607" y="538114"/>
            <a:ext cx="708000" cy="632400"/>
          </a:xfrm>
          <a:prstGeom prst="ellipse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8" name="Shape 178"/>
          <p:cNvCxnSpPr>
            <a:stCxn id="177" idx="1"/>
            <a:endCxn id="176" idx="1"/>
          </p:cNvCxnSpPr>
          <p:nvPr/>
        </p:nvCxnSpPr>
        <p:spPr>
          <a:xfrm rot="10800000">
            <a:off x="3963592" y="340327"/>
            <a:ext cx="323700" cy="290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9" name="Shape 179"/>
          <p:cNvCxnSpPr>
            <a:stCxn id="177" idx="0"/>
            <a:endCxn id="176" idx="0"/>
          </p:cNvCxnSpPr>
          <p:nvPr/>
        </p:nvCxnSpPr>
        <p:spPr>
          <a:xfrm rot="10800000">
            <a:off x="4537607" y="127414"/>
            <a:ext cx="0" cy="410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0" name="Shape 180"/>
          <p:cNvCxnSpPr>
            <a:stCxn id="177" idx="7"/>
            <a:endCxn id="176" idx="7"/>
          </p:cNvCxnSpPr>
          <p:nvPr/>
        </p:nvCxnSpPr>
        <p:spPr>
          <a:xfrm rot="10800000" flipH="1">
            <a:off x="4787923" y="340327"/>
            <a:ext cx="323700" cy="290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1" name="Shape 181"/>
          <p:cNvCxnSpPr>
            <a:stCxn id="177" idx="6"/>
            <a:endCxn id="176" idx="6"/>
          </p:cNvCxnSpPr>
          <p:nvPr/>
        </p:nvCxnSpPr>
        <p:spPr>
          <a:xfrm>
            <a:off x="4891607" y="854315"/>
            <a:ext cx="4578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" name="Shape 182"/>
          <p:cNvCxnSpPr>
            <a:stCxn id="176" idx="2"/>
            <a:endCxn id="177" idx="2"/>
          </p:cNvCxnSpPr>
          <p:nvPr/>
        </p:nvCxnSpPr>
        <p:spPr>
          <a:xfrm>
            <a:off x="3725850" y="854312"/>
            <a:ext cx="4578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" name="Shape 183"/>
          <p:cNvCxnSpPr>
            <a:stCxn id="177" idx="3"/>
            <a:endCxn id="176" idx="3"/>
          </p:cNvCxnSpPr>
          <p:nvPr/>
        </p:nvCxnSpPr>
        <p:spPr>
          <a:xfrm flipH="1">
            <a:off x="3963592" y="1077902"/>
            <a:ext cx="323700" cy="290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" name="Shape 184"/>
          <p:cNvCxnSpPr>
            <a:stCxn id="177" idx="4"/>
            <a:endCxn id="176" idx="4"/>
          </p:cNvCxnSpPr>
          <p:nvPr/>
        </p:nvCxnSpPr>
        <p:spPr>
          <a:xfrm>
            <a:off x="4537607" y="1170515"/>
            <a:ext cx="0" cy="410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5" name="Shape 185"/>
          <p:cNvCxnSpPr>
            <a:stCxn id="177" idx="5"/>
            <a:endCxn id="176" idx="5"/>
          </p:cNvCxnSpPr>
          <p:nvPr/>
        </p:nvCxnSpPr>
        <p:spPr>
          <a:xfrm>
            <a:off x="4787923" y="1077902"/>
            <a:ext cx="323700" cy="290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6" name="Shape 186"/>
          <p:cNvCxnSpPr>
            <a:stCxn id="175" idx="3"/>
            <a:endCxn id="176" idx="2"/>
          </p:cNvCxnSpPr>
          <p:nvPr/>
        </p:nvCxnSpPr>
        <p:spPr>
          <a:xfrm rot="10800000" flipH="1">
            <a:off x="2608199" y="854274"/>
            <a:ext cx="1117800" cy="12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187" name="Shape 187"/>
          <p:cNvSpPr/>
          <p:nvPr/>
        </p:nvSpPr>
        <p:spPr>
          <a:xfrm>
            <a:off x="7173700" y="2264675"/>
            <a:ext cx="1170900" cy="1180798"/>
          </a:xfrm>
          <a:prstGeom prst="rect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HSA Device</a:t>
            </a:r>
          </a:p>
        </p:txBody>
      </p:sp>
      <p:sp>
        <p:nvSpPr>
          <p:cNvPr id="188" name="Shape 188"/>
          <p:cNvSpPr/>
          <p:nvPr/>
        </p:nvSpPr>
        <p:spPr>
          <a:xfrm>
            <a:off x="1152000" y="2200400"/>
            <a:ext cx="1456199" cy="659099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Application 1</a:t>
            </a:r>
          </a:p>
          <a:p>
            <a:pPr lvl="0" algn="ctr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Queue 2</a:t>
            </a:r>
          </a:p>
          <a:p>
            <a:pPr lvl="0" algn="ctr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(In VA)</a:t>
            </a:r>
          </a:p>
        </p:txBody>
      </p:sp>
      <p:sp>
        <p:nvSpPr>
          <p:cNvPr id="189" name="Shape 189"/>
          <p:cNvSpPr/>
          <p:nvPr/>
        </p:nvSpPr>
        <p:spPr>
          <a:xfrm>
            <a:off x="3725850" y="1803033"/>
            <a:ext cx="1623599" cy="1453800"/>
          </a:xfrm>
          <a:prstGeom prst="ellipse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Shape 190"/>
          <p:cNvSpPr/>
          <p:nvPr/>
        </p:nvSpPr>
        <p:spPr>
          <a:xfrm>
            <a:off x="4183607" y="2213738"/>
            <a:ext cx="708000" cy="632400"/>
          </a:xfrm>
          <a:prstGeom prst="ellipse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" name="Shape 191"/>
          <p:cNvCxnSpPr>
            <a:stCxn id="190" idx="1"/>
            <a:endCxn id="189" idx="1"/>
          </p:cNvCxnSpPr>
          <p:nvPr/>
        </p:nvCxnSpPr>
        <p:spPr>
          <a:xfrm rot="10800000">
            <a:off x="3963592" y="2015950"/>
            <a:ext cx="323700" cy="290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2" name="Shape 192"/>
          <p:cNvCxnSpPr>
            <a:stCxn id="190" idx="0"/>
            <a:endCxn id="189" idx="0"/>
          </p:cNvCxnSpPr>
          <p:nvPr/>
        </p:nvCxnSpPr>
        <p:spPr>
          <a:xfrm rot="10800000">
            <a:off x="4537607" y="1803038"/>
            <a:ext cx="0" cy="410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" name="Shape 193"/>
          <p:cNvCxnSpPr>
            <a:stCxn id="190" idx="7"/>
            <a:endCxn id="189" idx="7"/>
          </p:cNvCxnSpPr>
          <p:nvPr/>
        </p:nvCxnSpPr>
        <p:spPr>
          <a:xfrm rot="10800000" flipH="1">
            <a:off x="4787923" y="2015950"/>
            <a:ext cx="323700" cy="290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" name="Shape 194"/>
          <p:cNvCxnSpPr>
            <a:stCxn id="190" idx="6"/>
            <a:endCxn id="189" idx="6"/>
          </p:cNvCxnSpPr>
          <p:nvPr/>
        </p:nvCxnSpPr>
        <p:spPr>
          <a:xfrm>
            <a:off x="4891607" y="2529938"/>
            <a:ext cx="4578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" name="Shape 195"/>
          <p:cNvCxnSpPr>
            <a:stCxn id="189" idx="2"/>
            <a:endCxn id="190" idx="2"/>
          </p:cNvCxnSpPr>
          <p:nvPr/>
        </p:nvCxnSpPr>
        <p:spPr>
          <a:xfrm>
            <a:off x="3725850" y="2529933"/>
            <a:ext cx="4578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" name="Shape 196"/>
          <p:cNvCxnSpPr>
            <a:stCxn id="190" idx="3"/>
            <a:endCxn id="189" idx="3"/>
          </p:cNvCxnSpPr>
          <p:nvPr/>
        </p:nvCxnSpPr>
        <p:spPr>
          <a:xfrm flipH="1">
            <a:off x="3963592" y="2753525"/>
            <a:ext cx="323700" cy="290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" name="Shape 197"/>
          <p:cNvCxnSpPr>
            <a:stCxn id="190" idx="4"/>
            <a:endCxn id="189" idx="4"/>
          </p:cNvCxnSpPr>
          <p:nvPr/>
        </p:nvCxnSpPr>
        <p:spPr>
          <a:xfrm>
            <a:off x="4537607" y="2846138"/>
            <a:ext cx="0" cy="410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" name="Shape 198"/>
          <p:cNvCxnSpPr>
            <a:stCxn id="190" idx="5"/>
            <a:endCxn id="189" idx="5"/>
          </p:cNvCxnSpPr>
          <p:nvPr/>
        </p:nvCxnSpPr>
        <p:spPr>
          <a:xfrm>
            <a:off x="4787923" y="2753525"/>
            <a:ext cx="323700" cy="290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9" name="Shape 199"/>
          <p:cNvCxnSpPr>
            <a:stCxn id="188" idx="3"/>
            <a:endCxn id="189" idx="2"/>
          </p:cNvCxnSpPr>
          <p:nvPr/>
        </p:nvCxnSpPr>
        <p:spPr>
          <a:xfrm>
            <a:off x="2608199" y="2529949"/>
            <a:ext cx="11178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200" name="Shape 200"/>
          <p:cNvSpPr/>
          <p:nvPr/>
        </p:nvSpPr>
        <p:spPr>
          <a:xfrm>
            <a:off x="1152000" y="3950625"/>
            <a:ext cx="1456199" cy="659099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Application 2</a:t>
            </a:r>
          </a:p>
          <a:p>
            <a:pPr lvl="0" algn="ctr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Queue 1</a:t>
            </a:r>
          </a:p>
          <a:p>
            <a:pPr lvl="0" algn="ctr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(In VA)</a:t>
            </a:r>
          </a:p>
        </p:txBody>
      </p:sp>
      <p:sp>
        <p:nvSpPr>
          <p:cNvPr id="201" name="Shape 201"/>
          <p:cNvSpPr/>
          <p:nvPr/>
        </p:nvSpPr>
        <p:spPr>
          <a:xfrm>
            <a:off x="3725850" y="3539912"/>
            <a:ext cx="1623599" cy="1453800"/>
          </a:xfrm>
          <a:prstGeom prst="ellipse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Shape 202"/>
          <p:cNvSpPr/>
          <p:nvPr/>
        </p:nvSpPr>
        <p:spPr>
          <a:xfrm>
            <a:off x="4183607" y="3950616"/>
            <a:ext cx="708000" cy="632400"/>
          </a:xfrm>
          <a:prstGeom prst="ellipse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3" name="Shape 203"/>
          <p:cNvCxnSpPr>
            <a:stCxn id="202" idx="1"/>
            <a:endCxn id="201" idx="1"/>
          </p:cNvCxnSpPr>
          <p:nvPr/>
        </p:nvCxnSpPr>
        <p:spPr>
          <a:xfrm rot="10800000">
            <a:off x="3963592" y="3752828"/>
            <a:ext cx="323700" cy="290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4" name="Shape 204"/>
          <p:cNvCxnSpPr>
            <a:stCxn id="202" idx="0"/>
            <a:endCxn id="201" idx="0"/>
          </p:cNvCxnSpPr>
          <p:nvPr/>
        </p:nvCxnSpPr>
        <p:spPr>
          <a:xfrm rot="10800000">
            <a:off x="4537607" y="3539916"/>
            <a:ext cx="0" cy="410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5" name="Shape 205"/>
          <p:cNvCxnSpPr>
            <a:stCxn id="202" idx="7"/>
            <a:endCxn id="201" idx="7"/>
          </p:cNvCxnSpPr>
          <p:nvPr/>
        </p:nvCxnSpPr>
        <p:spPr>
          <a:xfrm rot="10800000" flipH="1">
            <a:off x="4787923" y="3752828"/>
            <a:ext cx="323700" cy="290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" name="Shape 206"/>
          <p:cNvCxnSpPr>
            <a:stCxn id="202" idx="6"/>
            <a:endCxn id="201" idx="6"/>
          </p:cNvCxnSpPr>
          <p:nvPr/>
        </p:nvCxnSpPr>
        <p:spPr>
          <a:xfrm>
            <a:off x="4891607" y="4266816"/>
            <a:ext cx="4578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7" name="Shape 207"/>
          <p:cNvCxnSpPr>
            <a:stCxn id="201" idx="2"/>
            <a:endCxn id="202" idx="2"/>
          </p:cNvCxnSpPr>
          <p:nvPr/>
        </p:nvCxnSpPr>
        <p:spPr>
          <a:xfrm>
            <a:off x="3725850" y="4266812"/>
            <a:ext cx="4578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8" name="Shape 208"/>
          <p:cNvCxnSpPr>
            <a:stCxn id="202" idx="3"/>
            <a:endCxn id="201" idx="3"/>
          </p:cNvCxnSpPr>
          <p:nvPr/>
        </p:nvCxnSpPr>
        <p:spPr>
          <a:xfrm flipH="1">
            <a:off x="3963592" y="4490403"/>
            <a:ext cx="323700" cy="290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" name="Shape 209"/>
          <p:cNvCxnSpPr>
            <a:stCxn id="202" idx="4"/>
            <a:endCxn id="201" idx="4"/>
          </p:cNvCxnSpPr>
          <p:nvPr/>
        </p:nvCxnSpPr>
        <p:spPr>
          <a:xfrm>
            <a:off x="4537607" y="4583016"/>
            <a:ext cx="0" cy="410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" name="Shape 210"/>
          <p:cNvCxnSpPr>
            <a:stCxn id="202" idx="5"/>
            <a:endCxn id="201" idx="5"/>
          </p:cNvCxnSpPr>
          <p:nvPr/>
        </p:nvCxnSpPr>
        <p:spPr>
          <a:xfrm>
            <a:off x="4787923" y="4490403"/>
            <a:ext cx="323700" cy="290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" name="Shape 211"/>
          <p:cNvCxnSpPr>
            <a:stCxn id="200" idx="3"/>
            <a:endCxn id="201" idx="2"/>
          </p:cNvCxnSpPr>
          <p:nvPr/>
        </p:nvCxnSpPr>
        <p:spPr>
          <a:xfrm rot="10800000" flipH="1">
            <a:off x="2608199" y="4266674"/>
            <a:ext cx="1117800" cy="135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212" name="Shape 212"/>
          <p:cNvSpPr/>
          <p:nvPr/>
        </p:nvSpPr>
        <p:spPr>
          <a:xfrm>
            <a:off x="1152000" y="5687500"/>
            <a:ext cx="1456199" cy="659099"/>
          </a:xfrm>
          <a:prstGeom prst="roundRect">
            <a:avLst>
              <a:gd name="adj" fmla="val 16667"/>
            </a:avLst>
          </a:prstGeom>
          <a:solidFill>
            <a:srgbClr val="6FA8DC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Application 3</a:t>
            </a:r>
          </a:p>
          <a:p>
            <a:pPr lvl="0" algn="ctr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Queue 1</a:t>
            </a:r>
          </a:p>
          <a:p>
            <a:pPr lvl="0" algn="ctr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(In VA)</a:t>
            </a:r>
          </a:p>
        </p:txBody>
      </p:sp>
      <p:sp>
        <p:nvSpPr>
          <p:cNvPr id="213" name="Shape 213"/>
          <p:cNvSpPr/>
          <p:nvPr/>
        </p:nvSpPr>
        <p:spPr>
          <a:xfrm>
            <a:off x="3725850" y="5276789"/>
            <a:ext cx="1623599" cy="1453800"/>
          </a:xfrm>
          <a:prstGeom prst="ellipse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Shape 214"/>
          <p:cNvSpPr/>
          <p:nvPr/>
        </p:nvSpPr>
        <p:spPr>
          <a:xfrm>
            <a:off x="4183607" y="5687492"/>
            <a:ext cx="708000" cy="632400"/>
          </a:xfrm>
          <a:prstGeom prst="ellipse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5" name="Shape 215"/>
          <p:cNvCxnSpPr>
            <a:stCxn id="214" idx="1"/>
            <a:endCxn id="213" idx="1"/>
          </p:cNvCxnSpPr>
          <p:nvPr/>
        </p:nvCxnSpPr>
        <p:spPr>
          <a:xfrm rot="10800000">
            <a:off x="3963592" y="5489705"/>
            <a:ext cx="323700" cy="290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6" name="Shape 216"/>
          <p:cNvCxnSpPr>
            <a:stCxn id="214" idx="0"/>
            <a:endCxn id="213" idx="0"/>
          </p:cNvCxnSpPr>
          <p:nvPr/>
        </p:nvCxnSpPr>
        <p:spPr>
          <a:xfrm rot="10800000">
            <a:off x="4537607" y="5276792"/>
            <a:ext cx="0" cy="410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7" name="Shape 217"/>
          <p:cNvCxnSpPr>
            <a:stCxn id="214" idx="7"/>
            <a:endCxn id="213" idx="7"/>
          </p:cNvCxnSpPr>
          <p:nvPr/>
        </p:nvCxnSpPr>
        <p:spPr>
          <a:xfrm rot="10800000" flipH="1">
            <a:off x="4787923" y="5489705"/>
            <a:ext cx="323700" cy="290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8" name="Shape 218"/>
          <p:cNvCxnSpPr>
            <a:stCxn id="214" idx="6"/>
            <a:endCxn id="213" idx="6"/>
          </p:cNvCxnSpPr>
          <p:nvPr/>
        </p:nvCxnSpPr>
        <p:spPr>
          <a:xfrm>
            <a:off x="4891607" y="6003692"/>
            <a:ext cx="4578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9" name="Shape 219"/>
          <p:cNvCxnSpPr>
            <a:stCxn id="213" idx="2"/>
            <a:endCxn id="214" idx="2"/>
          </p:cNvCxnSpPr>
          <p:nvPr/>
        </p:nvCxnSpPr>
        <p:spPr>
          <a:xfrm>
            <a:off x="3725850" y="6003689"/>
            <a:ext cx="4578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" name="Shape 220"/>
          <p:cNvCxnSpPr>
            <a:stCxn id="214" idx="3"/>
            <a:endCxn id="213" idx="3"/>
          </p:cNvCxnSpPr>
          <p:nvPr/>
        </p:nvCxnSpPr>
        <p:spPr>
          <a:xfrm flipH="1">
            <a:off x="3963592" y="6227280"/>
            <a:ext cx="323700" cy="290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1" name="Shape 221"/>
          <p:cNvCxnSpPr>
            <a:stCxn id="214" idx="4"/>
            <a:endCxn id="213" idx="4"/>
          </p:cNvCxnSpPr>
          <p:nvPr/>
        </p:nvCxnSpPr>
        <p:spPr>
          <a:xfrm>
            <a:off x="4537607" y="6319892"/>
            <a:ext cx="0" cy="410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2" name="Shape 222"/>
          <p:cNvCxnSpPr>
            <a:stCxn id="214" idx="5"/>
            <a:endCxn id="213" idx="5"/>
          </p:cNvCxnSpPr>
          <p:nvPr/>
        </p:nvCxnSpPr>
        <p:spPr>
          <a:xfrm>
            <a:off x="4787923" y="6227280"/>
            <a:ext cx="323700" cy="290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3" name="Shape 223"/>
          <p:cNvCxnSpPr>
            <a:stCxn id="212" idx="3"/>
            <a:endCxn id="213" idx="2"/>
          </p:cNvCxnSpPr>
          <p:nvPr/>
        </p:nvCxnSpPr>
        <p:spPr>
          <a:xfrm rot="10800000" flipH="1">
            <a:off x="2608199" y="6003549"/>
            <a:ext cx="1117800" cy="135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triangle" w="lg" len="lg"/>
          </a:ln>
        </p:spPr>
      </p:cxnSp>
      <p:grpSp>
        <p:nvGrpSpPr>
          <p:cNvPr id="224" name="Shape 224"/>
          <p:cNvGrpSpPr/>
          <p:nvPr/>
        </p:nvGrpSpPr>
        <p:grpSpPr>
          <a:xfrm>
            <a:off x="5349449" y="854312"/>
            <a:ext cx="2995150" cy="5149336"/>
            <a:chOff x="5349449" y="854312"/>
            <a:chExt cx="2995150" cy="5149336"/>
          </a:xfrm>
        </p:grpSpPr>
        <p:grpSp>
          <p:nvGrpSpPr>
            <p:cNvPr id="225" name="Shape 225"/>
            <p:cNvGrpSpPr/>
            <p:nvPr/>
          </p:nvGrpSpPr>
          <p:grpSpPr>
            <a:xfrm>
              <a:off x="5349449" y="854312"/>
              <a:ext cx="1843900" cy="5149336"/>
              <a:chOff x="5349449" y="854312"/>
              <a:chExt cx="1843900" cy="5149336"/>
            </a:xfrm>
          </p:grpSpPr>
          <p:cxnSp>
            <p:nvCxnSpPr>
              <p:cNvPr id="226" name="Shape 226"/>
              <p:cNvCxnSpPr/>
              <p:nvPr/>
            </p:nvCxnSpPr>
            <p:spPr>
              <a:xfrm rot="10800000">
                <a:off x="5349449" y="854312"/>
                <a:ext cx="1834200" cy="1547398"/>
              </a:xfrm>
              <a:prstGeom prst="straightConnector1">
                <a:avLst/>
              </a:prstGeom>
              <a:noFill/>
              <a:ln w="19050" cap="flat">
                <a:solidFill>
                  <a:srgbClr val="3C78D8"/>
                </a:solidFill>
                <a:prstDash val="solid"/>
                <a:round/>
                <a:headEnd type="none" w="med" len="med"/>
                <a:tailEnd type="triangle" w="lg" len="lg"/>
              </a:ln>
            </p:spPr>
          </p:cxnSp>
          <p:cxnSp>
            <p:nvCxnSpPr>
              <p:cNvPr id="227" name="Shape 227"/>
              <p:cNvCxnSpPr/>
              <p:nvPr/>
            </p:nvCxnSpPr>
            <p:spPr>
              <a:xfrm rot="10800000">
                <a:off x="5349449" y="2529933"/>
                <a:ext cx="1843800" cy="68400"/>
              </a:xfrm>
              <a:prstGeom prst="straightConnector1">
                <a:avLst/>
              </a:prstGeom>
              <a:noFill/>
              <a:ln w="19050" cap="flat">
                <a:solidFill>
                  <a:srgbClr val="3C78D8"/>
                </a:solidFill>
                <a:prstDash val="solid"/>
                <a:round/>
                <a:headEnd type="none" w="med" len="med"/>
                <a:tailEnd type="triangle" w="lg" len="lg"/>
              </a:ln>
            </p:spPr>
          </p:cxnSp>
          <p:cxnSp>
            <p:nvCxnSpPr>
              <p:cNvPr id="228" name="Shape 228"/>
              <p:cNvCxnSpPr/>
              <p:nvPr/>
            </p:nvCxnSpPr>
            <p:spPr>
              <a:xfrm flipH="1">
                <a:off x="5349449" y="3080611"/>
                <a:ext cx="1843800" cy="1186198"/>
              </a:xfrm>
              <a:prstGeom prst="straightConnector1">
                <a:avLst/>
              </a:prstGeom>
              <a:noFill/>
              <a:ln w="19050" cap="flat">
                <a:solidFill>
                  <a:srgbClr val="3C78D8"/>
                </a:solidFill>
                <a:prstDash val="solid"/>
                <a:round/>
                <a:headEnd type="none" w="med" len="med"/>
                <a:tailEnd type="triangle" w="lg" len="lg"/>
              </a:ln>
            </p:spPr>
          </p:cxnSp>
          <p:cxnSp>
            <p:nvCxnSpPr>
              <p:cNvPr id="229" name="Shape 229"/>
              <p:cNvCxnSpPr/>
              <p:nvPr/>
            </p:nvCxnSpPr>
            <p:spPr>
              <a:xfrm flipH="1">
                <a:off x="5349549" y="3287150"/>
                <a:ext cx="1843800" cy="2716498"/>
              </a:xfrm>
              <a:prstGeom prst="straightConnector1">
                <a:avLst/>
              </a:prstGeom>
              <a:noFill/>
              <a:ln w="19050" cap="flat">
                <a:solidFill>
                  <a:srgbClr val="3C78D8"/>
                </a:solidFill>
                <a:prstDash val="solid"/>
                <a:round/>
                <a:headEnd type="none" w="med" len="med"/>
                <a:tailEnd type="triangle" w="lg" len="lg"/>
              </a:ln>
            </p:spPr>
          </p:cxnSp>
        </p:grpSp>
        <p:sp>
          <p:nvSpPr>
            <p:cNvPr id="230" name="Shape 230"/>
            <p:cNvSpPr txBox="1"/>
            <p:nvPr/>
          </p:nvSpPr>
          <p:spPr>
            <a:xfrm>
              <a:off x="6307900" y="1278050"/>
              <a:ext cx="2036700" cy="819298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55CC"/>
                </a:buClr>
                <a:buSzPct val="25000"/>
                <a:buFont typeface="Arial"/>
                <a:buNone/>
              </a:pPr>
              <a:r>
                <a:rPr lang="zh-TW" sz="1400" b="1" i="0" u="none" strike="noStrike" cap="none" baseline="0">
                  <a:solidFill>
                    <a:srgbClr val="1155CC"/>
                  </a:solidFill>
                  <a:latin typeface="Arial"/>
                  <a:ea typeface="Arial"/>
                  <a:cs typeface="Arial"/>
                  <a:sym typeface="Arial"/>
                </a:rPr>
                <a:t>HSA device access application’s ring</a:t>
              </a:r>
            </a:p>
          </p:txBody>
        </p:sp>
      </p:grpSp>
      <p:grpSp>
        <p:nvGrpSpPr>
          <p:cNvPr id="231" name="Shape 231"/>
          <p:cNvGrpSpPr/>
          <p:nvPr/>
        </p:nvGrpSpPr>
        <p:grpSpPr>
          <a:xfrm>
            <a:off x="2529400" y="1132475"/>
            <a:ext cx="4644300" cy="4884573"/>
            <a:chOff x="2529400" y="1132475"/>
            <a:chExt cx="4644300" cy="4884573"/>
          </a:xfrm>
        </p:grpSpPr>
        <p:grpSp>
          <p:nvGrpSpPr>
            <p:cNvPr id="232" name="Shape 232"/>
            <p:cNvGrpSpPr/>
            <p:nvPr/>
          </p:nvGrpSpPr>
          <p:grpSpPr>
            <a:xfrm>
              <a:off x="2529400" y="1132475"/>
              <a:ext cx="4644300" cy="4884573"/>
              <a:chOff x="2529400" y="1132475"/>
              <a:chExt cx="4644300" cy="4884573"/>
            </a:xfrm>
          </p:grpSpPr>
          <p:cxnSp>
            <p:nvCxnSpPr>
              <p:cNvPr id="233" name="Shape 233"/>
              <p:cNvCxnSpPr/>
              <p:nvPr/>
            </p:nvCxnSpPr>
            <p:spPr>
              <a:xfrm>
                <a:off x="2529400" y="1132475"/>
                <a:ext cx="4644298" cy="1722599"/>
              </a:xfrm>
              <a:prstGeom prst="straightConnector1">
                <a:avLst/>
              </a:prstGeom>
              <a:noFill/>
              <a:ln w="19050" cap="flat">
                <a:solidFill>
                  <a:srgbClr val="E06666"/>
                </a:solidFill>
                <a:prstDash val="dot"/>
                <a:round/>
                <a:headEnd type="none" w="med" len="med"/>
                <a:tailEnd type="triangle" w="lg" len="lg"/>
              </a:ln>
            </p:spPr>
          </p:cxnSp>
          <p:cxnSp>
            <p:nvCxnSpPr>
              <p:cNvPr id="234" name="Shape 234"/>
              <p:cNvCxnSpPr/>
              <p:nvPr/>
            </p:nvCxnSpPr>
            <p:spPr>
              <a:xfrm>
                <a:off x="2588550" y="2736150"/>
                <a:ext cx="4506298" cy="108300"/>
              </a:xfrm>
              <a:prstGeom prst="straightConnector1">
                <a:avLst/>
              </a:prstGeom>
              <a:noFill/>
              <a:ln w="19050" cap="flat">
                <a:solidFill>
                  <a:srgbClr val="E06666"/>
                </a:solidFill>
                <a:prstDash val="dot"/>
                <a:round/>
                <a:headEnd type="none" w="med" len="med"/>
                <a:tailEnd type="triangle" w="lg" len="lg"/>
              </a:ln>
            </p:spPr>
          </p:cxnSp>
          <p:cxnSp>
            <p:nvCxnSpPr>
              <p:cNvPr id="235" name="Shape 235"/>
              <p:cNvCxnSpPr/>
              <p:nvPr/>
            </p:nvCxnSpPr>
            <p:spPr>
              <a:xfrm rot="10800000" flipH="1">
                <a:off x="2608300" y="2855073"/>
                <a:ext cx="4565400" cy="1199400"/>
              </a:xfrm>
              <a:prstGeom prst="straightConnector1">
                <a:avLst/>
              </a:prstGeom>
              <a:noFill/>
              <a:ln w="19050" cap="flat">
                <a:solidFill>
                  <a:srgbClr val="E06666"/>
                </a:solidFill>
                <a:prstDash val="dot"/>
                <a:round/>
                <a:headEnd type="none" w="med" len="med"/>
                <a:tailEnd type="triangle" w="lg" len="lg"/>
              </a:ln>
            </p:spPr>
          </p:cxnSp>
          <p:cxnSp>
            <p:nvCxnSpPr>
              <p:cNvPr id="236" name="Shape 236"/>
              <p:cNvCxnSpPr/>
              <p:nvPr/>
            </p:nvCxnSpPr>
            <p:spPr>
              <a:xfrm rot="10800000" flipH="1">
                <a:off x="2608200" y="2844248"/>
                <a:ext cx="4545900" cy="3172800"/>
              </a:xfrm>
              <a:prstGeom prst="straightConnector1">
                <a:avLst/>
              </a:prstGeom>
              <a:noFill/>
              <a:ln w="19050" cap="flat">
                <a:solidFill>
                  <a:srgbClr val="E06666"/>
                </a:solidFill>
                <a:prstDash val="dot"/>
                <a:round/>
                <a:headEnd type="none" w="med" len="med"/>
                <a:tailEnd type="triangle" w="lg" len="lg"/>
              </a:ln>
            </p:spPr>
          </p:cxnSp>
        </p:grpSp>
        <p:sp>
          <p:nvSpPr>
            <p:cNvPr id="237" name="Shape 237"/>
            <p:cNvSpPr txBox="1"/>
            <p:nvPr/>
          </p:nvSpPr>
          <p:spPr>
            <a:xfrm>
              <a:off x="5304600" y="2718711"/>
              <a:ext cx="1313398" cy="6324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06666"/>
                </a:buClr>
                <a:buSzPct val="25000"/>
                <a:buFont typeface="Arial"/>
                <a:buNone/>
              </a:pPr>
              <a:r>
                <a:rPr lang="zh-TW" sz="1400" b="1" i="0" u="none" strike="noStrike" cap="none" baseline="0">
                  <a:solidFill>
                    <a:srgbClr val="E06666"/>
                  </a:solidFill>
                  <a:latin typeface="Arial"/>
                  <a:ea typeface="Arial"/>
                  <a:cs typeface="Arial"/>
                  <a:sym typeface="Arial"/>
                </a:rPr>
                <a:t>Application kick doorbell</a:t>
              </a:r>
            </a:p>
          </p:txBody>
        </p:sp>
      </p:grpSp>
      <p:sp>
        <p:nvSpPr>
          <p:cNvPr id="238" name="Shape 238"/>
          <p:cNvSpPr txBox="1"/>
          <p:nvPr/>
        </p:nvSpPr>
        <p:spPr>
          <a:xfrm>
            <a:off x="6364150" y="0"/>
            <a:ext cx="2779799" cy="818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317500" rtl="0">
              <a:spcBef>
                <a:spcPts val="0"/>
              </a:spcBef>
              <a:buClr>
                <a:srgbClr val="FF0000"/>
              </a:buClr>
              <a:buSzPct val="100000"/>
              <a:buFont typeface="Arial"/>
              <a:buAutoNum type="arabicPeriod"/>
            </a:pPr>
            <a:r>
              <a:rPr lang="zh-TW" b="1">
                <a:solidFill>
                  <a:srgbClr val="FF0000"/>
                </a:solidFill>
              </a:rPr>
              <a:t>AQL Packet</a:t>
            </a:r>
          </a:p>
          <a:p>
            <a:pPr marL="457200" lvl="0" indent="-317500" rtl="0">
              <a:spcBef>
                <a:spcPts val="0"/>
              </a:spcBef>
              <a:buClr>
                <a:srgbClr val="FF0000"/>
              </a:buClr>
              <a:buSzPct val="100000"/>
              <a:buFont typeface="Arial"/>
              <a:buAutoNum type="arabicPeriod"/>
            </a:pPr>
            <a:r>
              <a:rPr lang="zh-TW" b="1">
                <a:solidFill>
                  <a:srgbClr val="FF0000"/>
                </a:solidFill>
              </a:rPr>
              <a:t>Ring (Application queue)</a:t>
            </a:r>
          </a:p>
          <a:p>
            <a:pPr marL="457200" lvl="0" indent="-317500" rtl="0">
              <a:spcBef>
                <a:spcPts val="0"/>
              </a:spcBef>
              <a:buClr>
                <a:srgbClr val="FF0000"/>
              </a:buClr>
              <a:buSzPct val="100000"/>
              <a:buFont typeface="Arial"/>
              <a:buAutoNum type="arabicPeriod"/>
            </a:pPr>
            <a:r>
              <a:rPr lang="zh-TW" b="1">
                <a:solidFill>
                  <a:srgbClr val="FF0000"/>
                </a:solidFill>
              </a:rPr>
              <a:t>Doorbell</a:t>
            </a:r>
          </a:p>
        </p:txBody>
      </p:sp>
      <p:sp>
        <p:nvSpPr>
          <p:cNvPr id="239" name="Shape 239"/>
          <p:cNvSpPr/>
          <p:nvPr/>
        </p:nvSpPr>
        <p:spPr>
          <a:xfrm>
            <a:off x="3834575" y="444725"/>
            <a:ext cx="323700" cy="410699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40" name="Shape 240"/>
          <p:cNvSpPr/>
          <p:nvPr/>
        </p:nvSpPr>
        <p:spPr>
          <a:xfrm>
            <a:off x="4186075" y="203975"/>
            <a:ext cx="323700" cy="410699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41" name="Shape 241"/>
          <p:cNvSpPr/>
          <p:nvPr/>
        </p:nvSpPr>
        <p:spPr>
          <a:xfrm>
            <a:off x="3792875" y="2098775"/>
            <a:ext cx="323700" cy="410699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42" name="Shape 242"/>
          <p:cNvSpPr/>
          <p:nvPr/>
        </p:nvSpPr>
        <p:spPr>
          <a:xfrm>
            <a:off x="3816975" y="3804475"/>
            <a:ext cx="323700" cy="410699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43" name="Shape 243"/>
          <p:cNvSpPr/>
          <p:nvPr/>
        </p:nvSpPr>
        <p:spPr>
          <a:xfrm>
            <a:off x="4177287" y="3556462"/>
            <a:ext cx="323700" cy="410699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44" name="Shape 244"/>
          <p:cNvSpPr/>
          <p:nvPr/>
        </p:nvSpPr>
        <p:spPr>
          <a:xfrm>
            <a:off x="4583200" y="3556450"/>
            <a:ext cx="323700" cy="410699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45" name="Shape 245"/>
          <p:cNvSpPr/>
          <p:nvPr/>
        </p:nvSpPr>
        <p:spPr>
          <a:xfrm>
            <a:off x="3816975" y="5593000"/>
            <a:ext cx="323700" cy="410699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46" name="Shape 246"/>
          <p:cNvSpPr/>
          <p:nvPr/>
        </p:nvSpPr>
        <p:spPr>
          <a:xfrm>
            <a:off x="4177287" y="5293350"/>
            <a:ext cx="323700" cy="410699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grpSp>
        <p:nvGrpSpPr>
          <p:cNvPr id="247" name="Shape 247"/>
          <p:cNvGrpSpPr/>
          <p:nvPr/>
        </p:nvGrpSpPr>
        <p:grpSpPr>
          <a:xfrm>
            <a:off x="6268375" y="1956600"/>
            <a:ext cx="2422800" cy="3994500"/>
            <a:chOff x="6268375" y="1956600"/>
            <a:chExt cx="2422800" cy="3994500"/>
          </a:xfrm>
        </p:grpSpPr>
        <p:cxnSp>
          <p:nvCxnSpPr>
            <p:cNvPr id="248" name="Shape 248"/>
            <p:cNvCxnSpPr>
              <a:stCxn id="249" idx="0"/>
            </p:cNvCxnSpPr>
            <p:nvPr/>
          </p:nvCxnSpPr>
          <p:spPr>
            <a:xfrm rot="10800000">
              <a:off x="6288175" y="3681600"/>
              <a:ext cx="1191600" cy="1637100"/>
            </a:xfrm>
            <a:prstGeom prst="straightConnector1">
              <a:avLst/>
            </a:prstGeom>
            <a:noFill/>
            <a:ln w="19050" cap="flat">
              <a:solidFill>
                <a:srgbClr val="E69138"/>
              </a:solidFill>
              <a:prstDash val="dot"/>
              <a:round/>
              <a:headEnd type="none" w="med" len="med"/>
              <a:tailEnd type="triangle" w="lg" len="lg"/>
            </a:ln>
          </p:spPr>
        </p:cxnSp>
        <p:cxnSp>
          <p:nvCxnSpPr>
            <p:cNvPr id="250" name="Shape 250"/>
            <p:cNvCxnSpPr>
              <a:stCxn id="249" idx="0"/>
            </p:cNvCxnSpPr>
            <p:nvPr/>
          </p:nvCxnSpPr>
          <p:spPr>
            <a:xfrm rot="10800000">
              <a:off x="6268375" y="4704600"/>
              <a:ext cx="1211400" cy="614100"/>
            </a:xfrm>
            <a:prstGeom prst="straightConnector1">
              <a:avLst/>
            </a:prstGeom>
            <a:noFill/>
            <a:ln w="19050" cap="flat">
              <a:solidFill>
                <a:srgbClr val="E69138"/>
              </a:solidFill>
              <a:prstDash val="dot"/>
              <a:round/>
              <a:headEnd type="none" w="med" len="med"/>
              <a:tailEnd type="triangle" w="lg" len="lg"/>
            </a:ln>
          </p:spPr>
        </p:cxnSp>
        <p:sp>
          <p:nvSpPr>
            <p:cNvPr id="249" name="Shape 249"/>
            <p:cNvSpPr txBox="1"/>
            <p:nvPr/>
          </p:nvSpPr>
          <p:spPr>
            <a:xfrm>
              <a:off x="6268375" y="5318700"/>
              <a:ext cx="2422800" cy="6324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9138"/>
                </a:buClr>
                <a:buSzPct val="25000"/>
                <a:buFont typeface="Arial"/>
                <a:buNone/>
              </a:pPr>
              <a:r>
                <a:rPr lang="zh-TW" sz="1400" b="0" i="0" u="none" strike="noStrike" cap="none" baseline="0">
                  <a:solidFill>
                    <a:srgbClr val="E69138"/>
                  </a:solidFill>
                  <a:latin typeface="Arial"/>
                  <a:ea typeface="Arial"/>
                  <a:cs typeface="Arial"/>
                  <a:sym typeface="Arial"/>
                </a:rPr>
                <a:t>IOMMU address translation 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9138"/>
                </a:buClr>
                <a:buSzPct val="25000"/>
                <a:buFont typeface="Arial"/>
                <a:buNone/>
              </a:pPr>
              <a:r>
                <a:rPr lang="zh-TW" sz="1400" b="0" i="0" u="none" strike="noStrike" cap="none" baseline="0">
                  <a:solidFill>
                    <a:srgbClr val="E69138"/>
                  </a:solidFill>
                  <a:latin typeface="Arial"/>
                  <a:ea typeface="Arial"/>
                  <a:cs typeface="Arial"/>
                  <a:sym typeface="Arial"/>
                </a:rPr>
                <a:t>(VA-&gt;PA)</a:t>
              </a:r>
            </a:p>
          </p:txBody>
        </p:sp>
        <p:cxnSp>
          <p:nvCxnSpPr>
            <p:cNvPr id="251" name="Shape 251"/>
            <p:cNvCxnSpPr>
              <a:stCxn id="249" idx="0"/>
            </p:cNvCxnSpPr>
            <p:nvPr/>
          </p:nvCxnSpPr>
          <p:spPr>
            <a:xfrm rot="10800000">
              <a:off x="6376075" y="2595000"/>
              <a:ext cx="1103700" cy="2723700"/>
            </a:xfrm>
            <a:prstGeom prst="straightConnector1">
              <a:avLst/>
            </a:prstGeom>
            <a:noFill/>
            <a:ln w="19050" cap="flat">
              <a:solidFill>
                <a:srgbClr val="E69138"/>
              </a:solidFill>
              <a:prstDash val="dot"/>
              <a:round/>
              <a:headEnd type="none" w="med" len="med"/>
              <a:tailEnd type="triangle" w="lg" len="lg"/>
            </a:ln>
          </p:spPr>
        </p:cxnSp>
        <p:cxnSp>
          <p:nvCxnSpPr>
            <p:cNvPr id="252" name="Shape 252"/>
            <p:cNvCxnSpPr>
              <a:stCxn id="249" idx="0"/>
            </p:cNvCxnSpPr>
            <p:nvPr/>
          </p:nvCxnSpPr>
          <p:spPr>
            <a:xfrm rot="10800000">
              <a:off x="6624175" y="1956600"/>
              <a:ext cx="855600" cy="3362100"/>
            </a:xfrm>
            <a:prstGeom prst="straightConnector1">
              <a:avLst/>
            </a:prstGeom>
            <a:noFill/>
            <a:ln w="19050" cap="flat">
              <a:solidFill>
                <a:srgbClr val="FF9900"/>
              </a:solidFill>
              <a:prstDash val="dot"/>
              <a:round/>
              <a:headEnd type="none" w="lg" len="lg"/>
              <a:tailEnd type="triangle" w="lg" len="lg"/>
            </a:ln>
          </p:spPr>
        </p:cxnSp>
      </p:grpSp>
      <p:cxnSp>
        <p:nvCxnSpPr>
          <p:cNvPr id="253" name="Shape 253"/>
          <p:cNvCxnSpPr>
            <a:stCxn id="254" idx="2"/>
            <a:endCxn id="176" idx="2"/>
          </p:cNvCxnSpPr>
          <p:nvPr/>
        </p:nvCxnSpPr>
        <p:spPr>
          <a:xfrm>
            <a:off x="3589725" y="679624"/>
            <a:ext cx="136200" cy="1745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54" name="Shape 254"/>
          <p:cNvSpPr txBox="1"/>
          <p:nvPr/>
        </p:nvSpPr>
        <p:spPr>
          <a:xfrm>
            <a:off x="3360825" y="444725"/>
            <a:ext cx="457800" cy="234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 sz="1000" b="1"/>
              <a:t>rptr</a:t>
            </a:r>
          </a:p>
        </p:txBody>
      </p:sp>
      <p:cxnSp>
        <p:nvCxnSpPr>
          <p:cNvPr id="255" name="Shape 255"/>
          <p:cNvCxnSpPr>
            <a:stCxn id="256" idx="2"/>
            <a:endCxn id="176" idx="0"/>
          </p:cNvCxnSpPr>
          <p:nvPr/>
        </p:nvCxnSpPr>
        <p:spPr>
          <a:xfrm rot="10800000" flipH="1">
            <a:off x="3679025" y="127474"/>
            <a:ext cx="858600" cy="993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56" name="Shape 256"/>
          <p:cNvSpPr txBox="1"/>
          <p:nvPr/>
        </p:nvSpPr>
        <p:spPr>
          <a:xfrm>
            <a:off x="3450125" y="-8125"/>
            <a:ext cx="457800" cy="234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000" b="1"/>
              <a:t>wptr</a:t>
            </a:r>
          </a:p>
        </p:txBody>
      </p:sp>
      <p:sp>
        <p:nvSpPr>
          <p:cNvPr id="257" name="Shape 257"/>
          <p:cNvSpPr txBox="1"/>
          <p:nvPr/>
        </p:nvSpPr>
        <p:spPr>
          <a:xfrm>
            <a:off x="3360825" y="2125212"/>
            <a:ext cx="457800" cy="234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000" b="1"/>
              <a:t>rptr</a:t>
            </a:r>
          </a:p>
        </p:txBody>
      </p:sp>
      <p:cxnSp>
        <p:nvCxnSpPr>
          <p:cNvPr id="258" name="Shape 258"/>
          <p:cNvCxnSpPr>
            <a:stCxn id="257" idx="2"/>
            <a:endCxn id="259" idx="2"/>
          </p:cNvCxnSpPr>
          <p:nvPr/>
        </p:nvCxnSpPr>
        <p:spPr>
          <a:xfrm>
            <a:off x="3589725" y="2360112"/>
            <a:ext cx="136200" cy="1746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60" name="Shape 260"/>
          <p:cNvSpPr txBox="1"/>
          <p:nvPr/>
        </p:nvSpPr>
        <p:spPr>
          <a:xfrm>
            <a:off x="3360825" y="3846475"/>
            <a:ext cx="457800" cy="234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000" b="1"/>
              <a:t>rptr</a:t>
            </a:r>
          </a:p>
        </p:txBody>
      </p:sp>
      <p:cxnSp>
        <p:nvCxnSpPr>
          <p:cNvPr id="261" name="Shape 261"/>
          <p:cNvCxnSpPr>
            <a:stCxn id="260" idx="2"/>
            <a:endCxn id="262" idx="2"/>
          </p:cNvCxnSpPr>
          <p:nvPr/>
        </p:nvCxnSpPr>
        <p:spPr>
          <a:xfrm>
            <a:off x="3589725" y="4081374"/>
            <a:ext cx="136200" cy="1746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63" name="Shape 263"/>
          <p:cNvSpPr txBox="1"/>
          <p:nvPr/>
        </p:nvSpPr>
        <p:spPr>
          <a:xfrm>
            <a:off x="3360825" y="5592975"/>
            <a:ext cx="457800" cy="234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000" b="1"/>
              <a:t>rptr</a:t>
            </a:r>
          </a:p>
        </p:txBody>
      </p:sp>
      <p:cxnSp>
        <p:nvCxnSpPr>
          <p:cNvPr id="264" name="Shape 264"/>
          <p:cNvCxnSpPr>
            <a:stCxn id="263" idx="2"/>
            <a:endCxn id="265" idx="2"/>
          </p:cNvCxnSpPr>
          <p:nvPr/>
        </p:nvCxnSpPr>
        <p:spPr>
          <a:xfrm>
            <a:off x="3589725" y="5827874"/>
            <a:ext cx="136200" cy="1746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66" name="Shape 266"/>
          <p:cNvSpPr txBox="1"/>
          <p:nvPr/>
        </p:nvSpPr>
        <p:spPr>
          <a:xfrm>
            <a:off x="3450125" y="1735762"/>
            <a:ext cx="457800" cy="234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000" b="1"/>
              <a:t>wptr</a:t>
            </a:r>
          </a:p>
        </p:txBody>
      </p:sp>
      <p:sp>
        <p:nvSpPr>
          <p:cNvPr id="267" name="Shape 267"/>
          <p:cNvSpPr txBox="1"/>
          <p:nvPr/>
        </p:nvSpPr>
        <p:spPr>
          <a:xfrm>
            <a:off x="5235575" y="3457300"/>
            <a:ext cx="457800" cy="234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000" b="1"/>
              <a:t>wptr</a:t>
            </a:r>
          </a:p>
        </p:txBody>
      </p:sp>
      <p:sp>
        <p:nvSpPr>
          <p:cNvPr id="268" name="Shape 268"/>
          <p:cNvSpPr txBox="1"/>
          <p:nvPr/>
        </p:nvSpPr>
        <p:spPr>
          <a:xfrm>
            <a:off x="4891600" y="5017800"/>
            <a:ext cx="457800" cy="234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000" b="1"/>
              <a:t>wptr</a:t>
            </a:r>
          </a:p>
        </p:txBody>
      </p:sp>
      <p:cxnSp>
        <p:nvCxnSpPr>
          <p:cNvPr id="269" name="Shape 269"/>
          <p:cNvCxnSpPr>
            <a:stCxn id="266" idx="2"/>
            <a:endCxn id="189" idx="1"/>
          </p:cNvCxnSpPr>
          <p:nvPr/>
        </p:nvCxnSpPr>
        <p:spPr>
          <a:xfrm>
            <a:off x="3679025" y="1970662"/>
            <a:ext cx="284700" cy="453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70" name="Shape 270"/>
          <p:cNvCxnSpPr>
            <a:stCxn id="267" idx="2"/>
            <a:endCxn id="201" idx="7"/>
          </p:cNvCxnSpPr>
          <p:nvPr/>
        </p:nvCxnSpPr>
        <p:spPr>
          <a:xfrm flipH="1">
            <a:off x="5111675" y="3692199"/>
            <a:ext cx="352800" cy="606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71" name="Shape 271"/>
          <p:cNvCxnSpPr>
            <a:stCxn id="268" idx="2"/>
            <a:endCxn id="213" idx="0"/>
          </p:cNvCxnSpPr>
          <p:nvPr/>
        </p:nvCxnSpPr>
        <p:spPr>
          <a:xfrm flipH="1">
            <a:off x="4537600" y="5252699"/>
            <a:ext cx="582900" cy="240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Shape 27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HSA Software Stack</a:t>
            </a:r>
          </a:p>
        </p:txBody>
      </p:sp>
      <p:sp>
        <p:nvSpPr>
          <p:cNvPr id="277" name="Shape 27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pic>
        <p:nvPicPr>
          <p:cNvPr id="278" name="Shape 2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0062" y="1503860"/>
            <a:ext cx="6083875" cy="516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28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/>
              <a:t>HSA Software Stack</a:t>
            </a:r>
          </a:p>
        </p:txBody>
      </p:sp>
      <p:sp>
        <p:nvSpPr>
          <p:cNvPr id="284" name="Shape 28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285" name="Shape 285"/>
          <p:cNvSpPr/>
          <p:nvPr/>
        </p:nvSpPr>
        <p:spPr>
          <a:xfrm>
            <a:off x="2115300" y="4429200"/>
            <a:ext cx="4913399" cy="939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endParaRPr b="1"/>
          </a:p>
          <a:p>
            <a:pPr lvl="0" algn="ctr" rtl="0">
              <a:spcBef>
                <a:spcPts val="0"/>
              </a:spcBef>
              <a:buNone/>
            </a:pPr>
            <a:r>
              <a:rPr lang="zh-TW" b="1"/>
              <a:t>HSA-aware Kernel </a:t>
            </a:r>
          </a:p>
        </p:txBody>
      </p:sp>
      <p:sp>
        <p:nvSpPr>
          <p:cNvPr id="286" name="Shape 286"/>
          <p:cNvSpPr/>
          <p:nvPr/>
        </p:nvSpPr>
        <p:spPr>
          <a:xfrm>
            <a:off x="2678225" y="4438600"/>
            <a:ext cx="1409399" cy="469799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/>
              <a:t>KFD  </a:t>
            </a:r>
          </a:p>
        </p:txBody>
      </p:sp>
      <p:sp>
        <p:nvSpPr>
          <p:cNvPr id="287" name="Shape 287"/>
          <p:cNvSpPr/>
          <p:nvPr/>
        </p:nvSpPr>
        <p:spPr>
          <a:xfrm>
            <a:off x="5139575" y="4438600"/>
            <a:ext cx="1475099" cy="469799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/>
              <a:t>IOMMU Driver</a:t>
            </a:r>
          </a:p>
        </p:txBody>
      </p:sp>
      <p:sp>
        <p:nvSpPr>
          <p:cNvPr id="288" name="Shape 288"/>
          <p:cNvSpPr/>
          <p:nvPr/>
        </p:nvSpPr>
        <p:spPr>
          <a:xfrm>
            <a:off x="2115300" y="2681825"/>
            <a:ext cx="4913399" cy="1371599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 b="1"/>
              <a:t>Runtime Library </a:t>
            </a:r>
          </a:p>
          <a:p>
            <a:pPr lvl="0" rtl="0">
              <a:spcBef>
                <a:spcPts val="0"/>
              </a:spcBef>
              <a:buNone/>
            </a:pPr>
            <a:endParaRPr b="1"/>
          </a:p>
          <a:p>
            <a:pPr lvl="0" rtl="0">
              <a:spcBef>
                <a:spcPts val="0"/>
              </a:spcBef>
              <a:buNone/>
            </a:pPr>
            <a:endParaRPr b="1"/>
          </a:p>
          <a:p>
            <a:pPr lvl="0" rtl="0">
              <a:spcBef>
                <a:spcPts val="0"/>
              </a:spcBef>
              <a:buNone/>
            </a:pPr>
            <a:endParaRPr b="1"/>
          </a:p>
        </p:txBody>
      </p:sp>
      <p:sp>
        <p:nvSpPr>
          <p:cNvPr id="289" name="Shape 289"/>
          <p:cNvSpPr/>
          <p:nvPr/>
        </p:nvSpPr>
        <p:spPr>
          <a:xfrm>
            <a:off x="2115300" y="3433375"/>
            <a:ext cx="4913399" cy="620099"/>
          </a:xfrm>
          <a:prstGeom prst="roundRect">
            <a:avLst>
              <a:gd name="adj" fmla="val 16667"/>
            </a:avLst>
          </a:prstGeom>
          <a:solidFill>
            <a:srgbClr val="CC00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457200" lvl="0" indent="-279400" rtl="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TW" sz="800" b="1">
                <a:solidFill>
                  <a:schemeClr val="lt1"/>
                </a:solidFill>
              </a:rPr>
              <a:t>open(“/dev/kfd”)</a:t>
            </a:r>
          </a:p>
          <a:p>
            <a:pPr marL="457200" lvl="0" indent="-279400" rtl="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TW" sz="800" b="1">
                <a:solidFill>
                  <a:schemeClr val="lt1"/>
                </a:solidFill>
              </a:rPr>
              <a:t>ioctl(KFD_IOC_SET_MEMORY_POLICY)</a:t>
            </a:r>
          </a:p>
          <a:p>
            <a:pPr marL="457200" lvl="0" indent="-279400" rtl="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TW" sz="800" b="1">
                <a:solidFill>
                  <a:schemeClr val="lt1"/>
                </a:solidFill>
              </a:rPr>
              <a:t>ioctl(KFD_IOC_CREATE_QUEUE)</a:t>
            </a:r>
          </a:p>
          <a:p>
            <a:pPr marL="457200" lvl="0" indent="-279400" rtl="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TW" sz="800" b="1">
                <a:solidFill>
                  <a:schemeClr val="lt1"/>
                </a:solidFill>
              </a:rPr>
              <a:t>ioctl(KFD_IOC_DESTROY_QUEUE)</a:t>
            </a:r>
          </a:p>
        </p:txBody>
      </p:sp>
      <p:sp>
        <p:nvSpPr>
          <p:cNvPr id="290" name="Shape 290"/>
          <p:cNvSpPr/>
          <p:nvPr/>
        </p:nvSpPr>
        <p:spPr>
          <a:xfrm>
            <a:off x="2115300" y="1600200"/>
            <a:ext cx="4913399" cy="7245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 b="1"/>
              <a:t>Application</a:t>
            </a:r>
          </a:p>
        </p:txBody>
      </p:sp>
      <p:cxnSp>
        <p:nvCxnSpPr>
          <p:cNvPr id="291" name="Shape 291"/>
          <p:cNvCxnSpPr>
            <a:stCxn id="290" idx="2"/>
            <a:endCxn id="288" idx="0"/>
          </p:cNvCxnSpPr>
          <p:nvPr/>
        </p:nvCxnSpPr>
        <p:spPr>
          <a:xfrm>
            <a:off x="4571999" y="2324700"/>
            <a:ext cx="0" cy="3570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triangle" w="lg" len="lg"/>
            <a:tailEnd type="triangle" w="lg" len="lg"/>
          </a:ln>
        </p:spPr>
      </p:cxnSp>
      <p:cxnSp>
        <p:nvCxnSpPr>
          <p:cNvPr id="292" name="Shape 292"/>
          <p:cNvCxnSpPr>
            <a:stCxn id="289" idx="2"/>
            <a:endCxn id="286" idx="0"/>
          </p:cNvCxnSpPr>
          <p:nvPr/>
        </p:nvCxnSpPr>
        <p:spPr>
          <a:xfrm flipH="1">
            <a:off x="3382799" y="4053474"/>
            <a:ext cx="1189200" cy="3852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triangle" w="lg" len="lg"/>
            <a:tailEnd type="triangle" w="lg" len="lg"/>
          </a:ln>
        </p:spPr>
      </p:cxnSp>
      <p:sp>
        <p:nvSpPr>
          <p:cNvPr id="293" name="Shape 293"/>
          <p:cNvSpPr/>
          <p:nvPr/>
        </p:nvSpPr>
        <p:spPr>
          <a:xfrm>
            <a:off x="2762825" y="5628600"/>
            <a:ext cx="1240199" cy="939300"/>
          </a:xfrm>
          <a:prstGeom prst="roundRect">
            <a:avLst>
              <a:gd name="adj" fmla="val 16667"/>
            </a:avLst>
          </a:prstGeom>
          <a:solidFill>
            <a:srgbClr val="3C78D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 b="1"/>
              <a:t>HSA Device</a:t>
            </a:r>
          </a:p>
        </p:txBody>
      </p:sp>
      <p:cxnSp>
        <p:nvCxnSpPr>
          <p:cNvPr id="294" name="Shape 294"/>
          <p:cNvCxnSpPr/>
          <p:nvPr/>
        </p:nvCxnSpPr>
        <p:spPr>
          <a:xfrm>
            <a:off x="4087625" y="4673500"/>
            <a:ext cx="1052099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triangle" w="lg" len="lg"/>
            <a:tailEnd type="triangle" w="lg" len="lg"/>
          </a:ln>
        </p:spPr>
      </p:cxnSp>
      <p:sp>
        <p:nvSpPr>
          <p:cNvPr id="295" name="Shape 295"/>
          <p:cNvSpPr/>
          <p:nvPr/>
        </p:nvSpPr>
        <p:spPr>
          <a:xfrm>
            <a:off x="5257025" y="5628600"/>
            <a:ext cx="1240199" cy="939300"/>
          </a:xfrm>
          <a:prstGeom prst="roundRect">
            <a:avLst>
              <a:gd name="adj" fmla="val 16667"/>
            </a:avLst>
          </a:prstGeom>
          <a:solidFill>
            <a:srgbClr val="3C78D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 b="1"/>
              <a:t>IOMMU</a:t>
            </a:r>
          </a:p>
        </p:txBody>
      </p:sp>
      <p:grpSp>
        <p:nvGrpSpPr>
          <p:cNvPr id="296" name="Shape 296"/>
          <p:cNvGrpSpPr/>
          <p:nvPr/>
        </p:nvGrpSpPr>
        <p:grpSpPr>
          <a:xfrm>
            <a:off x="3382925" y="4908400"/>
            <a:ext cx="2494200" cy="720299"/>
            <a:chOff x="3382925" y="4908400"/>
            <a:chExt cx="2494200" cy="720299"/>
          </a:xfrm>
        </p:grpSpPr>
        <p:cxnSp>
          <p:nvCxnSpPr>
            <p:cNvPr id="297" name="Shape 297"/>
            <p:cNvCxnSpPr/>
            <p:nvPr/>
          </p:nvCxnSpPr>
          <p:spPr>
            <a:xfrm>
              <a:off x="3382925" y="4908400"/>
              <a:ext cx="0" cy="720299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triangle" w="lg" len="lg"/>
              <a:tailEnd type="triangle" w="lg" len="lg"/>
            </a:ln>
          </p:spPr>
        </p:cxnSp>
        <p:cxnSp>
          <p:nvCxnSpPr>
            <p:cNvPr id="298" name="Shape 298"/>
            <p:cNvCxnSpPr/>
            <p:nvPr/>
          </p:nvCxnSpPr>
          <p:spPr>
            <a:xfrm>
              <a:off x="5877125" y="4908400"/>
              <a:ext cx="0" cy="720299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triangle" w="lg" len="lg"/>
            </a:ln>
          </p:spPr>
        </p:cxnSp>
      </p:grpSp>
      <p:grpSp>
        <p:nvGrpSpPr>
          <p:cNvPr id="299" name="Shape 299"/>
          <p:cNvGrpSpPr/>
          <p:nvPr/>
        </p:nvGrpSpPr>
        <p:grpSpPr>
          <a:xfrm>
            <a:off x="1344200" y="1955625"/>
            <a:ext cx="1437350" cy="4180436"/>
            <a:chOff x="1344200" y="1955625"/>
            <a:chExt cx="1437350" cy="4180436"/>
          </a:xfrm>
        </p:grpSpPr>
        <p:sp>
          <p:nvSpPr>
            <p:cNvPr id="300" name="Shape 300"/>
            <p:cNvSpPr/>
            <p:nvPr/>
          </p:nvSpPr>
          <p:spPr>
            <a:xfrm>
              <a:off x="1344200" y="1955625"/>
              <a:ext cx="1437350" cy="4180436"/>
            </a:xfrm>
            <a:custGeom>
              <a:avLst/>
              <a:gdLst/>
              <a:ahLst/>
              <a:cxnLst/>
              <a:rect l="0" t="0" r="0" b="0"/>
              <a:pathLst>
                <a:path w="57494" h="176241" extrusionOk="0">
                  <a:moveTo>
                    <a:pt x="31190" y="0"/>
                  </a:moveTo>
                  <a:lnTo>
                    <a:pt x="0" y="0"/>
                  </a:lnTo>
                  <a:lnTo>
                    <a:pt x="0" y="176241"/>
                  </a:lnTo>
                  <a:lnTo>
                    <a:pt x="57494" y="176241"/>
                  </a:lnTo>
                </a:path>
              </a:pathLst>
            </a:custGeom>
            <a:noFill/>
            <a:ln w="19050" cap="flat">
              <a:solidFill>
                <a:schemeClr val="dk2"/>
              </a:solidFill>
              <a:prstDash val="solid"/>
              <a:round/>
              <a:headEnd type="triangle" w="lg" len="lg"/>
              <a:tailEnd type="triangle" w="lg" len="lg"/>
            </a:ln>
          </p:spPr>
        </p:sp>
        <p:cxnSp>
          <p:nvCxnSpPr>
            <p:cNvPr id="301" name="Shape 301"/>
            <p:cNvCxnSpPr/>
            <p:nvPr/>
          </p:nvCxnSpPr>
          <p:spPr>
            <a:xfrm rot="10800000">
              <a:off x="1353649" y="3158125"/>
              <a:ext cx="779700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triangle" w="lg" len="lg"/>
              <a:tailEnd type="none" w="lg" len="lg"/>
            </a:ln>
          </p:spPr>
        </p:cxnSp>
      </p:grpSp>
      <p:sp>
        <p:nvSpPr>
          <p:cNvPr id="302" name="Shape 302"/>
          <p:cNvSpPr txBox="1"/>
          <p:nvPr/>
        </p:nvSpPr>
        <p:spPr>
          <a:xfrm>
            <a:off x="4980725" y="3600050"/>
            <a:ext cx="1726199" cy="307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 b="1"/>
              <a:t>libhsakmt</a:t>
            </a:r>
          </a:p>
        </p:txBody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30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/>
              <a:t>Agenda</a:t>
            </a:r>
          </a:p>
        </p:txBody>
      </p:sp>
      <p:sp>
        <p:nvSpPr>
          <p:cNvPr id="308" name="Shape 308"/>
          <p:cNvSpPr txBox="1">
            <a:spLocks noGrp="1"/>
          </p:cNvSpPr>
          <p:nvPr>
            <p:ph type="body" idx="1"/>
          </p:nvPr>
        </p:nvSpPr>
        <p:spPr>
          <a:xfrm>
            <a:off x="457200" y="14478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rgbClr val="EFEFEF"/>
              </a:buClr>
              <a:buSzPct val="100000"/>
              <a:buFont typeface="Arial"/>
              <a:buChar char="●"/>
            </a:pPr>
            <a:r>
              <a:rPr lang="zh-TW">
                <a:solidFill>
                  <a:srgbClr val="EFEFEF"/>
                </a:solidFill>
              </a:rPr>
              <a:t>Introduction to HSA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HSA Driver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Concepts</a:t>
            </a:r>
          </a:p>
          <a:p>
            <a:pPr marL="1371600" lvl="2" indent="-381000" rtl="0">
              <a:spcBef>
                <a:spcPts val="0"/>
              </a:spcBef>
              <a:buClr>
                <a:schemeClr val="dk1"/>
              </a:buClr>
              <a:buSzPct val="80000"/>
              <a:buFont typeface="Wingdings"/>
              <a:buChar char="§"/>
            </a:pPr>
            <a:r>
              <a:rPr lang="zh-TW"/>
              <a:t>Flow Overview</a:t>
            </a:r>
          </a:p>
          <a:p>
            <a:pPr marL="1371600" lvl="2" indent="-381000" rtl="0">
              <a:spcBef>
                <a:spcPts val="0"/>
              </a:spcBef>
              <a:buClr>
                <a:schemeClr val="dk1"/>
              </a:buClr>
              <a:buSzPct val="80000"/>
              <a:buFont typeface="Wingdings"/>
              <a:buChar char="§"/>
            </a:pPr>
            <a:r>
              <a:rPr lang="zh-TW"/>
              <a:t>User &amp; Hardware Queues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Source Code Detail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IOMMU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HSA Virtualization</a:t>
            </a:r>
          </a:p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Shape 3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314" name="Shape 31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Concepts - HSA Run Flow</a:t>
            </a:r>
          </a:p>
        </p:txBody>
      </p:sp>
      <p:sp>
        <p:nvSpPr>
          <p:cNvPr id="315" name="Shape 315"/>
          <p:cNvSpPr/>
          <p:nvPr/>
        </p:nvSpPr>
        <p:spPr>
          <a:xfrm>
            <a:off x="2516900" y="1942025"/>
            <a:ext cx="4108500" cy="976799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16" name="Shape 316"/>
          <p:cNvSpPr txBox="1"/>
          <p:nvPr/>
        </p:nvSpPr>
        <p:spPr>
          <a:xfrm>
            <a:off x="2538125" y="1940125"/>
            <a:ext cx="19002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 rtl="0">
              <a:spcBef>
                <a:spcPts val="0"/>
              </a:spcBef>
              <a:buNone/>
            </a:pPr>
            <a:endParaRPr sz="1200">
              <a:solidFill>
                <a:srgbClr val="A61C00"/>
              </a:solidFill>
            </a:endParaRPr>
          </a:p>
          <a:p>
            <a:pPr algn="ctr" rtl="0">
              <a:spcBef>
                <a:spcPts val="0"/>
              </a:spcBef>
              <a:buNone/>
            </a:pPr>
            <a:endParaRPr sz="1200">
              <a:solidFill>
                <a:srgbClr val="A61C00"/>
              </a:solidFill>
            </a:endParaRPr>
          </a:p>
          <a:p>
            <a:pPr algn="ctr" rtl="0">
              <a:spcBef>
                <a:spcPts val="0"/>
              </a:spcBef>
              <a:buNone/>
            </a:pPr>
            <a:r>
              <a:rPr lang="zh-TW" sz="1200">
                <a:solidFill>
                  <a:srgbClr val="A61C00"/>
                </a:solidFill>
              </a:rPr>
              <a:t>Create user queues</a:t>
            </a:r>
          </a:p>
        </p:txBody>
      </p:sp>
      <p:sp>
        <p:nvSpPr>
          <p:cNvPr id="317" name="Shape 317"/>
          <p:cNvSpPr txBox="1"/>
          <p:nvPr/>
        </p:nvSpPr>
        <p:spPr>
          <a:xfrm>
            <a:off x="4544525" y="1940125"/>
            <a:ext cx="21552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 rtl="0">
              <a:spcBef>
                <a:spcPts val="0"/>
              </a:spcBef>
              <a:buNone/>
            </a:pPr>
            <a:endParaRPr sz="1200">
              <a:solidFill>
                <a:srgbClr val="1155CC"/>
              </a:solidFill>
            </a:endParaRPr>
          </a:p>
          <a:p>
            <a:pPr lvl="0" algn="ctr" rtl="0">
              <a:spcBef>
                <a:spcPts val="0"/>
              </a:spcBef>
              <a:buNone/>
            </a:pPr>
            <a:r>
              <a:rPr lang="zh-TW" sz="1200">
                <a:solidFill>
                  <a:srgbClr val="1155CC"/>
                </a:solidFill>
              </a:rPr>
              <a:t>Create HW queue with user queue information</a:t>
            </a:r>
          </a:p>
          <a:p>
            <a:pPr lvl="0" algn="ctr" rtl="0">
              <a:spcBef>
                <a:spcPts val="0"/>
              </a:spcBef>
              <a:buNone/>
            </a:pPr>
            <a:endParaRPr sz="1200">
              <a:solidFill>
                <a:srgbClr val="1155CC"/>
              </a:solidFill>
            </a:endParaRPr>
          </a:p>
        </p:txBody>
      </p:sp>
      <p:cxnSp>
        <p:nvCxnSpPr>
          <p:cNvPr id="318" name="Shape 318"/>
          <p:cNvCxnSpPr>
            <a:endCxn id="315" idx="0"/>
          </p:cNvCxnSpPr>
          <p:nvPr/>
        </p:nvCxnSpPr>
        <p:spPr>
          <a:xfrm rot="10800000">
            <a:off x="4571150" y="1942024"/>
            <a:ext cx="0" cy="9768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19" name="Shape 319"/>
          <p:cNvSpPr/>
          <p:nvPr/>
        </p:nvSpPr>
        <p:spPr>
          <a:xfrm>
            <a:off x="2516900" y="3514450"/>
            <a:ext cx="4108500" cy="976799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320" name="Shape 320"/>
          <p:cNvSpPr txBox="1"/>
          <p:nvPr/>
        </p:nvSpPr>
        <p:spPr>
          <a:xfrm>
            <a:off x="2538125" y="3512550"/>
            <a:ext cx="19002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endParaRPr sz="1200">
              <a:solidFill>
                <a:srgbClr val="A61C00"/>
              </a:solidFill>
            </a:endParaRPr>
          </a:p>
          <a:p>
            <a:pPr lvl="0" algn="ctr" rtl="0">
              <a:spcBef>
                <a:spcPts val="0"/>
              </a:spcBef>
              <a:buNone/>
            </a:pPr>
            <a:r>
              <a:rPr lang="zh-TW" sz="1200">
                <a:solidFill>
                  <a:srgbClr val="A61C00"/>
                </a:solidFill>
              </a:rPr>
              <a:t>Enqueu AQL packets, kick doorbell, and wait signal</a:t>
            </a:r>
          </a:p>
        </p:txBody>
      </p:sp>
      <p:sp>
        <p:nvSpPr>
          <p:cNvPr id="321" name="Shape 321"/>
          <p:cNvSpPr txBox="1"/>
          <p:nvPr/>
        </p:nvSpPr>
        <p:spPr>
          <a:xfrm>
            <a:off x="4544525" y="3512550"/>
            <a:ext cx="2006399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endParaRPr sz="1200">
              <a:solidFill>
                <a:srgbClr val="1155CC"/>
              </a:solidFill>
            </a:endParaRPr>
          </a:p>
          <a:p>
            <a:pPr lvl="0" algn="ctr" rtl="0">
              <a:spcBef>
                <a:spcPts val="0"/>
              </a:spcBef>
              <a:buNone/>
            </a:pPr>
            <a:r>
              <a:rPr lang="zh-TW" sz="1200">
                <a:solidFill>
                  <a:srgbClr val="1155CC"/>
                </a:solidFill>
              </a:rPr>
              <a:t>Nothing</a:t>
            </a:r>
          </a:p>
        </p:txBody>
      </p:sp>
      <p:cxnSp>
        <p:nvCxnSpPr>
          <p:cNvPr id="322" name="Shape 322"/>
          <p:cNvCxnSpPr>
            <a:endCxn id="319" idx="0"/>
          </p:cNvCxnSpPr>
          <p:nvPr/>
        </p:nvCxnSpPr>
        <p:spPr>
          <a:xfrm rot="10800000">
            <a:off x="4571150" y="3514449"/>
            <a:ext cx="0" cy="9768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23" name="Shape 323"/>
          <p:cNvSpPr/>
          <p:nvPr/>
        </p:nvSpPr>
        <p:spPr>
          <a:xfrm>
            <a:off x="2516900" y="5086875"/>
            <a:ext cx="4108500" cy="976799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324" name="Shape 324"/>
          <p:cNvSpPr txBox="1"/>
          <p:nvPr/>
        </p:nvSpPr>
        <p:spPr>
          <a:xfrm>
            <a:off x="2538125" y="5084975"/>
            <a:ext cx="19002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endParaRPr sz="1200">
              <a:solidFill>
                <a:srgbClr val="A61C00"/>
              </a:solidFill>
            </a:endParaRPr>
          </a:p>
          <a:p>
            <a:pPr lvl="0" algn="ctr" rtl="0">
              <a:spcBef>
                <a:spcPts val="0"/>
              </a:spcBef>
              <a:buNone/>
            </a:pPr>
            <a:r>
              <a:rPr lang="zh-TW" sz="1200">
                <a:solidFill>
                  <a:srgbClr val="A61C00"/>
                </a:solidFill>
              </a:rPr>
              <a:t>Application finish and destroy queues</a:t>
            </a:r>
          </a:p>
        </p:txBody>
      </p:sp>
      <p:sp>
        <p:nvSpPr>
          <p:cNvPr id="325" name="Shape 325"/>
          <p:cNvSpPr txBox="1"/>
          <p:nvPr/>
        </p:nvSpPr>
        <p:spPr>
          <a:xfrm>
            <a:off x="4544525" y="5084975"/>
            <a:ext cx="2006399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endParaRPr sz="1200">
              <a:solidFill>
                <a:srgbClr val="1155CC"/>
              </a:solidFill>
            </a:endParaRPr>
          </a:p>
          <a:p>
            <a:pPr lvl="0" algn="ctr" rtl="0">
              <a:spcBef>
                <a:spcPts val="0"/>
              </a:spcBef>
              <a:buNone/>
            </a:pPr>
            <a:r>
              <a:rPr lang="zh-TW" sz="1200">
                <a:solidFill>
                  <a:srgbClr val="1155CC"/>
                </a:solidFill>
              </a:rPr>
              <a:t>Release HW queue</a:t>
            </a:r>
          </a:p>
        </p:txBody>
      </p:sp>
      <p:cxnSp>
        <p:nvCxnSpPr>
          <p:cNvPr id="326" name="Shape 326"/>
          <p:cNvCxnSpPr>
            <a:endCxn id="323" idx="0"/>
          </p:cNvCxnSpPr>
          <p:nvPr/>
        </p:nvCxnSpPr>
        <p:spPr>
          <a:xfrm rot="10800000">
            <a:off x="4571150" y="5086874"/>
            <a:ext cx="0" cy="9768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27" name="Shape 327"/>
          <p:cNvSpPr/>
          <p:nvPr/>
        </p:nvSpPr>
        <p:spPr>
          <a:xfrm>
            <a:off x="4395950" y="3016750"/>
            <a:ext cx="329100" cy="3741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28" name="Shape 328"/>
          <p:cNvSpPr/>
          <p:nvPr/>
        </p:nvSpPr>
        <p:spPr>
          <a:xfrm>
            <a:off x="4395950" y="4602012"/>
            <a:ext cx="329100" cy="3741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329" name="Shape 329"/>
          <p:cNvSpPr txBox="1"/>
          <p:nvPr/>
        </p:nvSpPr>
        <p:spPr>
          <a:xfrm>
            <a:off x="2506275" y="1496100"/>
            <a:ext cx="2064900" cy="37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zh-TW" b="1">
                <a:solidFill>
                  <a:srgbClr val="A61C00"/>
                </a:solidFill>
              </a:rPr>
              <a:t>User Space</a:t>
            </a:r>
          </a:p>
        </p:txBody>
      </p:sp>
      <p:sp>
        <p:nvSpPr>
          <p:cNvPr id="330" name="Shape 330"/>
          <p:cNvSpPr txBox="1"/>
          <p:nvPr/>
        </p:nvSpPr>
        <p:spPr>
          <a:xfrm>
            <a:off x="4571150" y="1496100"/>
            <a:ext cx="2064900" cy="37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 b="1">
                <a:solidFill>
                  <a:srgbClr val="1155CC"/>
                </a:solidFill>
              </a:rPr>
              <a:t>Kernel Space</a:t>
            </a:r>
          </a:p>
        </p:txBody>
      </p:sp>
      <p:sp>
        <p:nvSpPr>
          <p:cNvPr id="331" name="Shape 331"/>
          <p:cNvSpPr txBox="1"/>
          <p:nvPr/>
        </p:nvSpPr>
        <p:spPr>
          <a:xfrm>
            <a:off x="519425" y="2243375"/>
            <a:ext cx="2064900" cy="37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 b="1"/>
              <a:t>Initialization</a:t>
            </a:r>
          </a:p>
        </p:txBody>
      </p:sp>
      <p:sp>
        <p:nvSpPr>
          <p:cNvPr id="332" name="Shape 332"/>
          <p:cNvSpPr txBox="1"/>
          <p:nvPr/>
        </p:nvSpPr>
        <p:spPr>
          <a:xfrm>
            <a:off x="519425" y="3815800"/>
            <a:ext cx="2064900" cy="37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 b="1"/>
              <a:t>Computation</a:t>
            </a:r>
          </a:p>
        </p:txBody>
      </p:sp>
      <p:sp>
        <p:nvSpPr>
          <p:cNvPr id="333" name="Shape 333"/>
          <p:cNvSpPr txBox="1"/>
          <p:nvPr/>
        </p:nvSpPr>
        <p:spPr>
          <a:xfrm>
            <a:off x="519425" y="5469425"/>
            <a:ext cx="2064900" cy="37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 b="1"/>
              <a:t>Finish</a:t>
            </a:r>
          </a:p>
        </p:txBody>
      </p:sp>
      <p:sp>
        <p:nvSpPr>
          <p:cNvPr id="334" name="Shape 334"/>
          <p:cNvSpPr/>
          <p:nvPr/>
        </p:nvSpPr>
        <p:spPr>
          <a:xfrm>
            <a:off x="6435725" y="3273725"/>
            <a:ext cx="2440151" cy="1328292"/>
          </a:xfrm>
          <a:prstGeom prst="irregularSeal1">
            <a:avLst/>
          </a:prstGeom>
          <a:solidFill>
            <a:srgbClr val="F9CB9C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zh-TW" sz="1200" b="1">
                <a:solidFill>
                  <a:srgbClr val="FF0000"/>
                </a:solidFill>
              </a:rPr>
              <a:t>User - HW interaction</a:t>
            </a:r>
          </a:p>
        </p:txBody>
      </p:sp>
      <p:sp>
        <p:nvSpPr>
          <p:cNvPr id="335" name="Shape 335"/>
          <p:cNvSpPr/>
          <p:nvPr/>
        </p:nvSpPr>
        <p:spPr>
          <a:xfrm>
            <a:off x="4616250" y="1984350"/>
            <a:ext cx="2155200" cy="758999"/>
          </a:xfrm>
          <a:prstGeom prst="ellipse">
            <a:avLst/>
          </a:prstGeom>
          <a:noFill/>
          <a:ln w="19050" cap="flat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"/>
                                        <p:tgtEl>
                                          <p:spTgt spid="3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Shape 34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rtl="0">
              <a:spcBef>
                <a:spcPts val="0"/>
              </a:spcBef>
              <a:buNone/>
            </a:pPr>
            <a:r>
              <a:rPr lang="zh-TW"/>
              <a:t>Scheduled Policy</a:t>
            </a:r>
          </a:p>
          <a:p>
            <a:pPr>
              <a:spcBef>
                <a:spcPts val="0"/>
              </a:spcBef>
              <a:buNone/>
            </a:pPr>
            <a:r>
              <a:rPr lang="zh-TW"/>
              <a:t>(Queue Binding Policy)</a:t>
            </a:r>
          </a:p>
        </p:txBody>
      </p:sp>
      <p:sp>
        <p:nvSpPr>
          <p:cNvPr id="341" name="Shape 34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Hardware policy with oversubscription (more queues than HW slots) 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HW policy without oversubscription 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create_queue requests fail when run out of HW slots </a:t>
            </a:r>
          </a:p>
          <a:p>
            <a:pPr marL="457200" lvl="0" indent="-41910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SW policy, driver manually assigns queues to HW slots by programming HW configuration registers</a:t>
            </a:r>
          </a:p>
        </p:txBody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Shape 346"/>
          <p:cNvSpPr/>
          <p:nvPr/>
        </p:nvSpPr>
        <p:spPr>
          <a:xfrm>
            <a:off x="5391108" y="1204417"/>
            <a:ext cx="972899" cy="1909199"/>
          </a:xfrm>
          <a:prstGeom prst="rect">
            <a:avLst/>
          </a:prstGeom>
          <a:solidFill>
            <a:schemeClr val="lt2"/>
          </a:solidFill>
          <a:ln w="19050" cap="flat">
            <a:solidFill>
              <a:srgbClr val="3C78D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347" name="Shape 347"/>
          <p:cNvSpPr/>
          <p:nvPr/>
        </p:nvSpPr>
        <p:spPr>
          <a:xfrm>
            <a:off x="1141524" y="5720167"/>
            <a:ext cx="7311899" cy="786900"/>
          </a:xfrm>
          <a:prstGeom prst="rect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cxnSp>
        <p:nvCxnSpPr>
          <p:cNvPr id="348" name="Shape 348"/>
          <p:cNvCxnSpPr/>
          <p:nvPr/>
        </p:nvCxnSpPr>
        <p:spPr>
          <a:xfrm>
            <a:off x="1974423" y="5724965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49" name="Shape 349"/>
          <p:cNvCxnSpPr/>
          <p:nvPr/>
        </p:nvCxnSpPr>
        <p:spPr>
          <a:xfrm>
            <a:off x="1541943" y="5724965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50" name="Shape 350"/>
          <p:cNvCxnSpPr/>
          <p:nvPr/>
        </p:nvCxnSpPr>
        <p:spPr>
          <a:xfrm>
            <a:off x="4838949" y="5724965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51" name="Shape 351"/>
          <p:cNvCxnSpPr/>
          <p:nvPr/>
        </p:nvCxnSpPr>
        <p:spPr>
          <a:xfrm>
            <a:off x="6091769" y="5724965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52" name="Shape 352"/>
          <p:cNvCxnSpPr/>
          <p:nvPr/>
        </p:nvCxnSpPr>
        <p:spPr>
          <a:xfrm>
            <a:off x="7314114" y="5724965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53" name="Shape 353"/>
          <p:cNvCxnSpPr/>
          <p:nvPr/>
        </p:nvCxnSpPr>
        <p:spPr>
          <a:xfrm>
            <a:off x="8057439" y="5724965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54" name="Shape 354"/>
          <p:cNvCxnSpPr/>
          <p:nvPr/>
        </p:nvCxnSpPr>
        <p:spPr>
          <a:xfrm>
            <a:off x="7703464" y="5724965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55" name="Shape 355"/>
          <p:cNvCxnSpPr/>
          <p:nvPr/>
        </p:nvCxnSpPr>
        <p:spPr>
          <a:xfrm>
            <a:off x="6508264" y="5724965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56" name="Shape 356"/>
          <p:cNvCxnSpPr/>
          <p:nvPr/>
        </p:nvCxnSpPr>
        <p:spPr>
          <a:xfrm>
            <a:off x="6897614" y="5724965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57" name="Shape 357"/>
          <p:cNvCxnSpPr/>
          <p:nvPr/>
        </p:nvCxnSpPr>
        <p:spPr>
          <a:xfrm>
            <a:off x="5270677" y="5724965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58" name="Shape 358"/>
          <p:cNvCxnSpPr/>
          <p:nvPr/>
        </p:nvCxnSpPr>
        <p:spPr>
          <a:xfrm>
            <a:off x="5660027" y="5724965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59" name="Shape 359"/>
          <p:cNvSpPr/>
          <p:nvPr/>
        </p:nvSpPr>
        <p:spPr>
          <a:xfrm>
            <a:off x="2194550" y="5893514"/>
            <a:ext cx="2468900" cy="486525"/>
          </a:xfrm>
          <a:custGeom>
            <a:avLst/>
            <a:gdLst/>
            <a:ahLst/>
            <a:cxnLst/>
            <a:rect l="0" t="0" r="0" b="0"/>
            <a:pathLst>
              <a:path w="98756" h="19461" extrusionOk="0">
                <a:moveTo>
                  <a:pt x="0" y="12528"/>
                </a:moveTo>
                <a:cubicBezTo>
                  <a:pt x="4011" y="10463"/>
                  <a:pt x="14041" y="-981"/>
                  <a:pt x="24070" y="140"/>
                </a:cubicBezTo>
                <a:cubicBezTo>
                  <a:pt x="34099" y="1261"/>
                  <a:pt x="47726" y="17720"/>
                  <a:pt x="60174" y="19254"/>
                </a:cubicBezTo>
                <a:cubicBezTo>
                  <a:pt x="72621" y="20787"/>
                  <a:pt x="92325" y="10994"/>
                  <a:pt x="98756" y="9343"/>
                </a:cubicBezTo>
              </a:path>
            </a:pathLst>
          </a:cu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sp>
      <p:sp>
        <p:nvSpPr>
          <p:cNvPr id="360" name="Shape 360"/>
          <p:cNvSpPr/>
          <p:nvPr/>
        </p:nvSpPr>
        <p:spPr>
          <a:xfrm>
            <a:off x="5274025" y="5724967"/>
            <a:ext cx="2429400" cy="791700"/>
          </a:xfrm>
          <a:prstGeom prst="rect">
            <a:avLst/>
          </a:prstGeom>
          <a:noFill/>
          <a:ln w="19050" cap="flat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61" name="Shape 361"/>
          <p:cNvSpPr txBox="1"/>
          <p:nvPr/>
        </p:nvSpPr>
        <p:spPr>
          <a:xfrm>
            <a:off x="5274025" y="6587242"/>
            <a:ext cx="2429400" cy="274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 sz="800">
                <a:solidFill>
                  <a:srgbClr val="FF0000"/>
                </a:solidFill>
              </a:rPr>
              <a:t>HSA GPU’s configuration register mmio address </a:t>
            </a:r>
          </a:p>
        </p:txBody>
      </p:sp>
      <p:grpSp>
        <p:nvGrpSpPr>
          <p:cNvPr id="362" name="Shape 362"/>
          <p:cNvGrpSpPr/>
          <p:nvPr/>
        </p:nvGrpSpPr>
        <p:grpSpPr>
          <a:xfrm>
            <a:off x="0" y="4190417"/>
            <a:ext cx="2117399" cy="1045175"/>
            <a:chOff x="3513300" y="3841750"/>
            <a:chExt cx="2117399" cy="1045175"/>
          </a:xfrm>
        </p:grpSpPr>
        <p:grpSp>
          <p:nvGrpSpPr>
            <p:cNvPr id="363" name="Shape 363"/>
            <p:cNvGrpSpPr/>
            <p:nvPr/>
          </p:nvGrpSpPr>
          <p:grpSpPr>
            <a:xfrm>
              <a:off x="3513300" y="3841750"/>
              <a:ext cx="2117399" cy="552024"/>
              <a:chOff x="6335925" y="5615800"/>
              <a:chExt cx="2117399" cy="552024"/>
            </a:xfrm>
          </p:grpSpPr>
          <p:sp>
            <p:nvSpPr>
              <p:cNvPr id="364" name="Shape 364"/>
              <p:cNvSpPr/>
              <p:nvPr/>
            </p:nvSpPr>
            <p:spPr>
              <a:xfrm>
                <a:off x="6335925" y="5615800"/>
                <a:ext cx="2117399" cy="545399"/>
              </a:xfrm>
              <a:prstGeom prst="rect">
                <a:avLst/>
              </a:prstGeom>
              <a:solidFill>
                <a:schemeClr val="lt2"/>
              </a:solidFill>
              <a:ln w="19050" cap="flat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/>
              </a:p>
            </p:txBody>
          </p:sp>
          <p:cxnSp>
            <p:nvCxnSpPr>
              <p:cNvPr id="365" name="Shape 365"/>
              <p:cNvCxnSpPr/>
              <p:nvPr/>
            </p:nvCxnSpPr>
            <p:spPr>
              <a:xfrm>
                <a:off x="6681025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366" name="Shape 366"/>
              <p:cNvCxnSpPr/>
              <p:nvPr/>
            </p:nvCxnSpPr>
            <p:spPr>
              <a:xfrm>
                <a:off x="7043825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367" name="Shape 367"/>
              <p:cNvCxnSpPr/>
              <p:nvPr/>
            </p:nvCxnSpPr>
            <p:spPr>
              <a:xfrm>
                <a:off x="7406650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368" name="Shape 368"/>
              <p:cNvCxnSpPr/>
              <p:nvPr/>
            </p:nvCxnSpPr>
            <p:spPr>
              <a:xfrm>
                <a:off x="7769450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369" name="Shape 369"/>
              <p:cNvCxnSpPr/>
              <p:nvPr/>
            </p:nvCxnSpPr>
            <p:spPr>
              <a:xfrm>
                <a:off x="8123425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</p:grpSp>
        <p:sp>
          <p:nvSpPr>
            <p:cNvPr id="370" name="Shape 370"/>
            <p:cNvSpPr txBox="1"/>
            <p:nvPr/>
          </p:nvSpPr>
          <p:spPr>
            <a:xfrm>
              <a:off x="3557300" y="4400325"/>
              <a:ext cx="1991099" cy="4866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rPr lang="zh-TW" sz="1000">
                  <a:solidFill>
                    <a:srgbClr val="FF0000"/>
                  </a:solidFill>
                </a:rPr>
                <a:t>Free hardware queue_id bitmap</a:t>
              </a:r>
            </a:p>
            <a:p>
              <a:pPr>
                <a:spcBef>
                  <a:spcPts val="0"/>
                </a:spcBef>
                <a:buNone/>
              </a:pPr>
              <a:endParaRPr sz="1000">
                <a:solidFill>
                  <a:srgbClr val="FF0000"/>
                </a:solidFill>
              </a:endParaRPr>
            </a:p>
          </p:txBody>
        </p:sp>
      </p:grpSp>
      <p:sp>
        <p:nvSpPr>
          <p:cNvPr id="371" name="Shape 371"/>
          <p:cNvSpPr txBox="1"/>
          <p:nvPr/>
        </p:nvSpPr>
        <p:spPr>
          <a:xfrm>
            <a:off x="5206675" y="5746567"/>
            <a:ext cx="735899" cy="753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800" b="1">
              <a:solidFill>
                <a:srgbClr val="1155CC"/>
              </a:solidFill>
            </a:endParaRPr>
          </a:p>
        </p:txBody>
      </p:sp>
      <p:sp>
        <p:nvSpPr>
          <p:cNvPr id="372" name="Shape 372"/>
          <p:cNvSpPr/>
          <p:nvPr/>
        </p:nvSpPr>
        <p:spPr>
          <a:xfrm>
            <a:off x="1212825" y="1204417"/>
            <a:ext cx="972899" cy="1909199"/>
          </a:xfrm>
          <a:prstGeom prst="rect">
            <a:avLst/>
          </a:prstGeom>
          <a:solidFill>
            <a:schemeClr val="lt2"/>
          </a:solidFill>
          <a:ln w="19050" cap="flat">
            <a:solidFill>
              <a:srgbClr val="B45F0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cxnSp>
        <p:nvCxnSpPr>
          <p:cNvPr id="373" name="Shape 373"/>
          <p:cNvCxnSpPr/>
          <p:nvPr/>
        </p:nvCxnSpPr>
        <p:spPr>
          <a:xfrm>
            <a:off x="1203225" y="2806842"/>
            <a:ext cx="9921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74" name="Shape 374"/>
          <p:cNvCxnSpPr/>
          <p:nvPr/>
        </p:nvCxnSpPr>
        <p:spPr>
          <a:xfrm>
            <a:off x="1203225" y="2501617"/>
            <a:ext cx="9921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75" name="Shape 375"/>
          <p:cNvSpPr txBox="1"/>
          <p:nvPr/>
        </p:nvSpPr>
        <p:spPr>
          <a:xfrm>
            <a:off x="1183800" y="2779867"/>
            <a:ext cx="992100" cy="3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doorbell</a:t>
            </a:r>
          </a:p>
        </p:txBody>
      </p:sp>
      <p:sp>
        <p:nvSpPr>
          <p:cNvPr id="376" name="Shape 376"/>
          <p:cNvSpPr txBox="1"/>
          <p:nvPr/>
        </p:nvSpPr>
        <p:spPr>
          <a:xfrm>
            <a:off x="1183800" y="2501617"/>
            <a:ext cx="1159500" cy="3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ring_base_address</a:t>
            </a:r>
          </a:p>
        </p:txBody>
      </p:sp>
      <p:sp>
        <p:nvSpPr>
          <p:cNvPr id="377" name="Shape 377"/>
          <p:cNvSpPr/>
          <p:nvPr/>
        </p:nvSpPr>
        <p:spPr>
          <a:xfrm>
            <a:off x="1527600" y="1259621"/>
            <a:ext cx="327622" cy="661378"/>
          </a:xfrm>
          <a:custGeom>
            <a:avLst/>
            <a:gdLst/>
            <a:ahLst/>
            <a:cxnLst/>
            <a:rect l="0" t="0" r="0" b="0"/>
            <a:pathLst>
              <a:path w="13481" h="25563" extrusionOk="0">
                <a:moveTo>
                  <a:pt x="7487" y="0"/>
                </a:moveTo>
                <a:cubicBezTo>
                  <a:pt x="6278" y="1526"/>
                  <a:pt x="-715" y="6995"/>
                  <a:pt x="238" y="9157"/>
                </a:cubicBezTo>
                <a:cubicBezTo>
                  <a:pt x="1191" y="11319"/>
                  <a:pt x="12129" y="10237"/>
                  <a:pt x="13210" y="12972"/>
                </a:cubicBezTo>
                <a:cubicBezTo>
                  <a:pt x="14291" y="15706"/>
                  <a:pt x="7805" y="23464"/>
                  <a:pt x="6724" y="25563"/>
                </a:cubicBezTo>
              </a:path>
            </a:pathLst>
          </a:cu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sp>
      <p:sp>
        <p:nvSpPr>
          <p:cNvPr id="378" name="Shape 378"/>
          <p:cNvSpPr txBox="1"/>
          <p:nvPr/>
        </p:nvSpPr>
        <p:spPr>
          <a:xfrm>
            <a:off x="1141525" y="771492"/>
            <a:ext cx="1201799" cy="53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000">
                <a:solidFill>
                  <a:srgbClr val="B45F06"/>
                </a:solidFill>
              </a:rPr>
              <a:t>pasid=0</a:t>
            </a:r>
          </a:p>
          <a:p>
            <a:pPr lvl="0" rtl="0">
              <a:spcBef>
                <a:spcPts val="0"/>
              </a:spcBef>
              <a:buNone/>
            </a:pPr>
            <a:r>
              <a:rPr lang="zh-TW" sz="1000">
                <a:solidFill>
                  <a:srgbClr val="B45F06"/>
                </a:solidFill>
              </a:rPr>
              <a:t>queue_id=0</a:t>
            </a:r>
          </a:p>
        </p:txBody>
      </p:sp>
      <p:sp>
        <p:nvSpPr>
          <p:cNvPr id="379" name="Shape 379"/>
          <p:cNvSpPr/>
          <p:nvPr/>
        </p:nvSpPr>
        <p:spPr>
          <a:xfrm>
            <a:off x="3301966" y="1204417"/>
            <a:ext cx="972899" cy="1909199"/>
          </a:xfrm>
          <a:prstGeom prst="rect">
            <a:avLst/>
          </a:prstGeom>
          <a:solidFill>
            <a:schemeClr val="lt2"/>
          </a:solidFill>
          <a:ln w="19050" cap="flat">
            <a:solidFill>
              <a:srgbClr val="B45F0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cxnSp>
        <p:nvCxnSpPr>
          <p:cNvPr id="380" name="Shape 380"/>
          <p:cNvCxnSpPr/>
          <p:nvPr/>
        </p:nvCxnSpPr>
        <p:spPr>
          <a:xfrm>
            <a:off x="3292366" y="2806842"/>
            <a:ext cx="9921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81" name="Shape 381"/>
          <p:cNvCxnSpPr/>
          <p:nvPr/>
        </p:nvCxnSpPr>
        <p:spPr>
          <a:xfrm>
            <a:off x="3292366" y="2501617"/>
            <a:ext cx="9921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82" name="Shape 382"/>
          <p:cNvSpPr txBox="1"/>
          <p:nvPr/>
        </p:nvSpPr>
        <p:spPr>
          <a:xfrm>
            <a:off x="3272941" y="2779867"/>
            <a:ext cx="992100" cy="3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doorbell</a:t>
            </a:r>
          </a:p>
        </p:txBody>
      </p:sp>
      <p:sp>
        <p:nvSpPr>
          <p:cNvPr id="383" name="Shape 383"/>
          <p:cNvSpPr txBox="1"/>
          <p:nvPr/>
        </p:nvSpPr>
        <p:spPr>
          <a:xfrm>
            <a:off x="3272941" y="2501617"/>
            <a:ext cx="1159500" cy="3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ring_base_address</a:t>
            </a:r>
          </a:p>
        </p:txBody>
      </p:sp>
      <p:sp>
        <p:nvSpPr>
          <p:cNvPr id="384" name="Shape 384"/>
          <p:cNvSpPr txBox="1"/>
          <p:nvPr/>
        </p:nvSpPr>
        <p:spPr>
          <a:xfrm>
            <a:off x="3230666" y="771492"/>
            <a:ext cx="1201799" cy="53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000">
                <a:solidFill>
                  <a:srgbClr val="B45F06"/>
                </a:solidFill>
              </a:rPr>
              <a:t>pasid=0</a:t>
            </a:r>
          </a:p>
          <a:p>
            <a:pPr lvl="0" rtl="0">
              <a:spcBef>
                <a:spcPts val="0"/>
              </a:spcBef>
              <a:buNone/>
            </a:pPr>
            <a:r>
              <a:rPr lang="zh-TW" sz="1000">
                <a:solidFill>
                  <a:srgbClr val="B45F06"/>
                </a:solidFill>
              </a:rPr>
              <a:t>queue_id=1</a:t>
            </a:r>
          </a:p>
        </p:txBody>
      </p:sp>
      <p:cxnSp>
        <p:nvCxnSpPr>
          <p:cNvPr id="385" name="Shape 385"/>
          <p:cNvCxnSpPr/>
          <p:nvPr/>
        </p:nvCxnSpPr>
        <p:spPr>
          <a:xfrm>
            <a:off x="5381508" y="2806842"/>
            <a:ext cx="9921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86" name="Shape 386"/>
          <p:cNvCxnSpPr/>
          <p:nvPr/>
        </p:nvCxnSpPr>
        <p:spPr>
          <a:xfrm>
            <a:off x="5381508" y="2501617"/>
            <a:ext cx="9921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87" name="Shape 387"/>
          <p:cNvSpPr txBox="1"/>
          <p:nvPr/>
        </p:nvSpPr>
        <p:spPr>
          <a:xfrm>
            <a:off x="5362083" y="2779867"/>
            <a:ext cx="992100" cy="3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doorbell</a:t>
            </a:r>
          </a:p>
        </p:txBody>
      </p:sp>
      <p:sp>
        <p:nvSpPr>
          <p:cNvPr id="388" name="Shape 388"/>
          <p:cNvSpPr txBox="1"/>
          <p:nvPr/>
        </p:nvSpPr>
        <p:spPr>
          <a:xfrm>
            <a:off x="5362083" y="2501617"/>
            <a:ext cx="1159500" cy="3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ring_base_address</a:t>
            </a:r>
          </a:p>
        </p:txBody>
      </p:sp>
      <p:sp>
        <p:nvSpPr>
          <p:cNvPr id="389" name="Shape 389"/>
          <p:cNvSpPr txBox="1"/>
          <p:nvPr/>
        </p:nvSpPr>
        <p:spPr>
          <a:xfrm>
            <a:off x="5347270" y="771492"/>
            <a:ext cx="1201799" cy="53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000">
                <a:solidFill>
                  <a:srgbClr val="3C78D8"/>
                </a:solidFill>
              </a:rPr>
              <a:t>pasid=1</a:t>
            </a:r>
          </a:p>
          <a:p>
            <a:pPr lvl="0" rtl="0">
              <a:spcBef>
                <a:spcPts val="0"/>
              </a:spcBef>
              <a:buNone/>
            </a:pPr>
            <a:r>
              <a:rPr lang="zh-TW" sz="1000">
                <a:solidFill>
                  <a:srgbClr val="3C78D8"/>
                </a:solidFill>
              </a:rPr>
              <a:t>queue_id=0</a:t>
            </a:r>
          </a:p>
        </p:txBody>
      </p:sp>
      <p:sp>
        <p:nvSpPr>
          <p:cNvPr id="390" name="Shape 390"/>
          <p:cNvSpPr/>
          <p:nvPr/>
        </p:nvSpPr>
        <p:spPr>
          <a:xfrm>
            <a:off x="7480250" y="1204417"/>
            <a:ext cx="972899" cy="1909199"/>
          </a:xfrm>
          <a:prstGeom prst="rect">
            <a:avLst/>
          </a:prstGeom>
          <a:solidFill>
            <a:schemeClr val="lt2"/>
          </a:solidFill>
          <a:ln w="19050" cap="flat">
            <a:solidFill>
              <a:srgbClr val="3C78D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cxnSp>
        <p:nvCxnSpPr>
          <p:cNvPr id="391" name="Shape 391"/>
          <p:cNvCxnSpPr/>
          <p:nvPr/>
        </p:nvCxnSpPr>
        <p:spPr>
          <a:xfrm>
            <a:off x="7470650" y="2806842"/>
            <a:ext cx="9921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92" name="Shape 392"/>
          <p:cNvCxnSpPr/>
          <p:nvPr/>
        </p:nvCxnSpPr>
        <p:spPr>
          <a:xfrm>
            <a:off x="7470650" y="2501617"/>
            <a:ext cx="9921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93" name="Shape 393"/>
          <p:cNvSpPr txBox="1"/>
          <p:nvPr/>
        </p:nvSpPr>
        <p:spPr>
          <a:xfrm>
            <a:off x="7451225" y="2779867"/>
            <a:ext cx="992100" cy="3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doorbell</a:t>
            </a:r>
          </a:p>
        </p:txBody>
      </p:sp>
      <p:sp>
        <p:nvSpPr>
          <p:cNvPr id="394" name="Shape 394"/>
          <p:cNvSpPr txBox="1"/>
          <p:nvPr/>
        </p:nvSpPr>
        <p:spPr>
          <a:xfrm>
            <a:off x="7451225" y="2501617"/>
            <a:ext cx="1159500" cy="3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ring_base_address</a:t>
            </a:r>
          </a:p>
        </p:txBody>
      </p:sp>
      <p:sp>
        <p:nvSpPr>
          <p:cNvPr id="395" name="Shape 395"/>
          <p:cNvSpPr txBox="1"/>
          <p:nvPr/>
        </p:nvSpPr>
        <p:spPr>
          <a:xfrm>
            <a:off x="7408950" y="771492"/>
            <a:ext cx="1201799" cy="53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000">
                <a:solidFill>
                  <a:srgbClr val="3C78D8"/>
                </a:solidFill>
              </a:rPr>
              <a:t>pasid=1</a:t>
            </a:r>
          </a:p>
          <a:p>
            <a:pPr lvl="0" rtl="0">
              <a:spcBef>
                <a:spcPts val="0"/>
              </a:spcBef>
              <a:buNone/>
            </a:pPr>
            <a:r>
              <a:rPr lang="zh-TW" sz="1000">
                <a:solidFill>
                  <a:srgbClr val="3C78D8"/>
                </a:solidFill>
              </a:rPr>
              <a:t>queue_id=1</a:t>
            </a:r>
          </a:p>
        </p:txBody>
      </p:sp>
      <p:cxnSp>
        <p:nvCxnSpPr>
          <p:cNvPr id="396" name="Shape 396"/>
          <p:cNvCxnSpPr/>
          <p:nvPr/>
        </p:nvCxnSpPr>
        <p:spPr>
          <a:xfrm>
            <a:off x="187775" y="771767"/>
            <a:ext cx="7871400" cy="197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97" name="Shape 397"/>
          <p:cNvCxnSpPr/>
          <p:nvPr/>
        </p:nvCxnSpPr>
        <p:spPr>
          <a:xfrm rot="10800000">
            <a:off x="1732550" y="781567"/>
            <a:ext cx="0" cy="2460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98" name="Shape 398"/>
          <p:cNvCxnSpPr/>
          <p:nvPr/>
        </p:nvCxnSpPr>
        <p:spPr>
          <a:xfrm rot="10800000">
            <a:off x="3859025" y="781567"/>
            <a:ext cx="0" cy="2460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99" name="Shape 399"/>
          <p:cNvCxnSpPr/>
          <p:nvPr/>
        </p:nvCxnSpPr>
        <p:spPr>
          <a:xfrm rot="10800000">
            <a:off x="5948175" y="781567"/>
            <a:ext cx="0" cy="2460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00" name="Shape 400"/>
          <p:cNvCxnSpPr/>
          <p:nvPr/>
        </p:nvCxnSpPr>
        <p:spPr>
          <a:xfrm rot="10800000">
            <a:off x="8057450" y="781567"/>
            <a:ext cx="0" cy="2460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01" name="Shape 401"/>
          <p:cNvCxnSpPr/>
          <p:nvPr/>
        </p:nvCxnSpPr>
        <p:spPr>
          <a:xfrm rot="10800000">
            <a:off x="177925" y="761942"/>
            <a:ext cx="0" cy="29616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02" name="Shape 402"/>
          <p:cNvCxnSpPr/>
          <p:nvPr/>
        </p:nvCxnSpPr>
        <p:spPr>
          <a:xfrm rot="10800000" flipH="1">
            <a:off x="187775" y="3713642"/>
            <a:ext cx="1052699" cy="98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03" name="Shape 403"/>
          <p:cNvCxnSpPr/>
          <p:nvPr/>
        </p:nvCxnSpPr>
        <p:spPr>
          <a:xfrm>
            <a:off x="187775" y="3723542"/>
            <a:ext cx="0" cy="4820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04" name="Shape 404"/>
          <p:cNvCxnSpPr/>
          <p:nvPr/>
        </p:nvCxnSpPr>
        <p:spPr>
          <a:xfrm>
            <a:off x="522325" y="3723542"/>
            <a:ext cx="0" cy="4820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05" name="Shape 405"/>
          <p:cNvCxnSpPr/>
          <p:nvPr/>
        </p:nvCxnSpPr>
        <p:spPr>
          <a:xfrm>
            <a:off x="906075" y="3723542"/>
            <a:ext cx="0" cy="4820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06" name="Shape 406"/>
          <p:cNvCxnSpPr/>
          <p:nvPr/>
        </p:nvCxnSpPr>
        <p:spPr>
          <a:xfrm>
            <a:off x="1240475" y="3723542"/>
            <a:ext cx="0" cy="4820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07" name="Shape 407"/>
          <p:cNvSpPr/>
          <p:nvPr/>
        </p:nvSpPr>
        <p:spPr>
          <a:xfrm>
            <a:off x="3602700" y="1259622"/>
            <a:ext cx="327622" cy="661378"/>
          </a:xfrm>
          <a:custGeom>
            <a:avLst/>
            <a:gdLst/>
            <a:ahLst/>
            <a:cxnLst/>
            <a:rect l="0" t="0" r="0" b="0"/>
            <a:pathLst>
              <a:path w="13481" h="25563" extrusionOk="0">
                <a:moveTo>
                  <a:pt x="7487" y="0"/>
                </a:moveTo>
                <a:cubicBezTo>
                  <a:pt x="6278" y="1526"/>
                  <a:pt x="-715" y="6995"/>
                  <a:pt x="238" y="9157"/>
                </a:cubicBezTo>
                <a:cubicBezTo>
                  <a:pt x="1191" y="11319"/>
                  <a:pt x="12129" y="10237"/>
                  <a:pt x="13210" y="12972"/>
                </a:cubicBezTo>
                <a:cubicBezTo>
                  <a:pt x="14291" y="15706"/>
                  <a:pt x="7805" y="23464"/>
                  <a:pt x="6724" y="25563"/>
                </a:cubicBezTo>
              </a:path>
            </a:pathLst>
          </a:cu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sp>
      <p:sp>
        <p:nvSpPr>
          <p:cNvPr id="408" name="Shape 408"/>
          <p:cNvSpPr/>
          <p:nvPr/>
        </p:nvSpPr>
        <p:spPr>
          <a:xfrm>
            <a:off x="5683970" y="1259622"/>
            <a:ext cx="327622" cy="661378"/>
          </a:xfrm>
          <a:custGeom>
            <a:avLst/>
            <a:gdLst/>
            <a:ahLst/>
            <a:cxnLst/>
            <a:rect l="0" t="0" r="0" b="0"/>
            <a:pathLst>
              <a:path w="13481" h="25563" extrusionOk="0">
                <a:moveTo>
                  <a:pt x="7487" y="0"/>
                </a:moveTo>
                <a:cubicBezTo>
                  <a:pt x="6278" y="1526"/>
                  <a:pt x="-715" y="6995"/>
                  <a:pt x="238" y="9157"/>
                </a:cubicBezTo>
                <a:cubicBezTo>
                  <a:pt x="1191" y="11319"/>
                  <a:pt x="12129" y="10237"/>
                  <a:pt x="13210" y="12972"/>
                </a:cubicBezTo>
                <a:cubicBezTo>
                  <a:pt x="14291" y="15706"/>
                  <a:pt x="7805" y="23464"/>
                  <a:pt x="6724" y="25563"/>
                </a:cubicBezTo>
              </a:path>
            </a:pathLst>
          </a:cu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sp>
      <p:sp>
        <p:nvSpPr>
          <p:cNvPr id="409" name="Shape 409"/>
          <p:cNvSpPr/>
          <p:nvPr/>
        </p:nvSpPr>
        <p:spPr>
          <a:xfrm>
            <a:off x="7759053" y="1259622"/>
            <a:ext cx="327622" cy="661378"/>
          </a:xfrm>
          <a:custGeom>
            <a:avLst/>
            <a:gdLst/>
            <a:ahLst/>
            <a:cxnLst/>
            <a:rect l="0" t="0" r="0" b="0"/>
            <a:pathLst>
              <a:path w="13481" h="25563" extrusionOk="0">
                <a:moveTo>
                  <a:pt x="7487" y="0"/>
                </a:moveTo>
                <a:cubicBezTo>
                  <a:pt x="6278" y="1526"/>
                  <a:pt x="-715" y="6995"/>
                  <a:pt x="238" y="9157"/>
                </a:cubicBezTo>
                <a:cubicBezTo>
                  <a:pt x="1191" y="11319"/>
                  <a:pt x="12129" y="10237"/>
                  <a:pt x="13210" y="12972"/>
                </a:cubicBezTo>
                <a:cubicBezTo>
                  <a:pt x="14291" y="15706"/>
                  <a:pt x="7805" y="23464"/>
                  <a:pt x="6724" y="25563"/>
                </a:cubicBezTo>
              </a:path>
            </a:pathLst>
          </a:cu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sp>
      <p:grpSp>
        <p:nvGrpSpPr>
          <p:cNvPr id="410" name="Shape 410"/>
          <p:cNvGrpSpPr/>
          <p:nvPr/>
        </p:nvGrpSpPr>
        <p:grpSpPr>
          <a:xfrm>
            <a:off x="2165475" y="2906892"/>
            <a:ext cx="5352575" cy="2853400"/>
            <a:chOff x="2165475" y="2558225"/>
            <a:chExt cx="5352575" cy="2853400"/>
          </a:xfrm>
        </p:grpSpPr>
        <p:sp>
          <p:nvSpPr>
            <p:cNvPr id="411" name="Shape 411"/>
            <p:cNvSpPr/>
            <p:nvPr/>
          </p:nvSpPr>
          <p:spPr>
            <a:xfrm>
              <a:off x="2165475" y="2646775"/>
              <a:ext cx="3822650" cy="2735325"/>
            </a:xfrm>
            <a:custGeom>
              <a:avLst/>
              <a:gdLst/>
              <a:ahLst/>
              <a:cxnLst/>
              <a:rect l="0" t="0" r="0" b="0"/>
              <a:pathLst>
                <a:path w="152906" h="109413" extrusionOk="0">
                  <a:moveTo>
                    <a:pt x="0" y="0"/>
                  </a:moveTo>
                  <a:cubicBezTo>
                    <a:pt x="8724" y="8593"/>
                    <a:pt x="28271" y="39226"/>
                    <a:pt x="52345" y="51558"/>
                  </a:cubicBezTo>
                  <a:cubicBezTo>
                    <a:pt x="76418" y="63890"/>
                    <a:pt x="128304" y="64349"/>
                    <a:pt x="144441" y="73992"/>
                  </a:cubicBezTo>
                  <a:cubicBezTo>
                    <a:pt x="160577" y="83634"/>
                    <a:pt x="148376" y="103509"/>
                    <a:pt x="149164" y="109413"/>
                  </a:cubicBezTo>
                </a:path>
              </a:pathLst>
            </a:custGeom>
            <a:noFill/>
            <a:ln w="19050" cap="flat">
              <a:solidFill>
                <a:srgbClr val="A64D79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412" name="Shape 412"/>
            <p:cNvSpPr/>
            <p:nvPr/>
          </p:nvSpPr>
          <p:spPr>
            <a:xfrm>
              <a:off x="4280925" y="2558225"/>
              <a:ext cx="1475900" cy="2853400"/>
            </a:xfrm>
            <a:custGeom>
              <a:avLst/>
              <a:gdLst/>
              <a:ahLst/>
              <a:cxnLst/>
              <a:rect l="0" t="0" r="0" b="0"/>
              <a:pathLst>
                <a:path w="59036" h="114136" extrusionOk="0">
                  <a:moveTo>
                    <a:pt x="0" y="0"/>
                  </a:moveTo>
                  <a:cubicBezTo>
                    <a:pt x="8068" y="4919"/>
                    <a:pt x="38569" y="10495"/>
                    <a:pt x="48409" y="29518"/>
                  </a:cubicBezTo>
                  <a:cubicBezTo>
                    <a:pt x="58248" y="48540"/>
                    <a:pt x="57264" y="100033"/>
                    <a:pt x="59036" y="114136"/>
                  </a:cubicBezTo>
                </a:path>
              </a:pathLst>
            </a:custGeom>
            <a:noFill/>
            <a:ln w="19050" cap="flat">
              <a:solidFill>
                <a:srgbClr val="A64D79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413" name="Shape 413"/>
            <p:cNvSpPr/>
            <p:nvPr/>
          </p:nvSpPr>
          <p:spPr>
            <a:xfrm>
              <a:off x="5983125" y="2627100"/>
              <a:ext cx="863600" cy="2755000"/>
            </a:xfrm>
            <a:custGeom>
              <a:avLst/>
              <a:gdLst/>
              <a:ahLst/>
              <a:cxnLst/>
              <a:rect l="0" t="0" r="0" b="0"/>
              <a:pathLst>
                <a:path w="34544" h="110200" extrusionOk="0">
                  <a:moveTo>
                    <a:pt x="14562" y="0"/>
                  </a:moveTo>
                  <a:cubicBezTo>
                    <a:pt x="17841" y="2361"/>
                    <a:pt x="36668" y="-4198"/>
                    <a:pt x="34241" y="14168"/>
                  </a:cubicBezTo>
                  <a:cubicBezTo>
                    <a:pt x="31814" y="32534"/>
                    <a:pt x="5706" y="94194"/>
                    <a:pt x="0" y="110200"/>
                  </a:cubicBezTo>
                </a:path>
              </a:pathLst>
            </a:custGeom>
            <a:noFill/>
            <a:ln w="19050" cap="flat">
              <a:solidFill>
                <a:srgbClr val="A64D79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414" name="Shape 414"/>
            <p:cNvSpPr/>
            <p:nvPr/>
          </p:nvSpPr>
          <p:spPr>
            <a:xfrm>
              <a:off x="5855200" y="2636925"/>
              <a:ext cx="1662850" cy="2715650"/>
            </a:xfrm>
            <a:custGeom>
              <a:avLst/>
              <a:gdLst/>
              <a:ahLst/>
              <a:cxnLst/>
              <a:rect l="0" t="0" r="0" b="0"/>
              <a:pathLst>
                <a:path w="66514" h="108626" extrusionOk="0">
                  <a:moveTo>
                    <a:pt x="66514" y="0"/>
                  </a:moveTo>
                  <a:cubicBezTo>
                    <a:pt x="57199" y="4723"/>
                    <a:pt x="21712" y="10233"/>
                    <a:pt x="10627" y="28338"/>
                  </a:cubicBezTo>
                  <a:cubicBezTo>
                    <a:pt x="-458" y="46442"/>
                    <a:pt x="1771" y="95244"/>
                    <a:pt x="0" y="108626"/>
                  </a:cubicBezTo>
                </a:path>
              </a:pathLst>
            </a:custGeom>
            <a:noFill/>
            <a:ln w="19050" cap="flat">
              <a:solidFill>
                <a:srgbClr val="A64D79"/>
              </a:solidFill>
              <a:prstDash val="solid"/>
              <a:round/>
              <a:headEnd type="none" w="lg" len="lg"/>
              <a:tailEnd type="triangle" w="lg" len="lg"/>
            </a:ln>
          </p:spPr>
        </p:sp>
      </p:grpSp>
      <p:sp>
        <p:nvSpPr>
          <p:cNvPr id="415" name="Shape 415"/>
          <p:cNvSpPr/>
          <p:nvPr/>
        </p:nvSpPr>
        <p:spPr>
          <a:xfrm>
            <a:off x="4939025" y="5736967"/>
            <a:ext cx="1052675" cy="753299"/>
          </a:xfrm>
          <a:prstGeom prst="irregularSeal1">
            <a:avLst/>
          </a:prstGeom>
          <a:solidFill>
            <a:srgbClr val="F6B26B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endParaRPr sz="700" b="1">
              <a:solidFill>
                <a:schemeClr val="hlink"/>
              </a:solidFill>
            </a:endParaRPr>
          </a:p>
          <a:p>
            <a:pPr lvl="0" rtl="0">
              <a:spcBef>
                <a:spcPts val="0"/>
              </a:spcBef>
              <a:buClr>
                <a:schemeClr val="dk1"/>
              </a:buClr>
              <a:buSzPct val="137500"/>
              <a:buFont typeface="Arial"/>
              <a:buNone/>
            </a:pPr>
            <a:r>
              <a:rPr lang="zh-TW" sz="800" b="1">
                <a:solidFill>
                  <a:schemeClr val="hlink"/>
                </a:solidFill>
              </a:rPr>
              <a:t>queue acquire register</a:t>
            </a:r>
          </a:p>
        </p:txBody>
      </p:sp>
      <p:grpSp>
        <p:nvGrpSpPr>
          <p:cNvPr id="416" name="Shape 416"/>
          <p:cNvGrpSpPr/>
          <p:nvPr/>
        </p:nvGrpSpPr>
        <p:grpSpPr>
          <a:xfrm>
            <a:off x="2194975" y="2621542"/>
            <a:ext cx="5323075" cy="3109225"/>
            <a:chOff x="2194975" y="2272875"/>
            <a:chExt cx="5323075" cy="3109225"/>
          </a:xfrm>
        </p:grpSpPr>
        <p:sp>
          <p:nvSpPr>
            <p:cNvPr id="417" name="Shape 417"/>
            <p:cNvSpPr/>
            <p:nvPr/>
          </p:nvSpPr>
          <p:spPr>
            <a:xfrm>
              <a:off x="2194975" y="2312250"/>
              <a:ext cx="4574450" cy="3050175"/>
            </a:xfrm>
            <a:custGeom>
              <a:avLst/>
              <a:gdLst/>
              <a:ahLst/>
              <a:cxnLst/>
              <a:rect l="0" t="0" r="0" b="0"/>
              <a:pathLst>
                <a:path w="182978" h="122007" extrusionOk="0">
                  <a:moveTo>
                    <a:pt x="0" y="0"/>
                  </a:moveTo>
                  <a:cubicBezTo>
                    <a:pt x="9905" y="5772"/>
                    <a:pt x="31158" y="24926"/>
                    <a:pt x="59430" y="34634"/>
                  </a:cubicBezTo>
                  <a:cubicBezTo>
                    <a:pt x="87701" y="44342"/>
                    <a:pt x="149164" y="43685"/>
                    <a:pt x="169630" y="58248"/>
                  </a:cubicBezTo>
                  <a:cubicBezTo>
                    <a:pt x="190095" y="72810"/>
                    <a:pt x="180125" y="111380"/>
                    <a:pt x="182224" y="122007"/>
                  </a:cubicBez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418" name="Shape 418"/>
            <p:cNvSpPr/>
            <p:nvPr/>
          </p:nvSpPr>
          <p:spPr>
            <a:xfrm>
              <a:off x="4280925" y="2272875"/>
              <a:ext cx="2322075" cy="3109225"/>
            </a:xfrm>
            <a:custGeom>
              <a:avLst/>
              <a:gdLst/>
              <a:ahLst/>
              <a:cxnLst/>
              <a:rect l="0" t="0" r="0" b="0"/>
              <a:pathLst>
                <a:path w="92883" h="124369" extrusionOk="0">
                  <a:moveTo>
                    <a:pt x="0" y="0"/>
                  </a:moveTo>
                  <a:cubicBezTo>
                    <a:pt x="10232" y="5838"/>
                    <a:pt x="45916" y="14299"/>
                    <a:pt x="61397" y="35028"/>
                  </a:cubicBezTo>
                  <a:cubicBezTo>
                    <a:pt x="76877" y="55756"/>
                    <a:pt x="87635" y="109478"/>
                    <a:pt x="92883" y="124369"/>
                  </a:cubicBez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419" name="Shape 419"/>
            <p:cNvSpPr/>
            <p:nvPr/>
          </p:nvSpPr>
          <p:spPr>
            <a:xfrm>
              <a:off x="6386525" y="2312250"/>
              <a:ext cx="893750" cy="3060025"/>
            </a:xfrm>
            <a:custGeom>
              <a:avLst/>
              <a:gdLst/>
              <a:ahLst/>
              <a:cxnLst/>
              <a:rect l="0" t="0" r="0" b="0"/>
              <a:pathLst>
                <a:path w="35750" h="122401" extrusionOk="0">
                  <a:moveTo>
                    <a:pt x="0" y="0"/>
                  </a:moveTo>
                  <a:cubicBezTo>
                    <a:pt x="5903" y="4919"/>
                    <a:pt x="32798" y="9116"/>
                    <a:pt x="35422" y="29517"/>
                  </a:cubicBezTo>
                  <a:cubicBezTo>
                    <a:pt x="38045" y="49917"/>
                    <a:pt x="19022" y="106920"/>
                    <a:pt x="15743" y="122401"/>
                  </a:cubicBez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420" name="Shape 420"/>
            <p:cNvSpPr/>
            <p:nvPr/>
          </p:nvSpPr>
          <p:spPr>
            <a:xfrm>
              <a:off x="6671875" y="2322075"/>
              <a:ext cx="846175" cy="3020675"/>
            </a:xfrm>
            <a:custGeom>
              <a:avLst/>
              <a:gdLst/>
              <a:ahLst/>
              <a:cxnLst/>
              <a:rect l="0" t="0" r="0" b="0"/>
              <a:pathLst>
                <a:path w="33847" h="120827" extrusionOk="0">
                  <a:moveTo>
                    <a:pt x="33847" y="0"/>
                  </a:moveTo>
                  <a:cubicBezTo>
                    <a:pt x="29780" y="7412"/>
                    <a:pt x="15087" y="24336"/>
                    <a:pt x="9446" y="44474"/>
                  </a:cubicBezTo>
                  <a:cubicBezTo>
                    <a:pt x="3804" y="64611"/>
                    <a:pt x="1574" y="108101"/>
                    <a:pt x="0" y="120827"/>
                  </a:cubicBez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round/>
              <a:headEnd type="none" w="lg" len="lg"/>
              <a:tailEnd type="triangle" w="lg" len="lg"/>
            </a:ln>
          </p:spPr>
        </p:sp>
      </p:grpSp>
      <p:sp>
        <p:nvSpPr>
          <p:cNvPr id="421" name="Shape 421"/>
          <p:cNvSpPr txBox="1"/>
          <p:nvPr/>
        </p:nvSpPr>
        <p:spPr>
          <a:xfrm>
            <a:off x="2900175" y="6466592"/>
            <a:ext cx="2268600" cy="3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 b="1"/>
              <a:t>Physical Address</a:t>
            </a:r>
          </a:p>
        </p:txBody>
      </p:sp>
      <p:sp>
        <p:nvSpPr>
          <p:cNvPr id="422" name="Shape 4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839199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rtl="0">
              <a:spcBef>
                <a:spcPts val="0"/>
              </a:spcBef>
              <a:buNone/>
            </a:pPr>
            <a:r>
              <a:rPr lang="zh-TW" sz="3200"/>
              <a:t>Software Policy</a:t>
            </a:r>
          </a:p>
          <a:p>
            <a:pPr lvl="0" rtl="0">
              <a:spcBef>
                <a:spcPts val="0"/>
              </a:spcBef>
              <a:buNone/>
            </a:pPr>
            <a:endParaRPr sz="3200"/>
          </a:p>
        </p:txBody>
      </p:sp>
      <p:grpSp>
        <p:nvGrpSpPr>
          <p:cNvPr id="423" name="Shape 423"/>
          <p:cNvGrpSpPr/>
          <p:nvPr/>
        </p:nvGrpSpPr>
        <p:grpSpPr>
          <a:xfrm>
            <a:off x="925725" y="4727167"/>
            <a:ext cx="4555494" cy="1142964"/>
            <a:chOff x="925725" y="4727167"/>
            <a:chExt cx="4555494" cy="1142964"/>
          </a:xfrm>
        </p:grpSpPr>
        <p:sp>
          <p:nvSpPr>
            <p:cNvPr id="424" name="Shape 424"/>
            <p:cNvSpPr/>
            <p:nvPr/>
          </p:nvSpPr>
          <p:spPr>
            <a:xfrm>
              <a:off x="925725" y="4727167"/>
              <a:ext cx="4555494" cy="1142964"/>
            </a:xfrm>
            <a:custGeom>
              <a:avLst/>
              <a:gdLst/>
              <a:ahLst/>
              <a:cxnLst/>
              <a:rect l="0" t="0" r="0" b="0"/>
              <a:pathLst>
                <a:path w="181043" h="34241" extrusionOk="0">
                  <a:moveTo>
                    <a:pt x="0" y="0"/>
                  </a:moveTo>
                  <a:lnTo>
                    <a:pt x="393" y="18104"/>
                  </a:lnTo>
                  <a:lnTo>
                    <a:pt x="179469" y="18498"/>
                  </a:lnTo>
                  <a:lnTo>
                    <a:pt x="181043" y="34241"/>
                  </a:lnTo>
                </a:path>
              </a:pathLst>
            </a:cu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425" name="Shape 425"/>
            <p:cNvSpPr txBox="1"/>
            <p:nvPr/>
          </p:nvSpPr>
          <p:spPr>
            <a:xfrm>
              <a:off x="2684200" y="5048675"/>
              <a:ext cx="1460099" cy="2460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r>
                <a:rPr lang="zh-TW" b="1">
                  <a:solidFill>
                    <a:srgbClr val="FF0000"/>
                  </a:solidFill>
                </a:rPr>
                <a:t>(pipe, queue)</a:t>
              </a:r>
            </a:p>
          </p:txBody>
        </p:sp>
      </p:grpSp>
      <p:sp>
        <p:nvSpPr>
          <p:cNvPr id="426" name="Shape 426"/>
          <p:cNvSpPr txBox="1"/>
          <p:nvPr/>
        </p:nvSpPr>
        <p:spPr>
          <a:xfrm>
            <a:off x="1099075" y="2196975"/>
            <a:ext cx="1244100" cy="3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write_pointer_address</a:t>
            </a:r>
          </a:p>
        </p:txBody>
      </p:sp>
      <p:cxnSp>
        <p:nvCxnSpPr>
          <p:cNvPr id="427" name="Shape 427"/>
          <p:cNvCxnSpPr/>
          <p:nvPr/>
        </p:nvCxnSpPr>
        <p:spPr>
          <a:xfrm>
            <a:off x="1212825" y="2235217"/>
            <a:ext cx="972899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28" name="Shape 428"/>
          <p:cNvCxnSpPr/>
          <p:nvPr/>
        </p:nvCxnSpPr>
        <p:spPr>
          <a:xfrm>
            <a:off x="1212825" y="1975092"/>
            <a:ext cx="972899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29" name="Shape 429"/>
          <p:cNvSpPr txBox="1"/>
          <p:nvPr/>
        </p:nvSpPr>
        <p:spPr>
          <a:xfrm>
            <a:off x="1141500" y="1939250"/>
            <a:ext cx="1201799" cy="3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read_pointer_address</a:t>
            </a:r>
          </a:p>
        </p:txBody>
      </p:sp>
      <p:cxnSp>
        <p:nvCxnSpPr>
          <p:cNvPr id="430" name="Shape 430"/>
          <p:cNvCxnSpPr/>
          <p:nvPr/>
        </p:nvCxnSpPr>
        <p:spPr>
          <a:xfrm>
            <a:off x="1212825" y="1977492"/>
            <a:ext cx="972899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31" name="Shape 431"/>
          <p:cNvSpPr txBox="1"/>
          <p:nvPr/>
        </p:nvSpPr>
        <p:spPr>
          <a:xfrm>
            <a:off x="3171100" y="2196975"/>
            <a:ext cx="1244100" cy="3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write_pointer_address</a:t>
            </a:r>
          </a:p>
        </p:txBody>
      </p:sp>
      <p:cxnSp>
        <p:nvCxnSpPr>
          <p:cNvPr id="432" name="Shape 432"/>
          <p:cNvCxnSpPr/>
          <p:nvPr/>
        </p:nvCxnSpPr>
        <p:spPr>
          <a:xfrm>
            <a:off x="3284850" y="2235217"/>
            <a:ext cx="972899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33" name="Shape 433"/>
          <p:cNvCxnSpPr/>
          <p:nvPr/>
        </p:nvCxnSpPr>
        <p:spPr>
          <a:xfrm>
            <a:off x="3284850" y="1975092"/>
            <a:ext cx="972899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34" name="Shape 434"/>
          <p:cNvSpPr txBox="1"/>
          <p:nvPr/>
        </p:nvSpPr>
        <p:spPr>
          <a:xfrm>
            <a:off x="3213525" y="1939250"/>
            <a:ext cx="1201799" cy="3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read_pointer_address</a:t>
            </a:r>
          </a:p>
        </p:txBody>
      </p:sp>
      <p:cxnSp>
        <p:nvCxnSpPr>
          <p:cNvPr id="435" name="Shape 435"/>
          <p:cNvCxnSpPr/>
          <p:nvPr/>
        </p:nvCxnSpPr>
        <p:spPr>
          <a:xfrm>
            <a:off x="3284850" y="1977492"/>
            <a:ext cx="972899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36" name="Shape 436"/>
          <p:cNvSpPr txBox="1"/>
          <p:nvPr/>
        </p:nvSpPr>
        <p:spPr>
          <a:xfrm>
            <a:off x="5285275" y="2196975"/>
            <a:ext cx="1244100" cy="3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write_pointer_address</a:t>
            </a:r>
          </a:p>
        </p:txBody>
      </p:sp>
      <p:cxnSp>
        <p:nvCxnSpPr>
          <p:cNvPr id="437" name="Shape 437"/>
          <p:cNvCxnSpPr/>
          <p:nvPr/>
        </p:nvCxnSpPr>
        <p:spPr>
          <a:xfrm>
            <a:off x="5399025" y="2235217"/>
            <a:ext cx="972899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38" name="Shape 438"/>
          <p:cNvCxnSpPr/>
          <p:nvPr/>
        </p:nvCxnSpPr>
        <p:spPr>
          <a:xfrm>
            <a:off x="5399025" y="1975092"/>
            <a:ext cx="972899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39" name="Shape 439"/>
          <p:cNvSpPr txBox="1"/>
          <p:nvPr/>
        </p:nvSpPr>
        <p:spPr>
          <a:xfrm>
            <a:off x="5327700" y="1939250"/>
            <a:ext cx="1201799" cy="3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read_pointer_address</a:t>
            </a:r>
          </a:p>
        </p:txBody>
      </p:sp>
      <p:cxnSp>
        <p:nvCxnSpPr>
          <p:cNvPr id="440" name="Shape 440"/>
          <p:cNvCxnSpPr/>
          <p:nvPr/>
        </p:nvCxnSpPr>
        <p:spPr>
          <a:xfrm>
            <a:off x="5399025" y="1977492"/>
            <a:ext cx="972899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41" name="Shape 441"/>
          <p:cNvSpPr txBox="1"/>
          <p:nvPr/>
        </p:nvSpPr>
        <p:spPr>
          <a:xfrm>
            <a:off x="7382187" y="2196975"/>
            <a:ext cx="1244100" cy="3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write_pointer_address</a:t>
            </a:r>
          </a:p>
        </p:txBody>
      </p:sp>
      <p:cxnSp>
        <p:nvCxnSpPr>
          <p:cNvPr id="442" name="Shape 442"/>
          <p:cNvCxnSpPr/>
          <p:nvPr/>
        </p:nvCxnSpPr>
        <p:spPr>
          <a:xfrm>
            <a:off x="7495937" y="2235217"/>
            <a:ext cx="972899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43" name="Shape 443"/>
          <p:cNvCxnSpPr/>
          <p:nvPr/>
        </p:nvCxnSpPr>
        <p:spPr>
          <a:xfrm>
            <a:off x="7495937" y="1975092"/>
            <a:ext cx="972899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44" name="Shape 444"/>
          <p:cNvSpPr txBox="1"/>
          <p:nvPr/>
        </p:nvSpPr>
        <p:spPr>
          <a:xfrm>
            <a:off x="7424612" y="1939250"/>
            <a:ext cx="1201799" cy="3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read_pointer_address</a:t>
            </a:r>
          </a:p>
        </p:txBody>
      </p:sp>
      <p:cxnSp>
        <p:nvCxnSpPr>
          <p:cNvPr id="445" name="Shape 445"/>
          <p:cNvCxnSpPr/>
          <p:nvPr/>
        </p:nvCxnSpPr>
        <p:spPr>
          <a:xfrm>
            <a:off x="7495937" y="1977492"/>
            <a:ext cx="972899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Shape 450"/>
          <p:cNvSpPr/>
          <p:nvPr/>
        </p:nvSpPr>
        <p:spPr>
          <a:xfrm>
            <a:off x="1141524" y="5720167"/>
            <a:ext cx="7311899" cy="786900"/>
          </a:xfrm>
          <a:prstGeom prst="rect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cxnSp>
        <p:nvCxnSpPr>
          <p:cNvPr id="451" name="Shape 451"/>
          <p:cNvCxnSpPr/>
          <p:nvPr/>
        </p:nvCxnSpPr>
        <p:spPr>
          <a:xfrm>
            <a:off x="1974423" y="5724965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52" name="Shape 452"/>
          <p:cNvCxnSpPr/>
          <p:nvPr/>
        </p:nvCxnSpPr>
        <p:spPr>
          <a:xfrm>
            <a:off x="1541943" y="5724965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53" name="Shape 453"/>
          <p:cNvCxnSpPr/>
          <p:nvPr/>
        </p:nvCxnSpPr>
        <p:spPr>
          <a:xfrm>
            <a:off x="4838949" y="5724965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54" name="Shape 454"/>
          <p:cNvCxnSpPr/>
          <p:nvPr/>
        </p:nvCxnSpPr>
        <p:spPr>
          <a:xfrm>
            <a:off x="6091769" y="5724965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55" name="Shape 455"/>
          <p:cNvCxnSpPr/>
          <p:nvPr/>
        </p:nvCxnSpPr>
        <p:spPr>
          <a:xfrm>
            <a:off x="7314114" y="5724965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56" name="Shape 456"/>
          <p:cNvCxnSpPr/>
          <p:nvPr/>
        </p:nvCxnSpPr>
        <p:spPr>
          <a:xfrm>
            <a:off x="8057439" y="5724965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57" name="Shape 457"/>
          <p:cNvCxnSpPr/>
          <p:nvPr/>
        </p:nvCxnSpPr>
        <p:spPr>
          <a:xfrm>
            <a:off x="7703464" y="5724965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58" name="Shape 458"/>
          <p:cNvCxnSpPr/>
          <p:nvPr/>
        </p:nvCxnSpPr>
        <p:spPr>
          <a:xfrm>
            <a:off x="6508264" y="5724965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59" name="Shape 459"/>
          <p:cNvCxnSpPr/>
          <p:nvPr/>
        </p:nvCxnSpPr>
        <p:spPr>
          <a:xfrm>
            <a:off x="6897614" y="5724965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60" name="Shape 460"/>
          <p:cNvCxnSpPr/>
          <p:nvPr/>
        </p:nvCxnSpPr>
        <p:spPr>
          <a:xfrm>
            <a:off x="5270677" y="5724965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61" name="Shape 461"/>
          <p:cNvCxnSpPr/>
          <p:nvPr/>
        </p:nvCxnSpPr>
        <p:spPr>
          <a:xfrm>
            <a:off x="5660027" y="5724965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62" name="Shape 462"/>
          <p:cNvSpPr/>
          <p:nvPr/>
        </p:nvSpPr>
        <p:spPr>
          <a:xfrm>
            <a:off x="2194550" y="5893514"/>
            <a:ext cx="2468900" cy="486525"/>
          </a:xfrm>
          <a:custGeom>
            <a:avLst/>
            <a:gdLst/>
            <a:ahLst/>
            <a:cxnLst/>
            <a:rect l="0" t="0" r="0" b="0"/>
            <a:pathLst>
              <a:path w="98756" h="19461" extrusionOk="0">
                <a:moveTo>
                  <a:pt x="0" y="12528"/>
                </a:moveTo>
                <a:cubicBezTo>
                  <a:pt x="4011" y="10463"/>
                  <a:pt x="14041" y="-981"/>
                  <a:pt x="24070" y="140"/>
                </a:cubicBezTo>
                <a:cubicBezTo>
                  <a:pt x="34099" y="1261"/>
                  <a:pt x="47726" y="17720"/>
                  <a:pt x="60174" y="19254"/>
                </a:cubicBezTo>
                <a:cubicBezTo>
                  <a:pt x="72621" y="20787"/>
                  <a:pt x="92325" y="10994"/>
                  <a:pt x="98756" y="9343"/>
                </a:cubicBezTo>
              </a:path>
            </a:pathLst>
          </a:cu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sp>
      <p:sp>
        <p:nvSpPr>
          <p:cNvPr id="463" name="Shape 463"/>
          <p:cNvSpPr/>
          <p:nvPr/>
        </p:nvSpPr>
        <p:spPr>
          <a:xfrm>
            <a:off x="5274025" y="5724967"/>
            <a:ext cx="2429400" cy="791700"/>
          </a:xfrm>
          <a:prstGeom prst="rect">
            <a:avLst/>
          </a:prstGeom>
          <a:noFill/>
          <a:ln w="19050" cap="flat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64" name="Shape 464"/>
          <p:cNvSpPr txBox="1"/>
          <p:nvPr/>
        </p:nvSpPr>
        <p:spPr>
          <a:xfrm>
            <a:off x="5274025" y="6587242"/>
            <a:ext cx="2429400" cy="274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>
                <a:solidFill>
                  <a:srgbClr val="FF0000"/>
                </a:solidFill>
              </a:rPr>
              <a:t>HSA GPU’s configuration register mmio address </a:t>
            </a:r>
          </a:p>
        </p:txBody>
      </p:sp>
      <p:sp>
        <p:nvSpPr>
          <p:cNvPr id="465" name="Shape 465"/>
          <p:cNvSpPr txBox="1"/>
          <p:nvPr/>
        </p:nvSpPr>
        <p:spPr>
          <a:xfrm>
            <a:off x="5206675" y="5746567"/>
            <a:ext cx="735899" cy="753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sz="800" b="1">
              <a:solidFill>
                <a:srgbClr val="1155CC"/>
              </a:solidFill>
            </a:endParaRPr>
          </a:p>
        </p:txBody>
      </p:sp>
      <p:grpSp>
        <p:nvGrpSpPr>
          <p:cNvPr id="466" name="Shape 466"/>
          <p:cNvGrpSpPr/>
          <p:nvPr/>
        </p:nvGrpSpPr>
        <p:grpSpPr>
          <a:xfrm>
            <a:off x="3814190" y="1133013"/>
            <a:ext cx="1666878" cy="2997679"/>
            <a:chOff x="5362083" y="1204417"/>
            <a:chExt cx="1061705" cy="1909349"/>
          </a:xfrm>
        </p:grpSpPr>
        <p:sp>
          <p:nvSpPr>
            <p:cNvPr id="467" name="Shape 467"/>
            <p:cNvSpPr/>
            <p:nvPr/>
          </p:nvSpPr>
          <p:spPr>
            <a:xfrm>
              <a:off x="5391108" y="1204417"/>
              <a:ext cx="972899" cy="1909199"/>
            </a:xfrm>
            <a:prstGeom prst="rect">
              <a:avLst/>
            </a:prstGeom>
            <a:solidFill>
              <a:schemeClr val="lt2"/>
            </a:solidFill>
            <a:ln w="19050" cap="flat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endParaRPr/>
            </a:p>
          </p:txBody>
        </p:sp>
        <p:cxnSp>
          <p:nvCxnSpPr>
            <p:cNvPr id="468" name="Shape 468"/>
            <p:cNvCxnSpPr/>
            <p:nvPr/>
          </p:nvCxnSpPr>
          <p:spPr>
            <a:xfrm>
              <a:off x="5381508" y="2806842"/>
              <a:ext cx="992100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469" name="Shape 469"/>
            <p:cNvCxnSpPr/>
            <p:nvPr/>
          </p:nvCxnSpPr>
          <p:spPr>
            <a:xfrm>
              <a:off x="5381508" y="2501617"/>
              <a:ext cx="992100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sp>
          <p:nvSpPr>
            <p:cNvPr id="470" name="Shape 470"/>
            <p:cNvSpPr txBox="1"/>
            <p:nvPr/>
          </p:nvSpPr>
          <p:spPr>
            <a:xfrm>
              <a:off x="5362083" y="2779867"/>
              <a:ext cx="992100" cy="33389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zh-TW" sz="1200" b="1"/>
                <a:t>doorbell</a:t>
              </a:r>
            </a:p>
          </p:txBody>
        </p:sp>
        <p:sp>
          <p:nvSpPr>
            <p:cNvPr id="471" name="Shape 471"/>
            <p:cNvSpPr txBox="1"/>
            <p:nvPr/>
          </p:nvSpPr>
          <p:spPr>
            <a:xfrm>
              <a:off x="5362089" y="2501622"/>
              <a:ext cx="1061699" cy="33389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zh-TW" sz="1200" b="1"/>
                <a:t>ring_base_address</a:t>
              </a:r>
            </a:p>
          </p:txBody>
        </p:sp>
        <p:sp>
          <p:nvSpPr>
            <p:cNvPr id="472" name="Shape 472"/>
            <p:cNvSpPr/>
            <p:nvPr/>
          </p:nvSpPr>
          <p:spPr>
            <a:xfrm>
              <a:off x="5683962" y="1259617"/>
              <a:ext cx="327622" cy="1142985"/>
            </a:xfrm>
            <a:custGeom>
              <a:avLst/>
              <a:gdLst/>
              <a:ahLst/>
              <a:cxnLst/>
              <a:rect l="0" t="0" r="0" b="0"/>
              <a:pathLst>
                <a:path w="13481" h="25563" extrusionOk="0">
                  <a:moveTo>
                    <a:pt x="7487" y="0"/>
                  </a:moveTo>
                  <a:cubicBezTo>
                    <a:pt x="6278" y="1526"/>
                    <a:pt x="-715" y="6995"/>
                    <a:pt x="238" y="9157"/>
                  </a:cubicBezTo>
                  <a:cubicBezTo>
                    <a:pt x="1191" y="11319"/>
                    <a:pt x="12129" y="10237"/>
                    <a:pt x="13210" y="12972"/>
                  </a:cubicBezTo>
                  <a:cubicBezTo>
                    <a:pt x="14291" y="15706"/>
                    <a:pt x="7805" y="23464"/>
                    <a:pt x="6724" y="25563"/>
                  </a:cubicBezTo>
                </a:path>
              </a:pathLst>
            </a:cu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sp>
      </p:grpSp>
      <p:sp>
        <p:nvSpPr>
          <p:cNvPr id="473" name="Shape 473"/>
          <p:cNvSpPr/>
          <p:nvPr/>
        </p:nvSpPr>
        <p:spPr>
          <a:xfrm>
            <a:off x="4939025" y="5736967"/>
            <a:ext cx="1052675" cy="753299"/>
          </a:xfrm>
          <a:prstGeom prst="irregularSeal1">
            <a:avLst/>
          </a:prstGeom>
          <a:solidFill>
            <a:srgbClr val="F6B26B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endParaRPr sz="700" b="1">
              <a:solidFill>
                <a:schemeClr val="hlink"/>
              </a:solidFill>
            </a:endParaRPr>
          </a:p>
          <a:p>
            <a:pPr lvl="0" rtl="0">
              <a:spcBef>
                <a:spcPts val="0"/>
              </a:spcBef>
              <a:buClr>
                <a:schemeClr val="dk1"/>
              </a:buClr>
              <a:buSzPct val="137500"/>
              <a:buFont typeface="Arial"/>
              <a:buNone/>
            </a:pPr>
            <a:r>
              <a:rPr lang="zh-TW" sz="800" b="1">
                <a:solidFill>
                  <a:schemeClr val="hlink"/>
                </a:solidFill>
              </a:rPr>
              <a:t>queue acquire register</a:t>
            </a:r>
          </a:p>
        </p:txBody>
      </p:sp>
      <p:sp>
        <p:nvSpPr>
          <p:cNvPr id="474" name="Shape 474"/>
          <p:cNvSpPr txBox="1"/>
          <p:nvPr/>
        </p:nvSpPr>
        <p:spPr>
          <a:xfrm>
            <a:off x="2900175" y="6466592"/>
            <a:ext cx="2268600" cy="3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b="1"/>
              <a:t>Physical Address</a:t>
            </a:r>
          </a:p>
        </p:txBody>
      </p:sp>
      <p:sp>
        <p:nvSpPr>
          <p:cNvPr id="475" name="Shape 47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3200"/>
              <a:t>Hardware Policy - No Oversubscription (1)</a:t>
            </a:r>
          </a:p>
          <a:p>
            <a:pPr lvl="0" rtl="0">
              <a:spcBef>
                <a:spcPts val="0"/>
              </a:spcBef>
              <a:buNone/>
            </a:pPr>
            <a:endParaRPr sz="3200"/>
          </a:p>
        </p:txBody>
      </p:sp>
      <p:sp>
        <p:nvSpPr>
          <p:cNvPr id="476" name="Shape 476"/>
          <p:cNvSpPr txBox="1"/>
          <p:nvPr/>
        </p:nvSpPr>
        <p:spPr>
          <a:xfrm>
            <a:off x="3053775" y="4677600"/>
            <a:ext cx="1961400" cy="246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b="1">
                <a:solidFill>
                  <a:srgbClr val="FF0000"/>
                </a:solidFill>
              </a:rPr>
              <a:t>(pipe=4, queue=0)</a:t>
            </a:r>
          </a:p>
        </p:txBody>
      </p:sp>
      <p:cxnSp>
        <p:nvCxnSpPr>
          <p:cNvPr id="477" name="Shape 477"/>
          <p:cNvCxnSpPr>
            <a:stCxn id="470" idx="2"/>
          </p:cNvCxnSpPr>
          <p:nvPr/>
        </p:nvCxnSpPr>
        <p:spPr>
          <a:xfrm>
            <a:off x="4592988" y="4130693"/>
            <a:ext cx="731100" cy="17835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78" name="Shape 478"/>
          <p:cNvSpPr/>
          <p:nvPr/>
        </p:nvSpPr>
        <p:spPr>
          <a:xfrm>
            <a:off x="5109700" y="3849325"/>
            <a:ext cx="798400" cy="1902550"/>
          </a:xfrm>
          <a:custGeom>
            <a:avLst/>
            <a:gdLst/>
            <a:ahLst/>
            <a:cxnLst/>
            <a:rect l="0" t="0" r="0" b="0"/>
            <a:pathLst>
              <a:path w="31936" h="76102" extrusionOk="0">
                <a:moveTo>
                  <a:pt x="910" y="0"/>
                </a:moveTo>
                <a:cubicBezTo>
                  <a:pt x="1204" y="5309"/>
                  <a:pt x="-2138" y="25859"/>
                  <a:pt x="2679" y="31857"/>
                </a:cubicBezTo>
                <a:cubicBezTo>
                  <a:pt x="7496" y="37854"/>
                  <a:pt x="25293" y="28611"/>
                  <a:pt x="29816" y="35986"/>
                </a:cubicBezTo>
                <a:cubicBezTo>
                  <a:pt x="34338" y="43360"/>
                  <a:pt x="29816" y="69416"/>
                  <a:pt x="29816" y="76102"/>
                </a:cubicBezTo>
              </a:path>
            </a:pathLst>
          </a:custGeom>
          <a:noFill/>
          <a:ln w="19050" cap="flat">
            <a:solidFill>
              <a:srgbClr val="A64D79"/>
            </a:solidFill>
            <a:prstDash val="solid"/>
            <a:round/>
            <a:headEnd type="none" w="lg" len="lg"/>
            <a:tailEnd type="triangle" w="lg" len="lg"/>
          </a:ln>
        </p:spPr>
      </p:sp>
      <p:sp>
        <p:nvSpPr>
          <p:cNvPr id="479" name="Shape 479"/>
          <p:cNvSpPr/>
          <p:nvPr/>
        </p:nvSpPr>
        <p:spPr>
          <a:xfrm>
            <a:off x="5176675" y="3465875"/>
            <a:ext cx="1717575" cy="2286000"/>
          </a:xfrm>
          <a:custGeom>
            <a:avLst/>
            <a:gdLst/>
            <a:ahLst/>
            <a:cxnLst/>
            <a:rect l="0" t="0" r="0" b="0"/>
            <a:pathLst>
              <a:path w="68703" h="91440" extrusionOk="0">
                <a:moveTo>
                  <a:pt x="0" y="0"/>
                </a:moveTo>
                <a:cubicBezTo>
                  <a:pt x="8750" y="2753"/>
                  <a:pt x="41099" y="8357"/>
                  <a:pt x="52505" y="16518"/>
                </a:cubicBezTo>
                <a:cubicBezTo>
                  <a:pt x="63910" y="24678"/>
                  <a:pt x="67351" y="36477"/>
                  <a:pt x="68433" y="48964"/>
                </a:cubicBezTo>
                <a:cubicBezTo>
                  <a:pt x="69514" y="61451"/>
                  <a:pt x="60567" y="84360"/>
                  <a:pt x="58994" y="91440"/>
                </a:cubicBezTo>
              </a:path>
            </a:pathLst>
          </a:custGeom>
          <a:noFill/>
          <a:ln w="19050" cap="flat">
            <a:solidFill>
              <a:schemeClr val="accent2"/>
            </a:solidFill>
            <a:prstDash val="solid"/>
            <a:round/>
            <a:headEnd type="none" w="lg" len="lg"/>
            <a:tailEnd type="triangle" w="lg" len="lg"/>
          </a:ln>
        </p:spPr>
      </p:sp>
      <p:sp>
        <p:nvSpPr>
          <p:cNvPr id="480" name="Shape 480"/>
          <p:cNvSpPr txBox="1"/>
          <p:nvPr/>
        </p:nvSpPr>
        <p:spPr>
          <a:xfrm>
            <a:off x="3920550" y="799125"/>
            <a:ext cx="1448099" cy="3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 b="1">
                <a:solidFill>
                  <a:srgbClr val="3C78D8"/>
                </a:solidFill>
              </a:rPr>
              <a:t>kernel_queue</a:t>
            </a:r>
          </a:p>
        </p:txBody>
      </p: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4" name="Shape 5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Shape 595"/>
          <p:cNvSpPr/>
          <p:nvPr/>
        </p:nvSpPr>
        <p:spPr>
          <a:xfrm>
            <a:off x="12798" y="1499224"/>
            <a:ext cx="3437825" cy="4414950"/>
          </a:xfrm>
          <a:custGeom>
            <a:avLst/>
            <a:gdLst/>
            <a:ahLst/>
            <a:cxnLst/>
            <a:rect l="0" t="0" r="0" b="0"/>
            <a:pathLst>
              <a:path w="137513" h="176598" extrusionOk="0">
                <a:moveTo>
                  <a:pt x="74356" y="11389"/>
                </a:moveTo>
                <a:cubicBezTo>
                  <a:pt x="83519" y="17238"/>
                  <a:pt x="73088" y="27473"/>
                  <a:pt x="81375" y="35955"/>
                </a:cubicBezTo>
                <a:cubicBezTo>
                  <a:pt x="89661" y="44436"/>
                  <a:pt x="115299" y="53112"/>
                  <a:pt x="124073" y="62276"/>
                </a:cubicBezTo>
                <a:cubicBezTo>
                  <a:pt x="132846" y="71439"/>
                  <a:pt x="131871" y="75728"/>
                  <a:pt x="134016" y="90936"/>
                </a:cubicBezTo>
                <a:cubicBezTo>
                  <a:pt x="136160" y="106143"/>
                  <a:pt x="138597" y="139873"/>
                  <a:pt x="136940" y="153521"/>
                </a:cubicBezTo>
                <a:cubicBezTo>
                  <a:pt x="135282" y="167168"/>
                  <a:pt x="134016" y="169313"/>
                  <a:pt x="124073" y="172823"/>
                </a:cubicBezTo>
                <a:cubicBezTo>
                  <a:pt x="114129" y="176332"/>
                  <a:pt x="95022" y="178185"/>
                  <a:pt x="77280" y="174578"/>
                </a:cubicBezTo>
                <a:cubicBezTo>
                  <a:pt x="59537" y="170971"/>
                  <a:pt x="30390" y="157127"/>
                  <a:pt x="17620" y="151181"/>
                </a:cubicBezTo>
                <a:cubicBezTo>
                  <a:pt x="4849" y="145234"/>
                  <a:pt x="2802" y="148938"/>
                  <a:pt x="658" y="138898"/>
                </a:cubicBezTo>
                <a:cubicBezTo>
                  <a:pt x="-1486" y="128857"/>
                  <a:pt x="2997" y="108775"/>
                  <a:pt x="4752" y="90936"/>
                </a:cubicBezTo>
                <a:cubicBezTo>
                  <a:pt x="6506" y="73096"/>
                  <a:pt x="7579" y="46873"/>
                  <a:pt x="11186" y="31861"/>
                </a:cubicBezTo>
                <a:cubicBezTo>
                  <a:pt x="14793" y="16848"/>
                  <a:pt x="15865" y="4273"/>
                  <a:pt x="26394" y="861"/>
                </a:cubicBezTo>
                <a:cubicBezTo>
                  <a:pt x="36922" y="-2551"/>
                  <a:pt x="65192" y="5540"/>
                  <a:pt x="74356" y="11389"/>
                </a:cubicBezTo>
                <a:close/>
              </a:path>
            </a:pathLst>
          </a:custGeom>
          <a:noFill/>
          <a:ln w="19050" cap="flat">
            <a:solidFill>
              <a:srgbClr val="E69138"/>
            </a:solidFill>
            <a:prstDash val="solid"/>
            <a:round/>
            <a:headEnd type="none" w="lg" len="lg"/>
            <a:tailEnd type="none" w="lg" len="lg"/>
          </a:ln>
        </p:spPr>
      </p:sp>
      <p:sp>
        <p:nvSpPr>
          <p:cNvPr id="596" name="Shape 596"/>
          <p:cNvSpPr txBox="1"/>
          <p:nvPr/>
        </p:nvSpPr>
        <p:spPr>
          <a:xfrm>
            <a:off x="467925" y="1096700"/>
            <a:ext cx="1637699" cy="584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 b="1">
                <a:solidFill>
                  <a:srgbClr val="E69138"/>
                </a:solidFill>
              </a:rPr>
              <a:t>Per Application </a:t>
            </a:r>
          </a:p>
        </p:txBody>
      </p:sp>
      <p:sp>
        <p:nvSpPr>
          <p:cNvPr id="597" name="Shape 597"/>
          <p:cNvSpPr/>
          <p:nvPr/>
        </p:nvSpPr>
        <p:spPr>
          <a:xfrm>
            <a:off x="2353514" y="22547"/>
            <a:ext cx="5342350" cy="3825950"/>
          </a:xfrm>
          <a:custGeom>
            <a:avLst/>
            <a:gdLst/>
            <a:ahLst/>
            <a:cxnLst/>
            <a:rect l="0" t="0" r="0" b="0"/>
            <a:pathLst>
              <a:path w="213694" h="153038" extrusionOk="0">
                <a:moveTo>
                  <a:pt x="140990" y="3777"/>
                </a:moveTo>
                <a:cubicBezTo>
                  <a:pt x="152005" y="9138"/>
                  <a:pt x="143525" y="23078"/>
                  <a:pt x="150349" y="33607"/>
                </a:cubicBezTo>
                <a:cubicBezTo>
                  <a:pt x="157173" y="44135"/>
                  <a:pt x="171990" y="57198"/>
                  <a:pt x="181934" y="66947"/>
                </a:cubicBezTo>
                <a:cubicBezTo>
                  <a:pt x="191877" y="76695"/>
                  <a:pt x="205427" y="83129"/>
                  <a:pt x="210009" y="92098"/>
                </a:cubicBezTo>
                <a:cubicBezTo>
                  <a:pt x="214590" y="101066"/>
                  <a:pt x="210496" y="111789"/>
                  <a:pt x="209424" y="120758"/>
                </a:cubicBezTo>
                <a:cubicBezTo>
                  <a:pt x="208351" y="129726"/>
                  <a:pt x="222779" y="140547"/>
                  <a:pt x="203575" y="145909"/>
                </a:cubicBezTo>
                <a:cubicBezTo>
                  <a:pt x="184370" y="151270"/>
                  <a:pt x="119446" y="152830"/>
                  <a:pt x="94198" y="152928"/>
                </a:cubicBezTo>
                <a:cubicBezTo>
                  <a:pt x="68949" y="153025"/>
                  <a:pt x="62125" y="154097"/>
                  <a:pt x="52085" y="146494"/>
                </a:cubicBezTo>
                <a:cubicBezTo>
                  <a:pt x="42044" y="138890"/>
                  <a:pt x="42531" y="118028"/>
                  <a:pt x="33953" y="107305"/>
                </a:cubicBezTo>
                <a:cubicBezTo>
                  <a:pt x="25374" y="96581"/>
                  <a:pt x="3635" y="91804"/>
                  <a:pt x="613" y="82154"/>
                </a:cubicBezTo>
                <a:cubicBezTo>
                  <a:pt x="-2409" y="72503"/>
                  <a:pt x="6657" y="61000"/>
                  <a:pt x="15821" y="49400"/>
                </a:cubicBezTo>
                <a:cubicBezTo>
                  <a:pt x="24984" y="37799"/>
                  <a:pt x="44188" y="20544"/>
                  <a:pt x="55594" y="12551"/>
                </a:cubicBezTo>
                <a:cubicBezTo>
                  <a:pt x="66999" y="4557"/>
                  <a:pt x="70022" y="2900"/>
                  <a:pt x="84255" y="1438"/>
                </a:cubicBezTo>
                <a:cubicBezTo>
                  <a:pt x="98487" y="-24"/>
                  <a:pt x="129974" y="-1584"/>
                  <a:pt x="140990" y="3777"/>
                </a:cubicBezTo>
                <a:close/>
              </a:path>
            </a:pathLst>
          </a:custGeom>
          <a:noFill/>
          <a:ln w="19050" cap="flat">
            <a:solidFill>
              <a:srgbClr val="FF0000"/>
            </a:solidFill>
            <a:prstDash val="solid"/>
            <a:round/>
            <a:headEnd type="none" w="lg" len="lg"/>
            <a:tailEnd type="none" w="lg" len="lg"/>
          </a:ln>
        </p:spPr>
      </p:sp>
      <p:sp>
        <p:nvSpPr>
          <p:cNvPr id="598" name="Shape 598"/>
          <p:cNvSpPr txBox="1"/>
          <p:nvPr/>
        </p:nvSpPr>
        <p:spPr>
          <a:xfrm>
            <a:off x="6058175" y="22550"/>
            <a:ext cx="1637699" cy="584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b="1">
                <a:solidFill>
                  <a:srgbClr val="FF0000"/>
                </a:solidFill>
              </a:rPr>
              <a:t>Per Device</a:t>
            </a:r>
          </a:p>
        </p:txBody>
      </p:sp>
      <p:sp>
        <p:nvSpPr>
          <p:cNvPr id="599" name="Shape 599"/>
          <p:cNvSpPr/>
          <p:nvPr/>
        </p:nvSpPr>
        <p:spPr>
          <a:xfrm>
            <a:off x="2547496" y="4090059"/>
            <a:ext cx="4825375" cy="2702600"/>
          </a:xfrm>
          <a:custGeom>
            <a:avLst/>
            <a:gdLst/>
            <a:ahLst/>
            <a:cxnLst/>
            <a:rect l="0" t="0" r="0" b="0"/>
            <a:pathLst>
              <a:path w="193015" h="108104" extrusionOk="0">
                <a:moveTo>
                  <a:pt x="56609" y="4850"/>
                </a:moveTo>
                <a:cubicBezTo>
                  <a:pt x="37599" y="5922"/>
                  <a:pt x="44325" y="4655"/>
                  <a:pt x="41401" y="6605"/>
                </a:cubicBezTo>
                <a:cubicBezTo>
                  <a:pt x="38476" y="8554"/>
                  <a:pt x="39354" y="7482"/>
                  <a:pt x="39062" y="16548"/>
                </a:cubicBezTo>
                <a:cubicBezTo>
                  <a:pt x="38769" y="25614"/>
                  <a:pt x="41109" y="51447"/>
                  <a:pt x="39647" y="61001"/>
                </a:cubicBezTo>
                <a:cubicBezTo>
                  <a:pt x="38184" y="70554"/>
                  <a:pt x="35552" y="70164"/>
                  <a:pt x="30288" y="73869"/>
                </a:cubicBezTo>
                <a:cubicBezTo>
                  <a:pt x="25023" y="77573"/>
                  <a:pt x="12058" y="79718"/>
                  <a:pt x="8062" y="83228"/>
                </a:cubicBezTo>
                <a:cubicBezTo>
                  <a:pt x="4065" y="86737"/>
                  <a:pt x="6014" y="90929"/>
                  <a:pt x="6307" y="94926"/>
                </a:cubicBezTo>
                <a:cubicBezTo>
                  <a:pt x="6599" y="98922"/>
                  <a:pt x="-10167" y="105259"/>
                  <a:pt x="9817" y="107209"/>
                </a:cubicBezTo>
                <a:cubicBezTo>
                  <a:pt x="29801" y="109158"/>
                  <a:pt x="101257" y="107209"/>
                  <a:pt x="126213" y="106624"/>
                </a:cubicBezTo>
                <a:cubicBezTo>
                  <a:pt x="151168" y="106039"/>
                  <a:pt x="148633" y="107501"/>
                  <a:pt x="159552" y="103699"/>
                </a:cubicBezTo>
                <a:cubicBezTo>
                  <a:pt x="170470" y="99897"/>
                  <a:pt x="187432" y="93755"/>
                  <a:pt x="191722" y="83812"/>
                </a:cubicBezTo>
                <a:cubicBezTo>
                  <a:pt x="196011" y="73868"/>
                  <a:pt x="188115" y="56516"/>
                  <a:pt x="185288" y="44039"/>
                </a:cubicBezTo>
                <a:cubicBezTo>
                  <a:pt x="182461" y="31561"/>
                  <a:pt x="179731" y="16256"/>
                  <a:pt x="174760" y="8945"/>
                </a:cubicBezTo>
                <a:cubicBezTo>
                  <a:pt x="169788" y="1633"/>
                  <a:pt x="175149" y="853"/>
                  <a:pt x="155458" y="171"/>
                </a:cubicBezTo>
                <a:cubicBezTo>
                  <a:pt x="135766" y="-511"/>
                  <a:pt x="75618" y="3777"/>
                  <a:pt x="56609" y="4850"/>
                </a:cubicBezTo>
                <a:close/>
              </a:path>
            </a:pathLst>
          </a:custGeom>
          <a:noFill/>
          <a:ln w="19050" cap="flat">
            <a:solidFill>
              <a:srgbClr val="3C78D8"/>
            </a:solidFill>
            <a:prstDash val="solid"/>
            <a:round/>
            <a:headEnd type="none" w="lg" len="lg"/>
            <a:tailEnd type="none" w="lg" len="lg"/>
          </a:ln>
        </p:spPr>
      </p:sp>
      <p:sp>
        <p:nvSpPr>
          <p:cNvPr id="600" name="Shape 600"/>
          <p:cNvSpPr txBox="1"/>
          <p:nvPr/>
        </p:nvSpPr>
        <p:spPr>
          <a:xfrm>
            <a:off x="7311300" y="5644325"/>
            <a:ext cx="1637699" cy="584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b="1">
                <a:solidFill>
                  <a:srgbClr val="3C78D8"/>
                </a:solidFill>
              </a:rPr>
              <a:t>Per Queue</a:t>
            </a:r>
          </a:p>
        </p:txBody>
      </p:sp>
      <p:sp>
        <p:nvSpPr>
          <p:cNvPr id="601" name="Shape 601"/>
          <p:cNvSpPr/>
          <p:nvPr/>
        </p:nvSpPr>
        <p:spPr>
          <a:xfrm>
            <a:off x="7324097" y="716500"/>
            <a:ext cx="1787600" cy="4214050"/>
          </a:xfrm>
          <a:custGeom>
            <a:avLst/>
            <a:gdLst/>
            <a:ahLst/>
            <a:cxnLst/>
            <a:rect l="0" t="0" r="0" b="0"/>
            <a:pathLst>
              <a:path w="71504" h="168562" extrusionOk="0">
                <a:moveTo>
                  <a:pt x="8262" y="10529"/>
                </a:moveTo>
                <a:cubicBezTo>
                  <a:pt x="2023" y="15208"/>
                  <a:pt x="-219" y="20764"/>
                  <a:pt x="73" y="28076"/>
                </a:cubicBezTo>
                <a:cubicBezTo>
                  <a:pt x="365" y="35387"/>
                  <a:pt x="6019" y="44062"/>
                  <a:pt x="10016" y="54396"/>
                </a:cubicBezTo>
                <a:cubicBezTo>
                  <a:pt x="14012" y="64729"/>
                  <a:pt x="22396" y="78280"/>
                  <a:pt x="24054" y="90076"/>
                </a:cubicBezTo>
                <a:cubicBezTo>
                  <a:pt x="25711" y="101871"/>
                  <a:pt x="20057" y="113472"/>
                  <a:pt x="19960" y="125170"/>
                </a:cubicBezTo>
                <a:cubicBezTo>
                  <a:pt x="19862" y="136868"/>
                  <a:pt x="18010" y="153147"/>
                  <a:pt x="23469" y="160264"/>
                </a:cubicBezTo>
                <a:cubicBezTo>
                  <a:pt x="28928" y="167380"/>
                  <a:pt x="45207" y="167965"/>
                  <a:pt x="52714" y="167868"/>
                </a:cubicBezTo>
                <a:cubicBezTo>
                  <a:pt x="60220" y="167770"/>
                  <a:pt x="65485" y="171864"/>
                  <a:pt x="68507" y="159679"/>
                </a:cubicBezTo>
                <a:cubicBezTo>
                  <a:pt x="71529" y="147493"/>
                  <a:pt x="71820" y="112302"/>
                  <a:pt x="70846" y="94755"/>
                </a:cubicBezTo>
                <a:cubicBezTo>
                  <a:pt x="69871" y="77207"/>
                  <a:pt x="64217" y="68433"/>
                  <a:pt x="62658" y="54396"/>
                </a:cubicBezTo>
                <a:cubicBezTo>
                  <a:pt x="61098" y="40358"/>
                  <a:pt x="65679" y="19595"/>
                  <a:pt x="61488" y="10529"/>
                </a:cubicBezTo>
                <a:cubicBezTo>
                  <a:pt x="57296" y="1463"/>
                  <a:pt x="46378" y="0"/>
                  <a:pt x="37507" y="0"/>
                </a:cubicBezTo>
                <a:cubicBezTo>
                  <a:pt x="28636" y="0"/>
                  <a:pt x="14501" y="5849"/>
                  <a:pt x="8262" y="10529"/>
                </a:cubicBezTo>
                <a:close/>
              </a:path>
            </a:pathLst>
          </a:custGeom>
          <a:noFill/>
          <a:ln w="19050" cap="flat">
            <a:solidFill>
              <a:srgbClr val="A64D79"/>
            </a:solidFill>
            <a:prstDash val="solid"/>
            <a:round/>
            <a:headEnd type="none" w="lg" len="lg"/>
            <a:tailEnd type="none" w="lg" len="lg"/>
          </a:ln>
        </p:spPr>
      </p:sp>
      <p:sp>
        <p:nvSpPr>
          <p:cNvPr id="602" name="Shape 602"/>
          <p:cNvSpPr txBox="1"/>
          <p:nvPr/>
        </p:nvSpPr>
        <p:spPr>
          <a:xfrm>
            <a:off x="7695875" y="131500"/>
            <a:ext cx="1637699" cy="584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b="1">
                <a:solidFill>
                  <a:srgbClr val="A64D79"/>
                </a:solidFill>
              </a:rPr>
              <a:t>Only for HW Policy</a:t>
            </a:r>
          </a:p>
        </p:txBody>
      </p:sp>
    </p:spTree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Shape 60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IOCTL Command Provided by KFD </a:t>
            </a:r>
          </a:p>
        </p:txBody>
      </p:sp>
      <p:sp>
        <p:nvSpPr>
          <p:cNvPr id="608" name="Shape 60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3556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2000"/>
              <a:t>KFD_IOC_CREATE_QUEUE</a:t>
            </a:r>
          </a:p>
          <a:p>
            <a:pPr marL="914400" lvl="1" indent="-330200" rtl="0">
              <a:spcBef>
                <a:spcPts val="0"/>
              </a:spcBef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zh-TW" sz="1600"/>
              <a:t>Create hardware queue from application’s information (ex: ring base address)</a:t>
            </a:r>
          </a:p>
          <a:p>
            <a:pPr marL="457200" lvl="0" indent="-3556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2000"/>
              <a:t>KFD_IOC_DESTROY_QUEUE</a:t>
            </a:r>
          </a:p>
          <a:p>
            <a:pPr marL="914400" lvl="1" indent="-330200" rtl="0">
              <a:spcBef>
                <a:spcPts val="0"/>
              </a:spcBef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zh-TW" sz="1600"/>
              <a:t>Release hardware queue</a:t>
            </a:r>
          </a:p>
          <a:p>
            <a:pPr marL="457200" lvl="0" indent="-3556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2000"/>
              <a:t>KFD_IOC_UPDATE_QUEUE</a:t>
            </a:r>
          </a:p>
          <a:p>
            <a:pPr marL="457200" lvl="0" indent="-3556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2000"/>
              <a:t>KFD_IOC_SET_MEMORY_POLICY</a:t>
            </a:r>
          </a:p>
          <a:p>
            <a:pPr marL="914400" lvl="1" indent="-330200" rtl="0">
              <a:spcBef>
                <a:spcPts val="0"/>
              </a:spcBef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zh-TW" sz="1600"/>
              <a:t>Set cache coherent policy</a:t>
            </a:r>
          </a:p>
          <a:p>
            <a:pPr marL="457200" lvl="0" indent="-3556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2000"/>
              <a:t>KFD_IOC_GET_CLOCK_COUNTERS</a:t>
            </a:r>
          </a:p>
          <a:p>
            <a:pPr marL="914400" lvl="1" indent="-330200" rtl="0">
              <a:spcBef>
                <a:spcPts val="0"/>
              </a:spcBef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zh-TW" sz="1600"/>
              <a:t>Get GPU clock counter</a:t>
            </a:r>
          </a:p>
          <a:p>
            <a:pPr marL="457200" lvl="0" indent="-3556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2000"/>
              <a:t>KFD_IOC_PMC_ACQUIRE_ACCESS</a:t>
            </a:r>
          </a:p>
          <a:p>
            <a:pPr marL="457200" lvl="0" indent="-3556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2000"/>
              <a:t>KFD_IOC_PMC_RELEASE_ACCESS</a:t>
            </a:r>
          </a:p>
          <a:p>
            <a:pPr marL="914400" lvl="1" indent="-330200" rtl="0">
              <a:spcBef>
                <a:spcPts val="0"/>
              </a:spcBef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zh-TW" sz="1600"/>
              <a:t>Exclusive access for performance counters </a:t>
            </a:r>
          </a:p>
          <a:p>
            <a:pPr marL="457200" lvl="0" indent="-3556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2000"/>
              <a:t>KFD_IOC_GET_PROCESS_APERTURES</a:t>
            </a:r>
          </a:p>
          <a:p>
            <a:pPr marL="914400" lvl="1" indent="-330200" rtl="0">
              <a:spcBef>
                <a:spcPts val="0"/>
              </a:spcBef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zh-TW" sz="1600"/>
              <a:t>Get apertures information of GPU</a:t>
            </a:r>
          </a:p>
          <a:p>
            <a:pPr marL="457200" lvl="0" indent="-355600" rtl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TW" sz="2000">
                <a:solidFill>
                  <a:srgbClr val="000000"/>
                </a:solidFill>
              </a:rPr>
              <a:t>KFD_IOC_CREATE_VIDMEM</a:t>
            </a:r>
          </a:p>
          <a:p>
            <a:pPr marL="457200" lvl="0" indent="-3556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TW" sz="2000">
                <a:solidFill>
                  <a:srgbClr val="000000"/>
                </a:solidFill>
              </a:rPr>
              <a:t>KFD_IOC_DESTROY_VIDMEM</a:t>
            </a:r>
          </a:p>
          <a:p>
            <a:pPr marL="914400" lvl="1" indent="-3302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Courier New"/>
              <a:buChar char="o"/>
            </a:pPr>
            <a:r>
              <a:rPr lang="zh-TW" sz="1600">
                <a:solidFill>
                  <a:srgbClr val="000000"/>
                </a:solidFill>
              </a:rPr>
              <a:t>Used for GPU local memory</a:t>
            </a:r>
          </a:p>
        </p:txBody>
      </p:sp>
    </p:spTree>
  </p:cSld>
  <p:clrMapOvr>
    <a:masterClrMapping/>
  </p:clrMapOvr>
  <p:transition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Shape 61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HSA Driver Flow</a:t>
            </a:r>
          </a:p>
        </p:txBody>
      </p:sp>
      <p:sp>
        <p:nvSpPr>
          <p:cNvPr id="614" name="Shape 6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cxnSp>
        <p:nvCxnSpPr>
          <p:cNvPr id="615" name="Shape 615"/>
          <p:cNvCxnSpPr/>
          <p:nvPr/>
        </p:nvCxnSpPr>
        <p:spPr>
          <a:xfrm>
            <a:off x="4825875" y="2400025"/>
            <a:ext cx="0" cy="562800"/>
          </a:xfrm>
          <a:prstGeom prst="straightConnector1">
            <a:avLst/>
          </a:prstGeom>
          <a:noFill/>
          <a:ln w="19050" cap="flat">
            <a:solidFill>
              <a:srgbClr val="3C78D8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616" name="Shape 616"/>
          <p:cNvCxnSpPr/>
          <p:nvPr/>
        </p:nvCxnSpPr>
        <p:spPr>
          <a:xfrm>
            <a:off x="4825875" y="3716375"/>
            <a:ext cx="0" cy="562800"/>
          </a:xfrm>
          <a:prstGeom prst="straightConnector1">
            <a:avLst/>
          </a:prstGeom>
          <a:noFill/>
          <a:ln w="19050" cap="flat">
            <a:solidFill>
              <a:srgbClr val="3C78D8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617" name="Shape 617"/>
          <p:cNvSpPr/>
          <p:nvPr/>
        </p:nvSpPr>
        <p:spPr>
          <a:xfrm>
            <a:off x="3164475" y="1770625"/>
            <a:ext cx="3322799" cy="6294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457200" lvl="0" indent="-292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1000">
                <a:solidFill>
                  <a:schemeClr val="dk1"/>
                </a:solidFill>
              </a:rPr>
              <a:t>System intialization</a:t>
            </a:r>
          </a:p>
          <a:p>
            <a:pPr marL="914400" lvl="1" indent="-292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○"/>
            </a:pPr>
            <a:r>
              <a:rPr lang="zh-TW" sz="1000">
                <a:solidFill>
                  <a:schemeClr val="dk1"/>
                </a:solidFill>
              </a:rPr>
              <a:t>module_init</a:t>
            </a:r>
          </a:p>
          <a:p>
            <a:pPr marL="914400" lvl="1" indent="-292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○"/>
            </a:pPr>
            <a:r>
              <a:rPr lang="zh-TW" sz="1000">
                <a:solidFill>
                  <a:schemeClr val="dk1"/>
                </a:solidFill>
              </a:rPr>
              <a:t>device_init (Called by radeon)</a:t>
            </a:r>
          </a:p>
          <a:p>
            <a:pPr lvl="0" rtl="0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endParaRPr sz="1000">
              <a:solidFill>
                <a:schemeClr val="dk1"/>
              </a:solidFill>
            </a:endParaRPr>
          </a:p>
        </p:txBody>
      </p:sp>
      <p:sp>
        <p:nvSpPr>
          <p:cNvPr id="618" name="Shape 618"/>
          <p:cNvSpPr/>
          <p:nvPr/>
        </p:nvSpPr>
        <p:spPr>
          <a:xfrm>
            <a:off x="3176125" y="2948775"/>
            <a:ext cx="3311100" cy="7797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457200" lvl="0" indent="-29210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TW" sz="1000"/>
              <a:t>Application open “/dev/kfd” device</a:t>
            </a:r>
          </a:p>
        </p:txBody>
      </p:sp>
      <p:sp>
        <p:nvSpPr>
          <p:cNvPr id="619" name="Shape 619"/>
          <p:cNvSpPr/>
          <p:nvPr/>
        </p:nvSpPr>
        <p:spPr>
          <a:xfrm>
            <a:off x="3176125" y="4277225"/>
            <a:ext cx="3311100" cy="7797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457200" lvl="0" indent="-292100" rtl="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TW" sz="1000"/>
              <a:t>Application send ioctl</a:t>
            </a:r>
          </a:p>
          <a:p>
            <a:pPr marL="914400" lvl="1" indent="-292100" rtl="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○"/>
            </a:pPr>
            <a:r>
              <a:rPr lang="zh-TW" sz="1000"/>
              <a:t>KFD_IOC_SET_MEMORY_POLICY</a:t>
            </a:r>
          </a:p>
          <a:p>
            <a:pPr marL="914400" lvl="1" indent="-292100" rtl="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○"/>
            </a:pPr>
            <a:r>
              <a:rPr lang="zh-TW" sz="1000"/>
              <a:t>KFD_IOC_CREATE_QUEUE</a:t>
            </a:r>
          </a:p>
        </p:txBody>
      </p:sp>
      <p:cxnSp>
        <p:nvCxnSpPr>
          <p:cNvPr id="620" name="Shape 620"/>
          <p:cNvCxnSpPr/>
          <p:nvPr/>
        </p:nvCxnSpPr>
        <p:spPr>
          <a:xfrm>
            <a:off x="4825875" y="5056925"/>
            <a:ext cx="0" cy="562800"/>
          </a:xfrm>
          <a:prstGeom prst="straightConnector1">
            <a:avLst/>
          </a:prstGeom>
          <a:noFill/>
          <a:ln w="19050" cap="flat">
            <a:solidFill>
              <a:srgbClr val="3C78D8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621" name="Shape 621"/>
          <p:cNvSpPr/>
          <p:nvPr/>
        </p:nvSpPr>
        <p:spPr>
          <a:xfrm>
            <a:off x="3176125" y="5617775"/>
            <a:ext cx="3311100" cy="7797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457200" lvl="0" indent="-292100" rtl="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TW" sz="1000">
                <a:solidFill>
                  <a:schemeClr val="dk1"/>
                </a:solidFill>
              </a:rPr>
              <a:t>Application send ioctl</a:t>
            </a:r>
          </a:p>
          <a:p>
            <a:pPr marL="914400" lvl="1" indent="-292100" rtl="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○"/>
            </a:pPr>
            <a:r>
              <a:rPr lang="zh-TW" sz="1000">
                <a:solidFill>
                  <a:schemeClr val="dk1"/>
                </a:solidFill>
              </a:rPr>
              <a:t>KFD_IOC_DESTROY_QUEUE</a:t>
            </a:r>
          </a:p>
          <a:p>
            <a:pPr marL="457200" lvl="0" indent="-292100" rtl="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TW" sz="1000"/>
              <a:t>Application termination</a:t>
            </a:r>
          </a:p>
        </p:txBody>
      </p:sp>
    </p:spTree>
  </p:cSld>
  <p:clrMapOvr>
    <a:masterClrMapping/>
  </p:clrMapOvr>
  <p:transition spd="slow"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Shape 62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module_init(kfd_module_init)</a:t>
            </a:r>
          </a:p>
        </p:txBody>
      </p:sp>
      <p:sp>
        <p:nvSpPr>
          <p:cNvPr id="627" name="Shape 6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radeon_kfd_pasid_init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Initialize PASID bitmap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PASID 0 is reserved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radeon_kfd_chardev_init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register_chrdev: /dev/kfd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kfd_ops</a:t>
            </a:r>
          </a:p>
          <a:p>
            <a:pPr marL="1371600" lvl="2" indent="-381000" rtl="0">
              <a:spcBef>
                <a:spcPts val="0"/>
              </a:spcBef>
              <a:buClr>
                <a:schemeClr val="dk1"/>
              </a:buClr>
              <a:buSzPct val="80000"/>
              <a:buFont typeface="Wingdings"/>
              <a:buChar char="§"/>
            </a:pPr>
            <a:r>
              <a:rPr lang="zh-TW"/>
              <a:t>Define open, ioctl, mmap member function</a:t>
            </a:r>
          </a:p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  <p:transition spd="slow"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Shape 632"/>
          <p:cNvSpPr txBox="1">
            <a:spLocks noGrp="1"/>
          </p:cNvSpPr>
          <p:nvPr>
            <p:ph type="title"/>
          </p:nvPr>
        </p:nvSpPr>
        <p:spPr>
          <a:xfrm>
            <a:off x="457200" y="285748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zh-TW" sz="6000"/>
              <a:t>SW Policy</a:t>
            </a:r>
          </a:p>
        </p:txBody>
      </p:sp>
    </p:spTree>
  </p:cSld>
  <p:clrMapOvr>
    <a:masterClrMapping/>
  </p:clrMapOvr>
  <p:transition spd="slow"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Shape 63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kgd2kfd_device_init</a:t>
            </a:r>
          </a:p>
        </p:txBody>
      </p:sp>
      <p:sp>
        <p:nvSpPr>
          <p:cNvPr id="638" name="Shape 63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2400"/>
              <a:t>radeon_kfd_doorbell_init(kfd);</a:t>
            </a:r>
          </a:p>
          <a:p>
            <a: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2400"/>
              <a:t>radeon_kfd_interrupt_init(kfd);</a:t>
            </a:r>
          </a:p>
          <a:p>
            <a: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2400"/>
              <a:t>device_iommu_pasid_init(kfd);</a:t>
            </a:r>
          </a:p>
          <a:p>
            <a: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2400"/>
              <a:t>kfd_topology_add_device(kfd);</a:t>
            </a:r>
          </a:p>
          <a:p>
            <a: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2400"/>
              <a:t>amd_iommu_set_invalidate_ctx_cb(kfd-&gt;pdev, iommu_pasid_shutdown_callback);</a:t>
            </a:r>
          </a:p>
          <a:p>
            <a: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2400"/>
              <a:t>device_queue_manager_init(kfd);</a:t>
            </a:r>
          </a:p>
          <a:p>
            <a: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dqm-&gt;initialize</a:t>
            </a:r>
          </a:p>
          <a:p>
            <a: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2400"/>
              <a:t>dqm-&gt;start(kfd-&gt;dqm);</a:t>
            </a:r>
          </a:p>
        </p:txBody>
      </p:sp>
    </p:spTree>
  </p:cSld>
  <p:clrMapOvr>
    <a:masterClrMapping/>
  </p:clrMapOvr>
  <p:transition spd="slow"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Shape 64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dqm-&gt;initialize</a:t>
            </a:r>
          </a:p>
        </p:txBody>
      </p:sp>
      <p:sp>
        <p:nvSpPr>
          <p:cNvPr id="644" name="Shape 64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Prepare pipe, queue bitmap</a:t>
            </a:r>
          </a:p>
        </p:txBody>
      </p:sp>
    </p:spTree>
  </p:cSld>
  <p:clrMapOvr>
    <a:masterClrMapping/>
  </p:clrMapOvr>
  <p:transition spd="slow"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Shape 64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kfd_open</a:t>
            </a:r>
          </a:p>
        </p:txBody>
      </p:sp>
      <p:sp>
        <p:nvSpPr>
          <p:cNvPr id="650" name="Shape 65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radeon_kfd_create_process(current)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Create kfd_process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Assign PASID</a:t>
            </a:r>
          </a:p>
        </p:txBody>
      </p:sp>
    </p:spTree>
  </p:cSld>
  <p:clrMapOvr>
    <a:masterClrMapping/>
  </p:clrMapOvr>
  <p:transition spd="slow"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Shape 65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KFD_IOC_SET_MEMORY_POLICY</a:t>
            </a:r>
          </a:p>
        </p:txBody>
      </p:sp>
      <p:sp>
        <p:nvSpPr>
          <p:cNvPr id="656" name="Shape 65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Two policy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cache_policy_coherent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cache_policy_noncoherent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Aperture used for GPU local memory</a:t>
            </a:r>
          </a:p>
        </p:txBody>
      </p:sp>
      <p:pic>
        <p:nvPicPr>
          <p:cNvPr id="657" name="Shape 6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950" y="4587275"/>
            <a:ext cx="4511725" cy="121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Shape 6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4825" y="4844687"/>
            <a:ext cx="2838450" cy="6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Shape 66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 sz="3400"/>
              <a:t>radeon_kfd_bind_process_to_device</a:t>
            </a:r>
          </a:p>
        </p:txBody>
      </p:sp>
      <p:sp>
        <p:nvSpPr>
          <p:cNvPr id="664" name="Shape 66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Called when user application send ioctl command 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amd_iommu_bind_pasid()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Register iommu with this kfd_process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Also set page table to IOMMU</a:t>
            </a:r>
          </a:p>
        </p:txBody>
      </p:sp>
    </p:spTree>
  </p:cSld>
  <p:clrMapOvr>
    <a:masterClrMapping/>
  </p:clrMapOvr>
  <p:transition spd="slow"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Shape 66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KFD_IOC_CREATE_QUEUE</a:t>
            </a:r>
          </a:p>
        </p:txBody>
      </p:sp>
      <p:sp>
        <p:nvSpPr>
          <p:cNvPr id="670" name="Shape 67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Create queue with informations from userspace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Return queue_id and doorbell_address to user-space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queue_id is per kfd_process</a:t>
            </a:r>
          </a:p>
          <a:p>
            <a:pPr marL="914400" lvl="1" indent="-381000">
              <a:spcBef>
                <a:spcPts val="0"/>
              </a:spcBef>
              <a:buClr>
                <a:srgbClr val="FF0000"/>
              </a:buClr>
              <a:buSzPct val="80000"/>
              <a:buFont typeface="Courier New"/>
              <a:buChar char="o"/>
            </a:pPr>
            <a:r>
              <a:rPr lang="zh-TW">
                <a:solidFill>
                  <a:srgbClr val="FF0000"/>
                </a:solidFill>
              </a:rPr>
              <a:t>doorbell_address map to device mmio address</a:t>
            </a:r>
          </a:p>
        </p:txBody>
      </p:sp>
      <p:pic>
        <p:nvPicPr>
          <p:cNvPr id="671" name="Shape 6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2225" y="4780650"/>
            <a:ext cx="4291775" cy="207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Shape 67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pqm_create_queue</a:t>
            </a:r>
          </a:p>
        </p:txBody>
      </p:sp>
      <p:sp>
        <p:nvSpPr>
          <p:cNvPr id="677" name="Shape 67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60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3000"/>
              <a:t>find_available_queue_slot</a:t>
            </a:r>
          </a:p>
          <a:p>
            <a:pPr marL="914400" lvl="1" indent="-381000" rtl="0">
              <a:spcBef>
                <a:spcPts val="60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Assign qid (per kfd_process)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dqm-&gt;register_process</a:t>
            </a:r>
          </a:p>
          <a:p>
            <a:pPr marL="914400" lvl="1" indent="-381000" rtl="0">
              <a:spcBef>
                <a:spcPts val="0"/>
              </a:spcBef>
              <a:buClr>
                <a:srgbClr val="000000"/>
              </a:buClr>
              <a:buSzPct val="80000"/>
              <a:buFont typeface="Courier New"/>
              <a:buChar char="o"/>
            </a:pPr>
            <a:r>
              <a:rPr lang="zh-TW">
                <a:solidFill>
                  <a:srgbClr val="000000"/>
                </a:solidFill>
              </a:rPr>
              <a:t>Register process to dqm (device queue manager)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create_cp_queue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Create with queue_properties get from application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Map doorbell mmio address to application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dqm-&gt;create_queue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dqm-&gt;execute_queue</a:t>
            </a:r>
          </a:p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  <p:transition spd="slow"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Shape 68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/>
              <a:t>dqm-&gt;execute_queue </a:t>
            </a:r>
          </a:p>
        </p:txBody>
      </p:sp>
      <p:sp>
        <p:nvSpPr>
          <p:cNvPr id="690" name="Shape 69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Write queue configuration to device</a:t>
            </a:r>
          </a:p>
          <a:p>
            <a: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load_mqd</a:t>
            </a:r>
          </a:p>
          <a:p>
            <a: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ring_base_addr</a:t>
            </a:r>
          </a:p>
          <a:p>
            <a: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doorbell_offset</a:t>
            </a:r>
          </a:p>
          <a:p>
            <a: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queue_priority</a:t>
            </a:r>
          </a:p>
          <a:p>
            <a: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...</a:t>
            </a:r>
          </a:p>
        </p:txBody>
      </p:sp>
    </p:spTree>
  </p:cSld>
  <p:clrMapOvr>
    <a:masterClrMapping/>
  </p:clrMapOvr>
  <p:transition spd="slow"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Shape 695"/>
          <p:cNvSpPr/>
          <p:nvPr/>
        </p:nvSpPr>
        <p:spPr>
          <a:xfrm>
            <a:off x="5619708" y="823417"/>
            <a:ext cx="972899" cy="1909199"/>
          </a:xfrm>
          <a:prstGeom prst="rect">
            <a:avLst/>
          </a:prstGeom>
          <a:solidFill>
            <a:schemeClr val="lt2"/>
          </a:solidFill>
          <a:ln w="19050" cap="flat">
            <a:solidFill>
              <a:srgbClr val="3C78D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696" name="Shape 696"/>
          <p:cNvSpPr/>
          <p:nvPr/>
        </p:nvSpPr>
        <p:spPr>
          <a:xfrm>
            <a:off x="1370124" y="5339167"/>
            <a:ext cx="7311899" cy="786900"/>
          </a:xfrm>
          <a:prstGeom prst="rect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cxnSp>
        <p:nvCxnSpPr>
          <p:cNvPr id="697" name="Shape 697"/>
          <p:cNvCxnSpPr/>
          <p:nvPr/>
        </p:nvCxnSpPr>
        <p:spPr>
          <a:xfrm>
            <a:off x="2203023" y="5343965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98" name="Shape 698"/>
          <p:cNvCxnSpPr/>
          <p:nvPr/>
        </p:nvCxnSpPr>
        <p:spPr>
          <a:xfrm>
            <a:off x="1770543" y="5343965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699" name="Shape 699"/>
          <p:cNvCxnSpPr/>
          <p:nvPr/>
        </p:nvCxnSpPr>
        <p:spPr>
          <a:xfrm>
            <a:off x="5067549" y="5343965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00" name="Shape 700"/>
          <p:cNvCxnSpPr/>
          <p:nvPr/>
        </p:nvCxnSpPr>
        <p:spPr>
          <a:xfrm>
            <a:off x="6320369" y="5343965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01" name="Shape 701"/>
          <p:cNvCxnSpPr/>
          <p:nvPr/>
        </p:nvCxnSpPr>
        <p:spPr>
          <a:xfrm>
            <a:off x="7542714" y="5343965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02" name="Shape 702"/>
          <p:cNvCxnSpPr/>
          <p:nvPr/>
        </p:nvCxnSpPr>
        <p:spPr>
          <a:xfrm>
            <a:off x="8286039" y="5343965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03" name="Shape 703"/>
          <p:cNvCxnSpPr/>
          <p:nvPr/>
        </p:nvCxnSpPr>
        <p:spPr>
          <a:xfrm>
            <a:off x="7932064" y="5343965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04" name="Shape 704"/>
          <p:cNvCxnSpPr/>
          <p:nvPr/>
        </p:nvCxnSpPr>
        <p:spPr>
          <a:xfrm>
            <a:off x="6736864" y="5343965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05" name="Shape 705"/>
          <p:cNvCxnSpPr/>
          <p:nvPr/>
        </p:nvCxnSpPr>
        <p:spPr>
          <a:xfrm>
            <a:off x="7126214" y="5343965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06" name="Shape 706"/>
          <p:cNvCxnSpPr/>
          <p:nvPr/>
        </p:nvCxnSpPr>
        <p:spPr>
          <a:xfrm>
            <a:off x="5499277" y="5343965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07" name="Shape 707"/>
          <p:cNvCxnSpPr/>
          <p:nvPr/>
        </p:nvCxnSpPr>
        <p:spPr>
          <a:xfrm>
            <a:off x="5888627" y="5343965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08" name="Shape 708"/>
          <p:cNvSpPr/>
          <p:nvPr/>
        </p:nvSpPr>
        <p:spPr>
          <a:xfrm>
            <a:off x="2423150" y="5512514"/>
            <a:ext cx="2468900" cy="486525"/>
          </a:xfrm>
          <a:custGeom>
            <a:avLst/>
            <a:gdLst/>
            <a:ahLst/>
            <a:cxnLst/>
            <a:rect l="0" t="0" r="0" b="0"/>
            <a:pathLst>
              <a:path w="98756" h="19461" extrusionOk="0">
                <a:moveTo>
                  <a:pt x="0" y="12528"/>
                </a:moveTo>
                <a:cubicBezTo>
                  <a:pt x="4011" y="10463"/>
                  <a:pt x="14041" y="-981"/>
                  <a:pt x="24070" y="140"/>
                </a:cubicBezTo>
                <a:cubicBezTo>
                  <a:pt x="34099" y="1261"/>
                  <a:pt x="47726" y="17720"/>
                  <a:pt x="60174" y="19254"/>
                </a:cubicBezTo>
                <a:cubicBezTo>
                  <a:pt x="72621" y="20787"/>
                  <a:pt x="92325" y="10994"/>
                  <a:pt x="98756" y="9343"/>
                </a:cubicBezTo>
              </a:path>
            </a:pathLst>
          </a:cu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sp>
      <p:sp>
        <p:nvSpPr>
          <p:cNvPr id="709" name="Shape 709"/>
          <p:cNvSpPr/>
          <p:nvPr/>
        </p:nvSpPr>
        <p:spPr>
          <a:xfrm>
            <a:off x="5502625" y="5343967"/>
            <a:ext cx="2429400" cy="791700"/>
          </a:xfrm>
          <a:prstGeom prst="rect">
            <a:avLst/>
          </a:prstGeom>
          <a:noFill/>
          <a:ln w="19050" cap="flat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710" name="Shape 710"/>
          <p:cNvSpPr txBox="1"/>
          <p:nvPr/>
        </p:nvSpPr>
        <p:spPr>
          <a:xfrm>
            <a:off x="5502625" y="6206242"/>
            <a:ext cx="2429400" cy="274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>
                <a:solidFill>
                  <a:srgbClr val="FF0000"/>
                </a:solidFill>
              </a:rPr>
              <a:t>HSA GPU’s configuration register mmio address </a:t>
            </a:r>
          </a:p>
        </p:txBody>
      </p:sp>
      <p:grpSp>
        <p:nvGrpSpPr>
          <p:cNvPr id="711" name="Shape 711"/>
          <p:cNvGrpSpPr/>
          <p:nvPr/>
        </p:nvGrpSpPr>
        <p:grpSpPr>
          <a:xfrm>
            <a:off x="228600" y="3809417"/>
            <a:ext cx="2117399" cy="1045175"/>
            <a:chOff x="3513300" y="3841750"/>
            <a:chExt cx="2117399" cy="1045175"/>
          </a:xfrm>
        </p:grpSpPr>
        <p:grpSp>
          <p:nvGrpSpPr>
            <p:cNvPr id="712" name="Shape 712"/>
            <p:cNvGrpSpPr/>
            <p:nvPr/>
          </p:nvGrpSpPr>
          <p:grpSpPr>
            <a:xfrm>
              <a:off x="3513300" y="3841750"/>
              <a:ext cx="2117399" cy="552024"/>
              <a:chOff x="6335925" y="5615800"/>
              <a:chExt cx="2117399" cy="552024"/>
            </a:xfrm>
          </p:grpSpPr>
          <p:sp>
            <p:nvSpPr>
              <p:cNvPr id="713" name="Shape 713"/>
              <p:cNvSpPr/>
              <p:nvPr/>
            </p:nvSpPr>
            <p:spPr>
              <a:xfrm>
                <a:off x="6335925" y="5615800"/>
                <a:ext cx="2117399" cy="545399"/>
              </a:xfrm>
              <a:prstGeom prst="rect">
                <a:avLst/>
              </a:prstGeom>
              <a:solidFill>
                <a:schemeClr val="lt2"/>
              </a:solidFill>
              <a:ln w="19050" cap="flat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/>
              </a:p>
            </p:txBody>
          </p:sp>
          <p:cxnSp>
            <p:nvCxnSpPr>
              <p:cNvPr id="714" name="Shape 714"/>
              <p:cNvCxnSpPr/>
              <p:nvPr/>
            </p:nvCxnSpPr>
            <p:spPr>
              <a:xfrm>
                <a:off x="6681025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715" name="Shape 715"/>
              <p:cNvCxnSpPr/>
              <p:nvPr/>
            </p:nvCxnSpPr>
            <p:spPr>
              <a:xfrm>
                <a:off x="7043825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716" name="Shape 716"/>
              <p:cNvCxnSpPr/>
              <p:nvPr/>
            </p:nvCxnSpPr>
            <p:spPr>
              <a:xfrm>
                <a:off x="7406650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717" name="Shape 717"/>
              <p:cNvCxnSpPr/>
              <p:nvPr/>
            </p:nvCxnSpPr>
            <p:spPr>
              <a:xfrm>
                <a:off x="7769450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718" name="Shape 718"/>
              <p:cNvCxnSpPr/>
              <p:nvPr/>
            </p:nvCxnSpPr>
            <p:spPr>
              <a:xfrm>
                <a:off x="8123425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</p:grpSp>
        <p:sp>
          <p:nvSpPr>
            <p:cNvPr id="719" name="Shape 719"/>
            <p:cNvSpPr txBox="1"/>
            <p:nvPr/>
          </p:nvSpPr>
          <p:spPr>
            <a:xfrm>
              <a:off x="3557300" y="4400325"/>
              <a:ext cx="1991099" cy="4866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rPr lang="zh-TW" sz="1000">
                  <a:solidFill>
                    <a:srgbClr val="FF0000"/>
                  </a:solidFill>
                </a:rPr>
                <a:t>Free hardware queue_id bitmap</a:t>
              </a:r>
            </a:p>
            <a:p>
              <a:pPr lvl="0" rtl="0">
                <a:spcBef>
                  <a:spcPts val="0"/>
                </a:spcBef>
                <a:buNone/>
              </a:pPr>
              <a:endParaRPr sz="1000">
                <a:solidFill>
                  <a:srgbClr val="FF0000"/>
                </a:solidFill>
              </a:endParaRPr>
            </a:p>
          </p:txBody>
        </p:sp>
      </p:grpSp>
      <p:sp>
        <p:nvSpPr>
          <p:cNvPr id="720" name="Shape 720"/>
          <p:cNvSpPr txBox="1"/>
          <p:nvPr/>
        </p:nvSpPr>
        <p:spPr>
          <a:xfrm>
            <a:off x="5435275" y="5365567"/>
            <a:ext cx="735899" cy="753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sz="800" b="1">
              <a:solidFill>
                <a:srgbClr val="1155CC"/>
              </a:solidFill>
            </a:endParaRPr>
          </a:p>
        </p:txBody>
      </p:sp>
      <p:sp>
        <p:nvSpPr>
          <p:cNvPr id="721" name="Shape 721"/>
          <p:cNvSpPr/>
          <p:nvPr/>
        </p:nvSpPr>
        <p:spPr>
          <a:xfrm>
            <a:off x="1441425" y="823417"/>
            <a:ext cx="972899" cy="1909199"/>
          </a:xfrm>
          <a:prstGeom prst="rect">
            <a:avLst/>
          </a:prstGeom>
          <a:solidFill>
            <a:schemeClr val="lt2"/>
          </a:solidFill>
          <a:ln w="19050" cap="flat">
            <a:solidFill>
              <a:srgbClr val="B45F0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cxnSp>
        <p:nvCxnSpPr>
          <p:cNvPr id="722" name="Shape 722"/>
          <p:cNvCxnSpPr/>
          <p:nvPr/>
        </p:nvCxnSpPr>
        <p:spPr>
          <a:xfrm>
            <a:off x="1431825" y="2425842"/>
            <a:ext cx="9921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23" name="Shape 723"/>
          <p:cNvCxnSpPr/>
          <p:nvPr/>
        </p:nvCxnSpPr>
        <p:spPr>
          <a:xfrm>
            <a:off x="1431825" y="2120617"/>
            <a:ext cx="9921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24" name="Shape 724"/>
          <p:cNvSpPr txBox="1"/>
          <p:nvPr/>
        </p:nvSpPr>
        <p:spPr>
          <a:xfrm>
            <a:off x="1412400" y="2398867"/>
            <a:ext cx="992100" cy="3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doorbell</a:t>
            </a:r>
          </a:p>
        </p:txBody>
      </p:sp>
      <p:sp>
        <p:nvSpPr>
          <p:cNvPr id="725" name="Shape 725"/>
          <p:cNvSpPr txBox="1"/>
          <p:nvPr/>
        </p:nvSpPr>
        <p:spPr>
          <a:xfrm>
            <a:off x="1412400" y="2120617"/>
            <a:ext cx="1159500" cy="3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ring_base_address</a:t>
            </a:r>
          </a:p>
        </p:txBody>
      </p:sp>
      <p:sp>
        <p:nvSpPr>
          <p:cNvPr id="726" name="Shape 726"/>
          <p:cNvSpPr/>
          <p:nvPr/>
        </p:nvSpPr>
        <p:spPr>
          <a:xfrm>
            <a:off x="1756200" y="878621"/>
            <a:ext cx="327622" cy="661378"/>
          </a:xfrm>
          <a:custGeom>
            <a:avLst/>
            <a:gdLst/>
            <a:ahLst/>
            <a:cxnLst/>
            <a:rect l="0" t="0" r="0" b="0"/>
            <a:pathLst>
              <a:path w="13481" h="25563" extrusionOk="0">
                <a:moveTo>
                  <a:pt x="7487" y="0"/>
                </a:moveTo>
                <a:cubicBezTo>
                  <a:pt x="6278" y="1526"/>
                  <a:pt x="-715" y="6995"/>
                  <a:pt x="238" y="9157"/>
                </a:cubicBezTo>
                <a:cubicBezTo>
                  <a:pt x="1191" y="11319"/>
                  <a:pt x="12129" y="10237"/>
                  <a:pt x="13210" y="12972"/>
                </a:cubicBezTo>
                <a:cubicBezTo>
                  <a:pt x="14291" y="15706"/>
                  <a:pt x="7805" y="23464"/>
                  <a:pt x="6724" y="25563"/>
                </a:cubicBezTo>
              </a:path>
            </a:pathLst>
          </a:cu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sp>
      <p:sp>
        <p:nvSpPr>
          <p:cNvPr id="727" name="Shape 727"/>
          <p:cNvSpPr txBox="1"/>
          <p:nvPr/>
        </p:nvSpPr>
        <p:spPr>
          <a:xfrm>
            <a:off x="1370125" y="390492"/>
            <a:ext cx="1201799" cy="53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000">
                <a:solidFill>
                  <a:srgbClr val="B45F06"/>
                </a:solidFill>
              </a:rPr>
              <a:t>pasid=0</a:t>
            </a:r>
          </a:p>
          <a:p>
            <a:pPr lvl="0" rtl="0">
              <a:spcBef>
                <a:spcPts val="0"/>
              </a:spcBef>
              <a:buNone/>
            </a:pPr>
            <a:r>
              <a:rPr lang="zh-TW" sz="1000">
                <a:solidFill>
                  <a:srgbClr val="B45F06"/>
                </a:solidFill>
              </a:rPr>
              <a:t>queue_id=0</a:t>
            </a:r>
          </a:p>
        </p:txBody>
      </p:sp>
      <p:sp>
        <p:nvSpPr>
          <p:cNvPr id="728" name="Shape 728"/>
          <p:cNvSpPr/>
          <p:nvPr/>
        </p:nvSpPr>
        <p:spPr>
          <a:xfrm>
            <a:off x="3530566" y="823417"/>
            <a:ext cx="972899" cy="1909199"/>
          </a:xfrm>
          <a:prstGeom prst="rect">
            <a:avLst/>
          </a:prstGeom>
          <a:solidFill>
            <a:schemeClr val="lt2"/>
          </a:solidFill>
          <a:ln w="19050" cap="flat">
            <a:solidFill>
              <a:srgbClr val="B45F0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cxnSp>
        <p:nvCxnSpPr>
          <p:cNvPr id="729" name="Shape 729"/>
          <p:cNvCxnSpPr/>
          <p:nvPr/>
        </p:nvCxnSpPr>
        <p:spPr>
          <a:xfrm>
            <a:off x="3520966" y="2425842"/>
            <a:ext cx="9921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30" name="Shape 730"/>
          <p:cNvCxnSpPr/>
          <p:nvPr/>
        </p:nvCxnSpPr>
        <p:spPr>
          <a:xfrm>
            <a:off x="3520966" y="2120617"/>
            <a:ext cx="9921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31" name="Shape 731"/>
          <p:cNvSpPr txBox="1"/>
          <p:nvPr/>
        </p:nvSpPr>
        <p:spPr>
          <a:xfrm>
            <a:off x="3501541" y="2398867"/>
            <a:ext cx="992100" cy="3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doorbell</a:t>
            </a:r>
          </a:p>
        </p:txBody>
      </p:sp>
      <p:sp>
        <p:nvSpPr>
          <p:cNvPr id="732" name="Shape 732"/>
          <p:cNvSpPr txBox="1"/>
          <p:nvPr/>
        </p:nvSpPr>
        <p:spPr>
          <a:xfrm>
            <a:off x="3501541" y="2120617"/>
            <a:ext cx="1159500" cy="3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ring_base_address</a:t>
            </a:r>
          </a:p>
        </p:txBody>
      </p:sp>
      <p:sp>
        <p:nvSpPr>
          <p:cNvPr id="733" name="Shape 733"/>
          <p:cNvSpPr txBox="1"/>
          <p:nvPr/>
        </p:nvSpPr>
        <p:spPr>
          <a:xfrm>
            <a:off x="3459266" y="390492"/>
            <a:ext cx="1201799" cy="53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000">
                <a:solidFill>
                  <a:srgbClr val="B45F06"/>
                </a:solidFill>
              </a:rPr>
              <a:t>pasid=0</a:t>
            </a:r>
          </a:p>
          <a:p>
            <a:pPr lvl="0" rtl="0">
              <a:spcBef>
                <a:spcPts val="0"/>
              </a:spcBef>
              <a:buNone/>
            </a:pPr>
            <a:r>
              <a:rPr lang="zh-TW" sz="1000">
                <a:solidFill>
                  <a:srgbClr val="B45F06"/>
                </a:solidFill>
              </a:rPr>
              <a:t>queue_id=1</a:t>
            </a:r>
          </a:p>
        </p:txBody>
      </p:sp>
      <p:cxnSp>
        <p:nvCxnSpPr>
          <p:cNvPr id="734" name="Shape 734"/>
          <p:cNvCxnSpPr/>
          <p:nvPr/>
        </p:nvCxnSpPr>
        <p:spPr>
          <a:xfrm>
            <a:off x="5610108" y="2425842"/>
            <a:ext cx="9921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35" name="Shape 735"/>
          <p:cNvCxnSpPr/>
          <p:nvPr/>
        </p:nvCxnSpPr>
        <p:spPr>
          <a:xfrm>
            <a:off x="5610108" y="2120617"/>
            <a:ext cx="9921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36" name="Shape 736"/>
          <p:cNvSpPr txBox="1"/>
          <p:nvPr/>
        </p:nvSpPr>
        <p:spPr>
          <a:xfrm>
            <a:off x="5590683" y="2398867"/>
            <a:ext cx="992100" cy="3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doorbell</a:t>
            </a:r>
          </a:p>
        </p:txBody>
      </p:sp>
      <p:sp>
        <p:nvSpPr>
          <p:cNvPr id="737" name="Shape 737"/>
          <p:cNvSpPr txBox="1"/>
          <p:nvPr/>
        </p:nvSpPr>
        <p:spPr>
          <a:xfrm>
            <a:off x="5590683" y="2120617"/>
            <a:ext cx="1159500" cy="3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ring_base_address</a:t>
            </a:r>
          </a:p>
        </p:txBody>
      </p:sp>
      <p:sp>
        <p:nvSpPr>
          <p:cNvPr id="738" name="Shape 738"/>
          <p:cNvSpPr txBox="1"/>
          <p:nvPr/>
        </p:nvSpPr>
        <p:spPr>
          <a:xfrm>
            <a:off x="5575870" y="390492"/>
            <a:ext cx="1201799" cy="53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000">
                <a:solidFill>
                  <a:srgbClr val="3C78D8"/>
                </a:solidFill>
              </a:rPr>
              <a:t>pasid=1</a:t>
            </a:r>
          </a:p>
          <a:p>
            <a:pPr lvl="0" rtl="0">
              <a:spcBef>
                <a:spcPts val="0"/>
              </a:spcBef>
              <a:buNone/>
            </a:pPr>
            <a:r>
              <a:rPr lang="zh-TW" sz="1000">
                <a:solidFill>
                  <a:srgbClr val="3C78D8"/>
                </a:solidFill>
              </a:rPr>
              <a:t>queue_id=0</a:t>
            </a:r>
          </a:p>
        </p:txBody>
      </p:sp>
      <p:sp>
        <p:nvSpPr>
          <p:cNvPr id="739" name="Shape 739"/>
          <p:cNvSpPr/>
          <p:nvPr/>
        </p:nvSpPr>
        <p:spPr>
          <a:xfrm>
            <a:off x="7708850" y="823417"/>
            <a:ext cx="972899" cy="1909199"/>
          </a:xfrm>
          <a:prstGeom prst="rect">
            <a:avLst/>
          </a:prstGeom>
          <a:solidFill>
            <a:schemeClr val="lt2"/>
          </a:solidFill>
          <a:ln w="19050" cap="flat">
            <a:solidFill>
              <a:srgbClr val="3C78D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cxnSp>
        <p:nvCxnSpPr>
          <p:cNvPr id="740" name="Shape 740"/>
          <p:cNvCxnSpPr/>
          <p:nvPr/>
        </p:nvCxnSpPr>
        <p:spPr>
          <a:xfrm>
            <a:off x="7699250" y="2425842"/>
            <a:ext cx="9921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41" name="Shape 741"/>
          <p:cNvCxnSpPr/>
          <p:nvPr/>
        </p:nvCxnSpPr>
        <p:spPr>
          <a:xfrm>
            <a:off x="7699250" y="2120617"/>
            <a:ext cx="9921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42" name="Shape 742"/>
          <p:cNvSpPr txBox="1"/>
          <p:nvPr/>
        </p:nvSpPr>
        <p:spPr>
          <a:xfrm>
            <a:off x="7679825" y="2398867"/>
            <a:ext cx="992100" cy="3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doorbell</a:t>
            </a:r>
          </a:p>
        </p:txBody>
      </p:sp>
      <p:sp>
        <p:nvSpPr>
          <p:cNvPr id="743" name="Shape 743"/>
          <p:cNvSpPr txBox="1"/>
          <p:nvPr/>
        </p:nvSpPr>
        <p:spPr>
          <a:xfrm>
            <a:off x="7679825" y="2120617"/>
            <a:ext cx="1159500" cy="3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ring_base_address</a:t>
            </a:r>
          </a:p>
        </p:txBody>
      </p:sp>
      <p:sp>
        <p:nvSpPr>
          <p:cNvPr id="744" name="Shape 744"/>
          <p:cNvSpPr txBox="1"/>
          <p:nvPr/>
        </p:nvSpPr>
        <p:spPr>
          <a:xfrm>
            <a:off x="7637550" y="390492"/>
            <a:ext cx="1201799" cy="53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000">
                <a:solidFill>
                  <a:srgbClr val="3C78D8"/>
                </a:solidFill>
              </a:rPr>
              <a:t>pasid=1</a:t>
            </a:r>
          </a:p>
          <a:p>
            <a:pPr lvl="0" rtl="0">
              <a:spcBef>
                <a:spcPts val="0"/>
              </a:spcBef>
              <a:buNone/>
            </a:pPr>
            <a:r>
              <a:rPr lang="zh-TW" sz="1000">
                <a:solidFill>
                  <a:srgbClr val="3C78D8"/>
                </a:solidFill>
              </a:rPr>
              <a:t>queue_id=1</a:t>
            </a:r>
          </a:p>
        </p:txBody>
      </p:sp>
      <p:cxnSp>
        <p:nvCxnSpPr>
          <p:cNvPr id="745" name="Shape 745"/>
          <p:cNvCxnSpPr/>
          <p:nvPr/>
        </p:nvCxnSpPr>
        <p:spPr>
          <a:xfrm>
            <a:off x="416375" y="390767"/>
            <a:ext cx="7871400" cy="197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46" name="Shape 746"/>
          <p:cNvCxnSpPr/>
          <p:nvPr/>
        </p:nvCxnSpPr>
        <p:spPr>
          <a:xfrm rot="10800000">
            <a:off x="1961150" y="400567"/>
            <a:ext cx="0" cy="2460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47" name="Shape 747"/>
          <p:cNvCxnSpPr/>
          <p:nvPr/>
        </p:nvCxnSpPr>
        <p:spPr>
          <a:xfrm rot="10800000">
            <a:off x="4087625" y="400567"/>
            <a:ext cx="0" cy="2460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48" name="Shape 748"/>
          <p:cNvCxnSpPr/>
          <p:nvPr/>
        </p:nvCxnSpPr>
        <p:spPr>
          <a:xfrm rot="10800000">
            <a:off x="6176775" y="400567"/>
            <a:ext cx="0" cy="2460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49" name="Shape 749"/>
          <p:cNvCxnSpPr/>
          <p:nvPr/>
        </p:nvCxnSpPr>
        <p:spPr>
          <a:xfrm rot="10800000">
            <a:off x="8286050" y="400567"/>
            <a:ext cx="0" cy="2460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50" name="Shape 750"/>
          <p:cNvCxnSpPr/>
          <p:nvPr/>
        </p:nvCxnSpPr>
        <p:spPr>
          <a:xfrm rot="10800000">
            <a:off x="406525" y="380942"/>
            <a:ext cx="0" cy="29616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51" name="Shape 751"/>
          <p:cNvCxnSpPr/>
          <p:nvPr/>
        </p:nvCxnSpPr>
        <p:spPr>
          <a:xfrm rot="10800000" flipH="1">
            <a:off x="416375" y="3332642"/>
            <a:ext cx="1052699" cy="98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52" name="Shape 752"/>
          <p:cNvCxnSpPr/>
          <p:nvPr/>
        </p:nvCxnSpPr>
        <p:spPr>
          <a:xfrm>
            <a:off x="416375" y="3342542"/>
            <a:ext cx="0" cy="4820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753" name="Shape 753"/>
          <p:cNvCxnSpPr/>
          <p:nvPr/>
        </p:nvCxnSpPr>
        <p:spPr>
          <a:xfrm>
            <a:off x="750925" y="3342542"/>
            <a:ext cx="0" cy="4820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754" name="Shape 754"/>
          <p:cNvCxnSpPr/>
          <p:nvPr/>
        </p:nvCxnSpPr>
        <p:spPr>
          <a:xfrm>
            <a:off x="1134675" y="3342542"/>
            <a:ext cx="0" cy="4820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755" name="Shape 755"/>
          <p:cNvCxnSpPr/>
          <p:nvPr/>
        </p:nvCxnSpPr>
        <p:spPr>
          <a:xfrm>
            <a:off x="1469075" y="3342542"/>
            <a:ext cx="0" cy="4820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756" name="Shape 756"/>
          <p:cNvSpPr/>
          <p:nvPr/>
        </p:nvSpPr>
        <p:spPr>
          <a:xfrm>
            <a:off x="3831300" y="878622"/>
            <a:ext cx="327622" cy="661378"/>
          </a:xfrm>
          <a:custGeom>
            <a:avLst/>
            <a:gdLst/>
            <a:ahLst/>
            <a:cxnLst/>
            <a:rect l="0" t="0" r="0" b="0"/>
            <a:pathLst>
              <a:path w="13481" h="25563" extrusionOk="0">
                <a:moveTo>
                  <a:pt x="7487" y="0"/>
                </a:moveTo>
                <a:cubicBezTo>
                  <a:pt x="6278" y="1526"/>
                  <a:pt x="-715" y="6995"/>
                  <a:pt x="238" y="9157"/>
                </a:cubicBezTo>
                <a:cubicBezTo>
                  <a:pt x="1191" y="11319"/>
                  <a:pt x="12129" y="10237"/>
                  <a:pt x="13210" y="12972"/>
                </a:cubicBezTo>
                <a:cubicBezTo>
                  <a:pt x="14291" y="15706"/>
                  <a:pt x="7805" y="23464"/>
                  <a:pt x="6724" y="25563"/>
                </a:cubicBezTo>
              </a:path>
            </a:pathLst>
          </a:cu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sp>
      <p:sp>
        <p:nvSpPr>
          <p:cNvPr id="757" name="Shape 757"/>
          <p:cNvSpPr/>
          <p:nvPr/>
        </p:nvSpPr>
        <p:spPr>
          <a:xfrm>
            <a:off x="5912570" y="878622"/>
            <a:ext cx="327622" cy="661378"/>
          </a:xfrm>
          <a:custGeom>
            <a:avLst/>
            <a:gdLst/>
            <a:ahLst/>
            <a:cxnLst/>
            <a:rect l="0" t="0" r="0" b="0"/>
            <a:pathLst>
              <a:path w="13481" h="25563" extrusionOk="0">
                <a:moveTo>
                  <a:pt x="7487" y="0"/>
                </a:moveTo>
                <a:cubicBezTo>
                  <a:pt x="6278" y="1526"/>
                  <a:pt x="-715" y="6995"/>
                  <a:pt x="238" y="9157"/>
                </a:cubicBezTo>
                <a:cubicBezTo>
                  <a:pt x="1191" y="11319"/>
                  <a:pt x="12129" y="10237"/>
                  <a:pt x="13210" y="12972"/>
                </a:cubicBezTo>
                <a:cubicBezTo>
                  <a:pt x="14291" y="15706"/>
                  <a:pt x="7805" y="23464"/>
                  <a:pt x="6724" y="25563"/>
                </a:cubicBezTo>
              </a:path>
            </a:pathLst>
          </a:cu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sp>
      <p:sp>
        <p:nvSpPr>
          <p:cNvPr id="758" name="Shape 758"/>
          <p:cNvSpPr/>
          <p:nvPr/>
        </p:nvSpPr>
        <p:spPr>
          <a:xfrm>
            <a:off x="7987653" y="878622"/>
            <a:ext cx="327622" cy="661378"/>
          </a:xfrm>
          <a:custGeom>
            <a:avLst/>
            <a:gdLst/>
            <a:ahLst/>
            <a:cxnLst/>
            <a:rect l="0" t="0" r="0" b="0"/>
            <a:pathLst>
              <a:path w="13481" h="25563" extrusionOk="0">
                <a:moveTo>
                  <a:pt x="7487" y="0"/>
                </a:moveTo>
                <a:cubicBezTo>
                  <a:pt x="6278" y="1526"/>
                  <a:pt x="-715" y="6995"/>
                  <a:pt x="238" y="9157"/>
                </a:cubicBezTo>
                <a:cubicBezTo>
                  <a:pt x="1191" y="11319"/>
                  <a:pt x="12129" y="10237"/>
                  <a:pt x="13210" y="12972"/>
                </a:cubicBezTo>
                <a:cubicBezTo>
                  <a:pt x="14291" y="15706"/>
                  <a:pt x="7805" y="23464"/>
                  <a:pt x="6724" y="25563"/>
                </a:cubicBezTo>
              </a:path>
            </a:pathLst>
          </a:cu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sp>
      <p:grpSp>
        <p:nvGrpSpPr>
          <p:cNvPr id="759" name="Shape 759"/>
          <p:cNvGrpSpPr/>
          <p:nvPr/>
        </p:nvGrpSpPr>
        <p:grpSpPr>
          <a:xfrm>
            <a:off x="2394075" y="2525892"/>
            <a:ext cx="5352575" cy="2853400"/>
            <a:chOff x="2165475" y="2558225"/>
            <a:chExt cx="5352575" cy="2853400"/>
          </a:xfrm>
        </p:grpSpPr>
        <p:sp>
          <p:nvSpPr>
            <p:cNvPr id="760" name="Shape 760"/>
            <p:cNvSpPr/>
            <p:nvPr/>
          </p:nvSpPr>
          <p:spPr>
            <a:xfrm>
              <a:off x="2165475" y="2646775"/>
              <a:ext cx="3822650" cy="2735325"/>
            </a:xfrm>
            <a:custGeom>
              <a:avLst/>
              <a:gdLst/>
              <a:ahLst/>
              <a:cxnLst/>
              <a:rect l="0" t="0" r="0" b="0"/>
              <a:pathLst>
                <a:path w="152906" h="109413" extrusionOk="0">
                  <a:moveTo>
                    <a:pt x="0" y="0"/>
                  </a:moveTo>
                  <a:cubicBezTo>
                    <a:pt x="8724" y="8593"/>
                    <a:pt x="28271" y="39226"/>
                    <a:pt x="52345" y="51558"/>
                  </a:cubicBezTo>
                  <a:cubicBezTo>
                    <a:pt x="76418" y="63890"/>
                    <a:pt x="128304" y="64349"/>
                    <a:pt x="144441" y="73992"/>
                  </a:cubicBezTo>
                  <a:cubicBezTo>
                    <a:pt x="160577" y="83634"/>
                    <a:pt x="148376" y="103509"/>
                    <a:pt x="149164" y="109413"/>
                  </a:cubicBezTo>
                </a:path>
              </a:pathLst>
            </a:custGeom>
            <a:noFill/>
            <a:ln w="19050" cap="flat">
              <a:solidFill>
                <a:srgbClr val="A64D79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761" name="Shape 761"/>
            <p:cNvSpPr/>
            <p:nvPr/>
          </p:nvSpPr>
          <p:spPr>
            <a:xfrm>
              <a:off x="4280925" y="2558225"/>
              <a:ext cx="1475900" cy="2853400"/>
            </a:xfrm>
            <a:custGeom>
              <a:avLst/>
              <a:gdLst/>
              <a:ahLst/>
              <a:cxnLst/>
              <a:rect l="0" t="0" r="0" b="0"/>
              <a:pathLst>
                <a:path w="59036" h="114136" extrusionOk="0">
                  <a:moveTo>
                    <a:pt x="0" y="0"/>
                  </a:moveTo>
                  <a:cubicBezTo>
                    <a:pt x="8068" y="4919"/>
                    <a:pt x="38569" y="10495"/>
                    <a:pt x="48409" y="29518"/>
                  </a:cubicBezTo>
                  <a:cubicBezTo>
                    <a:pt x="58248" y="48540"/>
                    <a:pt x="57264" y="100033"/>
                    <a:pt x="59036" y="114136"/>
                  </a:cubicBezTo>
                </a:path>
              </a:pathLst>
            </a:custGeom>
            <a:noFill/>
            <a:ln w="19050" cap="flat">
              <a:solidFill>
                <a:srgbClr val="A64D79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762" name="Shape 762"/>
            <p:cNvSpPr/>
            <p:nvPr/>
          </p:nvSpPr>
          <p:spPr>
            <a:xfrm>
              <a:off x="5983125" y="2627100"/>
              <a:ext cx="863600" cy="2755000"/>
            </a:xfrm>
            <a:custGeom>
              <a:avLst/>
              <a:gdLst/>
              <a:ahLst/>
              <a:cxnLst/>
              <a:rect l="0" t="0" r="0" b="0"/>
              <a:pathLst>
                <a:path w="34544" h="110200" extrusionOk="0">
                  <a:moveTo>
                    <a:pt x="14562" y="0"/>
                  </a:moveTo>
                  <a:cubicBezTo>
                    <a:pt x="17841" y="2361"/>
                    <a:pt x="36668" y="-4198"/>
                    <a:pt x="34241" y="14168"/>
                  </a:cubicBezTo>
                  <a:cubicBezTo>
                    <a:pt x="31814" y="32534"/>
                    <a:pt x="5706" y="94194"/>
                    <a:pt x="0" y="110200"/>
                  </a:cubicBezTo>
                </a:path>
              </a:pathLst>
            </a:custGeom>
            <a:noFill/>
            <a:ln w="19050" cap="flat">
              <a:solidFill>
                <a:srgbClr val="A64D79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763" name="Shape 763"/>
            <p:cNvSpPr/>
            <p:nvPr/>
          </p:nvSpPr>
          <p:spPr>
            <a:xfrm>
              <a:off x="5855200" y="2636925"/>
              <a:ext cx="1662850" cy="2715650"/>
            </a:xfrm>
            <a:custGeom>
              <a:avLst/>
              <a:gdLst/>
              <a:ahLst/>
              <a:cxnLst/>
              <a:rect l="0" t="0" r="0" b="0"/>
              <a:pathLst>
                <a:path w="66514" h="108626" extrusionOk="0">
                  <a:moveTo>
                    <a:pt x="66514" y="0"/>
                  </a:moveTo>
                  <a:cubicBezTo>
                    <a:pt x="57199" y="4723"/>
                    <a:pt x="21712" y="10233"/>
                    <a:pt x="10627" y="28338"/>
                  </a:cubicBezTo>
                  <a:cubicBezTo>
                    <a:pt x="-458" y="46442"/>
                    <a:pt x="1771" y="95244"/>
                    <a:pt x="0" y="108626"/>
                  </a:cubicBezTo>
                </a:path>
              </a:pathLst>
            </a:custGeom>
            <a:noFill/>
            <a:ln w="19050" cap="flat">
              <a:solidFill>
                <a:srgbClr val="A64D79"/>
              </a:solidFill>
              <a:prstDash val="solid"/>
              <a:round/>
              <a:headEnd type="none" w="lg" len="lg"/>
              <a:tailEnd type="triangle" w="lg" len="lg"/>
            </a:ln>
          </p:spPr>
        </p:sp>
      </p:grpSp>
      <p:sp>
        <p:nvSpPr>
          <p:cNvPr id="764" name="Shape 764"/>
          <p:cNvSpPr/>
          <p:nvPr/>
        </p:nvSpPr>
        <p:spPr>
          <a:xfrm>
            <a:off x="5167625" y="5355967"/>
            <a:ext cx="1052675" cy="753299"/>
          </a:xfrm>
          <a:prstGeom prst="irregularSeal1">
            <a:avLst/>
          </a:prstGeom>
          <a:solidFill>
            <a:srgbClr val="F6B26B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endParaRPr sz="700" b="1">
              <a:solidFill>
                <a:schemeClr val="hlink"/>
              </a:solidFill>
            </a:endParaRPr>
          </a:p>
          <a:p>
            <a:pPr lvl="0" rtl="0">
              <a:spcBef>
                <a:spcPts val="0"/>
              </a:spcBef>
              <a:buClr>
                <a:schemeClr val="dk1"/>
              </a:buClr>
              <a:buSzPct val="137500"/>
              <a:buFont typeface="Arial"/>
              <a:buNone/>
            </a:pPr>
            <a:r>
              <a:rPr lang="zh-TW" sz="800" b="1">
                <a:solidFill>
                  <a:schemeClr val="hlink"/>
                </a:solidFill>
              </a:rPr>
              <a:t>queue acquire register</a:t>
            </a:r>
          </a:p>
        </p:txBody>
      </p:sp>
      <p:grpSp>
        <p:nvGrpSpPr>
          <p:cNvPr id="765" name="Shape 765"/>
          <p:cNvGrpSpPr/>
          <p:nvPr/>
        </p:nvGrpSpPr>
        <p:grpSpPr>
          <a:xfrm>
            <a:off x="2423575" y="2240542"/>
            <a:ext cx="5323075" cy="3109225"/>
            <a:chOff x="2194975" y="2272875"/>
            <a:chExt cx="5323075" cy="3109225"/>
          </a:xfrm>
        </p:grpSpPr>
        <p:sp>
          <p:nvSpPr>
            <p:cNvPr id="766" name="Shape 766"/>
            <p:cNvSpPr/>
            <p:nvPr/>
          </p:nvSpPr>
          <p:spPr>
            <a:xfrm>
              <a:off x="2194975" y="2312250"/>
              <a:ext cx="4574450" cy="3050175"/>
            </a:xfrm>
            <a:custGeom>
              <a:avLst/>
              <a:gdLst/>
              <a:ahLst/>
              <a:cxnLst/>
              <a:rect l="0" t="0" r="0" b="0"/>
              <a:pathLst>
                <a:path w="182978" h="122007" extrusionOk="0">
                  <a:moveTo>
                    <a:pt x="0" y="0"/>
                  </a:moveTo>
                  <a:cubicBezTo>
                    <a:pt x="9905" y="5772"/>
                    <a:pt x="31158" y="24926"/>
                    <a:pt x="59430" y="34634"/>
                  </a:cubicBezTo>
                  <a:cubicBezTo>
                    <a:pt x="87701" y="44342"/>
                    <a:pt x="149164" y="43685"/>
                    <a:pt x="169630" y="58248"/>
                  </a:cubicBezTo>
                  <a:cubicBezTo>
                    <a:pt x="190095" y="72810"/>
                    <a:pt x="180125" y="111380"/>
                    <a:pt x="182224" y="122007"/>
                  </a:cubicBez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767" name="Shape 767"/>
            <p:cNvSpPr/>
            <p:nvPr/>
          </p:nvSpPr>
          <p:spPr>
            <a:xfrm>
              <a:off x="4280925" y="2272875"/>
              <a:ext cx="2322075" cy="3109225"/>
            </a:xfrm>
            <a:custGeom>
              <a:avLst/>
              <a:gdLst/>
              <a:ahLst/>
              <a:cxnLst/>
              <a:rect l="0" t="0" r="0" b="0"/>
              <a:pathLst>
                <a:path w="92883" h="124369" extrusionOk="0">
                  <a:moveTo>
                    <a:pt x="0" y="0"/>
                  </a:moveTo>
                  <a:cubicBezTo>
                    <a:pt x="10232" y="5838"/>
                    <a:pt x="45916" y="14299"/>
                    <a:pt x="61397" y="35028"/>
                  </a:cubicBezTo>
                  <a:cubicBezTo>
                    <a:pt x="76877" y="55756"/>
                    <a:pt x="87635" y="109478"/>
                    <a:pt x="92883" y="124369"/>
                  </a:cubicBez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768" name="Shape 768"/>
            <p:cNvSpPr/>
            <p:nvPr/>
          </p:nvSpPr>
          <p:spPr>
            <a:xfrm>
              <a:off x="6386525" y="2312250"/>
              <a:ext cx="893750" cy="3060025"/>
            </a:xfrm>
            <a:custGeom>
              <a:avLst/>
              <a:gdLst/>
              <a:ahLst/>
              <a:cxnLst/>
              <a:rect l="0" t="0" r="0" b="0"/>
              <a:pathLst>
                <a:path w="35750" h="122401" extrusionOk="0">
                  <a:moveTo>
                    <a:pt x="0" y="0"/>
                  </a:moveTo>
                  <a:cubicBezTo>
                    <a:pt x="5903" y="4919"/>
                    <a:pt x="32798" y="9116"/>
                    <a:pt x="35422" y="29517"/>
                  </a:cubicBezTo>
                  <a:cubicBezTo>
                    <a:pt x="38045" y="49917"/>
                    <a:pt x="19022" y="106920"/>
                    <a:pt x="15743" y="122401"/>
                  </a:cubicBez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769" name="Shape 769"/>
            <p:cNvSpPr/>
            <p:nvPr/>
          </p:nvSpPr>
          <p:spPr>
            <a:xfrm>
              <a:off x="6671875" y="2322075"/>
              <a:ext cx="846175" cy="3020675"/>
            </a:xfrm>
            <a:custGeom>
              <a:avLst/>
              <a:gdLst/>
              <a:ahLst/>
              <a:cxnLst/>
              <a:rect l="0" t="0" r="0" b="0"/>
              <a:pathLst>
                <a:path w="33847" h="120827" extrusionOk="0">
                  <a:moveTo>
                    <a:pt x="33847" y="0"/>
                  </a:moveTo>
                  <a:cubicBezTo>
                    <a:pt x="29780" y="7412"/>
                    <a:pt x="15087" y="24336"/>
                    <a:pt x="9446" y="44474"/>
                  </a:cubicBezTo>
                  <a:cubicBezTo>
                    <a:pt x="3804" y="64611"/>
                    <a:pt x="1574" y="108101"/>
                    <a:pt x="0" y="120827"/>
                  </a:cubicBez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round/>
              <a:headEnd type="none" w="lg" len="lg"/>
              <a:tailEnd type="triangle" w="lg" len="lg"/>
            </a:ln>
          </p:spPr>
        </p:sp>
      </p:grpSp>
      <p:sp>
        <p:nvSpPr>
          <p:cNvPr id="770" name="Shape 770"/>
          <p:cNvSpPr txBox="1"/>
          <p:nvPr/>
        </p:nvSpPr>
        <p:spPr>
          <a:xfrm>
            <a:off x="3128775" y="6085592"/>
            <a:ext cx="2268600" cy="3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b="1"/>
              <a:t>Physical Address</a:t>
            </a:r>
          </a:p>
        </p:txBody>
      </p:sp>
      <p:grpSp>
        <p:nvGrpSpPr>
          <p:cNvPr id="771" name="Shape 771"/>
          <p:cNvGrpSpPr/>
          <p:nvPr/>
        </p:nvGrpSpPr>
        <p:grpSpPr>
          <a:xfrm>
            <a:off x="1154325" y="4346167"/>
            <a:ext cx="4555494" cy="1142964"/>
            <a:chOff x="925725" y="4727167"/>
            <a:chExt cx="4555494" cy="1142964"/>
          </a:xfrm>
        </p:grpSpPr>
        <p:sp>
          <p:nvSpPr>
            <p:cNvPr id="772" name="Shape 772"/>
            <p:cNvSpPr/>
            <p:nvPr/>
          </p:nvSpPr>
          <p:spPr>
            <a:xfrm>
              <a:off x="925725" y="4727167"/>
              <a:ext cx="4555494" cy="1142964"/>
            </a:xfrm>
            <a:custGeom>
              <a:avLst/>
              <a:gdLst/>
              <a:ahLst/>
              <a:cxnLst/>
              <a:rect l="0" t="0" r="0" b="0"/>
              <a:pathLst>
                <a:path w="181043" h="34241" extrusionOk="0">
                  <a:moveTo>
                    <a:pt x="0" y="0"/>
                  </a:moveTo>
                  <a:lnTo>
                    <a:pt x="393" y="18104"/>
                  </a:lnTo>
                  <a:lnTo>
                    <a:pt x="179469" y="18498"/>
                  </a:lnTo>
                  <a:lnTo>
                    <a:pt x="181043" y="34241"/>
                  </a:lnTo>
                </a:path>
              </a:pathLst>
            </a:cu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773" name="Shape 773"/>
            <p:cNvSpPr txBox="1"/>
            <p:nvPr/>
          </p:nvSpPr>
          <p:spPr>
            <a:xfrm>
              <a:off x="2684200" y="5048675"/>
              <a:ext cx="1460099" cy="2460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rPr lang="zh-TW" b="1">
                  <a:solidFill>
                    <a:srgbClr val="FF0000"/>
                  </a:solidFill>
                </a:rPr>
                <a:t>(pipe, queue)</a:t>
              </a:r>
            </a:p>
          </p:txBody>
        </p:sp>
      </p:grpSp>
      <p:sp>
        <p:nvSpPr>
          <p:cNvPr id="774" name="Shape 774"/>
          <p:cNvSpPr txBox="1"/>
          <p:nvPr/>
        </p:nvSpPr>
        <p:spPr>
          <a:xfrm>
            <a:off x="1327675" y="1815975"/>
            <a:ext cx="1244100" cy="3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write_pointer_address</a:t>
            </a:r>
          </a:p>
        </p:txBody>
      </p:sp>
      <p:cxnSp>
        <p:nvCxnSpPr>
          <p:cNvPr id="775" name="Shape 775"/>
          <p:cNvCxnSpPr/>
          <p:nvPr/>
        </p:nvCxnSpPr>
        <p:spPr>
          <a:xfrm>
            <a:off x="1441425" y="1854217"/>
            <a:ext cx="972899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76" name="Shape 776"/>
          <p:cNvCxnSpPr/>
          <p:nvPr/>
        </p:nvCxnSpPr>
        <p:spPr>
          <a:xfrm>
            <a:off x="1441425" y="1594092"/>
            <a:ext cx="972899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77" name="Shape 777"/>
          <p:cNvSpPr txBox="1"/>
          <p:nvPr/>
        </p:nvSpPr>
        <p:spPr>
          <a:xfrm>
            <a:off x="1370100" y="1558250"/>
            <a:ext cx="1201799" cy="3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read_pointer_address</a:t>
            </a:r>
          </a:p>
        </p:txBody>
      </p:sp>
      <p:cxnSp>
        <p:nvCxnSpPr>
          <p:cNvPr id="778" name="Shape 778"/>
          <p:cNvCxnSpPr/>
          <p:nvPr/>
        </p:nvCxnSpPr>
        <p:spPr>
          <a:xfrm>
            <a:off x="1441425" y="1596492"/>
            <a:ext cx="972899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79" name="Shape 779"/>
          <p:cNvSpPr txBox="1"/>
          <p:nvPr/>
        </p:nvSpPr>
        <p:spPr>
          <a:xfrm>
            <a:off x="3399700" y="1815975"/>
            <a:ext cx="1244100" cy="3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write_pointer_address</a:t>
            </a:r>
          </a:p>
        </p:txBody>
      </p:sp>
      <p:cxnSp>
        <p:nvCxnSpPr>
          <p:cNvPr id="780" name="Shape 780"/>
          <p:cNvCxnSpPr/>
          <p:nvPr/>
        </p:nvCxnSpPr>
        <p:spPr>
          <a:xfrm>
            <a:off x="3513450" y="1854217"/>
            <a:ext cx="972899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81" name="Shape 781"/>
          <p:cNvCxnSpPr/>
          <p:nvPr/>
        </p:nvCxnSpPr>
        <p:spPr>
          <a:xfrm>
            <a:off x="3513450" y="1594092"/>
            <a:ext cx="972899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82" name="Shape 782"/>
          <p:cNvSpPr txBox="1"/>
          <p:nvPr/>
        </p:nvSpPr>
        <p:spPr>
          <a:xfrm>
            <a:off x="3442125" y="1558250"/>
            <a:ext cx="1201799" cy="3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read_pointer_address</a:t>
            </a:r>
          </a:p>
        </p:txBody>
      </p:sp>
      <p:cxnSp>
        <p:nvCxnSpPr>
          <p:cNvPr id="783" name="Shape 783"/>
          <p:cNvCxnSpPr/>
          <p:nvPr/>
        </p:nvCxnSpPr>
        <p:spPr>
          <a:xfrm>
            <a:off x="3513450" y="1596492"/>
            <a:ext cx="972899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84" name="Shape 784"/>
          <p:cNvSpPr txBox="1"/>
          <p:nvPr/>
        </p:nvSpPr>
        <p:spPr>
          <a:xfrm>
            <a:off x="5513875" y="1815975"/>
            <a:ext cx="1244100" cy="3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write_pointer_address</a:t>
            </a:r>
          </a:p>
        </p:txBody>
      </p:sp>
      <p:cxnSp>
        <p:nvCxnSpPr>
          <p:cNvPr id="785" name="Shape 785"/>
          <p:cNvCxnSpPr/>
          <p:nvPr/>
        </p:nvCxnSpPr>
        <p:spPr>
          <a:xfrm>
            <a:off x="5627625" y="1854217"/>
            <a:ext cx="972899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86" name="Shape 786"/>
          <p:cNvCxnSpPr/>
          <p:nvPr/>
        </p:nvCxnSpPr>
        <p:spPr>
          <a:xfrm>
            <a:off x="5627625" y="1594092"/>
            <a:ext cx="972899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87" name="Shape 787"/>
          <p:cNvSpPr txBox="1"/>
          <p:nvPr/>
        </p:nvSpPr>
        <p:spPr>
          <a:xfrm>
            <a:off x="5556300" y="1558250"/>
            <a:ext cx="1201799" cy="3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read_pointer_address</a:t>
            </a:r>
          </a:p>
        </p:txBody>
      </p:sp>
      <p:cxnSp>
        <p:nvCxnSpPr>
          <p:cNvPr id="788" name="Shape 788"/>
          <p:cNvCxnSpPr/>
          <p:nvPr/>
        </p:nvCxnSpPr>
        <p:spPr>
          <a:xfrm>
            <a:off x="5627625" y="1596492"/>
            <a:ext cx="972899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89" name="Shape 789"/>
          <p:cNvSpPr txBox="1"/>
          <p:nvPr/>
        </p:nvSpPr>
        <p:spPr>
          <a:xfrm>
            <a:off x="7610787" y="1815975"/>
            <a:ext cx="1244100" cy="3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write_pointer_address</a:t>
            </a:r>
          </a:p>
        </p:txBody>
      </p:sp>
      <p:cxnSp>
        <p:nvCxnSpPr>
          <p:cNvPr id="790" name="Shape 790"/>
          <p:cNvCxnSpPr/>
          <p:nvPr/>
        </p:nvCxnSpPr>
        <p:spPr>
          <a:xfrm>
            <a:off x="7724537" y="1854217"/>
            <a:ext cx="972899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91" name="Shape 791"/>
          <p:cNvCxnSpPr/>
          <p:nvPr/>
        </p:nvCxnSpPr>
        <p:spPr>
          <a:xfrm>
            <a:off x="7724537" y="1594092"/>
            <a:ext cx="972899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92" name="Shape 792"/>
          <p:cNvSpPr txBox="1"/>
          <p:nvPr/>
        </p:nvSpPr>
        <p:spPr>
          <a:xfrm>
            <a:off x="7653212" y="1558250"/>
            <a:ext cx="1201799" cy="3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800"/>
              <a:t>read_pointer_address</a:t>
            </a:r>
          </a:p>
        </p:txBody>
      </p:sp>
      <p:cxnSp>
        <p:nvCxnSpPr>
          <p:cNvPr id="793" name="Shape 793"/>
          <p:cNvCxnSpPr/>
          <p:nvPr/>
        </p:nvCxnSpPr>
        <p:spPr>
          <a:xfrm>
            <a:off x="7724537" y="1596492"/>
            <a:ext cx="972899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</p:spTree>
  </p:cSld>
  <p:clrMapOvr>
    <a:masterClrMapping/>
  </p:clrMapOvr>
  <p:transition spd="slow"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Shape 798"/>
          <p:cNvSpPr txBox="1">
            <a:spLocks noGrp="1"/>
          </p:cNvSpPr>
          <p:nvPr>
            <p:ph type="title"/>
          </p:nvPr>
        </p:nvSpPr>
        <p:spPr>
          <a:xfrm>
            <a:off x="457200" y="285748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 sz="6000"/>
              <a:t>HW Policy</a:t>
            </a:r>
          </a:p>
        </p:txBody>
      </p:sp>
    </p:spTree>
  </p:cSld>
  <p:clrMapOvr>
    <a:masterClrMapping/>
  </p:clrMapOvr>
  <p:transition spd="slow"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Shape 80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/>
              <a:t>kgd2kfd_device_init</a:t>
            </a:r>
          </a:p>
        </p:txBody>
      </p:sp>
      <p:sp>
        <p:nvSpPr>
          <p:cNvPr id="804" name="Shape 80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2400"/>
              <a:t>radeon_kfd_doorbell_init(kfd);</a:t>
            </a:r>
          </a:p>
          <a:p>
            <a: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2400"/>
              <a:t>radeon_kfd_interrupt_init(kfd);</a:t>
            </a:r>
          </a:p>
          <a:p>
            <a: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2400"/>
              <a:t>device_iommu_pasid_init(kfd);</a:t>
            </a:r>
          </a:p>
          <a:p>
            <a: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2400"/>
              <a:t>kfd_topology_add_device(kfd);</a:t>
            </a:r>
          </a:p>
          <a:p>
            <a: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2400"/>
              <a:t>amd_iommu_set_invalidate_ctx_cb(kfd-&gt;pdev, iommu_pasid_shutdown_callback);</a:t>
            </a:r>
          </a:p>
          <a:p>
            <a: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2400"/>
              <a:t>device_queue_manager_init(kfd);</a:t>
            </a:r>
          </a:p>
          <a:p>
            <a: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dqm-&gt;initialize</a:t>
            </a:r>
          </a:p>
          <a:p>
            <a: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2400"/>
              <a:t>dqm-&gt;start(kfd-&gt;dqm);</a:t>
            </a:r>
          </a:p>
        </p:txBody>
      </p:sp>
    </p:spTree>
  </p:cSld>
  <p:clrMapOvr>
    <a:masterClrMapping/>
  </p:clrMapOvr>
  <p:transition spd="slow"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Shape 80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dqm-&gt;start</a:t>
            </a:r>
          </a:p>
        </p:txBody>
      </p:sp>
      <p:sp>
        <p:nvSpPr>
          <p:cNvPr id="810" name="Shape 8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pm_init (packet manager)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kernel_queue_init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kernel_queue doorbell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kernel_queue ring address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load_mqd to write kernel_queue configuration to device</a:t>
            </a:r>
          </a:p>
          <a:p>
            <a:pPr marL="1371600" lvl="0" indent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  <p:transition spd="slow"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Shape 81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/>
              <a:t>pqm_create_queue</a:t>
            </a:r>
          </a:p>
        </p:txBody>
      </p:sp>
      <p:sp>
        <p:nvSpPr>
          <p:cNvPr id="816" name="Shape 8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60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3000"/>
              <a:t>find_available_queue_slot</a:t>
            </a:r>
          </a:p>
          <a:p>
            <a:pPr marL="914400" lvl="1" indent="-381000" rtl="0">
              <a:spcBef>
                <a:spcPts val="60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Assign qid (per kfd_process)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dqm-&gt;register_process</a:t>
            </a:r>
          </a:p>
          <a:p>
            <a:pPr marL="914400" lvl="1" indent="-381000" rtl="0">
              <a:spcBef>
                <a:spcPts val="0"/>
              </a:spcBef>
              <a:buClr>
                <a:srgbClr val="000000"/>
              </a:buClr>
              <a:buSzPct val="80000"/>
              <a:buFont typeface="Courier New"/>
              <a:buChar char="o"/>
            </a:pPr>
            <a:r>
              <a:rPr lang="zh-TW">
                <a:solidFill>
                  <a:srgbClr val="000000"/>
                </a:solidFill>
              </a:rPr>
              <a:t>Register process to dqm (device queue manager)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create_cp_queue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Create with queue_properties get from application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Map doorbell mmio address to application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dqm-&gt;create_queue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dqm-&gt;execute_queue</a:t>
            </a:r>
          </a:p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  <p:transition spd="slow"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Shape 82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ct val="30555"/>
              <a:buFont typeface="Arial"/>
              <a:buNone/>
            </a:pPr>
            <a:r>
              <a:rPr lang="zh-TW"/>
              <a:t>dqm-&gt;execute_queue</a:t>
            </a:r>
          </a:p>
        </p:txBody>
      </p:sp>
      <p:sp>
        <p:nvSpPr>
          <p:cNvPr id="829" name="Shape 8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pm_send_runlist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pm_create_runlist_ib</a:t>
            </a:r>
          </a:p>
          <a:p>
            <a: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80000"/>
              <a:buFont typeface="Wingdings"/>
              <a:buChar char="§"/>
            </a:pPr>
            <a:r>
              <a:rPr lang="zh-TW"/>
              <a:t>Construct pm4 packet of MAP_PROCESS and MAP_QUEUES type</a:t>
            </a:r>
          </a:p>
          <a:p>
            <a:pPr marL="1828800" marR="0" lvl="3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60000"/>
              <a:buFont typeface="Arial"/>
              <a:buChar char="●"/>
            </a:pPr>
            <a:r>
              <a:rPr lang="zh-TW">
                <a:solidFill>
                  <a:srgbClr val="FF0000"/>
                </a:solidFill>
              </a:rPr>
              <a:t>Packet contains application’s ring address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pm-&gt;kernel_queue-&gt;acquire_packet_buffer</a:t>
            </a:r>
          </a:p>
          <a:p>
            <a: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80000"/>
              <a:buFont typeface="Wingdings"/>
              <a:buChar char="§"/>
            </a:pPr>
            <a:r>
              <a:rPr lang="zh-TW"/>
              <a:t>Get a not used entry of kernel_queue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pm_create_runlist</a:t>
            </a:r>
          </a:p>
          <a:p>
            <a:pPr marL="1371600" lvl="2" indent="-381000" rtl="0">
              <a:spcBef>
                <a:spcPts val="0"/>
              </a:spcBef>
              <a:buClr>
                <a:schemeClr val="dk1"/>
              </a:buClr>
              <a:buSzPct val="80000"/>
              <a:buFont typeface="Wingdings"/>
              <a:buChar char="§"/>
            </a:pPr>
            <a:r>
              <a:rPr lang="zh-TW"/>
              <a:t>Construct pm4 packet of RUN_LIST type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pm-&gt;kernel_queue-&gt;submit_packet</a:t>
            </a:r>
          </a:p>
          <a:p>
            <a:pPr marL="1371600" lvl="2" indent="-381000" rtl="0">
              <a:spcBef>
                <a:spcPts val="0"/>
              </a:spcBef>
              <a:buClr>
                <a:schemeClr val="dk1"/>
              </a:buClr>
              <a:buSzPct val="80000"/>
              <a:buFont typeface="Wingdings"/>
              <a:buChar char="§"/>
            </a:pPr>
            <a:r>
              <a:rPr lang="zh-TW"/>
              <a:t>Kick kernel queue’s doorbell</a:t>
            </a:r>
          </a:p>
        </p:txBody>
      </p:sp>
    </p:spTree>
  </p:cSld>
  <p:clrMapOvr>
    <a:masterClrMapping/>
  </p:clrMapOvr>
  <p:transition spd="slow"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Shape 83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Clr>
                <a:schemeClr val="dk1"/>
              </a:buClr>
              <a:buSzPct val="34375"/>
              <a:buFont typeface="Arial"/>
              <a:buNone/>
            </a:pPr>
            <a:r>
              <a:rPr lang="zh-TW" sz="3200"/>
              <a:t>Hardware Scheduler - No Oversubscription</a:t>
            </a:r>
          </a:p>
          <a:p>
            <a:pPr lvl="0" rtl="0">
              <a:spcBef>
                <a:spcPts val="0"/>
              </a:spcBef>
              <a:buNone/>
            </a:pPr>
            <a:r>
              <a:rPr lang="zh-TW" sz="3200"/>
              <a:t> </a:t>
            </a:r>
          </a:p>
        </p:txBody>
      </p:sp>
      <p:grpSp>
        <p:nvGrpSpPr>
          <p:cNvPr id="835" name="Shape 835"/>
          <p:cNvGrpSpPr/>
          <p:nvPr/>
        </p:nvGrpSpPr>
        <p:grpSpPr>
          <a:xfrm>
            <a:off x="81575" y="1663050"/>
            <a:ext cx="1348149" cy="1613974"/>
            <a:chOff x="733425" y="1838500"/>
            <a:chExt cx="1348149" cy="1613974"/>
          </a:xfrm>
        </p:grpSpPr>
        <p:sp>
          <p:nvSpPr>
            <p:cNvPr id="836" name="Shape 836"/>
            <p:cNvSpPr/>
            <p:nvPr/>
          </p:nvSpPr>
          <p:spPr>
            <a:xfrm>
              <a:off x="733425" y="2104575"/>
              <a:ext cx="1259400" cy="1347899"/>
            </a:xfrm>
            <a:prstGeom prst="rect">
              <a:avLst/>
            </a:prstGeom>
            <a:solidFill>
              <a:schemeClr val="lt2"/>
            </a:solidFill>
            <a:ln w="19050" cap="flat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zh-TW" sz="1200"/>
                <a:t>IT_RUN_LIST</a:t>
              </a:r>
            </a:p>
            <a:p>
              <a:pPr lvl="0" algn="ctr" rtl="0">
                <a:spcBef>
                  <a:spcPts val="0"/>
                </a:spcBef>
                <a:buNone/>
              </a:pPr>
              <a:endParaRPr sz="1200"/>
            </a:p>
            <a:p>
              <a:pPr lvl="0" algn="ctr" rtl="0">
                <a:spcBef>
                  <a:spcPts val="0"/>
                </a:spcBef>
                <a:buNone/>
              </a:pPr>
              <a:endParaRPr sz="1200"/>
            </a:p>
            <a:p>
              <a:pPr lvl="0" algn="ctr" rtl="0">
                <a:spcBef>
                  <a:spcPts val="0"/>
                </a:spcBef>
                <a:buNone/>
              </a:pPr>
              <a:endParaRPr sz="1200"/>
            </a:p>
            <a:p>
              <a:pPr lvl="0" algn="ctr" rtl="0">
                <a:spcBef>
                  <a:spcPts val="0"/>
                </a:spcBef>
                <a:buNone/>
              </a:pPr>
              <a:endParaRPr sz="1200"/>
            </a:p>
            <a:p>
              <a:pPr lvl="0" algn="ctr" rtl="0">
                <a:spcBef>
                  <a:spcPts val="0"/>
                </a:spcBef>
                <a:buNone/>
              </a:pPr>
              <a:endParaRPr sz="1200"/>
            </a:p>
            <a:p>
              <a:pPr lvl="0" algn="ctr" rtl="0">
                <a:spcBef>
                  <a:spcPts val="0"/>
                </a:spcBef>
                <a:buNone/>
              </a:pPr>
              <a:r>
                <a:rPr lang="zh-TW" sz="1200"/>
                <a:t>run_list</a:t>
              </a:r>
            </a:p>
          </p:txBody>
        </p:sp>
        <p:cxnSp>
          <p:nvCxnSpPr>
            <p:cNvPr id="837" name="Shape 837"/>
            <p:cNvCxnSpPr/>
            <p:nvPr/>
          </p:nvCxnSpPr>
          <p:spPr>
            <a:xfrm>
              <a:off x="743275" y="2360400"/>
              <a:ext cx="1259400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sp>
          <p:nvSpPr>
            <p:cNvPr id="838" name="Shape 838"/>
            <p:cNvSpPr txBox="1"/>
            <p:nvPr/>
          </p:nvSpPr>
          <p:spPr>
            <a:xfrm>
              <a:off x="743275" y="1838500"/>
              <a:ext cx="1338299" cy="20699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rPr lang="zh-TW" sz="1000">
                  <a:solidFill>
                    <a:srgbClr val="1155CC"/>
                  </a:solidFill>
                </a:rPr>
                <a:t>PM4 Packet (Type3)</a:t>
              </a:r>
            </a:p>
          </p:txBody>
        </p:sp>
        <p:cxnSp>
          <p:nvCxnSpPr>
            <p:cNvPr id="839" name="Shape 839"/>
            <p:cNvCxnSpPr/>
            <p:nvPr/>
          </p:nvCxnSpPr>
          <p:spPr>
            <a:xfrm>
              <a:off x="733425" y="3201625"/>
              <a:ext cx="1259400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sp>
          <p:nvSpPr>
            <p:cNvPr id="840" name="Shape 840"/>
            <p:cNvSpPr/>
            <p:nvPr/>
          </p:nvSpPr>
          <p:spPr>
            <a:xfrm>
              <a:off x="1099175" y="2413675"/>
              <a:ext cx="327622" cy="734233"/>
            </a:xfrm>
            <a:custGeom>
              <a:avLst/>
              <a:gdLst/>
              <a:ahLst/>
              <a:cxnLst/>
              <a:rect l="0" t="0" r="0" b="0"/>
              <a:pathLst>
                <a:path w="13481" h="25563" extrusionOk="0">
                  <a:moveTo>
                    <a:pt x="7487" y="0"/>
                  </a:moveTo>
                  <a:cubicBezTo>
                    <a:pt x="6278" y="1526"/>
                    <a:pt x="-715" y="6995"/>
                    <a:pt x="238" y="9157"/>
                  </a:cubicBezTo>
                  <a:cubicBezTo>
                    <a:pt x="1191" y="11319"/>
                    <a:pt x="12129" y="10237"/>
                    <a:pt x="13210" y="12972"/>
                  </a:cubicBezTo>
                  <a:cubicBezTo>
                    <a:pt x="14291" y="15706"/>
                    <a:pt x="7805" y="23464"/>
                    <a:pt x="6724" y="25563"/>
                  </a:cubicBezTo>
                </a:path>
              </a:pathLst>
            </a:cu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sp>
      </p:grpSp>
      <p:grpSp>
        <p:nvGrpSpPr>
          <p:cNvPr id="841" name="Shape 841"/>
          <p:cNvGrpSpPr/>
          <p:nvPr/>
        </p:nvGrpSpPr>
        <p:grpSpPr>
          <a:xfrm>
            <a:off x="3786537" y="4746925"/>
            <a:ext cx="1451274" cy="2111075"/>
            <a:chOff x="6658300" y="1436475"/>
            <a:chExt cx="1451274" cy="2111075"/>
          </a:xfrm>
        </p:grpSpPr>
        <p:sp>
          <p:nvSpPr>
            <p:cNvPr id="842" name="Shape 842"/>
            <p:cNvSpPr/>
            <p:nvPr/>
          </p:nvSpPr>
          <p:spPr>
            <a:xfrm>
              <a:off x="6658300" y="1702550"/>
              <a:ext cx="1442699" cy="1845000"/>
            </a:xfrm>
            <a:prstGeom prst="rect">
              <a:avLst/>
            </a:prstGeom>
            <a:solidFill>
              <a:schemeClr val="lt2"/>
            </a:solidFill>
            <a:ln w="19050" cap="flat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zh-TW" sz="1000"/>
                <a:t>IT_MAP_PROCESS</a:t>
              </a:r>
            </a:p>
            <a:p>
              <a:pPr lvl="0" algn="ctr" rtl="0">
                <a:spcBef>
                  <a:spcPts val="0"/>
                </a:spcBef>
                <a:buNone/>
              </a:pPr>
              <a:endParaRPr sz="1000"/>
            </a:p>
            <a:p>
              <a:pPr lvl="0" algn="l" rtl="0">
                <a:spcBef>
                  <a:spcPts val="0"/>
                </a:spcBef>
                <a:buNone/>
              </a:pPr>
              <a:endParaRPr sz="1000"/>
            </a:p>
            <a:p>
              <a:pPr lvl="0" algn="ctr" rtl="0">
                <a:spcBef>
                  <a:spcPts val="0"/>
                </a:spcBef>
                <a:buNone/>
              </a:pPr>
              <a:endParaRPr sz="1200"/>
            </a:p>
            <a:p>
              <a:pPr lvl="0" algn="ctr" rtl="0">
                <a:spcBef>
                  <a:spcPts val="0"/>
                </a:spcBef>
                <a:buNone/>
              </a:pPr>
              <a:endParaRPr sz="1200"/>
            </a:p>
            <a:p>
              <a:pPr lvl="0" algn="ctr" rtl="0">
                <a:spcBef>
                  <a:spcPts val="0"/>
                </a:spcBef>
                <a:buNone/>
              </a:pPr>
              <a:endParaRPr sz="1200"/>
            </a:p>
            <a:p>
              <a:pPr lvl="0" algn="ctr" rtl="0">
                <a:spcBef>
                  <a:spcPts val="0"/>
                </a:spcBef>
                <a:buNone/>
              </a:pPr>
              <a:endParaRPr sz="1200"/>
            </a:p>
            <a:p>
              <a:pPr lvl="0" algn="ctr" rtl="0">
                <a:spcBef>
                  <a:spcPts val="0"/>
                </a:spcBef>
                <a:buNone/>
              </a:pPr>
              <a:r>
                <a:rPr lang="zh-TW" sz="1200"/>
                <a:t>page_table_base</a:t>
              </a:r>
            </a:p>
            <a:p>
              <a:pPr lvl="0" algn="ctr" rtl="0">
                <a:spcBef>
                  <a:spcPts val="0"/>
                </a:spcBef>
                <a:buNone/>
              </a:pPr>
              <a:r>
                <a:rPr lang="zh-TW" sz="1200"/>
                <a:t>pasid</a:t>
              </a:r>
            </a:p>
            <a:p>
              <a:pPr lvl="0" algn="ctr" rtl="0">
                <a:spcBef>
                  <a:spcPts val="0"/>
                </a:spcBef>
                <a:buNone/>
              </a:pPr>
              <a:r>
                <a:rPr lang="zh-TW" sz="1200"/>
                <a:t>sh_mem_config</a:t>
              </a:r>
            </a:p>
          </p:txBody>
        </p:sp>
        <p:cxnSp>
          <p:nvCxnSpPr>
            <p:cNvPr id="843" name="Shape 843"/>
            <p:cNvCxnSpPr/>
            <p:nvPr/>
          </p:nvCxnSpPr>
          <p:spPr>
            <a:xfrm>
              <a:off x="6668150" y="1958375"/>
              <a:ext cx="1433099" cy="720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sp>
          <p:nvSpPr>
            <p:cNvPr id="844" name="Shape 844"/>
            <p:cNvSpPr txBox="1"/>
            <p:nvPr/>
          </p:nvSpPr>
          <p:spPr>
            <a:xfrm>
              <a:off x="6668150" y="1436475"/>
              <a:ext cx="1338299" cy="20699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rPr lang="zh-TW" sz="1000">
                  <a:solidFill>
                    <a:srgbClr val="1155CC"/>
                  </a:solidFill>
                </a:rPr>
                <a:t>PM4 Packet (Type3)</a:t>
              </a:r>
            </a:p>
          </p:txBody>
        </p:sp>
        <p:sp>
          <p:nvSpPr>
            <p:cNvPr id="845" name="Shape 845"/>
            <p:cNvSpPr/>
            <p:nvPr/>
          </p:nvSpPr>
          <p:spPr>
            <a:xfrm>
              <a:off x="7176450" y="2011650"/>
              <a:ext cx="327622" cy="842173"/>
            </a:xfrm>
            <a:custGeom>
              <a:avLst/>
              <a:gdLst/>
              <a:ahLst/>
              <a:cxnLst/>
              <a:rect l="0" t="0" r="0" b="0"/>
              <a:pathLst>
                <a:path w="13481" h="25563" extrusionOk="0">
                  <a:moveTo>
                    <a:pt x="7487" y="0"/>
                  </a:moveTo>
                  <a:cubicBezTo>
                    <a:pt x="6278" y="1526"/>
                    <a:pt x="-715" y="6995"/>
                    <a:pt x="238" y="9157"/>
                  </a:cubicBezTo>
                  <a:cubicBezTo>
                    <a:pt x="1191" y="11319"/>
                    <a:pt x="12129" y="10237"/>
                    <a:pt x="13210" y="12972"/>
                  </a:cubicBezTo>
                  <a:cubicBezTo>
                    <a:pt x="14291" y="15706"/>
                    <a:pt x="7805" y="23464"/>
                    <a:pt x="6724" y="25563"/>
                  </a:cubicBezTo>
                </a:path>
              </a:pathLst>
            </a:cu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sp>
        <p:cxnSp>
          <p:nvCxnSpPr>
            <p:cNvPr id="846" name="Shape 846"/>
            <p:cNvCxnSpPr/>
            <p:nvPr/>
          </p:nvCxnSpPr>
          <p:spPr>
            <a:xfrm>
              <a:off x="6673175" y="3311375"/>
              <a:ext cx="14363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847" name="Shape 847"/>
            <p:cNvCxnSpPr/>
            <p:nvPr/>
          </p:nvCxnSpPr>
          <p:spPr>
            <a:xfrm>
              <a:off x="6673175" y="3157225"/>
              <a:ext cx="14363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848" name="Shape 848"/>
            <p:cNvCxnSpPr/>
            <p:nvPr/>
          </p:nvCxnSpPr>
          <p:spPr>
            <a:xfrm>
              <a:off x="6673175" y="2926875"/>
              <a:ext cx="14363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</p:grpSp>
      <p:grpSp>
        <p:nvGrpSpPr>
          <p:cNvPr id="849" name="Shape 849"/>
          <p:cNvGrpSpPr/>
          <p:nvPr/>
        </p:nvGrpSpPr>
        <p:grpSpPr>
          <a:xfrm>
            <a:off x="5353350" y="970100"/>
            <a:ext cx="1451274" cy="2111075"/>
            <a:chOff x="6701975" y="3915725"/>
            <a:chExt cx="1451274" cy="2111075"/>
          </a:xfrm>
        </p:grpSpPr>
        <p:sp>
          <p:nvSpPr>
            <p:cNvPr id="850" name="Shape 850"/>
            <p:cNvSpPr/>
            <p:nvPr/>
          </p:nvSpPr>
          <p:spPr>
            <a:xfrm>
              <a:off x="6701975" y="4181800"/>
              <a:ext cx="1442699" cy="1845000"/>
            </a:xfrm>
            <a:prstGeom prst="rect">
              <a:avLst/>
            </a:prstGeom>
            <a:solidFill>
              <a:schemeClr val="lt2"/>
            </a:solidFill>
            <a:ln w="19050" cap="flat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zh-TW" sz="1000"/>
                <a:t>IT_MAP_QUEUES</a:t>
              </a:r>
            </a:p>
            <a:p>
              <a:pPr lvl="0" algn="ctr" rtl="0">
                <a:spcBef>
                  <a:spcPts val="0"/>
                </a:spcBef>
                <a:buNone/>
              </a:pPr>
              <a:endParaRPr sz="1000"/>
            </a:p>
            <a:p>
              <a:pPr lvl="0" algn="l" rtl="0">
                <a:spcBef>
                  <a:spcPts val="0"/>
                </a:spcBef>
                <a:buNone/>
              </a:pPr>
              <a:endParaRPr sz="1000"/>
            </a:p>
            <a:p>
              <a:pPr lvl="0" algn="ctr" rtl="0">
                <a:spcBef>
                  <a:spcPts val="0"/>
                </a:spcBef>
                <a:buNone/>
              </a:pPr>
              <a:endParaRPr sz="1200"/>
            </a:p>
            <a:p>
              <a:pPr lvl="0" algn="ctr" rtl="0">
                <a:spcBef>
                  <a:spcPts val="0"/>
                </a:spcBef>
                <a:buNone/>
              </a:pPr>
              <a:endParaRPr sz="1200"/>
            </a:p>
            <a:p>
              <a:pPr lvl="0" algn="ctr" rtl="0">
                <a:spcBef>
                  <a:spcPts val="0"/>
                </a:spcBef>
                <a:buNone/>
              </a:pPr>
              <a:endParaRPr sz="1200"/>
            </a:p>
            <a:p>
              <a:pPr lvl="0" algn="ctr" rtl="0">
                <a:spcBef>
                  <a:spcPts val="0"/>
                </a:spcBef>
                <a:buNone/>
              </a:pPr>
              <a:endParaRPr sz="1200"/>
            </a:p>
            <a:p>
              <a:pPr lvl="0" algn="l" rtl="0">
                <a:spcBef>
                  <a:spcPts val="0"/>
                </a:spcBef>
                <a:buNone/>
              </a:pPr>
              <a:r>
                <a:rPr lang="zh-TW" sz="1200"/>
                <a:t>     mqd_addr</a:t>
              </a:r>
            </a:p>
            <a:p>
              <a:pPr lvl="0" algn="ctr" rtl="0">
                <a:spcBef>
                  <a:spcPts val="0"/>
                </a:spcBef>
                <a:buNone/>
              </a:pPr>
              <a:r>
                <a:rPr lang="zh-TW" sz="1200"/>
                <a:t>(Memory Queue Descriptoy)</a:t>
              </a:r>
            </a:p>
          </p:txBody>
        </p:sp>
        <p:cxnSp>
          <p:nvCxnSpPr>
            <p:cNvPr id="851" name="Shape 851"/>
            <p:cNvCxnSpPr/>
            <p:nvPr/>
          </p:nvCxnSpPr>
          <p:spPr>
            <a:xfrm>
              <a:off x="6711825" y="4437625"/>
              <a:ext cx="1433099" cy="720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sp>
          <p:nvSpPr>
            <p:cNvPr id="852" name="Shape 852"/>
            <p:cNvSpPr txBox="1"/>
            <p:nvPr/>
          </p:nvSpPr>
          <p:spPr>
            <a:xfrm>
              <a:off x="6711825" y="3915725"/>
              <a:ext cx="1338299" cy="20699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rPr lang="zh-TW" sz="1000">
                  <a:solidFill>
                    <a:srgbClr val="1155CC"/>
                  </a:solidFill>
                </a:rPr>
                <a:t>PM4 Packet (Type3)</a:t>
              </a:r>
            </a:p>
          </p:txBody>
        </p:sp>
        <p:sp>
          <p:nvSpPr>
            <p:cNvPr id="853" name="Shape 853"/>
            <p:cNvSpPr/>
            <p:nvPr/>
          </p:nvSpPr>
          <p:spPr>
            <a:xfrm>
              <a:off x="7220125" y="4490900"/>
              <a:ext cx="327622" cy="842173"/>
            </a:xfrm>
            <a:custGeom>
              <a:avLst/>
              <a:gdLst/>
              <a:ahLst/>
              <a:cxnLst/>
              <a:rect l="0" t="0" r="0" b="0"/>
              <a:pathLst>
                <a:path w="13481" h="25563" extrusionOk="0">
                  <a:moveTo>
                    <a:pt x="7487" y="0"/>
                  </a:moveTo>
                  <a:cubicBezTo>
                    <a:pt x="6278" y="1526"/>
                    <a:pt x="-715" y="6995"/>
                    <a:pt x="238" y="9157"/>
                  </a:cubicBezTo>
                  <a:cubicBezTo>
                    <a:pt x="1191" y="11319"/>
                    <a:pt x="12129" y="10237"/>
                    <a:pt x="13210" y="12972"/>
                  </a:cubicBezTo>
                  <a:cubicBezTo>
                    <a:pt x="14291" y="15706"/>
                    <a:pt x="7805" y="23464"/>
                    <a:pt x="6724" y="25563"/>
                  </a:cubicBezTo>
                </a:path>
              </a:pathLst>
            </a:cu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sp>
        <p:cxnSp>
          <p:nvCxnSpPr>
            <p:cNvPr id="854" name="Shape 854"/>
            <p:cNvCxnSpPr/>
            <p:nvPr/>
          </p:nvCxnSpPr>
          <p:spPr>
            <a:xfrm>
              <a:off x="6716850" y="5409625"/>
              <a:ext cx="14363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</p:grpSp>
      <p:sp>
        <p:nvSpPr>
          <p:cNvPr id="855" name="Shape 855"/>
          <p:cNvSpPr/>
          <p:nvPr/>
        </p:nvSpPr>
        <p:spPr>
          <a:xfrm>
            <a:off x="1740099" y="3566987"/>
            <a:ext cx="7311899" cy="786900"/>
          </a:xfrm>
          <a:prstGeom prst="rect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cxnSp>
        <p:nvCxnSpPr>
          <p:cNvPr id="856" name="Shape 856"/>
          <p:cNvCxnSpPr/>
          <p:nvPr/>
        </p:nvCxnSpPr>
        <p:spPr>
          <a:xfrm>
            <a:off x="2572998" y="3571784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57" name="Shape 857"/>
          <p:cNvCxnSpPr/>
          <p:nvPr/>
        </p:nvCxnSpPr>
        <p:spPr>
          <a:xfrm>
            <a:off x="2140518" y="3571784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58" name="Shape 858"/>
          <p:cNvCxnSpPr/>
          <p:nvPr/>
        </p:nvCxnSpPr>
        <p:spPr>
          <a:xfrm>
            <a:off x="5437524" y="3571784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59" name="Shape 859"/>
          <p:cNvCxnSpPr/>
          <p:nvPr/>
        </p:nvCxnSpPr>
        <p:spPr>
          <a:xfrm>
            <a:off x="3378848" y="3571784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60" name="Shape 860"/>
          <p:cNvCxnSpPr/>
          <p:nvPr/>
        </p:nvCxnSpPr>
        <p:spPr>
          <a:xfrm>
            <a:off x="2946368" y="3571784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61" name="Shape 861"/>
          <p:cNvCxnSpPr/>
          <p:nvPr/>
        </p:nvCxnSpPr>
        <p:spPr>
          <a:xfrm>
            <a:off x="4221498" y="3571784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62" name="Shape 862"/>
          <p:cNvCxnSpPr/>
          <p:nvPr/>
        </p:nvCxnSpPr>
        <p:spPr>
          <a:xfrm>
            <a:off x="3789018" y="3571784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63" name="Shape 863"/>
          <p:cNvCxnSpPr/>
          <p:nvPr/>
        </p:nvCxnSpPr>
        <p:spPr>
          <a:xfrm>
            <a:off x="5045748" y="3571784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64" name="Shape 864"/>
          <p:cNvCxnSpPr/>
          <p:nvPr/>
        </p:nvCxnSpPr>
        <p:spPr>
          <a:xfrm>
            <a:off x="4613268" y="3571784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65" name="Shape 865"/>
          <p:cNvSpPr/>
          <p:nvPr/>
        </p:nvSpPr>
        <p:spPr>
          <a:xfrm>
            <a:off x="573500" y="3202350"/>
            <a:ext cx="1166600" cy="891981"/>
          </a:xfrm>
          <a:custGeom>
            <a:avLst/>
            <a:gdLst/>
            <a:ahLst/>
            <a:cxnLst/>
            <a:rect l="0" t="0" r="0" b="0"/>
            <a:pathLst>
              <a:path w="46664" h="17656" extrusionOk="0">
                <a:moveTo>
                  <a:pt x="3381" y="0"/>
                </a:moveTo>
                <a:cubicBezTo>
                  <a:pt x="3381" y="2729"/>
                  <a:pt x="-3832" y="13647"/>
                  <a:pt x="3381" y="16377"/>
                </a:cubicBezTo>
                <a:cubicBezTo>
                  <a:pt x="10594" y="19106"/>
                  <a:pt x="39450" y="16377"/>
                  <a:pt x="46664" y="16377"/>
                </a:cubicBezTo>
              </a:path>
            </a:pathLst>
          </a:cu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sp>
      <p:sp>
        <p:nvSpPr>
          <p:cNvPr id="866" name="Shape 866"/>
          <p:cNvSpPr/>
          <p:nvPr/>
        </p:nvSpPr>
        <p:spPr>
          <a:xfrm>
            <a:off x="5702825" y="3751907"/>
            <a:ext cx="3026875" cy="466700"/>
          </a:xfrm>
          <a:custGeom>
            <a:avLst/>
            <a:gdLst/>
            <a:ahLst/>
            <a:cxnLst/>
            <a:rect l="0" t="0" r="0" b="0"/>
            <a:pathLst>
              <a:path w="121075" h="18668" extrusionOk="0">
                <a:moveTo>
                  <a:pt x="0" y="12527"/>
                </a:moveTo>
                <a:cubicBezTo>
                  <a:pt x="6921" y="10479"/>
                  <a:pt x="30122" y="-730"/>
                  <a:pt x="41528" y="244"/>
                </a:cubicBezTo>
                <a:cubicBezTo>
                  <a:pt x="52933" y="1218"/>
                  <a:pt x="55175" y="17206"/>
                  <a:pt x="68433" y="18376"/>
                </a:cubicBezTo>
                <a:cubicBezTo>
                  <a:pt x="81690" y="19545"/>
                  <a:pt x="112301" y="9115"/>
                  <a:pt x="121075" y="7263"/>
                </a:cubicBezTo>
              </a:path>
            </a:pathLst>
          </a:cu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sp>
      <p:grpSp>
        <p:nvGrpSpPr>
          <p:cNvPr id="867" name="Shape 867"/>
          <p:cNvGrpSpPr/>
          <p:nvPr/>
        </p:nvGrpSpPr>
        <p:grpSpPr>
          <a:xfrm>
            <a:off x="1944787" y="1073599"/>
            <a:ext cx="3418412" cy="3776825"/>
            <a:chOff x="1944787" y="1073599"/>
            <a:chExt cx="3418412" cy="3776825"/>
          </a:xfrm>
        </p:grpSpPr>
        <p:cxnSp>
          <p:nvCxnSpPr>
            <p:cNvPr id="868" name="Shape 868"/>
            <p:cNvCxnSpPr/>
            <p:nvPr/>
          </p:nvCxnSpPr>
          <p:spPr>
            <a:xfrm>
              <a:off x="1944787" y="4182025"/>
              <a:ext cx="1851600" cy="668400"/>
            </a:xfrm>
            <a:prstGeom prst="straightConnector1">
              <a:avLst/>
            </a:prstGeom>
            <a:noFill/>
            <a:ln w="19050" cap="flat">
              <a:solidFill>
                <a:srgbClr val="F6B26B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869" name="Shape 869"/>
            <p:cNvCxnSpPr/>
            <p:nvPr/>
          </p:nvCxnSpPr>
          <p:spPr>
            <a:xfrm rot="10800000" flipH="1">
              <a:off x="2383600" y="1073599"/>
              <a:ext cx="2979600" cy="2816100"/>
            </a:xfrm>
            <a:prstGeom prst="straightConnector1">
              <a:avLst/>
            </a:prstGeom>
            <a:noFill/>
            <a:ln w="19050" cap="flat">
              <a:solidFill>
                <a:srgbClr val="F6B26B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870" name="Shape 870"/>
            <p:cNvCxnSpPr/>
            <p:nvPr/>
          </p:nvCxnSpPr>
          <p:spPr>
            <a:xfrm rot="10800000" flipH="1">
              <a:off x="2763700" y="1073600"/>
              <a:ext cx="2599500" cy="2830499"/>
            </a:xfrm>
            <a:prstGeom prst="straightConnector1">
              <a:avLst/>
            </a:prstGeom>
            <a:noFill/>
            <a:ln w="19050" cap="flat">
              <a:solidFill>
                <a:srgbClr val="F6B26B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871" name="Shape 871"/>
            <p:cNvCxnSpPr/>
            <p:nvPr/>
          </p:nvCxnSpPr>
          <p:spPr>
            <a:xfrm rot="10800000" flipH="1">
              <a:off x="3173200" y="1073599"/>
              <a:ext cx="2190000" cy="2918400"/>
            </a:xfrm>
            <a:prstGeom prst="straightConnector1">
              <a:avLst/>
            </a:prstGeom>
            <a:noFill/>
            <a:ln w="19050" cap="flat">
              <a:solidFill>
                <a:srgbClr val="F6B26B"/>
              </a:solidFill>
              <a:prstDash val="solid"/>
              <a:round/>
              <a:headEnd type="none" w="lg" len="lg"/>
              <a:tailEnd type="triangle" w="lg" len="lg"/>
            </a:ln>
          </p:spPr>
        </p:cxnSp>
      </p:grpSp>
      <p:grpSp>
        <p:nvGrpSpPr>
          <p:cNvPr id="872" name="Shape 872"/>
          <p:cNvGrpSpPr/>
          <p:nvPr/>
        </p:nvGrpSpPr>
        <p:grpSpPr>
          <a:xfrm>
            <a:off x="3597037" y="1073600"/>
            <a:ext cx="1766162" cy="3673324"/>
            <a:chOff x="3597037" y="1073600"/>
            <a:chExt cx="1766162" cy="3673324"/>
          </a:xfrm>
        </p:grpSpPr>
        <p:cxnSp>
          <p:nvCxnSpPr>
            <p:cNvPr id="873" name="Shape 873"/>
            <p:cNvCxnSpPr/>
            <p:nvPr/>
          </p:nvCxnSpPr>
          <p:spPr>
            <a:xfrm>
              <a:off x="3597037" y="4065025"/>
              <a:ext cx="868499" cy="681900"/>
            </a:xfrm>
            <a:prstGeom prst="straightConnector1">
              <a:avLst/>
            </a:prstGeom>
            <a:noFill/>
            <a:ln w="19050" cap="flat">
              <a:solidFill>
                <a:srgbClr val="3C78D8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874" name="Shape 874"/>
            <p:cNvCxnSpPr/>
            <p:nvPr/>
          </p:nvCxnSpPr>
          <p:spPr>
            <a:xfrm rot="10800000" flipH="1">
              <a:off x="4021300" y="1073600"/>
              <a:ext cx="1341899" cy="2962199"/>
            </a:xfrm>
            <a:prstGeom prst="straightConnector1">
              <a:avLst/>
            </a:prstGeom>
            <a:noFill/>
            <a:ln w="19050" cap="flat">
              <a:solidFill>
                <a:srgbClr val="3C78D8"/>
              </a:solidFill>
              <a:prstDash val="solid"/>
              <a:round/>
              <a:headEnd type="none" w="lg" len="lg"/>
              <a:tailEnd type="triangle" w="lg" len="lg"/>
            </a:ln>
          </p:spPr>
        </p:cxnSp>
      </p:grpSp>
      <p:grpSp>
        <p:nvGrpSpPr>
          <p:cNvPr id="875" name="Shape 875"/>
          <p:cNvGrpSpPr/>
          <p:nvPr/>
        </p:nvGrpSpPr>
        <p:grpSpPr>
          <a:xfrm>
            <a:off x="4430737" y="1073599"/>
            <a:ext cx="932462" cy="3673325"/>
            <a:chOff x="4430737" y="1073599"/>
            <a:chExt cx="932462" cy="3673325"/>
          </a:xfrm>
        </p:grpSpPr>
        <p:cxnSp>
          <p:nvCxnSpPr>
            <p:cNvPr id="876" name="Shape 876"/>
            <p:cNvCxnSpPr/>
            <p:nvPr/>
          </p:nvCxnSpPr>
          <p:spPr>
            <a:xfrm>
              <a:off x="4430737" y="4021225"/>
              <a:ext cx="34799" cy="725699"/>
            </a:xfrm>
            <a:prstGeom prst="straightConnector1">
              <a:avLst/>
            </a:prstGeom>
            <a:noFill/>
            <a:ln w="19050" cap="flat">
              <a:solidFill>
                <a:srgbClr val="CC0000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877" name="Shape 877"/>
            <p:cNvCxnSpPr/>
            <p:nvPr/>
          </p:nvCxnSpPr>
          <p:spPr>
            <a:xfrm rot="10800000" flipH="1">
              <a:off x="4766800" y="1073599"/>
              <a:ext cx="596399" cy="2757600"/>
            </a:xfrm>
            <a:prstGeom prst="straightConnector1">
              <a:avLst/>
            </a:prstGeom>
            <a:noFill/>
            <a:ln w="19050" cap="flat">
              <a:solidFill>
                <a:srgbClr val="CC0000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878" name="Shape 878"/>
            <p:cNvCxnSpPr/>
            <p:nvPr/>
          </p:nvCxnSpPr>
          <p:spPr>
            <a:xfrm rot="10800000" flipH="1">
              <a:off x="5293300" y="1073599"/>
              <a:ext cx="69899" cy="2786700"/>
            </a:xfrm>
            <a:prstGeom prst="straightConnector1">
              <a:avLst/>
            </a:prstGeom>
            <a:noFill/>
            <a:ln w="19050" cap="flat">
              <a:solidFill>
                <a:srgbClr val="CC0000"/>
              </a:solidFill>
              <a:prstDash val="solid"/>
              <a:round/>
              <a:headEnd type="none" w="lg" len="lg"/>
              <a:tailEnd type="triangle" w="lg" len="lg"/>
            </a:ln>
          </p:spPr>
        </p:cxnSp>
      </p:grpSp>
      <p:sp>
        <p:nvSpPr>
          <p:cNvPr id="879" name="Shape 879"/>
          <p:cNvSpPr txBox="1"/>
          <p:nvPr/>
        </p:nvSpPr>
        <p:spPr>
          <a:xfrm>
            <a:off x="1415450" y="4746925"/>
            <a:ext cx="1766099" cy="575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b="1">
                <a:solidFill>
                  <a:srgbClr val="FF0000"/>
                </a:solidFill>
              </a:rPr>
              <a:t>3 Processes</a:t>
            </a:r>
          </a:p>
        </p:txBody>
      </p:sp>
    </p:spTree>
  </p:cSld>
  <p:clrMapOvr>
    <a:masterClrMapping/>
  </p:clrMapOvr>
  <p:transition spd="slow"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Shape 88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3200"/>
              <a:t>Hardware Scheduler - Oversubscription</a:t>
            </a:r>
          </a:p>
          <a:p>
            <a:pPr lvl="0" rtl="0">
              <a:spcBef>
                <a:spcPts val="0"/>
              </a:spcBef>
              <a:buNone/>
            </a:pPr>
            <a:r>
              <a:rPr lang="zh-TW" sz="3200"/>
              <a:t> </a:t>
            </a:r>
          </a:p>
        </p:txBody>
      </p:sp>
      <p:grpSp>
        <p:nvGrpSpPr>
          <p:cNvPr id="885" name="Shape 885"/>
          <p:cNvGrpSpPr/>
          <p:nvPr/>
        </p:nvGrpSpPr>
        <p:grpSpPr>
          <a:xfrm>
            <a:off x="81575" y="1663050"/>
            <a:ext cx="1348149" cy="1613974"/>
            <a:chOff x="733425" y="1838500"/>
            <a:chExt cx="1348149" cy="1613974"/>
          </a:xfrm>
        </p:grpSpPr>
        <p:sp>
          <p:nvSpPr>
            <p:cNvPr id="886" name="Shape 886"/>
            <p:cNvSpPr/>
            <p:nvPr/>
          </p:nvSpPr>
          <p:spPr>
            <a:xfrm>
              <a:off x="733425" y="2104575"/>
              <a:ext cx="1259400" cy="1347899"/>
            </a:xfrm>
            <a:prstGeom prst="rect">
              <a:avLst/>
            </a:prstGeom>
            <a:solidFill>
              <a:schemeClr val="lt2"/>
            </a:solidFill>
            <a:ln w="19050" cap="flat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zh-TW" sz="1200"/>
                <a:t>IT_RUN_LIST</a:t>
              </a:r>
            </a:p>
            <a:p>
              <a:pPr lvl="0" algn="ctr" rtl="0">
                <a:spcBef>
                  <a:spcPts val="0"/>
                </a:spcBef>
                <a:buNone/>
              </a:pPr>
              <a:endParaRPr sz="1200"/>
            </a:p>
            <a:p>
              <a:pPr lvl="0" algn="ctr" rtl="0">
                <a:spcBef>
                  <a:spcPts val="0"/>
                </a:spcBef>
                <a:buNone/>
              </a:pPr>
              <a:endParaRPr sz="1200"/>
            </a:p>
            <a:p>
              <a:pPr lvl="0" algn="ctr" rtl="0">
                <a:spcBef>
                  <a:spcPts val="0"/>
                </a:spcBef>
                <a:buNone/>
              </a:pPr>
              <a:endParaRPr sz="1200"/>
            </a:p>
            <a:p>
              <a:pPr lvl="0" algn="ctr" rtl="0">
                <a:spcBef>
                  <a:spcPts val="0"/>
                </a:spcBef>
                <a:buNone/>
              </a:pPr>
              <a:endParaRPr sz="1200"/>
            </a:p>
            <a:p>
              <a:pPr lvl="0" algn="ctr" rtl="0">
                <a:spcBef>
                  <a:spcPts val="0"/>
                </a:spcBef>
                <a:buNone/>
              </a:pPr>
              <a:endParaRPr sz="1200"/>
            </a:p>
            <a:p>
              <a:pPr lvl="0" algn="ctr" rtl="0">
                <a:spcBef>
                  <a:spcPts val="0"/>
                </a:spcBef>
                <a:buNone/>
              </a:pPr>
              <a:r>
                <a:rPr lang="zh-TW" sz="1200"/>
                <a:t>run_list</a:t>
              </a:r>
            </a:p>
          </p:txBody>
        </p:sp>
        <p:cxnSp>
          <p:nvCxnSpPr>
            <p:cNvPr id="887" name="Shape 887"/>
            <p:cNvCxnSpPr/>
            <p:nvPr/>
          </p:nvCxnSpPr>
          <p:spPr>
            <a:xfrm>
              <a:off x="743275" y="2360400"/>
              <a:ext cx="1259400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sp>
          <p:nvSpPr>
            <p:cNvPr id="888" name="Shape 888"/>
            <p:cNvSpPr txBox="1"/>
            <p:nvPr/>
          </p:nvSpPr>
          <p:spPr>
            <a:xfrm>
              <a:off x="743275" y="1838500"/>
              <a:ext cx="1338299" cy="20699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rPr lang="zh-TW" sz="1000">
                  <a:solidFill>
                    <a:srgbClr val="1155CC"/>
                  </a:solidFill>
                </a:rPr>
                <a:t>PM4 Packet (Type3)</a:t>
              </a:r>
            </a:p>
          </p:txBody>
        </p:sp>
        <p:cxnSp>
          <p:nvCxnSpPr>
            <p:cNvPr id="889" name="Shape 889"/>
            <p:cNvCxnSpPr/>
            <p:nvPr/>
          </p:nvCxnSpPr>
          <p:spPr>
            <a:xfrm>
              <a:off x="733425" y="3201625"/>
              <a:ext cx="1259400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sp>
          <p:nvSpPr>
            <p:cNvPr id="890" name="Shape 890"/>
            <p:cNvSpPr/>
            <p:nvPr/>
          </p:nvSpPr>
          <p:spPr>
            <a:xfrm>
              <a:off x="1099175" y="2413675"/>
              <a:ext cx="327622" cy="734233"/>
            </a:xfrm>
            <a:custGeom>
              <a:avLst/>
              <a:gdLst/>
              <a:ahLst/>
              <a:cxnLst/>
              <a:rect l="0" t="0" r="0" b="0"/>
              <a:pathLst>
                <a:path w="13481" h="25563" extrusionOk="0">
                  <a:moveTo>
                    <a:pt x="7487" y="0"/>
                  </a:moveTo>
                  <a:cubicBezTo>
                    <a:pt x="6278" y="1526"/>
                    <a:pt x="-715" y="6995"/>
                    <a:pt x="238" y="9157"/>
                  </a:cubicBezTo>
                  <a:cubicBezTo>
                    <a:pt x="1191" y="11319"/>
                    <a:pt x="12129" y="10237"/>
                    <a:pt x="13210" y="12972"/>
                  </a:cubicBezTo>
                  <a:cubicBezTo>
                    <a:pt x="14291" y="15706"/>
                    <a:pt x="7805" y="23464"/>
                    <a:pt x="6724" y="25563"/>
                  </a:cubicBezTo>
                </a:path>
              </a:pathLst>
            </a:cu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sp>
      </p:grpSp>
      <p:grpSp>
        <p:nvGrpSpPr>
          <p:cNvPr id="891" name="Shape 891"/>
          <p:cNvGrpSpPr/>
          <p:nvPr/>
        </p:nvGrpSpPr>
        <p:grpSpPr>
          <a:xfrm>
            <a:off x="3786537" y="4746925"/>
            <a:ext cx="1451274" cy="2111075"/>
            <a:chOff x="6658300" y="1436475"/>
            <a:chExt cx="1451274" cy="2111075"/>
          </a:xfrm>
        </p:grpSpPr>
        <p:sp>
          <p:nvSpPr>
            <p:cNvPr id="892" name="Shape 892"/>
            <p:cNvSpPr/>
            <p:nvPr/>
          </p:nvSpPr>
          <p:spPr>
            <a:xfrm>
              <a:off x="6658300" y="1702550"/>
              <a:ext cx="1442699" cy="1845000"/>
            </a:xfrm>
            <a:prstGeom prst="rect">
              <a:avLst/>
            </a:prstGeom>
            <a:solidFill>
              <a:schemeClr val="lt2"/>
            </a:solidFill>
            <a:ln w="19050" cap="flat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zh-TW" sz="1000"/>
                <a:t>IT_MAP_PROCESS</a:t>
              </a:r>
            </a:p>
            <a:p>
              <a:pPr lvl="0" algn="ctr" rtl="0">
                <a:spcBef>
                  <a:spcPts val="0"/>
                </a:spcBef>
                <a:buNone/>
              </a:pPr>
              <a:endParaRPr sz="1000"/>
            </a:p>
            <a:p>
              <a:pPr lvl="0" algn="l" rtl="0">
                <a:spcBef>
                  <a:spcPts val="0"/>
                </a:spcBef>
                <a:buNone/>
              </a:pPr>
              <a:endParaRPr sz="1000"/>
            </a:p>
            <a:p>
              <a:pPr lvl="0" algn="ctr" rtl="0">
                <a:spcBef>
                  <a:spcPts val="0"/>
                </a:spcBef>
                <a:buNone/>
              </a:pPr>
              <a:endParaRPr sz="1200"/>
            </a:p>
            <a:p>
              <a:pPr lvl="0" algn="ctr" rtl="0">
                <a:spcBef>
                  <a:spcPts val="0"/>
                </a:spcBef>
                <a:buNone/>
              </a:pPr>
              <a:endParaRPr sz="1200"/>
            </a:p>
            <a:p>
              <a:pPr lvl="0" algn="ctr" rtl="0">
                <a:spcBef>
                  <a:spcPts val="0"/>
                </a:spcBef>
                <a:buNone/>
              </a:pPr>
              <a:endParaRPr sz="1200"/>
            </a:p>
            <a:p>
              <a:pPr lvl="0" algn="ctr" rtl="0">
                <a:spcBef>
                  <a:spcPts val="0"/>
                </a:spcBef>
                <a:buNone/>
              </a:pPr>
              <a:endParaRPr sz="1200"/>
            </a:p>
            <a:p>
              <a:pPr lvl="0" algn="ctr" rtl="0">
                <a:spcBef>
                  <a:spcPts val="0"/>
                </a:spcBef>
                <a:buNone/>
              </a:pPr>
              <a:r>
                <a:rPr lang="zh-TW" sz="1200"/>
                <a:t>page_table_base</a:t>
              </a:r>
            </a:p>
            <a:p>
              <a:pPr lvl="0" algn="ctr" rtl="0">
                <a:spcBef>
                  <a:spcPts val="0"/>
                </a:spcBef>
                <a:buNone/>
              </a:pPr>
              <a:r>
                <a:rPr lang="zh-TW" sz="1200"/>
                <a:t>pasid</a:t>
              </a:r>
            </a:p>
            <a:p>
              <a:pPr lvl="0" algn="ctr" rtl="0">
                <a:spcBef>
                  <a:spcPts val="0"/>
                </a:spcBef>
                <a:buNone/>
              </a:pPr>
              <a:r>
                <a:rPr lang="zh-TW" sz="1200"/>
                <a:t>sh_mem_config</a:t>
              </a:r>
            </a:p>
          </p:txBody>
        </p:sp>
        <p:cxnSp>
          <p:nvCxnSpPr>
            <p:cNvPr id="893" name="Shape 893"/>
            <p:cNvCxnSpPr/>
            <p:nvPr/>
          </p:nvCxnSpPr>
          <p:spPr>
            <a:xfrm>
              <a:off x="6668150" y="1958375"/>
              <a:ext cx="1433099" cy="720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sp>
          <p:nvSpPr>
            <p:cNvPr id="894" name="Shape 894"/>
            <p:cNvSpPr txBox="1"/>
            <p:nvPr/>
          </p:nvSpPr>
          <p:spPr>
            <a:xfrm>
              <a:off x="6668150" y="1436475"/>
              <a:ext cx="1338299" cy="20699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rPr lang="zh-TW" sz="1000">
                  <a:solidFill>
                    <a:srgbClr val="1155CC"/>
                  </a:solidFill>
                </a:rPr>
                <a:t>PM4 Packet (Type3)</a:t>
              </a:r>
            </a:p>
          </p:txBody>
        </p:sp>
        <p:sp>
          <p:nvSpPr>
            <p:cNvPr id="895" name="Shape 895"/>
            <p:cNvSpPr/>
            <p:nvPr/>
          </p:nvSpPr>
          <p:spPr>
            <a:xfrm>
              <a:off x="7176450" y="2011650"/>
              <a:ext cx="327622" cy="842173"/>
            </a:xfrm>
            <a:custGeom>
              <a:avLst/>
              <a:gdLst/>
              <a:ahLst/>
              <a:cxnLst/>
              <a:rect l="0" t="0" r="0" b="0"/>
              <a:pathLst>
                <a:path w="13481" h="25563" extrusionOk="0">
                  <a:moveTo>
                    <a:pt x="7487" y="0"/>
                  </a:moveTo>
                  <a:cubicBezTo>
                    <a:pt x="6278" y="1526"/>
                    <a:pt x="-715" y="6995"/>
                    <a:pt x="238" y="9157"/>
                  </a:cubicBezTo>
                  <a:cubicBezTo>
                    <a:pt x="1191" y="11319"/>
                    <a:pt x="12129" y="10237"/>
                    <a:pt x="13210" y="12972"/>
                  </a:cubicBezTo>
                  <a:cubicBezTo>
                    <a:pt x="14291" y="15706"/>
                    <a:pt x="7805" y="23464"/>
                    <a:pt x="6724" y="25563"/>
                  </a:cubicBezTo>
                </a:path>
              </a:pathLst>
            </a:cu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sp>
        <p:cxnSp>
          <p:nvCxnSpPr>
            <p:cNvPr id="896" name="Shape 896"/>
            <p:cNvCxnSpPr/>
            <p:nvPr/>
          </p:nvCxnSpPr>
          <p:spPr>
            <a:xfrm>
              <a:off x="6673175" y="3311375"/>
              <a:ext cx="14363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897" name="Shape 897"/>
            <p:cNvCxnSpPr/>
            <p:nvPr/>
          </p:nvCxnSpPr>
          <p:spPr>
            <a:xfrm>
              <a:off x="6673175" y="3157225"/>
              <a:ext cx="14363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898" name="Shape 898"/>
            <p:cNvCxnSpPr/>
            <p:nvPr/>
          </p:nvCxnSpPr>
          <p:spPr>
            <a:xfrm>
              <a:off x="6673175" y="2926875"/>
              <a:ext cx="14363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</p:grpSp>
      <p:grpSp>
        <p:nvGrpSpPr>
          <p:cNvPr id="899" name="Shape 899"/>
          <p:cNvGrpSpPr/>
          <p:nvPr/>
        </p:nvGrpSpPr>
        <p:grpSpPr>
          <a:xfrm>
            <a:off x="5353350" y="970100"/>
            <a:ext cx="1451274" cy="2111075"/>
            <a:chOff x="6701975" y="3915725"/>
            <a:chExt cx="1451274" cy="2111075"/>
          </a:xfrm>
        </p:grpSpPr>
        <p:sp>
          <p:nvSpPr>
            <p:cNvPr id="900" name="Shape 900"/>
            <p:cNvSpPr/>
            <p:nvPr/>
          </p:nvSpPr>
          <p:spPr>
            <a:xfrm>
              <a:off x="6701975" y="4181800"/>
              <a:ext cx="1442699" cy="1845000"/>
            </a:xfrm>
            <a:prstGeom prst="rect">
              <a:avLst/>
            </a:prstGeom>
            <a:solidFill>
              <a:schemeClr val="lt2"/>
            </a:solidFill>
            <a:ln w="19050" cap="flat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zh-TW" sz="1000"/>
                <a:t>IT_MAP_QUEUES</a:t>
              </a:r>
            </a:p>
            <a:p>
              <a:pPr lvl="0" algn="ctr" rtl="0">
                <a:spcBef>
                  <a:spcPts val="0"/>
                </a:spcBef>
                <a:buNone/>
              </a:pPr>
              <a:endParaRPr sz="1000"/>
            </a:p>
            <a:p>
              <a:pPr lvl="0" algn="l" rtl="0">
                <a:spcBef>
                  <a:spcPts val="0"/>
                </a:spcBef>
                <a:buNone/>
              </a:pPr>
              <a:endParaRPr sz="1000"/>
            </a:p>
            <a:p>
              <a:pPr lvl="0" algn="ctr" rtl="0">
                <a:spcBef>
                  <a:spcPts val="0"/>
                </a:spcBef>
                <a:buNone/>
              </a:pPr>
              <a:endParaRPr sz="1200"/>
            </a:p>
            <a:p>
              <a:pPr lvl="0" algn="ctr" rtl="0">
                <a:spcBef>
                  <a:spcPts val="0"/>
                </a:spcBef>
                <a:buNone/>
              </a:pPr>
              <a:endParaRPr sz="1200"/>
            </a:p>
            <a:p>
              <a:pPr lvl="0" algn="ctr" rtl="0">
                <a:spcBef>
                  <a:spcPts val="0"/>
                </a:spcBef>
                <a:buNone/>
              </a:pPr>
              <a:endParaRPr sz="1200"/>
            </a:p>
            <a:p>
              <a:pPr lvl="0" algn="ctr" rtl="0">
                <a:spcBef>
                  <a:spcPts val="0"/>
                </a:spcBef>
                <a:buNone/>
              </a:pPr>
              <a:endParaRPr sz="1200"/>
            </a:p>
            <a:p>
              <a:pPr lvl="0" algn="l" rtl="0">
                <a:spcBef>
                  <a:spcPts val="0"/>
                </a:spcBef>
                <a:buNone/>
              </a:pPr>
              <a:r>
                <a:rPr lang="zh-TW" sz="1200"/>
                <a:t>     mqd_addr</a:t>
              </a:r>
            </a:p>
            <a:p>
              <a:pPr lvl="0" algn="ctr" rtl="0">
                <a:spcBef>
                  <a:spcPts val="0"/>
                </a:spcBef>
                <a:buNone/>
              </a:pPr>
              <a:r>
                <a:rPr lang="zh-TW" sz="1200"/>
                <a:t>(Memory Queue Descriptoy)</a:t>
              </a:r>
            </a:p>
          </p:txBody>
        </p:sp>
        <p:cxnSp>
          <p:nvCxnSpPr>
            <p:cNvPr id="901" name="Shape 901"/>
            <p:cNvCxnSpPr/>
            <p:nvPr/>
          </p:nvCxnSpPr>
          <p:spPr>
            <a:xfrm>
              <a:off x="6711825" y="4437625"/>
              <a:ext cx="1433099" cy="720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sp>
          <p:nvSpPr>
            <p:cNvPr id="902" name="Shape 902"/>
            <p:cNvSpPr txBox="1"/>
            <p:nvPr/>
          </p:nvSpPr>
          <p:spPr>
            <a:xfrm>
              <a:off x="6711825" y="3915725"/>
              <a:ext cx="1338299" cy="20699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rPr lang="zh-TW" sz="1000">
                  <a:solidFill>
                    <a:srgbClr val="1155CC"/>
                  </a:solidFill>
                </a:rPr>
                <a:t>PM4 Packet (Type3)</a:t>
              </a:r>
            </a:p>
          </p:txBody>
        </p:sp>
        <p:sp>
          <p:nvSpPr>
            <p:cNvPr id="903" name="Shape 903"/>
            <p:cNvSpPr/>
            <p:nvPr/>
          </p:nvSpPr>
          <p:spPr>
            <a:xfrm>
              <a:off x="7220125" y="4490900"/>
              <a:ext cx="327622" cy="842173"/>
            </a:xfrm>
            <a:custGeom>
              <a:avLst/>
              <a:gdLst/>
              <a:ahLst/>
              <a:cxnLst/>
              <a:rect l="0" t="0" r="0" b="0"/>
              <a:pathLst>
                <a:path w="13481" h="25563" extrusionOk="0">
                  <a:moveTo>
                    <a:pt x="7487" y="0"/>
                  </a:moveTo>
                  <a:cubicBezTo>
                    <a:pt x="6278" y="1526"/>
                    <a:pt x="-715" y="6995"/>
                    <a:pt x="238" y="9157"/>
                  </a:cubicBezTo>
                  <a:cubicBezTo>
                    <a:pt x="1191" y="11319"/>
                    <a:pt x="12129" y="10237"/>
                    <a:pt x="13210" y="12972"/>
                  </a:cubicBezTo>
                  <a:cubicBezTo>
                    <a:pt x="14291" y="15706"/>
                    <a:pt x="7805" y="23464"/>
                    <a:pt x="6724" y="25563"/>
                  </a:cubicBezTo>
                </a:path>
              </a:pathLst>
            </a:cu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sp>
        <p:cxnSp>
          <p:nvCxnSpPr>
            <p:cNvPr id="904" name="Shape 904"/>
            <p:cNvCxnSpPr/>
            <p:nvPr/>
          </p:nvCxnSpPr>
          <p:spPr>
            <a:xfrm>
              <a:off x="6716850" y="5409625"/>
              <a:ext cx="14363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</p:grpSp>
      <p:sp>
        <p:nvSpPr>
          <p:cNvPr id="905" name="Shape 905"/>
          <p:cNvSpPr/>
          <p:nvPr/>
        </p:nvSpPr>
        <p:spPr>
          <a:xfrm>
            <a:off x="1740099" y="3566987"/>
            <a:ext cx="7311899" cy="786900"/>
          </a:xfrm>
          <a:prstGeom prst="rect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cxnSp>
        <p:nvCxnSpPr>
          <p:cNvPr id="906" name="Shape 906"/>
          <p:cNvCxnSpPr/>
          <p:nvPr/>
        </p:nvCxnSpPr>
        <p:spPr>
          <a:xfrm>
            <a:off x="2572998" y="3571784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07" name="Shape 907"/>
          <p:cNvCxnSpPr/>
          <p:nvPr/>
        </p:nvCxnSpPr>
        <p:spPr>
          <a:xfrm>
            <a:off x="2140518" y="3571784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08" name="Shape 908"/>
          <p:cNvCxnSpPr/>
          <p:nvPr/>
        </p:nvCxnSpPr>
        <p:spPr>
          <a:xfrm>
            <a:off x="5437524" y="3571784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09" name="Shape 909"/>
          <p:cNvCxnSpPr/>
          <p:nvPr/>
        </p:nvCxnSpPr>
        <p:spPr>
          <a:xfrm>
            <a:off x="3378848" y="3571784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10" name="Shape 910"/>
          <p:cNvCxnSpPr/>
          <p:nvPr/>
        </p:nvCxnSpPr>
        <p:spPr>
          <a:xfrm>
            <a:off x="2946368" y="3571784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11" name="Shape 911"/>
          <p:cNvCxnSpPr/>
          <p:nvPr/>
        </p:nvCxnSpPr>
        <p:spPr>
          <a:xfrm>
            <a:off x="4221498" y="3571784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12" name="Shape 912"/>
          <p:cNvCxnSpPr/>
          <p:nvPr/>
        </p:nvCxnSpPr>
        <p:spPr>
          <a:xfrm>
            <a:off x="3789018" y="3571784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13" name="Shape 913"/>
          <p:cNvCxnSpPr/>
          <p:nvPr/>
        </p:nvCxnSpPr>
        <p:spPr>
          <a:xfrm>
            <a:off x="5045748" y="3571784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914" name="Shape 914"/>
          <p:cNvCxnSpPr/>
          <p:nvPr/>
        </p:nvCxnSpPr>
        <p:spPr>
          <a:xfrm>
            <a:off x="4613268" y="3571784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915" name="Shape 915"/>
          <p:cNvSpPr/>
          <p:nvPr/>
        </p:nvSpPr>
        <p:spPr>
          <a:xfrm>
            <a:off x="573500" y="3202350"/>
            <a:ext cx="1166600" cy="891981"/>
          </a:xfrm>
          <a:custGeom>
            <a:avLst/>
            <a:gdLst/>
            <a:ahLst/>
            <a:cxnLst/>
            <a:rect l="0" t="0" r="0" b="0"/>
            <a:pathLst>
              <a:path w="46664" h="17656" extrusionOk="0">
                <a:moveTo>
                  <a:pt x="3381" y="0"/>
                </a:moveTo>
                <a:cubicBezTo>
                  <a:pt x="3381" y="2729"/>
                  <a:pt x="-3832" y="13647"/>
                  <a:pt x="3381" y="16377"/>
                </a:cubicBezTo>
                <a:cubicBezTo>
                  <a:pt x="10594" y="19106"/>
                  <a:pt x="39450" y="16377"/>
                  <a:pt x="46664" y="16377"/>
                </a:cubicBezTo>
              </a:path>
            </a:pathLst>
          </a:cu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sp>
      <p:sp>
        <p:nvSpPr>
          <p:cNvPr id="916" name="Shape 916"/>
          <p:cNvSpPr/>
          <p:nvPr/>
        </p:nvSpPr>
        <p:spPr>
          <a:xfrm>
            <a:off x="6261775" y="3751900"/>
            <a:ext cx="2467811" cy="466700"/>
          </a:xfrm>
          <a:custGeom>
            <a:avLst/>
            <a:gdLst/>
            <a:ahLst/>
            <a:cxnLst/>
            <a:rect l="0" t="0" r="0" b="0"/>
            <a:pathLst>
              <a:path w="121075" h="18668" extrusionOk="0">
                <a:moveTo>
                  <a:pt x="0" y="12527"/>
                </a:moveTo>
                <a:cubicBezTo>
                  <a:pt x="6921" y="10479"/>
                  <a:pt x="30122" y="-730"/>
                  <a:pt x="41528" y="244"/>
                </a:cubicBezTo>
                <a:cubicBezTo>
                  <a:pt x="52933" y="1218"/>
                  <a:pt x="55175" y="17206"/>
                  <a:pt x="68433" y="18376"/>
                </a:cubicBezTo>
                <a:cubicBezTo>
                  <a:pt x="81690" y="19545"/>
                  <a:pt x="112301" y="9115"/>
                  <a:pt x="121075" y="7263"/>
                </a:cubicBezTo>
              </a:path>
            </a:pathLst>
          </a:cu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sp>
      <p:grpSp>
        <p:nvGrpSpPr>
          <p:cNvPr id="917" name="Shape 917"/>
          <p:cNvGrpSpPr/>
          <p:nvPr/>
        </p:nvGrpSpPr>
        <p:grpSpPr>
          <a:xfrm>
            <a:off x="1944787" y="1073599"/>
            <a:ext cx="3418412" cy="3776825"/>
            <a:chOff x="1944787" y="1073599"/>
            <a:chExt cx="3418412" cy="3776825"/>
          </a:xfrm>
        </p:grpSpPr>
        <p:cxnSp>
          <p:nvCxnSpPr>
            <p:cNvPr id="918" name="Shape 918"/>
            <p:cNvCxnSpPr/>
            <p:nvPr/>
          </p:nvCxnSpPr>
          <p:spPr>
            <a:xfrm>
              <a:off x="1944787" y="4182025"/>
              <a:ext cx="1851600" cy="668400"/>
            </a:xfrm>
            <a:prstGeom prst="straightConnector1">
              <a:avLst/>
            </a:prstGeom>
            <a:noFill/>
            <a:ln w="19050" cap="flat">
              <a:solidFill>
                <a:srgbClr val="F6B26B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919" name="Shape 919"/>
            <p:cNvCxnSpPr/>
            <p:nvPr/>
          </p:nvCxnSpPr>
          <p:spPr>
            <a:xfrm rot="10800000" flipH="1">
              <a:off x="2383600" y="1073599"/>
              <a:ext cx="2979600" cy="2816100"/>
            </a:xfrm>
            <a:prstGeom prst="straightConnector1">
              <a:avLst/>
            </a:prstGeom>
            <a:noFill/>
            <a:ln w="19050" cap="flat">
              <a:solidFill>
                <a:srgbClr val="F6B26B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920" name="Shape 920"/>
            <p:cNvCxnSpPr/>
            <p:nvPr/>
          </p:nvCxnSpPr>
          <p:spPr>
            <a:xfrm rot="10800000" flipH="1">
              <a:off x="2763700" y="1073600"/>
              <a:ext cx="2599500" cy="2830499"/>
            </a:xfrm>
            <a:prstGeom prst="straightConnector1">
              <a:avLst/>
            </a:prstGeom>
            <a:noFill/>
            <a:ln w="19050" cap="flat">
              <a:solidFill>
                <a:srgbClr val="F6B26B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921" name="Shape 921"/>
            <p:cNvCxnSpPr/>
            <p:nvPr/>
          </p:nvCxnSpPr>
          <p:spPr>
            <a:xfrm rot="10800000" flipH="1">
              <a:off x="3173200" y="1073599"/>
              <a:ext cx="2190000" cy="2918400"/>
            </a:xfrm>
            <a:prstGeom prst="straightConnector1">
              <a:avLst/>
            </a:prstGeom>
            <a:noFill/>
            <a:ln w="19050" cap="flat">
              <a:solidFill>
                <a:srgbClr val="F6B26B"/>
              </a:solidFill>
              <a:prstDash val="solid"/>
              <a:round/>
              <a:headEnd type="none" w="lg" len="lg"/>
              <a:tailEnd type="triangle" w="lg" len="lg"/>
            </a:ln>
          </p:spPr>
        </p:cxnSp>
      </p:grpSp>
      <p:grpSp>
        <p:nvGrpSpPr>
          <p:cNvPr id="922" name="Shape 922"/>
          <p:cNvGrpSpPr/>
          <p:nvPr/>
        </p:nvGrpSpPr>
        <p:grpSpPr>
          <a:xfrm>
            <a:off x="3597037" y="1073600"/>
            <a:ext cx="1766162" cy="3673324"/>
            <a:chOff x="3597037" y="1073600"/>
            <a:chExt cx="1766162" cy="3673324"/>
          </a:xfrm>
        </p:grpSpPr>
        <p:cxnSp>
          <p:nvCxnSpPr>
            <p:cNvPr id="923" name="Shape 923"/>
            <p:cNvCxnSpPr/>
            <p:nvPr/>
          </p:nvCxnSpPr>
          <p:spPr>
            <a:xfrm>
              <a:off x="3597037" y="4065025"/>
              <a:ext cx="868499" cy="681900"/>
            </a:xfrm>
            <a:prstGeom prst="straightConnector1">
              <a:avLst/>
            </a:prstGeom>
            <a:noFill/>
            <a:ln w="19050" cap="flat">
              <a:solidFill>
                <a:srgbClr val="3C78D8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924" name="Shape 924"/>
            <p:cNvCxnSpPr/>
            <p:nvPr/>
          </p:nvCxnSpPr>
          <p:spPr>
            <a:xfrm rot="10800000" flipH="1">
              <a:off x="4021300" y="1073600"/>
              <a:ext cx="1341899" cy="2962199"/>
            </a:xfrm>
            <a:prstGeom prst="straightConnector1">
              <a:avLst/>
            </a:prstGeom>
            <a:noFill/>
            <a:ln w="19050" cap="flat">
              <a:solidFill>
                <a:srgbClr val="3C78D8"/>
              </a:solidFill>
              <a:prstDash val="solid"/>
              <a:round/>
              <a:headEnd type="none" w="lg" len="lg"/>
              <a:tailEnd type="triangle" w="lg" len="lg"/>
            </a:ln>
          </p:spPr>
        </p:cxnSp>
      </p:grpSp>
      <p:grpSp>
        <p:nvGrpSpPr>
          <p:cNvPr id="925" name="Shape 925"/>
          <p:cNvGrpSpPr/>
          <p:nvPr/>
        </p:nvGrpSpPr>
        <p:grpSpPr>
          <a:xfrm>
            <a:off x="4430737" y="1073599"/>
            <a:ext cx="932462" cy="3673325"/>
            <a:chOff x="4430737" y="1073599"/>
            <a:chExt cx="932462" cy="3673325"/>
          </a:xfrm>
        </p:grpSpPr>
        <p:cxnSp>
          <p:nvCxnSpPr>
            <p:cNvPr id="926" name="Shape 926"/>
            <p:cNvCxnSpPr/>
            <p:nvPr/>
          </p:nvCxnSpPr>
          <p:spPr>
            <a:xfrm>
              <a:off x="4430737" y="4021225"/>
              <a:ext cx="34799" cy="725699"/>
            </a:xfrm>
            <a:prstGeom prst="straightConnector1">
              <a:avLst/>
            </a:prstGeom>
            <a:noFill/>
            <a:ln w="19050" cap="flat">
              <a:solidFill>
                <a:srgbClr val="CC0000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927" name="Shape 927"/>
            <p:cNvCxnSpPr/>
            <p:nvPr/>
          </p:nvCxnSpPr>
          <p:spPr>
            <a:xfrm rot="10800000" flipH="1">
              <a:off x="4766800" y="1073599"/>
              <a:ext cx="596399" cy="2757600"/>
            </a:xfrm>
            <a:prstGeom prst="straightConnector1">
              <a:avLst/>
            </a:prstGeom>
            <a:noFill/>
            <a:ln w="19050" cap="flat">
              <a:solidFill>
                <a:srgbClr val="CC0000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928" name="Shape 928"/>
            <p:cNvCxnSpPr/>
            <p:nvPr/>
          </p:nvCxnSpPr>
          <p:spPr>
            <a:xfrm rot="10800000" flipH="1">
              <a:off x="5293300" y="1073599"/>
              <a:ext cx="69899" cy="2786700"/>
            </a:xfrm>
            <a:prstGeom prst="straightConnector1">
              <a:avLst/>
            </a:prstGeom>
            <a:noFill/>
            <a:ln w="19050" cap="flat">
              <a:solidFill>
                <a:srgbClr val="CC0000"/>
              </a:solidFill>
              <a:prstDash val="solid"/>
              <a:round/>
              <a:headEnd type="none" w="lg" len="lg"/>
              <a:tailEnd type="triangle" w="lg" len="lg"/>
            </a:ln>
          </p:spPr>
        </p:cxnSp>
      </p:grpSp>
      <p:cxnSp>
        <p:nvCxnSpPr>
          <p:cNvPr id="929" name="Shape 929"/>
          <p:cNvCxnSpPr/>
          <p:nvPr/>
        </p:nvCxnSpPr>
        <p:spPr>
          <a:xfrm>
            <a:off x="5865224" y="3571784"/>
            <a:ext cx="0" cy="791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grpSp>
        <p:nvGrpSpPr>
          <p:cNvPr id="930" name="Shape 930"/>
          <p:cNvGrpSpPr/>
          <p:nvPr/>
        </p:nvGrpSpPr>
        <p:grpSpPr>
          <a:xfrm>
            <a:off x="6487275" y="4995475"/>
            <a:ext cx="1348149" cy="1613974"/>
            <a:chOff x="733425" y="1838500"/>
            <a:chExt cx="1348149" cy="1613974"/>
          </a:xfrm>
        </p:grpSpPr>
        <p:sp>
          <p:nvSpPr>
            <p:cNvPr id="931" name="Shape 931"/>
            <p:cNvSpPr/>
            <p:nvPr/>
          </p:nvSpPr>
          <p:spPr>
            <a:xfrm>
              <a:off x="733425" y="2104575"/>
              <a:ext cx="1259400" cy="1347899"/>
            </a:xfrm>
            <a:prstGeom prst="rect">
              <a:avLst/>
            </a:prstGeom>
            <a:solidFill>
              <a:schemeClr val="lt2"/>
            </a:solidFill>
            <a:ln w="19050" cap="flat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zh-TW" sz="1200"/>
                <a:t>IT_RUN_LIST</a:t>
              </a:r>
            </a:p>
            <a:p>
              <a:pPr lvl="0" algn="ctr" rtl="0">
                <a:spcBef>
                  <a:spcPts val="0"/>
                </a:spcBef>
                <a:buNone/>
              </a:pPr>
              <a:endParaRPr sz="1200"/>
            </a:p>
            <a:p>
              <a:pPr lvl="0" algn="ctr" rtl="0">
                <a:spcBef>
                  <a:spcPts val="0"/>
                </a:spcBef>
                <a:buNone/>
              </a:pPr>
              <a:endParaRPr sz="1200"/>
            </a:p>
            <a:p>
              <a:pPr lvl="0" algn="ctr" rtl="0">
                <a:spcBef>
                  <a:spcPts val="0"/>
                </a:spcBef>
                <a:buNone/>
              </a:pPr>
              <a:endParaRPr sz="1200"/>
            </a:p>
            <a:p>
              <a:pPr lvl="0" algn="ctr" rtl="0">
                <a:spcBef>
                  <a:spcPts val="0"/>
                </a:spcBef>
                <a:buNone/>
              </a:pPr>
              <a:endParaRPr sz="1200"/>
            </a:p>
            <a:p>
              <a:pPr lvl="0" algn="ctr" rtl="0">
                <a:spcBef>
                  <a:spcPts val="0"/>
                </a:spcBef>
                <a:buNone/>
              </a:pPr>
              <a:endParaRPr sz="1200"/>
            </a:p>
            <a:p>
              <a:pPr lvl="0" algn="ctr" rtl="0">
                <a:spcBef>
                  <a:spcPts val="0"/>
                </a:spcBef>
                <a:buNone/>
              </a:pPr>
              <a:r>
                <a:rPr lang="zh-TW" sz="1200"/>
                <a:t>run_list</a:t>
              </a:r>
            </a:p>
          </p:txBody>
        </p:sp>
        <p:cxnSp>
          <p:nvCxnSpPr>
            <p:cNvPr id="932" name="Shape 932"/>
            <p:cNvCxnSpPr/>
            <p:nvPr/>
          </p:nvCxnSpPr>
          <p:spPr>
            <a:xfrm>
              <a:off x="743275" y="2360400"/>
              <a:ext cx="1259400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sp>
          <p:nvSpPr>
            <p:cNvPr id="933" name="Shape 933"/>
            <p:cNvSpPr txBox="1"/>
            <p:nvPr/>
          </p:nvSpPr>
          <p:spPr>
            <a:xfrm>
              <a:off x="743275" y="1838500"/>
              <a:ext cx="1338299" cy="20699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rPr lang="zh-TW" sz="1000">
                  <a:solidFill>
                    <a:srgbClr val="1155CC"/>
                  </a:solidFill>
                </a:rPr>
                <a:t>PM4 Packet (Type3)</a:t>
              </a:r>
            </a:p>
          </p:txBody>
        </p:sp>
        <p:cxnSp>
          <p:nvCxnSpPr>
            <p:cNvPr id="934" name="Shape 934"/>
            <p:cNvCxnSpPr/>
            <p:nvPr/>
          </p:nvCxnSpPr>
          <p:spPr>
            <a:xfrm>
              <a:off x="733425" y="3201625"/>
              <a:ext cx="1259400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sp>
          <p:nvSpPr>
            <p:cNvPr id="935" name="Shape 935"/>
            <p:cNvSpPr/>
            <p:nvPr/>
          </p:nvSpPr>
          <p:spPr>
            <a:xfrm>
              <a:off x="1099175" y="2413675"/>
              <a:ext cx="327622" cy="734233"/>
            </a:xfrm>
            <a:custGeom>
              <a:avLst/>
              <a:gdLst/>
              <a:ahLst/>
              <a:cxnLst/>
              <a:rect l="0" t="0" r="0" b="0"/>
              <a:pathLst>
                <a:path w="13481" h="25563" extrusionOk="0">
                  <a:moveTo>
                    <a:pt x="7487" y="0"/>
                  </a:moveTo>
                  <a:cubicBezTo>
                    <a:pt x="6278" y="1526"/>
                    <a:pt x="-715" y="6995"/>
                    <a:pt x="238" y="9157"/>
                  </a:cubicBezTo>
                  <a:cubicBezTo>
                    <a:pt x="1191" y="11319"/>
                    <a:pt x="12129" y="10237"/>
                    <a:pt x="13210" y="12972"/>
                  </a:cubicBezTo>
                  <a:cubicBezTo>
                    <a:pt x="14291" y="15706"/>
                    <a:pt x="7805" y="23464"/>
                    <a:pt x="6724" y="25563"/>
                  </a:cubicBezTo>
                </a:path>
              </a:pathLst>
            </a:cu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sp>
      </p:grpSp>
      <p:grpSp>
        <p:nvGrpSpPr>
          <p:cNvPr id="936" name="Shape 936"/>
          <p:cNvGrpSpPr/>
          <p:nvPr/>
        </p:nvGrpSpPr>
        <p:grpSpPr>
          <a:xfrm>
            <a:off x="850875" y="4041175"/>
            <a:ext cx="6315799" cy="2448208"/>
            <a:chOff x="850475" y="4041175"/>
            <a:chExt cx="6315799" cy="2448208"/>
          </a:xfrm>
        </p:grpSpPr>
        <p:cxnSp>
          <p:nvCxnSpPr>
            <p:cNvPr id="937" name="Shape 937"/>
            <p:cNvCxnSpPr/>
            <p:nvPr/>
          </p:nvCxnSpPr>
          <p:spPr>
            <a:xfrm>
              <a:off x="5722375" y="4041175"/>
              <a:ext cx="1443899" cy="954300"/>
            </a:xfrm>
            <a:prstGeom prst="straightConnector1">
              <a:avLst/>
            </a:prstGeom>
            <a:noFill/>
            <a:ln w="19050" cap="flat">
              <a:solidFill>
                <a:srgbClr val="FF0000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938" name="Shape 938"/>
            <p:cNvSpPr/>
            <p:nvPr/>
          </p:nvSpPr>
          <p:spPr>
            <a:xfrm>
              <a:off x="850475" y="4159025"/>
              <a:ext cx="5953963" cy="2330358"/>
            </a:xfrm>
            <a:custGeom>
              <a:avLst/>
              <a:gdLst/>
              <a:ahLst/>
              <a:cxnLst/>
              <a:rect l="0" t="0" r="0" b="0"/>
              <a:pathLst>
                <a:path w="243840" h="89081" extrusionOk="0">
                  <a:moveTo>
                    <a:pt x="243840" y="89081"/>
                  </a:moveTo>
                  <a:cubicBezTo>
                    <a:pt x="205100" y="81608"/>
                    <a:pt x="46014" y="59092"/>
                    <a:pt x="11405" y="44246"/>
                  </a:cubicBezTo>
                  <a:cubicBezTo>
                    <a:pt x="-23204" y="29399"/>
                    <a:pt x="32053" y="7374"/>
                    <a:pt x="36183" y="0"/>
                  </a:cubicBezTo>
                </a:path>
              </a:pathLst>
            </a:custGeom>
            <a:noFill/>
            <a:ln w="19050" cap="flat">
              <a:solidFill>
                <a:srgbClr val="FF0000"/>
              </a:solidFill>
              <a:prstDash val="solid"/>
              <a:round/>
              <a:headEnd type="none" w="lg" len="lg"/>
              <a:tailEnd type="triangle" w="lg" len="lg"/>
            </a:ln>
          </p:spPr>
        </p:sp>
      </p:grpSp>
    </p:spTree>
  </p:cSld>
  <p:clrMapOvr>
    <a:masterClrMapping/>
  </p:clrMapOvr>
  <p:transition spd="slow"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Shape 943"/>
          <p:cNvSpPr/>
          <p:nvPr/>
        </p:nvSpPr>
        <p:spPr>
          <a:xfrm>
            <a:off x="577825" y="656300"/>
            <a:ext cx="3804900" cy="629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1371600" lvl="0" indent="-3048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1200">
                <a:solidFill>
                  <a:schemeClr val="dk1"/>
                </a:solidFill>
              </a:rPr>
              <a:t>Prepare (pipe, queue) bitmap</a:t>
            </a:r>
          </a:p>
        </p:txBody>
      </p:sp>
      <p:sp>
        <p:nvSpPr>
          <p:cNvPr id="944" name="Shape 944"/>
          <p:cNvSpPr/>
          <p:nvPr/>
        </p:nvSpPr>
        <p:spPr>
          <a:xfrm>
            <a:off x="577827" y="656300"/>
            <a:ext cx="1118399" cy="629400"/>
          </a:xfrm>
          <a:prstGeom prst="roundRect">
            <a:avLst>
              <a:gd name="adj" fmla="val 16667"/>
            </a:avLst>
          </a:prstGeom>
          <a:solidFill>
            <a:srgbClr val="E06666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200"/>
              <a:t>dqm-&gt;</a:t>
            </a:r>
          </a:p>
          <a:p>
            <a:pPr lvl="0" rtl="0">
              <a:spcBef>
                <a:spcPts val="0"/>
              </a:spcBef>
              <a:buNone/>
            </a:pPr>
            <a:r>
              <a:rPr lang="zh-TW" sz="1200"/>
              <a:t>initialize</a:t>
            </a:r>
          </a:p>
        </p:txBody>
      </p:sp>
      <p:sp>
        <p:nvSpPr>
          <p:cNvPr id="945" name="Shape 945"/>
          <p:cNvSpPr/>
          <p:nvPr/>
        </p:nvSpPr>
        <p:spPr>
          <a:xfrm>
            <a:off x="577825" y="1629675"/>
            <a:ext cx="3804900" cy="629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sz="1200">
              <a:solidFill>
                <a:schemeClr val="dk1"/>
              </a:solidFill>
            </a:endParaRPr>
          </a:p>
        </p:txBody>
      </p:sp>
      <p:sp>
        <p:nvSpPr>
          <p:cNvPr id="946" name="Shape 946"/>
          <p:cNvSpPr/>
          <p:nvPr/>
        </p:nvSpPr>
        <p:spPr>
          <a:xfrm>
            <a:off x="577827" y="1629675"/>
            <a:ext cx="1118399" cy="629400"/>
          </a:xfrm>
          <a:prstGeom prst="roundRect">
            <a:avLst>
              <a:gd name="adj" fmla="val 16667"/>
            </a:avLst>
          </a:prstGeom>
          <a:solidFill>
            <a:srgbClr val="E06666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200"/>
              <a:t>dqm-&gt;</a:t>
            </a:r>
          </a:p>
          <a:p>
            <a:pPr lvl="0" rtl="0">
              <a:spcBef>
                <a:spcPts val="0"/>
              </a:spcBef>
              <a:buNone/>
            </a:pPr>
            <a:r>
              <a:rPr lang="zh-TW" sz="1200"/>
              <a:t>start</a:t>
            </a:r>
          </a:p>
        </p:txBody>
      </p:sp>
      <p:sp>
        <p:nvSpPr>
          <p:cNvPr id="947" name="Shape 947"/>
          <p:cNvSpPr/>
          <p:nvPr/>
        </p:nvSpPr>
        <p:spPr>
          <a:xfrm>
            <a:off x="577825" y="2603050"/>
            <a:ext cx="3804900" cy="629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1371600" lvl="0" indent="-3048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1200">
                <a:solidFill>
                  <a:schemeClr val="dk1"/>
                </a:solidFill>
              </a:rPr>
              <a:t>Create kfd_process</a:t>
            </a:r>
          </a:p>
          <a:p>
            <a:pPr marL="1371600" lvl="0" indent="-3048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1200">
                <a:solidFill>
                  <a:schemeClr val="dk1"/>
                </a:solidFill>
              </a:rPr>
              <a:t>Assign PASID</a:t>
            </a:r>
          </a:p>
        </p:txBody>
      </p:sp>
      <p:sp>
        <p:nvSpPr>
          <p:cNvPr id="948" name="Shape 948"/>
          <p:cNvSpPr/>
          <p:nvPr/>
        </p:nvSpPr>
        <p:spPr>
          <a:xfrm>
            <a:off x="577827" y="2603050"/>
            <a:ext cx="1118399" cy="629400"/>
          </a:xfrm>
          <a:prstGeom prst="roundRect">
            <a:avLst>
              <a:gd name="adj" fmla="val 16667"/>
            </a:avLst>
          </a:prstGeom>
          <a:solidFill>
            <a:srgbClr val="E06666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200"/>
              <a:t>kfd_open</a:t>
            </a:r>
          </a:p>
        </p:txBody>
      </p:sp>
      <p:sp>
        <p:nvSpPr>
          <p:cNvPr id="949" name="Shape 949"/>
          <p:cNvSpPr/>
          <p:nvPr/>
        </p:nvSpPr>
        <p:spPr>
          <a:xfrm>
            <a:off x="577825" y="3576425"/>
            <a:ext cx="3804900" cy="629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1371600" lvl="0" indent="-3048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1200">
                <a:solidFill>
                  <a:schemeClr val="dk1"/>
                </a:solidFill>
              </a:rPr>
              <a:t>Get queue_id</a:t>
            </a:r>
          </a:p>
          <a:p>
            <a:pPr marL="1371600" lvl="0" indent="-3048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1200">
                <a:solidFill>
                  <a:schemeClr val="dk1"/>
                </a:solidFill>
              </a:rPr>
              <a:t>Map doorbell to application</a:t>
            </a:r>
          </a:p>
        </p:txBody>
      </p:sp>
      <p:sp>
        <p:nvSpPr>
          <p:cNvPr id="950" name="Shape 950"/>
          <p:cNvSpPr/>
          <p:nvPr/>
        </p:nvSpPr>
        <p:spPr>
          <a:xfrm>
            <a:off x="577827" y="3576425"/>
            <a:ext cx="1118399" cy="629400"/>
          </a:xfrm>
          <a:prstGeom prst="roundRect">
            <a:avLst>
              <a:gd name="adj" fmla="val 16667"/>
            </a:avLst>
          </a:prstGeom>
          <a:solidFill>
            <a:srgbClr val="E06666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200"/>
              <a:t>ioctl(CREATE_QUEUE)</a:t>
            </a:r>
          </a:p>
        </p:txBody>
      </p:sp>
      <p:sp>
        <p:nvSpPr>
          <p:cNvPr id="951" name="Shape 951"/>
          <p:cNvSpPr/>
          <p:nvPr/>
        </p:nvSpPr>
        <p:spPr>
          <a:xfrm>
            <a:off x="577825" y="4549800"/>
            <a:ext cx="3804900" cy="629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1371600" lvl="0" indent="-3048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1200">
                <a:solidFill>
                  <a:schemeClr val="dk1"/>
                </a:solidFill>
              </a:rPr>
              <a:t>init_mqd</a:t>
            </a:r>
          </a:p>
          <a:p>
            <a:pPr marL="1371600" lvl="0" indent="-3048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1200">
                <a:solidFill>
                  <a:schemeClr val="dk1"/>
                </a:solidFill>
              </a:rPr>
              <a:t>Find unused (pipe, queue) to assign HW queue_id</a:t>
            </a:r>
          </a:p>
        </p:txBody>
      </p:sp>
      <p:sp>
        <p:nvSpPr>
          <p:cNvPr id="952" name="Shape 952"/>
          <p:cNvSpPr/>
          <p:nvPr/>
        </p:nvSpPr>
        <p:spPr>
          <a:xfrm>
            <a:off x="577827" y="4549800"/>
            <a:ext cx="1118399" cy="629400"/>
          </a:xfrm>
          <a:prstGeom prst="roundRect">
            <a:avLst>
              <a:gd name="adj" fmla="val 16667"/>
            </a:avLst>
          </a:prstGeom>
          <a:solidFill>
            <a:srgbClr val="E06666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200"/>
              <a:t>dqm-&gt;create_queue</a:t>
            </a:r>
          </a:p>
        </p:txBody>
      </p:sp>
      <p:sp>
        <p:nvSpPr>
          <p:cNvPr id="953" name="Shape 953"/>
          <p:cNvSpPr/>
          <p:nvPr/>
        </p:nvSpPr>
        <p:spPr>
          <a:xfrm>
            <a:off x="577825" y="5523175"/>
            <a:ext cx="3804900" cy="629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1371600" lvl="0" indent="-3048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1200">
                <a:solidFill>
                  <a:schemeClr val="dk1"/>
                </a:solidFill>
              </a:rPr>
              <a:t>Write queue configuration to device</a:t>
            </a:r>
          </a:p>
        </p:txBody>
      </p:sp>
      <p:sp>
        <p:nvSpPr>
          <p:cNvPr id="954" name="Shape 954"/>
          <p:cNvSpPr/>
          <p:nvPr/>
        </p:nvSpPr>
        <p:spPr>
          <a:xfrm>
            <a:off x="577827" y="5523175"/>
            <a:ext cx="1118399" cy="629400"/>
          </a:xfrm>
          <a:prstGeom prst="roundRect">
            <a:avLst>
              <a:gd name="adj" fmla="val 16667"/>
            </a:avLst>
          </a:prstGeom>
          <a:solidFill>
            <a:srgbClr val="E06666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200"/>
              <a:t>dqm-&gt;execute_queue</a:t>
            </a:r>
          </a:p>
        </p:txBody>
      </p:sp>
      <p:cxnSp>
        <p:nvCxnSpPr>
          <p:cNvPr id="955" name="Shape 955"/>
          <p:cNvCxnSpPr>
            <a:stCxn id="943" idx="2"/>
            <a:endCxn id="945" idx="0"/>
          </p:cNvCxnSpPr>
          <p:nvPr/>
        </p:nvCxnSpPr>
        <p:spPr>
          <a:xfrm>
            <a:off x="2480275" y="1285700"/>
            <a:ext cx="0" cy="3441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956" name="Shape 956"/>
          <p:cNvCxnSpPr/>
          <p:nvPr/>
        </p:nvCxnSpPr>
        <p:spPr>
          <a:xfrm>
            <a:off x="2480275" y="2259075"/>
            <a:ext cx="0" cy="3440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957" name="Shape 957"/>
          <p:cNvCxnSpPr/>
          <p:nvPr/>
        </p:nvCxnSpPr>
        <p:spPr>
          <a:xfrm>
            <a:off x="2480275" y="3232387"/>
            <a:ext cx="0" cy="3440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958" name="Shape 958"/>
          <p:cNvCxnSpPr/>
          <p:nvPr/>
        </p:nvCxnSpPr>
        <p:spPr>
          <a:xfrm>
            <a:off x="2480275" y="4205762"/>
            <a:ext cx="0" cy="3440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959" name="Shape 959"/>
          <p:cNvCxnSpPr/>
          <p:nvPr/>
        </p:nvCxnSpPr>
        <p:spPr>
          <a:xfrm>
            <a:off x="2480275" y="5191437"/>
            <a:ext cx="0" cy="3440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60" name="Shape 960"/>
          <p:cNvSpPr/>
          <p:nvPr/>
        </p:nvSpPr>
        <p:spPr>
          <a:xfrm>
            <a:off x="4958100" y="656300"/>
            <a:ext cx="3804900" cy="629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sz="1200">
              <a:solidFill>
                <a:schemeClr val="dk1"/>
              </a:solidFill>
            </a:endParaRPr>
          </a:p>
        </p:txBody>
      </p:sp>
      <p:sp>
        <p:nvSpPr>
          <p:cNvPr id="961" name="Shape 961"/>
          <p:cNvSpPr/>
          <p:nvPr/>
        </p:nvSpPr>
        <p:spPr>
          <a:xfrm>
            <a:off x="4958102" y="656300"/>
            <a:ext cx="1118399" cy="629400"/>
          </a:xfrm>
          <a:prstGeom prst="roundRect">
            <a:avLst>
              <a:gd name="adj" fmla="val 16667"/>
            </a:avLst>
          </a:prstGeom>
          <a:solidFill>
            <a:srgbClr val="6D9EEB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200"/>
              <a:t>dqm-&gt;</a:t>
            </a:r>
          </a:p>
          <a:p>
            <a:pPr lvl="0" rtl="0">
              <a:spcBef>
                <a:spcPts val="0"/>
              </a:spcBef>
              <a:buNone/>
            </a:pPr>
            <a:r>
              <a:rPr lang="zh-TW" sz="1200"/>
              <a:t>initialize</a:t>
            </a:r>
          </a:p>
        </p:txBody>
      </p:sp>
      <p:sp>
        <p:nvSpPr>
          <p:cNvPr id="962" name="Shape 962"/>
          <p:cNvSpPr/>
          <p:nvPr/>
        </p:nvSpPr>
        <p:spPr>
          <a:xfrm>
            <a:off x="4958100" y="1629675"/>
            <a:ext cx="3804900" cy="629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1371600" lvl="0" indent="-3048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1200">
                <a:solidFill>
                  <a:schemeClr val="dk1"/>
                </a:solidFill>
              </a:rPr>
              <a:t>pm_init</a:t>
            </a:r>
          </a:p>
          <a:p>
            <a:pPr marL="1371600" lvl="0" indent="-3048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1200">
                <a:solidFill>
                  <a:schemeClr val="dk1"/>
                </a:solidFill>
              </a:rPr>
              <a:t>kernel_queue_init</a:t>
            </a:r>
          </a:p>
        </p:txBody>
      </p:sp>
      <p:sp>
        <p:nvSpPr>
          <p:cNvPr id="963" name="Shape 963"/>
          <p:cNvSpPr/>
          <p:nvPr/>
        </p:nvSpPr>
        <p:spPr>
          <a:xfrm>
            <a:off x="4958102" y="1629675"/>
            <a:ext cx="1118399" cy="629400"/>
          </a:xfrm>
          <a:prstGeom prst="roundRect">
            <a:avLst>
              <a:gd name="adj" fmla="val 16667"/>
            </a:avLst>
          </a:prstGeom>
          <a:solidFill>
            <a:srgbClr val="6D9EEB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200"/>
              <a:t>dqm-&gt;</a:t>
            </a:r>
          </a:p>
          <a:p>
            <a:pPr lvl="0" rtl="0">
              <a:spcBef>
                <a:spcPts val="0"/>
              </a:spcBef>
              <a:buNone/>
            </a:pPr>
            <a:r>
              <a:rPr lang="zh-TW" sz="1200"/>
              <a:t>start</a:t>
            </a:r>
          </a:p>
        </p:txBody>
      </p:sp>
      <p:sp>
        <p:nvSpPr>
          <p:cNvPr id="964" name="Shape 964"/>
          <p:cNvSpPr/>
          <p:nvPr/>
        </p:nvSpPr>
        <p:spPr>
          <a:xfrm>
            <a:off x="4958100" y="2603050"/>
            <a:ext cx="3804900" cy="629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1371600" lvl="0" indent="-3048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1200">
                <a:solidFill>
                  <a:schemeClr val="dk1"/>
                </a:solidFill>
              </a:rPr>
              <a:t>Create kfd_process</a:t>
            </a:r>
          </a:p>
          <a:p>
            <a:pPr marL="1371600" lvl="0" indent="-3048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1200">
                <a:solidFill>
                  <a:schemeClr val="dk1"/>
                </a:solidFill>
              </a:rPr>
              <a:t>Assign PASID</a:t>
            </a:r>
          </a:p>
        </p:txBody>
      </p:sp>
      <p:sp>
        <p:nvSpPr>
          <p:cNvPr id="965" name="Shape 965"/>
          <p:cNvSpPr/>
          <p:nvPr/>
        </p:nvSpPr>
        <p:spPr>
          <a:xfrm>
            <a:off x="4958102" y="2603050"/>
            <a:ext cx="1118399" cy="629400"/>
          </a:xfrm>
          <a:prstGeom prst="roundRect">
            <a:avLst>
              <a:gd name="adj" fmla="val 16667"/>
            </a:avLst>
          </a:prstGeom>
          <a:solidFill>
            <a:srgbClr val="6D9EEB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200"/>
              <a:t>kfd_open</a:t>
            </a:r>
          </a:p>
        </p:txBody>
      </p:sp>
      <p:sp>
        <p:nvSpPr>
          <p:cNvPr id="966" name="Shape 966"/>
          <p:cNvSpPr/>
          <p:nvPr/>
        </p:nvSpPr>
        <p:spPr>
          <a:xfrm>
            <a:off x="4958100" y="4549800"/>
            <a:ext cx="3804900" cy="629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1371600" lvl="0" indent="-3048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1200">
                <a:solidFill>
                  <a:schemeClr val="dk1"/>
                </a:solidFill>
              </a:rPr>
              <a:t>init_mqd</a:t>
            </a:r>
          </a:p>
        </p:txBody>
      </p:sp>
      <p:sp>
        <p:nvSpPr>
          <p:cNvPr id="967" name="Shape 967"/>
          <p:cNvSpPr/>
          <p:nvPr/>
        </p:nvSpPr>
        <p:spPr>
          <a:xfrm>
            <a:off x="4958102" y="4549800"/>
            <a:ext cx="1118399" cy="629400"/>
          </a:xfrm>
          <a:prstGeom prst="roundRect">
            <a:avLst>
              <a:gd name="adj" fmla="val 16667"/>
            </a:avLst>
          </a:prstGeom>
          <a:solidFill>
            <a:srgbClr val="6D9EEB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200"/>
              <a:t>dqm-&gt;create_queue</a:t>
            </a:r>
          </a:p>
        </p:txBody>
      </p:sp>
      <p:sp>
        <p:nvSpPr>
          <p:cNvPr id="968" name="Shape 968"/>
          <p:cNvSpPr/>
          <p:nvPr/>
        </p:nvSpPr>
        <p:spPr>
          <a:xfrm>
            <a:off x="4958100" y="5523175"/>
            <a:ext cx="3804900" cy="629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1371600" lvl="0" indent="-3048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1200">
                <a:solidFill>
                  <a:schemeClr val="dk1"/>
                </a:solidFill>
              </a:rPr>
              <a:t>Create pm4 packet </a:t>
            </a:r>
          </a:p>
          <a:p>
            <a:pPr marL="1371600" lvl="0" indent="-3048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1200">
                <a:solidFill>
                  <a:schemeClr val="dk1"/>
                </a:solidFill>
              </a:rPr>
              <a:t>Kick kernel_queue’s doorbell</a:t>
            </a:r>
          </a:p>
        </p:txBody>
      </p:sp>
      <p:sp>
        <p:nvSpPr>
          <p:cNvPr id="969" name="Shape 969"/>
          <p:cNvSpPr/>
          <p:nvPr/>
        </p:nvSpPr>
        <p:spPr>
          <a:xfrm>
            <a:off x="4958102" y="5523175"/>
            <a:ext cx="1118399" cy="629400"/>
          </a:xfrm>
          <a:prstGeom prst="roundRect">
            <a:avLst>
              <a:gd name="adj" fmla="val 16667"/>
            </a:avLst>
          </a:prstGeom>
          <a:solidFill>
            <a:srgbClr val="6D9EEB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200"/>
              <a:t>dqm-&gt;execute_queue</a:t>
            </a:r>
          </a:p>
        </p:txBody>
      </p:sp>
      <p:cxnSp>
        <p:nvCxnSpPr>
          <p:cNvPr id="970" name="Shape 970"/>
          <p:cNvCxnSpPr>
            <a:stCxn id="960" idx="2"/>
            <a:endCxn id="962" idx="0"/>
          </p:cNvCxnSpPr>
          <p:nvPr/>
        </p:nvCxnSpPr>
        <p:spPr>
          <a:xfrm>
            <a:off x="6860550" y="1285700"/>
            <a:ext cx="0" cy="3441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971" name="Shape 971"/>
          <p:cNvCxnSpPr/>
          <p:nvPr/>
        </p:nvCxnSpPr>
        <p:spPr>
          <a:xfrm>
            <a:off x="6860550" y="2259075"/>
            <a:ext cx="0" cy="3440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972" name="Shape 972"/>
          <p:cNvCxnSpPr/>
          <p:nvPr/>
        </p:nvCxnSpPr>
        <p:spPr>
          <a:xfrm>
            <a:off x="6860550" y="3232387"/>
            <a:ext cx="0" cy="3440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973" name="Shape 973"/>
          <p:cNvCxnSpPr/>
          <p:nvPr/>
        </p:nvCxnSpPr>
        <p:spPr>
          <a:xfrm>
            <a:off x="6860550" y="4205762"/>
            <a:ext cx="0" cy="3440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974" name="Shape 974"/>
          <p:cNvCxnSpPr/>
          <p:nvPr/>
        </p:nvCxnSpPr>
        <p:spPr>
          <a:xfrm>
            <a:off x="6860550" y="5191437"/>
            <a:ext cx="0" cy="3440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75" name="Shape 975"/>
          <p:cNvSpPr/>
          <p:nvPr/>
        </p:nvSpPr>
        <p:spPr>
          <a:xfrm>
            <a:off x="4958100" y="3576425"/>
            <a:ext cx="3804900" cy="629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1371600" lvl="0" indent="-3048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1200">
                <a:solidFill>
                  <a:schemeClr val="dk1"/>
                </a:solidFill>
              </a:rPr>
              <a:t>Get queue_id</a:t>
            </a:r>
          </a:p>
          <a:p>
            <a:pPr marL="1371600" lvl="0" indent="-3048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sz="1200">
                <a:solidFill>
                  <a:schemeClr val="dk1"/>
                </a:solidFill>
              </a:rPr>
              <a:t>Map doorbell to application</a:t>
            </a:r>
          </a:p>
        </p:txBody>
      </p:sp>
      <p:sp>
        <p:nvSpPr>
          <p:cNvPr id="976" name="Shape 976"/>
          <p:cNvSpPr/>
          <p:nvPr/>
        </p:nvSpPr>
        <p:spPr>
          <a:xfrm>
            <a:off x="4958102" y="3576425"/>
            <a:ext cx="1118399" cy="629400"/>
          </a:xfrm>
          <a:prstGeom prst="roundRect">
            <a:avLst>
              <a:gd name="adj" fmla="val 16667"/>
            </a:avLst>
          </a:prstGeom>
          <a:solidFill>
            <a:srgbClr val="6D9EEB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200"/>
              <a:t>ioctl(CREATE_QUEUE)</a:t>
            </a:r>
          </a:p>
        </p:txBody>
      </p:sp>
      <p:sp>
        <p:nvSpPr>
          <p:cNvPr id="977" name="Shape 977"/>
          <p:cNvSpPr txBox="1"/>
          <p:nvPr/>
        </p:nvSpPr>
        <p:spPr>
          <a:xfrm>
            <a:off x="546675" y="111925"/>
            <a:ext cx="1146899" cy="413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>
                <a:solidFill>
                  <a:srgbClr val="E06666"/>
                </a:solidFill>
              </a:rPr>
              <a:t>SW Policy</a:t>
            </a:r>
          </a:p>
        </p:txBody>
      </p:sp>
      <p:sp>
        <p:nvSpPr>
          <p:cNvPr id="978" name="Shape 978"/>
          <p:cNvSpPr txBox="1"/>
          <p:nvPr/>
        </p:nvSpPr>
        <p:spPr>
          <a:xfrm>
            <a:off x="4943850" y="111925"/>
            <a:ext cx="1146899" cy="413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>
                <a:solidFill>
                  <a:srgbClr val="6D9EEB"/>
                </a:solidFill>
              </a:rPr>
              <a:t>HW Policy</a:t>
            </a:r>
          </a:p>
        </p:txBody>
      </p:sp>
    </p:spTree>
  </p:cSld>
  <p:clrMapOvr>
    <a:masterClrMapping/>
  </p:clrMapOvr>
  <p:transition spd="slow"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Shape 98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Application Computation ...</a:t>
            </a:r>
          </a:p>
        </p:txBody>
      </p:sp>
      <p:sp>
        <p:nvSpPr>
          <p:cNvPr id="984" name="Shape 98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HW has ring_base_addr </a:t>
            </a:r>
            <a:r>
              <a:rPr lang="zh-TW">
                <a:solidFill>
                  <a:srgbClr val="1155CC"/>
                </a:solidFill>
              </a:rPr>
              <a:t>user-space address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Application enqueue AQL packet and wait signal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Application has HW doorbell </a:t>
            </a:r>
            <a:r>
              <a:rPr lang="zh-TW">
                <a:solidFill>
                  <a:srgbClr val="1155CC"/>
                </a:solidFill>
              </a:rPr>
              <a:t>mmio address</a:t>
            </a:r>
          </a:p>
          <a:p>
            <a:pPr marL="914400" lvl="1" indent="-381000" rtl="0">
              <a:spcBef>
                <a:spcPts val="0"/>
              </a:spcBef>
              <a:buClr>
                <a:srgbClr val="000000"/>
              </a:buClr>
              <a:buSzPct val="80000"/>
              <a:buFont typeface="Courier New"/>
              <a:buChar char="o"/>
            </a:pPr>
            <a:r>
              <a:rPr lang="zh-TW">
                <a:solidFill>
                  <a:srgbClr val="000000"/>
                </a:solidFill>
              </a:rPr>
              <a:t>Use to kick hardware</a:t>
            </a:r>
          </a:p>
          <a:p>
            <a:pPr lvl="0">
              <a:spcBef>
                <a:spcPts val="0"/>
              </a:spcBef>
              <a:buNone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985" name="Shape 985"/>
          <p:cNvSpPr txBox="1"/>
          <p:nvPr/>
        </p:nvSpPr>
        <p:spPr>
          <a:xfrm>
            <a:off x="457200" y="4214250"/>
            <a:ext cx="3901800" cy="561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TW" sz="3000"/>
              <a:t>Driver do nothing</a:t>
            </a:r>
          </a:p>
        </p:txBody>
      </p:sp>
      <p:sp>
        <p:nvSpPr>
          <p:cNvPr id="986" name="Shape 986"/>
          <p:cNvSpPr txBox="1"/>
          <p:nvPr/>
        </p:nvSpPr>
        <p:spPr>
          <a:xfrm>
            <a:off x="457200" y="4685675"/>
            <a:ext cx="8681699" cy="561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TW" sz="3000">
                <a:solidFill>
                  <a:schemeClr val="dk1"/>
                </a:solidFill>
              </a:rPr>
              <a:t>Until application send ioctl(KFD_IOC_DESTROY_QUEUE) or application finish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Shape 99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Haredware Queue Deactivation</a:t>
            </a:r>
          </a:p>
        </p:txBody>
      </p:sp>
      <p:sp>
        <p:nvSpPr>
          <p:cNvPr id="992" name="Shape 99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zh-TW"/>
              <a:t>Application send ioctl(KFD_IOC_DESTROY_QUEUE)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zh-TW"/>
              <a:t>Task exit notifier</a:t>
            </a:r>
          </a:p>
        </p:txBody>
      </p:sp>
    </p:spTree>
  </p:cSld>
  <p:clrMapOvr>
    <a:masterClrMapping/>
  </p:clrMapOvr>
  <p:transition spd="slow"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Shape 99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dqm-&gt;destroy_queue For SW Policy</a:t>
            </a:r>
          </a:p>
        </p:txBody>
      </p:sp>
      <p:sp>
        <p:nvSpPr>
          <p:cNvPr id="998" name="Shape 99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destroy_mqd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acquire_queue(kgd, pipe_id, queue_id);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write_register(kgd, CP_HQD_DEQUEUE_REQUEST, DEQUEUE_REQUEST_DRAIN);</a:t>
            </a:r>
          </a:p>
        </p:txBody>
      </p:sp>
    </p:spTree>
  </p:cSld>
  <p:clrMapOvr>
    <a:masterClrMapping/>
  </p:clrMapOvr>
  <p:transition spd="slow"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Shape 100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/>
              <a:t>dqm-&gt;destroy_queue For HW Policy</a:t>
            </a:r>
          </a:p>
        </p:txBody>
      </p:sp>
      <p:sp>
        <p:nvSpPr>
          <p:cNvPr id="1004" name="Shape 100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dqm-&gt;destroy_queues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pm_send_unmap_queue</a:t>
            </a:r>
          </a:p>
          <a:p>
            <a:pPr marL="1371600" lvl="2" indent="-381000" rtl="0">
              <a:spcBef>
                <a:spcPts val="0"/>
              </a:spcBef>
              <a:buClr>
                <a:schemeClr val="dk1"/>
              </a:buClr>
              <a:buSzPct val="80000"/>
              <a:buFont typeface="Wingdings"/>
              <a:buChar char="§"/>
            </a:pPr>
            <a:r>
              <a:rPr lang="zh-TW"/>
              <a:t>Send a pm4 packet of UNMAP_QUEUES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pm_send_query_status(KFD_FENCE_COMPLETED)</a:t>
            </a:r>
          </a:p>
        </p:txBody>
      </p:sp>
    </p:spTree>
  </p:cSld>
  <p:clrMapOvr>
    <a:masterClrMapping/>
  </p:clrMapOvr>
  <p:transition spd="slow"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Shape 100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/>
              <a:t>Haredware Queue Deactivation (2)</a:t>
            </a:r>
          </a:p>
        </p:txBody>
      </p:sp>
      <p:sp>
        <p:nvSpPr>
          <p:cNvPr id="1010" name="Shape 10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Task exit notifier will call iommu_pasid_shutdown_callback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Register in kgd2kfd_device_init-&gt;amd_iommu_set_invalidate_ctx_cb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Will be called in mmu_notifier’s release function (mmu_notifier is registered in radeon_kfd_bind_process_to_device-&gt;amd_iommu_bind_pasid)</a:t>
            </a:r>
          </a:p>
        </p:txBody>
      </p:sp>
    </p:spTree>
  </p:cSld>
  <p:clrMapOvr>
    <a:masterClrMapping/>
  </p:clrMapOvr>
  <p:transition spd="slow"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Shape 101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/>
              <a:t>Agenda</a:t>
            </a:r>
          </a:p>
        </p:txBody>
      </p:sp>
      <p:sp>
        <p:nvSpPr>
          <p:cNvPr id="1016" name="Shape 1016"/>
          <p:cNvSpPr txBox="1">
            <a:spLocks noGrp="1"/>
          </p:cNvSpPr>
          <p:nvPr>
            <p:ph type="body" idx="1"/>
          </p:nvPr>
        </p:nvSpPr>
        <p:spPr>
          <a:xfrm>
            <a:off x="457200" y="14478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rgbClr val="EFEFEF"/>
              </a:buClr>
              <a:buSzPct val="100000"/>
              <a:buFont typeface="Arial"/>
              <a:buChar char="●"/>
            </a:pPr>
            <a:r>
              <a:rPr lang="zh-TW">
                <a:solidFill>
                  <a:srgbClr val="EFEFEF"/>
                </a:solidFill>
              </a:rPr>
              <a:t>Introduction to HSA</a:t>
            </a:r>
          </a:p>
          <a:p>
            <a:pPr marL="457200" lvl="0" indent="-419100" rtl="0">
              <a:spcBef>
                <a:spcPts val="0"/>
              </a:spcBef>
              <a:buClr>
                <a:srgbClr val="EFEFEF"/>
              </a:buClr>
              <a:buSzPct val="100000"/>
              <a:buFont typeface="Arial"/>
              <a:buChar char="●"/>
            </a:pPr>
            <a:r>
              <a:rPr lang="zh-TW">
                <a:solidFill>
                  <a:srgbClr val="EFEFEF"/>
                </a:solidFill>
              </a:rPr>
              <a:t>HSA Driver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IOMMU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Concepts</a:t>
            </a:r>
          </a:p>
          <a:p>
            <a:pPr marL="1371600" lvl="2" indent="-381000" rtl="0">
              <a:spcBef>
                <a:spcPts val="0"/>
              </a:spcBef>
              <a:buClr>
                <a:schemeClr val="dk1"/>
              </a:buClr>
              <a:buSzPct val="80000"/>
              <a:buFont typeface="Wingdings"/>
              <a:buChar char="§"/>
            </a:pPr>
            <a:r>
              <a:rPr lang="zh-TW"/>
              <a:t>GCR3</a:t>
            </a:r>
          </a:p>
          <a:p>
            <a:pPr marL="1371600" lvl="2" indent="-381000" rtl="0">
              <a:spcBef>
                <a:spcPts val="0"/>
              </a:spcBef>
              <a:buClr>
                <a:schemeClr val="dk1"/>
              </a:buClr>
              <a:buSzPct val="80000"/>
              <a:buFont typeface="Wingdings"/>
              <a:buChar char="§"/>
            </a:pPr>
            <a:r>
              <a:rPr lang="zh-TW"/>
              <a:t>PPR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Source Code Detail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HSA Virtualization</a:t>
            </a:r>
          </a:p>
        </p:txBody>
      </p:sp>
    </p:spTree>
  </p:cSld>
  <p:clrMapOvr>
    <a:masterClrMapping/>
  </p:clrMapOvr>
  <p:transition spd="slow"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Shape 102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Introduction to IOMMU</a:t>
            </a:r>
          </a:p>
        </p:txBody>
      </p:sp>
      <p:sp>
        <p:nvSpPr>
          <p:cNvPr id="1022" name="Shape 10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User application send AQL packet into ring address which is </a:t>
            </a:r>
            <a:r>
              <a:rPr lang="zh-TW" b="1">
                <a:solidFill>
                  <a:srgbClr val="1155CC"/>
                </a:solidFill>
              </a:rPr>
              <a:t>virtual address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Device accessing need translate VA to PA</a:t>
            </a:r>
          </a:p>
        </p:txBody>
      </p:sp>
      <p:pic>
        <p:nvPicPr>
          <p:cNvPr id="1023" name="Shape 10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1350" y="3276600"/>
            <a:ext cx="3581400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8" name="Shape 1028"/>
          <p:cNvGrpSpPr/>
          <p:nvPr/>
        </p:nvGrpSpPr>
        <p:grpSpPr>
          <a:xfrm>
            <a:off x="345178" y="754485"/>
            <a:ext cx="8453642" cy="5349029"/>
            <a:chOff x="0" y="905889"/>
            <a:chExt cx="8453642" cy="5349029"/>
          </a:xfrm>
        </p:grpSpPr>
        <p:sp>
          <p:nvSpPr>
            <p:cNvPr id="1029" name="Shape 1029"/>
            <p:cNvSpPr/>
            <p:nvPr/>
          </p:nvSpPr>
          <p:spPr>
            <a:xfrm>
              <a:off x="460526" y="3679019"/>
              <a:ext cx="1118100" cy="2193899"/>
            </a:xfrm>
            <a:prstGeom prst="rect">
              <a:avLst/>
            </a:prstGeom>
            <a:solidFill>
              <a:schemeClr val="lt2"/>
            </a:solidFill>
            <a:ln w="19050" cap="flat">
              <a:solidFill>
                <a:srgbClr val="3D85C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cxnSp>
          <p:nvCxnSpPr>
            <p:cNvPr id="1030" name="Shape 1030"/>
            <p:cNvCxnSpPr/>
            <p:nvPr/>
          </p:nvCxnSpPr>
          <p:spPr>
            <a:xfrm>
              <a:off x="449494" y="5520466"/>
              <a:ext cx="11399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1031" name="Shape 1031"/>
            <p:cNvCxnSpPr/>
            <p:nvPr/>
          </p:nvCxnSpPr>
          <p:spPr>
            <a:xfrm>
              <a:off x="449494" y="5169713"/>
              <a:ext cx="11399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1032" name="Shape 1032"/>
            <p:cNvCxnSpPr/>
            <p:nvPr/>
          </p:nvCxnSpPr>
          <p:spPr>
            <a:xfrm>
              <a:off x="449494" y="4051693"/>
              <a:ext cx="11399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sp>
          <p:nvSpPr>
            <p:cNvPr id="1033" name="Shape 1033"/>
            <p:cNvSpPr txBox="1"/>
            <p:nvPr/>
          </p:nvSpPr>
          <p:spPr>
            <a:xfrm>
              <a:off x="427172" y="4051693"/>
              <a:ext cx="1139999" cy="3837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zh-TW" sz="800"/>
                <a:t>HSA GPU</a:t>
              </a:r>
            </a:p>
          </p:txBody>
        </p:sp>
        <p:cxnSp>
          <p:nvCxnSpPr>
            <p:cNvPr id="1034" name="Shape 1034"/>
            <p:cNvCxnSpPr/>
            <p:nvPr/>
          </p:nvCxnSpPr>
          <p:spPr>
            <a:xfrm>
              <a:off x="449494" y="4802556"/>
              <a:ext cx="11399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1035" name="Shape 1035"/>
            <p:cNvCxnSpPr/>
            <p:nvPr/>
          </p:nvCxnSpPr>
          <p:spPr>
            <a:xfrm>
              <a:off x="449494" y="4418850"/>
              <a:ext cx="11399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sp>
          <p:nvSpPr>
            <p:cNvPr id="1036" name="Shape 1036"/>
            <p:cNvSpPr txBox="1"/>
            <p:nvPr/>
          </p:nvSpPr>
          <p:spPr>
            <a:xfrm>
              <a:off x="392180" y="5871219"/>
              <a:ext cx="1210200" cy="3837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algn="ctr">
                <a:spcBef>
                  <a:spcPts val="0"/>
                </a:spcBef>
                <a:buNone/>
              </a:pPr>
              <a:r>
                <a:rPr lang="zh-TW" sz="1200">
                  <a:solidFill>
                    <a:srgbClr val="B45F06"/>
                  </a:solidFill>
                </a:rPr>
                <a:t>Device table</a:t>
              </a:r>
            </a:p>
          </p:txBody>
        </p:sp>
        <p:sp>
          <p:nvSpPr>
            <p:cNvPr id="1037" name="Shape 1037"/>
            <p:cNvSpPr/>
            <p:nvPr/>
          </p:nvSpPr>
          <p:spPr>
            <a:xfrm>
              <a:off x="2280771" y="905889"/>
              <a:ext cx="1118100" cy="2193899"/>
            </a:xfrm>
            <a:prstGeom prst="rect">
              <a:avLst/>
            </a:prstGeom>
            <a:solidFill>
              <a:schemeClr val="lt2"/>
            </a:solidFill>
            <a:ln w="19050" cap="flat">
              <a:solidFill>
                <a:srgbClr val="3D85C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endParaRPr/>
            </a:p>
          </p:txBody>
        </p:sp>
        <p:cxnSp>
          <p:nvCxnSpPr>
            <p:cNvPr id="1038" name="Shape 1038"/>
            <p:cNvCxnSpPr/>
            <p:nvPr/>
          </p:nvCxnSpPr>
          <p:spPr>
            <a:xfrm>
              <a:off x="2269739" y="2747336"/>
              <a:ext cx="11399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1039" name="Shape 1039"/>
            <p:cNvCxnSpPr/>
            <p:nvPr/>
          </p:nvCxnSpPr>
          <p:spPr>
            <a:xfrm>
              <a:off x="2269739" y="2396583"/>
              <a:ext cx="11399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1040" name="Shape 1040"/>
            <p:cNvCxnSpPr/>
            <p:nvPr/>
          </p:nvCxnSpPr>
          <p:spPr>
            <a:xfrm>
              <a:off x="2269739" y="1278563"/>
              <a:ext cx="11399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sp>
          <p:nvSpPr>
            <p:cNvPr id="1041" name="Shape 1041"/>
            <p:cNvSpPr txBox="1"/>
            <p:nvPr/>
          </p:nvSpPr>
          <p:spPr>
            <a:xfrm>
              <a:off x="2247416" y="1278563"/>
              <a:ext cx="1139999" cy="3837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zh-TW" sz="800"/>
                <a:t>PASID=2</a:t>
              </a:r>
            </a:p>
          </p:txBody>
        </p:sp>
        <p:cxnSp>
          <p:nvCxnSpPr>
            <p:cNvPr id="1042" name="Shape 1042"/>
            <p:cNvCxnSpPr/>
            <p:nvPr/>
          </p:nvCxnSpPr>
          <p:spPr>
            <a:xfrm>
              <a:off x="2269739" y="2029425"/>
              <a:ext cx="11399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1043" name="Shape 1043"/>
            <p:cNvCxnSpPr/>
            <p:nvPr/>
          </p:nvCxnSpPr>
          <p:spPr>
            <a:xfrm>
              <a:off x="2269739" y="1645720"/>
              <a:ext cx="11399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sp>
          <p:nvSpPr>
            <p:cNvPr id="1044" name="Shape 1044"/>
            <p:cNvSpPr txBox="1"/>
            <p:nvPr/>
          </p:nvSpPr>
          <p:spPr>
            <a:xfrm>
              <a:off x="2212425" y="3098089"/>
              <a:ext cx="1210200" cy="3837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zh-TW" sz="1200">
                  <a:solidFill>
                    <a:srgbClr val="B45F06"/>
                  </a:solidFill>
                </a:rPr>
                <a:t>GCR3</a:t>
              </a:r>
            </a:p>
          </p:txBody>
        </p:sp>
        <p:sp>
          <p:nvSpPr>
            <p:cNvPr id="1045" name="Shape 1045"/>
            <p:cNvSpPr/>
            <p:nvPr/>
          </p:nvSpPr>
          <p:spPr>
            <a:xfrm>
              <a:off x="1566049" y="3063729"/>
              <a:ext cx="714743" cy="1179309"/>
            </a:xfrm>
            <a:custGeom>
              <a:avLst/>
              <a:gdLst/>
              <a:ahLst/>
              <a:cxnLst/>
              <a:rect l="0" t="0" r="0" b="0"/>
              <a:pathLst>
                <a:path w="23008" h="41048" extrusionOk="0">
                  <a:moveTo>
                    <a:pt x="0" y="41048"/>
                  </a:moveTo>
                  <a:cubicBezTo>
                    <a:pt x="2595" y="39219"/>
                    <a:pt x="15516" y="36505"/>
                    <a:pt x="15575" y="30075"/>
                  </a:cubicBezTo>
                  <a:cubicBezTo>
                    <a:pt x="15634" y="23644"/>
                    <a:pt x="-884" y="7245"/>
                    <a:pt x="354" y="2467"/>
                  </a:cubicBezTo>
                  <a:cubicBezTo>
                    <a:pt x="1592" y="-2311"/>
                    <a:pt x="19232" y="1582"/>
                    <a:pt x="23008" y="1405"/>
                  </a:cubicBezTo>
                </a:path>
              </a:pathLst>
            </a:cu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1046" name="Shape 1046"/>
            <p:cNvSpPr/>
            <p:nvPr/>
          </p:nvSpPr>
          <p:spPr>
            <a:xfrm>
              <a:off x="2888046" y="5520466"/>
              <a:ext cx="2433300" cy="626700"/>
            </a:xfrm>
            <a:prstGeom prst="rect">
              <a:avLst/>
            </a:prstGeom>
            <a:solidFill>
              <a:schemeClr val="lt2"/>
            </a:solidFill>
            <a:ln w="19050" cap="flat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cxnSp>
          <p:nvCxnSpPr>
            <p:cNvPr id="1047" name="Shape 1047"/>
            <p:cNvCxnSpPr/>
            <p:nvPr/>
          </p:nvCxnSpPr>
          <p:spPr>
            <a:xfrm>
              <a:off x="3284622" y="5524287"/>
              <a:ext cx="0" cy="630599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1048" name="Shape 1048"/>
            <p:cNvCxnSpPr/>
            <p:nvPr/>
          </p:nvCxnSpPr>
          <p:spPr>
            <a:xfrm>
              <a:off x="3701538" y="5524287"/>
              <a:ext cx="0" cy="630599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1049" name="Shape 1049"/>
            <p:cNvCxnSpPr/>
            <p:nvPr/>
          </p:nvCxnSpPr>
          <p:spPr>
            <a:xfrm>
              <a:off x="4118483" y="5524287"/>
              <a:ext cx="0" cy="630599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1050" name="Shape 1050"/>
            <p:cNvCxnSpPr/>
            <p:nvPr/>
          </p:nvCxnSpPr>
          <p:spPr>
            <a:xfrm>
              <a:off x="4535399" y="5524287"/>
              <a:ext cx="0" cy="630599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1051" name="Shape 1051"/>
            <p:cNvCxnSpPr/>
            <p:nvPr/>
          </p:nvCxnSpPr>
          <p:spPr>
            <a:xfrm>
              <a:off x="4942174" y="5524287"/>
              <a:ext cx="0" cy="630599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grpSp>
          <p:nvGrpSpPr>
            <p:cNvPr id="1052" name="Shape 1052"/>
            <p:cNvGrpSpPr/>
            <p:nvPr/>
          </p:nvGrpSpPr>
          <p:grpSpPr>
            <a:xfrm>
              <a:off x="6020326" y="5520677"/>
              <a:ext cx="2433315" cy="634387"/>
              <a:chOff x="6335925" y="5615800"/>
              <a:chExt cx="2117399" cy="552024"/>
            </a:xfrm>
          </p:grpSpPr>
          <p:sp>
            <p:nvSpPr>
              <p:cNvPr id="1053" name="Shape 1053"/>
              <p:cNvSpPr/>
              <p:nvPr/>
            </p:nvSpPr>
            <p:spPr>
              <a:xfrm>
                <a:off x="6335925" y="5615800"/>
                <a:ext cx="2117399" cy="545399"/>
              </a:xfrm>
              <a:prstGeom prst="rect">
                <a:avLst/>
              </a:prstGeom>
              <a:solidFill>
                <a:schemeClr val="lt2"/>
              </a:solidFill>
              <a:ln w="19050" cap="flat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/>
              </a:p>
            </p:txBody>
          </p:sp>
          <p:cxnSp>
            <p:nvCxnSpPr>
              <p:cNvPr id="1054" name="Shape 1054"/>
              <p:cNvCxnSpPr/>
              <p:nvPr/>
            </p:nvCxnSpPr>
            <p:spPr>
              <a:xfrm>
                <a:off x="6681025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1055" name="Shape 1055"/>
              <p:cNvCxnSpPr/>
              <p:nvPr/>
            </p:nvCxnSpPr>
            <p:spPr>
              <a:xfrm>
                <a:off x="7043825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1056" name="Shape 1056"/>
              <p:cNvCxnSpPr/>
              <p:nvPr/>
            </p:nvCxnSpPr>
            <p:spPr>
              <a:xfrm>
                <a:off x="7406650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1057" name="Shape 1057"/>
              <p:cNvCxnSpPr/>
              <p:nvPr/>
            </p:nvCxnSpPr>
            <p:spPr>
              <a:xfrm>
                <a:off x="7769450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1058" name="Shape 1058"/>
              <p:cNvCxnSpPr/>
              <p:nvPr/>
            </p:nvCxnSpPr>
            <p:spPr>
              <a:xfrm>
                <a:off x="8123425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</p:grpSp>
        <p:grpSp>
          <p:nvGrpSpPr>
            <p:cNvPr id="1059" name="Shape 1059"/>
            <p:cNvGrpSpPr/>
            <p:nvPr/>
          </p:nvGrpSpPr>
          <p:grpSpPr>
            <a:xfrm>
              <a:off x="4535637" y="3482005"/>
              <a:ext cx="2433315" cy="634387"/>
              <a:chOff x="6335925" y="5615800"/>
              <a:chExt cx="2117399" cy="552024"/>
            </a:xfrm>
          </p:grpSpPr>
          <p:sp>
            <p:nvSpPr>
              <p:cNvPr id="1060" name="Shape 1060"/>
              <p:cNvSpPr/>
              <p:nvPr/>
            </p:nvSpPr>
            <p:spPr>
              <a:xfrm>
                <a:off x="6335925" y="5615800"/>
                <a:ext cx="2117399" cy="545399"/>
              </a:xfrm>
              <a:prstGeom prst="rect">
                <a:avLst/>
              </a:prstGeom>
              <a:solidFill>
                <a:schemeClr val="lt2"/>
              </a:solidFill>
              <a:ln w="19050" cap="flat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/>
              </a:p>
            </p:txBody>
          </p:sp>
          <p:cxnSp>
            <p:nvCxnSpPr>
              <p:cNvPr id="1061" name="Shape 1061"/>
              <p:cNvCxnSpPr/>
              <p:nvPr/>
            </p:nvCxnSpPr>
            <p:spPr>
              <a:xfrm>
                <a:off x="6681025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1062" name="Shape 1062"/>
              <p:cNvCxnSpPr/>
              <p:nvPr/>
            </p:nvCxnSpPr>
            <p:spPr>
              <a:xfrm>
                <a:off x="7043825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1063" name="Shape 1063"/>
              <p:cNvCxnSpPr/>
              <p:nvPr/>
            </p:nvCxnSpPr>
            <p:spPr>
              <a:xfrm>
                <a:off x="7406650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1064" name="Shape 1064"/>
              <p:cNvCxnSpPr/>
              <p:nvPr/>
            </p:nvCxnSpPr>
            <p:spPr>
              <a:xfrm>
                <a:off x="7769450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1065" name="Shape 1065"/>
              <p:cNvCxnSpPr/>
              <p:nvPr/>
            </p:nvCxnSpPr>
            <p:spPr>
              <a:xfrm>
                <a:off x="8123425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</p:grpSp>
        <p:sp>
          <p:nvSpPr>
            <p:cNvPr id="1066" name="Shape 1066"/>
            <p:cNvSpPr/>
            <p:nvPr/>
          </p:nvSpPr>
          <p:spPr>
            <a:xfrm>
              <a:off x="3386294" y="1401472"/>
              <a:ext cx="1253920" cy="2089101"/>
            </a:xfrm>
            <a:custGeom>
              <a:avLst/>
              <a:gdLst/>
              <a:ahLst/>
              <a:cxnLst/>
              <a:rect l="0" t="0" r="0" b="0"/>
              <a:pathLst>
                <a:path w="43645" h="72715" extrusionOk="0">
                  <a:moveTo>
                    <a:pt x="0" y="2631"/>
                  </a:moveTo>
                  <a:cubicBezTo>
                    <a:pt x="4837" y="2513"/>
                    <a:pt x="21827" y="-2501"/>
                    <a:pt x="29025" y="1923"/>
                  </a:cubicBezTo>
                  <a:cubicBezTo>
                    <a:pt x="36222" y="6347"/>
                    <a:pt x="41355" y="17379"/>
                    <a:pt x="43184" y="29178"/>
                  </a:cubicBezTo>
                  <a:cubicBezTo>
                    <a:pt x="45012" y="40976"/>
                    <a:pt x="40529" y="65458"/>
                    <a:pt x="39998" y="72715"/>
                  </a:cubicBezTo>
                </a:path>
              </a:pathLst>
            </a:cu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1067" name="Shape 1067"/>
            <p:cNvSpPr/>
            <p:nvPr/>
          </p:nvSpPr>
          <p:spPr>
            <a:xfrm>
              <a:off x="2888017" y="4120987"/>
              <a:ext cx="1888221" cy="1413515"/>
            </a:xfrm>
            <a:custGeom>
              <a:avLst/>
              <a:gdLst/>
              <a:ahLst/>
              <a:cxnLst/>
              <a:rect l="0" t="0" r="0" b="0"/>
              <a:pathLst>
                <a:path w="65723" h="49200" extrusionOk="0">
                  <a:moveTo>
                    <a:pt x="64421" y="0"/>
                  </a:moveTo>
                  <a:cubicBezTo>
                    <a:pt x="63772" y="3362"/>
                    <a:pt x="69672" y="15751"/>
                    <a:pt x="60528" y="20176"/>
                  </a:cubicBezTo>
                  <a:cubicBezTo>
                    <a:pt x="51384" y="24600"/>
                    <a:pt x="19645" y="21709"/>
                    <a:pt x="9557" y="26547"/>
                  </a:cubicBezTo>
                  <a:cubicBezTo>
                    <a:pt x="-531" y="31384"/>
                    <a:pt x="1592" y="45424"/>
                    <a:pt x="0" y="49200"/>
                  </a:cubicBezTo>
                </a:path>
              </a:pathLst>
            </a:cu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1068" name="Shape 1068"/>
            <p:cNvSpPr/>
            <p:nvPr/>
          </p:nvSpPr>
          <p:spPr>
            <a:xfrm>
              <a:off x="5684504" y="4110817"/>
              <a:ext cx="447441" cy="1413515"/>
            </a:xfrm>
            <a:custGeom>
              <a:avLst/>
              <a:gdLst/>
              <a:ahLst/>
              <a:cxnLst/>
              <a:rect l="0" t="0" r="0" b="0"/>
              <a:pathLst>
                <a:path w="15574" h="49200" extrusionOk="0">
                  <a:moveTo>
                    <a:pt x="9203" y="0"/>
                  </a:moveTo>
                  <a:cubicBezTo>
                    <a:pt x="7669" y="4188"/>
                    <a:pt x="-1061" y="20175"/>
                    <a:pt x="0" y="25131"/>
                  </a:cubicBezTo>
                  <a:cubicBezTo>
                    <a:pt x="1061" y="30086"/>
                    <a:pt x="13568" y="25721"/>
                    <a:pt x="15574" y="29733"/>
                  </a:cubicBezTo>
                  <a:cubicBezTo>
                    <a:pt x="17579" y="33744"/>
                    <a:pt x="12624" y="45955"/>
                    <a:pt x="12034" y="49200"/>
                  </a:cubicBezTo>
                </a:path>
              </a:pathLst>
            </a:cu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1069" name="Shape 1069"/>
            <p:cNvSpPr/>
            <p:nvPr/>
          </p:nvSpPr>
          <p:spPr>
            <a:xfrm>
              <a:off x="0" y="1251845"/>
              <a:ext cx="2280899" cy="437099"/>
            </a:xfrm>
            <a:prstGeom prst="chevron">
              <a:avLst>
                <a:gd name="adj" fmla="val 50000"/>
              </a:avLst>
            </a:prstGeom>
            <a:noFill/>
            <a:ln w="1905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zh-TW" sz="1000" b="1">
                  <a:solidFill>
                    <a:srgbClr val="FF0000"/>
                  </a:solidFill>
                </a:rPr>
                <a:t>Assign this entry with kfd_process-&gt;mm-&gt;pgd</a:t>
              </a:r>
            </a:p>
          </p:txBody>
        </p:sp>
      </p:grpSp>
    </p:spTree>
  </p:cSld>
  <p:clrMapOvr>
    <a:masterClrMapping/>
  </p:clrMapOvr>
  <p:transition spd="slow"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Shape 107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PRI &amp; PPR</a:t>
            </a:r>
          </a:p>
        </p:txBody>
      </p:sp>
      <p:sp>
        <p:nvSpPr>
          <p:cNvPr id="1075" name="Shape 107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The operating system is usually required to pin memory pages used for I/O.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IOMMU provide mechnism to let peripheral to use unpinned pages for I/O.</a:t>
            </a:r>
          </a:p>
          <a:p>
            <a: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Only support in AMD IOMMU_v2</a:t>
            </a:r>
          </a:p>
          <a:p>
            <a:pPr lvl="0" rtl="0">
              <a:spcBef>
                <a:spcPts val="0"/>
              </a:spcBef>
              <a:buNone/>
            </a:pPr>
            <a:endParaRPr/>
          </a:p>
          <a:p>
            <a:pPr lvl="0" rtl="0">
              <a:spcBef>
                <a:spcPts val="0"/>
              </a:spcBef>
              <a:buNone/>
            </a:pPr>
            <a:endParaRPr/>
          </a:p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  <p:transition spd="slow"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Shape 108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PRI &amp; PPR </a:t>
            </a:r>
          </a:p>
        </p:txBody>
      </p:sp>
      <p:sp>
        <p:nvSpPr>
          <p:cNvPr id="1081" name="Shape 108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PRI(page request interface)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peripheral request memory management service from a host OS (eg, page fault service for peripheral)</a:t>
            </a:r>
          </a:p>
          <a:p>
            <a:pPr marL="914400" lvl="1" indent="-381000" rtl="0">
              <a:spcBef>
                <a:spcPts val="0"/>
              </a:spcBef>
              <a:buClr>
                <a:srgbClr val="3C78D8"/>
              </a:buClr>
              <a:buSzPct val="80000"/>
              <a:buFont typeface="Courier New"/>
              <a:buChar char="o"/>
            </a:pPr>
            <a:r>
              <a:rPr lang="zh-TW">
                <a:solidFill>
                  <a:srgbClr val="3C78D8"/>
                </a:solidFill>
              </a:rPr>
              <a:t>Issued by peripheral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﻿PPR(peripheral page service request)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When IOMMU receives a valid PRI request, it creates a PPR message in </a:t>
            </a:r>
            <a:r>
              <a:rPr lang="zh-TW">
                <a:solidFill>
                  <a:srgbClr val="E69138"/>
                </a:solidFill>
              </a:rPr>
              <a:t>request log</a:t>
            </a:r>
            <a:r>
              <a:rPr lang="zh-TW"/>
              <a:t> to request changes to virtual address space</a:t>
            </a:r>
          </a:p>
          <a:p>
            <a:pPr marL="914400" lvl="1" indent="-381000" rtl="0">
              <a:spcBef>
                <a:spcPts val="0"/>
              </a:spcBef>
              <a:buClr>
                <a:srgbClr val="3C78D8"/>
              </a:buClr>
              <a:buSzPct val="80000"/>
              <a:buFont typeface="Courier New"/>
              <a:buChar char="o"/>
            </a:pPr>
            <a:r>
              <a:rPr lang="zh-TW">
                <a:solidFill>
                  <a:srgbClr val="3C78D8"/>
                </a:solidFill>
              </a:rPr>
              <a:t>Issued by IOMMU as interrupt</a:t>
            </a:r>
          </a:p>
          <a:p>
            <a: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Use to request IO page table change</a:t>
            </a:r>
          </a:p>
          <a:p>
            <a:pPr marL="914400" marR="0" lvl="1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IOMMU driver can register PPR notifier</a:t>
            </a:r>
          </a:p>
        </p:txBody>
      </p:sp>
    </p:spTree>
  </p:cSld>
  <p:clrMapOvr>
    <a:masterClrMapping/>
  </p:clrMapOvr>
  <p:transition spd="slow"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Shape 108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module_init(amd_iommu_v2_init)</a:t>
            </a:r>
          </a:p>
        </p:txBody>
      </p:sp>
      <p:sp>
        <p:nvSpPr>
          <p:cNvPr id="1087" name="Shape 108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amd_iommu_register_ppr_notifier(&amp;ppr_nb);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PPR callback</a:t>
            </a:r>
          </a:p>
          <a:p>
            <a:pPr marL="1371600" lvl="2" indent="-381000" rtl="0">
              <a:spcBef>
                <a:spcPts val="0"/>
              </a:spcBef>
              <a:buClr>
                <a:schemeClr val="dk1"/>
              </a:buClr>
              <a:buSzPct val="80000"/>
              <a:buFont typeface="Wingdings"/>
              <a:buChar char="§"/>
            </a:pPr>
            <a:r>
              <a:rPr lang="zh-TW"/>
              <a:t>ppr_notifier function</a:t>
            </a:r>
          </a:p>
        </p:txBody>
      </p:sp>
    </p:spTree>
  </p:cSld>
  <p:clrMapOvr>
    <a:masterClrMapping/>
  </p:clrMapOvr>
  <p:transition spd="slow"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Shape 109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amd_iommu_bind_pasid</a:t>
            </a:r>
          </a:p>
        </p:txBody>
      </p:sp>
      <p:sp>
        <p:nvSpPr>
          <p:cNvPr id="1093" name="Shape 109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Called when kfd_process create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mmu_notifier_register(&amp;pasid_state-&gt;mn, pasid_state-&gt;mm);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amd_iommu_domain_set_gcr3(dev_state-&gt;domain, pasid,	__pa(pasid_state-&gt;mm-&gt;pgd));</a:t>
            </a:r>
          </a:p>
        </p:txBody>
      </p:sp>
    </p:spTree>
  </p:cSld>
  <p:clrMapOvr>
    <a:masterClrMapping/>
  </p:clrMapOvr>
  <p:transition spd="slow"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8" name="Shape 1098"/>
          <p:cNvGrpSpPr/>
          <p:nvPr/>
        </p:nvGrpSpPr>
        <p:grpSpPr>
          <a:xfrm>
            <a:off x="345178" y="754485"/>
            <a:ext cx="8453642" cy="5349029"/>
            <a:chOff x="0" y="905889"/>
            <a:chExt cx="8453642" cy="5349029"/>
          </a:xfrm>
        </p:grpSpPr>
        <p:sp>
          <p:nvSpPr>
            <p:cNvPr id="1099" name="Shape 1099"/>
            <p:cNvSpPr/>
            <p:nvPr/>
          </p:nvSpPr>
          <p:spPr>
            <a:xfrm>
              <a:off x="460526" y="3679019"/>
              <a:ext cx="1118100" cy="2193899"/>
            </a:xfrm>
            <a:prstGeom prst="rect">
              <a:avLst/>
            </a:prstGeom>
            <a:solidFill>
              <a:schemeClr val="lt2"/>
            </a:solidFill>
            <a:ln w="19050" cap="flat">
              <a:solidFill>
                <a:srgbClr val="3D85C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cxnSp>
          <p:nvCxnSpPr>
            <p:cNvPr id="1100" name="Shape 1100"/>
            <p:cNvCxnSpPr/>
            <p:nvPr/>
          </p:nvCxnSpPr>
          <p:spPr>
            <a:xfrm>
              <a:off x="449494" y="5520466"/>
              <a:ext cx="11399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1101" name="Shape 1101"/>
            <p:cNvCxnSpPr/>
            <p:nvPr/>
          </p:nvCxnSpPr>
          <p:spPr>
            <a:xfrm>
              <a:off x="449494" y="5169713"/>
              <a:ext cx="11399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1102" name="Shape 1102"/>
            <p:cNvCxnSpPr/>
            <p:nvPr/>
          </p:nvCxnSpPr>
          <p:spPr>
            <a:xfrm>
              <a:off x="449494" y="4051693"/>
              <a:ext cx="11399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sp>
          <p:nvSpPr>
            <p:cNvPr id="1103" name="Shape 1103"/>
            <p:cNvSpPr txBox="1"/>
            <p:nvPr/>
          </p:nvSpPr>
          <p:spPr>
            <a:xfrm>
              <a:off x="427172" y="4051693"/>
              <a:ext cx="1139999" cy="3837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zh-TW" sz="800"/>
                <a:t>HSA GPU</a:t>
              </a:r>
            </a:p>
          </p:txBody>
        </p:sp>
        <p:cxnSp>
          <p:nvCxnSpPr>
            <p:cNvPr id="1104" name="Shape 1104"/>
            <p:cNvCxnSpPr/>
            <p:nvPr/>
          </p:nvCxnSpPr>
          <p:spPr>
            <a:xfrm>
              <a:off x="449494" y="4802556"/>
              <a:ext cx="11399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1105" name="Shape 1105"/>
            <p:cNvCxnSpPr/>
            <p:nvPr/>
          </p:nvCxnSpPr>
          <p:spPr>
            <a:xfrm>
              <a:off x="449494" y="4418850"/>
              <a:ext cx="11399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sp>
          <p:nvSpPr>
            <p:cNvPr id="1106" name="Shape 1106"/>
            <p:cNvSpPr txBox="1"/>
            <p:nvPr/>
          </p:nvSpPr>
          <p:spPr>
            <a:xfrm>
              <a:off x="392180" y="5871219"/>
              <a:ext cx="1210200" cy="3837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zh-TW" sz="1200">
                  <a:solidFill>
                    <a:srgbClr val="B45F06"/>
                  </a:solidFill>
                </a:rPr>
                <a:t>Device table</a:t>
              </a:r>
            </a:p>
          </p:txBody>
        </p:sp>
        <p:sp>
          <p:nvSpPr>
            <p:cNvPr id="1107" name="Shape 1107"/>
            <p:cNvSpPr/>
            <p:nvPr/>
          </p:nvSpPr>
          <p:spPr>
            <a:xfrm>
              <a:off x="2280771" y="905889"/>
              <a:ext cx="1118100" cy="2193899"/>
            </a:xfrm>
            <a:prstGeom prst="rect">
              <a:avLst/>
            </a:prstGeom>
            <a:solidFill>
              <a:schemeClr val="lt2"/>
            </a:solidFill>
            <a:ln w="19050" cap="flat">
              <a:solidFill>
                <a:srgbClr val="3D85C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endParaRPr/>
            </a:p>
          </p:txBody>
        </p:sp>
        <p:cxnSp>
          <p:nvCxnSpPr>
            <p:cNvPr id="1108" name="Shape 1108"/>
            <p:cNvCxnSpPr/>
            <p:nvPr/>
          </p:nvCxnSpPr>
          <p:spPr>
            <a:xfrm>
              <a:off x="2269739" y="2747336"/>
              <a:ext cx="11399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1109" name="Shape 1109"/>
            <p:cNvCxnSpPr/>
            <p:nvPr/>
          </p:nvCxnSpPr>
          <p:spPr>
            <a:xfrm>
              <a:off x="2269739" y="2396583"/>
              <a:ext cx="11399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1110" name="Shape 1110"/>
            <p:cNvCxnSpPr/>
            <p:nvPr/>
          </p:nvCxnSpPr>
          <p:spPr>
            <a:xfrm>
              <a:off x="2269739" y="1278563"/>
              <a:ext cx="11399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sp>
          <p:nvSpPr>
            <p:cNvPr id="1111" name="Shape 1111"/>
            <p:cNvSpPr txBox="1"/>
            <p:nvPr/>
          </p:nvSpPr>
          <p:spPr>
            <a:xfrm>
              <a:off x="2247416" y="1278563"/>
              <a:ext cx="1139999" cy="3837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zh-TW" sz="800"/>
                <a:t>PASID=2</a:t>
              </a:r>
            </a:p>
          </p:txBody>
        </p:sp>
        <p:cxnSp>
          <p:nvCxnSpPr>
            <p:cNvPr id="1112" name="Shape 1112"/>
            <p:cNvCxnSpPr/>
            <p:nvPr/>
          </p:nvCxnSpPr>
          <p:spPr>
            <a:xfrm>
              <a:off x="2269739" y="2029425"/>
              <a:ext cx="11399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1113" name="Shape 1113"/>
            <p:cNvCxnSpPr/>
            <p:nvPr/>
          </p:nvCxnSpPr>
          <p:spPr>
            <a:xfrm>
              <a:off x="2269739" y="1645720"/>
              <a:ext cx="1139999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sp>
          <p:nvSpPr>
            <p:cNvPr id="1114" name="Shape 1114"/>
            <p:cNvSpPr txBox="1"/>
            <p:nvPr/>
          </p:nvSpPr>
          <p:spPr>
            <a:xfrm>
              <a:off x="2212425" y="3098089"/>
              <a:ext cx="1210200" cy="3837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zh-TW" sz="1200">
                  <a:solidFill>
                    <a:srgbClr val="B45F06"/>
                  </a:solidFill>
                </a:rPr>
                <a:t>GCR3</a:t>
              </a:r>
            </a:p>
          </p:txBody>
        </p:sp>
        <p:sp>
          <p:nvSpPr>
            <p:cNvPr id="1115" name="Shape 1115"/>
            <p:cNvSpPr/>
            <p:nvPr/>
          </p:nvSpPr>
          <p:spPr>
            <a:xfrm>
              <a:off x="1566049" y="3063729"/>
              <a:ext cx="714743" cy="1179309"/>
            </a:xfrm>
            <a:custGeom>
              <a:avLst/>
              <a:gdLst/>
              <a:ahLst/>
              <a:cxnLst/>
              <a:rect l="0" t="0" r="0" b="0"/>
              <a:pathLst>
                <a:path w="23008" h="41048" extrusionOk="0">
                  <a:moveTo>
                    <a:pt x="0" y="41048"/>
                  </a:moveTo>
                  <a:cubicBezTo>
                    <a:pt x="2595" y="39219"/>
                    <a:pt x="15516" y="36505"/>
                    <a:pt x="15575" y="30075"/>
                  </a:cubicBezTo>
                  <a:cubicBezTo>
                    <a:pt x="15634" y="23644"/>
                    <a:pt x="-884" y="7245"/>
                    <a:pt x="354" y="2467"/>
                  </a:cubicBezTo>
                  <a:cubicBezTo>
                    <a:pt x="1592" y="-2311"/>
                    <a:pt x="19232" y="1582"/>
                    <a:pt x="23008" y="1405"/>
                  </a:cubicBezTo>
                </a:path>
              </a:pathLst>
            </a:cu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1116" name="Shape 1116"/>
            <p:cNvSpPr/>
            <p:nvPr/>
          </p:nvSpPr>
          <p:spPr>
            <a:xfrm>
              <a:off x="2888046" y="5520466"/>
              <a:ext cx="2433300" cy="626700"/>
            </a:xfrm>
            <a:prstGeom prst="rect">
              <a:avLst/>
            </a:prstGeom>
            <a:solidFill>
              <a:schemeClr val="lt2"/>
            </a:solidFill>
            <a:ln w="19050" cap="flat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cxnSp>
          <p:nvCxnSpPr>
            <p:cNvPr id="1117" name="Shape 1117"/>
            <p:cNvCxnSpPr/>
            <p:nvPr/>
          </p:nvCxnSpPr>
          <p:spPr>
            <a:xfrm>
              <a:off x="3284622" y="5524287"/>
              <a:ext cx="0" cy="630599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1118" name="Shape 1118"/>
            <p:cNvCxnSpPr/>
            <p:nvPr/>
          </p:nvCxnSpPr>
          <p:spPr>
            <a:xfrm>
              <a:off x="3701538" y="5524287"/>
              <a:ext cx="0" cy="630599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1119" name="Shape 1119"/>
            <p:cNvCxnSpPr/>
            <p:nvPr/>
          </p:nvCxnSpPr>
          <p:spPr>
            <a:xfrm>
              <a:off x="4118483" y="5524287"/>
              <a:ext cx="0" cy="630599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1120" name="Shape 1120"/>
            <p:cNvCxnSpPr/>
            <p:nvPr/>
          </p:nvCxnSpPr>
          <p:spPr>
            <a:xfrm>
              <a:off x="4535399" y="5524287"/>
              <a:ext cx="0" cy="630599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1121" name="Shape 1121"/>
            <p:cNvCxnSpPr/>
            <p:nvPr/>
          </p:nvCxnSpPr>
          <p:spPr>
            <a:xfrm>
              <a:off x="4942174" y="5524287"/>
              <a:ext cx="0" cy="630599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none" w="lg" len="lg"/>
            </a:ln>
          </p:spPr>
        </p:cxnSp>
        <p:grpSp>
          <p:nvGrpSpPr>
            <p:cNvPr id="1122" name="Shape 1122"/>
            <p:cNvGrpSpPr/>
            <p:nvPr/>
          </p:nvGrpSpPr>
          <p:grpSpPr>
            <a:xfrm>
              <a:off x="6020326" y="5520677"/>
              <a:ext cx="2433315" cy="634387"/>
              <a:chOff x="6335925" y="5615800"/>
              <a:chExt cx="2117399" cy="552024"/>
            </a:xfrm>
          </p:grpSpPr>
          <p:sp>
            <p:nvSpPr>
              <p:cNvPr id="1123" name="Shape 1123"/>
              <p:cNvSpPr/>
              <p:nvPr/>
            </p:nvSpPr>
            <p:spPr>
              <a:xfrm>
                <a:off x="6335925" y="5615800"/>
                <a:ext cx="2117399" cy="545399"/>
              </a:xfrm>
              <a:prstGeom prst="rect">
                <a:avLst/>
              </a:prstGeom>
              <a:solidFill>
                <a:schemeClr val="lt2"/>
              </a:solidFill>
              <a:ln w="19050" cap="flat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/>
              </a:p>
            </p:txBody>
          </p:sp>
          <p:cxnSp>
            <p:nvCxnSpPr>
              <p:cNvPr id="1124" name="Shape 1124"/>
              <p:cNvCxnSpPr/>
              <p:nvPr/>
            </p:nvCxnSpPr>
            <p:spPr>
              <a:xfrm>
                <a:off x="6681025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1125" name="Shape 1125"/>
              <p:cNvCxnSpPr/>
              <p:nvPr/>
            </p:nvCxnSpPr>
            <p:spPr>
              <a:xfrm>
                <a:off x="7043825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1126" name="Shape 1126"/>
              <p:cNvCxnSpPr/>
              <p:nvPr/>
            </p:nvCxnSpPr>
            <p:spPr>
              <a:xfrm>
                <a:off x="7406650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1127" name="Shape 1127"/>
              <p:cNvCxnSpPr/>
              <p:nvPr/>
            </p:nvCxnSpPr>
            <p:spPr>
              <a:xfrm>
                <a:off x="7769450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1128" name="Shape 1128"/>
              <p:cNvCxnSpPr/>
              <p:nvPr/>
            </p:nvCxnSpPr>
            <p:spPr>
              <a:xfrm>
                <a:off x="8123425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</p:grpSp>
        <p:grpSp>
          <p:nvGrpSpPr>
            <p:cNvPr id="1129" name="Shape 1129"/>
            <p:cNvGrpSpPr/>
            <p:nvPr/>
          </p:nvGrpSpPr>
          <p:grpSpPr>
            <a:xfrm>
              <a:off x="4535637" y="3482005"/>
              <a:ext cx="2433315" cy="634387"/>
              <a:chOff x="6335925" y="5615800"/>
              <a:chExt cx="2117399" cy="552024"/>
            </a:xfrm>
          </p:grpSpPr>
          <p:sp>
            <p:nvSpPr>
              <p:cNvPr id="1130" name="Shape 1130"/>
              <p:cNvSpPr/>
              <p:nvPr/>
            </p:nvSpPr>
            <p:spPr>
              <a:xfrm>
                <a:off x="6335925" y="5615800"/>
                <a:ext cx="2117399" cy="545399"/>
              </a:xfrm>
              <a:prstGeom prst="rect">
                <a:avLst/>
              </a:prstGeom>
              <a:solidFill>
                <a:schemeClr val="lt2"/>
              </a:solidFill>
              <a:ln w="19050" cap="flat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/>
              </a:p>
            </p:txBody>
          </p:sp>
          <p:cxnSp>
            <p:nvCxnSpPr>
              <p:cNvPr id="1131" name="Shape 1131"/>
              <p:cNvCxnSpPr/>
              <p:nvPr/>
            </p:nvCxnSpPr>
            <p:spPr>
              <a:xfrm>
                <a:off x="6681025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1132" name="Shape 1132"/>
              <p:cNvCxnSpPr/>
              <p:nvPr/>
            </p:nvCxnSpPr>
            <p:spPr>
              <a:xfrm>
                <a:off x="7043825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1133" name="Shape 1133"/>
              <p:cNvCxnSpPr/>
              <p:nvPr/>
            </p:nvCxnSpPr>
            <p:spPr>
              <a:xfrm>
                <a:off x="7406650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1134" name="Shape 1134"/>
              <p:cNvCxnSpPr/>
              <p:nvPr/>
            </p:nvCxnSpPr>
            <p:spPr>
              <a:xfrm>
                <a:off x="7769450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1135" name="Shape 1135"/>
              <p:cNvCxnSpPr/>
              <p:nvPr/>
            </p:nvCxnSpPr>
            <p:spPr>
              <a:xfrm>
                <a:off x="8123425" y="5619125"/>
                <a:ext cx="0" cy="548699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</p:grpSp>
        <p:sp>
          <p:nvSpPr>
            <p:cNvPr id="1136" name="Shape 1136"/>
            <p:cNvSpPr/>
            <p:nvPr/>
          </p:nvSpPr>
          <p:spPr>
            <a:xfrm>
              <a:off x="3386294" y="1401472"/>
              <a:ext cx="1253920" cy="2089101"/>
            </a:xfrm>
            <a:custGeom>
              <a:avLst/>
              <a:gdLst/>
              <a:ahLst/>
              <a:cxnLst/>
              <a:rect l="0" t="0" r="0" b="0"/>
              <a:pathLst>
                <a:path w="43645" h="72715" extrusionOk="0">
                  <a:moveTo>
                    <a:pt x="0" y="2631"/>
                  </a:moveTo>
                  <a:cubicBezTo>
                    <a:pt x="4837" y="2513"/>
                    <a:pt x="21827" y="-2501"/>
                    <a:pt x="29025" y="1923"/>
                  </a:cubicBezTo>
                  <a:cubicBezTo>
                    <a:pt x="36222" y="6347"/>
                    <a:pt x="41355" y="17379"/>
                    <a:pt x="43184" y="29178"/>
                  </a:cubicBezTo>
                  <a:cubicBezTo>
                    <a:pt x="45012" y="40976"/>
                    <a:pt x="40529" y="65458"/>
                    <a:pt x="39998" y="72715"/>
                  </a:cubicBezTo>
                </a:path>
              </a:pathLst>
            </a:cu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1137" name="Shape 1137"/>
            <p:cNvSpPr/>
            <p:nvPr/>
          </p:nvSpPr>
          <p:spPr>
            <a:xfrm>
              <a:off x="2888017" y="4120987"/>
              <a:ext cx="1888221" cy="1413515"/>
            </a:xfrm>
            <a:custGeom>
              <a:avLst/>
              <a:gdLst/>
              <a:ahLst/>
              <a:cxnLst/>
              <a:rect l="0" t="0" r="0" b="0"/>
              <a:pathLst>
                <a:path w="65723" h="49200" extrusionOk="0">
                  <a:moveTo>
                    <a:pt x="64421" y="0"/>
                  </a:moveTo>
                  <a:cubicBezTo>
                    <a:pt x="63772" y="3362"/>
                    <a:pt x="69672" y="15751"/>
                    <a:pt x="60528" y="20176"/>
                  </a:cubicBezTo>
                  <a:cubicBezTo>
                    <a:pt x="51384" y="24600"/>
                    <a:pt x="19645" y="21709"/>
                    <a:pt x="9557" y="26547"/>
                  </a:cubicBezTo>
                  <a:cubicBezTo>
                    <a:pt x="-531" y="31384"/>
                    <a:pt x="1592" y="45424"/>
                    <a:pt x="0" y="49200"/>
                  </a:cubicBezTo>
                </a:path>
              </a:pathLst>
            </a:cu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1138" name="Shape 1138"/>
            <p:cNvSpPr/>
            <p:nvPr/>
          </p:nvSpPr>
          <p:spPr>
            <a:xfrm>
              <a:off x="5684504" y="4110817"/>
              <a:ext cx="447441" cy="1413515"/>
            </a:xfrm>
            <a:custGeom>
              <a:avLst/>
              <a:gdLst/>
              <a:ahLst/>
              <a:cxnLst/>
              <a:rect l="0" t="0" r="0" b="0"/>
              <a:pathLst>
                <a:path w="15574" h="49200" extrusionOk="0">
                  <a:moveTo>
                    <a:pt x="9203" y="0"/>
                  </a:moveTo>
                  <a:cubicBezTo>
                    <a:pt x="7669" y="4188"/>
                    <a:pt x="-1061" y="20175"/>
                    <a:pt x="0" y="25131"/>
                  </a:cubicBezTo>
                  <a:cubicBezTo>
                    <a:pt x="1061" y="30086"/>
                    <a:pt x="13568" y="25721"/>
                    <a:pt x="15574" y="29733"/>
                  </a:cubicBezTo>
                  <a:cubicBezTo>
                    <a:pt x="17579" y="33744"/>
                    <a:pt x="12624" y="45955"/>
                    <a:pt x="12034" y="49200"/>
                  </a:cubicBezTo>
                </a:path>
              </a:pathLst>
            </a:cu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triangle" w="lg" len="lg"/>
            </a:ln>
          </p:spPr>
        </p:sp>
        <p:sp>
          <p:nvSpPr>
            <p:cNvPr id="1139" name="Shape 1139"/>
            <p:cNvSpPr/>
            <p:nvPr/>
          </p:nvSpPr>
          <p:spPr>
            <a:xfrm>
              <a:off x="0" y="1251845"/>
              <a:ext cx="2280899" cy="437099"/>
            </a:xfrm>
            <a:prstGeom prst="chevron">
              <a:avLst>
                <a:gd name="adj" fmla="val 50000"/>
              </a:avLst>
            </a:prstGeom>
            <a:noFill/>
            <a:ln w="19050" cap="flat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algn="ctr" rtl="0">
                <a:spcBef>
                  <a:spcPts val="0"/>
                </a:spcBef>
                <a:buNone/>
              </a:pPr>
              <a:r>
                <a:rPr lang="zh-TW" sz="1000" b="1">
                  <a:solidFill>
                    <a:srgbClr val="FF0000"/>
                  </a:solidFill>
                </a:rPr>
                <a:t>Assign this entry with kfd_process-&gt;mm-&gt;pgd</a:t>
              </a:r>
            </a:p>
          </p:txBody>
        </p:sp>
      </p:grpSp>
    </p:spTree>
  </p:cSld>
  <p:clrMapOvr>
    <a:masterClrMapping/>
  </p:clrMapOvr>
  <p:transition spd="slow"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Shape 114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PRI &amp; PPR Flow</a:t>
            </a:r>
          </a:p>
        </p:txBody>
      </p:sp>
      <p:sp>
        <p:nvSpPr>
          <p:cNvPr id="1145" name="Shape 1145"/>
          <p:cNvSpPr/>
          <p:nvPr/>
        </p:nvSpPr>
        <p:spPr>
          <a:xfrm>
            <a:off x="1989450" y="1720150"/>
            <a:ext cx="5165099" cy="1085999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zh-TW" sz="1600"/>
              <a:t>Peripheral issue PRI to IOMMU</a:t>
            </a:r>
          </a:p>
        </p:txBody>
      </p:sp>
      <p:sp>
        <p:nvSpPr>
          <p:cNvPr id="1146" name="Shape 1146"/>
          <p:cNvSpPr/>
          <p:nvPr/>
        </p:nvSpPr>
        <p:spPr>
          <a:xfrm>
            <a:off x="1989450" y="3617251"/>
            <a:ext cx="5165099" cy="1085999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 sz="1600"/>
              <a:t>IOMMU write PPR request to PPR log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zh-TW" sz="1600"/>
              <a:t>(log contains fault address, pasid, device_id, tag, flags) </a:t>
            </a:r>
          </a:p>
        </p:txBody>
      </p:sp>
      <p:cxnSp>
        <p:nvCxnSpPr>
          <p:cNvPr id="1147" name="Shape 1147"/>
          <p:cNvCxnSpPr>
            <a:stCxn id="1145" idx="4"/>
            <a:endCxn id="1146" idx="0"/>
          </p:cNvCxnSpPr>
          <p:nvPr/>
        </p:nvCxnSpPr>
        <p:spPr>
          <a:xfrm>
            <a:off x="4571999" y="2806149"/>
            <a:ext cx="0" cy="8111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148" name="Shape 1148"/>
          <p:cNvSpPr/>
          <p:nvPr/>
        </p:nvSpPr>
        <p:spPr>
          <a:xfrm>
            <a:off x="1989450" y="5514354"/>
            <a:ext cx="5165099" cy="1085999"/>
          </a:xfrm>
          <a:prstGeom prst="ellipse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 sz="1600"/>
              <a:t>IOMMU send interrupt to CPU</a:t>
            </a:r>
          </a:p>
        </p:txBody>
      </p:sp>
      <p:cxnSp>
        <p:nvCxnSpPr>
          <p:cNvPr id="1149" name="Shape 1149"/>
          <p:cNvCxnSpPr>
            <a:stCxn id="1146" idx="4"/>
            <a:endCxn id="1148" idx="0"/>
          </p:cNvCxnSpPr>
          <p:nvPr/>
        </p:nvCxnSpPr>
        <p:spPr>
          <a:xfrm>
            <a:off x="4571999" y="4703251"/>
            <a:ext cx="0" cy="8112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</p:spTree>
  </p:cSld>
  <p:clrMapOvr>
    <a:masterClrMapping/>
  </p:clrMapOvr>
  <p:transition spd="slow">
    <p:cu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Shape 115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PPR Flow</a:t>
            </a:r>
          </a:p>
        </p:txBody>
      </p:sp>
      <p:pic>
        <p:nvPicPr>
          <p:cNvPr id="1155" name="Shape 1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1000" y="1870100"/>
            <a:ext cx="6115050" cy="34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6" name="Shape 1156"/>
          <p:cNvSpPr/>
          <p:nvPr/>
        </p:nvSpPr>
        <p:spPr>
          <a:xfrm>
            <a:off x="3413625" y="843194"/>
            <a:ext cx="5127075" cy="3092400"/>
          </a:xfrm>
          <a:custGeom>
            <a:avLst/>
            <a:gdLst/>
            <a:ahLst/>
            <a:cxnLst/>
            <a:rect l="0" t="0" r="0" b="0"/>
            <a:pathLst>
              <a:path w="205083" h="123696" extrusionOk="0">
                <a:moveTo>
                  <a:pt x="118768" y="100037"/>
                </a:moveTo>
                <a:cubicBezTo>
                  <a:pt x="125387" y="103567"/>
                  <a:pt x="144362" y="132061"/>
                  <a:pt x="158484" y="121219"/>
                </a:cubicBezTo>
                <a:cubicBezTo>
                  <a:pt x="172605" y="110376"/>
                  <a:pt x="200280" y="54648"/>
                  <a:pt x="203495" y="34980"/>
                </a:cubicBezTo>
                <a:cubicBezTo>
                  <a:pt x="206710" y="15311"/>
                  <a:pt x="207718" y="7998"/>
                  <a:pt x="177774" y="3207"/>
                </a:cubicBezTo>
                <a:cubicBezTo>
                  <a:pt x="147829" y="-1584"/>
                  <a:pt x="53459" y="-953"/>
                  <a:pt x="23830" y="6233"/>
                </a:cubicBezTo>
                <a:cubicBezTo>
                  <a:pt x="-5799" y="13419"/>
                  <a:pt x="3971" y="39644"/>
                  <a:pt x="0" y="46327"/>
                </a:cubicBezTo>
              </a:path>
            </a:pathLst>
          </a:cu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sp>
      <p:sp>
        <p:nvSpPr>
          <p:cNvPr id="1157" name="Shape 1157"/>
          <p:cNvSpPr txBox="1"/>
          <p:nvPr/>
        </p:nvSpPr>
        <p:spPr>
          <a:xfrm>
            <a:off x="2895500" y="1127300"/>
            <a:ext cx="1588500" cy="345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 sz="1200" b="1">
                <a:solidFill>
                  <a:srgbClr val="FF0000"/>
                </a:solidFill>
              </a:rPr>
              <a:t>When irq comes</a:t>
            </a:r>
          </a:p>
        </p:txBody>
      </p:sp>
      <p:sp>
        <p:nvSpPr>
          <p:cNvPr id="1158" name="Shape 1158"/>
          <p:cNvSpPr/>
          <p:nvPr/>
        </p:nvSpPr>
        <p:spPr>
          <a:xfrm>
            <a:off x="1814050" y="5489350"/>
            <a:ext cx="3345000" cy="398099"/>
          </a:xfrm>
          <a:prstGeom prst="ellipse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zh-TW"/>
              <a:t>ppr_notifier</a:t>
            </a:r>
          </a:p>
        </p:txBody>
      </p:sp>
      <p:cxnSp>
        <p:nvCxnSpPr>
          <p:cNvPr id="1159" name="Shape 1159"/>
          <p:cNvCxnSpPr>
            <a:endCxn id="1158" idx="0"/>
          </p:cNvCxnSpPr>
          <p:nvPr/>
        </p:nvCxnSpPr>
        <p:spPr>
          <a:xfrm>
            <a:off x="3433450" y="5135349"/>
            <a:ext cx="53100" cy="3540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160" name="Shape 1160"/>
          <p:cNvSpPr txBox="1"/>
          <p:nvPr/>
        </p:nvSpPr>
        <p:spPr>
          <a:xfrm>
            <a:off x="0" y="1689625"/>
            <a:ext cx="3486599" cy="235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zh-TW" sz="1000" b="1">
                <a:solidFill>
                  <a:srgbClr val="1155CC"/>
                </a:solidFill>
              </a:rPr>
              <a:t>readl(iommu-&gt;mmio_base + MMIO_STATUS_OFFSET);</a:t>
            </a:r>
          </a:p>
        </p:txBody>
      </p:sp>
      <p:sp>
        <p:nvSpPr>
          <p:cNvPr id="1161" name="Shape 1161"/>
          <p:cNvSpPr txBox="1"/>
          <p:nvPr/>
        </p:nvSpPr>
        <p:spPr>
          <a:xfrm>
            <a:off x="276900" y="2578800"/>
            <a:ext cx="2932799" cy="235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 sz="1000" b="1">
                <a:solidFill>
                  <a:srgbClr val="1155CC"/>
                </a:solidFill>
              </a:rPr>
              <a:t>if (status &amp; MMIO_STATUS_PPR_INT_MASK)</a:t>
            </a:r>
          </a:p>
        </p:txBody>
      </p:sp>
      <p:sp>
        <p:nvSpPr>
          <p:cNvPr id="1162" name="Shape 1162"/>
          <p:cNvSpPr txBox="1"/>
          <p:nvPr/>
        </p:nvSpPr>
        <p:spPr>
          <a:xfrm>
            <a:off x="4735950" y="5478487"/>
            <a:ext cx="2932799" cy="235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 sz="1000" b="1">
                <a:solidFill>
                  <a:srgbClr val="1155CC"/>
                </a:solidFill>
              </a:rPr>
              <a:t>Register in amd_iommv_v2_init</a:t>
            </a:r>
          </a:p>
        </p:txBody>
      </p:sp>
      <p:sp>
        <p:nvSpPr>
          <p:cNvPr id="1163" name="Shape 1163"/>
          <p:cNvSpPr/>
          <p:nvPr/>
        </p:nvSpPr>
        <p:spPr>
          <a:xfrm>
            <a:off x="1814050" y="6173800"/>
            <a:ext cx="3345000" cy="398099"/>
          </a:xfrm>
          <a:prstGeom prst="ellipse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/>
              <a:t>do_fault</a:t>
            </a:r>
          </a:p>
        </p:txBody>
      </p:sp>
      <p:cxnSp>
        <p:nvCxnSpPr>
          <p:cNvPr id="1164" name="Shape 1164"/>
          <p:cNvCxnSpPr>
            <a:stCxn id="1158" idx="4"/>
            <a:endCxn id="1163" idx="0"/>
          </p:cNvCxnSpPr>
          <p:nvPr/>
        </p:nvCxnSpPr>
        <p:spPr>
          <a:xfrm>
            <a:off x="3486550" y="5887449"/>
            <a:ext cx="0" cy="2865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</p:spTree>
  </p:cSld>
  <p:clrMapOvr>
    <a:masterClrMapping/>
  </p:clrMapOvr>
  <p:transition spd="slow">
    <p:cut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Shape 116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do_fault</a:t>
            </a:r>
          </a:p>
        </p:txBody>
      </p:sp>
      <p:sp>
        <p:nvSpPr>
          <p:cNvPr id="1170" name="Shape 117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get_user_pages() API to pin fault pages into memory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mm_struct, fault_addr</a:t>
            </a:r>
          </a:p>
          <a:p>
            <a:pPr lvl="0" rtl="0">
              <a:spcBef>
                <a:spcPts val="0"/>
              </a:spcBef>
              <a:buClr>
                <a:schemeClr val="dk1"/>
              </a:buClr>
              <a:buSzPct val="36666"/>
              <a:buFont typeface="Arial"/>
              <a:buNone/>
            </a:pPr>
            <a:r>
              <a:rPr lang="zh-TW"/>
              <a:t>         	</a:t>
            </a:r>
          </a:p>
          <a:p>
            <a:pPr lvl="0" rtl="0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endParaRPr/>
          </a:p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  <p:transition spd="slow">
    <p:cut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Shape 117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/>
              <a:t>Flow Review</a:t>
            </a:r>
          </a:p>
        </p:txBody>
      </p:sp>
      <p:sp>
        <p:nvSpPr>
          <p:cNvPr id="1176" name="Shape 117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1177" name="Shape 1177"/>
          <p:cNvSpPr/>
          <p:nvPr/>
        </p:nvSpPr>
        <p:spPr>
          <a:xfrm>
            <a:off x="2115300" y="4429200"/>
            <a:ext cx="4913399" cy="939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endParaRPr b="1"/>
          </a:p>
          <a:p>
            <a:pPr lvl="0" algn="ctr" rtl="0">
              <a:spcBef>
                <a:spcPts val="0"/>
              </a:spcBef>
              <a:buNone/>
            </a:pPr>
            <a:r>
              <a:rPr lang="zh-TW" b="1"/>
              <a:t>HSA-aware Kernel </a:t>
            </a:r>
          </a:p>
        </p:txBody>
      </p:sp>
      <p:sp>
        <p:nvSpPr>
          <p:cNvPr id="1178" name="Shape 1178"/>
          <p:cNvSpPr/>
          <p:nvPr/>
        </p:nvSpPr>
        <p:spPr>
          <a:xfrm>
            <a:off x="2678225" y="4438600"/>
            <a:ext cx="1409399" cy="469799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/>
              <a:t>KFD  </a:t>
            </a:r>
          </a:p>
        </p:txBody>
      </p:sp>
      <p:sp>
        <p:nvSpPr>
          <p:cNvPr id="1179" name="Shape 1179"/>
          <p:cNvSpPr/>
          <p:nvPr/>
        </p:nvSpPr>
        <p:spPr>
          <a:xfrm>
            <a:off x="5139575" y="4438600"/>
            <a:ext cx="1475099" cy="469799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/>
              <a:t>IOMMU Driver</a:t>
            </a:r>
          </a:p>
        </p:txBody>
      </p:sp>
      <p:sp>
        <p:nvSpPr>
          <p:cNvPr id="1180" name="Shape 1180"/>
          <p:cNvSpPr/>
          <p:nvPr/>
        </p:nvSpPr>
        <p:spPr>
          <a:xfrm>
            <a:off x="2115300" y="2681825"/>
            <a:ext cx="4913399" cy="1371599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 b="1"/>
              <a:t>Runtime Library</a:t>
            </a:r>
          </a:p>
          <a:p>
            <a:pPr lvl="0" rtl="0">
              <a:spcBef>
                <a:spcPts val="0"/>
              </a:spcBef>
              <a:buNone/>
            </a:pPr>
            <a:endParaRPr b="1"/>
          </a:p>
          <a:p>
            <a:pPr lvl="0" rtl="0">
              <a:spcBef>
                <a:spcPts val="0"/>
              </a:spcBef>
              <a:buNone/>
            </a:pPr>
            <a:endParaRPr b="1"/>
          </a:p>
          <a:p>
            <a:pPr lvl="0" rtl="0">
              <a:spcBef>
                <a:spcPts val="0"/>
              </a:spcBef>
              <a:buNone/>
            </a:pPr>
            <a:endParaRPr b="1"/>
          </a:p>
        </p:txBody>
      </p:sp>
      <p:sp>
        <p:nvSpPr>
          <p:cNvPr id="1181" name="Shape 1181"/>
          <p:cNvSpPr/>
          <p:nvPr/>
        </p:nvSpPr>
        <p:spPr>
          <a:xfrm>
            <a:off x="2115300" y="3433375"/>
            <a:ext cx="4913399" cy="620099"/>
          </a:xfrm>
          <a:prstGeom prst="roundRect">
            <a:avLst>
              <a:gd name="adj" fmla="val 16667"/>
            </a:avLst>
          </a:prstGeom>
          <a:solidFill>
            <a:srgbClr val="CC00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457200" lvl="0" indent="-279400" rtl="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TW" sz="800" b="1">
                <a:solidFill>
                  <a:schemeClr val="lt1"/>
                </a:solidFill>
              </a:rPr>
              <a:t>open(“/dev/kfd”)</a:t>
            </a:r>
          </a:p>
          <a:p>
            <a:pPr marL="457200" lvl="0" indent="-279400" rtl="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TW" sz="800" b="1">
                <a:solidFill>
                  <a:schemeClr val="lt1"/>
                </a:solidFill>
              </a:rPr>
              <a:t>ioctl(KFD_IOC_SET_MEMORY_POLICY)</a:t>
            </a:r>
          </a:p>
          <a:p>
            <a:pPr marL="457200" lvl="0" indent="-279400" rtl="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TW" sz="800" b="1">
                <a:solidFill>
                  <a:schemeClr val="lt1"/>
                </a:solidFill>
              </a:rPr>
              <a:t>ioctl(KFD_IOC_CREATE_QUEUE)</a:t>
            </a:r>
          </a:p>
          <a:p>
            <a:pPr marL="457200" lvl="0" indent="-279400" rtl="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TW" sz="800" b="1">
                <a:solidFill>
                  <a:schemeClr val="lt1"/>
                </a:solidFill>
              </a:rPr>
              <a:t>ioctl(KFD_IOC_DESTROY_QUEUE)</a:t>
            </a:r>
          </a:p>
        </p:txBody>
      </p:sp>
      <p:sp>
        <p:nvSpPr>
          <p:cNvPr id="1182" name="Shape 1182"/>
          <p:cNvSpPr/>
          <p:nvPr/>
        </p:nvSpPr>
        <p:spPr>
          <a:xfrm>
            <a:off x="2115300" y="1600200"/>
            <a:ext cx="4913399" cy="7245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 b="1"/>
              <a:t>Application</a:t>
            </a:r>
          </a:p>
        </p:txBody>
      </p:sp>
      <p:cxnSp>
        <p:nvCxnSpPr>
          <p:cNvPr id="1183" name="Shape 1183"/>
          <p:cNvCxnSpPr>
            <a:stCxn id="1182" idx="2"/>
            <a:endCxn id="1180" idx="0"/>
          </p:cNvCxnSpPr>
          <p:nvPr/>
        </p:nvCxnSpPr>
        <p:spPr>
          <a:xfrm>
            <a:off x="4571999" y="2324700"/>
            <a:ext cx="0" cy="3570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triangle" w="lg" len="lg"/>
            <a:tailEnd type="triangle" w="lg" len="lg"/>
          </a:ln>
        </p:spPr>
      </p:cxnSp>
      <p:cxnSp>
        <p:nvCxnSpPr>
          <p:cNvPr id="1184" name="Shape 1184"/>
          <p:cNvCxnSpPr>
            <a:stCxn id="1181" idx="2"/>
            <a:endCxn id="1178" idx="0"/>
          </p:cNvCxnSpPr>
          <p:nvPr/>
        </p:nvCxnSpPr>
        <p:spPr>
          <a:xfrm flipH="1">
            <a:off x="3382799" y="4053474"/>
            <a:ext cx="1189200" cy="3852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triangle" w="lg" len="lg"/>
            <a:tailEnd type="triangle" w="lg" len="lg"/>
          </a:ln>
        </p:spPr>
      </p:cxnSp>
      <p:sp>
        <p:nvSpPr>
          <p:cNvPr id="1185" name="Shape 1185"/>
          <p:cNvSpPr/>
          <p:nvPr/>
        </p:nvSpPr>
        <p:spPr>
          <a:xfrm>
            <a:off x="2762825" y="5628600"/>
            <a:ext cx="1240199" cy="939300"/>
          </a:xfrm>
          <a:prstGeom prst="roundRect">
            <a:avLst>
              <a:gd name="adj" fmla="val 16667"/>
            </a:avLst>
          </a:prstGeom>
          <a:solidFill>
            <a:srgbClr val="3C78D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 b="1"/>
              <a:t>HSA Device</a:t>
            </a:r>
          </a:p>
        </p:txBody>
      </p:sp>
      <p:cxnSp>
        <p:nvCxnSpPr>
          <p:cNvPr id="1186" name="Shape 1186"/>
          <p:cNvCxnSpPr/>
          <p:nvPr/>
        </p:nvCxnSpPr>
        <p:spPr>
          <a:xfrm>
            <a:off x="4087625" y="4673500"/>
            <a:ext cx="1052099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triangle" w="lg" len="lg"/>
            <a:tailEnd type="triangle" w="lg" len="lg"/>
          </a:ln>
        </p:spPr>
      </p:cxnSp>
      <p:sp>
        <p:nvSpPr>
          <p:cNvPr id="1187" name="Shape 1187"/>
          <p:cNvSpPr/>
          <p:nvPr/>
        </p:nvSpPr>
        <p:spPr>
          <a:xfrm>
            <a:off x="5257025" y="5628600"/>
            <a:ext cx="1240199" cy="939300"/>
          </a:xfrm>
          <a:prstGeom prst="roundRect">
            <a:avLst>
              <a:gd name="adj" fmla="val 16667"/>
            </a:avLst>
          </a:prstGeom>
          <a:solidFill>
            <a:srgbClr val="3C78D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 b="1"/>
              <a:t>IOMMU</a:t>
            </a:r>
          </a:p>
        </p:txBody>
      </p:sp>
      <p:grpSp>
        <p:nvGrpSpPr>
          <p:cNvPr id="1188" name="Shape 1188"/>
          <p:cNvGrpSpPr/>
          <p:nvPr/>
        </p:nvGrpSpPr>
        <p:grpSpPr>
          <a:xfrm>
            <a:off x="3382925" y="4908400"/>
            <a:ext cx="2494200" cy="720299"/>
            <a:chOff x="3382925" y="4908400"/>
            <a:chExt cx="2494200" cy="720299"/>
          </a:xfrm>
        </p:grpSpPr>
        <p:cxnSp>
          <p:nvCxnSpPr>
            <p:cNvPr id="1189" name="Shape 1189"/>
            <p:cNvCxnSpPr/>
            <p:nvPr/>
          </p:nvCxnSpPr>
          <p:spPr>
            <a:xfrm>
              <a:off x="3382925" y="4908400"/>
              <a:ext cx="0" cy="720299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triangle" w="lg" len="lg"/>
              <a:tailEnd type="triangle" w="lg" len="lg"/>
            </a:ln>
          </p:spPr>
        </p:cxnSp>
        <p:cxnSp>
          <p:nvCxnSpPr>
            <p:cNvPr id="1190" name="Shape 1190"/>
            <p:cNvCxnSpPr/>
            <p:nvPr/>
          </p:nvCxnSpPr>
          <p:spPr>
            <a:xfrm>
              <a:off x="5877125" y="4908400"/>
              <a:ext cx="0" cy="720299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triangle" w="lg" len="lg"/>
            </a:ln>
          </p:spPr>
        </p:cxnSp>
      </p:grpSp>
      <p:grpSp>
        <p:nvGrpSpPr>
          <p:cNvPr id="1191" name="Shape 1191"/>
          <p:cNvGrpSpPr/>
          <p:nvPr/>
        </p:nvGrpSpPr>
        <p:grpSpPr>
          <a:xfrm>
            <a:off x="1344200" y="1955625"/>
            <a:ext cx="1437350" cy="4180436"/>
            <a:chOff x="1344200" y="1955625"/>
            <a:chExt cx="1437350" cy="4180436"/>
          </a:xfrm>
        </p:grpSpPr>
        <p:sp>
          <p:nvSpPr>
            <p:cNvPr id="1192" name="Shape 1192"/>
            <p:cNvSpPr/>
            <p:nvPr/>
          </p:nvSpPr>
          <p:spPr>
            <a:xfrm>
              <a:off x="1344200" y="1955625"/>
              <a:ext cx="1437350" cy="4180436"/>
            </a:xfrm>
            <a:custGeom>
              <a:avLst/>
              <a:gdLst/>
              <a:ahLst/>
              <a:cxnLst/>
              <a:rect l="0" t="0" r="0" b="0"/>
              <a:pathLst>
                <a:path w="57494" h="176241" extrusionOk="0">
                  <a:moveTo>
                    <a:pt x="31190" y="0"/>
                  </a:moveTo>
                  <a:lnTo>
                    <a:pt x="0" y="0"/>
                  </a:lnTo>
                  <a:lnTo>
                    <a:pt x="0" y="176241"/>
                  </a:lnTo>
                  <a:lnTo>
                    <a:pt x="57494" y="176241"/>
                  </a:lnTo>
                </a:path>
              </a:pathLst>
            </a:custGeom>
            <a:noFill/>
            <a:ln w="19050" cap="flat">
              <a:solidFill>
                <a:schemeClr val="dk2"/>
              </a:solidFill>
              <a:prstDash val="solid"/>
              <a:round/>
              <a:headEnd type="triangle" w="lg" len="lg"/>
              <a:tailEnd type="triangle" w="lg" len="lg"/>
            </a:ln>
          </p:spPr>
        </p:sp>
        <p:cxnSp>
          <p:nvCxnSpPr>
            <p:cNvPr id="1193" name="Shape 1193"/>
            <p:cNvCxnSpPr/>
            <p:nvPr/>
          </p:nvCxnSpPr>
          <p:spPr>
            <a:xfrm rot="10800000">
              <a:off x="1353649" y="3158125"/>
              <a:ext cx="779700" cy="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triangle" w="lg" len="lg"/>
              <a:tailEnd type="none" w="lg" len="lg"/>
            </a:ln>
          </p:spPr>
        </p:cxnSp>
      </p:grpSp>
      <p:sp>
        <p:nvSpPr>
          <p:cNvPr id="1194" name="Shape 1194"/>
          <p:cNvSpPr txBox="1"/>
          <p:nvPr/>
        </p:nvSpPr>
        <p:spPr>
          <a:xfrm>
            <a:off x="4980725" y="3600050"/>
            <a:ext cx="1726199" cy="307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b="1"/>
              <a:t>libhsakmt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1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1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1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Shape 119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/>
              <a:t>Agenda</a:t>
            </a:r>
          </a:p>
        </p:txBody>
      </p:sp>
      <p:sp>
        <p:nvSpPr>
          <p:cNvPr id="1200" name="Shape 1200"/>
          <p:cNvSpPr txBox="1">
            <a:spLocks noGrp="1"/>
          </p:cNvSpPr>
          <p:nvPr>
            <p:ph type="body" idx="1"/>
          </p:nvPr>
        </p:nvSpPr>
        <p:spPr>
          <a:xfrm>
            <a:off x="457200" y="14478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rgbClr val="EFEFEF"/>
              </a:buClr>
              <a:buSzPct val="100000"/>
              <a:buFont typeface="Arial"/>
              <a:buChar char="●"/>
            </a:pPr>
            <a:r>
              <a:rPr lang="zh-TW">
                <a:solidFill>
                  <a:srgbClr val="EFEFEF"/>
                </a:solidFill>
              </a:rPr>
              <a:t>Introduction to HSA</a:t>
            </a:r>
          </a:p>
          <a:p>
            <a:pPr marL="457200" lvl="0" indent="-419100" rtl="0">
              <a:spcBef>
                <a:spcPts val="0"/>
              </a:spcBef>
              <a:buClr>
                <a:srgbClr val="EFEFEF"/>
              </a:buClr>
              <a:buSzPct val="100000"/>
              <a:buFont typeface="Arial"/>
              <a:buChar char="●"/>
            </a:pPr>
            <a:r>
              <a:rPr lang="zh-TW">
                <a:solidFill>
                  <a:srgbClr val="EFEFEF"/>
                </a:solidFill>
              </a:rPr>
              <a:t>HSA Driver</a:t>
            </a:r>
          </a:p>
          <a:p>
            <a:pPr marL="457200" lvl="0" indent="-419100" rtl="0">
              <a:spcBef>
                <a:spcPts val="0"/>
              </a:spcBef>
              <a:buClr>
                <a:srgbClr val="EFEFEF"/>
              </a:buClr>
              <a:buSzPct val="100000"/>
              <a:buFont typeface="Arial"/>
              <a:buChar char="●"/>
            </a:pPr>
            <a:r>
              <a:rPr lang="zh-TW">
                <a:solidFill>
                  <a:srgbClr val="EFEFEF"/>
                </a:solidFill>
              </a:rPr>
              <a:t>IOMMU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HSA Virtualization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Background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Virtualization Idea &amp; Architecture</a:t>
            </a:r>
          </a:p>
        </p:txBody>
      </p:sp>
    </p:spTree>
  </p:cSld>
  <p:clrMapOvr>
    <a:masterClrMapping/>
  </p:clrMapOvr>
  <p:transition spd="slow">
    <p:cut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Shape 120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System Virtualization</a:t>
            </a:r>
          </a:p>
        </p:txBody>
      </p:sp>
      <p:sp>
        <p:nvSpPr>
          <p:cNvPr id="1206" name="Shape 120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How to do?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For same ISA virtualization, just load guset OS kernel into memory and set PC </a:t>
            </a:r>
          </a:p>
          <a:p>
            <a:pPr lvl="0" rtl="0">
              <a:spcBef>
                <a:spcPts val="0"/>
              </a:spcBef>
              <a:buNone/>
            </a:pPr>
            <a:endParaRPr/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We need guest OSes are </a:t>
            </a:r>
            <a:r>
              <a:rPr lang="zh-TW">
                <a:solidFill>
                  <a:srgbClr val="FF0000"/>
                </a:solidFill>
              </a:rPr>
              <a:t>isolated</a:t>
            </a:r>
            <a:r>
              <a:rPr lang="zh-TW"/>
              <a:t> !!!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How to manage system resource?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CPU virtualization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Memory virtualization</a:t>
            </a:r>
          </a:p>
          <a:p>
            <a:pPr marL="914400" lvl="1" indent="-38100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I/O virtualization</a:t>
            </a:r>
          </a:p>
        </p:txBody>
      </p:sp>
    </p:spTree>
  </p:cSld>
  <p:clrMapOvr>
    <a:masterClrMapping/>
  </p:clrMapOvr>
  <p:transition spd="slow">
    <p:cut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Shape 121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/>
              <a:t>CPU Virtualization</a:t>
            </a:r>
          </a:p>
        </p:txBody>
      </p:sp>
      <p:grpSp>
        <p:nvGrpSpPr>
          <p:cNvPr id="1212" name="Shape 1212"/>
          <p:cNvGrpSpPr/>
          <p:nvPr/>
        </p:nvGrpSpPr>
        <p:grpSpPr>
          <a:xfrm>
            <a:off x="171874" y="1261950"/>
            <a:ext cx="3426900" cy="2307102"/>
            <a:chOff x="171874" y="1795350"/>
            <a:chExt cx="3426900" cy="2307102"/>
          </a:xfrm>
        </p:grpSpPr>
        <p:sp>
          <p:nvSpPr>
            <p:cNvPr id="1213" name="Shape 1213"/>
            <p:cNvSpPr/>
            <p:nvPr/>
          </p:nvSpPr>
          <p:spPr>
            <a:xfrm>
              <a:off x="567930" y="2230341"/>
              <a:ext cx="2232299" cy="863999"/>
            </a:xfrm>
            <a:prstGeom prst="rect">
              <a:avLst/>
            </a:prstGeom>
            <a:solidFill>
              <a:srgbClr val="6D9EEB"/>
            </a:solidFill>
            <a:ln w="25400" cap="flat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 b="0" i="0" u="none" strike="noStrike" cap="none" baseline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buNone/>
              </a:pPr>
              <a:endParaRPr sz="1800" b="0" i="0" u="none" strike="noStrike" cap="none" baseline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zh-TW" sz="1800" b="0" i="0" u="none" strike="noStrike" cap="none" baseline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User Mode</a:t>
              </a:r>
            </a:p>
          </p:txBody>
        </p:sp>
        <p:sp>
          <p:nvSpPr>
            <p:cNvPr id="1214" name="Shape 1214"/>
            <p:cNvSpPr/>
            <p:nvPr/>
          </p:nvSpPr>
          <p:spPr>
            <a:xfrm>
              <a:off x="567930" y="3238452"/>
              <a:ext cx="2232299" cy="863999"/>
            </a:xfrm>
            <a:prstGeom prst="rect">
              <a:avLst/>
            </a:prstGeom>
            <a:solidFill>
              <a:srgbClr val="6D9EEB"/>
            </a:solidFill>
            <a:ln w="25400" cap="flat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 b="0" i="0" u="none" strike="noStrike" cap="none" baseline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zh-TW" sz="1800" b="0" i="0" u="none" strike="noStrike" cap="none" baseline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Kernel Mode</a:t>
              </a:r>
            </a:p>
          </p:txBody>
        </p:sp>
        <p:sp>
          <p:nvSpPr>
            <p:cNvPr id="1215" name="Shape 1215"/>
            <p:cNvSpPr txBox="1"/>
            <p:nvPr/>
          </p:nvSpPr>
          <p:spPr>
            <a:xfrm>
              <a:off x="171874" y="1795350"/>
              <a:ext cx="3426900" cy="36929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zh-TW" sz="1800" b="0" i="0" u="none" strike="noStrike" cap="none" baseline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Without Virtualization Extension</a:t>
              </a:r>
            </a:p>
          </p:txBody>
        </p:sp>
        <p:sp>
          <p:nvSpPr>
            <p:cNvPr id="1216" name="Shape 1216"/>
            <p:cNvSpPr/>
            <p:nvPr/>
          </p:nvSpPr>
          <p:spPr>
            <a:xfrm>
              <a:off x="837335" y="3238452"/>
              <a:ext cx="1728299" cy="359999"/>
            </a:xfrm>
            <a:prstGeom prst="roundRect">
              <a:avLst>
                <a:gd name="adj" fmla="val 16667"/>
              </a:avLst>
            </a:prstGeom>
            <a:solidFill>
              <a:srgbClr val="FFC000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zh-TW" sz="1800" b="0" i="0" u="none" strike="noStrike" cap="none" baseline="0">
                  <a:solidFill>
                    <a:srgbClr val="666666"/>
                  </a:solidFill>
                  <a:latin typeface="Calibri"/>
                  <a:ea typeface="Calibri"/>
                  <a:cs typeface="Calibri"/>
                  <a:sym typeface="Calibri"/>
                </a:rPr>
                <a:t>Hypervisor</a:t>
              </a:r>
            </a:p>
          </p:txBody>
        </p:sp>
        <p:grpSp>
          <p:nvGrpSpPr>
            <p:cNvPr id="1217" name="Shape 1217"/>
            <p:cNvGrpSpPr/>
            <p:nvPr/>
          </p:nvGrpSpPr>
          <p:grpSpPr>
            <a:xfrm>
              <a:off x="639938" y="2230341"/>
              <a:ext cx="2069699" cy="648000"/>
              <a:chOff x="2150738" y="3080291"/>
              <a:chExt cx="2069699" cy="648000"/>
            </a:xfrm>
          </p:grpSpPr>
          <p:sp>
            <p:nvSpPr>
              <p:cNvPr id="1218" name="Shape 1218"/>
              <p:cNvSpPr/>
              <p:nvPr/>
            </p:nvSpPr>
            <p:spPr>
              <a:xfrm>
                <a:off x="2150738" y="3080291"/>
                <a:ext cx="2069699" cy="648000"/>
              </a:xfrm>
              <a:prstGeom prst="roundRect">
                <a:avLst>
                  <a:gd name="adj" fmla="val 16667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buSzPct val="25000"/>
                  <a:buNone/>
                </a:pPr>
                <a:r>
                  <a:rPr lang="zh-TW" sz="1800" i="0" strike="noStrike" cap="none" baseline="0">
                    <a:solidFill>
                      <a:srgbClr val="66666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Guest Application</a:t>
                </a:r>
              </a:p>
              <a:p>
                <a:pPr marL="0" marR="0" lvl="0" indent="0" algn="ctr" rtl="0">
                  <a:spcBef>
                    <a:spcPts val="0"/>
                  </a:spcBef>
                  <a:buSzPct val="25000"/>
                  <a:buNone/>
                </a:pPr>
                <a:r>
                  <a:rPr lang="zh-TW" sz="1800" i="0" strike="noStrike" cap="none" baseline="0">
                    <a:solidFill>
                      <a:srgbClr val="66666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Guest OS</a:t>
                </a:r>
              </a:p>
            </p:txBody>
          </p:sp>
          <p:cxnSp>
            <p:nvCxnSpPr>
              <p:cNvPr id="1219" name="Shape 1219"/>
              <p:cNvCxnSpPr/>
              <p:nvPr/>
            </p:nvCxnSpPr>
            <p:spPr>
              <a:xfrm>
                <a:off x="2150738" y="3404326"/>
                <a:ext cx="2069699" cy="0"/>
              </a:xfrm>
              <a:prstGeom prst="straightConnector1">
                <a:avLst/>
              </a:prstGeom>
              <a:noFill/>
              <a:ln w="19050" cap="flat">
                <a:solidFill>
                  <a:srgbClr val="66666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220" name="Shape 1220"/>
          <p:cNvGrpSpPr/>
          <p:nvPr/>
        </p:nvGrpSpPr>
        <p:grpSpPr>
          <a:xfrm>
            <a:off x="5420860" y="1261942"/>
            <a:ext cx="3185700" cy="3312271"/>
            <a:chOff x="5958310" y="2275442"/>
            <a:chExt cx="3185700" cy="3312271"/>
          </a:xfrm>
        </p:grpSpPr>
        <p:sp>
          <p:nvSpPr>
            <p:cNvPr id="1221" name="Shape 1221"/>
            <p:cNvSpPr/>
            <p:nvPr/>
          </p:nvSpPr>
          <p:spPr>
            <a:xfrm>
              <a:off x="6246088" y="2707491"/>
              <a:ext cx="2232299" cy="863999"/>
            </a:xfrm>
            <a:prstGeom prst="rect">
              <a:avLst/>
            </a:prstGeom>
            <a:solidFill>
              <a:srgbClr val="6D9EEB"/>
            </a:solidFill>
            <a:ln w="25400" cap="flat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 b="0" i="0" u="none" strike="noStrike" cap="none" baseline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zh-TW" sz="1800" b="0" i="0" u="none" strike="noStrike" cap="none" baseline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User Mode</a:t>
              </a:r>
            </a:p>
          </p:txBody>
        </p:sp>
        <p:sp>
          <p:nvSpPr>
            <p:cNvPr id="1222" name="Shape 1222"/>
            <p:cNvSpPr/>
            <p:nvPr/>
          </p:nvSpPr>
          <p:spPr>
            <a:xfrm>
              <a:off x="6246088" y="3715602"/>
              <a:ext cx="2232299" cy="863999"/>
            </a:xfrm>
            <a:prstGeom prst="rect">
              <a:avLst/>
            </a:prstGeom>
            <a:solidFill>
              <a:srgbClr val="6D9EEB"/>
            </a:solidFill>
            <a:ln w="25400" cap="flat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 b="0" i="0" u="none" strike="noStrike" cap="none" baseline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zh-TW" sz="1800" b="0" i="0" u="none" strike="noStrike" cap="none" baseline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Kernel Mode</a:t>
              </a:r>
            </a:p>
          </p:txBody>
        </p:sp>
        <p:sp>
          <p:nvSpPr>
            <p:cNvPr id="1223" name="Shape 1223"/>
            <p:cNvSpPr/>
            <p:nvPr/>
          </p:nvSpPr>
          <p:spPr>
            <a:xfrm>
              <a:off x="6246088" y="4723714"/>
              <a:ext cx="2232299" cy="863999"/>
            </a:xfrm>
            <a:prstGeom prst="rect">
              <a:avLst/>
            </a:prstGeom>
            <a:solidFill>
              <a:srgbClr val="6D9EEB"/>
            </a:solidFill>
            <a:ln w="25400" cap="flat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 b="0" i="0" u="none" strike="noStrike" cap="none" baseline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zh-TW" sz="1800" b="0" i="0" u="none" strike="noStrike" cap="none" baseline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Hypervisor Mode</a:t>
              </a:r>
            </a:p>
          </p:txBody>
        </p:sp>
        <p:sp>
          <p:nvSpPr>
            <p:cNvPr id="1224" name="Shape 1224"/>
            <p:cNvSpPr txBox="1"/>
            <p:nvPr/>
          </p:nvSpPr>
          <p:spPr>
            <a:xfrm>
              <a:off x="5958310" y="2275442"/>
              <a:ext cx="3185700" cy="36929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zh-TW" sz="1800" b="0" i="0" u="none" strike="noStrike" cap="none" baseline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With Virtualization Extension</a:t>
              </a:r>
            </a:p>
          </p:txBody>
        </p:sp>
        <p:sp>
          <p:nvSpPr>
            <p:cNvPr id="1225" name="Shape 1225"/>
            <p:cNvSpPr/>
            <p:nvPr/>
          </p:nvSpPr>
          <p:spPr>
            <a:xfrm>
              <a:off x="6498116" y="4723714"/>
              <a:ext cx="1728299" cy="359999"/>
            </a:xfrm>
            <a:prstGeom prst="roundRect">
              <a:avLst>
                <a:gd name="adj" fmla="val 16667"/>
              </a:avLst>
            </a:prstGeom>
            <a:solidFill>
              <a:srgbClr val="FFC000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zh-TW" sz="1800" b="0" i="0" u="none" strike="noStrike" cap="none" baseline="0">
                  <a:solidFill>
                    <a:srgbClr val="666666"/>
                  </a:solidFill>
                  <a:latin typeface="Calibri"/>
                  <a:ea typeface="Calibri"/>
                  <a:cs typeface="Calibri"/>
                  <a:sym typeface="Calibri"/>
                </a:rPr>
                <a:t>Hypervisor</a:t>
              </a:r>
            </a:p>
          </p:txBody>
        </p:sp>
        <p:sp>
          <p:nvSpPr>
            <p:cNvPr id="1226" name="Shape 1226"/>
            <p:cNvSpPr/>
            <p:nvPr/>
          </p:nvSpPr>
          <p:spPr>
            <a:xfrm>
              <a:off x="6407736" y="2707491"/>
              <a:ext cx="1944300" cy="359999"/>
            </a:xfrm>
            <a:prstGeom prst="roundRect">
              <a:avLst>
                <a:gd name="adj" fmla="val 16667"/>
              </a:avLst>
            </a:prstGeom>
            <a:solidFill>
              <a:srgbClr val="FFC000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zh-TW" sz="1800" b="0" i="0" u="none" strike="noStrike" cap="none" baseline="0">
                  <a:solidFill>
                    <a:srgbClr val="666666"/>
                  </a:solidFill>
                  <a:latin typeface="Calibri"/>
                  <a:ea typeface="Calibri"/>
                  <a:cs typeface="Calibri"/>
                  <a:sym typeface="Calibri"/>
                </a:rPr>
                <a:t>Guest Application</a:t>
              </a:r>
            </a:p>
          </p:txBody>
        </p:sp>
        <p:sp>
          <p:nvSpPr>
            <p:cNvPr id="1227" name="Shape 1227"/>
            <p:cNvSpPr/>
            <p:nvPr/>
          </p:nvSpPr>
          <p:spPr>
            <a:xfrm>
              <a:off x="6498116" y="3715602"/>
              <a:ext cx="1728299" cy="359999"/>
            </a:xfrm>
            <a:prstGeom prst="roundRect">
              <a:avLst>
                <a:gd name="adj" fmla="val 16667"/>
              </a:avLst>
            </a:prstGeom>
            <a:solidFill>
              <a:srgbClr val="FFC000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SzPct val="25000"/>
                <a:buNone/>
              </a:pPr>
              <a:r>
                <a:rPr lang="zh-TW" sz="1800" b="0" i="0" u="none" strike="noStrike" cap="none" baseline="0">
                  <a:solidFill>
                    <a:srgbClr val="666666"/>
                  </a:solidFill>
                  <a:latin typeface="Calibri"/>
                  <a:ea typeface="Calibri"/>
                  <a:cs typeface="Calibri"/>
                  <a:sym typeface="Calibri"/>
                </a:rPr>
                <a:t>Guest OS</a:t>
              </a:r>
            </a:p>
          </p:txBody>
        </p:sp>
      </p:grpSp>
      <p:sp>
        <p:nvSpPr>
          <p:cNvPr id="1228" name="Shape 1228"/>
          <p:cNvSpPr txBox="1"/>
          <p:nvPr/>
        </p:nvSpPr>
        <p:spPr>
          <a:xfrm>
            <a:off x="4883400" y="4715550"/>
            <a:ext cx="4260599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rtl="0">
              <a:spcBef>
                <a:spcPts val="0"/>
              </a:spcBef>
              <a:buNone/>
            </a:pPr>
            <a:r>
              <a:rPr lang="zh-TW">
                <a:solidFill>
                  <a:srgbClr val="FF00FF"/>
                </a:solidFill>
              </a:rPr>
              <a:t>Problem 1’s solution: </a:t>
            </a:r>
          </a:p>
          <a:p>
            <a:pPr rtl="0">
              <a:spcBef>
                <a:spcPts val="0"/>
              </a:spcBef>
              <a:buNone/>
            </a:pPr>
            <a:r>
              <a:rPr lang="zh-TW">
                <a:solidFill>
                  <a:srgbClr val="FF00FF"/>
                </a:solidFill>
              </a:rPr>
              <a:t>Trap critical instruction (control by hypervisor)</a:t>
            </a:r>
          </a:p>
          <a:p>
            <a:pPr rtl="0">
              <a:spcBef>
                <a:spcPts val="0"/>
              </a:spcBef>
              <a:buNone/>
            </a:pPr>
            <a:endParaRPr>
              <a:solidFill>
                <a:srgbClr val="FF00FF"/>
              </a:solidFill>
            </a:endParaRPr>
          </a:p>
          <a:p>
            <a:pPr rtl="0">
              <a:spcBef>
                <a:spcPts val="0"/>
              </a:spcBef>
              <a:buNone/>
            </a:pPr>
            <a:r>
              <a:rPr lang="zh-TW">
                <a:solidFill>
                  <a:srgbClr val="FF00FF"/>
                </a:solidFill>
              </a:rPr>
              <a:t>Problem 2’s solution:</a:t>
            </a:r>
          </a:p>
          <a:p>
            <a:pPr lvl="0" rtl="0">
              <a:spcBef>
                <a:spcPts val="0"/>
              </a:spcBef>
              <a:buNone/>
            </a:pPr>
            <a:r>
              <a:rPr lang="zh-TW">
                <a:solidFill>
                  <a:srgbClr val="FF00FF"/>
                </a:solidFill>
              </a:rPr>
              <a:t>System call trap into guest OS inside kernel mode</a:t>
            </a:r>
          </a:p>
          <a:p>
            <a:pPr lvl="0" rtl="0">
              <a:spcBef>
                <a:spcPts val="0"/>
              </a:spcBef>
              <a:buNone/>
            </a:pPr>
            <a:endParaRPr sz="1000">
              <a:solidFill>
                <a:srgbClr val="FF00FF"/>
              </a:solidFill>
            </a:endParaRPr>
          </a:p>
        </p:txBody>
      </p:sp>
      <p:grpSp>
        <p:nvGrpSpPr>
          <p:cNvPr id="1229" name="Shape 1229"/>
          <p:cNvGrpSpPr/>
          <p:nvPr/>
        </p:nvGrpSpPr>
        <p:grpSpPr>
          <a:xfrm>
            <a:off x="0" y="4011475"/>
            <a:ext cx="4637275" cy="2694124"/>
            <a:chOff x="0" y="4011475"/>
            <a:chExt cx="4637275" cy="2694124"/>
          </a:xfrm>
        </p:grpSpPr>
        <p:sp>
          <p:nvSpPr>
            <p:cNvPr id="1230" name="Shape 1230"/>
            <p:cNvSpPr txBox="1"/>
            <p:nvPr/>
          </p:nvSpPr>
          <p:spPr>
            <a:xfrm>
              <a:off x="0" y="4011475"/>
              <a:ext cx="3361199" cy="35999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rtl="0">
                <a:spcBef>
                  <a:spcPts val="0"/>
                </a:spcBef>
                <a:buNone/>
              </a:pPr>
              <a:r>
                <a:rPr lang="zh-TW">
                  <a:solidFill>
                    <a:srgbClr val="0000FF"/>
                  </a:solidFill>
                </a:rPr>
                <a:t>Problem 1: system resouce control</a:t>
              </a:r>
            </a:p>
            <a:p>
              <a:pPr marL="457200" lvl="0" indent="-292100" rtl="0">
                <a:spcBef>
                  <a:spcPts val="0"/>
                </a:spcBef>
                <a:buClr>
                  <a:srgbClr val="0000FF"/>
                </a:buClr>
                <a:buSzPct val="100000"/>
                <a:buFont typeface="Arial"/>
                <a:buChar char="●"/>
              </a:pPr>
              <a:r>
                <a:rPr lang="zh-TW" sz="1000">
                  <a:solidFill>
                    <a:srgbClr val="0000FF"/>
                  </a:solidFill>
                </a:rPr>
                <a:t>Need binary translation or para-virtualization</a:t>
              </a:r>
            </a:p>
          </p:txBody>
        </p:sp>
        <p:sp>
          <p:nvSpPr>
            <p:cNvPr id="1231" name="Shape 1231"/>
            <p:cNvSpPr txBox="1"/>
            <p:nvPr/>
          </p:nvSpPr>
          <p:spPr>
            <a:xfrm>
              <a:off x="0" y="6345600"/>
              <a:ext cx="3904199" cy="35999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rtl="0">
                <a:spcBef>
                  <a:spcPts val="0"/>
                </a:spcBef>
                <a:buNone/>
              </a:pPr>
              <a:r>
                <a:rPr lang="zh-TW">
                  <a:solidFill>
                    <a:srgbClr val="0000FF"/>
                  </a:solidFill>
                </a:rPr>
                <a:t>Problem 2: unnecessary trap, ex:system call</a:t>
              </a:r>
            </a:p>
            <a:p>
              <a:pPr marL="457200" lvl="0" indent="-317500" rtl="0">
                <a:spcBef>
                  <a:spcPts val="0"/>
                </a:spcBef>
                <a:buClr>
                  <a:srgbClr val="0000FF"/>
                </a:buClr>
                <a:buSzPct val="140000"/>
                <a:buFont typeface="Arial"/>
                <a:buChar char="●"/>
              </a:pPr>
              <a:r>
                <a:rPr lang="zh-TW" sz="1000">
                  <a:solidFill>
                    <a:srgbClr val="0000FF"/>
                  </a:solidFill>
                </a:rPr>
                <a:t>Cause performance drop</a:t>
              </a:r>
              <a:r>
                <a:rPr lang="zh-TW">
                  <a:solidFill>
                    <a:srgbClr val="0000FF"/>
                  </a:solidFill>
                </a:rPr>
                <a:t> </a:t>
              </a:r>
            </a:p>
          </p:txBody>
        </p:sp>
        <p:grpSp>
          <p:nvGrpSpPr>
            <p:cNvPr id="1232" name="Shape 1232"/>
            <p:cNvGrpSpPr/>
            <p:nvPr/>
          </p:nvGrpSpPr>
          <p:grpSpPr>
            <a:xfrm>
              <a:off x="220675" y="4589174"/>
              <a:ext cx="4416600" cy="1730962"/>
              <a:chOff x="220675" y="4589174"/>
              <a:chExt cx="4416600" cy="1730962"/>
            </a:xfrm>
          </p:grpSpPr>
          <p:cxnSp>
            <p:nvCxnSpPr>
              <p:cNvPr id="1233" name="Shape 1233"/>
              <p:cNvCxnSpPr>
                <a:stCxn id="1234" idx="0"/>
                <a:endCxn id="1234" idx="4"/>
              </p:cNvCxnSpPr>
              <p:nvPr/>
            </p:nvCxnSpPr>
            <p:spPr>
              <a:xfrm>
                <a:off x="2809449" y="4589175"/>
                <a:ext cx="0" cy="1018200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sp>
            <p:nvSpPr>
              <p:cNvPr id="1235" name="Shape 1235"/>
              <p:cNvSpPr txBox="1"/>
              <p:nvPr/>
            </p:nvSpPr>
            <p:spPr>
              <a:xfrm>
                <a:off x="220675" y="5081250"/>
                <a:ext cx="806700" cy="475199"/>
              </a:xfrm>
              <a:prstGeom prst="rect">
                <a:avLst/>
              </a:prstGeom>
              <a:noFill/>
              <a:ln w="9525" cap="flat">
                <a:solidFill>
                  <a:srgbClr val="FF0000"/>
                </a:solidFill>
                <a:prstDash val="dot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t" anchorCtr="0">
                <a:noAutofit/>
              </a:bodyPr>
              <a:lstStyle/>
              <a:p>
                <a:pPr lvl="0" algn="ctr" rtl="0">
                  <a:spcBef>
                    <a:spcPts val="0"/>
                  </a:spcBef>
                  <a:buNone/>
                </a:pPr>
                <a:r>
                  <a:rPr lang="zh-TW" sz="1000">
                    <a:solidFill>
                      <a:srgbClr val="FF0000"/>
                    </a:solidFill>
                  </a:rPr>
                  <a:t>Critical Instruction</a:t>
                </a:r>
              </a:p>
            </p:txBody>
          </p:sp>
          <p:sp>
            <p:nvSpPr>
              <p:cNvPr id="1234" name="Shape 1234"/>
              <p:cNvSpPr/>
              <p:nvPr/>
            </p:nvSpPr>
            <p:spPr>
              <a:xfrm>
                <a:off x="1128850" y="4589175"/>
                <a:ext cx="3361199" cy="1018199"/>
              </a:xfrm>
              <a:prstGeom prst="ellipse">
                <a:avLst/>
              </a:prstGeom>
              <a:solidFill>
                <a:schemeClr val="lt2"/>
              </a:solidFill>
              <a:ln w="19050" cap="flat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>
                  <a:spcBef>
                    <a:spcPts val="0"/>
                  </a:spcBef>
                  <a:buNone/>
                </a:pPr>
                <a:endParaRPr/>
              </a:p>
            </p:txBody>
          </p:sp>
          <p:sp>
            <p:nvSpPr>
              <p:cNvPr id="1236" name="Shape 1236"/>
              <p:cNvSpPr txBox="1"/>
              <p:nvPr/>
            </p:nvSpPr>
            <p:spPr>
              <a:xfrm>
                <a:off x="220675" y="5632837"/>
                <a:ext cx="4416600" cy="68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91425" rIns="91425" bIns="91425" anchor="t" anchorCtr="0">
                <a:noAutofit/>
              </a:bodyPr>
              <a:lstStyle/>
              <a:p>
                <a:pPr marL="457200" lvl="0" indent="-292100" rtl="0">
                  <a:lnSpc>
                    <a:spcPct val="115000"/>
                  </a:lnSpc>
                  <a:spcBef>
                    <a:spcPts val="0"/>
                  </a:spcBef>
                  <a:buClr>
                    <a:srgbClr val="000000"/>
                  </a:buClr>
                  <a:buSzPct val="100000"/>
                  <a:buFont typeface="Arial"/>
                  <a:buChar char="●"/>
                </a:pPr>
                <a:r>
                  <a:rPr lang="zh-TW" sz="1000"/>
                  <a:t>Privileged instruction: </a:t>
                </a:r>
                <a:r>
                  <a:rPr lang="zh-TW" sz="1000">
                    <a:solidFill>
                      <a:schemeClr val="dk1"/>
                    </a:solidFill>
                  </a:rPr>
                  <a:t>cause trap if executed in unprivileged mode</a:t>
                </a:r>
              </a:p>
              <a:p>
                <a:pPr marL="457200" lvl="0" indent="-292100" rtl="0">
                  <a:lnSpc>
                    <a:spcPct val="115000"/>
                  </a:lnSpc>
                  <a:spcBef>
                    <a:spcPts val="0"/>
                  </a:spcBef>
                  <a:buClr>
                    <a:schemeClr val="dk1"/>
                  </a:buClr>
                  <a:buSzPct val="100000"/>
                  <a:buFont typeface="Arial"/>
                  <a:buChar char="●"/>
                </a:pPr>
                <a:r>
                  <a:rPr lang="zh-TW" sz="1000">
                    <a:solidFill>
                      <a:schemeClr val="dk1"/>
                    </a:solidFill>
                  </a:rPr>
                  <a:t>Sensitive instruction: interact with system resource</a:t>
                </a:r>
              </a:p>
              <a:p>
                <a:pPr marL="457200" lvl="0" indent="-292100" rtl="0">
                  <a:lnSpc>
                    <a:spcPct val="115000"/>
                  </a:lnSpc>
                  <a:spcBef>
                    <a:spcPts val="0"/>
                  </a:spcBef>
                  <a:buClr>
                    <a:schemeClr val="dk1"/>
                  </a:buClr>
                  <a:buSzPct val="100000"/>
                  <a:buFont typeface="Arial"/>
                  <a:buChar char="●"/>
                </a:pPr>
                <a:r>
                  <a:rPr lang="zh-TW" sz="1000">
                    <a:solidFill>
                      <a:schemeClr val="dk1"/>
                    </a:solidFill>
                  </a:rPr>
                  <a:t>Critical instruction: sensitive but non-privileged instruction</a:t>
                </a:r>
              </a:p>
              <a:p>
                <a:pPr lvl="0" rtl="0">
                  <a:lnSpc>
                    <a:spcPct val="115000"/>
                  </a:lnSpc>
                  <a:spcBef>
                    <a:spcPts val="0"/>
                  </a:spcBef>
                  <a:buNone/>
                </a:pPr>
                <a:endParaRPr sz="1000">
                  <a:solidFill>
                    <a:schemeClr val="dk1"/>
                  </a:solidFill>
                </a:endParaRPr>
              </a:p>
              <a:p>
                <a:pPr lvl="0" rtl="0">
                  <a:spcBef>
                    <a:spcPts val="0"/>
                  </a:spcBef>
                  <a:buNone/>
                </a:pPr>
                <a:endParaRPr sz="1000"/>
              </a:p>
            </p:txBody>
          </p:sp>
          <p:cxnSp>
            <p:nvCxnSpPr>
              <p:cNvPr id="1237" name="Shape 1237"/>
              <p:cNvCxnSpPr>
                <a:stCxn id="1235" idx="3"/>
                <a:endCxn id="1238" idx="1"/>
              </p:cNvCxnSpPr>
              <p:nvPr/>
            </p:nvCxnSpPr>
            <p:spPr>
              <a:xfrm rot="10800000" flipH="1">
                <a:off x="1027375" y="5310149"/>
                <a:ext cx="975600" cy="8700"/>
              </a:xfrm>
              <a:prstGeom prst="straightConnector1">
                <a:avLst/>
              </a:prstGeom>
              <a:noFill/>
              <a:ln w="9525" cap="flat">
                <a:solidFill>
                  <a:srgbClr val="FF0000"/>
                </a:solidFill>
                <a:prstDash val="dot"/>
                <a:round/>
                <a:headEnd type="none" w="lg" len="lg"/>
                <a:tailEnd type="triangle" w="lg" len="lg"/>
              </a:ln>
            </p:spPr>
          </p:cxnSp>
          <p:sp>
            <p:nvSpPr>
              <p:cNvPr id="1239" name="Shape 1239"/>
              <p:cNvSpPr txBox="1"/>
              <p:nvPr/>
            </p:nvSpPr>
            <p:spPr>
              <a:xfrm>
                <a:off x="2809450" y="4749150"/>
                <a:ext cx="1680599" cy="56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91425" rIns="91425" bIns="91425" anchor="t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r>
                  <a:rPr lang="zh-TW" sz="1000"/>
                  <a:t>Privileged Instruction</a:t>
                </a:r>
              </a:p>
            </p:txBody>
          </p:sp>
          <p:sp>
            <p:nvSpPr>
              <p:cNvPr id="1240" name="Shape 1240"/>
              <p:cNvSpPr/>
              <p:nvPr/>
            </p:nvSpPr>
            <p:spPr>
              <a:xfrm>
                <a:off x="2002900" y="5140500"/>
                <a:ext cx="1680599" cy="305400"/>
              </a:xfrm>
              <a:prstGeom prst="rect">
                <a:avLst/>
              </a:prstGeom>
              <a:solidFill>
                <a:srgbClr val="93C47D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algn="ctr" rtl="0">
                  <a:spcBef>
                    <a:spcPts val="0"/>
                  </a:spcBef>
                  <a:buNone/>
                </a:pPr>
                <a:r>
                  <a:rPr lang="zh-TW" sz="1000"/>
                  <a:t>Sensitive Instruction</a:t>
                </a:r>
              </a:p>
            </p:txBody>
          </p:sp>
          <p:sp>
            <p:nvSpPr>
              <p:cNvPr id="1238" name="Shape 1238"/>
              <p:cNvSpPr txBox="1"/>
              <p:nvPr/>
            </p:nvSpPr>
            <p:spPr>
              <a:xfrm>
                <a:off x="2002900" y="5157475"/>
                <a:ext cx="806700" cy="305400"/>
              </a:xfrm>
              <a:prstGeom prst="rect">
                <a:avLst/>
              </a:prstGeom>
              <a:noFill/>
              <a:ln w="19050" cap="flat">
                <a:solidFill>
                  <a:srgbClr val="FF0000"/>
                </a:solidFill>
                <a:prstDash val="dot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t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endParaRPr/>
              </a:p>
            </p:txBody>
          </p:sp>
          <p:sp>
            <p:nvSpPr>
              <p:cNvPr id="1241" name="Shape 1241"/>
              <p:cNvSpPr txBox="1"/>
              <p:nvPr/>
            </p:nvSpPr>
            <p:spPr>
              <a:xfrm>
                <a:off x="1377350" y="4749150"/>
                <a:ext cx="1476900" cy="56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91425" rIns="91425" bIns="91425" anchor="t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r>
                  <a:rPr lang="zh-TW" sz="1000"/>
                  <a:t>Non-privileged Instruction</a:t>
                </a:r>
              </a:p>
            </p:txBody>
          </p:sp>
          <p:cxnSp>
            <p:nvCxnSpPr>
              <p:cNvPr id="1242" name="Shape 1242"/>
              <p:cNvCxnSpPr>
                <a:stCxn id="1234" idx="4"/>
                <a:endCxn id="1234" idx="0"/>
              </p:cNvCxnSpPr>
              <p:nvPr/>
            </p:nvCxnSpPr>
            <p:spPr>
              <a:xfrm rot="10800000">
                <a:off x="2809449" y="4589174"/>
                <a:ext cx="0" cy="1018200"/>
              </a:xfrm>
              <a:prstGeom prst="straightConnector1">
                <a:avLst/>
              </a:prstGeom>
              <a:noFill/>
              <a:ln w="19050" cap="flat">
                <a:solidFill>
                  <a:schemeClr val="dk2"/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</p:grpSp>
      </p:grp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1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1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Shape 124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zh-TW"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Virtualization</a:t>
            </a:r>
          </a:p>
        </p:txBody>
      </p:sp>
      <p:sp>
        <p:nvSpPr>
          <p:cNvPr id="1248" name="Shape 1248"/>
          <p:cNvSpPr/>
          <p:nvPr/>
        </p:nvSpPr>
        <p:spPr>
          <a:xfrm>
            <a:off x="81300" y="6079125"/>
            <a:ext cx="8912100" cy="465300"/>
          </a:xfrm>
          <a:prstGeom prst="rect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sz="18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 Memory</a:t>
            </a:r>
          </a:p>
        </p:txBody>
      </p:sp>
      <p:sp>
        <p:nvSpPr>
          <p:cNvPr id="1249" name="Shape 1249"/>
          <p:cNvSpPr/>
          <p:nvPr/>
        </p:nvSpPr>
        <p:spPr>
          <a:xfrm>
            <a:off x="2368523" y="1998550"/>
            <a:ext cx="1899599" cy="68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sz="12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Guest Virtual Address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sz="12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(G</a:t>
            </a:r>
            <a:r>
              <a:rPr lang="zh-TW" sz="1200"/>
              <a:t>V</a:t>
            </a:r>
            <a:r>
              <a:rPr lang="zh-TW" sz="12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A)</a:t>
            </a:r>
          </a:p>
        </p:txBody>
      </p:sp>
      <p:sp>
        <p:nvSpPr>
          <p:cNvPr id="1250" name="Shape 1250"/>
          <p:cNvSpPr/>
          <p:nvPr/>
        </p:nvSpPr>
        <p:spPr>
          <a:xfrm>
            <a:off x="2368398" y="4514975"/>
            <a:ext cx="1899599" cy="68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sz="12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 Physical Address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sz="12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(HPA)</a:t>
            </a:r>
          </a:p>
        </p:txBody>
      </p:sp>
      <p:sp>
        <p:nvSpPr>
          <p:cNvPr id="1251" name="Shape 1251"/>
          <p:cNvSpPr/>
          <p:nvPr/>
        </p:nvSpPr>
        <p:spPr>
          <a:xfrm>
            <a:off x="2368400" y="3256775"/>
            <a:ext cx="1899599" cy="68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sz="12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Guest Physical Address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sz="12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(GPA)</a:t>
            </a:r>
          </a:p>
        </p:txBody>
      </p:sp>
      <p:sp>
        <p:nvSpPr>
          <p:cNvPr id="1252" name="Shape 1252"/>
          <p:cNvSpPr/>
          <p:nvPr/>
        </p:nvSpPr>
        <p:spPr>
          <a:xfrm>
            <a:off x="4486487" y="2849175"/>
            <a:ext cx="1016699" cy="1044300"/>
          </a:xfrm>
          <a:prstGeom prst="rect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sz="12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Guest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sz="12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</a:t>
            </a:r>
          </a:p>
        </p:txBody>
      </p:sp>
      <p:sp>
        <p:nvSpPr>
          <p:cNvPr id="1253" name="Shape 1253"/>
          <p:cNvSpPr/>
          <p:nvPr/>
        </p:nvSpPr>
        <p:spPr>
          <a:xfrm>
            <a:off x="4510187" y="4514975"/>
            <a:ext cx="993000" cy="684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20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sz="120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Hypervisor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20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Shape 1254"/>
          <p:cNvSpPr/>
          <p:nvPr/>
        </p:nvSpPr>
        <p:spPr>
          <a:xfrm>
            <a:off x="4486487" y="2000475"/>
            <a:ext cx="1016699" cy="848700"/>
          </a:xfrm>
          <a:prstGeom prst="rect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sz="12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Guest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sz="12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</a:t>
            </a:r>
          </a:p>
        </p:txBody>
      </p:sp>
      <p:cxnSp>
        <p:nvCxnSpPr>
          <p:cNvPr id="1255" name="Shape 1255"/>
          <p:cNvCxnSpPr>
            <a:stCxn id="1250" idx="2"/>
          </p:cNvCxnSpPr>
          <p:nvPr/>
        </p:nvCxnSpPr>
        <p:spPr>
          <a:xfrm flipH="1">
            <a:off x="3309498" y="5199275"/>
            <a:ext cx="8700" cy="8922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triangle" w="lg" len="lg"/>
          </a:ln>
        </p:spPr>
      </p:cxnSp>
      <p:grpSp>
        <p:nvGrpSpPr>
          <p:cNvPr id="1256" name="Shape 1256"/>
          <p:cNvGrpSpPr/>
          <p:nvPr/>
        </p:nvGrpSpPr>
        <p:grpSpPr>
          <a:xfrm>
            <a:off x="203700" y="2340700"/>
            <a:ext cx="2273100" cy="2516400"/>
            <a:chOff x="203700" y="2340700"/>
            <a:chExt cx="2273100" cy="2516400"/>
          </a:xfrm>
        </p:grpSpPr>
        <p:cxnSp>
          <p:nvCxnSpPr>
            <p:cNvPr id="1257" name="Shape 1257"/>
            <p:cNvCxnSpPr>
              <a:stCxn id="1249" idx="1"/>
              <a:endCxn id="1250" idx="1"/>
            </p:cNvCxnSpPr>
            <p:nvPr/>
          </p:nvCxnSpPr>
          <p:spPr>
            <a:xfrm>
              <a:off x="2368523" y="2340700"/>
              <a:ext cx="600" cy="2516400"/>
            </a:xfrm>
            <a:prstGeom prst="bentConnector3">
              <a:avLst>
                <a:gd name="adj1" fmla="val -171245638"/>
              </a:avLst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1258" name="Shape 1258"/>
            <p:cNvSpPr txBox="1"/>
            <p:nvPr/>
          </p:nvSpPr>
          <p:spPr>
            <a:xfrm>
              <a:off x="203700" y="3086850"/>
              <a:ext cx="2273100" cy="6843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Arial"/>
                <a:buNone/>
              </a:pPr>
              <a:r>
                <a:rPr lang="zh-TW" sz="1200" b="1">
                  <a:solidFill>
                    <a:srgbClr val="FF0000"/>
                  </a:solidFill>
                </a:rPr>
                <a:t>Shadow </a:t>
              </a:r>
              <a:r>
                <a:rPr lang="zh-TW" sz="1200" b="1" i="0" u="none" strike="noStrike" cap="none" baseline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Page Table 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Arial"/>
                <a:buNone/>
              </a:pPr>
              <a:r>
                <a:rPr lang="zh-TW" sz="1200" b="1" i="0" u="none" strike="noStrike" cap="none" baseline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lang="zh-TW" sz="1200" b="1">
                  <a:solidFill>
                    <a:srgbClr val="FF0000"/>
                  </a:solidFill>
                </a:rPr>
                <a:t>M</a:t>
              </a:r>
              <a:r>
                <a:rPr lang="zh-TW" sz="1200" b="1" i="0" u="none" strike="noStrike" cap="none" baseline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aintained by </a:t>
              </a:r>
              <a:r>
                <a:rPr lang="zh-TW" sz="1200" b="1">
                  <a:solidFill>
                    <a:srgbClr val="FF0000"/>
                  </a:solidFill>
                </a:rPr>
                <a:t>Hypervisor</a:t>
              </a:r>
              <a:r>
                <a:rPr lang="zh-TW" sz="1200" b="1" i="0" u="none" strike="noStrike" cap="none" baseline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</a:p>
          </p:txBody>
        </p:sp>
      </p:grpSp>
      <p:grpSp>
        <p:nvGrpSpPr>
          <p:cNvPr id="1259" name="Shape 1259"/>
          <p:cNvGrpSpPr/>
          <p:nvPr/>
        </p:nvGrpSpPr>
        <p:grpSpPr>
          <a:xfrm>
            <a:off x="5593300" y="1417617"/>
            <a:ext cx="3488560" cy="4673857"/>
            <a:chOff x="5593300" y="1417617"/>
            <a:chExt cx="3488560" cy="4673857"/>
          </a:xfrm>
        </p:grpSpPr>
        <p:sp>
          <p:nvSpPr>
            <p:cNvPr id="1260" name="Shape 1260"/>
            <p:cNvSpPr/>
            <p:nvPr/>
          </p:nvSpPr>
          <p:spPr>
            <a:xfrm>
              <a:off x="7952900" y="2849175"/>
              <a:ext cx="1016699" cy="1044300"/>
            </a:xfrm>
            <a:prstGeom prst="rect">
              <a:avLst/>
            </a:prstGeom>
            <a:solidFill>
              <a:schemeClr val="lt2"/>
            </a:solidFill>
            <a:ln w="19050" cap="flat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</a:pPr>
              <a:r>
                <a:rPr lang="zh-TW" sz="12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Guest 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</a:pPr>
              <a:r>
                <a:rPr lang="zh-TW" sz="12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OS</a:t>
              </a:r>
            </a:p>
          </p:txBody>
        </p:sp>
        <p:sp>
          <p:nvSpPr>
            <p:cNvPr id="1261" name="Shape 1261"/>
            <p:cNvSpPr/>
            <p:nvPr/>
          </p:nvSpPr>
          <p:spPr>
            <a:xfrm>
              <a:off x="7976600" y="4514975"/>
              <a:ext cx="993000" cy="6843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19050" cap="flat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20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</a:pPr>
              <a:r>
                <a:rPr lang="zh-TW" sz="120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Hypervisor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20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Shape 1262"/>
            <p:cNvSpPr/>
            <p:nvPr/>
          </p:nvSpPr>
          <p:spPr>
            <a:xfrm>
              <a:off x="7952900" y="2000475"/>
              <a:ext cx="1016699" cy="848700"/>
            </a:xfrm>
            <a:prstGeom prst="rect">
              <a:avLst/>
            </a:prstGeom>
            <a:solidFill>
              <a:schemeClr val="lt2"/>
            </a:solidFill>
            <a:ln w="19050" cap="flat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</a:pPr>
              <a:r>
                <a:rPr lang="zh-TW" sz="12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Guest 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</a:pPr>
              <a:r>
                <a:rPr lang="zh-TW" sz="12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APP</a:t>
              </a:r>
            </a:p>
          </p:txBody>
        </p:sp>
        <p:sp>
          <p:nvSpPr>
            <p:cNvPr id="1263" name="Shape 1263"/>
            <p:cNvSpPr/>
            <p:nvPr/>
          </p:nvSpPr>
          <p:spPr>
            <a:xfrm>
              <a:off x="5829623" y="1998550"/>
              <a:ext cx="1899599" cy="684300"/>
            </a:xfrm>
            <a:prstGeom prst="rect">
              <a:avLst/>
            </a:prstGeom>
            <a:solidFill>
              <a:srgbClr val="6D9EEB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</a:pPr>
              <a:r>
                <a:rPr lang="zh-TW" sz="12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Guest Virtual Address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</a:pPr>
              <a:r>
                <a:rPr lang="zh-TW" sz="12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(G</a:t>
              </a:r>
              <a:r>
                <a:rPr lang="zh-TW" sz="1200"/>
                <a:t>V</a:t>
              </a:r>
              <a:r>
                <a:rPr lang="zh-TW" sz="12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A)</a:t>
              </a:r>
            </a:p>
          </p:txBody>
        </p:sp>
        <p:sp>
          <p:nvSpPr>
            <p:cNvPr id="1264" name="Shape 1264"/>
            <p:cNvSpPr/>
            <p:nvPr/>
          </p:nvSpPr>
          <p:spPr>
            <a:xfrm>
              <a:off x="5829498" y="4514975"/>
              <a:ext cx="1899599" cy="684300"/>
            </a:xfrm>
            <a:prstGeom prst="rect">
              <a:avLst/>
            </a:prstGeom>
            <a:solidFill>
              <a:srgbClr val="6D9EEB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</a:pPr>
              <a:r>
                <a:rPr lang="zh-TW" sz="12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Host Physical Address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</a:pPr>
              <a:r>
                <a:rPr lang="zh-TW" sz="12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(HPA)</a:t>
              </a:r>
            </a:p>
          </p:txBody>
        </p:sp>
        <p:sp>
          <p:nvSpPr>
            <p:cNvPr id="1265" name="Shape 1265"/>
            <p:cNvSpPr/>
            <p:nvPr/>
          </p:nvSpPr>
          <p:spPr>
            <a:xfrm>
              <a:off x="5829500" y="3256775"/>
              <a:ext cx="1899599" cy="684300"/>
            </a:xfrm>
            <a:prstGeom prst="rect">
              <a:avLst/>
            </a:prstGeom>
            <a:solidFill>
              <a:srgbClr val="6D9EEB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</a:pPr>
              <a:r>
                <a:rPr lang="zh-TW" sz="12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Guest Physical Address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</a:pPr>
              <a:r>
                <a:rPr lang="zh-TW" sz="12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(GPA)</a:t>
              </a:r>
            </a:p>
          </p:txBody>
        </p:sp>
        <p:cxnSp>
          <p:nvCxnSpPr>
            <p:cNvPr id="1266" name="Shape 1266"/>
            <p:cNvCxnSpPr>
              <a:stCxn id="1263" idx="2"/>
              <a:endCxn id="1265" idx="0"/>
            </p:cNvCxnSpPr>
            <p:nvPr/>
          </p:nvCxnSpPr>
          <p:spPr>
            <a:xfrm>
              <a:off x="6779423" y="2682850"/>
              <a:ext cx="0" cy="57390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cxnSp>
          <p:nvCxnSpPr>
            <p:cNvPr id="1267" name="Shape 1267"/>
            <p:cNvCxnSpPr>
              <a:stCxn id="1265" idx="2"/>
              <a:endCxn id="1264" idx="0"/>
            </p:cNvCxnSpPr>
            <p:nvPr/>
          </p:nvCxnSpPr>
          <p:spPr>
            <a:xfrm>
              <a:off x="6779299" y="3941075"/>
              <a:ext cx="0" cy="57390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sp>
          <p:nvSpPr>
            <p:cNvPr id="1268" name="Shape 1268"/>
            <p:cNvSpPr txBox="1"/>
            <p:nvPr/>
          </p:nvSpPr>
          <p:spPr>
            <a:xfrm>
              <a:off x="5829525" y="2680525"/>
              <a:ext cx="1899599" cy="23339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Arial"/>
                <a:buNone/>
              </a:pPr>
              <a:r>
                <a:rPr lang="zh-TW" sz="1200" b="1" i="0" u="none" strike="noStrike" cap="none" baseline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Page Table 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Arial"/>
                <a:buNone/>
              </a:pPr>
              <a:r>
                <a:rPr lang="zh-TW" sz="1200" b="1" i="0" u="none" strike="noStrike" cap="none" baseline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lang="zh-TW" sz="1200" b="1">
                  <a:solidFill>
                    <a:srgbClr val="FF0000"/>
                  </a:solidFill>
                </a:rPr>
                <a:t>M</a:t>
              </a:r>
              <a:r>
                <a:rPr lang="zh-TW" sz="1200" b="1" i="0" u="none" strike="noStrike" cap="none" baseline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aintained by GOS)</a:t>
              </a:r>
            </a:p>
          </p:txBody>
        </p:sp>
        <p:sp>
          <p:nvSpPr>
            <p:cNvPr id="1269" name="Shape 1269"/>
            <p:cNvSpPr txBox="1"/>
            <p:nvPr/>
          </p:nvSpPr>
          <p:spPr>
            <a:xfrm>
              <a:off x="5593300" y="3967250"/>
              <a:ext cx="2313299" cy="23339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Arial"/>
                <a:buNone/>
              </a:pPr>
              <a:r>
                <a:rPr lang="zh-TW" sz="1200" b="1" i="0" u="none" strike="noStrike" cap="none" baseline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Page Table 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Arial"/>
                <a:buNone/>
              </a:pPr>
              <a:r>
                <a:rPr lang="zh-TW" sz="1200" b="1" i="0" u="none" strike="noStrike" cap="none" baseline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lang="zh-TW" sz="1200" b="1">
                  <a:solidFill>
                    <a:srgbClr val="FF0000"/>
                  </a:solidFill>
                </a:rPr>
                <a:t>M</a:t>
              </a:r>
              <a:r>
                <a:rPr lang="zh-TW" sz="1200" b="1" i="0" u="none" strike="noStrike" cap="none" baseline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aintained by Hypervisor)</a:t>
              </a:r>
            </a:p>
          </p:txBody>
        </p:sp>
        <p:cxnSp>
          <p:nvCxnSpPr>
            <p:cNvPr id="1270" name="Shape 1270"/>
            <p:cNvCxnSpPr>
              <a:stCxn id="1264" idx="2"/>
            </p:cNvCxnSpPr>
            <p:nvPr/>
          </p:nvCxnSpPr>
          <p:spPr>
            <a:xfrm flipH="1">
              <a:off x="6770598" y="5199275"/>
              <a:ext cx="8700" cy="89220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sp>
          <p:nvSpPr>
            <p:cNvPr id="1271" name="Shape 1271"/>
            <p:cNvSpPr txBox="1"/>
            <p:nvPr/>
          </p:nvSpPr>
          <p:spPr>
            <a:xfrm>
              <a:off x="5896160" y="1417617"/>
              <a:ext cx="3185700" cy="36929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SzPct val="25000"/>
                <a:buNone/>
              </a:pPr>
              <a:r>
                <a:rPr lang="zh-TW" sz="1800" b="0" i="0" u="none" strike="noStrike" cap="none" baseline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With Virtualization Extension</a:t>
              </a:r>
            </a:p>
          </p:txBody>
        </p:sp>
      </p:grpSp>
      <p:sp>
        <p:nvSpPr>
          <p:cNvPr id="1272" name="Shape 1272"/>
          <p:cNvSpPr txBox="1"/>
          <p:nvPr/>
        </p:nvSpPr>
        <p:spPr>
          <a:xfrm>
            <a:off x="1587173" y="1417625"/>
            <a:ext cx="3497099" cy="3692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zh-TW" sz="1800" b="0" i="0" u="none" strike="noStrike" cap="none" baseline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</a:t>
            </a:r>
            <a:r>
              <a:rPr lang="zh-TW" sz="1800">
                <a:latin typeface="Calibri"/>
                <a:ea typeface="Calibri"/>
                <a:cs typeface="Calibri"/>
                <a:sym typeface="Calibri"/>
              </a:rPr>
              <a:t>out</a:t>
            </a:r>
            <a:r>
              <a:rPr lang="zh-TW" sz="1800" b="0" i="0" u="none" strike="noStrike" cap="none" baseline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Virtualization Extension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1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Shape 127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I/O Virtualization</a:t>
            </a:r>
          </a:p>
        </p:txBody>
      </p:sp>
      <p:sp>
        <p:nvSpPr>
          <p:cNvPr id="1278" name="Shape 127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Four technique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Full virtualization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Virtio</a:t>
            </a:r>
          </a:p>
          <a:p>
            <a:pPr lvl="0" rtl="0">
              <a:spcBef>
                <a:spcPts val="0"/>
              </a:spcBef>
              <a:buNone/>
            </a:pPr>
            <a:endParaRPr/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Directed I/O (also called device pass-through)</a:t>
            </a:r>
          </a:p>
          <a:p>
            <a:pPr marL="914400" lvl="1" indent="-381000" rtl="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SRIOV (Single-Root I/O Virtualization)</a:t>
            </a:r>
          </a:p>
          <a:p>
            <a:pPr marL="1371600" lvl="2" indent="-381000">
              <a:spcBef>
                <a:spcPts val="0"/>
              </a:spcBef>
              <a:buClr>
                <a:schemeClr val="dk1"/>
              </a:buClr>
              <a:buSzPct val="80000"/>
              <a:buFont typeface="Wingdings"/>
              <a:buChar char="§"/>
            </a:pPr>
            <a:r>
              <a:rPr lang="zh-TW"/>
              <a:t>Above two is useful only when I/O virtualization extension support</a:t>
            </a:r>
          </a:p>
        </p:txBody>
      </p:sp>
    </p:spTree>
  </p:cSld>
  <p:clrMapOvr>
    <a:masterClrMapping/>
  </p:clrMapOvr>
  <p:transition spd="slow">
    <p:cut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Shape 128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zh-TW" sz="3600" b="1">
                <a:solidFill>
                  <a:schemeClr val="dk1"/>
                </a:solidFill>
              </a:rPr>
              <a:t>Full Virtualization</a:t>
            </a:r>
          </a:p>
        </p:txBody>
      </p:sp>
      <p:grpSp>
        <p:nvGrpSpPr>
          <p:cNvPr id="1284" name="Shape 1284"/>
          <p:cNvGrpSpPr/>
          <p:nvPr/>
        </p:nvGrpSpPr>
        <p:grpSpPr>
          <a:xfrm>
            <a:off x="4200975" y="1762781"/>
            <a:ext cx="3240300" cy="4147037"/>
            <a:chOff x="2723250" y="1762781"/>
            <a:chExt cx="3240300" cy="4147037"/>
          </a:xfrm>
        </p:grpSpPr>
        <p:sp>
          <p:nvSpPr>
            <p:cNvPr id="1285" name="Shape 1285"/>
            <p:cNvSpPr/>
            <p:nvPr/>
          </p:nvSpPr>
          <p:spPr>
            <a:xfrm>
              <a:off x="2723250" y="1762781"/>
              <a:ext cx="3240300" cy="11520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Arial"/>
                <a:buNone/>
              </a:pPr>
              <a:r>
                <a:rPr lang="zh-TW" sz="2800" b="0" i="0" u="none" strike="noStrike" cap="none" baseline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Guest OS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28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Shape 1286"/>
            <p:cNvSpPr/>
            <p:nvPr/>
          </p:nvSpPr>
          <p:spPr>
            <a:xfrm>
              <a:off x="3443330" y="2564900"/>
              <a:ext cx="1944300" cy="350100"/>
            </a:xfrm>
            <a:prstGeom prst="rect">
              <a:avLst/>
            </a:prstGeom>
            <a:solidFill>
              <a:srgbClr val="FABF8E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Arial"/>
                <a:buNone/>
              </a:pPr>
              <a:r>
                <a:rPr lang="zh-TW" sz="1800" b="0" i="0" u="none" strike="noStrike" cap="none" baseline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Guest Driver</a:t>
              </a:r>
            </a:p>
          </p:txBody>
        </p:sp>
        <p:sp>
          <p:nvSpPr>
            <p:cNvPr id="1287" name="Shape 1287"/>
            <p:cNvSpPr/>
            <p:nvPr/>
          </p:nvSpPr>
          <p:spPr>
            <a:xfrm>
              <a:off x="2723250" y="3573016"/>
              <a:ext cx="3240300" cy="12960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Arial"/>
                <a:buNone/>
              </a:pPr>
              <a:r>
                <a:rPr lang="zh-TW" sz="2200" b="0" i="0" u="none" strike="noStrike" cap="none" baseline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Hypervisor  </a:t>
              </a:r>
            </a:p>
          </p:txBody>
        </p:sp>
        <p:sp>
          <p:nvSpPr>
            <p:cNvPr id="1288" name="Shape 1288"/>
            <p:cNvSpPr/>
            <p:nvPr/>
          </p:nvSpPr>
          <p:spPr>
            <a:xfrm>
              <a:off x="3443330" y="3573016"/>
              <a:ext cx="1944300" cy="359999"/>
            </a:xfrm>
            <a:prstGeom prst="rect">
              <a:avLst/>
            </a:prstGeom>
            <a:solidFill>
              <a:srgbClr val="E36C09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Arial"/>
                <a:buNone/>
              </a:pPr>
              <a:r>
                <a:rPr lang="zh-TW" sz="1600" b="0" i="0" u="none" strike="noStrike" cap="none" baseline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Device Emulation</a:t>
              </a:r>
            </a:p>
          </p:txBody>
        </p:sp>
        <p:sp>
          <p:nvSpPr>
            <p:cNvPr id="1289" name="Shape 1289"/>
            <p:cNvSpPr/>
            <p:nvPr/>
          </p:nvSpPr>
          <p:spPr>
            <a:xfrm>
              <a:off x="3227306" y="4591162"/>
              <a:ext cx="2448300" cy="27809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Arial"/>
                <a:buNone/>
              </a:pPr>
              <a:r>
                <a:rPr lang="zh-TW" sz="1600" b="0" i="0" u="none" strike="noStrike" cap="none" baseline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Physical Device Driver</a:t>
              </a:r>
            </a:p>
          </p:txBody>
        </p:sp>
        <p:sp>
          <p:nvSpPr>
            <p:cNvPr id="1290" name="Shape 1290"/>
            <p:cNvSpPr/>
            <p:nvPr/>
          </p:nvSpPr>
          <p:spPr>
            <a:xfrm>
              <a:off x="2723250" y="5405819"/>
              <a:ext cx="3240300" cy="50399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Arial"/>
                <a:buNone/>
              </a:pPr>
              <a:r>
                <a:rPr lang="zh-TW" sz="2200" b="0" i="0" u="none" strike="noStrike" cap="none" baseline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Physical Device</a:t>
              </a:r>
            </a:p>
          </p:txBody>
        </p:sp>
        <p:sp>
          <p:nvSpPr>
            <p:cNvPr id="1291" name="Shape 1291"/>
            <p:cNvSpPr/>
            <p:nvPr/>
          </p:nvSpPr>
          <p:spPr>
            <a:xfrm>
              <a:off x="4235417" y="2914908"/>
              <a:ext cx="215999" cy="658200"/>
            </a:xfrm>
            <a:prstGeom prst="upDownArrow">
              <a:avLst>
                <a:gd name="adj1" fmla="val 50000"/>
                <a:gd name="adj2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8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Shape 1292"/>
            <p:cNvSpPr/>
            <p:nvPr/>
          </p:nvSpPr>
          <p:spPr>
            <a:xfrm>
              <a:off x="4235417" y="3933055"/>
              <a:ext cx="215999" cy="658200"/>
            </a:xfrm>
            <a:prstGeom prst="upDownArrow">
              <a:avLst>
                <a:gd name="adj1" fmla="val 50000"/>
                <a:gd name="adj2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8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Shape 1293"/>
            <p:cNvSpPr/>
            <p:nvPr/>
          </p:nvSpPr>
          <p:spPr>
            <a:xfrm>
              <a:off x="4235417" y="4869160"/>
              <a:ext cx="215999" cy="536700"/>
            </a:xfrm>
            <a:prstGeom prst="upDownArrow">
              <a:avLst>
                <a:gd name="adj1" fmla="val 50000"/>
                <a:gd name="adj2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8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Shape 1294"/>
            <p:cNvSpPr txBox="1"/>
            <p:nvPr/>
          </p:nvSpPr>
          <p:spPr>
            <a:xfrm>
              <a:off x="4299025" y="2992650"/>
              <a:ext cx="854100" cy="3501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Arial"/>
                <a:buNone/>
              </a:pPr>
              <a:r>
                <a:rPr lang="zh-TW" sz="1800" b="1" i="0" u="none" strike="noStrike" cap="none" baseline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 Trap</a:t>
              </a:r>
            </a:p>
          </p:txBody>
        </p:sp>
      </p:grpSp>
      <p:grpSp>
        <p:nvGrpSpPr>
          <p:cNvPr id="1295" name="Shape 1295"/>
          <p:cNvGrpSpPr/>
          <p:nvPr/>
        </p:nvGrpSpPr>
        <p:grpSpPr>
          <a:xfrm>
            <a:off x="1702725" y="1610375"/>
            <a:ext cx="2583000" cy="2751000"/>
            <a:chOff x="72600" y="1610375"/>
            <a:chExt cx="2583000" cy="2751000"/>
          </a:xfrm>
        </p:grpSpPr>
        <p:sp>
          <p:nvSpPr>
            <p:cNvPr id="1296" name="Shape 1296"/>
            <p:cNvSpPr txBox="1"/>
            <p:nvPr/>
          </p:nvSpPr>
          <p:spPr>
            <a:xfrm>
              <a:off x="1196400" y="2033900"/>
              <a:ext cx="1459200" cy="141209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Calibri"/>
                <a:buNone/>
              </a:pPr>
              <a:r>
                <a:rPr lang="zh-TW" sz="1400" b="0" i="0" u="none" strike="noStrike" cap="none" baseline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out 0x1F3, 0x00   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Calibri"/>
                <a:buNone/>
              </a:pPr>
              <a:r>
                <a:rPr lang="zh-TW" sz="1400" b="0" i="0" u="none" strike="noStrike" cap="none" baseline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out 0x1F4, 0x00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Calibri"/>
                <a:buNone/>
              </a:pPr>
              <a:r>
                <a:rPr lang="zh-TW" sz="1400" b="0" i="0" u="none" strike="noStrike" cap="none" baseline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out 0x1F5, 0x03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Calibri"/>
                <a:buNone/>
              </a:pPr>
              <a:r>
                <a:rPr lang="zh-TW" sz="1400" b="0" i="0" u="none" strike="noStrike" cap="none" baseline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out 0x1F6, 0xE8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Calibri"/>
                <a:buNone/>
              </a:pPr>
              <a:r>
                <a:rPr lang="zh-TW" sz="1400" b="0" i="0" u="none" strike="noStrike" cap="none" baseline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out 0x1F2, 0x08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Calibri"/>
                <a:buNone/>
              </a:pPr>
              <a:r>
                <a:rPr lang="zh-TW" sz="1400" b="0" i="0" u="none" strike="noStrike" cap="none" baseline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out 0x1F7, 0x20</a:t>
              </a:r>
            </a:p>
          </p:txBody>
        </p:sp>
        <p:sp>
          <p:nvSpPr>
            <p:cNvPr id="1297" name="Shape 1297"/>
            <p:cNvSpPr/>
            <p:nvPr/>
          </p:nvSpPr>
          <p:spPr>
            <a:xfrm>
              <a:off x="1114644" y="2080675"/>
              <a:ext cx="363725" cy="959475"/>
            </a:xfrm>
            <a:custGeom>
              <a:avLst/>
              <a:gdLst/>
              <a:ahLst/>
              <a:cxnLst/>
              <a:rect l="0" t="0" r="0" b="0"/>
              <a:pathLst>
                <a:path w="14549" h="38379" extrusionOk="0">
                  <a:moveTo>
                    <a:pt x="10716" y="0"/>
                  </a:moveTo>
                  <a:cubicBezTo>
                    <a:pt x="7523" y="1196"/>
                    <a:pt x="2492" y="-255"/>
                    <a:pt x="860" y="2738"/>
                  </a:cubicBezTo>
                  <a:cubicBezTo>
                    <a:pt x="-975" y="6102"/>
                    <a:pt x="860" y="10403"/>
                    <a:pt x="860" y="14236"/>
                  </a:cubicBezTo>
                  <a:cubicBezTo>
                    <a:pt x="860" y="22086"/>
                    <a:pt x="313" y="29929"/>
                    <a:pt x="313" y="37780"/>
                  </a:cubicBezTo>
                  <a:cubicBezTo>
                    <a:pt x="313" y="39057"/>
                    <a:pt x="2867" y="37780"/>
                    <a:pt x="4145" y="37780"/>
                  </a:cubicBezTo>
                  <a:cubicBezTo>
                    <a:pt x="7617" y="37780"/>
                    <a:pt x="11076" y="37233"/>
                    <a:pt x="14549" y="37233"/>
                  </a:cubicBezTo>
                </a:path>
              </a:pathLst>
            </a:custGeom>
            <a:noFill/>
            <a:ln w="19050" cap="flat">
              <a:solidFill>
                <a:srgbClr val="E066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98" name="Shape 1298"/>
            <p:cNvSpPr txBox="1"/>
            <p:nvPr/>
          </p:nvSpPr>
          <p:spPr>
            <a:xfrm>
              <a:off x="205775" y="1610375"/>
              <a:ext cx="1272599" cy="6582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06666"/>
                </a:buClr>
                <a:buSzPct val="25000"/>
                <a:buFont typeface="Arial"/>
                <a:buNone/>
              </a:pPr>
              <a:r>
                <a:rPr lang="zh-TW" sz="1200" b="0" i="0" u="none" strike="noStrike" cap="none" baseline="0">
                  <a:solidFill>
                    <a:srgbClr val="E06666"/>
                  </a:solidFill>
                  <a:latin typeface="Arial"/>
                  <a:ea typeface="Arial"/>
                  <a:cs typeface="Arial"/>
                  <a:sym typeface="Arial"/>
                </a:rPr>
                <a:t>第1000(0x3E8)號邏輯磁區開始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200" b="0" i="0" u="none" strike="noStrike" cap="none" baseline="0">
                <a:solidFill>
                  <a:srgbClr val="E0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Shape 1299"/>
            <p:cNvSpPr/>
            <p:nvPr/>
          </p:nvSpPr>
          <p:spPr>
            <a:xfrm>
              <a:off x="1067725" y="3340025"/>
              <a:ext cx="191625" cy="492800"/>
            </a:xfrm>
            <a:custGeom>
              <a:avLst/>
              <a:gdLst/>
              <a:ahLst/>
              <a:cxnLst/>
              <a:rect l="0" t="0" r="0" b="0"/>
              <a:pathLst>
                <a:path w="7665" h="19712" extrusionOk="0">
                  <a:moveTo>
                    <a:pt x="7665" y="0"/>
                  </a:moveTo>
                  <a:cubicBezTo>
                    <a:pt x="5255" y="6625"/>
                    <a:pt x="2226" y="13023"/>
                    <a:pt x="0" y="19712"/>
                  </a:cubicBezTo>
                </a:path>
              </a:pathLst>
            </a:custGeom>
            <a:noFill/>
            <a:ln w="19050" cap="flat">
              <a:solidFill>
                <a:srgbClr val="E066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00" name="Shape 1300"/>
            <p:cNvSpPr txBox="1"/>
            <p:nvPr/>
          </p:nvSpPr>
          <p:spPr>
            <a:xfrm>
              <a:off x="358175" y="3703175"/>
              <a:ext cx="1272599" cy="6582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06666"/>
                </a:buClr>
                <a:buSzPct val="25000"/>
                <a:buFont typeface="Arial"/>
                <a:buNone/>
              </a:pPr>
              <a:r>
                <a:rPr lang="zh-TW" sz="1200" b="0" i="0" u="none" strike="noStrike" cap="none" baseline="0">
                  <a:solidFill>
                    <a:srgbClr val="E06666"/>
                  </a:solidFill>
                  <a:latin typeface="Arial"/>
                  <a:ea typeface="Arial"/>
                  <a:cs typeface="Arial"/>
                  <a:sym typeface="Arial"/>
                </a:rPr>
                <a:t>讀取command (0x2)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200" b="0" i="0" u="none" strike="noStrike" cap="none" baseline="0">
                <a:solidFill>
                  <a:srgbClr val="E0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Shape 1301"/>
            <p:cNvSpPr/>
            <p:nvPr/>
          </p:nvSpPr>
          <p:spPr>
            <a:xfrm>
              <a:off x="766575" y="3148375"/>
              <a:ext cx="506475" cy="123200"/>
            </a:xfrm>
            <a:custGeom>
              <a:avLst/>
              <a:gdLst/>
              <a:ahLst/>
              <a:cxnLst/>
              <a:rect l="0" t="0" r="0" b="0"/>
              <a:pathLst>
                <a:path w="20259" h="4928" extrusionOk="0">
                  <a:moveTo>
                    <a:pt x="20259" y="0"/>
                  </a:moveTo>
                  <a:cubicBezTo>
                    <a:pt x="13421" y="1243"/>
                    <a:pt x="6815" y="3565"/>
                    <a:pt x="0" y="4928"/>
                  </a:cubicBezTo>
                </a:path>
              </a:pathLst>
            </a:custGeom>
            <a:noFill/>
            <a:ln w="19050" cap="flat">
              <a:solidFill>
                <a:srgbClr val="E066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02" name="Shape 1302"/>
            <p:cNvSpPr txBox="1"/>
            <p:nvPr/>
          </p:nvSpPr>
          <p:spPr>
            <a:xfrm>
              <a:off x="72600" y="3099900"/>
              <a:ext cx="854100" cy="50399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06666"/>
                </a:buClr>
                <a:buSzPct val="25000"/>
                <a:buFont typeface="Arial"/>
                <a:buNone/>
              </a:pPr>
              <a:r>
                <a:rPr lang="zh-TW" sz="1200" b="0" i="0" u="none" strike="noStrike" cap="none" baseline="0">
                  <a:solidFill>
                    <a:srgbClr val="E06666"/>
                  </a:solidFill>
                  <a:latin typeface="Arial"/>
                  <a:ea typeface="Arial"/>
                  <a:cs typeface="Arial"/>
                  <a:sym typeface="Arial"/>
                </a:rPr>
                <a:t>8個磁區</a:t>
              </a:r>
            </a:p>
          </p:txBody>
        </p:sp>
      </p:grp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Shape 130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zh-TW"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Virtio </a:t>
            </a:r>
          </a:p>
        </p:txBody>
      </p:sp>
      <p:pic>
        <p:nvPicPr>
          <p:cNvPr id="1308" name="Shape 13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08" y="1484394"/>
            <a:ext cx="9036600" cy="5328899"/>
          </a:xfrm>
          <a:prstGeom prst="rect">
            <a:avLst/>
          </a:prstGeom>
          <a:noFill/>
          <a:ln>
            <a:noFill/>
          </a:ln>
        </p:spPr>
      </p:pic>
      <p:sp>
        <p:nvSpPr>
          <p:cNvPr id="1309" name="Shape 1309"/>
          <p:cNvSpPr txBox="1"/>
          <p:nvPr/>
        </p:nvSpPr>
        <p:spPr>
          <a:xfrm>
            <a:off x="5436096" y="6309319"/>
            <a:ext cx="3960299" cy="3692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libri"/>
              <a:buNone/>
            </a:pPr>
            <a:r>
              <a:rPr lang="zh-TW" sz="1800" b="0" i="0" u="none" strike="noStrike" cap="none" baseline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Access Virtio MMIO region, cause trap</a:t>
            </a:r>
          </a:p>
        </p:txBody>
      </p:sp>
      <p:cxnSp>
        <p:nvCxnSpPr>
          <p:cNvPr id="1310" name="Shape 1310"/>
          <p:cNvCxnSpPr>
            <a:endCxn id="1309" idx="0"/>
          </p:cNvCxnSpPr>
          <p:nvPr/>
        </p:nvCxnSpPr>
        <p:spPr>
          <a:xfrm>
            <a:off x="5867945" y="6309319"/>
            <a:ext cx="1548300" cy="0"/>
          </a:xfrm>
          <a:prstGeom prst="straightConnector1">
            <a:avLst/>
          </a:prstGeom>
          <a:noFill/>
          <a:ln w="25400" cap="flat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slow">
    <p:cut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Shape 131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zh-TW"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Virtio in KVM+Q</a:t>
            </a:r>
            <a:r>
              <a:rPr lang="zh-TW" sz="3600" b="1">
                <a:solidFill>
                  <a:schemeClr val="dk1"/>
                </a:solidFill>
              </a:rPr>
              <a:t>emu</a:t>
            </a:r>
            <a:r>
              <a:rPr lang="zh-TW"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316" name="Shape 1316"/>
          <p:cNvSpPr/>
          <p:nvPr/>
        </p:nvSpPr>
        <p:spPr>
          <a:xfrm>
            <a:off x="1117425" y="2036266"/>
            <a:ext cx="2740800" cy="1251899"/>
          </a:xfrm>
          <a:prstGeom prst="roundRect">
            <a:avLst>
              <a:gd name="adj" fmla="val 16667"/>
            </a:avLst>
          </a:prstGeom>
          <a:solidFill>
            <a:srgbClr val="9FC5E8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zh-TW" sz="2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Guest OS</a:t>
            </a:r>
          </a:p>
          <a:p>
            <a:pPr marL="0" marR="0" lvl="0" indent="0"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</a:pPr>
            <a:endParaRPr sz="2400" b="0" i="0" u="none" strike="noStrike" cap="none" baseline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Shape 1317"/>
          <p:cNvSpPr/>
          <p:nvPr/>
        </p:nvSpPr>
        <p:spPr>
          <a:xfrm>
            <a:off x="5156275" y="2036266"/>
            <a:ext cx="2740800" cy="1251899"/>
          </a:xfrm>
          <a:prstGeom prst="roundRect">
            <a:avLst>
              <a:gd name="adj" fmla="val 16667"/>
            </a:avLst>
          </a:prstGeom>
          <a:solidFill>
            <a:srgbClr val="9FC5E8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zh-TW" sz="2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QEMU </a:t>
            </a:r>
          </a:p>
          <a:p>
            <a:pPr marL="0" marR="0" lvl="0" indent="0"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Shape 1318"/>
          <p:cNvSpPr/>
          <p:nvPr/>
        </p:nvSpPr>
        <p:spPr>
          <a:xfrm>
            <a:off x="1117425" y="3997055"/>
            <a:ext cx="6779700" cy="1701299"/>
          </a:xfrm>
          <a:prstGeom prst="roundRect">
            <a:avLst>
              <a:gd name="adj" fmla="val 16667"/>
            </a:avLst>
          </a:prstGeom>
          <a:solidFill>
            <a:srgbClr val="9FC5E8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</a:pPr>
            <a:endParaRPr sz="1800" b="0" i="0" u="none" strike="noStrike" cap="none" baseline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</a:pPr>
            <a:endParaRPr sz="1800" b="0" i="0" u="none" strike="noStrike" cap="none" baseline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zh-TW" sz="24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 kernel</a:t>
            </a:r>
          </a:p>
        </p:txBody>
      </p:sp>
      <p:sp>
        <p:nvSpPr>
          <p:cNvPr id="1319" name="Shape 1319"/>
          <p:cNvSpPr/>
          <p:nvPr/>
        </p:nvSpPr>
        <p:spPr>
          <a:xfrm>
            <a:off x="1504050" y="2800333"/>
            <a:ext cx="1850400" cy="395999"/>
          </a:xfrm>
          <a:prstGeom prst="roundRect">
            <a:avLst>
              <a:gd name="adj" fmla="val 16667"/>
            </a:avLst>
          </a:prstGeom>
          <a:solidFill>
            <a:srgbClr val="E69138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zh-TW"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Front-end driver</a:t>
            </a:r>
          </a:p>
        </p:txBody>
      </p:sp>
      <p:sp>
        <p:nvSpPr>
          <p:cNvPr id="1320" name="Shape 1320"/>
          <p:cNvSpPr/>
          <p:nvPr/>
        </p:nvSpPr>
        <p:spPr>
          <a:xfrm>
            <a:off x="5601475" y="2800333"/>
            <a:ext cx="1850400" cy="395999"/>
          </a:xfrm>
          <a:prstGeom prst="roundRect">
            <a:avLst>
              <a:gd name="adj" fmla="val 16667"/>
            </a:avLst>
          </a:prstGeom>
          <a:solidFill>
            <a:srgbClr val="E69138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zh-TW"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Back-end driver</a:t>
            </a:r>
          </a:p>
        </p:txBody>
      </p:sp>
      <p:sp>
        <p:nvSpPr>
          <p:cNvPr id="1321" name="Shape 1321"/>
          <p:cNvSpPr/>
          <p:nvPr/>
        </p:nvSpPr>
        <p:spPr>
          <a:xfrm>
            <a:off x="1504050" y="4162632"/>
            <a:ext cx="4549800" cy="395999"/>
          </a:xfrm>
          <a:prstGeom prst="roundRect">
            <a:avLst>
              <a:gd name="adj" fmla="val 16667"/>
            </a:avLst>
          </a:prstGeom>
          <a:solidFill>
            <a:srgbClr val="E69138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zh-TW"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KVM</a:t>
            </a:r>
          </a:p>
        </p:txBody>
      </p:sp>
      <p:sp>
        <p:nvSpPr>
          <p:cNvPr id="1322" name="Shape 1322"/>
          <p:cNvSpPr/>
          <p:nvPr/>
        </p:nvSpPr>
        <p:spPr>
          <a:xfrm>
            <a:off x="5601475" y="5150925"/>
            <a:ext cx="2088299" cy="395999"/>
          </a:xfrm>
          <a:prstGeom prst="roundRect">
            <a:avLst>
              <a:gd name="adj" fmla="val 16667"/>
            </a:avLst>
          </a:prstGeom>
          <a:solidFill>
            <a:srgbClr val="E69138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r>
              <a:rPr lang="zh-TW" sz="1800" b="0" i="0" u="none" strike="noStrike" cap="none" baseline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 device driver</a:t>
            </a:r>
          </a:p>
        </p:txBody>
      </p:sp>
      <p:cxnSp>
        <p:nvCxnSpPr>
          <p:cNvPr id="1323" name="Shape 1323"/>
          <p:cNvCxnSpPr/>
          <p:nvPr/>
        </p:nvCxnSpPr>
        <p:spPr>
          <a:xfrm>
            <a:off x="2056375" y="3196166"/>
            <a:ext cx="6900" cy="984899"/>
          </a:xfrm>
          <a:prstGeom prst="straightConnector1">
            <a:avLst/>
          </a:prstGeom>
          <a:noFill/>
          <a:ln w="19050" cap="flat">
            <a:solidFill>
              <a:srgbClr val="434343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1324" name="Shape 1324"/>
          <p:cNvCxnSpPr/>
          <p:nvPr/>
        </p:nvCxnSpPr>
        <p:spPr>
          <a:xfrm rot="10800000">
            <a:off x="5957675" y="3205498"/>
            <a:ext cx="0" cy="948000"/>
          </a:xfrm>
          <a:prstGeom prst="straightConnector1">
            <a:avLst/>
          </a:prstGeom>
          <a:noFill/>
          <a:ln w="19050" cap="flat">
            <a:solidFill>
              <a:srgbClr val="434343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1325" name="Shape 1325"/>
          <p:cNvCxnSpPr/>
          <p:nvPr/>
        </p:nvCxnSpPr>
        <p:spPr>
          <a:xfrm>
            <a:off x="5709625" y="3205366"/>
            <a:ext cx="0" cy="975599"/>
          </a:xfrm>
          <a:prstGeom prst="straightConnector1">
            <a:avLst/>
          </a:prstGeom>
          <a:noFill/>
          <a:ln w="19050" cap="flat">
            <a:solidFill>
              <a:srgbClr val="434343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1326" name="Shape 1326"/>
          <p:cNvCxnSpPr/>
          <p:nvPr/>
        </p:nvCxnSpPr>
        <p:spPr>
          <a:xfrm rot="10800000">
            <a:off x="2368600" y="3196198"/>
            <a:ext cx="0" cy="957299"/>
          </a:xfrm>
          <a:prstGeom prst="straightConnector1">
            <a:avLst/>
          </a:prstGeom>
          <a:noFill/>
          <a:ln w="19050" cap="flat">
            <a:solidFill>
              <a:srgbClr val="434343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1327" name="Shape 1327"/>
          <p:cNvSpPr/>
          <p:nvPr/>
        </p:nvSpPr>
        <p:spPr>
          <a:xfrm>
            <a:off x="3351150" y="2843717"/>
            <a:ext cx="2250300" cy="351899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93C47D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Clr>
                <a:schemeClr val="lt1"/>
              </a:buClr>
              <a:buSzPct val="25000"/>
              <a:buFont typeface="Calibri"/>
              <a:buNone/>
            </a:pPr>
            <a:r>
              <a:rPr lang="zh-TW" sz="1000" b="0" i="0" u="none" strike="noStrike" cap="none" baseline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Share </a:t>
            </a:r>
            <a:r>
              <a:rPr lang="zh-TW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virtqueue</a:t>
            </a:r>
          </a:p>
        </p:txBody>
      </p:sp>
      <p:cxnSp>
        <p:nvCxnSpPr>
          <p:cNvPr id="1328" name="Shape 1328"/>
          <p:cNvCxnSpPr/>
          <p:nvPr/>
        </p:nvCxnSpPr>
        <p:spPr>
          <a:xfrm>
            <a:off x="7130825" y="3186932"/>
            <a:ext cx="5700" cy="1943100"/>
          </a:xfrm>
          <a:prstGeom prst="straightConnector1">
            <a:avLst/>
          </a:prstGeom>
          <a:noFill/>
          <a:ln w="19050" cap="flat">
            <a:solidFill>
              <a:srgbClr val="434343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1329" name="Shape 1329"/>
          <p:cNvSpPr/>
          <p:nvPr/>
        </p:nvSpPr>
        <p:spPr>
          <a:xfrm>
            <a:off x="5868925" y="6365625"/>
            <a:ext cx="1553399" cy="305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>
                <a:solidFill>
                  <a:srgbClr val="FFFFFF"/>
                </a:solidFill>
              </a:rPr>
              <a:t>Disk</a:t>
            </a:r>
          </a:p>
        </p:txBody>
      </p:sp>
      <p:cxnSp>
        <p:nvCxnSpPr>
          <p:cNvPr id="1330" name="Shape 1330"/>
          <p:cNvCxnSpPr>
            <a:stCxn id="1322" idx="2"/>
            <a:endCxn id="1329" idx="0"/>
          </p:cNvCxnSpPr>
          <p:nvPr/>
        </p:nvCxnSpPr>
        <p:spPr>
          <a:xfrm>
            <a:off x="6645624" y="5546924"/>
            <a:ext cx="0" cy="818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</p:spTree>
  </p:cSld>
  <p:clrMapOvr>
    <a:masterClrMapping/>
  </p:clrMapOvr>
  <p:transition spd="slow">
    <p:cut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Shape 133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zh-TW"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Device </a:t>
            </a:r>
            <a:r>
              <a:rPr lang="zh-TW" sz="3600" b="1">
                <a:solidFill>
                  <a:schemeClr val="dk1"/>
                </a:solidFill>
              </a:rPr>
              <a:t>Pass-through</a:t>
            </a:r>
          </a:p>
        </p:txBody>
      </p:sp>
      <p:pic>
        <p:nvPicPr>
          <p:cNvPr id="1336" name="Shape 13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450275"/>
            <a:ext cx="4258498" cy="3504298"/>
          </a:xfrm>
          <a:prstGeom prst="rect">
            <a:avLst/>
          </a:prstGeom>
          <a:noFill/>
          <a:ln>
            <a:noFill/>
          </a:ln>
        </p:spPr>
      </p:pic>
      <p:sp>
        <p:nvSpPr>
          <p:cNvPr id="1337" name="Shape 1337"/>
          <p:cNvSpPr txBox="1"/>
          <p:nvPr/>
        </p:nvSpPr>
        <p:spPr>
          <a:xfrm>
            <a:off x="50" y="5954625"/>
            <a:ext cx="4258498" cy="561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</a:pPr>
            <a:r>
              <a:rPr lang="zh-TW" sz="2000" b="1" i="0" u="none" strike="noStrike" cap="none" baseline="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Device Pass-Through</a:t>
            </a:r>
          </a:p>
        </p:txBody>
      </p:sp>
      <p:grpSp>
        <p:nvGrpSpPr>
          <p:cNvPr id="1338" name="Shape 1338"/>
          <p:cNvGrpSpPr/>
          <p:nvPr/>
        </p:nvGrpSpPr>
        <p:grpSpPr>
          <a:xfrm>
            <a:off x="4466700" y="2394521"/>
            <a:ext cx="4677300" cy="4121103"/>
            <a:chOff x="4466700" y="2394521"/>
            <a:chExt cx="4677300" cy="4121103"/>
          </a:xfrm>
        </p:grpSpPr>
        <p:pic>
          <p:nvPicPr>
            <p:cNvPr id="1339" name="Shape 133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466700" y="2394521"/>
              <a:ext cx="4677300" cy="35600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0" name="Shape 1340"/>
            <p:cNvSpPr txBox="1"/>
            <p:nvPr/>
          </p:nvSpPr>
          <p:spPr>
            <a:xfrm>
              <a:off x="4466700" y="5954625"/>
              <a:ext cx="4677300" cy="5610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55CC"/>
                </a:buClr>
                <a:buSzPct val="25000"/>
                <a:buFont typeface="Calibri"/>
                <a:buNone/>
              </a:pPr>
              <a:r>
                <a:rPr lang="zh-TW" sz="2000" b="1" i="0" u="none" strike="noStrike" cap="none" baseline="0">
                  <a:solidFill>
                    <a:srgbClr val="1155CC"/>
                  </a:solidFill>
                  <a:latin typeface="Calibri"/>
                  <a:ea typeface="Calibri"/>
                  <a:cs typeface="Calibri"/>
                  <a:sym typeface="Calibri"/>
                </a:rPr>
                <a:t>Single Root I/O Virtualization (SR-IOV)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2000" b="1" i="0" u="none" strike="noStrike" cap="none" baseline="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Shape 134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zh-TW" sz="3600" b="1">
                <a:solidFill>
                  <a:schemeClr val="dk1"/>
                </a:solidFill>
              </a:rPr>
              <a:t>I/O Virtualization Extension - </a:t>
            </a:r>
            <a:r>
              <a:rPr lang="zh-TW"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IOMMU</a:t>
            </a:r>
          </a:p>
        </p:txBody>
      </p:sp>
      <p:sp>
        <p:nvSpPr>
          <p:cNvPr id="1346" name="Shape 1346"/>
          <p:cNvSpPr/>
          <p:nvPr/>
        </p:nvSpPr>
        <p:spPr>
          <a:xfrm>
            <a:off x="3452350" y="2849175"/>
            <a:ext cx="739199" cy="1490098"/>
          </a:xfrm>
          <a:prstGeom prst="rect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sz="16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Guest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sz="16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6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7" name="Shape 1347"/>
          <p:cNvSpPr/>
          <p:nvPr/>
        </p:nvSpPr>
        <p:spPr>
          <a:xfrm>
            <a:off x="3244200" y="4514975"/>
            <a:ext cx="1180200" cy="684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Hypervisor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8" name="Shape 1348"/>
          <p:cNvSpPr/>
          <p:nvPr/>
        </p:nvSpPr>
        <p:spPr>
          <a:xfrm>
            <a:off x="81300" y="6079125"/>
            <a:ext cx="8912100" cy="465300"/>
          </a:xfrm>
          <a:prstGeom prst="rect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sz="18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 Memory</a:t>
            </a:r>
          </a:p>
        </p:txBody>
      </p:sp>
      <p:sp>
        <p:nvSpPr>
          <p:cNvPr id="1349" name="Shape 1349"/>
          <p:cNvSpPr/>
          <p:nvPr/>
        </p:nvSpPr>
        <p:spPr>
          <a:xfrm>
            <a:off x="3452355" y="2000475"/>
            <a:ext cx="739199" cy="848700"/>
          </a:xfrm>
          <a:prstGeom prst="rect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sz="16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Guest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sz="16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</a:t>
            </a:r>
          </a:p>
        </p:txBody>
      </p:sp>
      <p:sp>
        <p:nvSpPr>
          <p:cNvPr id="1350" name="Shape 1350"/>
          <p:cNvSpPr/>
          <p:nvPr/>
        </p:nvSpPr>
        <p:spPr>
          <a:xfrm>
            <a:off x="140281" y="2483586"/>
            <a:ext cx="1899599" cy="68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sz="12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Guest Virtual Address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sz="12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(G</a:t>
            </a:r>
            <a:r>
              <a:rPr lang="zh-TW" sz="1200"/>
              <a:t>V</a:t>
            </a:r>
            <a:r>
              <a:rPr lang="zh-TW" sz="12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A)</a:t>
            </a:r>
          </a:p>
        </p:txBody>
      </p:sp>
      <p:sp>
        <p:nvSpPr>
          <p:cNvPr id="1351" name="Shape 1351"/>
          <p:cNvSpPr/>
          <p:nvPr/>
        </p:nvSpPr>
        <p:spPr>
          <a:xfrm>
            <a:off x="140156" y="5000012"/>
            <a:ext cx="1899599" cy="68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sz="12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 Physical Address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sz="12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(HPA)</a:t>
            </a:r>
          </a:p>
        </p:txBody>
      </p:sp>
      <p:sp>
        <p:nvSpPr>
          <p:cNvPr id="1352" name="Shape 1352"/>
          <p:cNvSpPr/>
          <p:nvPr/>
        </p:nvSpPr>
        <p:spPr>
          <a:xfrm>
            <a:off x="140156" y="3741812"/>
            <a:ext cx="1899599" cy="68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sz="12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Guest Physical Address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sz="12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(GPA)</a:t>
            </a:r>
          </a:p>
        </p:txBody>
      </p:sp>
      <p:cxnSp>
        <p:nvCxnSpPr>
          <p:cNvPr id="1353" name="Shape 1353"/>
          <p:cNvCxnSpPr>
            <a:stCxn id="1350" idx="2"/>
            <a:endCxn id="1352" idx="0"/>
          </p:cNvCxnSpPr>
          <p:nvPr/>
        </p:nvCxnSpPr>
        <p:spPr>
          <a:xfrm>
            <a:off x="1090080" y="3167886"/>
            <a:ext cx="0" cy="5739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1354" name="Shape 1354"/>
          <p:cNvCxnSpPr>
            <a:stCxn id="1352" idx="2"/>
            <a:endCxn id="1351" idx="0"/>
          </p:cNvCxnSpPr>
          <p:nvPr/>
        </p:nvCxnSpPr>
        <p:spPr>
          <a:xfrm>
            <a:off x="1089955" y="4426112"/>
            <a:ext cx="0" cy="5739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1355" name="Shape 1355"/>
          <p:cNvSpPr txBox="1"/>
          <p:nvPr/>
        </p:nvSpPr>
        <p:spPr>
          <a:xfrm>
            <a:off x="140181" y="3165561"/>
            <a:ext cx="1899599" cy="23339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lang="zh-TW" sz="1200" b="1" i="0" u="none" strike="noStrike" cap="none" baseline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Page Table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lang="zh-TW" sz="1200" b="1" i="0" u="none" strike="noStrike" cap="none" baseline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(maintained by GOS)</a:t>
            </a:r>
          </a:p>
        </p:txBody>
      </p:sp>
      <p:sp>
        <p:nvSpPr>
          <p:cNvPr id="1356" name="Shape 1356"/>
          <p:cNvSpPr txBox="1"/>
          <p:nvPr/>
        </p:nvSpPr>
        <p:spPr>
          <a:xfrm>
            <a:off x="-96042" y="4452287"/>
            <a:ext cx="2313299" cy="23339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lang="zh-TW" sz="1200" b="1" i="0" u="none" strike="noStrike" cap="none" baseline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Page Table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lang="zh-TW" sz="1200" b="1" i="0" u="none" strike="noStrike" cap="none" baseline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(maintained by Hypervisor)</a:t>
            </a:r>
          </a:p>
        </p:txBody>
      </p:sp>
      <p:sp>
        <p:nvSpPr>
          <p:cNvPr id="1357" name="Shape 1357"/>
          <p:cNvSpPr/>
          <p:nvPr/>
        </p:nvSpPr>
        <p:spPr>
          <a:xfrm>
            <a:off x="3453100" y="3809150"/>
            <a:ext cx="737700" cy="5496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sz="12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Device Driver</a:t>
            </a:r>
          </a:p>
        </p:txBody>
      </p:sp>
      <p:sp>
        <p:nvSpPr>
          <p:cNvPr id="1358" name="Shape 1358"/>
          <p:cNvSpPr/>
          <p:nvPr/>
        </p:nvSpPr>
        <p:spPr>
          <a:xfrm>
            <a:off x="2348800" y="2022225"/>
            <a:ext cx="972000" cy="848700"/>
          </a:xfrm>
          <a:prstGeom prst="rect">
            <a:avLst/>
          </a:prstGeom>
          <a:solidFill>
            <a:srgbClr val="666666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sz="16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CPU</a:t>
            </a:r>
          </a:p>
        </p:txBody>
      </p:sp>
      <p:sp>
        <p:nvSpPr>
          <p:cNvPr id="1359" name="Shape 1359"/>
          <p:cNvSpPr/>
          <p:nvPr/>
        </p:nvSpPr>
        <p:spPr>
          <a:xfrm>
            <a:off x="2348800" y="3851300"/>
            <a:ext cx="972000" cy="465300"/>
          </a:xfrm>
          <a:prstGeom prst="rect">
            <a:avLst/>
          </a:prstGeom>
          <a:solidFill>
            <a:srgbClr val="E06666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sz="16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MMU</a:t>
            </a:r>
          </a:p>
        </p:txBody>
      </p:sp>
      <p:sp>
        <p:nvSpPr>
          <p:cNvPr id="1360" name="Shape 1360"/>
          <p:cNvSpPr/>
          <p:nvPr/>
        </p:nvSpPr>
        <p:spPr>
          <a:xfrm>
            <a:off x="1122475" y="2080675"/>
            <a:ext cx="1724750" cy="2874600"/>
          </a:xfrm>
          <a:custGeom>
            <a:avLst/>
            <a:gdLst/>
            <a:ahLst/>
            <a:cxnLst/>
            <a:rect l="0" t="0" r="0" b="0"/>
            <a:pathLst>
              <a:path w="68990" h="114984" extrusionOk="0">
                <a:moveTo>
                  <a:pt x="68990" y="89250"/>
                </a:moveTo>
                <a:lnTo>
                  <a:pt x="68443" y="114984"/>
                </a:lnTo>
                <a:lnTo>
                  <a:pt x="43256" y="114437"/>
                </a:lnTo>
                <a:lnTo>
                  <a:pt x="43803" y="0"/>
                </a:lnTo>
                <a:lnTo>
                  <a:pt x="0" y="0"/>
                </a:lnTo>
                <a:lnTo>
                  <a:pt x="0" y="17521"/>
                </a:lnTo>
              </a:path>
            </a:pathLst>
          </a:cu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triangle" w="lg" len="lg"/>
          </a:ln>
        </p:spPr>
      </p:sp>
      <p:cxnSp>
        <p:nvCxnSpPr>
          <p:cNvPr id="1361" name="Shape 1361"/>
          <p:cNvCxnSpPr>
            <a:stCxn id="1358" idx="2"/>
            <a:endCxn id="1359" idx="0"/>
          </p:cNvCxnSpPr>
          <p:nvPr/>
        </p:nvCxnSpPr>
        <p:spPr>
          <a:xfrm>
            <a:off x="2834800" y="2870925"/>
            <a:ext cx="0" cy="980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1362" name="Shape 1362"/>
          <p:cNvSpPr/>
          <p:nvPr/>
        </p:nvSpPr>
        <p:spPr>
          <a:xfrm>
            <a:off x="5887150" y="2022225"/>
            <a:ext cx="972000" cy="848700"/>
          </a:xfrm>
          <a:prstGeom prst="rect">
            <a:avLst/>
          </a:prstGeom>
          <a:solidFill>
            <a:srgbClr val="666666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sz="16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I/O Device</a:t>
            </a:r>
          </a:p>
        </p:txBody>
      </p:sp>
      <p:cxnSp>
        <p:nvCxnSpPr>
          <p:cNvPr id="1363" name="Shape 1363"/>
          <p:cNvCxnSpPr>
            <a:stCxn id="1357" idx="3"/>
            <a:endCxn id="1362" idx="1"/>
          </p:cNvCxnSpPr>
          <p:nvPr/>
        </p:nvCxnSpPr>
        <p:spPr>
          <a:xfrm rot="10800000" flipH="1">
            <a:off x="4190800" y="2446550"/>
            <a:ext cx="1696200" cy="1637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1364" name="Shape 1364"/>
          <p:cNvSpPr txBox="1"/>
          <p:nvPr/>
        </p:nvSpPr>
        <p:spPr>
          <a:xfrm>
            <a:off x="4689050" y="2849175"/>
            <a:ext cx="661500" cy="233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b="1">
                <a:solidFill>
                  <a:srgbClr val="FF0000"/>
                </a:solidFill>
              </a:rPr>
              <a:t>GPA</a:t>
            </a:r>
          </a:p>
        </p:txBody>
      </p:sp>
      <p:cxnSp>
        <p:nvCxnSpPr>
          <p:cNvPr id="1365" name="Shape 1365"/>
          <p:cNvCxnSpPr>
            <a:stCxn id="1351" idx="2"/>
          </p:cNvCxnSpPr>
          <p:nvPr/>
        </p:nvCxnSpPr>
        <p:spPr>
          <a:xfrm>
            <a:off x="1089955" y="5684312"/>
            <a:ext cx="1141199" cy="3933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triangle" w="lg" len="lg"/>
          </a:ln>
        </p:spPr>
      </p:cxnSp>
      <p:grpSp>
        <p:nvGrpSpPr>
          <p:cNvPr id="1366" name="Shape 1366"/>
          <p:cNvGrpSpPr/>
          <p:nvPr/>
        </p:nvGrpSpPr>
        <p:grpSpPr>
          <a:xfrm>
            <a:off x="5887150" y="2870925"/>
            <a:ext cx="3135906" cy="3206687"/>
            <a:chOff x="5887150" y="2870925"/>
            <a:chExt cx="3135906" cy="3206687"/>
          </a:xfrm>
        </p:grpSpPr>
        <p:sp>
          <p:nvSpPr>
            <p:cNvPr id="1367" name="Shape 1367"/>
            <p:cNvSpPr/>
            <p:nvPr/>
          </p:nvSpPr>
          <p:spPr>
            <a:xfrm>
              <a:off x="6945956" y="5000012"/>
              <a:ext cx="1899599" cy="684300"/>
            </a:xfrm>
            <a:prstGeom prst="rect">
              <a:avLst/>
            </a:prstGeom>
            <a:solidFill>
              <a:srgbClr val="6D9EEB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</a:pPr>
              <a:r>
                <a:rPr lang="zh-TW" sz="12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Host Physical Address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</a:pPr>
              <a:r>
                <a:rPr lang="zh-TW" sz="12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(HPA)</a:t>
              </a:r>
            </a:p>
          </p:txBody>
        </p:sp>
        <p:sp>
          <p:nvSpPr>
            <p:cNvPr id="1368" name="Shape 1368"/>
            <p:cNvSpPr/>
            <p:nvPr/>
          </p:nvSpPr>
          <p:spPr>
            <a:xfrm>
              <a:off x="6945957" y="3741812"/>
              <a:ext cx="1899599" cy="684300"/>
            </a:xfrm>
            <a:prstGeom prst="rect">
              <a:avLst/>
            </a:prstGeom>
            <a:solidFill>
              <a:srgbClr val="6D9EEB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</a:pPr>
              <a:r>
                <a:rPr lang="zh-TW" sz="12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Guest Physical Address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</a:pPr>
              <a:r>
                <a:rPr lang="zh-TW" sz="12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(GPA)</a:t>
              </a:r>
            </a:p>
          </p:txBody>
        </p:sp>
        <p:cxnSp>
          <p:nvCxnSpPr>
            <p:cNvPr id="1369" name="Shape 1369"/>
            <p:cNvCxnSpPr>
              <a:stCxn id="1368" idx="2"/>
              <a:endCxn id="1367" idx="0"/>
            </p:cNvCxnSpPr>
            <p:nvPr/>
          </p:nvCxnSpPr>
          <p:spPr>
            <a:xfrm>
              <a:off x="7895756" y="4426112"/>
              <a:ext cx="0" cy="57390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sp>
          <p:nvSpPr>
            <p:cNvPr id="1370" name="Shape 1370"/>
            <p:cNvSpPr txBox="1"/>
            <p:nvPr/>
          </p:nvSpPr>
          <p:spPr>
            <a:xfrm>
              <a:off x="6709757" y="4452287"/>
              <a:ext cx="2313299" cy="233398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Arial"/>
                <a:buNone/>
              </a:pPr>
              <a:r>
                <a:rPr lang="zh-TW" sz="1200" b="1" i="0" u="none" strike="noStrike" cap="none" baseline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Page Table 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Arial"/>
                <a:buNone/>
              </a:pPr>
              <a:r>
                <a:rPr lang="zh-TW" sz="1200" b="1" i="0" u="none" strike="noStrike" cap="none" baseline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(maintained by Hypervisor)</a:t>
              </a:r>
            </a:p>
          </p:txBody>
        </p:sp>
        <p:sp>
          <p:nvSpPr>
            <p:cNvPr id="1371" name="Shape 1371"/>
            <p:cNvSpPr/>
            <p:nvPr/>
          </p:nvSpPr>
          <p:spPr>
            <a:xfrm>
              <a:off x="5887150" y="3285325"/>
              <a:ext cx="972000" cy="465300"/>
            </a:xfrm>
            <a:prstGeom prst="rect">
              <a:avLst/>
            </a:prstGeom>
            <a:solidFill>
              <a:srgbClr val="E06666"/>
            </a:solidFill>
            <a:ln w="19050" cap="flat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25000"/>
                <a:buFont typeface="Arial"/>
                <a:buNone/>
              </a:pPr>
              <a:r>
                <a:rPr lang="zh-TW" sz="16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IOMMU</a:t>
              </a:r>
            </a:p>
          </p:txBody>
        </p:sp>
        <p:cxnSp>
          <p:nvCxnSpPr>
            <p:cNvPr id="1372" name="Shape 1372"/>
            <p:cNvCxnSpPr>
              <a:stCxn id="1362" idx="2"/>
              <a:endCxn id="1371" idx="0"/>
            </p:cNvCxnSpPr>
            <p:nvPr/>
          </p:nvCxnSpPr>
          <p:spPr>
            <a:xfrm>
              <a:off x="6373150" y="2870925"/>
              <a:ext cx="0" cy="41430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med" len="med"/>
              <a:tailEnd type="triangle" w="lg" len="lg"/>
            </a:ln>
          </p:spPr>
        </p:cxnSp>
        <p:sp>
          <p:nvSpPr>
            <p:cNvPr id="1373" name="Shape 1373"/>
            <p:cNvSpPr/>
            <p:nvPr/>
          </p:nvSpPr>
          <p:spPr>
            <a:xfrm>
              <a:off x="6885375" y="3463225"/>
              <a:ext cx="1026650" cy="287450"/>
            </a:xfrm>
            <a:custGeom>
              <a:avLst/>
              <a:gdLst/>
              <a:ahLst/>
              <a:cxnLst/>
              <a:rect l="0" t="0" r="0" b="0"/>
              <a:pathLst>
                <a:path w="41066" h="11498" extrusionOk="0">
                  <a:moveTo>
                    <a:pt x="0" y="0"/>
                  </a:moveTo>
                  <a:lnTo>
                    <a:pt x="41066" y="547"/>
                  </a:lnTo>
                  <a:lnTo>
                    <a:pt x="41066" y="11498"/>
                  </a:lnTo>
                </a:path>
              </a:pathLst>
            </a:custGeom>
            <a:noFill/>
            <a:ln w="19050" cap="flat">
              <a:solidFill>
                <a:schemeClr val="dk2"/>
              </a:solidFill>
              <a:prstDash val="solid"/>
              <a:round/>
              <a:headEnd type="none" w="med" len="med"/>
              <a:tailEnd type="triangle" w="lg" len="lg"/>
            </a:ln>
          </p:spPr>
        </p:sp>
        <p:cxnSp>
          <p:nvCxnSpPr>
            <p:cNvPr id="1374" name="Shape 1374"/>
            <p:cNvCxnSpPr>
              <a:stCxn id="1367" idx="2"/>
            </p:cNvCxnSpPr>
            <p:nvPr/>
          </p:nvCxnSpPr>
          <p:spPr>
            <a:xfrm flipH="1">
              <a:off x="6474655" y="5684312"/>
              <a:ext cx="1421100" cy="39330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med" len="med"/>
              <a:tailEnd type="triangle" w="lg" len="lg"/>
            </a:ln>
          </p:spPr>
        </p:cxnSp>
      </p:grp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Shape 137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/>
              <a:t>More About I/O Virtualization</a:t>
            </a:r>
          </a:p>
        </p:txBody>
      </p:sp>
      <p:sp>
        <p:nvSpPr>
          <p:cNvPr id="1380" name="Shape 138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Principle: How to virtualize the HW interface </a:t>
            </a:r>
          </a:p>
          <a:p>
            <a:pPr marL="914400" lvl="1" indent="-381000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Full virtualization &amp; virtio: let qemu emulate</a:t>
            </a:r>
          </a:p>
          <a:p>
            <a:pPr marL="914400" lvl="1" indent="-381000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zh-TW"/>
              <a:t>Device pass-through: assign HW interface to guest</a:t>
            </a:r>
          </a:p>
          <a:p>
            <a:pPr lvl="0" algn="l" rtl="0">
              <a:lnSpc>
                <a:spcPct val="100000"/>
              </a:lnSpc>
              <a:spcBef>
                <a:spcPts val="0"/>
              </a:spcBef>
              <a:buNone/>
            </a:pPr>
            <a:endParaRPr/>
          </a:p>
          <a:p>
            <a:pPr marL="457200" lvl="0" indent="-419100" algn="l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/>
              <a:t>A Full GPU Virtualization Solution with Mediated Pass-Through</a:t>
            </a: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80000"/>
              <a:buFont typeface="Courier New"/>
              <a:buChar char="o"/>
            </a:pPr>
            <a:r>
              <a:rPr lang="zh-TW">
                <a:solidFill>
                  <a:srgbClr val="000000"/>
                </a:solidFill>
              </a:rPr>
              <a:t>Intel Corporation @ USENIX ATC’14</a:t>
            </a: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80000"/>
              <a:buFont typeface="Courier New"/>
              <a:buChar char="o"/>
            </a:pPr>
            <a:r>
              <a:rPr lang="zh-TW">
                <a:solidFill>
                  <a:srgbClr val="000000"/>
                </a:solidFill>
              </a:rPr>
              <a:t>HW interfaces</a:t>
            </a:r>
          </a:p>
          <a:p>
            <a:pPr marL="1371600" lvl="2" indent="-330200" rtl="0">
              <a:lnSpc>
                <a:spcPct val="100000"/>
              </a:lnSpc>
              <a:spcBef>
                <a:spcPts val="600"/>
              </a:spcBef>
              <a:buClr>
                <a:schemeClr val="dk1"/>
              </a:buClr>
              <a:buSzPct val="100000"/>
              <a:buFont typeface="Wingdings"/>
              <a:buChar char="§"/>
            </a:pPr>
            <a:r>
              <a:rPr lang="zh-TW" sz="1600"/>
              <a:t>Frame buffer: Partitioning</a:t>
            </a:r>
          </a:p>
          <a:p>
            <a:pPr marL="1371600" lvl="2" indent="-330200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Wingdings"/>
              <a:buChar char="§"/>
            </a:pPr>
            <a:r>
              <a:rPr lang="zh-TW" sz="1600"/>
              <a:t>Command buffer: Partitioning</a:t>
            </a:r>
          </a:p>
          <a:p>
            <a:pPr marL="1371600" lvl="2" indent="-330200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Wingdings"/>
              <a:buChar char="§"/>
            </a:pPr>
            <a:r>
              <a:rPr lang="zh-TW" sz="1600"/>
              <a:t>I/O registers: Emulate</a:t>
            </a:r>
          </a:p>
          <a:p>
            <a:pPr marL="1371600" lvl="2" indent="-330200" rtl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Wingdings"/>
              <a:buChar char="§"/>
            </a:pPr>
            <a:r>
              <a:rPr lang="zh-TW" sz="1600"/>
              <a:t>GPU page tables: Emulate</a:t>
            </a:r>
          </a:p>
        </p:txBody>
      </p:sp>
    </p:spTree>
  </p:cSld>
  <p:clrMapOvr>
    <a:masterClrMapping/>
  </p:clrMapOvr>
  <p:transition spd="slow">
    <p:cut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Shape 1385"/>
          <p:cNvSpPr/>
          <p:nvPr/>
        </p:nvSpPr>
        <p:spPr>
          <a:xfrm>
            <a:off x="1152000" y="525925"/>
            <a:ext cx="1456199" cy="659099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 1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Queue 1</a:t>
            </a:r>
          </a:p>
        </p:txBody>
      </p:sp>
      <p:sp>
        <p:nvSpPr>
          <p:cNvPr id="1386" name="Shape 1386"/>
          <p:cNvSpPr/>
          <p:nvPr/>
        </p:nvSpPr>
        <p:spPr>
          <a:xfrm>
            <a:off x="3725850" y="127410"/>
            <a:ext cx="1623599" cy="1453800"/>
          </a:xfrm>
          <a:prstGeom prst="ellipse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Shape 1387"/>
          <p:cNvSpPr/>
          <p:nvPr/>
        </p:nvSpPr>
        <p:spPr>
          <a:xfrm>
            <a:off x="4183607" y="538114"/>
            <a:ext cx="708000" cy="632400"/>
          </a:xfrm>
          <a:prstGeom prst="ellipse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8" name="Shape 1388"/>
          <p:cNvCxnSpPr>
            <a:stCxn id="1387" idx="1"/>
            <a:endCxn id="1386" idx="1"/>
          </p:cNvCxnSpPr>
          <p:nvPr/>
        </p:nvCxnSpPr>
        <p:spPr>
          <a:xfrm rot="10800000">
            <a:off x="3963591" y="340326"/>
            <a:ext cx="323700" cy="290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89" name="Shape 1389"/>
          <p:cNvCxnSpPr>
            <a:stCxn id="1387" idx="0"/>
            <a:endCxn id="1386" idx="0"/>
          </p:cNvCxnSpPr>
          <p:nvPr/>
        </p:nvCxnSpPr>
        <p:spPr>
          <a:xfrm rot="10800000">
            <a:off x="4537607" y="127414"/>
            <a:ext cx="0" cy="410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0" name="Shape 1390"/>
          <p:cNvCxnSpPr>
            <a:stCxn id="1387" idx="7"/>
            <a:endCxn id="1386" idx="7"/>
          </p:cNvCxnSpPr>
          <p:nvPr/>
        </p:nvCxnSpPr>
        <p:spPr>
          <a:xfrm rot="10800000" flipH="1">
            <a:off x="4787922" y="340326"/>
            <a:ext cx="323700" cy="290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1" name="Shape 1391"/>
          <p:cNvCxnSpPr>
            <a:stCxn id="1387" idx="6"/>
            <a:endCxn id="1386" idx="6"/>
          </p:cNvCxnSpPr>
          <p:nvPr/>
        </p:nvCxnSpPr>
        <p:spPr>
          <a:xfrm>
            <a:off x="4891607" y="854314"/>
            <a:ext cx="4578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2" name="Shape 1392"/>
          <p:cNvCxnSpPr>
            <a:stCxn id="1386" idx="2"/>
            <a:endCxn id="1387" idx="2"/>
          </p:cNvCxnSpPr>
          <p:nvPr/>
        </p:nvCxnSpPr>
        <p:spPr>
          <a:xfrm>
            <a:off x="3725850" y="854311"/>
            <a:ext cx="4578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3" name="Shape 1393"/>
          <p:cNvCxnSpPr>
            <a:stCxn id="1387" idx="3"/>
            <a:endCxn id="1386" idx="3"/>
          </p:cNvCxnSpPr>
          <p:nvPr/>
        </p:nvCxnSpPr>
        <p:spPr>
          <a:xfrm flipH="1">
            <a:off x="3963591" y="1077901"/>
            <a:ext cx="323700" cy="290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4" name="Shape 1394"/>
          <p:cNvCxnSpPr>
            <a:stCxn id="1387" idx="4"/>
            <a:endCxn id="1386" idx="4"/>
          </p:cNvCxnSpPr>
          <p:nvPr/>
        </p:nvCxnSpPr>
        <p:spPr>
          <a:xfrm>
            <a:off x="4537607" y="1170514"/>
            <a:ext cx="0" cy="410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5" name="Shape 1395"/>
          <p:cNvCxnSpPr>
            <a:stCxn id="1387" idx="5"/>
            <a:endCxn id="1386" idx="5"/>
          </p:cNvCxnSpPr>
          <p:nvPr/>
        </p:nvCxnSpPr>
        <p:spPr>
          <a:xfrm>
            <a:off x="4787922" y="1077901"/>
            <a:ext cx="323700" cy="290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6" name="Shape 1396"/>
          <p:cNvCxnSpPr>
            <a:stCxn id="1385" idx="3"/>
            <a:endCxn id="1386" idx="2"/>
          </p:cNvCxnSpPr>
          <p:nvPr/>
        </p:nvCxnSpPr>
        <p:spPr>
          <a:xfrm rot="10800000" flipH="1">
            <a:off x="2608199" y="854274"/>
            <a:ext cx="1117800" cy="12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1397" name="Shape 1397"/>
          <p:cNvSpPr/>
          <p:nvPr/>
        </p:nvSpPr>
        <p:spPr>
          <a:xfrm>
            <a:off x="7173700" y="2264675"/>
            <a:ext cx="1170900" cy="1180799"/>
          </a:xfrm>
          <a:prstGeom prst="rect">
            <a:avLst/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HSA Device</a:t>
            </a:r>
          </a:p>
        </p:txBody>
      </p:sp>
      <p:sp>
        <p:nvSpPr>
          <p:cNvPr id="1398" name="Shape 1398"/>
          <p:cNvSpPr/>
          <p:nvPr/>
        </p:nvSpPr>
        <p:spPr>
          <a:xfrm>
            <a:off x="1152000" y="2200400"/>
            <a:ext cx="1456199" cy="659099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zh-TW" sz="14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1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zh-TW" sz="14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Queue 2</a:t>
            </a:r>
          </a:p>
        </p:txBody>
      </p:sp>
      <p:sp>
        <p:nvSpPr>
          <p:cNvPr id="1399" name="Shape 1399"/>
          <p:cNvSpPr/>
          <p:nvPr/>
        </p:nvSpPr>
        <p:spPr>
          <a:xfrm>
            <a:off x="3725850" y="1803033"/>
            <a:ext cx="1623599" cy="1453800"/>
          </a:xfrm>
          <a:prstGeom prst="ellipse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0" name="Shape 1400"/>
          <p:cNvSpPr/>
          <p:nvPr/>
        </p:nvSpPr>
        <p:spPr>
          <a:xfrm>
            <a:off x="4183607" y="2213738"/>
            <a:ext cx="708000" cy="632400"/>
          </a:xfrm>
          <a:prstGeom prst="ellipse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1" name="Shape 1401"/>
          <p:cNvCxnSpPr>
            <a:stCxn id="1400" idx="1"/>
            <a:endCxn id="1399" idx="1"/>
          </p:cNvCxnSpPr>
          <p:nvPr/>
        </p:nvCxnSpPr>
        <p:spPr>
          <a:xfrm rot="10800000">
            <a:off x="3963591" y="2015950"/>
            <a:ext cx="323700" cy="290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2" name="Shape 1402"/>
          <p:cNvCxnSpPr>
            <a:stCxn id="1400" idx="0"/>
            <a:endCxn id="1399" idx="0"/>
          </p:cNvCxnSpPr>
          <p:nvPr/>
        </p:nvCxnSpPr>
        <p:spPr>
          <a:xfrm rot="10800000">
            <a:off x="4537607" y="1803038"/>
            <a:ext cx="0" cy="410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3" name="Shape 1403"/>
          <p:cNvCxnSpPr>
            <a:stCxn id="1400" idx="7"/>
            <a:endCxn id="1399" idx="7"/>
          </p:cNvCxnSpPr>
          <p:nvPr/>
        </p:nvCxnSpPr>
        <p:spPr>
          <a:xfrm rot="10800000" flipH="1">
            <a:off x="4787922" y="2015950"/>
            <a:ext cx="323700" cy="290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4" name="Shape 1404"/>
          <p:cNvCxnSpPr>
            <a:stCxn id="1400" idx="6"/>
            <a:endCxn id="1399" idx="6"/>
          </p:cNvCxnSpPr>
          <p:nvPr/>
        </p:nvCxnSpPr>
        <p:spPr>
          <a:xfrm>
            <a:off x="4891607" y="2529938"/>
            <a:ext cx="4578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5" name="Shape 1405"/>
          <p:cNvCxnSpPr>
            <a:stCxn id="1399" idx="2"/>
            <a:endCxn id="1400" idx="2"/>
          </p:cNvCxnSpPr>
          <p:nvPr/>
        </p:nvCxnSpPr>
        <p:spPr>
          <a:xfrm>
            <a:off x="3725850" y="2529933"/>
            <a:ext cx="4578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6" name="Shape 1406"/>
          <p:cNvCxnSpPr>
            <a:stCxn id="1400" idx="3"/>
            <a:endCxn id="1399" idx="3"/>
          </p:cNvCxnSpPr>
          <p:nvPr/>
        </p:nvCxnSpPr>
        <p:spPr>
          <a:xfrm flipH="1">
            <a:off x="3963591" y="2753525"/>
            <a:ext cx="323700" cy="290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7" name="Shape 1407"/>
          <p:cNvCxnSpPr>
            <a:stCxn id="1400" idx="4"/>
            <a:endCxn id="1399" idx="4"/>
          </p:cNvCxnSpPr>
          <p:nvPr/>
        </p:nvCxnSpPr>
        <p:spPr>
          <a:xfrm>
            <a:off x="4537607" y="2846138"/>
            <a:ext cx="0" cy="410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8" name="Shape 1408"/>
          <p:cNvCxnSpPr>
            <a:stCxn id="1400" idx="5"/>
            <a:endCxn id="1399" idx="5"/>
          </p:cNvCxnSpPr>
          <p:nvPr/>
        </p:nvCxnSpPr>
        <p:spPr>
          <a:xfrm>
            <a:off x="4787922" y="2753525"/>
            <a:ext cx="323700" cy="290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9" name="Shape 1409"/>
          <p:cNvCxnSpPr>
            <a:stCxn id="1398" idx="3"/>
            <a:endCxn id="1399" idx="2"/>
          </p:cNvCxnSpPr>
          <p:nvPr/>
        </p:nvCxnSpPr>
        <p:spPr>
          <a:xfrm>
            <a:off x="2608199" y="2529949"/>
            <a:ext cx="11178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1410" name="Shape 1410"/>
          <p:cNvSpPr/>
          <p:nvPr/>
        </p:nvSpPr>
        <p:spPr>
          <a:xfrm>
            <a:off x="1152000" y="3950625"/>
            <a:ext cx="1456199" cy="659099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Guest 1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Application 1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zh-TW" sz="14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Queue 1</a:t>
            </a:r>
          </a:p>
        </p:txBody>
      </p:sp>
      <p:sp>
        <p:nvSpPr>
          <p:cNvPr id="1411" name="Shape 1411"/>
          <p:cNvSpPr/>
          <p:nvPr/>
        </p:nvSpPr>
        <p:spPr>
          <a:xfrm>
            <a:off x="3725850" y="3539912"/>
            <a:ext cx="1623599" cy="1453800"/>
          </a:xfrm>
          <a:prstGeom prst="ellipse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2" name="Shape 1412"/>
          <p:cNvSpPr/>
          <p:nvPr/>
        </p:nvSpPr>
        <p:spPr>
          <a:xfrm>
            <a:off x="4183607" y="3950616"/>
            <a:ext cx="708000" cy="632400"/>
          </a:xfrm>
          <a:prstGeom prst="ellipse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3" name="Shape 1413"/>
          <p:cNvCxnSpPr>
            <a:stCxn id="1412" idx="1"/>
            <a:endCxn id="1411" idx="1"/>
          </p:cNvCxnSpPr>
          <p:nvPr/>
        </p:nvCxnSpPr>
        <p:spPr>
          <a:xfrm rot="10800000">
            <a:off x="3963591" y="3752828"/>
            <a:ext cx="323700" cy="290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4" name="Shape 1414"/>
          <p:cNvCxnSpPr>
            <a:stCxn id="1412" idx="0"/>
            <a:endCxn id="1411" idx="0"/>
          </p:cNvCxnSpPr>
          <p:nvPr/>
        </p:nvCxnSpPr>
        <p:spPr>
          <a:xfrm rot="10800000">
            <a:off x="4537607" y="3539916"/>
            <a:ext cx="0" cy="410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5" name="Shape 1415"/>
          <p:cNvCxnSpPr>
            <a:stCxn id="1412" idx="7"/>
            <a:endCxn id="1411" idx="7"/>
          </p:cNvCxnSpPr>
          <p:nvPr/>
        </p:nvCxnSpPr>
        <p:spPr>
          <a:xfrm rot="10800000" flipH="1">
            <a:off x="4787922" y="3752828"/>
            <a:ext cx="323700" cy="290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6" name="Shape 1416"/>
          <p:cNvCxnSpPr>
            <a:stCxn id="1412" idx="6"/>
            <a:endCxn id="1411" idx="6"/>
          </p:cNvCxnSpPr>
          <p:nvPr/>
        </p:nvCxnSpPr>
        <p:spPr>
          <a:xfrm>
            <a:off x="4891607" y="4266816"/>
            <a:ext cx="4578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7" name="Shape 1417"/>
          <p:cNvCxnSpPr>
            <a:stCxn id="1411" idx="2"/>
            <a:endCxn id="1412" idx="2"/>
          </p:cNvCxnSpPr>
          <p:nvPr/>
        </p:nvCxnSpPr>
        <p:spPr>
          <a:xfrm>
            <a:off x="3725850" y="4266812"/>
            <a:ext cx="4578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8" name="Shape 1418"/>
          <p:cNvCxnSpPr>
            <a:stCxn id="1412" idx="3"/>
            <a:endCxn id="1411" idx="3"/>
          </p:cNvCxnSpPr>
          <p:nvPr/>
        </p:nvCxnSpPr>
        <p:spPr>
          <a:xfrm flipH="1">
            <a:off x="3963591" y="4490403"/>
            <a:ext cx="323700" cy="290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9" name="Shape 1419"/>
          <p:cNvCxnSpPr>
            <a:stCxn id="1412" idx="4"/>
            <a:endCxn id="1411" idx="4"/>
          </p:cNvCxnSpPr>
          <p:nvPr/>
        </p:nvCxnSpPr>
        <p:spPr>
          <a:xfrm>
            <a:off x="4537607" y="4583016"/>
            <a:ext cx="0" cy="410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0" name="Shape 1420"/>
          <p:cNvCxnSpPr>
            <a:stCxn id="1412" idx="5"/>
            <a:endCxn id="1411" idx="5"/>
          </p:cNvCxnSpPr>
          <p:nvPr/>
        </p:nvCxnSpPr>
        <p:spPr>
          <a:xfrm>
            <a:off x="4787922" y="4490403"/>
            <a:ext cx="323700" cy="290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1" name="Shape 1421"/>
          <p:cNvCxnSpPr>
            <a:stCxn id="1410" idx="3"/>
            <a:endCxn id="1411" idx="2"/>
          </p:cNvCxnSpPr>
          <p:nvPr/>
        </p:nvCxnSpPr>
        <p:spPr>
          <a:xfrm rot="10800000" flipH="1">
            <a:off x="2608199" y="4266674"/>
            <a:ext cx="1117800" cy="135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1422" name="Shape 1422"/>
          <p:cNvSpPr/>
          <p:nvPr/>
        </p:nvSpPr>
        <p:spPr>
          <a:xfrm>
            <a:off x="1152000" y="5687500"/>
            <a:ext cx="1456199" cy="659099"/>
          </a:xfrm>
          <a:prstGeom prst="roundRect">
            <a:avLst>
              <a:gd name="adj" fmla="val 16667"/>
            </a:avLst>
          </a:prstGeom>
          <a:solidFill>
            <a:srgbClr val="6FA8DC"/>
          </a:solidFill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Guest 2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Application 1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zh-TW" sz="14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Queue 1</a:t>
            </a:r>
          </a:p>
        </p:txBody>
      </p:sp>
      <p:sp>
        <p:nvSpPr>
          <p:cNvPr id="1423" name="Shape 1423"/>
          <p:cNvSpPr/>
          <p:nvPr/>
        </p:nvSpPr>
        <p:spPr>
          <a:xfrm>
            <a:off x="3725850" y="5276789"/>
            <a:ext cx="1623599" cy="1453800"/>
          </a:xfrm>
          <a:prstGeom prst="ellipse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4" name="Shape 1424"/>
          <p:cNvSpPr/>
          <p:nvPr/>
        </p:nvSpPr>
        <p:spPr>
          <a:xfrm>
            <a:off x="4183607" y="5687492"/>
            <a:ext cx="708000" cy="632400"/>
          </a:xfrm>
          <a:prstGeom prst="ellipse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5" name="Shape 1425"/>
          <p:cNvCxnSpPr>
            <a:stCxn id="1424" idx="1"/>
            <a:endCxn id="1423" idx="1"/>
          </p:cNvCxnSpPr>
          <p:nvPr/>
        </p:nvCxnSpPr>
        <p:spPr>
          <a:xfrm rot="10800000">
            <a:off x="3963591" y="5489705"/>
            <a:ext cx="323700" cy="290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6" name="Shape 1426"/>
          <p:cNvCxnSpPr>
            <a:stCxn id="1424" idx="0"/>
            <a:endCxn id="1423" idx="0"/>
          </p:cNvCxnSpPr>
          <p:nvPr/>
        </p:nvCxnSpPr>
        <p:spPr>
          <a:xfrm rot="10800000">
            <a:off x="4537607" y="5276792"/>
            <a:ext cx="0" cy="410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7" name="Shape 1427"/>
          <p:cNvCxnSpPr>
            <a:stCxn id="1424" idx="7"/>
            <a:endCxn id="1423" idx="7"/>
          </p:cNvCxnSpPr>
          <p:nvPr/>
        </p:nvCxnSpPr>
        <p:spPr>
          <a:xfrm rot="10800000" flipH="1">
            <a:off x="4787922" y="5489705"/>
            <a:ext cx="323700" cy="290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8" name="Shape 1428"/>
          <p:cNvCxnSpPr>
            <a:stCxn id="1424" idx="6"/>
            <a:endCxn id="1423" idx="6"/>
          </p:cNvCxnSpPr>
          <p:nvPr/>
        </p:nvCxnSpPr>
        <p:spPr>
          <a:xfrm>
            <a:off x="4891607" y="6003692"/>
            <a:ext cx="4578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9" name="Shape 1429"/>
          <p:cNvCxnSpPr>
            <a:stCxn id="1423" idx="2"/>
            <a:endCxn id="1424" idx="2"/>
          </p:cNvCxnSpPr>
          <p:nvPr/>
        </p:nvCxnSpPr>
        <p:spPr>
          <a:xfrm>
            <a:off x="3725850" y="6003689"/>
            <a:ext cx="4578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0" name="Shape 1430"/>
          <p:cNvCxnSpPr>
            <a:stCxn id="1424" idx="3"/>
            <a:endCxn id="1423" idx="3"/>
          </p:cNvCxnSpPr>
          <p:nvPr/>
        </p:nvCxnSpPr>
        <p:spPr>
          <a:xfrm flipH="1">
            <a:off x="3963591" y="6227279"/>
            <a:ext cx="323700" cy="290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1" name="Shape 1431"/>
          <p:cNvCxnSpPr>
            <a:stCxn id="1424" idx="4"/>
            <a:endCxn id="1423" idx="4"/>
          </p:cNvCxnSpPr>
          <p:nvPr/>
        </p:nvCxnSpPr>
        <p:spPr>
          <a:xfrm>
            <a:off x="4537607" y="6319892"/>
            <a:ext cx="0" cy="4107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2" name="Shape 1432"/>
          <p:cNvCxnSpPr>
            <a:stCxn id="1424" idx="5"/>
            <a:endCxn id="1423" idx="5"/>
          </p:cNvCxnSpPr>
          <p:nvPr/>
        </p:nvCxnSpPr>
        <p:spPr>
          <a:xfrm>
            <a:off x="4787922" y="6227279"/>
            <a:ext cx="323700" cy="290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3" name="Shape 1433"/>
          <p:cNvCxnSpPr>
            <a:stCxn id="1422" idx="3"/>
            <a:endCxn id="1423" idx="2"/>
          </p:cNvCxnSpPr>
          <p:nvPr/>
        </p:nvCxnSpPr>
        <p:spPr>
          <a:xfrm rot="10800000" flipH="1">
            <a:off x="2608199" y="6003549"/>
            <a:ext cx="1117800" cy="135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med" len="med"/>
            <a:tailEnd type="triangle" w="lg" len="lg"/>
          </a:ln>
        </p:spPr>
      </p:cxnSp>
      <p:grpSp>
        <p:nvGrpSpPr>
          <p:cNvPr id="1434" name="Shape 1434"/>
          <p:cNvGrpSpPr/>
          <p:nvPr/>
        </p:nvGrpSpPr>
        <p:grpSpPr>
          <a:xfrm>
            <a:off x="5349449" y="854309"/>
            <a:ext cx="2995150" cy="5149340"/>
            <a:chOff x="5349449" y="854309"/>
            <a:chExt cx="2995150" cy="5149340"/>
          </a:xfrm>
        </p:grpSpPr>
        <p:grpSp>
          <p:nvGrpSpPr>
            <p:cNvPr id="1435" name="Shape 1435"/>
            <p:cNvGrpSpPr/>
            <p:nvPr/>
          </p:nvGrpSpPr>
          <p:grpSpPr>
            <a:xfrm>
              <a:off x="5349449" y="854309"/>
              <a:ext cx="1843900" cy="5149340"/>
              <a:chOff x="5349449" y="854309"/>
              <a:chExt cx="1843900" cy="5149340"/>
            </a:xfrm>
          </p:grpSpPr>
          <p:cxnSp>
            <p:nvCxnSpPr>
              <p:cNvPr id="1436" name="Shape 1436"/>
              <p:cNvCxnSpPr/>
              <p:nvPr/>
            </p:nvCxnSpPr>
            <p:spPr>
              <a:xfrm rot="10800000">
                <a:off x="5349449" y="854309"/>
                <a:ext cx="1834200" cy="1547399"/>
              </a:xfrm>
              <a:prstGeom prst="straightConnector1">
                <a:avLst/>
              </a:prstGeom>
              <a:noFill/>
              <a:ln w="19050" cap="flat">
                <a:solidFill>
                  <a:srgbClr val="3C78D8"/>
                </a:solidFill>
                <a:prstDash val="solid"/>
                <a:round/>
                <a:headEnd type="none" w="med" len="med"/>
                <a:tailEnd type="triangle" w="lg" len="lg"/>
              </a:ln>
            </p:spPr>
          </p:cxnSp>
          <p:cxnSp>
            <p:nvCxnSpPr>
              <p:cNvPr id="1437" name="Shape 1437"/>
              <p:cNvCxnSpPr/>
              <p:nvPr/>
            </p:nvCxnSpPr>
            <p:spPr>
              <a:xfrm rot="10800000">
                <a:off x="5349449" y="2529933"/>
                <a:ext cx="1843800" cy="68400"/>
              </a:xfrm>
              <a:prstGeom prst="straightConnector1">
                <a:avLst/>
              </a:prstGeom>
              <a:noFill/>
              <a:ln w="19050" cap="flat">
                <a:solidFill>
                  <a:srgbClr val="3C78D8"/>
                </a:solidFill>
                <a:prstDash val="solid"/>
                <a:round/>
                <a:headEnd type="none" w="med" len="med"/>
                <a:tailEnd type="triangle" w="lg" len="lg"/>
              </a:ln>
            </p:spPr>
          </p:cxnSp>
          <p:cxnSp>
            <p:nvCxnSpPr>
              <p:cNvPr id="1438" name="Shape 1438"/>
              <p:cNvCxnSpPr/>
              <p:nvPr/>
            </p:nvCxnSpPr>
            <p:spPr>
              <a:xfrm flipH="1">
                <a:off x="5349449" y="3080610"/>
                <a:ext cx="1843800" cy="1186199"/>
              </a:xfrm>
              <a:prstGeom prst="straightConnector1">
                <a:avLst/>
              </a:prstGeom>
              <a:noFill/>
              <a:ln w="19050" cap="flat">
                <a:solidFill>
                  <a:srgbClr val="3C78D8"/>
                </a:solidFill>
                <a:prstDash val="solid"/>
                <a:round/>
                <a:headEnd type="none" w="med" len="med"/>
                <a:tailEnd type="triangle" w="lg" len="lg"/>
              </a:ln>
            </p:spPr>
          </p:cxnSp>
          <p:cxnSp>
            <p:nvCxnSpPr>
              <p:cNvPr id="1439" name="Shape 1439"/>
              <p:cNvCxnSpPr/>
              <p:nvPr/>
            </p:nvCxnSpPr>
            <p:spPr>
              <a:xfrm flipH="1">
                <a:off x="5349549" y="3287150"/>
                <a:ext cx="1843800" cy="2716499"/>
              </a:xfrm>
              <a:prstGeom prst="straightConnector1">
                <a:avLst/>
              </a:prstGeom>
              <a:noFill/>
              <a:ln w="19050" cap="flat">
                <a:solidFill>
                  <a:srgbClr val="3C78D8"/>
                </a:solidFill>
                <a:prstDash val="solid"/>
                <a:round/>
                <a:headEnd type="none" w="med" len="med"/>
                <a:tailEnd type="triangle" w="lg" len="lg"/>
              </a:ln>
            </p:spPr>
          </p:cxnSp>
        </p:grpSp>
        <p:sp>
          <p:nvSpPr>
            <p:cNvPr id="1440" name="Shape 1440"/>
            <p:cNvSpPr txBox="1"/>
            <p:nvPr/>
          </p:nvSpPr>
          <p:spPr>
            <a:xfrm>
              <a:off x="6307900" y="1278050"/>
              <a:ext cx="2036700" cy="81929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55CC"/>
                </a:buClr>
                <a:buSzPct val="25000"/>
                <a:buFont typeface="Arial"/>
                <a:buNone/>
              </a:pPr>
              <a:r>
                <a:rPr lang="zh-TW" sz="1400" b="1" i="0" u="none" strike="noStrike" cap="none" baseline="0">
                  <a:solidFill>
                    <a:srgbClr val="1155CC"/>
                  </a:solidFill>
                  <a:latin typeface="Arial"/>
                  <a:ea typeface="Arial"/>
                  <a:cs typeface="Arial"/>
                  <a:sym typeface="Arial"/>
                </a:rPr>
                <a:t>HSA device access application’s </a:t>
              </a:r>
              <a:r>
                <a:rPr lang="zh-TW" b="1">
                  <a:solidFill>
                    <a:srgbClr val="1155CC"/>
                  </a:solidFill>
                </a:rPr>
                <a:t>queue</a:t>
              </a:r>
            </a:p>
          </p:txBody>
        </p:sp>
      </p:grpSp>
      <p:grpSp>
        <p:nvGrpSpPr>
          <p:cNvPr id="1441" name="Shape 1441"/>
          <p:cNvGrpSpPr/>
          <p:nvPr/>
        </p:nvGrpSpPr>
        <p:grpSpPr>
          <a:xfrm>
            <a:off x="2529400" y="1132475"/>
            <a:ext cx="4644300" cy="4884573"/>
            <a:chOff x="2529400" y="1132475"/>
            <a:chExt cx="4644300" cy="4884573"/>
          </a:xfrm>
        </p:grpSpPr>
        <p:grpSp>
          <p:nvGrpSpPr>
            <p:cNvPr id="1442" name="Shape 1442"/>
            <p:cNvGrpSpPr/>
            <p:nvPr/>
          </p:nvGrpSpPr>
          <p:grpSpPr>
            <a:xfrm>
              <a:off x="2529400" y="1132475"/>
              <a:ext cx="4644300" cy="4884573"/>
              <a:chOff x="2529400" y="1132475"/>
              <a:chExt cx="4644300" cy="4884573"/>
            </a:xfrm>
          </p:grpSpPr>
          <p:cxnSp>
            <p:nvCxnSpPr>
              <p:cNvPr id="1443" name="Shape 1443"/>
              <p:cNvCxnSpPr/>
              <p:nvPr/>
            </p:nvCxnSpPr>
            <p:spPr>
              <a:xfrm>
                <a:off x="2529400" y="1132475"/>
                <a:ext cx="4644299" cy="1722599"/>
              </a:xfrm>
              <a:prstGeom prst="straightConnector1">
                <a:avLst/>
              </a:prstGeom>
              <a:noFill/>
              <a:ln w="19050" cap="flat">
                <a:solidFill>
                  <a:srgbClr val="E06666"/>
                </a:solidFill>
                <a:prstDash val="dot"/>
                <a:round/>
                <a:headEnd type="none" w="med" len="med"/>
                <a:tailEnd type="triangle" w="lg" len="lg"/>
              </a:ln>
            </p:spPr>
          </p:cxnSp>
          <p:cxnSp>
            <p:nvCxnSpPr>
              <p:cNvPr id="1444" name="Shape 1444"/>
              <p:cNvCxnSpPr/>
              <p:nvPr/>
            </p:nvCxnSpPr>
            <p:spPr>
              <a:xfrm>
                <a:off x="2588550" y="2736150"/>
                <a:ext cx="4506299" cy="108300"/>
              </a:xfrm>
              <a:prstGeom prst="straightConnector1">
                <a:avLst/>
              </a:prstGeom>
              <a:noFill/>
              <a:ln w="19050" cap="flat">
                <a:solidFill>
                  <a:srgbClr val="E06666"/>
                </a:solidFill>
                <a:prstDash val="dot"/>
                <a:round/>
                <a:headEnd type="none" w="med" len="med"/>
                <a:tailEnd type="triangle" w="lg" len="lg"/>
              </a:ln>
            </p:spPr>
          </p:cxnSp>
          <p:cxnSp>
            <p:nvCxnSpPr>
              <p:cNvPr id="1445" name="Shape 1445"/>
              <p:cNvCxnSpPr/>
              <p:nvPr/>
            </p:nvCxnSpPr>
            <p:spPr>
              <a:xfrm rot="10800000" flipH="1">
                <a:off x="2608300" y="2855073"/>
                <a:ext cx="4565400" cy="1199400"/>
              </a:xfrm>
              <a:prstGeom prst="straightConnector1">
                <a:avLst/>
              </a:prstGeom>
              <a:noFill/>
              <a:ln w="19050" cap="flat">
                <a:solidFill>
                  <a:srgbClr val="E06666"/>
                </a:solidFill>
                <a:prstDash val="dot"/>
                <a:round/>
                <a:headEnd type="none" w="med" len="med"/>
                <a:tailEnd type="triangle" w="lg" len="lg"/>
              </a:ln>
            </p:spPr>
          </p:cxnSp>
          <p:cxnSp>
            <p:nvCxnSpPr>
              <p:cNvPr id="1446" name="Shape 1446"/>
              <p:cNvCxnSpPr/>
              <p:nvPr/>
            </p:nvCxnSpPr>
            <p:spPr>
              <a:xfrm rot="10800000" flipH="1">
                <a:off x="2608200" y="2844247"/>
                <a:ext cx="4545900" cy="3172800"/>
              </a:xfrm>
              <a:prstGeom prst="straightConnector1">
                <a:avLst/>
              </a:prstGeom>
              <a:noFill/>
              <a:ln w="19050" cap="flat">
                <a:solidFill>
                  <a:srgbClr val="E06666"/>
                </a:solidFill>
                <a:prstDash val="dot"/>
                <a:round/>
                <a:headEnd type="none" w="med" len="med"/>
                <a:tailEnd type="triangle" w="lg" len="lg"/>
              </a:ln>
            </p:spPr>
          </p:cxnSp>
        </p:grpSp>
        <p:sp>
          <p:nvSpPr>
            <p:cNvPr id="1447" name="Shape 1447"/>
            <p:cNvSpPr txBox="1"/>
            <p:nvPr/>
          </p:nvSpPr>
          <p:spPr>
            <a:xfrm>
              <a:off x="5304600" y="2718710"/>
              <a:ext cx="1313399" cy="6324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06666"/>
                </a:buClr>
                <a:buSzPct val="25000"/>
                <a:buFont typeface="Arial"/>
                <a:buNone/>
              </a:pPr>
              <a:r>
                <a:rPr lang="zh-TW" sz="1400" b="1" i="0" u="none" strike="noStrike" cap="none" baseline="0">
                  <a:solidFill>
                    <a:srgbClr val="E06666"/>
                  </a:solidFill>
                  <a:latin typeface="Arial"/>
                  <a:ea typeface="Arial"/>
                  <a:cs typeface="Arial"/>
                  <a:sym typeface="Arial"/>
                </a:rPr>
                <a:t>Application kick doorbell</a:t>
              </a:r>
            </a:p>
          </p:txBody>
        </p:sp>
      </p:grpSp>
      <p:grpSp>
        <p:nvGrpSpPr>
          <p:cNvPr id="1448" name="Shape 1448"/>
          <p:cNvGrpSpPr/>
          <p:nvPr/>
        </p:nvGrpSpPr>
        <p:grpSpPr>
          <a:xfrm>
            <a:off x="6268374" y="3681723"/>
            <a:ext cx="2875500" cy="2098501"/>
            <a:chOff x="6268374" y="3681723"/>
            <a:chExt cx="2875500" cy="2098501"/>
          </a:xfrm>
        </p:grpSpPr>
        <p:cxnSp>
          <p:nvCxnSpPr>
            <p:cNvPr id="1449" name="Shape 1449"/>
            <p:cNvCxnSpPr/>
            <p:nvPr/>
          </p:nvCxnSpPr>
          <p:spPr>
            <a:xfrm rot="10800000">
              <a:off x="6288172" y="3681723"/>
              <a:ext cx="1644299" cy="1311899"/>
            </a:xfrm>
            <a:prstGeom prst="straightConnector1">
              <a:avLst/>
            </a:prstGeom>
            <a:noFill/>
            <a:ln w="19050" cap="flat">
              <a:solidFill>
                <a:srgbClr val="E69138"/>
              </a:solidFill>
              <a:prstDash val="dot"/>
              <a:round/>
              <a:headEnd type="none" w="med" len="med"/>
              <a:tailEnd type="triangle" w="lg" len="lg"/>
            </a:ln>
          </p:spPr>
        </p:cxnSp>
        <p:cxnSp>
          <p:nvCxnSpPr>
            <p:cNvPr id="1450" name="Shape 1450"/>
            <p:cNvCxnSpPr/>
            <p:nvPr/>
          </p:nvCxnSpPr>
          <p:spPr>
            <a:xfrm rot="10800000">
              <a:off x="6268374" y="4704721"/>
              <a:ext cx="1664100" cy="288899"/>
            </a:xfrm>
            <a:prstGeom prst="straightConnector1">
              <a:avLst/>
            </a:prstGeom>
            <a:noFill/>
            <a:ln w="19050" cap="flat">
              <a:solidFill>
                <a:srgbClr val="E69138"/>
              </a:solidFill>
              <a:prstDash val="dot"/>
              <a:round/>
              <a:headEnd type="none" w="med" len="med"/>
              <a:tailEnd type="triangle" w="lg" len="lg"/>
            </a:ln>
          </p:spPr>
        </p:cxnSp>
        <p:sp>
          <p:nvSpPr>
            <p:cNvPr id="1451" name="Shape 1451"/>
            <p:cNvSpPr txBox="1"/>
            <p:nvPr/>
          </p:nvSpPr>
          <p:spPr>
            <a:xfrm>
              <a:off x="6721075" y="4993625"/>
              <a:ext cx="2422800" cy="786599"/>
            </a:xfrm>
            <a:prstGeom prst="rect">
              <a:avLst/>
            </a:prstGeom>
            <a:noFill/>
            <a:ln w="9525" cap="flat">
              <a:solidFill>
                <a:srgbClr val="E69138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lvl="0" algn="ctr" rtl="0">
                <a:spcBef>
                  <a:spcPts val="0"/>
                </a:spcBef>
                <a:buClr>
                  <a:schemeClr val="dk1"/>
                </a:buClr>
                <a:buSzPct val="78571"/>
                <a:buFont typeface="Arial"/>
                <a:buNone/>
              </a:pPr>
              <a:r>
                <a:rPr lang="zh-TW">
                  <a:solidFill>
                    <a:srgbClr val="E69138"/>
                  </a:solidFill>
                </a:rPr>
                <a:t>Need IOMMU second level address translation support</a:t>
              </a:r>
            </a:p>
            <a:p>
              <a:pPr lvl="0" algn="ctr" rtl="0">
                <a:spcBef>
                  <a:spcPts val="0"/>
                </a:spcBef>
                <a:buClr>
                  <a:schemeClr val="dk1"/>
                </a:buClr>
                <a:buSzPct val="78571"/>
                <a:buFont typeface="Arial"/>
                <a:buNone/>
              </a:pPr>
              <a:r>
                <a:rPr lang="zh-TW">
                  <a:solidFill>
                    <a:srgbClr val="E69138"/>
                  </a:solidFill>
                </a:rPr>
                <a:t>(GVA-&gt;IPA-&gt;PA)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9138"/>
                </a:buClr>
                <a:buFont typeface="Arial"/>
                <a:buNone/>
              </a:pPr>
              <a:endParaRPr>
                <a:solidFill>
                  <a:srgbClr val="E69138"/>
                </a:solidFill>
              </a:endParaRPr>
            </a:p>
          </p:txBody>
        </p:sp>
      </p:grpSp>
      <p:sp>
        <p:nvSpPr>
          <p:cNvPr id="1452" name="Shape 1452"/>
          <p:cNvSpPr/>
          <p:nvPr/>
        </p:nvSpPr>
        <p:spPr>
          <a:xfrm>
            <a:off x="3834575" y="444725"/>
            <a:ext cx="323700" cy="410699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3" name="Shape 1453"/>
          <p:cNvSpPr/>
          <p:nvPr/>
        </p:nvSpPr>
        <p:spPr>
          <a:xfrm>
            <a:off x="4186075" y="203975"/>
            <a:ext cx="323700" cy="410699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4" name="Shape 1454"/>
          <p:cNvSpPr/>
          <p:nvPr/>
        </p:nvSpPr>
        <p:spPr>
          <a:xfrm>
            <a:off x="3792875" y="2098775"/>
            <a:ext cx="323700" cy="410699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5" name="Shape 1455"/>
          <p:cNvSpPr/>
          <p:nvPr/>
        </p:nvSpPr>
        <p:spPr>
          <a:xfrm>
            <a:off x="3816975" y="3804475"/>
            <a:ext cx="323700" cy="410699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6" name="Shape 1456"/>
          <p:cNvSpPr/>
          <p:nvPr/>
        </p:nvSpPr>
        <p:spPr>
          <a:xfrm>
            <a:off x="4177287" y="3556462"/>
            <a:ext cx="323700" cy="410699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7" name="Shape 1457"/>
          <p:cNvSpPr/>
          <p:nvPr/>
        </p:nvSpPr>
        <p:spPr>
          <a:xfrm>
            <a:off x="4583200" y="3556450"/>
            <a:ext cx="323700" cy="410699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8" name="Shape 1458"/>
          <p:cNvSpPr/>
          <p:nvPr/>
        </p:nvSpPr>
        <p:spPr>
          <a:xfrm>
            <a:off x="3816975" y="5593000"/>
            <a:ext cx="323700" cy="410699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9" name="Shape 1459"/>
          <p:cNvSpPr/>
          <p:nvPr/>
        </p:nvSpPr>
        <p:spPr>
          <a:xfrm>
            <a:off x="4177287" y="5293350"/>
            <a:ext cx="323700" cy="410699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0" name="Shape 1460"/>
          <p:cNvGrpSpPr/>
          <p:nvPr/>
        </p:nvGrpSpPr>
        <p:grpSpPr>
          <a:xfrm>
            <a:off x="5986800" y="333875"/>
            <a:ext cx="3157200" cy="2215800"/>
            <a:chOff x="5986800" y="333875"/>
            <a:chExt cx="3157200" cy="2215800"/>
          </a:xfrm>
        </p:grpSpPr>
        <p:cxnSp>
          <p:nvCxnSpPr>
            <p:cNvPr id="1461" name="Shape 1461"/>
            <p:cNvCxnSpPr>
              <a:endCxn id="1462" idx="1"/>
            </p:cNvCxnSpPr>
            <p:nvPr/>
          </p:nvCxnSpPr>
          <p:spPr>
            <a:xfrm rot="10800000" flipH="1">
              <a:off x="5986800" y="650075"/>
              <a:ext cx="734400" cy="724200"/>
            </a:xfrm>
            <a:prstGeom prst="straightConnector1">
              <a:avLst/>
            </a:prstGeom>
            <a:noFill/>
            <a:ln w="19050" cap="flat">
              <a:solidFill>
                <a:srgbClr val="E69138"/>
              </a:solidFill>
              <a:prstDash val="dot"/>
              <a:round/>
              <a:headEnd type="triangle" w="lg" len="lg"/>
              <a:tailEnd type="none" w="lg" len="lg"/>
            </a:ln>
          </p:spPr>
        </p:cxnSp>
        <p:sp>
          <p:nvSpPr>
            <p:cNvPr id="1462" name="Shape 1462"/>
            <p:cNvSpPr txBox="1"/>
            <p:nvPr/>
          </p:nvSpPr>
          <p:spPr>
            <a:xfrm>
              <a:off x="6721200" y="333875"/>
              <a:ext cx="2422800" cy="6324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lvl="0" algn="ctr" rtl="0">
                <a:spcBef>
                  <a:spcPts val="0"/>
                </a:spcBef>
                <a:buClr>
                  <a:schemeClr val="dk1"/>
                </a:buClr>
                <a:buSzPct val="78571"/>
                <a:buFont typeface="Arial"/>
                <a:buNone/>
              </a:pPr>
              <a:r>
                <a:rPr lang="zh-TW">
                  <a:solidFill>
                    <a:srgbClr val="E69138"/>
                  </a:solidFill>
                </a:rPr>
                <a:t>IOMMU address translation </a:t>
              </a:r>
            </a:p>
            <a:p>
              <a:pPr lvl="0" algn="ctr" rtl="0">
                <a:spcBef>
                  <a:spcPts val="0"/>
                </a:spcBef>
                <a:buClr>
                  <a:schemeClr val="dk1"/>
                </a:buClr>
                <a:buSzPct val="78571"/>
                <a:buFont typeface="Arial"/>
                <a:buNone/>
              </a:pPr>
              <a:r>
                <a:rPr lang="zh-TW">
                  <a:solidFill>
                    <a:srgbClr val="E69138"/>
                  </a:solidFill>
                </a:rPr>
                <a:t>(VA-&gt;PA)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69138"/>
                </a:buClr>
                <a:buFont typeface="Arial"/>
                <a:buNone/>
              </a:pPr>
              <a:endParaRPr>
                <a:solidFill>
                  <a:srgbClr val="E69138"/>
                </a:solidFill>
              </a:endParaRPr>
            </a:p>
          </p:txBody>
        </p:sp>
        <p:cxnSp>
          <p:nvCxnSpPr>
            <p:cNvPr id="1463" name="Shape 1463"/>
            <p:cNvCxnSpPr>
              <a:stCxn id="1462" idx="1"/>
            </p:cNvCxnSpPr>
            <p:nvPr/>
          </p:nvCxnSpPr>
          <p:spPr>
            <a:xfrm flipH="1">
              <a:off x="6016500" y="650075"/>
              <a:ext cx="704700" cy="1899600"/>
            </a:xfrm>
            <a:prstGeom prst="straightConnector1">
              <a:avLst/>
            </a:prstGeom>
            <a:noFill/>
            <a:ln w="19050" cap="flat">
              <a:solidFill>
                <a:srgbClr val="E69138"/>
              </a:solidFill>
              <a:prstDash val="dot"/>
              <a:round/>
              <a:headEnd type="none" w="lg" len="lg"/>
              <a:tailEnd type="triangle" w="lg" len="lg"/>
            </a:ln>
          </p:spPr>
        </p:cxnSp>
      </p:grpSp>
      <p:cxnSp>
        <p:nvCxnSpPr>
          <p:cNvPr id="1464" name="Shape 1464"/>
          <p:cNvCxnSpPr>
            <a:stCxn id="1465" idx="2"/>
            <a:endCxn id="1466" idx="2"/>
          </p:cNvCxnSpPr>
          <p:nvPr/>
        </p:nvCxnSpPr>
        <p:spPr>
          <a:xfrm>
            <a:off x="3589725" y="679624"/>
            <a:ext cx="136200" cy="174599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465" name="Shape 1465"/>
          <p:cNvSpPr txBox="1"/>
          <p:nvPr/>
        </p:nvSpPr>
        <p:spPr>
          <a:xfrm>
            <a:off x="3360825" y="444725"/>
            <a:ext cx="457800" cy="234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000" b="1"/>
              <a:t>rptr</a:t>
            </a:r>
          </a:p>
        </p:txBody>
      </p:sp>
      <p:sp>
        <p:nvSpPr>
          <p:cNvPr id="1467" name="Shape 1467"/>
          <p:cNvSpPr txBox="1"/>
          <p:nvPr/>
        </p:nvSpPr>
        <p:spPr>
          <a:xfrm>
            <a:off x="3450125" y="-8125"/>
            <a:ext cx="457800" cy="234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000" b="1"/>
              <a:t>wptr</a:t>
            </a:r>
          </a:p>
        </p:txBody>
      </p:sp>
      <p:sp>
        <p:nvSpPr>
          <p:cNvPr id="1468" name="Shape 1468"/>
          <p:cNvSpPr txBox="1"/>
          <p:nvPr/>
        </p:nvSpPr>
        <p:spPr>
          <a:xfrm>
            <a:off x="3360825" y="2125212"/>
            <a:ext cx="457800" cy="234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000" b="1"/>
              <a:t>rptr</a:t>
            </a:r>
          </a:p>
        </p:txBody>
      </p:sp>
      <p:cxnSp>
        <p:nvCxnSpPr>
          <p:cNvPr id="1469" name="Shape 1469"/>
          <p:cNvCxnSpPr>
            <a:stCxn id="1468" idx="2"/>
            <a:endCxn id="1470" idx="2"/>
          </p:cNvCxnSpPr>
          <p:nvPr/>
        </p:nvCxnSpPr>
        <p:spPr>
          <a:xfrm>
            <a:off x="3589725" y="2360112"/>
            <a:ext cx="136200" cy="1746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471" name="Shape 1471"/>
          <p:cNvSpPr txBox="1"/>
          <p:nvPr/>
        </p:nvSpPr>
        <p:spPr>
          <a:xfrm>
            <a:off x="3360825" y="3846475"/>
            <a:ext cx="457800" cy="234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000" b="1"/>
              <a:t>rptr</a:t>
            </a:r>
          </a:p>
        </p:txBody>
      </p:sp>
      <p:cxnSp>
        <p:nvCxnSpPr>
          <p:cNvPr id="1472" name="Shape 1472"/>
          <p:cNvCxnSpPr>
            <a:stCxn id="1471" idx="2"/>
            <a:endCxn id="1473" idx="2"/>
          </p:cNvCxnSpPr>
          <p:nvPr/>
        </p:nvCxnSpPr>
        <p:spPr>
          <a:xfrm>
            <a:off x="3589725" y="4081374"/>
            <a:ext cx="136200" cy="1746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474" name="Shape 1474"/>
          <p:cNvSpPr txBox="1"/>
          <p:nvPr/>
        </p:nvSpPr>
        <p:spPr>
          <a:xfrm>
            <a:off x="3360825" y="5592975"/>
            <a:ext cx="457800" cy="234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000" b="1"/>
              <a:t>rptr</a:t>
            </a:r>
          </a:p>
        </p:txBody>
      </p:sp>
      <p:cxnSp>
        <p:nvCxnSpPr>
          <p:cNvPr id="1475" name="Shape 1475"/>
          <p:cNvCxnSpPr>
            <a:stCxn id="1474" idx="2"/>
            <a:endCxn id="1476" idx="2"/>
          </p:cNvCxnSpPr>
          <p:nvPr/>
        </p:nvCxnSpPr>
        <p:spPr>
          <a:xfrm>
            <a:off x="3589725" y="5827874"/>
            <a:ext cx="136200" cy="1746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477" name="Shape 1477"/>
          <p:cNvSpPr txBox="1"/>
          <p:nvPr/>
        </p:nvSpPr>
        <p:spPr>
          <a:xfrm>
            <a:off x="3450125" y="1735762"/>
            <a:ext cx="457800" cy="234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000" b="1"/>
              <a:t>wptr</a:t>
            </a:r>
          </a:p>
        </p:txBody>
      </p:sp>
      <p:sp>
        <p:nvSpPr>
          <p:cNvPr id="1478" name="Shape 1478"/>
          <p:cNvSpPr txBox="1"/>
          <p:nvPr/>
        </p:nvSpPr>
        <p:spPr>
          <a:xfrm>
            <a:off x="5235575" y="3457300"/>
            <a:ext cx="457800" cy="234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000" b="1"/>
              <a:t>wptr</a:t>
            </a:r>
          </a:p>
        </p:txBody>
      </p:sp>
      <p:sp>
        <p:nvSpPr>
          <p:cNvPr id="1479" name="Shape 1479"/>
          <p:cNvSpPr txBox="1"/>
          <p:nvPr/>
        </p:nvSpPr>
        <p:spPr>
          <a:xfrm>
            <a:off x="4891600" y="5017800"/>
            <a:ext cx="457800" cy="234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 sz="1000" b="1"/>
              <a:t>wptr</a:t>
            </a:r>
          </a:p>
        </p:txBody>
      </p:sp>
      <p:cxnSp>
        <p:nvCxnSpPr>
          <p:cNvPr id="1480" name="Shape 1480"/>
          <p:cNvCxnSpPr>
            <a:stCxn id="1477" idx="2"/>
            <a:endCxn id="1481" idx="1"/>
          </p:cNvCxnSpPr>
          <p:nvPr/>
        </p:nvCxnSpPr>
        <p:spPr>
          <a:xfrm>
            <a:off x="3679025" y="1970662"/>
            <a:ext cx="284700" cy="453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482" name="Shape 1482"/>
          <p:cNvCxnSpPr>
            <a:stCxn id="1478" idx="2"/>
            <a:endCxn id="1483" idx="7"/>
          </p:cNvCxnSpPr>
          <p:nvPr/>
        </p:nvCxnSpPr>
        <p:spPr>
          <a:xfrm flipH="1">
            <a:off x="5111675" y="3692199"/>
            <a:ext cx="352800" cy="606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484" name="Shape 1484"/>
          <p:cNvCxnSpPr>
            <a:stCxn id="1479" idx="2"/>
            <a:endCxn id="1485" idx="0"/>
          </p:cNvCxnSpPr>
          <p:nvPr/>
        </p:nvCxnSpPr>
        <p:spPr>
          <a:xfrm flipH="1">
            <a:off x="4537600" y="5252699"/>
            <a:ext cx="582900" cy="240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486" name="Shape 1486"/>
          <p:cNvCxnSpPr>
            <a:stCxn id="1467" idx="2"/>
            <a:endCxn id="1466" idx="0"/>
          </p:cNvCxnSpPr>
          <p:nvPr/>
        </p:nvCxnSpPr>
        <p:spPr>
          <a:xfrm rot="10800000" flipH="1">
            <a:off x="3679025" y="127474"/>
            <a:ext cx="858600" cy="993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1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1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Shape 1491"/>
          <p:cNvSpPr/>
          <p:nvPr/>
        </p:nvSpPr>
        <p:spPr>
          <a:xfrm>
            <a:off x="502050" y="3208450"/>
            <a:ext cx="3797399" cy="939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1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b="1"/>
              <a:t>Guest OS</a:t>
            </a:r>
          </a:p>
        </p:txBody>
      </p:sp>
      <p:sp>
        <p:nvSpPr>
          <p:cNvPr id="1492" name="Shape 1492"/>
          <p:cNvSpPr/>
          <p:nvPr/>
        </p:nvSpPr>
        <p:spPr>
          <a:xfrm>
            <a:off x="502050" y="1461075"/>
            <a:ext cx="3797399" cy="1371599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b="1"/>
              <a:t>HSA </a:t>
            </a:r>
            <a:r>
              <a:rPr lang="zh-TW" sz="1400" b="1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Runtime Library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1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1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1" i="0" u="none" strike="noStrike" cap="none" baseline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3" name="Shape 1493"/>
          <p:cNvSpPr/>
          <p:nvPr/>
        </p:nvSpPr>
        <p:spPr>
          <a:xfrm>
            <a:off x="502050" y="2212625"/>
            <a:ext cx="3797399" cy="620099"/>
          </a:xfrm>
          <a:prstGeom prst="roundRect">
            <a:avLst>
              <a:gd name="adj" fmla="val 16667"/>
            </a:avLst>
          </a:prstGeom>
          <a:solidFill>
            <a:srgbClr val="CC00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TW" sz="800" b="1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open(“/dev/kfd”)</a:t>
            </a: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TW" sz="800" b="1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ioctl(KFD_IOC_SET_MEMORY_POLICY)</a:t>
            </a: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TW" sz="800" b="1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ioctl(KFD_IOC_CREATE_QUEUE)</a:t>
            </a: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zh-TW" sz="800" b="1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ioctl(KFD_IOC_DESTROY_QUEUE)</a:t>
            </a:r>
          </a:p>
        </p:txBody>
      </p:sp>
      <p:sp>
        <p:nvSpPr>
          <p:cNvPr id="1494" name="Shape 1494"/>
          <p:cNvSpPr/>
          <p:nvPr/>
        </p:nvSpPr>
        <p:spPr>
          <a:xfrm>
            <a:off x="502050" y="379450"/>
            <a:ext cx="3797399" cy="7245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b="1"/>
              <a:t>Guest </a:t>
            </a:r>
            <a:r>
              <a:rPr lang="zh-TW" sz="1400" b="1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</a:p>
        </p:txBody>
      </p:sp>
      <p:cxnSp>
        <p:nvCxnSpPr>
          <p:cNvPr id="1495" name="Shape 1495"/>
          <p:cNvCxnSpPr>
            <a:stCxn id="1494" idx="2"/>
            <a:endCxn id="1492" idx="0"/>
          </p:cNvCxnSpPr>
          <p:nvPr/>
        </p:nvCxnSpPr>
        <p:spPr>
          <a:xfrm>
            <a:off x="2400750" y="1103950"/>
            <a:ext cx="0" cy="3570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triangle" w="lg" len="lg"/>
            <a:tailEnd type="triangle" w="lg" len="lg"/>
          </a:ln>
        </p:spPr>
      </p:cxnSp>
      <p:sp>
        <p:nvSpPr>
          <p:cNvPr id="1496" name="Shape 1496"/>
          <p:cNvSpPr/>
          <p:nvPr/>
        </p:nvSpPr>
        <p:spPr>
          <a:xfrm>
            <a:off x="502050" y="4407950"/>
            <a:ext cx="8139899" cy="939300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b="1"/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b="1"/>
              <a:t>Host OS</a:t>
            </a:r>
          </a:p>
        </p:txBody>
      </p:sp>
      <p:sp>
        <p:nvSpPr>
          <p:cNvPr id="1497" name="Shape 1497"/>
          <p:cNvSpPr/>
          <p:nvPr/>
        </p:nvSpPr>
        <p:spPr>
          <a:xfrm>
            <a:off x="844075" y="4407950"/>
            <a:ext cx="3450600" cy="357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/>
              <a:t>KVM</a:t>
            </a:r>
          </a:p>
        </p:txBody>
      </p:sp>
      <p:sp>
        <p:nvSpPr>
          <p:cNvPr id="1498" name="Shape 1498"/>
          <p:cNvSpPr/>
          <p:nvPr/>
        </p:nvSpPr>
        <p:spPr>
          <a:xfrm>
            <a:off x="1900400" y="3208375"/>
            <a:ext cx="993600" cy="469799"/>
          </a:xfrm>
          <a:prstGeom prst="rect">
            <a:avLst/>
          </a:prstGeom>
          <a:solidFill>
            <a:srgbClr val="D5A6B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sz="1200"/>
              <a:t>Virtio-</a:t>
            </a:r>
            <a:r>
              <a:rPr lang="zh-TW" sz="12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KFD  </a:t>
            </a:r>
          </a:p>
        </p:txBody>
      </p:sp>
      <p:sp>
        <p:nvSpPr>
          <p:cNvPr id="1499" name="Shape 1499"/>
          <p:cNvSpPr/>
          <p:nvPr/>
        </p:nvSpPr>
        <p:spPr>
          <a:xfrm>
            <a:off x="6126150" y="4642700"/>
            <a:ext cx="1286399" cy="469799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IOMMU Driver</a:t>
            </a:r>
          </a:p>
        </p:txBody>
      </p:sp>
      <p:sp>
        <p:nvSpPr>
          <p:cNvPr id="1500" name="Shape 1500"/>
          <p:cNvSpPr/>
          <p:nvPr/>
        </p:nvSpPr>
        <p:spPr>
          <a:xfrm>
            <a:off x="4647175" y="4642700"/>
            <a:ext cx="1067699" cy="469799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KFD  </a:t>
            </a:r>
          </a:p>
        </p:txBody>
      </p:sp>
      <p:cxnSp>
        <p:nvCxnSpPr>
          <p:cNvPr id="1501" name="Shape 1501"/>
          <p:cNvCxnSpPr>
            <a:stCxn id="1493" idx="2"/>
            <a:endCxn id="1498" idx="0"/>
          </p:cNvCxnSpPr>
          <p:nvPr/>
        </p:nvCxnSpPr>
        <p:spPr>
          <a:xfrm flipH="1">
            <a:off x="2397150" y="2832724"/>
            <a:ext cx="3600" cy="3756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502" name="Shape 1502"/>
          <p:cNvSpPr/>
          <p:nvPr/>
        </p:nvSpPr>
        <p:spPr>
          <a:xfrm>
            <a:off x="4560925" y="5789775"/>
            <a:ext cx="1240199" cy="939300"/>
          </a:xfrm>
          <a:prstGeom prst="roundRect">
            <a:avLst>
              <a:gd name="adj" fmla="val 16667"/>
            </a:avLst>
          </a:prstGeom>
          <a:solidFill>
            <a:srgbClr val="3C78D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sz="1400" b="1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HSA Device</a:t>
            </a:r>
          </a:p>
        </p:txBody>
      </p:sp>
      <p:sp>
        <p:nvSpPr>
          <p:cNvPr id="1503" name="Shape 1503"/>
          <p:cNvSpPr/>
          <p:nvPr/>
        </p:nvSpPr>
        <p:spPr>
          <a:xfrm>
            <a:off x="6149250" y="5789775"/>
            <a:ext cx="1240199" cy="939300"/>
          </a:xfrm>
          <a:prstGeom prst="roundRect">
            <a:avLst>
              <a:gd name="adj" fmla="val 16667"/>
            </a:avLst>
          </a:prstGeom>
          <a:solidFill>
            <a:srgbClr val="3C78D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sz="1400" b="1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IOMMU</a:t>
            </a:r>
          </a:p>
        </p:txBody>
      </p:sp>
      <p:sp>
        <p:nvSpPr>
          <p:cNvPr id="1504" name="Shape 1504"/>
          <p:cNvSpPr/>
          <p:nvPr/>
        </p:nvSpPr>
        <p:spPr>
          <a:xfrm>
            <a:off x="5807850" y="394650"/>
            <a:ext cx="2834100" cy="380610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algn="ctr" rtl="0">
              <a:spcBef>
                <a:spcPts val="0"/>
              </a:spcBef>
              <a:buNone/>
            </a:pPr>
            <a:r>
              <a:rPr lang="zh-TW" sz="2000"/>
              <a:t>Qemu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zh-TW" sz="2000">
                <a:solidFill>
                  <a:schemeClr val="dk1"/>
                </a:solidFill>
              </a:rPr>
              <a:t>(Host process)</a:t>
            </a:r>
          </a:p>
        </p:txBody>
      </p:sp>
      <p:cxnSp>
        <p:nvCxnSpPr>
          <p:cNvPr id="1505" name="Shape 1505"/>
          <p:cNvCxnSpPr>
            <a:stCxn id="1500" idx="3"/>
            <a:endCxn id="1499" idx="1"/>
          </p:cNvCxnSpPr>
          <p:nvPr/>
        </p:nvCxnSpPr>
        <p:spPr>
          <a:xfrm>
            <a:off x="5714874" y="4877599"/>
            <a:ext cx="4113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triangle" w="lg" len="lg"/>
            <a:tailEnd type="triangle" w="lg" len="lg"/>
          </a:ln>
        </p:spPr>
      </p:cxnSp>
      <p:cxnSp>
        <p:nvCxnSpPr>
          <p:cNvPr id="1506" name="Shape 1506"/>
          <p:cNvCxnSpPr>
            <a:stCxn id="1507" idx="0"/>
          </p:cNvCxnSpPr>
          <p:nvPr/>
        </p:nvCxnSpPr>
        <p:spPr>
          <a:xfrm>
            <a:off x="5181025" y="5112500"/>
            <a:ext cx="0" cy="677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508" name="Shape 1508"/>
          <p:cNvCxnSpPr>
            <a:stCxn id="1499" idx="2"/>
            <a:endCxn id="1503" idx="0"/>
          </p:cNvCxnSpPr>
          <p:nvPr/>
        </p:nvCxnSpPr>
        <p:spPr>
          <a:xfrm>
            <a:off x="6769349" y="5112499"/>
            <a:ext cx="0" cy="677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509" name="Shape 1509"/>
          <p:cNvSpPr/>
          <p:nvPr/>
        </p:nvSpPr>
        <p:spPr>
          <a:xfrm>
            <a:off x="2894075" y="3261225"/>
            <a:ext cx="3231899" cy="469799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E0666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 sz="1200"/>
              <a:t>Shared Virtqueue</a:t>
            </a:r>
          </a:p>
        </p:txBody>
      </p:sp>
      <p:sp>
        <p:nvSpPr>
          <p:cNvPr id="1510" name="Shape 1510"/>
          <p:cNvSpPr/>
          <p:nvPr/>
        </p:nvSpPr>
        <p:spPr>
          <a:xfrm>
            <a:off x="6112200" y="3261225"/>
            <a:ext cx="2225400" cy="939300"/>
          </a:xfrm>
          <a:prstGeom prst="rect">
            <a:avLst/>
          </a:prstGeom>
          <a:solidFill>
            <a:srgbClr val="D5A6B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zh-TW" sz="1200"/>
              <a:t>Back-end Driver</a:t>
            </a:r>
          </a:p>
        </p:txBody>
      </p:sp>
      <p:cxnSp>
        <p:nvCxnSpPr>
          <p:cNvPr id="1511" name="Shape 1511"/>
          <p:cNvCxnSpPr/>
          <p:nvPr/>
        </p:nvCxnSpPr>
        <p:spPr>
          <a:xfrm rot="10800000" flipH="1">
            <a:off x="2288085" y="3833832"/>
            <a:ext cx="3796997" cy="637985"/>
          </a:xfrm>
          <a:prstGeom prst="straightConnector1">
            <a:avLst/>
          </a:prstGeom>
          <a:noFill/>
          <a:ln w="19050" cap="flat">
            <a:solidFill>
              <a:srgbClr val="FF0000"/>
            </a:solidFill>
            <a:prstDash val="solid"/>
            <a:round/>
            <a:headEnd type="triangle" w="lg" len="lg"/>
            <a:tailEnd type="triangle" w="lg" len="lg"/>
          </a:ln>
        </p:spPr>
      </p:cxnSp>
      <p:cxnSp>
        <p:nvCxnSpPr>
          <p:cNvPr id="1512" name="Shape 1512"/>
          <p:cNvCxnSpPr/>
          <p:nvPr/>
        </p:nvCxnSpPr>
        <p:spPr>
          <a:xfrm>
            <a:off x="2247206" y="3703503"/>
            <a:ext cx="23402" cy="783575"/>
          </a:xfrm>
          <a:prstGeom prst="straightConnector1">
            <a:avLst/>
          </a:prstGeom>
          <a:noFill/>
          <a:ln w="19050" cap="flat">
            <a:solidFill>
              <a:srgbClr val="FF0000"/>
            </a:solidFill>
            <a:prstDash val="solid"/>
            <a:round/>
            <a:headEnd type="triangle" w="lg" len="lg"/>
            <a:tailEnd type="triangle" w="lg" len="lg"/>
          </a:ln>
        </p:spPr>
      </p:cxnSp>
      <p:cxnSp>
        <p:nvCxnSpPr>
          <p:cNvPr id="1513" name="Shape 1513"/>
          <p:cNvCxnSpPr>
            <a:stCxn id="1510" idx="2"/>
            <a:endCxn id="1500" idx="0"/>
          </p:cNvCxnSpPr>
          <p:nvPr/>
        </p:nvCxnSpPr>
        <p:spPr>
          <a:xfrm flipH="1">
            <a:off x="5181000" y="4200525"/>
            <a:ext cx="2043900" cy="442200"/>
          </a:xfrm>
          <a:prstGeom prst="straightConnector1">
            <a:avLst/>
          </a:prstGeom>
          <a:noFill/>
          <a:ln w="19050" cap="flat">
            <a:solidFill>
              <a:srgbClr val="FF0000"/>
            </a:solidFill>
            <a:prstDash val="solid"/>
            <a:round/>
            <a:headEnd type="triangle" w="lg" len="lg"/>
            <a:tailEnd type="triangle" w="lg" len="lg"/>
          </a:ln>
        </p:spPr>
      </p:cxnSp>
      <p:sp>
        <p:nvSpPr>
          <p:cNvPr id="1514" name="Shape 1514"/>
          <p:cNvSpPr/>
          <p:nvPr/>
        </p:nvSpPr>
        <p:spPr>
          <a:xfrm>
            <a:off x="4157900" y="2569600"/>
            <a:ext cx="1803300" cy="7245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rgbClr val="F1C232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457200" lvl="0" indent="-292100" rtl="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lang="zh-TW" sz="1000"/>
              <a:t>Guest application queue address</a:t>
            </a:r>
          </a:p>
          <a:p>
            <a:pPr marL="457200" lvl="0" indent="-292100"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AutoNum type="arabicPeriod"/>
            </a:pPr>
            <a:r>
              <a:rPr lang="zh-TW" sz="1000"/>
              <a:t>Guest process page table</a:t>
            </a:r>
          </a:p>
        </p:txBody>
      </p:sp>
      <p:sp>
        <p:nvSpPr>
          <p:cNvPr id="1515" name="Shape 1515"/>
          <p:cNvSpPr/>
          <p:nvPr/>
        </p:nvSpPr>
        <p:spPr>
          <a:xfrm>
            <a:off x="7499250" y="4268824"/>
            <a:ext cx="1644731" cy="1078379"/>
          </a:xfrm>
          <a:prstGeom prst="cloud">
            <a:avLst/>
          </a:prstGeom>
          <a:solidFill>
            <a:schemeClr val="lt2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Clr>
                <a:schemeClr val="dk1"/>
              </a:buClr>
              <a:buSzPct val="78571"/>
              <a:buFont typeface="Arial"/>
              <a:buNone/>
            </a:pPr>
            <a:r>
              <a:rPr lang="zh-TW">
                <a:solidFill>
                  <a:srgbClr val="FF0000"/>
                </a:solidFill>
              </a:rPr>
              <a:t>Enable IOMMU two-stage translation</a:t>
            </a:r>
          </a:p>
        </p:txBody>
      </p:sp>
    </p:spTree>
  </p:cSld>
  <p:clrMapOvr>
    <a:masterClrMapping/>
  </p:clrMapOvr>
  <p:transition spd="slow">
    <p:cut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Shape 152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/>
              <a:t>Handle I/O Page Fault</a:t>
            </a:r>
          </a:p>
        </p:txBody>
      </p:sp>
      <p:sp>
        <p:nvSpPr>
          <p:cNvPr id="1521" name="Shape 1521"/>
          <p:cNvSpPr/>
          <p:nvPr/>
        </p:nvSpPr>
        <p:spPr>
          <a:xfrm>
            <a:off x="1028598" y="4697650"/>
            <a:ext cx="6288300" cy="947099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/>
              <a:t>Host OS </a:t>
            </a:r>
          </a:p>
        </p:txBody>
      </p:sp>
      <p:sp>
        <p:nvSpPr>
          <p:cNvPr id="1522" name="Shape 1522"/>
          <p:cNvSpPr/>
          <p:nvPr/>
        </p:nvSpPr>
        <p:spPr>
          <a:xfrm>
            <a:off x="2110512" y="5296162"/>
            <a:ext cx="1221600" cy="336599"/>
          </a:xfrm>
          <a:prstGeom prst="roundRect">
            <a:avLst>
              <a:gd name="adj" fmla="val 16667"/>
            </a:avLst>
          </a:prstGeom>
          <a:solidFill>
            <a:srgbClr val="6D9EEB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 sz="1200"/>
              <a:t>IOMMU Driver</a:t>
            </a:r>
          </a:p>
        </p:txBody>
      </p:sp>
      <p:sp>
        <p:nvSpPr>
          <p:cNvPr id="1523" name="Shape 1523"/>
          <p:cNvSpPr/>
          <p:nvPr/>
        </p:nvSpPr>
        <p:spPr>
          <a:xfrm>
            <a:off x="3848575" y="6052250"/>
            <a:ext cx="983699" cy="704399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zh-TW">
                <a:solidFill>
                  <a:srgbClr val="FFFFFF"/>
                </a:solidFill>
              </a:rPr>
              <a:t>IOMMU</a:t>
            </a:r>
          </a:p>
        </p:txBody>
      </p:sp>
      <p:grpSp>
        <p:nvGrpSpPr>
          <p:cNvPr id="1524" name="Shape 1524"/>
          <p:cNvGrpSpPr/>
          <p:nvPr/>
        </p:nvGrpSpPr>
        <p:grpSpPr>
          <a:xfrm>
            <a:off x="2721324" y="5632850"/>
            <a:ext cx="1619100" cy="419400"/>
            <a:chOff x="2721324" y="5632850"/>
            <a:chExt cx="1619100" cy="419400"/>
          </a:xfrm>
        </p:grpSpPr>
        <p:cxnSp>
          <p:nvCxnSpPr>
            <p:cNvPr id="1525" name="Shape 1525"/>
            <p:cNvCxnSpPr>
              <a:stCxn id="1523" idx="0"/>
              <a:endCxn id="1522" idx="2"/>
            </p:cNvCxnSpPr>
            <p:nvPr/>
          </p:nvCxnSpPr>
          <p:spPr>
            <a:xfrm rot="10800000">
              <a:off x="2721324" y="5632850"/>
              <a:ext cx="1619100" cy="419400"/>
            </a:xfrm>
            <a:prstGeom prst="straightConnector1">
              <a:avLst/>
            </a:prstGeom>
            <a:noFill/>
            <a:ln w="19050" cap="flat">
              <a:solidFill>
                <a:srgbClr val="FF0000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1526" name="Shape 1526"/>
            <p:cNvSpPr txBox="1"/>
            <p:nvPr/>
          </p:nvSpPr>
          <p:spPr>
            <a:xfrm>
              <a:off x="2875075" y="5704212"/>
              <a:ext cx="1125899" cy="1242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r>
                <a:rPr lang="zh-TW">
                  <a:solidFill>
                    <a:srgbClr val="FF0000"/>
                  </a:solidFill>
                </a:rPr>
                <a:t>Interrupt</a:t>
              </a:r>
            </a:p>
          </p:txBody>
        </p:sp>
      </p:grpSp>
      <p:sp>
        <p:nvSpPr>
          <p:cNvPr id="1527" name="Shape 1527"/>
          <p:cNvSpPr/>
          <p:nvPr/>
        </p:nvSpPr>
        <p:spPr>
          <a:xfrm>
            <a:off x="1028600" y="2092400"/>
            <a:ext cx="1093800" cy="2321099"/>
          </a:xfrm>
          <a:prstGeom prst="roundRect">
            <a:avLst>
              <a:gd name="adj" fmla="val 16667"/>
            </a:avLst>
          </a:prstGeom>
          <a:solidFill>
            <a:srgbClr val="E0666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/>
              <a:t>Process1</a:t>
            </a:r>
          </a:p>
        </p:txBody>
      </p:sp>
      <p:sp>
        <p:nvSpPr>
          <p:cNvPr id="1528" name="Shape 1528"/>
          <p:cNvSpPr/>
          <p:nvPr/>
        </p:nvSpPr>
        <p:spPr>
          <a:xfrm>
            <a:off x="3793533" y="2092400"/>
            <a:ext cx="1093800" cy="2321099"/>
          </a:xfrm>
          <a:prstGeom prst="roundRect">
            <a:avLst>
              <a:gd name="adj" fmla="val 16667"/>
            </a:avLst>
          </a:prstGeom>
          <a:solidFill>
            <a:srgbClr val="E0666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/>
              <a:t>Process2</a:t>
            </a:r>
          </a:p>
        </p:txBody>
      </p:sp>
      <p:sp>
        <p:nvSpPr>
          <p:cNvPr id="1529" name="Shape 1529"/>
          <p:cNvSpPr/>
          <p:nvPr/>
        </p:nvSpPr>
        <p:spPr>
          <a:xfrm>
            <a:off x="6223091" y="2092400"/>
            <a:ext cx="1093800" cy="2321099"/>
          </a:xfrm>
          <a:prstGeom prst="roundRect">
            <a:avLst>
              <a:gd name="adj" fmla="val 16667"/>
            </a:avLst>
          </a:prstGeom>
          <a:solidFill>
            <a:srgbClr val="E0666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/>
              <a:t>Process3</a:t>
            </a:r>
          </a:p>
        </p:txBody>
      </p:sp>
      <p:grpSp>
        <p:nvGrpSpPr>
          <p:cNvPr id="1530" name="Shape 1530"/>
          <p:cNvGrpSpPr/>
          <p:nvPr/>
        </p:nvGrpSpPr>
        <p:grpSpPr>
          <a:xfrm>
            <a:off x="3332112" y="5123125"/>
            <a:ext cx="2642112" cy="929037"/>
            <a:chOff x="3332112" y="5123125"/>
            <a:chExt cx="2642112" cy="929037"/>
          </a:xfrm>
        </p:grpSpPr>
        <p:cxnSp>
          <p:nvCxnSpPr>
            <p:cNvPr id="1531" name="Shape 1531"/>
            <p:cNvCxnSpPr>
              <a:stCxn id="1522" idx="3"/>
              <a:endCxn id="1523" idx="0"/>
            </p:cNvCxnSpPr>
            <p:nvPr/>
          </p:nvCxnSpPr>
          <p:spPr>
            <a:xfrm>
              <a:off x="3332112" y="5464462"/>
              <a:ext cx="1008300" cy="587700"/>
            </a:xfrm>
            <a:prstGeom prst="bentConnector2">
              <a:avLst/>
            </a:prstGeom>
            <a:noFill/>
            <a:ln w="19050" cap="flat">
              <a:solidFill>
                <a:schemeClr val="dk2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1532" name="Shape 1532"/>
            <p:cNvSpPr txBox="1"/>
            <p:nvPr/>
          </p:nvSpPr>
          <p:spPr>
            <a:xfrm>
              <a:off x="3408925" y="5123125"/>
              <a:ext cx="2565299" cy="336599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>
                <a:spcBef>
                  <a:spcPts val="0"/>
                </a:spcBef>
                <a:buNone/>
              </a:pPr>
              <a:r>
                <a:rPr lang="zh-TW" sz="1200"/>
                <a:t>Get fault address, process context</a:t>
              </a:r>
            </a:p>
          </p:txBody>
        </p:sp>
      </p:grp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1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Shape 153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/>
              <a:t>Handle Guest I/O Page Fault</a:t>
            </a:r>
          </a:p>
        </p:txBody>
      </p:sp>
      <p:sp>
        <p:nvSpPr>
          <p:cNvPr id="1538" name="Shape 1538"/>
          <p:cNvSpPr/>
          <p:nvPr/>
        </p:nvSpPr>
        <p:spPr>
          <a:xfrm>
            <a:off x="1028598" y="4697650"/>
            <a:ext cx="6288300" cy="947099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/>
              <a:t>Host OS </a:t>
            </a:r>
          </a:p>
        </p:txBody>
      </p:sp>
      <p:sp>
        <p:nvSpPr>
          <p:cNvPr id="1539" name="Shape 1539"/>
          <p:cNvSpPr/>
          <p:nvPr/>
        </p:nvSpPr>
        <p:spPr>
          <a:xfrm>
            <a:off x="6035987" y="5296175"/>
            <a:ext cx="1125899" cy="336599"/>
          </a:xfrm>
          <a:prstGeom prst="roundRect">
            <a:avLst>
              <a:gd name="adj" fmla="val 16667"/>
            </a:avLst>
          </a:prstGeom>
          <a:solidFill>
            <a:srgbClr val="6D9EEB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 sz="1200"/>
              <a:t>KFD Driver</a:t>
            </a:r>
          </a:p>
        </p:txBody>
      </p:sp>
      <p:sp>
        <p:nvSpPr>
          <p:cNvPr id="1540" name="Shape 1540"/>
          <p:cNvSpPr/>
          <p:nvPr/>
        </p:nvSpPr>
        <p:spPr>
          <a:xfrm>
            <a:off x="2110512" y="4697637"/>
            <a:ext cx="1125899" cy="336599"/>
          </a:xfrm>
          <a:prstGeom prst="roundRect">
            <a:avLst>
              <a:gd name="adj" fmla="val 16667"/>
            </a:avLst>
          </a:prstGeom>
          <a:solidFill>
            <a:srgbClr val="6D9EEB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/>
              <a:t>KVM</a:t>
            </a:r>
          </a:p>
        </p:txBody>
      </p:sp>
      <p:sp>
        <p:nvSpPr>
          <p:cNvPr id="1541" name="Shape 1541"/>
          <p:cNvSpPr/>
          <p:nvPr/>
        </p:nvSpPr>
        <p:spPr>
          <a:xfrm>
            <a:off x="1028575" y="3343050"/>
            <a:ext cx="1846799" cy="947099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zh-TW"/>
              <a:t>Guest OS       </a:t>
            </a:r>
          </a:p>
        </p:txBody>
      </p:sp>
      <p:sp>
        <p:nvSpPr>
          <p:cNvPr id="1542" name="Shape 1542"/>
          <p:cNvSpPr/>
          <p:nvPr/>
        </p:nvSpPr>
        <p:spPr>
          <a:xfrm>
            <a:off x="1547550" y="3953562"/>
            <a:ext cx="1125899" cy="336599"/>
          </a:xfrm>
          <a:prstGeom prst="roundRect">
            <a:avLst>
              <a:gd name="adj" fmla="val 16667"/>
            </a:avLst>
          </a:prstGeom>
          <a:solidFill>
            <a:srgbClr val="6D9EEB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 sz="1200"/>
              <a:t>virtio-iommu</a:t>
            </a:r>
          </a:p>
        </p:txBody>
      </p:sp>
      <p:sp>
        <p:nvSpPr>
          <p:cNvPr id="1543" name="Shape 1543"/>
          <p:cNvSpPr/>
          <p:nvPr/>
        </p:nvSpPr>
        <p:spPr>
          <a:xfrm>
            <a:off x="1042237" y="1518050"/>
            <a:ext cx="652800" cy="960300"/>
          </a:xfrm>
          <a:prstGeom prst="roundRect">
            <a:avLst>
              <a:gd name="adj" fmla="val 16667"/>
            </a:avLst>
          </a:prstGeom>
          <a:solidFill>
            <a:srgbClr val="E0666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 sz="800"/>
              <a:t>Guest 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zh-TW" sz="800"/>
              <a:t>Process1</a:t>
            </a:r>
          </a:p>
        </p:txBody>
      </p:sp>
      <p:sp>
        <p:nvSpPr>
          <p:cNvPr id="1544" name="Shape 1544"/>
          <p:cNvSpPr/>
          <p:nvPr/>
        </p:nvSpPr>
        <p:spPr>
          <a:xfrm>
            <a:off x="2525999" y="1518050"/>
            <a:ext cx="652800" cy="960300"/>
          </a:xfrm>
          <a:prstGeom prst="roundRect">
            <a:avLst>
              <a:gd name="adj" fmla="val 16667"/>
            </a:avLst>
          </a:prstGeom>
          <a:solidFill>
            <a:srgbClr val="E0666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 sz="800"/>
              <a:t>Guest 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zh-TW" sz="800"/>
              <a:t>Process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zh-TW" sz="800"/>
              <a:t>3</a:t>
            </a:r>
          </a:p>
        </p:txBody>
      </p:sp>
      <p:sp>
        <p:nvSpPr>
          <p:cNvPr id="1545" name="Shape 1545"/>
          <p:cNvSpPr/>
          <p:nvPr/>
        </p:nvSpPr>
        <p:spPr>
          <a:xfrm>
            <a:off x="1784118" y="1518050"/>
            <a:ext cx="652800" cy="960300"/>
          </a:xfrm>
          <a:prstGeom prst="roundRect">
            <a:avLst>
              <a:gd name="adj" fmla="val 16667"/>
            </a:avLst>
          </a:prstGeom>
          <a:solidFill>
            <a:srgbClr val="E0666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 sz="800"/>
              <a:t>Guest 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zh-TW" sz="800"/>
              <a:t>Process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zh-TW" sz="800"/>
              <a:t>2</a:t>
            </a:r>
          </a:p>
        </p:txBody>
      </p:sp>
      <p:cxnSp>
        <p:nvCxnSpPr>
          <p:cNvPr id="1546" name="Shape 1546"/>
          <p:cNvCxnSpPr>
            <a:stCxn id="1543" idx="2"/>
            <a:endCxn id="1542" idx="0"/>
          </p:cNvCxnSpPr>
          <p:nvPr/>
        </p:nvCxnSpPr>
        <p:spPr>
          <a:xfrm>
            <a:off x="1368637" y="2478350"/>
            <a:ext cx="741900" cy="14751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547" name="Shape 1547"/>
          <p:cNvCxnSpPr>
            <a:stCxn id="1545" idx="2"/>
            <a:endCxn id="1542" idx="0"/>
          </p:cNvCxnSpPr>
          <p:nvPr/>
        </p:nvCxnSpPr>
        <p:spPr>
          <a:xfrm>
            <a:off x="2110518" y="2478350"/>
            <a:ext cx="0" cy="14751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548" name="Shape 1548"/>
          <p:cNvCxnSpPr>
            <a:stCxn id="1544" idx="2"/>
            <a:endCxn id="1542" idx="0"/>
          </p:cNvCxnSpPr>
          <p:nvPr/>
        </p:nvCxnSpPr>
        <p:spPr>
          <a:xfrm flipH="1">
            <a:off x="2110499" y="2478350"/>
            <a:ext cx="741900" cy="14751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549" name="Shape 1549"/>
          <p:cNvSpPr/>
          <p:nvPr/>
        </p:nvSpPr>
        <p:spPr>
          <a:xfrm>
            <a:off x="3168125" y="3272250"/>
            <a:ext cx="4148699" cy="1017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/>
              <a:t>Qemu</a:t>
            </a:r>
          </a:p>
        </p:txBody>
      </p:sp>
      <p:sp>
        <p:nvSpPr>
          <p:cNvPr id="1550" name="Shape 1550"/>
          <p:cNvSpPr/>
          <p:nvPr/>
        </p:nvSpPr>
        <p:spPr>
          <a:xfrm>
            <a:off x="4698387" y="3960037"/>
            <a:ext cx="1125899" cy="336599"/>
          </a:xfrm>
          <a:prstGeom prst="roundRect">
            <a:avLst>
              <a:gd name="adj" fmla="val 16667"/>
            </a:avLst>
          </a:prstGeom>
          <a:solidFill>
            <a:srgbClr val="6D9EEB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 sz="1200"/>
              <a:t>Back-end</a:t>
            </a:r>
          </a:p>
        </p:txBody>
      </p:sp>
      <p:sp>
        <p:nvSpPr>
          <p:cNvPr id="1551" name="Shape 1551"/>
          <p:cNvSpPr/>
          <p:nvPr/>
        </p:nvSpPr>
        <p:spPr>
          <a:xfrm>
            <a:off x="2110512" y="5296162"/>
            <a:ext cx="1221600" cy="336599"/>
          </a:xfrm>
          <a:prstGeom prst="roundRect">
            <a:avLst>
              <a:gd name="adj" fmla="val 16667"/>
            </a:avLst>
          </a:prstGeom>
          <a:solidFill>
            <a:srgbClr val="6D9EEB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 sz="1200"/>
              <a:t>IOMMU Driver</a:t>
            </a:r>
          </a:p>
        </p:txBody>
      </p:sp>
      <p:sp>
        <p:nvSpPr>
          <p:cNvPr id="1552" name="Shape 1552"/>
          <p:cNvSpPr/>
          <p:nvPr/>
        </p:nvSpPr>
        <p:spPr>
          <a:xfrm>
            <a:off x="4111030" y="5296175"/>
            <a:ext cx="1742099" cy="336599"/>
          </a:xfrm>
          <a:prstGeom prst="roundRect">
            <a:avLst>
              <a:gd name="adj" fmla="val 16667"/>
            </a:avLst>
          </a:prstGeom>
          <a:solidFill>
            <a:srgbClr val="6D9EEB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 sz="1200"/>
              <a:t>Shadow PPR log</a:t>
            </a:r>
          </a:p>
        </p:txBody>
      </p:sp>
      <p:cxnSp>
        <p:nvCxnSpPr>
          <p:cNvPr id="1553" name="Shape 1553"/>
          <p:cNvCxnSpPr>
            <a:stCxn id="1551" idx="3"/>
            <a:endCxn id="1552" idx="1"/>
          </p:cNvCxnSpPr>
          <p:nvPr/>
        </p:nvCxnSpPr>
        <p:spPr>
          <a:xfrm>
            <a:off x="3332112" y="5464462"/>
            <a:ext cx="7788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grpSp>
        <p:nvGrpSpPr>
          <p:cNvPr id="1554" name="Shape 1554"/>
          <p:cNvGrpSpPr/>
          <p:nvPr/>
        </p:nvGrpSpPr>
        <p:grpSpPr>
          <a:xfrm>
            <a:off x="2673449" y="1393700"/>
            <a:ext cx="4969625" cy="2734762"/>
            <a:chOff x="2673449" y="1850900"/>
            <a:chExt cx="4969625" cy="2734762"/>
          </a:xfrm>
        </p:grpSpPr>
        <p:cxnSp>
          <p:nvCxnSpPr>
            <p:cNvPr id="1555" name="Shape 1555"/>
            <p:cNvCxnSpPr>
              <a:stCxn id="1542" idx="3"/>
              <a:endCxn id="1550" idx="1"/>
            </p:cNvCxnSpPr>
            <p:nvPr/>
          </p:nvCxnSpPr>
          <p:spPr>
            <a:xfrm>
              <a:off x="2673449" y="4579062"/>
              <a:ext cx="2025000" cy="660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dot"/>
              <a:round/>
              <a:headEnd type="none" w="lg" len="lg"/>
              <a:tailEnd type="triangle" w="lg" len="lg"/>
            </a:ln>
          </p:spPr>
        </p:cxnSp>
        <p:sp>
          <p:nvSpPr>
            <p:cNvPr id="1556" name="Shape 1556"/>
            <p:cNvSpPr/>
            <p:nvPr/>
          </p:nvSpPr>
          <p:spPr>
            <a:xfrm>
              <a:off x="4631675" y="1850900"/>
              <a:ext cx="3011400" cy="829199"/>
            </a:xfrm>
            <a:prstGeom prst="wedgeEllipseCallout">
              <a:avLst>
                <a:gd name="adj1" fmla="val -20833"/>
                <a:gd name="adj2" fmla="val 62500"/>
              </a:avLst>
            </a:prstGeom>
            <a:solidFill>
              <a:srgbClr val="F6B26B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rPr lang="zh-TW" sz="1200"/>
                <a:t>Map guest fault log region</a:t>
              </a:r>
            </a:p>
          </p:txBody>
        </p:sp>
        <p:cxnSp>
          <p:nvCxnSpPr>
            <p:cNvPr id="1557" name="Shape 1557"/>
            <p:cNvCxnSpPr>
              <a:stCxn id="1556" idx="7"/>
              <a:endCxn id="1558" idx="0"/>
            </p:cNvCxnSpPr>
            <p:nvPr/>
          </p:nvCxnSpPr>
          <p:spPr>
            <a:xfrm flipH="1">
              <a:off x="3875610" y="2783750"/>
              <a:ext cx="1634400" cy="1739100"/>
            </a:xfrm>
            <a:prstGeom prst="straightConnector1">
              <a:avLst/>
            </a:prstGeom>
            <a:noFill/>
            <a:ln w="19050" cap="flat">
              <a:solidFill>
                <a:srgbClr val="F6B26B"/>
              </a:solidFill>
              <a:prstDash val="dot"/>
              <a:round/>
              <a:headEnd type="none" w="lg" len="lg"/>
              <a:tailEnd type="triangle" w="lg" len="lg"/>
            </a:ln>
          </p:spPr>
        </p:cxnSp>
      </p:grpSp>
      <p:grpSp>
        <p:nvGrpSpPr>
          <p:cNvPr id="1559" name="Shape 1559"/>
          <p:cNvGrpSpPr/>
          <p:nvPr/>
        </p:nvGrpSpPr>
        <p:grpSpPr>
          <a:xfrm>
            <a:off x="5242437" y="4296637"/>
            <a:ext cx="3583212" cy="999600"/>
            <a:chOff x="5242437" y="4753837"/>
            <a:chExt cx="3583212" cy="999600"/>
          </a:xfrm>
        </p:grpSpPr>
        <p:cxnSp>
          <p:nvCxnSpPr>
            <p:cNvPr id="1560" name="Shape 1560"/>
            <p:cNvCxnSpPr/>
            <p:nvPr/>
          </p:nvCxnSpPr>
          <p:spPr>
            <a:xfrm flipH="1">
              <a:off x="5242437" y="4753837"/>
              <a:ext cx="18900" cy="999600"/>
            </a:xfrm>
            <a:prstGeom prst="straightConnector1">
              <a:avLst/>
            </a:prstGeom>
            <a:noFill/>
            <a:ln w="19050" cap="flat">
              <a:solidFill>
                <a:schemeClr val="dk2"/>
              </a:solidFill>
              <a:prstDash val="dot"/>
              <a:round/>
              <a:headEnd type="none" w="lg" len="lg"/>
              <a:tailEnd type="triangle" w="lg" len="lg"/>
            </a:ln>
          </p:spPr>
        </p:cxnSp>
        <p:sp>
          <p:nvSpPr>
            <p:cNvPr id="1561" name="Shape 1561"/>
            <p:cNvSpPr txBox="1"/>
            <p:nvPr/>
          </p:nvSpPr>
          <p:spPr>
            <a:xfrm>
              <a:off x="5242450" y="4895025"/>
              <a:ext cx="3583199" cy="3714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marL="457200" lvl="0" indent="-317500" rtl="0">
                <a:spcBef>
                  <a:spcPts val="0"/>
                </a:spcBef>
                <a:buClr>
                  <a:srgbClr val="000000"/>
                </a:buClr>
                <a:buSzPct val="100000"/>
                <a:buFont typeface="Arial"/>
                <a:buAutoNum type="arabicPeriod"/>
              </a:pPr>
              <a:r>
                <a:rPr lang="zh-TW"/>
                <a:t>allocate guest fault log region </a:t>
              </a:r>
            </a:p>
            <a:p>
              <a:pPr marL="457200" lvl="0" indent="-317500" rtl="0">
                <a:spcBef>
                  <a:spcPts val="0"/>
                </a:spcBef>
                <a:buClr>
                  <a:srgbClr val="000000"/>
                </a:buClr>
                <a:buSzPct val="100000"/>
                <a:buFont typeface="Arial"/>
                <a:buAutoNum type="arabicPeriod"/>
              </a:pPr>
              <a:r>
                <a:rPr lang="zh-TW"/>
                <a:t>mmap</a:t>
              </a:r>
            </a:p>
          </p:txBody>
        </p:sp>
      </p:grpSp>
      <p:sp>
        <p:nvSpPr>
          <p:cNvPr id="1562" name="Shape 1562"/>
          <p:cNvSpPr/>
          <p:nvPr/>
        </p:nvSpPr>
        <p:spPr>
          <a:xfrm>
            <a:off x="3848575" y="6052250"/>
            <a:ext cx="983699" cy="704399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>
                <a:solidFill>
                  <a:srgbClr val="FFFFFF"/>
                </a:solidFill>
              </a:rPr>
              <a:t>IOMMU</a:t>
            </a:r>
          </a:p>
        </p:txBody>
      </p:sp>
      <p:grpSp>
        <p:nvGrpSpPr>
          <p:cNvPr id="1563" name="Shape 1563"/>
          <p:cNvGrpSpPr/>
          <p:nvPr/>
        </p:nvGrpSpPr>
        <p:grpSpPr>
          <a:xfrm>
            <a:off x="2721324" y="5632850"/>
            <a:ext cx="1619100" cy="419400"/>
            <a:chOff x="2721324" y="5632850"/>
            <a:chExt cx="1619100" cy="419400"/>
          </a:xfrm>
        </p:grpSpPr>
        <p:cxnSp>
          <p:nvCxnSpPr>
            <p:cNvPr id="1564" name="Shape 1564"/>
            <p:cNvCxnSpPr>
              <a:stCxn id="1562" idx="0"/>
              <a:endCxn id="1551" idx="2"/>
            </p:cNvCxnSpPr>
            <p:nvPr/>
          </p:nvCxnSpPr>
          <p:spPr>
            <a:xfrm rot="10800000">
              <a:off x="2721324" y="5632850"/>
              <a:ext cx="1619100" cy="419400"/>
            </a:xfrm>
            <a:prstGeom prst="straightConnector1">
              <a:avLst/>
            </a:prstGeom>
            <a:noFill/>
            <a:ln w="19050" cap="flat">
              <a:solidFill>
                <a:srgbClr val="FF0000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1565" name="Shape 1565"/>
            <p:cNvSpPr txBox="1"/>
            <p:nvPr/>
          </p:nvSpPr>
          <p:spPr>
            <a:xfrm>
              <a:off x="2875075" y="5704212"/>
              <a:ext cx="1125899" cy="1242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rPr lang="zh-TW">
                  <a:solidFill>
                    <a:srgbClr val="FF0000"/>
                  </a:solidFill>
                </a:rPr>
                <a:t>Interrupt</a:t>
              </a:r>
            </a:p>
          </p:txBody>
        </p:sp>
      </p:grpSp>
      <p:cxnSp>
        <p:nvCxnSpPr>
          <p:cNvPr id="1566" name="Shape 1566"/>
          <p:cNvCxnSpPr>
            <a:stCxn id="1540" idx="0"/>
            <a:endCxn id="1542" idx="2"/>
          </p:cNvCxnSpPr>
          <p:nvPr/>
        </p:nvCxnSpPr>
        <p:spPr>
          <a:xfrm rot="10800000">
            <a:off x="2110362" y="4290237"/>
            <a:ext cx="563100" cy="4074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567" name="Shape 1567"/>
          <p:cNvCxnSpPr>
            <a:stCxn id="1552" idx="0"/>
            <a:endCxn id="1540" idx="2"/>
          </p:cNvCxnSpPr>
          <p:nvPr/>
        </p:nvCxnSpPr>
        <p:spPr>
          <a:xfrm rot="10800000">
            <a:off x="2673580" y="5034275"/>
            <a:ext cx="2308500" cy="26190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grpSp>
        <p:nvGrpSpPr>
          <p:cNvPr id="1568" name="Shape 1568"/>
          <p:cNvGrpSpPr/>
          <p:nvPr/>
        </p:nvGrpSpPr>
        <p:grpSpPr>
          <a:xfrm>
            <a:off x="2617180" y="4276775"/>
            <a:ext cx="2364900" cy="1019400"/>
            <a:chOff x="2617180" y="4276775"/>
            <a:chExt cx="2364900" cy="1019400"/>
          </a:xfrm>
        </p:grpSpPr>
        <p:cxnSp>
          <p:nvCxnSpPr>
            <p:cNvPr id="1569" name="Shape 1569"/>
            <p:cNvCxnSpPr>
              <a:endCxn id="1552" idx="0"/>
            </p:cNvCxnSpPr>
            <p:nvPr/>
          </p:nvCxnSpPr>
          <p:spPr>
            <a:xfrm>
              <a:off x="2617180" y="4276775"/>
              <a:ext cx="2364900" cy="1019400"/>
            </a:xfrm>
            <a:prstGeom prst="straightConnector1">
              <a:avLst/>
            </a:prstGeom>
            <a:noFill/>
            <a:ln w="19050" cap="flat">
              <a:solidFill>
                <a:srgbClr val="0000FF"/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1570" name="Shape 1570"/>
            <p:cNvSpPr txBox="1"/>
            <p:nvPr/>
          </p:nvSpPr>
          <p:spPr>
            <a:xfrm>
              <a:off x="3622150" y="4377600"/>
              <a:ext cx="1326600" cy="23910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91425" rIns="91425" bIns="91425" anchor="t" anchorCtr="0">
              <a:noAutofit/>
            </a:bodyPr>
            <a:lstStyle/>
            <a:p>
              <a:pPr lvl="0">
                <a:spcBef>
                  <a:spcPts val="0"/>
                </a:spcBef>
                <a:buClr>
                  <a:schemeClr val="dk1"/>
                </a:buClr>
                <a:buSzPct val="110000"/>
                <a:buFont typeface="Arial"/>
                <a:buNone/>
              </a:pPr>
              <a:r>
                <a:rPr lang="zh-TW" sz="1000">
                  <a:solidFill>
                    <a:srgbClr val="0000FF"/>
                  </a:solidFill>
                </a:rPr>
                <a:t>Get fault address, process context</a:t>
              </a:r>
            </a:p>
          </p:txBody>
        </p:sp>
      </p:grp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1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1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"/>
                                        <p:tgtEl>
                                          <p:spTgt spid="1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1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1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1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Shape 160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zh-TW"/>
              <a:t>Reference</a:t>
            </a:r>
          </a:p>
        </p:txBody>
      </p:sp>
      <p:sp>
        <p:nvSpPr>
          <p:cNvPr id="1606" name="Shape 160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u="sng">
                <a:solidFill>
                  <a:schemeClr val="hlink"/>
                </a:solidFill>
                <a:hlinkClick r:id="rId3"/>
              </a:rPr>
              <a:t>https://github.com/HSAFoundation/HSA-Drivers-Linux-AMD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u="sng">
                <a:solidFill>
                  <a:schemeClr val="hlink"/>
                </a:solidFill>
                <a:hlinkClick r:id="rId4"/>
              </a:rPr>
              <a:t>http://www.hsafoundation.com/standards/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u="sng">
                <a:solidFill>
                  <a:schemeClr val="hlink"/>
                </a:solidFill>
                <a:hlinkClick r:id="rId5"/>
              </a:rPr>
              <a:t>http://www.intel.com/content/www/us/en/pci-express/pci-sig-sr-iov-primer-sr-iov-technology-paper.html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zh-TW" u="sng">
                <a:solidFill>
                  <a:schemeClr val="hlink"/>
                </a:solidFill>
                <a:hlinkClick r:id="rId6"/>
              </a:rPr>
              <a:t>https://www.usenix.org/system/files/conference/atc14/atc14-paper-tian.pdf</a:t>
            </a:r>
          </a:p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  <p:transition spd="slow">
    <p:cut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Shape 1611"/>
          <p:cNvSpPr txBox="1"/>
          <p:nvPr/>
        </p:nvSpPr>
        <p:spPr>
          <a:xfrm>
            <a:off x="27375" y="2078850"/>
            <a:ext cx="9144000" cy="1984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zh-TW" sz="5600" b="1"/>
              <a:t>Q&amp;A</a:t>
            </a:r>
          </a:p>
          <a:p>
            <a:pPr algn="ctr">
              <a:spcBef>
                <a:spcPts val="0"/>
              </a:spcBef>
              <a:buNone/>
            </a:pPr>
            <a:r>
              <a:rPr lang="zh-TW" sz="5600" b="1"/>
              <a:t>Thanks!</a:t>
            </a:r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name="simple-light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-light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imple-light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3472</Words>
  <Application>Microsoft Office PowerPoint</Application>
  <PresentationFormat>如螢幕大小 (4:3)</PresentationFormat>
  <Paragraphs>795</Paragraphs>
  <Slides>74</Slides>
  <Notes>69</Notes>
  <HiddenSlides>0</HiddenSlides>
  <MMClips>0</MMClips>
  <ScaleCrop>false</ScaleCrop>
  <HeadingPairs>
    <vt:vector size="4" baseType="variant">
      <vt:variant>
        <vt:lpstr>佈景主題</vt:lpstr>
      </vt:variant>
      <vt:variant>
        <vt:i4>4</vt:i4>
      </vt:variant>
      <vt:variant>
        <vt:lpstr>投影片標題</vt:lpstr>
      </vt:variant>
      <vt:variant>
        <vt:i4>74</vt:i4>
      </vt:variant>
    </vt:vector>
  </HeadingPairs>
  <TitlesOfParts>
    <vt:vector size="78" baseType="lpstr">
      <vt:lpstr>simple-light</vt:lpstr>
      <vt:lpstr>simple-light</vt:lpstr>
      <vt:lpstr>Office 佈景主題</vt:lpstr>
      <vt:lpstr>simple-light</vt:lpstr>
      <vt:lpstr>HSA Kernel Mode Driver  </vt:lpstr>
      <vt:lpstr>Agenda</vt:lpstr>
      <vt:lpstr>hUMA</vt:lpstr>
      <vt:lpstr>User Level Queuing - Before HSA</vt:lpstr>
      <vt:lpstr>User Level Queuing</vt:lpstr>
      <vt:lpstr>投影片 6</vt:lpstr>
      <vt:lpstr>HSA Software Stack</vt:lpstr>
      <vt:lpstr>HSA Software Stack</vt:lpstr>
      <vt:lpstr>Agenda</vt:lpstr>
      <vt:lpstr>Concepts - HSA Run Flow</vt:lpstr>
      <vt:lpstr>Scheduled Policy (Queue Binding Policy)</vt:lpstr>
      <vt:lpstr>Software Policy </vt:lpstr>
      <vt:lpstr>Hardware Policy - No Oversubscription (1) </vt:lpstr>
      <vt:lpstr>投影片 14</vt:lpstr>
      <vt:lpstr>投影片 15</vt:lpstr>
      <vt:lpstr>投影片 16</vt:lpstr>
      <vt:lpstr>IOCTL Command Provided by KFD </vt:lpstr>
      <vt:lpstr>HSA Driver Flow</vt:lpstr>
      <vt:lpstr>module_init(kfd_module_init)</vt:lpstr>
      <vt:lpstr>SW Policy</vt:lpstr>
      <vt:lpstr>kgd2kfd_device_init</vt:lpstr>
      <vt:lpstr>dqm-&gt;initialize</vt:lpstr>
      <vt:lpstr>kfd_open</vt:lpstr>
      <vt:lpstr>KFD_IOC_SET_MEMORY_POLICY</vt:lpstr>
      <vt:lpstr>radeon_kfd_bind_process_to_device</vt:lpstr>
      <vt:lpstr>KFD_IOC_CREATE_QUEUE</vt:lpstr>
      <vt:lpstr>pqm_create_queue</vt:lpstr>
      <vt:lpstr>投影片 28</vt:lpstr>
      <vt:lpstr>dqm-&gt;execute_queue </vt:lpstr>
      <vt:lpstr>投影片 30</vt:lpstr>
      <vt:lpstr>HW Policy</vt:lpstr>
      <vt:lpstr>kgd2kfd_device_init</vt:lpstr>
      <vt:lpstr>dqm-&gt;start</vt:lpstr>
      <vt:lpstr>pqm_create_queue</vt:lpstr>
      <vt:lpstr>投影片 35</vt:lpstr>
      <vt:lpstr>dqm-&gt;execute_queue</vt:lpstr>
      <vt:lpstr>Hardware Scheduler - No Oversubscription  </vt:lpstr>
      <vt:lpstr>Hardware Scheduler - Oversubscription  </vt:lpstr>
      <vt:lpstr>投影片 39</vt:lpstr>
      <vt:lpstr>Application Computation ...</vt:lpstr>
      <vt:lpstr>Haredware Queue Deactivation</vt:lpstr>
      <vt:lpstr>dqm-&gt;destroy_queue For SW Policy</vt:lpstr>
      <vt:lpstr>dqm-&gt;destroy_queue For HW Policy</vt:lpstr>
      <vt:lpstr>Haredware Queue Deactivation (2)</vt:lpstr>
      <vt:lpstr>Agenda</vt:lpstr>
      <vt:lpstr>Introduction to IOMMU</vt:lpstr>
      <vt:lpstr>投影片 47</vt:lpstr>
      <vt:lpstr>PRI &amp; PPR</vt:lpstr>
      <vt:lpstr>PRI &amp; PPR </vt:lpstr>
      <vt:lpstr>module_init(amd_iommu_v2_init)</vt:lpstr>
      <vt:lpstr>amd_iommu_bind_pasid</vt:lpstr>
      <vt:lpstr>投影片 52</vt:lpstr>
      <vt:lpstr>PRI &amp; PPR Flow</vt:lpstr>
      <vt:lpstr>PPR Flow</vt:lpstr>
      <vt:lpstr>do_fault</vt:lpstr>
      <vt:lpstr>Flow Review</vt:lpstr>
      <vt:lpstr>Agenda</vt:lpstr>
      <vt:lpstr>System Virtualization</vt:lpstr>
      <vt:lpstr>CPU Virtualization</vt:lpstr>
      <vt:lpstr>Memory Virtualization</vt:lpstr>
      <vt:lpstr>I/O Virtualization</vt:lpstr>
      <vt:lpstr>Full Virtualization</vt:lpstr>
      <vt:lpstr>Virtio </vt:lpstr>
      <vt:lpstr>Virtio in KVM+Qemu </vt:lpstr>
      <vt:lpstr>Device Pass-through</vt:lpstr>
      <vt:lpstr>I/O Virtualization Extension - IOMMU</vt:lpstr>
      <vt:lpstr>More About I/O Virtualization</vt:lpstr>
      <vt:lpstr>投影片 68</vt:lpstr>
      <vt:lpstr>投影片 69</vt:lpstr>
      <vt:lpstr>Handle I/O Page Fault</vt:lpstr>
      <vt:lpstr>Handle Guest I/O Page Fault</vt:lpstr>
      <vt:lpstr>投影片 72</vt:lpstr>
      <vt:lpstr>Reference</vt:lpstr>
      <vt:lpstr>投影片 74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HSA Kernel Mode Driver  </dc:title>
  <dc:creator>Yeh-Ching Chung</dc:creator>
  <cp:lastModifiedBy>Yeh-Ching Chung</cp:lastModifiedBy>
  <cp:revision>1</cp:revision>
  <dcterms:modified xsi:type="dcterms:W3CDTF">2015-04-15T10:46:42Z</dcterms:modified>
</cp:coreProperties>
</file>