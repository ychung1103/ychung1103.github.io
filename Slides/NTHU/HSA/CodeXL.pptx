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72" r:id="rId2"/>
    <p:sldId id="273" r:id="rId3"/>
    <p:sldId id="274" r:id="rId4"/>
    <p:sldId id="275" r:id="rId5"/>
    <p:sldId id="277" r:id="rId6"/>
    <p:sldId id="278" r:id="rId7"/>
    <p:sldId id="293" r:id="rId8"/>
    <p:sldId id="294" r:id="rId9"/>
    <p:sldId id="295" r:id="rId10"/>
    <p:sldId id="297" r:id="rId11"/>
    <p:sldId id="296" r:id="rId12"/>
    <p:sldId id="298" r:id="rId13"/>
    <p:sldId id="299" r:id="rId14"/>
    <p:sldId id="303" r:id="rId15"/>
    <p:sldId id="304" r:id="rId16"/>
    <p:sldId id="279" r:id="rId17"/>
    <p:sldId id="309" r:id="rId18"/>
    <p:sldId id="281" r:id="rId19"/>
    <p:sldId id="280" r:id="rId20"/>
    <p:sldId id="282" r:id="rId21"/>
    <p:sldId id="283" r:id="rId22"/>
    <p:sldId id="284" r:id="rId23"/>
    <p:sldId id="306" r:id="rId24"/>
    <p:sldId id="300" r:id="rId25"/>
    <p:sldId id="288" r:id="rId26"/>
    <p:sldId id="286" r:id="rId27"/>
    <p:sldId id="287" r:id="rId28"/>
    <p:sldId id="289" r:id="rId29"/>
    <p:sldId id="292" r:id="rId30"/>
    <p:sldId id="290" r:id="rId31"/>
    <p:sldId id="291" r:id="rId32"/>
    <p:sldId id="301" r:id="rId33"/>
    <p:sldId id="305" r:id="rId34"/>
    <p:sldId id="308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A27"/>
    <a:srgbClr val="FF0000"/>
    <a:srgbClr val="F7E9E7"/>
    <a:srgbClr val="EFCFCC"/>
    <a:srgbClr val="1B2A27"/>
    <a:srgbClr val="275056"/>
    <a:srgbClr val="0C2B30"/>
    <a:srgbClr val="1B2C33"/>
    <a:srgbClr val="D34817"/>
    <a:srgbClr val="FF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0" autoAdjust="0"/>
    <p:restoredTop sz="88816" autoAdjust="0"/>
  </p:normalViewPr>
  <p:slideViewPr>
    <p:cSldViewPr snapToGrid="0">
      <p:cViewPr varScale="1">
        <p:scale>
          <a:sx n="70" d="100"/>
          <a:sy n="70" d="100"/>
        </p:scale>
        <p:origin x="-1013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3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3F594-2C91-4FE0-A287-1A64B276310A}" type="datetimeFigureOut">
              <a:rPr lang="zh-TW" altLang="en-US" smtClean="0"/>
              <a:t>2014/5/12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ED635-1A93-4A07-8AA2-00BD3A0F8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61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知道怎麼改進程式或舊程式在新架構下的效能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D635-1A93-4A07-8AA2-00BD3A0F833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5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Enabling profiling on a command queue adds approximately 10 </a:t>
            </a:r>
            <a:r>
              <a:rPr lang="en-US" altLang="zh-TW" dirty="0" err="1" smtClean="0"/>
              <a:t>μs</a:t>
            </a:r>
            <a:endParaRPr lang="en-US" altLang="zh-TW" dirty="0" smtClean="0"/>
          </a:p>
          <a:p>
            <a:r>
              <a:rPr lang="en-US" altLang="zh-TW" dirty="0" smtClean="0"/>
              <a:t>to 40 </a:t>
            </a:r>
            <a:r>
              <a:rPr lang="en-US" altLang="zh-TW" dirty="0" err="1" smtClean="0"/>
              <a:t>μs</a:t>
            </a:r>
            <a:r>
              <a:rPr lang="en-US" altLang="zh-TW" dirty="0" smtClean="0"/>
              <a:t> overhead to all </a:t>
            </a:r>
            <a:r>
              <a:rPr lang="en-US" altLang="zh-TW" dirty="0" err="1" smtClean="0"/>
              <a:t>clEnqueue</a:t>
            </a:r>
            <a:r>
              <a:rPr lang="en-US" altLang="zh-TW" dirty="0" smtClean="0"/>
              <a:t> calls. Much of the profiling overhead affects</a:t>
            </a:r>
          </a:p>
          <a:p>
            <a:r>
              <a:rPr lang="en-US" altLang="zh-TW" dirty="0" smtClean="0"/>
              <a:t>the start time; thus, it is visible in the launch time. Be careful when interpreting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935D18-D940-4A71-B6CB-B727EBC0086B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54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FD21-2D97-40D0-861E-ADB790677FB9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9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6210-9F09-411C-905F-478028B5F045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78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5802A5C2-4332-4939-A6BB-1026A51F5DA6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73049" y="2325848"/>
            <a:ext cx="810678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62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BB83-02BF-4BF9-9CE9-A5562AA9BE51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67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5A5BD-D5A1-46D6-A786-832058005100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08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915A-3166-4E60-9792-847601EB0EC3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6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36727-081F-44CD-9B74-DF215230DA63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4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2B88-4420-41B9-8CDD-7B7D3F667F91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4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881B-BA9D-43A4-94AF-6C8EC6A00B91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E580-08C2-4D40-99BF-980298C1FD17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13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4DA4-90D4-42BB-81BD-61787F30852D}" type="datetime1">
              <a:rPr lang="en-US" altLang="zh-TW" smtClean="0">
                <a:solidFill>
                  <a:srgbClr val="696464"/>
                </a:solidFill>
              </a:rPr>
              <a:pPr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8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pPr defTabSz="342900"/>
            <a:fld id="{355BDDEE-7199-4367-BEC2-136A4F2227B3}" type="datetime1">
              <a:rPr lang="en-US" altLang="zh-TW" smtClean="0">
                <a:solidFill>
                  <a:srgbClr val="696464"/>
                </a:solidFill>
              </a:rPr>
              <a:pPr defTabSz="342900"/>
              <a:t>5/12/2014</a:t>
            </a:fld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pPr defTabSz="342900"/>
            <a:endParaRPr lang="en-US" dirty="0">
              <a:solidFill>
                <a:srgbClr val="696464"/>
              </a:solidFill>
            </a:endParaRP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defTabSz="342900"/>
            <a:fld id="{4FAB73BC-B049-4115-A692-8D63A059BFB8}" type="slidenum">
              <a:rPr lang="en-US" smtClean="0"/>
              <a:pPr defTabSz="34290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0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t17.techbang.com/topics/12919-fully-understand-hd-7970-new-structure-how-to-run-gpu-higher-efficienc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05775" y="1995812"/>
            <a:ext cx="7558115" cy="2212461"/>
          </a:xfrm>
        </p:spPr>
        <p:txBody>
          <a:bodyPr/>
          <a:lstStyle/>
          <a:p>
            <a:r>
              <a:rPr lang="en-US" altLang="zh-TW" sz="4400" b="1" i="1" dirty="0"/>
              <a:t>Operating System and Profiling Tool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05775" y="4030377"/>
            <a:ext cx="5918454" cy="802386"/>
          </a:xfrm>
        </p:spPr>
        <p:txBody>
          <a:bodyPr/>
          <a:lstStyle/>
          <a:p>
            <a:r>
              <a:rPr lang="en-US" altLang="zh-TW" dirty="0" smtClean="0"/>
              <a:t>Speaker: </a:t>
            </a:r>
            <a:r>
              <a:rPr lang="zh-TW" altLang="en-US" dirty="0" smtClean="0"/>
              <a:t>交通大學蔡上仁</a:t>
            </a:r>
            <a:endParaRPr lang="en-US" altLang="zh-TW" dirty="0" smtClean="0"/>
          </a:p>
          <a:p>
            <a:r>
              <a:rPr lang="en-US" altLang="zh-TW" dirty="0" smtClean="0"/>
              <a:t>	</a:t>
            </a:r>
            <a:r>
              <a:rPr lang="zh-TW" altLang="en-US" dirty="0" smtClean="0"/>
              <a:t>    交通大學鄭亦呈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740" y="3648644"/>
            <a:ext cx="1159890" cy="156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4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outline</a:t>
            </a:r>
            <a:endParaRPr lang="en-US" altLang="zh-TW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77672" y="1405719"/>
            <a:ext cx="42977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What is </a:t>
            </a:r>
            <a:r>
              <a:rPr lang="en-US" altLang="zh-TW" dirty="0" err="1" smtClean="0"/>
              <a:t>profilling</a:t>
            </a:r>
            <a:r>
              <a:rPr lang="en-US" altLang="zh-TW" dirty="0" smtClean="0"/>
              <a:t> and profiler?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How to </a:t>
            </a:r>
            <a:r>
              <a:rPr lang="en-US" altLang="zh-TW" dirty="0" err="1" smtClean="0"/>
              <a:t>proflie</a:t>
            </a:r>
            <a:r>
              <a:rPr lang="en-US" altLang="zh-TW" dirty="0" smtClean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HAS profiler - Code XL introduction.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zh-TW" dirty="0" smtClean="0"/>
              <a:t>Profile types.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CPU profiler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GPU profiler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zh-TW" dirty="0"/>
              <a:t>Kernel Occupancy</a:t>
            </a:r>
            <a:endParaRPr lang="en-US" altLang="zh-TW" dirty="0" smtClean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zh-TW" dirty="0" smtClean="0"/>
              <a:t>Analysis processor kernel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zh-TW" dirty="0" smtClean="0"/>
              <a:t>Estimate performance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662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/>
              <a:t>What is </a:t>
            </a:r>
            <a:r>
              <a:rPr lang="en-US" altLang="zh-TW" sz="3600" dirty="0" smtClean="0"/>
              <a:t>profiling?</a:t>
            </a:r>
            <a:endParaRPr lang="en-US" altLang="zh-TW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745160" y="1310186"/>
            <a:ext cx="75639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Profiling:</a:t>
            </a:r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/>
              <a:t>D</a:t>
            </a:r>
            <a:r>
              <a:rPr lang="en-US" altLang="zh-TW" b="1" dirty="0" smtClean="0"/>
              <a:t>ynamic program analysis </a:t>
            </a:r>
            <a:r>
              <a:rPr lang="en-US" altLang="zh-TW" dirty="0" smtClean="0"/>
              <a:t>that </a:t>
            </a:r>
            <a:r>
              <a:rPr lang="en-US" altLang="zh-TW" dirty="0"/>
              <a:t>measures, for example</a:t>
            </a:r>
            <a:r>
              <a:rPr lang="en-US" altLang="zh-TW" dirty="0" smtClean="0"/>
              <a:t>,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	</a:t>
            </a:r>
            <a:r>
              <a:rPr lang="en-US" altLang="zh-TW" dirty="0" smtClean="0"/>
              <a:t>Space </a:t>
            </a:r>
            <a:r>
              <a:rPr lang="en-US" altLang="zh-TW" dirty="0"/>
              <a:t>(</a:t>
            </a:r>
            <a:r>
              <a:rPr lang="en-US" altLang="zh-TW" dirty="0" smtClean="0"/>
              <a:t>memory</a:t>
            </a:r>
            <a:r>
              <a:rPr lang="en-US" altLang="zh-TW" dirty="0"/>
              <a:t>) or time </a:t>
            </a:r>
            <a:r>
              <a:rPr lang="en-US" altLang="zh-TW" dirty="0" smtClean="0"/>
              <a:t>complexity of a program.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   Usage of particular instruction.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   Frequency </a:t>
            </a:r>
            <a:r>
              <a:rPr lang="en-US" altLang="zh-TW" dirty="0"/>
              <a:t>and duration of function calls</a:t>
            </a:r>
            <a:r>
              <a:rPr lang="en-US" altLang="zh-TW" dirty="0" smtClean="0"/>
              <a:t> 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Aim at program</a:t>
            </a:r>
            <a:r>
              <a:rPr lang="en-US" altLang="zh-TW" dirty="0"/>
              <a:t> </a:t>
            </a:r>
            <a:r>
              <a:rPr lang="en-US" altLang="zh-TW" dirty="0" smtClean="0"/>
              <a:t>optimization.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A</a:t>
            </a:r>
            <a:r>
              <a:rPr lang="en-US" altLang="zh-TW" dirty="0" smtClean="0"/>
              <a:t>chieved </a:t>
            </a:r>
            <a:r>
              <a:rPr lang="en-US" altLang="zh-TW" dirty="0"/>
              <a:t>by instrumenting either the program </a:t>
            </a:r>
            <a:r>
              <a:rPr lang="en-US" altLang="zh-TW" dirty="0" smtClean="0"/>
              <a:t>source code</a:t>
            </a:r>
            <a:r>
              <a:rPr lang="en-US" altLang="zh-TW" dirty="0"/>
              <a:t> or its </a:t>
            </a:r>
            <a:endParaRPr lang="en-US" altLang="zh-TW" dirty="0" smtClean="0"/>
          </a:p>
          <a:p>
            <a:r>
              <a:rPr lang="en-US" altLang="zh-TW" dirty="0" smtClean="0"/>
              <a:t>     binary </a:t>
            </a:r>
            <a:r>
              <a:rPr lang="en-US" altLang="zh-TW" dirty="0"/>
              <a:t>executable form using a tool called </a:t>
            </a:r>
            <a:r>
              <a:rPr lang="en-US" altLang="zh-TW" b="1" i="1" dirty="0" smtClean="0">
                <a:solidFill>
                  <a:srgbClr val="FF0000"/>
                </a:solidFill>
              </a:rPr>
              <a:t>profiler</a:t>
            </a:r>
            <a:r>
              <a:rPr lang="en-US" altLang="zh-TW" i="1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3695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149770" y="20067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/>
              <a:t>What is </a:t>
            </a:r>
            <a:r>
              <a:rPr lang="en-US" altLang="zh-TW" sz="3600" dirty="0" smtClean="0"/>
              <a:t>profiler?</a:t>
            </a:r>
            <a:endParaRPr lang="en-US" altLang="zh-TW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09324" y="973340"/>
            <a:ext cx="8354082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Profiler:</a:t>
            </a:r>
          </a:p>
          <a:p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Profilers </a:t>
            </a:r>
            <a:r>
              <a:rPr lang="en-US" altLang="zh-TW" dirty="0"/>
              <a:t>use a wide variety of techniques to collect </a:t>
            </a:r>
            <a:r>
              <a:rPr lang="en-US" altLang="zh-TW" dirty="0" smtClean="0"/>
              <a:t>data: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Hardware interrupt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Code instrumentation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Instruction set simulation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Performance counter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zh-TW" dirty="0"/>
          </a:p>
          <a:p>
            <a:pPr lvl="1"/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Who will use these kind of tool?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Computer architects: </a:t>
            </a:r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          Emulate how well programs will perform on new architecture.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Software writer:</a:t>
            </a:r>
          </a:p>
          <a:p>
            <a:pPr lvl="1"/>
            <a:r>
              <a:rPr lang="en-US" altLang="zh-TW" dirty="0"/>
              <a:t>	</a:t>
            </a:r>
            <a:r>
              <a:rPr lang="en-US" altLang="zh-TW" dirty="0" smtClean="0"/>
              <a:t>   </a:t>
            </a:r>
            <a:r>
              <a:rPr lang="en-US" altLang="zh-TW" dirty="0"/>
              <a:t>A</a:t>
            </a:r>
            <a:r>
              <a:rPr lang="en-US" altLang="zh-TW" dirty="0" smtClean="0"/>
              <a:t>nalyze </a:t>
            </a:r>
            <a:r>
              <a:rPr lang="en-US" altLang="zh-TW" dirty="0"/>
              <a:t>their programs and identify critical sections of </a:t>
            </a:r>
            <a:r>
              <a:rPr lang="en-US" altLang="zh-TW" dirty="0" smtClean="0"/>
              <a:t>code.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Compiler writer:</a:t>
            </a:r>
          </a:p>
          <a:p>
            <a:pPr lvl="1"/>
            <a:r>
              <a:rPr lang="en-US" altLang="zh-TW" dirty="0"/>
              <a:t>	</a:t>
            </a:r>
            <a:r>
              <a:rPr lang="en-US" altLang="zh-TW" dirty="0" smtClean="0"/>
              <a:t>   </a:t>
            </a:r>
            <a:r>
              <a:rPr lang="en-US" altLang="zh-TW" dirty="0"/>
              <a:t>F</a:t>
            </a:r>
            <a:r>
              <a:rPr lang="en-US" altLang="zh-TW" dirty="0" smtClean="0"/>
              <a:t>ind </a:t>
            </a:r>
            <a:r>
              <a:rPr lang="en-US" altLang="zh-TW" dirty="0"/>
              <a:t>out how well </a:t>
            </a:r>
            <a:r>
              <a:rPr lang="en-US" altLang="zh-TW" dirty="0" smtClean="0"/>
              <a:t>their instruction scheduling</a:t>
            </a:r>
            <a:r>
              <a:rPr lang="en-US" altLang="zh-TW" dirty="0"/>
              <a:t> or </a:t>
            </a:r>
            <a:r>
              <a:rPr lang="en-US" altLang="zh-TW" dirty="0" smtClean="0"/>
              <a:t>branch prediction</a:t>
            </a:r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         </a:t>
            </a:r>
            <a:r>
              <a:rPr lang="en-US" altLang="zh-TW" dirty="0"/>
              <a:t> algorithm is </a:t>
            </a:r>
            <a:r>
              <a:rPr lang="en-US" altLang="zh-TW" dirty="0" smtClean="0"/>
              <a:t>performing.</a:t>
            </a:r>
          </a:p>
        </p:txBody>
      </p:sp>
    </p:spTree>
    <p:extLst>
      <p:ext uri="{BB962C8B-B14F-4D97-AF65-F5344CB8AC3E}">
        <p14:creationId xmlns:p14="http://schemas.microsoft.com/office/powerpoint/2010/main" val="230185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-149770" y="60331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err="1" smtClean="0"/>
              <a:t>Perf&amp;oprofil</a:t>
            </a:r>
            <a:endParaRPr lang="en-US" altLang="zh-TW" sz="3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491320" y="666755"/>
            <a:ext cx="703776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Linux profiling tool: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Run on </a:t>
            </a:r>
            <a:r>
              <a:rPr lang="en-US" altLang="zh-TW" dirty="0" err="1" smtClean="0"/>
              <a:t>linux</a:t>
            </a:r>
            <a:r>
              <a:rPr lang="en-US" altLang="zh-TW" dirty="0" smtClean="0"/>
              <a:t> based system.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The </a:t>
            </a:r>
            <a:r>
              <a:rPr lang="en-US" altLang="zh-TW" dirty="0" err="1" smtClean="0"/>
              <a:t>perf</a:t>
            </a:r>
            <a:r>
              <a:rPr lang="en-US" altLang="zh-TW" dirty="0" smtClean="0"/>
              <a:t> tool supports a list of measurable events such as:</a:t>
            </a:r>
          </a:p>
          <a:p>
            <a:pPr marL="1257300" lvl="2" indent="-342900">
              <a:buAutoNum type="arabicPeriod"/>
            </a:pPr>
            <a:r>
              <a:rPr lang="en-US" altLang="zh-TW" dirty="0" smtClean="0"/>
              <a:t>SW</a:t>
            </a:r>
            <a:r>
              <a:rPr lang="zh-TW" altLang="en-US" dirty="0" smtClean="0"/>
              <a:t>  </a:t>
            </a:r>
            <a:r>
              <a:rPr lang="en-US" altLang="zh-TW" dirty="0" smtClean="0"/>
              <a:t>events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err="1" smtClean="0"/>
              <a:t>Contex</a:t>
            </a:r>
            <a:r>
              <a:rPr lang="en-US" altLang="zh-TW" dirty="0" smtClean="0"/>
              <a:t>-switches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CPU migrations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Page faults…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zh-TW" dirty="0" smtClean="0"/>
              <a:t>HW events (</a:t>
            </a:r>
            <a:r>
              <a:rPr lang="en-US" altLang="zh-TW" b="1" dirty="0"/>
              <a:t>PMU hardware events</a:t>
            </a:r>
            <a:r>
              <a:rPr lang="en-US" altLang="zh-TW" dirty="0" smtClean="0"/>
              <a:t>)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Caches misses count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TLB miss count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altLang="zh-TW" dirty="0" smtClean="0"/>
              <a:t>CPU cycles…</a:t>
            </a:r>
            <a:endParaRPr lang="en-US" altLang="zh-TW" dirty="0"/>
          </a:p>
          <a:p>
            <a:pPr marL="1714500" lvl="3" indent="-342900">
              <a:buFont typeface="Wingdings" panose="05000000000000000000" pitchFamily="2" charset="2"/>
              <a:buChar char="Ø"/>
            </a:pPr>
            <a:endParaRPr lang="en-US" altLang="zh-TW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dirty="0" smtClean="0"/>
              <a:t>Example: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6" y="4339988"/>
            <a:ext cx="8572500" cy="251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2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Code-XL </a:t>
            </a:r>
            <a:endParaRPr lang="en-US" altLang="zh-TW" sz="3600" dirty="0"/>
          </a:p>
        </p:txBody>
      </p:sp>
      <p:sp>
        <p:nvSpPr>
          <p:cNvPr id="4" name="矩形 3"/>
          <p:cNvSpPr/>
          <p:nvPr/>
        </p:nvSpPr>
        <p:spPr>
          <a:xfrm>
            <a:off x="623430" y="943770"/>
            <a:ext cx="80999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The </a:t>
            </a:r>
            <a:r>
              <a:rPr lang="en-US" altLang="zh-TW" dirty="0" err="1"/>
              <a:t>CodeXL</a:t>
            </a:r>
            <a:r>
              <a:rPr lang="en-US" altLang="zh-TW" dirty="0"/>
              <a:t> GPU Profiler is a performance analysis tool that gathers data from the </a:t>
            </a:r>
            <a:r>
              <a:rPr lang="en-US" altLang="zh-TW" dirty="0" err="1"/>
              <a:t>OpenCL</a:t>
            </a:r>
            <a:r>
              <a:rPr lang="en-US" altLang="zh-TW" dirty="0"/>
              <a:t> run-time and AMD GPUs during the execution of an </a:t>
            </a:r>
            <a:r>
              <a:rPr lang="en-US" altLang="zh-TW" dirty="0" err="1"/>
              <a:t>OpenCL</a:t>
            </a:r>
            <a:r>
              <a:rPr lang="en-US" altLang="zh-TW" dirty="0"/>
              <a:t> </a:t>
            </a:r>
            <a:r>
              <a:rPr lang="en-US" altLang="zh-TW" dirty="0" smtClean="0"/>
              <a:t>application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Provide variety of profiling types: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319" y="2442444"/>
            <a:ext cx="4665167" cy="419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8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78584" y="138662"/>
            <a:ext cx="7543800" cy="903104"/>
          </a:xfrm>
        </p:spPr>
        <p:txBody>
          <a:bodyPr/>
          <a:lstStyle/>
          <a:p>
            <a:pPr algn="ctr"/>
            <a:r>
              <a:rPr lang="en-US" altLang="zh-TW" dirty="0"/>
              <a:t>Code-Xl System 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19548" y="1430767"/>
            <a:ext cx="8606118" cy="2646381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 Operating Systems</a:t>
            </a:r>
            <a:endParaRPr lang="en-US" altLang="zh-TW" sz="20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Microsoft </a:t>
            </a:r>
            <a:r>
              <a:rPr lang="en-US" altLang="zh-TW" sz="1800" dirty="0"/>
              <a:t>Windows 7 (32 bit / 64 </a:t>
            </a:r>
            <a:r>
              <a:rPr lang="en-US" altLang="zh-TW" sz="1800" dirty="0" smtClean="0"/>
              <a:t>bit)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Microsoft </a:t>
            </a:r>
            <a:r>
              <a:rPr lang="en-US" altLang="zh-TW" sz="1800" dirty="0"/>
              <a:t>Windows 8 (32 bit / 64 bit)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Microsoft </a:t>
            </a:r>
            <a:r>
              <a:rPr lang="en-US" altLang="zh-TW" sz="1800" dirty="0"/>
              <a:t>Windows 8.1 (32 bit / 64 bit)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Linux </a:t>
            </a:r>
            <a:r>
              <a:rPr lang="en-US" altLang="zh-TW" sz="1800" dirty="0"/>
              <a:t>64-bit (Red Hat, Ubuntu) </a:t>
            </a:r>
          </a:p>
          <a:p>
            <a:pPr marL="0" indent="0">
              <a:buNone/>
            </a:pPr>
            <a:endParaRPr lang="en-US" altLang="zh-TW" sz="29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419548" y="3111873"/>
            <a:ext cx="826187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2000" dirty="0"/>
              <a:t>Profiling </a:t>
            </a:r>
            <a:r>
              <a:rPr lang="en-US" altLang="zh-TW" sz="2000" dirty="0" err="1"/>
              <a:t>OpenCL</a:t>
            </a:r>
            <a:r>
              <a:rPr lang="en-US" altLang="zh-TW" sz="2000" dirty="0"/>
              <a:t>™ Applications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[GPU device] AMD Catalyst driver with </a:t>
            </a:r>
            <a:r>
              <a:rPr lang="en-US" altLang="zh-TW" dirty="0" err="1"/>
              <a:t>OpenCL</a:t>
            </a:r>
            <a:r>
              <a:rPr lang="en-US" altLang="zh-TW" dirty="0"/>
              <a:t>™ GPU support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[GPU device] AMD Radeon™ HD 5000 series or newer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AMD APP </a:t>
            </a:r>
            <a:r>
              <a:rPr lang="en-US" altLang="zh-TW" dirty="0" smtClean="0"/>
              <a:t>SDK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5499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8738" y="116142"/>
            <a:ext cx="7543800" cy="860074"/>
          </a:xfrm>
        </p:spPr>
        <p:txBody>
          <a:bodyPr/>
          <a:lstStyle/>
          <a:p>
            <a:pPr algn="ctr"/>
            <a:r>
              <a:rPr lang="en-US" altLang="zh-TW" dirty="0" smtClean="0"/>
              <a:t>CODEXL CPU </a:t>
            </a:r>
            <a:r>
              <a:rPr lang="en-US" altLang="zh-TW" dirty="0"/>
              <a:t>Profiler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9397" y="1366221"/>
            <a:ext cx="8240357" cy="1622639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1800" dirty="0" smtClean="0"/>
              <a:t> Three </a:t>
            </a:r>
            <a:r>
              <a:rPr lang="en-US" altLang="zh-TW" sz="1800" dirty="0"/>
              <a:t>profile modes</a:t>
            </a:r>
            <a:r>
              <a:rPr lang="en-US" altLang="zh-TW" sz="1800" dirty="0" smtClean="0"/>
              <a:t>:</a:t>
            </a:r>
          </a:p>
          <a:p>
            <a:pPr marL="0" indent="0">
              <a:buClr>
                <a:schemeClr val="tx1"/>
              </a:buClr>
              <a:buNone/>
            </a:pPr>
            <a:endParaRPr lang="en-US" altLang="zh-TW" sz="18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650" dirty="0" smtClean="0"/>
              <a:t> </a:t>
            </a:r>
            <a:r>
              <a:rPr lang="en-US" altLang="zh-TW" sz="2000" dirty="0" smtClean="0"/>
              <a:t>Time-Based </a:t>
            </a:r>
            <a:r>
              <a:rPr lang="en-US" altLang="zh-TW" sz="2000" dirty="0"/>
              <a:t>Profile (TBP) </a:t>
            </a:r>
            <a:r>
              <a:rPr lang="en-US" altLang="zh-TW" sz="2000" dirty="0" smtClean="0"/>
              <a:t>	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 Event-Based </a:t>
            </a:r>
            <a:r>
              <a:rPr lang="en-US" altLang="zh-TW" sz="2000" dirty="0"/>
              <a:t>Profile (EBP</a:t>
            </a:r>
            <a:r>
              <a:rPr lang="en-US" altLang="zh-TW" sz="2000" dirty="0" smtClean="0"/>
              <a:t>)</a:t>
            </a:r>
            <a:endParaRPr lang="en-US" altLang="zh-TW" sz="20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 Instruction-Based </a:t>
            </a:r>
            <a:r>
              <a:rPr lang="en-US" altLang="zh-TW" sz="2000" dirty="0"/>
              <a:t>Sampling (IBS</a:t>
            </a:r>
            <a:r>
              <a:rPr lang="en-US" altLang="zh-TW" sz="2000" dirty="0" smtClean="0"/>
              <a:t>)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8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2386" y="129790"/>
            <a:ext cx="7543800" cy="881589"/>
          </a:xfrm>
        </p:spPr>
        <p:txBody>
          <a:bodyPr/>
          <a:lstStyle/>
          <a:p>
            <a:pPr algn="ctr"/>
            <a:r>
              <a:rPr lang="en-US" altLang="zh-TW" dirty="0"/>
              <a:t>Time-Based Profiling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0319" y="1011379"/>
            <a:ext cx="8563087" cy="459082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CodeXL</a:t>
            </a:r>
            <a:r>
              <a:rPr lang="en-US" altLang="zh-TW" sz="2000" dirty="0"/>
              <a:t> configures a timer that periodically interrupts the program executing on a processor </a:t>
            </a:r>
            <a:r>
              <a:rPr lang="en-US" altLang="zh-TW" sz="2000" dirty="0" smtClean="0"/>
              <a:t>core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/>
              <a:t>When a timer interrupt occurs, a sample is created and saved for post-processing. </a:t>
            </a: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Post-processing </a:t>
            </a:r>
            <a:r>
              <a:rPr lang="en-US" altLang="zh-TW" sz="2000" dirty="0"/>
              <a:t>builds up a type of histogram, which describes what the system and its software components were </a:t>
            </a:r>
            <a:r>
              <a:rPr lang="en-US" altLang="zh-TW" sz="2000" dirty="0" smtClean="0"/>
              <a:t>doing.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The </a:t>
            </a:r>
            <a:r>
              <a:rPr lang="en-US" altLang="zh-TW" sz="2000" dirty="0"/>
              <a:t>most time-consuming parts of a program have the most samples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0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2385" y="102495"/>
            <a:ext cx="7543800" cy="924620"/>
          </a:xfrm>
        </p:spPr>
        <p:txBody>
          <a:bodyPr/>
          <a:lstStyle/>
          <a:p>
            <a:pPr algn="ctr"/>
            <a:r>
              <a:rPr lang="en-US" altLang="zh-TW" dirty="0"/>
              <a:t>Event-Based Profile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3477" y="1027115"/>
            <a:ext cx="8341615" cy="448324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   The </a:t>
            </a:r>
            <a:r>
              <a:rPr lang="en-US" altLang="zh-TW" sz="2000" dirty="0"/>
              <a:t>CPU Profiler uses </a:t>
            </a:r>
            <a:r>
              <a:rPr lang="en-US" altLang="zh-TW" sz="2000" dirty="0" smtClean="0"/>
              <a:t>the </a:t>
            </a:r>
            <a:r>
              <a:rPr lang="en-US" altLang="zh-TW" sz="2000" dirty="0"/>
              <a:t>Performance Monitor Counters</a:t>
            </a:r>
            <a:r>
              <a:rPr lang="en-US" altLang="zh-TW" sz="2000" dirty="0" smtClean="0"/>
              <a:t> ,PMCs, </a:t>
            </a:r>
            <a:r>
              <a:rPr lang="en-US" altLang="zh-TW" sz="2000" dirty="0"/>
              <a:t>to monitor the various micro-architectural </a:t>
            </a:r>
            <a:r>
              <a:rPr lang="en-US" altLang="zh-TW" sz="2000" dirty="0" smtClean="0"/>
              <a:t>events</a:t>
            </a:r>
          </a:p>
          <a:p>
            <a:endParaRPr lang="en-US" altLang="zh-TW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Ex:</a:t>
            </a:r>
          </a:p>
          <a:p>
            <a:pPr marL="205740" lvl="1" indent="0">
              <a:buNone/>
            </a:pPr>
            <a:r>
              <a:rPr lang="en-US" altLang="zh-TW" sz="2000" dirty="0" smtClean="0"/>
              <a:t>Investigate </a:t>
            </a:r>
            <a:r>
              <a:rPr lang="en-US" altLang="zh-TW" sz="2000" dirty="0"/>
              <a:t>Data </a:t>
            </a:r>
            <a:r>
              <a:rPr lang="en-US" altLang="zh-TW" sz="2000" dirty="0" smtClean="0"/>
              <a:t>Access(pre-define configuration in CODEXL)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</a:t>
            </a:r>
            <a:r>
              <a:rPr lang="en-US" altLang="zh-TW" sz="1800" dirty="0"/>
              <a:t>Hardwar</a:t>
            </a:r>
            <a:r>
              <a:rPr lang="en-US" altLang="zh-TW" sz="1800" dirty="0" smtClean="0"/>
              <a:t>e </a:t>
            </a:r>
            <a:r>
              <a:rPr lang="en-US" altLang="zh-TW" sz="1800" dirty="0"/>
              <a:t>Events</a:t>
            </a:r>
            <a:r>
              <a:rPr lang="en-US" altLang="zh-TW" sz="1800" dirty="0" smtClean="0"/>
              <a:t>: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Retired Instructions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Data </a:t>
            </a:r>
            <a:r>
              <a:rPr lang="en-US" altLang="zh-TW" sz="1800" dirty="0"/>
              <a:t>cache </a:t>
            </a:r>
            <a:r>
              <a:rPr lang="en-US" altLang="zh-TW" sz="1800" dirty="0" smtClean="0"/>
              <a:t>accesses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Data </a:t>
            </a:r>
            <a:r>
              <a:rPr lang="en-US" altLang="zh-TW" sz="1800" dirty="0"/>
              <a:t>cache </a:t>
            </a:r>
            <a:r>
              <a:rPr lang="en-US" altLang="zh-TW" sz="1800" dirty="0" smtClean="0"/>
              <a:t>misses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Data </a:t>
            </a:r>
            <a:r>
              <a:rPr lang="en-US" altLang="zh-TW" sz="1800" dirty="0"/>
              <a:t>cache refills </a:t>
            </a:r>
            <a:r>
              <a:rPr lang="en-US" altLang="zh-TW" sz="1800" dirty="0" smtClean="0"/>
              <a:t>from </a:t>
            </a:r>
            <a:r>
              <a:rPr lang="en-US" altLang="zh-TW" sz="1800" dirty="0"/>
              <a:t>L2 or </a:t>
            </a:r>
            <a:r>
              <a:rPr lang="en-US" altLang="zh-TW" sz="1800" dirty="0" smtClean="0"/>
              <a:t>Northbridge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L1 </a:t>
            </a:r>
            <a:r>
              <a:rPr lang="en-US" altLang="zh-TW" sz="1800" dirty="0"/>
              <a:t>DTLB miss and L2 DTLB </a:t>
            </a:r>
            <a:r>
              <a:rPr lang="en-US" altLang="zh-TW" sz="1800" dirty="0" smtClean="0"/>
              <a:t>hit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L1 </a:t>
            </a:r>
            <a:r>
              <a:rPr lang="en-US" altLang="zh-TW" sz="1800" dirty="0"/>
              <a:t>DTLB and L2 DTLB </a:t>
            </a:r>
            <a:r>
              <a:rPr lang="en-US" altLang="zh-TW" sz="1800" dirty="0" smtClean="0"/>
              <a:t>misses</a:t>
            </a:r>
            <a:endParaRPr lang="en-US" altLang="zh-TW" sz="1800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Misaligned </a:t>
            </a:r>
            <a:r>
              <a:rPr lang="en-US" altLang="zh-TW" sz="1800" dirty="0"/>
              <a:t>accesses</a:t>
            </a:r>
          </a:p>
          <a:p>
            <a:pPr lvl="2"/>
            <a:endParaRPr lang="zh-TW" altLang="en-US" sz="155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44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2386" y="118433"/>
            <a:ext cx="7543800" cy="795528"/>
          </a:xfrm>
        </p:spPr>
        <p:txBody>
          <a:bodyPr/>
          <a:lstStyle/>
          <a:p>
            <a:pPr algn="ctr"/>
            <a:r>
              <a:rPr lang="en-US" altLang="zh-TW" dirty="0"/>
              <a:t>Instruction-Based Sampling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2386" y="1141661"/>
            <a:ext cx="7543800" cy="823617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When running IBS, </a:t>
            </a:r>
            <a:r>
              <a:rPr lang="en-US" altLang="zh-TW" sz="2000" dirty="0"/>
              <a:t>hardware events are linked with the instructions that caused </a:t>
            </a:r>
            <a:r>
              <a:rPr lang="en-US" altLang="zh-TW" sz="2000" dirty="0" smtClean="0"/>
              <a:t>them.</a:t>
            </a:r>
            <a:endParaRPr lang="en-US" altLang="zh-TW" sz="2000" dirty="0"/>
          </a:p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04" y="1965278"/>
            <a:ext cx="7541111" cy="212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02386" y="4402212"/>
            <a:ext cx="6648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IBS is supported starting from the AMD processor family 10h.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3501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3144" y="166321"/>
            <a:ext cx="7543800" cy="702723"/>
          </a:xfrm>
        </p:spPr>
        <p:txBody>
          <a:bodyPr/>
          <a:lstStyle/>
          <a:p>
            <a:pPr algn="ctr"/>
            <a:r>
              <a:rPr lang="en-US" altLang="zh-TW" dirty="0"/>
              <a:t>Event-Counter Multiplexing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578692" y="1601751"/>
            <a:ext cx="8201764" cy="2181651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 Monitored </a:t>
            </a:r>
            <a:r>
              <a:rPr lang="en-US" altLang="zh-TW" sz="2000" dirty="0"/>
              <a:t>PMC events   &lt;=  available performance counters</a:t>
            </a:r>
          </a:p>
          <a:p>
            <a:pPr marL="205740" lvl="1" indent="0">
              <a:buClr>
                <a:schemeClr val="tx1"/>
              </a:buClr>
              <a:buNone/>
            </a:pPr>
            <a:r>
              <a:rPr lang="en-US" altLang="zh-TW" sz="1850" dirty="0" smtClean="0"/>
              <a:t>         </a:t>
            </a:r>
            <a:r>
              <a:rPr lang="en-US" altLang="zh-TW" sz="1850" dirty="0"/>
              <a:t>each event can be monitored 100% of the time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/>
              <a:t>M</a:t>
            </a:r>
            <a:r>
              <a:rPr lang="en-US" altLang="zh-TW" sz="2000" dirty="0" smtClean="0"/>
              <a:t>onitored </a:t>
            </a:r>
            <a:r>
              <a:rPr lang="en-US" altLang="zh-TW" sz="2000" dirty="0"/>
              <a:t>PMC events </a:t>
            </a:r>
            <a:r>
              <a:rPr lang="en-US" altLang="zh-TW" sz="2000" dirty="0" smtClean="0"/>
              <a:t> &gt;  available performance counters</a:t>
            </a:r>
          </a:p>
          <a:p>
            <a:pPr marL="205740" lvl="1" indent="0">
              <a:buClr>
                <a:schemeClr val="tx1"/>
              </a:buClr>
              <a:buNone/>
            </a:pPr>
            <a:r>
              <a:rPr lang="en-US" altLang="zh-TW" sz="1850" dirty="0" smtClean="0"/>
              <a:t>    the </a:t>
            </a:r>
            <a:r>
              <a:rPr lang="en-US" altLang="zh-TW" sz="1850" dirty="0"/>
              <a:t>CPU Profiler time-shares the available HW PMC </a:t>
            </a:r>
            <a:r>
              <a:rPr lang="en-US" altLang="zh-TW" sz="1850" dirty="0" smtClean="0"/>
              <a:t>counters</a:t>
            </a:r>
          </a:p>
          <a:p>
            <a:pPr lvl="1">
              <a:buFontTx/>
              <a:buChar char="-"/>
            </a:pPr>
            <a:endParaRPr lang="en-US" altLang="zh-TW" sz="1850" dirty="0"/>
          </a:p>
          <a:p>
            <a:pPr lvl="1">
              <a:buFontTx/>
              <a:buChar char="-"/>
            </a:pPr>
            <a:endParaRPr lang="en-US" altLang="zh-TW" sz="1850" dirty="0" smtClean="0"/>
          </a:p>
          <a:p>
            <a:pPr lvl="1">
              <a:buFontTx/>
              <a:buChar char="-"/>
            </a:pPr>
            <a:endParaRPr lang="en-US" altLang="zh-TW" sz="1850" dirty="0"/>
          </a:p>
          <a:p>
            <a:pPr lvl="1">
              <a:buFontTx/>
              <a:buChar char="-"/>
            </a:pPr>
            <a:endParaRPr lang="en-US" altLang="zh-TW" sz="1850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828337" y="4442908"/>
            <a:ext cx="7702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CPU Profiler auto-scales the sample counts to compensate for this event counter multiplexing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596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2261" y="170734"/>
            <a:ext cx="7543800" cy="784609"/>
          </a:xfrm>
        </p:spPr>
        <p:txBody>
          <a:bodyPr/>
          <a:lstStyle/>
          <a:p>
            <a:pPr algn="ctr"/>
            <a:r>
              <a:rPr lang="en-US" altLang="zh-TW" dirty="0"/>
              <a:t>CPU Profile Data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9072" y="1052804"/>
            <a:ext cx="8304903" cy="465537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/>
              <a:t>Profile Session Call Graph </a:t>
            </a:r>
            <a:r>
              <a:rPr lang="en-US" altLang="zh-TW" sz="2000" dirty="0" smtClean="0"/>
              <a:t>View</a:t>
            </a:r>
          </a:p>
          <a:p>
            <a:pPr marL="0" indent="0">
              <a:buNone/>
            </a:pPr>
            <a:r>
              <a:rPr lang="en-US" altLang="zh-TW" sz="1600" dirty="0"/>
              <a:t>     </a:t>
            </a:r>
            <a:r>
              <a:rPr lang="en-US" altLang="zh-TW" sz="1800" dirty="0" smtClean="0"/>
              <a:t>- Displays </a:t>
            </a:r>
            <a:r>
              <a:rPr lang="en-US" altLang="zh-TW" sz="1800" dirty="0"/>
              <a:t>a list of functions with their Call </a:t>
            </a:r>
            <a:r>
              <a:rPr lang="en-US" altLang="zh-TW" sz="1800" dirty="0" smtClean="0"/>
              <a:t>Graph information</a:t>
            </a:r>
          </a:p>
          <a:p>
            <a:pPr marL="0" indent="0">
              <a:buNone/>
            </a:pPr>
            <a:endParaRPr lang="en-US" altLang="zh-TW" sz="16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Profile </a:t>
            </a:r>
            <a:r>
              <a:rPr lang="en-US" altLang="zh-TW" sz="2000" dirty="0"/>
              <a:t>Session Functions </a:t>
            </a:r>
            <a:r>
              <a:rPr lang="en-US" altLang="zh-TW" sz="2000" dirty="0" smtClean="0"/>
              <a:t>View</a:t>
            </a:r>
          </a:p>
          <a:p>
            <a:pPr marL="0" indent="0">
              <a:buNone/>
            </a:pPr>
            <a:r>
              <a:rPr lang="en-US" altLang="zh-TW" sz="1800" dirty="0"/>
              <a:t> </a:t>
            </a:r>
            <a:r>
              <a:rPr lang="en-US" altLang="zh-TW" sz="1800" dirty="0" smtClean="0"/>
              <a:t>    - Displays </a:t>
            </a:r>
            <a:r>
              <a:rPr lang="en-US" altLang="zh-TW" sz="1800" dirty="0"/>
              <a:t>list of functions called during profiling of the current </a:t>
            </a:r>
            <a:r>
              <a:rPr lang="en-US" altLang="zh-TW" sz="1800" dirty="0" smtClean="0"/>
              <a:t>session</a:t>
            </a:r>
          </a:p>
          <a:p>
            <a:pPr marL="0" indent="0">
              <a:buNone/>
            </a:pPr>
            <a:endParaRPr lang="en-US" altLang="zh-TW" sz="145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/>
              <a:t>Profile Session Source or Disassembly View</a:t>
            </a:r>
          </a:p>
          <a:p>
            <a:pPr marL="0" indent="0">
              <a:buNone/>
            </a:pPr>
            <a:r>
              <a:rPr lang="en-US" altLang="zh-TW" sz="1800" dirty="0"/>
              <a:t>     </a:t>
            </a:r>
            <a:r>
              <a:rPr lang="en-US" altLang="zh-TW" sz="1800" dirty="0" smtClean="0"/>
              <a:t>- Shows </a:t>
            </a:r>
            <a:r>
              <a:rPr lang="en-US" altLang="zh-TW" sz="1800" dirty="0"/>
              <a:t>the source lines annotated with assembly instructions and </a:t>
            </a: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800" dirty="0" smtClean="0"/>
              <a:t>         sample count </a:t>
            </a:r>
            <a:r>
              <a:rPr lang="en-US" altLang="zh-TW" sz="1800" dirty="0"/>
              <a:t>for a selected </a:t>
            </a:r>
            <a:r>
              <a:rPr lang="en-US" altLang="zh-TW" sz="1800" dirty="0" smtClean="0"/>
              <a:t>function</a:t>
            </a:r>
          </a:p>
          <a:p>
            <a:pPr marL="0" indent="0">
              <a:buNone/>
            </a:pPr>
            <a:endParaRPr lang="en-US" altLang="zh-TW" sz="145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Profile </a:t>
            </a:r>
            <a:r>
              <a:rPr lang="en-US" altLang="zh-TW" sz="2000" dirty="0"/>
              <a:t>Session Modules </a:t>
            </a:r>
            <a:r>
              <a:rPr lang="en-US" altLang="zh-TW" sz="2000" dirty="0" smtClean="0"/>
              <a:t>View</a:t>
            </a:r>
          </a:p>
          <a:p>
            <a:pPr marL="205740" lvl="1" indent="0">
              <a:buNone/>
            </a:pPr>
            <a:r>
              <a:rPr lang="en-US" altLang="zh-TW" sz="1800" dirty="0" smtClean="0"/>
              <a:t> - Displays </a:t>
            </a:r>
            <a:r>
              <a:rPr lang="en-US" altLang="zh-TW" sz="1800" dirty="0"/>
              <a:t>a module-by-module detailing of performance </a:t>
            </a:r>
            <a:r>
              <a:rPr lang="en-US" altLang="zh-TW" sz="1800" dirty="0" smtClean="0"/>
              <a:t>data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652261" y="170734"/>
            <a:ext cx="7543800" cy="78460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/>
              <a:t>Using the GPU Profiler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982638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solidFill>
                  <a:srgbClr val="000000"/>
                </a:solidFill>
              </a:rPr>
              <a:t>The GPU Profiler provides two modes</a:t>
            </a:r>
            <a:r>
              <a:rPr lang="en-US" altLang="zh-TW" dirty="0" smtClean="0">
                <a:solidFill>
                  <a:srgbClr val="000000"/>
                </a:solidFill>
              </a:rPr>
              <a:t>:</a:t>
            </a:r>
          </a:p>
          <a:p>
            <a:endParaRPr lang="en-US" altLang="zh-TW" dirty="0" smtClean="0">
              <a:solidFill>
                <a:srgbClr val="00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Application Timeline </a:t>
            </a:r>
            <a:r>
              <a:rPr lang="en-US" altLang="zh-TW" dirty="0" smtClean="0"/>
              <a:t>Trace</a:t>
            </a:r>
          </a:p>
          <a:p>
            <a:pPr lvl="1"/>
            <a:endParaRPr lang="en-US" altLang="zh-TW" dirty="0"/>
          </a:p>
          <a:p>
            <a:pPr lvl="2"/>
            <a:r>
              <a:rPr lang="en-US" altLang="zh-TW" dirty="0" smtClean="0"/>
              <a:t>1.</a:t>
            </a:r>
            <a:r>
              <a:rPr lang="en-US" altLang="zh-TW" dirty="0"/>
              <a:t> An API Trace, showing all </a:t>
            </a:r>
            <a:r>
              <a:rPr lang="en-US" altLang="zh-TW" dirty="0" err="1"/>
              <a:t>OpenCL</a:t>
            </a:r>
            <a:r>
              <a:rPr lang="en-US" altLang="zh-TW" dirty="0"/>
              <a:t>™ APIs called by the application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2.</a:t>
            </a:r>
            <a:r>
              <a:rPr lang="en-US" altLang="zh-TW" dirty="0"/>
              <a:t> A timeline showing the call sequence and duration of all </a:t>
            </a:r>
            <a:r>
              <a:rPr lang="en-US" altLang="zh-TW" dirty="0" err="1"/>
              <a:t>OpenCL</a:t>
            </a:r>
            <a:r>
              <a:rPr lang="en-US" altLang="zh-TW" dirty="0"/>
              <a:t>™ </a:t>
            </a:r>
            <a:endParaRPr lang="en-US" altLang="zh-TW" dirty="0" smtClean="0"/>
          </a:p>
          <a:p>
            <a:pPr lvl="2"/>
            <a:r>
              <a:rPr lang="en-US" altLang="zh-TW" dirty="0"/>
              <a:t> </a:t>
            </a:r>
            <a:r>
              <a:rPr lang="en-US" altLang="zh-TW" dirty="0" smtClean="0"/>
              <a:t>   APIs </a:t>
            </a:r>
            <a:r>
              <a:rPr lang="en-US" altLang="zh-TW" dirty="0"/>
              <a:t>called by the host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3. Data </a:t>
            </a:r>
            <a:r>
              <a:rPr lang="en-US" altLang="zh-TW" dirty="0"/>
              <a:t>transfers and kernels </a:t>
            </a:r>
            <a:r>
              <a:rPr lang="en-US" altLang="zh-TW" dirty="0" smtClean="0"/>
              <a:t>executing on </a:t>
            </a:r>
            <a:r>
              <a:rPr lang="en-US" altLang="zh-TW" dirty="0"/>
              <a:t>a device.</a:t>
            </a:r>
            <a:endParaRPr lang="en-US" altLang="zh-TW" dirty="0" smtClean="0"/>
          </a:p>
          <a:p>
            <a:pPr lvl="2"/>
            <a:r>
              <a:rPr lang="en-US" altLang="zh-TW" dirty="0"/>
              <a:t>4</a:t>
            </a:r>
            <a:r>
              <a:rPr lang="en-US" altLang="zh-TW" dirty="0" smtClean="0"/>
              <a:t>. Statistics </a:t>
            </a:r>
            <a:r>
              <a:rPr lang="en-US" altLang="zh-TW" dirty="0"/>
              <a:t>for the application, as well as the results of detailed </a:t>
            </a:r>
            <a:r>
              <a:rPr lang="en-US" altLang="zh-TW" dirty="0" smtClean="0"/>
              <a:t>analysis </a:t>
            </a:r>
          </a:p>
          <a:p>
            <a:pPr lvl="2"/>
            <a:r>
              <a:rPr lang="en-US" altLang="zh-TW" dirty="0"/>
              <a:t> </a:t>
            </a:r>
            <a:r>
              <a:rPr lang="en-US" altLang="zh-TW" dirty="0" smtClean="0"/>
              <a:t>   of </a:t>
            </a:r>
            <a:r>
              <a:rPr lang="en-US" altLang="zh-TW" dirty="0"/>
              <a:t>the application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2"/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Performance Counters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       1. </a:t>
            </a:r>
            <a:r>
              <a:rPr lang="en-US" altLang="zh-TW" dirty="0"/>
              <a:t>C</a:t>
            </a:r>
            <a:r>
              <a:rPr lang="en-US" altLang="zh-TW" dirty="0" smtClean="0"/>
              <a:t>ollects </a:t>
            </a:r>
            <a:r>
              <a:rPr lang="en-US" altLang="zh-TW" dirty="0"/>
              <a:t>performance counters from the AMD GPU or APU for each kernel </a:t>
            </a:r>
            <a:r>
              <a:rPr lang="en-US" altLang="zh-TW" dirty="0" smtClean="0"/>
              <a:t>     </a:t>
            </a:r>
          </a:p>
          <a:p>
            <a:pPr lvl="1"/>
            <a:r>
              <a:rPr lang="en-US" altLang="zh-TW" dirty="0" smtClean="0"/>
              <a:t>            dispatched </a:t>
            </a:r>
            <a:r>
              <a:rPr lang="en-US" altLang="zh-TW" dirty="0"/>
              <a:t>to the </a:t>
            </a:r>
            <a:r>
              <a:rPr lang="en-US" altLang="zh-TW" dirty="0" smtClean="0"/>
              <a:t>device.</a:t>
            </a:r>
          </a:p>
          <a:p>
            <a:pPr lvl="1"/>
            <a:r>
              <a:rPr lang="en-US" altLang="zh-TW" dirty="0"/>
              <a:t>	</a:t>
            </a:r>
            <a:r>
              <a:rPr lang="en-US" altLang="zh-TW" dirty="0" smtClean="0"/>
              <a:t>2.</a:t>
            </a:r>
            <a:r>
              <a:rPr lang="en-US" altLang="zh-TW" dirty="0"/>
              <a:t> D</a:t>
            </a:r>
            <a:r>
              <a:rPr lang="en-US" altLang="zh-TW" dirty="0" smtClean="0"/>
              <a:t>isplay </a:t>
            </a:r>
            <a:r>
              <a:rPr lang="en-US" altLang="zh-TW" dirty="0"/>
              <a:t>the kernel source code, the generated IL code, and the compiled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            ISA </a:t>
            </a:r>
            <a:r>
              <a:rPr lang="en-US" altLang="zh-TW" dirty="0"/>
              <a:t>code for a kernel dispatched to a GPU</a:t>
            </a:r>
          </a:p>
          <a:p>
            <a:pPr lvl="2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94879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3329" y="76464"/>
            <a:ext cx="7543800" cy="56091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smtClean="0"/>
              <a:t>Profiler view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672619"/>
              </p:ext>
            </p:extLst>
          </p:nvPr>
        </p:nvGraphicFramePr>
        <p:xfrm>
          <a:off x="479014" y="3830864"/>
          <a:ext cx="8245134" cy="2844547"/>
        </p:xfrm>
        <a:graphic>
          <a:graphicData uri="http://schemas.openxmlformats.org/drawingml/2006/table">
            <a:tbl>
              <a:tblPr/>
              <a:tblGrid>
                <a:gridCol w="1143834"/>
                <a:gridCol w="7101300"/>
              </a:tblGrid>
              <a:tr h="30579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</a:rPr>
                        <a:t>Name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F7F"/>
                    </a:solidFill>
                  </a:tcPr>
                </a:tc>
              </a:tr>
              <a:tr h="305795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Wavefronts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</a:rPr>
                        <a:t>wavefronts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795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ALUInsts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The average number of ALU instructions executed per work-item (affected by flow control).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11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FetchInsts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The average number of Fetch instructions from the video memory executed per work-item (affected by flow control).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11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WriteInsts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The average number of Write instructions to the video memory executed per work-item (affected by flow control).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795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ALUBusy</a:t>
                      </a:r>
                      <a:endParaRPr lang="en-US" sz="100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The percentage of GPU time ALU instructions are processed. Value range: 0% (bad) to 100% (optimal).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145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effectLst/>
                        </a:rPr>
                        <a:t>CacheHit</a:t>
                      </a:r>
                      <a:endParaRPr lang="en-US" sz="1000" dirty="0" smtClean="0">
                        <a:effectLst/>
                      </a:endParaRPr>
                    </a:p>
                    <a:p>
                      <a:r>
                        <a:rPr lang="en-US" sz="1000" dirty="0" smtClean="0">
                          <a:effectLst/>
                        </a:rPr>
                        <a:t> </a:t>
                      </a:r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effectLst/>
                        </a:rPr>
                        <a:t> The percentage of fetches that hit the data cache. Value range: 0% (no hit) to 100% (optimal).</a:t>
                      </a:r>
                    </a:p>
                    <a:p>
                      <a:endParaRPr lang="en-US" sz="1000" dirty="0">
                        <a:effectLst/>
                      </a:endParaRPr>
                    </a:p>
                  </a:txBody>
                  <a:tcPr marL="50873" marR="50873" marT="21803" marB="21803" anchor="ctr">
                    <a:lnL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31670" y="3404764"/>
            <a:ext cx="6567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Performance counter: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31670" y="637377"/>
            <a:ext cx="6567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dirty="0"/>
              <a:t>Application Timeline </a:t>
            </a:r>
            <a:r>
              <a:rPr lang="en-US" altLang="zh-TW" dirty="0" smtClean="0"/>
              <a:t>Trace: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06709"/>
            <a:ext cx="87153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0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Application trace</a:t>
            </a:r>
            <a:endParaRPr lang="en-US" altLang="zh-TW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8565" y="734294"/>
            <a:ext cx="9040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Timeline </a:t>
            </a:r>
            <a:r>
              <a:rPr lang="en-US" altLang="zh-TW" dirty="0" smtClean="0"/>
              <a:t>View:</a:t>
            </a:r>
          </a:p>
          <a:p>
            <a:pPr lvl="1"/>
            <a:r>
              <a:rPr lang="en-US" altLang="zh-TW" dirty="0"/>
              <a:t>The Timeline View provides a visual representation of the execution of the application</a:t>
            </a:r>
            <a:endParaRPr lang="zh-TW" altLang="en-US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8" y="1642014"/>
            <a:ext cx="9009200" cy="52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7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API trace view</a:t>
            </a:r>
            <a:endParaRPr lang="en-US" altLang="zh-TW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115"/>
            <a:ext cx="9144000" cy="336232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1448789"/>
            <a:ext cx="767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The API Trace </a:t>
            </a:r>
            <a:r>
              <a:rPr lang="en-US" altLang="zh-TW" dirty="0" smtClean="0"/>
              <a:t>lists </a:t>
            </a:r>
            <a:r>
              <a:rPr lang="en-US" altLang="zh-TW" dirty="0"/>
              <a:t>all the </a:t>
            </a:r>
            <a:r>
              <a:rPr lang="en-US" altLang="zh-TW" dirty="0" err="1"/>
              <a:t>OpenCL</a:t>
            </a:r>
            <a:r>
              <a:rPr lang="en-US" altLang="zh-TW" dirty="0"/>
              <a:t> API calls made by </a:t>
            </a:r>
            <a:r>
              <a:rPr lang="en-US" altLang="zh-TW" dirty="0" smtClean="0"/>
              <a:t>the application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518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It helps…</a:t>
            </a:r>
            <a:endParaRPr lang="en-US" altLang="zh-TW" sz="3600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179512" y="1600200"/>
            <a:ext cx="8712968" cy="4525963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1800" smtClean="0"/>
              <a:t> Verifying </a:t>
            </a:r>
            <a:r>
              <a:rPr lang="en-US" altLang="zh-TW" sz="1800" dirty="0" smtClean="0"/>
              <a:t>that the number of queues and contexts created as you expected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18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1800" dirty="0" smtClean="0"/>
              <a:t> Confirm that synchronization has been performed properly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18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1800" dirty="0" smtClean="0"/>
              <a:t> Confirm that the application has been using the hardware efficiently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319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Performance counter</a:t>
            </a:r>
            <a:endParaRPr lang="en-US" altLang="zh-TW" sz="3600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12102" y="1572905"/>
            <a:ext cx="8651304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Find the number of resources (general-purpose registers, local memory sizes, and flow control stack size) allocated for the kernel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Determine the number of bytes fetched from, and written to, the global memory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Determine the use of the SIMD engines and memory units in the system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TW" sz="2000" dirty="0" smtClean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View the efficiency of the </a:t>
            </a:r>
            <a:r>
              <a:rPr lang="en-US" altLang="zh-TW" sz="2000" dirty="0" err="1" smtClean="0"/>
              <a:t>shader</a:t>
            </a:r>
            <a:r>
              <a:rPr lang="en-US" altLang="zh-TW" sz="2000" dirty="0" smtClean="0"/>
              <a:t> compiler in packing ALU instructions into the VLIW instructions used by AMD GPUs.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8415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/>
              <a:t>AMD APP </a:t>
            </a:r>
            <a:r>
              <a:rPr lang="en-US" altLang="zh-TW" sz="3600" dirty="0" smtClean="0"/>
              <a:t>Kernel Analyzer</a:t>
            </a:r>
            <a:endParaRPr lang="en-US" altLang="zh-TW" sz="3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2918" y="976788"/>
            <a:ext cx="85473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AMD APP KernelAnalyzer2 analyzes the performance of </a:t>
            </a:r>
            <a:r>
              <a:rPr lang="en-US" altLang="zh-TW" dirty="0" err="1"/>
              <a:t>OpenCL</a:t>
            </a:r>
            <a:r>
              <a:rPr lang="en-US" altLang="zh-TW" dirty="0"/>
              <a:t> kernels for</a:t>
            </a:r>
          </a:p>
          <a:p>
            <a:r>
              <a:rPr lang="en-US" altLang="zh-TW" dirty="0" smtClean="0"/>
              <a:t>    AMD GPUs:</a:t>
            </a:r>
          </a:p>
          <a:p>
            <a:endParaRPr lang="en-US" altLang="zh-TW" dirty="0" smtClean="0"/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gives accurate kernel performance estimates and lets you view</a:t>
            </a:r>
          </a:p>
          <a:p>
            <a:pPr lvl="1"/>
            <a:r>
              <a:rPr lang="en-US" altLang="zh-TW" dirty="0"/>
              <a:t>kernel compilation results and assembly code for multiple GPUs, without</a:t>
            </a:r>
          </a:p>
          <a:p>
            <a:pPr lvl="1"/>
            <a:r>
              <a:rPr lang="en-US" altLang="zh-TW" dirty="0"/>
              <a:t>requiring actual GPU hardware.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97" y="2731114"/>
            <a:ext cx="6257582" cy="40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9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/>
              <a:t>Analysis Input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74" y="998328"/>
            <a:ext cx="8106770" cy="164888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74" y="2955635"/>
            <a:ext cx="7731332" cy="390236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41195" y="679014"/>
            <a:ext cx="6687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For each kernel, you can set the global and local work size.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41195" y="2701776"/>
            <a:ext cx="168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After build: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540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/>
              <a:t>Analysis </a:t>
            </a:r>
            <a:r>
              <a:rPr lang="en-US" altLang="zh-TW" sz="3600" dirty="0" smtClean="0"/>
              <a:t>result</a:t>
            </a:r>
            <a:endParaRPr lang="en-US" altLang="zh-TW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2" y="1471421"/>
            <a:ext cx="8998492" cy="26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0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802385" y="157086"/>
            <a:ext cx="7543800" cy="62668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mtClean="0"/>
              <a:t>GPU Profiler Kernel Occupancy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2101"/>
            <a:ext cx="9144000" cy="259133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" y="3986073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/>
              <a:t>H</a:t>
            </a:r>
            <a:r>
              <a:rPr lang="en-US" altLang="zh-TW" sz="1400" dirty="0" smtClean="0"/>
              <a:t>ow </a:t>
            </a:r>
            <a:r>
              <a:rPr lang="en-US" altLang="zh-TW" sz="1400" dirty="0"/>
              <a:t>the number of active </a:t>
            </a:r>
            <a:r>
              <a:rPr lang="en-US" altLang="zh-TW" sz="1400" dirty="0" err="1"/>
              <a:t>wavefronts</a:t>
            </a:r>
            <a:r>
              <a:rPr lang="en-US" altLang="zh-TW" sz="1400" dirty="0"/>
              <a:t> is affected by the size of the work-group for the dispatched kernel</a:t>
            </a:r>
            <a:r>
              <a:rPr lang="en-US" altLang="zh-TW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/>
              <a:t>H</a:t>
            </a:r>
            <a:r>
              <a:rPr lang="en-US" altLang="zh-TW" sz="1400" dirty="0" smtClean="0"/>
              <a:t>ow </a:t>
            </a:r>
            <a:r>
              <a:rPr lang="en-US" altLang="zh-TW" sz="1400" dirty="0"/>
              <a:t>the number of active </a:t>
            </a:r>
            <a:r>
              <a:rPr lang="en-US" altLang="zh-TW" sz="1400" dirty="0" err="1"/>
              <a:t>wavefronts</a:t>
            </a:r>
            <a:r>
              <a:rPr lang="en-US" altLang="zh-TW" sz="1400" dirty="0"/>
              <a:t> is affected by the number of vector GPRs used by the dispatched kernel</a:t>
            </a:r>
            <a:r>
              <a:rPr lang="en-US" altLang="zh-TW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/>
              <a:t>H</a:t>
            </a:r>
            <a:r>
              <a:rPr lang="en-US" altLang="zh-TW" sz="1400" dirty="0" smtClean="0"/>
              <a:t>ow </a:t>
            </a:r>
            <a:r>
              <a:rPr lang="en-US" altLang="zh-TW" sz="1400" dirty="0"/>
              <a:t>the number of active </a:t>
            </a:r>
            <a:r>
              <a:rPr lang="en-US" altLang="zh-TW" sz="1400" dirty="0" err="1"/>
              <a:t>wavefronts</a:t>
            </a:r>
            <a:r>
              <a:rPr lang="en-US" altLang="zh-TW" sz="1400" dirty="0"/>
              <a:t> is affected by the amount of LDS used by the dispatched kernel.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0411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2385" y="157086"/>
            <a:ext cx="7543800" cy="825553"/>
          </a:xfrm>
        </p:spPr>
        <p:txBody>
          <a:bodyPr/>
          <a:lstStyle/>
          <a:p>
            <a:pPr algn="ctr"/>
            <a:r>
              <a:rPr lang="en-US" altLang="zh-TW" dirty="0"/>
              <a:t>GPU Profiler Kernel Occupancy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996287"/>
            <a:ext cx="9144000" cy="2442949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 smtClean="0"/>
              <a:t> The </a:t>
            </a:r>
            <a:r>
              <a:rPr lang="en-US" altLang="zh-TW" sz="2000" dirty="0"/>
              <a:t>number of </a:t>
            </a:r>
            <a:r>
              <a:rPr lang="en-US" altLang="zh-TW" sz="2000" dirty="0" err="1"/>
              <a:t>wavefronts</a:t>
            </a:r>
            <a:r>
              <a:rPr lang="en-US" altLang="zh-TW" sz="2000" dirty="0"/>
              <a:t> that are scheduled </a:t>
            </a:r>
            <a:r>
              <a:rPr lang="en-US" altLang="zh-TW" sz="2000" dirty="0" smtClean="0"/>
              <a:t>is </a:t>
            </a:r>
            <a:r>
              <a:rPr lang="en-US" altLang="zh-TW" sz="2000" dirty="0"/>
              <a:t>constrained by </a:t>
            </a:r>
            <a:r>
              <a:rPr lang="en-US" altLang="zh-TW" sz="2000" dirty="0" smtClean="0"/>
              <a:t>        </a:t>
            </a:r>
            <a:endParaRPr lang="en-US" altLang="zh-TW" sz="2000" dirty="0"/>
          </a:p>
          <a:p>
            <a:pPr marL="0" indent="0">
              <a:buClr>
                <a:schemeClr val="tx1"/>
              </a:buClr>
              <a:buNone/>
            </a:pPr>
            <a:r>
              <a:rPr lang="en-US" altLang="zh-TW" sz="2000" dirty="0" smtClean="0"/>
              <a:t>   three </a:t>
            </a:r>
            <a:r>
              <a:rPr lang="en-US" altLang="zh-TW" sz="2000" dirty="0"/>
              <a:t>significant factors: </a:t>
            </a:r>
            <a:endParaRPr lang="en-US" altLang="zh-TW" sz="2000" dirty="0" smtClean="0"/>
          </a:p>
          <a:p>
            <a:pPr marL="0" indent="0">
              <a:buClr>
                <a:schemeClr val="tx1"/>
              </a:buClr>
              <a:buNone/>
            </a:pPr>
            <a:endParaRPr lang="en-US" altLang="zh-TW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/>
              <a:t>  </a:t>
            </a:r>
            <a:r>
              <a:rPr lang="en-US" altLang="zh-TW" sz="1800" dirty="0" smtClean="0"/>
              <a:t>The </a:t>
            </a:r>
            <a:r>
              <a:rPr lang="en-US" altLang="zh-TW" sz="1800" dirty="0"/>
              <a:t>number of general purpose registers (GPR) required by each </a:t>
            </a:r>
            <a:r>
              <a:rPr lang="en-US" altLang="zh-TW" sz="1800" dirty="0" smtClean="0"/>
              <a:t>work- item </a:t>
            </a:r>
            <a:endParaRPr lang="en-US" altLang="zh-TW" sz="18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/>
              <a:t>  </a:t>
            </a:r>
            <a:r>
              <a:rPr lang="en-US" altLang="zh-TW" sz="1800" dirty="0" smtClean="0"/>
              <a:t>The </a:t>
            </a:r>
            <a:r>
              <a:rPr lang="en-US" altLang="zh-TW" sz="1800" dirty="0"/>
              <a:t>amount of shared memory (LDS for local data store) used by each </a:t>
            </a:r>
            <a:r>
              <a:rPr lang="en-US" altLang="zh-TW" sz="1800" dirty="0" smtClean="0"/>
              <a:t>work-group</a:t>
            </a:r>
            <a:r>
              <a:rPr lang="en-US" altLang="zh-TW" sz="1800" dirty="0"/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  The </a:t>
            </a:r>
            <a:r>
              <a:rPr lang="en-US" altLang="zh-TW" sz="1800" dirty="0"/>
              <a:t>configuration of the work-group (the work-group size).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0" y="171102"/>
            <a:ext cx="9113176" cy="77266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 smtClean="0"/>
              <a:t>Estimate performance</a:t>
            </a:r>
            <a:endParaRPr lang="en-US" altLang="zh-TW" sz="3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805218" y="1228299"/>
            <a:ext cx="5822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Measuring Execution </a:t>
            </a:r>
            <a:r>
              <a:rPr lang="en-US" altLang="zh-TW" dirty="0" smtClean="0"/>
              <a:t>Time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Using the </a:t>
            </a:r>
            <a:r>
              <a:rPr lang="en-US" altLang="zh-TW" dirty="0" err="1"/>
              <a:t>OpenCL</a:t>
            </a:r>
            <a:r>
              <a:rPr lang="en-US" altLang="zh-TW" dirty="0"/>
              <a:t> timer with Other System </a:t>
            </a:r>
            <a:r>
              <a:rPr lang="en-US" altLang="zh-TW" dirty="0" smtClean="0"/>
              <a:t>Timers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Estimating Memory Bandwidth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269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110865"/>
            <a:ext cx="8229600" cy="922114"/>
          </a:xfrm>
        </p:spPr>
        <p:txBody>
          <a:bodyPr/>
          <a:lstStyle/>
          <a:p>
            <a:pPr algn="ctr"/>
            <a:r>
              <a:rPr lang="en-US" altLang="zh-TW" dirty="0"/>
              <a:t>Measuring Execution 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340768"/>
            <a:ext cx="8568952" cy="478539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2000" dirty="0"/>
              <a:t>The </a:t>
            </a:r>
            <a:r>
              <a:rPr lang="en-US" altLang="zh-TW" sz="2000" dirty="0" err="1"/>
              <a:t>OpenCL</a:t>
            </a:r>
            <a:r>
              <a:rPr lang="en-US" altLang="zh-TW" sz="2000" dirty="0"/>
              <a:t> runtime provides a built-in mechanism for timing the execution </a:t>
            </a:r>
            <a:r>
              <a:rPr lang="en-US" altLang="zh-TW" sz="2000" dirty="0" smtClean="0"/>
              <a:t>of kernels </a:t>
            </a:r>
            <a:r>
              <a:rPr lang="en-US" altLang="zh-TW" sz="2000" dirty="0"/>
              <a:t>by setting the </a:t>
            </a:r>
            <a:r>
              <a:rPr lang="en-US" altLang="zh-TW" sz="2000" dirty="0" smtClean="0"/>
              <a:t>CL_QUEUE_PROFILING_ENABLE</a:t>
            </a:r>
            <a:endParaRPr lang="en-US" altLang="zh-TW" sz="2000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23528" y="2264261"/>
            <a:ext cx="6552728" cy="226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TW" sz="1800" dirty="0" err="1"/>
              <a:t>OpenCL</a:t>
            </a:r>
            <a:r>
              <a:rPr lang="en-US" altLang="zh-TW" sz="1800" dirty="0"/>
              <a:t> provides four timestamps</a:t>
            </a:r>
            <a:endParaRPr lang="en-US" altLang="zh-TW" sz="1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CL_PROFILING_COMMAND_QUEUED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CL_PROFILING_COMMAND_SUBMIT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CL_PROFILING_COMMAND_START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800" dirty="0" smtClean="0"/>
              <a:t>CL_PROFILING_COMMAND_END</a:t>
            </a:r>
            <a:endParaRPr lang="zh-TW" altLang="en-US" sz="1800" dirty="0"/>
          </a:p>
        </p:txBody>
      </p:sp>
      <p:sp>
        <p:nvSpPr>
          <p:cNvPr id="5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8483346" y="6272785"/>
            <a:ext cx="480060" cy="365125"/>
          </a:xfrm>
        </p:spPr>
        <p:txBody>
          <a:bodyPr/>
          <a:lstStyle/>
          <a:p>
            <a:r>
              <a:rPr lang="en-US" smtClean="0"/>
              <a:t>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07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922114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/>
              <a:t>Measuring Execution Time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68740" y="1132764"/>
            <a:ext cx="225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Simple example: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01" y="1699928"/>
            <a:ext cx="85248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4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66705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err="1"/>
              <a:t>OpenCL</a:t>
            </a:r>
            <a:r>
              <a:rPr lang="en-US" altLang="zh-TW" dirty="0"/>
              <a:t> timer with Other System Timers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-13647" y="1009935"/>
            <a:ext cx="9157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AMD CPUs and GPUs report a timer resolution of 1 ns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err="1" smtClean="0"/>
              <a:t>OpenCL</a:t>
            </a:r>
            <a:r>
              <a:rPr lang="en-US" altLang="zh-TW" dirty="0" smtClean="0"/>
              <a:t> uses </a:t>
            </a:r>
            <a:r>
              <a:rPr lang="en-US" altLang="zh-TW" dirty="0"/>
              <a:t>the same time-domain for all </a:t>
            </a:r>
            <a:r>
              <a:rPr lang="en-US" altLang="zh-TW" dirty="0" smtClean="0"/>
              <a:t>devices in </a:t>
            </a:r>
            <a:r>
              <a:rPr lang="en-US" altLang="zh-TW" dirty="0"/>
              <a:t>the </a:t>
            </a:r>
            <a:r>
              <a:rPr lang="en-US" altLang="zh-TW" dirty="0" smtClean="0"/>
              <a:t>platform; thus,</a:t>
            </a:r>
            <a:r>
              <a:rPr lang="en-US" altLang="zh-TW" dirty="0"/>
              <a:t> </a:t>
            </a:r>
            <a:r>
              <a:rPr lang="en-US" altLang="zh-TW" dirty="0" smtClean="0"/>
              <a:t>profiling </a:t>
            </a:r>
            <a:r>
              <a:rPr lang="en-US" altLang="zh-TW" dirty="0"/>
              <a:t>timestamps can be directly compared </a:t>
            </a:r>
            <a:r>
              <a:rPr lang="en-US" altLang="zh-TW" dirty="0" smtClean="0"/>
              <a:t>across the </a:t>
            </a:r>
            <a:r>
              <a:rPr lang="en-US" altLang="zh-TW" dirty="0"/>
              <a:t>CPU and </a:t>
            </a:r>
            <a:r>
              <a:rPr lang="en-US" altLang="zh-TW" dirty="0" smtClean="0"/>
              <a:t>GPU devices</a:t>
            </a:r>
            <a:r>
              <a:rPr lang="en-US" altLang="zh-TW" dirty="0"/>
              <a:t>.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53" y="2779437"/>
            <a:ext cx="82867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0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66705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err="1"/>
              <a:t>OpenCL</a:t>
            </a:r>
            <a:r>
              <a:rPr lang="en-US" altLang="zh-TW" dirty="0"/>
              <a:t> timer with Other System Timers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1349" y="1173707"/>
            <a:ext cx="86820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Normal CPU time-of-day routines can provide a rough measure of the elapsed</a:t>
            </a:r>
          </a:p>
          <a:p>
            <a:r>
              <a:rPr lang="en-US" altLang="zh-TW" dirty="0" smtClean="0"/>
              <a:t>     time </a:t>
            </a:r>
            <a:r>
              <a:rPr lang="en-US" altLang="zh-TW" dirty="0"/>
              <a:t>of a GPU kernel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In OPENCL, you can force CPU</a:t>
            </a:r>
            <a:r>
              <a:rPr lang="zh-TW" altLang="en-US" dirty="0" smtClean="0"/>
              <a:t> </a:t>
            </a:r>
            <a:r>
              <a:rPr lang="en-US" altLang="zh-TW" dirty="0" smtClean="0"/>
              <a:t>to wait GPU idle by </a:t>
            </a:r>
            <a:r>
              <a:rPr lang="en-US" altLang="zh-TW" dirty="0" err="1"/>
              <a:t>clFinish</a:t>
            </a:r>
            <a:r>
              <a:rPr lang="en-US" altLang="zh-TW" dirty="0"/>
              <a:t>()</a:t>
            </a:r>
            <a:r>
              <a:rPr lang="en-US" altLang="zh-TW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I</a:t>
            </a:r>
            <a:r>
              <a:rPr lang="en-US" altLang="zh-TW" dirty="0" smtClean="0"/>
              <a:t>nserting </a:t>
            </a:r>
            <a:r>
              <a:rPr lang="en-US" altLang="zh-TW" dirty="0"/>
              <a:t>calls </a:t>
            </a:r>
            <a:r>
              <a:rPr lang="en-US" altLang="zh-TW" dirty="0" smtClean="0"/>
              <a:t>to </a:t>
            </a:r>
            <a:r>
              <a:rPr lang="en-US" altLang="zh-TW" dirty="0" err="1" smtClean="0"/>
              <a:t>clFinish</a:t>
            </a:r>
            <a:r>
              <a:rPr lang="en-US" altLang="zh-TW" dirty="0"/>
              <a:t>() before and after the sequence you want to time;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this </a:t>
            </a:r>
            <a:r>
              <a:rPr lang="en-US" altLang="zh-TW" dirty="0"/>
              <a:t>increases </a:t>
            </a:r>
            <a:r>
              <a:rPr lang="en-US" altLang="zh-TW" dirty="0" smtClean="0"/>
              <a:t>the timing </a:t>
            </a:r>
            <a:r>
              <a:rPr lang="en-US" altLang="zh-TW" dirty="0"/>
              <a:t>accuracy of the CPU routines.</a:t>
            </a:r>
          </a:p>
        </p:txBody>
      </p:sp>
      <p:sp>
        <p:nvSpPr>
          <p:cNvPr id="5" name="圓角矩形 4"/>
          <p:cNvSpPr/>
          <p:nvPr/>
        </p:nvSpPr>
        <p:spPr>
          <a:xfrm>
            <a:off x="1255594" y="3821373"/>
            <a:ext cx="1146412" cy="18833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255594" y="3404862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clFinish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255594" y="5903453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clFinish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255594" y="4469491"/>
            <a:ext cx="10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clKernel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 flipH="1" flipV="1">
            <a:off x="2434122" y="3572846"/>
            <a:ext cx="719117" cy="184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2486303" y="5806743"/>
            <a:ext cx="823478" cy="2813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259800" y="3589528"/>
            <a:ext cx="581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lock CPU until all the commands have been finished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309781" y="5653416"/>
            <a:ext cx="471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lock CPU until </a:t>
            </a:r>
            <a:r>
              <a:rPr lang="en-US" altLang="zh-TW" dirty="0" err="1" smtClean="0"/>
              <a:t>clKernel</a:t>
            </a:r>
            <a:r>
              <a:rPr lang="en-US" altLang="zh-TW" dirty="0" smtClean="0"/>
              <a:t> has been finished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189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66705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/>
              <a:t>Estimating Memory Bandwidth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87104" y="1241946"/>
            <a:ext cx="75395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Effective bandwidth = </a:t>
            </a:r>
            <a:r>
              <a:rPr lang="en-US" altLang="zh-TW" dirty="0"/>
              <a:t>(Br + </a:t>
            </a:r>
            <a:r>
              <a:rPr lang="en-US" altLang="zh-TW" dirty="0" err="1"/>
              <a:t>Bw</a:t>
            </a:r>
            <a:r>
              <a:rPr lang="en-US" altLang="zh-TW" dirty="0"/>
              <a:t>)/</a:t>
            </a:r>
            <a:r>
              <a:rPr lang="en-US" altLang="zh-TW" dirty="0" smtClean="0"/>
              <a:t>T    (GB/s)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Br = total number of bytes read from global memory</a:t>
            </a:r>
            <a:r>
              <a:rPr lang="en-US" altLang="zh-TW" dirty="0" smtClean="0"/>
              <a:t>. (bytes)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err="1"/>
              <a:t>Bw</a:t>
            </a:r>
            <a:r>
              <a:rPr lang="en-US" altLang="zh-TW" dirty="0"/>
              <a:t> = total number of bytes written to global memory</a:t>
            </a:r>
            <a:r>
              <a:rPr lang="en-US" altLang="zh-TW" dirty="0" smtClean="0"/>
              <a:t>. (bytes)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/>
              <a:t>T = time required to run kernel, specified in nanoseconds</a:t>
            </a:r>
            <a:r>
              <a:rPr lang="en-US" altLang="zh-TW" dirty="0" smtClean="0"/>
              <a:t>. (ns)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Example: (If you </a:t>
            </a:r>
            <a:r>
              <a:rPr lang="en-US" altLang="zh-TW" dirty="0"/>
              <a:t>thorough understanding of the kernel algorithm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1187356" y="3124663"/>
            <a:ext cx="4339988" cy="1289678"/>
            <a:chOff x="532262" y="2743198"/>
            <a:chExt cx="6567573" cy="1951631"/>
          </a:xfrm>
        </p:grpSpPr>
        <p:grpSp>
          <p:nvGrpSpPr>
            <p:cNvPr id="7" name="群組 6"/>
            <p:cNvGrpSpPr/>
            <p:nvPr/>
          </p:nvGrpSpPr>
          <p:grpSpPr>
            <a:xfrm>
              <a:off x="532262" y="2743199"/>
              <a:ext cx="1610436" cy="1951630"/>
              <a:chOff x="627797" y="3220871"/>
              <a:chExt cx="1610436" cy="1951630"/>
            </a:xfrm>
          </p:grpSpPr>
          <p:sp>
            <p:nvSpPr>
              <p:cNvPr id="5" name="左中括弧 4"/>
              <p:cNvSpPr/>
              <p:nvPr/>
            </p:nvSpPr>
            <p:spPr>
              <a:xfrm>
                <a:off x="627797" y="3220872"/>
                <a:ext cx="259307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左中括弧 5"/>
              <p:cNvSpPr/>
              <p:nvPr/>
            </p:nvSpPr>
            <p:spPr>
              <a:xfrm flipH="1">
                <a:off x="1937981" y="3220871"/>
                <a:ext cx="300252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8" name="群組 7"/>
            <p:cNvGrpSpPr/>
            <p:nvPr/>
          </p:nvGrpSpPr>
          <p:grpSpPr>
            <a:xfrm>
              <a:off x="3046450" y="2743199"/>
              <a:ext cx="1610436" cy="1951630"/>
              <a:chOff x="627797" y="3220871"/>
              <a:chExt cx="1610436" cy="1951630"/>
            </a:xfrm>
          </p:grpSpPr>
          <p:sp>
            <p:nvSpPr>
              <p:cNvPr id="9" name="左中括弧 8"/>
              <p:cNvSpPr/>
              <p:nvPr/>
            </p:nvSpPr>
            <p:spPr>
              <a:xfrm>
                <a:off x="627797" y="3220872"/>
                <a:ext cx="259307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左中括弧 9"/>
              <p:cNvSpPr/>
              <p:nvPr/>
            </p:nvSpPr>
            <p:spPr>
              <a:xfrm flipH="1">
                <a:off x="1937981" y="3220871"/>
                <a:ext cx="300252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1" name="文字方塊 10"/>
            <p:cNvSpPr txBox="1"/>
            <p:nvPr/>
          </p:nvSpPr>
          <p:spPr>
            <a:xfrm>
              <a:off x="2416480" y="339353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/>
                <a:t>+</a:t>
              </a:r>
              <a:endParaRPr lang="zh-TW" altLang="en-US" sz="2000" b="1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986604" y="339353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/>
                <a:t>=</a:t>
              </a:r>
              <a:endParaRPr lang="zh-TW" altLang="en-US" sz="2000" b="1" dirty="0"/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5489399" y="2743198"/>
              <a:ext cx="1610436" cy="1951630"/>
              <a:chOff x="627797" y="3220871"/>
              <a:chExt cx="1610436" cy="1951630"/>
            </a:xfrm>
          </p:grpSpPr>
          <p:sp>
            <p:nvSpPr>
              <p:cNvPr id="14" name="左中括弧 13"/>
              <p:cNvSpPr/>
              <p:nvPr/>
            </p:nvSpPr>
            <p:spPr>
              <a:xfrm>
                <a:off x="627797" y="3220872"/>
                <a:ext cx="259307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左中括弧 14"/>
              <p:cNvSpPr/>
              <p:nvPr/>
            </p:nvSpPr>
            <p:spPr>
              <a:xfrm flipH="1">
                <a:off x="1937981" y="3220871"/>
                <a:ext cx="300252" cy="1951629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7" name="文字方塊 16"/>
          <p:cNvSpPr txBox="1"/>
          <p:nvPr/>
        </p:nvSpPr>
        <p:spPr>
          <a:xfrm>
            <a:off x="1165234" y="376950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1024*1024</a:t>
            </a:r>
            <a:endParaRPr lang="zh-TW" altLang="en-US" sz="1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859111" y="376950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1024*1024</a:t>
            </a:r>
            <a:endParaRPr lang="zh-TW" altLang="en-US" sz="1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467438" y="376950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1024*1024</a:t>
            </a:r>
            <a:endParaRPr lang="zh-TW" altLang="en-US" sz="1400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31" y="4463656"/>
            <a:ext cx="7003362" cy="23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0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66705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/>
              <a:t>How profiler estimate?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955343" y="1078173"/>
            <a:ext cx="43801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Br = Fetch * </a:t>
            </a:r>
            <a:r>
              <a:rPr lang="en-US" altLang="zh-TW" dirty="0" err="1" smtClean="0"/>
              <a:t>GlobalWorkitems</a:t>
            </a:r>
            <a:r>
              <a:rPr lang="en-US" altLang="zh-TW" dirty="0" smtClean="0"/>
              <a:t> * Size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err="1" smtClean="0"/>
              <a:t>Bw</a:t>
            </a:r>
            <a:r>
              <a:rPr lang="en-US" altLang="zh-TW" dirty="0" smtClean="0"/>
              <a:t> = Write </a:t>
            </a:r>
            <a:r>
              <a:rPr lang="en-US" altLang="zh-TW" dirty="0"/>
              <a:t>* </a:t>
            </a:r>
            <a:r>
              <a:rPr lang="en-US" altLang="zh-TW" dirty="0" err="1"/>
              <a:t>GlobalWorkitems</a:t>
            </a:r>
            <a:r>
              <a:rPr lang="en-US" altLang="zh-TW" dirty="0"/>
              <a:t> * Size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Profiler tell us: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3" y="2001503"/>
            <a:ext cx="7326294" cy="393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323528" y="110865"/>
            <a:ext cx="8229600" cy="66705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mtClean="0"/>
              <a:t>Profiler for HSA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1296537"/>
            <a:ext cx="58514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We may interested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TLB miss count.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dirty="0" smtClean="0"/>
              <a:t>Latency for getting data.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mtClean="0"/>
              <a:t>We still </a:t>
            </a:r>
            <a:r>
              <a:rPr lang="en-US" altLang="zh-TW" dirty="0" smtClean="0"/>
              <a:t>can not have a overall HAS system profiler.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05451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1264" y="236058"/>
            <a:ext cx="7543800" cy="52742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AMD GPU Performance API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552" y="943540"/>
            <a:ext cx="8502824" cy="114031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TW" sz="1800" dirty="0" smtClean="0"/>
              <a:t>   The </a:t>
            </a:r>
            <a:r>
              <a:rPr lang="en-US" altLang="zh-TW" sz="1800" dirty="0"/>
              <a:t>GPU Performance API (</a:t>
            </a:r>
            <a:r>
              <a:rPr lang="en-US" altLang="zh-TW" sz="1800" dirty="0" err="1"/>
              <a:t>GPUPerfAPI</a:t>
            </a:r>
            <a:r>
              <a:rPr lang="en-US" altLang="zh-TW" sz="1800" dirty="0"/>
              <a:t>, or GPA) is a powerful tool to help analyze the performance and execution characteristics of applications using the </a:t>
            </a:r>
            <a:r>
              <a:rPr lang="en-US" altLang="zh-TW" sz="1800" dirty="0" smtClean="0"/>
              <a:t>GPU</a:t>
            </a:r>
          </a:p>
          <a:p>
            <a:endParaRPr lang="en-US" altLang="zh-TW" sz="1800" dirty="0"/>
          </a:p>
          <a:p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endParaRPr lang="en-US" altLang="zh-TW" sz="1800" dirty="0" smtClean="0"/>
          </a:p>
          <a:p>
            <a:pPr marL="0" indent="0">
              <a:buNone/>
            </a:pPr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3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811264" y="236058"/>
            <a:ext cx="7543800" cy="52742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72753" y="887768"/>
            <a:ext cx="8771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err="1" smtClean="0"/>
              <a:t>CodeXL_User_Guide</a:t>
            </a: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AMD_Accelerated_Parallel_Processing_OpenCL_Programming_Guide-rev-2.7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u="sng" dirty="0">
                <a:solidFill>
                  <a:srgbClr val="152A27"/>
                </a:solidFill>
                <a:hlinkClick r:id="rId3"/>
              </a:rPr>
              <a:t>完全看懂 </a:t>
            </a:r>
            <a:r>
              <a:rPr lang="en-US" altLang="zh-TW" u="sng" dirty="0">
                <a:solidFill>
                  <a:srgbClr val="152A27"/>
                </a:solidFill>
                <a:hlinkClick r:id="rId3"/>
              </a:rPr>
              <a:t>HD 7970 </a:t>
            </a:r>
            <a:r>
              <a:rPr lang="zh-TW" altLang="en-US" u="sng" dirty="0">
                <a:solidFill>
                  <a:srgbClr val="152A27"/>
                </a:solidFill>
                <a:hlinkClick r:id="rId3"/>
              </a:rPr>
              <a:t>新架構，</a:t>
            </a:r>
            <a:r>
              <a:rPr lang="en-US" altLang="zh-TW" u="sng" dirty="0">
                <a:solidFill>
                  <a:srgbClr val="152A27"/>
                </a:solidFill>
                <a:hlinkClick r:id="rId3"/>
              </a:rPr>
              <a:t>GPU </a:t>
            </a:r>
            <a:r>
              <a:rPr lang="zh-TW" altLang="en-US" u="sng" dirty="0">
                <a:solidFill>
                  <a:srgbClr val="152A27"/>
                </a:solidFill>
                <a:hlinkClick r:id="rId3"/>
              </a:rPr>
              <a:t>如何跑出更高的效能？</a:t>
            </a:r>
            <a:endParaRPr lang="zh-TW" altLang="en-US" u="sng" dirty="0">
              <a:solidFill>
                <a:srgbClr val="152A27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smtClean="0"/>
              <a:t>CUDA reference guide</a:t>
            </a:r>
            <a:endParaRPr lang="zh-TW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055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12543</TotalTime>
  <Words>1541</Words>
  <Application>Microsoft Office PowerPoint</Application>
  <PresentationFormat>如螢幕大小 (4:3)</PresentationFormat>
  <Paragraphs>303</Paragraphs>
  <Slides>34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木刻字型</vt:lpstr>
      <vt:lpstr>Operating System and Profiling Tool</vt:lpstr>
      <vt:lpstr>PowerPoint 簡報</vt:lpstr>
      <vt:lpstr>PowerPoint 簡報</vt:lpstr>
      <vt:lpstr>PowerPoint 簡報</vt:lpstr>
      <vt:lpstr>PowerPoint 簡報</vt:lpstr>
      <vt:lpstr>PowerPoint 簡報</vt:lpstr>
      <vt:lpstr>Code-Xl System Requirements</vt:lpstr>
      <vt:lpstr>CODEXL CPU Profiler</vt:lpstr>
      <vt:lpstr>Time-Based Profiling</vt:lpstr>
      <vt:lpstr>Event-Based Profile </vt:lpstr>
      <vt:lpstr>Instruction-Based Sampling</vt:lpstr>
      <vt:lpstr>Event-Counter Multiplexing</vt:lpstr>
      <vt:lpstr>CPU Profile Data Analysis</vt:lpstr>
      <vt:lpstr>PowerPoint 簡報</vt:lpstr>
      <vt:lpstr>Profiler view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GPU Profiler Kernel Occupancy</vt:lpstr>
      <vt:lpstr>PowerPoint 簡報</vt:lpstr>
      <vt:lpstr>Measuring Execution Time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AMD GPU Performance API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haroldtsai</dc:creator>
  <cp:lastModifiedBy>Yeh-Ching Chung</cp:lastModifiedBy>
  <cp:revision>560</cp:revision>
  <dcterms:created xsi:type="dcterms:W3CDTF">2013-03-21T12:16:31Z</dcterms:created>
  <dcterms:modified xsi:type="dcterms:W3CDTF">2014-05-11T23:52:48Z</dcterms:modified>
</cp:coreProperties>
</file>