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05" r:id="rId1"/>
  </p:sldMasterIdLst>
  <p:notesMasterIdLst>
    <p:notesMasterId r:id="rId149"/>
  </p:notesMasterIdLst>
  <p:sldIdLst>
    <p:sldId id="331" r:id="rId2"/>
    <p:sldId id="332" r:id="rId3"/>
    <p:sldId id="414" r:id="rId4"/>
    <p:sldId id="415" r:id="rId5"/>
    <p:sldId id="416" r:id="rId6"/>
    <p:sldId id="417" r:id="rId7"/>
    <p:sldId id="418" r:id="rId8"/>
    <p:sldId id="419" r:id="rId9"/>
    <p:sldId id="420" r:id="rId10"/>
    <p:sldId id="421" r:id="rId11"/>
    <p:sldId id="422" r:id="rId12"/>
    <p:sldId id="423" r:id="rId13"/>
    <p:sldId id="42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440" r:id="rId30"/>
    <p:sldId id="441" r:id="rId31"/>
    <p:sldId id="442" r:id="rId32"/>
    <p:sldId id="443" r:id="rId33"/>
    <p:sldId id="444" r:id="rId34"/>
    <p:sldId id="445" r:id="rId35"/>
    <p:sldId id="446" r:id="rId36"/>
    <p:sldId id="447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458" r:id="rId48"/>
    <p:sldId id="459" r:id="rId49"/>
    <p:sldId id="460" r:id="rId50"/>
    <p:sldId id="461" r:id="rId51"/>
    <p:sldId id="462" r:id="rId52"/>
    <p:sldId id="463" r:id="rId53"/>
    <p:sldId id="464" r:id="rId54"/>
    <p:sldId id="465" r:id="rId55"/>
    <p:sldId id="466" r:id="rId56"/>
    <p:sldId id="467" r:id="rId57"/>
    <p:sldId id="468" r:id="rId58"/>
    <p:sldId id="469" r:id="rId59"/>
    <p:sldId id="470" r:id="rId60"/>
    <p:sldId id="471" r:id="rId61"/>
    <p:sldId id="472" r:id="rId62"/>
    <p:sldId id="473" r:id="rId63"/>
    <p:sldId id="474" r:id="rId64"/>
    <p:sldId id="475" r:id="rId65"/>
    <p:sldId id="476" r:id="rId66"/>
    <p:sldId id="477" r:id="rId67"/>
    <p:sldId id="478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3" r:id="rId119"/>
    <p:sldId id="384" r:id="rId120"/>
    <p:sldId id="385" r:id="rId121"/>
    <p:sldId id="386" r:id="rId122"/>
    <p:sldId id="387" r:id="rId123"/>
    <p:sldId id="388" r:id="rId124"/>
    <p:sldId id="389" r:id="rId125"/>
    <p:sldId id="390" r:id="rId126"/>
    <p:sldId id="391" r:id="rId127"/>
    <p:sldId id="392" r:id="rId128"/>
    <p:sldId id="393" r:id="rId129"/>
    <p:sldId id="394" r:id="rId130"/>
    <p:sldId id="395" r:id="rId131"/>
    <p:sldId id="396" r:id="rId132"/>
    <p:sldId id="397" r:id="rId133"/>
    <p:sldId id="398" r:id="rId134"/>
    <p:sldId id="399" r:id="rId135"/>
    <p:sldId id="400" r:id="rId136"/>
    <p:sldId id="401" r:id="rId137"/>
    <p:sldId id="402" r:id="rId138"/>
    <p:sldId id="403" r:id="rId139"/>
    <p:sldId id="404" r:id="rId140"/>
    <p:sldId id="405" r:id="rId141"/>
    <p:sldId id="406" r:id="rId142"/>
    <p:sldId id="407" r:id="rId143"/>
    <p:sldId id="408" r:id="rId144"/>
    <p:sldId id="409" r:id="rId145"/>
    <p:sldId id="410" r:id="rId146"/>
    <p:sldId id="411" r:id="rId147"/>
    <p:sldId id="412" r:id="rId148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660"/>
  </p:normalViewPr>
  <p:slideViewPr>
    <p:cSldViewPr>
      <p:cViewPr varScale="1">
        <p:scale>
          <a:sx n="103" d="100"/>
          <a:sy n="103" d="100"/>
        </p:scale>
        <p:origin x="-219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FEFC2-92D6-4805-A42B-9B9A93C26DBA}" type="datetimeFigureOut">
              <a:rPr lang="zh-TW" altLang="en-US" smtClean="0"/>
              <a:t>2014/2/12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BAD70-1DB3-49CF-96DF-AE8EB77BC7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488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CA688-3EE3-42D9-8BA5-07E5E461175E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63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115C5-2FF4-4A45-B75E-C3C89F0A7A5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8D942-9EBA-4C8E-A531-121CDCE47CD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550DB-C242-4BAF-B06C-65FCC794B50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1A867-3965-4DC6-8FAB-CF11C08707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8599-3B42-451E-B007-3FD1EC231F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9114A-B703-401B-BA0D-79DCAE1EDB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23121-32E2-406F-A7A4-C80BA31A93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7FE09-B7FA-4B86-847F-07697E78D3A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713D1-CC06-49D8-A39E-5BEF99EF1EA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5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5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85CD5-6783-46AB-9C91-4E0804BA03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5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53AF1-DCC9-4279-A8F9-5230AC5E27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524DC-632B-4D51-9569-E587C21C5E7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137A-285F-437B-8D74-C63871369A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6357938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42875" y="6581775"/>
            <a:ext cx="3584575" cy="276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0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2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1380780D-8C00-4CCB-85A1-E92E6E7B57C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0" y="6181725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5650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5" y="6580188"/>
            <a:ext cx="252095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6" y="151801"/>
            <a:ext cx="1659800" cy="6848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844" r:id="rId1"/>
    <p:sldLayoutId id="2147486845" r:id="rId2"/>
    <p:sldLayoutId id="2147486846" r:id="rId3"/>
    <p:sldLayoutId id="2147486847" r:id="rId4"/>
    <p:sldLayoutId id="2147486848" r:id="rId5"/>
    <p:sldLayoutId id="2147486849" r:id="rId6"/>
    <p:sldLayoutId id="2147486850" r:id="rId7"/>
    <p:sldLayoutId id="2147486851" r:id="rId8"/>
    <p:sldLayoutId id="2147486852" r:id="rId9"/>
    <p:sldLayoutId id="2147486853" r:id="rId10"/>
    <p:sldLayoutId id="2147486854" r:id="rId11"/>
    <p:sldLayoutId id="2147486855" r:id="rId12"/>
    <p:sldLayoutId id="2147486856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/>
              <a:t>HSA Programming Model: HSA Runtime and HSAIL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1553" y="3644005"/>
            <a:ext cx="8386355" cy="1752600"/>
          </a:xfrm>
        </p:spPr>
        <p:txBody>
          <a:bodyPr/>
          <a:lstStyle/>
          <a:p>
            <a:r>
              <a:rPr lang="en-US" altLang="zh-TW" sz="2800" dirty="0"/>
              <a:t>TA: </a:t>
            </a:r>
            <a:r>
              <a:rPr lang="en-US" altLang="zh-TW" sz="2800" dirty="0" err="1"/>
              <a:t>Jiun</a:t>
            </a:r>
            <a:r>
              <a:rPr lang="en-US" altLang="zh-TW" sz="2800" dirty="0"/>
              <a:t>-Hung Ding</a:t>
            </a:r>
          </a:p>
          <a:p>
            <a:r>
              <a:rPr lang="en-US" altLang="zh-TW" sz="2800" dirty="0"/>
              <a:t>Instructor: </a:t>
            </a:r>
            <a:r>
              <a:rPr lang="en-US" altLang="zh-TW" sz="2800" dirty="0" err="1"/>
              <a:t>Yeh-Ching</a:t>
            </a:r>
            <a:r>
              <a:rPr lang="en-US" altLang="zh-TW" sz="2800" dirty="0"/>
              <a:t> Chung</a:t>
            </a:r>
          </a:p>
          <a:p>
            <a:r>
              <a:rPr lang="en-US" altLang="zh-TW" sz="2800" i="1" dirty="0"/>
              <a:t>SSLAB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42045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 smtClean="0"/>
              <a:t>HSA Runtime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1553" y="3644005"/>
            <a:ext cx="8386355" cy="1752600"/>
          </a:xfrm>
        </p:spPr>
        <p:txBody>
          <a:bodyPr/>
          <a:lstStyle/>
          <a:p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81145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Runtime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runtime system contains the user mode management software required to execute a compiled HSA program</a:t>
            </a:r>
          </a:p>
          <a:p>
            <a:pPr lvl="1"/>
            <a:r>
              <a:rPr lang="en-US" altLang="zh-TW" dirty="0" smtClean="0"/>
              <a:t>Information required in the compilation unit to execution on queues</a:t>
            </a:r>
          </a:p>
          <a:p>
            <a:pPr lvl="1"/>
            <a:r>
              <a:rPr lang="en-US" altLang="zh-TW" dirty="0" smtClean="0"/>
              <a:t>Abstracts HSA Component functionality</a:t>
            </a:r>
          </a:p>
          <a:p>
            <a:pPr lvl="1"/>
            <a:r>
              <a:rPr lang="en-US" altLang="zh-TW" dirty="0" smtClean="0"/>
              <a:t>Exposes HSA features to developers of applications, libraries and programming tools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864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Core API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Thin layer that abstracts a common set of HSA features</a:t>
            </a:r>
          </a:p>
          <a:p>
            <a:r>
              <a:rPr lang="en-US" altLang="zh-TW" dirty="0" smtClean="0"/>
              <a:t>Composition and support for different higher-level functionality that various programming models and languages can in turn be built on top of</a:t>
            </a:r>
          </a:p>
          <a:p>
            <a:r>
              <a:rPr lang="en-US" altLang="zh-TW" dirty="0" smtClean="0"/>
              <a:t>It is a</a:t>
            </a:r>
          </a:p>
          <a:p>
            <a:pPr lvl="1"/>
            <a:r>
              <a:rPr lang="en-US" altLang="zh-TW" dirty="0"/>
              <a:t>P</a:t>
            </a:r>
            <a:r>
              <a:rPr lang="en-US" altLang="zh-TW" dirty="0" smtClean="0"/>
              <a:t>ortable target to higher-level services</a:t>
            </a:r>
          </a:p>
          <a:p>
            <a:pPr lvl="1"/>
            <a:r>
              <a:rPr lang="en-US" altLang="zh-TW" dirty="0" smtClean="0"/>
              <a:t>Subsystems </a:t>
            </a:r>
          </a:p>
          <a:p>
            <a:pPr lvl="1"/>
            <a:r>
              <a:rPr lang="en-US" altLang="zh-TW" dirty="0" smtClean="0"/>
              <a:t>Programming model</a:t>
            </a:r>
          </a:p>
          <a:p>
            <a:pPr lvl="1"/>
            <a:r>
              <a:rPr lang="en-US" altLang="zh-TW" dirty="0"/>
              <a:t>L</a:t>
            </a:r>
            <a:r>
              <a:rPr lang="en-US" altLang="zh-TW" dirty="0" smtClean="0"/>
              <a:t>anguage runtime systems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7404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</a:t>
            </a:r>
            <a:r>
              <a:rPr lang="en-US" altLang="zh-TW" dirty="0"/>
              <a:t>S</a:t>
            </a:r>
            <a:r>
              <a:rPr lang="en-US" altLang="zh-TW" dirty="0" smtClean="0"/>
              <a:t>ystems </a:t>
            </a:r>
            <a:r>
              <a:rPr lang="en-US" altLang="zh-TW" dirty="0"/>
              <a:t>A</a:t>
            </a:r>
            <a:r>
              <a:rPr lang="en-US" altLang="zh-TW" dirty="0" smtClean="0"/>
              <a:t>rchitecture Spec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Specify a set of requirements that form the minimal feature-set</a:t>
            </a:r>
          </a:p>
          <a:p>
            <a:r>
              <a:rPr lang="en-US" altLang="zh-TW" dirty="0" smtClean="0"/>
              <a:t>These features must be abstracted via API to enable users to program and utilize</a:t>
            </a:r>
          </a:p>
          <a:p>
            <a:r>
              <a:rPr lang="en-US" altLang="zh-TW" dirty="0" smtClean="0"/>
              <a:t>Helps setup the execution via API calls and data structures to support architected features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379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Feature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Shared Virtual Memory</a:t>
            </a:r>
          </a:p>
          <a:p>
            <a:r>
              <a:rPr lang="en-US" altLang="zh-TW" sz="2400" dirty="0" smtClean="0"/>
              <a:t>Cache Coherency Domains</a:t>
            </a:r>
          </a:p>
          <a:p>
            <a:r>
              <a:rPr lang="en-US" altLang="zh-TW" sz="2400" dirty="0" smtClean="0"/>
              <a:t>HSA Platform Topology Discovery</a:t>
            </a:r>
          </a:p>
          <a:p>
            <a:r>
              <a:rPr lang="en-US" altLang="zh-TW" sz="2400" dirty="0" smtClean="0"/>
              <a:t>Memory-Based Signaling and Synchronization</a:t>
            </a:r>
          </a:p>
          <a:p>
            <a:r>
              <a:rPr lang="en-US" altLang="zh-TW" sz="2400" dirty="0" smtClean="0"/>
              <a:t>User Mode Queuing</a:t>
            </a:r>
          </a:p>
          <a:p>
            <a:r>
              <a:rPr lang="en-US" altLang="zh-TW" sz="2400" dirty="0" smtClean="0"/>
              <a:t>Preemptive HSA Component Context Switching</a:t>
            </a:r>
          </a:p>
          <a:p>
            <a:r>
              <a:rPr lang="en-US" altLang="zh-TW" sz="2400" dirty="0" smtClean="0"/>
              <a:t>Architected Queuing Language (AQL)</a:t>
            </a:r>
          </a:p>
          <a:p>
            <a:r>
              <a:rPr lang="en-US" altLang="zh-TW" sz="2400" dirty="0" smtClean="0"/>
              <a:t>HSA Component IEEE754-2008 Floating Point Exception Reporting</a:t>
            </a:r>
          </a:p>
          <a:p>
            <a:r>
              <a:rPr lang="en-US" altLang="zh-TW" sz="2400" dirty="0" smtClean="0"/>
              <a:t>HSA Component Hardware Debug Infrastructure</a:t>
            </a:r>
          </a:p>
          <a:p>
            <a:r>
              <a:rPr lang="en-US" altLang="zh-TW" sz="2400" dirty="0" smtClean="0"/>
              <a:t>Efficient </a:t>
            </a:r>
            <a:r>
              <a:rPr lang="en-US" altLang="zh-TW" sz="2400" dirty="0" err="1" smtClean="0"/>
              <a:t>Syscall</a:t>
            </a:r>
            <a:r>
              <a:rPr lang="en-US" altLang="zh-TW" sz="2400" dirty="0" smtClean="0"/>
              <a:t> Infrastructure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6359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API as an Infrastructure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Support for execution control</a:t>
            </a:r>
          </a:p>
          <a:p>
            <a:r>
              <a:rPr lang="en-US" altLang="zh-TW" dirty="0" smtClean="0"/>
              <a:t>Architected dispatches</a:t>
            </a:r>
          </a:p>
          <a:p>
            <a:pPr lvl="1"/>
            <a:r>
              <a:rPr lang="en-US" altLang="zh-TW" dirty="0" smtClean="0"/>
              <a:t>Provide a high-performance dispatch mechanism.</a:t>
            </a:r>
          </a:p>
          <a:p>
            <a:r>
              <a:rPr lang="en-US" altLang="zh-TW" dirty="0" smtClean="0"/>
              <a:t>Portable across multiple HSA vendor architectures</a:t>
            </a:r>
          </a:p>
          <a:p>
            <a:pPr lvl="1"/>
            <a:r>
              <a:rPr lang="en-US" altLang="zh-TW" dirty="0" smtClean="0"/>
              <a:t>Run the same unmodified binary for same host ISA but different HSA-compliant GPUs</a:t>
            </a:r>
          </a:p>
          <a:p>
            <a:pPr lvl="1"/>
            <a:r>
              <a:rPr lang="en-US" altLang="zh-TW" dirty="0" smtClean="0"/>
              <a:t>Support the HSA-architected AQL interface</a:t>
            </a:r>
          </a:p>
          <a:p>
            <a:pPr lvl="1"/>
            <a:r>
              <a:rPr lang="en-US" altLang="zh-TW" dirty="0" smtClean="0"/>
              <a:t>Supply a library that implements the architected core runtime API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606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Architected Dispatch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Architected dispatch is the key feature in an HSA system</a:t>
            </a:r>
          </a:p>
          <a:p>
            <a:pPr lvl="1"/>
            <a:r>
              <a:rPr lang="en-US" altLang="zh-TW" sz="2000" dirty="0" smtClean="0"/>
              <a:t>Enables a user-level application to directly issue commands to the HSA Component hardware</a:t>
            </a:r>
          </a:p>
          <a:p>
            <a:r>
              <a:rPr lang="en-US" altLang="zh-TW" sz="2400" dirty="0" smtClean="0"/>
              <a:t>Different points from other higher-level runtime systems </a:t>
            </a:r>
          </a:p>
          <a:p>
            <a:pPr lvl="1"/>
            <a:r>
              <a:rPr lang="en-US" altLang="zh-TW" sz="2000" dirty="0" smtClean="0"/>
              <a:t>Others provide software APIs for setting arguments and launching kernels</a:t>
            </a:r>
          </a:p>
          <a:p>
            <a:pPr lvl="1"/>
            <a:r>
              <a:rPr lang="en-US" altLang="zh-TW" sz="2000" dirty="0" smtClean="0"/>
              <a:t>HSA architects these at the hardware and specification level</a:t>
            </a:r>
          </a:p>
          <a:p>
            <a:r>
              <a:rPr lang="en-US" altLang="zh-TW" sz="2400" dirty="0" smtClean="0"/>
              <a:t>Dispatch mechanism is architected at the HSA hardware level </a:t>
            </a:r>
          </a:p>
          <a:p>
            <a:pPr lvl="1"/>
            <a:r>
              <a:rPr lang="en-US" altLang="zh-TW" sz="2000" dirty="0" smtClean="0"/>
              <a:t>Regular memory operations and runtime provided wrapper API</a:t>
            </a:r>
            <a:endParaRPr lang="en-US" altLang="zh-TW" sz="1800" dirty="0" smtClean="0"/>
          </a:p>
          <a:p>
            <a:r>
              <a:rPr lang="en-US" altLang="zh-TW" sz="2400" dirty="0" smtClean="0"/>
              <a:t>User only need to do</a:t>
            </a:r>
          </a:p>
          <a:p>
            <a:pPr lvl="1"/>
            <a:r>
              <a:rPr lang="en-US" altLang="zh-TW" sz="2000" dirty="0" smtClean="0"/>
              <a:t>Creates user mode queues and an AQL Packet in memory</a:t>
            </a:r>
          </a:p>
          <a:p>
            <a:pPr lvl="1"/>
            <a:r>
              <a:rPr lang="en-US" altLang="zh-TW" sz="2000" dirty="0" smtClean="0"/>
              <a:t>Signals the HSA component to begin executing the packet using light weight operations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41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Execution Flow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8D942-9EBA-4C8E-A531-121CDCE47CDD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2952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Step1: Initial Setup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Device discovery</a:t>
            </a:r>
          </a:p>
          <a:p>
            <a:pPr lvl="1"/>
            <a:r>
              <a:rPr lang="en-US" altLang="zh-TW" dirty="0" smtClean="0"/>
              <a:t>Information available to the user as data structures</a:t>
            </a:r>
          </a:p>
          <a:p>
            <a:r>
              <a:rPr lang="en-US" altLang="zh-TW" dirty="0" smtClean="0"/>
              <a:t>Create the component queues</a:t>
            </a:r>
          </a:p>
          <a:p>
            <a:pPr lvl="1"/>
            <a:r>
              <a:rPr lang="en-US" altLang="zh-TW" dirty="0" smtClean="0"/>
              <a:t>Queues are an HSA architected mechanism to submit work to the HSA component HW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7150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Structure declaration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331640" y="1340768"/>
            <a:ext cx="6552728" cy="4524315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unsigned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count;</a:t>
            </a:r>
          </a:p>
          <a:p>
            <a:r>
              <a:rPr lang="en-US" altLang="zh-TW" dirty="0" smtClean="0"/>
              <a:t>uint32_t </a:t>
            </a:r>
            <a:r>
              <a:rPr lang="en-US" altLang="zh-TW" dirty="0" err="1" smtClean="0"/>
              <a:t>kernel_directive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atoi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argv</a:t>
            </a:r>
            <a:r>
              <a:rPr lang="en-US" altLang="zh-TW" dirty="0" smtClean="0"/>
              <a:t>[2]);</a:t>
            </a:r>
          </a:p>
          <a:p>
            <a:r>
              <a:rPr lang="en-US" altLang="zh-TW" dirty="0" smtClean="0"/>
              <a:t>uint64_t </a:t>
            </a:r>
            <a:r>
              <a:rPr lang="en-US" altLang="zh-TW" dirty="0" err="1" smtClean="0"/>
              <a:t>kernel_input</a:t>
            </a:r>
            <a:r>
              <a:rPr lang="en-US" altLang="zh-TW" dirty="0" smtClean="0"/>
              <a:t> = (uint64_t)</a:t>
            </a:r>
            <a:r>
              <a:rPr lang="en-US" altLang="zh-TW" dirty="0" err="1" smtClean="0"/>
              <a:t>atoi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argv</a:t>
            </a:r>
            <a:r>
              <a:rPr lang="en-US" altLang="zh-TW" dirty="0" smtClean="0"/>
              <a:t>[3]);</a:t>
            </a:r>
          </a:p>
          <a:p>
            <a:r>
              <a:rPr lang="en-US" altLang="zh-TW" dirty="0" smtClean="0"/>
              <a:t>const </a:t>
            </a:r>
            <a:r>
              <a:rPr lang="en-US" altLang="zh-TW" dirty="0" err="1" smtClean="0"/>
              <a:t>hsa_agent_t</a:t>
            </a:r>
            <a:r>
              <a:rPr lang="en-US" altLang="zh-TW" dirty="0" smtClean="0"/>
              <a:t> *</a:t>
            </a:r>
            <a:r>
              <a:rPr lang="en-US" altLang="zh-TW" dirty="0" err="1" smtClean="0"/>
              <a:t>component_list</a:t>
            </a:r>
            <a:r>
              <a:rPr lang="en-US" altLang="zh-TW" dirty="0" smtClean="0"/>
              <a:t> = NULL;</a:t>
            </a:r>
          </a:p>
          <a:p>
            <a:r>
              <a:rPr lang="en-US" altLang="zh-TW" dirty="0" smtClean="0"/>
              <a:t>const </a:t>
            </a:r>
            <a:r>
              <a:rPr lang="en-US" altLang="zh-TW" dirty="0" err="1" smtClean="0"/>
              <a:t>hsa_agent_t</a:t>
            </a:r>
            <a:r>
              <a:rPr lang="en-US" altLang="zh-TW" dirty="0" smtClean="0"/>
              <a:t> *component = NULL;</a:t>
            </a:r>
          </a:p>
          <a:p>
            <a:r>
              <a:rPr lang="en-US" altLang="zh-TW" dirty="0" smtClean="0"/>
              <a:t>static </a:t>
            </a:r>
            <a:r>
              <a:rPr lang="en-US" altLang="zh-TW" dirty="0" err="1" smtClean="0"/>
              <a:t>hsa_aql_dispatch_packet_t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dispatch_packet</a:t>
            </a:r>
            <a:r>
              <a:rPr lang="en-US" altLang="zh-TW" dirty="0" smtClean="0"/>
              <a:t>;</a:t>
            </a:r>
          </a:p>
          <a:p>
            <a:r>
              <a:rPr lang="en-US" altLang="zh-TW" dirty="0" err="1" smtClean="0"/>
              <a:t>hsa_runtime_context_t</a:t>
            </a:r>
            <a:r>
              <a:rPr lang="en-US" altLang="zh-TW" dirty="0" smtClean="0"/>
              <a:t> *</a:t>
            </a:r>
            <a:r>
              <a:rPr lang="en-US" altLang="zh-TW" dirty="0" err="1" smtClean="0"/>
              <a:t>runtime_context</a:t>
            </a:r>
            <a:r>
              <a:rPr lang="en-US" altLang="zh-TW" dirty="0" smtClean="0"/>
              <a:t>;</a:t>
            </a:r>
          </a:p>
          <a:p>
            <a:r>
              <a:rPr lang="en-US" altLang="zh-TW" dirty="0" err="1" smtClean="0"/>
              <a:t>hsa_status_t</a:t>
            </a:r>
            <a:r>
              <a:rPr lang="en-US" altLang="zh-TW" dirty="0" smtClean="0"/>
              <a:t> status;</a:t>
            </a:r>
          </a:p>
          <a:p>
            <a:r>
              <a:rPr lang="en-US" altLang="zh-TW" dirty="0" err="1" smtClean="0"/>
              <a:t>hsa_queue_t</a:t>
            </a:r>
            <a:r>
              <a:rPr lang="en-US" altLang="zh-TW" dirty="0" smtClean="0"/>
              <a:t> *queue;</a:t>
            </a:r>
          </a:p>
          <a:p>
            <a:r>
              <a:rPr lang="en-US" altLang="zh-TW" dirty="0" err="1" smtClean="0"/>
              <a:t>hsa_brig_t</a:t>
            </a:r>
            <a:r>
              <a:rPr lang="en-US" altLang="zh-TW" dirty="0" smtClean="0"/>
              <a:t> *brig = (</a:t>
            </a:r>
            <a:r>
              <a:rPr lang="en-US" altLang="zh-TW" dirty="0" err="1" smtClean="0"/>
              <a:t>hsa_brig_t</a:t>
            </a:r>
            <a:r>
              <a:rPr lang="en-US" altLang="zh-TW" dirty="0" smtClean="0"/>
              <a:t> *)</a:t>
            </a:r>
            <a:r>
              <a:rPr lang="en-US" altLang="zh-TW" dirty="0" err="1" smtClean="0"/>
              <a:t>argv</a:t>
            </a:r>
            <a:r>
              <a:rPr lang="en-US" altLang="zh-TW" dirty="0" smtClean="0"/>
              <a:t>[1];</a:t>
            </a:r>
          </a:p>
          <a:p>
            <a:r>
              <a:rPr lang="en-US" altLang="zh-TW" dirty="0" err="1" smtClean="0"/>
              <a:t>hsa_code_object_t</a:t>
            </a:r>
            <a:r>
              <a:rPr lang="en-US" altLang="zh-TW" dirty="0" smtClean="0"/>
              <a:t> *</a:t>
            </a:r>
            <a:r>
              <a:rPr lang="en-US" altLang="zh-TW" dirty="0" err="1" smtClean="0"/>
              <a:t>code_obj</a:t>
            </a:r>
            <a:r>
              <a:rPr lang="en-US" altLang="zh-TW" dirty="0" smtClean="0"/>
              <a:t>;</a:t>
            </a:r>
          </a:p>
          <a:p>
            <a:r>
              <a:rPr lang="en-US" altLang="zh-TW" dirty="0" err="1" smtClean="0"/>
              <a:t>hsa_symbol_map_t</a:t>
            </a:r>
            <a:r>
              <a:rPr lang="en-US" altLang="zh-TW" dirty="0" smtClean="0"/>
              <a:t> *</a:t>
            </a:r>
            <a:r>
              <a:rPr lang="en-US" altLang="zh-TW" dirty="0" err="1" smtClean="0"/>
              <a:t>symbol_map</a:t>
            </a:r>
            <a:r>
              <a:rPr lang="en-US" altLang="zh-TW" dirty="0" smtClean="0"/>
              <a:t>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60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Setup a Dispatch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67544" y="2060848"/>
            <a:ext cx="8280920" cy="3027969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this part is the setup for a simple dispatch ****/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hsa_open</a:t>
            </a:r>
            <a:r>
              <a:rPr lang="en-US" altLang="zh-TW" b="1" dirty="0" smtClean="0"/>
              <a:t>(</a:t>
            </a:r>
            <a:r>
              <a:rPr lang="en-US" altLang="zh-TW" b="1" dirty="0" err="1" smtClean="0"/>
              <a:t>NULL,NULL,NULL,NULL,&amp;runtime_context</a:t>
            </a:r>
            <a:r>
              <a:rPr lang="en-US" altLang="zh-TW" b="1" dirty="0" smtClean="0"/>
              <a:t>);</a:t>
            </a:r>
          </a:p>
          <a:p>
            <a:r>
              <a:rPr lang="en-US" altLang="zh-TW" dirty="0" smtClean="0"/>
              <a:t>assert(status == HSA_STATUS_SUCCESS);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hsa_component_get_list</a:t>
            </a:r>
            <a:r>
              <a:rPr lang="en-US" altLang="zh-TW" dirty="0" smtClean="0"/>
              <a:t>(&amp;count, &amp;</a:t>
            </a:r>
            <a:r>
              <a:rPr lang="en-US" altLang="zh-TW" dirty="0" err="1" smtClean="0"/>
              <a:t>component_list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if(count &lt;= 0 || status != HSA_STATUS_SUCCESS)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145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Select Component and Create 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2564904"/>
            <a:ext cx="8460432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component = &amp;</a:t>
            </a:r>
            <a:r>
              <a:rPr lang="en-US" altLang="zh-TW" dirty="0" err="1" smtClean="0"/>
              <a:t>component_list</a:t>
            </a:r>
            <a:r>
              <a:rPr lang="en-US" altLang="zh-TW" dirty="0" smtClean="0"/>
              <a:t>[0];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hsa_queue_create</a:t>
            </a:r>
            <a:r>
              <a:rPr lang="en-US" altLang="zh-TW" b="1" dirty="0" smtClean="0"/>
              <a:t>(component, 1024, 0, </a:t>
            </a:r>
            <a:r>
              <a:rPr lang="en-US" altLang="zh-TW" b="1" dirty="0" err="1" smtClean="0"/>
              <a:t>runtime_context</a:t>
            </a:r>
            <a:r>
              <a:rPr lang="en-US" altLang="zh-TW" b="1" dirty="0" smtClean="0"/>
              <a:t>,</a:t>
            </a:r>
          </a:p>
          <a:p>
            <a:r>
              <a:rPr lang="en-US" altLang="zh-TW" dirty="0" smtClean="0"/>
              <a:t>&amp;queue);</a:t>
            </a:r>
          </a:p>
          <a:p>
            <a:r>
              <a:rPr lang="en-US" altLang="zh-TW" dirty="0" smtClean="0"/>
              <a:t>if(status != HSA_STATUS_SUCCESS)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61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Step2: Compilation Flow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Kernel format</a:t>
            </a:r>
          </a:p>
          <a:p>
            <a:pPr lvl="1"/>
            <a:r>
              <a:rPr lang="en-US" altLang="zh-TW" dirty="0" smtClean="0"/>
              <a:t>HSAIL program</a:t>
            </a:r>
          </a:p>
          <a:p>
            <a:pPr lvl="1"/>
            <a:r>
              <a:rPr lang="en-US" altLang="zh-TW" dirty="0" smtClean="0"/>
              <a:t>Generated by a higher-level compilation step</a:t>
            </a:r>
          </a:p>
          <a:p>
            <a:r>
              <a:rPr lang="en-US" altLang="zh-TW" dirty="0" smtClean="0"/>
              <a:t>Assembled to generate a BRIG</a:t>
            </a:r>
          </a:p>
          <a:p>
            <a:pPr lvl="1"/>
            <a:r>
              <a:rPr lang="en-US" altLang="zh-TW" dirty="0" smtClean="0"/>
              <a:t>BRIG is the HSAIL object format</a:t>
            </a:r>
          </a:p>
          <a:p>
            <a:r>
              <a:rPr lang="en-US" altLang="zh-TW" dirty="0" smtClean="0"/>
              <a:t>Compile the BRIG and generate a code object that can has sufficient information to execute the user program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364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Finalize Kernel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1520" y="2204864"/>
            <a:ext cx="8712968" cy="3416320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this is the compilation part where the brig is finalized</a:t>
            </a:r>
          </a:p>
          <a:p>
            <a:r>
              <a:rPr lang="zh-TW" altLang="en-US" dirty="0" smtClean="0"/>
              <a:t>****</a:t>
            </a:r>
            <a:r>
              <a:rPr lang="en-US" altLang="zh-TW" dirty="0" smtClean="0"/>
              <a:t>/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hsa_finalize_brig</a:t>
            </a:r>
            <a:r>
              <a:rPr lang="en-US" altLang="zh-TW" b="1" dirty="0" smtClean="0"/>
              <a:t>(component, brig, </a:t>
            </a:r>
            <a:r>
              <a:rPr lang="en-US" altLang="zh-TW" b="1" dirty="0" err="1" smtClean="0"/>
              <a:t>kernel_directive</a:t>
            </a:r>
            <a:r>
              <a:rPr lang="en-US" altLang="zh-TW" b="1" dirty="0" smtClean="0"/>
              <a:t>,</a:t>
            </a:r>
          </a:p>
          <a:p>
            <a:r>
              <a:rPr lang="en-US" altLang="zh-TW" dirty="0" smtClean="0"/>
              <a:t>NULL, NULL, &amp;</a:t>
            </a:r>
            <a:r>
              <a:rPr lang="en-US" altLang="zh-TW" dirty="0" err="1" smtClean="0"/>
              <a:t>code_obj</a:t>
            </a:r>
            <a:r>
              <a:rPr lang="en-US" altLang="zh-TW" dirty="0" smtClean="0"/>
              <a:t>, &amp;</a:t>
            </a:r>
            <a:r>
              <a:rPr lang="en-US" altLang="zh-TW" dirty="0" err="1" smtClean="0"/>
              <a:t>debug_info</a:t>
            </a:r>
            <a:r>
              <a:rPr lang="en-US" altLang="zh-TW" dirty="0" smtClean="0"/>
              <a:t>, &amp;</a:t>
            </a:r>
            <a:r>
              <a:rPr lang="en-US" altLang="zh-TW" dirty="0" err="1" smtClean="0"/>
              <a:t>symbol_map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if(status != HSA_STATUS_SUCCESS || </a:t>
            </a:r>
            <a:r>
              <a:rPr lang="en-US" altLang="zh-TW" dirty="0" err="1" smtClean="0"/>
              <a:t>symbol_map</a:t>
            </a:r>
            <a:r>
              <a:rPr lang="en-US" altLang="zh-TW" dirty="0" smtClean="0"/>
              <a:t> != NULL)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hsa_queue_destroy</a:t>
            </a:r>
            <a:r>
              <a:rPr lang="en-US" altLang="zh-TW" b="1" dirty="0" smtClean="0"/>
              <a:t>(queue));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37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Step3: Execution of Kernel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8D942-9EBA-4C8E-A531-121CDCE47CDD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817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Packet Format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Specifies the structure of the packets (i.e. commands) </a:t>
            </a:r>
          </a:p>
          <a:p>
            <a:pPr lvl="1"/>
            <a:r>
              <a:rPr lang="en-US" altLang="zh-TW" dirty="0" smtClean="0"/>
              <a:t>Placed on the HSA user mode queues for the component HW to execute</a:t>
            </a:r>
          </a:p>
          <a:p>
            <a:r>
              <a:rPr lang="en-US" altLang="zh-TW" dirty="0" smtClean="0"/>
              <a:t>The format of the packets is architected</a:t>
            </a:r>
          </a:p>
          <a:p>
            <a:pPr lvl="1"/>
            <a:r>
              <a:rPr lang="en-US" altLang="zh-TW" dirty="0" smtClean="0"/>
              <a:t>Architected Queuing Language (AQL) packets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045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Create an AQL Packet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Initialize it with the code object obtained from the finalization step, including the allocation of memory to hold the kernel arguments and the spill/</a:t>
            </a:r>
            <a:r>
              <a:rPr lang="en-US" altLang="zh-TW" dirty="0" err="1" smtClean="0"/>
              <a:t>arg</a:t>
            </a:r>
            <a:r>
              <a:rPr lang="en-US" altLang="zh-TW" dirty="0" smtClean="0"/>
              <a:t>/private memory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9817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HSAIL ABI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Interface for kernel arguments between the runtime and the kernel ISA is also architected</a:t>
            </a:r>
          </a:p>
          <a:p>
            <a:r>
              <a:rPr lang="en-US" altLang="zh-TW" dirty="0" smtClean="0"/>
              <a:t>HSAIL ABI (Abstract Binary Interface)</a:t>
            </a:r>
          </a:p>
          <a:p>
            <a:pPr lvl="1"/>
            <a:r>
              <a:rPr lang="en-US" altLang="zh-TW" dirty="0" smtClean="0"/>
              <a:t>Specify the in-memory layout of the </a:t>
            </a:r>
            <a:r>
              <a:rPr lang="en-US" altLang="zh-TW" dirty="0" err="1" smtClean="0"/>
              <a:t>kernarg</a:t>
            </a:r>
            <a:r>
              <a:rPr lang="en-US" altLang="zh-TW" dirty="0" smtClean="0"/>
              <a:t> segment</a:t>
            </a:r>
          </a:p>
          <a:p>
            <a:pPr lvl="1"/>
            <a:r>
              <a:rPr lang="en-US" altLang="zh-TW" dirty="0" smtClean="0"/>
              <a:t>Determine the layout of the </a:t>
            </a:r>
            <a:r>
              <a:rPr lang="en-US" altLang="zh-TW" dirty="0" err="1" smtClean="0"/>
              <a:t>kernarg</a:t>
            </a:r>
            <a:r>
              <a:rPr lang="en-US" altLang="zh-TW" dirty="0" smtClean="0"/>
              <a:t> memory segment at compile time by examining the signature of the HSAIL function</a:t>
            </a:r>
          </a:p>
          <a:p>
            <a:r>
              <a:rPr lang="en-US" altLang="zh-TW" dirty="0" err="1" smtClean="0"/>
              <a:t>Finalizer</a:t>
            </a:r>
            <a:r>
              <a:rPr lang="en-US" altLang="zh-TW" dirty="0" smtClean="0"/>
              <a:t> supports HSAIL ABI</a:t>
            </a:r>
          </a:p>
          <a:p>
            <a:pPr lvl="1"/>
            <a:r>
              <a:rPr lang="en-US" altLang="zh-TW" dirty="0" smtClean="0"/>
              <a:t>No need for runtime metadata to specify the position or format of arguments</a:t>
            </a:r>
          </a:p>
        </p:txBody>
      </p:sp>
    </p:spTree>
    <p:extLst>
      <p:ext uri="{BB962C8B-B14F-4D97-AF65-F5344CB8AC3E}">
        <p14:creationId xmlns:p14="http://schemas.microsoft.com/office/powerpoint/2010/main" val="10358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AQL Packet Reused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Specifying the in-memory layout can be done once for each AQL packet creation for same kernel</a:t>
            </a:r>
          </a:p>
          <a:p>
            <a:r>
              <a:rPr lang="en-US" altLang="zh-TW" dirty="0" smtClean="0"/>
              <a:t>Optimized implementations can cache the result of this step and re-use the AQL packet for subsequent launches</a:t>
            </a:r>
          </a:p>
          <a:p>
            <a:r>
              <a:rPr lang="en-US" altLang="zh-TW" dirty="0" smtClean="0"/>
              <a:t>Care must be taken to ensure that the AQL Dispatch packet (and the associated kernel and spill/</a:t>
            </a:r>
            <a:r>
              <a:rPr lang="en-US" altLang="zh-TW" dirty="0" err="1" smtClean="0"/>
              <a:t>arg</a:t>
            </a:r>
            <a:r>
              <a:rPr lang="en-US" altLang="zh-TW" dirty="0" smtClean="0"/>
              <a:t>/private memory) is not re-used before the launch completes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2252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AQL Dispatch Packet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 simple cases, (that is, a single-thread, synchronous launch, the AQL dispatch packet(s) can be declared as a static variable and initialized at the same time the code is finalized</a:t>
            </a:r>
          </a:p>
          <a:p>
            <a:r>
              <a:rPr lang="en-US" altLang="zh-TW" dirty="0" smtClean="0"/>
              <a:t>More advanced cases can create and track several AQL Dispatch packet(s) for a single kernel code object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470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Doorbell Mechanism Inform HW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HSA HW define</a:t>
            </a:r>
          </a:p>
          <a:p>
            <a:pPr lvl="1"/>
            <a:r>
              <a:rPr lang="en-US" altLang="zh-TW" dirty="0" smtClean="0"/>
              <a:t>How to process these packets </a:t>
            </a:r>
          </a:p>
          <a:p>
            <a:pPr lvl="1"/>
            <a:r>
              <a:rPr lang="en-US" altLang="zh-TW" dirty="0" smtClean="0"/>
              <a:t>A doorbell mechanism to inform the HW that packets have been written into the queue</a:t>
            </a:r>
          </a:p>
          <a:p>
            <a:r>
              <a:rPr lang="en-US" altLang="zh-TW" dirty="0" smtClean="0"/>
              <a:t>Core runtime defines a structure and update API to inform the HW that dispatch packet has been written to the queue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2915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Start Execution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Once the packet is written and the HW is informed via. the doorbell, the execution can start</a:t>
            </a:r>
          </a:p>
          <a:p>
            <a:r>
              <a:rPr lang="en-US" altLang="zh-TW" dirty="0" smtClean="0"/>
              <a:t>The execution happens asynchronously</a:t>
            </a:r>
          </a:p>
          <a:p>
            <a:r>
              <a:rPr lang="en-US" altLang="zh-TW" dirty="0" smtClean="0"/>
              <a:t>The user is free to write more packets for executing other kernels in the queue</a:t>
            </a:r>
          </a:p>
          <a:p>
            <a:r>
              <a:rPr lang="en-US" altLang="zh-TW" dirty="0" smtClean="0"/>
              <a:t>This activity can overlap the actual execution of the kernel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8340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Create a Signal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1520" y="2276872"/>
            <a:ext cx="8712968" cy="3046988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a signal is created for completion detection ****/</a:t>
            </a:r>
          </a:p>
          <a:p>
            <a:r>
              <a:rPr lang="en-US" altLang="zh-TW" dirty="0" smtClean="0"/>
              <a:t>sigval.value64 = 0;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hsa_signal_create</a:t>
            </a:r>
            <a:r>
              <a:rPr lang="en-US" altLang="zh-TW" b="1" dirty="0" smtClean="0"/>
              <a:t>(</a:t>
            </a:r>
            <a:r>
              <a:rPr lang="en-US" altLang="zh-TW" b="1" dirty="0" err="1" smtClean="0"/>
              <a:t>sigval</a:t>
            </a:r>
            <a:r>
              <a:rPr lang="en-US" altLang="zh-TW" b="1" dirty="0" smtClean="0"/>
              <a:t>, &amp;signal, </a:t>
            </a:r>
            <a:r>
              <a:rPr lang="en-US" altLang="zh-TW" b="1" dirty="0" err="1" smtClean="0"/>
              <a:t>runtime_context</a:t>
            </a:r>
            <a:r>
              <a:rPr lang="en-US" altLang="zh-TW" b="1" dirty="0" smtClean="0"/>
              <a:t>);</a:t>
            </a:r>
          </a:p>
          <a:p>
            <a:r>
              <a:rPr lang="en-US" altLang="zh-TW" dirty="0" smtClean="0"/>
              <a:t>if(status != HSA_STATUS_SUCCESS)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hsa_queue_destroy</a:t>
            </a:r>
            <a:r>
              <a:rPr lang="en-US" altLang="zh-TW" b="1" dirty="0" smtClean="0"/>
              <a:t>(queue));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653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Write and Dispatch AQL Packet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9552" y="1124744"/>
            <a:ext cx="8208912" cy="5262979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the AQL packet is setup here for the simple kernel ****/</a:t>
            </a:r>
          </a:p>
          <a:p>
            <a:r>
              <a:rPr lang="en-US" altLang="zh-TW" dirty="0" err="1" smtClean="0"/>
              <a:t>dispatch_packet.header.format</a:t>
            </a:r>
            <a:r>
              <a:rPr lang="en-US" altLang="zh-TW" dirty="0" smtClean="0"/>
              <a:t> = 2;</a:t>
            </a:r>
          </a:p>
          <a:p>
            <a:r>
              <a:rPr lang="en-US" altLang="zh-TW" dirty="0" err="1" smtClean="0"/>
              <a:t>dispatch_packet.header.barrier</a:t>
            </a:r>
            <a:r>
              <a:rPr lang="en-US" altLang="zh-TW" dirty="0" smtClean="0"/>
              <a:t> = 1;</a:t>
            </a:r>
          </a:p>
          <a:p>
            <a:r>
              <a:rPr lang="en-US" altLang="zh-TW" dirty="0" err="1" smtClean="0"/>
              <a:t>dispatch_packet.header.acquire_fence_scope</a:t>
            </a:r>
            <a:r>
              <a:rPr lang="en-US" altLang="zh-TW" dirty="0" smtClean="0"/>
              <a:t> = 2;</a:t>
            </a:r>
          </a:p>
          <a:p>
            <a:r>
              <a:rPr lang="en-US" altLang="zh-TW" dirty="0" err="1" smtClean="0"/>
              <a:t>dispatch_packet.header.release_fence_scope</a:t>
            </a:r>
            <a:r>
              <a:rPr lang="en-US" altLang="zh-TW" dirty="0" smtClean="0"/>
              <a:t> = 2;</a:t>
            </a:r>
          </a:p>
          <a:p>
            <a:r>
              <a:rPr lang="en-US" altLang="zh-TW" dirty="0" err="1" smtClean="0"/>
              <a:t>dispatch_packet.header.dimensions</a:t>
            </a:r>
            <a:r>
              <a:rPr lang="en-US" altLang="zh-TW" dirty="0" smtClean="0"/>
              <a:t> = 1;</a:t>
            </a:r>
          </a:p>
          <a:p>
            <a:r>
              <a:rPr lang="en-US" altLang="zh-TW" dirty="0" err="1" smtClean="0"/>
              <a:t>dispatch_packet.workgroup_size_x</a:t>
            </a:r>
            <a:r>
              <a:rPr lang="en-US" altLang="zh-TW" dirty="0" smtClean="0"/>
              <a:t> = 256;</a:t>
            </a:r>
          </a:p>
          <a:p>
            <a:r>
              <a:rPr lang="en-US" altLang="zh-TW" dirty="0" err="1" smtClean="0"/>
              <a:t>dispatch_packet.grid_size_x</a:t>
            </a:r>
            <a:r>
              <a:rPr lang="en-US" altLang="zh-TW" dirty="0" smtClean="0"/>
              <a:t> = 256;</a:t>
            </a:r>
          </a:p>
          <a:p>
            <a:r>
              <a:rPr lang="en-US" altLang="zh-TW" dirty="0" err="1" smtClean="0"/>
              <a:t>dispatch_packet.kernel_object_address</a:t>
            </a:r>
            <a:r>
              <a:rPr lang="en-US" altLang="zh-TW" dirty="0" smtClean="0"/>
              <a:t> = (uint64_t)</a:t>
            </a:r>
            <a:r>
              <a:rPr lang="en-US" altLang="zh-TW" dirty="0" err="1" smtClean="0"/>
              <a:t>code_obj</a:t>
            </a:r>
            <a:r>
              <a:rPr lang="en-US" altLang="zh-TW" dirty="0" smtClean="0"/>
              <a:t>;</a:t>
            </a:r>
          </a:p>
          <a:p>
            <a:r>
              <a:rPr lang="en-US" altLang="zh-TW" dirty="0" err="1" smtClean="0"/>
              <a:t>dispatch_packet.kernarg_address</a:t>
            </a:r>
            <a:r>
              <a:rPr lang="en-US" altLang="zh-TW" dirty="0" smtClean="0"/>
              <a:t> = (uint64_t)(&amp;</a:t>
            </a:r>
            <a:r>
              <a:rPr lang="en-US" altLang="zh-TW" dirty="0" err="1" smtClean="0"/>
              <a:t>kernel_input</a:t>
            </a:r>
            <a:r>
              <a:rPr lang="en-US" altLang="zh-TW" dirty="0" smtClean="0"/>
              <a:t>);</a:t>
            </a:r>
          </a:p>
          <a:p>
            <a:r>
              <a:rPr lang="en-US" altLang="zh-TW" dirty="0" err="1" smtClean="0"/>
              <a:t>dispatch_packet.completion_signal</a:t>
            </a:r>
            <a:r>
              <a:rPr lang="en-US" altLang="zh-TW" dirty="0" smtClean="0"/>
              <a:t> = signal;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memcpy</a:t>
            </a:r>
            <a:r>
              <a:rPr lang="en-US" altLang="zh-TW" dirty="0" smtClean="0"/>
              <a:t>(queue-&gt;</a:t>
            </a:r>
            <a:r>
              <a:rPr lang="en-US" altLang="zh-TW" dirty="0" err="1" smtClean="0"/>
              <a:t>base_address</a:t>
            </a:r>
            <a:r>
              <a:rPr lang="en-US" altLang="zh-TW" dirty="0" smtClean="0"/>
              <a:t>, (void *)&amp;</a:t>
            </a:r>
            <a:r>
              <a:rPr lang="en-US" altLang="zh-TW" dirty="0" err="1" smtClean="0"/>
              <a:t>dispatch_packet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sizeof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dispatch_packet</a:t>
            </a:r>
            <a:r>
              <a:rPr lang="en-US" altLang="zh-TW" dirty="0" smtClean="0"/>
              <a:t>));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844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Inform 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980728"/>
            <a:ext cx="8460432" cy="5632311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packet processor is informed that a packet is on the queue</a:t>
            </a:r>
          </a:p>
          <a:p>
            <a:r>
              <a:rPr lang="zh-TW" altLang="en-US" dirty="0" smtClean="0"/>
              <a:t>****</a:t>
            </a:r>
            <a:r>
              <a:rPr lang="en-US" altLang="zh-TW" dirty="0" smtClean="0"/>
              <a:t>/</a:t>
            </a:r>
          </a:p>
          <a:p>
            <a:r>
              <a:rPr lang="en-US" altLang="zh-TW" dirty="0" smtClean="0"/>
              <a:t>index = </a:t>
            </a:r>
            <a:r>
              <a:rPr lang="en-US" altLang="zh-TW" b="1" dirty="0" err="1" smtClean="0"/>
              <a:t>hsa_queue_set_write_index</a:t>
            </a:r>
            <a:r>
              <a:rPr lang="en-US" altLang="zh-TW" b="1" dirty="0" smtClean="0"/>
              <a:t>(queue, 1);</a:t>
            </a:r>
          </a:p>
          <a:p>
            <a:r>
              <a:rPr lang="en-US" altLang="zh-TW" dirty="0" smtClean="0"/>
              <a:t>if(index != 0){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hsa_queue_destroy</a:t>
            </a:r>
            <a:r>
              <a:rPr lang="en-US" altLang="zh-TW" b="1" dirty="0" smtClean="0"/>
              <a:t>(queue));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sigval.value64 = 1;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hsa_signal_send_release</a:t>
            </a:r>
            <a:r>
              <a:rPr lang="en-US" altLang="zh-TW" b="1" dirty="0" smtClean="0"/>
              <a:t>(queue-&gt;</a:t>
            </a:r>
            <a:r>
              <a:rPr lang="en-US" altLang="zh-TW" b="1" dirty="0" err="1" smtClean="0"/>
              <a:t>doorbell_signal</a:t>
            </a:r>
            <a:r>
              <a:rPr lang="en-US" altLang="zh-TW" b="1" dirty="0" smtClean="0"/>
              <a:t>, </a:t>
            </a:r>
            <a:r>
              <a:rPr lang="en-US" altLang="zh-TW" b="1" dirty="0" err="1" smtClean="0"/>
              <a:t>sigval</a:t>
            </a:r>
            <a:r>
              <a:rPr lang="en-US" altLang="zh-TW" b="1" dirty="0" smtClean="0"/>
              <a:t>);</a:t>
            </a:r>
          </a:p>
          <a:p>
            <a:r>
              <a:rPr lang="en-US" altLang="zh-TW" dirty="0" smtClean="0"/>
              <a:t>if(status != HSA_STATUS_SUCCESS)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hsa_queue_destroy</a:t>
            </a:r>
            <a:r>
              <a:rPr lang="en-US" altLang="zh-TW" b="1" dirty="0" smtClean="0"/>
              <a:t>(queue));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450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Step4: Determining Kernel Completion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8D942-9EBA-4C8E-A531-121CDCE47CDD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275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Signaling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Signals as a mechanism for communication between different parts of a HSA system</a:t>
            </a:r>
          </a:p>
          <a:p>
            <a:r>
              <a:rPr lang="en-US" altLang="zh-TW" dirty="0" smtClean="0"/>
              <a:t>Core API are defined to send a value to the signal and wait for a value at the signal</a:t>
            </a:r>
          </a:p>
          <a:p>
            <a:r>
              <a:rPr lang="en-US" altLang="zh-TW" dirty="0" smtClean="0"/>
              <a:t>AQL dispatch packet has a provision for the user to pass in an opaque signal</a:t>
            </a:r>
          </a:p>
        </p:txBody>
      </p:sp>
    </p:spTree>
    <p:extLst>
      <p:ext uri="{BB962C8B-B14F-4D97-AF65-F5344CB8AC3E}">
        <p14:creationId xmlns:p14="http://schemas.microsoft.com/office/powerpoint/2010/main" val="2414657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Waiting Mechanism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When the HSA Component HW observes a valid signal in the AQL packet, it sends a value to this signal when the execution of the kernel complete (success or error)</a:t>
            </a:r>
          </a:p>
          <a:p>
            <a:r>
              <a:rPr lang="en-US" altLang="zh-TW" dirty="0" smtClean="0"/>
              <a:t>The user can wait on this signal to determine kernel completion</a:t>
            </a:r>
          </a:p>
        </p:txBody>
      </p:sp>
    </p:spTree>
    <p:extLst>
      <p:ext uri="{BB962C8B-B14F-4D97-AF65-F5344CB8AC3E}">
        <p14:creationId xmlns:p14="http://schemas.microsoft.com/office/powerpoint/2010/main" val="1771777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Wait Completion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1534726"/>
            <a:ext cx="8496944" cy="4524315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await completion ****/</a:t>
            </a:r>
          </a:p>
          <a:p>
            <a:r>
              <a:rPr lang="en-US" altLang="zh-TW" dirty="0" smtClean="0"/>
              <a:t>do {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hsa_signal_wait_acquire</a:t>
            </a:r>
            <a:r>
              <a:rPr lang="en-US" altLang="zh-TW" b="1" dirty="0" smtClean="0"/>
              <a:t>(</a:t>
            </a:r>
            <a:r>
              <a:rPr lang="en-US" altLang="zh-TW" b="1" dirty="0" err="1" smtClean="0"/>
              <a:t>signal,HSA_EQUALS</a:t>
            </a:r>
            <a:r>
              <a:rPr lang="en-US" altLang="zh-TW" b="1" dirty="0" smtClean="0"/>
              <a:t>, </a:t>
            </a:r>
            <a:r>
              <a:rPr lang="en-US" altLang="zh-TW" b="1" dirty="0" err="1" smtClean="0"/>
              <a:t>sigval</a:t>
            </a:r>
            <a:r>
              <a:rPr lang="en-US" altLang="zh-TW" b="1" dirty="0" smtClean="0"/>
              <a:t>,</a:t>
            </a:r>
          </a:p>
          <a:p>
            <a:r>
              <a:rPr lang="en-US" altLang="zh-TW" dirty="0" smtClean="0"/>
              <a:t>&amp;</a:t>
            </a:r>
            <a:r>
              <a:rPr lang="en-US" altLang="zh-TW" dirty="0" err="1" smtClean="0"/>
              <a:t>sigval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} while(status == HSA_STATUS_INFO_SIGNAL_TIMEOUT);</a:t>
            </a:r>
          </a:p>
          <a:p>
            <a:r>
              <a:rPr lang="en-US" altLang="zh-TW" dirty="0" smtClean="0"/>
              <a:t>if(status != HSA_STATUS_SUCCESS)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hsa_queue_destroy</a:t>
            </a:r>
            <a:r>
              <a:rPr lang="en-US" altLang="zh-TW" b="1" dirty="0" smtClean="0"/>
              <a:t>(queue));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</a:p>
          <a:p>
            <a:r>
              <a:rPr lang="en-US" altLang="zh-TW" dirty="0" err="1" smtClean="0"/>
              <a:t>printf</a:t>
            </a:r>
            <a:r>
              <a:rPr lang="en-US" altLang="zh-TW" dirty="0" smtClean="0"/>
              <a:t>("\</a:t>
            </a:r>
            <a:r>
              <a:rPr lang="en-US" altLang="zh-TW" dirty="0" err="1" smtClean="0"/>
              <a:t>nkernel</a:t>
            </a:r>
            <a:r>
              <a:rPr lang="en-US" altLang="zh-TW" dirty="0" smtClean="0"/>
              <a:t> successfully executed, value %</a:t>
            </a:r>
            <a:r>
              <a:rPr lang="en-US" altLang="zh-TW" dirty="0" err="1" smtClean="0"/>
              <a:t>llu</a:t>
            </a:r>
            <a:r>
              <a:rPr lang="en-US" altLang="zh-TW" dirty="0" smtClean="0"/>
              <a:t>\n",</a:t>
            </a:r>
          </a:p>
          <a:p>
            <a:r>
              <a:rPr lang="en-US" altLang="zh-TW" dirty="0" err="1" smtClean="0"/>
              <a:t>kernel_input</a:t>
            </a:r>
            <a:r>
              <a:rPr lang="en-US" altLang="zh-TW" dirty="0" smtClean="0"/>
              <a:t>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512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Complete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2088724"/>
            <a:ext cx="8460432" cy="3416320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/**** close up and destroy queue, close the runtime ****/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hsa_queue_destroy</a:t>
            </a:r>
            <a:r>
              <a:rPr lang="en-US" altLang="zh-TW" b="1" dirty="0" smtClean="0"/>
              <a:t>(queue);</a:t>
            </a:r>
          </a:p>
          <a:p>
            <a:r>
              <a:rPr lang="en-US" altLang="zh-TW" dirty="0" smtClean="0"/>
              <a:t>if(status != HSA_STATUS_SUCCESS) {</a:t>
            </a:r>
          </a:p>
          <a:p>
            <a:r>
              <a:rPr lang="en-US" altLang="zh-TW" dirty="0" smtClean="0"/>
              <a:t>assert(HSA_STATUS_SUCCESS ==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());</a:t>
            </a:r>
          </a:p>
          <a:p>
            <a:r>
              <a:rPr lang="en-US" altLang="zh-TW" dirty="0" smtClean="0"/>
              <a:t>exit(1);</a:t>
            </a:r>
          </a:p>
          <a:p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status = </a:t>
            </a:r>
            <a:r>
              <a:rPr lang="en-US" altLang="zh-TW" b="1" dirty="0" err="1" smtClean="0"/>
              <a:t>hsa_close</a:t>
            </a:r>
            <a:r>
              <a:rPr lang="en-US" altLang="zh-TW" b="1" dirty="0" smtClean="0"/>
              <a:t>();</a:t>
            </a:r>
          </a:p>
          <a:p>
            <a:r>
              <a:rPr lang="en-US" altLang="zh-TW" dirty="0" smtClean="0"/>
              <a:t>assert(status == HSA_STATUS_SUCCESS);</a:t>
            </a:r>
          </a:p>
          <a:p>
            <a:r>
              <a:rPr lang="en-US" altLang="zh-TW" dirty="0" smtClean="0"/>
              <a:t>return 0;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457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Error and Notification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8D942-9EBA-4C8E-A531-121CDCE47CDD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904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Errors </a:t>
            </a:r>
            <a:r>
              <a:rPr lang="en-US" altLang="zh-TW" dirty="0" smtClean="0"/>
              <a:t>Handling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Two </a:t>
            </a:r>
            <a:r>
              <a:rPr lang="en-US" altLang="zh-TW" dirty="0"/>
              <a:t>categories: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synchronous error </a:t>
            </a:r>
            <a:r>
              <a:rPr lang="en-US" altLang="zh-TW" dirty="0"/>
              <a:t>handling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asynchronous notification handling</a:t>
            </a:r>
          </a:p>
        </p:txBody>
      </p:sp>
    </p:spTree>
    <p:extLst>
      <p:ext uri="{BB962C8B-B14F-4D97-AF65-F5344CB8AC3E}">
        <p14:creationId xmlns:p14="http://schemas.microsoft.com/office/powerpoint/2010/main" val="1538771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Synchronous errors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Reported </a:t>
            </a:r>
            <a:r>
              <a:rPr lang="en-US" altLang="zh-TW" dirty="0"/>
              <a:t>when </a:t>
            </a:r>
            <a:r>
              <a:rPr lang="en-US" altLang="zh-TW" dirty="0" smtClean="0"/>
              <a:t>the</a:t>
            </a:r>
            <a:r>
              <a:rPr lang="en-US" altLang="zh-TW" dirty="0"/>
              <a:t> </a:t>
            </a:r>
            <a:r>
              <a:rPr lang="en-US" altLang="zh-TW" dirty="0" smtClean="0"/>
              <a:t>call returns which indicate </a:t>
            </a:r>
            <a:r>
              <a:rPr lang="en-US" altLang="zh-TW" dirty="0"/>
              <a:t>if the API returned a success or an </a:t>
            </a:r>
            <a:r>
              <a:rPr lang="en-US" altLang="zh-TW" dirty="0" smtClean="0"/>
              <a:t>error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HSA core runtime API defines an enumeration that captures the result of any API </a:t>
            </a:r>
            <a:r>
              <a:rPr lang="en-US" altLang="zh-TW" dirty="0" smtClean="0"/>
              <a:t>function</a:t>
            </a:r>
          </a:p>
          <a:p>
            <a:pPr lvl="1"/>
            <a:r>
              <a:rPr lang="en-US" altLang="zh-TW" dirty="0"/>
              <a:t>success , info , error</a:t>
            </a:r>
            <a:endParaRPr lang="en-US" altLang="zh-TW" dirty="0" smtClean="0"/>
          </a:p>
          <a:p>
            <a:r>
              <a:rPr lang="en-US" altLang="zh-TW" dirty="0" smtClean="0"/>
              <a:t>Success </a:t>
            </a:r>
            <a:r>
              <a:rPr lang="en-US" altLang="zh-TW" dirty="0"/>
              <a:t>status is a single </a:t>
            </a:r>
            <a:r>
              <a:rPr lang="en-US" altLang="zh-TW" dirty="0" smtClean="0"/>
              <a:t>value</a:t>
            </a:r>
          </a:p>
          <a:p>
            <a:pPr lvl="1"/>
            <a:r>
              <a:rPr lang="en-US" altLang="zh-TW" i="1" dirty="0" smtClean="0"/>
              <a:t>HSA_STATUS_SUCCESS</a:t>
            </a:r>
            <a:endParaRPr lang="en-US" altLang="zh-TW" dirty="0" smtClean="0"/>
          </a:p>
          <a:p>
            <a:r>
              <a:rPr lang="en-US" altLang="zh-TW" dirty="0" smtClean="0"/>
              <a:t>Every </a:t>
            </a:r>
            <a:r>
              <a:rPr lang="en-US" altLang="zh-TW" dirty="0"/>
              <a:t>core runtime </a:t>
            </a:r>
            <a:r>
              <a:rPr lang="en-US" altLang="zh-TW" dirty="0" smtClean="0"/>
              <a:t>API call that returns </a:t>
            </a:r>
            <a:r>
              <a:rPr lang="en-US" altLang="zh-TW" i="1" dirty="0" err="1" smtClean="0"/>
              <a:t>hsa_status</a:t>
            </a:r>
            <a:r>
              <a:rPr lang="en-US" altLang="zh-TW" i="1" dirty="0" err="1"/>
              <a:t>_</a:t>
            </a:r>
            <a:r>
              <a:rPr lang="en-US" altLang="zh-TW" i="1" dirty="0" err="1" smtClean="0"/>
              <a:t>t</a:t>
            </a:r>
            <a:r>
              <a:rPr lang="en-US" altLang="zh-TW" dirty="0" smtClean="0"/>
              <a:t> </a:t>
            </a:r>
            <a:r>
              <a:rPr lang="en-US" altLang="zh-TW" dirty="0"/>
              <a:t>explains </a:t>
            </a:r>
            <a:r>
              <a:rPr lang="en-US" altLang="zh-TW" dirty="0" smtClean="0"/>
              <a:t>what the </a:t>
            </a:r>
            <a:r>
              <a:rPr lang="en-US" altLang="zh-TW" dirty="0"/>
              <a:t>expected successful behavior for that </a:t>
            </a:r>
            <a:r>
              <a:rPr lang="en-US" altLang="zh-TW" dirty="0" smtClean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067315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Asynchronous </a:t>
            </a:r>
            <a:r>
              <a:rPr lang="en-US" altLang="zh-TW" dirty="0" smtClean="0"/>
              <a:t>Errors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Reason: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) </a:t>
            </a:r>
            <a:r>
              <a:rPr lang="en-US" altLang="zh-TW" dirty="0" smtClean="0"/>
              <a:t>Triggered </a:t>
            </a:r>
            <a:r>
              <a:rPr lang="en-US" altLang="zh-TW" dirty="0"/>
              <a:t>by activity in </a:t>
            </a:r>
            <a:r>
              <a:rPr lang="en-US" altLang="zh-TW" dirty="0" smtClean="0"/>
              <a:t>packet processor</a:t>
            </a:r>
            <a:r>
              <a:rPr lang="en-US" altLang="zh-TW" dirty="0"/>
              <a:t>, executing kernels, their actions and memory </a:t>
            </a:r>
            <a:r>
              <a:rPr lang="en-US" altLang="zh-TW" dirty="0" smtClean="0"/>
              <a:t>accesses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/>
              <a:t>ii) </a:t>
            </a:r>
            <a:r>
              <a:rPr lang="en-US" altLang="zh-TW" dirty="0" smtClean="0"/>
              <a:t>When </a:t>
            </a:r>
            <a:r>
              <a:rPr lang="en-US" altLang="zh-TW" dirty="0"/>
              <a:t>an error is detected during the execution of a kernel, the completion signal </a:t>
            </a:r>
            <a:r>
              <a:rPr lang="en-US" altLang="zh-TW" dirty="0" smtClean="0"/>
              <a:t>will </a:t>
            </a:r>
            <a:r>
              <a:rPr lang="en-US" altLang="zh-TW" dirty="0"/>
              <a:t>be signaled with an error indication </a:t>
            </a:r>
            <a:r>
              <a:rPr lang="en-US" altLang="zh-TW" dirty="0" smtClean="0"/>
              <a:t>value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/>
              <a:t>iii) </a:t>
            </a:r>
            <a:r>
              <a:rPr lang="en-US" altLang="zh-TW" dirty="0" smtClean="0"/>
              <a:t>For </a:t>
            </a:r>
            <a:r>
              <a:rPr lang="en-US" altLang="zh-TW" dirty="0"/>
              <a:t>providing </a:t>
            </a:r>
            <a:r>
              <a:rPr lang="en-US" altLang="zh-TW" dirty="0" smtClean="0"/>
              <a:t>information and </a:t>
            </a:r>
            <a:r>
              <a:rPr lang="en-US" altLang="zh-TW" dirty="0"/>
              <a:t>this </a:t>
            </a:r>
            <a:r>
              <a:rPr lang="en-US" altLang="zh-TW" dirty="0" smtClean="0"/>
              <a:t>information </a:t>
            </a:r>
            <a:r>
              <a:rPr lang="en-US" altLang="zh-TW" dirty="0"/>
              <a:t>may </a:t>
            </a:r>
            <a:r>
              <a:rPr lang="en-US" altLang="zh-TW" dirty="0" smtClean="0"/>
              <a:t>not necessarily </a:t>
            </a:r>
            <a:r>
              <a:rPr lang="en-US" altLang="zh-TW" dirty="0"/>
              <a:t>indicate an </a:t>
            </a:r>
            <a:r>
              <a:rPr lang="en-US" altLang="zh-TW" dirty="0" smtClean="0"/>
              <a:t>error e.g., timeout</a:t>
            </a:r>
          </a:p>
          <a:p>
            <a:r>
              <a:rPr lang="en-US" altLang="zh-TW" dirty="0"/>
              <a:t>In order to deal with asynchronous errors, the </a:t>
            </a:r>
            <a:r>
              <a:rPr lang="en-US" altLang="zh-TW" dirty="0" smtClean="0"/>
              <a:t>core runtime </a:t>
            </a:r>
            <a:r>
              <a:rPr lang="en-US" altLang="zh-TW" dirty="0"/>
              <a:t>supports asynchronous error </a:t>
            </a:r>
            <a:r>
              <a:rPr lang="en-US" altLang="zh-TW" dirty="0" smtClean="0"/>
              <a:t>callbacks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2452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API classification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8D942-9EBA-4C8E-A531-121CDCE47CDD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8969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3264" y="1340768"/>
            <a:ext cx="4392488" cy="4675064"/>
          </a:xfrm>
        </p:spPr>
        <p:txBody>
          <a:bodyPr/>
          <a:lstStyle/>
          <a:p>
            <a:r>
              <a:rPr lang="en-US" altLang="zh-TW" sz="2400" dirty="0"/>
              <a:t>Open and Close </a:t>
            </a:r>
            <a:r>
              <a:rPr lang="en-US" altLang="zh-TW" sz="2400" dirty="0" smtClean="0"/>
              <a:t>API</a:t>
            </a:r>
          </a:p>
          <a:p>
            <a:r>
              <a:rPr lang="en-US" altLang="zh-TW" sz="2400" dirty="0"/>
              <a:t>HSA Topology and </a:t>
            </a:r>
            <a:r>
              <a:rPr lang="en-US" altLang="zh-TW" sz="2400" dirty="0" smtClean="0"/>
              <a:t>Component</a:t>
            </a:r>
          </a:p>
          <a:p>
            <a:r>
              <a:rPr lang="en-US" altLang="zh-TW" sz="2400" dirty="0"/>
              <a:t>Memory based Signals</a:t>
            </a:r>
          </a:p>
          <a:p>
            <a:r>
              <a:rPr lang="en-US" altLang="zh-TW" sz="2400" dirty="0"/>
              <a:t>Architected Queue</a:t>
            </a:r>
            <a:endParaRPr lang="en-US" altLang="zh-TW" sz="2400" dirty="0" smtClean="0"/>
          </a:p>
          <a:p>
            <a:r>
              <a:rPr lang="en-US" altLang="zh-TW" sz="2400" dirty="0"/>
              <a:t>Core Runtime Support for AQL</a:t>
            </a:r>
          </a:p>
          <a:p>
            <a:r>
              <a:rPr lang="en-US" altLang="zh-TW" sz="2400" dirty="0"/>
              <a:t>HSAIL Application Binary </a:t>
            </a:r>
            <a:r>
              <a:rPr lang="en-US" altLang="zh-TW" sz="2400" dirty="0" smtClean="0"/>
              <a:t>Interface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4793084" y="1340768"/>
            <a:ext cx="4114800" cy="4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kern="0" dirty="0" smtClean="0"/>
              <a:t>Finalization and Code Object</a:t>
            </a:r>
          </a:p>
          <a:p>
            <a:r>
              <a:rPr lang="en-US" altLang="zh-TW" sz="2400" kern="0" dirty="0" smtClean="0"/>
              <a:t>Group Memory Usage</a:t>
            </a:r>
          </a:p>
          <a:p>
            <a:r>
              <a:rPr lang="en-US" altLang="zh-TW" sz="2400" kern="0" dirty="0" smtClean="0"/>
              <a:t>Memory Registration</a:t>
            </a:r>
          </a:p>
          <a:p>
            <a:r>
              <a:rPr lang="en-US" altLang="zh-TW" sz="2400" kern="0" dirty="0" smtClean="0"/>
              <a:t>Component Local Memory</a:t>
            </a:r>
          </a:p>
          <a:p>
            <a:r>
              <a:rPr lang="en-US" altLang="zh-TW" sz="2400" kern="0" dirty="0" smtClean="0"/>
              <a:t>Execution Control</a:t>
            </a:r>
          </a:p>
          <a:p>
            <a:r>
              <a:rPr lang="en-US" altLang="zh-TW" sz="2400" kern="0" dirty="0" err="1" smtClean="0"/>
              <a:t>Syscall</a:t>
            </a:r>
            <a:r>
              <a:rPr lang="en-US" altLang="zh-TW" sz="2400" kern="0" dirty="0" smtClean="0"/>
              <a:t> Support</a:t>
            </a:r>
            <a:endParaRPr lang="zh-TW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30126412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and </a:t>
            </a:r>
            <a:r>
              <a:rPr lang="en-US" altLang="zh-TW" dirty="0" smtClean="0"/>
              <a:t>Close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HSA </a:t>
            </a:r>
            <a:r>
              <a:rPr lang="en-US" altLang="zh-TW" dirty="0"/>
              <a:t>core runtime is a user mode </a:t>
            </a:r>
            <a:r>
              <a:rPr lang="en-US" altLang="zh-TW" dirty="0" smtClean="0"/>
              <a:t>library</a:t>
            </a:r>
          </a:p>
          <a:p>
            <a:pPr lvl="1"/>
            <a:r>
              <a:rPr lang="en-US" altLang="zh-TW" dirty="0" smtClean="0"/>
              <a:t>Its </a:t>
            </a:r>
            <a:r>
              <a:rPr lang="en-US" altLang="zh-TW" dirty="0"/>
              <a:t>state is a part of the application’s process </a:t>
            </a:r>
            <a:r>
              <a:rPr lang="en-US" altLang="zh-TW" dirty="0" smtClean="0"/>
              <a:t>space</a:t>
            </a:r>
            <a:endParaRPr lang="en-US" altLang="zh-TW" dirty="0"/>
          </a:p>
          <a:p>
            <a:r>
              <a:rPr lang="en-US" altLang="zh-TW" dirty="0" smtClean="0"/>
              <a:t>For a application process</a:t>
            </a:r>
          </a:p>
          <a:p>
            <a:pPr lvl="1"/>
            <a:r>
              <a:rPr lang="en-US" altLang="zh-TW" dirty="0"/>
              <a:t>O</a:t>
            </a:r>
            <a:r>
              <a:rPr lang="en-US" altLang="zh-TW" dirty="0" smtClean="0"/>
              <a:t>pening a </a:t>
            </a:r>
            <a:r>
              <a:rPr lang="en-US" altLang="zh-TW" dirty="0"/>
              <a:t>runtime </a:t>
            </a:r>
            <a:r>
              <a:rPr lang="en-US" altLang="zh-TW" dirty="0" smtClean="0"/>
              <a:t>creates a runtime instance</a:t>
            </a:r>
          </a:p>
          <a:p>
            <a:pPr lvl="1"/>
            <a:r>
              <a:rPr lang="en-US" altLang="zh-TW" dirty="0" smtClean="0"/>
              <a:t>Closing </a:t>
            </a:r>
            <a:r>
              <a:rPr lang="en-US" altLang="zh-TW" dirty="0"/>
              <a:t>a runtime destroys this </a:t>
            </a:r>
            <a:r>
              <a:rPr lang="en-US" altLang="zh-TW" dirty="0" smtClean="0"/>
              <a:t>instance</a:t>
            </a:r>
          </a:p>
          <a:p>
            <a:r>
              <a:rPr lang="en-US" altLang="zh-TW" dirty="0"/>
              <a:t>An application may </a:t>
            </a:r>
            <a:r>
              <a:rPr lang="en-US" altLang="zh-TW" dirty="0" smtClean="0"/>
              <a:t>open </a:t>
            </a:r>
            <a:r>
              <a:rPr lang="en-US" altLang="zh-TW" dirty="0"/>
              <a:t>(</a:t>
            </a:r>
            <a:r>
              <a:rPr lang="en-US" altLang="zh-TW" dirty="0" smtClean="0"/>
              <a:t>or close</a:t>
            </a:r>
            <a:r>
              <a:rPr lang="en-US" altLang="zh-TW" dirty="0"/>
              <a:t>) the HSA runtime multiple times with-in the same process </a:t>
            </a:r>
            <a:r>
              <a:rPr lang="en-US" altLang="zh-TW" dirty="0" smtClean="0"/>
              <a:t>and </a:t>
            </a:r>
            <a:r>
              <a:rPr lang="en-US" altLang="zh-TW" dirty="0"/>
              <a:t>potentially with </a:t>
            </a:r>
            <a:r>
              <a:rPr lang="en-US" altLang="zh-TW" dirty="0" smtClean="0"/>
              <a:t>in multiple threads</a:t>
            </a:r>
          </a:p>
          <a:p>
            <a:pPr lvl="1"/>
            <a:r>
              <a:rPr lang="en-US" altLang="zh-TW" dirty="0" smtClean="0"/>
              <a:t>Only </a:t>
            </a:r>
            <a:r>
              <a:rPr lang="en-US" altLang="zh-TW" dirty="0"/>
              <a:t>a single instance of the runtime, per-process, will </a:t>
            </a:r>
            <a:r>
              <a:rPr lang="en-US" altLang="zh-TW" dirty="0" smtClean="0"/>
              <a:t>exist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4722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Topology and 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HSA platform topology information is provided by the runtime via. data </a:t>
            </a:r>
            <a:r>
              <a:rPr lang="en-US" altLang="zh-TW" dirty="0" smtClean="0"/>
              <a:t>structures</a:t>
            </a:r>
          </a:p>
          <a:p>
            <a:r>
              <a:rPr lang="en-US" altLang="zh-TW" dirty="0"/>
              <a:t>U</a:t>
            </a:r>
            <a:r>
              <a:rPr lang="en-US" altLang="zh-TW" dirty="0" smtClean="0"/>
              <a:t>ser can gather </a:t>
            </a:r>
            <a:r>
              <a:rPr lang="en-US" altLang="zh-TW" dirty="0"/>
              <a:t>architectural details</a:t>
            </a:r>
            <a:r>
              <a:rPr lang="en-US" altLang="zh-TW" dirty="0" smtClean="0"/>
              <a:t> of a </a:t>
            </a:r>
            <a:r>
              <a:rPr lang="en-US" altLang="zh-TW" dirty="0"/>
              <a:t>HSA </a:t>
            </a:r>
            <a:r>
              <a:rPr lang="en-US" altLang="zh-TW" dirty="0" smtClean="0"/>
              <a:t>system/platform</a:t>
            </a:r>
          </a:p>
          <a:p>
            <a:pPr lvl="1"/>
            <a:r>
              <a:rPr lang="en-US" altLang="zh-TW" dirty="0"/>
              <a:t>Components</a:t>
            </a:r>
          </a:p>
          <a:p>
            <a:pPr lvl="1"/>
            <a:r>
              <a:rPr lang="en-US" altLang="zh-TW" dirty="0"/>
              <a:t>Memory</a:t>
            </a:r>
          </a:p>
          <a:p>
            <a:pPr lvl="1"/>
            <a:r>
              <a:rPr lang="en-US" altLang="zh-TW" dirty="0"/>
              <a:t>Caches</a:t>
            </a:r>
          </a:p>
          <a:p>
            <a:pPr lvl="1"/>
            <a:r>
              <a:rPr lang="en-US" altLang="zh-TW" dirty="0"/>
              <a:t>Connectivity</a:t>
            </a:r>
          </a:p>
          <a:p>
            <a:r>
              <a:rPr lang="en-US" altLang="zh-TW" dirty="0"/>
              <a:t>This information could be utilized by the user in different </a:t>
            </a:r>
            <a:r>
              <a:rPr lang="en-US" altLang="zh-TW" dirty="0" smtClean="0"/>
              <a:t>ways including </a:t>
            </a:r>
            <a:r>
              <a:rPr lang="en-US" altLang="zh-TW" dirty="0"/>
              <a:t>decisions on where to execute a particular user </a:t>
            </a:r>
            <a:r>
              <a:rPr lang="en-US" altLang="zh-TW" dirty="0" smtClean="0"/>
              <a:t>task</a:t>
            </a:r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5415141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Topology and Component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2261" y="1124744"/>
            <a:ext cx="6339477" cy="448622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529292" y="5668270"/>
            <a:ext cx="4085414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/>
              <a:t>Structure of the Topology Table</a:t>
            </a:r>
            <a:endParaRPr lang="en-US" altLang="zh-TW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27039" y="2906193"/>
            <a:ext cx="1297599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Platform</a:t>
            </a:r>
            <a:endParaRPr lang="zh-TW" altLang="en-US" b="1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400069" y="2300462"/>
            <a:ext cx="904607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agent</a:t>
            </a:r>
            <a:endParaRPr lang="zh-TW" altLang="en-US" b="1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209666" y="2873357"/>
            <a:ext cx="1261627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memory</a:t>
            </a:r>
            <a:endParaRPr lang="zh-TW" altLang="en-US" b="1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559056" y="3446253"/>
            <a:ext cx="912237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cache</a:t>
            </a:r>
            <a:endParaRPr lang="zh-TW" altLang="en-US" b="1" dirty="0" smtClean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237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Memory based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 HSA system, memory is coherent and can serve as a means for message </a:t>
            </a:r>
            <a:r>
              <a:rPr lang="en-US" altLang="zh-TW" dirty="0" smtClean="0"/>
              <a:t>passing, asynchronous </a:t>
            </a:r>
            <a:r>
              <a:rPr lang="en-US" altLang="zh-TW" dirty="0"/>
              <a:t>communication or synchronization between various </a:t>
            </a:r>
            <a:r>
              <a:rPr lang="en-US" altLang="zh-TW" dirty="0" smtClean="0"/>
              <a:t>elements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signal is </a:t>
            </a:r>
            <a:r>
              <a:rPr lang="en-US" altLang="zh-TW" dirty="0" smtClean="0"/>
              <a:t>a communication </a:t>
            </a:r>
            <a:r>
              <a:rPr lang="en-US" altLang="zh-TW" dirty="0"/>
              <a:t>mechanism between two </a:t>
            </a:r>
            <a:r>
              <a:rPr lang="en-US" altLang="zh-TW" dirty="0" smtClean="0"/>
              <a:t>entities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signal carries a value, which can be updated or conditionally waited upon via </a:t>
            </a:r>
            <a:r>
              <a:rPr lang="en-US" altLang="zh-TW" dirty="0" smtClean="0"/>
              <a:t>an API </a:t>
            </a:r>
            <a:r>
              <a:rPr lang="en-US" altLang="zh-TW" dirty="0"/>
              <a:t>call or an HSAIL </a:t>
            </a:r>
            <a:r>
              <a:rPr lang="en-US" altLang="zh-TW" dirty="0" smtClean="0"/>
              <a:t>instruction</a:t>
            </a:r>
          </a:p>
        </p:txBody>
      </p:sp>
    </p:spTree>
    <p:extLst>
      <p:ext uri="{BB962C8B-B14F-4D97-AF65-F5344CB8AC3E}">
        <p14:creationId xmlns:p14="http://schemas.microsoft.com/office/powerpoint/2010/main" val="2399778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Memory based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Relaxed synchronization</a:t>
            </a:r>
          </a:p>
          <a:p>
            <a:pPr lvl="1"/>
            <a:r>
              <a:rPr lang="en-US" altLang="zh-TW" dirty="0"/>
              <a:t>No synchronization is applied to the send or wait </a:t>
            </a:r>
            <a:r>
              <a:rPr lang="en-US" altLang="zh-TW" dirty="0" smtClean="0"/>
              <a:t>operation</a:t>
            </a:r>
          </a:p>
          <a:p>
            <a:r>
              <a:rPr lang="en-US" altLang="zh-TW" dirty="0" smtClean="0"/>
              <a:t>Three </a:t>
            </a:r>
            <a:r>
              <a:rPr lang="en-US" altLang="zh-TW" dirty="0"/>
              <a:t>types of synchronization </a:t>
            </a:r>
            <a:r>
              <a:rPr lang="en-US" altLang="zh-TW" dirty="0" smtClean="0"/>
              <a:t>defined:</a:t>
            </a:r>
          </a:p>
          <a:p>
            <a:r>
              <a:rPr lang="en-US" altLang="zh-TW" b="1" dirty="0"/>
              <a:t>Acquire synchronization</a:t>
            </a:r>
          </a:p>
          <a:p>
            <a:pPr lvl="1"/>
            <a:r>
              <a:rPr lang="en-US" altLang="zh-TW" dirty="0"/>
              <a:t>No memory operation listed after the acquire can be executed before </a:t>
            </a:r>
            <a:r>
              <a:rPr lang="en-US" altLang="zh-TW" dirty="0" smtClean="0"/>
              <a:t>the acquire-synchronized operation</a:t>
            </a:r>
          </a:p>
          <a:p>
            <a:pPr lvl="1"/>
            <a:r>
              <a:rPr lang="en-US" altLang="zh-TW" dirty="0" smtClean="0"/>
              <a:t>Acquire </a:t>
            </a:r>
            <a:r>
              <a:rPr lang="en-US" altLang="zh-TW" dirty="0"/>
              <a:t>synchronization can be applied to </a:t>
            </a:r>
            <a:r>
              <a:rPr lang="en-US" altLang="zh-TW" dirty="0" smtClean="0"/>
              <a:t>various operations </a:t>
            </a:r>
            <a:r>
              <a:rPr lang="en-US" altLang="zh-TW" dirty="0"/>
              <a:t>including a load </a:t>
            </a:r>
            <a:r>
              <a:rPr lang="en-US" altLang="zh-TW" dirty="0" smtClean="0"/>
              <a:t>operation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32965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Memory based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Release </a:t>
            </a:r>
            <a:r>
              <a:rPr lang="en-US" altLang="zh-TW" b="1" dirty="0"/>
              <a:t>synchronization</a:t>
            </a:r>
          </a:p>
          <a:p>
            <a:pPr lvl="1"/>
            <a:r>
              <a:rPr lang="en-US" altLang="zh-TW" dirty="0"/>
              <a:t>No memory operation listed before the release can be executed after </a:t>
            </a:r>
            <a:r>
              <a:rPr lang="en-US" altLang="zh-TW" dirty="0" smtClean="0"/>
              <a:t>the release-synchronized operation</a:t>
            </a:r>
            <a:endParaRPr lang="en-US" altLang="zh-TW" dirty="0"/>
          </a:p>
          <a:p>
            <a:pPr lvl="1"/>
            <a:r>
              <a:rPr lang="en-US" altLang="zh-TW" dirty="0" smtClean="0"/>
              <a:t>Release </a:t>
            </a:r>
            <a:r>
              <a:rPr lang="en-US" altLang="zh-TW" dirty="0"/>
              <a:t>synchronization can be applied to </a:t>
            </a:r>
            <a:r>
              <a:rPr lang="en-US" altLang="zh-TW" dirty="0" smtClean="0"/>
              <a:t>various operations </a:t>
            </a:r>
            <a:r>
              <a:rPr lang="en-US" altLang="zh-TW" dirty="0"/>
              <a:t>including a store </a:t>
            </a:r>
            <a:r>
              <a:rPr lang="en-US" altLang="zh-TW" dirty="0" smtClean="0"/>
              <a:t>operation</a:t>
            </a:r>
            <a:endParaRPr lang="en-US" altLang="zh-TW" dirty="0"/>
          </a:p>
          <a:p>
            <a:r>
              <a:rPr lang="en-US" altLang="zh-TW" b="1" dirty="0"/>
              <a:t>Acquire-Release synchronization</a:t>
            </a:r>
          </a:p>
          <a:p>
            <a:pPr lvl="1"/>
            <a:r>
              <a:rPr lang="en-US" altLang="zh-TW" dirty="0"/>
              <a:t>This acts like a </a:t>
            </a:r>
            <a:r>
              <a:rPr lang="en-US" altLang="zh-TW" dirty="0" smtClean="0"/>
              <a:t>fence</a:t>
            </a:r>
          </a:p>
          <a:p>
            <a:pPr lvl="1"/>
            <a:r>
              <a:rPr lang="en-US" altLang="zh-TW" dirty="0" smtClean="0"/>
              <a:t>No </a:t>
            </a:r>
            <a:r>
              <a:rPr lang="en-US" altLang="zh-TW" dirty="0"/>
              <a:t>memory operation listed before the Acquire-Release </a:t>
            </a:r>
            <a:r>
              <a:rPr lang="en-US" altLang="zh-TW" dirty="0" smtClean="0"/>
              <a:t>synchronized operation </a:t>
            </a:r>
            <a:r>
              <a:rPr lang="en-US" altLang="zh-TW" dirty="0"/>
              <a:t>can be move after it nor can any memory operation listed after the </a:t>
            </a:r>
            <a:r>
              <a:rPr lang="en-US" altLang="zh-TW" dirty="0" smtClean="0"/>
              <a:t>Acquire-Release synchronized </a:t>
            </a:r>
            <a:r>
              <a:rPr lang="en-US" altLang="zh-TW" dirty="0"/>
              <a:t>operation can be executed before </a:t>
            </a:r>
            <a:r>
              <a:rPr lang="en-US" altLang="zh-TW" dirty="0" smtClean="0"/>
              <a:t>it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1255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Architected 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895850"/>
          </a:xfrm>
        </p:spPr>
        <p:txBody>
          <a:bodyPr/>
          <a:lstStyle/>
          <a:p>
            <a:r>
              <a:rPr lang="en-US" altLang="zh-TW" dirty="0"/>
              <a:t>HSA hardware supports kernel dispatch through user mode </a:t>
            </a:r>
            <a:r>
              <a:rPr lang="en-US" altLang="zh-TW" dirty="0" smtClean="0"/>
              <a:t>queues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queue in HSA is </a:t>
            </a:r>
            <a:r>
              <a:rPr lang="en-US" altLang="zh-TW" dirty="0" smtClean="0"/>
              <a:t>associated with </a:t>
            </a:r>
            <a:r>
              <a:rPr lang="en-US" altLang="zh-TW" dirty="0"/>
              <a:t>a specific HSA </a:t>
            </a:r>
            <a:r>
              <a:rPr lang="en-US" altLang="zh-TW" dirty="0" smtClean="0"/>
              <a:t>component</a:t>
            </a:r>
          </a:p>
          <a:p>
            <a:r>
              <a:rPr lang="en-US" altLang="zh-TW" dirty="0" smtClean="0"/>
              <a:t>User </a:t>
            </a:r>
            <a:r>
              <a:rPr lang="en-US" altLang="zh-TW" dirty="0"/>
              <a:t>mode queues are ring buffers that </a:t>
            </a:r>
            <a:r>
              <a:rPr lang="en-US" altLang="zh-TW" dirty="0" smtClean="0"/>
              <a:t>expose separate </a:t>
            </a:r>
            <a:r>
              <a:rPr lang="en-US" altLang="zh-TW" dirty="0"/>
              <a:t>memory locations defining the current read and write state of the </a:t>
            </a:r>
            <a:r>
              <a:rPr lang="en-US" altLang="zh-TW" dirty="0" smtClean="0"/>
              <a:t>queue</a:t>
            </a:r>
          </a:p>
          <a:p>
            <a:r>
              <a:rPr lang="en-US" altLang="zh-TW" dirty="0" smtClean="0"/>
              <a:t>Agents </a:t>
            </a:r>
            <a:r>
              <a:rPr lang="en-US" altLang="zh-TW" dirty="0"/>
              <a:t>write AQL packets to the queue to </a:t>
            </a:r>
            <a:r>
              <a:rPr lang="en-US" altLang="zh-TW" dirty="0" err="1"/>
              <a:t>enqueue</a:t>
            </a:r>
            <a:r>
              <a:rPr lang="en-US" altLang="zh-TW" dirty="0"/>
              <a:t> work on to the HSA </a:t>
            </a:r>
            <a:r>
              <a:rPr lang="en-US" altLang="zh-TW" dirty="0" smtClean="0"/>
              <a:t>components</a:t>
            </a:r>
          </a:p>
          <a:p>
            <a:r>
              <a:rPr lang="en-US" altLang="zh-TW" dirty="0" smtClean="0"/>
              <a:t>The queue </a:t>
            </a:r>
            <a:r>
              <a:rPr lang="en-US" altLang="zh-TW" dirty="0"/>
              <a:t>memory is processed by HSA packet </a:t>
            </a:r>
            <a:r>
              <a:rPr lang="en-US" altLang="zh-TW" dirty="0" smtClean="0"/>
              <a:t>processor </a:t>
            </a:r>
            <a:r>
              <a:rPr lang="en-US" altLang="zh-TW" dirty="0"/>
              <a:t>as though it is a ring </a:t>
            </a:r>
            <a:r>
              <a:rPr lang="en-US" altLang="zh-TW" dirty="0" smtClean="0"/>
              <a:t>buffer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2431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Runtime Support for AQL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AQL is a command-interface for describing a dispatch or a dependency in a standard format for </a:t>
            </a:r>
            <a:r>
              <a:rPr lang="en-US" altLang="zh-TW" dirty="0" smtClean="0"/>
              <a:t>the queue </a:t>
            </a:r>
            <a:r>
              <a:rPr lang="en-US" altLang="zh-TW" dirty="0"/>
              <a:t>packet </a:t>
            </a:r>
            <a:r>
              <a:rPr lang="en-US" altLang="zh-TW" dirty="0" smtClean="0"/>
              <a:t>processor</a:t>
            </a:r>
          </a:p>
          <a:p>
            <a:r>
              <a:rPr lang="en-US" altLang="zh-TW" dirty="0" smtClean="0"/>
              <a:t>To </a:t>
            </a:r>
            <a:r>
              <a:rPr lang="en-US" altLang="zh-TW" dirty="0"/>
              <a:t>match with and support the AQL packet </a:t>
            </a:r>
            <a:r>
              <a:rPr lang="en-US" altLang="zh-TW" dirty="0" smtClean="0"/>
              <a:t>definitions, HSA </a:t>
            </a:r>
            <a:r>
              <a:rPr lang="en-US" altLang="zh-TW" dirty="0"/>
              <a:t>core base runtime includes structures for different types of AQL </a:t>
            </a:r>
            <a:r>
              <a:rPr lang="en-US" altLang="zh-TW" dirty="0" smtClean="0"/>
              <a:t>packets</a:t>
            </a:r>
          </a:p>
          <a:p>
            <a:r>
              <a:rPr lang="en-US" altLang="zh-TW" dirty="0" smtClean="0"/>
              <a:t>Three different </a:t>
            </a:r>
            <a:r>
              <a:rPr lang="en-US" altLang="zh-TW" dirty="0"/>
              <a:t>kinds of AQL packets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invalid</a:t>
            </a:r>
          </a:p>
          <a:p>
            <a:pPr lvl="1"/>
            <a:r>
              <a:rPr lang="en-US" altLang="zh-TW" dirty="0" smtClean="0"/>
              <a:t>dispatch</a:t>
            </a:r>
          </a:p>
          <a:p>
            <a:pPr lvl="1"/>
            <a:r>
              <a:rPr lang="en-US" altLang="zh-TW" dirty="0" smtClean="0"/>
              <a:t>barrier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33289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Core Runtime Support for AQL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Invalid packet: </a:t>
            </a:r>
          </a:p>
          <a:p>
            <a:pPr lvl="1"/>
            <a:r>
              <a:rPr lang="en-US" altLang="zh-TW" dirty="0" smtClean="0"/>
              <a:t>Indicates that the packet not ready to be processed by the packet processor</a:t>
            </a:r>
          </a:p>
          <a:p>
            <a:r>
              <a:rPr lang="en-US" altLang="zh-TW" b="1" dirty="0" smtClean="0"/>
              <a:t>Dispatch packet : </a:t>
            </a:r>
          </a:p>
          <a:p>
            <a:pPr lvl="1"/>
            <a:r>
              <a:rPr lang="en-US" altLang="zh-TW" dirty="0" smtClean="0"/>
              <a:t>Dispatch a kernel on to a HSA component</a:t>
            </a:r>
          </a:p>
          <a:p>
            <a:r>
              <a:rPr lang="en-US" altLang="zh-TW" b="1" dirty="0" smtClean="0"/>
              <a:t>Barrier packet: </a:t>
            </a:r>
          </a:p>
          <a:p>
            <a:pPr lvl="1"/>
            <a:r>
              <a:rPr lang="en-US" altLang="zh-TW" dirty="0" smtClean="0"/>
              <a:t>Allows the user to specify up to 5 dependencies as </a:t>
            </a:r>
            <a:r>
              <a:rPr lang="en-US" altLang="zh-TW" dirty="0" err="1" smtClean="0"/>
              <a:t>hsa_signal</a:t>
            </a:r>
            <a:r>
              <a:rPr lang="en-US" altLang="zh-TW" dirty="0" smtClean="0"/>
              <a:t> objects and require the packet processor to resolve them before proceeding</a:t>
            </a:r>
            <a:endParaRPr lang="en-US" altLang="zh-TW" b="1" dirty="0" smtClean="0"/>
          </a:p>
        </p:txBody>
      </p:sp>
    </p:spTree>
    <p:extLst>
      <p:ext uri="{BB962C8B-B14F-4D97-AF65-F5344CB8AC3E}">
        <p14:creationId xmlns:p14="http://schemas.microsoft.com/office/powerpoint/2010/main" val="1820063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Runtime Support for AQL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58" y="1268760"/>
            <a:ext cx="7230484" cy="4467849"/>
          </a:xfrm>
        </p:spPr>
      </p:pic>
      <p:sp>
        <p:nvSpPr>
          <p:cNvPr id="6" name="文字方塊 5"/>
          <p:cNvSpPr txBox="1"/>
          <p:nvPr/>
        </p:nvSpPr>
        <p:spPr>
          <a:xfrm>
            <a:off x="2589470" y="5674007"/>
            <a:ext cx="3965060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/>
              <a:t>Dispatch </a:t>
            </a:r>
            <a:r>
              <a:rPr lang="en-US" altLang="zh-TW" dirty="0"/>
              <a:t>Packet State Diagram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82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Runtime Support for AQL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365010" y="5589240"/>
            <a:ext cx="3748911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/>
              <a:t>Barrier Packet State Diagram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07504" y="1124744"/>
            <a:ext cx="4248472" cy="3139321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sz="1800" dirty="0" err="1"/>
              <a:t>typedef</a:t>
            </a:r>
            <a:r>
              <a:rPr lang="en-US" altLang="zh-TW" sz="1800" dirty="0"/>
              <a:t> </a:t>
            </a:r>
            <a:r>
              <a:rPr lang="en-US" altLang="zh-TW" sz="1800" dirty="0" err="1"/>
              <a:t>struct</a:t>
            </a:r>
            <a:r>
              <a:rPr lang="en-US" altLang="zh-TW" sz="1800" dirty="0"/>
              <a:t> </a:t>
            </a:r>
            <a:r>
              <a:rPr lang="en-US" altLang="zh-TW" sz="1800" dirty="0" err="1"/>
              <a:t>hsa_aql_barrier_packet_s</a:t>
            </a:r>
            <a:r>
              <a:rPr lang="en-US" altLang="zh-TW" sz="1800" dirty="0"/>
              <a:t>{</a:t>
            </a:r>
          </a:p>
          <a:p>
            <a:r>
              <a:rPr lang="en-US" altLang="zh-TW" sz="1800" dirty="0" err="1"/>
              <a:t>hsa_aql_packet_header_t</a:t>
            </a:r>
            <a:r>
              <a:rPr lang="en-US" altLang="zh-TW" sz="1800" dirty="0"/>
              <a:t> header;</a:t>
            </a:r>
          </a:p>
          <a:p>
            <a:r>
              <a:rPr lang="en-US" altLang="zh-TW" sz="1800" dirty="0"/>
              <a:t>uint32_t reserved2;</a:t>
            </a:r>
          </a:p>
          <a:p>
            <a:r>
              <a:rPr lang="en-US" altLang="zh-TW" sz="1800" dirty="0"/>
              <a:t>uint64_t dep_signal0;</a:t>
            </a:r>
          </a:p>
          <a:p>
            <a:r>
              <a:rPr lang="en-US" altLang="zh-TW" sz="1800" dirty="0"/>
              <a:t>uint64_t dep_signal1;</a:t>
            </a:r>
          </a:p>
          <a:p>
            <a:r>
              <a:rPr lang="en-US" altLang="zh-TW" sz="1800" dirty="0"/>
              <a:t>uint64_t dep_signal2;</a:t>
            </a:r>
          </a:p>
          <a:p>
            <a:r>
              <a:rPr lang="en-US" altLang="zh-TW" sz="1800" dirty="0"/>
              <a:t>uint64_t dep_signal3;</a:t>
            </a:r>
          </a:p>
          <a:p>
            <a:r>
              <a:rPr lang="en-US" altLang="zh-TW" sz="1800" dirty="0"/>
              <a:t>uint64_t dep_signal4;</a:t>
            </a:r>
          </a:p>
          <a:p>
            <a:r>
              <a:rPr lang="en-US" altLang="zh-TW" sz="1800" dirty="0"/>
              <a:t>uint64_t reserved3;</a:t>
            </a:r>
          </a:p>
          <a:p>
            <a:r>
              <a:rPr lang="en-US" altLang="zh-TW" sz="1800" dirty="0"/>
              <a:t>uint64_t </a:t>
            </a:r>
            <a:r>
              <a:rPr lang="en-US" altLang="zh-TW" sz="1800" dirty="0" err="1"/>
              <a:t>completion_signal</a:t>
            </a:r>
            <a:r>
              <a:rPr lang="en-US" altLang="zh-TW" sz="1800" dirty="0"/>
              <a:t>;</a:t>
            </a:r>
          </a:p>
          <a:p>
            <a:r>
              <a:rPr lang="en-US" altLang="zh-TW" sz="1800" dirty="0"/>
              <a:t>} </a:t>
            </a:r>
            <a:r>
              <a:rPr lang="en-US" altLang="zh-TW" sz="1800" dirty="0" err="1"/>
              <a:t>hsa_aql_barrier_packet_t</a:t>
            </a:r>
            <a:r>
              <a:rPr lang="en-US" altLang="zh-TW" sz="1800" dirty="0"/>
              <a:t>;</a:t>
            </a:r>
            <a:endParaRPr lang="zh-TW" altLang="en-US" sz="1800" dirty="0" smtClean="0"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80" y="2132856"/>
            <a:ext cx="5751372" cy="3361392"/>
          </a:xfrm>
        </p:spPr>
      </p:pic>
    </p:spTree>
    <p:extLst>
      <p:ext uri="{BB962C8B-B14F-4D97-AF65-F5344CB8AC3E}">
        <p14:creationId xmlns:p14="http://schemas.microsoft.com/office/powerpoint/2010/main" val="3112272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HSAIL Application Binary 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HSAIL ABI specifies the in-memory format for the </a:t>
            </a:r>
            <a:r>
              <a:rPr lang="en-US" altLang="zh-TW" dirty="0" err="1"/>
              <a:t>kernarg</a:t>
            </a:r>
            <a:r>
              <a:rPr lang="en-US" altLang="zh-TW" dirty="0"/>
              <a:t> </a:t>
            </a:r>
            <a:r>
              <a:rPr lang="en-US" altLang="zh-TW" dirty="0" smtClean="0"/>
              <a:t>segments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ABI architects </a:t>
            </a:r>
            <a:r>
              <a:rPr lang="en-US" altLang="zh-TW" dirty="0" smtClean="0"/>
              <a:t>a simple </a:t>
            </a:r>
            <a:r>
              <a:rPr lang="en-US" altLang="zh-TW" dirty="0"/>
              <a:t>set of rules for the size and alignment of the kernel arguments and ensures that all </a:t>
            </a:r>
            <a:r>
              <a:rPr lang="en-US" altLang="zh-TW" dirty="0" smtClean="0"/>
              <a:t>HSA vendors </a:t>
            </a:r>
            <a:r>
              <a:rPr lang="en-US" altLang="zh-TW" dirty="0"/>
              <a:t>use a common argument </a:t>
            </a:r>
            <a:r>
              <a:rPr lang="en-US" altLang="zh-TW" dirty="0" smtClean="0"/>
              <a:t>format </a:t>
            </a:r>
          </a:p>
          <a:p>
            <a:r>
              <a:rPr lang="en-US" altLang="zh-TW" dirty="0" smtClean="0"/>
              <a:t>Users </a:t>
            </a:r>
            <a:r>
              <a:rPr lang="en-US" altLang="zh-TW" dirty="0"/>
              <a:t>and tools can determine the offset of all </a:t>
            </a:r>
            <a:r>
              <a:rPr lang="en-US" altLang="zh-TW" dirty="0" smtClean="0"/>
              <a:t>kernel arguments by </a:t>
            </a:r>
            <a:r>
              <a:rPr lang="en-US" altLang="zh-TW" dirty="0"/>
              <a:t>examining or knowing the kernel signature </a:t>
            </a:r>
            <a:r>
              <a:rPr lang="en-US" altLang="zh-TW" dirty="0" smtClean="0"/>
              <a:t>without </a:t>
            </a:r>
            <a:r>
              <a:rPr lang="en-US" altLang="zh-TW" dirty="0"/>
              <a:t>any runtime feedback </a:t>
            </a:r>
            <a:r>
              <a:rPr lang="en-US" altLang="zh-TW" dirty="0" smtClean="0"/>
              <a:t>or metadata </a:t>
            </a:r>
            <a:r>
              <a:rPr lang="en-US" altLang="zh-TW" dirty="0"/>
              <a:t>from the </a:t>
            </a:r>
            <a:r>
              <a:rPr lang="en-US" altLang="zh-TW" dirty="0" err="1" smtClean="0"/>
              <a:t>finalizer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2866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HSAIL Application Binary 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1520" y="881530"/>
            <a:ext cx="7700912" cy="3416320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uint64_t</a:t>
            </a:r>
            <a:r>
              <a:rPr lang="en-US" altLang="zh-TW" dirty="0"/>
              <a:t>* </a:t>
            </a:r>
            <a:r>
              <a:rPr lang="en-US" altLang="zh-TW" dirty="0" err="1"/>
              <a:t>kernel_arguments</a:t>
            </a:r>
            <a:r>
              <a:rPr lang="en-US" altLang="zh-TW" dirty="0"/>
              <a:t> =</a:t>
            </a:r>
          </a:p>
          <a:p>
            <a:r>
              <a:rPr lang="en-US" altLang="zh-TW" dirty="0" err="1"/>
              <a:t>reinterpret_cast</a:t>
            </a:r>
            <a:r>
              <a:rPr lang="en-US" altLang="zh-TW" dirty="0"/>
              <a:t>&lt;uint64_t *&gt;(</a:t>
            </a:r>
            <a:r>
              <a:rPr lang="en-US" altLang="zh-TW" dirty="0" err="1"/>
              <a:t>malloc</a:t>
            </a:r>
            <a:r>
              <a:rPr lang="en-US" altLang="zh-TW" dirty="0"/>
              <a:t>(</a:t>
            </a:r>
            <a:r>
              <a:rPr lang="en-US" altLang="zh-TW" dirty="0" err="1"/>
              <a:t>argument_size</a:t>
            </a:r>
            <a:r>
              <a:rPr lang="en-US" altLang="zh-TW" dirty="0"/>
              <a:t>));</a:t>
            </a:r>
          </a:p>
          <a:p>
            <a:r>
              <a:rPr lang="en-US" altLang="zh-TW" dirty="0" err="1"/>
              <a:t>memset</a:t>
            </a:r>
            <a:r>
              <a:rPr lang="en-US" altLang="zh-TW" dirty="0"/>
              <a:t>(</a:t>
            </a:r>
            <a:r>
              <a:rPr lang="en-US" altLang="zh-TW" dirty="0" err="1"/>
              <a:t>kernel_arguments</a:t>
            </a:r>
            <a:r>
              <a:rPr lang="en-US" altLang="zh-TW" dirty="0"/>
              <a:t>, 0, </a:t>
            </a:r>
            <a:r>
              <a:rPr lang="en-US" altLang="zh-TW" dirty="0" err="1"/>
              <a:t>argument_size</a:t>
            </a:r>
            <a:r>
              <a:rPr lang="en-US" altLang="zh-TW" dirty="0"/>
              <a:t>);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kernel_arguments</a:t>
            </a:r>
            <a:r>
              <a:rPr lang="en-US" altLang="zh-TW" dirty="0" smtClean="0"/>
              <a:t>[0</a:t>
            </a:r>
            <a:r>
              <a:rPr lang="en-US" altLang="zh-TW" dirty="0"/>
              <a:t>] = (uint64_t)a;</a:t>
            </a:r>
          </a:p>
          <a:p>
            <a:r>
              <a:rPr lang="en-US" altLang="zh-TW" dirty="0" err="1"/>
              <a:t>kernel_arguments</a:t>
            </a:r>
            <a:r>
              <a:rPr lang="en-US" altLang="zh-TW" dirty="0"/>
              <a:t>[1] = (uint64_t)b;</a:t>
            </a:r>
          </a:p>
          <a:p>
            <a:r>
              <a:rPr lang="en-US" altLang="zh-TW" dirty="0" err="1"/>
              <a:t>kernel_arguments</a:t>
            </a:r>
            <a:r>
              <a:rPr lang="en-US" altLang="zh-TW" dirty="0"/>
              <a:t>[2] = (uint64_t)size;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aql_packet.kernarg_address</a:t>
            </a:r>
            <a:r>
              <a:rPr lang="en-US" altLang="zh-TW" dirty="0" smtClean="0"/>
              <a:t> </a:t>
            </a:r>
            <a:r>
              <a:rPr lang="en-US" altLang="zh-TW" dirty="0"/>
              <a:t>= (uint64_t)</a:t>
            </a:r>
            <a:r>
              <a:rPr lang="en-US" altLang="zh-TW" dirty="0" err="1"/>
              <a:t>kernel_arguments</a:t>
            </a:r>
            <a:r>
              <a:rPr lang="en-US" altLang="zh-TW" dirty="0"/>
              <a:t>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788024" y="4324817"/>
            <a:ext cx="4248472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kernel &amp;__</a:t>
            </a:r>
            <a:r>
              <a:rPr lang="en-US" altLang="zh-TW" dirty="0" err="1"/>
              <a:t>vector_copy_kernel</a:t>
            </a:r>
            <a:r>
              <a:rPr lang="en-US" altLang="zh-TW" dirty="0" smtClean="0"/>
              <a:t>(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kernarg_u32 </a:t>
            </a:r>
            <a:r>
              <a:rPr lang="en-US" altLang="zh-TW" dirty="0"/>
              <a:t>%arg_p0,</a:t>
            </a:r>
          </a:p>
          <a:p>
            <a:r>
              <a:rPr lang="en-US" altLang="zh-TW" dirty="0" smtClean="0"/>
              <a:t>    kernarg_u32 </a:t>
            </a:r>
            <a:r>
              <a:rPr lang="en-US" altLang="zh-TW" dirty="0"/>
              <a:t>%arg_p1,</a:t>
            </a:r>
          </a:p>
          <a:p>
            <a:r>
              <a:rPr lang="en-US" altLang="zh-TW" dirty="0" smtClean="0"/>
              <a:t>    kernarg_u32 </a:t>
            </a:r>
            <a:r>
              <a:rPr lang="en-US" altLang="zh-TW" dirty="0"/>
              <a:t>%arg_p2)</a:t>
            </a:r>
          </a:p>
          <a:p>
            <a:r>
              <a:rPr lang="en-US" altLang="zh-TW" dirty="0" smtClean="0"/>
              <a:t>{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…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};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8957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Finalization and Code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Compilation support in the HSA core runtime comprises of two </a:t>
            </a:r>
            <a:r>
              <a:rPr lang="en-US" altLang="zh-TW" dirty="0" smtClean="0"/>
              <a:t>parts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first is the </a:t>
            </a:r>
            <a:r>
              <a:rPr lang="en-US" altLang="zh-TW" dirty="0" smtClean="0"/>
              <a:t>finalization step</a:t>
            </a:r>
            <a:r>
              <a:rPr lang="en-US" altLang="zh-TW" dirty="0"/>
              <a:t>, the primary functionality of this step is to translate the HSAIL to component </a:t>
            </a:r>
            <a:r>
              <a:rPr lang="en-US" altLang="zh-TW" dirty="0" smtClean="0"/>
              <a:t>specific </a:t>
            </a:r>
            <a:r>
              <a:rPr lang="en-US" altLang="zh-TW" dirty="0"/>
              <a:t>instruction set and produce a </a:t>
            </a:r>
            <a:r>
              <a:rPr lang="en-US" altLang="zh-TW" dirty="0" err="1"/>
              <a:t>relocatable</a:t>
            </a:r>
            <a:r>
              <a:rPr lang="en-US" altLang="zh-TW" dirty="0"/>
              <a:t> code </a:t>
            </a:r>
            <a:r>
              <a:rPr lang="en-US" altLang="zh-TW" dirty="0" smtClean="0"/>
              <a:t>object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second part is support for binding, </a:t>
            </a:r>
            <a:r>
              <a:rPr lang="en-US" altLang="zh-TW" dirty="0" smtClean="0"/>
              <a:t>it resolves </a:t>
            </a:r>
            <a:r>
              <a:rPr lang="en-US" altLang="zh-TW" dirty="0"/>
              <a:t>user defined symbols that are not already </a:t>
            </a:r>
            <a:r>
              <a:rPr lang="en-US" altLang="zh-TW" dirty="0" smtClean="0"/>
              <a:t>bound</a:t>
            </a:r>
          </a:p>
        </p:txBody>
      </p:sp>
    </p:spTree>
    <p:extLst>
      <p:ext uri="{BB962C8B-B14F-4D97-AF65-F5344CB8AC3E}">
        <p14:creationId xmlns:p14="http://schemas.microsoft.com/office/powerpoint/2010/main" val="17399865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Finalization and Code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code object in memory can be </a:t>
            </a:r>
            <a:r>
              <a:rPr lang="en-US" altLang="zh-TW" dirty="0" err="1"/>
              <a:t>relocatable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n-US" altLang="zh-TW" dirty="0"/>
              <a:t>position independent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which </a:t>
            </a:r>
            <a:r>
              <a:rPr lang="en-US" altLang="zh-TW" dirty="0"/>
              <a:t>indicates that </a:t>
            </a:r>
            <a:r>
              <a:rPr lang="en-US" altLang="zh-TW" dirty="0" smtClean="0"/>
              <a:t>the object </a:t>
            </a:r>
            <a:r>
              <a:rPr lang="en-US" altLang="zh-TW" dirty="0"/>
              <a:t>can be deep-copied to other memory locations for </a:t>
            </a:r>
            <a:r>
              <a:rPr lang="en-US" altLang="zh-TW" dirty="0" smtClean="0"/>
              <a:t>execution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HSA runtime provides </a:t>
            </a:r>
            <a:r>
              <a:rPr lang="en-US" altLang="zh-TW" dirty="0" smtClean="0"/>
              <a:t>a query </a:t>
            </a:r>
            <a:r>
              <a:rPr lang="en-US" altLang="zh-TW" dirty="0"/>
              <a:t>API to verify if a particular component supports position independent kernel code </a:t>
            </a:r>
            <a:r>
              <a:rPr lang="en-US" altLang="zh-TW" dirty="0" smtClean="0"/>
              <a:t>objects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208303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Group Memory Usage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Group memory can be </a:t>
            </a:r>
            <a:r>
              <a:rPr lang="en-US" altLang="zh-TW" dirty="0" smtClean="0"/>
              <a:t>allocated</a:t>
            </a:r>
          </a:p>
          <a:p>
            <a:pPr lvl="1"/>
            <a:r>
              <a:rPr lang="en-US" altLang="zh-TW" dirty="0" smtClean="0"/>
              <a:t>statically </a:t>
            </a:r>
            <a:r>
              <a:rPr lang="en-US" altLang="zh-TW" dirty="0"/>
              <a:t>when the </a:t>
            </a:r>
            <a:r>
              <a:rPr lang="en-US" altLang="zh-TW" dirty="0" err="1"/>
              <a:t>finalizer</a:t>
            </a:r>
            <a:r>
              <a:rPr lang="en-US" altLang="zh-TW" dirty="0"/>
              <a:t> is </a:t>
            </a:r>
            <a:r>
              <a:rPr lang="en-US" altLang="zh-TW" dirty="0" smtClean="0"/>
              <a:t>called</a:t>
            </a:r>
          </a:p>
          <a:p>
            <a:pPr lvl="1"/>
            <a:r>
              <a:rPr lang="en-US" altLang="zh-TW" dirty="0" smtClean="0"/>
              <a:t>dynamically </a:t>
            </a:r>
            <a:r>
              <a:rPr lang="en-US" altLang="zh-TW" dirty="0"/>
              <a:t>by </a:t>
            </a:r>
            <a:r>
              <a:rPr lang="en-US" altLang="zh-TW" dirty="0" smtClean="0"/>
              <a:t>the user </a:t>
            </a:r>
            <a:r>
              <a:rPr lang="en-US" altLang="zh-TW" dirty="0"/>
              <a:t>at launch </a:t>
            </a:r>
            <a:r>
              <a:rPr lang="en-US" altLang="zh-TW" dirty="0" smtClean="0"/>
              <a:t>time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4855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Group Memory Usage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Static allocation is supported as follows: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b="1" i="1" dirty="0" err="1" smtClean="0"/>
              <a:t>has_finalize_brig</a:t>
            </a:r>
            <a:r>
              <a:rPr lang="en-US" altLang="zh-TW" b="1" dirty="0" smtClean="0"/>
              <a:t> </a:t>
            </a:r>
            <a:r>
              <a:rPr lang="en-US" altLang="zh-TW" dirty="0"/>
              <a:t>routine writes the amount of group memory needed by </a:t>
            </a:r>
            <a:r>
              <a:rPr lang="en-US" altLang="zh-TW" dirty="0" smtClean="0"/>
              <a:t>the finalized </a:t>
            </a:r>
            <a:r>
              <a:rPr lang="en-US" altLang="zh-TW" dirty="0"/>
              <a:t>ISA to the </a:t>
            </a:r>
            <a:r>
              <a:rPr lang="en-US" altLang="zh-TW" i="1" dirty="0" err="1" smtClean="0"/>
              <a:t>has_code_object_t.workgroup_group_segment_size_byte</a:t>
            </a:r>
            <a:r>
              <a:rPr lang="en-US" altLang="zh-TW" i="1" dirty="0" smtClean="0"/>
              <a:t>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user copies the requested group segment usage to the AQL dispatch </a:t>
            </a:r>
            <a:r>
              <a:rPr lang="en-US" altLang="zh-TW" dirty="0" smtClean="0"/>
              <a:t>packet’s </a:t>
            </a:r>
            <a:r>
              <a:rPr lang="en-US" altLang="zh-TW" i="1" dirty="0" err="1" smtClean="0"/>
              <a:t>hsa_aql_dispatch_packet_t.group_segment_size_bytes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packet processor reads the group memory usage field and reserves the </a:t>
            </a:r>
            <a:r>
              <a:rPr lang="en-US" altLang="zh-TW" dirty="0" smtClean="0"/>
              <a:t>required resources </a:t>
            </a:r>
            <a:r>
              <a:rPr lang="en-US" altLang="zh-TW" dirty="0"/>
              <a:t>at dispatch </a:t>
            </a:r>
            <a:r>
              <a:rPr lang="en-US" altLang="zh-TW" dirty="0" smtClean="0"/>
              <a:t>time</a:t>
            </a:r>
            <a:endParaRPr lang="en-US" altLang="zh-TW" dirty="0"/>
          </a:p>
          <a:p>
            <a:pPr lvl="1"/>
            <a:r>
              <a:rPr lang="en-US" altLang="zh-TW" dirty="0" smtClean="0"/>
              <a:t>Statically </a:t>
            </a:r>
            <a:r>
              <a:rPr lang="en-US" altLang="zh-TW" dirty="0"/>
              <a:t>allocated group memory starts at a segment offset of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74299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Group Memory Usage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895850"/>
          </a:xfrm>
        </p:spPr>
        <p:txBody>
          <a:bodyPr/>
          <a:lstStyle/>
          <a:p>
            <a:r>
              <a:rPr lang="en-US" altLang="zh-TW" dirty="0"/>
              <a:t>Dynamically allocated group memory allows the user to specify the group memory size when </a:t>
            </a:r>
            <a:r>
              <a:rPr lang="en-US" altLang="zh-TW" dirty="0" smtClean="0"/>
              <a:t>the kernel </a:t>
            </a:r>
            <a:r>
              <a:rPr lang="en-US" altLang="zh-TW" dirty="0"/>
              <a:t>is </a:t>
            </a:r>
            <a:r>
              <a:rPr lang="en-US" altLang="zh-TW" dirty="0" smtClean="0"/>
              <a:t>launched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user manually calculates the offset for each </a:t>
            </a:r>
            <a:r>
              <a:rPr lang="en-US" altLang="zh-TW" dirty="0" smtClean="0"/>
              <a:t>kernel argument and </a:t>
            </a:r>
            <a:r>
              <a:rPr lang="en-US" altLang="zh-TW" dirty="0"/>
              <a:t>passes these as arguments to </a:t>
            </a:r>
            <a:r>
              <a:rPr lang="en-US" altLang="zh-TW" dirty="0" smtClean="0"/>
              <a:t>the HSAIL kernel:</a:t>
            </a:r>
            <a:endParaRPr lang="en-US" altLang="zh-TW" dirty="0"/>
          </a:p>
          <a:p>
            <a:pPr lvl="1"/>
            <a:r>
              <a:rPr lang="en-US" altLang="zh-TW" dirty="0" smtClean="0"/>
              <a:t>As </a:t>
            </a:r>
            <a:r>
              <a:rPr lang="en-US" altLang="zh-TW" dirty="0"/>
              <a:t>above, the </a:t>
            </a:r>
            <a:r>
              <a:rPr lang="en-US" altLang="zh-TW" i="1" dirty="0" err="1" smtClean="0"/>
              <a:t>hsa_finalize_brig</a:t>
            </a:r>
            <a:r>
              <a:rPr lang="en-US" altLang="zh-TW" dirty="0" smtClean="0"/>
              <a:t> </a:t>
            </a:r>
            <a:r>
              <a:rPr lang="en-US" altLang="zh-TW" dirty="0"/>
              <a:t>routine returns the requested static group </a:t>
            </a:r>
            <a:r>
              <a:rPr lang="en-US" altLang="zh-TW" dirty="0" smtClean="0"/>
              <a:t>allocation</a:t>
            </a:r>
            <a:endParaRPr lang="en-US" altLang="zh-TW" dirty="0"/>
          </a:p>
          <a:p>
            <a:pPr lvl="1"/>
            <a:r>
              <a:rPr lang="en-US" altLang="zh-TW" dirty="0" smtClean="0"/>
              <a:t>HSAIL will use standard 32-bit arguments to specify group segment offsets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user must set the </a:t>
            </a:r>
            <a:r>
              <a:rPr lang="en-US" altLang="zh-TW" dirty="0" smtClean="0"/>
              <a:t>AQL dispatch packet’s </a:t>
            </a:r>
            <a:r>
              <a:rPr lang="en-US" altLang="zh-TW" i="1" dirty="0" err="1" smtClean="0"/>
              <a:t>hsa_aql_dispatch</a:t>
            </a:r>
            <a:r>
              <a:rPr lang="en-US" altLang="zh-TW" i="1" dirty="0" err="1"/>
              <a:t>_</a:t>
            </a:r>
            <a:r>
              <a:rPr lang="en-US" altLang="zh-TW" i="1" dirty="0" err="1" smtClean="0"/>
              <a:t>packet</a:t>
            </a:r>
            <a:r>
              <a:rPr lang="en-US" altLang="zh-TW" i="1" dirty="0" smtClean="0"/>
              <a:t> </a:t>
            </a:r>
            <a:r>
              <a:rPr lang="en-US" altLang="zh-TW" i="1" dirty="0" err="1" smtClean="0"/>
              <a:t>t.group_segment_size_bytes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9495932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Group Memory Usage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91965" y="2239446"/>
            <a:ext cx="8952035" cy="4524315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sz="2000" dirty="0"/>
              <a:t>uint64_t* </a:t>
            </a:r>
            <a:r>
              <a:rPr lang="en-US" altLang="zh-TW" sz="2000" dirty="0" err="1"/>
              <a:t>kernel_arguments</a:t>
            </a:r>
            <a:r>
              <a:rPr lang="en-US" altLang="zh-TW" sz="2000" dirty="0"/>
              <a:t> =</a:t>
            </a:r>
          </a:p>
          <a:p>
            <a:r>
              <a:rPr lang="en-US" altLang="zh-TW" sz="2000" dirty="0" err="1"/>
              <a:t>reinterpret_cast</a:t>
            </a:r>
            <a:r>
              <a:rPr lang="en-US" altLang="zh-TW" sz="2000" dirty="0"/>
              <a:t>&lt;uint64_t *&gt;(</a:t>
            </a:r>
            <a:r>
              <a:rPr lang="en-US" altLang="zh-TW" sz="2000" dirty="0" err="1"/>
              <a:t>malloc</a:t>
            </a:r>
            <a:r>
              <a:rPr lang="en-US" altLang="zh-TW" sz="2000" dirty="0"/>
              <a:t>(</a:t>
            </a:r>
            <a:r>
              <a:rPr lang="en-US" altLang="zh-TW" sz="2000" dirty="0" err="1"/>
              <a:t>argument_size</a:t>
            </a:r>
            <a:r>
              <a:rPr lang="en-US" altLang="zh-TW" sz="2000" dirty="0"/>
              <a:t>));</a:t>
            </a:r>
          </a:p>
          <a:p>
            <a:r>
              <a:rPr lang="en-US" altLang="zh-TW" sz="2000" dirty="0" err="1"/>
              <a:t>memset</a:t>
            </a:r>
            <a:r>
              <a:rPr lang="en-US" altLang="zh-TW" sz="2000" dirty="0"/>
              <a:t>(</a:t>
            </a:r>
            <a:r>
              <a:rPr lang="en-US" altLang="zh-TW" sz="2000" dirty="0" err="1"/>
              <a:t>kernel_arguments</a:t>
            </a:r>
            <a:r>
              <a:rPr lang="en-US" altLang="zh-TW" sz="2000" dirty="0"/>
              <a:t>, 0, </a:t>
            </a:r>
            <a:r>
              <a:rPr lang="en-US" altLang="zh-TW" sz="2000" dirty="0" err="1"/>
              <a:t>argument_size</a:t>
            </a:r>
            <a:r>
              <a:rPr lang="en-US" altLang="zh-TW" sz="2000" dirty="0" smtClean="0"/>
              <a:t>);</a:t>
            </a:r>
          </a:p>
          <a:p>
            <a:endParaRPr lang="en-US" altLang="zh-TW" sz="2000" dirty="0" smtClean="0"/>
          </a:p>
          <a:p>
            <a:r>
              <a:rPr lang="en-US" altLang="zh-TW" sz="2000" dirty="0" err="1"/>
              <a:t>kernel_arguments</a:t>
            </a:r>
            <a:r>
              <a:rPr lang="en-US" altLang="zh-TW" sz="2000" dirty="0"/>
              <a:t>[0] =</a:t>
            </a:r>
          </a:p>
          <a:p>
            <a:r>
              <a:rPr lang="en-US" altLang="zh-TW" sz="2000" dirty="0" err="1"/>
              <a:t>kernel_object_ptr</a:t>
            </a:r>
            <a:r>
              <a:rPr lang="en-US" altLang="zh-TW" sz="2000" dirty="0"/>
              <a:t>-&gt;</a:t>
            </a:r>
            <a:r>
              <a:rPr lang="en-US" altLang="zh-TW" sz="2000" dirty="0" err="1"/>
              <a:t>workgroup_group_segment_size_bytes</a:t>
            </a:r>
            <a:r>
              <a:rPr lang="en-US" altLang="zh-TW" sz="2000" dirty="0"/>
              <a:t>;</a:t>
            </a:r>
          </a:p>
          <a:p>
            <a:r>
              <a:rPr lang="en-US" altLang="zh-TW" sz="2000" dirty="0" err="1"/>
              <a:t>kernel_arguments</a:t>
            </a:r>
            <a:r>
              <a:rPr lang="en-US" altLang="zh-TW" sz="2000" dirty="0"/>
              <a:t>[1] =</a:t>
            </a:r>
          </a:p>
          <a:p>
            <a:r>
              <a:rPr lang="en-US" altLang="zh-TW" sz="2000" dirty="0" err="1" smtClean="0"/>
              <a:t>kernel_object_ptr</a:t>
            </a:r>
            <a:r>
              <a:rPr lang="en-US" altLang="zh-TW" sz="2000" dirty="0" smtClean="0"/>
              <a:t>-&gt;workgroup_group_segment_size_bytes+size1</a:t>
            </a:r>
            <a:r>
              <a:rPr lang="en-US" altLang="zh-TW" sz="2000" dirty="0"/>
              <a:t>;</a:t>
            </a:r>
          </a:p>
          <a:p>
            <a:r>
              <a:rPr lang="en-US" altLang="zh-TW" sz="2000" dirty="0" err="1"/>
              <a:t>kernel_arguments</a:t>
            </a:r>
            <a:r>
              <a:rPr lang="en-US" altLang="zh-TW" sz="2000" dirty="0"/>
              <a:t>[2] =</a:t>
            </a:r>
          </a:p>
          <a:p>
            <a:r>
              <a:rPr lang="en-US" altLang="zh-TW" sz="2000" dirty="0" err="1"/>
              <a:t>kernel_object_ptr</a:t>
            </a:r>
            <a:r>
              <a:rPr lang="en-US" altLang="zh-TW" sz="2000" dirty="0"/>
              <a:t>-</a:t>
            </a:r>
            <a:r>
              <a:rPr lang="en-US" altLang="zh-TW" sz="2000" dirty="0" smtClean="0"/>
              <a:t>&gt; workgroup_group_segment_size_bytes+size1+size2;</a:t>
            </a:r>
          </a:p>
          <a:p>
            <a:endParaRPr lang="en-US" altLang="zh-TW" sz="2000" dirty="0" smtClean="0"/>
          </a:p>
          <a:p>
            <a:r>
              <a:rPr lang="en-US" altLang="zh-TW" sz="2000" dirty="0" err="1"/>
              <a:t>aql_packet.group_segment_size_bytes</a:t>
            </a:r>
            <a:r>
              <a:rPr lang="en-US" altLang="zh-TW" sz="2000" dirty="0"/>
              <a:t> = </a:t>
            </a:r>
            <a:r>
              <a:rPr lang="en-US" altLang="zh-TW" sz="2000" dirty="0" err="1"/>
              <a:t>kernel.group_memory_usage</a:t>
            </a:r>
            <a:r>
              <a:rPr lang="en-US" altLang="zh-TW" sz="2000" dirty="0"/>
              <a:t> +</a:t>
            </a:r>
          </a:p>
          <a:p>
            <a:r>
              <a:rPr lang="en-US" altLang="zh-TW" sz="2000" dirty="0"/>
              <a:t>size1 +</a:t>
            </a:r>
          </a:p>
          <a:p>
            <a:r>
              <a:rPr lang="en-US" altLang="zh-TW" sz="2000" dirty="0"/>
              <a:t>size2 + size3;</a:t>
            </a:r>
            <a:endParaRPr lang="zh-TW" altLang="en-US" sz="20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340394" y="176292"/>
            <a:ext cx="3647336" cy="2031325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sz="1800" dirty="0"/>
              <a:t>kernel &amp;</a:t>
            </a:r>
            <a:r>
              <a:rPr lang="en-US" altLang="zh-TW" sz="1800" dirty="0" err="1"/>
              <a:t>myDynamicGroupMemKernel</a:t>
            </a:r>
            <a:r>
              <a:rPr lang="en-US" altLang="zh-TW" sz="1800" dirty="0"/>
              <a:t> (</a:t>
            </a:r>
          </a:p>
          <a:p>
            <a:r>
              <a:rPr lang="en-US" altLang="zh-TW" sz="1800" dirty="0"/>
              <a:t>kernarg_u32 %groupOffset0,</a:t>
            </a:r>
          </a:p>
          <a:p>
            <a:r>
              <a:rPr lang="en-US" altLang="zh-TW" sz="1800" dirty="0"/>
              <a:t>kernarg_u32 %groupOffset1,</a:t>
            </a:r>
          </a:p>
          <a:p>
            <a:r>
              <a:rPr lang="en-US" altLang="zh-TW" sz="1800" dirty="0"/>
              <a:t>kernarg_u32 %groupOffset2,</a:t>
            </a:r>
          </a:p>
          <a:p>
            <a:r>
              <a:rPr lang="en-US" altLang="zh-TW" sz="1800" dirty="0"/>
              <a:t>kernarg_u32 %foo)</a:t>
            </a:r>
          </a:p>
          <a:p>
            <a:r>
              <a:rPr lang="en-US" altLang="zh-TW" sz="1800" dirty="0" smtClean="0"/>
              <a:t>{ …</a:t>
            </a:r>
            <a:endParaRPr lang="zh-TW" altLang="en-US" sz="1800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6059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Memory Registration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One of the key features of HSA is its ability to share global pointers between the host </a:t>
            </a:r>
            <a:r>
              <a:rPr lang="en-US" altLang="zh-TW" dirty="0" smtClean="0"/>
              <a:t>application and </a:t>
            </a:r>
            <a:r>
              <a:rPr lang="en-US" altLang="zh-TW" dirty="0"/>
              <a:t>code executing on the </a:t>
            </a:r>
            <a:r>
              <a:rPr lang="en-US" altLang="zh-TW" dirty="0" smtClean="0"/>
              <a:t>device</a:t>
            </a:r>
          </a:p>
          <a:p>
            <a:r>
              <a:rPr lang="en-US" altLang="zh-TW" dirty="0" smtClean="0"/>
              <a:t>An </a:t>
            </a:r>
            <a:r>
              <a:rPr lang="en-US" altLang="zh-TW" dirty="0"/>
              <a:t>application can directly pass a </a:t>
            </a:r>
            <a:r>
              <a:rPr lang="en-US" altLang="zh-TW" dirty="0" smtClean="0"/>
              <a:t>pointer to </a:t>
            </a:r>
            <a:r>
              <a:rPr lang="en-US" altLang="zh-TW" dirty="0"/>
              <a:t>memory allocated on the host to a kernel function dispatched to a device without </a:t>
            </a:r>
            <a:r>
              <a:rPr lang="en-US" altLang="zh-TW" dirty="0" smtClean="0"/>
              <a:t>an intermediate copy</a:t>
            </a:r>
          </a:p>
          <a:p>
            <a:r>
              <a:rPr lang="en-US" altLang="zh-TW" dirty="0" smtClean="0"/>
              <a:t>When </a:t>
            </a:r>
            <a:r>
              <a:rPr lang="en-US" altLang="zh-TW" dirty="0"/>
              <a:t>a buffer will be accessed by a kernel running on a HSA device, programmers </a:t>
            </a:r>
            <a:r>
              <a:rPr lang="en-US" altLang="zh-TW" dirty="0" smtClean="0"/>
              <a:t>are encouraged </a:t>
            </a:r>
            <a:r>
              <a:rPr lang="en-US" altLang="zh-TW" dirty="0"/>
              <a:t>to register the corresponding address </a:t>
            </a:r>
            <a:r>
              <a:rPr lang="en-US" altLang="zh-TW" dirty="0" smtClean="0"/>
              <a:t>range beforehand </a:t>
            </a:r>
            <a:r>
              <a:rPr lang="en-US" altLang="zh-TW" dirty="0"/>
              <a:t>by using the appropriate </a:t>
            </a:r>
            <a:r>
              <a:rPr lang="en-US" altLang="zh-TW" dirty="0" smtClean="0"/>
              <a:t>HSA core </a:t>
            </a:r>
            <a:r>
              <a:rPr lang="en-US" altLang="zh-TW" dirty="0"/>
              <a:t>API </a:t>
            </a:r>
            <a:r>
              <a:rPr lang="en-US" altLang="zh-TW" dirty="0" smtClean="0"/>
              <a:t>invocation</a:t>
            </a:r>
          </a:p>
        </p:txBody>
      </p:sp>
    </p:spTree>
    <p:extLst>
      <p:ext uri="{BB962C8B-B14F-4D97-AF65-F5344CB8AC3E}">
        <p14:creationId xmlns:p14="http://schemas.microsoft.com/office/powerpoint/2010/main" val="1568958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Memory Registration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While </a:t>
            </a:r>
            <a:r>
              <a:rPr lang="en-US" altLang="zh-TW" dirty="0"/>
              <a:t>kernels running on HSA devices can access any valid system </a:t>
            </a:r>
            <a:r>
              <a:rPr lang="en-US" altLang="zh-TW" dirty="0" smtClean="0"/>
              <a:t>memory pointer </a:t>
            </a:r>
            <a:r>
              <a:rPr lang="en-US" altLang="zh-TW" dirty="0"/>
              <a:t>allocated by means of standard libraries (for example, </a:t>
            </a:r>
            <a:r>
              <a:rPr lang="en-US" altLang="zh-TW" dirty="0" err="1"/>
              <a:t>malloc</a:t>
            </a:r>
            <a:r>
              <a:rPr lang="en-US" altLang="zh-TW" dirty="0"/>
              <a:t> in the C language) </a:t>
            </a:r>
            <a:r>
              <a:rPr lang="en-US" altLang="zh-TW" dirty="0" smtClean="0"/>
              <a:t>without resorting </a:t>
            </a:r>
            <a:r>
              <a:rPr lang="en-US" altLang="zh-TW" dirty="0"/>
              <a:t>to registration, there might be a performance benefit from registering the buffer with </a:t>
            </a:r>
            <a:r>
              <a:rPr lang="en-US" altLang="zh-TW" dirty="0" smtClean="0"/>
              <a:t>the HSA </a:t>
            </a:r>
            <a:r>
              <a:rPr lang="en-US" altLang="zh-TW" dirty="0"/>
              <a:t>core </a:t>
            </a:r>
            <a:r>
              <a:rPr lang="en-US" altLang="zh-TW" dirty="0" smtClean="0"/>
              <a:t>component</a:t>
            </a:r>
          </a:p>
          <a:p>
            <a:r>
              <a:rPr lang="en-US" altLang="zh-TW" dirty="0" smtClean="0"/>
              <a:t>When </a:t>
            </a:r>
            <a:r>
              <a:rPr lang="en-US" altLang="zh-TW" dirty="0"/>
              <a:t>an HSA program no longer needs to access a registered buffer in </a:t>
            </a:r>
            <a:r>
              <a:rPr lang="en-US" altLang="zh-TW" dirty="0" smtClean="0"/>
              <a:t>a device</a:t>
            </a:r>
            <a:r>
              <a:rPr lang="en-US" altLang="zh-TW" dirty="0"/>
              <a:t>, the user should deregister that virtual address range by using the appropriate HSA </a:t>
            </a:r>
            <a:r>
              <a:rPr lang="en-US" altLang="zh-TW" dirty="0" smtClean="0"/>
              <a:t>core API invocation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61093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Registration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99592" y="2003803"/>
            <a:ext cx="7344816" cy="1569660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void* </a:t>
            </a:r>
            <a:r>
              <a:rPr lang="en-US" altLang="zh-TW" dirty="0" err="1"/>
              <a:t>ptr</a:t>
            </a:r>
            <a:r>
              <a:rPr lang="en-US" altLang="zh-TW" dirty="0"/>
              <a:t> = </a:t>
            </a:r>
            <a:r>
              <a:rPr lang="en-US" altLang="zh-TW" dirty="0" err="1"/>
              <a:t>malloc</a:t>
            </a:r>
            <a:r>
              <a:rPr lang="en-US" altLang="zh-TW" dirty="0"/>
              <a:t>(16);</a:t>
            </a:r>
          </a:p>
          <a:p>
            <a:r>
              <a:rPr lang="en-US" altLang="zh-TW" dirty="0"/>
              <a:t>status = </a:t>
            </a:r>
            <a:r>
              <a:rPr lang="en-US" altLang="zh-TW" b="1" dirty="0" err="1"/>
              <a:t>hsa_memory_register</a:t>
            </a:r>
            <a:r>
              <a:rPr lang="en-US" altLang="zh-TW" dirty="0"/>
              <a:t>(</a:t>
            </a:r>
            <a:r>
              <a:rPr lang="en-US" altLang="zh-TW" dirty="0" err="1"/>
              <a:t>ptr</a:t>
            </a:r>
            <a:r>
              <a:rPr lang="en-US" altLang="zh-TW" dirty="0"/>
              <a:t>, 8);</a:t>
            </a:r>
          </a:p>
          <a:p>
            <a:r>
              <a:rPr lang="en-US" altLang="zh-TW" dirty="0"/>
              <a:t>if(status == HSA_STATUS_ERROR_INVALID_ARGUMENT)</a:t>
            </a:r>
          </a:p>
          <a:p>
            <a:r>
              <a:rPr lang="en-US" altLang="zh-TW" dirty="0" err="1"/>
              <a:t>handle_error</a:t>
            </a:r>
            <a:r>
              <a:rPr lang="en-US" altLang="zh-TW" dirty="0"/>
              <a:t>(status);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739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Component Local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Component local memory is a memory type that is dedicated specifically for a particular </a:t>
            </a:r>
            <a:r>
              <a:rPr lang="en-US" altLang="zh-TW" dirty="0" smtClean="0"/>
              <a:t>HSA component</a:t>
            </a:r>
          </a:p>
          <a:p>
            <a:r>
              <a:rPr lang="en-US" altLang="zh-TW" dirty="0" smtClean="0"/>
              <a:t>This </a:t>
            </a:r>
            <a:r>
              <a:rPr lang="en-US" altLang="zh-TW" dirty="0"/>
              <a:t>memory could provide higher bandwidth for component access </a:t>
            </a:r>
            <a:r>
              <a:rPr lang="en-US" altLang="zh-TW" dirty="0" smtClean="0"/>
              <a:t>than system memory </a:t>
            </a:r>
          </a:p>
          <a:p>
            <a:r>
              <a:rPr lang="en-US" altLang="zh-TW" dirty="0" smtClean="0"/>
              <a:t>Host </a:t>
            </a:r>
            <a:r>
              <a:rPr lang="en-US" altLang="zh-TW" dirty="0"/>
              <a:t>might not be able to access it </a:t>
            </a:r>
            <a:r>
              <a:rPr lang="en-US" altLang="zh-TW" dirty="0" smtClean="0"/>
              <a:t>directly</a:t>
            </a:r>
            <a:endParaRPr lang="en-US" altLang="zh-TW" dirty="0"/>
          </a:p>
          <a:p>
            <a:r>
              <a:rPr lang="en-US" altLang="zh-TW" dirty="0"/>
              <a:t>HSA provides host interface to allocate/</a:t>
            </a:r>
            <a:r>
              <a:rPr lang="en-US" altLang="zh-TW" dirty="0" err="1"/>
              <a:t>deallocate</a:t>
            </a:r>
            <a:r>
              <a:rPr lang="en-US" altLang="zh-TW" dirty="0"/>
              <a:t> and access component local </a:t>
            </a:r>
            <a:r>
              <a:rPr lang="en-US" altLang="zh-TW" dirty="0" smtClean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4975465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 Local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result of the allocation is a pointer to an address in application processes address space, which can be accessed directly by the component during kernel </a:t>
            </a:r>
            <a:r>
              <a:rPr lang="en-US" altLang="zh-TW" dirty="0" smtClean="0"/>
              <a:t>execution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87524" y="3343732"/>
            <a:ext cx="8568952" cy="2677656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/>
              <a:t>const</a:t>
            </a:r>
            <a:r>
              <a:rPr lang="en-US" altLang="zh-TW" dirty="0"/>
              <a:t> </a:t>
            </a:r>
            <a:r>
              <a:rPr lang="en-US" altLang="zh-TW" dirty="0" err="1"/>
              <a:t>size_t</a:t>
            </a:r>
            <a:r>
              <a:rPr lang="en-US" altLang="zh-TW" dirty="0"/>
              <a:t> DATA_SIZE = 1024;</a:t>
            </a:r>
          </a:p>
          <a:p>
            <a:r>
              <a:rPr lang="en-US" altLang="zh-TW" dirty="0"/>
              <a:t>void* </a:t>
            </a:r>
            <a:r>
              <a:rPr lang="en-US" altLang="zh-TW" dirty="0" err="1"/>
              <a:t>src_ptr</a:t>
            </a:r>
            <a:r>
              <a:rPr lang="en-US" altLang="zh-TW" dirty="0"/>
              <a:t> = </a:t>
            </a:r>
            <a:r>
              <a:rPr lang="en-US" altLang="zh-TW" dirty="0" err="1"/>
              <a:t>malloc</a:t>
            </a:r>
            <a:r>
              <a:rPr lang="en-US" altLang="zh-TW" dirty="0"/>
              <a:t>(DATA_SIZE);</a:t>
            </a:r>
          </a:p>
          <a:p>
            <a:r>
              <a:rPr lang="en-US" altLang="zh-TW" dirty="0"/>
              <a:t>void* </a:t>
            </a:r>
            <a:r>
              <a:rPr lang="en-US" altLang="zh-TW" dirty="0" err="1"/>
              <a:t>dest_ptr</a:t>
            </a:r>
            <a:r>
              <a:rPr lang="en-US" altLang="zh-TW" dirty="0"/>
              <a:t> = NULL;</a:t>
            </a:r>
          </a:p>
          <a:p>
            <a:r>
              <a:rPr lang="en-US" altLang="zh-TW" b="1" dirty="0" err="1"/>
              <a:t>hsa_memory_allocate_component_local</a:t>
            </a:r>
            <a:r>
              <a:rPr lang="en-US" altLang="zh-TW" dirty="0"/>
              <a:t>(DATA_SIZE, device, &amp;</a:t>
            </a:r>
            <a:r>
              <a:rPr lang="en-US" altLang="zh-TW" dirty="0" err="1"/>
              <a:t>dest_ptr</a:t>
            </a:r>
            <a:r>
              <a:rPr lang="en-US" altLang="zh-TW" dirty="0"/>
              <a:t>);</a:t>
            </a:r>
          </a:p>
          <a:p>
            <a:r>
              <a:rPr lang="en-US" altLang="zh-TW" b="1" dirty="0" err="1"/>
              <a:t>hsa_memory_copy_component_local_to_system</a:t>
            </a:r>
            <a:r>
              <a:rPr lang="en-US" altLang="zh-TW" dirty="0"/>
              <a:t>(</a:t>
            </a:r>
            <a:r>
              <a:rPr lang="en-US" altLang="zh-TW" dirty="0" err="1"/>
              <a:t>dest_ptr</a:t>
            </a:r>
            <a:r>
              <a:rPr lang="en-US" altLang="zh-TW" dirty="0"/>
              <a:t>, </a:t>
            </a:r>
            <a:r>
              <a:rPr lang="en-US" altLang="zh-TW" dirty="0" err="1"/>
              <a:t>src_ptr</a:t>
            </a:r>
            <a:r>
              <a:rPr lang="en-US" altLang="zh-TW" dirty="0"/>
              <a:t>,</a:t>
            </a:r>
          </a:p>
          <a:p>
            <a:r>
              <a:rPr lang="en-US" altLang="zh-TW" dirty="0"/>
              <a:t>DATA_SIZE);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835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Execution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 per the systems architecture specification, HSA system must support debugging of a </a:t>
            </a:r>
            <a:r>
              <a:rPr lang="en-US" altLang="zh-TW" dirty="0" smtClean="0"/>
              <a:t>HSAIL kernel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”block” section </a:t>
            </a:r>
            <a:r>
              <a:rPr lang="en-US" altLang="zh-TW" dirty="0" smtClean="0"/>
              <a:t>could hold </a:t>
            </a:r>
            <a:r>
              <a:rPr lang="en-US" altLang="zh-TW" dirty="0"/>
              <a:t>debug data and such a section can be placed even within a </a:t>
            </a:r>
            <a:r>
              <a:rPr lang="en-US" altLang="zh-TW" dirty="0" smtClean="0"/>
              <a:t>function</a:t>
            </a:r>
          </a:p>
          <a:p>
            <a:r>
              <a:rPr lang="en-US" altLang="zh-TW" dirty="0" smtClean="0"/>
              <a:t>This </a:t>
            </a:r>
            <a:r>
              <a:rPr lang="en-US" altLang="zh-TW" dirty="0"/>
              <a:t>allows </a:t>
            </a:r>
            <a:r>
              <a:rPr lang="en-US" altLang="zh-TW" dirty="0" smtClean="0"/>
              <a:t>the high-level </a:t>
            </a:r>
            <a:r>
              <a:rPr lang="en-US" altLang="zh-TW" dirty="0"/>
              <a:t>compiler that generates HSAIL to embed debug specific </a:t>
            </a:r>
            <a:r>
              <a:rPr lang="en-US" altLang="zh-TW" dirty="0" smtClean="0"/>
              <a:t>information</a:t>
            </a:r>
          </a:p>
          <a:p>
            <a:r>
              <a:rPr lang="en-US" altLang="zh-TW" dirty="0" smtClean="0"/>
              <a:t>This information makes </a:t>
            </a:r>
            <a:r>
              <a:rPr lang="en-US" altLang="zh-TW" dirty="0"/>
              <a:t>its way into the ”.debug” section in the brig. 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014106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Execution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This </a:t>
            </a:r>
            <a:r>
              <a:rPr lang="en-US" altLang="zh-TW" dirty="0"/>
              <a:t>information can be used for associating </a:t>
            </a:r>
            <a:r>
              <a:rPr lang="en-US" altLang="zh-TW" dirty="0" smtClean="0"/>
              <a:t>a HSAIL </a:t>
            </a:r>
            <a:r>
              <a:rPr lang="en-US" altLang="zh-TW" dirty="0"/>
              <a:t>level instruction to the higher level </a:t>
            </a:r>
            <a:r>
              <a:rPr lang="en-US" altLang="zh-TW" dirty="0" smtClean="0"/>
              <a:t>functionality</a:t>
            </a:r>
          </a:p>
          <a:p>
            <a:r>
              <a:rPr lang="en-US" altLang="zh-TW" b="1" i="1" dirty="0" smtClean="0"/>
              <a:t>debugtrap_u32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that halts </a:t>
            </a:r>
            <a:r>
              <a:rPr lang="en-US" altLang="zh-TW" dirty="0"/>
              <a:t>the current </a:t>
            </a:r>
            <a:r>
              <a:rPr lang="en-US" altLang="zh-TW" dirty="0" err="1"/>
              <a:t>wavefront</a:t>
            </a:r>
            <a:r>
              <a:rPr lang="en-US" altLang="zh-TW" dirty="0"/>
              <a:t> and transfers control to the </a:t>
            </a:r>
            <a:r>
              <a:rPr lang="en-US" altLang="zh-TW" dirty="0" smtClean="0"/>
              <a:t>agent</a:t>
            </a:r>
          </a:p>
          <a:p>
            <a:r>
              <a:rPr lang="en-US" altLang="zh-TW" dirty="0" smtClean="0"/>
              <a:t>The single operand </a:t>
            </a:r>
            <a:r>
              <a:rPr lang="en-US" altLang="zh-TW" dirty="0"/>
              <a:t>to </a:t>
            </a:r>
            <a:r>
              <a:rPr lang="en-US" altLang="zh-TW" b="1" i="1" dirty="0" smtClean="0"/>
              <a:t>debugtrap_u32</a:t>
            </a:r>
            <a:r>
              <a:rPr lang="en-US" altLang="zh-TW" dirty="0"/>
              <a:t>, ”</a:t>
            </a:r>
            <a:r>
              <a:rPr lang="en-US" altLang="zh-TW" dirty="0" err="1"/>
              <a:t>src</a:t>
            </a:r>
            <a:r>
              <a:rPr lang="en-US" altLang="zh-TW" dirty="0"/>
              <a:t>” is passed to the agent and can be used to identify the </a:t>
            </a:r>
            <a:r>
              <a:rPr lang="en-US" altLang="zh-TW" dirty="0" smtClean="0"/>
              <a:t>trap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8042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Execution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69522" y="856357"/>
            <a:ext cx="8604956" cy="6001643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assert (HSA_STATUS_SUCCESS ==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hsa_signal_wait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queue_ptr</a:t>
            </a:r>
            <a:r>
              <a:rPr lang="en-US" altLang="zh-TW" dirty="0" smtClean="0"/>
              <a:t>-</a:t>
            </a:r>
            <a:r>
              <a:rPr lang="en-US" altLang="zh-TW" dirty="0"/>
              <a:t>&gt;</a:t>
            </a:r>
            <a:r>
              <a:rPr lang="en-US" altLang="zh-TW" dirty="0" err="1"/>
              <a:t>mailbox_signal</a:t>
            </a:r>
            <a:r>
              <a:rPr lang="en-US" altLang="zh-TW" dirty="0"/>
              <a:t>,</a:t>
            </a:r>
          </a:p>
          <a:p>
            <a:r>
              <a:rPr lang="en-US" altLang="zh-TW" dirty="0" smtClean="0"/>
              <a:t>    HSA_GREATER_EQUALS</a:t>
            </a:r>
            <a:r>
              <a:rPr lang="en-US" altLang="zh-TW" dirty="0"/>
              <a:t>, 1));</a:t>
            </a:r>
          </a:p>
          <a:p>
            <a:r>
              <a:rPr lang="en-US" altLang="zh-TW" dirty="0"/>
              <a:t>for(</a:t>
            </a:r>
            <a:r>
              <a:rPr lang="en-US" altLang="zh-TW" dirty="0" err="1"/>
              <a:t>i</a:t>
            </a:r>
            <a:r>
              <a:rPr lang="en-US" altLang="zh-TW" dirty="0"/>
              <a:t> = 0; </a:t>
            </a:r>
            <a:r>
              <a:rPr lang="en-US" altLang="zh-TW" dirty="0" err="1"/>
              <a:t>i</a:t>
            </a:r>
            <a:r>
              <a:rPr lang="en-US" altLang="zh-TW" dirty="0"/>
              <a:t> &lt; queue-&gt;</a:t>
            </a:r>
            <a:r>
              <a:rPr lang="en-US" altLang="zh-TW" dirty="0" err="1"/>
              <a:t>active_group_global_count</a:t>
            </a:r>
            <a:r>
              <a:rPr lang="en-US" altLang="zh-TW" dirty="0"/>
              <a:t>; </a:t>
            </a:r>
            <a:r>
              <a:rPr lang="en-US" altLang="zh-TW" dirty="0" err="1"/>
              <a:t>i</a:t>
            </a:r>
            <a:r>
              <a:rPr lang="en-US" altLang="zh-TW" dirty="0"/>
              <a:t>++) {</a:t>
            </a:r>
          </a:p>
          <a:p>
            <a:r>
              <a:rPr lang="en-US" altLang="zh-TW" dirty="0" smtClean="0"/>
              <a:t>    assert(HSA_STATUS_SUCCESS </a:t>
            </a:r>
            <a:r>
              <a:rPr lang="en-US" altLang="zh-TW" dirty="0"/>
              <a:t>==</a:t>
            </a:r>
          </a:p>
          <a:p>
            <a:r>
              <a:rPr lang="en-US" altLang="zh-TW" b="1" dirty="0" smtClean="0"/>
              <a:t>        </a:t>
            </a:r>
            <a:r>
              <a:rPr lang="en-US" altLang="zh-TW" b="1" dirty="0" err="1" smtClean="0"/>
              <a:t>hsa_signal_query_acquire</a:t>
            </a:r>
            <a:r>
              <a:rPr lang="en-US" altLang="zh-TW" dirty="0" smtClean="0"/>
              <a:t>(queue-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full_flag,value</a:t>
            </a:r>
            <a:r>
              <a:rPr lang="en-US" altLang="zh-TW" dirty="0"/>
              <a:t>);</a:t>
            </a:r>
          </a:p>
          <a:p>
            <a:r>
              <a:rPr lang="en-US" altLang="zh-TW" dirty="0" smtClean="0"/>
              <a:t>    if(value.u64_value </a:t>
            </a:r>
            <a:r>
              <a:rPr lang="en-US" altLang="zh-TW" dirty="0"/>
              <a:t>== 1){</a:t>
            </a:r>
          </a:p>
          <a:p>
            <a:r>
              <a:rPr lang="en-US" altLang="zh-TW" dirty="0" smtClean="0"/>
              <a:t>        for(j=0</a:t>
            </a:r>
            <a:r>
              <a:rPr lang="en-US" altLang="zh-TW" dirty="0"/>
              <a:t>; j &lt; queue-&gt;mailbox[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workgroup_size</a:t>
            </a:r>
            <a:r>
              <a:rPr lang="en-US" altLang="zh-TW" dirty="0"/>
              <a:t>; j++) {</a:t>
            </a:r>
          </a:p>
          <a:p>
            <a:r>
              <a:rPr lang="pt-BR" altLang="zh-TW" dirty="0" smtClean="0"/>
              <a:t>            printf</a:t>
            </a:r>
            <a:r>
              <a:rPr lang="pt-BR" altLang="zh-TW" dirty="0">
                <a:solidFill>
                  <a:srgbClr val="FF0000"/>
                </a:solidFill>
              </a:rPr>
              <a:t>("\n workitemid=%d computeunitid=%d\n",</a:t>
            </a:r>
          </a:p>
          <a:p>
            <a:r>
              <a:rPr lang="en-US" altLang="zh-TW" dirty="0" smtClean="0"/>
              <a:t>                queue-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workitem_id</a:t>
            </a:r>
            <a:r>
              <a:rPr lang="en-US" altLang="zh-TW" dirty="0"/>
              <a:t>[j],</a:t>
            </a:r>
          </a:p>
          <a:p>
            <a:r>
              <a:rPr lang="en-US" altLang="zh-TW" dirty="0" smtClean="0"/>
              <a:t>                queue-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compute_unit_id</a:t>
            </a:r>
            <a:r>
              <a:rPr lang="en-US" altLang="zh-TW" dirty="0"/>
              <a:t>[j]);</a:t>
            </a:r>
          </a:p>
          <a:p>
            <a:r>
              <a:rPr lang="en-US" altLang="zh-TW" dirty="0" smtClean="0"/>
              <a:t>            //</a:t>
            </a:r>
            <a:r>
              <a:rPr lang="en-US" altLang="zh-TW" dirty="0"/>
              <a:t>here we can check PC, etc.</a:t>
            </a:r>
          </a:p>
          <a:p>
            <a:r>
              <a:rPr lang="en-US" altLang="zh-TW" dirty="0" smtClean="0"/>
              <a:t>        }</a:t>
            </a:r>
            <a:endParaRPr lang="en-US" altLang="zh-TW" dirty="0"/>
          </a:p>
          <a:p>
            <a:r>
              <a:rPr lang="en-US" altLang="zh-TW" dirty="0" smtClean="0"/>
              <a:t>        </a:t>
            </a:r>
            <a:r>
              <a:rPr lang="en-US" altLang="zh-TW" dirty="0" err="1" smtClean="0"/>
              <a:t>hsa_signal_send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queue_ptr</a:t>
            </a:r>
            <a:r>
              <a:rPr lang="en-US" altLang="zh-TW" dirty="0" smtClean="0"/>
              <a:t>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full_flag</a:t>
            </a:r>
            <a:r>
              <a:rPr lang="en-US" altLang="zh-TW" dirty="0"/>
              <a:t>, 0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    }</a:t>
            </a:r>
          </a:p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240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Syscall</a:t>
            </a:r>
            <a:r>
              <a:rPr lang="en-US" altLang="zh-TW" dirty="0" smtClean="0"/>
              <a:t> Support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mailbox described in the Debugging At the Core Level section is also utilized in supporting </a:t>
            </a:r>
            <a:r>
              <a:rPr lang="en-US" altLang="zh-TW" dirty="0" smtClean="0"/>
              <a:t>the HSAIL </a:t>
            </a:r>
            <a:r>
              <a:rPr lang="en-US" altLang="zh-TW" dirty="0" err="1"/>
              <a:t>syscall</a:t>
            </a:r>
            <a:r>
              <a:rPr lang="en-US" altLang="zh-TW" dirty="0"/>
              <a:t> </a:t>
            </a:r>
            <a:r>
              <a:rPr lang="en-US" altLang="zh-TW" dirty="0" smtClean="0"/>
              <a:t>instruction</a:t>
            </a:r>
            <a:endParaRPr lang="en-US" altLang="zh-TW" dirty="0"/>
          </a:p>
          <a:p>
            <a:r>
              <a:rPr lang="en-US" altLang="zh-TW" dirty="0"/>
              <a:t>The </a:t>
            </a:r>
            <a:r>
              <a:rPr lang="en-US" altLang="zh-TW" dirty="0" err="1"/>
              <a:t>syscall</a:t>
            </a:r>
            <a:r>
              <a:rPr lang="en-US" altLang="zh-TW" dirty="0"/>
              <a:t> operation in HSAIL is used to call functions that are outsize of the HSAIL </a:t>
            </a:r>
            <a:r>
              <a:rPr lang="en-US" altLang="zh-TW" dirty="0" smtClean="0"/>
              <a:t>Program</a:t>
            </a:r>
            <a:endParaRPr lang="en-US" altLang="zh-TW" dirty="0"/>
          </a:p>
          <a:p>
            <a:r>
              <a:rPr lang="en-US" altLang="zh-TW" dirty="0"/>
              <a:t>The responsibility of the HSA core runtime is to carry this information and provide it to the agent </a:t>
            </a:r>
            <a:r>
              <a:rPr lang="en-US" altLang="zh-TW" dirty="0" smtClean="0"/>
              <a:t>so appropriate </a:t>
            </a:r>
            <a:r>
              <a:rPr lang="en-US" altLang="zh-TW" dirty="0"/>
              <a:t>action can be </a:t>
            </a:r>
            <a:r>
              <a:rPr lang="en-US" altLang="zh-TW" dirty="0" smtClean="0"/>
              <a:t>taken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393552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Syscall</a:t>
            </a:r>
            <a:r>
              <a:rPr lang="en-US" altLang="zh-TW" dirty="0" smtClean="0"/>
              <a:t> Support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Syscall</a:t>
            </a:r>
            <a:r>
              <a:rPr lang="en-US" altLang="zh-TW" dirty="0" smtClean="0"/>
              <a:t> is unique in that once invoked, unless the function is executed on the host, the control is not returned back to the HSAIL program</a:t>
            </a:r>
          </a:p>
          <a:p>
            <a:r>
              <a:rPr lang="en-US" altLang="zh-TW" dirty="0" err="1" smtClean="0"/>
              <a:t>syscall</a:t>
            </a:r>
            <a:r>
              <a:rPr lang="en-US" altLang="zh-TW" dirty="0" smtClean="0"/>
              <a:t> requires a synchronous communication with the agent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31350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Syscall</a:t>
            </a:r>
            <a:r>
              <a:rPr lang="en-US" altLang="zh-TW" dirty="0"/>
              <a:t> Support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7504" y="1681738"/>
            <a:ext cx="8918648" cy="4154984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assert (HSA_STATUS_SUCCESS ==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hsa_signal_wait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queue_ptr</a:t>
            </a:r>
            <a:r>
              <a:rPr lang="en-US" altLang="zh-TW" dirty="0" smtClean="0"/>
              <a:t>-</a:t>
            </a:r>
            <a:r>
              <a:rPr lang="en-US" altLang="zh-TW" dirty="0"/>
              <a:t>&gt;</a:t>
            </a:r>
            <a:r>
              <a:rPr lang="en-US" altLang="zh-TW" dirty="0" err="1"/>
              <a:t>mailbox_signal</a:t>
            </a:r>
            <a:r>
              <a:rPr lang="en-US" altLang="zh-TW" dirty="0"/>
              <a:t>,</a:t>
            </a:r>
          </a:p>
          <a:p>
            <a:r>
              <a:rPr lang="en-US" altLang="zh-TW" dirty="0" smtClean="0"/>
              <a:t>    HSA_GREATER_EQUALS</a:t>
            </a:r>
            <a:r>
              <a:rPr lang="en-US" altLang="zh-TW" dirty="0"/>
              <a:t>, 1));</a:t>
            </a:r>
          </a:p>
          <a:p>
            <a:r>
              <a:rPr lang="en-US" altLang="zh-TW" dirty="0"/>
              <a:t>for(</a:t>
            </a:r>
            <a:r>
              <a:rPr lang="en-US" altLang="zh-TW" dirty="0" err="1"/>
              <a:t>i</a:t>
            </a:r>
            <a:r>
              <a:rPr lang="en-US" altLang="zh-TW" dirty="0"/>
              <a:t> = 0; </a:t>
            </a:r>
            <a:r>
              <a:rPr lang="en-US" altLang="zh-TW" dirty="0" err="1"/>
              <a:t>i</a:t>
            </a:r>
            <a:r>
              <a:rPr lang="en-US" altLang="zh-TW" dirty="0"/>
              <a:t> &lt; queue-&gt;</a:t>
            </a:r>
            <a:r>
              <a:rPr lang="en-US" altLang="zh-TW" dirty="0" err="1"/>
              <a:t>active_group_global_count</a:t>
            </a:r>
            <a:r>
              <a:rPr lang="en-US" altLang="zh-TW" dirty="0"/>
              <a:t>; </a:t>
            </a:r>
            <a:r>
              <a:rPr lang="en-US" altLang="zh-TW" dirty="0" err="1"/>
              <a:t>i</a:t>
            </a:r>
            <a:r>
              <a:rPr lang="en-US" altLang="zh-TW" dirty="0"/>
              <a:t>++) {</a:t>
            </a:r>
          </a:p>
          <a:p>
            <a:r>
              <a:rPr lang="en-US" altLang="zh-TW" dirty="0" smtClean="0"/>
              <a:t>    if(HSA_STATUS_SUCCESS </a:t>
            </a:r>
            <a:r>
              <a:rPr lang="en-US" altLang="zh-TW" dirty="0"/>
              <a:t>==</a:t>
            </a:r>
          </a:p>
          <a:p>
            <a:r>
              <a:rPr lang="en-US" altLang="zh-TW" dirty="0" smtClean="0"/>
              <a:t>        </a:t>
            </a:r>
            <a:r>
              <a:rPr lang="en-US" altLang="zh-TW" dirty="0" err="1" smtClean="0"/>
              <a:t>hsa_signal_poll</a:t>
            </a:r>
            <a:r>
              <a:rPr lang="en-US" altLang="zh-TW" dirty="0" smtClean="0"/>
              <a:t>(queue-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 smtClean="0"/>
              <a:t>full_flag,HSA_EQUALS</a:t>
            </a:r>
            <a:r>
              <a:rPr lang="en-US" altLang="zh-TW" dirty="0" smtClean="0"/>
              <a:t>, 1</a:t>
            </a:r>
            <a:r>
              <a:rPr lang="en-US" altLang="zh-TW" dirty="0"/>
              <a:t>))</a:t>
            </a:r>
          </a:p>
          <a:p>
            <a:r>
              <a:rPr lang="en-US" altLang="zh-TW" dirty="0" smtClean="0"/>
              <a:t>    for(j=0</a:t>
            </a:r>
            <a:r>
              <a:rPr lang="en-US" altLang="zh-TW" dirty="0"/>
              <a:t>; j &lt; queue-&gt;mailbox[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workgroup_size</a:t>
            </a:r>
            <a:r>
              <a:rPr lang="en-US" altLang="zh-TW" dirty="0"/>
              <a:t>; j++) {</a:t>
            </a:r>
          </a:p>
          <a:p>
            <a:r>
              <a:rPr lang="en-US" altLang="zh-TW" dirty="0" smtClean="0"/>
              <a:t>        </a:t>
            </a:r>
            <a:r>
              <a:rPr lang="en-US" altLang="zh-TW" dirty="0" err="1" smtClean="0"/>
              <a:t>process_syscall_args</a:t>
            </a:r>
            <a:r>
              <a:rPr lang="en-US" altLang="zh-TW" dirty="0" smtClean="0"/>
              <a:t>(queue-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args</a:t>
            </a:r>
            <a:r>
              <a:rPr lang="en-US" altLang="zh-TW" dirty="0"/>
              <a:t>,</a:t>
            </a:r>
          </a:p>
          <a:p>
            <a:r>
              <a:rPr lang="en-US" altLang="zh-TW" dirty="0" smtClean="0"/>
              <a:t>        queue-</a:t>
            </a:r>
            <a:r>
              <a:rPr lang="en-US" altLang="zh-TW" dirty="0"/>
              <a:t>&gt;mailbox[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workgroup_size</a:t>
            </a:r>
            <a:r>
              <a:rPr lang="en-US" altLang="zh-TW" dirty="0"/>
              <a:t>);</a:t>
            </a:r>
          </a:p>
          <a:p>
            <a:r>
              <a:rPr lang="en-US" altLang="zh-TW" dirty="0" smtClean="0"/>
              <a:t>    }</a:t>
            </a:r>
            <a:endParaRPr lang="en-US" altLang="zh-TW" dirty="0"/>
          </a:p>
          <a:p>
            <a:r>
              <a:rPr lang="en-US" altLang="zh-TW" dirty="0"/>
              <a:t>}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557912" y="377151"/>
            <a:ext cx="4586088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syscall_u32 $s1, 3, $s2, $s3, $s4;</a:t>
            </a:r>
          </a:p>
          <a:p>
            <a:r>
              <a:rPr lang="en-US" altLang="zh-TW" dirty="0"/>
              <a:t>syscall_u64 $d1, 10, $d2, 100, $d4;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9425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73980"/>
            <a:ext cx="7772400" cy="1470025"/>
          </a:xfrm>
        </p:spPr>
        <p:txBody>
          <a:bodyPr/>
          <a:lstStyle/>
          <a:p>
            <a:pPr algn="ctr"/>
            <a:r>
              <a:rPr lang="en-US" altLang="zh-TW" sz="4400" dirty="0"/>
              <a:t>HSAIL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1553" y="3644005"/>
            <a:ext cx="8386355" cy="1752600"/>
          </a:xfrm>
        </p:spPr>
        <p:txBody>
          <a:bodyPr/>
          <a:lstStyle/>
          <a:p>
            <a:r>
              <a:rPr lang="en-US" altLang="zh-TW" sz="2500" dirty="0"/>
              <a:t>Heterogeneous System Architecture Intermediate Language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40426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63337" y="225370"/>
            <a:ext cx="5087627" cy="519113"/>
          </a:xfrm>
        </p:spPr>
        <p:txBody>
          <a:bodyPr/>
          <a:lstStyle/>
          <a:p>
            <a:r>
              <a:rPr lang="en-US" altLang="zh-TW" sz="2800" dirty="0"/>
              <a:t>What is </a:t>
            </a:r>
            <a:r>
              <a:rPr lang="en-US" altLang="zh-TW" sz="2800" dirty="0" smtClean="0"/>
              <a:t>intermediate language?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b="1" dirty="0" smtClean="0"/>
              <a:t>Intermediate Language </a:t>
            </a:r>
            <a:r>
              <a:rPr lang="en-US" altLang="zh-TW" sz="2500" dirty="0" smtClean="0"/>
              <a:t>(IL) is </a:t>
            </a:r>
            <a:r>
              <a:rPr lang="en-US" altLang="zh-TW" sz="2500" dirty="0"/>
              <a:t>the language of an 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abstract machine</a:t>
            </a:r>
            <a:r>
              <a:rPr lang="en-US" altLang="zh-TW" sz="2500" dirty="0"/>
              <a:t> designed to aid in the analysis of computer </a:t>
            </a:r>
            <a:r>
              <a:rPr lang="en-US" altLang="zh-TW" sz="2500" dirty="0" smtClean="0"/>
              <a:t>programs.</a:t>
            </a:r>
          </a:p>
          <a:p>
            <a:endParaRPr lang="en-US" altLang="zh-TW" sz="2500" dirty="0" smtClean="0"/>
          </a:p>
          <a:p>
            <a:r>
              <a:rPr lang="en-US" altLang="zh-TW" sz="2500" dirty="0"/>
              <a:t>The term comes from their use in 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compilers,</a:t>
            </a:r>
            <a:r>
              <a:rPr lang="en-US" altLang="zh-TW" sz="2500" dirty="0"/>
              <a:t> where the source code of a program is translated into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a form more suitable for code-improving transformations</a:t>
            </a:r>
            <a:r>
              <a:rPr lang="en-US" altLang="zh-TW" sz="2500" dirty="0"/>
              <a:t> before being used to generate object or machine code for a target machine</a:t>
            </a:r>
            <a:r>
              <a:rPr lang="en-US" altLang="zh-TW" sz="2500" dirty="0" smtClean="0"/>
              <a:t>.</a:t>
            </a:r>
          </a:p>
          <a:p>
            <a:endParaRPr lang="en-US" altLang="zh-TW" sz="24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2626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63337" y="225370"/>
            <a:ext cx="5686697" cy="519113"/>
          </a:xfrm>
        </p:spPr>
        <p:txBody>
          <a:bodyPr/>
          <a:lstStyle/>
          <a:p>
            <a:r>
              <a:rPr lang="en-US" altLang="zh-TW" sz="2800" dirty="0"/>
              <a:t>What is </a:t>
            </a:r>
            <a:r>
              <a:rPr lang="en-US" altLang="zh-TW" sz="2800" dirty="0" smtClean="0"/>
              <a:t>intermediate representation?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b="1" dirty="0" smtClean="0"/>
              <a:t>Intermediate </a:t>
            </a:r>
            <a:r>
              <a:rPr lang="en-US" altLang="zh-TW" sz="2500" b="1" dirty="0"/>
              <a:t>representation </a:t>
            </a:r>
            <a:r>
              <a:rPr lang="en-US" altLang="zh-TW" sz="2500" dirty="0" smtClean="0"/>
              <a:t>(IR</a:t>
            </a:r>
            <a:r>
              <a:rPr lang="en-US" altLang="zh-TW" sz="2500" dirty="0"/>
              <a:t>) is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a data structure </a:t>
            </a:r>
            <a:r>
              <a:rPr lang="en-US" altLang="zh-TW" sz="2500" dirty="0"/>
              <a:t>that is constructed from input data to a program, and from which part or all of the output data of the program is constructed in turn</a:t>
            </a:r>
            <a:r>
              <a:rPr lang="en-US" altLang="zh-TW" sz="2500" dirty="0" smtClean="0"/>
              <a:t>.</a:t>
            </a:r>
          </a:p>
          <a:p>
            <a:endParaRPr lang="en-US" altLang="zh-TW" sz="2500" dirty="0" smtClean="0"/>
          </a:p>
          <a:p>
            <a:r>
              <a:rPr lang="en-US" altLang="zh-TW" sz="2500" dirty="0"/>
              <a:t>Use of the term usually implies that most </a:t>
            </a:r>
            <a:r>
              <a:rPr lang="en-US" altLang="zh-TW" sz="2500" dirty="0" smtClean="0"/>
              <a:t>of the</a:t>
            </a:r>
            <a:r>
              <a:rPr lang="en-US" altLang="zh-TW" sz="2500" dirty="0"/>
              <a:t> information present in the input is retained by the intermediate representation, with further annotations or rapid lookup features</a:t>
            </a:r>
            <a:r>
              <a:rPr lang="en-US" altLang="zh-TW" sz="2500" dirty="0" smtClean="0"/>
              <a:t>.</a:t>
            </a:r>
            <a:endParaRPr lang="en-US" altLang="zh-TW" sz="2500" dirty="0"/>
          </a:p>
          <a:p>
            <a:endParaRPr lang="en-US" altLang="zh-TW" sz="2500" dirty="0"/>
          </a:p>
          <a:p>
            <a:r>
              <a:rPr lang="en-US" altLang="zh-TW" sz="2500" dirty="0" smtClean="0"/>
              <a:t>In </a:t>
            </a:r>
            <a:r>
              <a:rPr lang="en-US" altLang="zh-TW" sz="2500" dirty="0"/>
              <a:t>some respects, IR and IL is the same.</a:t>
            </a:r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83361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63337" y="225370"/>
            <a:ext cx="5686697" cy="519113"/>
          </a:xfrm>
        </p:spPr>
        <p:txBody>
          <a:bodyPr/>
          <a:lstStyle/>
          <a:p>
            <a:r>
              <a:rPr lang="en-US" altLang="zh-TW" sz="2800" dirty="0" smtClean="0"/>
              <a:t>Examples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dirty="0"/>
              <a:t>In graphic card aspects:</a:t>
            </a:r>
          </a:p>
          <a:p>
            <a:pPr lvl="1"/>
            <a:r>
              <a:rPr lang="en-US" altLang="zh-TW" sz="2300" dirty="0"/>
              <a:t>AMD </a:t>
            </a:r>
            <a:r>
              <a:rPr lang="en-US" altLang="zh-TW" sz="2300" dirty="0" smtClean="0"/>
              <a:t>IL, NVIDIA </a:t>
            </a:r>
            <a:r>
              <a:rPr lang="en-US" altLang="zh-TW" sz="2300" dirty="0"/>
              <a:t>PTX</a:t>
            </a:r>
          </a:p>
          <a:p>
            <a:pPr lvl="1"/>
            <a:r>
              <a:rPr lang="en-US" altLang="zh-TW" sz="2300" dirty="0"/>
              <a:t>Compiler translate compute kernel into IL form above, and the device driver </a:t>
            </a:r>
            <a:r>
              <a:rPr lang="en-US" altLang="zh-TW" sz="2300" dirty="0" smtClean="0"/>
              <a:t>contains </a:t>
            </a:r>
            <a:r>
              <a:rPr lang="en-US" altLang="zh-TW" sz="2300" dirty="0"/>
              <a:t>a compiler which translates the IL into </a:t>
            </a:r>
            <a:r>
              <a:rPr lang="en-US" altLang="zh-TW" sz="2300" dirty="0" smtClean="0"/>
              <a:t>binary.</a:t>
            </a:r>
          </a:p>
          <a:p>
            <a:pPr lvl="1"/>
            <a:endParaRPr lang="en-US" altLang="zh-TW" sz="2200" dirty="0"/>
          </a:p>
          <a:p>
            <a:r>
              <a:rPr lang="en-US" altLang="zh-TW" sz="2500" dirty="0"/>
              <a:t>In virtual machine </a:t>
            </a:r>
            <a:r>
              <a:rPr lang="en-US" altLang="zh-TW" sz="2500" dirty="0" err="1"/>
              <a:t>apects</a:t>
            </a:r>
            <a:r>
              <a:rPr lang="en-US" altLang="zh-TW" sz="2500" dirty="0"/>
              <a:t>: </a:t>
            </a:r>
          </a:p>
          <a:p>
            <a:pPr lvl="1"/>
            <a:r>
              <a:rPr lang="en-US" altLang="zh-TW" sz="2300" dirty="0"/>
              <a:t>Java virtual </a:t>
            </a:r>
            <a:r>
              <a:rPr lang="en-US" altLang="zh-TW" sz="2300" dirty="0" smtClean="0"/>
              <a:t>machine: Java </a:t>
            </a:r>
            <a:r>
              <a:rPr lang="en-US" altLang="zh-TW" sz="2300" dirty="0" err="1" smtClean="0"/>
              <a:t>bytecode</a:t>
            </a:r>
            <a:endParaRPr lang="en-US" altLang="zh-TW" sz="2300" dirty="0" smtClean="0"/>
          </a:p>
          <a:p>
            <a:pPr lvl="1"/>
            <a:r>
              <a:rPr lang="en-US" altLang="zh-TW" sz="2300" dirty="0"/>
              <a:t>.NET </a:t>
            </a:r>
            <a:r>
              <a:rPr lang="en-US" altLang="zh-TW" sz="2300" dirty="0" smtClean="0"/>
              <a:t>Framework: </a:t>
            </a:r>
            <a:r>
              <a:rPr lang="en-US" altLang="zh-TW" sz="2300" dirty="0"/>
              <a:t>Common Intermediate Language </a:t>
            </a:r>
            <a:r>
              <a:rPr lang="en-US" altLang="zh-TW" sz="2300" dirty="0" smtClean="0"/>
              <a:t>(CIL)</a:t>
            </a:r>
            <a:endParaRPr lang="en-US" altLang="zh-TW" sz="23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67318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63337" y="225370"/>
            <a:ext cx="5686697" cy="519113"/>
          </a:xfrm>
        </p:spPr>
        <p:txBody>
          <a:bodyPr/>
          <a:lstStyle/>
          <a:p>
            <a:r>
              <a:rPr lang="en-US" altLang="zh-TW" sz="2800" dirty="0" smtClean="0"/>
              <a:t>Examples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dirty="0" smtClean="0"/>
              <a:t>In compiler aspects:</a:t>
            </a:r>
          </a:p>
          <a:p>
            <a:endParaRPr lang="en-US" altLang="zh-TW" sz="2500" dirty="0" smtClean="0"/>
          </a:p>
          <a:p>
            <a:pPr lvl="1"/>
            <a:r>
              <a:rPr lang="en-US" altLang="zh-TW" sz="2300" dirty="0" smtClean="0"/>
              <a:t>GCC : GENERIC -&gt; GIMPLE -&gt;RTL, </a:t>
            </a:r>
            <a:r>
              <a:rPr lang="en-US" altLang="zh-TW" sz="2300" dirty="0"/>
              <a:t>GCC uses three main intermediate languages to represent the program during </a:t>
            </a:r>
            <a:r>
              <a:rPr lang="en-US" altLang="zh-TW" sz="2300" dirty="0" smtClean="0"/>
              <a:t>compilation.</a:t>
            </a:r>
          </a:p>
          <a:p>
            <a:pPr lvl="1"/>
            <a:endParaRPr lang="en-US" altLang="zh-TW" sz="2300" dirty="0" smtClean="0"/>
          </a:p>
          <a:p>
            <a:pPr lvl="1"/>
            <a:r>
              <a:rPr lang="en-US" altLang="zh-TW" sz="2300" dirty="0"/>
              <a:t>LLVM IR: After parser generate AST, LLVM frontend translate it into LLVM IR </a:t>
            </a:r>
            <a:r>
              <a:rPr lang="en-US" altLang="zh-TW" sz="2300" dirty="0" smtClean="0"/>
              <a:t>and deliver it </a:t>
            </a:r>
            <a:r>
              <a:rPr lang="en-US" altLang="zh-TW" sz="2300" dirty="0"/>
              <a:t>to the following compilation processes until backend generate machine </a:t>
            </a:r>
            <a:r>
              <a:rPr lang="en-US" altLang="zh-TW" sz="2300" dirty="0" smtClean="0"/>
              <a:t>binary.</a:t>
            </a:r>
            <a:endParaRPr lang="en-US" altLang="zh-TW" sz="23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12354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What is HSAIL?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dirty="0"/>
              <a:t>a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virtual machine </a:t>
            </a:r>
            <a:r>
              <a:rPr lang="en-US" altLang="zh-TW" sz="2500" dirty="0"/>
              <a:t>and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intermediate language </a:t>
            </a:r>
            <a:r>
              <a:rPr lang="en-US" altLang="zh-TW" sz="2500" dirty="0"/>
              <a:t>called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HSAIL </a:t>
            </a:r>
            <a:r>
              <a:rPr lang="en-US" altLang="zh-TW" sz="2500" dirty="0"/>
              <a:t>(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Heterogeneous System Architecture Intermediate Language</a:t>
            </a:r>
            <a:r>
              <a:rPr lang="en-US" altLang="zh-TW" sz="2500" dirty="0"/>
              <a:t>).</a:t>
            </a:r>
          </a:p>
          <a:p>
            <a:endParaRPr lang="en-US" altLang="zh-TW" sz="25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TW" sz="25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Multiple instruction sets </a:t>
            </a:r>
            <a:r>
              <a:rPr lang="en-US" altLang="zh-TW" sz="2500" dirty="0"/>
              <a:t>(i.e., CPU(s), GPU(s), specialized processor(s) )</a:t>
            </a:r>
          </a:p>
          <a:p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 32 bits </a:t>
            </a:r>
            <a:r>
              <a:rPr lang="en-US" altLang="zh-TW" sz="2500" dirty="0"/>
              <a:t>and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64 bits </a:t>
            </a:r>
            <a:r>
              <a:rPr lang="en-US" altLang="zh-TW" sz="2500" dirty="0"/>
              <a:t>address </a:t>
            </a:r>
            <a:r>
              <a:rPr lang="en-US" altLang="zh-TW" sz="2500" dirty="0" smtClean="0"/>
              <a:t>space</a:t>
            </a:r>
            <a:endParaRPr lang="en-US" altLang="zh-TW" sz="2500" dirty="0"/>
          </a:p>
          <a:p>
            <a:r>
              <a:rPr lang="en-US" altLang="zh-TW" sz="2500" dirty="0"/>
              <a:t>Allows a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single program </a:t>
            </a:r>
            <a:r>
              <a:rPr lang="en-US" altLang="zh-TW" sz="2500" dirty="0"/>
              <a:t>to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execute</a:t>
            </a:r>
            <a:r>
              <a:rPr lang="en-US" altLang="zh-TW" sz="2500" dirty="0"/>
              <a:t> on a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wide range of platforms</a:t>
            </a:r>
          </a:p>
          <a:p>
            <a:endParaRPr lang="en-US" altLang="zh-TW" sz="2500" dirty="0"/>
          </a:p>
          <a:p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Native</a:t>
            </a:r>
            <a:r>
              <a:rPr lang="en-US" altLang="zh-TW" sz="2500" dirty="0"/>
              <a:t> instruction set has been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abstracted away</a:t>
            </a:r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12281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29545" y="207952"/>
            <a:ext cx="4357923" cy="519113"/>
          </a:xfrm>
        </p:spPr>
        <p:txBody>
          <a:bodyPr/>
          <a:lstStyle/>
          <a:p>
            <a:r>
              <a:rPr lang="en-US" altLang="zh-TW" sz="2800" dirty="0"/>
              <a:t>HSA implementation 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500" dirty="0"/>
              <a:t>Consists of:</a:t>
            </a:r>
          </a:p>
          <a:p>
            <a:pPr marL="0" indent="0">
              <a:buNone/>
            </a:pPr>
            <a:endParaRPr lang="en-US" altLang="zh-TW" sz="2500" dirty="0"/>
          </a:p>
          <a:p>
            <a:r>
              <a:rPr lang="en-US" altLang="zh-TW" sz="2500" dirty="0"/>
              <a:t> Hardware components that execute 1 or more ISAs.</a:t>
            </a:r>
          </a:p>
          <a:p>
            <a:r>
              <a:rPr lang="en-US" altLang="zh-TW" sz="2500" dirty="0"/>
              <a:t> compiler, linker, loader</a:t>
            </a:r>
          </a:p>
          <a:p>
            <a:r>
              <a:rPr lang="en-US" altLang="zh-TW" sz="2500" dirty="0"/>
              <a:t> </a:t>
            </a:r>
            <a:r>
              <a:rPr lang="en-US" altLang="zh-TW" sz="2500" dirty="0" err="1"/>
              <a:t>Finalizer</a:t>
            </a:r>
            <a:r>
              <a:rPr lang="en-US" altLang="zh-TW" sz="2500" dirty="0"/>
              <a:t>:  translate HASIL to native ISA when hardware cannot support HSAIL natively.</a:t>
            </a:r>
          </a:p>
          <a:p>
            <a:r>
              <a:rPr lang="en-US" altLang="zh-TW" sz="2500" dirty="0"/>
              <a:t> Runtime system</a:t>
            </a:r>
          </a:p>
          <a:p>
            <a:endParaRPr lang="en-US" altLang="zh-TW" sz="2500" dirty="0"/>
          </a:p>
          <a:p>
            <a:pPr marL="0" indent="0">
              <a:buNone/>
            </a:pPr>
            <a:r>
              <a:rPr lang="en-US" altLang="zh-TW" sz="2500" dirty="0"/>
              <a:t>Every implementation must can execute same HSAIL VM and language.</a:t>
            </a:r>
          </a:p>
          <a:p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07831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07627" y="199245"/>
            <a:ext cx="4357923" cy="519113"/>
          </a:xfrm>
        </p:spPr>
        <p:txBody>
          <a:bodyPr/>
          <a:lstStyle/>
          <a:p>
            <a:r>
              <a:rPr lang="en-US" altLang="zh-TW" sz="2800" dirty="0"/>
              <a:t>HSAIL virtual machine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r>
              <a:rPr lang="en-US" altLang="zh-TW" sz="2500" dirty="0"/>
              <a:t>A heterogeneous collection of processors made up of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two kinds </a:t>
            </a:r>
            <a:r>
              <a:rPr lang="en-US" altLang="zh-TW" sz="2500" dirty="0"/>
              <a:t>of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CU</a:t>
            </a:r>
            <a:r>
              <a:rPr lang="en-US" altLang="zh-TW" sz="2500" dirty="0"/>
              <a:t>.</a:t>
            </a:r>
          </a:p>
          <a:p>
            <a:r>
              <a:rPr lang="en-US" altLang="zh-TW" sz="2400" dirty="0"/>
              <a:t>Latency compute unit</a:t>
            </a:r>
          </a:p>
          <a:p>
            <a:pPr lvl="1"/>
            <a:r>
              <a:rPr lang="en-US" altLang="zh-TW" sz="2200" dirty="0"/>
              <a:t>Both </a:t>
            </a:r>
            <a:r>
              <a:rPr lang="en-US" altLang="zh-TW" sz="2200" dirty="0">
                <a:solidFill>
                  <a:schemeClr val="accent1">
                    <a:lumMod val="75000"/>
                  </a:schemeClr>
                </a:solidFill>
              </a:rPr>
              <a:t>CPU instruction </a:t>
            </a:r>
            <a:r>
              <a:rPr lang="en-US" altLang="zh-TW" sz="2200" dirty="0"/>
              <a:t>set and </a:t>
            </a:r>
            <a:r>
              <a:rPr lang="en-US" altLang="zh-TW" sz="2200" dirty="0">
                <a:solidFill>
                  <a:schemeClr val="accent1">
                    <a:lumMod val="75000"/>
                  </a:schemeClr>
                </a:solidFill>
              </a:rPr>
              <a:t>HSAIL instruction </a:t>
            </a:r>
            <a:r>
              <a:rPr lang="en-US" altLang="zh-TW" sz="2200" dirty="0"/>
              <a:t>set</a:t>
            </a:r>
          </a:p>
          <a:p>
            <a:pPr lvl="1"/>
            <a:r>
              <a:rPr lang="en-US" altLang="zh-TW" sz="2200" dirty="0"/>
              <a:t>Derive from CPU processors.</a:t>
            </a:r>
          </a:p>
          <a:p>
            <a:pPr lvl="1"/>
            <a:endParaRPr lang="en-US" altLang="zh-TW" sz="2200" dirty="0"/>
          </a:p>
          <a:p>
            <a:r>
              <a:rPr lang="en-US" altLang="zh-TW" sz="2400" dirty="0"/>
              <a:t>Throughput compute unit</a:t>
            </a:r>
          </a:p>
          <a:p>
            <a:pPr lvl="1"/>
            <a:r>
              <a:rPr lang="en-US" altLang="zh-TW" sz="2200" dirty="0">
                <a:solidFill>
                  <a:schemeClr val="accent1">
                    <a:lumMod val="75000"/>
                  </a:schemeClr>
                </a:solidFill>
              </a:rPr>
              <a:t>Only HSAIL </a:t>
            </a:r>
            <a:r>
              <a:rPr lang="en-US" altLang="zh-TW" sz="2200" dirty="0"/>
              <a:t>instruction set</a:t>
            </a:r>
          </a:p>
          <a:p>
            <a:pPr lvl="1"/>
            <a:r>
              <a:rPr lang="en-US" altLang="zh-TW" sz="2200" dirty="0"/>
              <a:t>Specialized hardware provides </a:t>
            </a:r>
            <a:r>
              <a:rPr lang="en-US" altLang="zh-TW" sz="2200" dirty="0">
                <a:solidFill>
                  <a:schemeClr val="accent1">
                    <a:lumMod val="75000"/>
                  </a:schemeClr>
                </a:solidFill>
              </a:rPr>
              <a:t>very efficient parallel operations</a:t>
            </a:r>
          </a:p>
          <a:p>
            <a:pPr lvl="1"/>
            <a:r>
              <a:rPr lang="en-US" altLang="zh-TW" sz="2200" dirty="0"/>
              <a:t>Derive from GPU or specialized processor(s)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68991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3040" y="199244"/>
            <a:ext cx="4357923" cy="519113"/>
          </a:xfrm>
        </p:spPr>
        <p:txBody>
          <a:bodyPr/>
          <a:lstStyle/>
          <a:p>
            <a:r>
              <a:rPr lang="en-US" altLang="zh-TW" sz="2800" dirty="0"/>
              <a:t>HSAIL virtual machine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500" dirty="0"/>
          </a:p>
          <a:p>
            <a:r>
              <a:rPr lang="en-US" altLang="zh-TW" sz="2500" dirty="0"/>
              <a:t>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Neither</a:t>
            </a:r>
            <a:r>
              <a:rPr lang="en-US" altLang="zh-TW" sz="2500" dirty="0"/>
              <a:t> kind of compute unit needs to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execute HSAIL code directly</a:t>
            </a:r>
            <a:r>
              <a:rPr lang="en-US" altLang="zh-TW" sz="2500" dirty="0"/>
              <a:t>.</a:t>
            </a:r>
          </a:p>
          <a:p>
            <a:endParaRPr lang="en-US" altLang="zh-TW" sz="2500" dirty="0"/>
          </a:p>
          <a:p>
            <a:r>
              <a:rPr lang="en-US" altLang="zh-TW" sz="2500" dirty="0"/>
              <a:t> Different implementations can choose to invoke the </a:t>
            </a:r>
            <a:r>
              <a:rPr lang="en-US" altLang="zh-TW" sz="2500" dirty="0" err="1"/>
              <a:t>finalizer</a:t>
            </a:r>
            <a:r>
              <a:rPr lang="en-US" altLang="zh-TW" sz="2500" dirty="0"/>
              <a:t> at various times:</a:t>
            </a:r>
          </a:p>
          <a:p>
            <a:pPr lvl="1"/>
            <a:r>
              <a:rPr lang="en-US" altLang="zh-TW" sz="2300" dirty="0"/>
              <a:t>Statically at the same time the application is </a:t>
            </a:r>
            <a:r>
              <a:rPr lang="en-US" altLang="zh-TW" sz="2300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built</a:t>
            </a:r>
          </a:p>
          <a:p>
            <a:pPr lvl="1"/>
            <a:r>
              <a:rPr lang="en-US" altLang="zh-TW" sz="2300" dirty="0"/>
              <a:t>When the application is installed</a:t>
            </a:r>
          </a:p>
          <a:p>
            <a:pPr lvl="1"/>
            <a:r>
              <a:rPr lang="en-US" altLang="zh-TW" sz="2300" dirty="0"/>
              <a:t>When the application loaded</a:t>
            </a:r>
          </a:p>
          <a:p>
            <a:pPr lvl="1"/>
            <a:r>
              <a:rPr lang="en-US" altLang="zh-TW" sz="2300" dirty="0"/>
              <a:t>When application is executing</a:t>
            </a:r>
          </a:p>
          <a:p>
            <a:pPr lvl="1"/>
            <a:endParaRPr lang="en-US" altLang="zh-TW" sz="1600" dirty="0"/>
          </a:p>
          <a:p>
            <a:pPr lvl="1"/>
            <a:endParaRPr lang="zh-TW" altLang="en-US" sz="1432" dirty="0"/>
          </a:p>
        </p:txBody>
      </p:sp>
    </p:spTree>
    <p:extLst>
      <p:ext uri="{BB962C8B-B14F-4D97-AF65-F5344CB8AC3E}">
        <p14:creationId xmlns:p14="http://schemas.microsoft.com/office/powerpoint/2010/main" val="180991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95007" y="242787"/>
            <a:ext cx="4357923" cy="519113"/>
          </a:xfrm>
        </p:spPr>
        <p:txBody>
          <a:bodyPr/>
          <a:lstStyle/>
          <a:p>
            <a:r>
              <a:rPr lang="en-US" altLang="zh-TW" sz="2800" dirty="0"/>
              <a:t>Types of code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1800" dirty="0"/>
          </a:p>
          <a:p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Agent code</a:t>
            </a:r>
            <a:r>
              <a:rPr lang="en-US" altLang="zh-TW" sz="2500" dirty="0"/>
              <a:t>: written in the </a:t>
            </a:r>
            <a:r>
              <a:rPr lang="en-US" altLang="zh-TW" sz="2500" dirty="0">
                <a:solidFill>
                  <a:schemeClr val="accent1">
                    <a:lumMod val="75000"/>
                  </a:schemeClr>
                </a:solidFill>
              </a:rPr>
              <a:t>latency compute unit ISA</a:t>
            </a:r>
            <a:r>
              <a:rPr lang="en-US" altLang="zh-TW" sz="2500" dirty="0"/>
              <a:t>.</a:t>
            </a:r>
          </a:p>
          <a:p>
            <a:endParaRPr lang="en-US" altLang="zh-TW" sz="2500" dirty="0"/>
          </a:p>
          <a:p>
            <a:r>
              <a:rPr lang="en-US" altLang="zh-TW" sz="2500" dirty="0"/>
              <a:t>The code which execute only on latency compute units or the HSAIL code which can execute on either the latency or throughput compute units.</a:t>
            </a:r>
          </a:p>
          <a:p>
            <a:endParaRPr lang="en-US" altLang="zh-TW" sz="2500" dirty="0"/>
          </a:p>
          <a:p>
            <a:r>
              <a:rPr lang="en-US" altLang="zh-TW" sz="2500" dirty="0"/>
              <a:t>Kernel code: executed in data-parallel by compute unit.</a:t>
            </a:r>
          </a:p>
          <a:p>
            <a:r>
              <a:rPr lang="en-US" altLang="zh-TW" sz="2500" dirty="0"/>
              <a:t>Kernels are written in HSAIL and then separately translated by a </a:t>
            </a:r>
            <a:r>
              <a:rPr lang="en-US" altLang="zh-TW" sz="2500" dirty="0" err="1"/>
              <a:t>finalizer</a:t>
            </a:r>
            <a:r>
              <a:rPr lang="en-US" altLang="zh-TW" sz="2500" dirty="0"/>
              <a:t> to the target instruction set.</a:t>
            </a:r>
          </a:p>
          <a:p>
            <a:r>
              <a:rPr lang="en-US" altLang="zh-TW" sz="2500" dirty="0"/>
              <a:t>A kernel doesn’t return a value.</a:t>
            </a:r>
          </a:p>
        </p:txBody>
      </p:sp>
    </p:spTree>
    <p:extLst>
      <p:ext uri="{BB962C8B-B14F-4D97-AF65-F5344CB8AC3E}">
        <p14:creationId xmlns:p14="http://schemas.microsoft.com/office/powerpoint/2010/main" val="320129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07328" y="225371"/>
            <a:ext cx="4357923" cy="519113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HSAIL Virtual Language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dirty="0"/>
              <a:t>HSAIL is a virtual instruction set designed for parallel processing.</a:t>
            </a:r>
          </a:p>
          <a:p>
            <a:endParaRPr lang="en-US" altLang="zh-TW" sz="2500" dirty="0"/>
          </a:p>
          <a:p>
            <a:r>
              <a:rPr lang="en-US" altLang="zh-TW" sz="2500" dirty="0"/>
              <a:t>Can be translated into many different native instruction set.</a:t>
            </a:r>
          </a:p>
          <a:p>
            <a:r>
              <a:rPr lang="en-US" altLang="zh-TW" sz="2500" dirty="0"/>
              <a:t>Each different HSA implementations can run any program written in HSAIL.</a:t>
            </a:r>
          </a:p>
          <a:p>
            <a:endParaRPr lang="en-US" altLang="zh-TW" sz="2500" dirty="0"/>
          </a:p>
          <a:p>
            <a:r>
              <a:rPr lang="en-US" altLang="zh-TW" sz="2500" dirty="0"/>
              <a:t>No parallel constructs. Each kernel contains operations for a single work-item</a:t>
            </a:r>
            <a:r>
              <a:rPr lang="en-US" altLang="zh-TW" sz="2500" dirty="0" smtClean="0"/>
              <a:t>.</a:t>
            </a:r>
          </a:p>
          <a:p>
            <a:pPr marL="0" indent="0">
              <a:buNone/>
            </a:pPr>
            <a:endParaRPr lang="en-US" altLang="zh-TW" sz="2500" dirty="0"/>
          </a:p>
          <a:p>
            <a:pPr marL="0" indent="0">
              <a:buNone/>
            </a:pPr>
            <a:r>
              <a:rPr lang="en-US" altLang="zh-TW" sz="2500" dirty="0" smtClean="0"/>
              <a:t> </a:t>
            </a:r>
            <a:r>
              <a:rPr lang="en-US" altLang="zh-TW" sz="2500" dirty="0"/>
              <a:t>(the operations in the work-item can launch more work-item.)</a:t>
            </a:r>
          </a:p>
        </p:txBody>
      </p:sp>
    </p:spTree>
    <p:extLst>
      <p:ext uri="{BB962C8B-B14F-4D97-AF65-F5344CB8AC3E}">
        <p14:creationId xmlns:p14="http://schemas.microsoft.com/office/powerpoint/2010/main" val="102227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82819" y="100920"/>
            <a:ext cx="3772757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HSAIL Virtual Language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8317" y="1012325"/>
            <a:ext cx="4038600" cy="5362348"/>
          </a:xfrm>
        </p:spPr>
        <p:txBody>
          <a:bodyPr/>
          <a:lstStyle/>
          <a:p>
            <a:endParaRPr lang="en-US" altLang="zh-TW" sz="2500" dirty="0" smtClean="0"/>
          </a:p>
          <a:p>
            <a:r>
              <a:rPr lang="en-US" altLang="zh-TW" sz="2500" dirty="0" smtClean="0"/>
              <a:t>When </a:t>
            </a:r>
            <a:r>
              <a:rPr lang="en-US" altLang="zh-TW" sz="2500" dirty="0"/>
              <a:t>the kernel starts, a </a:t>
            </a:r>
            <a:r>
              <a:rPr lang="en-US" altLang="zh-TW" sz="2500" dirty="0" err="1"/>
              <a:t>NDRange</a:t>
            </a:r>
            <a:r>
              <a:rPr lang="en-US" altLang="zh-TW" sz="2500" dirty="0"/>
              <a:t> is defined and one work-item is launched for each point in the </a:t>
            </a:r>
            <a:r>
              <a:rPr lang="en-US" altLang="zh-TW" sz="2500" dirty="0" err="1"/>
              <a:t>NDRange</a:t>
            </a:r>
            <a:r>
              <a:rPr lang="en-US" altLang="zh-TW" sz="2500" dirty="0"/>
              <a:t>.</a:t>
            </a:r>
          </a:p>
          <a:p>
            <a:endParaRPr lang="en-US" altLang="zh-TW" sz="2500" dirty="0"/>
          </a:p>
          <a:p>
            <a:r>
              <a:rPr lang="en-US" altLang="zh-TW" sz="2500" dirty="0"/>
              <a:t>A single kernel might launch thousands of work-items.</a:t>
            </a:r>
          </a:p>
          <a:p>
            <a:endParaRPr lang="en-US" altLang="zh-TW" sz="18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4305"/>
          <a:stretch/>
        </p:blipFill>
        <p:spPr>
          <a:xfrm>
            <a:off x="4572006" y="1663919"/>
            <a:ext cx="4471829" cy="39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3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82819" y="100920"/>
            <a:ext cx="3772757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HSAIL Virtual Language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8317" y="1012325"/>
            <a:ext cx="4038600" cy="5362348"/>
          </a:xfrm>
        </p:spPr>
        <p:txBody>
          <a:bodyPr/>
          <a:lstStyle/>
          <a:p>
            <a:r>
              <a:rPr lang="en-US" altLang="zh-TW" sz="2400" dirty="0"/>
              <a:t>Each launched work-item executes the same kernel code, but might take different control flow paths.</a:t>
            </a:r>
          </a:p>
          <a:p>
            <a:endParaRPr lang="en-US" altLang="zh-TW" sz="2400" dirty="0"/>
          </a:p>
          <a:p>
            <a:r>
              <a:rPr lang="en-US" altLang="zh-TW" sz="2400" dirty="0"/>
              <a:t>Execution of the kernel is complete when all work-items of the </a:t>
            </a:r>
            <a:r>
              <a:rPr lang="en-US" altLang="zh-TW" sz="2400" dirty="0" err="1"/>
              <a:t>NDRange</a:t>
            </a:r>
            <a:r>
              <a:rPr lang="en-US" altLang="zh-TW" sz="2400" dirty="0"/>
              <a:t> have been launched and have completed their execution.</a:t>
            </a:r>
          </a:p>
          <a:p>
            <a:endParaRPr lang="en-US" altLang="zh-TW" sz="2400" dirty="0"/>
          </a:p>
          <a:p>
            <a:r>
              <a:rPr lang="en-US" altLang="zh-TW" sz="2400" dirty="0"/>
              <a:t>Work-items are extremely lightweight. </a:t>
            </a:r>
          </a:p>
          <a:p>
            <a:endParaRPr lang="en-US" altLang="zh-TW" sz="18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4305"/>
          <a:stretch/>
        </p:blipFill>
        <p:spPr>
          <a:xfrm>
            <a:off x="4572006" y="1663919"/>
            <a:ext cx="4471829" cy="39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2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HSAIL Virtual Language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1800" dirty="0"/>
          </a:p>
          <a:p>
            <a:r>
              <a:rPr lang="en-US" altLang="zh-TW" sz="2500" dirty="0"/>
              <a:t>HSAIL is a virtual instruction set designed for parallel processing.</a:t>
            </a:r>
          </a:p>
          <a:p>
            <a:endParaRPr lang="en-US" altLang="zh-TW" sz="2500" dirty="0"/>
          </a:p>
          <a:p>
            <a:r>
              <a:rPr lang="en-US" altLang="zh-TW" sz="2500" dirty="0"/>
              <a:t>Can be translated into many different native instruction set.</a:t>
            </a:r>
          </a:p>
          <a:p>
            <a:r>
              <a:rPr lang="en-US" altLang="zh-TW" sz="2500" dirty="0"/>
              <a:t>Each different HSA implementations can run any program written in HSAIL.</a:t>
            </a:r>
          </a:p>
          <a:p>
            <a:r>
              <a:rPr lang="en-US" altLang="zh-TW" sz="2500" dirty="0"/>
              <a:t>No parallel constructs. Each kernel contains operations for a single work-item.</a:t>
            </a:r>
          </a:p>
          <a:p>
            <a:pPr marL="0" indent="0">
              <a:buNone/>
            </a:pPr>
            <a:r>
              <a:rPr lang="en-US" altLang="zh-TW" sz="2500" dirty="0"/>
              <a:t>    (the operations in the work-item can launch more work-item.)</a:t>
            </a:r>
          </a:p>
        </p:txBody>
      </p:sp>
    </p:spTree>
    <p:extLst>
      <p:ext uri="{BB962C8B-B14F-4D97-AF65-F5344CB8AC3E}">
        <p14:creationId xmlns:p14="http://schemas.microsoft.com/office/powerpoint/2010/main" val="160770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HSAIL Virtual Language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dirty="0" smtClean="0"/>
              <a:t>HSAIL </a:t>
            </a:r>
            <a:r>
              <a:rPr lang="en-US" altLang="zh-TW" sz="2500" dirty="0"/>
              <a:t>program looks like a simple RISC-liked assembly program.</a:t>
            </a:r>
          </a:p>
          <a:p>
            <a:r>
              <a:rPr lang="en-US" altLang="zh-TW" sz="2500" dirty="0"/>
              <a:t>HSAIL Operations</a:t>
            </a:r>
          </a:p>
          <a:p>
            <a:pPr lvl="1"/>
            <a:r>
              <a:rPr lang="en-US" altLang="zh-TW" sz="2300" dirty="0"/>
              <a:t> </a:t>
            </a:r>
            <a:r>
              <a:rPr lang="en-US" altLang="zh-TW" sz="2300" dirty="0" err="1"/>
              <a:t>opcode</a:t>
            </a:r>
            <a:r>
              <a:rPr lang="en-US" altLang="zh-TW" sz="2300" dirty="0"/>
              <a:t> with a set of suffixes(data type, length, others)</a:t>
            </a:r>
          </a:p>
          <a:p>
            <a:pPr lvl="1"/>
            <a:r>
              <a:rPr lang="en-US" altLang="zh-TW" sz="2300" dirty="0"/>
              <a:t> 3 operand</a:t>
            </a:r>
          </a:p>
          <a:p>
            <a:pPr lvl="1"/>
            <a:r>
              <a:rPr lang="en-US" altLang="zh-TW" sz="2300" dirty="0"/>
              <a:t> RISC-like </a:t>
            </a:r>
            <a:r>
              <a:rPr lang="en-US" altLang="zh-TW" sz="2300" dirty="0" smtClean="0"/>
              <a:t>constructs</a:t>
            </a:r>
          </a:p>
          <a:p>
            <a:pPr marL="192882" lvl="1" indent="0">
              <a:buNone/>
            </a:pPr>
            <a:endParaRPr lang="en-US" altLang="zh-TW" sz="2500" dirty="0" smtClean="0"/>
          </a:p>
          <a:p>
            <a:r>
              <a:rPr lang="en-US" altLang="zh-TW" sz="2500" dirty="0" smtClean="0"/>
              <a:t> </a:t>
            </a:r>
            <a:r>
              <a:rPr lang="en-US" altLang="zh-TW" sz="2500" dirty="0"/>
              <a:t>Have pseudo-operations used to declare variables.</a:t>
            </a:r>
          </a:p>
          <a:p>
            <a:r>
              <a:rPr lang="en-US" altLang="zh-TW" sz="2500" dirty="0"/>
              <a:t>All mathematical operations are register-to-register only.</a:t>
            </a:r>
          </a:p>
          <a:p>
            <a:r>
              <a:rPr lang="en-US" altLang="zh-TW" sz="2500" dirty="0"/>
              <a:t>Each HSAIL program has its own set of resources. </a:t>
            </a:r>
          </a:p>
          <a:p>
            <a:r>
              <a:rPr lang="en-US" altLang="zh-TW" sz="2500" dirty="0"/>
              <a:t>For example, each work-item has a private set of registers.</a:t>
            </a:r>
          </a:p>
        </p:txBody>
      </p:sp>
    </p:spTree>
    <p:extLst>
      <p:ext uri="{BB962C8B-B14F-4D97-AF65-F5344CB8AC3E}">
        <p14:creationId xmlns:p14="http://schemas.microsoft.com/office/powerpoint/2010/main" val="241207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Unified memory model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500" dirty="0"/>
              <a:t>Unlike prior GPU hardware, HSA has a unified memory model, where all HSAIL work-items and agents can use the same pointers, and a pointer can address any kind of HSA memory.</a:t>
            </a:r>
          </a:p>
          <a:p>
            <a:endParaRPr lang="en-US" altLang="zh-TW" sz="2500" dirty="0"/>
          </a:p>
          <a:p>
            <a:r>
              <a:rPr lang="en-US" altLang="zh-TW" sz="2500" dirty="0"/>
              <a:t>Programmers are relieved of much of the burden of memory management.</a:t>
            </a:r>
          </a:p>
          <a:p>
            <a:endParaRPr lang="en-US" altLang="zh-TW" sz="2500" dirty="0"/>
          </a:p>
          <a:p>
            <a:r>
              <a:rPr lang="en-US" altLang="zh-TW" sz="2500" dirty="0"/>
              <a:t>HSA hardware determines if a load or store address should be visible to all devices in the system (global memory), visible only to work-items in a group (group memory), or private to a work-item (private memory).</a:t>
            </a:r>
          </a:p>
        </p:txBody>
      </p:sp>
    </p:spTree>
    <p:extLst>
      <p:ext uri="{BB962C8B-B14F-4D97-AF65-F5344CB8AC3E}">
        <p14:creationId xmlns:p14="http://schemas.microsoft.com/office/powerpoint/2010/main" val="227963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Unified memory model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2500" dirty="0"/>
          </a:p>
          <a:p>
            <a:r>
              <a:rPr lang="en-US" altLang="zh-TW" sz="2500" dirty="0"/>
              <a:t>The same pointer can be used by both the latency compute unit and the throughput compute unit.</a:t>
            </a:r>
          </a:p>
          <a:p>
            <a:endParaRPr lang="en-US" altLang="zh-TW" sz="2500" dirty="0"/>
          </a:p>
          <a:p>
            <a:r>
              <a:rPr lang="en-US" altLang="zh-TW" sz="2500" dirty="0"/>
              <a:t>Global memory between the latency and throughput compute units is coherent.</a:t>
            </a:r>
          </a:p>
        </p:txBody>
      </p:sp>
    </p:spTree>
    <p:extLst>
      <p:ext uri="{BB962C8B-B14F-4D97-AF65-F5344CB8AC3E}">
        <p14:creationId xmlns:p14="http://schemas.microsoft.com/office/powerpoint/2010/main" val="356684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KEY HSAIL FEATURES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Parallel</a:t>
            </a:r>
          </a:p>
          <a:p>
            <a:r>
              <a:rPr lang="en-US" altLang="zh-TW" sz="2400" dirty="0"/>
              <a:t>Shared virtual memory</a:t>
            </a:r>
          </a:p>
          <a:p>
            <a:r>
              <a:rPr lang="en-US" altLang="zh-TW" sz="2400" dirty="0"/>
              <a:t> Portable across vendors in HSA Foundation</a:t>
            </a:r>
          </a:p>
          <a:p>
            <a:r>
              <a:rPr lang="en-US" altLang="zh-TW" sz="2400" dirty="0"/>
              <a:t>Stable across multiple product </a:t>
            </a:r>
            <a:r>
              <a:rPr lang="en-US" altLang="zh-TW" sz="2400" dirty="0" smtClean="0"/>
              <a:t>generations</a:t>
            </a:r>
            <a:endParaRPr lang="en-US" altLang="zh-TW" sz="2400" dirty="0"/>
          </a:p>
          <a:p>
            <a:r>
              <a:rPr lang="en-US" altLang="zh-TW" sz="2400" dirty="0"/>
              <a:t>Consistent numerical results (IEEE-754 with defined min accuracy</a:t>
            </a:r>
            <a:r>
              <a:rPr lang="en-US" altLang="zh-TW" sz="2400" dirty="0" smtClean="0"/>
              <a:t>)</a:t>
            </a:r>
          </a:p>
          <a:p>
            <a:endParaRPr lang="en-US" altLang="zh-TW" sz="2400" dirty="0"/>
          </a:p>
          <a:p>
            <a:r>
              <a:rPr lang="en-US" altLang="zh-TW" sz="2400" dirty="0"/>
              <a:t>Fast, robust, simple finalization step (no monthly updates)</a:t>
            </a:r>
          </a:p>
          <a:p>
            <a:r>
              <a:rPr lang="en-US" altLang="zh-TW" sz="2400" dirty="0"/>
              <a:t>Good performance (little need to write in ISA)</a:t>
            </a:r>
          </a:p>
          <a:p>
            <a:r>
              <a:rPr lang="en-US" altLang="zh-TW" sz="2400" dirty="0"/>
              <a:t> Supports all of </a:t>
            </a:r>
            <a:r>
              <a:rPr lang="en-US" altLang="zh-TW" sz="2400" dirty="0" err="1"/>
              <a:t>OpenCL</a:t>
            </a:r>
            <a:r>
              <a:rPr lang="en-US" altLang="zh-TW" sz="2400" dirty="0"/>
              <a:t>™ and C++ AMP™</a:t>
            </a:r>
          </a:p>
          <a:p>
            <a:r>
              <a:rPr lang="en-US" altLang="zh-TW" sz="2400" dirty="0"/>
              <a:t> Support Java, C++, and other languages as well</a:t>
            </a:r>
          </a:p>
        </p:txBody>
      </p:sp>
    </p:spTree>
    <p:extLst>
      <p:ext uri="{BB962C8B-B14F-4D97-AF65-F5344CB8AC3E}">
        <p14:creationId xmlns:p14="http://schemas.microsoft.com/office/powerpoint/2010/main" val="86021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REGISTERS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Four classes of registers</a:t>
            </a:r>
          </a:p>
          <a:p>
            <a:pPr lvl="1"/>
            <a:r>
              <a:rPr lang="en-US" altLang="zh-TW" sz="2232" dirty="0"/>
              <a:t> C: 1-bit, Control Registers</a:t>
            </a:r>
          </a:p>
          <a:p>
            <a:pPr lvl="1"/>
            <a:r>
              <a:rPr lang="en-US" altLang="zh-TW" sz="2232" dirty="0"/>
              <a:t> S: 32-bit, Single-precision FP or </a:t>
            </a:r>
            <a:r>
              <a:rPr lang="en-US" altLang="zh-TW" sz="2232" dirty="0" err="1"/>
              <a:t>Int</a:t>
            </a:r>
            <a:endParaRPr lang="en-US" altLang="zh-TW" sz="2232" dirty="0"/>
          </a:p>
          <a:p>
            <a:pPr lvl="1"/>
            <a:r>
              <a:rPr lang="en-US" altLang="zh-TW" sz="2232" dirty="0"/>
              <a:t> D: 64-bit, Double-precision FP or Long </a:t>
            </a:r>
            <a:r>
              <a:rPr lang="en-US" altLang="zh-TW" sz="2232" dirty="0" err="1"/>
              <a:t>Int</a:t>
            </a:r>
            <a:endParaRPr lang="en-US" altLang="zh-TW" sz="2232" dirty="0"/>
          </a:p>
          <a:p>
            <a:pPr lvl="1"/>
            <a:r>
              <a:rPr lang="en-US" altLang="zh-TW" sz="2232" dirty="0"/>
              <a:t> Q: 128-bit, Packed data.</a:t>
            </a:r>
          </a:p>
          <a:p>
            <a:r>
              <a:rPr lang="en-US" altLang="zh-TW" sz="2400" dirty="0"/>
              <a:t>Fixed number of registers:</a:t>
            </a:r>
          </a:p>
          <a:p>
            <a:pPr lvl="1"/>
            <a:r>
              <a:rPr lang="en-US" altLang="zh-TW" sz="2232" dirty="0"/>
              <a:t> 8 C</a:t>
            </a:r>
          </a:p>
          <a:p>
            <a:pPr lvl="1"/>
            <a:r>
              <a:rPr lang="en-US" altLang="zh-TW" sz="2231" dirty="0"/>
              <a:t> S, D, Q share a single pool of resources</a:t>
            </a:r>
          </a:p>
          <a:p>
            <a:pPr lvl="3"/>
            <a:r>
              <a:rPr lang="en-US" altLang="zh-TW" sz="2147" dirty="0"/>
              <a:t> S + 2*D + 4*Q &lt;= 128</a:t>
            </a:r>
          </a:p>
          <a:p>
            <a:pPr lvl="3"/>
            <a:r>
              <a:rPr lang="en-US" altLang="zh-TW" sz="2147" dirty="0"/>
              <a:t> Up to 128 S or 64 D or 32 Q (or a blend)</a:t>
            </a:r>
          </a:p>
          <a:p>
            <a:r>
              <a:rPr lang="en-US" altLang="zh-TW" sz="2400" dirty="0"/>
              <a:t> Register allocation done in high-level compiler</a:t>
            </a:r>
          </a:p>
          <a:p>
            <a:pPr lvl="1"/>
            <a:r>
              <a:rPr lang="en-US" altLang="zh-TW" sz="2232" dirty="0" err="1"/>
              <a:t>Finalizer</a:t>
            </a:r>
            <a:r>
              <a:rPr lang="en-US" altLang="zh-TW" sz="2232" dirty="0"/>
              <a:t> doesn’t have to perform expensive register allocation</a:t>
            </a:r>
          </a:p>
        </p:txBody>
      </p:sp>
    </p:spTree>
    <p:extLst>
      <p:ext uri="{BB962C8B-B14F-4D97-AF65-F5344CB8AC3E}">
        <p14:creationId xmlns:p14="http://schemas.microsoft.com/office/powerpoint/2010/main" val="251626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HSAIL INSTRUCTION SET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HSAIL INSTRUCTION SET </a:t>
            </a:r>
          </a:p>
          <a:p>
            <a:pPr lvl="1"/>
            <a:r>
              <a:rPr lang="en-US" altLang="zh-TW" sz="2064" dirty="0"/>
              <a:t>Load-store architecture</a:t>
            </a:r>
          </a:p>
          <a:p>
            <a:pPr lvl="1"/>
            <a:r>
              <a:rPr lang="en-US" altLang="zh-TW" sz="2064" dirty="0"/>
              <a:t> ld_global_u64  $d0, [$d6 + 120];  //$d0= load($d6+120)</a:t>
            </a:r>
          </a:p>
          <a:p>
            <a:pPr lvl="1"/>
            <a:r>
              <a:rPr lang="en-US" altLang="zh-TW" sz="2064" dirty="0"/>
              <a:t> add_u64  $d1, $d2, 24;	//$d1= $d2+24</a:t>
            </a:r>
          </a:p>
          <a:p>
            <a:r>
              <a:rPr lang="fr-FR" altLang="zh-TW" sz="2232" dirty="0"/>
              <a:t>136 opcodes (Java™ bytecode has 200)</a:t>
            </a:r>
          </a:p>
          <a:p>
            <a:pPr lvl="1"/>
            <a:r>
              <a:rPr lang="en-US" altLang="zh-TW" sz="2064" dirty="0"/>
              <a:t>Floating point (single, double, half (f16))</a:t>
            </a:r>
          </a:p>
          <a:p>
            <a:pPr lvl="1"/>
            <a:r>
              <a:rPr lang="en-US" altLang="zh-TW" sz="2064" dirty="0"/>
              <a:t>Integer (32-bit, 64-bit)</a:t>
            </a:r>
          </a:p>
          <a:p>
            <a:pPr lvl="1"/>
            <a:r>
              <a:rPr lang="en-US" altLang="zh-TW" sz="2064" dirty="0"/>
              <a:t>Some packed operations</a:t>
            </a:r>
          </a:p>
          <a:p>
            <a:pPr lvl="1"/>
            <a:r>
              <a:rPr lang="en-US" altLang="zh-TW" sz="2064" dirty="0"/>
              <a:t>Branches</a:t>
            </a:r>
          </a:p>
          <a:p>
            <a:pPr lvl="1"/>
            <a:r>
              <a:rPr lang="en-US" altLang="zh-TW" sz="2064" dirty="0"/>
              <a:t>Function calls</a:t>
            </a:r>
          </a:p>
          <a:p>
            <a:pPr lvl="1"/>
            <a:r>
              <a:rPr lang="en-US" altLang="zh-TW" sz="2064" dirty="0"/>
              <a:t>Platform Atomic Operations: and, or, </a:t>
            </a:r>
            <a:r>
              <a:rPr lang="en-US" altLang="zh-TW" sz="2064" dirty="0" err="1"/>
              <a:t>xor</a:t>
            </a:r>
            <a:r>
              <a:rPr lang="en-US" altLang="zh-TW" sz="2064" dirty="0"/>
              <a:t>, </a:t>
            </a:r>
            <a:r>
              <a:rPr lang="en-US" altLang="zh-TW" sz="2064" dirty="0" err="1"/>
              <a:t>exch</a:t>
            </a:r>
            <a:r>
              <a:rPr lang="en-US" altLang="zh-TW" sz="2064" dirty="0"/>
              <a:t>, add, sub, </a:t>
            </a:r>
            <a:r>
              <a:rPr lang="en-US" altLang="zh-TW" sz="2064" dirty="0" err="1"/>
              <a:t>inc</a:t>
            </a:r>
            <a:r>
              <a:rPr lang="en-US" altLang="zh-TW" sz="2064" dirty="0"/>
              <a:t>, </a:t>
            </a:r>
            <a:r>
              <a:rPr lang="en-US" altLang="zh-TW" sz="2064" dirty="0" err="1"/>
              <a:t>dec</a:t>
            </a:r>
            <a:r>
              <a:rPr lang="en-US" altLang="zh-TW" sz="2064" dirty="0"/>
              <a:t>, max, min, </a:t>
            </a:r>
            <a:r>
              <a:rPr lang="en-US" altLang="zh-TW" sz="2064" dirty="0" err="1"/>
              <a:t>cas</a:t>
            </a:r>
            <a:r>
              <a:rPr lang="en-US" altLang="zh-TW" sz="2064" dirty="0"/>
              <a:t>      (</a:t>
            </a:r>
            <a:r>
              <a:rPr lang="en-US" altLang="zh-TW" sz="1811" dirty="0"/>
              <a:t>Synchronize host CPU and HSA Component)</a:t>
            </a:r>
          </a:p>
          <a:p>
            <a:r>
              <a:rPr lang="en-US" altLang="zh-TW" sz="1979" dirty="0"/>
              <a:t>Text and Binary formats (“BRIG”)</a:t>
            </a:r>
          </a:p>
        </p:txBody>
      </p:sp>
    </p:spTree>
    <p:extLst>
      <p:ext uri="{BB962C8B-B14F-4D97-AF65-F5344CB8AC3E}">
        <p14:creationId xmlns:p14="http://schemas.microsoft.com/office/powerpoint/2010/main" val="94079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10" y="1111212"/>
            <a:ext cx="5638790" cy="4994556"/>
          </a:xfrm>
          <a:prstGeom prst="rect">
            <a:avLst/>
          </a:prstGeom>
        </p:spPr>
      </p:pic>
      <p:sp>
        <p:nvSpPr>
          <p:cNvPr id="6" name="標題 1"/>
          <p:cNvSpPr txBox="1">
            <a:spLocks/>
          </p:cNvSpPr>
          <p:nvPr/>
        </p:nvSpPr>
        <p:spPr bwMode="auto">
          <a:xfrm>
            <a:off x="2273657" y="225370"/>
            <a:ext cx="435792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19288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38576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57864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77152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2800" kern="0" dirty="0"/>
              <a:t>HSA Memory </a:t>
            </a:r>
            <a:r>
              <a:rPr lang="en-US" altLang="zh-TW" sz="2800" kern="0" dirty="0" smtClean="0"/>
              <a:t>Hierarchy</a:t>
            </a:r>
            <a:endParaRPr lang="zh-TW" alt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75548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SEGMENTS AND MEMORY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SEGMENTS AND </a:t>
            </a:r>
            <a:r>
              <a:rPr lang="en-US" altLang="zh-TW" sz="2400" dirty="0" smtClean="0"/>
              <a:t>MEMORY</a:t>
            </a:r>
          </a:p>
          <a:p>
            <a:pPr lvl="1"/>
            <a:r>
              <a:rPr lang="en-US" altLang="zh-TW" sz="1896" dirty="0"/>
              <a:t> global, </a:t>
            </a:r>
            <a:r>
              <a:rPr lang="en-US" altLang="zh-TW" sz="1896" dirty="0" err="1"/>
              <a:t>readonly</a:t>
            </a:r>
            <a:r>
              <a:rPr lang="en-US" altLang="zh-TW" sz="1896" dirty="0"/>
              <a:t>, group, spill, private, </a:t>
            </a:r>
            <a:r>
              <a:rPr lang="en-US" altLang="zh-TW" sz="1896" dirty="0" err="1"/>
              <a:t>arg</a:t>
            </a:r>
            <a:r>
              <a:rPr lang="en-US" altLang="zh-TW" sz="1896" dirty="0"/>
              <a:t>, </a:t>
            </a:r>
            <a:r>
              <a:rPr lang="en-US" altLang="zh-TW" sz="1896" dirty="0" err="1" smtClean="0"/>
              <a:t>kernarg</a:t>
            </a:r>
            <a:endParaRPr lang="en-US" altLang="zh-TW" sz="1896" dirty="0" smtClean="0"/>
          </a:p>
          <a:p>
            <a:pPr lvl="1"/>
            <a:r>
              <a:rPr lang="en-US" altLang="zh-TW" sz="2064" dirty="0"/>
              <a:t> </a:t>
            </a:r>
            <a:r>
              <a:rPr lang="en-US" altLang="zh-TW" sz="2064" dirty="0" smtClean="0"/>
              <a:t>Memory </a:t>
            </a:r>
            <a:r>
              <a:rPr lang="en-US" altLang="zh-TW" sz="2064" dirty="0"/>
              <a:t>instructions can (optionally) specify a </a:t>
            </a:r>
            <a:r>
              <a:rPr lang="en-US" altLang="zh-TW" sz="2064" dirty="0" smtClean="0"/>
              <a:t>segment</a:t>
            </a:r>
          </a:p>
          <a:p>
            <a:pPr lvl="1"/>
            <a:endParaRPr lang="en-US" altLang="zh-TW" sz="2064" dirty="0" smtClean="0"/>
          </a:p>
          <a:p>
            <a:r>
              <a:rPr lang="fr-FR" altLang="zh-TW" sz="2232" dirty="0"/>
              <a:t>Global </a:t>
            </a:r>
            <a:r>
              <a:rPr lang="fr-FR" altLang="zh-TW" sz="2232" dirty="0" smtClean="0"/>
              <a:t>Segment</a:t>
            </a:r>
          </a:p>
          <a:p>
            <a:pPr lvl="1"/>
            <a:r>
              <a:rPr lang="en-US" altLang="zh-TW" sz="1896" dirty="0"/>
              <a:t>Visible to all HSA agents (including host CPU</a:t>
            </a:r>
            <a:r>
              <a:rPr lang="en-US" altLang="zh-TW" sz="1896" dirty="0" smtClean="0"/>
              <a:t>)</a:t>
            </a:r>
          </a:p>
          <a:p>
            <a:pPr lvl="1"/>
            <a:endParaRPr lang="en-US" altLang="zh-TW" sz="1896" dirty="0" smtClean="0"/>
          </a:p>
          <a:p>
            <a:r>
              <a:rPr lang="en-US" altLang="zh-TW" sz="1979" dirty="0"/>
              <a:t>Group </a:t>
            </a:r>
            <a:r>
              <a:rPr lang="en-US" altLang="zh-TW" sz="1979" dirty="0" smtClean="0"/>
              <a:t>Segment</a:t>
            </a:r>
          </a:p>
          <a:p>
            <a:pPr lvl="1"/>
            <a:r>
              <a:rPr lang="en-US" altLang="zh-TW" sz="1811" dirty="0"/>
              <a:t>Provides high-performance memory shared in the work-group by every </a:t>
            </a:r>
            <a:r>
              <a:rPr lang="en-US" altLang="zh-TW" sz="1811" dirty="0" smtClean="0"/>
              <a:t>work-item</a:t>
            </a:r>
          </a:p>
          <a:p>
            <a:pPr lvl="1"/>
            <a:endParaRPr lang="en-US" altLang="zh-TW" sz="1811" dirty="0" smtClean="0"/>
          </a:p>
          <a:p>
            <a:r>
              <a:rPr lang="en-US" altLang="zh-TW" sz="1979" dirty="0"/>
              <a:t>Spill, Private, </a:t>
            </a:r>
            <a:r>
              <a:rPr lang="en-US" altLang="zh-TW" sz="1979" dirty="0" err="1"/>
              <a:t>Arg</a:t>
            </a:r>
            <a:r>
              <a:rPr lang="en-US" altLang="zh-TW" sz="1979" dirty="0"/>
              <a:t> </a:t>
            </a:r>
            <a:r>
              <a:rPr lang="en-US" altLang="zh-TW" sz="1979" dirty="0" smtClean="0"/>
              <a:t>Segments</a:t>
            </a:r>
          </a:p>
          <a:p>
            <a:pPr lvl="1"/>
            <a:r>
              <a:rPr lang="en-US" altLang="zh-TW" sz="1811" dirty="0"/>
              <a:t> Represent different regions of a per-work-item stack typically generated by </a:t>
            </a:r>
            <a:r>
              <a:rPr lang="en-US" altLang="zh-TW" sz="1811" dirty="0" smtClean="0"/>
              <a:t>compiler</a:t>
            </a:r>
            <a:endParaRPr lang="en-US" altLang="zh-TW" sz="1811" dirty="0"/>
          </a:p>
          <a:p>
            <a:endParaRPr lang="en-US" altLang="zh-TW" sz="1979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5521234" y="2650133"/>
            <a:ext cx="3082835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>
                <a:ea typeface="標楷體" pitchFamily="65" charset="-120"/>
                <a:cs typeface="Calibri" pitchFamily="34" charset="0"/>
              </a:rPr>
              <a:t>ld_global_u64 $d0, [$d6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]</a:t>
            </a:r>
          </a:p>
          <a:p>
            <a:r>
              <a:rPr lang="en-US" altLang="zh-TW" dirty="0">
                <a:ea typeface="標楷體" pitchFamily="65" charset="-120"/>
                <a:cs typeface="Calibri" pitchFamily="34" charset="0"/>
              </a:rPr>
              <a:t>ld_group_u64 $d0,[$d6+24]</a:t>
            </a:r>
          </a:p>
          <a:p>
            <a:r>
              <a:rPr lang="en-US" altLang="zh-TW" dirty="0">
                <a:ea typeface="標楷體" pitchFamily="65" charset="-120"/>
                <a:cs typeface="Calibri" pitchFamily="34" charset="0"/>
              </a:rPr>
              <a:t>st_spill_f32 $s1,[$d6+4]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68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73657" y="225370"/>
            <a:ext cx="4357923" cy="519113"/>
          </a:xfrm>
        </p:spPr>
        <p:txBody>
          <a:bodyPr/>
          <a:lstStyle/>
          <a:p>
            <a:r>
              <a:rPr lang="en-US" altLang="zh-TW" sz="2800" dirty="0"/>
              <a:t>SEGMENTS AND MEMORY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err="1"/>
              <a:t>Kernarg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Segment</a:t>
            </a:r>
            <a:endParaRPr lang="en-US" altLang="zh-TW" sz="1896" dirty="0" smtClean="0"/>
          </a:p>
          <a:p>
            <a:pPr lvl="1"/>
            <a:r>
              <a:rPr lang="en-US" altLang="zh-TW" sz="2064" dirty="0"/>
              <a:t>  Programmer writes </a:t>
            </a:r>
            <a:r>
              <a:rPr lang="en-US" altLang="zh-TW" sz="2064" dirty="0" err="1"/>
              <a:t>kernarg</a:t>
            </a:r>
            <a:r>
              <a:rPr lang="en-US" altLang="zh-TW" sz="2064" dirty="0"/>
              <a:t> segment to pass arguments to a kernel</a:t>
            </a:r>
            <a:endParaRPr lang="en-US" altLang="zh-TW" sz="2064" dirty="0" smtClean="0"/>
          </a:p>
          <a:p>
            <a:pPr lvl="1"/>
            <a:endParaRPr lang="en-US" altLang="zh-TW" sz="2064" dirty="0" smtClean="0"/>
          </a:p>
          <a:p>
            <a:r>
              <a:rPr lang="fr-FR" altLang="zh-TW" sz="2232" dirty="0"/>
              <a:t>Read-Only </a:t>
            </a:r>
            <a:r>
              <a:rPr lang="fr-FR" altLang="zh-TW" sz="2232" dirty="0" smtClean="0"/>
              <a:t>Segment</a:t>
            </a:r>
          </a:p>
          <a:p>
            <a:pPr lvl="1"/>
            <a:r>
              <a:rPr lang="en-US" altLang="zh-TW" sz="1728" dirty="0"/>
              <a:t>Remains constant during execution of </a:t>
            </a:r>
            <a:r>
              <a:rPr lang="en-US" altLang="zh-TW" sz="1728" dirty="0" smtClean="0"/>
              <a:t>kernel</a:t>
            </a:r>
          </a:p>
          <a:p>
            <a:pPr lvl="1"/>
            <a:endParaRPr lang="en-US" altLang="zh-TW" sz="1896" dirty="0" smtClean="0"/>
          </a:p>
          <a:p>
            <a:r>
              <a:rPr lang="en-US" altLang="zh-TW" sz="1979" dirty="0"/>
              <a:t>Flat </a:t>
            </a:r>
            <a:r>
              <a:rPr lang="en-US" altLang="zh-TW" sz="1979" dirty="0" smtClean="0"/>
              <a:t>Addressing</a:t>
            </a:r>
          </a:p>
          <a:p>
            <a:pPr lvl="1"/>
            <a:r>
              <a:rPr lang="en-US" altLang="zh-TW" sz="1811" dirty="0"/>
              <a:t>Each segment mapped into virtual address </a:t>
            </a:r>
            <a:r>
              <a:rPr lang="en-US" altLang="zh-TW" sz="1811" dirty="0" smtClean="0"/>
              <a:t>space</a:t>
            </a:r>
          </a:p>
          <a:p>
            <a:pPr lvl="3"/>
            <a:r>
              <a:rPr lang="en-US" altLang="zh-TW" sz="1558" dirty="0"/>
              <a:t> Flat addresses can map to segments based on virtual </a:t>
            </a:r>
            <a:r>
              <a:rPr lang="en-US" altLang="zh-TW" sz="1558" dirty="0" smtClean="0"/>
              <a:t>address</a:t>
            </a:r>
            <a:endParaRPr lang="en-US" altLang="zh-TW" sz="1558" dirty="0"/>
          </a:p>
          <a:p>
            <a:pPr lvl="1"/>
            <a:r>
              <a:rPr lang="en-US" altLang="zh-TW" sz="1811" dirty="0"/>
              <a:t>Instructions with no explicit segment use flat </a:t>
            </a:r>
            <a:r>
              <a:rPr lang="en-US" altLang="zh-TW" sz="1811" dirty="0" smtClean="0"/>
              <a:t>addressing</a:t>
            </a:r>
          </a:p>
          <a:p>
            <a:pPr lvl="1"/>
            <a:r>
              <a:rPr lang="en-US" altLang="zh-TW" sz="1811" dirty="0"/>
              <a:t>Very useful for high-level language support (</a:t>
            </a:r>
            <a:r>
              <a:rPr lang="en-US" altLang="zh-TW" sz="1811" dirty="0" err="1"/>
              <a:t>ie</a:t>
            </a:r>
            <a:r>
              <a:rPr lang="en-US" altLang="zh-TW" sz="1811" dirty="0"/>
              <a:t> classes, libraries</a:t>
            </a:r>
            <a:r>
              <a:rPr lang="en-US" altLang="zh-TW" sz="1811" dirty="0" smtClean="0"/>
              <a:t>)</a:t>
            </a:r>
          </a:p>
          <a:p>
            <a:pPr lvl="1"/>
            <a:r>
              <a:rPr lang="en-US" altLang="zh-TW" sz="1811" dirty="0"/>
              <a:t> Aligns well with </a:t>
            </a:r>
            <a:r>
              <a:rPr lang="en-US" altLang="zh-TW" sz="1811" dirty="0" err="1"/>
              <a:t>OpenCL</a:t>
            </a:r>
            <a:r>
              <a:rPr lang="en-US" altLang="zh-TW" sz="1811" dirty="0"/>
              <a:t>™ 2.0 “generic” addressing feature</a:t>
            </a:r>
            <a:endParaRPr lang="en-US" altLang="zh-TW" sz="1811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2577737" y="3388797"/>
            <a:ext cx="617002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>
                <a:ea typeface="標楷體" pitchFamily="65" charset="-120"/>
                <a:cs typeface="Calibri" pitchFamily="34" charset="0"/>
              </a:rPr>
              <a:t>ld_kernarg_u64 $d6, [%_arg0</a:t>
            </a:r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];  ld_u64 </a:t>
            </a:r>
            <a:r>
              <a:rPr lang="en-US" altLang="zh-TW" dirty="0">
                <a:ea typeface="標楷體" pitchFamily="65" charset="-120"/>
                <a:cs typeface="Calibri" pitchFamily="34" charset="0"/>
              </a:rPr>
              <a:t>$d0,[$d6+24] ; 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06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BRIG: HSAIL Binary Format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The BRIG representation describes all aspects of the textual representation of HSAIL except</a:t>
            </a:r>
          </a:p>
          <a:p>
            <a:r>
              <a:rPr lang="en-US" altLang="zh-TW" sz="2400" dirty="0"/>
              <a:t>BRIG format is made up of five sections</a:t>
            </a:r>
          </a:p>
          <a:p>
            <a:pPr lvl="1"/>
            <a:r>
              <a:rPr lang="en-US" altLang="zh-TW" sz="2400" dirty="0">
                <a:cs typeface="+mn-cs"/>
              </a:rPr>
              <a:t>.</a:t>
            </a:r>
            <a:r>
              <a:rPr lang="en-US" altLang="zh-TW" sz="1800" dirty="0">
                <a:cs typeface="+mn-cs"/>
              </a:rPr>
              <a:t>string — String section, containing all character strings and byte data used in the compilation unit.</a:t>
            </a:r>
          </a:p>
          <a:p>
            <a:pPr lvl="1"/>
            <a:r>
              <a:rPr lang="en-US" altLang="zh-TW" sz="1800" dirty="0">
                <a:cs typeface="+mn-cs"/>
              </a:rPr>
              <a:t>.directive — The directives, which provide information for the </a:t>
            </a:r>
            <a:r>
              <a:rPr lang="en-US" altLang="zh-TW" sz="1800" dirty="0" err="1">
                <a:cs typeface="+mn-cs"/>
              </a:rPr>
              <a:t>finalizer</a:t>
            </a:r>
            <a:r>
              <a:rPr lang="en-US" altLang="zh-TW" sz="1800" dirty="0">
                <a:cs typeface="+mn-cs"/>
              </a:rPr>
              <a:t>. The directives do not generate code.</a:t>
            </a:r>
          </a:p>
          <a:p>
            <a:pPr lvl="1"/>
            <a:r>
              <a:rPr lang="en-US" altLang="zh-TW" sz="1800" dirty="0">
                <a:cs typeface="+mn-cs"/>
              </a:rPr>
              <a:t>.code — All of the executable operations. Most operations contain offsets to the .operand section.</a:t>
            </a:r>
          </a:p>
          <a:p>
            <a:pPr lvl="1"/>
            <a:r>
              <a:rPr lang="en-US" altLang="zh-TW" sz="1800" dirty="0">
                <a:cs typeface="+mn-cs"/>
              </a:rPr>
              <a:t>.operand — The operands, such as immediate constants, registers, and address expressions, that appear in the operations.</a:t>
            </a:r>
          </a:p>
          <a:p>
            <a:pPr lvl="1"/>
            <a:r>
              <a:rPr lang="en-US" altLang="zh-TW" sz="1800" dirty="0">
                <a:cs typeface="+mn-cs"/>
              </a:rPr>
              <a:t>.debug — The debug information generated by the high-level compiler. The </a:t>
            </a:r>
            <a:r>
              <a:rPr lang="en-US" altLang="zh-TW" sz="1800" dirty="0" err="1">
                <a:cs typeface="+mn-cs"/>
              </a:rPr>
              <a:t>finalizer</a:t>
            </a:r>
            <a:r>
              <a:rPr lang="en-US" altLang="zh-TW" sz="1800" dirty="0">
                <a:cs typeface="+mn-cs"/>
              </a:rPr>
              <a:t> does not modify the .debug section.</a:t>
            </a:r>
          </a:p>
        </p:txBody>
      </p:sp>
    </p:spTree>
    <p:extLst>
      <p:ext uri="{BB962C8B-B14F-4D97-AF65-F5344CB8AC3E}">
        <p14:creationId xmlns:p14="http://schemas.microsoft.com/office/powerpoint/2010/main" val="22416485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1609142" y="127046"/>
            <a:ext cx="5575430" cy="692150"/>
          </a:xfrm>
        </p:spPr>
        <p:txBody>
          <a:bodyPr/>
          <a:lstStyle/>
          <a:p>
            <a:r>
              <a:rPr lang="en-US" altLang="zh-TW" sz="2800" dirty="0"/>
              <a:t>HSAIL Programming Model</a:t>
            </a:r>
            <a:endParaRPr lang="zh-TW" altLang="en-US" sz="2800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200" dirty="0"/>
              <a:t>Overview of Grids, Work-Groups, and </a:t>
            </a:r>
            <a:r>
              <a:rPr lang="en-US" altLang="zh-TW" sz="2200" dirty="0" smtClean="0"/>
              <a:t>Work-Items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 smtClean="0"/>
              <a:t>Work-Groups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 smtClean="0"/>
              <a:t>Work-Items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/>
              <a:t>Scalable Data-Parallel </a:t>
            </a:r>
            <a:r>
              <a:rPr lang="en-US" altLang="zh-TW" sz="2200" dirty="0" smtClean="0"/>
              <a:t>Computing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/>
              <a:t>Active Work-Groups and Active </a:t>
            </a:r>
            <a:r>
              <a:rPr lang="en-US" altLang="zh-TW" sz="2200" dirty="0" smtClean="0"/>
              <a:t>Work-Items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 err="1"/>
              <a:t>Wavefronts</a:t>
            </a:r>
            <a:r>
              <a:rPr lang="en-US" altLang="zh-TW" sz="2200" dirty="0"/>
              <a:t>, Lanes, and </a:t>
            </a:r>
            <a:r>
              <a:rPr lang="en-US" altLang="zh-TW" sz="2200" dirty="0" err="1"/>
              <a:t>Wavefront</a:t>
            </a:r>
            <a:r>
              <a:rPr lang="en-US" altLang="zh-TW" sz="2200" dirty="0"/>
              <a:t> </a:t>
            </a:r>
            <a:r>
              <a:rPr lang="en-US" altLang="zh-TW" sz="2200" dirty="0" smtClean="0"/>
              <a:t>Sizes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/>
              <a:t>Types of </a:t>
            </a:r>
            <a:r>
              <a:rPr lang="en-US" altLang="zh-TW" sz="2200" dirty="0" smtClean="0"/>
              <a:t>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 smtClean="0"/>
              <a:t>Segments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200" dirty="0"/>
              <a:t>Flat Memory and </a:t>
            </a:r>
            <a:r>
              <a:rPr lang="en-US" altLang="zh-TW" sz="2200" dirty="0" smtClean="0"/>
              <a:t>Agents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Small and Large Machine Models</a:t>
            </a:r>
            <a:endParaRPr lang="en-US" altLang="zh-TW" sz="2200" dirty="0" smtClean="0"/>
          </a:p>
        </p:txBody>
      </p:sp>
    </p:spTree>
    <p:extLst>
      <p:ext uri="{BB962C8B-B14F-4D97-AF65-F5344CB8AC3E}">
        <p14:creationId xmlns:p14="http://schemas.microsoft.com/office/powerpoint/2010/main" val="94295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The </a:t>
            </a:r>
            <a:r>
              <a:rPr lang="en-US" altLang="zh-TW" sz="2400" dirty="0"/>
              <a:t>kernel language runtime can be used to invoke </a:t>
            </a:r>
            <a:r>
              <a:rPr lang="en-US" altLang="zh-TW" sz="2400" dirty="0" smtClean="0"/>
              <a:t>the kernel </a:t>
            </a:r>
            <a:r>
              <a:rPr lang="en-US" altLang="zh-TW" sz="2400" dirty="0"/>
              <a:t>language compiler </a:t>
            </a:r>
            <a:r>
              <a:rPr lang="en-US" altLang="zh-TW" sz="2400" dirty="0" smtClean="0"/>
              <a:t>that will </a:t>
            </a:r>
            <a:r>
              <a:rPr lang="en-US" altLang="zh-TW" sz="2400" dirty="0"/>
              <a:t>produce HSAIL. </a:t>
            </a:r>
            <a:endParaRPr lang="en-US" altLang="zh-TW" sz="2400" dirty="0" smtClean="0"/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HSA runtime can then be used by the language runtime </a:t>
            </a:r>
            <a:r>
              <a:rPr lang="en-US" altLang="zh-TW" sz="2400" dirty="0" smtClean="0"/>
              <a:t>to execute </a:t>
            </a:r>
            <a:r>
              <a:rPr lang="en-US" altLang="zh-TW" sz="2400" dirty="0"/>
              <a:t>the </a:t>
            </a:r>
            <a:r>
              <a:rPr lang="en-US" altLang="zh-TW" sz="2400" dirty="0" err="1"/>
              <a:t>finalizer</a:t>
            </a:r>
            <a:r>
              <a:rPr lang="en-US" altLang="zh-TW" sz="2400" dirty="0"/>
              <a:t> for the HSA component that will execute the kernel. </a:t>
            </a:r>
            <a:endParaRPr lang="en-US" altLang="zh-TW" sz="2400" dirty="0" smtClean="0"/>
          </a:p>
          <a:p>
            <a:r>
              <a:rPr lang="en-US" altLang="zh-TW" sz="2400" dirty="0" smtClean="0"/>
              <a:t>The </a:t>
            </a:r>
            <a:r>
              <a:rPr lang="en-US" altLang="zh-TW" sz="2400" dirty="0" err="1"/>
              <a:t>finalizer</a:t>
            </a:r>
            <a:r>
              <a:rPr lang="en-US" altLang="zh-TW" sz="2400" dirty="0"/>
              <a:t> takes the HSAIL and produces kernel ISA that will execute on that HSA component.</a:t>
            </a:r>
          </a:p>
          <a:p>
            <a:r>
              <a:rPr lang="en-US" altLang="zh-TW" sz="2400" dirty="0"/>
              <a:t>If the HSAIL requires more resources than are available on the device, it will return a failure result.</a:t>
            </a:r>
          </a:p>
          <a:p>
            <a:r>
              <a:rPr lang="en-US" altLang="zh-TW" sz="2400" dirty="0"/>
              <a:t>For example, the kernel might require more group memory, or more </a:t>
            </a:r>
            <a:r>
              <a:rPr lang="en-US" altLang="zh-TW" sz="2400" dirty="0" err="1"/>
              <a:t>fbarriers</a:t>
            </a:r>
            <a:r>
              <a:rPr lang="en-US" altLang="zh-TW" sz="2400" dirty="0"/>
              <a:t> than are available on the device.</a:t>
            </a:r>
          </a:p>
          <a:p>
            <a:endParaRPr lang="en-US" altLang="zh-TW" sz="2400" dirty="0"/>
          </a:p>
          <a:p>
            <a:pPr marL="0" indent="0">
              <a:buNone/>
            </a:pP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99587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An HSA component can have multiple AQL queues associated with it. </a:t>
            </a:r>
            <a:endParaRPr lang="en-US" altLang="zh-TW" sz="2400" dirty="0" smtClean="0"/>
          </a:p>
          <a:p>
            <a:r>
              <a:rPr lang="en-US" altLang="zh-TW" sz="2400" dirty="0" smtClean="0"/>
              <a:t>Each </a:t>
            </a:r>
            <a:r>
              <a:rPr lang="en-US" altLang="zh-TW" sz="2400" dirty="0"/>
              <a:t>queue </a:t>
            </a:r>
            <a:r>
              <a:rPr lang="en-US" altLang="zh-TW" sz="2400" dirty="0" smtClean="0"/>
              <a:t>has a </a:t>
            </a:r>
            <a:r>
              <a:rPr lang="en-US" altLang="zh-TW" sz="2400" dirty="0"/>
              <a:t>queue ID, which is unique across all the queues currently created by the </a:t>
            </a:r>
            <a:r>
              <a:rPr lang="en-US" altLang="zh-TW" sz="2400" dirty="0" smtClean="0"/>
              <a:t>process executing </a:t>
            </a:r>
            <a:r>
              <a:rPr lang="en-US" altLang="zh-TW" sz="2400" dirty="0"/>
              <a:t>the program</a:t>
            </a:r>
            <a:r>
              <a:rPr lang="en-US" altLang="zh-TW" sz="2400" dirty="0" smtClean="0"/>
              <a:t>.</a:t>
            </a:r>
            <a:endParaRPr lang="en-US" altLang="zh-TW" sz="1800" dirty="0"/>
          </a:p>
          <a:p>
            <a:r>
              <a:rPr lang="en-US" altLang="zh-TW" sz="2400" dirty="0"/>
              <a:t>A request to execute a kernel is made by appending an AQL dispatch packet on a </a:t>
            </a:r>
            <a:r>
              <a:rPr lang="en-US" altLang="zh-TW" sz="2400" dirty="0" smtClean="0"/>
              <a:t>queue associated </a:t>
            </a:r>
            <a:r>
              <a:rPr lang="en-US" altLang="zh-TW" sz="2400" dirty="0"/>
              <a:t>with an HSA component. </a:t>
            </a:r>
            <a:endParaRPr lang="en-US" altLang="zh-TW" sz="2400" dirty="0" smtClean="0"/>
          </a:p>
          <a:p>
            <a:r>
              <a:rPr lang="en-US" altLang="zh-TW" sz="2400" dirty="0" smtClean="0"/>
              <a:t>Each </a:t>
            </a:r>
            <a:r>
              <a:rPr lang="en-US" altLang="zh-TW" sz="2400" dirty="0"/>
              <a:t>dispatch packet is assigned a dispatch ID </a:t>
            </a:r>
            <a:r>
              <a:rPr lang="en-US" altLang="zh-TW" sz="2400" dirty="0" smtClean="0"/>
              <a:t>that is </a:t>
            </a:r>
            <a:r>
              <a:rPr lang="en-US" altLang="zh-TW" sz="2400" dirty="0"/>
              <a:t>unique for each queue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02250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Each HSA component services all the queues associated with it, and dispatches </a:t>
            </a:r>
            <a:r>
              <a:rPr lang="en-US" altLang="zh-TW" sz="2400" dirty="0" smtClean="0"/>
              <a:t>the kernel </a:t>
            </a:r>
            <a:r>
              <a:rPr lang="en-US" altLang="zh-TW" sz="2400" dirty="0"/>
              <a:t>ISA associated with the queued dispatch packets, which causes the kernel </a:t>
            </a:r>
            <a:r>
              <a:rPr lang="en-US" altLang="zh-TW" sz="2400" dirty="0" smtClean="0"/>
              <a:t>to be executed.</a:t>
            </a:r>
          </a:p>
          <a:p>
            <a:r>
              <a:rPr lang="en-US" altLang="zh-TW" sz="2400" dirty="0" smtClean="0"/>
              <a:t>If </a:t>
            </a:r>
            <a:r>
              <a:rPr lang="en-US" altLang="zh-TW" sz="2400" dirty="0"/>
              <a:t>the HSA component has insufficient resources to execute at least </a:t>
            </a:r>
            <a:r>
              <a:rPr lang="en-US" altLang="zh-TW" sz="2400" dirty="0" smtClean="0"/>
              <a:t>one work-group</a:t>
            </a:r>
            <a:r>
              <a:rPr lang="en-US" altLang="zh-TW" sz="2400" dirty="0"/>
              <a:t>, then the dispatch fails, no kernel execution occurs, and the </a:t>
            </a:r>
            <a:r>
              <a:rPr lang="en-US" altLang="zh-TW" sz="2400" dirty="0" smtClean="0"/>
              <a:t>dispatch completion </a:t>
            </a:r>
            <a:r>
              <a:rPr lang="en-US" altLang="zh-TW" sz="2400" dirty="0"/>
              <a:t>object indicates a failure. </a:t>
            </a:r>
            <a:endParaRPr lang="en-US" altLang="zh-TW" sz="2400" dirty="0" smtClean="0"/>
          </a:p>
          <a:p>
            <a:r>
              <a:rPr lang="en-US" altLang="zh-TW" sz="2400" dirty="0" smtClean="0"/>
              <a:t>For </a:t>
            </a:r>
            <a:r>
              <a:rPr lang="en-US" altLang="zh-TW" sz="2400" dirty="0"/>
              <a:t>example, the dispatch might request </a:t>
            </a:r>
            <a:r>
              <a:rPr lang="en-US" altLang="zh-TW" sz="2400" dirty="0" smtClean="0"/>
              <a:t>more dynamic </a:t>
            </a:r>
            <a:r>
              <a:rPr lang="en-US" altLang="zh-TW" sz="2400" dirty="0"/>
              <a:t>group memory than is available. A dispatch may, but is not required to, </a:t>
            </a:r>
            <a:r>
              <a:rPr lang="en-US" altLang="zh-TW" sz="2400" dirty="0" smtClean="0"/>
              <a:t>fail if </a:t>
            </a:r>
            <a:r>
              <a:rPr lang="en-US" altLang="zh-TW" sz="2400" dirty="0"/>
              <a:t>the dispatch arguments are not compatible with any </a:t>
            </a:r>
            <a:r>
              <a:rPr lang="en-US" altLang="zh-TW" sz="2400" dirty="0" smtClean="0"/>
              <a:t>control directives specified when </a:t>
            </a:r>
            <a:r>
              <a:rPr lang="en-US" altLang="zh-TW" sz="2400" dirty="0"/>
              <a:t>the kernel was finalized. For example, the dispatch work-group size might </a:t>
            </a:r>
            <a:r>
              <a:rPr lang="en-US" altLang="zh-TW" sz="2400" dirty="0" smtClean="0"/>
              <a:t>not match </a:t>
            </a:r>
            <a:r>
              <a:rPr lang="en-US" altLang="zh-TW" sz="2400" dirty="0"/>
              <a:t>the values specified by a </a:t>
            </a:r>
            <a:r>
              <a:rPr lang="en-US" altLang="zh-TW" sz="2400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requiredworkgroupsize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control directive.</a:t>
            </a:r>
          </a:p>
        </p:txBody>
      </p:sp>
    </p:spTree>
    <p:extLst>
      <p:ext uri="{BB962C8B-B14F-4D97-AF65-F5344CB8AC3E}">
        <p14:creationId xmlns:p14="http://schemas.microsoft.com/office/powerpoint/2010/main" val="378291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The combination of the dispatch ID and the queue ID is globally unique. Operations </a:t>
            </a:r>
            <a:r>
              <a:rPr lang="en-US" altLang="zh-TW" sz="2400" dirty="0" smtClean="0"/>
              <a:t>in a </a:t>
            </a:r>
            <a:r>
              <a:rPr lang="en-US" altLang="zh-TW" sz="2400" dirty="0"/>
              <a:t>kernel can access these IDs by means </a:t>
            </a:r>
            <a:r>
              <a:rPr lang="en-US" altLang="zh-TW" sz="2400" dirty="0" smtClean="0"/>
              <a:t>of the </a:t>
            </a:r>
            <a:r>
              <a:rPr lang="en-US" altLang="zh-TW" sz="2400" dirty="0" err="1"/>
              <a:t>dispatchid</a:t>
            </a:r>
            <a:r>
              <a:rPr lang="en-US" altLang="zh-TW" sz="2400" dirty="0"/>
              <a:t> and </a:t>
            </a:r>
            <a:r>
              <a:rPr lang="en-US" altLang="zh-TW" sz="2400" dirty="0" err="1"/>
              <a:t>qid</a:t>
            </a:r>
            <a:r>
              <a:rPr lang="en-US" altLang="zh-TW" sz="2400" dirty="0"/>
              <a:t> special operations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dispatch forms a grid. The grid can be composed of one, two, or three dimensions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dimension components are referred to as X, Y, and Z. </a:t>
            </a:r>
          </a:p>
          <a:p>
            <a:r>
              <a:rPr lang="en-US" altLang="zh-TW" sz="2400" dirty="0"/>
              <a:t>If the grid has one dimension, then it has only an X component, if it has two dimensions, then it has X and Y components, and if it has three dimensions, then it has X, Y, and Z components.</a:t>
            </a:r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78260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887" t="919" r="2091"/>
          <a:stretch/>
        </p:blipFill>
        <p:spPr>
          <a:xfrm>
            <a:off x="87086" y="1346539"/>
            <a:ext cx="5146765" cy="4336868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>
          <a:xfrm>
            <a:off x="5294812" y="1125537"/>
            <a:ext cx="3762102" cy="4796292"/>
          </a:xfrm>
        </p:spPr>
        <p:txBody>
          <a:bodyPr/>
          <a:lstStyle/>
          <a:p>
            <a:r>
              <a:rPr lang="en-US" altLang="zh-TW" sz="2300" dirty="0"/>
              <a:t>A grid is a collection of work-items</a:t>
            </a:r>
            <a:r>
              <a:rPr lang="en-US" altLang="zh-TW" sz="2300" dirty="0" smtClean="0"/>
              <a:t>.</a:t>
            </a:r>
          </a:p>
          <a:p>
            <a:r>
              <a:rPr lang="en-US" altLang="zh-TW" sz="2300" dirty="0"/>
              <a:t>The work-items in the grid are partitioned into work-groups that have the </a:t>
            </a:r>
            <a:r>
              <a:rPr lang="en-US" altLang="zh-TW" sz="2300" dirty="0" smtClean="0"/>
              <a:t>same number </a:t>
            </a:r>
            <a:r>
              <a:rPr lang="en-US" altLang="zh-TW" sz="2300" dirty="0"/>
              <a:t>of dimensions as the grid</a:t>
            </a:r>
            <a:r>
              <a:rPr lang="en-US" altLang="zh-TW" sz="2300" dirty="0" smtClean="0"/>
              <a:t>.</a:t>
            </a:r>
          </a:p>
          <a:p>
            <a:r>
              <a:rPr lang="en-US" altLang="zh-TW" sz="2300" dirty="0"/>
              <a:t>A work-group is an instance of execution on the HSA component. Execution </a:t>
            </a:r>
            <a:r>
              <a:rPr lang="en-US" altLang="zh-TW" sz="2300" dirty="0" smtClean="0"/>
              <a:t>is performed </a:t>
            </a:r>
            <a:r>
              <a:rPr lang="en-US" altLang="zh-TW" sz="2300" dirty="0"/>
              <a:t>by a compute unit. An HSA component can have one or more </a:t>
            </a:r>
            <a:r>
              <a:rPr lang="en-US" altLang="zh-TW" sz="2300" dirty="0" smtClean="0"/>
              <a:t>compute units</a:t>
            </a:r>
            <a:r>
              <a:rPr lang="en-US" altLang="zh-TW" sz="2300" dirty="0"/>
              <a:t>.</a:t>
            </a:r>
            <a:endParaRPr lang="zh-TW" altLang="en-US" sz="2300" dirty="0"/>
          </a:p>
        </p:txBody>
      </p:sp>
      <p:sp>
        <p:nvSpPr>
          <p:cNvPr id="5" name="標題 1"/>
          <p:cNvSpPr txBox="1">
            <a:spLocks/>
          </p:cNvSpPr>
          <p:nvPr/>
        </p:nvSpPr>
        <p:spPr bwMode="auto">
          <a:xfrm>
            <a:off x="468318" y="29431"/>
            <a:ext cx="8125097" cy="911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19288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38576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57864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77152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2400" kern="0" dirty="0" smtClean="0"/>
              <a:t> </a:t>
            </a:r>
            <a:r>
              <a:rPr lang="en-US" altLang="zh-TW" sz="2800" kern="0" dirty="0" smtClean="0"/>
              <a:t>Overview of Grids, Work-Groups, and Work-Items</a:t>
            </a:r>
            <a:endParaRPr lang="zh-TW" alt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33818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When a kernel is dispatched, the number of dimensions of the grid (which is also </a:t>
            </a:r>
            <a:r>
              <a:rPr lang="en-US" altLang="zh-TW" sz="2400" dirty="0" smtClean="0"/>
              <a:t>the number </a:t>
            </a:r>
            <a:r>
              <a:rPr lang="en-US" altLang="zh-TW" sz="2400" dirty="0"/>
              <a:t>of dimensions of the work-group), the size of each grid dimension, the size </a:t>
            </a:r>
            <a:r>
              <a:rPr lang="en-US" altLang="zh-TW" sz="2400" dirty="0" smtClean="0"/>
              <a:t>of each </a:t>
            </a:r>
            <a:r>
              <a:rPr lang="en-US" altLang="zh-TW" sz="2400" dirty="0"/>
              <a:t>work-group dimension, and the kernel argument values must be specified. </a:t>
            </a:r>
            <a:endParaRPr lang="en-US" altLang="zh-TW" sz="2400" dirty="0" smtClean="0"/>
          </a:p>
          <a:p>
            <a:r>
              <a:rPr lang="en-US" altLang="zh-TW" sz="2400" dirty="0" smtClean="0"/>
              <a:t>If the number </a:t>
            </a:r>
            <a:r>
              <a:rPr lang="en-US" altLang="zh-TW" sz="2400" dirty="0"/>
              <a:t>of dimensions specified for a kernel dispatch is 1, then the Y and </a:t>
            </a:r>
            <a:r>
              <a:rPr lang="en-US" altLang="zh-TW" sz="2400" dirty="0" smtClean="0"/>
              <a:t>Z components </a:t>
            </a:r>
            <a:r>
              <a:rPr lang="en-US" altLang="zh-TW" sz="2400" dirty="0"/>
              <a:t>for the grid and work-group size must be specified as 1; if the number </a:t>
            </a:r>
            <a:r>
              <a:rPr lang="en-US" altLang="zh-TW" sz="2400" dirty="0" smtClean="0"/>
              <a:t>of dimensions </a:t>
            </a:r>
            <a:r>
              <a:rPr lang="en-US" altLang="zh-TW" sz="2400" dirty="0"/>
              <a:t>specified for a kernel dispatch is 2, then the Z component for the grid </a:t>
            </a:r>
            <a:r>
              <a:rPr lang="en-US" altLang="zh-TW" sz="2400" dirty="0" smtClean="0"/>
              <a:t>and work-group </a:t>
            </a:r>
            <a:r>
              <a:rPr lang="en-US" altLang="zh-TW" sz="2400" dirty="0"/>
              <a:t>size must be specified as </a:t>
            </a:r>
            <a:r>
              <a:rPr lang="en-US" altLang="zh-TW" sz="2400" dirty="0" smtClean="0"/>
              <a:t>1.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11534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As execution proceeds, the work-groups in the grid are distributed to compute units.</a:t>
            </a:r>
          </a:p>
          <a:p>
            <a:r>
              <a:rPr lang="en-US" altLang="zh-TW" sz="2400" dirty="0"/>
              <a:t>All work-items of a work-group are executed on the same compute unit at the </a:t>
            </a:r>
            <a:r>
              <a:rPr lang="en-US" altLang="zh-TW" sz="2400" dirty="0" smtClean="0"/>
              <a:t>same time</a:t>
            </a:r>
            <a:r>
              <a:rPr lang="en-US" altLang="zh-TW" sz="2400" dirty="0"/>
              <a:t>, each work-item running the kernel. </a:t>
            </a:r>
            <a:endParaRPr lang="en-US" altLang="zh-TW" sz="2400" dirty="0" smtClean="0"/>
          </a:p>
          <a:p>
            <a:r>
              <a:rPr lang="en-US" altLang="zh-TW" sz="2400" dirty="0" smtClean="0"/>
              <a:t>Execution </a:t>
            </a:r>
            <a:r>
              <a:rPr lang="en-US" altLang="zh-TW" sz="2400" dirty="0"/>
              <a:t>can be either concurrent, </a:t>
            </a:r>
            <a:r>
              <a:rPr lang="en-US" altLang="zh-TW" sz="2400" dirty="0" smtClean="0"/>
              <a:t>or through </a:t>
            </a:r>
            <a:r>
              <a:rPr lang="en-US" altLang="zh-TW" sz="2400" dirty="0"/>
              <a:t>some form of scheduling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grid size is not required to be an integral multiple of the work-group size, so </a:t>
            </a:r>
            <a:r>
              <a:rPr lang="en-US" altLang="zh-TW" sz="2400" dirty="0" smtClean="0"/>
              <a:t>the grid </a:t>
            </a:r>
            <a:r>
              <a:rPr lang="en-US" altLang="zh-TW" sz="2400" dirty="0"/>
              <a:t>might contain partial </a:t>
            </a:r>
            <a:r>
              <a:rPr lang="en-US" altLang="zh-TW" sz="2400" dirty="0" smtClean="0"/>
              <a:t>work-groups. In </a:t>
            </a:r>
            <a:r>
              <a:rPr lang="en-US" altLang="zh-TW" sz="2400" dirty="0"/>
              <a:t>a partial work-group, only some of </a:t>
            </a:r>
            <a:r>
              <a:rPr lang="en-US" altLang="zh-TW" sz="2400" dirty="0" smtClean="0"/>
              <a:t>the work-items </a:t>
            </a:r>
            <a:r>
              <a:rPr lang="en-US" altLang="zh-TW" sz="2400" dirty="0"/>
              <a:t>are valid. </a:t>
            </a:r>
            <a:endParaRPr lang="en-US" altLang="zh-TW" sz="2400" dirty="0" smtClean="0"/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compute unit will only execute the valid work-items in </a:t>
            </a:r>
            <a:r>
              <a:rPr lang="en-US" altLang="zh-TW" sz="2400" dirty="0" smtClean="0"/>
              <a:t>a partial </a:t>
            </a:r>
            <a:r>
              <a:rPr lang="en-US" altLang="zh-TW" sz="2400" dirty="0"/>
              <a:t>work-group.</a:t>
            </a:r>
          </a:p>
        </p:txBody>
      </p:sp>
    </p:spTree>
    <p:extLst>
      <p:ext uri="{BB962C8B-B14F-4D97-AF65-F5344CB8AC3E}">
        <p14:creationId xmlns:p14="http://schemas.microsoft.com/office/powerpoint/2010/main" val="102106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31549"/>
            <a:ext cx="8207375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Overview of Grids, Work-Groups, and </a:t>
            </a:r>
            <a:r>
              <a:rPr lang="en-US" altLang="zh-TW" sz="2800" dirty="0" smtClean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A compute unit may execute multiple work-groups at the same time. </a:t>
            </a:r>
            <a:endParaRPr lang="en-US" altLang="zh-TW" sz="2400" dirty="0" smtClean="0"/>
          </a:p>
          <a:p>
            <a:r>
              <a:rPr lang="en-US" altLang="zh-TW" sz="2400" dirty="0" smtClean="0"/>
              <a:t>The resources used </a:t>
            </a:r>
            <a:r>
              <a:rPr lang="en-US" altLang="zh-TW" sz="2400" dirty="0"/>
              <a:t>by a work-group (such as group memory, barrier and </a:t>
            </a:r>
            <a:r>
              <a:rPr lang="en-US" altLang="zh-TW" sz="2400" dirty="0" err="1"/>
              <a:t>fbarrier</a:t>
            </a:r>
            <a:r>
              <a:rPr lang="en-US" altLang="zh-TW" sz="2400" dirty="0"/>
              <a:t> resources, </a:t>
            </a:r>
            <a:r>
              <a:rPr lang="en-US" altLang="zh-TW" sz="2400" dirty="0" smtClean="0"/>
              <a:t>and number </a:t>
            </a:r>
            <a:r>
              <a:rPr lang="en-US" altLang="zh-TW" sz="2400" dirty="0"/>
              <a:t>of </a:t>
            </a:r>
            <a:r>
              <a:rPr lang="en-US" altLang="zh-TW" sz="2400" dirty="0" err="1"/>
              <a:t>wavefronts</a:t>
            </a:r>
            <a:r>
              <a:rPr lang="en-US" altLang="zh-TW" sz="2400" dirty="0"/>
              <a:t> that can be scheduled) and work-items within the </a:t>
            </a:r>
            <a:r>
              <a:rPr lang="en-US" altLang="zh-TW" sz="2400" dirty="0" smtClean="0"/>
              <a:t>work-group (such </a:t>
            </a:r>
            <a:r>
              <a:rPr lang="en-US" altLang="zh-TW" sz="2400" dirty="0"/>
              <a:t>as registers) may limit the number of work-groups that a compute unit </a:t>
            </a:r>
            <a:r>
              <a:rPr lang="en-US" altLang="zh-TW" sz="2400" dirty="0" smtClean="0"/>
              <a:t>can execute </a:t>
            </a:r>
            <a:r>
              <a:rPr lang="en-US" altLang="zh-TW" sz="2400" dirty="0"/>
              <a:t>at the same time. </a:t>
            </a:r>
            <a:endParaRPr lang="en-US" altLang="zh-TW" sz="2400" dirty="0" smtClean="0"/>
          </a:p>
          <a:p>
            <a:r>
              <a:rPr lang="en-US" altLang="zh-TW" sz="2400" dirty="0" smtClean="0"/>
              <a:t>However</a:t>
            </a:r>
            <a:r>
              <a:rPr lang="en-US" altLang="zh-TW" sz="2400" dirty="0"/>
              <a:t>, a compute unit must be able to execute at </a:t>
            </a:r>
            <a:r>
              <a:rPr lang="en-US" altLang="zh-TW" sz="2400" dirty="0" smtClean="0"/>
              <a:t>least one </a:t>
            </a:r>
            <a:r>
              <a:rPr lang="en-US" altLang="zh-TW" sz="2400" dirty="0"/>
              <a:t>work-group. </a:t>
            </a:r>
            <a:endParaRPr lang="en-US" altLang="zh-TW" sz="2400" dirty="0" smtClean="0"/>
          </a:p>
          <a:p>
            <a:r>
              <a:rPr lang="en-US" altLang="zh-TW" sz="2400" dirty="0" smtClean="0"/>
              <a:t>If </a:t>
            </a:r>
            <a:r>
              <a:rPr lang="en-US" altLang="zh-TW" sz="2400" dirty="0"/>
              <a:t>an HSA component has more than one compute unit, </a:t>
            </a:r>
            <a:r>
              <a:rPr lang="en-US" altLang="zh-TW" sz="2400" dirty="0" smtClean="0"/>
              <a:t>different work-groups </a:t>
            </a:r>
            <a:r>
              <a:rPr lang="en-US" altLang="zh-TW" sz="2400" dirty="0"/>
              <a:t>may execute on different compute units.</a:t>
            </a:r>
          </a:p>
        </p:txBody>
      </p:sp>
    </p:spTree>
    <p:extLst>
      <p:ext uri="{BB962C8B-B14F-4D97-AF65-F5344CB8AC3E}">
        <p14:creationId xmlns:p14="http://schemas.microsoft.com/office/powerpoint/2010/main" val="327958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887" t="919" r="2091"/>
          <a:stretch/>
        </p:blipFill>
        <p:spPr>
          <a:xfrm>
            <a:off x="87086" y="1346539"/>
            <a:ext cx="5146765" cy="4336868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>
          <a:xfrm>
            <a:off x="5294812" y="1125537"/>
            <a:ext cx="3762102" cy="4796292"/>
          </a:xfrm>
        </p:spPr>
        <p:txBody>
          <a:bodyPr/>
          <a:lstStyle/>
          <a:p>
            <a:r>
              <a:rPr lang="en-US" altLang="zh-TW" sz="2300" dirty="0"/>
              <a:t>In the figure, the grid is composed of 24 work-groups. (Dimension X = 2, dimension </a:t>
            </a:r>
            <a:r>
              <a:rPr lang="en-US" altLang="zh-TW" sz="2300" dirty="0" smtClean="0"/>
              <a:t>Y = </a:t>
            </a:r>
            <a:r>
              <a:rPr lang="en-US" altLang="zh-TW" sz="2300" dirty="0"/>
              <a:t>4, </a:t>
            </a:r>
            <a:r>
              <a:rPr lang="en-US" altLang="zh-TW" sz="2300" dirty="0" smtClean="0"/>
              <a:t>and dimension </a:t>
            </a:r>
            <a:r>
              <a:rPr lang="en-US" altLang="zh-TW" sz="2300" dirty="0"/>
              <a:t>Z = 3</a:t>
            </a:r>
            <a:r>
              <a:rPr lang="en-US" altLang="zh-TW" sz="2300" dirty="0" smtClean="0"/>
              <a:t>.)</a:t>
            </a:r>
          </a:p>
          <a:p>
            <a:r>
              <a:rPr lang="en-US" altLang="zh-TW" sz="2300" dirty="0"/>
              <a:t>In the figure, each work-group is a three-dimensional work-group, and each </a:t>
            </a:r>
            <a:r>
              <a:rPr lang="en-US" altLang="zh-TW" sz="2300" dirty="0" smtClean="0"/>
              <a:t>work-group </a:t>
            </a:r>
            <a:r>
              <a:rPr lang="en-US" altLang="zh-TW" sz="2300" dirty="0"/>
              <a:t>is composed of 105 work-items. (Dimension X = 7, dimension Y = 5, </a:t>
            </a:r>
            <a:r>
              <a:rPr lang="en-US" altLang="zh-TW" sz="2300" dirty="0" smtClean="0"/>
              <a:t>and dimension </a:t>
            </a:r>
            <a:r>
              <a:rPr lang="en-US" altLang="zh-TW" sz="2300" dirty="0"/>
              <a:t>Z = 3.)</a:t>
            </a:r>
            <a:endParaRPr lang="zh-TW" altLang="en-US" sz="2300" dirty="0"/>
          </a:p>
        </p:txBody>
      </p:sp>
      <p:sp>
        <p:nvSpPr>
          <p:cNvPr id="5" name="標題 1"/>
          <p:cNvSpPr txBox="1">
            <a:spLocks/>
          </p:cNvSpPr>
          <p:nvPr/>
        </p:nvSpPr>
        <p:spPr bwMode="auto">
          <a:xfrm>
            <a:off x="459610" y="273271"/>
            <a:ext cx="8125097" cy="667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519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19288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38576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57864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77152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266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2400" kern="0" dirty="0" smtClean="0"/>
              <a:t> </a:t>
            </a:r>
            <a:r>
              <a:rPr lang="en-US" altLang="zh-TW" sz="2800" kern="0" dirty="0" smtClean="0"/>
              <a:t>Overview of Grids, Work-Groups, and Work-Items</a:t>
            </a:r>
            <a:endParaRPr lang="zh-TW" alt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56729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smtClean="0"/>
              <a:t>Work-Groups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A work-group is an instance of execution in a compute unit. </a:t>
            </a:r>
            <a:endParaRPr lang="en-US" altLang="zh-TW" sz="2400" dirty="0" smtClean="0"/>
          </a:p>
          <a:p>
            <a:r>
              <a:rPr lang="en-US" altLang="zh-TW" sz="2400" dirty="0" smtClean="0"/>
              <a:t>A </a:t>
            </a:r>
            <a:r>
              <a:rPr lang="en-US" altLang="zh-TW" sz="2400" dirty="0"/>
              <a:t>compute unit must </a:t>
            </a:r>
            <a:r>
              <a:rPr lang="en-US" altLang="zh-TW" sz="2400" dirty="0" smtClean="0"/>
              <a:t>have enough </a:t>
            </a:r>
            <a:r>
              <a:rPr lang="en-US" altLang="zh-TW" sz="2400" dirty="0"/>
              <a:t>resources to execute at </a:t>
            </a:r>
            <a:r>
              <a:rPr lang="en-US" altLang="zh-TW" sz="2400" dirty="0" smtClean="0"/>
              <a:t>least one </a:t>
            </a:r>
            <a:r>
              <a:rPr lang="en-US" altLang="zh-TW" sz="2400" dirty="0"/>
              <a:t>work-group at a time. </a:t>
            </a:r>
            <a:endParaRPr lang="en-US" altLang="zh-TW" sz="2400" dirty="0" smtClean="0"/>
          </a:p>
          <a:p>
            <a:r>
              <a:rPr lang="en-US" altLang="zh-TW" sz="2400" dirty="0" smtClean="0"/>
              <a:t>Thus</a:t>
            </a:r>
            <a:r>
              <a:rPr lang="en-US" altLang="zh-TW" sz="2400" dirty="0"/>
              <a:t>, it is not </a:t>
            </a:r>
            <a:r>
              <a:rPr lang="en-US" altLang="zh-TW" sz="2400" dirty="0" smtClean="0"/>
              <a:t>possible for </a:t>
            </a:r>
            <a:r>
              <a:rPr lang="en-US" altLang="zh-TW" sz="2400" dirty="0"/>
              <a:t>a compute unit to be too small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 smtClean="0"/>
          </a:p>
          <a:p>
            <a:r>
              <a:rPr lang="en-US" altLang="zh-TW" sz="2400" dirty="0"/>
              <a:t>Assorted synchronization operations can be used to control communication within </a:t>
            </a:r>
            <a:r>
              <a:rPr lang="en-US" altLang="zh-TW" sz="2400" dirty="0" smtClean="0"/>
              <a:t>a work-group.</a:t>
            </a:r>
          </a:p>
          <a:p>
            <a:r>
              <a:rPr lang="en-US" altLang="zh-TW" sz="2400" dirty="0" smtClean="0"/>
              <a:t>For </a:t>
            </a:r>
            <a:r>
              <a:rPr lang="en-US" altLang="zh-TW" sz="2400" dirty="0"/>
              <a:t>example, it is possible to mark barrier synchronization points </a:t>
            </a:r>
            <a:r>
              <a:rPr lang="en-US" altLang="zh-TW" sz="2400" dirty="0" smtClean="0"/>
              <a:t>where work-items </a:t>
            </a:r>
            <a:r>
              <a:rPr lang="en-US" altLang="zh-TW" sz="2400" dirty="0"/>
              <a:t>wait until other work-items in the work-group have arrived</a:t>
            </a:r>
            <a:r>
              <a:rPr lang="en-US" altLang="zh-TW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534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smtClean="0"/>
              <a:t>Work-Groups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All </a:t>
            </a:r>
            <a:r>
              <a:rPr lang="en-US" altLang="zh-TW" sz="2400" dirty="0"/>
              <a:t>implementations can execute at least the number of work-items in a </a:t>
            </a:r>
            <a:r>
              <a:rPr lang="en-US" altLang="zh-TW" sz="2400" dirty="0" smtClean="0"/>
              <a:t>work-group such </a:t>
            </a:r>
            <a:r>
              <a:rPr lang="en-US" altLang="zh-TW" sz="2400" dirty="0"/>
              <a:t>that they are all guaranteed to make forward </a:t>
            </a:r>
            <a:r>
              <a:rPr lang="en-US" altLang="zh-TW" sz="2400" dirty="0" smtClean="0"/>
              <a:t>progress </a:t>
            </a:r>
            <a:r>
              <a:rPr lang="en-US" altLang="zh-TW" sz="2400" dirty="0"/>
              <a:t>in the presence of </a:t>
            </a:r>
            <a:r>
              <a:rPr lang="en-US" altLang="zh-TW" sz="2400" dirty="0" smtClean="0"/>
              <a:t>work-group </a:t>
            </a:r>
            <a:r>
              <a:rPr lang="en-US" altLang="zh-TW" sz="2400" dirty="0"/>
              <a:t>barriers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Implementations </a:t>
            </a:r>
            <a:r>
              <a:rPr lang="en-US" altLang="zh-TW" sz="2400" dirty="0"/>
              <a:t>that provide multiple compute units or more capable compute </a:t>
            </a:r>
            <a:r>
              <a:rPr lang="en-US" altLang="zh-TW" sz="2400" dirty="0" smtClean="0"/>
              <a:t>units can </a:t>
            </a:r>
            <a:r>
              <a:rPr lang="en-US" altLang="zh-TW" sz="2400" dirty="0"/>
              <a:t>execute multiple work-groups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0705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Work-Group </a:t>
            </a:r>
            <a:r>
              <a:rPr lang="en-US" altLang="zh-TW" sz="2800" dirty="0" smtClean="0"/>
              <a:t>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Every work-group has a multidimensional identifier containing up to three </a:t>
            </a:r>
            <a:r>
              <a:rPr lang="en-US" altLang="zh-TW" sz="2400" dirty="0" smtClean="0"/>
              <a:t>integer values </a:t>
            </a:r>
            <a:r>
              <a:rPr lang="en-US" altLang="zh-TW" sz="2400" dirty="0"/>
              <a:t>(for the three dimensions) called the work-group ID. The work-group ID </a:t>
            </a:r>
            <a:r>
              <a:rPr lang="en-US" altLang="zh-TW" sz="2400" dirty="0" smtClean="0"/>
              <a:t>is calculated </a:t>
            </a:r>
            <a:r>
              <a:rPr lang="en-US" altLang="zh-TW" sz="2400" dirty="0"/>
              <a:t>by dividing each component of the work-item absolute ID by </a:t>
            </a:r>
            <a:r>
              <a:rPr lang="en-US" altLang="zh-TW" sz="2400" dirty="0" smtClean="0"/>
              <a:t>the corresponding </a:t>
            </a:r>
            <a:r>
              <a:rPr lang="en-US" altLang="zh-TW" sz="2400" dirty="0"/>
              <a:t>work-group size component and ignoring the remainder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 smtClean="0"/>
              <a:t>Work-group </a:t>
            </a:r>
            <a:r>
              <a:rPr lang="en-US" altLang="zh-TW" sz="2400" dirty="0"/>
              <a:t>size is the product of the three </a:t>
            </a:r>
            <a:r>
              <a:rPr lang="en-US" altLang="zh-TW" sz="2400" dirty="0" smtClean="0"/>
              <a:t>dimensions:</a:t>
            </a:r>
          </a:p>
          <a:p>
            <a:pPr lvl="1"/>
            <a:r>
              <a:rPr lang="en-US" altLang="zh-TW" sz="1895" dirty="0" smtClean="0"/>
              <a:t> </a:t>
            </a:r>
            <a:r>
              <a:rPr lang="en-US" altLang="zh-TW" sz="1895" dirty="0" smtClean="0">
                <a:latin typeface="Eras Light ITC" panose="020B0402030504020804" pitchFamily="34" charset="0"/>
              </a:rPr>
              <a:t>work-group size = workgroupsize</a:t>
            </a:r>
            <a:r>
              <a:rPr lang="en-US" altLang="zh-TW" sz="1895" baseline="-25000" dirty="0" smtClean="0">
                <a:latin typeface="Eras Light ITC" panose="020B0402030504020804" pitchFamily="34" charset="0"/>
              </a:rPr>
              <a:t>0</a:t>
            </a:r>
            <a:r>
              <a:rPr lang="en-US" altLang="zh-TW" sz="1895" dirty="0" smtClean="0">
                <a:latin typeface="Eras Light ITC" panose="020B0402030504020804" pitchFamily="34" charset="0"/>
              </a:rPr>
              <a:t> * workgroupsize</a:t>
            </a:r>
            <a:r>
              <a:rPr lang="en-US" altLang="zh-TW" sz="1895" baseline="-25000" dirty="0" smtClean="0">
                <a:latin typeface="Eras Light ITC" panose="020B0402030504020804" pitchFamily="34" charset="0"/>
              </a:rPr>
              <a:t>1</a:t>
            </a:r>
            <a:r>
              <a:rPr lang="en-US" altLang="zh-TW" sz="1895" dirty="0" smtClean="0">
                <a:latin typeface="Eras Light ITC" panose="020B0402030504020804" pitchFamily="34" charset="0"/>
              </a:rPr>
              <a:t> * workgroupsize</a:t>
            </a:r>
            <a:r>
              <a:rPr lang="en-US" altLang="zh-TW" sz="1895" baseline="-25000" dirty="0" smtClean="0">
                <a:latin typeface="Eras Light ITC" panose="020B0402030504020804" pitchFamily="34" charset="0"/>
              </a:rPr>
              <a:t>2</a:t>
            </a:r>
          </a:p>
          <a:p>
            <a:r>
              <a:rPr lang="en-US" altLang="zh-TW" sz="2336" dirty="0" smtClean="0"/>
              <a:t>Each work-group can access assorted predefined read-only values such as work-group ID, work-group size, and so forth through the use of special operations.</a:t>
            </a:r>
          </a:p>
          <a:p>
            <a:pPr lvl="1"/>
            <a:endParaRPr lang="en-US" altLang="zh-TW" sz="1895" baseline="-25000" dirty="0" smtClean="0"/>
          </a:p>
          <a:p>
            <a:pPr lvl="1"/>
            <a:endParaRPr lang="en-US" altLang="zh-TW" sz="1895" baseline="-25000" dirty="0" smtClean="0"/>
          </a:p>
          <a:p>
            <a:pPr lvl="1"/>
            <a:endParaRPr lang="en-US" altLang="zh-TW" sz="1895" baseline="-25000" dirty="0"/>
          </a:p>
          <a:p>
            <a:pPr marL="192882" lvl="1" indent="0">
              <a:buNone/>
            </a:pPr>
            <a:endParaRPr lang="en-US" altLang="zh-TW" sz="1895" baseline="-25000" dirty="0"/>
          </a:p>
        </p:txBody>
      </p:sp>
    </p:spTree>
    <p:extLst>
      <p:ext uri="{BB962C8B-B14F-4D97-AF65-F5344CB8AC3E}">
        <p14:creationId xmlns:p14="http://schemas.microsoft.com/office/powerpoint/2010/main" val="149481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Work-Group </a:t>
            </a:r>
            <a:r>
              <a:rPr lang="en-US" altLang="zh-TW" sz="2800" dirty="0" smtClean="0"/>
              <a:t>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The value of the work-group ID is returned by the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workgroupid</a:t>
            </a:r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zh-TW" sz="2400" dirty="0"/>
              <a:t>operation</a:t>
            </a:r>
            <a:r>
              <a:rPr lang="en-US" altLang="zh-TW" sz="2400" dirty="0" smtClean="0"/>
              <a:t>.</a:t>
            </a:r>
            <a:endParaRPr lang="en-US" altLang="zh-TW" sz="1895" baseline="-25000" dirty="0"/>
          </a:p>
          <a:p>
            <a:r>
              <a:rPr lang="en-US" altLang="zh-TW" sz="2400" dirty="0"/>
              <a:t>The size of the work-group specified when the kernel was dispatched is returned by the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workgroupsize</a:t>
            </a:r>
            <a:r>
              <a:rPr lang="en-US" altLang="zh-TW" sz="2400" dirty="0"/>
              <a:t> operation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Because the grid is not required to be an integral multiple of the work-group size, there can be partial work-groups. </a:t>
            </a:r>
            <a:endParaRPr lang="en-US" altLang="zh-TW" sz="2400" dirty="0" smtClean="0"/>
          </a:p>
          <a:p>
            <a:r>
              <a:rPr lang="en-US" altLang="zh-TW" sz="2400" dirty="0" smtClean="0"/>
              <a:t>The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currentworkgroupsize</a:t>
            </a:r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zh-TW" sz="2400" dirty="0"/>
              <a:t>operation returns the work-group size that the current work-item belongs to. </a:t>
            </a:r>
            <a:endParaRPr lang="en-US" altLang="zh-TW" sz="2400" dirty="0" smtClean="0"/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value returned by this operation will only be different from that returned by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workgroupsize</a:t>
            </a:r>
            <a:r>
              <a:rPr lang="en-US" altLang="zh-TW" sz="2400" dirty="0"/>
              <a:t> operation if the current work-item belongs to a partial work-group.</a:t>
            </a:r>
          </a:p>
          <a:p>
            <a:pPr marL="192882" lvl="1" indent="0">
              <a:buNone/>
            </a:pPr>
            <a:endParaRPr lang="en-US" altLang="zh-TW" sz="1895" baseline="-25000" dirty="0"/>
          </a:p>
        </p:txBody>
      </p:sp>
    </p:spTree>
    <p:extLst>
      <p:ext uri="{BB962C8B-B14F-4D97-AF65-F5344CB8AC3E}">
        <p14:creationId xmlns:p14="http://schemas.microsoft.com/office/powerpoint/2010/main" val="291746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Work-Group Flattened </a:t>
            </a:r>
            <a:r>
              <a:rPr lang="en-US" altLang="zh-TW" sz="2800" dirty="0" smtClean="0"/>
              <a:t>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Each work-group has a </a:t>
            </a:r>
            <a:r>
              <a:rPr lang="en-US" altLang="zh-TW" sz="2400" i="1" dirty="0"/>
              <a:t>work-group</a:t>
            </a:r>
            <a:r>
              <a:rPr lang="en-US" altLang="zh-TW" sz="2400" dirty="0"/>
              <a:t> flattened ID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work-group flattened ID is defined as</a:t>
            </a:r>
            <a:r>
              <a:rPr lang="en-US" altLang="zh-TW" sz="2400" dirty="0" smtClean="0"/>
              <a:t>:</a:t>
            </a:r>
          </a:p>
          <a:p>
            <a:pPr lvl="1"/>
            <a:r>
              <a:rPr lang="en-US" altLang="zh-TW" sz="2400" dirty="0">
                <a:latin typeface="Eras Light ITC" panose="020B0402030504020804" pitchFamily="34" charset="0"/>
              </a:rPr>
              <a:t>work-group flattened ID = work-item flattened absolute ID / work-group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size</a:t>
            </a:r>
          </a:p>
          <a:p>
            <a:r>
              <a:rPr lang="en-US" altLang="zh-TW" sz="2400" dirty="0"/>
              <a:t>HSAIL implementations need to ensure forward progress. </a:t>
            </a:r>
            <a:endParaRPr lang="en-US" altLang="zh-TW" sz="2400" dirty="0" smtClean="0"/>
          </a:p>
          <a:p>
            <a:r>
              <a:rPr lang="en-US" altLang="zh-TW" sz="2400" dirty="0" smtClean="0"/>
              <a:t>That </a:t>
            </a:r>
            <a:r>
              <a:rPr lang="en-US" altLang="zh-TW" sz="2400" dirty="0"/>
              <a:t>is, any program </a:t>
            </a:r>
            <a:r>
              <a:rPr lang="en-US" altLang="zh-TW" sz="2400" dirty="0" smtClean="0"/>
              <a:t>can count </a:t>
            </a:r>
            <a:r>
              <a:rPr lang="en-US" altLang="zh-TW" sz="2400" dirty="0"/>
              <a:t>on one-way communication and later work-groups (in work-group flattened </a:t>
            </a:r>
            <a:r>
              <a:rPr lang="en-US" altLang="zh-TW" sz="2400" dirty="0" smtClean="0"/>
              <a:t>ID order</a:t>
            </a:r>
            <a:r>
              <a:rPr lang="en-US" altLang="zh-TW" sz="2400" dirty="0"/>
              <a:t>) can wait for values written by earlier work-groups without deadlock.</a:t>
            </a:r>
          </a:p>
        </p:txBody>
      </p:sp>
    </p:spTree>
    <p:extLst>
      <p:ext uri="{BB962C8B-B14F-4D97-AF65-F5344CB8AC3E}">
        <p14:creationId xmlns:p14="http://schemas.microsoft.com/office/powerpoint/2010/main" val="34709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Each work-item has its own set of registers, has private memory, and can </a:t>
            </a:r>
            <a:r>
              <a:rPr lang="en-US" altLang="zh-TW" sz="2400" dirty="0" smtClean="0"/>
              <a:t>access assorted </a:t>
            </a:r>
            <a:r>
              <a:rPr lang="en-US" altLang="zh-TW" sz="2400" dirty="0"/>
              <a:t>predefined read-only values such as work-item ID, work-group ID, and </a:t>
            </a:r>
            <a:r>
              <a:rPr lang="en-US" altLang="zh-TW" sz="2400" dirty="0" smtClean="0"/>
              <a:t>so forth </a:t>
            </a:r>
            <a:r>
              <a:rPr lang="en-US" altLang="zh-TW" sz="2400" dirty="0"/>
              <a:t>through the use of special operations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To access private memory, work-items use regular loads and stores, and the </a:t>
            </a:r>
            <a:r>
              <a:rPr lang="en-US" altLang="zh-TW" sz="2400" dirty="0" smtClean="0"/>
              <a:t>HSA hardware </a:t>
            </a:r>
            <a:r>
              <a:rPr lang="en-US" altLang="zh-TW" sz="2400" dirty="0"/>
              <a:t>will examine addresses and detect the ranges that are private to the </a:t>
            </a:r>
            <a:r>
              <a:rPr lang="en-US" altLang="zh-TW" sz="2400" dirty="0" smtClean="0"/>
              <a:t>work-item.</a:t>
            </a:r>
          </a:p>
          <a:p>
            <a:r>
              <a:rPr lang="en-US" altLang="zh-TW" sz="2400" dirty="0" smtClean="0"/>
              <a:t> </a:t>
            </a:r>
            <a:r>
              <a:rPr lang="en-US" altLang="zh-TW" sz="2400" dirty="0"/>
              <a:t>One of the system-generated values tells the work-item the address range </a:t>
            </a:r>
            <a:r>
              <a:rPr lang="en-US" altLang="zh-TW" sz="2400" dirty="0" smtClean="0"/>
              <a:t>for private </a:t>
            </a:r>
            <a:r>
              <a:rPr lang="en-US" altLang="zh-TW" sz="2400" dirty="0"/>
              <a:t>data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03759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To access private memory, work-items use regular loads and stores, and the </a:t>
            </a:r>
            <a:r>
              <a:rPr lang="en-US" altLang="zh-TW" sz="2400" dirty="0" smtClean="0"/>
              <a:t>HSA hardware </a:t>
            </a:r>
            <a:r>
              <a:rPr lang="en-US" altLang="zh-TW" sz="2400" dirty="0"/>
              <a:t>will examine addresses and detect the ranges that are private to the </a:t>
            </a:r>
            <a:r>
              <a:rPr lang="en-US" altLang="zh-TW" sz="2400" dirty="0" smtClean="0"/>
              <a:t>work-item.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One </a:t>
            </a:r>
            <a:r>
              <a:rPr lang="en-US" altLang="zh-TW" sz="2400" dirty="0"/>
              <a:t>of the system-generated values tells the work-item the address range </a:t>
            </a:r>
            <a:r>
              <a:rPr lang="en-US" altLang="zh-TW" sz="2400" dirty="0" smtClean="0"/>
              <a:t>for private </a:t>
            </a:r>
            <a:r>
              <a:rPr lang="en-US" altLang="zh-TW" sz="2400" dirty="0"/>
              <a:t>data.</a:t>
            </a:r>
          </a:p>
        </p:txBody>
      </p:sp>
    </p:spTree>
    <p:extLst>
      <p:ext uri="{BB962C8B-B14F-4D97-AF65-F5344CB8AC3E}">
        <p14:creationId xmlns:p14="http://schemas.microsoft.com/office/powerpoint/2010/main" val="144384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Work-Item 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Each work-item has a multidimensional identifier containing up to three </a:t>
            </a:r>
            <a:r>
              <a:rPr lang="en-US" altLang="zh-TW" sz="2400" dirty="0" smtClean="0"/>
              <a:t>integer values </a:t>
            </a:r>
            <a:r>
              <a:rPr lang="en-US" altLang="zh-TW" sz="2400" dirty="0"/>
              <a:t>(for the three dimensions) within the work-group called the </a:t>
            </a:r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work-item</a:t>
            </a:r>
            <a:r>
              <a:rPr lang="en-US" altLang="zh-TW" sz="2400" dirty="0"/>
              <a:t> ID.</a:t>
            </a:r>
            <a:endParaRPr lang="en-US" altLang="zh-TW" sz="2400" dirty="0" smtClean="0"/>
          </a:p>
          <a:p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max</a:t>
            </a:r>
            <a:r>
              <a:rPr lang="en-US" altLang="zh-TW" sz="2400" dirty="0"/>
              <a:t> is the size of the work-group or </a:t>
            </a:r>
            <a:r>
              <a:rPr lang="en-US" altLang="zh-TW" sz="2400" dirty="0" smtClean="0"/>
              <a:t>1</a:t>
            </a:r>
          </a:p>
          <a:p>
            <a:r>
              <a:rPr lang="en-US" altLang="zh-TW" sz="2400" dirty="0"/>
              <a:t>For each dimension i, the set of values of </a:t>
            </a:r>
            <a:r>
              <a:rPr lang="en-US" altLang="zh-TW" sz="2400" dirty="0" smtClean="0"/>
              <a:t>ID</a:t>
            </a:r>
            <a:r>
              <a:rPr lang="en-US" altLang="zh-TW" sz="2400" baseline="-25000" dirty="0" smtClean="0"/>
              <a:t>i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is the dense set </a:t>
            </a:r>
            <a:r>
              <a:rPr lang="en-US" altLang="zh-TW" sz="2400" dirty="0">
                <a:latin typeface="Eras Light ITC" panose="020B0402030504020804" pitchFamily="34" charset="0"/>
              </a:rPr>
              <a:t>[0, 1, 2, ...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max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i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 </a:t>
            </a:r>
            <a:r>
              <a:rPr lang="en-US" altLang="zh-TW" sz="2400" dirty="0">
                <a:latin typeface="Eras Light ITC" panose="020B0402030504020804" pitchFamily="34" charset="0"/>
              </a:rPr>
              <a:t>−1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].</a:t>
            </a:r>
          </a:p>
          <a:p>
            <a:r>
              <a:rPr lang="en-US" altLang="zh-TW" sz="2400" dirty="0"/>
              <a:t>The value of </a:t>
            </a:r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max</a:t>
            </a:r>
            <a:r>
              <a:rPr lang="en-US" altLang="zh-TW" sz="2400" baseline="-25000" dirty="0">
                <a:latin typeface="Cordia New" panose="020B0304020202020204" pitchFamily="34" charset="-34"/>
                <a:cs typeface="Cordia New" panose="020B0304020202020204" pitchFamily="34" charset="-34"/>
              </a:rPr>
              <a:t>i </a:t>
            </a:r>
            <a:r>
              <a:rPr lang="en-US" altLang="zh-TW" sz="2400" dirty="0"/>
              <a:t>can be accessed by means of the special operation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workgroupsize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work-item ID can be accessed by means of the special operation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workitemid</a:t>
            </a:r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14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Work-Item Flattened 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The work-item ID can be flattened into one dimension, which is relative to </a:t>
            </a:r>
            <a:r>
              <a:rPr lang="en-US" altLang="zh-TW" sz="2400" dirty="0" smtClean="0"/>
              <a:t>the containing </a:t>
            </a:r>
            <a:r>
              <a:rPr lang="en-US" altLang="zh-TW" sz="2400" dirty="0"/>
              <a:t>work-group. This is called the </a:t>
            </a:r>
            <a:r>
              <a:rPr lang="en-US" altLang="zh-TW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work-item flattened ID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 smtClean="0"/>
              <a:t>The work-item flattened ID is defined as: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Eras Light ITC" panose="020B0402030504020804" pitchFamily="34" charset="0"/>
              </a:rPr>
              <a:t>  work-item </a:t>
            </a:r>
            <a:r>
              <a:rPr lang="en-US" altLang="zh-TW" sz="2400" dirty="0">
                <a:latin typeface="Eras Light ITC" panose="020B0402030504020804" pitchFamily="34" charset="0"/>
              </a:rPr>
              <a:t>flattened ID =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ID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0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 </a:t>
            </a:r>
            <a:r>
              <a:rPr lang="en-US" altLang="zh-TW" sz="2400" dirty="0">
                <a:latin typeface="Eras Light ITC" panose="020B0402030504020804" pitchFamily="34" charset="0"/>
              </a:rPr>
              <a:t>+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ID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1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 </a:t>
            </a:r>
            <a:r>
              <a:rPr lang="en-US" altLang="zh-TW" sz="2400" dirty="0">
                <a:latin typeface="Eras Light ITC" panose="020B0402030504020804" pitchFamily="34" charset="0"/>
              </a:rPr>
              <a:t>*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max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0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 </a:t>
            </a:r>
            <a:r>
              <a:rPr lang="en-US" altLang="zh-TW" sz="2400" dirty="0">
                <a:latin typeface="Eras Light ITC" panose="020B0402030504020804" pitchFamily="34" charset="0"/>
              </a:rPr>
              <a:t>+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ID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2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 </a:t>
            </a:r>
            <a:r>
              <a:rPr lang="en-US" altLang="zh-TW" sz="2400" dirty="0">
                <a:latin typeface="Eras Light ITC" panose="020B0402030504020804" pitchFamily="34" charset="0"/>
              </a:rPr>
              <a:t>*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max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0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 </a:t>
            </a:r>
            <a:r>
              <a:rPr lang="en-US" altLang="zh-TW" sz="2400" dirty="0">
                <a:latin typeface="Eras Light ITC" panose="020B0402030504020804" pitchFamily="34" charset="0"/>
              </a:rPr>
              <a:t>* 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max</a:t>
            </a:r>
            <a:r>
              <a:rPr lang="en-US" altLang="zh-TW" sz="2400" baseline="-25000" dirty="0" smtClean="0">
                <a:latin typeface="Eras Light ITC" panose="020B0402030504020804" pitchFamily="34" charset="0"/>
              </a:rPr>
              <a:t>1</a:t>
            </a:r>
          </a:p>
          <a:p>
            <a:r>
              <a:rPr lang="en-US" altLang="zh-TW" sz="2400" dirty="0" smtClean="0"/>
              <a:t>where: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ID</a:t>
            </a:r>
            <a:r>
              <a:rPr lang="en-US" altLang="zh-TW" sz="2000" baseline="-25000" dirty="0">
                <a:latin typeface="Eras Light ITC" panose="020B0402030504020804" pitchFamily="34" charset="0"/>
                <a:cs typeface="+mn-cs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workitemid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(dimension 0)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ID</a:t>
            </a:r>
            <a:r>
              <a:rPr lang="en-US" altLang="zh-TW" sz="2000" baseline="-25000" dirty="0">
                <a:latin typeface="Eras Light ITC" panose="020B0402030504020804" pitchFamily="34" charset="0"/>
                <a:cs typeface="+mn-cs"/>
              </a:rPr>
              <a:t>1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workitemid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(dimension 1)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ID</a:t>
            </a:r>
            <a:r>
              <a:rPr lang="en-US" altLang="zh-TW" sz="2000" baseline="-25000" dirty="0">
                <a:latin typeface="Eras Light ITC" panose="020B0402030504020804" pitchFamily="34" charset="0"/>
                <a:cs typeface="+mn-cs"/>
              </a:rPr>
              <a:t>2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workitemid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(dimension 2)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max</a:t>
            </a:r>
            <a:r>
              <a:rPr lang="en-US" altLang="zh-TW" sz="2000" baseline="-25000" dirty="0">
                <a:latin typeface="Eras Light ITC" panose="020B0402030504020804" pitchFamily="34" charset="0"/>
                <a:cs typeface="+mn-cs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workgroupsize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(dimension 0)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max</a:t>
            </a:r>
            <a:r>
              <a:rPr lang="en-US" altLang="zh-TW" sz="2000" baseline="-25000" dirty="0">
                <a:latin typeface="Eras Light ITC" panose="020B0402030504020804" pitchFamily="34" charset="0"/>
                <a:cs typeface="+mn-cs"/>
              </a:rPr>
              <a:t>1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workgroupsize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(dimension 1</a:t>
            </a:r>
            <a:r>
              <a:rPr lang="en-US" altLang="zh-TW" sz="2000" dirty="0" smtClean="0">
                <a:latin typeface="Eras Light ITC" panose="020B0402030504020804" pitchFamily="34" charset="0"/>
                <a:cs typeface="+mn-cs"/>
              </a:rPr>
              <a:t>)</a:t>
            </a:r>
          </a:p>
          <a:p>
            <a:r>
              <a:rPr lang="en-US" altLang="zh-TW" sz="2168" dirty="0">
                <a:latin typeface="Eras Light ITC" panose="020B0402030504020804" pitchFamily="34" charset="0"/>
                <a:cs typeface="+mn-cs"/>
              </a:rPr>
              <a:t>The work-item flattened ID can be accessed by means of the special </a:t>
            </a:r>
            <a:r>
              <a:rPr lang="en-US" altLang="zh-TW" sz="2168" dirty="0" smtClean="0">
                <a:latin typeface="Eras Light ITC" panose="020B0402030504020804" pitchFamily="34" charset="0"/>
                <a:cs typeface="+mn-cs"/>
              </a:rPr>
              <a:t>operation </a:t>
            </a:r>
            <a:r>
              <a:rPr lang="en-US" altLang="zh-TW" sz="2168" dirty="0" err="1" smtClean="0">
                <a:latin typeface="Eras Light ITC" panose="020B0402030504020804" pitchFamily="34" charset="0"/>
                <a:cs typeface="+mn-cs"/>
              </a:rPr>
              <a:t>workitemflatid</a:t>
            </a:r>
            <a:r>
              <a:rPr lang="en-US" altLang="zh-TW" sz="2168" dirty="0">
                <a:latin typeface="Eras Light ITC" panose="020B0402030504020804" pitchFamily="34" charset="0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2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4402183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Work-Item Absolute 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Each work-item has a unique multidimensional identifier containing up to </a:t>
            </a:r>
            <a:r>
              <a:rPr lang="en-US" altLang="zh-TW" sz="2400" dirty="0" smtClean="0"/>
              <a:t>three integer </a:t>
            </a:r>
            <a:r>
              <a:rPr lang="en-US" altLang="zh-TW" sz="2400" dirty="0"/>
              <a:t>values (for the three dimensions) called the work-item absolute ID. The </a:t>
            </a:r>
            <a:r>
              <a:rPr lang="en-US" altLang="zh-TW" sz="2400" i="1" dirty="0"/>
              <a:t>work-item absolute ID </a:t>
            </a:r>
            <a:r>
              <a:rPr lang="en-US" altLang="zh-TW" sz="2400" dirty="0"/>
              <a:t>is unique within the grid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Programs can use the work-item absolute IDs to partition data input and work across the work-items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For each dimension </a:t>
            </a:r>
            <a:r>
              <a:rPr lang="en-US" altLang="zh-TW" sz="2400" i="1" dirty="0"/>
              <a:t>i</a:t>
            </a:r>
            <a:r>
              <a:rPr lang="en-US" altLang="zh-TW" sz="2400" dirty="0"/>
              <a:t>, the set of values </a:t>
            </a:r>
            <a:r>
              <a:rPr lang="en-US" altLang="zh-TW" sz="2400" dirty="0" smtClean="0"/>
              <a:t>of </a:t>
            </a:r>
            <a:r>
              <a:rPr lang="en-US" altLang="zh-TW" sz="2400" dirty="0" err="1" smtClean="0"/>
              <a:t>absloute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ID</a:t>
            </a:r>
            <a:r>
              <a:rPr lang="en-US" altLang="zh-TW" sz="2400" baseline="-25000" dirty="0"/>
              <a:t>i</a:t>
            </a:r>
            <a:r>
              <a:rPr lang="en-US" altLang="zh-TW" sz="2400" dirty="0"/>
              <a:t> is the dense set </a:t>
            </a:r>
            <a:r>
              <a:rPr lang="en-US" altLang="zh-TW" sz="2400" dirty="0">
                <a:latin typeface="Eras Light ITC" panose="020B0402030504020804" pitchFamily="34" charset="0"/>
              </a:rPr>
              <a:t>[0, 1, 2, ... max</a:t>
            </a:r>
            <a:r>
              <a:rPr lang="en-US" altLang="zh-TW" sz="2400" baseline="-25000" dirty="0">
                <a:latin typeface="Eras Light ITC" panose="020B0402030504020804" pitchFamily="34" charset="0"/>
              </a:rPr>
              <a:t>i</a:t>
            </a:r>
            <a:r>
              <a:rPr lang="en-US" altLang="zh-TW" sz="2400" dirty="0">
                <a:latin typeface="Eras Light ITC" panose="020B0402030504020804" pitchFamily="34" charset="0"/>
              </a:rPr>
              <a:t> −1</a:t>
            </a:r>
            <a:r>
              <a:rPr lang="en-US" altLang="zh-TW" sz="2400" dirty="0" smtClean="0">
                <a:latin typeface="Eras Light ITC" panose="020B0402030504020804" pitchFamily="34" charset="0"/>
              </a:rPr>
              <a:t>].</a:t>
            </a:r>
          </a:p>
          <a:p>
            <a:r>
              <a:rPr lang="en-US" altLang="zh-TW" sz="2400" dirty="0"/>
              <a:t>The value of </a:t>
            </a:r>
            <a:r>
              <a:rPr lang="en-US" altLang="zh-TW" sz="2400" i="1" dirty="0" smtClean="0"/>
              <a:t>max</a:t>
            </a:r>
            <a:r>
              <a:rPr lang="en-US" altLang="zh-TW" sz="2400" i="1" baseline="-25000" dirty="0" smtClean="0"/>
              <a:t>i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can be accessed by means of the special operation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gridsize</a:t>
            </a:r>
            <a:r>
              <a:rPr lang="en-US" altLang="zh-TW" sz="2400" dirty="0"/>
              <a:t>.</a:t>
            </a:r>
          </a:p>
          <a:p>
            <a:r>
              <a:rPr lang="en-US" altLang="zh-TW" sz="2400" dirty="0"/>
              <a:t>The work-item absolute ID can be accessed by means of the special </a:t>
            </a:r>
            <a:r>
              <a:rPr lang="en-US" altLang="zh-TW" sz="2400" dirty="0" smtClean="0"/>
              <a:t>operation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workitemabsid</a:t>
            </a:r>
            <a:r>
              <a:rPr lang="en-US" altLang="zh-TW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839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0258"/>
            <a:ext cx="5595257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Work-Item Flattened Absolute ID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41117"/>
            <a:ext cx="8229600" cy="5240428"/>
          </a:xfrm>
        </p:spPr>
        <p:txBody>
          <a:bodyPr/>
          <a:lstStyle/>
          <a:p>
            <a:r>
              <a:rPr lang="en-US" altLang="zh-TW" sz="2400" dirty="0"/>
              <a:t>The work-item absolute ID can be flattened into one dimension into an identifier </a:t>
            </a:r>
            <a:r>
              <a:rPr lang="en-US" altLang="zh-TW" sz="2400" dirty="0" smtClean="0"/>
              <a:t>called the </a:t>
            </a:r>
            <a:r>
              <a:rPr lang="en-US" altLang="zh-TW" sz="2400" dirty="0"/>
              <a:t>work-item flattened absolute ID. The </a:t>
            </a:r>
            <a:r>
              <a:rPr lang="en-US" altLang="zh-TW" sz="2400" i="1" dirty="0"/>
              <a:t>work-item flattened absolute ID </a:t>
            </a:r>
            <a:r>
              <a:rPr lang="en-US" altLang="zh-TW" sz="2400" dirty="0" smtClean="0"/>
              <a:t>enumerates all </a:t>
            </a:r>
            <a:r>
              <a:rPr lang="en-US" altLang="zh-TW" sz="2400" dirty="0"/>
              <a:t>the work-items in a grid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work-item flattened ID is defined as: </a:t>
            </a:r>
          </a:p>
          <a:p>
            <a:pPr marL="0" indent="0">
              <a:buNone/>
            </a:pPr>
            <a:r>
              <a:rPr lang="en-US" altLang="zh-TW" sz="2000" dirty="0">
                <a:latin typeface="Eras Light ITC" panose="020B0402030504020804" pitchFamily="34" charset="0"/>
              </a:rPr>
              <a:t>  work-item flattened </a:t>
            </a:r>
            <a:r>
              <a:rPr lang="en-US" altLang="zh-TW" sz="2000" dirty="0" smtClean="0">
                <a:latin typeface="Eras Light ITC" panose="020B0402030504020804" pitchFamily="34" charset="0"/>
              </a:rPr>
              <a:t>absolute ID </a:t>
            </a:r>
            <a:r>
              <a:rPr lang="en-US" altLang="zh-TW" sz="2000" dirty="0">
                <a:latin typeface="Eras Light ITC" panose="020B0402030504020804" pitchFamily="34" charset="0"/>
              </a:rPr>
              <a:t>= ID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</a:rPr>
              <a:t> + ID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1</a:t>
            </a:r>
            <a:r>
              <a:rPr lang="en-US" altLang="zh-TW" sz="2000" dirty="0">
                <a:latin typeface="Eras Light ITC" panose="020B0402030504020804" pitchFamily="34" charset="0"/>
              </a:rPr>
              <a:t> * max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</a:rPr>
              <a:t> + ID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2</a:t>
            </a:r>
            <a:r>
              <a:rPr lang="en-US" altLang="zh-TW" sz="2000" dirty="0">
                <a:latin typeface="Eras Light ITC" panose="020B0402030504020804" pitchFamily="34" charset="0"/>
              </a:rPr>
              <a:t> * max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</a:rPr>
              <a:t> * </a:t>
            </a:r>
            <a:r>
              <a:rPr lang="en-US" altLang="zh-TW" sz="2000" dirty="0" smtClean="0">
                <a:latin typeface="Eras Light ITC" panose="020B0402030504020804" pitchFamily="34" charset="0"/>
              </a:rPr>
              <a:t>max</a:t>
            </a:r>
            <a:r>
              <a:rPr lang="en-US" altLang="zh-TW" sz="2000" baseline="-25000" dirty="0" smtClean="0">
                <a:latin typeface="Eras Light ITC" panose="020B0402030504020804" pitchFamily="34" charset="0"/>
              </a:rPr>
              <a:t>1</a:t>
            </a:r>
          </a:p>
          <a:p>
            <a:r>
              <a:rPr lang="en-US" altLang="zh-TW" sz="2000" dirty="0"/>
              <a:t>where: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</a:rPr>
              <a:t>ID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</a:rPr>
              <a:t>workitemabsid</a:t>
            </a:r>
            <a:r>
              <a:rPr lang="en-US" altLang="zh-TW" sz="2000" dirty="0">
                <a:latin typeface="Eras Light ITC" panose="020B0402030504020804" pitchFamily="34" charset="0"/>
              </a:rPr>
              <a:t> (dimension 0)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</a:rPr>
              <a:t>ID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1</a:t>
            </a:r>
            <a:r>
              <a:rPr lang="en-US" altLang="zh-TW" sz="2000" dirty="0">
                <a:latin typeface="Eras Light ITC" panose="020B0402030504020804" pitchFamily="34" charset="0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</a:rPr>
              <a:t>workitemabsid</a:t>
            </a:r>
            <a:r>
              <a:rPr lang="en-US" altLang="zh-TW" sz="2000" dirty="0">
                <a:latin typeface="Eras Light ITC" panose="020B0402030504020804" pitchFamily="34" charset="0"/>
              </a:rPr>
              <a:t> (dimension 1)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</a:rPr>
              <a:t>ID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2</a:t>
            </a:r>
            <a:r>
              <a:rPr lang="en-US" altLang="zh-TW" sz="2000" dirty="0">
                <a:latin typeface="Eras Light ITC" panose="020B0402030504020804" pitchFamily="34" charset="0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</a:rPr>
              <a:t>workitemabsid</a:t>
            </a:r>
            <a:r>
              <a:rPr lang="en-US" altLang="zh-TW" sz="2000" dirty="0">
                <a:latin typeface="Eras Light ITC" panose="020B0402030504020804" pitchFamily="34" charset="0"/>
              </a:rPr>
              <a:t> (dimension 2)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</a:rPr>
              <a:t>max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0</a:t>
            </a:r>
            <a:r>
              <a:rPr lang="en-US" altLang="zh-TW" sz="2000" dirty="0">
                <a:latin typeface="Eras Light ITC" panose="020B0402030504020804" pitchFamily="34" charset="0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</a:rPr>
              <a:t>gridsize</a:t>
            </a:r>
            <a:r>
              <a:rPr lang="en-US" altLang="zh-TW" sz="2000" dirty="0">
                <a:latin typeface="Eras Light ITC" panose="020B0402030504020804" pitchFamily="34" charset="0"/>
              </a:rPr>
              <a:t> (dimension 0)</a:t>
            </a:r>
          </a:p>
          <a:p>
            <a:pPr lvl="1"/>
            <a:r>
              <a:rPr lang="en-US" altLang="zh-TW" sz="2000" dirty="0">
                <a:latin typeface="Eras Light ITC" panose="020B0402030504020804" pitchFamily="34" charset="0"/>
              </a:rPr>
              <a:t>max</a:t>
            </a:r>
            <a:r>
              <a:rPr lang="en-US" altLang="zh-TW" sz="2000" baseline="-25000" dirty="0">
                <a:latin typeface="Eras Light ITC" panose="020B0402030504020804" pitchFamily="34" charset="0"/>
              </a:rPr>
              <a:t>1</a:t>
            </a:r>
            <a:r>
              <a:rPr lang="en-US" altLang="zh-TW" sz="2000" dirty="0">
                <a:latin typeface="Eras Light ITC" panose="020B0402030504020804" pitchFamily="34" charset="0"/>
              </a:rPr>
              <a:t> = </a:t>
            </a:r>
            <a:r>
              <a:rPr lang="en-US" altLang="zh-TW" sz="2000" dirty="0" err="1">
                <a:latin typeface="Eras Light ITC" panose="020B0402030504020804" pitchFamily="34" charset="0"/>
              </a:rPr>
              <a:t>gridsize</a:t>
            </a:r>
            <a:r>
              <a:rPr lang="en-US" altLang="zh-TW" sz="2000" dirty="0">
                <a:latin typeface="Eras Light ITC" panose="020B0402030504020804" pitchFamily="34" charset="0"/>
              </a:rPr>
              <a:t> (dimension 1</a:t>
            </a:r>
            <a:r>
              <a:rPr lang="en-US" altLang="zh-TW" sz="2000" dirty="0" smtClean="0">
                <a:latin typeface="Eras Light ITC" panose="020B0402030504020804" pitchFamily="34" charset="0"/>
              </a:rPr>
              <a:t>)</a:t>
            </a:r>
          </a:p>
          <a:p>
            <a:r>
              <a:rPr lang="en-US" altLang="zh-TW" sz="2300" dirty="0"/>
              <a:t>The work-item flattened absolute ID can be accessed by means of the special operation </a:t>
            </a:r>
            <a:r>
              <a:rPr lang="en-US" altLang="zh-TW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workitemflatabsid</a:t>
            </a:r>
            <a:r>
              <a:rPr lang="en-US" altLang="zh-TW" sz="2400" dirty="0"/>
              <a:t>.</a:t>
            </a:r>
          </a:p>
          <a:p>
            <a:pPr marL="0" indent="0">
              <a:buNone/>
            </a:pPr>
            <a:endParaRPr lang="en-US" altLang="zh-TW" sz="2400" baseline="-25000" dirty="0">
              <a:latin typeface="Eras Light ITC" panose="020B0402030504020804" pitchFamily="34" charset="0"/>
            </a:endParaRPr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62443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8967"/>
            <a:ext cx="5595257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Scalable Data-Parallel Computing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For CPU developers, the idea of work-items and work-groups might seem </a:t>
            </a:r>
            <a:r>
              <a:rPr lang="en-US" altLang="zh-TW" sz="2400" dirty="0" smtClean="0"/>
              <a:t>odd, because </a:t>
            </a:r>
            <a:r>
              <a:rPr lang="en-US" altLang="zh-TW" sz="2400" dirty="0"/>
              <a:t>one level of threads has traditionally been enough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/>
          </a:p>
          <a:p>
            <a:r>
              <a:rPr lang="en-US" altLang="zh-TW" sz="2400" dirty="0"/>
              <a:t>Work-items are similar in some ways to traditional CPU threads, because they </a:t>
            </a:r>
            <a:r>
              <a:rPr lang="en-US" altLang="zh-TW" sz="2400" dirty="0" smtClean="0"/>
              <a:t>have local </a:t>
            </a:r>
            <a:r>
              <a:rPr lang="en-US" altLang="zh-TW" sz="2400" dirty="0"/>
              <a:t>data and a program counter. But they differ in a couple of important ways</a:t>
            </a:r>
            <a:r>
              <a:rPr lang="en-US" altLang="zh-TW" sz="2400" dirty="0" smtClean="0"/>
              <a:t>:</a:t>
            </a:r>
          </a:p>
          <a:p>
            <a:pPr lvl="2"/>
            <a:r>
              <a:rPr lang="en-US" altLang="zh-TW" sz="2063" dirty="0"/>
              <a:t> Work-items can be gang-scheduled while CPU threads are scheduled separately</a:t>
            </a:r>
            <a:r>
              <a:rPr lang="en-US" altLang="zh-TW" sz="2063" dirty="0" smtClean="0"/>
              <a:t>.</a:t>
            </a:r>
          </a:p>
          <a:p>
            <a:pPr lvl="2"/>
            <a:r>
              <a:rPr lang="en-US" altLang="zh-TW" sz="2063" dirty="0"/>
              <a:t> Work-items can be gang-scheduled while CPU threads are scheduled separately</a:t>
            </a:r>
            <a:r>
              <a:rPr lang="en-US" altLang="zh-TW" sz="2063" dirty="0" smtClean="0"/>
              <a:t>.</a:t>
            </a:r>
          </a:p>
          <a:p>
            <a:pPr lvl="2"/>
            <a:endParaRPr lang="en-US" altLang="zh-TW" sz="2063" dirty="0"/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3418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42160" y="248967"/>
            <a:ext cx="5595257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Scalable Data-Parallel Computing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The number of work-groups that can be processed at once is dependent on the </a:t>
            </a:r>
            <a:r>
              <a:rPr lang="en-US" altLang="zh-TW" sz="2400" dirty="0" smtClean="0"/>
              <a:t>amount of </a:t>
            </a:r>
            <a:r>
              <a:rPr lang="en-US" altLang="zh-TW" sz="2400" dirty="0"/>
              <a:t>hardware resources. </a:t>
            </a:r>
            <a:endParaRPr lang="en-US" altLang="zh-TW" sz="2400" dirty="0" smtClean="0"/>
          </a:p>
          <a:p>
            <a:r>
              <a:rPr lang="en-US" altLang="zh-TW" sz="2400" dirty="0" smtClean="0"/>
              <a:t>Adding </a:t>
            </a:r>
            <a:r>
              <a:rPr lang="en-US" altLang="zh-TW" sz="2400" dirty="0"/>
              <a:t>work-groups makes it possible to abstract away </a:t>
            </a:r>
            <a:r>
              <a:rPr lang="en-US" altLang="zh-TW" sz="2400" dirty="0" smtClean="0"/>
              <a:t>this concept </a:t>
            </a:r>
            <a:r>
              <a:rPr lang="en-US" altLang="zh-TW" sz="2400" dirty="0"/>
              <a:t>so that developers can apply a kernel to a large grid without worrying </a:t>
            </a:r>
            <a:r>
              <a:rPr lang="en-US" altLang="zh-TW" sz="2400" dirty="0" smtClean="0"/>
              <a:t>about fixed </a:t>
            </a:r>
            <a:r>
              <a:rPr lang="en-US" altLang="zh-TW" sz="2400" dirty="0"/>
              <a:t>resources. </a:t>
            </a:r>
            <a:endParaRPr lang="en-US" altLang="zh-TW" sz="2400" dirty="0" smtClean="0"/>
          </a:p>
          <a:p>
            <a:r>
              <a:rPr lang="en-US" altLang="zh-TW" sz="2400" dirty="0" smtClean="0"/>
              <a:t>If </a:t>
            </a:r>
            <a:r>
              <a:rPr lang="en-US" altLang="zh-TW" sz="2400" dirty="0"/>
              <a:t>hardware has few resources, it executes the </a:t>
            </a:r>
            <a:r>
              <a:rPr lang="en-US" altLang="zh-TW" sz="2400" dirty="0" smtClean="0"/>
              <a:t>work-groups sequentially</a:t>
            </a:r>
            <a:r>
              <a:rPr lang="en-US" altLang="zh-TW" sz="2400" dirty="0"/>
              <a:t>. </a:t>
            </a:r>
            <a:endParaRPr lang="en-US" altLang="zh-TW" sz="2400" dirty="0" smtClean="0"/>
          </a:p>
          <a:p>
            <a:r>
              <a:rPr lang="en-US" altLang="zh-TW" sz="2400" dirty="0" smtClean="0"/>
              <a:t>But </a:t>
            </a:r>
            <a:r>
              <a:rPr lang="en-US" altLang="zh-TW" sz="2400" dirty="0"/>
              <a:t>if it has a large number of compute units, it can process them </a:t>
            </a:r>
            <a:r>
              <a:rPr lang="en-US" altLang="zh-TW" sz="2400" dirty="0" smtClean="0"/>
              <a:t>in parallel</a:t>
            </a:r>
            <a:r>
              <a:rPr lang="en-US" altLang="zh-TW" sz="2400" dirty="0"/>
              <a:t>.</a:t>
            </a:r>
            <a:endParaRPr lang="en-US" altLang="zh-TW" sz="2063" dirty="0" smtClean="0"/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00100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Active Work-Groups and Active 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At any instance of time, the work-groups executing in compute units are called </a:t>
            </a:r>
            <a:r>
              <a:rPr lang="en-US" altLang="zh-TW" sz="2400" dirty="0" smtClean="0"/>
              <a:t>the active </a:t>
            </a:r>
            <a:r>
              <a:rPr lang="en-US" altLang="zh-TW" sz="2400" dirty="0"/>
              <a:t>work-groups. When a work-group finishes execution, it stops being active </a:t>
            </a:r>
            <a:r>
              <a:rPr lang="en-US" altLang="zh-TW" sz="2400" dirty="0" smtClean="0"/>
              <a:t>and another </a:t>
            </a:r>
            <a:r>
              <a:rPr lang="en-US" altLang="zh-TW" sz="2400" dirty="0"/>
              <a:t>work-group can start. The work-items in the active work-groups are </a:t>
            </a:r>
            <a:r>
              <a:rPr lang="en-US" altLang="zh-TW" sz="2400" dirty="0" smtClean="0"/>
              <a:t>called active </a:t>
            </a:r>
            <a:r>
              <a:rPr lang="en-US" altLang="zh-TW" sz="2400" dirty="0"/>
              <a:t>work-items. Resource limits, including group memory, can constrain </a:t>
            </a:r>
            <a:r>
              <a:rPr lang="en-US" altLang="zh-TW" sz="2400" dirty="0" smtClean="0"/>
              <a:t>the number </a:t>
            </a:r>
            <a:r>
              <a:rPr lang="en-US" altLang="zh-TW" sz="2400" dirty="0"/>
              <a:t>of active work-groups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An active work-item at an operation is one that executes the current operation. </a:t>
            </a:r>
            <a:r>
              <a:rPr lang="en-US" altLang="zh-TW" sz="2400" dirty="0" smtClean="0"/>
              <a:t>For example</a:t>
            </a:r>
            <a:r>
              <a:rPr lang="en-US" altLang="zh-TW" sz="2400" dirty="0"/>
              <a:t>:</a:t>
            </a:r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  <a:r>
              <a:rPr lang="en-US" altLang="zh-TW" sz="2000" dirty="0">
                <a:latin typeface="Eras Light ITC" panose="020B0402030504020804" pitchFamily="34" charset="0"/>
              </a:rPr>
              <a:t>if (condition) {</a:t>
            </a:r>
          </a:p>
          <a:p>
            <a:pPr marL="0" indent="0">
              <a:buNone/>
            </a:pPr>
            <a:r>
              <a:rPr lang="en-US" altLang="zh-TW" sz="2000" dirty="0">
                <a:latin typeface="Eras Light ITC" panose="020B0402030504020804" pitchFamily="34" charset="0"/>
              </a:rPr>
              <a:t>	operation;</a:t>
            </a:r>
          </a:p>
          <a:p>
            <a:pPr marL="0" indent="0">
              <a:buNone/>
            </a:pPr>
            <a:r>
              <a:rPr lang="en-US" altLang="zh-TW" sz="2000" dirty="0">
                <a:latin typeface="Eras Light ITC" panose="020B0402030504020804" pitchFamily="34" charset="0"/>
              </a:rPr>
              <a:t>	</a:t>
            </a:r>
            <a:r>
              <a:rPr lang="en-US" altLang="zh-TW" sz="2000" dirty="0" smtClean="0">
                <a:latin typeface="Eras Light ITC" panose="020B0402030504020804" pitchFamily="34" charset="0"/>
              </a:rPr>
              <a:t>}</a:t>
            </a:r>
          </a:p>
          <a:p>
            <a:r>
              <a:rPr lang="en-US" altLang="zh-TW" sz="2400" dirty="0"/>
              <a:t>The active work-items at this </a:t>
            </a:r>
            <a:r>
              <a:rPr lang="en-US" altLang="zh-TW" sz="2000" dirty="0">
                <a:latin typeface="Eras Light ITC" panose="020B0402030504020804" pitchFamily="34" charset="0"/>
              </a:rPr>
              <a:t>operation</a:t>
            </a:r>
            <a:r>
              <a:rPr lang="en-US" altLang="zh-TW" sz="2400" dirty="0"/>
              <a:t> are the work-items where </a:t>
            </a:r>
            <a:r>
              <a:rPr lang="en-US" altLang="zh-TW" sz="2000" dirty="0">
                <a:latin typeface="Eras Light ITC" panose="020B0402030504020804" pitchFamily="34" charset="0"/>
              </a:rPr>
              <a:t>condition</a:t>
            </a:r>
            <a:r>
              <a:rPr lang="en-US" altLang="zh-TW" sz="2400" dirty="0"/>
              <a:t> was true.</a:t>
            </a:r>
          </a:p>
        </p:txBody>
      </p:sp>
    </p:spTree>
    <p:extLst>
      <p:ext uri="{BB962C8B-B14F-4D97-AF65-F5344CB8AC3E}">
        <p14:creationId xmlns:p14="http://schemas.microsoft.com/office/powerpoint/2010/main" val="222551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Active Work-Groups and Active 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Resource limits might constrain the number of active work-items. </a:t>
            </a:r>
            <a:endParaRPr lang="en-US" altLang="zh-TW" sz="2400" dirty="0" smtClean="0"/>
          </a:p>
          <a:p>
            <a:r>
              <a:rPr lang="en-US" altLang="zh-TW" sz="2400" dirty="0" smtClean="0"/>
              <a:t>However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every HSAIL </a:t>
            </a:r>
            <a:r>
              <a:rPr lang="en-US" altLang="zh-TW" sz="2400" dirty="0"/>
              <a:t>implementation must be able to support enough active work-items to be </a:t>
            </a:r>
            <a:r>
              <a:rPr lang="en-US" altLang="zh-TW" sz="2400" dirty="0" smtClean="0"/>
              <a:t>able to </a:t>
            </a:r>
            <a:r>
              <a:rPr lang="en-US" altLang="zh-TW" sz="2400" dirty="0"/>
              <a:t>execute at least one maximum-size work-group. </a:t>
            </a:r>
            <a:endParaRPr lang="en-US" altLang="zh-TW" sz="2400" dirty="0" smtClean="0"/>
          </a:p>
          <a:p>
            <a:r>
              <a:rPr lang="en-US" altLang="zh-TW" sz="2400" dirty="0" smtClean="0"/>
              <a:t>Resources </a:t>
            </a:r>
            <a:r>
              <a:rPr lang="en-US" altLang="zh-TW" sz="2400" dirty="0"/>
              <a:t>such as private </a:t>
            </a:r>
            <a:r>
              <a:rPr lang="en-US" altLang="zh-TW" sz="2400" dirty="0" smtClean="0"/>
              <a:t>memory and </a:t>
            </a:r>
            <a:r>
              <a:rPr lang="en-US" altLang="zh-TW" sz="2400" dirty="0"/>
              <a:t>registers are not persistent over work-items, so implementations are allowed </a:t>
            </a:r>
            <a:r>
              <a:rPr lang="en-US" altLang="zh-TW" sz="2400" dirty="0" smtClean="0"/>
              <a:t>to reuse </a:t>
            </a:r>
            <a:r>
              <a:rPr lang="en-US" altLang="zh-TW" sz="2400" dirty="0"/>
              <a:t>resources. </a:t>
            </a:r>
            <a:endParaRPr lang="en-US" altLang="zh-TW" sz="2400" dirty="0" smtClean="0"/>
          </a:p>
          <a:p>
            <a:r>
              <a:rPr lang="en-US" altLang="zh-TW" sz="2400" dirty="0" smtClean="0"/>
              <a:t>When </a:t>
            </a:r>
            <a:r>
              <a:rPr lang="en-US" altLang="zh-TW" sz="2400" dirty="0"/>
              <a:t>a work-group finishes, it and all its work-items stop </a:t>
            </a:r>
            <a:r>
              <a:rPr lang="en-US" altLang="zh-TW" sz="2400" dirty="0" smtClean="0"/>
              <a:t>being active </a:t>
            </a:r>
            <a:r>
              <a:rPr lang="en-US" altLang="zh-TW" sz="2400" dirty="0"/>
              <a:t>and the resources they used (private memory, registers, group </a:t>
            </a:r>
            <a:r>
              <a:rPr lang="en-US" altLang="zh-TW" sz="2400" dirty="0" smtClean="0"/>
              <a:t>memory, hardware </a:t>
            </a:r>
            <a:r>
              <a:rPr lang="en-US" altLang="zh-TW" sz="2400" dirty="0"/>
              <a:t>resources used to implement barriers, and so forth) might be reassigned.</a:t>
            </a:r>
          </a:p>
        </p:txBody>
      </p:sp>
    </p:spTree>
    <p:extLst>
      <p:ext uri="{BB962C8B-B14F-4D97-AF65-F5344CB8AC3E}">
        <p14:creationId xmlns:p14="http://schemas.microsoft.com/office/powerpoint/2010/main" val="157421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Active Work-Groups and Active Work-Items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Work-group (i +j) might start after work-group (i) finishes, so it is not valid for a </a:t>
            </a:r>
            <a:r>
              <a:rPr lang="en-US" altLang="zh-TW" sz="2400" dirty="0" smtClean="0"/>
              <a:t>work-group </a:t>
            </a:r>
            <a:r>
              <a:rPr lang="en-US" altLang="zh-TW" sz="2400" dirty="0"/>
              <a:t>to wait on an operation performed by a later work-group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When a work-group finishes, the associated resources become free so that </a:t>
            </a:r>
            <a:r>
              <a:rPr lang="en-US" altLang="zh-TW" sz="2400" dirty="0" smtClean="0"/>
              <a:t>another work-group </a:t>
            </a:r>
            <a:r>
              <a:rPr lang="en-US" altLang="zh-TW" sz="2400" dirty="0"/>
              <a:t>can start.</a:t>
            </a:r>
          </a:p>
        </p:txBody>
      </p:sp>
    </p:spTree>
    <p:extLst>
      <p:ext uri="{BB962C8B-B14F-4D97-AF65-F5344CB8AC3E}">
        <p14:creationId xmlns:p14="http://schemas.microsoft.com/office/powerpoint/2010/main" val="12852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err="1"/>
              <a:t>Wavefronts</a:t>
            </a:r>
            <a:r>
              <a:rPr lang="en-US" altLang="zh-TW" sz="2800" dirty="0"/>
              <a:t>, Lanes, and </a:t>
            </a:r>
            <a:r>
              <a:rPr lang="en-US" altLang="zh-TW" sz="2800" dirty="0" err="1"/>
              <a:t>Wavefront</a:t>
            </a:r>
            <a:r>
              <a:rPr lang="en-US" altLang="zh-TW" sz="2800" dirty="0"/>
              <a:t> Sizes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Work-items within a work-group can be executed in an extended SIMD (</a:t>
            </a:r>
            <a:r>
              <a:rPr lang="en-US" altLang="zh-TW" sz="2400" dirty="0" smtClean="0"/>
              <a:t>single instruction</a:t>
            </a:r>
            <a:r>
              <a:rPr lang="en-US" altLang="zh-TW" sz="2400" dirty="0"/>
              <a:t>, multiple data) style. That is, work-items are gang-scheduled in </a:t>
            </a:r>
            <a:r>
              <a:rPr lang="en-US" altLang="zh-TW" sz="2400" dirty="0" smtClean="0"/>
              <a:t>chunks called </a:t>
            </a:r>
            <a:r>
              <a:rPr lang="en-US" altLang="zh-TW" sz="2400" dirty="0" err="1"/>
              <a:t>wavefronts</a:t>
            </a:r>
            <a:r>
              <a:rPr lang="en-US" altLang="zh-TW" sz="2400" dirty="0"/>
              <a:t>. Executing work-items in </a:t>
            </a:r>
            <a:r>
              <a:rPr lang="en-US" altLang="zh-TW" sz="2400" dirty="0" err="1"/>
              <a:t>wavefronts</a:t>
            </a:r>
            <a:r>
              <a:rPr lang="en-US" altLang="zh-TW" sz="2400" dirty="0"/>
              <a:t> can allow implementations </a:t>
            </a:r>
            <a:r>
              <a:rPr lang="en-US" altLang="zh-TW" sz="2400" dirty="0" smtClean="0"/>
              <a:t>to improve </a:t>
            </a:r>
            <a:r>
              <a:rPr lang="en-US" altLang="zh-TW" sz="2400" dirty="0"/>
              <a:t>computational density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Work-items are assigned to </a:t>
            </a:r>
            <a:r>
              <a:rPr lang="en-US" altLang="zh-TW" sz="2400" dirty="0" err="1"/>
              <a:t>wavefronts</a:t>
            </a:r>
            <a:r>
              <a:rPr lang="en-US" altLang="zh-TW" sz="2400" dirty="0"/>
              <a:t> in work-item flattened absolute ID order: </a:t>
            </a:r>
            <a:r>
              <a:rPr lang="en-US" altLang="zh-TW" sz="2400" dirty="0" smtClean="0"/>
              <a:t>X then </a:t>
            </a:r>
            <a:r>
              <a:rPr lang="en-US" altLang="zh-TW" sz="2400" dirty="0"/>
              <a:t>Y then Z. This can be useful to expert programmers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A </a:t>
            </a:r>
            <a:r>
              <a:rPr lang="en-US" altLang="zh-TW" sz="2400" i="1" dirty="0"/>
              <a:t>lane</a:t>
            </a:r>
            <a:r>
              <a:rPr lang="en-US" altLang="zh-TW" sz="2400" dirty="0"/>
              <a:t> is an element of a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. The </a:t>
            </a:r>
            <a:r>
              <a:rPr lang="en-US" altLang="zh-TW" sz="2400" i="1" dirty="0" err="1"/>
              <a:t>wavefront</a:t>
            </a:r>
            <a:r>
              <a:rPr lang="en-US" altLang="zh-TW" sz="2400" i="1" dirty="0"/>
              <a:t> size</a:t>
            </a:r>
            <a:r>
              <a:rPr lang="en-US" altLang="zh-TW" sz="2400" dirty="0"/>
              <a:t> is the number of lanes in </a:t>
            </a:r>
            <a:r>
              <a:rPr lang="en-US" altLang="zh-TW" sz="2400" dirty="0" smtClean="0"/>
              <a:t>a </a:t>
            </a:r>
            <a:r>
              <a:rPr lang="en-US" altLang="zh-TW" sz="2400" dirty="0" err="1" smtClean="0"/>
              <a:t>wavefront</a:t>
            </a:r>
            <a:r>
              <a:rPr lang="en-US" altLang="zh-TW" sz="2400" dirty="0"/>
              <a:t>.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 is an implementation-defined constant, and must be </a:t>
            </a:r>
            <a:r>
              <a:rPr lang="en-US" altLang="zh-TW" sz="2400" dirty="0" smtClean="0"/>
              <a:t>a power </a:t>
            </a:r>
            <a:r>
              <a:rPr lang="en-US" altLang="zh-TW" sz="2400" dirty="0"/>
              <a:t>of 2 in the range from 1 to 64 inclusive. Thus, a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with a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size of </a:t>
            </a:r>
            <a:r>
              <a:rPr lang="en-US" altLang="zh-TW" sz="2400" dirty="0"/>
              <a:t>64 has 64 lanes.</a:t>
            </a:r>
          </a:p>
        </p:txBody>
      </p:sp>
    </p:spTree>
    <p:extLst>
      <p:ext uri="{BB962C8B-B14F-4D97-AF65-F5344CB8AC3E}">
        <p14:creationId xmlns:p14="http://schemas.microsoft.com/office/powerpoint/2010/main" val="348025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err="1"/>
              <a:t>Wavefronts</a:t>
            </a:r>
            <a:r>
              <a:rPr lang="en-US" altLang="zh-TW" sz="2800" dirty="0"/>
              <a:t>, Lanes, and </a:t>
            </a:r>
            <a:r>
              <a:rPr lang="en-US" altLang="zh-TW" sz="2800" dirty="0" err="1"/>
              <a:t>Wavefront</a:t>
            </a:r>
            <a:r>
              <a:rPr lang="en-US" altLang="zh-TW" sz="2800" dirty="0"/>
              <a:t> Sizes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If the work-group size is not a multiple of the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size, the last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will have </a:t>
            </a:r>
            <a:r>
              <a:rPr lang="en-US" altLang="zh-TW" sz="2400" dirty="0"/>
              <a:t>extra lanes that do not contribute to the computation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Two work-items in the same work-group will be in the same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if the floor </a:t>
            </a:r>
            <a:r>
              <a:rPr lang="en-US" altLang="zh-TW" sz="2400" dirty="0" smtClean="0"/>
              <a:t>of </a:t>
            </a:r>
            <a:r>
              <a:rPr lang="en-US" altLang="zh-TW" sz="2000" dirty="0">
                <a:latin typeface="Eras Light ITC" panose="020B0402030504020804" pitchFamily="34" charset="0"/>
              </a:rPr>
              <a:t>work-item flattened absolute ID / </a:t>
            </a:r>
            <a:r>
              <a:rPr lang="en-US" altLang="zh-TW" sz="2000" dirty="0" err="1">
                <a:latin typeface="Eras Light ITC" panose="020B0402030504020804" pitchFamily="34" charset="0"/>
              </a:rPr>
              <a:t>wavefront</a:t>
            </a:r>
            <a:r>
              <a:rPr lang="en-US" altLang="zh-TW" sz="2000" dirty="0">
                <a:latin typeface="Eras Light ITC" panose="020B0402030504020804" pitchFamily="34" charset="0"/>
              </a:rPr>
              <a:t> size</a:t>
            </a:r>
            <a:r>
              <a:rPr lang="en-US" altLang="zh-TW" sz="2400" dirty="0"/>
              <a:t> is the same.</a:t>
            </a:r>
          </a:p>
        </p:txBody>
      </p:sp>
    </p:spTree>
    <p:extLst>
      <p:ext uri="{BB962C8B-B14F-4D97-AF65-F5344CB8AC3E}">
        <p14:creationId xmlns:p14="http://schemas.microsoft.com/office/powerpoint/2010/main" val="124670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err="1"/>
              <a:t>Wavefront</a:t>
            </a:r>
            <a:r>
              <a:rPr lang="en-US" altLang="zh-TW" sz="2800" dirty="0"/>
              <a:t> Size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On some implementations, a kernel might be more efficient if it is written </a:t>
            </a:r>
            <a:r>
              <a:rPr lang="en-US" altLang="zh-TW" sz="2400" dirty="0" smtClean="0"/>
              <a:t>with knowledge </a:t>
            </a:r>
            <a:r>
              <a:rPr lang="en-US" altLang="zh-TW" sz="2400" dirty="0"/>
              <a:t>of the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size. </a:t>
            </a:r>
            <a:endParaRPr lang="en-US" altLang="zh-TW" sz="2400" dirty="0" smtClean="0"/>
          </a:p>
          <a:p>
            <a:r>
              <a:rPr lang="en-US" altLang="zh-TW" sz="2400" dirty="0" smtClean="0"/>
              <a:t>Thus</a:t>
            </a:r>
            <a:r>
              <a:rPr lang="en-US" altLang="zh-TW" sz="2400" dirty="0"/>
              <a:t>, HSAIL includes a compile-time </a:t>
            </a:r>
            <a:r>
              <a:rPr lang="en-US" altLang="zh-TW" sz="2400" dirty="0" smtClean="0"/>
              <a:t>macro, </a:t>
            </a:r>
            <a:r>
              <a:rPr lang="en-US" altLang="zh-TW" sz="2000" dirty="0">
                <a:latin typeface="Eras Light ITC" panose="020B0402030504020804" pitchFamily="34" charset="0"/>
              </a:rPr>
              <a:t>WAVESIZE</a:t>
            </a:r>
            <a:r>
              <a:rPr lang="en-US" altLang="zh-TW" sz="2400" dirty="0"/>
              <a:t>, which can be used in any operation where an integer or bit immediate </a:t>
            </a:r>
            <a:r>
              <a:rPr lang="en-US" altLang="zh-TW" sz="2400" dirty="0" err="1" smtClean="0"/>
              <a:t>valueis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allowed, and as the argument to the width </a:t>
            </a:r>
            <a:r>
              <a:rPr lang="en-US" altLang="zh-TW" sz="2400" dirty="0" smtClean="0"/>
              <a:t>modifier.</a:t>
            </a:r>
          </a:p>
          <a:p>
            <a:r>
              <a:rPr lang="en-US" altLang="zh-TW" sz="2000" dirty="0">
                <a:latin typeface="Eras Light ITC" panose="020B0402030504020804" pitchFamily="34" charset="0"/>
              </a:rPr>
              <a:t>WAVESIZE</a:t>
            </a:r>
            <a:r>
              <a:rPr lang="en-US" altLang="zh-TW" sz="2400" dirty="0"/>
              <a:t> is only available inside the HSAIL code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Developers need to be careful about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 assumptions, because </a:t>
            </a:r>
            <a:r>
              <a:rPr lang="en-US" altLang="zh-TW" sz="2400" dirty="0" smtClean="0"/>
              <a:t>programs coded </a:t>
            </a:r>
            <a:r>
              <a:rPr lang="en-US" altLang="zh-TW" sz="2400" dirty="0"/>
              <a:t>for a single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 could generate wrong answers or deadlock if </a:t>
            </a:r>
            <a:r>
              <a:rPr lang="en-US" altLang="zh-TW" sz="2400" dirty="0" smtClean="0"/>
              <a:t>the code </a:t>
            </a:r>
            <a:r>
              <a:rPr lang="en-US" altLang="zh-TW" sz="2400" dirty="0"/>
              <a:t>is executed on implementations with a different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grid size does not need to be an integral multiple of the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size.</a:t>
            </a:r>
          </a:p>
        </p:txBody>
      </p:sp>
    </p:spTree>
    <p:extLst>
      <p:ext uri="{BB962C8B-B14F-4D97-AF65-F5344CB8AC3E}">
        <p14:creationId xmlns:p14="http://schemas.microsoft.com/office/powerpoint/2010/main" val="352228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Memory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/>
              <a:t>HSAIL memory is organized into three types</a:t>
            </a:r>
            <a:r>
              <a:rPr lang="en-US" altLang="zh-TW" sz="2400" dirty="0" smtClean="0"/>
              <a:t>:</a:t>
            </a:r>
          </a:p>
          <a:p>
            <a:r>
              <a:rPr lang="en-US" altLang="zh-TW" sz="2400" dirty="0"/>
              <a:t>Flat memory: Flat memory is a simple interface using byte addresses. Loads and stores can </a:t>
            </a:r>
            <a:r>
              <a:rPr lang="en-US" altLang="zh-TW" sz="2400" dirty="0" err="1" smtClean="0"/>
              <a:t>beused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to reference any visible location in the flat memory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 </a:t>
            </a:r>
            <a:r>
              <a:rPr lang="en-US" altLang="zh-TW" sz="2400" dirty="0" smtClean="0"/>
              <a:t>Registers: 1bit, 32bit, 64bit, 128bit.</a:t>
            </a:r>
          </a:p>
          <a:p>
            <a:pPr lvl="1"/>
            <a:r>
              <a:rPr lang="en-US" altLang="zh-TW" sz="2232" dirty="0"/>
              <a:t>Registers are </a:t>
            </a:r>
            <a:r>
              <a:rPr lang="en-US" altLang="zh-TW" sz="2232" dirty="0" err="1"/>
              <a:t>untyped</a:t>
            </a:r>
            <a:r>
              <a:rPr lang="en-US" altLang="zh-TW" sz="2232" dirty="0" smtClean="0"/>
              <a:t>.</a:t>
            </a:r>
          </a:p>
          <a:p>
            <a:r>
              <a:rPr lang="en-US" altLang="zh-TW" sz="2400" dirty="0"/>
              <a:t> Image </a:t>
            </a:r>
            <a:r>
              <a:rPr lang="en-US" altLang="zh-TW" sz="2400" dirty="0" smtClean="0"/>
              <a:t>memory</a:t>
            </a:r>
          </a:p>
          <a:p>
            <a:pPr lvl="1"/>
            <a:r>
              <a:rPr lang="en-US" altLang="zh-TW" sz="2232" dirty="0"/>
              <a:t>Image memory is a special kind of memory access that can make use of </a:t>
            </a:r>
            <a:r>
              <a:rPr lang="en-US" altLang="zh-TW" sz="2232" dirty="0" err="1" smtClean="0"/>
              <a:t>dedicatedhardware</a:t>
            </a:r>
            <a:r>
              <a:rPr lang="en-US" altLang="zh-TW" sz="2232" dirty="0" smtClean="0"/>
              <a:t> </a:t>
            </a:r>
            <a:r>
              <a:rPr lang="en-US" altLang="zh-TW" sz="2232" dirty="0"/>
              <a:t>often provided for graphics. </a:t>
            </a:r>
            <a:endParaRPr lang="en-US" altLang="zh-TW" sz="2232" dirty="0" smtClean="0"/>
          </a:p>
          <a:p>
            <a:pPr lvl="1"/>
            <a:r>
              <a:rPr lang="en-US" altLang="zh-TW" sz="2232" dirty="0" smtClean="0"/>
              <a:t>Only </a:t>
            </a:r>
            <a:r>
              <a:rPr lang="en-US" altLang="zh-TW" sz="2232" dirty="0"/>
              <a:t>programmers seeking </a:t>
            </a:r>
            <a:r>
              <a:rPr lang="en-US" altLang="zh-TW" sz="2232" dirty="0" smtClean="0"/>
              <a:t>extreme performance </a:t>
            </a:r>
            <a:r>
              <a:rPr lang="en-US" altLang="zh-TW" sz="2232" dirty="0"/>
              <a:t>need to understand image memory.</a:t>
            </a:r>
          </a:p>
        </p:txBody>
      </p:sp>
    </p:spTree>
    <p:extLst>
      <p:ext uri="{BB962C8B-B14F-4D97-AF65-F5344CB8AC3E}">
        <p14:creationId xmlns:p14="http://schemas.microsoft.com/office/powerpoint/2010/main" val="414800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Segments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Flat memory is divided into segments based on</a:t>
            </a:r>
            <a:r>
              <a:rPr lang="en-US" altLang="zh-TW" sz="2400" dirty="0" smtClean="0"/>
              <a:t>:</a:t>
            </a:r>
          </a:p>
          <a:p>
            <a:pPr lvl="1"/>
            <a:r>
              <a:rPr lang="en-US" altLang="zh-TW" sz="2064" dirty="0"/>
              <a:t> The way data can be </a:t>
            </a:r>
            <a:r>
              <a:rPr lang="en-US" altLang="zh-TW" sz="2064" dirty="0" smtClean="0"/>
              <a:t>shared</a:t>
            </a:r>
          </a:p>
          <a:p>
            <a:pPr lvl="1"/>
            <a:r>
              <a:rPr lang="en-US" altLang="zh-TW" sz="2064" dirty="0"/>
              <a:t> The intended </a:t>
            </a:r>
            <a:r>
              <a:rPr lang="en-US" altLang="zh-TW" sz="2064" dirty="0" smtClean="0"/>
              <a:t>usage</a:t>
            </a:r>
          </a:p>
          <a:p>
            <a:r>
              <a:rPr lang="en-US" altLang="zh-TW" sz="2232" dirty="0"/>
              <a:t>A segment is a block of memory. The characteristics of a segment space include </a:t>
            </a:r>
            <a:r>
              <a:rPr lang="en-US" altLang="zh-TW" sz="2232" dirty="0" smtClean="0"/>
              <a:t>its size</a:t>
            </a:r>
            <a:r>
              <a:rPr lang="en-US" altLang="zh-TW" sz="2232" dirty="0"/>
              <a:t>, addressability, access speed, access rights, and level of sharing between </a:t>
            </a:r>
            <a:r>
              <a:rPr lang="en-US" altLang="zh-TW" sz="2232" dirty="0" smtClean="0"/>
              <a:t>work-items.</a:t>
            </a:r>
          </a:p>
          <a:p>
            <a:r>
              <a:rPr lang="en-US" altLang="zh-TW" sz="2232" dirty="0"/>
              <a:t>The segment determines the part of memory that will hold the object, how long </a:t>
            </a:r>
            <a:r>
              <a:rPr lang="en-US" altLang="zh-TW" sz="2232" dirty="0" smtClean="0"/>
              <a:t>the storage </a:t>
            </a:r>
            <a:r>
              <a:rPr lang="en-US" altLang="zh-TW" sz="2232" dirty="0"/>
              <a:t>allocation exists, and the properties of the memory. The </a:t>
            </a:r>
            <a:r>
              <a:rPr lang="en-US" altLang="zh-TW" sz="2232" dirty="0" err="1"/>
              <a:t>finalizer</a:t>
            </a:r>
            <a:r>
              <a:rPr lang="en-US" altLang="zh-TW" sz="2232" dirty="0"/>
              <a:t> uses </a:t>
            </a:r>
            <a:r>
              <a:rPr lang="en-US" altLang="zh-TW" sz="2232" dirty="0" smtClean="0"/>
              <a:t>the segment </a:t>
            </a:r>
            <a:r>
              <a:rPr lang="en-US" altLang="zh-TW" sz="2232" dirty="0"/>
              <a:t>to determine the intended usage of the memory. There is no bounds </a:t>
            </a:r>
            <a:r>
              <a:rPr lang="en-US" altLang="zh-TW" sz="2232" dirty="0" smtClean="0"/>
              <a:t>checking over </a:t>
            </a:r>
            <a:r>
              <a:rPr lang="en-US" altLang="zh-TW" sz="2232" dirty="0"/>
              <a:t>segments</a:t>
            </a:r>
            <a:r>
              <a:rPr lang="en-US" altLang="zh-TW" sz="2232" dirty="0" smtClean="0"/>
              <a:t>.</a:t>
            </a:r>
          </a:p>
          <a:p>
            <a:r>
              <a:rPr lang="en-US" altLang="zh-TW" sz="2232" dirty="0"/>
              <a:t>No access protection between segments is provided. That is, the behavior is </a:t>
            </a:r>
            <a:r>
              <a:rPr lang="en-US" altLang="zh-TW" sz="2232" dirty="0" err="1" smtClean="0"/>
              <a:t>undefinedwhen</a:t>
            </a:r>
            <a:r>
              <a:rPr lang="en-US" altLang="zh-TW" sz="2232" dirty="0" smtClean="0"/>
              <a:t> </a:t>
            </a:r>
            <a:r>
              <a:rPr lang="en-US" altLang="zh-TW" sz="2232" dirty="0"/>
              <a:t>memory operations generate addresses that are outside the bounds of </a:t>
            </a:r>
            <a:r>
              <a:rPr lang="en-US" altLang="zh-TW" sz="2232" dirty="0" smtClean="0"/>
              <a:t>a segment</a:t>
            </a:r>
            <a:r>
              <a:rPr lang="en-US" altLang="zh-TW" sz="2232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94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</a:t>
            </a:r>
            <a:r>
              <a:rPr lang="en-US" altLang="zh-TW" sz="2800" dirty="0" smtClean="0"/>
              <a:t>Segments (7 types of segments)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Global</a:t>
            </a:r>
          </a:p>
          <a:p>
            <a:pPr lvl="1"/>
            <a:r>
              <a:rPr lang="en-US" altLang="zh-TW" sz="2064" dirty="0"/>
              <a:t>Memory that is visible to all work-groups and to all agents</a:t>
            </a:r>
            <a:r>
              <a:rPr lang="en-US" altLang="zh-TW" sz="2064" dirty="0" smtClean="0"/>
              <a:t>.</a:t>
            </a:r>
          </a:p>
          <a:p>
            <a:pPr lvl="1"/>
            <a:r>
              <a:rPr lang="en-US" altLang="zh-TW" sz="2064" dirty="0"/>
              <a:t>This segment supports read/write access for all work-items in all </a:t>
            </a:r>
            <a:r>
              <a:rPr lang="en-US" altLang="zh-TW" sz="2064" dirty="0" smtClean="0"/>
              <a:t>work-groups. All </a:t>
            </a:r>
            <a:r>
              <a:rPr lang="en-US" altLang="zh-TW" sz="2064" dirty="0"/>
              <a:t>agents including HSA components can read and write global memory</a:t>
            </a:r>
            <a:r>
              <a:rPr lang="en-US" altLang="zh-TW" sz="2064" dirty="0" smtClean="0"/>
              <a:t>.</a:t>
            </a:r>
          </a:p>
          <a:p>
            <a:pPr lvl="1"/>
            <a:r>
              <a:rPr lang="en-US" altLang="zh-TW" sz="2064" dirty="0"/>
              <a:t>All global memory is persistent across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5490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</a:t>
            </a:r>
            <a:r>
              <a:rPr lang="en-US" altLang="zh-TW" sz="2800" dirty="0" smtClean="0"/>
              <a:t>Segments (7 types of segments)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Group</a:t>
            </a:r>
          </a:p>
          <a:p>
            <a:pPr lvl="1"/>
            <a:r>
              <a:rPr lang="en-US" altLang="zh-TW" sz="1896" dirty="0"/>
              <a:t>Memory that is visible to a single work-group</a:t>
            </a:r>
            <a:r>
              <a:rPr lang="en-US" altLang="zh-TW" sz="1896" dirty="0" smtClean="0"/>
              <a:t>.</a:t>
            </a:r>
          </a:p>
          <a:p>
            <a:pPr lvl="1"/>
            <a:r>
              <a:rPr lang="en-US" altLang="zh-TW" sz="2064" dirty="0"/>
              <a:t>This segment can be used to hold variables that are shared by all work-items </a:t>
            </a:r>
            <a:r>
              <a:rPr lang="en-US" altLang="zh-TW" sz="2064" dirty="0" smtClean="0"/>
              <a:t>in a </a:t>
            </a:r>
            <a:r>
              <a:rPr lang="en-US" altLang="zh-TW" sz="2064" dirty="0"/>
              <a:t>work-group. An address in group memory can be read and written by </a:t>
            </a:r>
            <a:r>
              <a:rPr lang="en-US" altLang="zh-TW" sz="2064" dirty="0" smtClean="0"/>
              <a:t>any work-item </a:t>
            </a:r>
            <a:r>
              <a:rPr lang="en-US" altLang="zh-TW" sz="2064" dirty="0"/>
              <a:t>in the group</a:t>
            </a:r>
            <a:r>
              <a:rPr lang="en-US" altLang="zh-TW" sz="2064" dirty="0" smtClean="0"/>
              <a:t>.</a:t>
            </a:r>
          </a:p>
          <a:p>
            <a:pPr lvl="1"/>
            <a:r>
              <a:rPr lang="en-US" altLang="zh-TW" sz="2064" dirty="0"/>
              <a:t>If an implementation uses regular memory to implement group memory, it </a:t>
            </a:r>
            <a:r>
              <a:rPr lang="en-US" altLang="zh-TW" sz="2064" dirty="0" smtClean="0"/>
              <a:t>must adjust </a:t>
            </a:r>
            <a:r>
              <a:rPr lang="en-US" altLang="zh-TW" sz="2064" dirty="0"/>
              <a:t>the group segment addresses used by work-items in one work-group </a:t>
            </a:r>
            <a:r>
              <a:rPr lang="en-US" altLang="zh-TW" sz="2064" dirty="0" smtClean="0"/>
              <a:t>so that </a:t>
            </a:r>
            <a:r>
              <a:rPr lang="en-US" altLang="zh-TW" sz="2064" dirty="0"/>
              <a:t>accesses by work-items in a different work-group access different </a:t>
            </a:r>
            <a:r>
              <a:rPr lang="en-US" altLang="zh-TW" sz="2064" dirty="0" smtClean="0"/>
              <a:t>memory locations </a:t>
            </a:r>
            <a:r>
              <a:rPr lang="en-US" altLang="zh-TW" sz="2064" dirty="0"/>
              <a:t>for the same group segment address</a:t>
            </a:r>
            <a:r>
              <a:rPr lang="en-US" altLang="zh-TW" sz="2064" dirty="0" smtClean="0"/>
              <a:t>.</a:t>
            </a:r>
          </a:p>
          <a:p>
            <a:pPr lvl="1"/>
            <a:r>
              <a:rPr lang="en-US" altLang="zh-TW" sz="2064" dirty="0"/>
              <a:t>Group memory is uninitialized when the work-group starts execution</a:t>
            </a:r>
            <a:r>
              <a:rPr lang="en-US" altLang="zh-TW" sz="2064" dirty="0" smtClean="0"/>
              <a:t>.</a:t>
            </a:r>
          </a:p>
          <a:p>
            <a:pPr lvl="1"/>
            <a:r>
              <a:rPr lang="en-US" altLang="zh-TW" sz="2064" dirty="0"/>
              <a:t>It is undefined whether or not group memory is visible to other agents</a:t>
            </a:r>
            <a:r>
              <a:rPr lang="en-US" altLang="zh-TW" sz="2064" dirty="0" smtClean="0"/>
              <a:t>.</a:t>
            </a:r>
          </a:p>
          <a:p>
            <a:pPr lvl="1"/>
            <a:r>
              <a:rPr lang="en-US" altLang="zh-TW" sz="2064" dirty="0"/>
              <a:t>One specific implementation-defined range of flat addresses is reserved </a:t>
            </a:r>
            <a:r>
              <a:rPr lang="en-US" altLang="zh-TW" sz="2064" dirty="0" smtClean="0"/>
              <a:t>for group </a:t>
            </a:r>
            <a:r>
              <a:rPr lang="en-US" altLang="zh-TW" sz="2064" dirty="0"/>
              <a:t>memory.</a:t>
            </a:r>
          </a:p>
        </p:txBody>
      </p:sp>
    </p:spTree>
    <p:extLst>
      <p:ext uri="{BB962C8B-B14F-4D97-AF65-F5344CB8AC3E}">
        <p14:creationId xmlns:p14="http://schemas.microsoft.com/office/powerpoint/2010/main" val="136104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</a:t>
            </a:r>
            <a:r>
              <a:rPr lang="en-US" altLang="zh-TW" sz="2800" dirty="0" smtClean="0"/>
              <a:t>Segments (7 types of segments)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Private</a:t>
            </a:r>
          </a:p>
          <a:p>
            <a:pPr lvl="1"/>
            <a:r>
              <a:rPr lang="en-US" altLang="zh-TW" sz="1896" dirty="0"/>
              <a:t>Memory that is visible only to a single work-item</a:t>
            </a:r>
            <a:r>
              <a:rPr lang="en-US" altLang="zh-TW" sz="1896" dirty="0" smtClean="0"/>
              <a:t>.</a:t>
            </a:r>
          </a:p>
          <a:p>
            <a:pPr lvl="1"/>
            <a:r>
              <a:rPr lang="en-US" altLang="zh-TW" sz="1896" dirty="0"/>
              <a:t>Although it is permitted for an implementation to allow other work-items </a:t>
            </a:r>
            <a:r>
              <a:rPr lang="en-US" altLang="zh-TW" sz="1896" dirty="0" smtClean="0"/>
              <a:t>to access </a:t>
            </a:r>
            <a:r>
              <a:rPr lang="en-US" altLang="zh-TW" sz="1896" dirty="0"/>
              <a:t>the values in a different work-item's private memory, a program </a:t>
            </a:r>
            <a:r>
              <a:rPr lang="en-US" altLang="zh-TW" sz="1896" dirty="0" smtClean="0"/>
              <a:t>is undefined </a:t>
            </a:r>
            <a:r>
              <a:rPr lang="en-US" altLang="zh-TW" sz="1896" dirty="0"/>
              <a:t>if it does so. For example, an implementation may use global </a:t>
            </a:r>
            <a:r>
              <a:rPr lang="en-US" altLang="zh-TW" sz="1896" dirty="0" smtClean="0"/>
              <a:t>memory to </a:t>
            </a:r>
            <a:r>
              <a:rPr lang="en-US" altLang="zh-TW" sz="1896" dirty="0"/>
              <a:t>implement private memory and so a work-item could use a global or </a:t>
            </a:r>
            <a:r>
              <a:rPr lang="en-US" altLang="zh-TW" sz="1896" dirty="0" smtClean="0"/>
              <a:t>flat address </a:t>
            </a:r>
            <a:r>
              <a:rPr lang="en-US" altLang="zh-TW" sz="1896" dirty="0"/>
              <a:t>to access the private memory of any work-item</a:t>
            </a:r>
            <a:r>
              <a:rPr lang="en-US" altLang="zh-TW" sz="1896" dirty="0" smtClean="0"/>
              <a:t>.</a:t>
            </a:r>
          </a:p>
          <a:p>
            <a:pPr lvl="1"/>
            <a:r>
              <a:rPr lang="en-US" altLang="zh-TW" sz="1896" dirty="0"/>
              <a:t>If an implementation uses regular memory to implement private memory, </a:t>
            </a:r>
            <a:r>
              <a:rPr lang="en-US" altLang="zh-TW" sz="1896" dirty="0" smtClean="0"/>
              <a:t>it must </a:t>
            </a:r>
            <a:r>
              <a:rPr lang="en-US" altLang="zh-TW" sz="1896" dirty="0"/>
              <a:t>adjust the private segment addresses used by each work-item so </a:t>
            </a:r>
            <a:r>
              <a:rPr lang="en-US" altLang="zh-TW" sz="1896" dirty="0" smtClean="0"/>
              <a:t>that different </a:t>
            </a:r>
            <a:r>
              <a:rPr lang="en-US" altLang="zh-TW" sz="1896" dirty="0"/>
              <a:t>work-items access different memory locations for the same </a:t>
            </a:r>
            <a:r>
              <a:rPr lang="en-US" altLang="zh-TW" sz="1896" dirty="0" smtClean="0"/>
              <a:t>private segment </a:t>
            </a:r>
            <a:r>
              <a:rPr lang="en-US" altLang="zh-TW" sz="1896" dirty="0"/>
              <a:t>address</a:t>
            </a:r>
            <a:r>
              <a:rPr lang="en-US" altLang="zh-TW" sz="1896" dirty="0" smtClean="0"/>
              <a:t>.</a:t>
            </a:r>
          </a:p>
          <a:p>
            <a:pPr lvl="1"/>
            <a:r>
              <a:rPr lang="en-US" altLang="zh-TW" sz="1896" dirty="0"/>
              <a:t>It is implementation-defined whether or not private memory is visible to </a:t>
            </a:r>
            <a:r>
              <a:rPr lang="en-US" altLang="zh-TW" sz="1896" dirty="0" smtClean="0"/>
              <a:t>other agents</a:t>
            </a:r>
            <a:r>
              <a:rPr lang="en-US" altLang="zh-TW" sz="1896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674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</a:t>
            </a:r>
            <a:r>
              <a:rPr lang="en-US" altLang="zh-TW" sz="2800" dirty="0" smtClean="0"/>
              <a:t>Segments (7 types of segments)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Private</a:t>
            </a:r>
          </a:p>
          <a:p>
            <a:pPr lvl="1"/>
            <a:r>
              <a:rPr lang="en-US" altLang="zh-TW" sz="1896" dirty="0"/>
              <a:t>Private memory is uninitialized when the work-item starts. The </a:t>
            </a:r>
            <a:r>
              <a:rPr lang="en-US" altLang="zh-TW" sz="1896" dirty="0" err="1"/>
              <a:t>finalizer</a:t>
            </a:r>
            <a:r>
              <a:rPr lang="en-US" altLang="zh-TW" sz="1896" dirty="0"/>
              <a:t> is </a:t>
            </a:r>
            <a:r>
              <a:rPr lang="en-US" altLang="zh-TW" sz="1896" dirty="0" smtClean="0"/>
              <a:t>free to </a:t>
            </a:r>
            <a:r>
              <a:rPr lang="en-US" altLang="zh-TW" sz="1896" dirty="0"/>
              <a:t>remove loads and stores to private memory if this does not change </a:t>
            </a:r>
            <a:r>
              <a:rPr lang="en-US" altLang="zh-TW" sz="1896" dirty="0" smtClean="0"/>
              <a:t>the single work-item </a:t>
            </a:r>
            <a:r>
              <a:rPr lang="en-US" altLang="zh-TW" sz="1896" dirty="0"/>
              <a:t>answer without regard to exceptions. For example, a </a:t>
            </a:r>
            <a:r>
              <a:rPr lang="en-US" altLang="zh-TW" sz="1896" dirty="0" smtClean="0"/>
              <a:t>floating-point divide </a:t>
            </a:r>
            <a:r>
              <a:rPr lang="en-US" altLang="zh-TW" sz="1896" dirty="0"/>
              <a:t>can be removed if its only effect is to cause a divide by zero exception.</a:t>
            </a:r>
          </a:p>
        </p:txBody>
      </p:sp>
    </p:spTree>
    <p:extLst>
      <p:ext uri="{BB962C8B-B14F-4D97-AF65-F5344CB8AC3E}">
        <p14:creationId xmlns:p14="http://schemas.microsoft.com/office/powerpoint/2010/main" val="69307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</a:t>
            </a:r>
            <a:r>
              <a:rPr lang="en-US" altLang="zh-TW" sz="2800" dirty="0" smtClean="0"/>
              <a:t>Segments (7 types of segments)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400" dirty="0" err="1" smtClean="0"/>
              <a:t>Kernarg</a:t>
            </a:r>
            <a:endParaRPr lang="en-US" altLang="zh-TW" sz="2400" dirty="0" smtClean="0"/>
          </a:p>
          <a:p>
            <a:pPr lvl="1"/>
            <a:r>
              <a:rPr lang="en-US" altLang="zh-TW" sz="1800" dirty="0"/>
              <a:t>Read-only memory used to pass arguments into a kernel</a:t>
            </a:r>
            <a:r>
              <a:rPr lang="en-US" altLang="zh-TW" sz="1800" dirty="0" smtClean="0"/>
              <a:t>.</a:t>
            </a:r>
          </a:p>
          <a:p>
            <a:pPr lvl="1"/>
            <a:r>
              <a:rPr lang="en-US" altLang="zh-TW" sz="1800" dirty="0"/>
              <a:t>Implementations are allowed either to provide special hardware or to </a:t>
            </a:r>
            <a:r>
              <a:rPr lang="en-US" altLang="zh-TW" sz="1800" dirty="0" smtClean="0"/>
              <a:t>use </a:t>
            </a:r>
            <a:r>
              <a:rPr lang="en-US" altLang="zh-TW" sz="1800" dirty="0" err="1" smtClean="0"/>
              <a:t>kernarg</a:t>
            </a:r>
            <a:r>
              <a:rPr lang="en-US" altLang="zh-TW" sz="1800" dirty="0" smtClean="0"/>
              <a:t> memory.</a:t>
            </a:r>
          </a:p>
          <a:p>
            <a:pPr lvl="1"/>
            <a:r>
              <a:rPr lang="en-US" altLang="zh-TW" sz="1800" dirty="0"/>
              <a:t>Implementations are allowed to treat </a:t>
            </a:r>
            <a:r>
              <a:rPr lang="en-US" altLang="zh-TW" sz="1800" dirty="0" err="1"/>
              <a:t>kernarg</a:t>
            </a:r>
            <a:r>
              <a:rPr lang="en-US" altLang="zh-TW" sz="1800" dirty="0"/>
              <a:t> and global memory as though </a:t>
            </a:r>
            <a:r>
              <a:rPr lang="en-US" altLang="zh-TW" sz="1800" dirty="0" smtClean="0"/>
              <a:t>they are </a:t>
            </a:r>
            <a:r>
              <a:rPr lang="en-US" altLang="zh-TW" sz="1800" dirty="0"/>
              <a:t>a single segment</a:t>
            </a:r>
            <a:r>
              <a:rPr lang="en-US" altLang="zh-TW" sz="1800" dirty="0" smtClean="0"/>
              <a:t>.</a:t>
            </a:r>
          </a:p>
          <a:p>
            <a:r>
              <a:rPr lang="en-US" altLang="zh-TW" sz="1896" dirty="0" err="1" smtClean="0"/>
              <a:t>Readonly</a:t>
            </a:r>
            <a:endParaRPr lang="en-US" altLang="zh-TW" sz="1896" dirty="0" smtClean="0"/>
          </a:p>
          <a:p>
            <a:pPr lvl="1"/>
            <a:r>
              <a:rPr lang="en-US" altLang="zh-TW" sz="1800" dirty="0"/>
              <a:t>Read-only memory</a:t>
            </a:r>
            <a:r>
              <a:rPr lang="en-US" altLang="zh-TW" sz="1800" dirty="0" smtClean="0"/>
              <a:t>.</a:t>
            </a:r>
          </a:p>
          <a:p>
            <a:pPr lvl="1"/>
            <a:r>
              <a:rPr lang="en-US" altLang="zh-TW" sz="1800" dirty="0" err="1"/>
              <a:t>Readonly</a:t>
            </a:r>
            <a:r>
              <a:rPr lang="en-US" altLang="zh-TW" sz="1800" dirty="0"/>
              <a:t> memory remains constant during the execution of a kernel</a:t>
            </a:r>
            <a:r>
              <a:rPr lang="en-US" altLang="zh-TW" sz="1800" dirty="0" smtClean="0"/>
              <a:t>.</a:t>
            </a:r>
          </a:p>
          <a:p>
            <a:pPr lvl="1"/>
            <a:r>
              <a:rPr lang="en-US" altLang="zh-TW" sz="1800" dirty="0"/>
              <a:t>The result of a store or atomic operation to </a:t>
            </a:r>
            <a:r>
              <a:rPr lang="en-US" altLang="zh-TW" sz="1800" dirty="0" err="1"/>
              <a:t>readonly</a:t>
            </a:r>
            <a:r>
              <a:rPr lang="en-US" altLang="zh-TW" sz="1800" dirty="0"/>
              <a:t> memory (such as by </a:t>
            </a:r>
            <a:r>
              <a:rPr lang="en-US" altLang="zh-TW" sz="1800" dirty="0" smtClean="0"/>
              <a:t>using a </a:t>
            </a:r>
            <a:r>
              <a:rPr lang="en-US" altLang="zh-TW" sz="1800" dirty="0"/>
              <a:t>flat address) is undefined, and it is implementation-defined if such accesses </a:t>
            </a:r>
            <a:r>
              <a:rPr lang="en-US" altLang="zh-TW" sz="1800" dirty="0" smtClean="0"/>
              <a:t>will be </a:t>
            </a:r>
            <a:r>
              <a:rPr lang="en-US" altLang="zh-TW" sz="1800" dirty="0"/>
              <a:t>detected and generate an exception</a:t>
            </a:r>
            <a:r>
              <a:rPr lang="en-US" altLang="zh-TW" sz="1800" dirty="0" smtClean="0"/>
              <a:t>.</a:t>
            </a:r>
          </a:p>
          <a:p>
            <a:pPr lvl="1"/>
            <a:r>
              <a:rPr lang="en-US" altLang="zh-TW" sz="1800" dirty="0"/>
              <a:t>Implementations are allowed to treat </a:t>
            </a:r>
            <a:r>
              <a:rPr lang="en-US" altLang="zh-TW" sz="1800" dirty="0" err="1"/>
              <a:t>readonly</a:t>
            </a:r>
            <a:r>
              <a:rPr lang="en-US" altLang="zh-TW" sz="1800" dirty="0"/>
              <a:t> and global memory as </a:t>
            </a:r>
            <a:r>
              <a:rPr lang="en-US" altLang="zh-TW" sz="1800" dirty="0" smtClean="0"/>
              <a:t>though they </a:t>
            </a:r>
            <a:r>
              <a:rPr lang="en-US" altLang="zh-TW" sz="1800" dirty="0"/>
              <a:t>are a single segment</a:t>
            </a:r>
            <a:r>
              <a:rPr lang="en-US" altLang="zh-TW" sz="1800" dirty="0" smtClean="0"/>
              <a:t>.</a:t>
            </a:r>
          </a:p>
          <a:p>
            <a:pPr lvl="1"/>
            <a:r>
              <a:rPr lang="en-US" altLang="zh-TW" sz="1800" dirty="0"/>
              <a:t>The </a:t>
            </a:r>
            <a:r>
              <a:rPr lang="en-US" altLang="zh-TW" sz="1800" dirty="0" err="1"/>
              <a:t>finalizer</a:t>
            </a:r>
            <a:r>
              <a:rPr lang="en-US" altLang="zh-TW" sz="1800" dirty="0"/>
              <a:t> might place a variable in </a:t>
            </a:r>
            <a:r>
              <a:rPr lang="en-US" altLang="zh-TW" sz="1800" dirty="0" err="1"/>
              <a:t>readonly</a:t>
            </a:r>
            <a:r>
              <a:rPr lang="en-US" altLang="zh-TW" sz="1800" dirty="0"/>
              <a:t> memory in specialized </a:t>
            </a:r>
            <a:r>
              <a:rPr lang="en-US" altLang="zh-TW" sz="1800" dirty="0" smtClean="0"/>
              <a:t>read-only caches</a:t>
            </a:r>
            <a:r>
              <a:rPr lang="en-US" altLang="zh-TW" sz="1800" dirty="0"/>
              <a:t>.</a:t>
            </a:r>
            <a:endParaRPr lang="en-US" altLang="zh-TW" sz="1800" dirty="0" smtClean="0"/>
          </a:p>
          <a:p>
            <a:pPr lvl="1"/>
            <a:endParaRPr lang="en-US" altLang="zh-TW" sz="1728" dirty="0"/>
          </a:p>
        </p:txBody>
      </p:sp>
    </p:spTree>
    <p:extLst>
      <p:ext uri="{BB962C8B-B14F-4D97-AF65-F5344CB8AC3E}">
        <p14:creationId xmlns:p14="http://schemas.microsoft.com/office/powerpoint/2010/main" val="33022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Types of </a:t>
            </a:r>
            <a:r>
              <a:rPr lang="en-US" altLang="zh-TW" sz="2800" dirty="0" smtClean="0"/>
              <a:t>Segments (7 types of segments)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Spill</a:t>
            </a:r>
          </a:p>
          <a:p>
            <a:pPr lvl="1"/>
            <a:r>
              <a:rPr lang="en-US" altLang="zh-TW" sz="2000" dirty="0"/>
              <a:t>Memory that is visible only to a single work-item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Used to load or store register spills. This segment is used as a hint to the </a:t>
            </a:r>
            <a:r>
              <a:rPr lang="en-US" altLang="zh-TW" sz="2000" dirty="0" err="1" smtClean="0"/>
              <a:t>finalizer</a:t>
            </a:r>
            <a:r>
              <a:rPr lang="en-US" altLang="zh-TW" sz="2000" dirty="0" smtClean="0"/>
              <a:t> so </a:t>
            </a:r>
            <a:r>
              <a:rPr lang="en-US" altLang="zh-TW" sz="2000" dirty="0"/>
              <a:t>it can generate better code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The </a:t>
            </a:r>
            <a:r>
              <a:rPr lang="en-US" altLang="zh-TW" sz="2000" dirty="0" err="1"/>
              <a:t>finalizer</a:t>
            </a:r>
            <a:r>
              <a:rPr lang="en-US" altLang="zh-TW" sz="2000" dirty="0"/>
              <a:t> might remove operations using the spill segment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Implementations are allowed to treat spill and private memory as though </a:t>
            </a:r>
            <a:r>
              <a:rPr lang="en-US" altLang="zh-TW" sz="2000" dirty="0" smtClean="0"/>
              <a:t>they are </a:t>
            </a:r>
            <a:r>
              <a:rPr lang="en-US" altLang="zh-TW" sz="2000" dirty="0"/>
              <a:t>a single segment</a:t>
            </a:r>
            <a:r>
              <a:rPr lang="en-US" altLang="zh-TW" sz="2000" dirty="0" smtClean="0"/>
              <a:t>.</a:t>
            </a:r>
          </a:p>
          <a:p>
            <a:r>
              <a:rPr lang="en-US" altLang="zh-TW" sz="2400" dirty="0" err="1"/>
              <a:t>Arg</a:t>
            </a:r>
            <a:endParaRPr lang="en-US" altLang="zh-TW" sz="2400" dirty="0"/>
          </a:p>
          <a:p>
            <a:pPr lvl="1"/>
            <a:r>
              <a:rPr lang="en-US" altLang="zh-TW" sz="2000" dirty="0"/>
              <a:t>Memory that is visible only to a single work-item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Used to pass arguments into and out of functions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Implementations are allowed to provide special hardware to accelerate </a:t>
            </a:r>
            <a:r>
              <a:rPr lang="en-US" altLang="zh-TW" sz="2000" dirty="0" err="1" smtClean="0"/>
              <a:t>arg</a:t>
            </a:r>
            <a:r>
              <a:rPr lang="en-US" altLang="zh-TW" sz="2000" dirty="0" smtClean="0"/>
              <a:t> memory.</a:t>
            </a:r>
          </a:p>
          <a:p>
            <a:pPr lvl="1"/>
            <a:r>
              <a:rPr lang="en-US" altLang="zh-TW" sz="2000" dirty="0"/>
              <a:t>Implementations are allowed to treat </a:t>
            </a:r>
            <a:r>
              <a:rPr lang="en-US" altLang="zh-TW" sz="2000" dirty="0" err="1"/>
              <a:t>arg</a:t>
            </a:r>
            <a:r>
              <a:rPr lang="en-US" altLang="zh-TW" sz="2000" dirty="0"/>
              <a:t> and private memory as though </a:t>
            </a:r>
            <a:r>
              <a:rPr lang="en-US" altLang="zh-TW" sz="2000" dirty="0" smtClean="0"/>
              <a:t>they are </a:t>
            </a:r>
            <a:r>
              <a:rPr lang="en-US" altLang="zh-TW" sz="2000" dirty="0"/>
              <a:t>a single segment.</a:t>
            </a:r>
          </a:p>
        </p:txBody>
      </p:sp>
    </p:spTree>
    <p:extLst>
      <p:ext uri="{BB962C8B-B14F-4D97-AF65-F5344CB8AC3E}">
        <p14:creationId xmlns:p14="http://schemas.microsoft.com/office/powerpoint/2010/main" val="88548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Shared Virtual Memory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A </a:t>
            </a:r>
            <a:r>
              <a:rPr lang="en-US" altLang="zh-TW" sz="2400" dirty="0"/>
              <a:t>single work-item sees a flat address space</a:t>
            </a:r>
            <a:r>
              <a:rPr lang="en-US" altLang="zh-TW" sz="2400" dirty="0" smtClean="0"/>
              <a:t>.</a:t>
            </a:r>
          </a:p>
          <a:p>
            <a:pPr lvl="1"/>
            <a:r>
              <a:rPr lang="en-US" altLang="zh-TW" sz="1832" dirty="0"/>
              <a:t>Within that address space, certain address ranges are group memory, </a:t>
            </a:r>
            <a:r>
              <a:rPr lang="en-US" altLang="zh-TW" sz="1832" dirty="0" smtClean="0"/>
              <a:t>other ranges </a:t>
            </a:r>
            <a:r>
              <a:rPr lang="en-US" altLang="zh-TW" sz="1832" dirty="0"/>
              <a:t>are private, and so on. Implementations use the address to determine </a:t>
            </a:r>
            <a:r>
              <a:rPr lang="en-US" altLang="zh-TW" sz="1832" dirty="0" smtClean="0"/>
              <a:t>the kind </a:t>
            </a:r>
            <a:r>
              <a:rPr lang="en-US" altLang="zh-TW" sz="1832" dirty="0"/>
              <a:t>of memory. Consequently, compilers need not generate special forms </a:t>
            </a:r>
            <a:r>
              <a:rPr lang="en-US" altLang="zh-TW" sz="1832" dirty="0" smtClean="0"/>
              <a:t>of loads </a:t>
            </a:r>
            <a:r>
              <a:rPr lang="en-US" altLang="zh-TW" sz="1832" dirty="0"/>
              <a:t>and stores for each type of memory. Pointers to memory can be freely </a:t>
            </a:r>
            <a:r>
              <a:rPr lang="en-US" altLang="zh-TW" sz="1832" dirty="0" smtClean="0"/>
              <a:t>cast to </a:t>
            </a:r>
            <a:r>
              <a:rPr lang="en-US" altLang="zh-TW" sz="1832" dirty="0"/>
              <a:t>integer and back without problems</a:t>
            </a:r>
            <a:r>
              <a:rPr lang="en-US" altLang="zh-TW" sz="1832" dirty="0" smtClean="0"/>
              <a:t>.</a:t>
            </a:r>
          </a:p>
          <a:p>
            <a:r>
              <a:rPr lang="en-US" altLang="zh-TW" sz="2400" dirty="0"/>
              <a:t>Non-shared objects are hidden</a:t>
            </a:r>
            <a:r>
              <a:rPr lang="en-US" altLang="zh-TW" sz="2400" dirty="0" smtClean="0"/>
              <a:t>.</a:t>
            </a:r>
          </a:p>
          <a:p>
            <a:pPr lvl="1"/>
            <a:r>
              <a:rPr lang="en-US" altLang="zh-TW" sz="1832" dirty="0"/>
              <a:t>This means that each object is declared to be in one of three sharing levels: shared over all work-items (global), shared over the work-group (group), or never shared (private</a:t>
            </a:r>
            <a:r>
              <a:rPr lang="en-US" altLang="zh-TW" sz="1832" dirty="0" smtClean="0"/>
              <a:t>).</a:t>
            </a:r>
          </a:p>
          <a:p>
            <a:pPr lvl="1"/>
            <a:r>
              <a:rPr lang="en-US" altLang="zh-TW" sz="1832" dirty="0"/>
              <a:t>The private segments for each work-item overlay. Overlaying means that </a:t>
            </a:r>
            <a:r>
              <a:rPr lang="en-US" altLang="zh-TW" sz="1832" dirty="0" smtClean="0"/>
              <a:t>reads and </a:t>
            </a:r>
            <a:r>
              <a:rPr lang="en-US" altLang="zh-TW" sz="1832" dirty="0"/>
              <a:t>writes to address X in work-item 1 access work-item 1's private data, </a:t>
            </a:r>
            <a:r>
              <a:rPr lang="en-US" altLang="zh-TW" sz="1832" dirty="0" smtClean="0"/>
              <a:t>while reads </a:t>
            </a:r>
            <a:r>
              <a:rPr lang="en-US" altLang="zh-TW" sz="1832" dirty="0"/>
              <a:t>and writes to the same address X in work-item 2 access different storage.</a:t>
            </a:r>
          </a:p>
          <a:p>
            <a:pPr lvl="1"/>
            <a:r>
              <a:rPr lang="en-US" altLang="zh-TW" sz="1832" dirty="0"/>
              <a:t>Thus, if work-item 1 declares a private variable at address X, then work-item </a:t>
            </a:r>
            <a:r>
              <a:rPr lang="en-US" altLang="zh-TW" sz="1832" dirty="0" smtClean="0"/>
              <a:t>2 cannot </a:t>
            </a:r>
            <a:r>
              <a:rPr lang="en-US" altLang="zh-TW" sz="1832" dirty="0"/>
              <a:t>read or write the variable. (Spill segments behave in the same way.)</a:t>
            </a:r>
          </a:p>
        </p:txBody>
      </p:sp>
    </p:spTree>
    <p:extLst>
      <p:ext uri="{BB962C8B-B14F-4D97-AF65-F5344CB8AC3E}">
        <p14:creationId xmlns:p14="http://schemas.microsoft.com/office/powerpoint/2010/main" val="184975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Shared Virtual Memory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746"/>
            <a:ext cx="8229600" cy="5240428"/>
          </a:xfrm>
        </p:spPr>
        <p:txBody>
          <a:bodyPr/>
          <a:lstStyle/>
          <a:p>
            <a:r>
              <a:rPr lang="en-US" altLang="zh-TW" sz="2400" dirty="0" smtClean="0"/>
              <a:t>Non-shared </a:t>
            </a:r>
            <a:r>
              <a:rPr lang="en-US" altLang="zh-TW" sz="2400" dirty="0"/>
              <a:t>objects are hidden</a:t>
            </a:r>
            <a:r>
              <a:rPr lang="en-US" altLang="zh-TW" sz="2400" dirty="0" smtClean="0"/>
              <a:t>.</a:t>
            </a:r>
          </a:p>
          <a:p>
            <a:pPr lvl="1"/>
            <a:r>
              <a:rPr lang="en-US" altLang="zh-TW" sz="1832" dirty="0"/>
              <a:t>Similarly, every work-group sees only its own group segment, which is </a:t>
            </a:r>
            <a:r>
              <a:rPr lang="en-US" altLang="zh-TW" sz="1832" dirty="0" smtClean="0"/>
              <a:t>shared by </a:t>
            </a:r>
            <a:r>
              <a:rPr lang="en-US" altLang="zh-TW" sz="1832" dirty="0"/>
              <a:t>the work-items within the work-group, so no work-group can access </a:t>
            </a:r>
            <a:r>
              <a:rPr lang="en-US" altLang="zh-TW" sz="1832" dirty="0" smtClean="0"/>
              <a:t>the group memory </a:t>
            </a:r>
            <a:r>
              <a:rPr lang="en-US" altLang="zh-TW" sz="1832" dirty="0"/>
              <a:t>of another work-group</a:t>
            </a:r>
            <a:r>
              <a:rPr lang="en-US" altLang="zh-TW" sz="1832" dirty="0" smtClean="0"/>
              <a:t>.</a:t>
            </a:r>
          </a:p>
          <a:p>
            <a:pPr lvl="1"/>
            <a:r>
              <a:rPr lang="en-US" altLang="zh-TW" sz="1832" dirty="0"/>
              <a:t>Every work-item and agent sees the same global memory.</a:t>
            </a:r>
          </a:p>
        </p:txBody>
      </p:sp>
    </p:spTree>
    <p:extLst>
      <p:ext uri="{BB962C8B-B14F-4D97-AF65-F5344CB8AC3E}">
        <p14:creationId xmlns:p14="http://schemas.microsoft.com/office/powerpoint/2010/main" val="426080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smtClean="0"/>
              <a:t>Flat </a:t>
            </a:r>
            <a:r>
              <a:rPr lang="en-US" altLang="zh-TW" sz="2800" dirty="0"/>
              <a:t>Memory and </a:t>
            </a:r>
            <a:r>
              <a:rPr lang="en-US" altLang="zh-TW" sz="2800" dirty="0" smtClean="0"/>
              <a:t>Agents</a:t>
            </a:r>
            <a:endParaRPr lang="zh-TW" altLang="en-US" sz="28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165" y="845322"/>
            <a:ext cx="7754984" cy="59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2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smtClean="0"/>
              <a:t>Flat </a:t>
            </a:r>
            <a:r>
              <a:rPr lang="en-US" altLang="zh-TW" sz="2800" dirty="0"/>
              <a:t>Memory and </a:t>
            </a:r>
            <a:r>
              <a:rPr lang="en-US" altLang="zh-TW" sz="2800" dirty="0" smtClean="0"/>
              <a:t>Agents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The same global and </a:t>
            </a:r>
            <a:r>
              <a:rPr lang="en-US" altLang="zh-TW" sz="2400" dirty="0" err="1"/>
              <a:t>readonly</a:t>
            </a:r>
            <a:r>
              <a:rPr lang="en-US" altLang="zh-TW" sz="2400" dirty="0"/>
              <a:t> segment address, and its corresponding flat </a:t>
            </a:r>
            <a:r>
              <a:rPr lang="en-US" altLang="zh-TW" sz="2400" dirty="0" smtClean="0"/>
              <a:t>address, can </a:t>
            </a:r>
            <a:r>
              <a:rPr lang="en-US" altLang="zh-TW" sz="2400" dirty="0"/>
              <a:t>be used in two different work-items (which can be in different kernels </a:t>
            </a:r>
            <a:r>
              <a:rPr lang="en-US" altLang="zh-TW" sz="2400" dirty="0" smtClean="0"/>
              <a:t>and different </a:t>
            </a:r>
            <a:r>
              <a:rPr lang="en-US" altLang="zh-TW" sz="2400" dirty="0"/>
              <a:t>dispatches of the same kernel) and in an agent to access the same </a:t>
            </a:r>
            <a:r>
              <a:rPr lang="en-US" altLang="zh-TW" sz="2400" dirty="0" smtClean="0"/>
              <a:t>memory  location</a:t>
            </a:r>
            <a:r>
              <a:rPr lang="en-US" altLang="zh-TW" sz="2400" dirty="0"/>
              <a:t>. Standard page protections (read-only/read-write/protected, and so </a:t>
            </a:r>
            <a:r>
              <a:rPr lang="en-US" altLang="zh-TW" sz="2400" dirty="0" smtClean="0"/>
              <a:t>forth) apply </a:t>
            </a:r>
            <a:r>
              <a:rPr lang="en-US" altLang="zh-TW" sz="2400" dirty="0"/>
              <a:t>to global and </a:t>
            </a:r>
            <a:r>
              <a:rPr lang="en-US" altLang="zh-TW" sz="2400" dirty="0" err="1"/>
              <a:t>readonly</a:t>
            </a:r>
            <a:r>
              <a:rPr lang="en-US" altLang="zh-TW" sz="2400" dirty="0"/>
              <a:t> segment memory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An implementation is not required to use read-only protection on the </a:t>
            </a:r>
            <a:r>
              <a:rPr lang="en-US" altLang="zh-TW" sz="2400" dirty="0" err="1" smtClean="0"/>
              <a:t>readonly</a:t>
            </a:r>
            <a:r>
              <a:rPr lang="en-US" altLang="zh-TW" sz="2400" dirty="0" smtClean="0"/>
              <a:t> segment </a:t>
            </a:r>
            <a:r>
              <a:rPr lang="en-US" altLang="zh-TW" sz="2400" dirty="0"/>
              <a:t>variables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Global and </a:t>
            </a:r>
            <a:r>
              <a:rPr lang="en-US" altLang="zh-TW" sz="2400" dirty="0" err="1"/>
              <a:t>readonly</a:t>
            </a:r>
            <a:r>
              <a:rPr lang="en-US" altLang="zh-TW" sz="2400" dirty="0"/>
              <a:t> memory may be visible to agents. Runtime libraries can </a:t>
            </a:r>
            <a:r>
              <a:rPr lang="en-US" altLang="zh-TW" sz="2400" dirty="0" smtClean="0"/>
              <a:t>provide a </a:t>
            </a:r>
            <a:r>
              <a:rPr lang="en-US" altLang="zh-TW" sz="2400" dirty="0"/>
              <a:t>way for applications to indicate that some global memory is not accessible to agents.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215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 smtClean="0"/>
              <a:t>Flat </a:t>
            </a:r>
            <a:r>
              <a:rPr lang="en-US" altLang="zh-TW" sz="2800" dirty="0"/>
              <a:t>Memory and </a:t>
            </a:r>
            <a:r>
              <a:rPr lang="en-US" altLang="zh-TW" sz="2800" dirty="0" smtClean="0"/>
              <a:t>Agents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An implementation can map group addresses to special scratchpad memory </a:t>
            </a:r>
            <a:r>
              <a:rPr lang="en-US" altLang="zh-TW" sz="2400" dirty="0" smtClean="0"/>
              <a:t>allocated for </a:t>
            </a:r>
            <a:r>
              <a:rPr lang="en-US" altLang="zh-TW" sz="2400" dirty="0"/>
              <a:t>each HSA component compute unit, to addresses in global memory, or to </a:t>
            </a:r>
            <a:r>
              <a:rPr lang="en-US" altLang="zh-TW" sz="2400" dirty="0" smtClean="0"/>
              <a:t>addresses in </a:t>
            </a:r>
            <a:r>
              <a:rPr lang="en-US" altLang="zh-TW" sz="2400" dirty="0"/>
              <a:t>other agent memory. It is implementation-defined whether or not other agents </a:t>
            </a:r>
            <a:r>
              <a:rPr lang="en-US" altLang="zh-TW" sz="2400" dirty="0" smtClean="0"/>
              <a:t>can access </a:t>
            </a:r>
            <a:r>
              <a:rPr lang="en-US" altLang="zh-TW" sz="2400" dirty="0"/>
              <a:t>group memory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Private, spill, and </a:t>
            </a:r>
            <a:r>
              <a:rPr lang="en-US" altLang="zh-TW" sz="2400" dirty="0" err="1"/>
              <a:t>arg</a:t>
            </a:r>
            <a:r>
              <a:rPr lang="en-US" altLang="zh-TW" sz="2400" dirty="0"/>
              <a:t> memory can be expanded to multiple addresses in the </a:t>
            </a:r>
            <a:r>
              <a:rPr lang="en-US" altLang="zh-TW" sz="2400" dirty="0" smtClean="0"/>
              <a:t>address space </a:t>
            </a:r>
            <a:r>
              <a:rPr lang="en-US" altLang="zh-TW" sz="2400" dirty="0"/>
              <a:t>(one for every active work-item) or can be implemented by special hardware.</a:t>
            </a:r>
          </a:p>
          <a:p>
            <a:r>
              <a:rPr lang="en-US" altLang="zh-TW" sz="2400" dirty="0"/>
              <a:t>It is implementation-defined whether or not other agents can access private, spill, </a:t>
            </a:r>
            <a:r>
              <a:rPr lang="en-US" altLang="zh-TW" sz="2400" dirty="0" smtClean="0"/>
              <a:t>or </a:t>
            </a:r>
            <a:r>
              <a:rPr lang="en-US" altLang="zh-TW" sz="2400" dirty="0" err="1" smtClean="0"/>
              <a:t>arg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memory.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4669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165" y="153172"/>
            <a:ext cx="6788331" cy="692150"/>
          </a:xfrm>
        </p:spPr>
        <p:txBody>
          <a:bodyPr/>
          <a:lstStyle/>
          <a:p>
            <a:r>
              <a:rPr lang="en-US" altLang="zh-TW" sz="2400" dirty="0"/>
              <a:t> </a:t>
            </a:r>
            <a:r>
              <a:rPr lang="en-US" altLang="zh-TW" sz="2800" dirty="0"/>
              <a:t>Small and Large Machine Models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HSAIL supports two machine models. Machine models determine the size of a data pointer and are not compatible.</a:t>
            </a:r>
            <a:endParaRPr lang="zh-TW" alt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08920"/>
            <a:ext cx="3209925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708920"/>
            <a:ext cx="318135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719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HSAIL Instructions</a:t>
            </a:r>
            <a:endParaRPr lang="zh-TW" altLang="en-US" sz="28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Arithmetic </a:t>
            </a:r>
            <a:r>
              <a:rPr lang="en-US" altLang="zh-TW" sz="2400" dirty="0" smtClean="0"/>
              <a:t>Operations</a:t>
            </a:r>
          </a:p>
          <a:p>
            <a:r>
              <a:rPr lang="en-US" altLang="zh-TW" sz="2400" dirty="0"/>
              <a:t>Memory </a:t>
            </a:r>
            <a:r>
              <a:rPr lang="en-US" altLang="zh-TW" sz="2400" dirty="0" smtClean="0"/>
              <a:t>Operations</a:t>
            </a:r>
          </a:p>
          <a:p>
            <a:r>
              <a:rPr lang="en-US" altLang="zh-TW" sz="2400" dirty="0"/>
              <a:t>Image </a:t>
            </a:r>
            <a:r>
              <a:rPr lang="en-US" altLang="zh-TW" sz="2400" dirty="0" smtClean="0"/>
              <a:t>Operations</a:t>
            </a:r>
          </a:p>
          <a:p>
            <a:r>
              <a:rPr lang="en-US" altLang="zh-TW" sz="2400" dirty="0"/>
              <a:t>Branch </a:t>
            </a:r>
            <a:r>
              <a:rPr lang="en-US" altLang="zh-TW" sz="2400" dirty="0" smtClean="0"/>
              <a:t>Operations</a:t>
            </a:r>
          </a:p>
          <a:p>
            <a:r>
              <a:rPr lang="en-US" altLang="zh-TW" sz="2400" dirty="0"/>
              <a:t>Parallel Synchronization </a:t>
            </a:r>
            <a:r>
              <a:rPr lang="en-US" altLang="zh-TW" sz="2400" dirty="0" smtClean="0"/>
              <a:t>and Communication </a:t>
            </a:r>
            <a:r>
              <a:rPr lang="en-US" altLang="zh-TW" sz="2400" dirty="0"/>
              <a:t>Operations</a:t>
            </a:r>
          </a:p>
          <a:p>
            <a:r>
              <a:rPr lang="en-US" altLang="zh-TW" sz="2400" dirty="0" smtClean="0"/>
              <a:t>Functions</a:t>
            </a:r>
          </a:p>
          <a:p>
            <a:r>
              <a:rPr lang="en-US" altLang="zh-TW" sz="2400" dirty="0"/>
              <a:t>Operations Related to </a:t>
            </a:r>
            <a:r>
              <a:rPr lang="en-US" altLang="zh-TW" sz="2400" dirty="0" smtClean="0"/>
              <a:t>Functions</a:t>
            </a:r>
          </a:p>
          <a:p>
            <a:r>
              <a:rPr lang="en-US" altLang="zh-TW" sz="2400" dirty="0"/>
              <a:t>Special </a:t>
            </a:r>
            <a:r>
              <a:rPr lang="en-US" altLang="zh-TW" sz="2400" dirty="0" smtClean="0"/>
              <a:t>Operations</a:t>
            </a:r>
          </a:p>
          <a:p>
            <a:r>
              <a:rPr lang="en-US" altLang="zh-TW" sz="2400" dirty="0" smtClean="0"/>
              <a:t>Exceptions</a:t>
            </a:r>
          </a:p>
          <a:p>
            <a:endParaRPr lang="en-US" altLang="zh-TW" sz="2400" dirty="0" smtClean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2556159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Arithmetic Operations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Unless stated otherwise, arithmetic operations expect all inputs to be in registers, immediate values, or WAVESIZE, and to produce </a:t>
            </a:r>
            <a:r>
              <a:rPr lang="en-US" altLang="zh-TW" sz="2400" dirty="0" smtClean="0"/>
              <a:t>a single </a:t>
            </a:r>
            <a:r>
              <a:rPr lang="en-US" altLang="zh-TW" sz="2400" dirty="0"/>
              <a:t>result in a </a:t>
            </a:r>
            <a:r>
              <a:rPr lang="en-US" altLang="zh-TW" sz="2400" dirty="0" smtClean="0"/>
              <a:t>register.</a:t>
            </a:r>
          </a:p>
          <a:p>
            <a:r>
              <a:rPr lang="en-US" altLang="zh-TW" sz="2400" dirty="0" smtClean="0"/>
              <a:t>An </a:t>
            </a:r>
            <a:r>
              <a:rPr lang="en-US" altLang="zh-TW" sz="2400" dirty="0"/>
              <a:t>overflow occurs when an arithmetic operation attempts to create a numeric value that is larger than the value that can be represented. Integer overflow stores the least significant bits of the results. Floating-point overflow follows the rules of the IEEE/ANSI </a:t>
            </a:r>
            <a:r>
              <a:rPr lang="en-US" altLang="zh-TW" sz="2400" dirty="0" smtClean="0"/>
              <a:t>Standard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3420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Memory Operations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Memory operations transfer data between registers and memory</a:t>
            </a:r>
            <a:r>
              <a:rPr lang="en-US" altLang="zh-TW" sz="2400" dirty="0" smtClean="0"/>
              <a:t>:</a:t>
            </a:r>
          </a:p>
          <a:p>
            <a:pPr lvl="1"/>
            <a:r>
              <a:rPr lang="en-US" altLang="zh-TW" sz="2400" dirty="0"/>
              <a:t>The load operations move contents from memory to a register.</a:t>
            </a:r>
          </a:p>
          <a:p>
            <a:pPr lvl="1"/>
            <a:r>
              <a:rPr lang="en-US" altLang="zh-TW" sz="2400" dirty="0"/>
              <a:t>The store operations move contents of a register into memory.</a:t>
            </a:r>
          </a:p>
          <a:p>
            <a:pPr lvl="1"/>
            <a:r>
              <a:rPr lang="en-US" altLang="zh-TW" sz="2400" dirty="0"/>
              <a:t>The </a:t>
            </a:r>
            <a:r>
              <a:rPr lang="en-US" altLang="zh-TW" sz="2400" dirty="0" err="1"/>
              <a:t>atomicReturn</a:t>
            </a:r>
            <a:r>
              <a:rPr lang="en-US" altLang="zh-TW" sz="2400" dirty="0"/>
              <a:t> operations read a value from memory, update the memory location, and set the destination to the original value.</a:t>
            </a:r>
          </a:p>
          <a:p>
            <a:pPr lvl="1"/>
            <a:r>
              <a:rPr lang="en-US" altLang="zh-TW" sz="2400" dirty="0"/>
              <a:t>The </a:t>
            </a:r>
            <a:r>
              <a:rPr lang="en-US" altLang="zh-TW" sz="2400" dirty="0" err="1"/>
              <a:t>atomicNoReturn</a:t>
            </a:r>
            <a:r>
              <a:rPr lang="en-US" altLang="zh-TW" sz="2400" dirty="0"/>
              <a:t> operations read a value from memory and update the memory location. (They do not have a destination.)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6694909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Image Operations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Images are a graphics feature that can sometimes be useful in data-parallel computing</a:t>
            </a:r>
            <a:r>
              <a:rPr lang="en-US" altLang="zh-TW" sz="2400" dirty="0" smtClean="0"/>
              <a:t>. Image </a:t>
            </a:r>
            <a:r>
              <a:rPr lang="en-US" altLang="zh-TW" sz="2400" dirty="0"/>
              <a:t>memory is a special kind of memory access that can make use of </a:t>
            </a:r>
            <a:r>
              <a:rPr lang="en-US" altLang="zh-TW" sz="2400" dirty="0" smtClean="0"/>
              <a:t>dedicated hardware </a:t>
            </a:r>
            <a:r>
              <a:rPr lang="en-US" altLang="zh-TW" sz="2400" dirty="0"/>
              <a:t>often provided for graphics. Many implementations will provide </a:t>
            </a:r>
            <a:r>
              <a:rPr lang="en-US" altLang="zh-TW" sz="2400" dirty="0" smtClean="0"/>
              <a:t>such dedicated </a:t>
            </a:r>
            <a:r>
              <a:rPr lang="en-US" altLang="zh-TW" sz="2400" dirty="0"/>
              <a:t>hardware to speed up image operations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For background information, see the </a:t>
            </a:r>
            <a:r>
              <a:rPr lang="en-US" altLang="zh-TW" sz="2400" dirty="0" err="1"/>
              <a:t>OpenCL</a:t>
            </a:r>
            <a:r>
              <a:rPr lang="en-US" altLang="zh-TW" sz="2400" dirty="0"/>
              <a:t>™ Specification: http</a:t>
            </a:r>
            <a:r>
              <a:rPr lang="en-US" altLang="zh-TW" sz="2400" dirty="0" smtClean="0"/>
              <a:t>://www.khronos.org/registry/cl/specs/opencl-1.1.pdf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2585680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Image Operations(Cont.)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An image is an array of one, two, or three dimensions.</a:t>
            </a:r>
          </a:p>
          <a:p>
            <a:r>
              <a:rPr lang="en-US" altLang="zh-TW" sz="2400" dirty="0"/>
              <a:t>Each element in an image has four values called components. The components </a:t>
            </a:r>
            <a:r>
              <a:rPr lang="en-US" altLang="zh-TW" sz="2400" dirty="0" smtClean="0"/>
              <a:t>are named </a:t>
            </a:r>
            <a:r>
              <a:rPr lang="en-US" altLang="zh-TW" sz="2400" dirty="0" err="1"/>
              <a:t>rgba</a:t>
            </a:r>
            <a:r>
              <a:rPr lang="en-US" altLang="zh-TW" sz="2400" dirty="0"/>
              <a:t>.</a:t>
            </a:r>
          </a:p>
          <a:p>
            <a:r>
              <a:rPr lang="en-US" altLang="zh-TW" sz="2400" dirty="0"/>
              <a:t>Each element in the image has the same format.</a:t>
            </a:r>
          </a:p>
          <a:p>
            <a:r>
              <a:rPr lang="en-US" altLang="zh-TW" sz="2400" dirty="0"/>
              <a:t>Each image has a fixed size for each dimension.</a:t>
            </a:r>
          </a:p>
          <a:p>
            <a:r>
              <a:rPr lang="en-US" altLang="zh-TW" sz="2400" dirty="0"/>
              <a:t>Associated with each image are two objects:</a:t>
            </a:r>
          </a:p>
          <a:p>
            <a:pPr lvl="1"/>
            <a:r>
              <a:rPr lang="en-US" altLang="zh-TW" sz="2000" dirty="0" smtClean="0"/>
              <a:t>An </a:t>
            </a:r>
            <a:r>
              <a:rPr lang="en-US" altLang="zh-TW" sz="2000" dirty="0"/>
              <a:t>image object that describes how the image is structured.</a:t>
            </a:r>
          </a:p>
          <a:p>
            <a:pPr lvl="1"/>
            <a:r>
              <a:rPr lang="en-US" altLang="zh-TW" sz="2000" dirty="0" smtClean="0"/>
              <a:t>A </a:t>
            </a:r>
            <a:r>
              <a:rPr lang="en-US" altLang="zh-TW" sz="2000" dirty="0"/>
              <a:t>sampler object that describes how a particular read is to be performed.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431991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Branch Operations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Like many programming languages, HSAIL supports branch operations that can </a:t>
            </a:r>
            <a:r>
              <a:rPr lang="en-US" altLang="zh-TW" sz="2400" dirty="0" smtClean="0"/>
              <a:t>alter the </a:t>
            </a:r>
            <a:r>
              <a:rPr lang="en-US" altLang="zh-TW" sz="2400" dirty="0"/>
              <a:t>control flow</a:t>
            </a:r>
            <a:r>
              <a:rPr lang="en-US" altLang="zh-TW" sz="2400" dirty="0" smtClean="0"/>
              <a:t>. </a:t>
            </a:r>
            <a:endParaRPr lang="en-US" altLang="zh-TW" sz="2400" dirty="0"/>
          </a:p>
          <a:p>
            <a:r>
              <a:rPr lang="en-US" altLang="zh-TW" sz="2400" dirty="0"/>
              <a:t>The branch operations are:</a:t>
            </a:r>
          </a:p>
          <a:p>
            <a:pPr lvl="1"/>
            <a:r>
              <a:rPr lang="en-US" altLang="zh-TW" sz="2000" dirty="0" err="1" smtClean="0"/>
              <a:t>brn</a:t>
            </a:r>
            <a:r>
              <a:rPr lang="en-US" altLang="zh-TW" sz="2000" dirty="0" smtClean="0"/>
              <a:t>, Unconditional </a:t>
            </a:r>
            <a:r>
              <a:rPr lang="en-US" altLang="zh-TW" sz="2000" dirty="0"/>
              <a:t>branch</a:t>
            </a:r>
          </a:p>
          <a:p>
            <a:pPr lvl="1"/>
            <a:r>
              <a:rPr lang="en-US" altLang="zh-TW" sz="2000" dirty="0" err="1" smtClean="0"/>
              <a:t>cbr</a:t>
            </a:r>
            <a:r>
              <a:rPr lang="en-US" altLang="zh-TW" sz="2000" dirty="0" smtClean="0"/>
              <a:t>, Conditional </a:t>
            </a:r>
            <a:r>
              <a:rPr lang="en-US" altLang="zh-TW" sz="2000" dirty="0"/>
              <a:t>branch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9060047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78376"/>
            <a:ext cx="8229600" cy="988809"/>
          </a:xfrm>
        </p:spPr>
        <p:txBody>
          <a:bodyPr/>
          <a:lstStyle/>
          <a:p>
            <a:r>
              <a:rPr lang="en-US" altLang="zh-TW" sz="2800" dirty="0"/>
              <a:t>Branch Operations</a:t>
            </a:r>
            <a:endParaRPr lang="zh-TW" altLang="en-US" sz="28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/>
              <a:t>Direct Branches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sz="2000" dirty="0" err="1" smtClean="0"/>
              <a:t>brn</a:t>
            </a:r>
            <a:r>
              <a:rPr lang="en-US" altLang="zh-TW" sz="2000" dirty="0" smtClean="0"/>
              <a:t>, </a:t>
            </a:r>
            <a:r>
              <a:rPr lang="en-US" altLang="zh-TW" sz="2000" dirty="0"/>
              <a:t>transfers control to a label.</a:t>
            </a:r>
          </a:p>
          <a:p>
            <a:r>
              <a:rPr lang="en-US" altLang="zh-TW" sz="2000" dirty="0" err="1" smtClean="0"/>
              <a:t>cbr</a:t>
            </a:r>
            <a:r>
              <a:rPr lang="en-US" altLang="zh-TW" sz="2000" dirty="0" smtClean="0"/>
              <a:t>, checks </a:t>
            </a:r>
            <a:r>
              <a:rPr lang="en-US" altLang="zh-TW" sz="2000" dirty="0"/>
              <a:t>a source and transfers control to either </a:t>
            </a:r>
            <a:r>
              <a:rPr lang="en-US" altLang="zh-TW" sz="2000" dirty="0" smtClean="0"/>
              <a:t>the label </a:t>
            </a:r>
            <a:r>
              <a:rPr lang="en-US" altLang="zh-TW" sz="2000" dirty="0"/>
              <a:t>(if the source is true), or the statement after the </a:t>
            </a:r>
            <a:r>
              <a:rPr lang="en-US" altLang="zh-TW" sz="2000" dirty="0" err="1"/>
              <a:t>cbr</a:t>
            </a:r>
            <a:r>
              <a:rPr lang="en-US" altLang="zh-TW" sz="2000" dirty="0"/>
              <a:t> (if the source is false</a:t>
            </a:r>
            <a:r>
              <a:rPr lang="en-US" altLang="zh-TW" dirty="0"/>
              <a:t>).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sz="2400" dirty="0"/>
              <a:t>Indirect Branches</a:t>
            </a:r>
            <a:endParaRPr lang="zh-TW" altLang="en-US" sz="2400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TW" sz="2000" dirty="0"/>
              <a:t>All work-items take the branch, but because the target is in a register, they can go </a:t>
            </a:r>
            <a:r>
              <a:rPr lang="en-US" altLang="zh-TW" sz="2000" dirty="0" smtClean="0"/>
              <a:t>to different </a:t>
            </a:r>
            <a:r>
              <a:rPr lang="en-US" altLang="zh-TW" sz="2000" dirty="0"/>
              <a:t>targets.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565659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Parallel Synchronization </a:t>
            </a:r>
            <a:r>
              <a:rPr lang="en-US" altLang="zh-TW" sz="2800" dirty="0" smtClean="0"/>
              <a:t>and Communication </a:t>
            </a:r>
            <a:r>
              <a:rPr lang="en-US" altLang="zh-TW" sz="2800" dirty="0"/>
              <a:t>Operations</a:t>
            </a:r>
            <a:endParaRPr lang="zh-TW" altLang="en-US" sz="2800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There are two memory segments that can be synchronized with a memory fence: </a:t>
            </a:r>
            <a:r>
              <a:rPr lang="en-US" altLang="zh-TW" sz="2400" dirty="0" smtClean="0"/>
              <a:t>the group </a:t>
            </a:r>
            <a:r>
              <a:rPr lang="en-US" altLang="zh-TW" sz="2400" dirty="0"/>
              <a:t>segment and the global segment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</a:t>
            </a:r>
            <a:r>
              <a:rPr lang="en-US" altLang="zh-TW" sz="2000" dirty="0">
                <a:latin typeface="Eras Light ITC" panose="020B0402030504020804" pitchFamily="34" charset="0"/>
              </a:rPr>
              <a:t>barrier</a:t>
            </a:r>
            <a:r>
              <a:rPr lang="en-US" altLang="zh-TW" sz="2400" dirty="0"/>
              <a:t> operation is used to synchronize work-item execution in a </a:t>
            </a:r>
            <a:r>
              <a:rPr lang="en-US" altLang="zh-TW" sz="2400" dirty="0" smtClean="0"/>
              <a:t>work-group and </a:t>
            </a:r>
            <a:r>
              <a:rPr lang="en-US" altLang="zh-TW" sz="2400" dirty="0"/>
              <a:t>optionally act as a memory fence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000" dirty="0" err="1">
                <a:latin typeface="Eras Light ITC" panose="020B0402030504020804" pitchFamily="34" charset="0"/>
              </a:rPr>
              <a:t>Fbarriers</a:t>
            </a:r>
            <a:r>
              <a:rPr lang="en-US" altLang="zh-TW" sz="2400" dirty="0"/>
              <a:t> are used to synchronize only between work-items within a work-group </a:t>
            </a:r>
            <a:r>
              <a:rPr lang="en-US" altLang="zh-TW" sz="2400" dirty="0" smtClean="0"/>
              <a:t>that are </a:t>
            </a:r>
            <a:r>
              <a:rPr lang="en-US" altLang="zh-TW" sz="2400" dirty="0" err="1"/>
              <a:t>wavefront</a:t>
            </a:r>
            <a:r>
              <a:rPr lang="en-US" altLang="zh-TW" sz="2400" dirty="0"/>
              <a:t> uniform.</a:t>
            </a:r>
            <a:endParaRPr lang="en-US" altLang="zh-TW" sz="2400" dirty="0" smtClean="0"/>
          </a:p>
          <a:p>
            <a:r>
              <a:rPr lang="en-US" altLang="zh-TW" sz="2400" dirty="0"/>
              <a:t>The </a:t>
            </a:r>
            <a:r>
              <a:rPr lang="en-US" altLang="zh-TW" sz="2000" dirty="0">
                <a:latin typeface="Eras Light ITC" panose="020B0402030504020804" pitchFamily="34" charset="0"/>
              </a:rPr>
              <a:t>sync</a:t>
            </a:r>
            <a:r>
              <a:rPr lang="en-US" altLang="zh-TW" sz="2400" dirty="0"/>
              <a:t> operation makes sure that the writes in the program preceding the </a:t>
            </a:r>
            <a:r>
              <a:rPr lang="en-US" altLang="zh-TW" sz="2400" dirty="0" smtClean="0"/>
              <a:t>sync have </a:t>
            </a:r>
            <a:r>
              <a:rPr lang="en-US" altLang="zh-TW" sz="2400" dirty="0"/>
              <a:t>been fully committed to memory before the program continues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Cross-Lane Operations perform work across lanes in a </a:t>
            </a:r>
            <a:r>
              <a:rPr lang="en-US" altLang="zh-TW" sz="2400" dirty="0" err="1" smtClean="0"/>
              <a:t>wavefront</a:t>
            </a:r>
            <a:r>
              <a:rPr lang="en-US" altLang="zh-TW" sz="2400" dirty="0"/>
              <a:t>, Ex. masklane_b64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55859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Functions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Like other programming languages, HSAIL provides support for user functions</a:t>
            </a:r>
            <a:r>
              <a:rPr lang="en-US" altLang="zh-TW" sz="2400" dirty="0" smtClean="0"/>
              <a:t>.</a:t>
            </a:r>
            <a:endParaRPr lang="en-US" altLang="zh-TW" sz="2400" dirty="0"/>
          </a:p>
          <a:p>
            <a:r>
              <a:rPr lang="en-US" altLang="zh-TW" sz="2400" dirty="0"/>
              <a:t>In order that HSAIL can execute efficiently on a wide range of compute units, </a:t>
            </a:r>
            <a:r>
              <a:rPr lang="en-US" altLang="zh-TW" sz="2400" dirty="0" smtClean="0"/>
              <a:t>an abstract </a:t>
            </a:r>
            <a:r>
              <a:rPr lang="en-US" altLang="zh-TW" sz="2400" dirty="0"/>
              <a:t>method is used for passing arguments, with the </a:t>
            </a:r>
            <a:r>
              <a:rPr lang="en-US" altLang="zh-TW" sz="2400" dirty="0" err="1"/>
              <a:t>finalizer</a:t>
            </a:r>
            <a:r>
              <a:rPr lang="en-US" altLang="zh-TW" sz="2400" dirty="0"/>
              <a:t> determining </a:t>
            </a:r>
            <a:r>
              <a:rPr lang="en-US" altLang="zh-TW" sz="2400" dirty="0" smtClean="0"/>
              <a:t>what to </a:t>
            </a:r>
            <a:r>
              <a:rPr lang="en-US" altLang="zh-TW" sz="2400" dirty="0"/>
              <a:t>do. This is necessary because, on a GPU, stacks are not a good use of resources</a:t>
            </a:r>
            <a:r>
              <a:rPr lang="en-US" altLang="zh-TW" sz="2400" dirty="0" smtClean="0"/>
              <a:t>, especially </a:t>
            </a:r>
            <a:r>
              <a:rPr lang="en-US" altLang="zh-TW" sz="2400" dirty="0"/>
              <a:t>if each work-item has its own </a:t>
            </a:r>
            <a:r>
              <a:rPr lang="en-US" altLang="zh-TW" sz="2400" dirty="0" smtClean="0"/>
              <a:t>stack.</a:t>
            </a:r>
          </a:p>
          <a:p>
            <a:r>
              <a:rPr lang="en-US" altLang="zh-TW" sz="2400" dirty="0" smtClean="0"/>
              <a:t>Functions </a:t>
            </a:r>
            <a:r>
              <a:rPr lang="en-US" altLang="zh-TW" sz="2400" dirty="0"/>
              <a:t>cannot be nested, but functions can be recursive.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8053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Operations Related to Functions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The </a:t>
            </a:r>
            <a:r>
              <a:rPr lang="en-US" altLang="zh-TW" sz="2000" dirty="0">
                <a:latin typeface="Eras Light ITC" panose="020B0402030504020804" pitchFamily="34" charset="0"/>
              </a:rPr>
              <a:t>call</a:t>
            </a:r>
            <a:r>
              <a:rPr lang="en-US" altLang="zh-TW" sz="2400" dirty="0"/>
              <a:t> operation stores the address of the next operation, so execution can </a:t>
            </a:r>
            <a:r>
              <a:rPr lang="en-US" altLang="zh-TW" sz="2400" dirty="0" smtClean="0"/>
              <a:t>resume at </a:t>
            </a:r>
            <a:r>
              <a:rPr lang="en-US" altLang="zh-TW" sz="2400" dirty="0"/>
              <a:t>that point after executing a </a:t>
            </a:r>
            <a:r>
              <a:rPr lang="en-US" altLang="zh-TW" sz="2000" dirty="0">
                <a:latin typeface="Eras Light ITC" panose="020B0402030504020804" pitchFamily="34" charset="0"/>
              </a:rPr>
              <a:t>ret</a:t>
            </a:r>
            <a:r>
              <a:rPr lang="en-US" altLang="zh-TW" sz="2400" dirty="0"/>
              <a:t> operation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</a:t>
            </a:r>
            <a:r>
              <a:rPr lang="en-US" altLang="zh-TW" sz="2000" dirty="0" err="1">
                <a:latin typeface="Eras Light ITC" panose="020B0402030504020804" pitchFamily="34" charset="0"/>
              </a:rPr>
              <a:t>syscall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operation </a:t>
            </a:r>
            <a:r>
              <a:rPr lang="en-US" altLang="zh-TW" sz="2400" dirty="0"/>
              <a:t>is used to call runtime library-supplied </a:t>
            </a:r>
            <a:r>
              <a:rPr lang="en-US" altLang="zh-TW" sz="2400" dirty="0" smtClean="0"/>
              <a:t>functions that </a:t>
            </a:r>
            <a:r>
              <a:rPr lang="en-US" altLang="zh-TW" sz="2400" dirty="0"/>
              <a:t>will be executed by a host CPU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/>
              <a:t>The allocate memory (</a:t>
            </a:r>
            <a:r>
              <a:rPr lang="en-US" altLang="zh-TW" sz="2000" dirty="0" err="1">
                <a:latin typeface="Eras Light ITC" panose="020B0402030504020804" pitchFamily="34" charset="0"/>
              </a:rPr>
              <a:t>alloca</a:t>
            </a:r>
            <a:r>
              <a:rPr lang="en-US" altLang="zh-TW" sz="2400" dirty="0"/>
              <a:t>) operation is used by kernels or functions to allocate </a:t>
            </a:r>
            <a:r>
              <a:rPr lang="en-US" altLang="zh-TW" sz="2400" dirty="0" smtClean="0"/>
              <a:t>per-work-item </a:t>
            </a:r>
            <a:r>
              <a:rPr lang="en-US" altLang="zh-TW" sz="2400" dirty="0"/>
              <a:t>private memory at run time.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322350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Special Operations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Some special operations are relation of HW or </a:t>
            </a:r>
            <a:r>
              <a:rPr lang="en-US" altLang="zh-TW" sz="2000" dirty="0" err="1">
                <a:latin typeface="Eras Light ITC" panose="020B0402030504020804" pitchFamily="34" charset="0"/>
              </a:rPr>
              <a:t>NDRange</a:t>
            </a:r>
            <a:r>
              <a:rPr lang="en-US" altLang="zh-TW" sz="2400" dirty="0"/>
              <a:t> model</a:t>
            </a:r>
            <a:endParaRPr lang="en-US" altLang="zh-TW" sz="2400" dirty="0" smtClean="0"/>
          </a:p>
          <a:p>
            <a:r>
              <a:rPr lang="en-US" altLang="zh-TW" sz="2400" dirty="0"/>
              <a:t>Ex. </a:t>
            </a:r>
            <a:endParaRPr lang="en-US" altLang="zh-TW" sz="2400" dirty="0" smtClean="0"/>
          </a:p>
          <a:p>
            <a:pPr lvl="1"/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maxwaveid</a:t>
            </a:r>
            <a:r>
              <a:rPr lang="en-US" altLang="zh-TW" sz="2000" dirty="0"/>
              <a:t>, </a:t>
            </a:r>
            <a:r>
              <a:rPr lang="en-US" altLang="zh-TW" sz="2000" dirty="0" smtClean="0"/>
              <a:t>returns </a:t>
            </a:r>
            <a:r>
              <a:rPr lang="en-US" altLang="zh-TW" sz="2000" dirty="0"/>
              <a:t>the number of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wavefronts</a:t>
            </a:r>
            <a:r>
              <a:rPr lang="en-US" altLang="zh-TW" sz="2000" dirty="0">
                <a:latin typeface="Eras Light ITC" panose="020B0402030504020804" pitchFamily="34" charset="0"/>
                <a:cs typeface="+mn-cs"/>
              </a:rPr>
              <a:t> </a:t>
            </a:r>
            <a:r>
              <a:rPr lang="en-US" altLang="zh-TW" sz="2000" dirty="0"/>
              <a:t>−1 that can run at the same time on a </a:t>
            </a:r>
            <a:r>
              <a:rPr lang="en-US" altLang="zh-TW" sz="2000" dirty="0" smtClean="0"/>
              <a:t>compute unit </a:t>
            </a:r>
            <a:r>
              <a:rPr lang="en-US" altLang="zh-TW" sz="2000" dirty="0"/>
              <a:t>and stores the result in the </a:t>
            </a:r>
            <a:r>
              <a:rPr lang="en-US" altLang="zh-TW" sz="2000" dirty="0" smtClean="0"/>
              <a:t>destination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dest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workitemid</a:t>
            </a:r>
            <a:r>
              <a:rPr lang="en-US" altLang="zh-TW" sz="2000" dirty="0" smtClean="0"/>
              <a:t>, accesses </a:t>
            </a:r>
            <a:r>
              <a:rPr lang="en-US" altLang="zh-TW" sz="2000" dirty="0"/>
              <a:t>the work-item identifier (ID) within the work-group and stores the </a:t>
            </a:r>
            <a:r>
              <a:rPr lang="en-US" altLang="zh-TW" sz="2000" dirty="0" smtClean="0"/>
              <a:t>result in </a:t>
            </a:r>
            <a:r>
              <a:rPr lang="en-US" altLang="zh-TW" sz="2000" dirty="0"/>
              <a:t>the destination </a:t>
            </a:r>
            <a:r>
              <a:rPr lang="en-US" altLang="zh-TW" sz="2000" dirty="0" err="1"/>
              <a:t>dest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6115887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Exceptions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Three kinds of exceptions are supported:</a:t>
            </a:r>
          </a:p>
          <a:p>
            <a:pPr lvl="1"/>
            <a:r>
              <a:rPr lang="en-US" altLang="zh-TW" sz="2000" dirty="0" smtClean="0"/>
              <a:t>Hardware-detected </a:t>
            </a:r>
            <a:r>
              <a:rPr lang="en-US" altLang="zh-TW" sz="2000" dirty="0"/>
              <a:t>exceptions such as divide by zero</a:t>
            </a:r>
            <a:r>
              <a:rPr lang="en-US" altLang="zh-TW" sz="2000" dirty="0" smtClean="0"/>
              <a:t>. </a:t>
            </a:r>
            <a:endParaRPr lang="en-US" altLang="zh-TW" sz="2000" dirty="0"/>
          </a:p>
          <a:p>
            <a:pPr lvl="1"/>
            <a:r>
              <a:rPr lang="en-US" altLang="zh-TW" sz="2000" dirty="0" smtClean="0"/>
              <a:t>Software-triggered </a:t>
            </a:r>
            <a:r>
              <a:rPr lang="en-US" altLang="zh-TW" sz="2000" dirty="0"/>
              <a:t>exceptions corresponding to the higher-level catch </a:t>
            </a:r>
            <a:r>
              <a:rPr lang="en-US" altLang="zh-TW" sz="2000" dirty="0" smtClean="0"/>
              <a:t>and throw </a:t>
            </a:r>
            <a:r>
              <a:rPr lang="en-US" altLang="zh-TW" sz="2000" dirty="0"/>
              <a:t>operations</a:t>
            </a:r>
            <a:r>
              <a:rPr lang="en-US" altLang="zh-TW" sz="2000" dirty="0" smtClean="0"/>
              <a:t>. Software </a:t>
            </a:r>
            <a:r>
              <a:rPr lang="en-US" altLang="zh-TW" sz="2000" dirty="0"/>
              <a:t>exceptions can be generated by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syscall</a:t>
            </a:r>
            <a:endParaRPr lang="en-US" altLang="zh-TW" sz="2000" dirty="0">
              <a:latin typeface="Eras Light ITC" panose="020B0402030504020804" pitchFamily="34" charset="0"/>
              <a:cs typeface="+mn-cs"/>
            </a:endParaRPr>
          </a:p>
          <a:p>
            <a:pPr lvl="1"/>
            <a:r>
              <a:rPr lang="en-US" altLang="zh-TW" sz="2000" dirty="0" smtClean="0"/>
              <a:t>Debug-related </a:t>
            </a:r>
            <a:r>
              <a:rPr lang="en-US" altLang="zh-TW" sz="2000" dirty="0"/>
              <a:t>exceptions generated by </a:t>
            </a:r>
            <a:r>
              <a:rPr lang="en-US" altLang="zh-TW" sz="2000" dirty="0" err="1">
                <a:latin typeface="Eras Light ITC" panose="020B0402030504020804" pitchFamily="34" charset="0"/>
                <a:cs typeface="+mn-cs"/>
              </a:rPr>
              <a:t>debugtrap</a:t>
            </a:r>
            <a:r>
              <a:rPr lang="en-US" altLang="zh-TW" sz="2000" dirty="0" smtClean="0"/>
              <a:t>. Debug </a:t>
            </a:r>
            <a:r>
              <a:rPr lang="en-US" altLang="zh-TW" sz="2000" dirty="0"/>
              <a:t>exceptions normally invoke the debugger. If no debugger is present, </a:t>
            </a:r>
            <a:r>
              <a:rPr lang="en-US" altLang="zh-TW" sz="2000" dirty="0" smtClean="0"/>
              <a:t>they are </a:t>
            </a:r>
            <a:r>
              <a:rPr lang="en-US" altLang="zh-TW" sz="2000" dirty="0"/>
              <a:t>handled as software exceptions.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5141252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Reference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000" dirty="0"/>
              <a:t>HSA Programmer’s Reference Manual: </a:t>
            </a:r>
            <a:r>
              <a:rPr lang="en-US" altLang="zh-TW" sz="2000" dirty="0" smtClean="0"/>
              <a:t>HSAIL Virtual </a:t>
            </a:r>
            <a:r>
              <a:rPr lang="en-US" altLang="zh-TW" sz="2000" dirty="0"/>
              <a:t>ISA and Programming </a:t>
            </a:r>
            <a:r>
              <a:rPr lang="en-US" altLang="zh-TW" sz="2000" dirty="0" smtClean="0"/>
              <a:t>Model, Compiler </a:t>
            </a:r>
            <a:r>
              <a:rPr lang="en-US" altLang="zh-TW" sz="2000" dirty="0"/>
              <a:t>Writer’s Guide, and Object </a:t>
            </a:r>
            <a:r>
              <a:rPr lang="en-US" altLang="zh-TW" sz="2000" dirty="0" smtClean="0"/>
              <a:t>Format (BRIG) 0.95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dirty="0"/>
              <a:t>HSA Programmer's Reference </a:t>
            </a:r>
            <a:r>
              <a:rPr lang="en-US" altLang="zh-TW" sz="2000" dirty="0" smtClean="0"/>
              <a:t>Manual 1.2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dirty="0" smtClean="0"/>
              <a:t>AMD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Developer Central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dirty="0" smtClean="0"/>
              <a:t>HSA Foundation</a:t>
            </a:r>
          </a:p>
          <a:p>
            <a:pPr marL="457200" indent="-457200">
              <a:buFont typeface="+mj-lt"/>
              <a:buAutoNum type="arabicPeriod"/>
            </a:pP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471517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佈景主題1" id="{52425C63-842A-4F95-A16C-1C0CCEA90123}" vid="{F27CB42A-B114-46CF-86BE-45D629310C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857</TotalTime>
  <Words>9570</Words>
  <Application>Microsoft Office PowerPoint</Application>
  <PresentationFormat>如螢幕大小 (4:3)</PresentationFormat>
  <Paragraphs>978</Paragraphs>
  <Slides>147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147</vt:i4>
      </vt:variant>
    </vt:vector>
  </HeadingPairs>
  <TitlesOfParts>
    <vt:vector size="148" baseType="lpstr">
      <vt:lpstr>佈景主題1</vt:lpstr>
      <vt:lpstr>HSA Programming Model: HSA Runtime and HSAIL</vt:lpstr>
      <vt:lpstr>HSA Runtime</vt:lpstr>
      <vt:lpstr>HSA Runtime</vt:lpstr>
      <vt:lpstr>HSA Core API</vt:lpstr>
      <vt:lpstr>HSA Systems Architecture Spec</vt:lpstr>
      <vt:lpstr>HSA Feature </vt:lpstr>
      <vt:lpstr>Core API as an Infrastructure</vt:lpstr>
      <vt:lpstr>Architected Dispatch</vt:lpstr>
      <vt:lpstr>Execution Flow</vt:lpstr>
      <vt:lpstr>Step1: Initial Setup</vt:lpstr>
      <vt:lpstr>Structure declaration</vt:lpstr>
      <vt:lpstr>Setup a Dispatch</vt:lpstr>
      <vt:lpstr>Select Component and Create Queue</vt:lpstr>
      <vt:lpstr>Step2: Compilation Flow </vt:lpstr>
      <vt:lpstr>Finalize Kernel</vt:lpstr>
      <vt:lpstr>Step3: Execution of Kernel</vt:lpstr>
      <vt:lpstr>Task Packet Format</vt:lpstr>
      <vt:lpstr>Create an AQL Packet </vt:lpstr>
      <vt:lpstr>HSAIL ABI</vt:lpstr>
      <vt:lpstr>AQL Packet Reused</vt:lpstr>
      <vt:lpstr>AQL Dispatch Packet</vt:lpstr>
      <vt:lpstr>Doorbell Mechanism Inform HW</vt:lpstr>
      <vt:lpstr>Start Execution</vt:lpstr>
      <vt:lpstr>Create a Signal</vt:lpstr>
      <vt:lpstr>Write and Dispatch AQL Packet</vt:lpstr>
      <vt:lpstr>Inform Component</vt:lpstr>
      <vt:lpstr>Step4: Determining Kernel Completion</vt:lpstr>
      <vt:lpstr>HSA Signaling</vt:lpstr>
      <vt:lpstr>Waiting Mechanism</vt:lpstr>
      <vt:lpstr>Wait Completion</vt:lpstr>
      <vt:lpstr>Complete</vt:lpstr>
      <vt:lpstr>Error and Notification</vt:lpstr>
      <vt:lpstr>Errors Handling</vt:lpstr>
      <vt:lpstr>Synchronous errors</vt:lpstr>
      <vt:lpstr>Asynchronous Errors</vt:lpstr>
      <vt:lpstr>Main API classification</vt:lpstr>
      <vt:lpstr>Content</vt:lpstr>
      <vt:lpstr>Open and Close API</vt:lpstr>
      <vt:lpstr>HSA Topology and Component</vt:lpstr>
      <vt:lpstr>HSA Topology and Component</vt:lpstr>
      <vt:lpstr>Memory based Signals</vt:lpstr>
      <vt:lpstr>Memory based Signals</vt:lpstr>
      <vt:lpstr>Memory based Signals</vt:lpstr>
      <vt:lpstr>Architected Queue</vt:lpstr>
      <vt:lpstr>Core Runtime Support for AQL</vt:lpstr>
      <vt:lpstr>Core Runtime Support for AQL</vt:lpstr>
      <vt:lpstr>Core Runtime Support for AQL</vt:lpstr>
      <vt:lpstr>Core Runtime Support for AQL</vt:lpstr>
      <vt:lpstr>HSAIL Application Binary Interface</vt:lpstr>
      <vt:lpstr>HSAIL Application Binary Interface</vt:lpstr>
      <vt:lpstr>Finalization and Code Object</vt:lpstr>
      <vt:lpstr>Finalization and Code Object</vt:lpstr>
      <vt:lpstr>Group Memory Usage</vt:lpstr>
      <vt:lpstr>Group Memory Usage</vt:lpstr>
      <vt:lpstr>Group Memory Usage</vt:lpstr>
      <vt:lpstr>Group Memory Usage</vt:lpstr>
      <vt:lpstr>Memory Registration</vt:lpstr>
      <vt:lpstr>Memory Registration</vt:lpstr>
      <vt:lpstr>Memory Registration</vt:lpstr>
      <vt:lpstr>Component Local Memory</vt:lpstr>
      <vt:lpstr>Component Local Memory</vt:lpstr>
      <vt:lpstr>Execution Control</vt:lpstr>
      <vt:lpstr>Execution Control</vt:lpstr>
      <vt:lpstr>Execution Control</vt:lpstr>
      <vt:lpstr>Syscall Support</vt:lpstr>
      <vt:lpstr>Syscall Support</vt:lpstr>
      <vt:lpstr>Syscall Support</vt:lpstr>
      <vt:lpstr>HSAIL</vt:lpstr>
      <vt:lpstr>What is intermediate language?</vt:lpstr>
      <vt:lpstr>What is intermediate representation?</vt:lpstr>
      <vt:lpstr>Examples</vt:lpstr>
      <vt:lpstr>Examples</vt:lpstr>
      <vt:lpstr>What is HSAIL?</vt:lpstr>
      <vt:lpstr>HSA implementation </vt:lpstr>
      <vt:lpstr>HSAIL virtual machine</vt:lpstr>
      <vt:lpstr>HSAIL virtual machine</vt:lpstr>
      <vt:lpstr>Types of code</vt:lpstr>
      <vt:lpstr> HSAIL Virtual Language</vt:lpstr>
      <vt:lpstr> HSAIL Virtual Language</vt:lpstr>
      <vt:lpstr> HSAIL Virtual Language</vt:lpstr>
      <vt:lpstr> HSAIL Virtual Language</vt:lpstr>
      <vt:lpstr> HSAIL Virtual Language</vt:lpstr>
      <vt:lpstr>Unified memory model</vt:lpstr>
      <vt:lpstr>Unified memory model</vt:lpstr>
      <vt:lpstr>KEY HSAIL FEATURES</vt:lpstr>
      <vt:lpstr>REGISTERS</vt:lpstr>
      <vt:lpstr>HSAIL INSTRUCTION SET</vt:lpstr>
      <vt:lpstr>PowerPoint 簡報</vt:lpstr>
      <vt:lpstr>SEGMENTS AND MEMORY</vt:lpstr>
      <vt:lpstr>SEGMENTS AND MEMORY</vt:lpstr>
      <vt:lpstr>BRIG: HSAIL Binary Format</vt:lpstr>
      <vt:lpstr>HSAIL Programming Model</vt:lpstr>
      <vt:lpstr> Overview of Grids, Work-Groups, and Work-Items</vt:lpstr>
      <vt:lpstr> Overview of Grids, Work-Groups, and Work-Items</vt:lpstr>
      <vt:lpstr> Overview of Grids, Work-Groups, and Work-Items</vt:lpstr>
      <vt:lpstr> Overview of Grids, Work-Groups, and Work-Items</vt:lpstr>
      <vt:lpstr>PowerPoint 簡報</vt:lpstr>
      <vt:lpstr> Overview of Grids, Work-Groups, and Work-Items</vt:lpstr>
      <vt:lpstr> Overview of Grids, Work-Groups, and Work-Items</vt:lpstr>
      <vt:lpstr> Overview of Grids, Work-Groups, and Work-Items</vt:lpstr>
      <vt:lpstr>PowerPoint 簡報</vt:lpstr>
      <vt:lpstr> Work-Groups</vt:lpstr>
      <vt:lpstr> Work-Groups</vt:lpstr>
      <vt:lpstr> Work-Group ID</vt:lpstr>
      <vt:lpstr> Work-Group ID</vt:lpstr>
      <vt:lpstr> Work-Group Flattened ID</vt:lpstr>
      <vt:lpstr> Work-Items</vt:lpstr>
      <vt:lpstr> Work-Items</vt:lpstr>
      <vt:lpstr> Work-Item ID</vt:lpstr>
      <vt:lpstr> Work-Item Flattened ID</vt:lpstr>
      <vt:lpstr> Work-Item Absolute ID</vt:lpstr>
      <vt:lpstr> Work-Item Flattened Absolute ID</vt:lpstr>
      <vt:lpstr> Scalable Data-Parallel Computing</vt:lpstr>
      <vt:lpstr> Scalable Data-Parallel Computing</vt:lpstr>
      <vt:lpstr> Active Work-Groups and Active Work-Items</vt:lpstr>
      <vt:lpstr> Active Work-Groups and Active Work-Items</vt:lpstr>
      <vt:lpstr> Active Work-Groups and Active Work-Items</vt:lpstr>
      <vt:lpstr> Wavefronts, Lanes, and Wavefront Sizes</vt:lpstr>
      <vt:lpstr> Wavefronts, Lanes, and Wavefront Sizes</vt:lpstr>
      <vt:lpstr> Wavefront Size</vt:lpstr>
      <vt:lpstr> Types of Memory</vt:lpstr>
      <vt:lpstr> Segments</vt:lpstr>
      <vt:lpstr> Types of Segments (7 types of segments)</vt:lpstr>
      <vt:lpstr> Types of Segments (7 types of segments)</vt:lpstr>
      <vt:lpstr> Types of Segments (7 types of segments)</vt:lpstr>
      <vt:lpstr> Types of Segments (7 types of segments)</vt:lpstr>
      <vt:lpstr> Types of Segments (7 types of segments)</vt:lpstr>
      <vt:lpstr> Types of Segments (7 types of segments)</vt:lpstr>
      <vt:lpstr> Shared Virtual Memory</vt:lpstr>
      <vt:lpstr> Shared Virtual Memory</vt:lpstr>
      <vt:lpstr> Flat Memory and Agents</vt:lpstr>
      <vt:lpstr> Flat Memory and Agents</vt:lpstr>
      <vt:lpstr> Flat Memory and Agents</vt:lpstr>
      <vt:lpstr> Small and Large Machine Models</vt:lpstr>
      <vt:lpstr>HSAIL Instructions</vt:lpstr>
      <vt:lpstr>Arithmetic Operations</vt:lpstr>
      <vt:lpstr>Memory Operations</vt:lpstr>
      <vt:lpstr>Image Operations</vt:lpstr>
      <vt:lpstr>Image Operations(Cont.)</vt:lpstr>
      <vt:lpstr>Branch Operations</vt:lpstr>
      <vt:lpstr>Branch Operations</vt:lpstr>
      <vt:lpstr>Parallel Synchronization and Communication Operations</vt:lpstr>
      <vt:lpstr>Functions</vt:lpstr>
      <vt:lpstr>Operations Related to Functions</vt:lpstr>
      <vt:lpstr>Special Operations</vt:lpstr>
      <vt:lpstr>Exceptions</vt:lpstr>
      <vt:lpstr>Reference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HSA Core API Introduction</dc:title>
  <dc:creator>Len</dc:creator>
  <cp:lastModifiedBy>Sam</cp:lastModifiedBy>
  <cp:revision>53</cp:revision>
  <dcterms:created xsi:type="dcterms:W3CDTF">2013-12-04T00:35:28Z</dcterms:created>
  <dcterms:modified xsi:type="dcterms:W3CDTF">2014-02-12T11:44:58Z</dcterms:modified>
</cp:coreProperties>
</file>