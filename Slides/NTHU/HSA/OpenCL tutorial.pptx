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302" r:id="rId33"/>
    <p:sldId id="309" r:id="rId34"/>
    <p:sldId id="304" r:id="rId35"/>
    <p:sldId id="305" r:id="rId36"/>
    <p:sldId id="306" r:id="rId37"/>
    <p:sldId id="307" r:id="rId38"/>
    <p:sldId id="308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39" r:id="rId53"/>
    <p:sldId id="323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40" r:id="rId69"/>
    <p:sldId id="341" r:id="rId70"/>
    <p:sldId id="342" r:id="rId71"/>
    <p:sldId id="343" r:id="rId72"/>
    <p:sldId id="344" r:id="rId73"/>
    <p:sldId id="347" r:id="rId74"/>
    <p:sldId id="345" r:id="rId75"/>
    <p:sldId id="346" r:id="rId7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405" autoAdjust="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91BA-E48B-478A-AAC4-00AC63B4DFCE}" type="datetimeFigureOut">
              <a:rPr lang="zh-TW" altLang="en-US" smtClean="0"/>
              <a:t>2015/3/9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7CAEC-3761-40ED-B6A3-5E9BBA7B9A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65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7CAEC-3761-40ED-B6A3-5E9BBA7B9AFB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086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73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58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8"/>
            <a:ext cx="53848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8"/>
            <a:ext cx="53848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87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16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76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36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395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91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74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73026"/>
            <a:ext cx="27432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73026"/>
            <a:ext cx="80264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66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6"/>
            <a:ext cx="109728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517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73025"/>
            <a:ext cx="566420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38"/>
            <a:ext cx="109728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003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60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2159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144463"/>
            <a:ext cx="10943167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8"/>
            <a:ext cx="109728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" y="6357939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5" y="6581776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12192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6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8846D149-EA11-4BCE-8A7B-E2565973AD7C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" y="6181726"/>
            <a:ext cx="912284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007534" y="6237288"/>
            <a:ext cx="2783417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910167" y="6580188"/>
            <a:ext cx="2521139" cy="307777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595" y="151801"/>
            <a:ext cx="2213067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5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tutorial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546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Architecture</a:t>
            </a:r>
          </a:p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memory buffer object</a:t>
            </a:r>
          </a:p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program and kernel </a:t>
            </a:r>
            <a:r>
              <a:rPr lang="en-US" altLang="zh-TW" dirty="0"/>
              <a:t>object </a:t>
            </a:r>
            <a:endParaRPr lang="en-US" altLang="zh-TW" dirty="0" smtClean="0"/>
          </a:p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synchronization and event </a:t>
            </a:r>
            <a:r>
              <a:rPr lang="en-US" altLang="zh-TW" dirty="0"/>
              <a:t>object </a:t>
            </a:r>
            <a:endParaRPr lang="en-US" altLang="zh-TW" dirty="0" smtClean="0"/>
          </a:p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C </a:t>
            </a:r>
            <a:r>
              <a:rPr lang="en-US" altLang="zh-TW" dirty="0" smtClean="0"/>
              <a:t>programming</a:t>
            </a:r>
          </a:p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2.0 feature</a:t>
            </a:r>
          </a:p>
          <a:p>
            <a:pPr lvl="1"/>
            <a:r>
              <a:rPr lang="en-US" altLang="zh-TW" dirty="0" smtClean="0"/>
              <a:t>Shared virtual memory</a:t>
            </a:r>
          </a:p>
          <a:p>
            <a:pPr lvl="1"/>
            <a:r>
              <a:rPr lang="en-US" altLang="zh-TW" dirty="0" smtClean="0"/>
              <a:t>Device-side enqueuer kernel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949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OpenCL</a:t>
            </a:r>
            <a:r>
              <a:rPr lang="en-US" altLang="zh-TW" dirty="0" smtClean="0"/>
              <a:t>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What is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?</a:t>
            </a:r>
          </a:p>
          <a:p>
            <a:pPr lvl="1"/>
            <a:r>
              <a:rPr lang="en-US" altLang="zh-TW" dirty="0"/>
              <a:t>O</a:t>
            </a:r>
            <a:r>
              <a:rPr lang="en-US" altLang="zh-TW" dirty="0" smtClean="0"/>
              <a:t>pen </a:t>
            </a:r>
            <a:r>
              <a:rPr lang="en-US" altLang="zh-TW" dirty="0"/>
              <a:t>industry standard for </a:t>
            </a:r>
            <a:r>
              <a:rPr lang="en-US" altLang="zh-TW" dirty="0" smtClean="0"/>
              <a:t>heterogeneous programming. Collection </a:t>
            </a:r>
            <a:r>
              <a:rPr lang="en-US" altLang="zh-TW" dirty="0"/>
              <a:t>of </a:t>
            </a:r>
            <a:r>
              <a:rPr lang="en-US" altLang="zh-TW" dirty="0" smtClean="0"/>
              <a:t>computing </a:t>
            </a:r>
            <a:r>
              <a:rPr lang="en-US" altLang="zh-TW" dirty="0"/>
              <a:t>devices organized into a single platform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framework for parallel programming </a:t>
            </a:r>
            <a:r>
              <a:rPr lang="en-US" altLang="zh-TW" dirty="0" smtClean="0"/>
              <a:t>includes </a:t>
            </a:r>
            <a:r>
              <a:rPr lang="en-US" altLang="zh-TW" dirty="0"/>
              <a:t>a language, API, libraries and a runtime </a:t>
            </a:r>
            <a:r>
              <a:rPr lang="en-US" altLang="zh-TW" dirty="0" smtClean="0"/>
              <a:t>system.</a:t>
            </a:r>
          </a:p>
          <a:p>
            <a:r>
              <a:rPr lang="en-US" altLang="zh-TW" dirty="0" smtClean="0"/>
              <a:t>We will use a hierarchy of models to describe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framework</a:t>
            </a:r>
          </a:p>
          <a:p>
            <a:pPr lvl="1"/>
            <a:r>
              <a:rPr lang="en-US" altLang="zh-TW" dirty="0" smtClean="0"/>
              <a:t>Platform Model</a:t>
            </a:r>
          </a:p>
          <a:p>
            <a:pPr lvl="1"/>
            <a:r>
              <a:rPr lang="en-US" altLang="zh-TW" dirty="0" smtClean="0"/>
              <a:t>Memory Model</a:t>
            </a:r>
          </a:p>
          <a:p>
            <a:pPr lvl="1"/>
            <a:r>
              <a:rPr lang="en-US" altLang="zh-TW" dirty="0" smtClean="0"/>
              <a:t>Execution Model</a:t>
            </a:r>
          </a:p>
          <a:p>
            <a:pPr lvl="1"/>
            <a:r>
              <a:rPr lang="en-US" altLang="zh-TW" dirty="0" smtClean="0"/>
              <a:t>Programming model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679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Platform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 </a:t>
            </a:r>
            <a:r>
              <a:rPr lang="en-US" altLang="zh-TW" dirty="0" err="1"/>
              <a:t>OpenCL</a:t>
            </a:r>
            <a:r>
              <a:rPr lang="en-US" altLang="zh-TW" dirty="0"/>
              <a:t> Platform model consists of a host connected to one or more </a:t>
            </a:r>
            <a:r>
              <a:rPr lang="en-US" altLang="zh-TW" dirty="0" smtClean="0"/>
              <a:t>devices like </a:t>
            </a:r>
            <a:r>
              <a:rPr lang="en-US" altLang="zh-TW" dirty="0"/>
              <a:t>CPU's, GPU's or hardware accelerators like DSP's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08" y="2406221"/>
            <a:ext cx="6306797" cy="346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4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Platform versions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is designed to support devices with different capabilities under a single platform.</a:t>
            </a:r>
          </a:p>
          <a:p>
            <a:pPr lvl="1"/>
            <a:r>
              <a:rPr lang="en-US" altLang="zh-TW" dirty="0"/>
              <a:t>Includes devices with different versions of the </a:t>
            </a:r>
            <a:r>
              <a:rPr lang="en-US" altLang="zh-TW" dirty="0" err="1"/>
              <a:t>OpenCL</a:t>
            </a:r>
            <a:r>
              <a:rPr lang="en-US" altLang="zh-TW" dirty="0"/>
              <a:t> specification.</a:t>
            </a:r>
          </a:p>
          <a:p>
            <a:pPr lvl="1"/>
            <a:r>
              <a:rPr lang="en-US" altLang="zh-TW" dirty="0"/>
              <a:t>N</a:t>
            </a:r>
            <a:r>
              <a:rPr lang="en-US" altLang="zh-TW" dirty="0" smtClean="0"/>
              <a:t>eeds </a:t>
            </a:r>
            <a:r>
              <a:rPr lang="en-US" altLang="zh-TW" dirty="0"/>
              <a:t>to query </a:t>
            </a:r>
            <a:r>
              <a:rPr lang="en-US" altLang="zh-TW" dirty="0" smtClean="0"/>
              <a:t>the implementation </a:t>
            </a:r>
            <a:r>
              <a:rPr lang="en-US" altLang="zh-TW" dirty="0"/>
              <a:t>about the supported version in the platform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Platform Version: Indicates the version of the </a:t>
            </a:r>
            <a:r>
              <a:rPr lang="en-US" altLang="zh-TW" dirty="0" err="1"/>
              <a:t>OpenCL</a:t>
            </a:r>
            <a:r>
              <a:rPr lang="en-US" altLang="zh-TW" dirty="0"/>
              <a:t> runtime supported.</a:t>
            </a:r>
          </a:p>
          <a:p>
            <a:r>
              <a:rPr lang="en-US" altLang="zh-TW" dirty="0" smtClean="0"/>
              <a:t>Device </a:t>
            </a:r>
            <a:r>
              <a:rPr lang="en-US" altLang="zh-TW" dirty="0"/>
              <a:t>Version: Indicates the device capabilities and attributes. </a:t>
            </a:r>
            <a:r>
              <a:rPr lang="en-US" altLang="zh-TW" dirty="0" smtClean="0"/>
              <a:t>The conformant </a:t>
            </a:r>
            <a:r>
              <a:rPr lang="en-US" altLang="zh-TW" dirty="0"/>
              <a:t>version info provided cannot be greater than platform version.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64130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Query platforms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To query the platform versions and details of the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implementation, the following two APIs are used:</a:t>
            </a:r>
            <a:endParaRPr lang="en-US" altLang="zh-TW" dirty="0"/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/>
              <a:t>clGetPlatformIDs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/>
              <a:t>clGetPlatformInfo</a:t>
            </a:r>
            <a:endParaRPr lang="zh-TW" altLang="en-US" dirty="0"/>
          </a:p>
          <a:p>
            <a:endParaRPr lang="en-US" altLang="zh-TW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8" y="2995068"/>
            <a:ext cx="854392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41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Query devices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query the </a:t>
            </a:r>
            <a:r>
              <a:rPr lang="en-US" altLang="zh-TW" dirty="0" err="1"/>
              <a:t>the</a:t>
            </a:r>
            <a:r>
              <a:rPr lang="en-US" altLang="zh-TW" dirty="0"/>
              <a:t> attributes and resource limitations </a:t>
            </a:r>
            <a:r>
              <a:rPr lang="en-US" altLang="zh-TW" dirty="0" smtClean="0"/>
              <a:t>of an </a:t>
            </a:r>
            <a:r>
              <a:rPr lang="en-US" altLang="zh-TW" dirty="0" err="1"/>
              <a:t>OpenCL</a:t>
            </a:r>
            <a:r>
              <a:rPr lang="en-US" altLang="zh-TW" dirty="0"/>
              <a:t> device</a:t>
            </a:r>
            <a:r>
              <a:rPr lang="en-US" altLang="zh-TW" dirty="0" smtClean="0"/>
              <a:t>, </a:t>
            </a:r>
            <a:r>
              <a:rPr lang="en-US" altLang="zh-TW" dirty="0"/>
              <a:t>the following two APIs are used: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 smtClean="0"/>
              <a:t>clGetDeviceIDs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 smtClean="0"/>
              <a:t>clGetDeviceInfo</a:t>
            </a:r>
            <a:endParaRPr lang="zh-TW" altLang="en-US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25" y="2892197"/>
            <a:ext cx="8619989" cy="323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7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Execution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two main execution units in </a:t>
            </a:r>
            <a:r>
              <a:rPr lang="en-US" altLang="zh-TW" dirty="0" err="1"/>
              <a:t>OpenCL</a:t>
            </a:r>
            <a:r>
              <a:rPr lang="en-US" altLang="zh-TW" dirty="0"/>
              <a:t> are the kernels and the host program. </a:t>
            </a:r>
          </a:p>
          <a:p>
            <a:pPr lvl="1"/>
            <a:r>
              <a:rPr lang="en-US" altLang="zh-TW" dirty="0"/>
              <a:t>The kernels execute on the so called </a:t>
            </a:r>
            <a:r>
              <a:rPr lang="en-US" altLang="zh-TW" dirty="0" err="1"/>
              <a:t>OpenCL</a:t>
            </a:r>
            <a:r>
              <a:rPr lang="en-US" altLang="zh-TW" dirty="0"/>
              <a:t> device.</a:t>
            </a:r>
          </a:p>
          <a:p>
            <a:pPr lvl="1"/>
            <a:r>
              <a:rPr lang="en-US" altLang="zh-TW" dirty="0"/>
              <a:t>The host program runs on the host computer.</a:t>
            </a:r>
            <a:endParaRPr lang="zh-TW" altLang="en-US" dirty="0"/>
          </a:p>
          <a:p>
            <a:r>
              <a:rPr lang="en-US" altLang="zh-TW" dirty="0"/>
              <a:t>The main purpose of the host program is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Create </a:t>
            </a:r>
            <a:r>
              <a:rPr lang="en-US" altLang="zh-TW" dirty="0"/>
              <a:t>and query </a:t>
            </a:r>
            <a:r>
              <a:rPr lang="en-US" altLang="zh-TW" dirty="0" smtClean="0"/>
              <a:t>the platform </a:t>
            </a:r>
            <a:r>
              <a:rPr lang="en-US" altLang="zh-TW" dirty="0"/>
              <a:t>and device attributes, </a:t>
            </a:r>
            <a:endParaRPr lang="en-US" altLang="zh-TW" dirty="0" smtClean="0"/>
          </a:p>
          <a:p>
            <a:pPr lvl="1"/>
            <a:r>
              <a:rPr lang="en-US" altLang="zh-TW" dirty="0"/>
              <a:t>D</a:t>
            </a:r>
            <a:r>
              <a:rPr lang="en-US" altLang="zh-TW" dirty="0" smtClean="0"/>
              <a:t>efine </a:t>
            </a:r>
            <a:r>
              <a:rPr lang="en-US" altLang="zh-TW" dirty="0"/>
              <a:t>a context for the kernels, </a:t>
            </a:r>
            <a:endParaRPr lang="en-US" altLang="zh-TW" dirty="0" smtClean="0"/>
          </a:p>
          <a:p>
            <a:pPr lvl="1"/>
            <a:r>
              <a:rPr lang="en-US" altLang="zh-TW" dirty="0"/>
              <a:t>B</a:t>
            </a:r>
            <a:r>
              <a:rPr lang="en-US" altLang="zh-TW" dirty="0" smtClean="0"/>
              <a:t>uild </a:t>
            </a:r>
            <a:r>
              <a:rPr lang="en-US" altLang="zh-TW" dirty="0"/>
              <a:t>the </a:t>
            </a:r>
            <a:r>
              <a:rPr lang="en-US" altLang="zh-TW" dirty="0" smtClean="0"/>
              <a:t>kernel</a:t>
            </a:r>
          </a:p>
          <a:p>
            <a:pPr lvl="1"/>
            <a:r>
              <a:rPr lang="en-US" altLang="zh-TW" dirty="0"/>
              <a:t>M</a:t>
            </a:r>
            <a:r>
              <a:rPr lang="en-US" altLang="zh-TW" dirty="0" smtClean="0"/>
              <a:t>anage </a:t>
            </a:r>
            <a:r>
              <a:rPr lang="en-US" altLang="zh-TW" dirty="0"/>
              <a:t>the execution of these kernels.</a:t>
            </a:r>
            <a:endParaRPr lang="en-US" altLang="zh-TW" dirty="0" smtClean="0"/>
          </a:p>
          <a:p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975" y="1729946"/>
            <a:ext cx="3480645" cy="439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NDRange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 </a:t>
            </a:r>
            <a:r>
              <a:rPr lang="en-US" altLang="zh-TW" dirty="0" err="1"/>
              <a:t>NDRange</a:t>
            </a:r>
            <a:r>
              <a:rPr lang="en-US" altLang="zh-TW" dirty="0"/>
              <a:t> is the kernel execution index in an N-dimensional index space. </a:t>
            </a:r>
          </a:p>
          <a:p>
            <a:pPr lvl="1"/>
            <a:r>
              <a:rPr lang="en-US" altLang="zh-TW" dirty="0"/>
              <a:t>The values which N can take are 1, 2, or 3.</a:t>
            </a:r>
            <a:endParaRPr lang="zh-TW" altLang="en-US" dirty="0"/>
          </a:p>
          <a:p>
            <a:r>
              <a:rPr lang="en-US" altLang="zh-TW" dirty="0"/>
              <a:t>Work-item -&gt; Work-group -&gt; </a:t>
            </a:r>
            <a:r>
              <a:rPr lang="en-US" altLang="zh-TW" dirty="0" err="1"/>
              <a:t>NDRange</a:t>
            </a:r>
            <a:endParaRPr lang="en-US" altLang="zh-TW" dirty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will be using the following terms for defining the Execution model:</a:t>
            </a:r>
          </a:p>
          <a:p>
            <a:pPr lvl="1"/>
            <a:r>
              <a:rPr lang="en-US" altLang="zh-TW" dirty="0" smtClean="0"/>
              <a:t>work-item</a:t>
            </a:r>
            <a:r>
              <a:rPr lang="en-US" altLang="zh-TW" dirty="0"/>
              <a:t>: It is the individual kernel execution instance</a:t>
            </a:r>
          </a:p>
          <a:p>
            <a:pPr lvl="1"/>
            <a:r>
              <a:rPr lang="en-US" altLang="zh-TW" dirty="0" smtClean="0"/>
              <a:t>work-group</a:t>
            </a:r>
            <a:r>
              <a:rPr lang="en-US" altLang="zh-TW" dirty="0"/>
              <a:t>: It is a group of work items form a work group</a:t>
            </a:r>
          </a:p>
          <a:p>
            <a:pPr lvl="1"/>
            <a:r>
              <a:rPr lang="en-US" altLang="zh-TW" dirty="0" smtClean="0"/>
              <a:t>global-id</a:t>
            </a:r>
            <a:r>
              <a:rPr lang="en-US" altLang="zh-TW" dirty="0"/>
              <a:t>: A unique global ID given to each work item in the </a:t>
            </a:r>
            <a:r>
              <a:rPr lang="en-US" altLang="zh-TW" dirty="0" smtClean="0"/>
              <a:t>global </a:t>
            </a:r>
            <a:r>
              <a:rPr lang="en-US" altLang="zh-TW" dirty="0" err="1" smtClean="0"/>
              <a:t>NDRange</a:t>
            </a:r>
            <a:endParaRPr lang="en-US" altLang="zh-TW" dirty="0"/>
          </a:p>
          <a:p>
            <a:pPr lvl="1"/>
            <a:r>
              <a:rPr lang="en-US" altLang="zh-TW" dirty="0" smtClean="0"/>
              <a:t>local-id</a:t>
            </a:r>
            <a:r>
              <a:rPr lang="en-US" altLang="zh-TW" dirty="0"/>
              <a:t>: A unique local ID given to each work item within a work group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33877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NDRange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346" y="1125538"/>
            <a:ext cx="9037308" cy="489585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-108749" y="1397945"/>
            <a:ext cx="5084404" cy="64633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size of each work-group (</a:t>
            </a:r>
            <a:r>
              <a:rPr lang="en-US" altLang="zh-TW" dirty="0" err="1"/>
              <a:t>Sx</a:t>
            </a:r>
            <a:r>
              <a:rPr lang="en-US" altLang="zh-TW" dirty="0"/>
              <a:t>, </a:t>
            </a:r>
            <a:r>
              <a:rPr lang="en-US" altLang="zh-TW" dirty="0" err="1"/>
              <a:t>Sy</a:t>
            </a:r>
            <a:r>
              <a:rPr lang="en-US" altLang="zh-TW" dirty="0"/>
              <a:t>)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global ID offset (</a:t>
            </a:r>
            <a:r>
              <a:rPr lang="en-US" altLang="zh-TW" dirty="0" err="1"/>
              <a:t>Fx</a:t>
            </a:r>
            <a:r>
              <a:rPr lang="en-US" altLang="zh-TW" dirty="0"/>
              <a:t>, </a:t>
            </a:r>
            <a:r>
              <a:rPr lang="en-US" altLang="zh-TW" dirty="0" err="1"/>
              <a:t>Fy</a:t>
            </a:r>
            <a:r>
              <a:rPr lang="en-US" altLang="zh-TW" dirty="0"/>
              <a:t>). 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37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context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context defines the entire </a:t>
            </a:r>
            <a:r>
              <a:rPr lang="en-US" altLang="zh-TW" dirty="0" err="1"/>
              <a:t>OpenCL</a:t>
            </a:r>
            <a:r>
              <a:rPr lang="en-US" altLang="zh-TW" dirty="0"/>
              <a:t> environment,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OpenCL</a:t>
            </a:r>
            <a:r>
              <a:rPr lang="en-US" altLang="zh-TW" dirty="0" smtClean="0"/>
              <a:t> devices</a:t>
            </a:r>
          </a:p>
          <a:p>
            <a:pPr lvl="1"/>
            <a:r>
              <a:rPr lang="en-US" altLang="zh-TW" dirty="0" smtClean="0"/>
              <a:t>Program </a:t>
            </a:r>
            <a:r>
              <a:rPr lang="en-US" altLang="zh-TW" dirty="0"/>
              <a:t>objects,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OpenCL</a:t>
            </a:r>
            <a:r>
              <a:rPr lang="en-US" altLang="zh-TW" dirty="0" smtClean="0"/>
              <a:t> </a:t>
            </a:r>
            <a:r>
              <a:rPr lang="en-US" altLang="zh-TW" dirty="0"/>
              <a:t>kernels,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OpenCL</a:t>
            </a:r>
            <a:r>
              <a:rPr lang="en-US" altLang="zh-TW" dirty="0" smtClean="0"/>
              <a:t> memory objects</a:t>
            </a:r>
          </a:p>
          <a:p>
            <a:pPr lvl="1"/>
            <a:r>
              <a:rPr lang="en-US" altLang="zh-TW" dirty="0" err="1" smtClean="0"/>
              <a:t>OpenCL</a:t>
            </a:r>
            <a:r>
              <a:rPr lang="en-US" altLang="zh-TW" dirty="0" smtClean="0"/>
              <a:t> command queues</a:t>
            </a:r>
          </a:p>
          <a:p>
            <a:r>
              <a:rPr lang="en-US" altLang="zh-TW" dirty="0"/>
              <a:t>This function creates a context given a list of devices</a:t>
            </a:r>
          </a:p>
          <a:p>
            <a:pPr lvl="1"/>
            <a:r>
              <a:rPr lang="en-US" altLang="zh-TW" dirty="0" err="1"/>
              <a:t>cl_context</a:t>
            </a:r>
            <a:r>
              <a:rPr lang="en-US" altLang="zh-TW" dirty="0"/>
              <a:t> </a:t>
            </a:r>
            <a:r>
              <a:rPr lang="en-US" altLang="zh-TW" dirty="0" err="1"/>
              <a:t>clCreateContext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81" y="4373538"/>
            <a:ext cx="7161814" cy="174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command 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2404" indent="-282404" defTabSz="913836">
              <a:defRPr/>
            </a:pPr>
            <a:r>
              <a:rPr lang="en-US" altLang="zh-TW" dirty="0"/>
              <a:t>A command queue is the mechanism for the host to request that an action be performed by the </a:t>
            </a:r>
            <a:r>
              <a:rPr lang="en-US" altLang="zh-TW" dirty="0" smtClean="0"/>
              <a:t>device.</a:t>
            </a:r>
            <a:endParaRPr lang="en-US" altLang="zh-TW" dirty="0"/>
          </a:p>
          <a:p>
            <a:pPr lvl="1"/>
            <a:r>
              <a:rPr lang="en-US" altLang="zh-TW" dirty="0" smtClean="0"/>
              <a:t>These </a:t>
            </a:r>
            <a:r>
              <a:rPr lang="en-US" altLang="zh-TW" dirty="0"/>
              <a:t>commands can be of </a:t>
            </a:r>
            <a:r>
              <a:rPr lang="en-US" altLang="zh-TW" dirty="0" smtClean="0"/>
              <a:t>data transfer</a:t>
            </a:r>
            <a:r>
              <a:rPr lang="en-US" altLang="zh-TW" dirty="0"/>
              <a:t>, or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Kernel </a:t>
            </a:r>
            <a:r>
              <a:rPr lang="en-US" altLang="zh-TW" dirty="0"/>
              <a:t>execution commands or </a:t>
            </a:r>
            <a:endParaRPr lang="en-US" altLang="zh-TW" dirty="0" smtClean="0"/>
          </a:p>
          <a:p>
            <a:pPr lvl="1"/>
            <a:r>
              <a:rPr lang="en-US" altLang="zh-TW" dirty="0"/>
              <a:t>B</a:t>
            </a:r>
            <a:r>
              <a:rPr lang="en-US" altLang="zh-TW" dirty="0" smtClean="0"/>
              <a:t>arriers </a:t>
            </a:r>
            <a:r>
              <a:rPr lang="en-US" altLang="zh-TW" dirty="0"/>
              <a:t>within the command queue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Queues can </a:t>
            </a:r>
            <a:r>
              <a:rPr lang="en-US" altLang="zh-TW" dirty="0"/>
              <a:t>be in-order of the execution </a:t>
            </a:r>
            <a:r>
              <a:rPr lang="en-US" altLang="zh-TW" dirty="0" smtClean="0"/>
              <a:t>queues or out-of-order queues.</a:t>
            </a:r>
          </a:p>
          <a:p>
            <a:r>
              <a:rPr lang="en-US" altLang="zh-TW" dirty="0" smtClean="0"/>
              <a:t>We use the API to create command queue.</a:t>
            </a:r>
          </a:p>
          <a:p>
            <a:pPr lvl="1"/>
            <a:r>
              <a:rPr lang="en-US" altLang="zh-TW" dirty="0" err="1" smtClean="0"/>
              <a:t>cl_command_queue</a:t>
            </a:r>
            <a:r>
              <a:rPr lang="en-US" altLang="zh-TW" dirty="0" smtClean="0"/>
              <a:t> </a:t>
            </a:r>
            <a:r>
              <a:rPr lang="en-US" altLang="zh-TW" dirty="0" err="1"/>
              <a:t>clCreateCommandQueue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88" y="5116513"/>
            <a:ext cx="943927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3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model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6332" y="1198220"/>
            <a:ext cx="5322121" cy="413942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006332" y="5556499"/>
            <a:ext cx="532212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altLang="zh-TW" b="1" dirty="0" smtClean="0">
                <a:ea typeface="標楷體" pitchFamily="65" charset="-120"/>
                <a:cs typeface="Calibri" pitchFamily="34" charset="0"/>
              </a:rPr>
              <a:t>Host memory</a:t>
            </a:r>
            <a:endParaRPr lang="zh-TW" altLang="en-US" b="1" dirty="0" smtClean="0">
              <a:ea typeface="標楷體" pitchFamily="65" charset="-120"/>
              <a:cs typeface="Calibri" pitchFamily="34" charset="0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5667391" y="5288692"/>
            <a:ext cx="164998" cy="284283"/>
            <a:chOff x="2075935" y="3987114"/>
            <a:chExt cx="0" cy="354227"/>
          </a:xfrm>
        </p:grpSpPr>
        <p:cxnSp>
          <p:nvCxnSpPr>
            <p:cNvPr id="12" name="直線單箭頭接點 11"/>
            <p:cNvCxnSpPr/>
            <p:nvPr/>
          </p:nvCxnSpPr>
          <p:spPr bwMode="auto">
            <a:xfrm flipV="1">
              <a:off x="2075935" y="3987114"/>
              <a:ext cx="0" cy="15651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線單箭頭接點 13"/>
            <p:cNvCxnSpPr/>
            <p:nvPr/>
          </p:nvCxnSpPr>
          <p:spPr bwMode="auto">
            <a:xfrm>
              <a:off x="2075935" y="4143632"/>
              <a:ext cx="0" cy="197709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0" name="矩形 19"/>
          <p:cNvSpPr/>
          <p:nvPr/>
        </p:nvSpPr>
        <p:spPr bwMode="auto">
          <a:xfrm>
            <a:off x="2718486" y="5490962"/>
            <a:ext cx="5931244" cy="57211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734483" y="1121562"/>
            <a:ext cx="5915247" cy="4216085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82595" y="2986902"/>
            <a:ext cx="134276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Device part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82595" y="5556499"/>
            <a:ext cx="1342767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Host part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11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Installable Client Driver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OpenCL</a:t>
            </a:r>
            <a:r>
              <a:rPr lang="en-US" altLang="zh-TW" dirty="0"/>
              <a:t> </a:t>
            </a:r>
            <a:r>
              <a:rPr lang="en-US" altLang="zh-TW" b="1" dirty="0"/>
              <a:t>Installable Client Driver </a:t>
            </a:r>
            <a:r>
              <a:rPr lang="en-US" altLang="zh-TW" dirty="0"/>
              <a:t>(</a:t>
            </a:r>
            <a:r>
              <a:rPr lang="en-US" altLang="zh-TW" b="1" dirty="0"/>
              <a:t>ICD</a:t>
            </a:r>
            <a:r>
              <a:rPr lang="en-US" altLang="zh-TW" dirty="0"/>
              <a:t>) </a:t>
            </a:r>
            <a:r>
              <a:rPr lang="en-US" altLang="zh-TW" dirty="0" smtClean="0"/>
              <a:t>allows multiple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</a:t>
            </a:r>
            <a:r>
              <a:rPr lang="en-US" altLang="zh-TW" dirty="0"/>
              <a:t>implementations to co-exist and applications to select between them </a:t>
            </a:r>
            <a:r>
              <a:rPr lang="en-US" altLang="zh-TW" dirty="0" smtClean="0"/>
              <a:t>at runtime</a:t>
            </a:r>
            <a:r>
              <a:rPr lang="en-US" altLang="zh-TW" dirty="0"/>
              <a:t>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437" y="2272695"/>
            <a:ext cx="5464645" cy="37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38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</a:t>
            </a:r>
            <a:r>
              <a:rPr lang="en-US" altLang="zh-TW" dirty="0" err="1"/>
              <a:t>OpenCL</a:t>
            </a:r>
            <a:r>
              <a:rPr lang="en-US" altLang="zh-TW" dirty="0"/>
              <a:t> program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Platform information</a:t>
            </a:r>
          </a:p>
          <a:p>
            <a:r>
              <a:rPr lang="en-US" altLang="zh-TW" dirty="0"/>
              <a:t>Device information</a:t>
            </a:r>
          </a:p>
          <a:p>
            <a:r>
              <a:rPr lang="en-US" altLang="zh-TW" dirty="0"/>
              <a:t>Context</a:t>
            </a:r>
          </a:p>
          <a:p>
            <a:r>
              <a:rPr lang="en-US" altLang="zh-TW" dirty="0"/>
              <a:t>Command queue</a:t>
            </a:r>
          </a:p>
          <a:p>
            <a:r>
              <a:rPr lang="en-US" altLang="zh-TW" dirty="0"/>
              <a:t>Read(Write) buffer</a:t>
            </a:r>
          </a:p>
          <a:p>
            <a:pPr lvl="1"/>
            <a:r>
              <a:rPr lang="en-US" altLang="zh-TW" dirty="0"/>
              <a:t>Write: host-&gt;device Read: device-&gt;host</a:t>
            </a:r>
          </a:p>
          <a:p>
            <a:r>
              <a:rPr lang="en-US" altLang="zh-TW" dirty="0"/>
              <a:t>Kernel</a:t>
            </a:r>
          </a:p>
          <a:p>
            <a:pPr lvl="1"/>
            <a:r>
              <a:rPr lang="en-US" altLang="zh-TW" dirty="0"/>
              <a:t>Create program with source(binary) , build program, kernel argument</a:t>
            </a:r>
          </a:p>
          <a:p>
            <a:r>
              <a:rPr lang="en-US" altLang="zh-TW" dirty="0"/>
              <a:t>N-Dimension Range kernel</a:t>
            </a:r>
          </a:p>
          <a:p>
            <a:pPr lvl="1"/>
            <a:r>
              <a:rPr lang="en-US" altLang="zh-TW" dirty="0"/>
              <a:t>Assign work-group, work-item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5484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Buffer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buffer memory </a:t>
            </a:r>
            <a:r>
              <a:rPr lang="en-US" altLang="zh-TW" dirty="0" smtClean="0"/>
              <a:t>object </a:t>
            </a:r>
            <a:r>
              <a:rPr lang="en-US" altLang="zh-TW" dirty="0"/>
              <a:t>is referred to as the </a:t>
            </a:r>
            <a:r>
              <a:rPr lang="en-US" altLang="zh-TW" dirty="0" err="1" smtClean="0"/>
              <a:t>cl_mem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We will introduce how to do the following things.</a:t>
            </a:r>
          </a:p>
          <a:p>
            <a:pPr lvl="1"/>
            <a:r>
              <a:rPr lang="en-US" altLang="zh-TW" dirty="0"/>
              <a:t>Create buffer objects</a:t>
            </a:r>
          </a:p>
          <a:p>
            <a:pPr lvl="1"/>
            <a:r>
              <a:rPr lang="en-US" altLang="zh-TW" dirty="0" smtClean="0"/>
              <a:t>Transferring </a:t>
            </a:r>
            <a:r>
              <a:rPr lang="en-US" altLang="zh-TW" dirty="0"/>
              <a:t>the buffer data to and from the device</a:t>
            </a:r>
          </a:p>
          <a:p>
            <a:pPr lvl="1"/>
            <a:r>
              <a:rPr lang="en-US" altLang="zh-TW" dirty="0" smtClean="0"/>
              <a:t>Mapping </a:t>
            </a:r>
            <a:r>
              <a:rPr lang="en-US" altLang="zh-TW" dirty="0"/>
              <a:t>and querying the buffer objects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982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Memory objects are encapsulated by </a:t>
            </a:r>
            <a:r>
              <a:rPr lang="en-US" altLang="zh-TW" dirty="0" err="1"/>
              <a:t>cl_mem</a:t>
            </a:r>
            <a:r>
              <a:rPr lang="en-US" altLang="zh-TW" dirty="0"/>
              <a:t> data structure. </a:t>
            </a:r>
            <a:endParaRPr lang="en-US" altLang="zh-TW" dirty="0" smtClean="0"/>
          </a:p>
          <a:p>
            <a:r>
              <a:rPr lang="en-US" altLang="zh-TW" dirty="0"/>
              <a:t>The functions is used to create a memory object.</a:t>
            </a:r>
          </a:p>
          <a:p>
            <a:pPr lvl="1"/>
            <a:r>
              <a:rPr lang="en-US" altLang="zh-TW" dirty="0" err="1"/>
              <a:t>cl_mem</a:t>
            </a:r>
            <a:r>
              <a:rPr lang="en-US" altLang="zh-TW" dirty="0"/>
              <a:t> </a:t>
            </a:r>
            <a:r>
              <a:rPr lang="en-US" altLang="zh-TW" dirty="0" err="1"/>
              <a:t>clCreateBuffer</a:t>
            </a:r>
            <a:endParaRPr lang="zh-TW" altLang="en-US" dirty="0"/>
          </a:p>
          <a:p>
            <a:r>
              <a:rPr lang="en-US" altLang="zh-TW" dirty="0" smtClean="0"/>
              <a:t>The functions return the </a:t>
            </a:r>
            <a:r>
              <a:rPr lang="en-US" altLang="zh-TW" dirty="0" err="1"/>
              <a:t>cl_mem</a:t>
            </a:r>
            <a:r>
              <a:rPr lang="en-US" altLang="zh-TW" dirty="0"/>
              <a:t> objects and the type of memory is specified by the flags variable of </a:t>
            </a:r>
            <a:r>
              <a:rPr lang="en-US" altLang="zh-TW" dirty="0" smtClean="0"/>
              <a:t>type </a:t>
            </a:r>
            <a:r>
              <a:rPr lang="en-US" altLang="zh-TW" dirty="0" err="1" smtClean="0"/>
              <a:t>cl_mem_flags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CL_MEM_READ_WRITE</a:t>
            </a:r>
          </a:p>
          <a:p>
            <a:pPr lvl="1"/>
            <a:r>
              <a:rPr lang="en-US" altLang="zh-TW" dirty="0" smtClean="0"/>
              <a:t>CL_MEM_WRITE_ONLY</a:t>
            </a:r>
          </a:p>
          <a:p>
            <a:pPr lvl="1"/>
            <a:r>
              <a:rPr lang="en-US" altLang="zh-TW" dirty="0" smtClean="0"/>
              <a:t>CL_MEM_READ_ONLY</a:t>
            </a:r>
          </a:p>
          <a:p>
            <a:pPr lvl="1"/>
            <a:r>
              <a:rPr lang="en-US" altLang="zh-TW" dirty="0" smtClean="0"/>
              <a:t>…</a:t>
            </a:r>
            <a:r>
              <a:rPr lang="en-US" altLang="zh-TW" dirty="0" err="1" smtClean="0"/>
              <a:t>etc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838" y="4915035"/>
            <a:ext cx="84963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893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cl_mem_flags</a:t>
            </a:r>
            <a:r>
              <a:rPr lang="en-US" altLang="zh-TW" dirty="0"/>
              <a:t> flag is applied bitwise OR to the different flag combinations.</a:t>
            </a:r>
          </a:p>
          <a:p>
            <a:pPr lvl="1"/>
            <a:r>
              <a:rPr lang="en-US" altLang="zh-TW" dirty="0"/>
              <a:t>For example CL_MEM_READ_WRITE |CL_MEM_USE_HOST_PTR</a:t>
            </a:r>
            <a:endParaRPr lang="zh-TW" altLang="en-US" dirty="0"/>
          </a:p>
          <a:p>
            <a:r>
              <a:rPr lang="en-US" altLang="zh-TW" dirty="0"/>
              <a:t>B</a:t>
            </a:r>
            <a:r>
              <a:rPr lang="en-US" altLang="zh-TW" dirty="0" smtClean="0"/>
              <a:t>ut </a:t>
            </a:r>
            <a:r>
              <a:rPr lang="en-US" altLang="zh-TW" dirty="0"/>
              <a:t>each combination is restricted by the flag definition.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cl_mem_flags</a:t>
            </a:r>
            <a:r>
              <a:rPr lang="en-US" altLang="zh-TW" dirty="0" smtClean="0"/>
              <a:t> flag </a:t>
            </a:r>
            <a:r>
              <a:rPr lang="en-US" altLang="zh-TW" dirty="0"/>
              <a:t>specification specifies some mutually exclusive combinations.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example (</a:t>
            </a:r>
            <a:r>
              <a:rPr lang="en-US" altLang="zh-TW" dirty="0" smtClean="0"/>
              <a:t>CL_MEM_USE_HOST_PTR |CL_MEM_COPY_HOST_PTR</a:t>
            </a:r>
            <a:r>
              <a:rPr lang="en-US" altLang="zh-TW" dirty="0"/>
              <a:t>) is not </a:t>
            </a:r>
            <a:r>
              <a:rPr lang="en-US" altLang="zh-TW" dirty="0" smtClean="0"/>
              <a:t>possible</a:t>
            </a:r>
          </a:p>
          <a:p>
            <a:pPr lvl="1"/>
            <a:r>
              <a:rPr lang="en-US" altLang="zh-TW" dirty="0" smtClean="0"/>
              <a:t>CL_MEM_COPY_HOST_PTR </a:t>
            </a:r>
            <a:r>
              <a:rPr lang="en-US" altLang="zh-TW" dirty="0"/>
              <a:t>flag allocates memory at the device and copies the data pointed </a:t>
            </a:r>
            <a:r>
              <a:rPr lang="en-US" altLang="zh-TW" dirty="0" smtClean="0"/>
              <a:t>to by </a:t>
            </a:r>
            <a:r>
              <a:rPr lang="en-US" altLang="zh-TW" dirty="0"/>
              <a:t>the host pointer.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CL_MEM_USE_HOST_PTR </a:t>
            </a:r>
            <a:r>
              <a:rPr lang="en-US" altLang="zh-TW" dirty="0"/>
              <a:t>flag does not allocate any memory </a:t>
            </a:r>
            <a:r>
              <a:rPr lang="en-US" altLang="zh-TW" dirty="0" smtClean="0"/>
              <a:t>at the </a:t>
            </a:r>
            <a:r>
              <a:rPr lang="en-US" altLang="zh-TW" dirty="0"/>
              <a:t>device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64455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Read </a:t>
            </a:r>
            <a:r>
              <a:rPr lang="en-US" altLang="zh-TW" dirty="0"/>
              <a:t>and </a:t>
            </a:r>
            <a:r>
              <a:rPr lang="en-US" altLang="zh-TW" dirty="0" smtClean="0"/>
              <a:t>write </a:t>
            </a:r>
            <a:r>
              <a:rPr lang="en-US" altLang="zh-TW" dirty="0"/>
              <a:t>buffers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Before the kernel is launched you can use the API to write the buffer to the device </a:t>
            </a:r>
            <a:r>
              <a:rPr lang="en-US" altLang="zh-TW" dirty="0" smtClean="0"/>
              <a:t>memory.</a:t>
            </a:r>
            <a:endParaRPr lang="en-US" altLang="zh-TW" dirty="0"/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 smtClean="0"/>
              <a:t>clEnqueueWriteBuffer</a:t>
            </a:r>
            <a:endParaRPr lang="en-US" altLang="zh-TW" dirty="0" smtClean="0"/>
          </a:p>
          <a:p>
            <a:pPr lvl="1"/>
            <a:r>
              <a:rPr lang="en-US" altLang="zh-TW" dirty="0"/>
              <a:t>W</a:t>
            </a:r>
            <a:r>
              <a:rPr lang="en-US" altLang="zh-TW" dirty="0" smtClean="0"/>
              <a:t>rites </a:t>
            </a:r>
            <a:r>
              <a:rPr lang="en-US" altLang="zh-TW" dirty="0"/>
              <a:t>data from the host to the device memory.</a:t>
            </a:r>
            <a:endParaRPr lang="zh-TW" altLang="en-US" dirty="0"/>
          </a:p>
          <a:p>
            <a:r>
              <a:rPr lang="en-US" altLang="zh-TW" dirty="0"/>
              <a:t>G</a:t>
            </a:r>
            <a:r>
              <a:rPr lang="en-US" altLang="zh-TW" dirty="0" smtClean="0"/>
              <a:t>et </a:t>
            </a:r>
            <a:r>
              <a:rPr lang="en-US" altLang="zh-TW" dirty="0"/>
              <a:t>the buffer back to the host from the device </a:t>
            </a:r>
            <a:r>
              <a:rPr lang="en-US" altLang="zh-TW" dirty="0" smtClean="0"/>
              <a:t>memory, you can use the API.</a:t>
            </a:r>
            <a:endParaRPr lang="en-US" altLang="zh-TW" dirty="0"/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 smtClean="0"/>
              <a:t>clEnqueueReadBuffer</a:t>
            </a:r>
            <a:endParaRPr lang="en-US" altLang="zh-TW" dirty="0" smtClean="0"/>
          </a:p>
          <a:p>
            <a:pPr lvl="1"/>
            <a:r>
              <a:rPr lang="en-US" altLang="zh-TW" dirty="0"/>
              <a:t>R</a:t>
            </a:r>
            <a:r>
              <a:rPr lang="en-US" altLang="zh-TW" dirty="0" smtClean="0"/>
              <a:t>eads </a:t>
            </a:r>
            <a:r>
              <a:rPr lang="en-US" altLang="zh-TW" dirty="0"/>
              <a:t>data from the device to </a:t>
            </a:r>
            <a:r>
              <a:rPr lang="en-US" altLang="zh-TW" dirty="0" smtClean="0"/>
              <a:t>the host </a:t>
            </a:r>
            <a:r>
              <a:rPr lang="en-US" altLang="zh-TW" dirty="0"/>
              <a:t>memory.</a:t>
            </a:r>
          </a:p>
          <a:p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39" y="5007429"/>
            <a:ext cx="102489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2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Copying buffers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following two functions enable the </a:t>
            </a:r>
            <a:r>
              <a:rPr lang="en-US" altLang="zh-TW" dirty="0"/>
              <a:t>application to copy data between two </a:t>
            </a:r>
            <a:r>
              <a:rPr lang="en-US" altLang="zh-TW" dirty="0" err="1"/>
              <a:t>OpenCL</a:t>
            </a:r>
            <a:r>
              <a:rPr lang="en-US" altLang="zh-TW" dirty="0"/>
              <a:t> buffer objects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 smtClean="0"/>
              <a:t>cl_int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clEnqueueCopyBuffer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err="1" smtClean="0"/>
              <a:t>cl_intclEnqueueCopyBufferRect</a:t>
            </a:r>
            <a:endParaRPr lang="en-US" altLang="zh-TW" dirty="0"/>
          </a:p>
          <a:p>
            <a:pPr lvl="1"/>
            <a:r>
              <a:rPr lang="en-US" altLang="zh-TW" dirty="0" smtClean="0"/>
              <a:t>same as reading </a:t>
            </a:r>
            <a:r>
              <a:rPr lang="en-US" altLang="zh-TW" dirty="0"/>
              <a:t>the buffer back from </a:t>
            </a:r>
            <a:r>
              <a:rPr lang="en-US" altLang="zh-TW" dirty="0" smtClean="0"/>
              <a:t>and </a:t>
            </a:r>
            <a:r>
              <a:rPr lang="en-US" altLang="zh-TW" dirty="0"/>
              <a:t>then writing it back to a destination</a:t>
            </a:r>
            <a:endParaRPr lang="en-US" altLang="zh-TW" dirty="0" smtClean="0"/>
          </a:p>
          <a:p>
            <a:r>
              <a:rPr lang="en-US" altLang="zh-TW" dirty="0" err="1"/>
              <a:t>clEnqueueCopyBuffer</a:t>
            </a:r>
            <a:r>
              <a:rPr lang="en-US" altLang="zh-TW" dirty="0"/>
              <a:t> copies the data between two </a:t>
            </a:r>
            <a:r>
              <a:rPr lang="en-US" altLang="zh-TW" dirty="0" err="1"/>
              <a:t>cl_mem</a:t>
            </a:r>
            <a:r>
              <a:rPr lang="en-US" altLang="zh-TW" dirty="0"/>
              <a:t> objects directly </a:t>
            </a:r>
            <a:r>
              <a:rPr lang="en-US" altLang="zh-TW" dirty="0" smtClean="0"/>
              <a:t>in the </a:t>
            </a:r>
            <a:r>
              <a:rPr lang="en-US" altLang="zh-TW" dirty="0"/>
              <a:t>device memory or through the device memory interface across two devices.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9159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Copying buffers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263" y="1125538"/>
            <a:ext cx="9331474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4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Mapping buffer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provides a mechanism to map a region of a buffer directly into </a:t>
            </a:r>
            <a:r>
              <a:rPr lang="en-US" altLang="zh-TW" dirty="0" smtClean="0"/>
              <a:t>host memory </a:t>
            </a:r>
            <a:r>
              <a:rPr lang="en-US" altLang="zh-TW" dirty="0"/>
              <a:t>instead of using the </a:t>
            </a:r>
            <a:r>
              <a:rPr lang="en-US" altLang="zh-TW" dirty="0" err="1" smtClean="0"/>
              <a:t>clEnqueueXXXBuffer</a:t>
            </a:r>
            <a:r>
              <a:rPr lang="en-US" altLang="zh-TW" dirty="0" smtClean="0"/>
              <a:t> </a:t>
            </a:r>
            <a:r>
              <a:rPr lang="en-US" altLang="zh-TW" dirty="0"/>
              <a:t>functions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void </a:t>
            </a:r>
            <a:r>
              <a:rPr lang="en-US" altLang="zh-TW" dirty="0" smtClean="0"/>
              <a:t>* </a:t>
            </a:r>
            <a:r>
              <a:rPr lang="en-US" altLang="zh-TW" dirty="0" err="1" smtClean="0"/>
              <a:t>clEnqueueMapBuffer</a:t>
            </a:r>
            <a:endParaRPr lang="en-US" altLang="zh-TW" dirty="0" smtClean="0"/>
          </a:p>
          <a:p>
            <a:r>
              <a:rPr lang="en-US" altLang="zh-TW" dirty="0" smtClean="0"/>
              <a:t>We can </a:t>
            </a:r>
            <a:r>
              <a:rPr lang="en-US" altLang="zh-TW" dirty="0"/>
              <a:t>use </a:t>
            </a:r>
            <a:r>
              <a:rPr lang="en-US" altLang="zh-TW" dirty="0" smtClean="0"/>
              <a:t>this mapped </a:t>
            </a:r>
            <a:r>
              <a:rPr lang="en-US" altLang="zh-TW" dirty="0"/>
              <a:t>memory region based on the </a:t>
            </a:r>
            <a:r>
              <a:rPr lang="en-US" altLang="zh-TW" dirty="0" err="1"/>
              <a:t>cl_map_flags</a:t>
            </a:r>
            <a:r>
              <a:rPr lang="en-US" altLang="zh-TW" dirty="0"/>
              <a:t> flag value which is set </a:t>
            </a:r>
            <a:r>
              <a:rPr lang="en-US" altLang="zh-TW" dirty="0" smtClean="0"/>
              <a:t>during mapping</a:t>
            </a:r>
            <a:r>
              <a:rPr lang="en-US" altLang="zh-TW" dirty="0"/>
              <a:t>.</a:t>
            </a:r>
          </a:p>
          <a:p>
            <a:r>
              <a:rPr lang="en-US" altLang="zh-TW" dirty="0" smtClean="0"/>
              <a:t>The different between </a:t>
            </a:r>
            <a:r>
              <a:rPr lang="en-US" altLang="zh-TW" dirty="0"/>
              <a:t>the two APIs </a:t>
            </a:r>
            <a:r>
              <a:rPr lang="en-US" altLang="zh-TW" dirty="0" err="1"/>
              <a:t>clEnqueueMapBuffer</a:t>
            </a:r>
            <a:r>
              <a:rPr lang="en-US" altLang="zh-TW" dirty="0"/>
              <a:t> and </a:t>
            </a:r>
            <a:r>
              <a:rPr lang="en-US" altLang="zh-TW" dirty="0" err="1" smtClean="0"/>
              <a:t>clEnqueueReadBuffer</a:t>
            </a:r>
            <a:r>
              <a:rPr lang="en-US" altLang="zh-TW" dirty="0" smtClean="0"/>
              <a:t>?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clEnqueueReadBuffer</a:t>
            </a:r>
            <a:r>
              <a:rPr lang="en-US" altLang="zh-TW" dirty="0"/>
              <a:t> function reads into a memory location </a:t>
            </a:r>
            <a:r>
              <a:rPr lang="en-US" altLang="zh-TW" dirty="0" smtClean="0"/>
              <a:t>pre-allocated. </a:t>
            </a:r>
            <a:endParaRPr lang="en-US" altLang="zh-TW" dirty="0"/>
          </a:p>
          <a:p>
            <a:pPr lvl="1"/>
            <a:r>
              <a:rPr lang="en-US" altLang="zh-TW" dirty="0" err="1" smtClean="0"/>
              <a:t>clEnqueueMapBuffer</a:t>
            </a:r>
            <a:r>
              <a:rPr lang="en-US" altLang="zh-TW" dirty="0" smtClean="0"/>
              <a:t> </a:t>
            </a:r>
            <a:r>
              <a:rPr lang="en-US" altLang="zh-TW" dirty="0"/>
              <a:t>returns a pointer to the mapped region.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255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Mapping buffer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Same as </a:t>
            </a:r>
            <a:r>
              <a:rPr lang="en-US" altLang="zh-TW" dirty="0" err="1" smtClean="0"/>
              <a:t>clEnqueueReadBuffer</a:t>
            </a:r>
            <a:r>
              <a:rPr lang="en-US" altLang="zh-TW" dirty="0" smtClean="0"/>
              <a:t>, in </a:t>
            </a:r>
            <a:r>
              <a:rPr lang="en-US" altLang="zh-TW" dirty="0" err="1" smtClean="0"/>
              <a:t>clEnqueueMapBuffer</a:t>
            </a:r>
            <a:r>
              <a:rPr lang="en-US" altLang="zh-TW" dirty="0" smtClean="0"/>
              <a:t> if </a:t>
            </a:r>
            <a:r>
              <a:rPr lang="en-US" altLang="zh-TW" dirty="0" err="1" smtClean="0"/>
              <a:t>map_flags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set </a:t>
            </a:r>
            <a:r>
              <a:rPr lang="en-US" altLang="zh-TW" dirty="0"/>
              <a:t>to CL_MAP_READ, the mapped memory </a:t>
            </a:r>
            <a:r>
              <a:rPr lang="en-US" altLang="zh-TW" dirty="0" smtClean="0"/>
              <a:t>will be </a:t>
            </a:r>
            <a:r>
              <a:rPr lang="en-US" altLang="zh-TW" dirty="0"/>
              <a:t>read </a:t>
            </a:r>
            <a:r>
              <a:rPr lang="en-US" altLang="zh-TW" dirty="0" smtClean="0"/>
              <a:t>only</a:t>
            </a:r>
          </a:p>
          <a:p>
            <a:pPr lvl="1"/>
            <a:r>
              <a:rPr lang="en-US" altLang="zh-TW" dirty="0" smtClean="0"/>
              <a:t>set </a:t>
            </a:r>
            <a:r>
              <a:rPr lang="en-US" altLang="zh-TW" dirty="0"/>
              <a:t>as CL_MAP_WRITE the mapped memory will be write </a:t>
            </a:r>
            <a:r>
              <a:rPr lang="en-US" altLang="zh-TW" dirty="0" smtClean="0"/>
              <a:t>only</a:t>
            </a:r>
          </a:p>
          <a:p>
            <a:r>
              <a:rPr lang="en-US" altLang="zh-TW" dirty="0" smtClean="0"/>
              <a:t>We can also combine two </a:t>
            </a:r>
            <a:r>
              <a:rPr lang="en-US" altLang="zh-TW" dirty="0" err="1" smtClean="0"/>
              <a:t>map_flags</a:t>
            </a:r>
            <a:r>
              <a:rPr lang="en-US" altLang="zh-TW" dirty="0" smtClean="0"/>
              <a:t> together.</a:t>
            </a:r>
          </a:p>
          <a:p>
            <a:pPr lvl="1"/>
            <a:r>
              <a:rPr lang="en-US" altLang="zh-TW" dirty="0" smtClean="0"/>
              <a:t>For example </a:t>
            </a:r>
            <a:r>
              <a:rPr lang="en-US" altLang="zh-TW" dirty="0"/>
              <a:t>CL_MAP_READ|CL_MAP_WRITE</a:t>
            </a:r>
          </a:p>
          <a:p>
            <a:r>
              <a:rPr lang="en-US" altLang="zh-TW" dirty="0"/>
              <a:t>The </a:t>
            </a:r>
            <a:r>
              <a:rPr lang="en-US" altLang="zh-TW" dirty="0" err="1"/>
              <a:t>clEnqueueMapBuffer</a:t>
            </a:r>
            <a:r>
              <a:rPr lang="en-US" altLang="zh-TW" dirty="0"/>
              <a:t> function returns a pointer to the mapped host </a:t>
            </a:r>
            <a:r>
              <a:rPr lang="en-US" altLang="zh-TW" dirty="0" smtClean="0"/>
              <a:t>memory. This </a:t>
            </a:r>
            <a:r>
              <a:rPr lang="en-US" altLang="zh-TW" dirty="0"/>
              <a:t>memory can later be unmapped using the </a:t>
            </a:r>
            <a:r>
              <a:rPr lang="en-US" altLang="zh-TW" dirty="0" smtClean="0"/>
              <a:t>function</a:t>
            </a:r>
          </a:p>
          <a:p>
            <a:pPr lvl="1"/>
            <a:r>
              <a:rPr lang="en-US" altLang="zh-TW" dirty="0" err="1" smtClean="0"/>
              <a:t>cl_int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clEnqueueUnmapMemObject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8508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Program </a:t>
            </a:r>
            <a:r>
              <a:rPr lang="en-US" altLang="zh-TW" dirty="0" smtClean="0"/>
              <a:t>and Kernel </a:t>
            </a:r>
            <a:r>
              <a:rPr lang="en-US" altLang="zh-TW" dirty="0"/>
              <a:t>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Kernel and </a:t>
            </a:r>
            <a:r>
              <a:rPr lang="en-US" altLang="zh-TW" dirty="0"/>
              <a:t>program </a:t>
            </a:r>
            <a:r>
              <a:rPr lang="en-US" altLang="zh-TW" dirty="0" smtClean="0"/>
              <a:t>object are </a:t>
            </a:r>
            <a:r>
              <a:rPr lang="en-US" altLang="zh-TW" dirty="0"/>
              <a:t>the important execution entities in the </a:t>
            </a:r>
            <a:r>
              <a:rPr lang="en-US" altLang="zh-TW" dirty="0" err="1"/>
              <a:t>OpenCL</a:t>
            </a:r>
            <a:r>
              <a:rPr lang="en-US" altLang="zh-TW" dirty="0"/>
              <a:t> framework. </a:t>
            </a:r>
            <a:endParaRPr lang="en-US" altLang="zh-TW" dirty="0" smtClean="0"/>
          </a:p>
          <a:p>
            <a:r>
              <a:rPr lang="en-US" altLang="zh-TW" dirty="0" smtClean="0"/>
              <a:t>In </a:t>
            </a:r>
            <a:r>
              <a:rPr lang="en-US" altLang="zh-TW" dirty="0"/>
              <a:t>this chapter </a:t>
            </a:r>
            <a:r>
              <a:rPr lang="en-US" altLang="zh-TW" dirty="0" smtClean="0"/>
              <a:t>we will introduce </a:t>
            </a:r>
            <a:r>
              <a:rPr lang="en-US" altLang="zh-TW" dirty="0"/>
              <a:t>the set up steps required to create a program object and </a:t>
            </a:r>
            <a:r>
              <a:rPr lang="en-US" altLang="zh-TW" dirty="0" smtClean="0"/>
              <a:t>execute a </a:t>
            </a:r>
            <a:r>
              <a:rPr lang="en-US" altLang="zh-TW" dirty="0"/>
              <a:t>kernel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 following topics will be </a:t>
            </a:r>
            <a:r>
              <a:rPr lang="en-US" altLang="zh-TW" dirty="0" smtClean="0"/>
              <a:t>discussed in </a:t>
            </a:r>
            <a:r>
              <a:rPr lang="en-US" altLang="zh-TW" dirty="0"/>
              <a:t>this </a:t>
            </a:r>
            <a:r>
              <a:rPr lang="en-US" altLang="zh-TW" dirty="0" smtClean="0"/>
              <a:t>next slides:</a:t>
            </a:r>
            <a:endParaRPr lang="en-US" altLang="zh-TW" dirty="0"/>
          </a:p>
          <a:p>
            <a:pPr lvl="1"/>
            <a:r>
              <a:rPr lang="en-US" altLang="zh-TW" dirty="0" smtClean="0"/>
              <a:t>Creating and build program </a:t>
            </a:r>
            <a:r>
              <a:rPr lang="en-US" altLang="zh-TW" dirty="0"/>
              <a:t>objects</a:t>
            </a:r>
          </a:p>
          <a:p>
            <a:pPr lvl="1"/>
            <a:r>
              <a:rPr lang="en-US" altLang="zh-TW" dirty="0" smtClean="0"/>
              <a:t>Creating Kernel objects</a:t>
            </a:r>
            <a:endParaRPr lang="en-US" altLang="zh-TW" dirty="0"/>
          </a:p>
          <a:p>
            <a:pPr lvl="1"/>
            <a:r>
              <a:rPr lang="en-US" altLang="zh-TW" dirty="0" smtClean="0"/>
              <a:t>Offline </a:t>
            </a:r>
            <a:r>
              <a:rPr lang="en-US" altLang="zh-TW" dirty="0"/>
              <a:t>and online compilation</a:t>
            </a:r>
          </a:p>
          <a:p>
            <a:pPr lvl="1"/>
            <a:r>
              <a:rPr lang="en-US" altLang="zh-TW" dirty="0" smtClean="0"/>
              <a:t>Setting </a:t>
            </a:r>
            <a:r>
              <a:rPr lang="en-US" altLang="zh-TW" dirty="0"/>
              <a:t>kernel </a:t>
            </a:r>
            <a:r>
              <a:rPr lang="en-US" altLang="zh-TW" dirty="0" smtClean="0"/>
              <a:t>arguments and executing kernels</a:t>
            </a:r>
          </a:p>
          <a:p>
            <a:pPr lvl="1"/>
            <a:r>
              <a:rPr lang="en-US" altLang="zh-TW" dirty="0" smtClean="0"/>
              <a:t>Source </a:t>
            </a:r>
            <a:r>
              <a:rPr lang="en-US" altLang="zh-TW" dirty="0"/>
              <a:t>versus binary program </a:t>
            </a:r>
            <a:r>
              <a:rPr lang="en-US" altLang="zh-TW" dirty="0" smtClean="0"/>
              <a:t>creation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732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Creating program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 </a:t>
            </a:r>
            <a:r>
              <a:rPr lang="en-US" altLang="zh-TW" dirty="0" err="1"/>
              <a:t>OpenCL</a:t>
            </a:r>
            <a:r>
              <a:rPr lang="en-US" altLang="zh-TW" dirty="0"/>
              <a:t> application can execute a function in parallel on a device using </a:t>
            </a:r>
            <a:r>
              <a:rPr lang="en-US" altLang="zh-TW" dirty="0" smtClean="0"/>
              <a:t>the kernel </a:t>
            </a:r>
            <a:r>
              <a:rPr lang="en-US" altLang="zh-TW" dirty="0"/>
              <a:t>objects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Each kernel in a program source string is identified </a:t>
            </a:r>
            <a:r>
              <a:rPr lang="en-US" altLang="zh-TW" dirty="0" smtClean="0"/>
              <a:t>by a </a:t>
            </a:r>
            <a:r>
              <a:rPr lang="en-US" altLang="zh-TW" dirty="0"/>
              <a:t>__kernel qualifier.</a:t>
            </a:r>
          </a:p>
          <a:p>
            <a:r>
              <a:rPr lang="en-US" altLang="zh-TW" dirty="0" smtClean="0"/>
              <a:t>Program </a:t>
            </a:r>
            <a:r>
              <a:rPr lang="en-US" altLang="zh-TW" dirty="0"/>
              <a:t>object can be created using the </a:t>
            </a:r>
            <a:r>
              <a:rPr lang="en-US" altLang="zh-TW" dirty="0" smtClean="0"/>
              <a:t>functions</a:t>
            </a:r>
            <a:endParaRPr lang="en-US" altLang="zh-TW" dirty="0"/>
          </a:p>
          <a:p>
            <a:pPr lvl="1"/>
            <a:r>
              <a:rPr lang="en-US" altLang="zh-TW" dirty="0" err="1" smtClean="0"/>
              <a:t>cl_program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clCreateProgramWithSource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cl_program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clCreateProgramWithBinary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31" y="4623299"/>
            <a:ext cx="67627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27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Creating program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Once a new program object is created for </a:t>
            </a:r>
            <a:r>
              <a:rPr lang="en-US" altLang="zh-TW" dirty="0" smtClean="0"/>
              <a:t>a, </a:t>
            </a:r>
            <a:r>
              <a:rPr lang="en-US" altLang="zh-TW" dirty="0"/>
              <a:t>the next step is to build the program.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clBuildProgram</a:t>
            </a:r>
            <a:r>
              <a:rPr lang="en-US" altLang="zh-TW" dirty="0" smtClean="0"/>
              <a:t> function </a:t>
            </a:r>
            <a:r>
              <a:rPr lang="en-US" altLang="zh-TW" dirty="0"/>
              <a:t>builds an </a:t>
            </a:r>
            <a:r>
              <a:rPr lang="en-US" altLang="zh-TW" dirty="0" err="1"/>
              <a:t>OpenCL</a:t>
            </a:r>
            <a:r>
              <a:rPr lang="en-US" altLang="zh-TW" dirty="0"/>
              <a:t> program.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cl_int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clBuildProgram</a:t>
            </a:r>
            <a:endParaRPr lang="en-US" altLang="zh-TW" dirty="0"/>
          </a:p>
          <a:p>
            <a:r>
              <a:rPr lang="en-US" altLang="zh-TW" dirty="0" smtClean="0"/>
              <a:t>Note that although </a:t>
            </a:r>
            <a:r>
              <a:rPr lang="en-US" altLang="zh-TW" dirty="0"/>
              <a:t>you create a </a:t>
            </a:r>
            <a:r>
              <a:rPr lang="en-US" altLang="zh-TW" dirty="0" smtClean="0"/>
              <a:t>program using </a:t>
            </a:r>
            <a:r>
              <a:rPr lang="en-US" altLang="zh-TW" dirty="0"/>
              <a:t>binary source files you need to again build the program object using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clBuildProgram</a:t>
            </a:r>
            <a:r>
              <a:rPr lang="en-US" altLang="zh-TW" dirty="0" smtClean="0"/>
              <a:t> </a:t>
            </a:r>
            <a:r>
              <a:rPr lang="en-US" altLang="zh-TW" dirty="0"/>
              <a:t>API.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Because </a:t>
            </a:r>
            <a:r>
              <a:rPr lang="en-US" altLang="zh-TW" dirty="0"/>
              <a:t>the </a:t>
            </a:r>
            <a:r>
              <a:rPr lang="en-US" altLang="zh-TW" dirty="0" err="1"/>
              <a:t>clBuildProgram</a:t>
            </a:r>
            <a:r>
              <a:rPr lang="en-US" altLang="zh-TW" dirty="0"/>
              <a:t> function acts like </a:t>
            </a:r>
            <a:r>
              <a:rPr lang="en-US" altLang="zh-TW" dirty="0" smtClean="0"/>
              <a:t>a linking </a:t>
            </a:r>
            <a:r>
              <a:rPr lang="en-US" altLang="zh-TW" dirty="0"/>
              <a:t>step.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758" y="4580572"/>
            <a:ext cx="63436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Building program object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Once a program is successfully built, w</a:t>
            </a:r>
            <a:r>
              <a:rPr lang="en-US" altLang="zh-TW" dirty="0" smtClean="0"/>
              <a:t>e can get </a:t>
            </a:r>
            <a:r>
              <a:rPr lang="en-US" altLang="zh-TW" dirty="0"/>
              <a:t>a binary file using the </a:t>
            </a:r>
            <a:r>
              <a:rPr lang="en-US" altLang="zh-TW" dirty="0" err="1"/>
              <a:t>clGetProgramInfo</a:t>
            </a:r>
            <a:r>
              <a:rPr lang="en-US" altLang="zh-TW" dirty="0"/>
              <a:t> function with the </a:t>
            </a:r>
            <a:r>
              <a:rPr lang="en-US" altLang="zh-TW" dirty="0" err="1"/>
              <a:t>param_name</a:t>
            </a:r>
            <a:r>
              <a:rPr lang="en-US" altLang="zh-TW" dirty="0"/>
              <a:t>, </a:t>
            </a:r>
            <a:r>
              <a:rPr lang="en-US" altLang="zh-TW" dirty="0" smtClean="0"/>
              <a:t>CL_PROGRAM_BINARIES.</a:t>
            </a:r>
          </a:p>
          <a:p>
            <a:r>
              <a:rPr lang="en-US" altLang="zh-TW" dirty="0"/>
              <a:t>What about if there is a compilation error</a:t>
            </a:r>
          </a:p>
          <a:p>
            <a:pPr lvl="1"/>
            <a:r>
              <a:rPr lang="en-US" altLang="zh-TW" dirty="0" err="1"/>
              <a:t>OpenCL</a:t>
            </a:r>
            <a:r>
              <a:rPr lang="en-US" altLang="zh-TW" dirty="0"/>
              <a:t> implementation returns CL_BUILD_PROGRAM_FAILURE for the call to </a:t>
            </a:r>
            <a:r>
              <a:rPr lang="en-US" altLang="zh-TW" dirty="0" err="1"/>
              <a:t>clBuildProgram</a:t>
            </a:r>
            <a:r>
              <a:rPr lang="en-US" altLang="zh-TW" dirty="0"/>
              <a:t>.</a:t>
            </a:r>
            <a:endParaRPr lang="zh-TW" altLang="en-US" dirty="0"/>
          </a:p>
          <a:p>
            <a:r>
              <a:rPr lang="en-US" altLang="zh-TW" dirty="0" smtClean="0"/>
              <a:t>We can use this function to </a:t>
            </a:r>
            <a:r>
              <a:rPr lang="en-US" altLang="zh-TW" dirty="0"/>
              <a:t>look for the compilation </a:t>
            </a:r>
            <a:r>
              <a:rPr lang="en-US" altLang="zh-TW" dirty="0" smtClean="0"/>
              <a:t>error and </a:t>
            </a:r>
            <a:r>
              <a:rPr lang="en-US" altLang="zh-TW" dirty="0"/>
              <a:t>get the build error log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err="1" smtClean="0"/>
              <a:t>cl_int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clGetProgramBuildInfo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919" y="4284616"/>
            <a:ext cx="7106201" cy="148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Steps to create a </a:t>
            </a:r>
            <a:r>
              <a:rPr lang="en-US" altLang="zh-TW" dirty="0" err="1" smtClean="0"/>
              <a:t>progam</a:t>
            </a:r>
            <a:r>
              <a:rPr lang="en-US" altLang="zh-TW" dirty="0" smtClean="0"/>
              <a:t> object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538" y="1125538"/>
            <a:ext cx="7600924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5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Offline and online compilation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kernel can be </a:t>
            </a:r>
            <a:r>
              <a:rPr lang="en-US" altLang="zh-TW" dirty="0" smtClean="0"/>
              <a:t>created at </a:t>
            </a:r>
            <a:r>
              <a:rPr lang="en-US" altLang="zh-TW" dirty="0"/>
              <a:t>runtime, this is referred to as online compilation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can </a:t>
            </a:r>
            <a:r>
              <a:rPr lang="en-US" altLang="zh-TW" dirty="0" smtClean="0"/>
              <a:t>store this </a:t>
            </a:r>
            <a:r>
              <a:rPr lang="en-US" altLang="zh-TW" dirty="0"/>
              <a:t>kernel binary in the </a:t>
            </a:r>
            <a:r>
              <a:rPr lang="en-US" altLang="zh-TW" dirty="0" smtClean="0"/>
              <a:t>form of </a:t>
            </a:r>
            <a:r>
              <a:rPr lang="en-US" altLang="zh-TW" dirty="0"/>
              <a:t>a library and an application can load it on demand from the disk. This is </a:t>
            </a:r>
            <a:r>
              <a:rPr lang="en-US" altLang="zh-TW" dirty="0" smtClean="0"/>
              <a:t>referred to </a:t>
            </a:r>
            <a:r>
              <a:rPr lang="en-US" altLang="zh-TW" dirty="0"/>
              <a:t>as offline </a:t>
            </a:r>
            <a:r>
              <a:rPr lang="en-US" altLang="zh-TW" dirty="0" smtClean="0"/>
              <a:t>compilation.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9468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Offline </a:t>
            </a:r>
            <a:r>
              <a:rPr lang="en-US" altLang="zh-TW" dirty="0" smtClean="0"/>
              <a:t>compilation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418" y="1845892"/>
            <a:ext cx="5160603" cy="318200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23" y="1427147"/>
            <a:ext cx="5601590" cy="426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95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Online compilation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7768" y="1125538"/>
            <a:ext cx="5376463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9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Creating kernel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Every program is a collection of </a:t>
            </a:r>
            <a:r>
              <a:rPr lang="en-US" altLang="zh-TW" dirty="0" smtClean="0"/>
              <a:t>kernels, you </a:t>
            </a:r>
            <a:r>
              <a:rPr lang="en-US" altLang="zh-TW" dirty="0"/>
              <a:t>can consider a program object as a library of kernels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kernel when </a:t>
            </a:r>
            <a:r>
              <a:rPr lang="en-US" altLang="zh-TW" dirty="0" err="1"/>
              <a:t>enqueued</a:t>
            </a:r>
            <a:r>
              <a:rPr lang="en-US" altLang="zh-TW" dirty="0"/>
              <a:t> on </a:t>
            </a:r>
            <a:r>
              <a:rPr lang="en-US" altLang="zh-TW" dirty="0" smtClean="0"/>
              <a:t>the command </a:t>
            </a:r>
            <a:r>
              <a:rPr lang="en-US" altLang="zh-TW" dirty="0"/>
              <a:t>queue, the </a:t>
            </a:r>
            <a:r>
              <a:rPr lang="en-US" altLang="zh-TW" dirty="0" err="1"/>
              <a:t>OpenCL</a:t>
            </a:r>
            <a:r>
              <a:rPr lang="en-US" altLang="zh-TW" dirty="0"/>
              <a:t> runtime generates the binary for execution on </a:t>
            </a:r>
            <a:r>
              <a:rPr lang="en-US" altLang="zh-TW" dirty="0" smtClean="0"/>
              <a:t>the device.</a:t>
            </a:r>
          </a:p>
        </p:txBody>
      </p:sp>
      <p:grpSp>
        <p:nvGrpSpPr>
          <p:cNvPr id="11" name="群組 10"/>
          <p:cNvGrpSpPr/>
          <p:nvPr/>
        </p:nvGrpSpPr>
        <p:grpSpPr>
          <a:xfrm>
            <a:off x="6096000" y="1943124"/>
            <a:ext cx="3530851" cy="1477328"/>
            <a:chOff x="1539090" y="4087960"/>
            <a:chExt cx="3530851" cy="1477328"/>
          </a:xfrm>
        </p:grpSpPr>
        <p:sp>
          <p:nvSpPr>
            <p:cNvPr id="5" name="文字方塊 4"/>
            <p:cNvSpPr txBox="1"/>
            <p:nvPr/>
          </p:nvSpPr>
          <p:spPr>
            <a:xfrm>
              <a:off x="1539090" y="4087960"/>
              <a:ext cx="3530851" cy="1477328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Program Object</a:t>
              </a:r>
            </a:p>
            <a:p>
              <a:endParaRPr lang="en-US" altLang="zh-TW" dirty="0">
                <a:ea typeface="標楷體" pitchFamily="65" charset="-120"/>
                <a:cs typeface="Calibri" pitchFamily="34" charset="0"/>
              </a:endParaRPr>
            </a:p>
            <a:p>
              <a:endParaRPr lang="en-US" altLang="zh-TW" dirty="0" smtClean="0">
                <a:ea typeface="標楷體" pitchFamily="65" charset="-120"/>
                <a:cs typeface="Calibri" pitchFamily="34" charset="0"/>
              </a:endParaRPr>
            </a:p>
            <a:p>
              <a:endParaRPr lang="en-US" altLang="zh-TW" dirty="0">
                <a:ea typeface="標楷體" pitchFamily="65" charset="-120"/>
                <a:cs typeface="Calibri" pitchFamily="34" charset="0"/>
              </a:endParaRPr>
            </a:p>
            <a:p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1837854" y="5121563"/>
              <a:ext cx="1321805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Kernel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3404103" y="4641958"/>
              <a:ext cx="1321805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Kernel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837854" y="4643765"/>
              <a:ext cx="1321805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Kernel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404102" y="5121563"/>
              <a:ext cx="1321805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Kernel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63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8684" y="0"/>
            <a:ext cx="10972800" cy="1143000"/>
          </a:xfrm>
        </p:spPr>
        <p:txBody>
          <a:bodyPr/>
          <a:lstStyle/>
          <a:p>
            <a:r>
              <a:rPr lang="en-US" altLang="zh-TW" dirty="0"/>
              <a:t>Creating kernel objects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842991" y="1466661"/>
            <a:ext cx="5962728" cy="4339621"/>
          </a:xfrm>
        </p:spPr>
        <p:txBody>
          <a:bodyPr/>
          <a:lstStyle/>
          <a:p>
            <a:r>
              <a:rPr lang="en-US" altLang="zh-TW" sz="2800" dirty="0"/>
              <a:t>As shown in the </a:t>
            </a:r>
            <a:r>
              <a:rPr lang="en-US" altLang="zh-TW" sz="2800" dirty="0" smtClean="0"/>
              <a:t>following figure </a:t>
            </a:r>
            <a:r>
              <a:rPr lang="en-US" altLang="zh-TW" sz="2800" dirty="0"/>
              <a:t>a program is associated with kernel1 and kernel2. </a:t>
            </a:r>
            <a:endParaRPr lang="en-US" altLang="zh-TW" sz="2800" dirty="0" smtClean="0"/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The </a:t>
            </a:r>
            <a:r>
              <a:rPr lang="en-US" altLang="zh-TW" sz="2800" dirty="0"/>
              <a:t>program is </a:t>
            </a:r>
            <a:r>
              <a:rPr lang="en-US" altLang="zh-TW" sz="2800" dirty="0" smtClean="0"/>
              <a:t>built with </a:t>
            </a:r>
            <a:r>
              <a:rPr lang="en-US" altLang="zh-TW" sz="2800" dirty="0"/>
              <a:t>inputs as two devices device1 and device2.</a:t>
            </a:r>
            <a:endParaRPr lang="zh-TW" altLang="en-US" sz="2800" dirty="0"/>
          </a:p>
        </p:txBody>
      </p:sp>
      <p:pic>
        <p:nvPicPr>
          <p:cNvPr id="7" name="內容版面配置區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8684" y="1466661"/>
            <a:ext cx="4899307" cy="395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273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Creating kernel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Each kernel in an </a:t>
            </a:r>
            <a:r>
              <a:rPr lang="en-US" altLang="zh-TW" dirty="0" err="1"/>
              <a:t>OpenCL</a:t>
            </a:r>
            <a:r>
              <a:rPr lang="en-US" altLang="zh-TW" dirty="0"/>
              <a:t> C code is identified by the __kernel function keyword.</a:t>
            </a:r>
          </a:p>
          <a:p>
            <a:r>
              <a:rPr lang="en-US" altLang="zh-TW" dirty="0" smtClean="0"/>
              <a:t>In </a:t>
            </a:r>
            <a:r>
              <a:rPr lang="en-US" altLang="zh-TW" dirty="0"/>
              <a:t>the </a:t>
            </a:r>
            <a:r>
              <a:rPr lang="en-US" altLang="zh-TW" dirty="0" err="1"/>
              <a:t>OpenCL</a:t>
            </a:r>
            <a:r>
              <a:rPr lang="en-US" altLang="zh-TW" dirty="0"/>
              <a:t> programs the </a:t>
            </a:r>
            <a:r>
              <a:rPr lang="en-US" altLang="zh-TW" dirty="0" err="1"/>
              <a:t>cl_kernel</a:t>
            </a:r>
            <a:r>
              <a:rPr lang="en-US" altLang="zh-TW" dirty="0"/>
              <a:t> objects are created using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clCreateKernel</a:t>
            </a:r>
            <a:r>
              <a:rPr lang="en-US" altLang="zh-TW" dirty="0" smtClean="0"/>
              <a:t> </a:t>
            </a:r>
            <a:r>
              <a:rPr lang="en-US" altLang="zh-TW" dirty="0"/>
              <a:t>function. </a:t>
            </a:r>
            <a:endParaRPr lang="en-US" altLang="zh-TW" dirty="0" smtClean="0"/>
          </a:p>
          <a:p>
            <a:pPr lvl="1"/>
            <a:r>
              <a:rPr lang="en-US" altLang="zh-TW" dirty="0" err="1"/>
              <a:t>cl_kernel</a:t>
            </a:r>
            <a:r>
              <a:rPr lang="en-US" altLang="zh-TW" dirty="0"/>
              <a:t> </a:t>
            </a:r>
            <a:r>
              <a:rPr lang="en-US" altLang="zh-TW" dirty="0" err="1"/>
              <a:t>clCreateKernel</a:t>
            </a:r>
            <a:endParaRPr lang="en-US" altLang="zh-TW" dirty="0"/>
          </a:p>
          <a:p>
            <a:r>
              <a:rPr lang="en-US" altLang="zh-TW" dirty="0" smtClean="0"/>
              <a:t>There </a:t>
            </a:r>
            <a:r>
              <a:rPr lang="en-US" altLang="zh-TW" dirty="0"/>
              <a:t>is another mechanism with which kernels can be </a:t>
            </a:r>
            <a:r>
              <a:rPr lang="en-US" altLang="zh-TW" dirty="0" smtClean="0"/>
              <a:t>created </a:t>
            </a:r>
            <a:r>
              <a:rPr lang="en-US" altLang="zh-TW" dirty="0"/>
              <a:t>all the kernel objects  </a:t>
            </a:r>
            <a:r>
              <a:rPr lang="en-US" altLang="zh-TW" dirty="0" err="1"/>
              <a:t>ssociated</a:t>
            </a:r>
            <a:r>
              <a:rPr lang="en-US" altLang="zh-TW" dirty="0"/>
              <a:t> with the program.</a:t>
            </a:r>
          </a:p>
          <a:p>
            <a:pPr lvl="1"/>
            <a:r>
              <a:rPr lang="en-US" altLang="zh-TW" dirty="0" err="1"/>
              <a:t>cl_kernel</a:t>
            </a:r>
            <a:r>
              <a:rPr lang="en-US" altLang="zh-TW" dirty="0"/>
              <a:t> </a:t>
            </a:r>
            <a:r>
              <a:rPr lang="en-US" altLang="zh-TW" dirty="0" err="1" smtClean="0"/>
              <a:t>clCreateKernelsInProgram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38" y="4839380"/>
            <a:ext cx="7376276" cy="108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71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Setting kernel </a:t>
            </a:r>
            <a:r>
              <a:rPr lang="en-US" altLang="zh-TW" dirty="0" smtClean="0"/>
              <a:t>arguments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Before executing the kernel, the arguments must be set for the kernel </a:t>
            </a:r>
            <a:r>
              <a:rPr lang="en-US" altLang="zh-TW" dirty="0" smtClean="0"/>
              <a:t>using the function.</a:t>
            </a:r>
          </a:p>
          <a:p>
            <a:pPr lvl="1"/>
            <a:r>
              <a:rPr lang="en-US" altLang="zh-TW" dirty="0" err="1" smtClean="0"/>
              <a:t>cl_int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clSetKernelArg</a:t>
            </a:r>
            <a:endParaRPr lang="en-US" altLang="zh-TW" dirty="0"/>
          </a:p>
          <a:p>
            <a:r>
              <a:rPr lang="en-US" altLang="zh-TW" dirty="0"/>
              <a:t>If the associated kernel </a:t>
            </a:r>
            <a:r>
              <a:rPr lang="en-US" altLang="zh-TW" dirty="0" smtClean="0"/>
              <a:t>argument is </a:t>
            </a:r>
            <a:r>
              <a:rPr lang="en-US" altLang="zh-TW" dirty="0"/>
              <a:t>a __global or __constant memory qualifier then this argument will be </a:t>
            </a:r>
            <a:r>
              <a:rPr lang="en-US" altLang="zh-TW" dirty="0" smtClean="0"/>
              <a:t>NULL while </a:t>
            </a:r>
            <a:r>
              <a:rPr lang="en-US" altLang="zh-TW" dirty="0"/>
              <a:t>the kernel is executed.</a:t>
            </a:r>
          </a:p>
          <a:p>
            <a:r>
              <a:rPr lang="en-US" altLang="zh-TW" dirty="0"/>
              <a:t>I</a:t>
            </a:r>
            <a:r>
              <a:rPr lang="en-US" altLang="zh-TW" dirty="0" smtClean="0"/>
              <a:t>f </a:t>
            </a:r>
            <a:r>
              <a:rPr lang="en-US" altLang="zh-TW" dirty="0"/>
              <a:t>the argument is a __local address </a:t>
            </a:r>
            <a:r>
              <a:rPr lang="en-US" altLang="zh-TW" dirty="0" smtClean="0"/>
              <a:t>space qualifier </a:t>
            </a:r>
            <a:r>
              <a:rPr lang="en-US" altLang="zh-TW" dirty="0"/>
              <a:t>the </a:t>
            </a:r>
            <a:r>
              <a:rPr lang="en-US" altLang="zh-TW" dirty="0" err="1"/>
              <a:t>arg_value</a:t>
            </a:r>
            <a:r>
              <a:rPr lang="en-US" altLang="zh-TW" dirty="0"/>
              <a:t> has to be NULL. The __local address space qualifier </a:t>
            </a:r>
            <a:r>
              <a:rPr lang="en-US" altLang="zh-TW" dirty="0" smtClean="0"/>
              <a:t>specifies a </a:t>
            </a:r>
            <a:r>
              <a:rPr lang="en-US" altLang="zh-TW" dirty="0"/>
              <a:t>local memory in the device. This memory need not be allocated on the host, </a:t>
            </a:r>
            <a:r>
              <a:rPr lang="en-US" altLang="zh-TW" dirty="0" smtClean="0"/>
              <a:t>hence it </a:t>
            </a:r>
            <a:r>
              <a:rPr lang="en-US" altLang="zh-TW" dirty="0"/>
              <a:t>is NULL.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190" y="4740864"/>
            <a:ext cx="7848948" cy="135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51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Executing the kernels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created </a:t>
            </a:r>
            <a:r>
              <a:rPr lang="en-US" altLang="zh-TW" dirty="0" err="1"/>
              <a:t>cl_kernel</a:t>
            </a:r>
            <a:r>
              <a:rPr lang="en-US" altLang="zh-TW" dirty="0"/>
              <a:t> object can now be run on the device associated with it using the API.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/>
              <a:t>clEnqueueNDRangeKernel</a:t>
            </a:r>
            <a:endParaRPr lang="zh-TW" altLang="en-US" dirty="0"/>
          </a:p>
          <a:p>
            <a:r>
              <a:rPr lang="en-US" altLang="zh-TW" dirty="0"/>
              <a:t>This shall </a:t>
            </a:r>
            <a:r>
              <a:rPr lang="en-US" altLang="zh-TW" dirty="0" err="1"/>
              <a:t>enqueue</a:t>
            </a:r>
            <a:r>
              <a:rPr lang="en-US" altLang="zh-TW" dirty="0"/>
              <a:t> the command for </a:t>
            </a:r>
            <a:r>
              <a:rPr lang="en-US" altLang="zh-TW" dirty="0" smtClean="0"/>
              <a:t>kernel execution </a:t>
            </a:r>
            <a:r>
              <a:rPr lang="en-US" altLang="zh-TW" dirty="0"/>
              <a:t>on the </a:t>
            </a:r>
            <a:r>
              <a:rPr lang="en-US" altLang="zh-TW" dirty="0" err="1"/>
              <a:t>command_queue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/>
              <a:t>There is one other way with which a kernel can be executed. If </a:t>
            </a:r>
            <a:r>
              <a:rPr lang="en-US" altLang="zh-TW" dirty="0" err="1" smtClean="0"/>
              <a:t>clEnqueueNDRange</a:t>
            </a:r>
            <a:r>
              <a:rPr lang="en-US" altLang="zh-TW" dirty="0" smtClean="0"/>
              <a:t> is </a:t>
            </a:r>
            <a:r>
              <a:rPr lang="en-US" altLang="zh-TW" dirty="0"/>
              <a:t>available for data parallel workloads then </a:t>
            </a:r>
            <a:r>
              <a:rPr lang="en-US" altLang="zh-TW" dirty="0" smtClean="0"/>
              <a:t>This is </a:t>
            </a:r>
            <a:r>
              <a:rPr lang="en-US" altLang="zh-TW" dirty="0"/>
              <a:t>available for </a:t>
            </a:r>
            <a:r>
              <a:rPr lang="en-US" altLang="zh-TW" dirty="0" smtClean="0"/>
              <a:t>task parallel </a:t>
            </a:r>
            <a:r>
              <a:rPr lang="en-US" altLang="zh-TW" dirty="0"/>
              <a:t>workloads.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/>
              <a:t>clEnqueueTask</a:t>
            </a:r>
            <a:endParaRPr lang="en-US" altLang="zh-TW" dirty="0" smtClean="0"/>
          </a:p>
          <a:p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773" y="4811621"/>
            <a:ext cx="7660350" cy="109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39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Releasing program and kernel objects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Every program object needs to be released from the </a:t>
            </a:r>
            <a:r>
              <a:rPr lang="en-US" altLang="zh-TW" dirty="0" err="1"/>
              <a:t>OpenCL</a:t>
            </a:r>
            <a:r>
              <a:rPr lang="en-US" altLang="zh-TW" dirty="0"/>
              <a:t> implementation space. This is achieved by using the following function.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/>
              <a:t>clReleaseProgram</a:t>
            </a:r>
            <a:endParaRPr lang="zh-TW" altLang="en-US" dirty="0"/>
          </a:p>
          <a:p>
            <a:r>
              <a:rPr lang="en-US" altLang="zh-TW" dirty="0"/>
              <a:t>The call to </a:t>
            </a:r>
            <a:r>
              <a:rPr lang="en-US" altLang="zh-TW" dirty="0" err="1"/>
              <a:t>clReleaseProgram</a:t>
            </a:r>
            <a:r>
              <a:rPr lang="en-US" altLang="zh-TW" dirty="0"/>
              <a:t> function will decrement a reference count, and if </a:t>
            </a:r>
            <a:r>
              <a:rPr lang="en-US" altLang="zh-TW" dirty="0" smtClean="0"/>
              <a:t>the count </a:t>
            </a:r>
            <a:r>
              <a:rPr lang="en-US" altLang="zh-TW" dirty="0"/>
              <a:t>reaches 0, then the program object is released.</a:t>
            </a:r>
            <a:endParaRPr lang="en-US" altLang="zh-TW" dirty="0" smtClean="0"/>
          </a:p>
          <a:p>
            <a:r>
              <a:rPr lang="en-US" altLang="zh-TW" dirty="0"/>
              <a:t>Similar to program objects kernel objects can also be released using</a:t>
            </a:r>
          </a:p>
          <a:p>
            <a:pPr lvl="1"/>
            <a:r>
              <a:rPr lang="en-US" altLang="zh-TW" dirty="0" err="1"/>
              <a:t>cl_int</a:t>
            </a:r>
            <a:r>
              <a:rPr lang="en-US" altLang="zh-TW" dirty="0"/>
              <a:t> </a:t>
            </a:r>
            <a:r>
              <a:rPr lang="en-US" altLang="zh-TW" dirty="0" err="1" smtClean="0"/>
              <a:t>clReleaseKernel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08" y="3906837"/>
            <a:ext cx="3835037" cy="217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41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and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tasks will </a:t>
            </a:r>
            <a:r>
              <a:rPr lang="en-US" altLang="zh-TW" dirty="0"/>
              <a:t>be queued on to a device command queue.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May need to keep </a:t>
            </a:r>
            <a:r>
              <a:rPr lang="en-US" altLang="zh-TW" dirty="0"/>
              <a:t>track of these tasks and synchronize the data view for a computational task.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</a:t>
            </a:r>
            <a:r>
              <a:rPr lang="en-US" altLang="zh-TW" dirty="0"/>
              <a:t>standard provides this synchronizing entity in the form of </a:t>
            </a:r>
            <a:r>
              <a:rPr lang="en-US" altLang="zh-TW" dirty="0" err="1" smtClean="0"/>
              <a:t>cl_event</a:t>
            </a:r>
            <a:r>
              <a:rPr lang="en-US" altLang="zh-TW" dirty="0" smtClean="0"/>
              <a:t> </a:t>
            </a:r>
            <a:r>
              <a:rPr lang="en-US" altLang="zh-TW" dirty="0"/>
              <a:t>objects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Events as an action that is usually </a:t>
            </a:r>
            <a:r>
              <a:rPr lang="en-US" altLang="zh-TW" dirty="0" smtClean="0"/>
              <a:t>initiated outside </a:t>
            </a:r>
            <a:r>
              <a:rPr lang="en-US" altLang="zh-TW" dirty="0"/>
              <a:t>the scope of a program and the status of these events is handled by a piece </a:t>
            </a:r>
            <a:r>
              <a:rPr lang="en-US" altLang="zh-TW" dirty="0" smtClean="0"/>
              <a:t>of code </a:t>
            </a:r>
            <a:r>
              <a:rPr lang="en-US" altLang="zh-TW" dirty="0"/>
              <a:t>inside the program.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0899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and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typical source of event handle is the </a:t>
            </a:r>
            <a:r>
              <a:rPr lang="en-US" altLang="zh-TW" dirty="0" err="1"/>
              <a:t>OpenCL</a:t>
            </a:r>
            <a:r>
              <a:rPr lang="en-US" altLang="zh-TW" dirty="0"/>
              <a:t> </a:t>
            </a:r>
            <a:r>
              <a:rPr lang="en-US" altLang="zh-TW" dirty="0" err="1"/>
              <a:t>clEnqueueXXX</a:t>
            </a:r>
            <a:r>
              <a:rPr lang="en-US" altLang="zh-TW" dirty="0"/>
              <a:t> routines. An </a:t>
            </a:r>
            <a:r>
              <a:rPr lang="en-US" altLang="zh-TW" dirty="0" err="1"/>
              <a:t>OpenCL</a:t>
            </a:r>
            <a:r>
              <a:rPr lang="en-US" altLang="zh-TW" dirty="0"/>
              <a:t> runtime libraries changes the state of all events </a:t>
            </a:r>
            <a:r>
              <a:rPr lang="en-US" altLang="zh-TW" dirty="0" err="1"/>
              <a:t>enqueued</a:t>
            </a:r>
            <a:r>
              <a:rPr lang="en-US" altLang="zh-TW" dirty="0"/>
              <a:t> to the command queue. </a:t>
            </a:r>
          </a:p>
          <a:p>
            <a:pPr lvl="1"/>
            <a:r>
              <a:rPr lang="en-US" altLang="zh-TW" dirty="0"/>
              <a:t>It keeps track of all the operations, which a host program initiates on to the various </a:t>
            </a:r>
            <a:r>
              <a:rPr lang="en-US" altLang="zh-TW" dirty="0" err="1"/>
              <a:t>OpenCL</a:t>
            </a:r>
            <a:r>
              <a:rPr lang="en-US" altLang="zh-TW" dirty="0"/>
              <a:t> devices</a:t>
            </a:r>
            <a:endParaRPr lang="en-US" altLang="zh-TW" dirty="0" smtClean="0"/>
          </a:p>
          <a:p>
            <a:r>
              <a:rPr lang="en-US" altLang="zh-TW" dirty="0"/>
              <a:t>In </a:t>
            </a:r>
            <a:r>
              <a:rPr lang="en-US" altLang="zh-TW" dirty="0" smtClean="0"/>
              <a:t>next slides we </a:t>
            </a:r>
            <a:r>
              <a:rPr lang="en-US" altLang="zh-TW" dirty="0"/>
              <a:t>shall discuss about the following topics:</a:t>
            </a:r>
          </a:p>
          <a:p>
            <a:pPr lvl="1"/>
            <a:r>
              <a:rPr lang="en-US" altLang="zh-TW" dirty="0" smtClean="0"/>
              <a:t>Coarse-grained </a:t>
            </a:r>
            <a:r>
              <a:rPr lang="en-US" altLang="zh-TW" dirty="0"/>
              <a:t>events</a:t>
            </a:r>
          </a:p>
          <a:p>
            <a:pPr lvl="1"/>
            <a:r>
              <a:rPr lang="en-US" altLang="zh-TW" dirty="0" smtClean="0"/>
              <a:t>Fine-grained </a:t>
            </a:r>
            <a:r>
              <a:rPr lang="en-US" altLang="zh-TW" dirty="0"/>
              <a:t>events</a:t>
            </a:r>
          </a:p>
          <a:p>
            <a:pPr lvl="1"/>
            <a:r>
              <a:rPr lang="en-US" altLang="zh-TW" dirty="0" smtClean="0"/>
              <a:t>Various </a:t>
            </a:r>
            <a:r>
              <a:rPr lang="en-US" altLang="zh-TW" dirty="0"/>
              <a:t>synchronization models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4293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and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"coarse grained" synchronization, </a:t>
            </a:r>
            <a:r>
              <a:rPr lang="en-US" altLang="zh-TW" dirty="0" err="1"/>
              <a:t>OpenCL</a:t>
            </a:r>
            <a:r>
              <a:rPr lang="en-US" altLang="zh-TW" dirty="0"/>
              <a:t> provides functions such as, </a:t>
            </a:r>
            <a:r>
              <a:rPr lang="en-US" altLang="zh-TW" dirty="0" err="1" smtClean="0"/>
              <a:t>clFlush,and</a:t>
            </a:r>
            <a:r>
              <a:rPr lang="en-US" altLang="zh-TW" dirty="0" smtClean="0"/>
              <a:t> </a:t>
            </a:r>
            <a:r>
              <a:rPr lang="en-US" altLang="zh-TW" dirty="0" err="1"/>
              <a:t>clFinish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When </a:t>
            </a:r>
            <a:r>
              <a:rPr lang="en-US" altLang="zh-TW" dirty="0"/>
              <a:t>the need arises for "finer grained" synchronization, the </a:t>
            </a:r>
            <a:r>
              <a:rPr lang="en-US" altLang="zh-TW" dirty="0" err="1" smtClean="0"/>
              <a:t>OpenCL</a:t>
            </a:r>
            <a:r>
              <a:rPr lang="en-US" altLang="zh-TW" dirty="0" smtClean="0"/>
              <a:t> specification </a:t>
            </a:r>
            <a:r>
              <a:rPr lang="en-US" altLang="zh-TW" dirty="0"/>
              <a:t>provides a </a:t>
            </a:r>
            <a:r>
              <a:rPr lang="en-US" altLang="zh-TW" dirty="0" err="1"/>
              <a:t>cl_event</a:t>
            </a:r>
            <a:r>
              <a:rPr lang="en-US" altLang="zh-TW" dirty="0"/>
              <a:t> </a:t>
            </a:r>
            <a:r>
              <a:rPr lang="en-US" altLang="zh-TW" dirty="0" smtClean="0"/>
              <a:t>object.</a:t>
            </a:r>
          </a:p>
          <a:p>
            <a:r>
              <a:rPr lang="en-US" altLang="zh-TW" dirty="0"/>
              <a:t>The </a:t>
            </a:r>
            <a:r>
              <a:rPr lang="en-US" altLang="zh-TW" dirty="0" err="1"/>
              <a:t>cl_event</a:t>
            </a:r>
            <a:r>
              <a:rPr lang="en-US" altLang="zh-TW" dirty="0"/>
              <a:t> object helps to identify </a:t>
            </a:r>
            <a:r>
              <a:rPr lang="en-US" altLang="zh-TW" dirty="0" smtClean="0"/>
              <a:t>the status </a:t>
            </a:r>
            <a:r>
              <a:rPr lang="en-US" altLang="zh-TW" dirty="0"/>
              <a:t>of unique commands in a queue and thus enable a host level monitoring </a:t>
            </a:r>
            <a:r>
              <a:rPr lang="en-US" altLang="zh-TW" dirty="0" smtClean="0"/>
              <a:t>of each </a:t>
            </a:r>
            <a:r>
              <a:rPr lang="en-US" altLang="zh-TW" dirty="0"/>
              <a:t>event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62810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and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125538"/>
            <a:ext cx="4922067" cy="4895850"/>
          </a:xfrm>
        </p:spPr>
        <p:txBody>
          <a:bodyPr/>
          <a:lstStyle/>
          <a:p>
            <a:r>
              <a:rPr lang="en-US" altLang="zh-TW" dirty="0"/>
              <a:t>Have a look at the following diagram. Execution of the kernel </a:t>
            </a:r>
            <a:r>
              <a:rPr lang="en-US" altLang="zh-TW" b="1" dirty="0"/>
              <a:t>A </a:t>
            </a:r>
            <a:r>
              <a:rPr lang="en-US" altLang="zh-TW" dirty="0" smtClean="0"/>
              <a:t>is dependent </a:t>
            </a:r>
            <a:r>
              <a:rPr lang="en-US" altLang="zh-TW" dirty="0"/>
              <a:t>on two write events of buffers </a:t>
            </a:r>
            <a:r>
              <a:rPr lang="en-US" altLang="zh-TW" b="1" dirty="0"/>
              <a:t>A </a:t>
            </a:r>
            <a:r>
              <a:rPr lang="en-US" altLang="zh-TW" dirty="0"/>
              <a:t>and </a:t>
            </a:r>
            <a:r>
              <a:rPr lang="en-US" altLang="zh-TW" b="1" dirty="0"/>
              <a:t>B </a:t>
            </a:r>
            <a:r>
              <a:rPr lang="en-US" altLang="zh-TW" dirty="0"/>
              <a:t>to complete. </a:t>
            </a:r>
            <a:endParaRPr lang="en-US" altLang="zh-TW" dirty="0" smtClean="0"/>
          </a:p>
          <a:p>
            <a:r>
              <a:rPr lang="en-US" altLang="zh-TW" dirty="0" smtClean="0"/>
              <a:t>Similarly kernel </a:t>
            </a:r>
            <a:r>
              <a:rPr lang="en-US" altLang="zh-TW" b="1" dirty="0" smtClean="0"/>
              <a:t>B </a:t>
            </a:r>
            <a:r>
              <a:rPr lang="en-US" altLang="zh-TW" dirty="0"/>
              <a:t>can be executed only when write of buffer </a:t>
            </a:r>
            <a:r>
              <a:rPr lang="en-US" altLang="zh-TW" b="1" dirty="0"/>
              <a:t>C </a:t>
            </a:r>
            <a:r>
              <a:rPr lang="en-US" altLang="zh-TW" dirty="0"/>
              <a:t>is completed and the </a:t>
            </a:r>
            <a:r>
              <a:rPr lang="en-US" altLang="zh-TW" dirty="0" smtClean="0"/>
              <a:t>execution of </a:t>
            </a:r>
            <a:r>
              <a:rPr lang="en-US" altLang="zh-TW" dirty="0"/>
              <a:t>kernel </a:t>
            </a:r>
            <a:r>
              <a:rPr lang="en-US" altLang="zh-TW" b="1" dirty="0"/>
              <a:t>A </a:t>
            </a:r>
            <a:r>
              <a:rPr lang="en-US" altLang="zh-TW" dirty="0"/>
              <a:t>is also completed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667" y="1394878"/>
            <a:ext cx="6513821" cy="435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96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and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You can make sure that queue has </a:t>
            </a:r>
            <a:r>
              <a:rPr lang="en-US" altLang="zh-TW" dirty="0" err="1"/>
              <a:t>dequeued</a:t>
            </a:r>
            <a:r>
              <a:rPr lang="en-US" altLang="zh-TW" dirty="0"/>
              <a:t> all the commands and </a:t>
            </a:r>
            <a:r>
              <a:rPr lang="en-US" altLang="zh-TW" dirty="0" smtClean="0"/>
              <a:t>every command </a:t>
            </a:r>
            <a:r>
              <a:rPr lang="en-US" altLang="zh-TW" dirty="0"/>
              <a:t>is completed by calling </a:t>
            </a:r>
            <a:r>
              <a:rPr lang="en-US" altLang="zh-TW" dirty="0" err="1"/>
              <a:t>clFinish</a:t>
            </a:r>
            <a:r>
              <a:rPr lang="en-US" altLang="zh-TW" dirty="0"/>
              <a:t>. The </a:t>
            </a:r>
            <a:r>
              <a:rPr lang="en-US" altLang="zh-TW" dirty="0" err="1"/>
              <a:t>clFinish</a:t>
            </a:r>
            <a:r>
              <a:rPr lang="en-US" altLang="zh-TW" dirty="0"/>
              <a:t> function will </a:t>
            </a:r>
            <a:r>
              <a:rPr lang="en-US" altLang="zh-TW" dirty="0" smtClean="0"/>
              <a:t>block the </a:t>
            </a:r>
            <a:r>
              <a:rPr lang="en-US" altLang="zh-TW" dirty="0"/>
              <a:t>host program until the entire queue has completed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An </a:t>
            </a:r>
            <a:r>
              <a:rPr lang="en-US" altLang="zh-TW" dirty="0" err="1"/>
              <a:t>OpenCL</a:t>
            </a:r>
            <a:r>
              <a:rPr lang="en-US" altLang="zh-TW" dirty="0"/>
              <a:t> program can also wait for a list of events to finish </a:t>
            </a:r>
            <a:r>
              <a:rPr lang="en-US" altLang="zh-TW" dirty="0" smtClean="0"/>
              <a:t>with </a:t>
            </a:r>
            <a:r>
              <a:rPr lang="en-US" altLang="zh-TW" dirty="0" err="1" smtClean="0"/>
              <a:t>clWaitForEvents</a:t>
            </a:r>
            <a:r>
              <a:rPr lang="en-US" altLang="zh-TW" dirty="0"/>
              <a:t>. This is also a host blocking call but the developer has a </a:t>
            </a:r>
            <a:r>
              <a:rPr lang="en-US" altLang="zh-TW" dirty="0" smtClean="0"/>
              <a:t>control on </a:t>
            </a:r>
            <a:r>
              <a:rPr lang="en-US" altLang="zh-TW" dirty="0"/>
              <a:t>the events on which he wants to wait for instead of the all the events in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command_queue</a:t>
            </a:r>
            <a:r>
              <a:rPr lang="en-US" altLang="zh-TW" dirty="0" smtClean="0"/>
              <a:t> </a:t>
            </a:r>
            <a:r>
              <a:rPr lang="en-US" altLang="zh-TW" dirty="0"/>
              <a:t>queue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And if you don't want to stop the host execution then </a:t>
            </a:r>
            <a:r>
              <a:rPr lang="en-US" altLang="zh-TW" dirty="0" smtClean="0"/>
              <a:t>use </a:t>
            </a:r>
            <a:r>
              <a:rPr lang="en-US" altLang="zh-TW" dirty="0" err="1" smtClean="0"/>
              <a:t>clEnqueueBarrierWithWaitList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err="1"/>
              <a:t>clEnqueueMarkerWithWaitList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085769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events and </a:t>
            </a:r>
            <a:r>
              <a:rPr lang="en-US" altLang="zh-TW" dirty="0" smtClean="0"/>
              <a:t>monitoring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 event is a </a:t>
            </a:r>
            <a:r>
              <a:rPr lang="en-US" altLang="zh-TW" dirty="0" err="1"/>
              <a:t>cl_event</a:t>
            </a:r>
            <a:r>
              <a:rPr lang="en-US" altLang="zh-TW" dirty="0"/>
              <a:t> object that forms a medium of communication </a:t>
            </a:r>
            <a:r>
              <a:rPr lang="en-US" altLang="zh-TW" dirty="0" smtClean="0"/>
              <a:t>between the </a:t>
            </a:r>
            <a:r>
              <a:rPr lang="en-US" altLang="zh-TW" dirty="0"/>
              <a:t>application and the </a:t>
            </a:r>
            <a:r>
              <a:rPr lang="en-US" altLang="zh-TW" dirty="0" err="1"/>
              <a:t>OpenCL</a:t>
            </a:r>
            <a:r>
              <a:rPr lang="en-US" altLang="zh-TW" dirty="0"/>
              <a:t> implementation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This monitoring can be of </a:t>
            </a:r>
            <a:r>
              <a:rPr lang="en-US" altLang="zh-TW" dirty="0" smtClean="0"/>
              <a:t>data transfer </a:t>
            </a:r>
            <a:r>
              <a:rPr lang="en-US" altLang="zh-TW" dirty="0"/>
              <a:t>between the host and the devices </a:t>
            </a:r>
            <a:r>
              <a:rPr lang="en-US" altLang="zh-TW" dirty="0" smtClean="0"/>
              <a:t>or </a:t>
            </a:r>
            <a:r>
              <a:rPr lang="en-US" altLang="zh-TW" dirty="0"/>
              <a:t>either for the </a:t>
            </a:r>
            <a:r>
              <a:rPr lang="en-US" altLang="zh-TW" dirty="0" smtClean="0"/>
              <a:t>execution of </a:t>
            </a:r>
            <a:r>
              <a:rPr lang="en-US" altLang="zh-TW" dirty="0"/>
              <a:t>the </a:t>
            </a:r>
            <a:r>
              <a:rPr lang="en-US" altLang="zh-TW" dirty="0" err="1"/>
              <a:t>NDRange</a:t>
            </a:r>
            <a:r>
              <a:rPr lang="en-US" altLang="zh-TW" dirty="0"/>
              <a:t> kernel.</a:t>
            </a:r>
          </a:p>
          <a:p>
            <a:r>
              <a:rPr lang="en-US" altLang="zh-TW" dirty="0"/>
              <a:t>During </a:t>
            </a:r>
            <a:r>
              <a:rPr lang="en-US" altLang="zh-TW" dirty="0" smtClean="0"/>
              <a:t>command synchronization</a:t>
            </a:r>
            <a:r>
              <a:rPr lang="en-US" altLang="zh-TW" dirty="0"/>
              <a:t>, a command which is queued for execution will wait on a list </a:t>
            </a:r>
            <a:r>
              <a:rPr lang="en-US" altLang="zh-TW" dirty="0" smtClean="0"/>
              <a:t>of events </a:t>
            </a:r>
            <a:r>
              <a:rPr lang="en-US" altLang="zh-TW" dirty="0"/>
              <a:t>to complete before executing itself.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4464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events and </a:t>
            </a:r>
            <a:r>
              <a:rPr lang="en-US" altLang="zh-TW" dirty="0" smtClean="0"/>
              <a:t>monitoring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example, </a:t>
            </a:r>
            <a:r>
              <a:rPr lang="en-US" altLang="zh-TW" dirty="0" err="1"/>
              <a:t>clEnqueueXXX</a:t>
            </a:r>
            <a:r>
              <a:rPr lang="en-US" altLang="zh-TW" dirty="0"/>
              <a:t> have to wait for </a:t>
            </a:r>
            <a:r>
              <a:rPr lang="en-US" altLang="zh-TW" dirty="0" err="1"/>
              <a:t>event_wait_list</a:t>
            </a:r>
            <a:r>
              <a:rPr lang="en-US" altLang="zh-TW" dirty="0"/>
              <a:t> events before finally executing itself. </a:t>
            </a:r>
          </a:p>
          <a:p>
            <a:pPr lvl="1"/>
            <a:r>
              <a:rPr lang="en-US" altLang="zh-TW" dirty="0"/>
              <a:t>These event wait lists can be used to wait on one or more than one command.</a:t>
            </a:r>
            <a:endParaRPr lang="zh-TW" altLang="en-US" dirty="0"/>
          </a:p>
          <a:p>
            <a:r>
              <a:rPr lang="en-US" altLang="zh-TW" dirty="0"/>
              <a:t>On return of this function the last parameter event shall </a:t>
            </a:r>
            <a:r>
              <a:rPr lang="en-US" altLang="zh-TW" dirty="0" smtClean="0"/>
              <a:t>contain the </a:t>
            </a:r>
            <a:r>
              <a:rPr lang="en-US" altLang="zh-TW" dirty="0"/>
              <a:t>handle to the </a:t>
            </a:r>
            <a:r>
              <a:rPr lang="en-US" altLang="zh-TW" dirty="0" err="1"/>
              <a:t>cl_event</a:t>
            </a:r>
            <a:r>
              <a:rPr lang="en-US" altLang="zh-TW" dirty="0"/>
              <a:t> object for the task being </a:t>
            </a:r>
            <a:r>
              <a:rPr lang="en-US" altLang="zh-TW" dirty="0" err="1"/>
              <a:t>enqueued</a:t>
            </a:r>
            <a:r>
              <a:rPr lang="en-US" altLang="zh-TW" dirty="0"/>
              <a:t>. This handle can </a:t>
            </a:r>
            <a:r>
              <a:rPr lang="en-US" altLang="zh-TW" dirty="0" smtClean="0"/>
              <a:t>be used </a:t>
            </a:r>
            <a:r>
              <a:rPr lang="en-US" altLang="zh-TW" dirty="0"/>
              <a:t>to keep track of the execution of the command which is being queued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63078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events and </a:t>
            </a:r>
            <a:r>
              <a:rPr lang="en-US" altLang="zh-TW" dirty="0" smtClean="0"/>
              <a:t>monitoring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</a:t>
            </a:r>
            <a:r>
              <a:rPr lang="en-US" altLang="zh-TW" dirty="0" err="1"/>
              <a:t>OpenCL</a:t>
            </a:r>
            <a:r>
              <a:rPr lang="en-US" altLang="zh-TW" dirty="0"/>
              <a:t> we can use events in three main ways which are follows:</a:t>
            </a:r>
          </a:p>
          <a:p>
            <a:pPr lvl="1"/>
            <a:r>
              <a:rPr lang="en-US" altLang="zh-TW" dirty="0" smtClean="0"/>
              <a:t>Host </a:t>
            </a:r>
            <a:r>
              <a:rPr lang="en-US" altLang="zh-TW" dirty="0"/>
              <a:t>notification: An event can notify the host that a command </a:t>
            </a:r>
            <a:r>
              <a:rPr lang="en-US" altLang="zh-TW" dirty="0" smtClean="0"/>
              <a:t>has completed </a:t>
            </a:r>
            <a:r>
              <a:rPr lang="en-US" altLang="zh-TW" dirty="0"/>
              <a:t>its execution on a device</a:t>
            </a:r>
          </a:p>
          <a:p>
            <a:pPr lvl="1"/>
            <a:r>
              <a:rPr lang="en-US" altLang="zh-TW" dirty="0" smtClean="0"/>
              <a:t>Command </a:t>
            </a:r>
            <a:r>
              <a:rPr lang="en-US" altLang="zh-TW" dirty="0"/>
              <a:t>synchronization: An event can force commands to delay </a:t>
            </a:r>
            <a:r>
              <a:rPr lang="en-US" altLang="zh-TW" dirty="0" smtClean="0"/>
              <a:t>their execution </a:t>
            </a:r>
            <a:r>
              <a:rPr lang="en-US" altLang="zh-TW" dirty="0"/>
              <a:t>until another event's occurrence has taken place</a:t>
            </a:r>
          </a:p>
          <a:p>
            <a:pPr lvl="1"/>
            <a:r>
              <a:rPr lang="en-US" altLang="zh-TW" dirty="0" smtClean="0"/>
              <a:t>Profiling</a:t>
            </a:r>
            <a:r>
              <a:rPr lang="en-US" altLang="zh-TW" dirty="0"/>
              <a:t>: An event can monitor how much time a command takes to execute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81807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event synchronization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queuing of the command takes place in-order or as the program flow occurs. But when the commands are </a:t>
            </a:r>
            <a:r>
              <a:rPr lang="en-US" altLang="zh-TW" dirty="0" err="1"/>
              <a:t>dequeued</a:t>
            </a:r>
            <a:r>
              <a:rPr lang="en-US" altLang="zh-TW" dirty="0"/>
              <a:t> the tasks can execute in-order or out-of-order.</a:t>
            </a:r>
          </a:p>
          <a:p>
            <a:pPr lvl="1"/>
            <a:r>
              <a:rPr lang="en-US" altLang="zh-TW" dirty="0"/>
              <a:t>In ordered execution one does not need an explicit synchronization.</a:t>
            </a:r>
          </a:p>
          <a:p>
            <a:pPr lvl="1"/>
            <a:r>
              <a:rPr lang="en-US" altLang="zh-TW" dirty="0"/>
              <a:t>out-of-order execution, there is a need for synchronization.</a:t>
            </a:r>
          </a:p>
          <a:p>
            <a:pPr lvl="1"/>
            <a:r>
              <a:rPr lang="en-US" altLang="zh-TW" dirty="0"/>
              <a:t>Synchronization is needed in the case of multiple command queues also.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3539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Single device and out-of-order queue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this case we use an out-of-order queue, which is also associated with a </a:t>
            </a:r>
            <a:r>
              <a:rPr lang="en-US" altLang="zh-TW" dirty="0" smtClean="0"/>
              <a:t>single device </a:t>
            </a:r>
            <a:r>
              <a:rPr lang="en-US" altLang="zh-TW" dirty="0"/>
              <a:t>in a context, same as the previous. All the memory operations occur in </a:t>
            </a:r>
            <a:r>
              <a:rPr lang="en-US" altLang="zh-TW" dirty="0" smtClean="0"/>
              <a:t>a single </a:t>
            </a:r>
            <a:r>
              <a:rPr lang="en-US" altLang="zh-TW" dirty="0"/>
              <a:t>memory pool. All the commands will execute in a single device, but </a:t>
            </a:r>
            <a:r>
              <a:rPr lang="en-US" altLang="zh-TW" dirty="0" smtClean="0"/>
              <a:t>the  order </a:t>
            </a:r>
            <a:r>
              <a:rPr lang="en-US" altLang="zh-TW" dirty="0"/>
              <a:t>in which the commands get </a:t>
            </a:r>
            <a:r>
              <a:rPr lang="en-US" altLang="zh-TW" dirty="0" err="1"/>
              <a:t>dequeued</a:t>
            </a:r>
            <a:r>
              <a:rPr lang="en-US" altLang="zh-TW" dirty="0"/>
              <a:t> will have no guarantee for </a:t>
            </a:r>
            <a:r>
              <a:rPr lang="en-US" altLang="zh-TW" dirty="0" smtClean="0"/>
              <a:t>an ordered execution.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88463"/>
            <a:ext cx="115443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300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Multiple devices and </a:t>
            </a:r>
            <a:r>
              <a:rPr lang="en-US" altLang="zh-TW" dirty="0" smtClean="0"/>
              <a:t>multiple </a:t>
            </a:r>
            <a:r>
              <a:rPr lang="en-US" altLang="zh-TW" dirty="0"/>
              <a:t>contexts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Here the commands execute on separate devices associated with a queue and </a:t>
            </a:r>
            <a:r>
              <a:rPr lang="en-US" altLang="zh-TW" dirty="0" smtClean="0"/>
              <a:t>each device </a:t>
            </a:r>
            <a:r>
              <a:rPr lang="en-US" altLang="zh-TW" dirty="0"/>
              <a:t>has a separate memory pool. This model is useful if there are multiple </a:t>
            </a:r>
            <a:r>
              <a:rPr lang="en-US" altLang="zh-TW" dirty="0" smtClean="0"/>
              <a:t>devices in </a:t>
            </a:r>
            <a:r>
              <a:rPr lang="en-US" altLang="zh-TW" dirty="0"/>
              <a:t>the platform and one wants to divide and run separate algorithms in </a:t>
            </a:r>
            <a:r>
              <a:rPr lang="en-US" altLang="zh-TW" dirty="0" smtClean="0"/>
              <a:t>different devices.</a:t>
            </a:r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59" y="3062480"/>
            <a:ext cx="9329057" cy="30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58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Multiple devices and single </a:t>
            </a:r>
            <a:r>
              <a:rPr lang="en-US" altLang="zh-TW" dirty="0" smtClean="0"/>
              <a:t>context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Multiple devices in the platform belong to the same context and each device </a:t>
            </a:r>
            <a:r>
              <a:rPr lang="en-US" altLang="zh-TW" dirty="0" smtClean="0"/>
              <a:t>has an </a:t>
            </a:r>
            <a:r>
              <a:rPr lang="en-US" altLang="zh-TW" dirty="0"/>
              <a:t>associated queue and will modify or read data from a combined memory pool</a:t>
            </a:r>
            <a:r>
              <a:rPr lang="en-US" altLang="zh-TW" dirty="0" smtClean="0"/>
              <a:t>.</a:t>
            </a:r>
          </a:p>
          <a:p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80" y="2771638"/>
            <a:ext cx="902017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2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Coarse-grained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There are two APIs which enable coarse-grained synchronization,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clFlush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clFinish</a:t>
            </a:r>
            <a:endParaRPr lang="en-US" altLang="zh-TW" dirty="0" smtClean="0"/>
          </a:p>
          <a:p>
            <a:r>
              <a:rPr lang="en-US" altLang="zh-TW" dirty="0" err="1" smtClean="0"/>
              <a:t>clFlush</a:t>
            </a:r>
            <a:r>
              <a:rPr lang="en-US" altLang="zh-TW" dirty="0" smtClean="0"/>
              <a:t> </a:t>
            </a:r>
            <a:r>
              <a:rPr lang="en-US" altLang="zh-TW" dirty="0"/>
              <a:t>only guarantees that all queued commands to </a:t>
            </a:r>
            <a:r>
              <a:rPr lang="en-US" altLang="zh-TW" dirty="0" err="1"/>
              <a:t>command_queue</a:t>
            </a:r>
            <a:r>
              <a:rPr lang="en-US" altLang="zh-TW" dirty="0"/>
              <a:t> get issued to the appropriate device.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There </a:t>
            </a:r>
            <a:r>
              <a:rPr lang="en-US" altLang="zh-TW" dirty="0"/>
              <a:t>is no guarantee that they will be complete after </a:t>
            </a:r>
            <a:r>
              <a:rPr lang="en-US" altLang="zh-TW" dirty="0" err="1"/>
              <a:t>clFlush</a:t>
            </a:r>
            <a:r>
              <a:rPr lang="en-US" altLang="zh-TW" dirty="0"/>
              <a:t> </a:t>
            </a:r>
            <a:r>
              <a:rPr lang="en-US" altLang="zh-TW" dirty="0" smtClean="0"/>
              <a:t>returns</a:t>
            </a:r>
          </a:p>
          <a:p>
            <a:r>
              <a:rPr lang="en-US" altLang="zh-TW" dirty="0" err="1" smtClean="0"/>
              <a:t>clFinish</a:t>
            </a:r>
            <a:r>
              <a:rPr lang="en-US" altLang="zh-TW" dirty="0" smtClean="0"/>
              <a:t> </a:t>
            </a:r>
            <a:r>
              <a:rPr lang="en-US" altLang="zh-TW" dirty="0"/>
              <a:t>is a blocking function, that means </a:t>
            </a:r>
            <a:r>
              <a:rPr lang="en-US" altLang="zh-TW" dirty="0" err="1"/>
              <a:t>clFinish</a:t>
            </a:r>
            <a:r>
              <a:rPr lang="en-US" altLang="zh-TW" dirty="0"/>
              <a:t> will not return until </a:t>
            </a:r>
            <a:r>
              <a:rPr lang="en-US" altLang="zh-TW" dirty="0" smtClean="0"/>
              <a:t>all the </a:t>
            </a:r>
            <a:r>
              <a:rPr lang="en-US" altLang="zh-TW" dirty="0"/>
              <a:t>previously </a:t>
            </a:r>
            <a:r>
              <a:rPr lang="en-US" altLang="zh-TW" dirty="0" err="1" smtClean="0"/>
              <a:t>enqueue</a:t>
            </a:r>
            <a:r>
              <a:rPr lang="en-US" altLang="zh-TW" dirty="0" smtClean="0"/>
              <a:t> </a:t>
            </a:r>
            <a:r>
              <a:rPr lang="en-US" altLang="zh-TW" dirty="0"/>
              <a:t>commands in the </a:t>
            </a:r>
            <a:r>
              <a:rPr lang="en-US" altLang="zh-TW" dirty="0" err="1"/>
              <a:t>command_queue</a:t>
            </a:r>
            <a:r>
              <a:rPr lang="en-US" altLang="zh-TW" dirty="0"/>
              <a:t> are issued and </a:t>
            </a:r>
            <a:r>
              <a:rPr lang="en-US" altLang="zh-TW" dirty="0" smtClean="0"/>
              <a:t>reached its </a:t>
            </a:r>
            <a:r>
              <a:rPr lang="en-US" altLang="zh-TW" dirty="0"/>
              <a:t>state of completion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8323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Event-based or </a:t>
            </a:r>
            <a:r>
              <a:rPr lang="en-US" altLang="zh-TW" dirty="0" smtClean="0"/>
              <a:t>fine-grained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These event </a:t>
            </a:r>
            <a:r>
              <a:rPr lang="en-US" altLang="zh-TW" dirty="0" smtClean="0"/>
              <a:t>handles identify </a:t>
            </a:r>
            <a:r>
              <a:rPr lang="en-US" altLang="zh-TW" dirty="0"/>
              <a:t>the unique commands in the queue and can be used for </a:t>
            </a:r>
            <a:r>
              <a:rPr lang="en-US" altLang="zh-TW" dirty="0" smtClean="0"/>
              <a:t>synchronizing algorithm </a:t>
            </a:r>
            <a:r>
              <a:rPr lang="en-US" altLang="zh-TW" dirty="0"/>
              <a:t>execution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An </a:t>
            </a:r>
            <a:r>
              <a:rPr lang="en-US" altLang="zh-TW" dirty="0" err="1"/>
              <a:t>OpenCL</a:t>
            </a:r>
            <a:r>
              <a:rPr lang="en-US" altLang="zh-TW" dirty="0"/>
              <a:t> event state is defined as one of the </a:t>
            </a:r>
            <a:r>
              <a:rPr lang="en-US" altLang="zh-TW" dirty="0" smtClean="0"/>
              <a:t>following stages </a:t>
            </a:r>
            <a:r>
              <a:rPr lang="en-US" altLang="zh-TW" dirty="0"/>
              <a:t>based on the life time of the task:</a:t>
            </a:r>
          </a:p>
          <a:p>
            <a:pPr lvl="1"/>
            <a:r>
              <a:rPr lang="en-US" altLang="zh-TW" dirty="0" smtClean="0"/>
              <a:t>CL_QUEUED</a:t>
            </a:r>
          </a:p>
          <a:p>
            <a:pPr lvl="1"/>
            <a:r>
              <a:rPr lang="en-US" altLang="zh-TW" dirty="0" smtClean="0"/>
              <a:t>CL_SUBMITTED</a:t>
            </a:r>
          </a:p>
          <a:p>
            <a:pPr lvl="1"/>
            <a:r>
              <a:rPr lang="en-US" altLang="zh-TW" dirty="0" smtClean="0"/>
              <a:t>CL_RUNNING</a:t>
            </a:r>
            <a:endParaRPr lang="en-US" altLang="zh-TW" dirty="0"/>
          </a:p>
          <a:p>
            <a:pPr lvl="1"/>
            <a:r>
              <a:rPr lang="en-US" altLang="zh-TW" dirty="0" smtClean="0"/>
              <a:t>CL_COMPLETE</a:t>
            </a: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41282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Event-based or fine-grained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err="1"/>
              <a:t>clEnqueueBarrier</a:t>
            </a:r>
            <a:r>
              <a:rPr lang="en-US" altLang="zh-TW" dirty="0"/>
              <a:t> is a synchronization point that ensures that all queued commands in </a:t>
            </a:r>
            <a:r>
              <a:rPr lang="en-US" altLang="zh-TW" dirty="0" err="1"/>
              <a:t>command_queue</a:t>
            </a:r>
            <a:r>
              <a:rPr lang="en-US" altLang="zh-TW" dirty="0"/>
              <a:t> have finished execution before the next batch of commands can begin execution</a:t>
            </a:r>
            <a:r>
              <a:rPr lang="en-US" altLang="zh-TW" dirty="0" smtClean="0"/>
              <a:t>.</a:t>
            </a:r>
          </a:p>
          <a:p>
            <a:r>
              <a:rPr lang="en-US" altLang="zh-TW" b="1" dirty="0" err="1"/>
              <a:t>clEnqueueMarkerWithWaitList</a:t>
            </a:r>
            <a:r>
              <a:rPr lang="en-US" altLang="zh-TW" b="1" dirty="0"/>
              <a:t> </a:t>
            </a:r>
            <a:r>
              <a:rPr lang="en-US" altLang="zh-TW" dirty="0" err="1"/>
              <a:t>Enqueues</a:t>
            </a:r>
            <a:r>
              <a:rPr lang="en-US" altLang="zh-TW" dirty="0"/>
              <a:t> a marker command which waits for either a list of events to complete, or all previously </a:t>
            </a:r>
            <a:r>
              <a:rPr lang="en-US" altLang="zh-TW" dirty="0" err="1"/>
              <a:t>enqueued</a:t>
            </a:r>
            <a:r>
              <a:rPr lang="en-US" altLang="zh-TW" dirty="0"/>
              <a:t> commands to complete.</a:t>
            </a:r>
          </a:p>
          <a:p>
            <a:pPr lvl="1"/>
            <a:r>
              <a:rPr lang="en-US" altLang="zh-TW" dirty="0"/>
              <a:t>it does not stop the execution of subsequent tasks </a:t>
            </a:r>
            <a:r>
              <a:rPr lang="en-US" altLang="zh-TW" dirty="0" err="1"/>
              <a:t>enqueued</a:t>
            </a:r>
            <a:r>
              <a:rPr lang="en-US" altLang="zh-TW" dirty="0"/>
              <a:t> in the command queue. </a:t>
            </a:r>
            <a:endParaRPr lang="zh-TW" altLang="en-US" dirty="0"/>
          </a:p>
          <a:p>
            <a:r>
              <a:rPr lang="en-US" altLang="zh-TW" b="1" dirty="0" err="1"/>
              <a:t>clWaitForEvents</a:t>
            </a:r>
            <a:r>
              <a:rPr lang="en-US" altLang="zh-TW" b="1" dirty="0"/>
              <a:t> </a:t>
            </a:r>
            <a:r>
              <a:rPr lang="en-US" altLang="zh-TW" dirty="0"/>
              <a:t>This function waits on the host thread for commands identified by event objects in </a:t>
            </a:r>
            <a:r>
              <a:rPr lang="en-US" altLang="zh-TW" dirty="0" err="1"/>
              <a:t>event_list</a:t>
            </a:r>
            <a:r>
              <a:rPr lang="en-US" altLang="zh-TW" dirty="0"/>
              <a:t> to complete.</a:t>
            </a:r>
          </a:p>
          <a:p>
            <a:endParaRPr lang="zh-TW" altLang="en-US" b="1" dirty="0"/>
          </a:p>
          <a:p>
            <a:endParaRPr lang="en-US" altLang="zh-TW" b="1" dirty="0" smtClean="0"/>
          </a:p>
        </p:txBody>
      </p:sp>
    </p:spTree>
    <p:extLst>
      <p:ext uri="{BB962C8B-B14F-4D97-AF65-F5344CB8AC3E}">
        <p14:creationId xmlns:p14="http://schemas.microsoft.com/office/powerpoint/2010/main" val="211071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Event-based or fine-grained synchronization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131205"/>
            <a:ext cx="10972800" cy="288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44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fences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C specification provides for runtime barriers in a work item and across </a:t>
            </a:r>
            <a:r>
              <a:rPr lang="en-US" altLang="zh-TW" dirty="0" smtClean="0"/>
              <a:t>a single </a:t>
            </a:r>
            <a:r>
              <a:rPr lang="en-US" altLang="zh-TW" dirty="0"/>
              <a:t>work group. </a:t>
            </a:r>
            <a:endParaRPr lang="en-US" altLang="zh-TW" dirty="0" smtClean="0"/>
          </a:p>
          <a:p>
            <a:r>
              <a:rPr lang="en-US" altLang="zh-TW" dirty="0" smtClean="0"/>
              <a:t>Barriers </a:t>
            </a:r>
            <a:r>
              <a:rPr lang="en-US" altLang="zh-TW" dirty="0"/>
              <a:t>may only synchronize threads in the same workgroup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There is no way to synchronize between different work groups.</a:t>
            </a:r>
          </a:p>
          <a:p>
            <a:r>
              <a:rPr lang="en-US" altLang="zh-TW" dirty="0"/>
              <a:t>For </a:t>
            </a:r>
            <a:r>
              <a:rPr lang="en-US" altLang="zh-TW" dirty="0" smtClean="0"/>
              <a:t>synchronizing outside </a:t>
            </a:r>
            <a:r>
              <a:rPr lang="en-US" altLang="zh-TW" dirty="0"/>
              <a:t>of the work group the kernel should complete its execution. </a:t>
            </a:r>
            <a:endParaRPr lang="en-US" altLang="zh-TW" dirty="0" smtClean="0"/>
          </a:p>
          <a:p>
            <a:r>
              <a:rPr lang="en-US" altLang="zh-TW" dirty="0" smtClean="0"/>
              <a:t>There </a:t>
            </a:r>
            <a:r>
              <a:rPr lang="en-US" altLang="zh-TW" dirty="0"/>
              <a:t>are </a:t>
            </a:r>
            <a:r>
              <a:rPr lang="en-US" altLang="zh-TW" dirty="0" smtClean="0"/>
              <a:t>two types </a:t>
            </a:r>
            <a:r>
              <a:rPr lang="en-US" altLang="zh-TW" dirty="0"/>
              <a:t>of memory fences: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549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fences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CLK_LOCAL_MEM_FENCE: This ensures correct ordering of operations on </a:t>
            </a:r>
            <a:r>
              <a:rPr lang="en-US" altLang="zh-TW" dirty="0" smtClean="0"/>
              <a:t>local memory</a:t>
            </a:r>
            <a:r>
              <a:rPr lang="en-US" altLang="zh-TW" dirty="0"/>
              <a:t>. It is used as follows:</a:t>
            </a:r>
          </a:p>
          <a:p>
            <a:pPr lvl="1"/>
            <a:r>
              <a:rPr lang="en-US" altLang="zh-TW" dirty="0"/>
              <a:t>barrier(CLK_LOCAL_MEM_FENCE</a:t>
            </a:r>
            <a:r>
              <a:rPr lang="en-US" altLang="zh-TW" dirty="0" smtClean="0"/>
              <a:t>);</a:t>
            </a:r>
          </a:p>
          <a:p>
            <a:r>
              <a:rPr lang="en-US" altLang="zh-TW" dirty="0"/>
              <a:t>CLK_GLOBAL_MEM_FENCE: This ensures correct ordering of operations on global memory. It is used as follows:</a:t>
            </a:r>
          </a:p>
          <a:p>
            <a:pPr lvl="1"/>
            <a:r>
              <a:rPr lang="en-US" altLang="zh-TW" dirty="0"/>
              <a:t>barrier(CLK_GLOBAL_MEM_FENCE);</a:t>
            </a:r>
            <a:endParaRPr lang="zh-TW" altLang="en-US" dirty="0"/>
          </a:p>
          <a:p>
            <a:r>
              <a:rPr lang="en-US" altLang="zh-TW" dirty="0"/>
              <a:t>Sometimes both can be used together as shown in the following code. This will </a:t>
            </a:r>
            <a:r>
              <a:rPr lang="en-US" altLang="zh-TW" dirty="0" smtClean="0"/>
              <a:t>help in </a:t>
            </a:r>
            <a:r>
              <a:rPr lang="en-US" altLang="zh-TW" dirty="0"/>
              <a:t>debugging, or the algorithm uses both the global and local memory:</a:t>
            </a:r>
          </a:p>
          <a:p>
            <a:pPr lvl="1"/>
            <a:r>
              <a:rPr lang="en-US" altLang="zh-TW" dirty="0"/>
              <a:t>barrier(CLK_LOCAL_MEM_FENCE | CLK_GLOBAL_MEM_FENCE);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723929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C Programming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</a:t>
            </a:r>
            <a:r>
              <a:rPr lang="en-US" altLang="zh-TW" dirty="0" smtClean="0"/>
              <a:t>C language </a:t>
            </a:r>
            <a:r>
              <a:rPr lang="en-US" altLang="zh-TW" dirty="0"/>
              <a:t>specification is based out of the C99 </a:t>
            </a:r>
            <a:r>
              <a:rPr lang="en-US" altLang="zh-TW" dirty="0" smtClean="0"/>
              <a:t>standard.</a:t>
            </a:r>
          </a:p>
          <a:p>
            <a:r>
              <a:rPr lang="en-US" altLang="zh-TW" dirty="0"/>
              <a:t>A compliant C kernel code is compiled by the </a:t>
            </a:r>
            <a:r>
              <a:rPr lang="en-US" altLang="zh-TW" dirty="0" err="1"/>
              <a:t>OpenCL</a:t>
            </a:r>
            <a:r>
              <a:rPr lang="en-US" altLang="zh-TW" dirty="0"/>
              <a:t> runtime compiler using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clBuildProgram</a:t>
            </a:r>
            <a:r>
              <a:rPr lang="en-US" altLang="zh-TW" dirty="0" smtClean="0"/>
              <a:t> </a:t>
            </a:r>
            <a:r>
              <a:rPr lang="en-US" altLang="zh-TW" dirty="0"/>
              <a:t>function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we will discuss the specifications </a:t>
            </a:r>
            <a:r>
              <a:rPr lang="en-US" altLang="zh-TW" dirty="0" smtClean="0"/>
              <a:t>and restrictions </a:t>
            </a:r>
            <a:r>
              <a:rPr lang="en-US" altLang="zh-TW" dirty="0"/>
              <a:t>for writing an </a:t>
            </a:r>
            <a:r>
              <a:rPr lang="en-US" altLang="zh-TW" dirty="0" err="1"/>
              <a:t>OpenCL</a:t>
            </a:r>
            <a:r>
              <a:rPr lang="en-US" altLang="zh-TW" dirty="0"/>
              <a:t> compliant C kernel code. </a:t>
            </a:r>
            <a:r>
              <a:rPr lang="en-US" altLang="zh-TW" dirty="0" smtClean="0"/>
              <a:t>The </a:t>
            </a:r>
            <a:r>
              <a:rPr lang="en-US" altLang="zh-TW" dirty="0"/>
              <a:t>following </a:t>
            </a:r>
            <a:r>
              <a:rPr lang="en-US" altLang="zh-TW" dirty="0" smtClean="0"/>
              <a:t>bullet list </a:t>
            </a:r>
            <a:r>
              <a:rPr lang="en-US" altLang="zh-TW" dirty="0"/>
              <a:t>states the topics which will be discussed in this chapter:</a:t>
            </a:r>
          </a:p>
          <a:p>
            <a:pPr lvl="1"/>
            <a:r>
              <a:rPr lang="en-US" altLang="zh-TW" dirty="0" smtClean="0"/>
              <a:t>Built-in </a:t>
            </a:r>
            <a:r>
              <a:rPr lang="en-US" altLang="zh-TW" dirty="0"/>
              <a:t>data types</a:t>
            </a:r>
          </a:p>
          <a:p>
            <a:pPr lvl="1"/>
            <a:r>
              <a:rPr lang="en-US" altLang="zh-TW" dirty="0" smtClean="0"/>
              <a:t>Conversions </a:t>
            </a:r>
            <a:r>
              <a:rPr lang="en-US" altLang="zh-TW" dirty="0"/>
              <a:t>and type casting</a:t>
            </a:r>
          </a:p>
          <a:p>
            <a:pPr lvl="1"/>
            <a:r>
              <a:rPr lang="en-US" altLang="zh-TW" dirty="0" smtClean="0"/>
              <a:t>Address </a:t>
            </a:r>
            <a:r>
              <a:rPr lang="en-US" altLang="zh-TW" dirty="0"/>
              <a:t>space qualifiers</a:t>
            </a:r>
          </a:p>
          <a:p>
            <a:pPr lvl="1"/>
            <a:r>
              <a:rPr lang="en-US" altLang="zh-TW" dirty="0" smtClean="0"/>
              <a:t>Function </a:t>
            </a:r>
            <a:r>
              <a:rPr lang="en-US" altLang="zh-TW" dirty="0"/>
              <a:t>qualifiers</a:t>
            </a:r>
          </a:p>
          <a:p>
            <a:pPr lvl="1"/>
            <a:r>
              <a:rPr lang="en-US" altLang="zh-TW" dirty="0" smtClean="0"/>
              <a:t>Built-in </a:t>
            </a:r>
            <a:r>
              <a:rPr lang="en-US" altLang="zh-TW" dirty="0"/>
              <a:t>functions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4349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Please refer the spec.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26105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Address space qualifiers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There are four different address space qualifiers supported by </a:t>
            </a:r>
            <a:r>
              <a:rPr lang="en-US" altLang="zh-TW" dirty="0" err="1"/>
              <a:t>OpenCL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__global or global</a:t>
            </a:r>
          </a:p>
          <a:p>
            <a:pPr lvl="1"/>
            <a:r>
              <a:rPr lang="en-US" altLang="zh-TW" dirty="0"/>
              <a:t>__local or local</a:t>
            </a:r>
          </a:p>
          <a:p>
            <a:pPr lvl="1"/>
            <a:r>
              <a:rPr lang="en-US" altLang="zh-TW" dirty="0"/>
              <a:t>__constant or constant</a:t>
            </a:r>
          </a:p>
          <a:p>
            <a:pPr lvl="1"/>
            <a:r>
              <a:rPr lang="en-US" altLang="zh-TW" dirty="0"/>
              <a:t>__private or private</a:t>
            </a:r>
            <a:endParaRPr lang="zh-TW" altLang="en-US" dirty="0"/>
          </a:p>
          <a:p>
            <a:r>
              <a:rPr lang="en-US" altLang="zh-TW" dirty="0"/>
              <a:t>The </a:t>
            </a:r>
            <a:r>
              <a:rPr lang="en-US" altLang="zh-TW" dirty="0" smtClean="0"/>
              <a:t>address space </a:t>
            </a:r>
            <a:r>
              <a:rPr lang="en-US" altLang="zh-TW" dirty="0"/>
              <a:t>qualifier is used in variable declarations to specify the region of </a:t>
            </a:r>
            <a:r>
              <a:rPr lang="en-US" altLang="zh-TW" dirty="0" smtClean="0"/>
              <a:t>memory to </a:t>
            </a:r>
            <a:r>
              <a:rPr lang="en-US" altLang="zh-TW" dirty="0"/>
              <a:t>allocate the declared object.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3824357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__global/global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__global or global address space name is used to refer to memory </a:t>
            </a:r>
            <a:r>
              <a:rPr lang="en-US" altLang="zh-TW" dirty="0" smtClean="0"/>
              <a:t>objects allocated </a:t>
            </a:r>
            <a:r>
              <a:rPr lang="en-US" altLang="zh-TW" dirty="0"/>
              <a:t>from the global memory pool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All the memory usually </a:t>
            </a:r>
            <a:r>
              <a:rPr lang="en-US" altLang="zh-TW" dirty="0" smtClean="0"/>
              <a:t>gets allocated </a:t>
            </a:r>
            <a:r>
              <a:rPr lang="en-US" altLang="zh-TW" dirty="0"/>
              <a:t>at the host side, and is passed to the kernel as a </a:t>
            </a:r>
            <a:r>
              <a:rPr lang="en-US" altLang="zh-TW" dirty="0" err="1"/>
              <a:t>cl_mem</a:t>
            </a:r>
            <a:r>
              <a:rPr lang="en-US" altLang="zh-TW" dirty="0"/>
              <a:t> object created </a:t>
            </a:r>
            <a:r>
              <a:rPr lang="en-US" altLang="zh-TW" dirty="0" smtClean="0"/>
              <a:t>using the </a:t>
            </a:r>
            <a:r>
              <a:rPr lang="en-US" altLang="zh-TW" dirty="0" err="1"/>
              <a:t>clCreateBuffer</a:t>
            </a:r>
            <a:r>
              <a:rPr lang="en-US" altLang="zh-TW" dirty="0"/>
              <a:t> function.</a:t>
            </a:r>
          </a:p>
          <a:p>
            <a:r>
              <a:rPr lang="en-US" altLang="zh-TW" dirty="0"/>
              <a:t>The </a:t>
            </a:r>
            <a:r>
              <a:rPr lang="en-US" altLang="zh-TW" dirty="0" err="1"/>
              <a:t>const</a:t>
            </a:r>
            <a:r>
              <a:rPr lang="en-US" altLang="zh-TW" dirty="0"/>
              <a:t> qualifier can also be added to the __global qualifier to specify that </a:t>
            </a:r>
            <a:r>
              <a:rPr lang="en-US" altLang="zh-TW" dirty="0" smtClean="0"/>
              <a:t>the memory </a:t>
            </a:r>
            <a:r>
              <a:rPr lang="en-US" altLang="zh-TW" dirty="0"/>
              <a:t>object is read only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0093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__local/local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This memory address space </a:t>
            </a:r>
            <a:r>
              <a:rPr lang="en-US" altLang="zh-TW" dirty="0" err="1"/>
              <a:t>specifier</a:t>
            </a:r>
            <a:r>
              <a:rPr lang="en-US" altLang="zh-TW" dirty="0"/>
              <a:t> is allocated space in local memory of </a:t>
            </a:r>
            <a:r>
              <a:rPr lang="en-US" altLang="zh-TW" dirty="0" smtClean="0"/>
              <a:t>the computing </a:t>
            </a:r>
            <a:r>
              <a:rPr lang="en-US" altLang="zh-TW" dirty="0"/>
              <a:t>device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It can be shared across all the work items in a work group.</a:t>
            </a:r>
          </a:p>
          <a:p>
            <a:r>
              <a:rPr lang="en-US" altLang="zh-TW" dirty="0"/>
              <a:t>The variables or memory objects created with __local address space </a:t>
            </a:r>
            <a:r>
              <a:rPr lang="en-US" altLang="zh-TW" dirty="0" err="1" smtClean="0"/>
              <a:t>qualifier,have</a:t>
            </a:r>
            <a:r>
              <a:rPr lang="en-US" altLang="zh-TW" dirty="0" smtClean="0"/>
              <a:t> </a:t>
            </a:r>
            <a:r>
              <a:rPr lang="en-US" altLang="zh-TW" dirty="0"/>
              <a:t>life time only till the execution of the work group executing the kernel. The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67123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__constant/constant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__constant or constant address space name is used to describe </a:t>
            </a:r>
            <a:r>
              <a:rPr lang="en-US" altLang="zh-TW" dirty="0" smtClean="0"/>
              <a:t>variables allocated </a:t>
            </a:r>
            <a:r>
              <a:rPr lang="en-US" altLang="zh-TW" dirty="0"/>
              <a:t>in global memory and which are accessed inside a kernel(s) as </a:t>
            </a:r>
            <a:r>
              <a:rPr lang="en-US" altLang="zh-TW" dirty="0" smtClean="0"/>
              <a:t>read-only variables </a:t>
            </a:r>
            <a:r>
              <a:rPr lang="en-US" altLang="zh-TW" dirty="0"/>
              <a:t>and can be accessed by all the global work item of the kernels during </a:t>
            </a:r>
            <a:r>
              <a:rPr lang="en-US" altLang="zh-TW" dirty="0" smtClean="0"/>
              <a:t>its execution.</a:t>
            </a:r>
          </a:p>
          <a:p>
            <a:r>
              <a:rPr lang="en-US" altLang="zh-TW" dirty="0"/>
              <a:t>Pointers to __constant variable are allowed inside the kernel and can </a:t>
            </a:r>
            <a:r>
              <a:rPr lang="en-US" altLang="zh-TW" dirty="0" smtClean="0"/>
              <a:t>be passed </a:t>
            </a:r>
            <a:r>
              <a:rPr lang="en-US" altLang="zh-TW" dirty="0"/>
              <a:t>as an argument to the kernel. String literals are allocated __constant </a:t>
            </a:r>
            <a:r>
              <a:rPr lang="en-US" altLang="zh-TW" dirty="0" smtClean="0"/>
              <a:t>address space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All </a:t>
            </a:r>
            <a:r>
              <a:rPr lang="en-US" altLang="zh-TW" dirty="0"/>
              <a:t>program scope variables get defined in the __constant address </a:t>
            </a:r>
            <a:r>
              <a:rPr lang="en-US" altLang="zh-TW" dirty="0" smtClean="0"/>
              <a:t>space. 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means that these variables need to be initialized and must be resolved </a:t>
            </a:r>
            <a:r>
              <a:rPr lang="en-US" altLang="zh-TW" dirty="0" smtClean="0"/>
              <a:t>during compile </a:t>
            </a:r>
            <a:r>
              <a:rPr lang="en-US" altLang="zh-TW" dirty="0"/>
              <a:t>time.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20156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__private/private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All the kernel arguments which do not specify any qualifier are by default </a:t>
            </a:r>
            <a:r>
              <a:rPr lang="en-US" altLang="zh-TW" dirty="0" smtClean="0"/>
              <a:t>treated as </a:t>
            </a:r>
            <a:r>
              <a:rPr lang="en-US" altLang="zh-TW" dirty="0"/>
              <a:t>__private address space qualifiers. </a:t>
            </a:r>
            <a:endParaRPr lang="en-US" altLang="zh-TW" dirty="0" smtClean="0"/>
          </a:p>
          <a:p>
            <a:r>
              <a:rPr lang="en-US" altLang="zh-TW" dirty="0" smtClean="0"/>
              <a:t>Similarly </a:t>
            </a:r>
            <a:r>
              <a:rPr lang="en-US" altLang="zh-TW" dirty="0"/>
              <a:t>all variables inside </a:t>
            </a:r>
            <a:r>
              <a:rPr lang="en-US" altLang="zh-TW" dirty="0" smtClean="0"/>
              <a:t>non-kernel and </a:t>
            </a:r>
            <a:r>
              <a:rPr lang="en-US" altLang="zh-TW" dirty="0"/>
              <a:t>kernel functions are in the __private or private address space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Pointer arguments to kernel functions must be declared with any one of the address </a:t>
            </a:r>
            <a:r>
              <a:rPr lang="en-US" altLang="zh-TW" dirty="0" err="1"/>
              <a:t>specifiers</a:t>
            </a:r>
            <a:r>
              <a:rPr lang="en-US" altLang="zh-TW" dirty="0"/>
              <a:t> __global, __constant, or __local qualifier.</a:t>
            </a:r>
          </a:p>
          <a:p>
            <a:r>
              <a:rPr lang="en-US" altLang="zh-TW" dirty="0"/>
              <a:t>By default unless specified they will be assumed in the __private region.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24268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Built-in functions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OpenCL</a:t>
            </a:r>
            <a:r>
              <a:rPr lang="en-US" altLang="zh-TW" dirty="0"/>
              <a:t> </a:t>
            </a:r>
            <a:r>
              <a:rPr lang="en-US" altLang="zh-TW" dirty="0" smtClean="0"/>
              <a:t>C provides </a:t>
            </a:r>
            <a:r>
              <a:rPr lang="en-US" altLang="zh-TW" dirty="0"/>
              <a:t>a huge set of built in functions, which can be used by the programmer </a:t>
            </a:r>
            <a:r>
              <a:rPr lang="en-US" altLang="zh-TW" dirty="0" smtClean="0"/>
              <a:t>for programming </a:t>
            </a:r>
            <a:r>
              <a:rPr lang="en-US" altLang="zh-TW" dirty="0"/>
              <a:t>the </a:t>
            </a:r>
            <a:r>
              <a:rPr lang="en-US" altLang="zh-TW" dirty="0" err="1"/>
              <a:t>OpenCL</a:t>
            </a:r>
            <a:r>
              <a:rPr lang="en-US" altLang="zh-TW" dirty="0"/>
              <a:t> kernels. </a:t>
            </a:r>
            <a:endParaRPr lang="en-US" altLang="zh-TW" dirty="0" smtClean="0"/>
          </a:p>
          <a:p>
            <a:r>
              <a:rPr lang="en-US" altLang="zh-TW" dirty="0" smtClean="0"/>
              <a:t>Using </a:t>
            </a:r>
            <a:r>
              <a:rPr lang="en-US" altLang="zh-TW" dirty="0"/>
              <a:t>built-in functions wherever possible </a:t>
            </a:r>
            <a:r>
              <a:rPr lang="en-US" altLang="zh-TW" dirty="0" smtClean="0"/>
              <a:t>may result </a:t>
            </a:r>
            <a:r>
              <a:rPr lang="en-US" altLang="zh-TW" dirty="0"/>
              <a:t>in performance enhancement. Also this will make sure the code is </a:t>
            </a:r>
            <a:r>
              <a:rPr lang="en-US" altLang="zh-TW" dirty="0" smtClean="0"/>
              <a:t>portable across </a:t>
            </a:r>
            <a:r>
              <a:rPr lang="en-US" altLang="zh-TW" dirty="0"/>
              <a:t>different vendors.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16007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Work item function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743" y="1125538"/>
            <a:ext cx="6040513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308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Synchronization and memory fence functions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Most of the highly parallel </a:t>
            </a:r>
            <a:r>
              <a:rPr lang="en-US" altLang="zh-TW" dirty="0" err="1"/>
              <a:t>OpenCL</a:t>
            </a:r>
            <a:r>
              <a:rPr lang="en-US" altLang="zh-TW" dirty="0"/>
              <a:t> devices </a:t>
            </a:r>
            <a:r>
              <a:rPr lang="en-US" altLang="zh-TW" dirty="0" smtClean="0"/>
              <a:t>run all </a:t>
            </a:r>
            <a:r>
              <a:rPr lang="en-US" altLang="zh-TW" dirty="0"/>
              <a:t>the work items in a work group in tandem that is all the work items run the </a:t>
            </a:r>
            <a:r>
              <a:rPr lang="en-US" altLang="zh-TW" dirty="0" smtClean="0"/>
              <a:t>same program </a:t>
            </a:r>
            <a:r>
              <a:rPr lang="en-US" altLang="zh-TW" dirty="0"/>
              <a:t>counter instruction at the same </a:t>
            </a:r>
            <a:r>
              <a:rPr lang="en-US" altLang="zh-TW" dirty="0" smtClean="0"/>
              <a:t>time.</a:t>
            </a:r>
          </a:p>
          <a:p>
            <a:r>
              <a:rPr lang="en-US" altLang="zh-TW" dirty="0" err="1"/>
              <a:t>OpenCL</a:t>
            </a:r>
            <a:r>
              <a:rPr lang="en-US" altLang="zh-TW" dirty="0"/>
              <a:t> C provides the barrier routine to stop the execution of a work </a:t>
            </a:r>
            <a:r>
              <a:rPr lang="en-US" altLang="zh-TW" dirty="0" smtClean="0"/>
              <a:t>item, till </a:t>
            </a:r>
            <a:r>
              <a:rPr lang="en-US" altLang="zh-TW" dirty="0"/>
              <a:t>to until all the work items in that work group reach the same execution point.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80815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Synchronization and memory fence functions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barrier function will either flush any variables stored in local memory or queue a memory fence to ensure correct ordering of memory operations to local memory. </a:t>
            </a:r>
          </a:p>
          <a:p>
            <a:r>
              <a:rPr lang="en-US" altLang="zh-TW" dirty="0" smtClean="0"/>
              <a:t>CLK_LOCAL_MEM_FENCE—this </a:t>
            </a:r>
            <a:r>
              <a:rPr lang="en-US" altLang="zh-TW" dirty="0"/>
              <a:t>ensures correct ordering of operations on local </a:t>
            </a:r>
            <a:r>
              <a:rPr lang="en-US" altLang="zh-TW" dirty="0" smtClean="0"/>
              <a:t>memory. It </a:t>
            </a:r>
            <a:r>
              <a:rPr lang="en-US" altLang="zh-TW" dirty="0"/>
              <a:t>is used as follows:</a:t>
            </a:r>
          </a:p>
          <a:p>
            <a:pPr lvl="1"/>
            <a:r>
              <a:rPr lang="en-US" altLang="zh-TW" dirty="0"/>
              <a:t>barrier(CLK_LOCAL_MEM_FENCE);</a:t>
            </a:r>
          </a:p>
          <a:p>
            <a:r>
              <a:rPr lang="en-US" altLang="zh-TW" dirty="0" smtClean="0"/>
              <a:t>CLK_GLOBAL_MEM_FENCE—this </a:t>
            </a:r>
            <a:r>
              <a:rPr lang="en-US" altLang="zh-TW" dirty="0"/>
              <a:t>ensures correct ordering of operations on </a:t>
            </a:r>
            <a:r>
              <a:rPr lang="en-US" altLang="zh-TW" dirty="0" err="1" smtClean="0"/>
              <a:t>globalmemory</a:t>
            </a:r>
            <a:r>
              <a:rPr lang="en-US" altLang="zh-TW" dirty="0"/>
              <a:t>. It is used as follows:</a:t>
            </a:r>
          </a:p>
          <a:p>
            <a:pPr lvl="1"/>
            <a:r>
              <a:rPr lang="en-US" altLang="zh-TW" dirty="0"/>
              <a:t>barrier(CLK_GLOBAL_MEM_FENCE);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37368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Virtual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err="1"/>
              <a:t>OpenCL</a:t>
            </a:r>
            <a:r>
              <a:rPr lang="en-US" altLang="zh-TW" dirty="0"/>
              <a:t> 1.2 buffer objects can only be passed as kernel </a:t>
            </a:r>
            <a:r>
              <a:rPr lang="en-US" altLang="zh-TW" dirty="0" smtClean="0"/>
              <a:t>arguments</a:t>
            </a:r>
          </a:p>
          <a:p>
            <a:r>
              <a:rPr lang="en-US" altLang="zh-TW" dirty="0" smtClean="0"/>
              <a:t>Buffer object described as pointer to type in kernel</a:t>
            </a:r>
          </a:p>
          <a:p>
            <a:r>
              <a:rPr lang="en-US" altLang="zh-TW" dirty="0" smtClean="0"/>
              <a:t>Restrictions</a:t>
            </a:r>
            <a:endParaRPr lang="en-US" altLang="zh-TW" dirty="0"/>
          </a:p>
          <a:p>
            <a:pPr lvl="1"/>
            <a:r>
              <a:rPr lang="en-US" altLang="zh-TW" dirty="0" smtClean="0"/>
              <a:t>Pass </a:t>
            </a:r>
            <a:r>
              <a:rPr lang="en-US" altLang="zh-TW" dirty="0"/>
              <a:t>a pointer + offset as argument value</a:t>
            </a:r>
          </a:p>
          <a:p>
            <a:pPr lvl="1"/>
            <a:r>
              <a:rPr lang="en-US" altLang="zh-TW" dirty="0" smtClean="0"/>
              <a:t>Store </a:t>
            </a:r>
            <a:r>
              <a:rPr lang="en-US" altLang="zh-TW" dirty="0"/>
              <a:t>pointers in buffer object(s)</a:t>
            </a:r>
          </a:p>
          <a:p>
            <a:r>
              <a:rPr lang="en-US" altLang="zh-TW" dirty="0" smtClean="0"/>
              <a:t>Why</a:t>
            </a:r>
            <a:r>
              <a:rPr lang="en-US" altLang="zh-TW" dirty="0"/>
              <a:t>?</a:t>
            </a:r>
          </a:p>
          <a:p>
            <a:pPr lvl="1"/>
            <a:r>
              <a:rPr lang="en-US" altLang="zh-TW" dirty="0" smtClean="0"/>
              <a:t>Host </a:t>
            </a:r>
            <a:r>
              <a:rPr lang="en-US" altLang="zh-TW" dirty="0"/>
              <a:t>and </a:t>
            </a:r>
            <a:r>
              <a:rPr lang="en-US" altLang="zh-TW" dirty="0" err="1"/>
              <a:t>OpenCL</a:t>
            </a:r>
            <a:r>
              <a:rPr lang="en-US" altLang="zh-TW" dirty="0"/>
              <a:t> device may not share the same virtual address space</a:t>
            </a:r>
          </a:p>
          <a:p>
            <a:pPr lvl="1"/>
            <a:r>
              <a:rPr lang="en-US" altLang="zh-TW" dirty="0" smtClean="0"/>
              <a:t>No </a:t>
            </a:r>
            <a:r>
              <a:rPr lang="en-US" altLang="zh-TW" dirty="0"/>
              <a:t>guarantee that the same virtual address will be used for a kernel </a:t>
            </a:r>
            <a:r>
              <a:rPr lang="en-US" altLang="zh-TW" dirty="0" smtClean="0"/>
              <a:t>argument across </a:t>
            </a:r>
            <a:r>
              <a:rPr lang="en-US" altLang="zh-TW" dirty="0"/>
              <a:t>multiple </a:t>
            </a:r>
            <a:r>
              <a:rPr lang="en-US" altLang="zh-TW" dirty="0" err="1"/>
              <a:t>enqueues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996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Virtual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clSVMAlloc</a:t>
            </a:r>
            <a:r>
              <a:rPr lang="en-US" altLang="zh-TW" dirty="0"/>
              <a:t> – allocates a shared virtual memory buffer</a:t>
            </a:r>
          </a:p>
          <a:p>
            <a:pPr lvl="1"/>
            <a:r>
              <a:rPr lang="en-US" altLang="zh-TW" dirty="0" smtClean="0"/>
              <a:t>Specify </a:t>
            </a:r>
            <a:r>
              <a:rPr lang="en-US" altLang="zh-TW" dirty="0"/>
              <a:t>size in bytes</a:t>
            </a:r>
          </a:p>
          <a:p>
            <a:pPr lvl="1"/>
            <a:r>
              <a:rPr lang="en-US" altLang="zh-TW" dirty="0" smtClean="0"/>
              <a:t>Specify </a:t>
            </a:r>
            <a:r>
              <a:rPr lang="en-US" altLang="zh-TW" dirty="0"/>
              <a:t>usage information</a:t>
            </a:r>
          </a:p>
          <a:p>
            <a:pPr lvl="1"/>
            <a:r>
              <a:rPr lang="en-US" altLang="zh-TW" dirty="0" smtClean="0"/>
              <a:t>Optional </a:t>
            </a:r>
            <a:r>
              <a:rPr lang="en-US" altLang="zh-TW" dirty="0"/>
              <a:t>alignment value</a:t>
            </a:r>
          </a:p>
          <a:p>
            <a:r>
              <a:rPr lang="en-US" altLang="zh-TW" dirty="0" smtClean="0"/>
              <a:t>SVM </a:t>
            </a:r>
            <a:r>
              <a:rPr lang="en-US" altLang="zh-TW" dirty="0"/>
              <a:t>pointer can be shared by the host and </a:t>
            </a:r>
            <a:r>
              <a:rPr lang="en-US" altLang="zh-TW" dirty="0" err="1"/>
              <a:t>OpenCL</a:t>
            </a:r>
            <a:r>
              <a:rPr lang="en-US" altLang="zh-TW" dirty="0"/>
              <a:t> device</a:t>
            </a:r>
          </a:p>
          <a:p>
            <a:r>
              <a:rPr lang="en-US" altLang="zh-TW" dirty="0" smtClean="0"/>
              <a:t>Examples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smtClean="0"/>
              <a:t>Free </a:t>
            </a:r>
            <a:r>
              <a:rPr lang="en-US" altLang="zh-TW" dirty="0"/>
              <a:t>SVM buffers</a:t>
            </a:r>
          </a:p>
          <a:p>
            <a:pPr lvl="1"/>
            <a:r>
              <a:rPr lang="en-US" altLang="zh-TW" dirty="0" err="1" smtClean="0"/>
              <a:t>clEnqueueSVMFree</a:t>
            </a:r>
            <a:r>
              <a:rPr lang="en-US" altLang="zh-TW" dirty="0"/>
              <a:t>, </a:t>
            </a:r>
            <a:r>
              <a:rPr lang="en-US" altLang="zh-TW" dirty="0" err="1"/>
              <a:t>clSVMFree</a:t>
            </a:r>
            <a:endParaRPr lang="en-US" altLang="zh-TW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96" y="4101056"/>
            <a:ext cx="750570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2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Virtual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clSetKernelArgSVMPointer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SVM </a:t>
            </a:r>
            <a:r>
              <a:rPr lang="en-US" altLang="zh-TW" dirty="0"/>
              <a:t>pointers as kernel </a:t>
            </a:r>
            <a:r>
              <a:rPr lang="en-US" altLang="zh-TW" dirty="0" smtClean="0"/>
              <a:t>arguments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SVM pointer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SVM pointer +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01" y="2996973"/>
            <a:ext cx="8277225" cy="28670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685" y="1406298"/>
            <a:ext cx="41529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0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Virtual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clSetKernelExecInfo</a:t>
            </a:r>
            <a:endParaRPr lang="en-US" altLang="zh-TW" dirty="0"/>
          </a:p>
          <a:p>
            <a:pPr lvl="1"/>
            <a:r>
              <a:rPr lang="en-US" altLang="zh-TW" dirty="0" smtClean="0"/>
              <a:t>Passing </a:t>
            </a:r>
            <a:r>
              <a:rPr lang="en-US" altLang="zh-TW" dirty="0"/>
              <a:t>SVM pointers in other SVM pointers or buffer objects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17" y="2440441"/>
            <a:ext cx="6342659" cy="301983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893" y="2431710"/>
            <a:ext cx="44672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584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Device side enqueuer kernels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err="1"/>
              <a:t>OpenCL</a:t>
            </a:r>
            <a:r>
              <a:rPr lang="en-US" altLang="zh-TW" dirty="0"/>
              <a:t> 1.2 only the host can </a:t>
            </a:r>
            <a:r>
              <a:rPr lang="en-US" altLang="zh-TW" dirty="0" err="1"/>
              <a:t>enqueue</a:t>
            </a:r>
            <a:r>
              <a:rPr lang="en-US" altLang="zh-TW" dirty="0"/>
              <a:t> </a:t>
            </a:r>
            <a:r>
              <a:rPr lang="en-US" altLang="zh-TW" dirty="0" smtClean="0"/>
              <a:t>kernels. </a:t>
            </a:r>
          </a:p>
          <a:p>
            <a:r>
              <a:rPr lang="en-US" altLang="zh-TW" dirty="0" err="1"/>
              <a:t>OpenCL</a:t>
            </a:r>
            <a:r>
              <a:rPr lang="en-US" altLang="zh-TW" dirty="0"/>
              <a:t> 2.0 allows a kernel to independently </a:t>
            </a:r>
            <a:r>
              <a:rPr lang="en-US" altLang="zh-TW" dirty="0" err="1"/>
              <a:t>enqueue</a:t>
            </a:r>
            <a:r>
              <a:rPr lang="en-US" altLang="zh-TW" dirty="0"/>
              <a:t> to the same device, without host interaction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Use </a:t>
            </a:r>
            <a:r>
              <a:rPr lang="en-US" altLang="zh-TW" dirty="0"/>
              <a:t>similar approach to how host queues commands</a:t>
            </a:r>
          </a:p>
          <a:p>
            <a:pPr lvl="1"/>
            <a:r>
              <a:rPr lang="en-US" altLang="zh-TW" dirty="0" smtClean="0"/>
              <a:t>Queues </a:t>
            </a:r>
            <a:r>
              <a:rPr lang="en-US" altLang="zh-TW" dirty="0"/>
              <a:t>and Events</a:t>
            </a:r>
          </a:p>
          <a:p>
            <a:pPr lvl="1"/>
            <a:r>
              <a:rPr lang="en-US" altLang="zh-TW" dirty="0" smtClean="0"/>
              <a:t>Functions </a:t>
            </a:r>
            <a:r>
              <a:rPr lang="en-US" altLang="zh-TW" dirty="0"/>
              <a:t>that queue kernels and other commands</a:t>
            </a:r>
          </a:p>
          <a:p>
            <a:pPr lvl="1"/>
            <a:r>
              <a:rPr lang="en-US" altLang="zh-TW" dirty="0" smtClean="0"/>
              <a:t>Event </a:t>
            </a:r>
            <a:r>
              <a:rPr lang="en-US" altLang="zh-TW" dirty="0"/>
              <a:t>and Profiling functions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57585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side enqueuer kernels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err="1"/>
              <a:t>enqueue_kernel</a:t>
            </a:r>
            <a:r>
              <a:rPr lang="en-US" altLang="zh-TW" dirty="0"/>
              <a:t> built-in function allows a work-item to </a:t>
            </a:r>
            <a:r>
              <a:rPr lang="en-US" altLang="zh-TW" dirty="0" err="1"/>
              <a:t>enqueue</a:t>
            </a:r>
            <a:r>
              <a:rPr lang="en-US" altLang="zh-TW" dirty="0"/>
              <a:t> a block. </a:t>
            </a:r>
          </a:p>
          <a:p>
            <a:pPr lvl="1"/>
            <a:r>
              <a:rPr lang="en-US" altLang="zh-TW" dirty="0"/>
              <a:t>Work-items can </a:t>
            </a:r>
            <a:r>
              <a:rPr lang="en-US" altLang="zh-TW" dirty="0" err="1"/>
              <a:t>enqueue</a:t>
            </a:r>
            <a:r>
              <a:rPr lang="en-US" altLang="zh-TW" dirty="0"/>
              <a:t> multiple blocks to a device queue(s).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71" y="2666591"/>
            <a:ext cx="7011840" cy="146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2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side enqueuer kernels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CLK_ENQUEUE_FLAGS_NO_WAIT</a:t>
            </a:r>
          </a:p>
          <a:p>
            <a:pPr lvl="1"/>
            <a:r>
              <a:rPr lang="en-US" altLang="zh-TW" dirty="0"/>
              <a:t>Indicates that the </a:t>
            </a:r>
            <a:r>
              <a:rPr lang="en-US" altLang="zh-TW" dirty="0" err="1"/>
              <a:t>enqueued</a:t>
            </a:r>
            <a:r>
              <a:rPr lang="en-US" altLang="zh-TW" dirty="0"/>
              <a:t> kernels do not need to wait for the parent kernel to finish execution before they begin execution.</a:t>
            </a:r>
            <a:endParaRPr lang="en-US" altLang="zh-TW" dirty="0" smtClean="0"/>
          </a:p>
          <a:p>
            <a:r>
              <a:rPr lang="en-US" altLang="zh-TW" dirty="0" smtClean="0"/>
              <a:t>CLK_ENQUEUE_FLAGS_WAIT_KERNEL</a:t>
            </a:r>
          </a:p>
          <a:p>
            <a:pPr lvl="1"/>
            <a:r>
              <a:rPr lang="en-US" altLang="zh-TW" dirty="0"/>
              <a:t>Indicates that all work-items of the parent kernel must finish executing </a:t>
            </a:r>
            <a:r>
              <a:rPr lang="en-US" altLang="zh-TW" dirty="0" smtClean="0"/>
              <a:t>before </a:t>
            </a:r>
            <a:r>
              <a:rPr lang="en-US" altLang="zh-TW" dirty="0"/>
              <a:t>the </a:t>
            </a:r>
            <a:r>
              <a:rPr lang="en-US" altLang="zh-TW" dirty="0" err="1"/>
              <a:t>enqueued</a:t>
            </a:r>
            <a:r>
              <a:rPr lang="en-US" altLang="zh-TW" dirty="0"/>
              <a:t> child kernel may begin execution.</a:t>
            </a:r>
          </a:p>
          <a:p>
            <a:r>
              <a:rPr lang="en-US" altLang="zh-TW" dirty="0" smtClean="0"/>
              <a:t>CLK_ENQUEUE_FLAGS_WAIT_WORK_GROUP</a:t>
            </a:r>
          </a:p>
          <a:p>
            <a:pPr lvl="1"/>
            <a:r>
              <a:rPr lang="en-US" altLang="zh-TW" dirty="0"/>
              <a:t>Indicates that the </a:t>
            </a:r>
            <a:r>
              <a:rPr lang="en-US" altLang="zh-TW" dirty="0" err="1"/>
              <a:t>enqueued</a:t>
            </a:r>
            <a:r>
              <a:rPr lang="en-US" altLang="zh-TW" dirty="0"/>
              <a:t> kernels wait only for the workgroup that </a:t>
            </a:r>
            <a:r>
              <a:rPr lang="en-US" altLang="zh-TW" dirty="0" err="1"/>
              <a:t>enqueued</a:t>
            </a:r>
            <a:r>
              <a:rPr lang="en-US" altLang="zh-TW" dirty="0"/>
              <a:t> the kernels to finish before they begin execution.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acts as a memory synchronization point between work-items in a work-group and child kernels </a:t>
            </a:r>
            <a:r>
              <a:rPr lang="en-US" altLang="zh-TW" dirty="0" err="1"/>
              <a:t>enqueued</a:t>
            </a:r>
            <a:r>
              <a:rPr lang="en-US" altLang="zh-TW" dirty="0"/>
              <a:t> by work-items in the work-group.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222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side enqueuer kernels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38" y="1125538"/>
            <a:ext cx="6286500" cy="13525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74" y="2915059"/>
            <a:ext cx="5742518" cy="29197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118" y="1896380"/>
            <a:ext cx="5525318" cy="412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2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side enqueuer kernels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3955" y="1125538"/>
            <a:ext cx="710409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0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4704</TotalTime>
  <Words>3854</Words>
  <Application>Microsoft Office PowerPoint</Application>
  <PresentationFormat>寬螢幕</PresentationFormat>
  <Paragraphs>419</Paragraphs>
  <Slides>75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75</vt:i4>
      </vt:variant>
    </vt:vector>
  </HeadingPairs>
  <TitlesOfParts>
    <vt:vector size="82" baseType="lpstr">
      <vt:lpstr>MS Sans Serif</vt:lpstr>
      <vt:lpstr>新細明體</vt:lpstr>
      <vt:lpstr>標楷體</vt:lpstr>
      <vt:lpstr>Arial</vt:lpstr>
      <vt:lpstr>Calibri</vt:lpstr>
      <vt:lpstr>Wingdings</vt:lpstr>
      <vt:lpstr>佈景主題1</vt:lpstr>
      <vt:lpstr>OpenCL tutorial</vt:lpstr>
      <vt:lpstr>Outline</vt:lpstr>
      <vt:lpstr>OpenCL Architecture</vt:lpstr>
      <vt:lpstr>Platform model</vt:lpstr>
      <vt:lpstr>Platform versions</vt:lpstr>
      <vt:lpstr>Query platforms</vt:lpstr>
      <vt:lpstr>Query devices</vt:lpstr>
      <vt:lpstr>Execution model</vt:lpstr>
      <vt:lpstr>NDRange</vt:lpstr>
      <vt:lpstr>NDRange</vt:lpstr>
      <vt:lpstr>OpenCL context</vt:lpstr>
      <vt:lpstr>OpenCL command queue</vt:lpstr>
      <vt:lpstr>Memory model</vt:lpstr>
      <vt:lpstr>Installable Client Driver</vt:lpstr>
      <vt:lpstr>Basic OpenCL program</vt:lpstr>
      <vt:lpstr>OpenCL Buffer Objects</vt:lpstr>
      <vt:lpstr>Memory objects</vt:lpstr>
      <vt:lpstr>Memory objects</vt:lpstr>
      <vt:lpstr>Read and write buffers</vt:lpstr>
      <vt:lpstr>Copying buffers</vt:lpstr>
      <vt:lpstr>Copying buffers</vt:lpstr>
      <vt:lpstr>Mapping buffer objects</vt:lpstr>
      <vt:lpstr>Mapping buffer objects</vt:lpstr>
      <vt:lpstr>OpenCL Program and Kernel Objects</vt:lpstr>
      <vt:lpstr>Creating program objects</vt:lpstr>
      <vt:lpstr>Creating program objects</vt:lpstr>
      <vt:lpstr>Building program object</vt:lpstr>
      <vt:lpstr>Steps to create a progam object</vt:lpstr>
      <vt:lpstr>Offline and online compilation</vt:lpstr>
      <vt:lpstr>Offline compilation</vt:lpstr>
      <vt:lpstr>Online compilation</vt:lpstr>
      <vt:lpstr>Creating kernel objects</vt:lpstr>
      <vt:lpstr>Creating kernel objects</vt:lpstr>
      <vt:lpstr>Creating kernel objects</vt:lpstr>
      <vt:lpstr>Setting kernel arguments</vt:lpstr>
      <vt:lpstr>Executing the kernels</vt:lpstr>
      <vt:lpstr>Releasing program and kernel objects</vt:lpstr>
      <vt:lpstr>Events and Synchronization</vt:lpstr>
      <vt:lpstr>Events and Synchronization</vt:lpstr>
      <vt:lpstr>Events and Synchronization</vt:lpstr>
      <vt:lpstr>Events and Synchronization</vt:lpstr>
      <vt:lpstr>Events and Synchronization</vt:lpstr>
      <vt:lpstr>OpenCL events and monitoring</vt:lpstr>
      <vt:lpstr>OpenCL events and monitoring</vt:lpstr>
      <vt:lpstr>OpenCL events and monitoring</vt:lpstr>
      <vt:lpstr>OpenCL event synchronization models</vt:lpstr>
      <vt:lpstr>Single device and out-of-order queue</vt:lpstr>
      <vt:lpstr>Multiple devices and multiple contexts</vt:lpstr>
      <vt:lpstr>Multiple devices and single context</vt:lpstr>
      <vt:lpstr>Coarse-grained synchronization</vt:lpstr>
      <vt:lpstr>Event-based or fine-grained synchronization</vt:lpstr>
      <vt:lpstr>Event-based or fine-grained synchronization</vt:lpstr>
      <vt:lpstr>Event-based or fine-grained synchronization</vt:lpstr>
      <vt:lpstr>Memory fences</vt:lpstr>
      <vt:lpstr>Memory fences</vt:lpstr>
      <vt:lpstr>OpenCL C Programming</vt:lpstr>
      <vt:lpstr>Data types</vt:lpstr>
      <vt:lpstr>Address space qualifiers</vt:lpstr>
      <vt:lpstr>__global/global address space</vt:lpstr>
      <vt:lpstr>__local/local address space</vt:lpstr>
      <vt:lpstr>__constant/constant address space</vt:lpstr>
      <vt:lpstr>__private/private address space</vt:lpstr>
      <vt:lpstr>Built-in functions</vt:lpstr>
      <vt:lpstr>Work item function</vt:lpstr>
      <vt:lpstr>Synchronization and memory fence functions</vt:lpstr>
      <vt:lpstr>Synchronization and memory fence functions</vt:lpstr>
      <vt:lpstr>Shared Virtual Memory</vt:lpstr>
      <vt:lpstr>Shared Virtual Memory</vt:lpstr>
      <vt:lpstr>Shared Virtual Memory</vt:lpstr>
      <vt:lpstr>Shared Virtual Memory</vt:lpstr>
      <vt:lpstr>Device side enqueuer kernels</vt:lpstr>
      <vt:lpstr>Device side enqueuer kernels</vt:lpstr>
      <vt:lpstr>Device side enqueuer kernels</vt:lpstr>
      <vt:lpstr>Device side enqueuer kernels</vt:lpstr>
      <vt:lpstr>Device side enqueuer kernels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 tutorial</dc:title>
  <dc:creator>Davies</dc:creator>
  <cp:lastModifiedBy>Davies</cp:lastModifiedBy>
  <cp:revision>60</cp:revision>
  <dcterms:created xsi:type="dcterms:W3CDTF">2015-02-26T06:17:52Z</dcterms:created>
  <dcterms:modified xsi:type="dcterms:W3CDTF">2015-03-09T07:13:30Z</dcterms:modified>
</cp:coreProperties>
</file>