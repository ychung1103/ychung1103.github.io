
<file path=[Content_Types].xml><?xml version="1.0" encoding="utf-8"?>
<Types xmlns="http://schemas.openxmlformats.org/package/2006/content-types">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 id="2147483710" r:id="rId2"/>
  </p:sldMasterIdLst>
  <p:notesMasterIdLst>
    <p:notesMasterId r:id="rId93"/>
  </p:notesMasterIdLst>
  <p:sldIdLst>
    <p:sldId id="256" r:id="rId3"/>
    <p:sldId id="257" r:id="rId4"/>
    <p:sldId id="259" r:id="rId5"/>
    <p:sldId id="258" r:id="rId6"/>
    <p:sldId id="267" r:id="rId7"/>
    <p:sldId id="285" r:id="rId8"/>
    <p:sldId id="286" r:id="rId9"/>
    <p:sldId id="342" r:id="rId10"/>
    <p:sldId id="260" r:id="rId11"/>
    <p:sldId id="343" r:id="rId12"/>
    <p:sldId id="344" r:id="rId13"/>
    <p:sldId id="345" r:id="rId14"/>
    <p:sldId id="346" r:id="rId15"/>
    <p:sldId id="347" r:id="rId16"/>
    <p:sldId id="348" r:id="rId17"/>
    <p:sldId id="349" r:id="rId18"/>
    <p:sldId id="350" r:id="rId19"/>
    <p:sldId id="351" r:id="rId20"/>
    <p:sldId id="352" r:id="rId21"/>
    <p:sldId id="354" r:id="rId22"/>
    <p:sldId id="355" r:id="rId23"/>
    <p:sldId id="262" r:id="rId24"/>
    <p:sldId id="287" r:id="rId25"/>
    <p:sldId id="288" r:id="rId26"/>
    <p:sldId id="289" r:id="rId27"/>
    <p:sldId id="290" r:id="rId28"/>
    <p:sldId id="291" r:id="rId29"/>
    <p:sldId id="292" r:id="rId30"/>
    <p:sldId id="293" r:id="rId31"/>
    <p:sldId id="294" r:id="rId32"/>
    <p:sldId id="307" r:id="rId33"/>
    <p:sldId id="308" r:id="rId34"/>
    <p:sldId id="295" r:id="rId35"/>
    <p:sldId id="296" r:id="rId36"/>
    <p:sldId id="313" r:id="rId37"/>
    <p:sldId id="314" r:id="rId38"/>
    <p:sldId id="297" r:id="rId39"/>
    <p:sldId id="299" r:id="rId40"/>
    <p:sldId id="300" r:id="rId41"/>
    <p:sldId id="311" r:id="rId42"/>
    <p:sldId id="312" r:id="rId43"/>
    <p:sldId id="315" r:id="rId44"/>
    <p:sldId id="316" r:id="rId45"/>
    <p:sldId id="317" r:id="rId46"/>
    <p:sldId id="318" r:id="rId47"/>
    <p:sldId id="319" r:id="rId48"/>
    <p:sldId id="310" r:id="rId49"/>
    <p:sldId id="320" r:id="rId50"/>
    <p:sldId id="321" r:id="rId51"/>
    <p:sldId id="322" r:id="rId52"/>
    <p:sldId id="323" r:id="rId53"/>
    <p:sldId id="324" r:id="rId54"/>
    <p:sldId id="325" r:id="rId55"/>
    <p:sldId id="326" r:id="rId56"/>
    <p:sldId id="329" r:id="rId57"/>
    <p:sldId id="327" r:id="rId58"/>
    <p:sldId id="328" r:id="rId59"/>
    <p:sldId id="357" r:id="rId60"/>
    <p:sldId id="269" r:id="rId61"/>
    <p:sldId id="270" r:id="rId62"/>
    <p:sldId id="272" r:id="rId63"/>
    <p:sldId id="271" r:id="rId64"/>
    <p:sldId id="273" r:id="rId65"/>
    <p:sldId id="359" r:id="rId66"/>
    <p:sldId id="274" r:id="rId67"/>
    <p:sldId id="275" r:id="rId68"/>
    <p:sldId id="276" r:id="rId69"/>
    <p:sldId id="277" r:id="rId70"/>
    <p:sldId id="358" r:id="rId71"/>
    <p:sldId id="263" r:id="rId72"/>
    <p:sldId id="278" r:id="rId73"/>
    <p:sldId id="279" r:id="rId74"/>
    <p:sldId id="280" r:id="rId75"/>
    <p:sldId id="281" r:id="rId76"/>
    <p:sldId id="282" r:id="rId77"/>
    <p:sldId id="283" r:id="rId78"/>
    <p:sldId id="284" r:id="rId79"/>
    <p:sldId id="356" r:id="rId80"/>
    <p:sldId id="265" r:id="rId81"/>
    <p:sldId id="330" r:id="rId82"/>
    <p:sldId id="331" r:id="rId83"/>
    <p:sldId id="332" r:id="rId84"/>
    <p:sldId id="333" r:id="rId85"/>
    <p:sldId id="334" r:id="rId86"/>
    <p:sldId id="335" r:id="rId87"/>
    <p:sldId id="337" r:id="rId88"/>
    <p:sldId id="338" r:id="rId89"/>
    <p:sldId id="339" r:id="rId90"/>
    <p:sldId id="340" r:id="rId91"/>
    <p:sldId id="341" r:id="rId92"/>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34A0C0B6-5146-4046-8A21-76FDF3FF7A3C}">
          <p14:sldIdLst>
            <p14:sldId id="256"/>
            <p14:sldId id="257"/>
          </p14:sldIdLst>
        </p14:section>
        <p14:section name="why image" id="{A3C481A6-CDD8-42EF-94F3-3211E093BADD}">
          <p14:sldIdLst>
            <p14:sldId id="259"/>
          </p14:sldIdLst>
        </p14:section>
        <p14:section name="image" id="{E9A0A40C-F15A-4EBE-9E21-7A49377C5603}">
          <p14:sldIdLst>
            <p14:sldId id="258"/>
            <p14:sldId id="267"/>
            <p14:sldId id="285"/>
            <p14:sldId id="286"/>
            <p14:sldId id="342"/>
            <p14:sldId id="260"/>
            <p14:sldId id="343"/>
            <p14:sldId id="344"/>
            <p14:sldId id="345"/>
            <p14:sldId id="346"/>
            <p14:sldId id="347"/>
            <p14:sldId id="348"/>
            <p14:sldId id="349"/>
            <p14:sldId id="350"/>
            <p14:sldId id="351"/>
            <p14:sldId id="352"/>
            <p14:sldId id="354"/>
            <p14:sldId id="355"/>
          </p14:sldIdLst>
        </p14:section>
        <p14:section name="OpenCL runtime" id="{5F44D6B2-8742-4FBE-A34B-B69D670F8E31}">
          <p14:sldIdLst>
            <p14:sldId id="262"/>
            <p14:sldId id="287"/>
            <p14:sldId id="288"/>
            <p14:sldId id="289"/>
            <p14:sldId id="290"/>
            <p14:sldId id="291"/>
            <p14:sldId id="292"/>
            <p14:sldId id="293"/>
            <p14:sldId id="294"/>
            <p14:sldId id="307"/>
            <p14:sldId id="308"/>
            <p14:sldId id="295"/>
            <p14:sldId id="296"/>
            <p14:sldId id="313"/>
            <p14:sldId id="314"/>
            <p14:sldId id="297"/>
            <p14:sldId id="299"/>
            <p14:sldId id="300"/>
            <p14:sldId id="311"/>
            <p14:sldId id="312"/>
            <p14:sldId id="315"/>
            <p14:sldId id="316"/>
            <p14:sldId id="317"/>
            <p14:sldId id="318"/>
            <p14:sldId id="319"/>
            <p14:sldId id="310"/>
            <p14:sldId id="320"/>
            <p14:sldId id="321"/>
            <p14:sldId id="322"/>
            <p14:sldId id="323"/>
            <p14:sldId id="324"/>
            <p14:sldId id="325"/>
            <p14:sldId id="326"/>
            <p14:sldId id="329"/>
            <p14:sldId id="327"/>
            <p14:sldId id="328"/>
          </p14:sldIdLst>
        </p14:section>
        <p14:section name="hsa system arch image" id="{99B7476E-4CC7-40A8-A7D9-D84CB4C09CFF}">
          <p14:sldIdLst>
            <p14:sldId id="357"/>
            <p14:sldId id="269"/>
            <p14:sldId id="270"/>
            <p14:sldId id="272"/>
            <p14:sldId id="271"/>
            <p14:sldId id="273"/>
            <p14:sldId id="359"/>
            <p14:sldId id="274"/>
            <p14:sldId id="275"/>
            <p14:sldId id="276"/>
            <p14:sldId id="277"/>
          </p14:sldIdLst>
        </p14:section>
        <p14:section name="hsa runtime" id="{6412E593-E5E3-4AA8-960D-2DE9E52C90E9}">
          <p14:sldIdLst>
            <p14:sldId id="358"/>
            <p14:sldId id="263"/>
            <p14:sldId id="278"/>
            <p14:sldId id="279"/>
            <p14:sldId id="280"/>
            <p14:sldId id="281"/>
            <p14:sldId id="282"/>
            <p14:sldId id="283"/>
            <p14:sldId id="284"/>
          </p14:sldIdLst>
        </p14:section>
        <p14:section name="hsail - image" id="{BFB5E529-9B36-4B4D-8A56-1277BF6C011F}">
          <p14:sldIdLst>
            <p14:sldId id="356"/>
            <p14:sldId id="265"/>
            <p14:sldId id="330"/>
            <p14:sldId id="331"/>
            <p14:sldId id="332"/>
            <p14:sldId id="333"/>
            <p14:sldId id="334"/>
            <p14:sldId id="335"/>
            <p14:sldId id="337"/>
            <p14:sldId id="338"/>
            <p14:sldId id="339"/>
            <p14:sldId id="340"/>
            <p14:sldId id="341"/>
          </p14:sldIdLst>
        </p14:section>
      </p14:sectionLst>
    </p:ex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34" autoAdjust="0"/>
    <p:restoredTop sz="85023" autoAdjust="0"/>
  </p:normalViewPr>
  <p:slideViewPr>
    <p:cSldViewPr snapToGrid="0">
      <p:cViewPr varScale="1">
        <p:scale>
          <a:sx n="70" d="100"/>
          <a:sy n="70" d="100"/>
        </p:scale>
        <p:origin x="-1560"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slide" Target="slides/slide74.xml"/><Relationship Id="rId84" Type="http://schemas.openxmlformats.org/officeDocument/2006/relationships/slide" Target="slides/slide82.xml"/><Relationship Id="rId89" Type="http://schemas.openxmlformats.org/officeDocument/2006/relationships/slide" Target="slides/slide87.xml"/><Relationship Id="rId97"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slide" Target="slides/slide85.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slide" Target="slides/slide88.xml"/><Relationship Id="rId95"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5B73AE-8B91-443A-B546-D8FF2A9A0C96}" type="datetimeFigureOut">
              <a:rPr lang="zh-TW" altLang="en-US" smtClean="0"/>
              <a:t>2015/3/2</a:t>
            </a:fld>
            <a:endParaRPr lang="zh-TW" altLang="en-US"/>
          </a:p>
        </p:txBody>
      </p:sp>
      <p:sp>
        <p:nvSpPr>
          <p:cNvPr id="4" name="投影片圖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A760EC-ADDA-44F1-80B4-C1D5200556ED}" type="slidenum">
              <a:rPr lang="zh-TW" altLang="en-US" smtClean="0"/>
              <a:t>‹#›</a:t>
            </a:fld>
            <a:endParaRPr lang="zh-TW" altLang="en-US"/>
          </a:p>
        </p:txBody>
      </p:sp>
    </p:spTree>
    <p:extLst>
      <p:ext uri="{BB962C8B-B14F-4D97-AF65-F5344CB8AC3E}">
        <p14:creationId xmlns:p14="http://schemas.microsoft.com/office/powerpoint/2010/main" val="592662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D1A760EC-ADDA-44F1-80B4-C1D5200556ED}" type="slidenum">
              <a:rPr lang="zh-TW" altLang="en-US" smtClean="0"/>
              <a:t>9</a:t>
            </a:fld>
            <a:endParaRPr lang="zh-TW" altLang="en-US"/>
          </a:p>
        </p:txBody>
      </p:sp>
    </p:spTree>
    <p:extLst>
      <p:ext uri="{BB962C8B-B14F-4D97-AF65-F5344CB8AC3E}">
        <p14:creationId xmlns:p14="http://schemas.microsoft.com/office/powerpoint/2010/main" val="29270159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If a sampler is used, special rules apply to the array index y coordinate. </a:t>
            </a:r>
          </a:p>
          <a:p>
            <a:r>
              <a:rPr lang="en-US" altLang="zh-TW" dirty="0" smtClean="0"/>
              <a:t>It is always treated as </a:t>
            </a:r>
            <a:r>
              <a:rPr lang="en-US" altLang="zh-TW" dirty="0" err="1" smtClean="0"/>
              <a:t>unnormalized</a:t>
            </a:r>
            <a:r>
              <a:rPr lang="en-US" altLang="zh-TW" dirty="0" smtClean="0"/>
              <a:t> even if the sampler specifies normalized. It is rounded to an integral value using round to nearest even integer, and clamped to the range 0 to array size - 1.</a:t>
            </a:r>
          </a:p>
          <a:p>
            <a:r>
              <a:rPr lang="en-US" altLang="zh-TW" dirty="0" smtClean="0"/>
              <a:t>An important difference between 1DA and 2D images is that samplers never cause values in different images layers of the array to be combined when computing the returned image element</a:t>
            </a:r>
            <a:endParaRPr lang="zh-TW" altLang="en-US" dirty="0"/>
          </a:p>
        </p:txBody>
      </p:sp>
      <p:sp>
        <p:nvSpPr>
          <p:cNvPr id="4" name="投影片編號版面配置區 3"/>
          <p:cNvSpPr>
            <a:spLocks noGrp="1"/>
          </p:cNvSpPr>
          <p:nvPr>
            <p:ph type="sldNum" sz="quarter" idx="10"/>
          </p:nvPr>
        </p:nvSpPr>
        <p:spPr/>
        <p:txBody>
          <a:bodyPr/>
          <a:lstStyle/>
          <a:p>
            <a:fld id="{D1A760EC-ADDA-44F1-80B4-C1D5200556ED}" type="slidenum">
              <a:rPr lang="zh-TW" altLang="en-US" smtClean="0"/>
              <a:t>11</a:t>
            </a:fld>
            <a:endParaRPr lang="zh-TW" altLang="en-US"/>
          </a:p>
        </p:txBody>
      </p:sp>
    </p:spTree>
    <p:extLst>
      <p:ext uri="{BB962C8B-B14F-4D97-AF65-F5344CB8AC3E}">
        <p14:creationId xmlns:p14="http://schemas.microsoft.com/office/powerpoint/2010/main" val="29891005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These properties are specified by a sampler when using an </a:t>
            </a:r>
            <a:r>
              <a:rPr lang="en-US" altLang="zh-TW" dirty="0" err="1" smtClean="0"/>
              <a:t>rdimage</a:t>
            </a:r>
            <a:r>
              <a:rPr lang="en-US" altLang="zh-TW" dirty="0" smtClean="0"/>
              <a:t> image operation </a:t>
            </a:r>
          </a:p>
          <a:p>
            <a:r>
              <a:rPr lang="en-US" altLang="zh-TW" sz="1200" kern="1200" dirty="0" smtClean="0">
                <a:solidFill>
                  <a:schemeClr val="tx1"/>
                </a:solidFill>
                <a:effectLst/>
                <a:latin typeface="+mn-lt"/>
                <a:ea typeface="+mn-ea"/>
                <a:cs typeface="+mn-cs"/>
              </a:rPr>
              <a:t>The 1DB image geometry does not support samplers and so cannot be used with the </a:t>
            </a:r>
            <a:r>
              <a:rPr lang="en-US" altLang="zh-TW" sz="1200" kern="1200" dirty="0" err="1" smtClean="0">
                <a:solidFill>
                  <a:schemeClr val="tx1"/>
                </a:solidFill>
                <a:effectLst/>
                <a:latin typeface="+mn-lt"/>
                <a:ea typeface="+mn-ea"/>
                <a:cs typeface="+mn-cs"/>
              </a:rPr>
              <a:t>rdimage</a:t>
            </a:r>
            <a:r>
              <a:rPr lang="en-US" altLang="zh-TW" sz="1200" kern="1200" dirty="0" smtClean="0">
                <a:solidFill>
                  <a:schemeClr val="tx1"/>
                </a:solidFill>
                <a:effectLst/>
                <a:latin typeface="+mn-lt"/>
                <a:ea typeface="+mn-ea"/>
                <a:cs typeface="+mn-cs"/>
              </a:rPr>
              <a:t> image operation.</a:t>
            </a:r>
            <a:endParaRPr lang="zh-TW" altLang="en-US" dirty="0"/>
          </a:p>
        </p:txBody>
      </p:sp>
      <p:sp>
        <p:nvSpPr>
          <p:cNvPr id="4" name="投影片編號版面配置區 3"/>
          <p:cNvSpPr>
            <a:spLocks noGrp="1"/>
          </p:cNvSpPr>
          <p:nvPr>
            <p:ph type="sldNum" sz="quarter" idx="10"/>
          </p:nvPr>
        </p:nvSpPr>
        <p:spPr/>
        <p:txBody>
          <a:bodyPr/>
          <a:lstStyle/>
          <a:p>
            <a:fld id="{D1A760EC-ADDA-44F1-80B4-C1D5200556ED}" type="slidenum">
              <a:rPr lang="zh-TW" altLang="en-US" smtClean="0"/>
              <a:t>20</a:t>
            </a:fld>
            <a:endParaRPr lang="zh-TW" altLang="en-US"/>
          </a:p>
        </p:txBody>
      </p:sp>
    </p:spTree>
    <p:extLst>
      <p:ext uri="{BB962C8B-B14F-4D97-AF65-F5344CB8AC3E}">
        <p14:creationId xmlns:p14="http://schemas.microsoft.com/office/powerpoint/2010/main" val="31824046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228600" indent="-228600">
              <a:buAutoNum type="arabicPeriod"/>
            </a:pPr>
            <a:r>
              <a:rPr lang="en-US" altLang="zh-TW" sz="1200" b="0" i="0" u="none" strike="noStrike" kern="1200" baseline="0" dirty="0" smtClean="0">
                <a:solidFill>
                  <a:schemeClr val="tx1"/>
                </a:solidFill>
                <a:latin typeface="+mn-lt"/>
                <a:ea typeface="+mn-ea"/>
                <a:cs typeface="+mn-cs"/>
              </a:rPr>
              <a:t>Image arguments to kernels may have the </a:t>
            </a:r>
            <a:r>
              <a:rPr lang="en-US" altLang="zh-TW" sz="1200" b="0" i="0" u="none" strike="noStrike" kern="1200" baseline="0" dirty="0" err="1" smtClean="0">
                <a:solidFill>
                  <a:schemeClr val="tx1"/>
                </a:solidFill>
                <a:latin typeface="+mn-lt"/>
                <a:ea typeface="+mn-ea"/>
                <a:cs typeface="+mn-cs"/>
              </a:rPr>
              <a:t>read_only</a:t>
            </a:r>
            <a:r>
              <a:rPr lang="en-US" altLang="zh-TW" sz="1200" b="0" i="0" u="none" strike="noStrike" kern="1200" baseline="0" dirty="0" smtClean="0">
                <a:solidFill>
                  <a:schemeClr val="tx1"/>
                </a:solidFill>
                <a:latin typeface="+mn-lt"/>
                <a:ea typeface="+mn-ea"/>
                <a:cs typeface="+mn-cs"/>
              </a:rPr>
              <a:t>, </a:t>
            </a:r>
            <a:r>
              <a:rPr lang="en-US" altLang="zh-TW" sz="1200" b="0" i="0" u="none" strike="noStrike" kern="1200" baseline="0" dirty="0" err="1" smtClean="0">
                <a:solidFill>
                  <a:schemeClr val="tx1"/>
                </a:solidFill>
                <a:latin typeface="+mn-lt"/>
                <a:ea typeface="+mn-ea"/>
                <a:cs typeface="+mn-cs"/>
              </a:rPr>
              <a:t>write_only</a:t>
            </a:r>
            <a:r>
              <a:rPr lang="en-US" altLang="zh-TW" sz="1200" b="0" i="0" u="none" strike="noStrike" kern="1200" baseline="0" dirty="0" smtClean="0">
                <a:solidFill>
                  <a:schemeClr val="tx1"/>
                </a:solidFill>
                <a:latin typeface="+mn-lt"/>
                <a:ea typeface="+mn-ea"/>
                <a:cs typeface="+mn-cs"/>
              </a:rPr>
              <a:t> or </a:t>
            </a:r>
            <a:r>
              <a:rPr lang="en-US" altLang="zh-TW" sz="1200" b="0" i="0" u="none" strike="noStrike" kern="1200" baseline="0" dirty="0" err="1" smtClean="0">
                <a:solidFill>
                  <a:schemeClr val="tx1"/>
                </a:solidFill>
                <a:latin typeface="+mn-lt"/>
                <a:ea typeface="+mn-ea"/>
                <a:cs typeface="+mn-cs"/>
              </a:rPr>
              <a:t>read_write</a:t>
            </a:r>
            <a:r>
              <a:rPr lang="en-US" altLang="zh-TW" sz="1200" b="0" i="0" u="none" strike="noStrike" kern="1200" baseline="0" dirty="0" smtClean="0">
                <a:solidFill>
                  <a:schemeClr val="tx1"/>
                </a:solidFill>
                <a:latin typeface="+mn-lt"/>
                <a:ea typeface="+mn-ea"/>
                <a:cs typeface="+mn-cs"/>
              </a:rPr>
              <a:t> qualifier. Not all image formats supported by the device and platform are valid to be passed to all of these access qualifiers </a:t>
            </a:r>
          </a:p>
          <a:p>
            <a:pPr marL="228600" indent="-228600">
              <a:buAutoNum type="arabicPeriod"/>
            </a:pPr>
            <a:r>
              <a:rPr lang="en-US" altLang="zh-TW" sz="1200" b="0" i="0" u="none" strike="noStrike" kern="1200" baseline="0" dirty="0" smtClean="0">
                <a:solidFill>
                  <a:schemeClr val="tx1"/>
                </a:solidFill>
                <a:latin typeface="+mn-lt"/>
                <a:ea typeface="+mn-ea"/>
                <a:cs typeface="+mn-cs"/>
              </a:rPr>
              <a:t>It is not valid to pass an image supporting writing as both a </a:t>
            </a:r>
            <a:r>
              <a:rPr lang="en-US" altLang="zh-TW" sz="1200" b="0" i="0" u="none" strike="noStrike" kern="1200" baseline="0" dirty="0" err="1" smtClean="0">
                <a:solidFill>
                  <a:schemeClr val="tx1"/>
                </a:solidFill>
                <a:latin typeface="+mn-lt"/>
                <a:ea typeface="+mn-ea"/>
                <a:cs typeface="+mn-cs"/>
              </a:rPr>
              <a:t>read_only</a:t>
            </a:r>
            <a:r>
              <a:rPr lang="en-US" altLang="zh-TW" sz="1200" b="0" i="0" u="none" strike="noStrike" kern="1200" baseline="0" dirty="0" smtClean="0">
                <a:solidFill>
                  <a:schemeClr val="tx1"/>
                </a:solidFill>
                <a:latin typeface="+mn-lt"/>
                <a:ea typeface="+mn-ea"/>
                <a:cs typeface="+mn-cs"/>
              </a:rPr>
              <a:t> image and a </a:t>
            </a:r>
            <a:r>
              <a:rPr lang="en-US" altLang="zh-TW" sz="1200" b="0" i="0" u="none" strike="noStrike" kern="1200" baseline="0" dirty="0" err="1" smtClean="0">
                <a:solidFill>
                  <a:schemeClr val="tx1"/>
                </a:solidFill>
                <a:latin typeface="+mn-lt"/>
                <a:ea typeface="+mn-ea"/>
                <a:cs typeface="+mn-cs"/>
              </a:rPr>
              <a:t>write_only</a:t>
            </a:r>
            <a:r>
              <a:rPr lang="en-US" altLang="zh-TW" sz="1200" b="0" i="0" u="none" strike="noStrike" kern="1200" baseline="0" dirty="0" smtClean="0">
                <a:solidFill>
                  <a:schemeClr val="tx1"/>
                </a:solidFill>
                <a:latin typeface="+mn-lt"/>
                <a:ea typeface="+mn-ea"/>
                <a:cs typeface="+mn-cs"/>
              </a:rPr>
              <a:t> image parameter, or to a </a:t>
            </a:r>
            <a:r>
              <a:rPr lang="en-US" altLang="zh-TW" sz="1200" b="0" i="0" u="none" strike="noStrike" kern="1200" baseline="0" dirty="0" err="1" smtClean="0">
                <a:solidFill>
                  <a:schemeClr val="tx1"/>
                </a:solidFill>
                <a:latin typeface="+mn-lt"/>
                <a:ea typeface="+mn-ea"/>
                <a:cs typeface="+mn-cs"/>
              </a:rPr>
              <a:t>read_write</a:t>
            </a:r>
            <a:r>
              <a:rPr lang="en-US" altLang="zh-TW" sz="1200" b="0" i="0" u="none" strike="noStrike" kern="1200" baseline="0" dirty="0" smtClean="0">
                <a:solidFill>
                  <a:schemeClr val="tx1"/>
                </a:solidFill>
                <a:latin typeface="+mn-lt"/>
                <a:ea typeface="+mn-ea"/>
                <a:cs typeface="+mn-cs"/>
              </a:rPr>
              <a:t> image parameter and any other image parameter. </a:t>
            </a:r>
            <a:endParaRPr lang="zh-TW" altLang="en-US" dirty="0"/>
          </a:p>
        </p:txBody>
      </p:sp>
      <p:sp>
        <p:nvSpPr>
          <p:cNvPr id="4" name="投影片編號版面配置區 3"/>
          <p:cNvSpPr>
            <a:spLocks noGrp="1"/>
          </p:cNvSpPr>
          <p:nvPr>
            <p:ph type="sldNum" sz="quarter" idx="10"/>
          </p:nvPr>
        </p:nvSpPr>
        <p:spPr/>
        <p:txBody>
          <a:bodyPr/>
          <a:lstStyle/>
          <a:p>
            <a:fld id="{D1A760EC-ADDA-44F1-80B4-C1D5200556ED}" type="slidenum">
              <a:rPr lang="zh-TW" altLang="en-US" smtClean="0"/>
              <a:t>31</a:t>
            </a:fld>
            <a:endParaRPr lang="zh-TW" altLang="en-US"/>
          </a:p>
        </p:txBody>
      </p:sp>
    </p:spTree>
    <p:extLst>
      <p:ext uri="{BB962C8B-B14F-4D97-AF65-F5344CB8AC3E}">
        <p14:creationId xmlns:p14="http://schemas.microsoft.com/office/powerpoint/2010/main" val="40930691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If </a:t>
            </a:r>
            <a:r>
              <a:rPr lang="en-US" altLang="zh-TW" i="1" dirty="0" smtClean="0"/>
              <a:t>image </a:t>
            </a:r>
            <a:r>
              <a:rPr lang="en-US" altLang="zh-TW" dirty="0" smtClean="0"/>
              <a:t>is a 2D image object, </a:t>
            </a:r>
            <a:r>
              <a:rPr lang="en-US" altLang="zh-TW" i="1" dirty="0" smtClean="0"/>
              <a:t>origin</a:t>
            </a:r>
            <a:r>
              <a:rPr lang="en-US" altLang="zh-TW" dirty="0" smtClean="0"/>
              <a:t>[2] must be 0. If </a:t>
            </a:r>
            <a:r>
              <a:rPr lang="en-US" altLang="zh-TW" i="1" dirty="0" smtClean="0"/>
              <a:t>image </a:t>
            </a:r>
            <a:r>
              <a:rPr lang="en-US" altLang="zh-TW" dirty="0" smtClean="0"/>
              <a:t>is a 1D image or 1D image buffer object, </a:t>
            </a:r>
            <a:r>
              <a:rPr lang="en-US" altLang="zh-TW" i="1" dirty="0" smtClean="0"/>
              <a:t>origin</a:t>
            </a:r>
            <a:r>
              <a:rPr lang="en-US" altLang="zh-TW" dirty="0" smtClean="0"/>
              <a:t>[1] and </a:t>
            </a:r>
            <a:r>
              <a:rPr lang="en-US" altLang="zh-TW" i="1" dirty="0" smtClean="0"/>
              <a:t>origin</a:t>
            </a:r>
            <a:r>
              <a:rPr lang="en-US" altLang="zh-TW" dirty="0" smtClean="0"/>
              <a:t>[2] must be 0.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If </a:t>
            </a:r>
            <a:r>
              <a:rPr lang="en-US" altLang="zh-TW" i="1" dirty="0" smtClean="0"/>
              <a:t>image </a:t>
            </a:r>
            <a:r>
              <a:rPr lang="en-US" altLang="zh-TW" dirty="0" smtClean="0"/>
              <a:t>is a 1D image array object, </a:t>
            </a:r>
            <a:r>
              <a:rPr lang="en-US" altLang="zh-TW" i="1" dirty="0" smtClean="0"/>
              <a:t>origin</a:t>
            </a:r>
            <a:r>
              <a:rPr lang="en-US" altLang="zh-TW" dirty="0" smtClean="0"/>
              <a:t>[2] must be 0. If </a:t>
            </a:r>
            <a:r>
              <a:rPr lang="en-US" altLang="zh-TW" i="1" dirty="0" smtClean="0"/>
              <a:t>image </a:t>
            </a:r>
            <a:r>
              <a:rPr lang="en-US" altLang="zh-TW" dirty="0" smtClean="0"/>
              <a:t>is a 1D image array object, </a:t>
            </a:r>
            <a:r>
              <a:rPr lang="en-US" altLang="zh-TW" i="1" dirty="0" smtClean="0"/>
              <a:t>origin</a:t>
            </a:r>
            <a:r>
              <a:rPr lang="en-US" altLang="zh-TW" dirty="0" smtClean="0"/>
              <a:t>[1] describes the image index in the 1D image</a:t>
            </a:r>
            <a:r>
              <a:rPr lang="zh-TW" altLang="en-US" dirty="0" smtClean="0"/>
              <a:t> </a:t>
            </a:r>
            <a:r>
              <a:rPr lang="en-US" altLang="zh-TW" dirty="0" smtClean="0"/>
              <a:t>array.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If </a:t>
            </a:r>
            <a:r>
              <a:rPr lang="en-US" altLang="zh-TW" i="1" dirty="0" smtClean="0"/>
              <a:t>image </a:t>
            </a:r>
            <a:r>
              <a:rPr lang="en-US" altLang="zh-TW" dirty="0" smtClean="0"/>
              <a:t>is a 2D image array object, </a:t>
            </a:r>
            <a:r>
              <a:rPr lang="en-US" altLang="zh-TW" i="1" dirty="0" smtClean="0"/>
              <a:t>origin</a:t>
            </a:r>
            <a:r>
              <a:rPr lang="en-US" altLang="zh-TW" dirty="0" smtClean="0"/>
              <a:t>[2] describes the image index in the 2D image array </a:t>
            </a:r>
            <a:endParaRPr lang="zh-TW" altLang="en-US" dirty="0" smtClean="0">
              <a:ea typeface="標楷體" pitchFamily="65" charset="-120"/>
              <a:cs typeface="Calibri" pitchFamily="34" charset="0"/>
            </a:endParaRPr>
          </a:p>
          <a:p>
            <a:endParaRPr lang="zh-TW" altLang="en-US" dirty="0"/>
          </a:p>
        </p:txBody>
      </p:sp>
      <p:sp>
        <p:nvSpPr>
          <p:cNvPr id="4" name="投影片編號版面配置區 3"/>
          <p:cNvSpPr>
            <a:spLocks noGrp="1"/>
          </p:cNvSpPr>
          <p:nvPr>
            <p:ph type="sldNum" sz="quarter" idx="10"/>
          </p:nvPr>
        </p:nvSpPr>
        <p:spPr/>
        <p:txBody>
          <a:bodyPr/>
          <a:lstStyle/>
          <a:p>
            <a:fld id="{D1A760EC-ADDA-44F1-80B4-C1D5200556ED}" type="slidenum">
              <a:rPr lang="zh-TW" altLang="en-US" smtClean="0"/>
              <a:t>37</a:t>
            </a:fld>
            <a:endParaRPr lang="zh-TW" altLang="en-US"/>
          </a:p>
        </p:txBody>
      </p:sp>
    </p:spTree>
    <p:extLst>
      <p:ext uri="{BB962C8B-B14F-4D97-AF65-F5344CB8AC3E}">
        <p14:creationId xmlns:p14="http://schemas.microsoft.com/office/powerpoint/2010/main" val="36832687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b="0" i="0" u="none" strike="noStrike" kern="1200" baseline="0" dirty="0" smtClean="0">
                <a:solidFill>
                  <a:schemeClr val="tx1"/>
                </a:solidFill>
                <a:latin typeface="+mn-lt"/>
                <a:ea typeface="+mn-ea"/>
                <a:cs typeface="+mn-cs"/>
              </a:rPr>
              <a:t>If </a:t>
            </a:r>
            <a:r>
              <a:rPr lang="en-US" altLang="zh-TW" sz="1200" b="0" i="1" u="none" strike="noStrike" kern="1200" baseline="0" dirty="0" smtClean="0">
                <a:solidFill>
                  <a:schemeClr val="tx1"/>
                </a:solidFill>
                <a:latin typeface="+mn-lt"/>
                <a:ea typeface="+mn-ea"/>
                <a:cs typeface="+mn-cs"/>
              </a:rPr>
              <a:t>image </a:t>
            </a:r>
            <a:r>
              <a:rPr lang="en-US" altLang="zh-TW" sz="1200" b="0" i="0" u="none" strike="noStrike" kern="1200" baseline="0" dirty="0" smtClean="0">
                <a:solidFill>
                  <a:schemeClr val="tx1"/>
                </a:solidFill>
                <a:latin typeface="+mn-lt"/>
                <a:ea typeface="+mn-ea"/>
                <a:cs typeface="+mn-cs"/>
              </a:rPr>
              <a:t>is a 2D image object, </a:t>
            </a:r>
            <a:r>
              <a:rPr lang="en-US" altLang="zh-TW" sz="1200" b="0" i="1" u="none" strike="noStrike" kern="1200" baseline="0" dirty="0" smtClean="0">
                <a:solidFill>
                  <a:schemeClr val="tx1"/>
                </a:solidFill>
                <a:latin typeface="+mn-lt"/>
                <a:ea typeface="+mn-ea"/>
                <a:cs typeface="+mn-cs"/>
              </a:rPr>
              <a:t>region</a:t>
            </a:r>
            <a:r>
              <a:rPr lang="en-US" altLang="zh-TW" sz="1200" b="0" i="0" u="none" strike="noStrike" kern="1200" baseline="0" dirty="0" smtClean="0">
                <a:solidFill>
                  <a:schemeClr val="tx1"/>
                </a:solidFill>
                <a:latin typeface="+mn-lt"/>
                <a:ea typeface="+mn-ea"/>
                <a:cs typeface="+mn-cs"/>
              </a:rPr>
              <a:t>[2] must be 1.</a:t>
            </a:r>
          </a:p>
          <a:p>
            <a:r>
              <a:rPr lang="en-US" altLang="zh-TW" sz="1200" b="0" i="0" u="none" strike="noStrike" kern="1200" baseline="0" dirty="0" smtClean="0">
                <a:solidFill>
                  <a:schemeClr val="tx1"/>
                </a:solidFill>
                <a:latin typeface="+mn-lt"/>
                <a:ea typeface="+mn-ea"/>
                <a:cs typeface="+mn-cs"/>
              </a:rPr>
              <a:t> If </a:t>
            </a:r>
            <a:r>
              <a:rPr lang="en-US" altLang="zh-TW" sz="1200" b="0" i="1" u="none" strike="noStrike" kern="1200" baseline="0" dirty="0" smtClean="0">
                <a:solidFill>
                  <a:schemeClr val="tx1"/>
                </a:solidFill>
                <a:latin typeface="+mn-lt"/>
                <a:ea typeface="+mn-ea"/>
                <a:cs typeface="+mn-cs"/>
              </a:rPr>
              <a:t>image </a:t>
            </a:r>
            <a:r>
              <a:rPr lang="en-US" altLang="zh-TW" sz="1200" b="0" i="0" u="none" strike="noStrike" kern="1200" baseline="0" dirty="0" smtClean="0">
                <a:solidFill>
                  <a:schemeClr val="tx1"/>
                </a:solidFill>
                <a:latin typeface="+mn-lt"/>
                <a:ea typeface="+mn-ea"/>
                <a:cs typeface="+mn-cs"/>
              </a:rPr>
              <a:t>is a 1D image or 1D image buffer object, </a:t>
            </a:r>
            <a:r>
              <a:rPr lang="en-US" altLang="zh-TW" sz="1200" b="0" i="1" u="none" strike="noStrike" kern="1200" baseline="0" dirty="0" smtClean="0">
                <a:solidFill>
                  <a:schemeClr val="tx1"/>
                </a:solidFill>
                <a:latin typeface="+mn-lt"/>
                <a:ea typeface="+mn-ea"/>
                <a:cs typeface="+mn-cs"/>
              </a:rPr>
              <a:t>region</a:t>
            </a:r>
            <a:r>
              <a:rPr lang="en-US" altLang="zh-TW" sz="1200" b="0" i="0" u="none" strike="noStrike" kern="1200" baseline="0" dirty="0" smtClean="0">
                <a:solidFill>
                  <a:schemeClr val="tx1"/>
                </a:solidFill>
                <a:latin typeface="+mn-lt"/>
                <a:ea typeface="+mn-ea"/>
                <a:cs typeface="+mn-cs"/>
              </a:rPr>
              <a:t>[1] and </a:t>
            </a:r>
            <a:r>
              <a:rPr lang="en-US" altLang="zh-TW" sz="1200" b="0" i="1" u="none" strike="noStrike" kern="1200" baseline="0" dirty="0" smtClean="0">
                <a:solidFill>
                  <a:schemeClr val="tx1"/>
                </a:solidFill>
                <a:latin typeface="+mn-lt"/>
                <a:ea typeface="+mn-ea"/>
                <a:cs typeface="+mn-cs"/>
              </a:rPr>
              <a:t>region</a:t>
            </a:r>
            <a:r>
              <a:rPr lang="en-US" altLang="zh-TW" sz="1200" b="0" i="0" u="none" strike="noStrike" kern="1200" baseline="0" dirty="0" smtClean="0">
                <a:solidFill>
                  <a:schemeClr val="tx1"/>
                </a:solidFill>
                <a:latin typeface="+mn-lt"/>
                <a:ea typeface="+mn-ea"/>
                <a:cs typeface="+mn-cs"/>
              </a:rPr>
              <a:t>[2] must be 1.</a:t>
            </a:r>
          </a:p>
          <a:p>
            <a:r>
              <a:rPr lang="en-US" altLang="zh-TW" sz="1200" b="0" i="0" u="none" strike="noStrike" kern="1200" baseline="0" dirty="0" smtClean="0">
                <a:solidFill>
                  <a:schemeClr val="tx1"/>
                </a:solidFill>
                <a:latin typeface="+mn-lt"/>
                <a:ea typeface="+mn-ea"/>
                <a:cs typeface="+mn-cs"/>
              </a:rPr>
              <a:t> If </a:t>
            </a:r>
            <a:r>
              <a:rPr lang="en-US" altLang="zh-TW" sz="1200" b="0" i="1" u="none" strike="noStrike" kern="1200" baseline="0" dirty="0" smtClean="0">
                <a:solidFill>
                  <a:schemeClr val="tx1"/>
                </a:solidFill>
                <a:latin typeface="+mn-lt"/>
                <a:ea typeface="+mn-ea"/>
                <a:cs typeface="+mn-cs"/>
              </a:rPr>
              <a:t>image </a:t>
            </a:r>
            <a:r>
              <a:rPr lang="en-US" altLang="zh-TW" sz="1200" b="0" i="0" u="none" strike="noStrike" kern="1200" baseline="0" dirty="0" smtClean="0">
                <a:solidFill>
                  <a:schemeClr val="tx1"/>
                </a:solidFill>
                <a:latin typeface="+mn-lt"/>
                <a:ea typeface="+mn-ea"/>
                <a:cs typeface="+mn-cs"/>
              </a:rPr>
              <a:t>is a 1D image array object, </a:t>
            </a:r>
            <a:r>
              <a:rPr lang="en-US" altLang="zh-TW" sz="1200" b="0" i="1" u="none" strike="noStrike" kern="1200" baseline="0" dirty="0" smtClean="0">
                <a:solidFill>
                  <a:schemeClr val="tx1"/>
                </a:solidFill>
                <a:latin typeface="+mn-lt"/>
                <a:ea typeface="+mn-ea"/>
                <a:cs typeface="+mn-cs"/>
              </a:rPr>
              <a:t>region</a:t>
            </a:r>
            <a:r>
              <a:rPr lang="en-US" altLang="zh-TW" sz="1200" b="0" i="0" u="none" strike="noStrike" kern="1200" baseline="0" dirty="0" smtClean="0">
                <a:solidFill>
                  <a:schemeClr val="tx1"/>
                </a:solidFill>
                <a:latin typeface="+mn-lt"/>
                <a:ea typeface="+mn-ea"/>
                <a:cs typeface="+mn-cs"/>
              </a:rPr>
              <a:t>[2] must be 1. The values in </a:t>
            </a:r>
            <a:r>
              <a:rPr lang="en-US" altLang="zh-TW" sz="1200" b="0" i="1" u="none" strike="noStrike" kern="1200" baseline="0" dirty="0" smtClean="0">
                <a:solidFill>
                  <a:schemeClr val="tx1"/>
                </a:solidFill>
                <a:latin typeface="+mn-lt"/>
                <a:ea typeface="+mn-ea"/>
                <a:cs typeface="+mn-cs"/>
              </a:rPr>
              <a:t>region </a:t>
            </a:r>
            <a:r>
              <a:rPr lang="en-US" altLang="zh-TW" sz="1200" b="0" i="0" u="none" strike="noStrike" kern="1200" baseline="0" dirty="0" smtClean="0">
                <a:solidFill>
                  <a:schemeClr val="tx1"/>
                </a:solidFill>
                <a:latin typeface="+mn-lt"/>
                <a:ea typeface="+mn-ea"/>
                <a:cs typeface="+mn-cs"/>
              </a:rPr>
              <a:t>cannot be 0 </a:t>
            </a:r>
            <a:endParaRPr lang="zh-TW" altLang="en-US" dirty="0"/>
          </a:p>
        </p:txBody>
      </p:sp>
      <p:sp>
        <p:nvSpPr>
          <p:cNvPr id="4" name="投影片編號版面配置區 3"/>
          <p:cNvSpPr>
            <a:spLocks noGrp="1"/>
          </p:cNvSpPr>
          <p:nvPr>
            <p:ph type="sldNum" sz="quarter" idx="10"/>
          </p:nvPr>
        </p:nvSpPr>
        <p:spPr/>
        <p:txBody>
          <a:bodyPr/>
          <a:lstStyle/>
          <a:p>
            <a:fld id="{D1A760EC-ADDA-44F1-80B4-C1D5200556ED}" type="slidenum">
              <a:rPr lang="zh-TW" altLang="en-US" smtClean="0"/>
              <a:t>38</a:t>
            </a:fld>
            <a:endParaRPr lang="zh-TW" altLang="en-US"/>
          </a:p>
        </p:txBody>
      </p:sp>
    </p:spTree>
    <p:extLst>
      <p:ext uri="{BB962C8B-B14F-4D97-AF65-F5344CB8AC3E}">
        <p14:creationId xmlns:p14="http://schemas.microsoft.com/office/powerpoint/2010/main" val="8061768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b="0" i="0" u="none" strike="noStrike" kern="1200" baseline="0" dirty="0" smtClean="0">
                <a:solidFill>
                  <a:schemeClr val="tx1"/>
                </a:solidFill>
                <a:latin typeface="+mn-lt"/>
                <a:ea typeface="+mn-ea"/>
                <a:cs typeface="+mn-cs"/>
              </a:rPr>
              <a:t>If </a:t>
            </a:r>
            <a:r>
              <a:rPr lang="en-US" altLang="zh-TW" sz="1200" b="0" i="1" u="none" strike="noStrike" kern="1200" baseline="0" dirty="0" err="1" smtClean="0">
                <a:solidFill>
                  <a:schemeClr val="tx1"/>
                </a:solidFill>
                <a:latin typeface="+mn-lt"/>
                <a:ea typeface="+mn-ea"/>
                <a:cs typeface="+mn-cs"/>
              </a:rPr>
              <a:t>row_pitch</a:t>
            </a:r>
            <a:r>
              <a:rPr lang="en-US" altLang="zh-TW" sz="1200" b="0" i="1" u="none" strike="noStrike" kern="1200" baseline="0" dirty="0" smtClean="0">
                <a:solidFill>
                  <a:schemeClr val="tx1"/>
                </a:solidFill>
                <a:latin typeface="+mn-lt"/>
                <a:ea typeface="+mn-ea"/>
                <a:cs typeface="+mn-cs"/>
              </a:rPr>
              <a:t> </a:t>
            </a:r>
            <a:r>
              <a:rPr lang="en-US" altLang="zh-TW" sz="1200" b="0" i="0" u="none" strike="noStrike" kern="1200" baseline="0" dirty="0" smtClean="0">
                <a:solidFill>
                  <a:schemeClr val="tx1"/>
                </a:solidFill>
                <a:latin typeface="+mn-lt"/>
                <a:ea typeface="+mn-ea"/>
                <a:cs typeface="+mn-cs"/>
              </a:rPr>
              <a:t>(or </a:t>
            </a:r>
            <a:r>
              <a:rPr lang="en-US" altLang="zh-TW" sz="1200" b="0" i="1" u="none" strike="noStrike" kern="1200" baseline="0" dirty="0" err="1" smtClean="0">
                <a:solidFill>
                  <a:schemeClr val="tx1"/>
                </a:solidFill>
                <a:latin typeface="+mn-lt"/>
                <a:ea typeface="+mn-ea"/>
                <a:cs typeface="+mn-cs"/>
              </a:rPr>
              <a:t>input_row_pitch</a:t>
            </a:r>
            <a:r>
              <a:rPr lang="en-US" altLang="zh-TW" sz="1200" b="0" i="0" u="none" strike="noStrike" kern="1200" baseline="0" dirty="0" smtClean="0">
                <a:solidFill>
                  <a:schemeClr val="tx1"/>
                </a:solidFill>
                <a:latin typeface="+mn-lt"/>
                <a:ea typeface="+mn-ea"/>
                <a:cs typeface="+mn-cs"/>
              </a:rPr>
              <a:t>) is set to 0, the appropriate row pitch is calculated based on the size of each element in bytes multiplied by </a:t>
            </a:r>
            <a:r>
              <a:rPr lang="en-US" altLang="zh-TW" sz="1200" b="0" i="1" u="none" strike="noStrike" kern="1200" baseline="0" dirty="0" smtClean="0">
                <a:solidFill>
                  <a:schemeClr val="tx1"/>
                </a:solidFill>
                <a:latin typeface="+mn-lt"/>
                <a:ea typeface="+mn-ea"/>
                <a:cs typeface="+mn-cs"/>
              </a:rPr>
              <a:t>width</a:t>
            </a:r>
            <a:r>
              <a:rPr lang="en-US" altLang="zh-TW" sz="1200" b="0" i="0" u="none" strike="noStrike" kern="1200" baseline="0" dirty="0" smtClean="0">
                <a:solidFill>
                  <a:schemeClr val="tx1"/>
                </a:solidFill>
                <a:latin typeface="+mn-lt"/>
                <a:ea typeface="+mn-ea"/>
                <a:cs typeface="+mn-cs"/>
              </a:rPr>
              <a:t>. </a:t>
            </a:r>
            <a:endParaRPr lang="zh-TW" altLang="en-US" dirty="0"/>
          </a:p>
        </p:txBody>
      </p:sp>
      <p:sp>
        <p:nvSpPr>
          <p:cNvPr id="4" name="投影片編號版面配置區 3"/>
          <p:cNvSpPr>
            <a:spLocks noGrp="1"/>
          </p:cNvSpPr>
          <p:nvPr>
            <p:ph type="sldNum" sz="quarter" idx="10"/>
          </p:nvPr>
        </p:nvSpPr>
        <p:spPr/>
        <p:txBody>
          <a:bodyPr/>
          <a:lstStyle/>
          <a:p>
            <a:fld id="{D1A760EC-ADDA-44F1-80B4-C1D5200556ED}" type="slidenum">
              <a:rPr lang="zh-TW" altLang="en-US" smtClean="0"/>
              <a:t>39</a:t>
            </a:fld>
            <a:endParaRPr lang="zh-TW" altLang="en-US"/>
          </a:p>
        </p:txBody>
      </p:sp>
    </p:spTree>
    <p:extLst>
      <p:ext uri="{BB962C8B-B14F-4D97-AF65-F5344CB8AC3E}">
        <p14:creationId xmlns:p14="http://schemas.microsoft.com/office/powerpoint/2010/main" val="19090186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This must be 0 if image is a 1D or 2D image. Otherwise this value must be greater than or equal to </a:t>
            </a:r>
            <a:r>
              <a:rPr lang="en-US" altLang="zh-TW" dirty="0" err="1" smtClean="0"/>
              <a:t>row_pitch</a:t>
            </a:r>
            <a:r>
              <a:rPr lang="en-US" altLang="zh-TW" dirty="0" smtClean="0"/>
              <a:t> * height. </a:t>
            </a:r>
          </a:p>
          <a:p>
            <a:r>
              <a:rPr lang="en-US" altLang="zh-TW" dirty="0" smtClean="0"/>
              <a:t>If </a:t>
            </a:r>
            <a:r>
              <a:rPr lang="en-US" altLang="zh-TW" dirty="0" err="1" smtClean="0"/>
              <a:t>slice_pitch</a:t>
            </a:r>
            <a:r>
              <a:rPr lang="en-US" altLang="zh-TW" dirty="0" smtClean="0"/>
              <a:t> (or </a:t>
            </a:r>
            <a:r>
              <a:rPr lang="en-US" altLang="zh-TW" dirty="0" err="1" smtClean="0"/>
              <a:t>input_slice_pitch</a:t>
            </a:r>
            <a:r>
              <a:rPr lang="en-US" altLang="zh-TW" dirty="0" smtClean="0"/>
              <a:t>) is set to 0, the appropriate slice pitch is calculated based on the </a:t>
            </a:r>
            <a:r>
              <a:rPr lang="en-US" altLang="zh-TW" dirty="0" err="1" smtClean="0"/>
              <a:t>row_pitch</a:t>
            </a:r>
            <a:r>
              <a:rPr lang="en-US" altLang="zh-TW" dirty="0" smtClean="0"/>
              <a:t> * height.</a:t>
            </a:r>
            <a:endParaRPr lang="zh-TW" altLang="en-US" dirty="0"/>
          </a:p>
        </p:txBody>
      </p:sp>
      <p:sp>
        <p:nvSpPr>
          <p:cNvPr id="4" name="投影片編號版面配置區 3"/>
          <p:cNvSpPr>
            <a:spLocks noGrp="1"/>
          </p:cNvSpPr>
          <p:nvPr>
            <p:ph type="sldNum" sz="quarter" idx="10"/>
          </p:nvPr>
        </p:nvSpPr>
        <p:spPr/>
        <p:txBody>
          <a:bodyPr/>
          <a:lstStyle/>
          <a:p>
            <a:fld id="{D1A760EC-ADDA-44F1-80B4-C1D5200556ED}" type="slidenum">
              <a:rPr lang="zh-TW" altLang="en-US" smtClean="0"/>
              <a:t>40</a:t>
            </a:fld>
            <a:endParaRPr lang="zh-TW" altLang="en-US"/>
          </a:p>
        </p:txBody>
      </p:sp>
    </p:spTree>
    <p:extLst>
      <p:ext uri="{BB962C8B-B14F-4D97-AF65-F5344CB8AC3E}">
        <p14:creationId xmlns:p14="http://schemas.microsoft.com/office/powerpoint/2010/main" val="28049061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b="0" i="0" u="none" strike="noStrike" kern="1200" baseline="0" dirty="0" smtClean="0">
                <a:solidFill>
                  <a:schemeClr val="tx1"/>
                </a:solidFill>
                <a:latin typeface="+mn-lt"/>
                <a:ea typeface="+mn-ea"/>
                <a:cs typeface="+mn-cs"/>
              </a:rPr>
              <a:t>If </a:t>
            </a:r>
            <a:r>
              <a:rPr lang="en-US" altLang="zh-TW" sz="1200" b="0" i="1" u="none" strike="noStrike" kern="1200" baseline="0" dirty="0" err="1" smtClean="0">
                <a:solidFill>
                  <a:schemeClr val="tx1"/>
                </a:solidFill>
                <a:latin typeface="+mn-lt"/>
                <a:ea typeface="+mn-ea"/>
                <a:cs typeface="+mn-cs"/>
              </a:rPr>
              <a:t>event_wait_list</a:t>
            </a:r>
            <a:r>
              <a:rPr lang="en-US" altLang="zh-TW" sz="1200" b="0" i="1" u="none" strike="noStrike" kern="1200" baseline="0" dirty="0" smtClean="0">
                <a:solidFill>
                  <a:schemeClr val="tx1"/>
                </a:solidFill>
                <a:latin typeface="+mn-lt"/>
                <a:ea typeface="+mn-ea"/>
                <a:cs typeface="+mn-cs"/>
              </a:rPr>
              <a:t> </a:t>
            </a:r>
            <a:r>
              <a:rPr lang="en-US" altLang="zh-TW" sz="1200" b="0" i="0" u="none" strike="noStrike" kern="1200" baseline="0" dirty="0" smtClean="0">
                <a:solidFill>
                  <a:schemeClr val="tx1"/>
                </a:solidFill>
                <a:latin typeface="+mn-lt"/>
                <a:ea typeface="+mn-ea"/>
                <a:cs typeface="+mn-cs"/>
              </a:rPr>
              <a:t>is NULL, then this particular command does not wait on any event to complete. </a:t>
            </a:r>
          </a:p>
          <a:p>
            <a:r>
              <a:rPr lang="en-US" altLang="zh-TW" sz="1200" b="0" i="0" u="none" strike="noStrike" kern="1200" baseline="0" dirty="0" smtClean="0">
                <a:solidFill>
                  <a:schemeClr val="tx1"/>
                </a:solidFill>
                <a:latin typeface="+mn-lt"/>
                <a:ea typeface="+mn-ea"/>
                <a:cs typeface="+mn-cs"/>
              </a:rPr>
              <a:t>If </a:t>
            </a:r>
            <a:r>
              <a:rPr lang="en-US" altLang="zh-TW" sz="1200" b="0" i="1" u="none" strike="noStrike" kern="1200" baseline="0" dirty="0" err="1" smtClean="0">
                <a:solidFill>
                  <a:schemeClr val="tx1"/>
                </a:solidFill>
                <a:latin typeface="+mn-lt"/>
                <a:ea typeface="+mn-ea"/>
                <a:cs typeface="+mn-cs"/>
              </a:rPr>
              <a:t>event_wait_list</a:t>
            </a:r>
            <a:r>
              <a:rPr lang="en-US" altLang="zh-TW" sz="1200" b="0" i="1" u="none" strike="noStrike" kern="1200" baseline="0" dirty="0" smtClean="0">
                <a:solidFill>
                  <a:schemeClr val="tx1"/>
                </a:solidFill>
                <a:latin typeface="+mn-lt"/>
                <a:ea typeface="+mn-ea"/>
                <a:cs typeface="+mn-cs"/>
              </a:rPr>
              <a:t> </a:t>
            </a:r>
            <a:r>
              <a:rPr lang="en-US" altLang="zh-TW" sz="1200" b="0" i="0" u="none" strike="noStrike" kern="1200" baseline="0" dirty="0" smtClean="0">
                <a:solidFill>
                  <a:schemeClr val="tx1"/>
                </a:solidFill>
                <a:latin typeface="+mn-lt"/>
                <a:ea typeface="+mn-ea"/>
                <a:cs typeface="+mn-cs"/>
              </a:rPr>
              <a:t>is NULL, </a:t>
            </a:r>
            <a:r>
              <a:rPr lang="en-US" altLang="zh-TW" sz="1200" b="0" i="1" u="none" strike="noStrike" kern="1200" baseline="0" dirty="0" err="1" smtClean="0">
                <a:solidFill>
                  <a:schemeClr val="tx1"/>
                </a:solidFill>
                <a:latin typeface="+mn-lt"/>
                <a:ea typeface="+mn-ea"/>
                <a:cs typeface="+mn-cs"/>
              </a:rPr>
              <a:t>num_events_in_wait_list</a:t>
            </a:r>
            <a:r>
              <a:rPr lang="en-US" altLang="zh-TW" sz="1200" b="0" i="1" u="none" strike="noStrike" kern="1200" baseline="0" dirty="0" smtClean="0">
                <a:solidFill>
                  <a:schemeClr val="tx1"/>
                </a:solidFill>
                <a:latin typeface="+mn-lt"/>
                <a:ea typeface="+mn-ea"/>
                <a:cs typeface="+mn-cs"/>
              </a:rPr>
              <a:t> </a:t>
            </a:r>
            <a:r>
              <a:rPr lang="en-US" altLang="zh-TW" sz="1200" b="0" i="0" u="none" strike="noStrike" kern="1200" baseline="0" dirty="0" smtClean="0">
                <a:solidFill>
                  <a:schemeClr val="tx1"/>
                </a:solidFill>
                <a:latin typeface="+mn-lt"/>
                <a:ea typeface="+mn-ea"/>
                <a:cs typeface="+mn-cs"/>
              </a:rPr>
              <a:t>must be 0. </a:t>
            </a:r>
          </a:p>
          <a:p>
            <a:r>
              <a:rPr lang="en-US" altLang="zh-TW" sz="1200" b="0" i="0" u="none" strike="noStrike" kern="1200" baseline="0" dirty="0" smtClean="0">
                <a:solidFill>
                  <a:schemeClr val="tx1"/>
                </a:solidFill>
                <a:latin typeface="+mn-lt"/>
                <a:ea typeface="+mn-ea"/>
                <a:cs typeface="+mn-cs"/>
              </a:rPr>
              <a:t>If </a:t>
            </a:r>
            <a:r>
              <a:rPr lang="en-US" altLang="zh-TW" sz="1200" b="0" i="1" u="none" strike="noStrike" kern="1200" baseline="0" dirty="0" err="1" smtClean="0">
                <a:solidFill>
                  <a:schemeClr val="tx1"/>
                </a:solidFill>
                <a:latin typeface="+mn-lt"/>
                <a:ea typeface="+mn-ea"/>
                <a:cs typeface="+mn-cs"/>
              </a:rPr>
              <a:t>event_wait_list</a:t>
            </a:r>
            <a:r>
              <a:rPr lang="en-US" altLang="zh-TW" sz="1200" b="0" i="1" u="none" strike="noStrike" kern="1200" baseline="0" dirty="0" smtClean="0">
                <a:solidFill>
                  <a:schemeClr val="tx1"/>
                </a:solidFill>
                <a:latin typeface="+mn-lt"/>
                <a:ea typeface="+mn-ea"/>
                <a:cs typeface="+mn-cs"/>
              </a:rPr>
              <a:t> </a:t>
            </a:r>
            <a:r>
              <a:rPr lang="en-US" altLang="zh-TW" sz="1200" b="0" i="0" u="none" strike="noStrike" kern="1200" baseline="0" dirty="0" smtClean="0">
                <a:solidFill>
                  <a:schemeClr val="tx1"/>
                </a:solidFill>
                <a:latin typeface="+mn-lt"/>
                <a:ea typeface="+mn-ea"/>
                <a:cs typeface="+mn-cs"/>
              </a:rPr>
              <a:t>is not NULL, the list of events pointed to by </a:t>
            </a:r>
            <a:r>
              <a:rPr lang="en-US" altLang="zh-TW" sz="1200" b="0" i="1" u="none" strike="noStrike" kern="1200" baseline="0" dirty="0" err="1" smtClean="0">
                <a:solidFill>
                  <a:schemeClr val="tx1"/>
                </a:solidFill>
                <a:latin typeface="+mn-lt"/>
                <a:ea typeface="+mn-ea"/>
                <a:cs typeface="+mn-cs"/>
              </a:rPr>
              <a:t>event_wait_list</a:t>
            </a:r>
            <a:r>
              <a:rPr lang="en-US" altLang="zh-TW" sz="1200" b="0" i="1" u="none" strike="noStrike" kern="1200" baseline="0" dirty="0" smtClean="0">
                <a:solidFill>
                  <a:schemeClr val="tx1"/>
                </a:solidFill>
                <a:latin typeface="+mn-lt"/>
                <a:ea typeface="+mn-ea"/>
                <a:cs typeface="+mn-cs"/>
              </a:rPr>
              <a:t> </a:t>
            </a:r>
            <a:r>
              <a:rPr lang="en-US" altLang="zh-TW" sz="1200" b="0" i="0" u="none" strike="noStrike" kern="1200" baseline="0" dirty="0" smtClean="0">
                <a:solidFill>
                  <a:schemeClr val="tx1"/>
                </a:solidFill>
                <a:latin typeface="+mn-lt"/>
                <a:ea typeface="+mn-ea"/>
                <a:cs typeface="+mn-cs"/>
              </a:rPr>
              <a:t>must be valid and </a:t>
            </a:r>
            <a:r>
              <a:rPr lang="en-US" altLang="zh-TW" sz="1200" b="0" i="1" u="none" strike="noStrike" kern="1200" baseline="0" dirty="0" err="1" smtClean="0">
                <a:solidFill>
                  <a:schemeClr val="tx1"/>
                </a:solidFill>
                <a:latin typeface="+mn-lt"/>
                <a:ea typeface="+mn-ea"/>
                <a:cs typeface="+mn-cs"/>
              </a:rPr>
              <a:t>num_events_in_wait_list</a:t>
            </a:r>
            <a:r>
              <a:rPr lang="en-US" altLang="zh-TW" sz="1200" b="0" i="1" u="none" strike="noStrike" kern="1200" baseline="0" dirty="0" smtClean="0">
                <a:solidFill>
                  <a:schemeClr val="tx1"/>
                </a:solidFill>
                <a:latin typeface="+mn-lt"/>
                <a:ea typeface="+mn-ea"/>
                <a:cs typeface="+mn-cs"/>
              </a:rPr>
              <a:t> </a:t>
            </a:r>
            <a:r>
              <a:rPr lang="en-US" altLang="zh-TW" sz="1200" b="0" i="0" u="none" strike="noStrike" kern="1200" baseline="0" dirty="0" smtClean="0">
                <a:solidFill>
                  <a:schemeClr val="tx1"/>
                </a:solidFill>
                <a:latin typeface="+mn-lt"/>
                <a:ea typeface="+mn-ea"/>
                <a:cs typeface="+mn-cs"/>
              </a:rPr>
              <a:t>must be greater than 0. </a:t>
            </a:r>
          </a:p>
          <a:p>
            <a:r>
              <a:rPr lang="en-US" altLang="zh-TW" sz="1200" b="0" i="0" u="none" strike="noStrike" kern="1200" baseline="0" dirty="0" smtClean="0">
                <a:solidFill>
                  <a:schemeClr val="tx1"/>
                </a:solidFill>
                <a:latin typeface="+mn-lt"/>
                <a:ea typeface="+mn-ea"/>
                <a:cs typeface="+mn-cs"/>
              </a:rPr>
              <a:t>The events specified in </a:t>
            </a:r>
            <a:r>
              <a:rPr lang="en-US" altLang="zh-TW" sz="1200" b="0" i="1" u="none" strike="noStrike" kern="1200" baseline="0" dirty="0" err="1" smtClean="0">
                <a:solidFill>
                  <a:schemeClr val="tx1"/>
                </a:solidFill>
                <a:latin typeface="+mn-lt"/>
                <a:ea typeface="+mn-ea"/>
                <a:cs typeface="+mn-cs"/>
              </a:rPr>
              <a:t>event_wait_list</a:t>
            </a:r>
            <a:r>
              <a:rPr lang="en-US" altLang="zh-TW" sz="1200" b="0" i="1" u="none" strike="noStrike" kern="1200" baseline="0" dirty="0" smtClean="0">
                <a:solidFill>
                  <a:schemeClr val="tx1"/>
                </a:solidFill>
                <a:latin typeface="+mn-lt"/>
                <a:ea typeface="+mn-ea"/>
                <a:cs typeface="+mn-cs"/>
              </a:rPr>
              <a:t> </a:t>
            </a:r>
            <a:r>
              <a:rPr lang="en-US" altLang="zh-TW" sz="1200" b="0" i="0" u="none" strike="noStrike" kern="1200" baseline="0" dirty="0" smtClean="0">
                <a:solidFill>
                  <a:schemeClr val="tx1"/>
                </a:solidFill>
                <a:latin typeface="+mn-lt"/>
                <a:ea typeface="+mn-ea"/>
                <a:cs typeface="+mn-cs"/>
              </a:rPr>
              <a:t>act as synchronization points. The context associated with events in </a:t>
            </a:r>
            <a:r>
              <a:rPr lang="en-US" altLang="zh-TW" sz="1200" b="0" i="1" u="none" strike="noStrike" kern="1200" baseline="0" dirty="0" err="1" smtClean="0">
                <a:solidFill>
                  <a:schemeClr val="tx1"/>
                </a:solidFill>
                <a:latin typeface="+mn-lt"/>
                <a:ea typeface="+mn-ea"/>
                <a:cs typeface="+mn-cs"/>
              </a:rPr>
              <a:t>event_wait_list</a:t>
            </a:r>
            <a:r>
              <a:rPr lang="en-US" altLang="zh-TW" sz="1200" b="0" i="1" u="none" strike="noStrike" kern="1200" baseline="0" dirty="0" smtClean="0">
                <a:solidFill>
                  <a:schemeClr val="tx1"/>
                </a:solidFill>
                <a:latin typeface="+mn-lt"/>
                <a:ea typeface="+mn-ea"/>
                <a:cs typeface="+mn-cs"/>
              </a:rPr>
              <a:t> </a:t>
            </a:r>
            <a:r>
              <a:rPr lang="en-US" altLang="zh-TW" sz="1200" b="0" i="0" u="none" strike="noStrike" kern="1200" baseline="0" dirty="0" smtClean="0">
                <a:solidFill>
                  <a:schemeClr val="tx1"/>
                </a:solidFill>
                <a:latin typeface="+mn-lt"/>
                <a:ea typeface="+mn-ea"/>
                <a:cs typeface="+mn-cs"/>
              </a:rPr>
              <a:t>and </a:t>
            </a:r>
            <a:r>
              <a:rPr lang="en-US" altLang="zh-TW" sz="1200" b="0" i="1" u="none" strike="noStrike" kern="1200" baseline="0" dirty="0" err="1" smtClean="0">
                <a:solidFill>
                  <a:schemeClr val="tx1"/>
                </a:solidFill>
                <a:latin typeface="+mn-lt"/>
                <a:ea typeface="+mn-ea"/>
                <a:cs typeface="+mn-cs"/>
              </a:rPr>
              <a:t>command_queue</a:t>
            </a:r>
            <a:r>
              <a:rPr lang="en-US" altLang="zh-TW" sz="1200" b="0" i="1" u="none" strike="noStrike" kern="1200" baseline="0" dirty="0" smtClean="0">
                <a:solidFill>
                  <a:schemeClr val="tx1"/>
                </a:solidFill>
                <a:latin typeface="+mn-lt"/>
                <a:ea typeface="+mn-ea"/>
                <a:cs typeface="+mn-cs"/>
              </a:rPr>
              <a:t> </a:t>
            </a:r>
            <a:r>
              <a:rPr lang="en-US" altLang="zh-TW" sz="1200" b="0" i="0" u="none" strike="noStrike" kern="1200" baseline="0" dirty="0" smtClean="0">
                <a:solidFill>
                  <a:schemeClr val="tx1"/>
                </a:solidFill>
                <a:latin typeface="+mn-lt"/>
                <a:ea typeface="+mn-ea"/>
                <a:cs typeface="+mn-cs"/>
              </a:rPr>
              <a:t>must be the same. </a:t>
            </a:r>
          </a:p>
          <a:p>
            <a:r>
              <a:rPr lang="en-US" altLang="zh-TW" sz="1200" b="0" i="0" u="none" strike="noStrike" kern="1200" baseline="0" dirty="0" smtClean="0">
                <a:solidFill>
                  <a:schemeClr val="tx1"/>
                </a:solidFill>
                <a:latin typeface="+mn-lt"/>
                <a:ea typeface="+mn-ea"/>
                <a:cs typeface="+mn-cs"/>
              </a:rPr>
              <a:t>The memory associated with </a:t>
            </a:r>
            <a:r>
              <a:rPr lang="en-US" altLang="zh-TW" sz="1200" b="0" i="1" u="none" strike="noStrike" kern="1200" baseline="0" dirty="0" err="1" smtClean="0">
                <a:solidFill>
                  <a:schemeClr val="tx1"/>
                </a:solidFill>
                <a:latin typeface="+mn-lt"/>
                <a:ea typeface="+mn-ea"/>
                <a:cs typeface="+mn-cs"/>
              </a:rPr>
              <a:t>event_wait_list</a:t>
            </a:r>
            <a:r>
              <a:rPr lang="en-US" altLang="zh-TW" sz="1200" b="0" i="1" u="none" strike="noStrike" kern="1200" baseline="0" dirty="0" smtClean="0">
                <a:solidFill>
                  <a:schemeClr val="tx1"/>
                </a:solidFill>
                <a:latin typeface="+mn-lt"/>
                <a:ea typeface="+mn-ea"/>
                <a:cs typeface="+mn-cs"/>
              </a:rPr>
              <a:t> </a:t>
            </a:r>
            <a:r>
              <a:rPr lang="en-US" altLang="zh-TW" sz="1200" b="0" i="0" u="none" strike="noStrike" kern="1200" baseline="0" dirty="0" smtClean="0">
                <a:solidFill>
                  <a:schemeClr val="tx1"/>
                </a:solidFill>
                <a:latin typeface="+mn-lt"/>
                <a:ea typeface="+mn-ea"/>
                <a:cs typeface="+mn-cs"/>
              </a:rPr>
              <a:t>can be reused or freed after the function returns. </a:t>
            </a:r>
            <a:endParaRPr lang="zh-TW" altLang="en-US" dirty="0"/>
          </a:p>
        </p:txBody>
      </p:sp>
      <p:sp>
        <p:nvSpPr>
          <p:cNvPr id="4" name="投影片編號版面配置區 3"/>
          <p:cNvSpPr>
            <a:spLocks noGrp="1"/>
          </p:cNvSpPr>
          <p:nvPr>
            <p:ph type="sldNum" sz="quarter" idx="10"/>
          </p:nvPr>
        </p:nvSpPr>
        <p:spPr/>
        <p:txBody>
          <a:bodyPr/>
          <a:lstStyle/>
          <a:p>
            <a:fld id="{D1A760EC-ADDA-44F1-80B4-C1D5200556ED}" type="slidenum">
              <a:rPr lang="zh-TW" altLang="en-US" smtClean="0"/>
              <a:t>41</a:t>
            </a:fld>
            <a:endParaRPr lang="zh-TW" altLang="en-US"/>
          </a:p>
        </p:txBody>
      </p:sp>
    </p:spTree>
    <p:extLst>
      <p:ext uri="{BB962C8B-B14F-4D97-AF65-F5344CB8AC3E}">
        <p14:creationId xmlns:p14="http://schemas.microsoft.com/office/powerpoint/2010/main" val="767793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If the image object is created with CL_MEM_USE_HOST_PTR set in </a:t>
            </a:r>
            <a:r>
              <a:rPr lang="en-US" altLang="zh-TW" dirty="0" err="1" smtClean="0"/>
              <a:t>mem_flags</a:t>
            </a:r>
            <a:r>
              <a:rPr lang="en-US" altLang="zh-TW" dirty="0" smtClean="0"/>
              <a:t>, the following will be true:</a:t>
            </a:r>
          </a:p>
          <a:p>
            <a:r>
              <a:rPr lang="en-US" altLang="zh-TW" dirty="0" smtClean="0"/>
              <a:t>The </a:t>
            </a:r>
            <a:r>
              <a:rPr lang="en-US" altLang="zh-TW" dirty="0" err="1" smtClean="0"/>
              <a:t>host_ptr</a:t>
            </a:r>
            <a:r>
              <a:rPr lang="en-US" altLang="zh-TW" dirty="0" smtClean="0"/>
              <a:t> specified in </a:t>
            </a:r>
            <a:r>
              <a:rPr lang="en-US" altLang="zh-TW" dirty="0" err="1" smtClean="0"/>
              <a:t>clCreateImage</a:t>
            </a:r>
            <a:r>
              <a:rPr lang="en-US" altLang="zh-TW" dirty="0" smtClean="0"/>
              <a:t> is guaranteed to contain the latest bits in the region being mapped when the </a:t>
            </a:r>
            <a:r>
              <a:rPr lang="en-US" altLang="zh-TW" dirty="0" err="1" smtClean="0"/>
              <a:t>clEnqueueMapImage</a:t>
            </a:r>
            <a:r>
              <a:rPr lang="en-US" altLang="zh-TW" dirty="0" smtClean="0"/>
              <a:t> command has completed.</a:t>
            </a:r>
          </a:p>
          <a:p>
            <a:r>
              <a:rPr lang="en-US" altLang="zh-TW" dirty="0" smtClean="0"/>
              <a:t>The pointer value returned by </a:t>
            </a:r>
            <a:r>
              <a:rPr lang="en-US" altLang="zh-TW" dirty="0" err="1" smtClean="0"/>
              <a:t>clEnqueueMapImage</a:t>
            </a:r>
            <a:r>
              <a:rPr lang="en-US" altLang="zh-TW" dirty="0" smtClean="0"/>
              <a:t> will be derived from the </a:t>
            </a:r>
            <a:r>
              <a:rPr lang="en-US" altLang="zh-TW" dirty="0" err="1" smtClean="0"/>
              <a:t>host_ptr</a:t>
            </a:r>
            <a:r>
              <a:rPr lang="en-US" altLang="zh-TW" dirty="0" smtClean="0"/>
              <a:t> specified when the image object is created.</a:t>
            </a:r>
            <a:endParaRPr lang="zh-TW" altLang="en-US" dirty="0"/>
          </a:p>
        </p:txBody>
      </p:sp>
      <p:sp>
        <p:nvSpPr>
          <p:cNvPr id="4" name="投影片編號版面配置區 3"/>
          <p:cNvSpPr>
            <a:spLocks noGrp="1"/>
          </p:cNvSpPr>
          <p:nvPr>
            <p:ph type="sldNum" sz="quarter" idx="10"/>
          </p:nvPr>
        </p:nvSpPr>
        <p:spPr/>
        <p:txBody>
          <a:bodyPr/>
          <a:lstStyle/>
          <a:p>
            <a:fld id="{D1A760EC-ADDA-44F1-80B4-C1D5200556ED}" type="slidenum">
              <a:rPr lang="zh-TW" altLang="en-US" smtClean="0"/>
              <a:t>54</a:t>
            </a:fld>
            <a:endParaRPr lang="zh-TW" altLang="en-US"/>
          </a:p>
        </p:txBody>
      </p:sp>
    </p:spTree>
    <p:extLst>
      <p:ext uri="{BB962C8B-B14F-4D97-AF65-F5344CB8AC3E}">
        <p14:creationId xmlns:p14="http://schemas.microsoft.com/office/powerpoint/2010/main" val="24614203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lvl1pPr>
              <a:defRPr lang="zh-TW" altLang="en-US" dirty="0"/>
            </a:lvl1pPr>
          </a:lstStyle>
          <a:p>
            <a:pPr lvl="0"/>
            <a:r>
              <a:rPr lang="zh-TW" altLang="en-US" smtClean="0"/>
              <a:t>按一下以編輯母片標題樣式</a:t>
            </a:r>
            <a:endParaRPr lang="zh-TW" altLang="en-US" dirty="0"/>
          </a:p>
        </p:txBody>
      </p:sp>
      <p:sp>
        <p:nvSpPr>
          <p:cNvPr id="3" name="內容版面配置區 2"/>
          <p:cNvSpPr>
            <a:spLocks noGrp="1"/>
          </p:cNvSpPr>
          <p:nvPr>
            <p:ph idx="1"/>
          </p:nvPr>
        </p:nvSpPr>
        <p:spPr/>
        <p:txBody>
          <a:bodyPr/>
          <a:lstStyle>
            <a:lvl3pPr>
              <a:defRPr sz="1500">
                <a:latin typeface="Calibri" pitchFamily="34" charset="0"/>
                <a:ea typeface="標楷體" pitchFamily="65" charset="-120"/>
                <a:cs typeface="Calibri" pitchFamily="34" charset="0"/>
              </a:defRPr>
            </a:lvl3pPr>
            <a:lvl4pPr>
              <a:defRPr sz="1350">
                <a:latin typeface="Calibri" pitchFamily="34" charset="0"/>
                <a:ea typeface="標楷體" pitchFamily="65" charset="-120"/>
                <a:cs typeface="Calibri" pitchFamily="34" charset="0"/>
              </a:defRPr>
            </a:lvl4pPr>
            <a:lvl5pPr>
              <a:defRPr sz="1350">
                <a:latin typeface="Calibri" pitchFamily="34" charset="0"/>
                <a:ea typeface="標楷體" pitchFamily="65" charset="-120"/>
                <a:cs typeface="Calibri" pitchFamily="34" charset="0"/>
              </a:defRPr>
            </a:lvl5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EAC2741A-0BDF-4B3D-841E-3C6AC991D0FB}" type="slidenum">
              <a:rPr lang="zh-TW" altLang="en-US" smtClean="0"/>
              <a:t>‹#›</a:t>
            </a:fld>
            <a:endParaRPr lang="zh-TW" altLang="en-US"/>
          </a:p>
        </p:txBody>
      </p:sp>
    </p:spTree>
    <p:extLst>
      <p:ext uri="{BB962C8B-B14F-4D97-AF65-F5344CB8AC3E}">
        <p14:creationId xmlns:p14="http://schemas.microsoft.com/office/powerpoint/2010/main" val="2254485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2"/>
            <a:ext cx="7772400" cy="1362075"/>
          </a:xfrm>
        </p:spPr>
        <p:txBody>
          <a:bodyPr anchor="t"/>
          <a:lstStyle>
            <a:lvl1pPr algn="l">
              <a:defRPr sz="3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TW" altLang="en-US" smtClean="0"/>
              <a:t>按一下以編輯母片文字樣式</a:t>
            </a:r>
          </a:p>
        </p:txBody>
      </p:sp>
      <p:sp>
        <p:nvSpPr>
          <p:cNvPr id="4" name="Rectangle 19"/>
          <p:cNvSpPr>
            <a:spLocks noGrp="1" noChangeArrowheads="1"/>
          </p:cNvSpPr>
          <p:nvPr>
            <p:ph type="sldNum" sz="quarter" idx="10"/>
          </p:nvPr>
        </p:nvSpPr>
        <p:spPr>
          <a:ln/>
        </p:spPr>
        <p:txBody>
          <a:bodyPr/>
          <a:lstStyle>
            <a:lvl1pPr>
              <a:defRPr sz="1050" baseline="0">
                <a:solidFill>
                  <a:schemeClr val="bg1"/>
                </a:solidFill>
              </a:defRPr>
            </a:lvl1pPr>
          </a:lstStyle>
          <a:p>
            <a:fld id="{EAC2741A-0BDF-4B3D-841E-3C6AC991D0FB}" type="slidenum">
              <a:rPr lang="zh-TW" altLang="en-US" smtClean="0"/>
              <a:t>‹#›</a:t>
            </a:fld>
            <a:endParaRPr lang="zh-TW" altLang="en-US"/>
          </a:p>
        </p:txBody>
      </p:sp>
    </p:spTree>
    <p:extLst>
      <p:ext uri="{BB962C8B-B14F-4D97-AF65-F5344CB8AC3E}">
        <p14:creationId xmlns:p14="http://schemas.microsoft.com/office/powerpoint/2010/main" val="12376184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125538"/>
            <a:ext cx="4038600" cy="6477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125538"/>
            <a:ext cx="4038600" cy="6477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Rectangle 19"/>
          <p:cNvSpPr>
            <a:spLocks noGrp="1" noChangeArrowheads="1"/>
          </p:cNvSpPr>
          <p:nvPr>
            <p:ph type="sldNum" sz="quarter" idx="10"/>
          </p:nvPr>
        </p:nvSpPr>
        <p:spPr>
          <a:ln/>
        </p:spPr>
        <p:txBody>
          <a:bodyPr/>
          <a:lstStyle>
            <a:lvl1pPr>
              <a:defRPr/>
            </a:lvl1pPr>
          </a:lstStyle>
          <a:p>
            <a:fld id="{EAC2741A-0BDF-4B3D-841E-3C6AC991D0FB}" type="slidenum">
              <a:rPr lang="zh-TW" altLang="en-US" smtClean="0"/>
              <a:t>‹#›</a:t>
            </a:fld>
            <a:endParaRPr lang="zh-TW" altLang="en-US"/>
          </a:p>
        </p:txBody>
      </p:sp>
    </p:spTree>
    <p:extLst>
      <p:ext uri="{BB962C8B-B14F-4D97-AF65-F5344CB8AC3E}">
        <p14:creationId xmlns:p14="http://schemas.microsoft.com/office/powerpoint/2010/main" val="1418989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41955"/>
            <a:ext cx="8229600" cy="1143000"/>
          </a:xfr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EAC2741A-0BDF-4B3D-841E-3C6AC991D0FB}" type="slidenum">
              <a:rPr lang="zh-TW" altLang="en-US" smtClean="0"/>
              <a:t>‹#›</a:t>
            </a:fld>
            <a:endParaRPr lang="zh-TW" altLang="en-US"/>
          </a:p>
        </p:txBody>
      </p:sp>
    </p:spTree>
    <p:extLst>
      <p:ext uri="{BB962C8B-B14F-4D97-AF65-F5344CB8AC3E}">
        <p14:creationId xmlns:p14="http://schemas.microsoft.com/office/powerpoint/2010/main" val="31718956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dirty="0"/>
          </a:p>
        </p:txBody>
      </p:sp>
      <p:sp>
        <p:nvSpPr>
          <p:cNvPr id="3" name="Rectangle 19"/>
          <p:cNvSpPr>
            <a:spLocks noGrp="1" noChangeArrowheads="1"/>
          </p:cNvSpPr>
          <p:nvPr>
            <p:ph type="sldNum" sz="quarter" idx="10"/>
          </p:nvPr>
        </p:nvSpPr>
        <p:spPr>
          <a:ln/>
        </p:spPr>
        <p:txBody>
          <a:bodyPr/>
          <a:lstStyle>
            <a:lvl1pPr>
              <a:defRPr/>
            </a:lvl1pPr>
          </a:lstStyle>
          <a:p>
            <a:fld id="{EAC2741A-0BDF-4B3D-841E-3C6AC991D0FB}" type="slidenum">
              <a:rPr lang="zh-TW" altLang="en-US" smtClean="0"/>
              <a:t>‹#›</a:t>
            </a:fld>
            <a:endParaRPr lang="zh-TW" altLang="en-US"/>
          </a:p>
        </p:txBody>
      </p:sp>
    </p:spTree>
    <p:extLst>
      <p:ext uri="{BB962C8B-B14F-4D97-AF65-F5344CB8AC3E}">
        <p14:creationId xmlns:p14="http://schemas.microsoft.com/office/powerpoint/2010/main" val="4248776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EAC2741A-0BDF-4B3D-841E-3C6AC991D0FB}" type="slidenum">
              <a:rPr lang="zh-TW" altLang="en-US" smtClean="0"/>
              <a:t>‹#›</a:t>
            </a:fld>
            <a:endParaRPr lang="zh-TW" altLang="en-US"/>
          </a:p>
        </p:txBody>
      </p:sp>
    </p:spTree>
    <p:extLst>
      <p:ext uri="{BB962C8B-B14F-4D97-AF65-F5344CB8AC3E}">
        <p14:creationId xmlns:p14="http://schemas.microsoft.com/office/powerpoint/2010/main" val="1664745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1" y="273050"/>
            <a:ext cx="3008313" cy="1162050"/>
          </a:xfrm>
        </p:spPr>
        <p:txBody>
          <a:bodyPr anchor="b"/>
          <a:lstStyle>
            <a:lvl1pPr algn="l">
              <a:defRPr sz="15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TW" altLang="en-US" smtClean="0"/>
              <a:t>按一下以編輯母片文字樣式</a:t>
            </a:r>
          </a:p>
        </p:txBody>
      </p:sp>
      <p:sp>
        <p:nvSpPr>
          <p:cNvPr id="5" name="Rectangle 19"/>
          <p:cNvSpPr>
            <a:spLocks noGrp="1" noChangeArrowheads="1"/>
          </p:cNvSpPr>
          <p:nvPr>
            <p:ph type="sldNum" sz="quarter" idx="10"/>
          </p:nvPr>
        </p:nvSpPr>
        <p:spPr>
          <a:ln/>
        </p:spPr>
        <p:txBody>
          <a:bodyPr/>
          <a:lstStyle>
            <a:lvl1pPr>
              <a:defRPr/>
            </a:lvl1pPr>
          </a:lstStyle>
          <a:p>
            <a:fld id="{EAC2741A-0BDF-4B3D-841E-3C6AC991D0FB}" type="slidenum">
              <a:rPr lang="zh-TW" altLang="en-US" smtClean="0"/>
              <a:t>‹#›</a:t>
            </a:fld>
            <a:endParaRPr lang="zh-TW" altLang="en-US"/>
          </a:p>
        </p:txBody>
      </p:sp>
    </p:spTree>
    <p:extLst>
      <p:ext uri="{BB962C8B-B14F-4D97-AF65-F5344CB8AC3E}">
        <p14:creationId xmlns:p14="http://schemas.microsoft.com/office/powerpoint/2010/main" val="42942070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15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zh-TW" altLang="en-US" noProof="0" smtClean="0"/>
              <a:t>按一下圖示以新增圖片</a:t>
            </a:r>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TW" altLang="en-US" smtClean="0"/>
              <a:t>按一下以編輯母片文字樣式</a:t>
            </a:r>
          </a:p>
        </p:txBody>
      </p:sp>
      <p:sp>
        <p:nvSpPr>
          <p:cNvPr id="5" name="Rectangle 19"/>
          <p:cNvSpPr>
            <a:spLocks noGrp="1" noChangeArrowheads="1"/>
          </p:cNvSpPr>
          <p:nvPr>
            <p:ph type="sldNum" sz="quarter" idx="10"/>
          </p:nvPr>
        </p:nvSpPr>
        <p:spPr>
          <a:ln/>
        </p:spPr>
        <p:txBody>
          <a:bodyPr/>
          <a:lstStyle>
            <a:lvl1pPr>
              <a:defRPr/>
            </a:lvl1pPr>
          </a:lstStyle>
          <a:p>
            <a:fld id="{EAC2741A-0BDF-4B3D-841E-3C6AC991D0FB}" type="slidenum">
              <a:rPr lang="zh-TW" altLang="en-US" smtClean="0"/>
              <a:t>‹#›</a:t>
            </a:fld>
            <a:endParaRPr lang="zh-TW" altLang="en-US"/>
          </a:p>
        </p:txBody>
      </p:sp>
    </p:spTree>
    <p:extLst>
      <p:ext uri="{BB962C8B-B14F-4D97-AF65-F5344CB8AC3E}">
        <p14:creationId xmlns:p14="http://schemas.microsoft.com/office/powerpoint/2010/main" val="1642455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EAC2741A-0BDF-4B3D-841E-3C6AC991D0FB}" type="slidenum">
              <a:rPr lang="zh-TW" altLang="en-US" smtClean="0"/>
              <a:t>‹#›</a:t>
            </a:fld>
            <a:endParaRPr lang="zh-TW" altLang="en-US"/>
          </a:p>
        </p:txBody>
      </p:sp>
    </p:spTree>
    <p:extLst>
      <p:ext uri="{BB962C8B-B14F-4D97-AF65-F5344CB8AC3E}">
        <p14:creationId xmlns:p14="http://schemas.microsoft.com/office/powerpoint/2010/main" val="9205586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73027"/>
            <a:ext cx="2057400" cy="1700213"/>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73027"/>
            <a:ext cx="6019800" cy="1700213"/>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EAC2741A-0BDF-4B3D-841E-3C6AC991D0FB}" type="slidenum">
              <a:rPr lang="zh-TW" altLang="en-US" smtClean="0"/>
              <a:t>‹#›</a:t>
            </a:fld>
            <a:endParaRPr lang="zh-TW" altLang="en-US"/>
          </a:p>
        </p:txBody>
      </p:sp>
    </p:spTree>
    <p:extLst>
      <p:ext uri="{BB962C8B-B14F-4D97-AF65-F5344CB8AC3E}">
        <p14:creationId xmlns:p14="http://schemas.microsoft.com/office/powerpoint/2010/main" val="5507589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73027"/>
            <a:ext cx="8229600" cy="1700213"/>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EAC2741A-0BDF-4B3D-841E-3C6AC991D0FB}" type="slidenum">
              <a:rPr lang="zh-TW" altLang="en-US" smtClean="0"/>
              <a:t>‹#›</a:t>
            </a:fld>
            <a:endParaRPr lang="zh-TW" altLang="en-US"/>
          </a:p>
        </p:txBody>
      </p:sp>
    </p:spTree>
    <p:extLst>
      <p:ext uri="{BB962C8B-B14F-4D97-AF65-F5344CB8AC3E}">
        <p14:creationId xmlns:p14="http://schemas.microsoft.com/office/powerpoint/2010/main" val="4670002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標題及表格">
    <p:spTree>
      <p:nvGrpSpPr>
        <p:cNvPr id="1" name=""/>
        <p:cNvGrpSpPr/>
        <p:nvPr/>
      </p:nvGrpSpPr>
      <p:grpSpPr>
        <a:xfrm>
          <a:off x="0" y="0"/>
          <a:ext cx="0" cy="0"/>
          <a:chOff x="0" y="0"/>
          <a:chExt cx="0" cy="0"/>
        </a:xfrm>
      </p:grpSpPr>
      <p:sp>
        <p:nvSpPr>
          <p:cNvPr id="2" name="標題 1"/>
          <p:cNvSpPr>
            <a:spLocks noGrp="1"/>
          </p:cNvSpPr>
          <p:nvPr>
            <p:ph type="title"/>
          </p:nvPr>
        </p:nvSpPr>
        <p:spPr>
          <a:xfrm>
            <a:off x="468313" y="73025"/>
            <a:ext cx="4852760" cy="692150"/>
          </a:xfrm>
        </p:spPr>
        <p:txBody>
          <a:bodyPr/>
          <a:lstStyle/>
          <a:p>
            <a:r>
              <a:rPr lang="zh-TW" altLang="en-US" smtClean="0"/>
              <a:t>按一下以編輯母片標題樣式</a:t>
            </a:r>
            <a:endParaRPr lang="zh-TW" altLang="en-US"/>
          </a:p>
        </p:txBody>
      </p:sp>
      <p:sp>
        <p:nvSpPr>
          <p:cNvPr id="3" name="表格版面配置區 2"/>
          <p:cNvSpPr>
            <a:spLocks noGrp="1"/>
          </p:cNvSpPr>
          <p:nvPr>
            <p:ph type="tbl" idx="1"/>
          </p:nvPr>
        </p:nvSpPr>
        <p:spPr>
          <a:xfrm>
            <a:off x="457200" y="1125538"/>
            <a:ext cx="8229600" cy="647700"/>
          </a:xfrm>
        </p:spPr>
        <p:txBody>
          <a:bodyPr/>
          <a:lstStyle/>
          <a:p>
            <a:pPr lvl="0"/>
            <a:r>
              <a:rPr lang="zh-TW" altLang="en-US" noProof="0" smtClean="0"/>
              <a:t>按一下圖示以新增表格</a:t>
            </a:r>
          </a:p>
        </p:txBody>
      </p:sp>
      <p:sp>
        <p:nvSpPr>
          <p:cNvPr id="4" name="Rectangle 19"/>
          <p:cNvSpPr>
            <a:spLocks noGrp="1" noChangeArrowheads="1"/>
          </p:cNvSpPr>
          <p:nvPr>
            <p:ph type="sldNum" sz="quarter" idx="10"/>
          </p:nvPr>
        </p:nvSpPr>
        <p:spPr>
          <a:ln/>
        </p:spPr>
        <p:txBody>
          <a:bodyPr/>
          <a:lstStyle>
            <a:lvl1pPr>
              <a:defRPr/>
            </a:lvl1pPr>
          </a:lstStyle>
          <a:p>
            <a:fld id="{EAC2741A-0BDF-4B3D-841E-3C6AC991D0FB}" type="slidenum">
              <a:rPr lang="zh-TW" altLang="en-US" smtClean="0"/>
              <a:t>‹#›</a:t>
            </a:fld>
            <a:endParaRPr lang="zh-TW" altLang="en-US"/>
          </a:p>
        </p:txBody>
      </p:sp>
    </p:spTree>
    <p:extLst>
      <p:ext uri="{BB962C8B-B14F-4D97-AF65-F5344CB8AC3E}">
        <p14:creationId xmlns:p14="http://schemas.microsoft.com/office/powerpoint/2010/main" val="10836212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7"/>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TW" altLang="en-US" smtClean="0"/>
              <a:t>按一下以編輯母片副標題樣式</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EAC2741A-0BDF-4B3D-841E-3C6AC991D0FB}" type="slidenum">
              <a:rPr lang="zh-TW" altLang="en-US" smtClean="0"/>
              <a:t>‹#›</a:t>
            </a:fld>
            <a:endParaRPr lang="zh-TW" altLang="en-US"/>
          </a:p>
        </p:txBody>
      </p:sp>
    </p:spTree>
    <p:extLst>
      <p:ext uri="{BB962C8B-B14F-4D97-AF65-F5344CB8AC3E}">
        <p14:creationId xmlns:p14="http://schemas.microsoft.com/office/powerpoint/2010/main" val="21141820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lvl1pPr>
              <a:defRPr lang="zh-TW" altLang="en-US" dirty="0"/>
            </a:lvl1pPr>
          </a:lstStyle>
          <a:p>
            <a:pPr lvl="0"/>
            <a:r>
              <a:rPr lang="zh-TW" altLang="en-US" smtClean="0"/>
              <a:t>按一下以編輯母片標題樣式</a:t>
            </a:r>
            <a:endParaRPr lang="zh-TW" altLang="en-US" dirty="0"/>
          </a:p>
        </p:txBody>
      </p:sp>
      <p:sp>
        <p:nvSpPr>
          <p:cNvPr id="3" name="內容版面配置區 2"/>
          <p:cNvSpPr>
            <a:spLocks noGrp="1"/>
          </p:cNvSpPr>
          <p:nvPr>
            <p:ph idx="1"/>
          </p:nvPr>
        </p:nvSpPr>
        <p:spPr/>
        <p:txBody>
          <a:bodyPr/>
          <a:lstStyle>
            <a:lvl3pPr>
              <a:defRPr sz="1500">
                <a:latin typeface="Calibri" pitchFamily="34" charset="0"/>
                <a:ea typeface="標楷體" pitchFamily="65" charset="-120"/>
                <a:cs typeface="Calibri" pitchFamily="34" charset="0"/>
              </a:defRPr>
            </a:lvl3pPr>
            <a:lvl4pPr>
              <a:defRPr sz="1350">
                <a:latin typeface="Calibri" pitchFamily="34" charset="0"/>
                <a:ea typeface="標楷體" pitchFamily="65" charset="-120"/>
                <a:cs typeface="Calibri" pitchFamily="34" charset="0"/>
              </a:defRPr>
            </a:lvl4pPr>
            <a:lvl5pPr>
              <a:defRPr sz="1350">
                <a:latin typeface="Calibri" pitchFamily="34" charset="0"/>
                <a:ea typeface="標楷體" pitchFamily="65" charset="-120"/>
                <a:cs typeface="Calibri" pitchFamily="34" charset="0"/>
              </a:defRPr>
            </a:lvl5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557A4102-9134-4DE4-89E3-9E7F1698ADF0}" type="slidenum">
              <a:rPr smtClean="0">
                <a:solidFill>
                  <a:prstClr val="white"/>
                </a:solidFill>
              </a:rPr>
              <a:pPr/>
              <a:t>‹#›</a:t>
            </a:fld>
            <a:endParaRPr>
              <a:solidFill>
                <a:prstClr val="white"/>
              </a:solidFill>
            </a:endParaRPr>
          </a:p>
        </p:txBody>
      </p:sp>
    </p:spTree>
    <p:extLst>
      <p:ext uri="{BB962C8B-B14F-4D97-AF65-F5344CB8AC3E}">
        <p14:creationId xmlns:p14="http://schemas.microsoft.com/office/powerpoint/2010/main" val="33478128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2"/>
            <a:ext cx="7772400" cy="1362075"/>
          </a:xfrm>
        </p:spPr>
        <p:txBody>
          <a:bodyPr anchor="t"/>
          <a:lstStyle>
            <a:lvl1pPr algn="l">
              <a:defRPr sz="3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TW" altLang="en-US" smtClean="0"/>
              <a:t>按一下以編輯母片文字樣式</a:t>
            </a:r>
          </a:p>
        </p:txBody>
      </p:sp>
      <p:sp>
        <p:nvSpPr>
          <p:cNvPr id="4" name="Rectangle 19"/>
          <p:cNvSpPr>
            <a:spLocks noGrp="1" noChangeArrowheads="1"/>
          </p:cNvSpPr>
          <p:nvPr>
            <p:ph type="sldNum" sz="quarter" idx="10"/>
          </p:nvPr>
        </p:nvSpPr>
        <p:spPr>
          <a:ln/>
        </p:spPr>
        <p:txBody>
          <a:bodyPr/>
          <a:lstStyle>
            <a:lvl1pPr>
              <a:defRPr sz="1050" baseline="0">
                <a:solidFill>
                  <a:schemeClr val="bg1"/>
                </a:solidFill>
              </a:defRPr>
            </a:lvl1pPr>
          </a:lstStyle>
          <a:p>
            <a:fld id="{557A4102-9134-4DE4-89E3-9E7F1698ADF0}" type="slidenum">
              <a:rPr smtClean="0">
                <a:solidFill>
                  <a:prstClr val="white"/>
                </a:solidFill>
              </a:rPr>
              <a:pPr/>
              <a:t>‹#›</a:t>
            </a:fld>
            <a:endParaRPr dirty="0">
              <a:solidFill>
                <a:prstClr val="white"/>
              </a:solidFill>
            </a:endParaRPr>
          </a:p>
        </p:txBody>
      </p:sp>
    </p:spTree>
    <p:extLst>
      <p:ext uri="{BB962C8B-B14F-4D97-AF65-F5344CB8AC3E}">
        <p14:creationId xmlns:p14="http://schemas.microsoft.com/office/powerpoint/2010/main" val="34004716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125538"/>
            <a:ext cx="4038600" cy="6477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125538"/>
            <a:ext cx="4038600" cy="6477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Rectangle 19"/>
          <p:cNvSpPr>
            <a:spLocks noGrp="1" noChangeArrowheads="1"/>
          </p:cNvSpPr>
          <p:nvPr>
            <p:ph type="sldNum" sz="quarter" idx="10"/>
          </p:nvPr>
        </p:nvSpPr>
        <p:spPr>
          <a:ln/>
        </p:spPr>
        <p:txBody>
          <a:bodyPr/>
          <a:lstStyle>
            <a:lvl1pPr>
              <a:defRPr/>
            </a:lvl1pPr>
          </a:lstStyle>
          <a:p>
            <a:fld id="{557A4102-9134-4DE4-89E3-9E7F1698ADF0}" type="slidenum">
              <a:rPr smtClean="0">
                <a:solidFill>
                  <a:prstClr val="white"/>
                </a:solidFill>
              </a:rPr>
              <a:pPr/>
              <a:t>‹#›</a:t>
            </a:fld>
            <a:endParaRPr>
              <a:solidFill>
                <a:prstClr val="white"/>
              </a:solidFill>
            </a:endParaRPr>
          </a:p>
        </p:txBody>
      </p:sp>
    </p:spTree>
    <p:extLst>
      <p:ext uri="{BB962C8B-B14F-4D97-AF65-F5344CB8AC3E}">
        <p14:creationId xmlns:p14="http://schemas.microsoft.com/office/powerpoint/2010/main" val="32648973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41955"/>
            <a:ext cx="8229600" cy="1143000"/>
          </a:xfr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557A4102-9134-4DE4-89E3-9E7F1698ADF0}" type="slidenum">
              <a:rPr smtClean="0">
                <a:solidFill>
                  <a:prstClr val="white"/>
                </a:solidFill>
              </a:rPr>
              <a:pPr/>
              <a:t>‹#›</a:t>
            </a:fld>
            <a:endParaRPr>
              <a:solidFill>
                <a:prstClr val="white"/>
              </a:solidFill>
            </a:endParaRPr>
          </a:p>
        </p:txBody>
      </p:sp>
    </p:spTree>
    <p:extLst>
      <p:ext uri="{BB962C8B-B14F-4D97-AF65-F5344CB8AC3E}">
        <p14:creationId xmlns:p14="http://schemas.microsoft.com/office/powerpoint/2010/main" val="16009522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dirty="0"/>
          </a:p>
        </p:txBody>
      </p:sp>
      <p:sp>
        <p:nvSpPr>
          <p:cNvPr id="3" name="Rectangle 19"/>
          <p:cNvSpPr>
            <a:spLocks noGrp="1" noChangeArrowheads="1"/>
          </p:cNvSpPr>
          <p:nvPr>
            <p:ph type="sldNum" sz="quarter" idx="10"/>
          </p:nvPr>
        </p:nvSpPr>
        <p:spPr>
          <a:ln/>
        </p:spPr>
        <p:txBody>
          <a:bodyPr/>
          <a:lstStyle>
            <a:lvl1pPr>
              <a:defRPr/>
            </a:lvl1pPr>
          </a:lstStyle>
          <a:p>
            <a:fld id="{557A4102-9134-4DE4-89E3-9E7F1698ADF0}" type="slidenum">
              <a:rPr smtClean="0">
                <a:solidFill>
                  <a:prstClr val="white"/>
                </a:solidFill>
              </a:rPr>
              <a:pPr/>
              <a:t>‹#›</a:t>
            </a:fld>
            <a:endParaRPr>
              <a:solidFill>
                <a:prstClr val="white"/>
              </a:solidFill>
            </a:endParaRPr>
          </a:p>
        </p:txBody>
      </p:sp>
    </p:spTree>
    <p:extLst>
      <p:ext uri="{BB962C8B-B14F-4D97-AF65-F5344CB8AC3E}">
        <p14:creationId xmlns:p14="http://schemas.microsoft.com/office/powerpoint/2010/main" val="3356237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557A4102-9134-4DE4-89E3-9E7F1698ADF0}" type="slidenum">
              <a:rPr smtClean="0">
                <a:solidFill>
                  <a:prstClr val="white"/>
                </a:solidFill>
              </a:rPr>
              <a:pPr/>
              <a:t>‹#›</a:t>
            </a:fld>
            <a:endParaRPr>
              <a:solidFill>
                <a:prstClr val="white"/>
              </a:solidFill>
            </a:endParaRPr>
          </a:p>
        </p:txBody>
      </p:sp>
    </p:spTree>
    <p:extLst>
      <p:ext uri="{BB962C8B-B14F-4D97-AF65-F5344CB8AC3E}">
        <p14:creationId xmlns:p14="http://schemas.microsoft.com/office/powerpoint/2010/main" val="30052472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1" y="273050"/>
            <a:ext cx="3008313" cy="1162050"/>
          </a:xfrm>
        </p:spPr>
        <p:txBody>
          <a:bodyPr anchor="b"/>
          <a:lstStyle>
            <a:lvl1pPr algn="l">
              <a:defRPr sz="15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TW" altLang="en-US" smtClean="0"/>
              <a:t>按一下以編輯母片文字樣式</a:t>
            </a:r>
          </a:p>
        </p:txBody>
      </p:sp>
      <p:sp>
        <p:nvSpPr>
          <p:cNvPr id="5" name="Rectangle 19"/>
          <p:cNvSpPr>
            <a:spLocks noGrp="1" noChangeArrowheads="1"/>
          </p:cNvSpPr>
          <p:nvPr>
            <p:ph type="sldNum" sz="quarter" idx="10"/>
          </p:nvPr>
        </p:nvSpPr>
        <p:spPr>
          <a:ln/>
        </p:spPr>
        <p:txBody>
          <a:bodyPr/>
          <a:lstStyle>
            <a:lvl1pPr>
              <a:defRPr/>
            </a:lvl1pPr>
          </a:lstStyle>
          <a:p>
            <a:fld id="{557A4102-9134-4DE4-89E3-9E7F1698ADF0}" type="slidenum">
              <a:rPr smtClean="0">
                <a:solidFill>
                  <a:prstClr val="white"/>
                </a:solidFill>
              </a:rPr>
              <a:pPr/>
              <a:t>‹#›</a:t>
            </a:fld>
            <a:endParaRPr>
              <a:solidFill>
                <a:prstClr val="white"/>
              </a:solidFill>
            </a:endParaRPr>
          </a:p>
        </p:txBody>
      </p:sp>
    </p:spTree>
    <p:extLst>
      <p:ext uri="{BB962C8B-B14F-4D97-AF65-F5344CB8AC3E}">
        <p14:creationId xmlns:p14="http://schemas.microsoft.com/office/powerpoint/2010/main" val="41666862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15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zh-TW" altLang="en-US" noProof="0" smtClean="0"/>
              <a:t>按一下圖示以新增圖片</a:t>
            </a:r>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TW" altLang="en-US" smtClean="0"/>
              <a:t>按一下以編輯母片文字樣式</a:t>
            </a:r>
          </a:p>
        </p:txBody>
      </p:sp>
      <p:sp>
        <p:nvSpPr>
          <p:cNvPr id="5" name="Rectangle 19"/>
          <p:cNvSpPr>
            <a:spLocks noGrp="1" noChangeArrowheads="1"/>
          </p:cNvSpPr>
          <p:nvPr>
            <p:ph type="sldNum" sz="quarter" idx="10"/>
          </p:nvPr>
        </p:nvSpPr>
        <p:spPr>
          <a:ln/>
        </p:spPr>
        <p:txBody>
          <a:bodyPr/>
          <a:lstStyle>
            <a:lvl1pPr>
              <a:defRPr/>
            </a:lvl1pPr>
          </a:lstStyle>
          <a:p>
            <a:fld id="{557A4102-9134-4DE4-89E3-9E7F1698ADF0}" type="slidenum">
              <a:rPr smtClean="0">
                <a:solidFill>
                  <a:prstClr val="white"/>
                </a:solidFill>
              </a:rPr>
              <a:pPr/>
              <a:t>‹#›</a:t>
            </a:fld>
            <a:endParaRPr>
              <a:solidFill>
                <a:prstClr val="white"/>
              </a:solidFill>
            </a:endParaRPr>
          </a:p>
        </p:txBody>
      </p:sp>
    </p:spTree>
    <p:extLst>
      <p:ext uri="{BB962C8B-B14F-4D97-AF65-F5344CB8AC3E}">
        <p14:creationId xmlns:p14="http://schemas.microsoft.com/office/powerpoint/2010/main" val="31883460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557A4102-9134-4DE4-89E3-9E7F1698ADF0}" type="slidenum">
              <a:rPr smtClean="0">
                <a:solidFill>
                  <a:prstClr val="white"/>
                </a:solidFill>
              </a:rPr>
              <a:pPr/>
              <a:t>‹#›</a:t>
            </a:fld>
            <a:endParaRPr>
              <a:solidFill>
                <a:prstClr val="white"/>
              </a:solidFill>
            </a:endParaRPr>
          </a:p>
        </p:txBody>
      </p:sp>
    </p:spTree>
    <p:extLst>
      <p:ext uri="{BB962C8B-B14F-4D97-AF65-F5344CB8AC3E}">
        <p14:creationId xmlns:p14="http://schemas.microsoft.com/office/powerpoint/2010/main" val="11585859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73027"/>
            <a:ext cx="2057400" cy="1700213"/>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73027"/>
            <a:ext cx="6019800" cy="1700213"/>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557A4102-9134-4DE4-89E3-9E7F1698ADF0}" type="slidenum">
              <a:rPr smtClean="0">
                <a:solidFill>
                  <a:prstClr val="white"/>
                </a:solidFill>
              </a:rPr>
              <a:pPr/>
              <a:t>‹#›</a:t>
            </a:fld>
            <a:endParaRPr>
              <a:solidFill>
                <a:prstClr val="white"/>
              </a:solidFill>
            </a:endParaRPr>
          </a:p>
        </p:txBody>
      </p:sp>
    </p:spTree>
    <p:extLst>
      <p:ext uri="{BB962C8B-B14F-4D97-AF65-F5344CB8AC3E}">
        <p14:creationId xmlns:p14="http://schemas.microsoft.com/office/powerpoint/2010/main" val="5177638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73027"/>
            <a:ext cx="8229600" cy="1700213"/>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557A4102-9134-4DE4-89E3-9E7F1698ADF0}" type="slidenum">
              <a:rPr smtClean="0">
                <a:solidFill>
                  <a:prstClr val="white"/>
                </a:solidFill>
              </a:rPr>
              <a:pPr/>
              <a:t>‹#›</a:t>
            </a:fld>
            <a:endParaRPr>
              <a:solidFill>
                <a:prstClr val="white"/>
              </a:solidFill>
            </a:endParaRPr>
          </a:p>
        </p:txBody>
      </p:sp>
    </p:spTree>
    <p:extLst>
      <p:ext uri="{BB962C8B-B14F-4D97-AF65-F5344CB8AC3E}">
        <p14:creationId xmlns:p14="http://schemas.microsoft.com/office/powerpoint/2010/main" val="197627979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bl" preserve="1">
  <p:cSld name="標題及表格">
    <p:spTree>
      <p:nvGrpSpPr>
        <p:cNvPr id="1" name=""/>
        <p:cNvGrpSpPr/>
        <p:nvPr/>
      </p:nvGrpSpPr>
      <p:grpSpPr>
        <a:xfrm>
          <a:off x="0" y="0"/>
          <a:ext cx="0" cy="0"/>
          <a:chOff x="0" y="0"/>
          <a:chExt cx="0" cy="0"/>
        </a:xfrm>
      </p:grpSpPr>
      <p:sp>
        <p:nvSpPr>
          <p:cNvPr id="2" name="標題 1"/>
          <p:cNvSpPr>
            <a:spLocks noGrp="1"/>
          </p:cNvSpPr>
          <p:nvPr>
            <p:ph type="title"/>
          </p:nvPr>
        </p:nvSpPr>
        <p:spPr>
          <a:xfrm>
            <a:off x="468313" y="73025"/>
            <a:ext cx="4852760" cy="692150"/>
          </a:xfrm>
        </p:spPr>
        <p:txBody>
          <a:bodyPr/>
          <a:lstStyle/>
          <a:p>
            <a:r>
              <a:rPr lang="zh-TW" altLang="en-US" smtClean="0"/>
              <a:t>按一下以編輯母片標題樣式</a:t>
            </a:r>
            <a:endParaRPr lang="zh-TW" altLang="en-US"/>
          </a:p>
        </p:txBody>
      </p:sp>
      <p:sp>
        <p:nvSpPr>
          <p:cNvPr id="3" name="表格版面配置區 2"/>
          <p:cNvSpPr>
            <a:spLocks noGrp="1"/>
          </p:cNvSpPr>
          <p:nvPr>
            <p:ph type="tbl" idx="1"/>
          </p:nvPr>
        </p:nvSpPr>
        <p:spPr>
          <a:xfrm>
            <a:off x="457200" y="1125538"/>
            <a:ext cx="8229600" cy="647700"/>
          </a:xfrm>
        </p:spPr>
        <p:txBody>
          <a:bodyPr/>
          <a:lstStyle/>
          <a:p>
            <a:pPr lvl="0"/>
            <a:r>
              <a:rPr lang="zh-TW" altLang="en-US" noProof="0" smtClean="0"/>
              <a:t>按一下圖示以新增表格</a:t>
            </a:r>
          </a:p>
        </p:txBody>
      </p:sp>
      <p:sp>
        <p:nvSpPr>
          <p:cNvPr id="4" name="Rectangle 19"/>
          <p:cNvSpPr>
            <a:spLocks noGrp="1" noChangeArrowheads="1"/>
          </p:cNvSpPr>
          <p:nvPr>
            <p:ph type="sldNum" sz="quarter" idx="10"/>
          </p:nvPr>
        </p:nvSpPr>
        <p:spPr>
          <a:ln/>
        </p:spPr>
        <p:txBody>
          <a:bodyPr/>
          <a:lstStyle>
            <a:lvl1pPr>
              <a:defRPr/>
            </a:lvl1pPr>
          </a:lstStyle>
          <a:p>
            <a:fld id="{557A4102-9134-4DE4-89E3-9E7F1698ADF0}" type="slidenum">
              <a:rPr smtClean="0">
                <a:solidFill>
                  <a:prstClr val="white"/>
                </a:solidFill>
              </a:rPr>
              <a:pPr/>
              <a:t>‹#›</a:t>
            </a:fld>
            <a:endParaRPr>
              <a:solidFill>
                <a:prstClr val="white"/>
              </a:solidFill>
            </a:endParaRPr>
          </a:p>
        </p:txBody>
      </p:sp>
    </p:spTree>
    <p:extLst>
      <p:ext uri="{BB962C8B-B14F-4D97-AF65-F5344CB8AC3E}">
        <p14:creationId xmlns:p14="http://schemas.microsoft.com/office/powerpoint/2010/main" val="229281657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7"/>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TW" altLang="en-US" smtClean="0"/>
              <a:t>按一下以編輯母片副標題樣式</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557A4102-9134-4DE4-89E3-9E7F1698ADF0}" type="slidenum">
              <a:rPr smtClean="0">
                <a:solidFill>
                  <a:prstClr val="white"/>
                </a:solidFill>
              </a:rPr>
              <a:pPr/>
              <a:t>‹#›</a:t>
            </a:fld>
            <a:endParaRPr>
              <a:solidFill>
                <a:prstClr val="white"/>
              </a:solidFill>
            </a:endParaRPr>
          </a:p>
        </p:txBody>
      </p:sp>
    </p:spTree>
    <p:extLst>
      <p:ext uri="{BB962C8B-B14F-4D97-AF65-F5344CB8AC3E}">
        <p14:creationId xmlns:p14="http://schemas.microsoft.com/office/powerpoint/2010/main" val="6102983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emf"/><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wmf"/><Relationship Id="rId10" Type="http://schemas.openxmlformats.org/officeDocument/2006/relationships/slideLayout" Target="../slideLayouts/slideLayout10.xml"/><Relationship Id="rId19" Type="http://schemas.openxmlformats.org/officeDocument/2006/relationships/image" Target="../media/image5.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image" Target="../media/image4.emf"/><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image" Target="../media/image3.emf"/><Relationship Id="rId2" Type="http://schemas.openxmlformats.org/officeDocument/2006/relationships/slideLayout" Target="../slideLayouts/slideLayout15.xml"/><Relationship Id="rId16" Type="http://schemas.openxmlformats.org/officeDocument/2006/relationships/image" Target="../media/image2.png"/><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1.wmf"/><Relationship Id="rId10" Type="http://schemas.openxmlformats.org/officeDocument/2006/relationships/slideLayout" Target="../slideLayouts/slideLayout23.xml"/><Relationship Id="rId19" Type="http://schemas.openxmlformats.org/officeDocument/2006/relationships/image" Target="../media/image5.png"/><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11" descr="清大LOGO(鳥)"/>
          <p:cNvPicPr>
            <a:picLocks noChangeAspect="1" noChangeArrowheads="1"/>
          </p:cNvPicPr>
          <p:nvPr/>
        </p:nvPicPr>
        <p:blipFill>
          <a:blip r:embed="rId15" cstate="print">
            <a:lum bright="70000" contrast="-70000"/>
          </a:blip>
          <a:srcRect/>
          <a:stretch>
            <a:fillRect/>
          </a:stretch>
        </p:blipFill>
        <p:spPr bwMode="auto">
          <a:xfrm>
            <a:off x="0" y="30163"/>
            <a:ext cx="1619250" cy="806450"/>
          </a:xfrm>
          <a:prstGeom prst="rect">
            <a:avLst/>
          </a:prstGeom>
          <a:noFill/>
          <a:ln w="9525">
            <a:noFill/>
            <a:miter lim="800000"/>
            <a:headEnd/>
            <a:tailEnd/>
          </a:ln>
        </p:spPr>
      </p:pic>
      <p:sp>
        <p:nvSpPr>
          <p:cNvPr id="1027" name="Rectangle 17"/>
          <p:cNvSpPr>
            <a:spLocks noGrp="1" noChangeArrowheads="1"/>
          </p:cNvSpPr>
          <p:nvPr>
            <p:ph type="title"/>
          </p:nvPr>
        </p:nvSpPr>
        <p:spPr bwMode="auto">
          <a:xfrm>
            <a:off x="468314" y="144463"/>
            <a:ext cx="8207375" cy="6921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smtClean="0"/>
              <a:t>按一下以編輯母片標題樣式</a:t>
            </a:r>
          </a:p>
        </p:txBody>
      </p:sp>
      <p:sp>
        <p:nvSpPr>
          <p:cNvPr id="1028" name="Rectangle 18"/>
          <p:cNvSpPr>
            <a:spLocks noGrp="1" noChangeArrowheads="1"/>
          </p:cNvSpPr>
          <p:nvPr>
            <p:ph type="body" idx="1"/>
          </p:nvPr>
        </p:nvSpPr>
        <p:spPr bwMode="auto">
          <a:xfrm>
            <a:off x="457200" y="1125538"/>
            <a:ext cx="8229600" cy="48958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smtClean="0"/>
              <a:t>按一下以編輯母片</a:t>
            </a:r>
          </a:p>
          <a:p>
            <a:pPr lvl="1"/>
            <a:r>
              <a:rPr lang="zh-TW" altLang="en-US" smtClean="0"/>
              <a:t>按一下以編輯母片</a:t>
            </a:r>
          </a:p>
          <a:p>
            <a:pPr lvl="1"/>
            <a:endParaRPr lang="zh-TW" altLang="en-US" smtClean="0"/>
          </a:p>
          <a:p>
            <a:pPr lvl="0"/>
            <a:endParaRPr lang="en-US" altLang="zh-TW" smtClean="0"/>
          </a:p>
        </p:txBody>
      </p:sp>
      <p:pic>
        <p:nvPicPr>
          <p:cNvPr id="1029" name="Picture 25" descr="name"/>
          <p:cNvPicPr>
            <a:picLocks noChangeAspect="1" noChangeArrowheads="1"/>
          </p:cNvPicPr>
          <p:nvPr/>
        </p:nvPicPr>
        <p:blipFill>
          <a:blip r:embed="rId16" cstate="print"/>
          <a:srcRect/>
          <a:stretch>
            <a:fillRect/>
          </a:stretch>
        </p:blipFill>
        <p:spPr bwMode="auto">
          <a:xfrm>
            <a:off x="1" y="6357940"/>
            <a:ext cx="3833813" cy="198437"/>
          </a:xfrm>
          <a:prstGeom prst="rect">
            <a:avLst/>
          </a:prstGeom>
          <a:noFill/>
          <a:ln w="9525">
            <a:noFill/>
            <a:miter lim="800000"/>
            <a:headEnd/>
            <a:tailEnd/>
          </a:ln>
        </p:spPr>
      </p:pic>
      <p:sp>
        <p:nvSpPr>
          <p:cNvPr id="8" name="矩形 7"/>
          <p:cNvSpPr/>
          <p:nvPr/>
        </p:nvSpPr>
        <p:spPr>
          <a:xfrm>
            <a:off x="569245" y="6581776"/>
            <a:ext cx="2731838" cy="230832"/>
          </a:xfrm>
          <a:prstGeom prst="rect">
            <a:avLst/>
          </a:prstGeom>
        </p:spPr>
        <p:txBody>
          <a:bodyPr wrap="none">
            <a:spAutoFit/>
          </a:bodyPr>
          <a:lstStyle/>
          <a:p>
            <a:pPr algn="ctr">
              <a:defRPr/>
            </a:pPr>
            <a:r>
              <a:rPr lang="en-US" sz="900" b="1" dirty="0">
                <a:solidFill>
                  <a:prstClr val="white"/>
                </a:solidFill>
                <a:cs typeface="Arial" pitchFamily="34" charset="0"/>
              </a:rPr>
              <a:t>National Tsing Hua University ® copyright OIA</a:t>
            </a:r>
            <a:endParaRPr lang="zh-TW" altLang="en-US" sz="900" b="1" dirty="0">
              <a:solidFill>
                <a:prstClr val="white"/>
              </a:solidFill>
              <a:cs typeface="Arial" pitchFamily="34" charset="0"/>
            </a:endParaRPr>
          </a:p>
        </p:txBody>
      </p:sp>
      <p:sp>
        <p:nvSpPr>
          <p:cNvPr id="4105" name="Rectangle 9"/>
          <p:cNvSpPr>
            <a:spLocks noChangeArrowheads="1"/>
          </p:cNvSpPr>
          <p:nvPr/>
        </p:nvSpPr>
        <p:spPr bwMode="auto">
          <a:xfrm>
            <a:off x="0" y="908051"/>
            <a:ext cx="9144000" cy="144463"/>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0">
              <a:solidFill>
                <a:prstClr val="black"/>
              </a:solidFill>
            </a:endParaRPr>
          </a:p>
        </p:txBody>
      </p:sp>
      <p:sp>
        <p:nvSpPr>
          <p:cNvPr id="4106" name="Rectangle 10"/>
          <p:cNvSpPr>
            <a:spLocks noChangeArrowheads="1"/>
          </p:cNvSpPr>
          <p:nvPr/>
        </p:nvSpPr>
        <p:spPr bwMode="auto">
          <a:xfrm>
            <a:off x="0" y="6165850"/>
            <a:ext cx="9144000" cy="719138"/>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0">
              <a:solidFill>
                <a:prstClr val="black"/>
              </a:solidFill>
            </a:endParaRPr>
          </a:p>
        </p:txBody>
      </p:sp>
      <p:sp>
        <p:nvSpPr>
          <p:cNvPr id="1043" name="Rectangle 19"/>
          <p:cNvSpPr>
            <a:spLocks noGrp="1" noChangeArrowheads="1"/>
          </p:cNvSpPr>
          <p:nvPr>
            <p:ph type="sldNum" sz="quarter" idx="4"/>
          </p:nvPr>
        </p:nvSpPr>
        <p:spPr bwMode="auto">
          <a:xfrm>
            <a:off x="6831013" y="6524627"/>
            <a:ext cx="21336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lang="zh-TW" altLang="en-US" sz="1050" kern="1200" baseline="0" smtClean="0">
                <a:solidFill>
                  <a:schemeClr val="bg1"/>
                </a:solidFill>
                <a:latin typeface="Arial" pitchFamily="34" charset="0"/>
                <a:ea typeface="新細明體" pitchFamily="18" charset="-120"/>
                <a:cs typeface="+mn-cs"/>
              </a:defRPr>
            </a:lvl1pPr>
          </a:lstStyle>
          <a:p>
            <a:fld id="{EAC2741A-0BDF-4B3D-841E-3C6AC991D0FB}" type="slidenum">
              <a:rPr lang="zh-TW" altLang="en-US" smtClean="0"/>
              <a:t>‹#›</a:t>
            </a:fld>
            <a:endParaRPr lang="zh-TW" altLang="en-US"/>
          </a:p>
        </p:txBody>
      </p:sp>
      <p:pic>
        <p:nvPicPr>
          <p:cNvPr id="1034" name="Picture 13" descr="清大LOGO(圓)"/>
          <p:cNvPicPr>
            <a:picLocks noChangeAspect="1" noChangeArrowheads="1"/>
          </p:cNvPicPr>
          <p:nvPr/>
        </p:nvPicPr>
        <p:blipFill>
          <a:blip r:embed="rId17" cstate="print"/>
          <a:srcRect/>
          <a:stretch>
            <a:fillRect/>
          </a:stretch>
        </p:blipFill>
        <p:spPr bwMode="auto">
          <a:xfrm>
            <a:off x="1" y="6181727"/>
            <a:ext cx="684213" cy="676275"/>
          </a:xfrm>
          <a:prstGeom prst="rect">
            <a:avLst/>
          </a:prstGeom>
          <a:noFill/>
          <a:ln w="9525">
            <a:noFill/>
            <a:miter lim="800000"/>
            <a:headEnd/>
            <a:tailEnd/>
          </a:ln>
        </p:spPr>
      </p:pic>
      <p:pic>
        <p:nvPicPr>
          <p:cNvPr id="1035" name="Picture 14" descr="清大書法字 "/>
          <p:cNvPicPr>
            <a:picLocks noChangeAspect="1" noChangeArrowheads="1"/>
          </p:cNvPicPr>
          <p:nvPr/>
        </p:nvPicPr>
        <p:blipFill>
          <a:blip r:embed="rId18" cstate="print"/>
          <a:srcRect/>
          <a:stretch>
            <a:fillRect/>
          </a:stretch>
        </p:blipFill>
        <p:spPr bwMode="auto">
          <a:xfrm>
            <a:off x="755651" y="6237288"/>
            <a:ext cx="2087563" cy="323850"/>
          </a:xfrm>
          <a:prstGeom prst="rect">
            <a:avLst/>
          </a:prstGeom>
          <a:noFill/>
          <a:ln w="9525">
            <a:noFill/>
            <a:miter lim="800000"/>
            <a:headEnd/>
            <a:tailEnd/>
          </a:ln>
        </p:spPr>
      </p:pic>
      <p:sp>
        <p:nvSpPr>
          <p:cNvPr id="4111" name="Text Box 15"/>
          <p:cNvSpPr txBox="1">
            <a:spLocks noChangeArrowheads="1"/>
          </p:cNvSpPr>
          <p:nvPr/>
        </p:nvSpPr>
        <p:spPr bwMode="auto">
          <a:xfrm>
            <a:off x="682626" y="6580188"/>
            <a:ext cx="1963999" cy="253916"/>
          </a:xfrm>
          <a:prstGeom prst="rect">
            <a:avLst/>
          </a:prstGeom>
          <a:noFill/>
          <a:ln w="15875">
            <a:noFill/>
            <a:miter lim="800000"/>
            <a:headEnd/>
            <a:tailEnd/>
          </a:ln>
          <a:effectLst>
            <a:prstShdw prst="shdw18" dist="17961" dir="13500000">
              <a:schemeClr val="accent1">
                <a:gamma/>
                <a:shade val="60000"/>
                <a:invGamma/>
              </a:schemeClr>
            </a:prstShdw>
          </a:effectLst>
        </p:spPr>
        <p:txBody>
          <a:bodyPr wrap="none">
            <a:spAutoFit/>
          </a:bodyPr>
          <a:lstStyle/>
          <a:p>
            <a:pPr>
              <a:defRPr/>
            </a:pPr>
            <a:r>
              <a:rPr lang="en-US" altLang="zh-TW" sz="1050" dirty="0">
                <a:solidFill>
                  <a:prstClr val="white"/>
                </a:solidFill>
              </a:rPr>
              <a:t>National Tsing Hua University</a:t>
            </a:r>
          </a:p>
        </p:txBody>
      </p:sp>
      <p:pic>
        <p:nvPicPr>
          <p:cNvPr id="13" name="圖片 12"/>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7376697" y="151801"/>
            <a:ext cx="1659800" cy="684812"/>
          </a:xfrm>
          <a:prstGeom prst="rect">
            <a:avLst/>
          </a:prstGeom>
        </p:spPr>
      </p:pic>
    </p:spTree>
    <p:extLst>
      <p:ext uri="{BB962C8B-B14F-4D97-AF65-F5344CB8AC3E}">
        <p14:creationId xmlns:p14="http://schemas.microsoft.com/office/powerpoint/2010/main" val="267268077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Lst>
  <p:timing>
    <p:tnLst>
      <p:par>
        <p:cTn id="1" dur="indefinite" restart="never" nodeType="tmRoot"/>
      </p:par>
    </p:tnLst>
  </p:timing>
  <p:txStyles>
    <p:titleStyle>
      <a:lvl1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900" algn="l" rtl="0" eaLnBrk="1" fontAlgn="base" hangingPunct="1">
        <a:spcBef>
          <a:spcPct val="0"/>
        </a:spcBef>
        <a:spcAft>
          <a:spcPct val="0"/>
        </a:spcAft>
        <a:defRPr kumimoji="1" sz="2250" b="1">
          <a:solidFill>
            <a:schemeClr val="tx2"/>
          </a:solidFill>
          <a:latin typeface="MS Sans Serif"/>
          <a:ea typeface="MS Sans Serif"/>
          <a:cs typeface="MS Sans Serif"/>
        </a:defRPr>
      </a:lvl6pPr>
      <a:lvl7pPr marL="685800" algn="l" rtl="0" eaLnBrk="1" fontAlgn="base" hangingPunct="1">
        <a:spcBef>
          <a:spcPct val="0"/>
        </a:spcBef>
        <a:spcAft>
          <a:spcPct val="0"/>
        </a:spcAft>
        <a:defRPr kumimoji="1" sz="2250" b="1">
          <a:solidFill>
            <a:schemeClr val="tx2"/>
          </a:solidFill>
          <a:latin typeface="MS Sans Serif"/>
          <a:ea typeface="MS Sans Serif"/>
          <a:cs typeface="MS Sans Serif"/>
        </a:defRPr>
      </a:lvl7pPr>
      <a:lvl8pPr marL="1028700" algn="l" rtl="0" eaLnBrk="1" fontAlgn="base" hangingPunct="1">
        <a:spcBef>
          <a:spcPct val="0"/>
        </a:spcBef>
        <a:spcAft>
          <a:spcPct val="0"/>
        </a:spcAft>
        <a:defRPr kumimoji="1" sz="2250" b="1">
          <a:solidFill>
            <a:schemeClr val="tx2"/>
          </a:solidFill>
          <a:latin typeface="MS Sans Serif"/>
          <a:ea typeface="MS Sans Serif"/>
          <a:cs typeface="MS Sans Serif"/>
        </a:defRPr>
      </a:lvl8pPr>
      <a:lvl9pPr marL="1371600" algn="l" rtl="0" eaLnBrk="1" fontAlgn="base" hangingPunct="1">
        <a:spcBef>
          <a:spcPct val="0"/>
        </a:spcBef>
        <a:spcAft>
          <a:spcPct val="0"/>
        </a:spcAft>
        <a:defRPr kumimoji="1" sz="2250" b="1">
          <a:solidFill>
            <a:schemeClr val="tx2"/>
          </a:solidFill>
          <a:latin typeface="MS Sans Serif"/>
          <a:ea typeface="MS Sans Serif"/>
          <a:cs typeface="MS Sans Serif"/>
        </a:defRPr>
      </a:lvl9pPr>
    </p:titleStyle>
    <p:bodyStyle>
      <a:lvl1pPr marL="257175" indent="-257175" algn="l" rtl="0" eaLnBrk="1" fontAlgn="base" hangingPunct="1">
        <a:spcBef>
          <a:spcPct val="20000"/>
        </a:spcBef>
        <a:spcAft>
          <a:spcPct val="0"/>
        </a:spcAft>
        <a:buClr>
          <a:srgbClr val="0000FF"/>
        </a:buClr>
        <a:buSzPct val="80000"/>
        <a:buFont typeface="Wingdings" pitchFamily="2" charset="2"/>
        <a:buChar char="l"/>
        <a:defRPr kumimoji="1" sz="2100">
          <a:solidFill>
            <a:schemeClr val="tx1"/>
          </a:solidFill>
          <a:latin typeface="Calibri" pitchFamily="34" charset="0"/>
          <a:ea typeface="標楷體" pitchFamily="65" charset="-120"/>
          <a:cs typeface="+mn-cs"/>
        </a:defRPr>
      </a:lvl1pPr>
      <a:lvl2pPr marL="557213" indent="-214313" algn="l" rtl="0" eaLnBrk="1" fontAlgn="base" hangingPunct="1">
        <a:spcBef>
          <a:spcPct val="20000"/>
        </a:spcBef>
        <a:spcAft>
          <a:spcPct val="0"/>
        </a:spcAft>
        <a:buClr>
          <a:srgbClr val="0000FF"/>
        </a:buClr>
        <a:buSzPct val="90000"/>
        <a:buFont typeface="Arial" charset="0"/>
        <a:buChar char="–"/>
        <a:defRPr kumimoji="1" sz="1800">
          <a:solidFill>
            <a:schemeClr val="tx1"/>
          </a:solidFill>
          <a:latin typeface="Calibri"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mn-lt"/>
          <a:ea typeface="+mn-ea"/>
        </a:defRPr>
      </a:lvl3pPr>
      <a:lvl4pPr marL="1200150" indent="-171450" algn="l" rtl="0" eaLnBrk="1" fontAlgn="base" hangingPunct="1">
        <a:spcBef>
          <a:spcPct val="20000"/>
        </a:spcBef>
        <a:spcAft>
          <a:spcPct val="0"/>
        </a:spcAft>
        <a:buChar char="–"/>
        <a:defRPr kumimoji="1" sz="1500">
          <a:solidFill>
            <a:schemeClr val="tx1"/>
          </a:solidFill>
          <a:latin typeface="+mn-lt"/>
          <a:ea typeface="+mn-ea"/>
        </a:defRPr>
      </a:lvl4pPr>
      <a:lvl5pPr marL="1543050" indent="-171450" algn="l" rtl="0" eaLnBrk="1" fontAlgn="base" hangingPunct="1">
        <a:spcBef>
          <a:spcPct val="20000"/>
        </a:spcBef>
        <a:spcAft>
          <a:spcPct val="0"/>
        </a:spcAft>
        <a:buChar char="»"/>
        <a:defRPr kumimoji="1" sz="1500">
          <a:solidFill>
            <a:schemeClr val="tx1"/>
          </a:solidFill>
          <a:latin typeface="+mn-lt"/>
          <a:ea typeface="+mn-ea"/>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11" descr="清大LOGO(鳥)"/>
          <p:cNvPicPr>
            <a:picLocks noChangeAspect="1" noChangeArrowheads="1"/>
          </p:cNvPicPr>
          <p:nvPr/>
        </p:nvPicPr>
        <p:blipFill>
          <a:blip r:embed="rId15" cstate="print">
            <a:lum bright="70000" contrast="-70000"/>
          </a:blip>
          <a:srcRect/>
          <a:stretch>
            <a:fillRect/>
          </a:stretch>
        </p:blipFill>
        <p:spPr bwMode="auto">
          <a:xfrm>
            <a:off x="0" y="30163"/>
            <a:ext cx="1619250" cy="806450"/>
          </a:xfrm>
          <a:prstGeom prst="rect">
            <a:avLst/>
          </a:prstGeom>
          <a:noFill/>
          <a:ln w="9525">
            <a:noFill/>
            <a:miter lim="800000"/>
            <a:headEnd/>
            <a:tailEnd/>
          </a:ln>
        </p:spPr>
      </p:pic>
      <p:sp>
        <p:nvSpPr>
          <p:cNvPr id="1027" name="Rectangle 17"/>
          <p:cNvSpPr>
            <a:spLocks noGrp="1" noChangeArrowheads="1"/>
          </p:cNvSpPr>
          <p:nvPr>
            <p:ph type="title"/>
          </p:nvPr>
        </p:nvSpPr>
        <p:spPr bwMode="auto">
          <a:xfrm>
            <a:off x="468314" y="144463"/>
            <a:ext cx="8207375" cy="6921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smtClean="0"/>
              <a:t>按一下以編輯母片標題樣式</a:t>
            </a:r>
          </a:p>
        </p:txBody>
      </p:sp>
      <p:sp>
        <p:nvSpPr>
          <p:cNvPr id="1028" name="Rectangle 18"/>
          <p:cNvSpPr>
            <a:spLocks noGrp="1" noChangeArrowheads="1"/>
          </p:cNvSpPr>
          <p:nvPr>
            <p:ph type="body" idx="1"/>
          </p:nvPr>
        </p:nvSpPr>
        <p:spPr bwMode="auto">
          <a:xfrm>
            <a:off x="457200" y="1125538"/>
            <a:ext cx="8229600" cy="48958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smtClean="0"/>
              <a:t>按一下以編輯母片</a:t>
            </a:r>
          </a:p>
          <a:p>
            <a:pPr lvl="1"/>
            <a:r>
              <a:rPr lang="zh-TW" altLang="en-US" smtClean="0"/>
              <a:t>按一下以編輯母片</a:t>
            </a:r>
          </a:p>
          <a:p>
            <a:pPr lvl="1"/>
            <a:endParaRPr lang="zh-TW" altLang="en-US" smtClean="0"/>
          </a:p>
          <a:p>
            <a:pPr lvl="0"/>
            <a:endParaRPr lang="en-US" altLang="zh-TW" smtClean="0"/>
          </a:p>
        </p:txBody>
      </p:sp>
      <p:pic>
        <p:nvPicPr>
          <p:cNvPr id="1029" name="Picture 25" descr="name"/>
          <p:cNvPicPr>
            <a:picLocks noChangeAspect="1" noChangeArrowheads="1"/>
          </p:cNvPicPr>
          <p:nvPr/>
        </p:nvPicPr>
        <p:blipFill>
          <a:blip r:embed="rId16" cstate="print"/>
          <a:srcRect/>
          <a:stretch>
            <a:fillRect/>
          </a:stretch>
        </p:blipFill>
        <p:spPr bwMode="auto">
          <a:xfrm>
            <a:off x="1" y="6357940"/>
            <a:ext cx="3833813" cy="198437"/>
          </a:xfrm>
          <a:prstGeom prst="rect">
            <a:avLst/>
          </a:prstGeom>
          <a:noFill/>
          <a:ln w="9525">
            <a:noFill/>
            <a:miter lim="800000"/>
            <a:headEnd/>
            <a:tailEnd/>
          </a:ln>
        </p:spPr>
      </p:pic>
      <p:sp>
        <p:nvSpPr>
          <p:cNvPr id="8" name="矩形 7"/>
          <p:cNvSpPr/>
          <p:nvPr/>
        </p:nvSpPr>
        <p:spPr>
          <a:xfrm>
            <a:off x="569245" y="6581776"/>
            <a:ext cx="2731838" cy="230832"/>
          </a:xfrm>
          <a:prstGeom prst="rect">
            <a:avLst/>
          </a:prstGeom>
        </p:spPr>
        <p:txBody>
          <a:bodyPr wrap="none">
            <a:spAutoFit/>
          </a:bodyPr>
          <a:lstStyle/>
          <a:p>
            <a:pPr algn="ctr">
              <a:defRPr/>
            </a:pPr>
            <a:r>
              <a:rPr lang="en-US" sz="900" b="1" dirty="0">
                <a:solidFill>
                  <a:prstClr val="white"/>
                </a:solidFill>
                <a:cs typeface="Arial" pitchFamily="34" charset="0"/>
              </a:rPr>
              <a:t>National Tsing Hua University ® copyright OIA</a:t>
            </a:r>
            <a:endParaRPr lang="zh-TW" altLang="en-US" sz="900" b="1" dirty="0">
              <a:solidFill>
                <a:prstClr val="white"/>
              </a:solidFill>
              <a:cs typeface="Arial" pitchFamily="34" charset="0"/>
            </a:endParaRPr>
          </a:p>
        </p:txBody>
      </p:sp>
      <p:sp>
        <p:nvSpPr>
          <p:cNvPr id="4105" name="Rectangle 9"/>
          <p:cNvSpPr>
            <a:spLocks noChangeArrowheads="1"/>
          </p:cNvSpPr>
          <p:nvPr/>
        </p:nvSpPr>
        <p:spPr bwMode="auto">
          <a:xfrm>
            <a:off x="0" y="908051"/>
            <a:ext cx="9144000" cy="144463"/>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0">
              <a:solidFill>
                <a:prstClr val="black"/>
              </a:solidFill>
            </a:endParaRPr>
          </a:p>
        </p:txBody>
      </p:sp>
      <p:sp>
        <p:nvSpPr>
          <p:cNvPr id="4106" name="Rectangle 10"/>
          <p:cNvSpPr>
            <a:spLocks noChangeArrowheads="1"/>
          </p:cNvSpPr>
          <p:nvPr/>
        </p:nvSpPr>
        <p:spPr bwMode="auto">
          <a:xfrm>
            <a:off x="0" y="6165850"/>
            <a:ext cx="9144000" cy="719138"/>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0">
              <a:solidFill>
                <a:prstClr val="black"/>
              </a:solidFill>
            </a:endParaRPr>
          </a:p>
        </p:txBody>
      </p:sp>
      <p:sp>
        <p:nvSpPr>
          <p:cNvPr id="1043" name="Rectangle 19"/>
          <p:cNvSpPr>
            <a:spLocks noGrp="1" noChangeArrowheads="1"/>
          </p:cNvSpPr>
          <p:nvPr>
            <p:ph type="sldNum" sz="quarter" idx="4"/>
          </p:nvPr>
        </p:nvSpPr>
        <p:spPr bwMode="auto">
          <a:xfrm>
            <a:off x="6831013" y="6524627"/>
            <a:ext cx="21336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lang="zh-TW" altLang="en-US" sz="1050" kern="1200" baseline="0" smtClean="0">
                <a:solidFill>
                  <a:schemeClr val="bg1"/>
                </a:solidFill>
                <a:latin typeface="Arial" pitchFamily="34" charset="0"/>
                <a:ea typeface="新細明體" pitchFamily="18" charset="-120"/>
                <a:cs typeface="+mn-cs"/>
              </a:defRPr>
            </a:lvl1pPr>
          </a:lstStyle>
          <a:p>
            <a:fld id="{557A4102-9134-4DE4-89E3-9E7F1698ADF0}" type="slidenum">
              <a:rPr lang="en-US" altLang="zh-TW">
                <a:solidFill>
                  <a:prstClr val="white"/>
                </a:solidFill>
              </a:rPr>
              <a:pPr/>
              <a:t>‹#›</a:t>
            </a:fld>
            <a:endParaRPr lang="en-US" dirty="0">
              <a:solidFill>
                <a:prstClr val="white"/>
              </a:solidFill>
            </a:endParaRPr>
          </a:p>
        </p:txBody>
      </p:sp>
      <p:pic>
        <p:nvPicPr>
          <p:cNvPr id="1034" name="Picture 13" descr="清大LOGO(圓)"/>
          <p:cNvPicPr>
            <a:picLocks noChangeAspect="1" noChangeArrowheads="1"/>
          </p:cNvPicPr>
          <p:nvPr/>
        </p:nvPicPr>
        <p:blipFill>
          <a:blip r:embed="rId17" cstate="print"/>
          <a:srcRect/>
          <a:stretch>
            <a:fillRect/>
          </a:stretch>
        </p:blipFill>
        <p:spPr bwMode="auto">
          <a:xfrm>
            <a:off x="1" y="6181727"/>
            <a:ext cx="684213" cy="676275"/>
          </a:xfrm>
          <a:prstGeom prst="rect">
            <a:avLst/>
          </a:prstGeom>
          <a:noFill/>
          <a:ln w="9525">
            <a:noFill/>
            <a:miter lim="800000"/>
            <a:headEnd/>
            <a:tailEnd/>
          </a:ln>
        </p:spPr>
      </p:pic>
      <p:pic>
        <p:nvPicPr>
          <p:cNvPr id="1035" name="Picture 14" descr="清大書法字 "/>
          <p:cNvPicPr>
            <a:picLocks noChangeAspect="1" noChangeArrowheads="1"/>
          </p:cNvPicPr>
          <p:nvPr/>
        </p:nvPicPr>
        <p:blipFill>
          <a:blip r:embed="rId18" cstate="print"/>
          <a:srcRect/>
          <a:stretch>
            <a:fillRect/>
          </a:stretch>
        </p:blipFill>
        <p:spPr bwMode="auto">
          <a:xfrm>
            <a:off x="755651" y="6237288"/>
            <a:ext cx="2087563" cy="323850"/>
          </a:xfrm>
          <a:prstGeom prst="rect">
            <a:avLst/>
          </a:prstGeom>
          <a:noFill/>
          <a:ln w="9525">
            <a:noFill/>
            <a:miter lim="800000"/>
            <a:headEnd/>
            <a:tailEnd/>
          </a:ln>
        </p:spPr>
      </p:pic>
      <p:sp>
        <p:nvSpPr>
          <p:cNvPr id="4111" name="Text Box 15"/>
          <p:cNvSpPr txBox="1">
            <a:spLocks noChangeArrowheads="1"/>
          </p:cNvSpPr>
          <p:nvPr/>
        </p:nvSpPr>
        <p:spPr bwMode="auto">
          <a:xfrm>
            <a:off x="682626" y="6580188"/>
            <a:ext cx="1963999" cy="253916"/>
          </a:xfrm>
          <a:prstGeom prst="rect">
            <a:avLst/>
          </a:prstGeom>
          <a:noFill/>
          <a:ln w="15875">
            <a:noFill/>
            <a:miter lim="800000"/>
            <a:headEnd/>
            <a:tailEnd/>
          </a:ln>
          <a:effectLst>
            <a:prstShdw prst="shdw18" dist="17961" dir="13500000">
              <a:schemeClr val="accent1">
                <a:gamma/>
                <a:shade val="60000"/>
                <a:invGamma/>
              </a:schemeClr>
            </a:prstShdw>
          </a:effectLst>
        </p:spPr>
        <p:txBody>
          <a:bodyPr wrap="none">
            <a:spAutoFit/>
          </a:bodyPr>
          <a:lstStyle/>
          <a:p>
            <a:pPr>
              <a:defRPr/>
            </a:pPr>
            <a:r>
              <a:rPr lang="en-US" altLang="zh-TW" sz="1050" dirty="0">
                <a:solidFill>
                  <a:prstClr val="white"/>
                </a:solidFill>
              </a:rPr>
              <a:t>National Tsing Hua University</a:t>
            </a:r>
          </a:p>
        </p:txBody>
      </p:sp>
      <p:pic>
        <p:nvPicPr>
          <p:cNvPr id="13" name="圖片 12"/>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7376697" y="151801"/>
            <a:ext cx="1659800" cy="684812"/>
          </a:xfrm>
          <a:prstGeom prst="rect">
            <a:avLst/>
          </a:prstGeom>
        </p:spPr>
      </p:pic>
    </p:spTree>
    <p:extLst>
      <p:ext uri="{BB962C8B-B14F-4D97-AF65-F5344CB8AC3E}">
        <p14:creationId xmlns:p14="http://schemas.microsoft.com/office/powerpoint/2010/main" val="3712618059"/>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Lst>
  <p:timing>
    <p:tnLst>
      <p:par>
        <p:cTn id="1" dur="indefinite" restart="never" nodeType="tmRoot"/>
      </p:par>
    </p:tnLst>
  </p:timing>
  <p:hf hdr="0" ftr="0" dt="0"/>
  <p:txStyles>
    <p:titleStyle>
      <a:lvl1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900" algn="l" rtl="0" eaLnBrk="1" fontAlgn="base" hangingPunct="1">
        <a:spcBef>
          <a:spcPct val="0"/>
        </a:spcBef>
        <a:spcAft>
          <a:spcPct val="0"/>
        </a:spcAft>
        <a:defRPr kumimoji="1" sz="2250" b="1">
          <a:solidFill>
            <a:schemeClr val="tx2"/>
          </a:solidFill>
          <a:latin typeface="MS Sans Serif"/>
          <a:ea typeface="MS Sans Serif"/>
          <a:cs typeface="MS Sans Serif"/>
        </a:defRPr>
      </a:lvl6pPr>
      <a:lvl7pPr marL="685800" algn="l" rtl="0" eaLnBrk="1" fontAlgn="base" hangingPunct="1">
        <a:spcBef>
          <a:spcPct val="0"/>
        </a:spcBef>
        <a:spcAft>
          <a:spcPct val="0"/>
        </a:spcAft>
        <a:defRPr kumimoji="1" sz="2250" b="1">
          <a:solidFill>
            <a:schemeClr val="tx2"/>
          </a:solidFill>
          <a:latin typeface="MS Sans Serif"/>
          <a:ea typeface="MS Sans Serif"/>
          <a:cs typeface="MS Sans Serif"/>
        </a:defRPr>
      </a:lvl7pPr>
      <a:lvl8pPr marL="1028700" algn="l" rtl="0" eaLnBrk="1" fontAlgn="base" hangingPunct="1">
        <a:spcBef>
          <a:spcPct val="0"/>
        </a:spcBef>
        <a:spcAft>
          <a:spcPct val="0"/>
        </a:spcAft>
        <a:defRPr kumimoji="1" sz="2250" b="1">
          <a:solidFill>
            <a:schemeClr val="tx2"/>
          </a:solidFill>
          <a:latin typeface="MS Sans Serif"/>
          <a:ea typeface="MS Sans Serif"/>
          <a:cs typeface="MS Sans Serif"/>
        </a:defRPr>
      </a:lvl8pPr>
      <a:lvl9pPr marL="1371600" algn="l" rtl="0" eaLnBrk="1" fontAlgn="base" hangingPunct="1">
        <a:spcBef>
          <a:spcPct val="0"/>
        </a:spcBef>
        <a:spcAft>
          <a:spcPct val="0"/>
        </a:spcAft>
        <a:defRPr kumimoji="1" sz="2250" b="1">
          <a:solidFill>
            <a:schemeClr val="tx2"/>
          </a:solidFill>
          <a:latin typeface="MS Sans Serif"/>
          <a:ea typeface="MS Sans Serif"/>
          <a:cs typeface="MS Sans Serif"/>
        </a:defRPr>
      </a:lvl9pPr>
    </p:titleStyle>
    <p:bodyStyle>
      <a:lvl1pPr marL="257175" indent="-257175" algn="l" rtl="0" eaLnBrk="1" fontAlgn="base" hangingPunct="1">
        <a:spcBef>
          <a:spcPct val="20000"/>
        </a:spcBef>
        <a:spcAft>
          <a:spcPct val="0"/>
        </a:spcAft>
        <a:buClr>
          <a:srgbClr val="0000FF"/>
        </a:buClr>
        <a:buSzPct val="80000"/>
        <a:buFont typeface="Wingdings" pitchFamily="2" charset="2"/>
        <a:buChar char="l"/>
        <a:defRPr kumimoji="1" sz="2100">
          <a:solidFill>
            <a:schemeClr val="tx1"/>
          </a:solidFill>
          <a:latin typeface="Calibri" pitchFamily="34" charset="0"/>
          <a:ea typeface="標楷體" pitchFamily="65" charset="-120"/>
          <a:cs typeface="+mn-cs"/>
        </a:defRPr>
      </a:lvl1pPr>
      <a:lvl2pPr marL="557213" indent="-214313" algn="l" rtl="0" eaLnBrk="1" fontAlgn="base" hangingPunct="1">
        <a:spcBef>
          <a:spcPct val="20000"/>
        </a:spcBef>
        <a:spcAft>
          <a:spcPct val="0"/>
        </a:spcAft>
        <a:buClr>
          <a:srgbClr val="0000FF"/>
        </a:buClr>
        <a:buSzPct val="90000"/>
        <a:buFont typeface="Arial" charset="0"/>
        <a:buChar char="–"/>
        <a:defRPr kumimoji="1" sz="1800">
          <a:solidFill>
            <a:schemeClr val="tx1"/>
          </a:solidFill>
          <a:latin typeface="Calibri"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mn-lt"/>
          <a:ea typeface="+mn-ea"/>
        </a:defRPr>
      </a:lvl3pPr>
      <a:lvl4pPr marL="1200150" indent="-171450" algn="l" rtl="0" eaLnBrk="1" fontAlgn="base" hangingPunct="1">
        <a:spcBef>
          <a:spcPct val="20000"/>
        </a:spcBef>
        <a:spcAft>
          <a:spcPct val="0"/>
        </a:spcAft>
        <a:buChar char="–"/>
        <a:defRPr kumimoji="1" sz="1500">
          <a:solidFill>
            <a:schemeClr val="tx1"/>
          </a:solidFill>
          <a:latin typeface="+mn-lt"/>
          <a:ea typeface="+mn-ea"/>
        </a:defRPr>
      </a:lvl4pPr>
      <a:lvl5pPr marL="1543050" indent="-171450" algn="l" rtl="0" eaLnBrk="1" fontAlgn="base" hangingPunct="1">
        <a:spcBef>
          <a:spcPct val="20000"/>
        </a:spcBef>
        <a:spcAft>
          <a:spcPct val="0"/>
        </a:spcAft>
        <a:buChar char="»"/>
        <a:defRPr kumimoji="1" sz="1500">
          <a:solidFill>
            <a:schemeClr val="tx1"/>
          </a:solidFill>
          <a:latin typeface="+mn-lt"/>
          <a:ea typeface="+mn-ea"/>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pPr algn="ctr"/>
            <a:r>
              <a:rPr lang="en-US" altLang="zh-TW" sz="6000" dirty="0" smtClean="0"/>
              <a:t>Image</a:t>
            </a:r>
            <a:endParaRPr lang="zh-TW" altLang="en-US" sz="6000" dirty="0"/>
          </a:p>
        </p:txBody>
      </p:sp>
      <p:sp>
        <p:nvSpPr>
          <p:cNvPr id="3" name="副標題 2"/>
          <p:cNvSpPr>
            <a:spLocks noGrp="1"/>
          </p:cNvSpPr>
          <p:nvPr>
            <p:ph type="subTitle" idx="1"/>
          </p:nvPr>
        </p:nvSpPr>
        <p:spPr/>
        <p:txBody>
          <a:bodyPr/>
          <a:lstStyle/>
          <a:p>
            <a:endParaRPr lang="zh-TW" altLang="en-US" dirty="0"/>
          </a:p>
        </p:txBody>
      </p:sp>
    </p:spTree>
    <p:extLst>
      <p:ext uri="{BB962C8B-B14F-4D97-AF65-F5344CB8AC3E}">
        <p14:creationId xmlns:p14="http://schemas.microsoft.com/office/powerpoint/2010/main" val="158366716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O</a:t>
            </a:r>
            <a:r>
              <a:rPr lang="en-US" altLang="zh-TW" dirty="0" smtClean="0"/>
              <a:t>utline</a:t>
            </a:r>
            <a:endParaRPr lang="zh-TW" altLang="en-US" dirty="0"/>
          </a:p>
        </p:txBody>
      </p:sp>
      <p:sp>
        <p:nvSpPr>
          <p:cNvPr id="3" name="內容版面配置區 2"/>
          <p:cNvSpPr>
            <a:spLocks noGrp="1"/>
          </p:cNvSpPr>
          <p:nvPr>
            <p:ph idx="1"/>
          </p:nvPr>
        </p:nvSpPr>
        <p:spPr>
          <a:xfrm>
            <a:off x="468314" y="1431979"/>
            <a:ext cx="6952660" cy="2645750"/>
          </a:xfrm>
        </p:spPr>
        <p:txBody>
          <a:bodyPr>
            <a:noAutofit/>
          </a:bodyPr>
          <a:lstStyle/>
          <a:p>
            <a:pPr>
              <a:buFont typeface="Wingdings" panose="05000000000000000000" pitchFamily="2" charset="2"/>
              <a:buChar char="l"/>
            </a:pPr>
            <a:r>
              <a:rPr lang="en-US" altLang="zh-TW" sz="2400" dirty="0" smtClean="0"/>
              <a:t>  Why image?</a:t>
            </a:r>
          </a:p>
          <a:p>
            <a:pPr>
              <a:buFont typeface="Wingdings" panose="05000000000000000000" pitchFamily="2" charset="2"/>
              <a:buChar char="l"/>
            </a:pPr>
            <a:r>
              <a:rPr lang="en-US" altLang="zh-TW" sz="2400" dirty="0" smtClean="0"/>
              <a:t>  Image Overview</a:t>
            </a:r>
          </a:p>
          <a:p>
            <a:pPr>
              <a:buFont typeface="Wingdings" panose="05000000000000000000" pitchFamily="2" charset="2"/>
              <a:buChar char="l"/>
            </a:pPr>
            <a:r>
              <a:rPr lang="en-US" altLang="zh-TW" sz="2400" dirty="0"/>
              <a:t> </a:t>
            </a:r>
            <a:r>
              <a:rPr lang="en-US" altLang="zh-TW" sz="2400" dirty="0" smtClean="0"/>
              <a:t> </a:t>
            </a:r>
            <a:r>
              <a:rPr lang="en-US" altLang="zh-TW" sz="2400" dirty="0"/>
              <a:t>I</a:t>
            </a:r>
            <a:r>
              <a:rPr lang="en-US" altLang="zh-TW" sz="2400" dirty="0" smtClean="0"/>
              <a:t>mage in </a:t>
            </a:r>
            <a:r>
              <a:rPr lang="en-US" altLang="zh-TW" sz="2400" dirty="0" err="1" smtClean="0"/>
              <a:t>OpenCL</a:t>
            </a:r>
            <a:r>
              <a:rPr lang="en-US" altLang="zh-TW" sz="2400" dirty="0" smtClean="0"/>
              <a:t> runtime</a:t>
            </a:r>
          </a:p>
          <a:p>
            <a:pPr>
              <a:buFont typeface="Wingdings" panose="05000000000000000000" pitchFamily="2" charset="2"/>
              <a:buChar char="l"/>
            </a:pPr>
            <a:r>
              <a:rPr lang="en-US" altLang="zh-TW" sz="2400" dirty="0"/>
              <a:t> </a:t>
            </a:r>
            <a:r>
              <a:rPr lang="en-US" altLang="zh-TW" sz="2400" dirty="0" smtClean="0"/>
              <a:t> Image in System Architecture</a:t>
            </a:r>
          </a:p>
          <a:p>
            <a:pPr>
              <a:buFont typeface="Wingdings" panose="05000000000000000000" pitchFamily="2" charset="2"/>
              <a:buChar char="l"/>
            </a:pPr>
            <a:r>
              <a:rPr lang="en-US" altLang="zh-TW" sz="2400" dirty="0"/>
              <a:t> </a:t>
            </a:r>
            <a:r>
              <a:rPr lang="en-US" altLang="zh-TW" sz="2400" dirty="0" smtClean="0"/>
              <a:t> Image in HSA runtime</a:t>
            </a:r>
          </a:p>
          <a:p>
            <a:pPr>
              <a:buFont typeface="Wingdings" panose="05000000000000000000" pitchFamily="2" charset="2"/>
              <a:buChar char="l"/>
            </a:pPr>
            <a:r>
              <a:rPr lang="en-US" altLang="zh-TW" sz="2400" dirty="0"/>
              <a:t> </a:t>
            </a:r>
            <a:r>
              <a:rPr lang="en-US" altLang="zh-TW" sz="2400" dirty="0" smtClean="0"/>
              <a:t> Image in HSAIL</a:t>
            </a:r>
            <a:endParaRPr lang="en-US" altLang="zh-TW" sz="2400" dirty="0"/>
          </a:p>
          <a:p>
            <a:pPr marL="0" indent="0">
              <a:buNone/>
            </a:pPr>
            <a:endParaRPr lang="en-US" altLang="zh-TW" sz="2400" dirty="0"/>
          </a:p>
        </p:txBody>
      </p:sp>
    </p:spTree>
    <p:extLst>
      <p:ext uri="{BB962C8B-B14F-4D97-AF65-F5344CB8AC3E}">
        <p14:creationId xmlns:p14="http://schemas.microsoft.com/office/powerpoint/2010/main" val="328631239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751189" y="4406902"/>
            <a:ext cx="7772400" cy="1362075"/>
          </a:xfrm>
        </p:spPr>
        <p:txBody>
          <a:bodyPr/>
          <a:lstStyle/>
          <a:p>
            <a:r>
              <a:rPr lang="en-US" altLang="zh-TW" dirty="0" smtClean="0"/>
              <a:t>Why Image?</a:t>
            </a:r>
            <a:endParaRPr lang="zh-TW" altLang="en-US" dirty="0"/>
          </a:p>
        </p:txBody>
      </p:sp>
    </p:spTree>
    <p:extLst>
      <p:ext uri="{BB962C8B-B14F-4D97-AF65-F5344CB8AC3E}">
        <p14:creationId xmlns:p14="http://schemas.microsoft.com/office/powerpoint/2010/main" val="47282776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What is image?</a:t>
            </a:r>
            <a:endParaRPr lang="zh-TW" altLang="en-US"/>
          </a:p>
        </p:txBody>
      </p:sp>
      <p:sp>
        <p:nvSpPr>
          <p:cNvPr id="3" name="內容版面配置區 2"/>
          <p:cNvSpPr>
            <a:spLocks noGrp="1"/>
          </p:cNvSpPr>
          <p:nvPr>
            <p:ph idx="1"/>
          </p:nvPr>
        </p:nvSpPr>
        <p:spPr/>
        <p:txBody>
          <a:bodyPr/>
          <a:lstStyle/>
          <a:p>
            <a:pPr>
              <a:lnSpc>
                <a:spcPct val="200000"/>
              </a:lnSpc>
              <a:buFont typeface="Wingdings" panose="05000000000000000000" pitchFamily="2" charset="2"/>
              <a:buChar char="l"/>
            </a:pPr>
            <a:r>
              <a:rPr lang="en-US" altLang="zh-TW" smtClean="0"/>
              <a:t>Images are a graphics feature that can sometimes be useful in data-parallel computing.</a:t>
            </a:r>
          </a:p>
          <a:p>
            <a:pPr>
              <a:lnSpc>
                <a:spcPct val="200000"/>
              </a:lnSpc>
              <a:buFont typeface="Wingdings" panose="05000000000000000000" pitchFamily="2" charset="2"/>
              <a:buChar char="l"/>
            </a:pPr>
            <a:r>
              <a:rPr lang="en-US" altLang="zh-TW" smtClean="0"/>
              <a:t>Images can be accessed in one, two, or three dimensions</a:t>
            </a:r>
          </a:p>
          <a:p>
            <a:pPr>
              <a:lnSpc>
                <a:spcPct val="200000"/>
              </a:lnSpc>
              <a:buFont typeface="Wingdings" panose="05000000000000000000" pitchFamily="2" charset="2"/>
              <a:buChar char="l"/>
            </a:pPr>
            <a:r>
              <a:rPr lang="en-US" altLang="zh-TW" smtClean="0"/>
              <a:t>Image </a:t>
            </a:r>
            <a:r>
              <a:rPr lang="en-US" altLang="zh-TW"/>
              <a:t>memory is a special kind of memory access that can make use of dedicated hardware often provided for graphics.</a:t>
            </a:r>
            <a:endParaRPr lang="zh-TW" altLang="en-US"/>
          </a:p>
        </p:txBody>
      </p:sp>
    </p:spTree>
    <p:extLst>
      <p:ext uri="{BB962C8B-B14F-4D97-AF65-F5344CB8AC3E}">
        <p14:creationId xmlns:p14="http://schemas.microsoft.com/office/powerpoint/2010/main" val="125801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Why Use Images?</a:t>
            </a:r>
            <a:endParaRPr lang="zh-TW" altLang="en-US" dirty="0"/>
          </a:p>
        </p:txBody>
      </p:sp>
      <p:sp>
        <p:nvSpPr>
          <p:cNvPr id="3" name="內容版面配置區 2"/>
          <p:cNvSpPr>
            <a:spLocks noGrp="1"/>
          </p:cNvSpPr>
          <p:nvPr>
            <p:ph idx="1"/>
          </p:nvPr>
        </p:nvSpPr>
        <p:spPr/>
        <p:txBody>
          <a:bodyPr/>
          <a:lstStyle/>
          <a:p>
            <a:pPr>
              <a:lnSpc>
                <a:spcPct val="200000"/>
              </a:lnSpc>
            </a:pPr>
            <a:r>
              <a:rPr lang="en-US" altLang="zh-TW" dirty="0" smtClean="0"/>
              <a:t>Special </a:t>
            </a:r>
            <a:r>
              <a:rPr lang="en-US" altLang="zh-TW" dirty="0"/>
              <a:t>caches and tiling modes that reorder the memory locations of 2D and 3D images. Implementations can also insert gaps in the memory layout to improve alignment. These can save bandwidth by improving data locality and cache line usage compared to traditional linear arrays.</a:t>
            </a:r>
            <a:endParaRPr lang="zh-TW" altLang="en-US" dirty="0"/>
          </a:p>
        </p:txBody>
      </p:sp>
    </p:spTree>
    <p:extLst>
      <p:ext uri="{BB962C8B-B14F-4D97-AF65-F5344CB8AC3E}">
        <p14:creationId xmlns:p14="http://schemas.microsoft.com/office/powerpoint/2010/main" val="181785454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Why Use Images?</a:t>
            </a:r>
            <a:endParaRPr lang="zh-TW" altLang="en-US" dirty="0"/>
          </a:p>
        </p:txBody>
      </p:sp>
      <p:sp>
        <p:nvSpPr>
          <p:cNvPr id="5" name="內容版面配置區 4"/>
          <p:cNvSpPr>
            <a:spLocks noGrp="1"/>
          </p:cNvSpPr>
          <p:nvPr>
            <p:ph idx="1"/>
          </p:nvPr>
        </p:nvSpPr>
        <p:spPr/>
        <p:txBody>
          <a:bodyPr/>
          <a:lstStyle/>
          <a:p>
            <a:r>
              <a:rPr lang="en-US" altLang="zh-TW" dirty="0" smtClean="0"/>
              <a:t>Image </a:t>
            </a:r>
            <a:r>
              <a:rPr lang="en-US" altLang="zh-TW" dirty="0"/>
              <a:t>implementations can create caching hints using read-only images</a:t>
            </a:r>
            <a:r>
              <a:rPr lang="en-US" altLang="zh-TW" dirty="0" smtClean="0"/>
              <a:t>.</a:t>
            </a:r>
          </a:p>
          <a:p>
            <a:endParaRPr lang="en-US" altLang="zh-TW" dirty="0"/>
          </a:p>
          <a:p>
            <a:r>
              <a:rPr lang="en-US" altLang="zh-TW" dirty="0" smtClean="0"/>
              <a:t>Hardware </a:t>
            </a:r>
            <a:r>
              <a:rPr lang="en-US" altLang="zh-TW" dirty="0"/>
              <a:t>support for out-of-bounds coordinates.</a:t>
            </a:r>
          </a:p>
          <a:p>
            <a:endParaRPr lang="en-US" altLang="zh-TW" dirty="0" smtClean="0"/>
          </a:p>
          <a:p>
            <a:endParaRPr lang="en-US" altLang="zh-TW" dirty="0"/>
          </a:p>
          <a:p>
            <a:r>
              <a:rPr lang="en-US" altLang="zh-TW" dirty="0"/>
              <a:t>Image coordinates can be </a:t>
            </a:r>
            <a:r>
              <a:rPr lang="en-US" altLang="zh-TW" dirty="0" err="1"/>
              <a:t>unnormalized</a:t>
            </a:r>
            <a:r>
              <a:rPr lang="en-US" altLang="zh-TW" dirty="0"/>
              <a:t>, or normalized floating-point values. When a normalized coordinate is used, it is scaled to the image size of the corresponding dimension, allowing values in the range 0.0 to +1.0 to access the entire image.</a:t>
            </a:r>
            <a:endParaRPr lang="zh-TW" altLang="en-US" dirty="0"/>
          </a:p>
        </p:txBody>
      </p:sp>
    </p:spTree>
    <p:extLst>
      <p:ext uri="{BB962C8B-B14F-4D97-AF65-F5344CB8AC3E}">
        <p14:creationId xmlns:p14="http://schemas.microsoft.com/office/powerpoint/2010/main" val="335177807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Why Use Images?</a:t>
            </a:r>
            <a:endParaRPr lang="zh-TW" altLang="en-US" dirty="0"/>
          </a:p>
        </p:txBody>
      </p:sp>
      <p:sp>
        <p:nvSpPr>
          <p:cNvPr id="5" name="內容版面配置區 4"/>
          <p:cNvSpPr>
            <a:spLocks noGrp="1"/>
          </p:cNvSpPr>
          <p:nvPr>
            <p:ph idx="1"/>
          </p:nvPr>
        </p:nvSpPr>
        <p:spPr/>
        <p:txBody>
          <a:bodyPr/>
          <a:lstStyle/>
          <a:p>
            <a:r>
              <a:rPr lang="en-US" altLang="zh-TW" dirty="0" smtClean="0"/>
              <a:t>Values </a:t>
            </a:r>
            <a:r>
              <a:rPr lang="en-US" altLang="zh-TW" dirty="0"/>
              <a:t>can be converted between linear RGB and </a:t>
            </a:r>
            <a:r>
              <a:rPr lang="en-US" altLang="zh-TW" dirty="0" err="1" smtClean="0"/>
              <a:t>sRGB</a:t>
            </a:r>
            <a:r>
              <a:rPr lang="en-US" altLang="zh-TW" dirty="0" smtClean="0"/>
              <a:t> </a:t>
            </a:r>
            <a:r>
              <a:rPr lang="en-US" altLang="zh-TW" dirty="0"/>
              <a:t>color spaces</a:t>
            </a:r>
            <a:r>
              <a:rPr lang="en-US" altLang="zh-TW" dirty="0" smtClean="0"/>
              <a:t>.</a:t>
            </a:r>
          </a:p>
          <a:p>
            <a:endParaRPr lang="en-US" altLang="zh-TW" dirty="0"/>
          </a:p>
          <a:p>
            <a:pPr lvl="0"/>
            <a:r>
              <a:rPr lang="en-US" altLang="zh-TW" dirty="0"/>
              <a:t>Image memory offers different addressing modes, as well as data filtering, for some specific image formats. For example, linear filtering is a way to determine a value for a normalized floating-point coordinate by averaging the values in the image that are around the coordinate. Mathematically, this tends to smooth out the values or filter out high-frequency changes.</a:t>
            </a:r>
            <a:endParaRPr lang="zh-TW" altLang="zh-TW" dirty="0"/>
          </a:p>
          <a:p>
            <a:endParaRPr lang="zh-TW" altLang="en-US" dirty="0"/>
          </a:p>
        </p:txBody>
      </p:sp>
    </p:spTree>
    <p:extLst>
      <p:ext uri="{BB962C8B-B14F-4D97-AF65-F5344CB8AC3E}">
        <p14:creationId xmlns:p14="http://schemas.microsoft.com/office/powerpoint/2010/main" val="1100808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Image overview</a:t>
            </a:r>
            <a:endParaRPr lang="zh-TW" altLang="en-US" dirty="0"/>
          </a:p>
        </p:txBody>
      </p:sp>
    </p:spTree>
    <p:extLst>
      <p:ext uri="{BB962C8B-B14F-4D97-AF65-F5344CB8AC3E}">
        <p14:creationId xmlns:p14="http://schemas.microsoft.com/office/powerpoint/2010/main" val="42026566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Image Overview</a:t>
            </a:r>
            <a:endParaRPr lang="zh-TW" altLang="en-US" dirty="0"/>
          </a:p>
        </p:txBody>
      </p:sp>
      <p:sp>
        <p:nvSpPr>
          <p:cNvPr id="3" name="內容版面配置區 2"/>
          <p:cNvSpPr>
            <a:spLocks noGrp="1"/>
          </p:cNvSpPr>
          <p:nvPr>
            <p:ph idx="1"/>
          </p:nvPr>
        </p:nvSpPr>
        <p:spPr/>
        <p:txBody>
          <a:bodyPr/>
          <a:lstStyle/>
          <a:p>
            <a:r>
              <a:rPr lang="en-US" altLang="zh-TW" dirty="0"/>
              <a:t>An image consists of the following information: </a:t>
            </a:r>
            <a:endParaRPr lang="en-US" altLang="zh-TW" dirty="0" smtClean="0"/>
          </a:p>
          <a:p>
            <a:endParaRPr lang="en-US" altLang="zh-TW" dirty="0"/>
          </a:p>
          <a:p>
            <a:pPr marL="0" indent="0">
              <a:buNone/>
            </a:pPr>
            <a:r>
              <a:rPr lang="en-US" altLang="zh-TW" dirty="0" smtClean="0"/>
              <a:t>	•Image geometry</a:t>
            </a:r>
          </a:p>
          <a:p>
            <a:pPr marL="0" indent="0">
              <a:buNone/>
            </a:pPr>
            <a:endParaRPr lang="en-US" altLang="zh-TW" dirty="0"/>
          </a:p>
          <a:p>
            <a:pPr marL="0" indent="0">
              <a:buNone/>
            </a:pPr>
            <a:r>
              <a:rPr lang="en-US" altLang="zh-TW" dirty="0" smtClean="0"/>
              <a:t>	•Image </a:t>
            </a:r>
            <a:r>
              <a:rPr lang="en-US" altLang="zh-TW" dirty="0"/>
              <a:t>format </a:t>
            </a:r>
            <a:endParaRPr lang="en-US" altLang="zh-TW" dirty="0" smtClean="0"/>
          </a:p>
          <a:p>
            <a:pPr marL="0" indent="0">
              <a:buNone/>
            </a:pPr>
            <a:endParaRPr lang="en-US" altLang="zh-TW" dirty="0" smtClean="0"/>
          </a:p>
          <a:p>
            <a:pPr marL="0" indent="0">
              <a:buNone/>
            </a:pPr>
            <a:r>
              <a:rPr lang="en-US" altLang="zh-TW" dirty="0" smtClean="0"/>
              <a:t>	•Image size</a:t>
            </a:r>
          </a:p>
          <a:p>
            <a:pPr marL="0" indent="0">
              <a:buNone/>
            </a:pPr>
            <a:endParaRPr lang="en-US" altLang="zh-TW" dirty="0"/>
          </a:p>
          <a:p>
            <a:pPr marL="0" indent="0">
              <a:buNone/>
            </a:pPr>
            <a:r>
              <a:rPr lang="en-US" altLang="zh-TW" dirty="0" smtClean="0"/>
              <a:t>	•Reference </a:t>
            </a:r>
            <a:r>
              <a:rPr lang="en-US" altLang="zh-TW" dirty="0"/>
              <a:t>to the actual image data</a:t>
            </a:r>
          </a:p>
          <a:p>
            <a:endParaRPr lang="zh-TW" altLang="en-US" dirty="0"/>
          </a:p>
        </p:txBody>
      </p:sp>
    </p:spTree>
    <p:extLst>
      <p:ext uri="{BB962C8B-B14F-4D97-AF65-F5344CB8AC3E}">
        <p14:creationId xmlns:p14="http://schemas.microsoft.com/office/powerpoint/2010/main" val="16255071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 Image Geometry</a:t>
            </a:r>
            <a:endParaRPr lang="zh-TW" altLang="en-US" dirty="0"/>
          </a:p>
        </p:txBody>
      </p:sp>
      <p:sp>
        <p:nvSpPr>
          <p:cNvPr id="6" name="文字方塊 5"/>
          <p:cNvSpPr txBox="1"/>
          <p:nvPr/>
        </p:nvSpPr>
        <p:spPr>
          <a:xfrm>
            <a:off x="457200" y="2483485"/>
            <a:ext cx="7684284" cy="1477328"/>
          </a:xfrm>
          <a:prstGeom prst="rect">
            <a:avLst/>
          </a:prstGeom>
          <a:noFill/>
        </p:spPr>
        <p:txBody>
          <a:bodyPr wrap="square" rtlCol="0" anchor="ctr" anchorCtr="1">
            <a:spAutoFit/>
          </a:bodyPr>
          <a:lstStyle/>
          <a:p>
            <a:pPr marL="285750" indent="-285750">
              <a:buClr>
                <a:schemeClr val="accent1"/>
              </a:buClr>
              <a:buFont typeface="Wingdings" panose="05000000000000000000" pitchFamily="2" charset="2"/>
              <a:buChar char="l"/>
            </a:pPr>
            <a:r>
              <a:rPr lang="en-US" altLang="zh-TW" dirty="0"/>
              <a:t>2D</a:t>
            </a:r>
            <a:endParaRPr lang="zh-TW" altLang="zh-TW" dirty="0"/>
          </a:p>
          <a:p>
            <a:pPr lvl="1"/>
            <a:r>
              <a:rPr lang="en-US" altLang="zh-TW" dirty="0"/>
              <a:t>A 2D image contains image data that is organized in two dimensions with a size specified by width and height. It can be addressed by two coordinates (x, y) corresponding to the width and height respectively.</a:t>
            </a:r>
            <a:endParaRPr lang="zh-TW" altLang="zh-TW" dirty="0"/>
          </a:p>
          <a:p>
            <a:endParaRPr lang="zh-TW" altLang="en-US" dirty="0" smtClean="0">
              <a:ea typeface="標楷體" pitchFamily="65" charset="-120"/>
              <a:cs typeface="Calibri" pitchFamily="34" charset="0"/>
            </a:endParaRPr>
          </a:p>
        </p:txBody>
      </p:sp>
      <p:sp>
        <p:nvSpPr>
          <p:cNvPr id="8" name="文字方塊 7"/>
          <p:cNvSpPr txBox="1"/>
          <p:nvPr/>
        </p:nvSpPr>
        <p:spPr>
          <a:xfrm>
            <a:off x="468314" y="1238695"/>
            <a:ext cx="8001918" cy="1477328"/>
          </a:xfrm>
          <a:prstGeom prst="rect">
            <a:avLst/>
          </a:prstGeom>
          <a:noFill/>
        </p:spPr>
        <p:txBody>
          <a:bodyPr wrap="square" rtlCol="0" anchor="ctr" anchorCtr="1">
            <a:spAutoFit/>
          </a:bodyPr>
          <a:lstStyle/>
          <a:p>
            <a:pPr marL="285750" indent="-285750">
              <a:buClr>
                <a:schemeClr val="accent1"/>
              </a:buClr>
              <a:buFont typeface="Wingdings" panose="05000000000000000000" pitchFamily="2" charset="2"/>
              <a:buChar char="l"/>
            </a:pPr>
            <a:r>
              <a:rPr lang="en-US" altLang="zh-TW" dirty="0"/>
              <a:t>1D</a:t>
            </a:r>
          </a:p>
          <a:p>
            <a:pPr marL="300038" lvl="1" indent="0">
              <a:buNone/>
            </a:pPr>
            <a:r>
              <a:rPr lang="en-US" altLang="zh-TW" dirty="0" smtClean="0"/>
              <a:t>  A </a:t>
            </a:r>
            <a:r>
              <a:rPr lang="en-US" altLang="zh-TW" dirty="0"/>
              <a:t>1D image contains image data that is organized in one dimension with a size specified by width. It can be addressed with a single coordinate x.</a:t>
            </a:r>
          </a:p>
          <a:p>
            <a:pPr marL="300038" lvl="1" indent="0">
              <a:buNone/>
            </a:pPr>
            <a:endParaRPr lang="en-US" altLang="zh-TW" dirty="0"/>
          </a:p>
          <a:p>
            <a:endParaRPr lang="zh-TW" altLang="en-US" dirty="0" smtClean="0">
              <a:ea typeface="標楷體" pitchFamily="65" charset="-120"/>
              <a:cs typeface="Calibri" pitchFamily="34" charset="0"/>
            </a:endParaRPr>
          </a:p>
        </p:txBody>
      </p:sp>
      <p:sp>
        <p:nvSpPr>
          <p:cNvPr id="9" name="文字方塊 8"/>
          <p:cNvSpPr txBox="1"/>
          <p:nvPr/>
        </p:nvSpPr>
        <p:spPr>
          <a:xfrm>
            <a:off x="539015" y="3978783"/>
            <a:ext cx="7353701" cy="1754326"/>
          </a:xfrm>
          <a:prstGeom prst="rect">
            <a:avLst/>
          </a:prstGeom>
          <a:noFill/>
        </p:spPr>
        <p:txBody>
          <a:bodyPr wrap="square" rtlCol="0" anchor="ctr" anchorCtr="1">
            <a:spAutoFit/>
          </a:bodyPr>
          <a:lstStyle/>
          <a:p>
            <a:pPr marL="285750" indent="-285750">
              <a:buClr>
                <a:schemeClr val="accent1"/>
              </a:buClr>
              <a:buFont typeface="Wingdings" panose="05000000000000000000" pitchFamily="2" charset="2"/>
              <a:buChar char="l"/>
            </a:pPr>
            <a:r>
              <a:rPr lang="en-US" altLang="zh-TW" dirty="0"/>
              <a:t>3D</a:t>
            </a:r>
            <a:endParaRPr lang="zh-TW" altLang="zh-TW" dirty="0"/>
          </a:p>
          <a:p>
            <a:pPr lvl="1"/>
            <a:r>
              <a:rPr lang="en-US" altLang="zh-TW" dirty="0"/>
              <a:t>A 3D image contains image data that is organized in three dimensions with a size specified by width, height and depth. It can be addressed by three coordinates (x, y, z) corresponding to the width, height and depth respectively.</a:t>
            </a:r>
            <a:endParaRPr lang="zh-TW" altLang="zh-TW" dirty="0"/>
          </a:p>
          <a:p>
            <a:endParaRPr lang="zh-TW" altLang="en-US" dirty="0" smtClean="0">
              <a:ea typeface="標楷體" pitchFamily="65" charset="-120"/>
              <a:cs typeface="Calibri" pitchFamily="34" charset="0"/>
            </a:endParaRPr>
          </a:p>
        </p:txBody>
      </p:sp>
    </p:spTree>
    <p:extLst>
      <p:ext uri="{BB962C8B-B14F-4D97-AF65-F5344CB8AC3E}">
        <p14:creationId xmlns:p14="http://schemas.microsoft.com/office/powerpoint/2010/main" val="36361176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Image Geometry</a:t>
            </a:r>
            <a:endParaRPr lang="zh-TW" altLang="en-US" dirty="0"/>
          </a:p>
        </p:txBody>
      </p:sp>
      <p:sp>
        <p:nvSpPr>
          <p:cNvPr id="6" name="文字方塊 5"/>
          <p:cNvSpPr txBox="1"/>
          <p:nvPr/>
        </p:nvSpPr>
        <p:spPr>
          <a:xfrm>
            <a:off x="606391" y="1232903"/>
            <a:ext cx="7141946" cy="2308324"/>
          </a:xfrm>
          <a:prstGeom prst="rect">
            <a:avLst/>
          </a:prstGeom>
          <a:noFill/>
        </p:spPr>
        <p:txBody>
          <a:bodyPr wrap="square" rtlCol="0" anchor="ctr" anchorCtr="1">
            <a:spAutoFit/>
          </a:bodyPr>
          <a:lstStyle/>
          <a:p>
            <a:pPr marL="285750" indent="-285750">
              <a:buClr>
                <a:schemeClr val="accent1"/>
              </a:buClr>
              <a:buFont typeface="Wingdings" panose="05000000000000000000" pitchFamily="2" charset="2"/>
              <a:buChar char="l"/>
            </a:pPr>
            <a:r>
              <a:rPr lang="en-US" altLang="zh-TW" dirty="0"/>
              <a:t>1DA</a:t>
            </a:r>
            <a:endParaRPr lang="zh-TW" altLang="zh-TW" dirty="0"/>
          </a:p>
          <a:p>
            <a:pPr lvl="1"/>
            <a:r>
              <a:rPr lang="en-US" altLang="zh-TW" dirty="0"/>
              <a:t>A 1DA image contains an array of a homogeneous collection of one-dimensional images, all with the same size, format and order, with a size specified by width and array index. It can be addressed </a:t>
            </a:r>
            <a:r>
              <a:rPr lang="en-US" altLang="zh-TW" dirty="0">
                <a:solidFill>
                  <a:srgbClr val="FF0000"/>
                </a:solidFill>
              </a:rPr>
              <a:t>by two coordinates (x, y) </a:t>
            </a:r>
            <a:r>
              <a:rPr lang="en-US" altLang="zh-TW" dirty="0"/>
              <a:t>corresponding to the width and array index respectively.</a:t>
            </a:r>
            <a:endParaRPr lang="zh-TW" altLang="zh-TW" dirty="0"/>
          </a:p>
          <a:p>
            <a:pPr lvl="1"/>
            <a:endParaRPr lang="zh-TW" altLang="zh-TW" dirty="0"/>
          </a:p>
          <a:p>
            <a:endParaRPr lang="zh-TW" altLang="en-US" dirty="0" smtClean="0">
              <a:ea typeface="標楷體" pitchFamily="65" charset="-120"/>
              <a:cs typeface="Calibri" pitchFamily="34" charset="0"/>
            </a:endParaRPr>
          </a:p>
        </p:txBody>
      </p:sp>
      <p:sp>
        <p:nvSpPr>
          <p:cNvPr id="7" name="文字方塊 6"/>
          <p:cNvSpPr txBox="1"/>
          <p:nvPr/>
        </p:nvSpPr>
        <p:spPr>
          <a:xfrm>
            <a:off x="606391" y="3296455"/>
            <a:ext cx="7315200" cy="2031325"/>
          </a:xfrm>
          <a:prstGeom prst="rect">
            <a:avLst/>
          </a:prstGeom>
          <a:noFill/>
        </p:spPr>
        <p:txBody>
          <a:bodyPr wrap="square" rtlCol="0" anchor="ctr" anchorCtr="1">
            <a:spAutoFit/>
          </a:bodyPr>
          <a:lstStyle/>
          <a:p>
            <a:pPr marL="285750" indent="-285750">
              <a:buClr>
                <a:schemeClr val="accent1"/>
              </a:buClr>
              <a:buFont typeface="Wingdings" panose="05000000000000000000" pitchFamily="2" charset="2"/>
              <a:buChar char="l"/>
            </a:pPr>
            <a:r>
              <a:rPr lang="en-US" altLang="zh-TW" dirty="0"/>
              <a:t>2DA</a:t>
            </a:r>
            <a:endParaRPr lang="zh-TW" altLang="zh-TW" dirty="0"/>
          </a:p>
          <a:p>
            <a:pPr lvl="1"/>
            <a:r>
              <a:rPr lang="en-US" altLang="zh-TW" dirty="0"/>
              <a:t>A 2DA image contains an array of a homogeneous collection of two-dimensional images, all with the same size, format and order, with a size specified by width, height and array size. It can be addressed by </a:t>
            </a:r>
            <a:r>
              <a:rPr lang="en-US" altLang="zh-TW" dirty="0">
                <a:solidFill>
                  <a:srgbClr val="FF0000"/>
                </a:solidFill>
              </a:rPr>
              <a:t>three coordinates (x, y, z)</a:t>
            </a:r>
            <a:r>
              <a:rPr lang="en-US" altLang="zh-TW" dirty="0"/>
              <a:t> corresponding to the width, height and array index respectively.</a:t>
            </a:r>
            <a:endParaRPr lang="zh-TW" altLang="zh-TW" dirty="0"/>
          </a:p>
          <a:p>
            <a:endParaRPr lang="zh-TW" altLang="en-US" dirty="0" smtClean="0">
              <a:ea typeface="標楷體" pitchFamily="65" charset="-120"/>
              <a:cs typeface="Calibri" pitchFamily="34" charset="0"/>
            </a:endParaRPr>
          </a:p>
        </p:txBody>
      </p:sp>
    </p:spTree>
    <p:extLst>
      <p:ext uri="{BB962C8B-B14F-4D97-AF65-F5344CB8AC3E}">
        <p14:creationId xmlns:p14="http://schemas.microsoft.com/office/powerpoint/2010/main" val="1118255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Image Geometry</a:t>
            </a:r>
            <a:endParaRPr lang="zh-TW" altLang="en-US" dirty="0"/>
          </a:p>
        </p:txBody>
      </p:sp>
      <p:sp>
        <p:nvSpPr>
          <p:cNvPr id="7" name="文字方塊 6"/>
          <p:cNvSpPr txBox="1"/>
          <p:nvPr/>
        </p:nvSpPr>
        <p:spPr>
          <a:xfrm>
            <a:off x="654519" y="1546248"/>
            <a:ext cx="7440328" cy="3693319"/>
          </a:xfrm>
          <a:prstGeom prst="rect">
            <a:avLst/>
          </a:prstGeom>
          <a:noFill/>
        </p:spPr>
        <p:txBody>
          <a:bodyPr wrap="square" rtlCol="0" anchor="ctr" anchorCtr="1">
            <a:spAutoFit/>
          </a:bodyPr>
          <a:lstStyle/>
          <a:p>
            <a:pPr marL="285750" indent="-285750">
              <a:buClr>
                <a:schemeClr val="accent1"/>
              </a:buClr>
              <a:buFont typeface="Wingdings" panose="05000000000000000000" pitchFamily="2" charset="2"/>
              <a:buChar char="l"/>
            </a:pPr>
            <a:r>
              <a:rPr lang="en-US" altLang="zh-TW" dirty="0"/>
              <a:t>1DB</a:t>
            </a:r>
            <a:endParaRPr lang="zh-TW" altLang="zh-TW" dirty="0"/>
          </a:p>
          <a:p>
            <a:pPr lvl="1"/>
            <a:r>
              <a:rPr lang="en-US" altLang="zh-TW" dirty="0"/>
              <a:t>A 1DB image contains image data that is organized in one dimension with a size specified by width. It can be addressed with a single coordinate x. </a:t>
            </a:r>
            <a:endParaRPr lang="zh-TW" altLang="zh-TW" dirty="0"/>
          </a:p>
          <a:p>
            <a:endParaRPr lang="en-US" altLang="zh-TW" dirty="0" smtClean="0">
              <a:ea typeface="標楷體" pitchFamily="65" charset="-120"/>
              <a:cs typeface="Calibri" pitchFamily="34" charset="0"/>
            </a:endParaRPr>
          </a:p>
          <a:p>
            <a:endParaRPr lang="en-US" altLang="zh-TW" dirty="0" smtClean="0">
              <a:ea typeface="標楷體" pitchFamily="65" charset="-120"/>
              <a:cs typeface="Calibri" pitchFamily="34" charset="0"/>
            </a:endParaRPr>
          </a:p>
          <a:p>
            <a:pPr lvl="1"/>
            <a:r>
              <a:rPr lang="en-US" altLang="zh-TW" dirty="0"/>
              <a:t>An important difference between 1DB and 1D images is that the image data can be allocated in the global segment and can have larger limits on the maximum image size supported. </a:t>
            </a:r>
            <a:endParaRPr lang="en-US" altLang="zh-TW" dirty="0" smtClean="0"/>
          </a:p>
          <a:p>
            <a:pPr lvl="1"/>
            <a:endParaRPr lang="en-US" altLang="zh-TW" dirty="0" smtClean="0">
              <a:ea typeface="標楷體" pitchFamily="65" charset="-120"/>
              <a:cs typeface="Calibri" pitchFamily="34" charset="0"/>
            </a:endParaRPr>
          </a:p>
          <a:p>
            <a:pPr lvl="1"/>
            <a:endParaRPr lang="en-US" altLang="zh-TW" dirty="0">
              <a:ea typeface="標楷體" pitchFamily="65" charset="-120"/>
              <a:cs typeface="Calibri" pitchFamily="34" charset="0"/>
            </a:endParaRPr>
          </a:p>
          <a:p>
            <a:pPr lvl="1"/>
            <a:r>
              <a:rPr lang="en-US" altLang="zh-TW" dirty="0"/>
              <a:t>On some implementations this may result in a 1DB image having lower performance than an equivalent 1D image.</a:t>
            </a:r>
            <a:endParaRPr lang="zh-TW" altLang="en-US" dirty="0" smtClean="0">
              <a:ea typeface="標楷體" pitchFamily="65" charset="-120"/>
              <a:cs typeface="Calibri" pitchFamily="34" charset="0"/>
            </a:endParaRPr>
          </a:p>
        </p:txBody>
      </p:sp>
    </p:spTree>
    <p:extLst>
      <p:ext uri="{BB962C8B-B14F-4D97-AF65-F5344CB8AC3E}">
        <p14:creationId xmlns:p14="http://schemas.microsoft.com/office/powerpoint/2010/main" val="257512778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Image Geometry</a:t>
            </a:r>
            <a:endParaRPr lang="zh-TW" altLang="en-US" dirty="0"/>
          </a:p>
        </p:txBody>
      </p:sp>
      <p:sp>
        <p:nvSpPr>
          <p:cNvPr id="6" name="文字方塊 5"/>
          <p:cNvSpPr txBox="1"/>
          <p:nvPr/>
        </p:nvSpPr>
        <p:spPr>
          <a:xfrm>
            <a:off x="712269" y="1571399"/>
            <a:ext cx="7334451" cy="1477328"/>
          </a:xfrm>
          <a:prstGeom prst="rect">
            <a:avLst/>
          </a:prstGeom>
          <a:noFill/>
        </p:spPr>
        <p:txBody>
          <a:bodyPr wrap="square" rtlCol="0" anchor="ctr" anchorCtr="1">
            <a:spAutoFit/>
          </a:bodyPr>
          <a:lstStyle/>
          <a:p>
            <a:pPr marL="285750" indent="-285750">
              <a:buClr>
                <a:schemeClr val="accent1"/>
              </a:buClr>
              <a:buFont typeface="Wingdings" panose="05000000000000000000" pitchFamily="2" charset="2"/>
              <a:buChar char="l"/>
            </a:pPr>
            <a:r>
              <a:rPr lang="en-US" altLang="zh-TW" dirty="0"/>
              <a:t>2DDEPTH</a:t>
            </a:r>
            <a:endParaRPr lang="zh-TW" altLang="zh-TW" dirty="0"/>
          </a:p>
          <a:p>
            <a:pPr lvl="1"/>
            <a:r>
              <a:rPr lang="en-US" altLang="zh-TW" dirty="0"/>
              <a:t>Same as the </a:t>
            </a:r>
            <a:r>
              <a:rPr lang="en-US" altLang="zh-TW" dirty="0">
                <a:solidFill>
                  <a:srgbClr val="FF0000"/>
                </a:solidFill>
              </a:rPr>
              <a:t>2D geometry except the image operations</a:t>
            </a:r>
            <a:r>
              <a:rPr lang="en-US" altLang="zh-TW" dirty="0"/>
              <a:t> only have a single access component instead of four. Requires that the image component order be depth or </a:t>
            </a:r>
            <a:r>
              <a:rPr lang="en-US" altLang="zh-TW" dirty="0" err="1"/>
              <a:t>depth_stencil</a:t>
            </a:r>
            <a:r>
              <a:rPr lang="en-US" altLang="zh-TW" dirty="0"/>
              <a:t>.</a:t>
            </a:r>
            <a:endParaRPr lang="zh-TW" altLang="zh-TW" dirty="0"/>
          </a:p>
          <a:p>
            <a:endParaRPr lang="zh-TW" altLang="en-US" dirty="0" smtClean="0">
              <a:ea typeface="標楷體" pitchFamily="65" charset="-120"/>
              <a:cs typeface="Calibri" pitchFamily="34" charset="0"/>
            </a:endParaRPr>
          </a:p>
        </p:txBody>
      </p:sp>
      <p:sp>
        <p:nvSpPr>
          <p:cNvPr id="7" name="文字方塊 6"/>
          <p:cNvSpPr txBox="1"/>
          <p:nvPr/>
        </p:nvSpPr>
        <p:spPr>
          <a:xfrm>
            <a:off x="577516" y="3380949"/>
            <a:ext cx="7267073" cy="1477328"/>
          </a:xfrm>
          <a:prstGeom prst="rect">
            <a:avLst/>
          </a:prstGeom>
          <a:noFill/>
        </p:spPr>
        <p:txBody>
          <a:bodyPr wrap="square" rtlCol="0" anchor="ctr" anchorCtr="1">
            <a:spAutoFit/>
          </a:bodyPr>
          <a:lstStyle/>
          <a:p>
            <a:pPr marL="285750" indent="-285750">
              <a:buClr>
                <a:schemeClr val="accent1"/>
              </a:buClr>
              <a:buFont typeface="Wingdings" panose="05000000000000000000" pitchFamily="2" charset="2"/>
              <a:buChar char="l"/>
            </a:pPr>
            <a:r>
              <a:rPr lang="en-US" altLang="zh-TW" dirty="0"/>
              <a:t>2DADEPTH</a:t>
            </a:r>
            <a:endParaRPr lang="zh-TW" altLang="zh-TW" dirty="0"/>
          </a:p>
          <a:p>
            <a:pPr lvl="1"/>
            <a:r>
              <a:rPr lang="en-US" altLang="zh-TW" dirty="0"/>
              <a:t>Same as the </a:t>
            </a:r>
            <a:r>
              <a:rPr lang="en-US" altLang="zh-TW" dirty="0">
                <a:solidFill>
                  <a:srgbClr val="FF0000"/>
                </a:solidFill>
              </a:rPr>
              <a:t>2DA geometry except the image operations </a:t>
            </a:r>
            <a:r>
              <a:rPr lang="en-US" altLang="zh-TW" dirty="0"/>
              <a:t>only have a single access component instead of four. Requires that the image component order be depth or </a:t>
            </a:r>
            <a:r>
              <a:rPr lang="en-US" altLang="zh-TW" dirty="0" err="1"/>
              <a:t>depth_stencil</a:t>
            </a:r>
            <a:r>
              <a:rPr lang="en-US" altLang="zh-TW" dirty="0"/>
              <a:t>.</a:t>
            </a:r>
            <a:endParaRPr lang="zh-TW" altLang="zh-TW" dirty="0"/>
          </a:p>
          <a:p>
            <a:endParaRPr lang="zh-TW" altLang="en-US" dirty="0" smtClean="0">
              <a:ea typeface="標楷體" pitchFamily="65" charset="-120"/>
              <a:cs typeface="Calibri" pitchFamily="34" charset="0"/>
            </a:endParaRPr>
          </a:p>
        </p:txBody>
      </p:sp>
    </p:spTree>
    <p:extLst>
      <p:ext uri="{BB962C8B-B14F-4D97-AF65-F5344CB8AC3E}">
        <p14:creationId xmlns:p14="http://schemas.microsoft.com/office/powerpoint/2010/main" val="418664048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Image Format</a:t>
            </a:r>
            <a:endParaRPr lang="zh-TW" altLang="en-US" dirty="0"/>
          </a:p>
        </p:txBody>
      </p:sp>
      <p:sp>
        <p:nvSpPr>
          <p:cNvPr id="5" name="內容版面配置區 4"/>
          <p:cNvSpPr>
            <a:spLocks noGrp="1"/>
          </p:cNvSpPr>
          <p:nvPr>
            <p:ph idx="1"/>
          </p:nvPr>
        </p:nvSpPr>
        <p:spPr/>
        <p:txBody>
          <a:bodyPr/>
          <a:lstStyle/>
          <a:p>
            <a:pPr>
              <a:lnSpc>
                <a:spcPct val="150000"/>
              </a:lnSpc>
            </a:pPr>
            <a:r>
              <a:rPr lang="en-US" altLang="zh-TW" dirty="0"/>
              <a:t>The image format specifies the properties of the image elements in terms of their </a:t>
            </a:r>
            <a:r>
              <a:rPr lang="en-US" altLang="zh-TW" b="1" dirty="0">
                <a:solidFill>
                  <a:srgbClr val="FF0000"/>
                </a:solidFill>
              </a:rPr>
              <a:t>channel order </a:t>
            </a:r>
            <a:r>
              <a:rPr lang="en-US" altLang="zh-TW" dirty="0"/>
              <a:t>and </a:t>
            </a:r>
            <a:r>
              <a:rPr lang="en-US" altLang="zh-TW" b="1" dirty="0">
                <a:solidFill>
                  <a:srgbClr val="FF0000"/>
                </a:solidFill>
              </a:rPr>
              <a:t>channel type</a:t>
            </a:r>
            <a:r>
              <a:rPr lang="en-US" altLang="zh-TW" dirty="0"/>
              <a:t>. Each element in the image has the same image format. Associated with an image format there is a number called the bits per pixel (</a:t>
            </a:r>
            <a:r>
              <a:rPr lang="en-US" altLang="zh-TW" dirty="0" err="1"/>
              <a:t>bpp</a:t>
            </a:r>
            <a:r>
              <a:rPr lang="en-US" altLang="zh-TW" dirty="0"/>
              <a:t>) which is the number of bits needed to hold one element of an image.</a:t>
            </a:r>
            <a:endParaRPr lang="zh-TW" altLang="zh-TW" dirty="0"/>
          </a:p>
          <a:p>
            <a:endParaRPr lang="zh-TW" altLang="en-US" dirty="0"/>
          </a:p>
        </p:txBody>
      </p:sp>
    </p:spTree>
    <p:extLst>
      <p:ext uri="{BB962C8B-B14F-4D97-AF65-F5344CB8AC3E}">
        <p14:creationId xmlns:p14="http://schemas.microsoft.com/office/powerpoint/2010/main" val="44913199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Channel Order</a:t>
            </a:r>
            <a:endParaRPr lang="zh-TW" altLang="en-US" dirty="0"/>
          </a:p>
        </p:txBody>
      </p:sp>
      <p:sp>
        <p:nvSpPr>
          <p:cNvPr id="5" name="內容版面配置區 4"/>
          <p:cNvSpPr>
            <a:spLocks noGrp="1"/>
          </p:cNvSpPr>
          <p:nvPr>
            <p:ph idx="1"/>
          </p:nvPr>
        </p:nvSpPr>
        <p:spPr/>
        <p:txBody>
          <a:bodyPr/>
          <a:lstStyle/>
          <a:p>
            <a:r>
              <a:rPr lang="en-US" altLang="zh-TW" dirty="0"/>
              <a:t>Each image element in the image data has one, two, three or four values called memory components (also known as channels). Typically the memory components are named r, g, b and a (for red, green, blue, and alpha respectively, which can correspond to the color and transparency of the pixel), although some image orders use other names such as </a:t>
            </a:r>
            <a:r>
              <a:rPr lang="en-US" altLang="zh-TW" dirty="0" smtClean="0"/>
              <a:t>I, L </a:t>
            </a:r>
            <a:r>
              <a:rPr lang="en-US" altLang="zh-TW" dirty="0"/>
              <a:t>and </a:t>
            </a:r>
            <a:r>
              <a:rPr lang="en-US" altLang="zh-TW" dirty="0" smtClean="0"/>
              <a:t>D </a:t>
            </a:r>
            <a:r>
              <a:rPr lang="en-US" altLang="zh-TW" dirty="0"/>
              <a:t>(for intensity, luminance and depth respectively).</a:t>
            </a:r>
            <a:endParaRPr lang="zh-TW" altLang="zh-TW" dirty="0"/>
          </a:p>
          <a:p>
            <a:endParaRPr lang="en-US" altLang="zh-TW" dirty="0" smtClean="0"/>
          </a:p>
          <a:p>
            <a:r>
              <a:rPr lang="en-US" altLang="zh-TW" dirty="0"/>
              <a:t>The image access operations always specify four access components regardless of the number of memory components present in the image data. The exception is the 2DDEPTH and 2DADEPTH image geometries which only have one access component.</a:t>
            </a:r>
            <a:endParaRPr lang="zh-TW" altLang="zh-TW" dirty="0"/>
          </a:p>
          <a:p>
            <a:endParaRPr lang="zh-TW" altLang="en-US" dirty="0"/>
          </a:p>
        </p:txBody>
      </p:sp>
    </p:spTree>
    <p:extLst>
      <p:ext uri="{BB962C8B-B14F-4D97-AF65-F5344CB8AC3E}">
        <p14:creationId xmlns:p14="http://schemas.microsoft.com/office/powerpoint/2010/main" val="222832294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Channel Order</a:t>
            </a:r>
            <a:endParaRPr lang="zh-TW" altLang="en-US" dirty="0"/>
          </a:p>
        </p:txBody>
      </p:sp>
      <p:sp>
        <p:nvSpPr>
          <p:cNvPr id="5" name="內容版面配置區 4"/>
          <p:cNvSpPr>
            <a:spLocks noGrp="1"/>
          </p:cNvSpPr>
          <p:nvPr>
            <p:ph idx="1"/>
          </p:nvPr>
        </p:nvSpPr>
        <p:spPr/>
        <p:txBody>
          <a:bodyPr/>
          <a:lstStyle/>
          <a:p>
            <a:r>
              <a:rPr lang="en-US" altLang="zh-TW" dirty="0"/>
              <a:t>The channel order specifies how many memory components each image element has and how those memory components are mapped to the four access components. The mapping is also referred to </a:t>
            </a:r>
            <a:r>
              <a:rPr lang="en-US" altLang="zh-TW" dirty="0" smtClean="0"/>
              <a:t>as </a:t>
            </a:r>
            <a:r>
              <a:rPr lang="en-US" altLang="zh-TW" dirty="0" err="1" smtClean="0"/>
              <a:t>swizzling</a:t>
            </a:r>
            <a:r>
              <a:rPr lang="en-US" altLang="zh-TW" dirty="0" smtClean="0"/>
              <a:t>.</a:t>
            </a:r>
          </a:p>
          <a:p>
            <a:endParaRPr lang="en-US" altLang="zh-TW" dirty="0"/>
          </a:p>
          <a:p>
            <a:r>
              <a:rPr lang="en-US" altLang="zh-TW" dirty="0"/>
              <a:t>Each channel order has an associated border color that is used as the access value by some coordinate addressing modes when an image is accessed by out of range coordinates. </a:t>
            </a:r>
            <a:endParaRPr lang="en-US" altLang="zh-TW" dirty="0" smtClean="0"/>
          </a:p>
          <a:p>
            <a:endParaRPr lang="zh-TW" altLang="en-US" dirty="0"/>
          </a:p>
        </p:txBody>
      </p:sp>
    </p:spTree>
    <p:extLst>
      <p:ext uri="{BB962C8B-B14F-4D97-AF65-F5344CB8AC3E}">
        <p14:creationId xmlns:p14="http://schemas.microsoft.com/office/powerpoint/2010/main" val="257220125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Channel Type</a:t>
            </a:r>
            <a:endParaRPr lang="zh-TW" altLang="en-US" dirty="0"/>
          </a:p>
        </p:txBody>
      </p:sp>
      <p:sp>
        <p:nvSpPr>
          <p:cNvPr id="5" name="內容版面配置區 4"/>
          <p:cNvSpPr>
            <a:spLocks noGrp="1"/>
          </p:cNvSpPr>
          <p:nvPr>
            <p:ph idx="1"/>
          </p:nvPr>
        </p:nvSpPr>
        <p:spPr/>
        <p:txBody>
          <a:bodyPr/>
          <a:lstStyle/>
          <a:p>
            <a:r>
              <a:rPr lang="en-US" altLang="zh-TW" dirty="0"/>
              <a:t>The channel type specifies both the component memory type and the component access type. The component memory type specifies how the value of the memory component is encoded in the image data. </a:t>
            </a:r>
            <a:endParaRPr lang="en-US" altLang="zh-TW" dirty="0" smtClean="0"/>
          </a:p>
          <a:p>
            <a:endParaRPr lang="en-US" altLang="zh-TW" dirty="0"/>
          </a:p>
          <a:p>
            <a:r>
              <a:rPr lang="en-US" altLang="zh-TW" dirty="0"/>
              <a:t>The component access type specifies how the value of the memory component is returned by image read operations, or specified to image store operations. </a:t>
            </a:r>
            <a:endParaRPr lang="en-US" altLang="zh-TW" dirty="0" smtClean="0"/>
          </a:p>
          <a:p>
            <a:endParaRPr lang="en-US" altLang="zh-TW" dirty="0"/>
          </a:p>
          <a:p>
            <a:r>
              <a:rPr lang="en-US" altLang="zh-TW" dirty="0"/>
              <a:t>Each channel type has a conversion method that is used to converted from the component memory type to the component access type by image read operations, and from the component access type to the component memory type by image write operations.</a:t>
            </a:r>
            <a:endParaRPr lang="zh-TW" altLang="en-US" dirty="0"/>
          </a:p>
        </p:txBody>
      </p:sp>
    </p:spTree>
    <p:extLst>
      <p:ext uri="{BB962C8B-B14F-4D97-AF65-F5344CB8AC3E}">
        <p14:creationId xmlns:p14="http://schemas.microsoft.com/office/powerpoint/2010/main" val="260307606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Channel Type</a:t>
            </a:r>
            <a:endParaRPr lang="zh-TW" altLang="en-US" dirty="0"/>
          </a:p>
        </p:txBody>
      </p:sp>
      <p:sp>
        <p:nvSpPr>
          <p:cNvPr id="5" name="內容版面配置區 4"/>
          <p:cNvSpPr>
            <a:spLocks noGrp="1"/>
          </p:cNvSpPr>
          <p:nvPr>
            <p:ph idx="1"/>
          </p:nvPr>
        </p:nvSpPr>
        <p:spPr/>
        <p:txBody>
          <a:bodyPr/>
          <a:lstStyle/>
          <a:p>
            <a:r>
              <a:rPr lang="en-US" altLang="zh-TW" dirty="0"/>
              <a:t>The memory type is specified as the number of bits occupied by the component (also known as the bit depth), and whether the value is represented as a two's complement signed or unsigned integer or as an IEEE/ANSI Standard 754-2008 for floating-point </a:t>
            </a:r>
            <a:r>
              <a:rPr lang="en-US" altLang="zh-TW" dirty="0" smtClean="0"/>
              <a:t>value</a:t>
            </a:r>
          </a:p>
          <a:p>
            <a:endParaRPr lang="en-US" altLang="zh-TW" dirty="0"/>
          </a:p>
          <a:p>
            <a:r>
              <a:rPr lang="en-US" altLang="zh-TW" dirty="0"/>
              <a:t>For the packed representations of unorm_short_555 , unorm_short_565 and unorm_int_101010, the components are the specified bit fields within the image element. For unorm_short_565 the bit size varies according to whether the r, g or b component</a:t>
            </a:r>
            <a:r>
              <a:rPr lang="en-US" altLang="zh-TW" dirty="0" smtClean="0"/>
              <a:t>.</a:t>
            </a:r>
          </a:p>
          <a:p>
            <a:endParaRPr lang="en-US" altLang="zh-TW" dirty="0"/>
          </a:p>
          <a:p>
            <a:r>
              <a:rPr lang="en-US" altLang="zh-TW" dirty="0"/>
              <a:t>The access type is the HSAIL type used in the operands of the image operations that specify the image component </a:t>
            </a:r>
            <a:endParaRPr lang="zh-TW" altLang="en-US" dirty="0"/>
          </a:p>
        </p:txBody>
      </p:sp>
    </p:spTree>
    <p:extLst>
      <p:ext uri="{BB962C8B-B14F-4D97-AF65-F5344CB8AC3E}">
        <p14:creationId xmlns:p14="http://schemas.microsoft.com/office/powerpoint/2010/main" val="349253834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Image Access Permission</a:t>
            </a:r>
            <a:endParaRPr lang="zh-TW" altLang="en-US" dirty="0"/>
          </a:p>
        </p:txBody>
      </p:sp>
      <p:sp>
        <p:nvSpPr>
          <p:cNvPr id="5" name="內容版面配置區 4"/>
          <p:cNvSpPr>
            <a:spLocks noGrp="1"/>
          </p:cNvSpPr>
          <p:nvPr>
            <p:ph idx="1"/>
          </p:nvPr>
        </p:nvSpPr>
        <p:spPr/>
        <p:txBody>
          <a:bodyPr/>
          <a:lstStyle/>
          <a:p>
            <a:r>
              <a:rPr lang="en-US" altLang="zh-TW" dirty="0"/>
              <a:t>The image access permissions refer to how an image can be accessed using image operations. If the access permissions of a specific image include</a:t>
            </a:r>
            <a:r>
              <a:rPr lang="en-US" altLang="zh-TW" dirty="0" smtClean="0"/>
              <a:t>:</a:t>
            </a:r>
          </a:p>
          <a:p>
            <a:endParaRPr lang="en-US" altLang="zh-TW" dirty="0" smtClean="0"/>
          </a:p>
          <a:p>
            <a:pPr marL="0" indent="0">
              <a:buNone/>
            </a:pPr>
            <a:r>
              <a:rPr lang="en-US" altLang="zh-TW" dirty="0" smtClean="0"/>
              <a:t>	•read-only</a:t>
            </a:r>
            <a:r>
              <a:rPr lang="en-US" altLang="zh-TW" dirty="0"/>
              <a:t>, then image read operations are </a:t>
            </a:r>
            <a:r>
              <a:rPr lang="en-US" altLang="zh-TW" dirty="0" smtClean="0"/>
              <a:t>allowed</a:t>
            </a:r>
          </a:p>
          <a:p>
            <a:pPr marL="0" indent="0">
              <a:buNone/>
            </a:pPr>
            <a:endParaRPr lang="en-US" altLang="zh-TW" dirty="0"/>
          </a:p>
          <a:p>
            <a:pPr marL="0" indent="0">
              <a:buNone/>
            </a:pPr>
            <a:r>
              <a:rPr lang="en-US" altLang="zh-TW" dirty="0" smtClean="0"/>
              <a:t>	•write-only</a:t>
            </a:r>
            <a:r>
              <a:rPr lang="en-US" altLang="zh-TW" dirty="0"/>
              <a:t>, then write operations are </a:t>
            </a:r>
            <a:r>
              <a:rPr lang="en-US" altLang="zh-TW" dirty="0" smtClean="0"/>
              <a:t>allowed</a:t>
            </a:r>
          </a:p>
          <a:p>
            <a:pPr marL="0" indent="0">
              <a:buNone/>
            </a:pPr>
            <a:endParaRPr lang="en-US" altLang="zh-TW" dirty="0"/>
          </a:p>
          <a:p>
            <a:pPr marL="0" indent="0">
              <a:buNone/>
            </a:pPr>
            <a:r>
              <a:rPr lang="en-US" altLang="zh-TW" dirty="0" smtClean="0"/>
              <a:t>	•read-write</a:t>
            </a:r>
            <a:r>
              <a:rPr lang="en-US" altLang="zh-TW" dirty="0"/>
              <a:t>, then both read and write operations are allowed</a:t>
            </a:r>
          </a:p>
          <a:p>
            <a:endParaRPr lang="zh-TW" altLang="en-US" dirty="0"/>
          </a:p>
        </p:txBody>
      </p:sp>
    </p:spTree>
    <p:extLst>
      <p:ext uri="{BB962C8B-B14F-4D97-AF65-F5344CB8AC3E}">
        <p14:creationId xmlns:p14="http://schemas.microsoft.com/office/powerpoint/2010/main" val="341971370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r>
              <a:rPr lang="en-US" altLang="zh-TW" dirty="0"/>
              <a:t> Image Coordinate</a:t>
            </a:r>
            <a:endParaRPr lang="zh-TW" altLang="en-US" dirty="0"/>
          </a:p>
        </p:txBody>
      </p:sp>
      <p:sp>
        <p:nvSpPr>
          <p:cNvPr id="7" name="內容版面配置區 6"/>
          <p:cNvSpPr>
            <a:spLocks noGrp="1"/>
          </p:cNvSpPr>
          <p:nvPr>
            <p:ph idx="1"/>
          </p:nvPr>
        </p:nvSpPr>
        <p:spPr>
          <a:xfrm>
            <a:off x="468314" y="1135163"/>
            <a:ext cx="8229600" cy="4895850"/>
          </a:xfrm>
        </p:spPr>
        <p:txBody>
          <a:bodyPr/>
          <a:lstStyle/>
          <a:p>
            <a:r>
              <a:rPr lang="en-US" altLang="zh-TW" dirty="0"/>
              <a:t>Image operations use image coordinates to specify which image element, and for image arrays, which image layer, to access. An image geometry uses either one, two or three coordinates, named x, y and z. </a:t>
            </a:r>
            <a:endParaRPr lang="en-US" altLang="zh-TW" dirty="0" smtClean="0"/>
          </a:p>
          <a:p>
            <a:endParaRPr lang="en-US" altLang="zh-TW" dirty="0"/>
          </a:p>
          <a:p>
            <a:r>
              <a:rPr lang="en-US" altLang="zh-TW" dirty="0"/>
              <a:t>The processing of each image coordinate is controlled by three </a:t>
            </a:r>
            <a:r>
              <a:rPr lang="en-US" altLang="zh-TW" dirty="0" smtClean="0"/>
              <a:t>properties:</a:t>
            </a:r>
            <a:endParaRPr lang="en-US" altLang="zh-TW" dirty="0"/>
          </a:p>
          <a:p>
            <a:pPr marL="0" indent="0">
              <a:buNone/>
            </a:pPr>
            <a:endParaRPr lang="en-US" altLang="zh-TW" dirty="0"/>
          </a:p>
          <a:p>
            <a:pPr marL="0" indent="0">
              <a:buNone/>
            </a:pPr>
            <a:r>
              <a:rPr lang="en-US" altLang="zh-TW" dirty="0"/>
              <a:t>	</a:t>
            </a:r>
            <a:r>
              <a:rPr lang="en-US" altLang="zh-TW" dirty="0" smtClean="0"/>
              <a:t>1.Coordinate </a:t>
            </a:r>
            <a:r>
              <a:rPr lang="en-US" altLang="zh-TW" dirty="0"/>
              <a:t>normalization </a:t>
            </a:r>
            <a:r>
              <a:rPr lang="en-US" altLang="zh-TW" dirty="0" smtClean="0"/>
              <a:t>mode</a:t>
            </a:r>
          </a:p>
          <a:p>
            <a:pPr marL="0" indent="0">
              <a:buNone/>
            </a:pPr>
            <a:endParaRPr lang="zh-TW" altLang="zh-TW" dirty="0"/>
          </a:p>
          <a:p>
            <a:pPr marL="0" lvl="0" indent="0">
              <a:buNone/>
            </a:pPr>
            <a:r>
              <a:rPr lang="en-US" altLang="zh-TW" dirty="0" smtClean="0"/>
              <a:t>	2.Coordinate </a:t>
            </a:r>
            <a:r>
              <a:rPr lang="en-US" altLang="zh-TW" dirty="0"/>
              <a:t>addressing </a:t>
            </a:r>
            <a:r>
              <a:rPr lang="en-US" altLang="zh-TW" dirty="0" smtClean="0"/>
              <a:t>mode</a:t>
            </a:r>
          </a:p>
          <a:p>
            <a:pPr marL="0" lvl="0" indent="0">
              <a:buNone/>
            </a:pPr>
            <a:endParaRPr lang="en-US" altLang="zh-TW" dirty="0" smtClean="0"/>
          </a:p>
          <a:p>
            <a:pPr marL="0" lvl="0" indent="0">
              <a:buNone/>
            </a:pPr>
            <a:r>
              <a:rPr lang="en-US" altLang="zh-TW" dirty="0" smtClean="0"/>
              <a:t>	3.Coordinate </a:t>
            </a:r>
            <a:r>
              <a:rPr lang="en-US" altLang="zh-TW" dirty="0"/>
              <a:t>filter mode</a:t>
            </a:r>
            <a:endParaRPr lang="zh-TW" altLang="zh-TW" dirty="0"/>
          </a:p>
          <a:p>
            <a:endParaRPr lang="zh-TW" altLang="en-US" dirty="0"/>
          </a:p>
        </p:txBody>
      </p:sp>
    </p:spTree>
    <p:extLst>
      <p:ext uri="{BB962C8B-B14F-4D97-AF65-F5344CB8AC3E}">
        <p14:creationId xmlns:p14="http://schemas.microsoft.com/office/powerpoint/2010/main" val="317285120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Opencl</a:t>
            </a:r>
            <a:r>
              <a:rPr lang="en-US" altLang="zh-TW" dirty="0" smtClean="0"/>
              <a:t> runtime</a:t>
            </a:r>
            <a:endParaRPr lang="zh-TW" altLang="en-US" dirty="0"/>
          </a:p>
        </p:txBody>
      </p:sp>
    </p:spTree>
    <p:extLst>
      <p:ext uri="{BB962C8B-B14F-4D97-AF65-F5344CB8AC3E}">
        <p14:creationId xmlns:p14="http://schemas.microsoft.com/office/powerpoint/2010/main" val="274606676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Creating Image Objects </a:t>
            </a:r>
            <a:endParaRPr lang="zh-TW" altLang="en-US"/>
          </a:p>
        </p:txBody>
      </p:sp>
      <p:sp>
        <p:nvSpPr>
          <p:cNvPr id="3" name="內容版面配置區 2"/>
          <p:cNvSpPr>
            <a:spLocks noGrp="1"/>
          </p:cNvSpPr>
          <p:nvPr>
            <p:ph idx="1"/>
          </p:nvPr>
        </p:nvSpPr>
        <p:spPr/>
        <p:txBody>
          <a:bodyPr/>
          <a:lstStyle/>
          <a:p>
            <a:r>
              <a:rPr lang="en-US" altLang="zh-TW"/>
              <a:t>A </a:t>
            </a:r>
            <a:r>
              <a:rPr lang="en-US" altLang="zh-TW" b="1"/>
              <a:t>1D image</a:t>
            </a:r>
            <a:r>
              <a:rPr lang="en-US" altLang="zh-TW"/>
              <a:t>, </a:t>
            </a:r>
            <a:r>
              <a:rPr lang="en-US" altLang="zh-TW" b="1"/>
              <a:t>1D image buffer, 1D image array</a:t>
            </a:r>
            <a:r>
              <a:rPr lang="en-US" altLang="zh-TW"/>
              <a:t>, </a:t>
            </a:r>
            <a:r>
              <a:rPr lang="en-US" altLang="zh-TW" b="1"/>
              <a:t>2D image</a:t>
            </a:r>
            <a:r>
              <a:rPr lang="en-US" altLang="zh-TW"/>
              <a:t>, </a:t>
            </a:r>
            <a:r>
              <a:rPr lang="en-US" altLang="zh-TW" b="1"/>
              <a:t>2D image array and 3D image object </a:t>
            </a:r>
            <a:r>
              <a:rPr lang="en-US" altLang="zh-TW"/>
              <a:t>can be created using the following function </a:t>
            </a:r>
            <a:endParaRPr lang="en-US" altLang="zh-TW" smtClean="0"/>
          </a:p>
          <a:p>
            <a:endParaRPr lang="en-US" altLang="zh-TW"/>
          </a:p>
          <a:p>
            <a:pPr marL="0" indent="0">
              <a:buNone/>
            </a:pPr>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017" y="2216854"/>
            <a:ext cx="7339914" cy="1790599"/>
          </a:xfrm>
          <a:prstGeom prst="rect">
            <a:avLst/>
          </a:prstGeom>
        </p:spPr>
      </p:pic>
      <p:sp>
        <p:nvSpPr>
          <p:cNvPr id="5" name="文字方塊 4"/>
          <p:cNvSpPr txBox="1"/>
          <p:nvPr/>
        </p:nvSpPr>
        <p:spPr>
          <a:xfrm>
            <a:off x="547817" y="4565564"/>
            <a:ext cx="8138983" cy="369332"/>
          </a:xfrm>
          <a:prstGeom prst="rect">
            <a:avLst/>
          </a:prstGeom>
          <a:noFill/>
        </p:spPr>
        <p:txBody>
          <a:bodyPr wrap="square" rtlCol="0" anchor="ctr" anchorCtr="1">
            <a:spAutoFit/>
          </a:bodyPr>
          <a:lstStyle/>
          <a:p>
            <a:r>
              <a:rPr lang="en-US" altLang="zh-TW" b="1" i="1"/>
              <a:t>context</a:t>
            </a:r>
            <a:r>
              <a:rPr lang="en-US" altLang="zh-TW" i="1"/>
              <a:t> </a:t>
            </a:r>
            <a:r>
              <a:rPr lang="en-US" altLang="zh-TW"/>
              <a:t>is a valid OpenCL context on which the image object is to be created </a:t>
            </a:r>
            <a:endParaRPr lang="zh-TW" altLang="en-US" dirty="0" smtClean="0">
              <a:ea typeface="標楷體" pitchFamily="65" charset="-120"/>
              <a:cs typeface="Calibri" pitchFamily="34" charset="0"/>
            </a:endParaRPr>
          </a:p>
        </p:txBody>
      </p:sp>
      <p:sp>
        <p:nvSpPr>
          <p:cNvPr id="6" name="矩形 5"/>
          <p:cNvSpPr/>
          <p:nvPr/>
        </p:nvSpPr>
        <p:spPr bwMode="auto">
          <a:xfrm>
            <a:off x="3945923" y="2380113"/>
            <a:ext cx="1713471" cy="272471"/>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344416870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Creating Image Objects </a:t>
            </a:r>
            <a:endParaRPr lang="zh-TW" altLang="en-US" dirty="0"/>
          </a:p>
        </p:txBody>
      </p:sp>
      <p:pic>
        <p:nvPicPr>
          <p:cNvPr id="6" name="圖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9071" y="1376594"/>
            <a:ext cx="7339914" cy="1790599"/>
          </a:xfrm>
          <a:prstGeom prst="rect">
            <a:avLst/>
          </a:prstGeom>
        </p:spPr>
      </p:pic>
      <p:sp>
        <p:nvSpPr>
          <p:cNvPr id="7" name="文字方塊 6"/>
          <p:cNvSpPr txBox="1"/>
          <p:nvPr/>
        </p:nvSpPr>
        <p:spPr>
          <a:xfrm>
            <a:off x="668510" y="3502783"/>
            <a:ext cx="8196649" cy="1754326"/>
          </a:xfrm>
          <a:prstGeom prst="rect">
            <a:avLst/>
          </a:prstGeom>
          <a:noFill/>
        </p:spPr>
        <p:txBody>
          <a:bodyPr wrap="square" rtlCol="0" anchor="ctr" anchorCtr="1">
            <a:spAutoFit/>
          </a:bodyPr>
          <a:lstStyle/>
          <a:p>
            <a:r>
              <a:rPr lang="en-US" altLang="zh-TW" b="1" i="1"/>
              <a:t>flags</a:t>
            </a:r>
            <a:r>
              <a:rPr lang="en-US" altLang="zh-TW" i="1"/>
              <a:t> </a:t>
            </a:r>
            <a:r>
              <a:rPr lang="en-US" altLang="zh-TW"/>
              <a:t>is a bit-field that is used to specify allocation and usage information about the image memory object being </a:t>
            </a:r>
            <a:r>
              <a:rPr lang="en-US" altLang="zh-TW" smtClean="0"/>
              <a:t>created</a:t>
            </a:r>
          </a:p>
          <a:p>
            <a:endParaRPr lang="en-US" altLang="zh-TW" smtClean="0"/>
          </a:p>
          <a:p>
            <a:endParaRPr lang="en-US" altLang="zh-TW"/>
          </a:p>
          <a:p>
            <a:r>
              <a:rPr lang="en-US" altLang="zh-TW" smtClean="0"/>
              <a:t>ex: </a:t>
            </a:r>
            <a:r>
              <a:rPr lang="en-US" altLang="zh-TW" b="1" smtClean="0"/>
              <a:t>CL_MEM_READ_WRITE</a:t>
            </a:r>
            <a:r>
              <a:rPr lang="zh-TW" altLang="en-US" b="1" smtClean="0"/>
              <a:t>，</a:t>
            </a:r>
            <a:r>
              <a:rPr lang="en-US" altLang="zh-TW" b="1"/>
              <a:t>CL_MEM_WRITE_ONLY </a:t>
            </a:r>
            <a:r>
              <a:rPr lang="en-US" altLang="zh-TW"/>
              <a:t>	</a:t>
            </a:r>
          </a:p>
          <a:p>
            <a:r>
              <a:rPr lang="en-US" altLang="zh-TW" smtClean="0"/>
              <a:t> </a:t>
            </a:r>
            <a:endParaRPr lang="zh-TW" altLang="en-US" dirty="0" smtClean="0">
              <a:ea typeface="標楷體" pitchFamily="65" charset="-120"/>
              <a:cs typeface="Calibri" pitchFamily="34" charset="0"/>
            </a:endParaRPr>
          </a:p>
        </p:txBody>
      </p:sp>
      <p:sp>
        <p:nvSpPr>
          <p:cNvPr id="8" name="矩形 7"/>
          <p:cNvSpPr/>
          <p:nvPr/>
        </p:nvSpPr>
        <p:spPr bwMode="auto">
          <a:xfrm>
            <a:off x="3731741" y="1804086"/>
            <a:ext cx="1853513" cy="255373"/>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145482609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Creating Image Objects </a:t>
            </a:r>
            <a:endParaRPr lang="zh-TW" altLang="en-US" dirty="0"/>
          </a:p>
        </p:txBody>
      </p:sp>
      <p:pic>
        <p:nvPicPr>
          <p:cNvPr id="6" name="圖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9071" y="1360118"/>
            <a:ext cx="7339914" cy="1790599"/>
          </a:xfrm>
          <a:prstGeom prst="rect">
            <a:avLst/>
          </a:prstGeom>
        </p:spPr>
      </p:pic>
      <p:sp>
        <p:nvSpPr>
          <p:cNvPr id="2" name="文字方塊 1"/>
          <p:cNvSpPr txBox="1"/>
          <p:nvPr/>
        </p:nvSpPr>
        <p:spPr>
          <a:xfrm>
            <a:off x="549063" y="3674222"/>
            <a:ext cx="8126626" cy="642405"/>
          </a:xfrm>
          <a:prstGeom prst="rect">
            <a:avLst/>
          </a:prstGeom>
          <a:noFill/>
        </p:spPr>
        <p:txBody>
          <a:bodyPr wrap="square" rtlCol="0" anchor="ctr" anchorCtr="1">
            <a:spAutoFit/>
          </a:bodyPr>
          <a:lstStyle/>
          <a:p>
            <a:r>
              <a:rPr lang="en-US" altLang="zh-TW" b="1" i="1" dirty="0" err="1"/>
              <a:t>image_format</a:t>
            </a:r>
            <a:r>
              <a:rPr lang="en-US" altLang="zh-TW" i="1" dirty="0"/>
              <a:t> </a:t>
            </a:r>
            <a:r>
              <a:rPr lang="en-US" altLang="zh-TW" dirty="0"/>
              <a:t>is a pointer to a structure that describes format properties of the image to be allocated.</a:t>
            </a:r>
            <a:endParaRPr lang="zh-TW" altLang="en-US" dirty="0" smtClean="0">
              <a:ea typeface="標楷體" pitchFamily="65" charset="-120"/>
              <a:cs typeface="Calibri" pitchFamily="34" charset="0"/>
            </a:endParaRPr>
          </a:p>
        </p:txBody>
      </p:sp>
      <p:sp>
        <p:nvSpPr>
          <p:cNvPr id="7" name="矩形 6"/>
          <p:cNvSpPr/>
          <p:nvPr/>
        </p:nvSpPr>
        <p:spPr bwMode="auto">
          <a:xfrm>
            <a:off x="3789405" y="2000044"/>
            <a:ext cx="3393989" cy="27359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pic>
        <p:nvPicPr>
          <p:cNvPr id="3" name="圖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1708" y="4667434"/>
            <a:ext cx="6771982" cy="1198974"/>
          </a:xfrm>
          <a:prstGeom prst="rect">
            <a:avLst/>
          </a:prstGeom>
        </p:spPr>
      </p:pic>
    </p:spTree>
    <p:extLst>
      <p:ext uri="{BB962C8B-B14F-4D97-AF65-F5344CB8AC3E}">
        <p14:creationId xmlns:p14="http://schemas.microsoft.com/office/powerpoint/2010/main" val="416197893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Creating Image Objects </a:t>
            </a:r>
            <a:endParaRPr lang="zh-TW" altLang="en-US" dirty="0"/>
          </a:p>
        </p:txBody>
      </p:sp>
      <p:pic>
        <p:nvPicPr>
          <p:cNvPr id="6" name="圖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9071" y="1360118"/>
            <a:ext cx="7339914" cy="1790599"/>
          </a:xfrm>
          <a:prstGeom prst="rect">
            <a:avLst/>
          </a:prstGeom>
        </p:spPr>
      </p:pic>
      <p:sp>
        <p:nvSpPr>
          <p:cNvPr id="7" name="矩形 6"/>
          <p:cNvSpPr/>
          <p:nvPr/>
        </p:nvSpPr>
        <p:spPr bwMode="auto">
          <a:xfrm>
            <a:off x="3707026" y="2255417"/>
            <a:ext cx="3393989" cy="27359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2" name="文字方塊 1"/>
          <p:cNvSpPr txBox="1"/>
          <p:nvPr/>
        </p:nvSpPr>
        <p:spPr>
          <a:xfrm>
            <a:off x="1128585" y="4046016"/>
            <a:ext cx="7010400" cy="646331"/>
          </a:xfrm>
          <a:prstGeom prst="rect">
            <a:avLst/>
          </a:prstGeom>
          <a:noFill/>
        </p:spPr>
        <p:txBody>
          <a:bodyPr wrap="square" rtlCol="0" anchor="ctr" anchorCtr="1">
            <a:spAutoFit/>
          </a:bodyPr>
          <a:lstStyle/>
          <a:p>
            <a:r>
              <a:rPr lang="en-US" altLang="zh-TW" b="1" i="1" dirty="0" err="1"/>
              <a:t>image_desc</a:t>
            </a:r>
            <a:r>
              <a:rPr lang="en-US" altLang="zh-TW" i="1" dirty="0"/>
              <a:t> </a:t>
            </a:r>
            <a:r>
              <a:rPr lang="en-US" altLang="zh-TW" dirty="0"/>
              <a:t>is a pointer to a structure that describes type and dimensions of the image to be allocated. </a:t>
            </a:r>
            <a:endParaRPr lang="zh-TW" altLang="en-US" dirty="0" smtClean="0">
              <a:ea typeface="標楷體" pitchFamily="65" charset="-120"/>
              <a:cs typeface="Calibri" pitchFamily="34" charset="0"/>
            </a:endParaRPr>
          </a:p>
        </p:txBody>
      </p:sp>
    </p:spTree>
    <p:extLst>
      <p:ext uri="{BB962C8B-B14F-4D97-AF65-F5344CB8AC3E}">
        <p14:creationId xmlns:p14="http://schemas.microsoft.com/office/powerpoint/2010/main" val="244008265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Creating Image Objects </a:t>
            </a:r>
            <a:endParaRPr lang="zh-TW" altLang="en-US" dirty="0"/>
          </a:p>
        </p:txBody>
      </p:sp>
      <p:pic>
        <p:nvPicPr>
          <p:cNvPr id="6" name="圖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9071" y="1360118"/>
            <a:ext cx="7339914" cy="1790599"/>
          </a:xfrm>
          <a:prstGeom prst="rect">
            <a:avLst/>
          </a:prstGeom>
        </p:spPr>
      </p:pic>
      <p:sp>
        <p:nvSpPr>
          <p:cNvPr id="7" name="矩形 6"/>
          <p:cNvSpPr/>
          <p:nvPr/>
        </p:nvSpPr>
        <p:spPr bwMode="auto">
          <a:xfrm>
            <a:off x="3690550" y="2510790"/>
            <a:ext cx="3393989" cy="27359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2" name="文字方塊 1"/>
          <p:cNvSpPr txBox="1"/>
          <p:nvPr/>
        </p:nvSpPr>
        <p:spPr>
          <a:xfrm>
            <a:off x="1054443" y="3536261"/>
            <a:ext cx="7232821" cy="646331"/>
          </a:xfrm>
          <a:prstGeom prst="rect">
            <a:avLst/>
          </a:prstGeom>
          <a:noFill/>
        </p:spPr>
        <p:txBody>
          <a:bodyPr wrap="square" rtlCol="0" anchor="ctr" anchorCtr="1">
            <a:spAutoFit/>
          </a:bodyPr>
          <a:lstStyle/>
          <a:p>
            <a:r>
              <a:rPr lang="en-US" altLang="zh-TW" b="1" i="1" dirty="0" err="1">
                <a:ea typeface="標楷體" pitchFamily="65" charset="-120"/>
                <a:cs typeface="Calibri" pitchFamily="34" charset="0"/>
              </a:rPr>
              <a:t>host_ptr</a:t>
            </a:r>
            <a:r>
              <a:rPr lang="en-US" altLang="zh-TW" dirty="0">
                <a:ea typeface="標楷體" pitchFamily="65" charset="-120"/>
                <a:cs typeface="Calibri" pitchFamily="34" charset="0"/>
              </a:rPr>
              <a:t> is a pointer to the image data that may already be allocated by the application</a:t>
            </a:r>
            <a:endParaRPr lang="zh-TW" altLang="en-US" dirty="0" smtClean="0">
              <a:ea typeface="標楷體" pitchFamily="65" charset="-120"/>
              <a:cs typeface="Calibri" pitchFamily="34" charset="0"/>
            </a:endParaRPr>
          </a:p>
        </p:txBody>
      </p:sp>
      <p:pic>
        <p:nvPicPr>
          <p:cNvPr id="8" name="圖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6923" y="4370351"/>
            <a:ext cx="6048766" cy="1526816"/>
          </a:xfrm>
          <a:prstGeom prst="rect">
            <a:avLst/>
          </a:prstGeom>
        </p:spPr>
      </p:pic>
    </p:spTree>
    <p:extLst>
      <p:ext uri="{BB962C8B-B14F-4D97-AF65-F5344CB8AC3E}">
        <p14:creationId xmlns:p14="http://schemas.microsoft.com/office/powerpoint/2010/main" val="214401773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Querying List of Supported Image Formats</a:t>
            </a:r>
            <a:endParaRPr lang="zh-TW" altLang="en-US" dirty="0"/>
          </a:p>
        </p:txBody>
      </p:sp>
      <p:pic>
        <p:nvPicPr>
          <p:cNvPr id="2" name="內容版面配置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2454" y="1075792"/>
            <a:ext cx="8229600" cy="1996769"/>
          </a:xfrm>
        </p:spPr>
      </p:pic>
      <p:sp>
        <p:nvSpPr>
          <p:cNvPr id="3" name="文字方塊 2"/>
          <p:cNvSpPr txBox="1"/>
          <p:nvPr/>
        </p:nvSpPr>
        <p:spPr>
          <a:xfrm>
            <a:off x="972065" y="3311740"/>
            <a:ext cx="6829167" cy="923330"/>
          </a:xfrm>
          <a:prstGeom prst="rect">
            <a:avLst/>
          </a:prstGeom>
          <a:noFill/>
        </p:spPr>
        <p:txBody>
          <a:bodyPr wrap="square" rtlCol="0" anchor="ctr" anchorCtr="1">
            <a:spAutoFit/>
          </a:bodyPr>
          <a:lstStyle/>
          <a:p>
            <a:r>
              <a:rPr lang="en-US" altLang="zh-TW" dirty="0"/>
              <a:t>to get the list of image formats supported by an </a:t>
            </a:r>
            <a:r>
              <a:rPr lang="en-US" altLang="zh-TW" dirty="0" err="1"/>
              <a:t>OpenCL</a:t>
            </a:r>
            <a:r>
              <a:rPr lang="en-US" altLang="zh-TW" dirty="0"/>
              <a:t> implementation when the following information about an image memory object is specified: </a:t>
            </a:r>
            <a:endParaRPr lang="zh-TW" altLang="en-US" dirty="0" smtClean="0">
              <a:ea typeface="標楷體" pitchFamily="65" charset="-120"/>
              <a:cs typeface="Calibri" pitchFamily="34" charset="0"/>
            </a:endParaRPr>
          </a:p>
        </p:txBody>
      </p:sp>
      <p:sp>
        <p:nvSpPr>
          <p:cNvPr id="6" name="文字方塊 5"/>
          <p:cNvSpPr txBox="1"/>
          <p:nvPr/>
        </p:nvSpPr>
        <p:spPr>
          <a:xfrm>
            <a:off x="181233" y="4451422"/>
            <a:ext cx="9094572" cy="1200329"/>
          </a:xfrm>
          <a:prstGeom prst="rect">
            <a:avLst/>
          </a:prstGeom>
          <a:noFill/>
        </p:spPr>
        <p:txBody>
          <a:bodyPr wrap="square" rtlCol="0" anchor="ctr" anchorCtr="1">
            <a:spAutoFit/>
          </a:bodyPr>
          <a:lstStyle/>
          <a:p>
            <a:pPr marL="285750" indent="-285750">
              <a:lnSpc>
                <a:spcPct val="150000"/>
              </a:lnSpc>
              <a:buFont typeface="Wingdings" panose="05000000000000000000" pitchFamily="2" charset="2"/>
              <a:buChar char="n"/>
            </a:pPr>
            <a:r>
              <a:rPr lang="en-US" altLang="zh-TW" sz="1600" b="1" dirty="0" smtClean="0">
                <a:ea typeface="標楷體" pitchFamily="65" charset="-120"/>
                <a:cs typeface="Calibri" pitchFamily="34" charset="0"/>
              </a:rPr>
              <a:t>Context</a:t>
            </a:r>
          </a:p>
          <a:p>
            <a:pPr marL="285750" indent="-285750">
              <a:lnSpc>
                <a:spcPct val="150000"/>
              </a:lnSpc>
              <a:buFont typeface="Wingdings" panose="05000000000000000000" pitchFamily="2" charset="2"/>
              <a:buChar char="n"/>
            </a:pPr>
            <a:r>
              <a:rPr lang="en-US" altLang="zh-TW" sz="1600" b="1" dirty="0" smtClean="0">
                <a:ea typeface="標楷體" pitchFamily="65" charset="-120"/>
                <a:cs typeface="Calibri" pitchFamily="34" charset="0"/>
              </a:rPr>
              <a:t>Image type</a:t>
            </a:r>
            <a:r>
              <a:rPr lang="en-US" altLang="zh-TW" sz="1600" dirty="0" smtClean="0">
                <a:ea typeface="標楷體" pitchFamily="65" charset="-120"/>
                <a:cs typeface="Calibri" pitchFamily="34" charset="0"/>
              </a:rPr>
              <a:t> </a:t>
            </a:r>
            <a:r>
              <a:rPr lang="en-US" altLang="zh-TW" sz="1600" dirty="0" smtClean="0"/>
              <a:t>– </a:t>
            </a:r>
            <a:r>
              <a:rPr lang="en-US" altLang="zh-TW" sz="1600" dirty="0"/>
              <a:t>1D, 2D, or 3D image, 1D image buffer, 1D or 2D image array. </a:t>
            </a:r>
            <a:endParaRPr lang="en-US" altLang="zh-TW" sz="1600" dirty="0" smtClean="0">
              <a:ea typeface="標楷體" pitchFamily="65" charset="-120"/>
              <a:cs typeface="Calibri" pitchFamily="34" charset="0"/>
            </a:endParaRPr>
          </a:p>
          <a:p>
            <a:pPr marL="285750" indent="-285750">
              <a:lnSpc>
                <a:spcPct val="150000"/>
              </a:lnSpc>
              <a:buFont typeface="Wingdings" panose="05000000000000000000" pitchFamily="2" charset="2"/>
              <a:buChar char="n"/>
            </a:pPr>
            <a:r>
              <a:rPr lang="en-US" altLang="zh-TW" sz="1600" b="1" dirty="0" smtClean="0">
                <a:ea typeface="標楷體" pitchFamily="65" charset="-120"/>
                <a:cs typeface="Calibri" pitchFamily="34" charset="0"/>
              </a:rPr>
              <a:t>Image Object allocation information</a:t>
            </a:r>
            <a:endParaRPr lang="zh-TW" altLang="en-US" sz="1600" b="1" dirty="0" smtClean="0">
              <a:ea typeface="標楷體" pitchFamily="65" charset="-120"/>
              <a:cs typeface="Calibri" pitchFamily="34" charset="0"/>
            </a:endParaRPr>
          </a:p>
        </p:txBody>
      </p:sp>
    </p:spTree>
    <p:extLst>
      <p:ext uri="{BB962C8B-B14F-4D97-AF65-F5344CB8AC3E}">
        <p14:creationId xmlns:p14="http://schemas.microsoft.com/office/powerpoint/2010/main" val="335449069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Querying List of Supported Image Formats</a:t>
            </a:r>
            <a:endParaRPr lang="zh-TW" altLang="en-US" dirty="0"/>
          </a:p>
        </p:txBody>
      </p:sp>
      <p:pic>
        <p:nvPicPr>
          <p:cNvPr id="2" name="內容版面配置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8314" y="1100505"/>
            <a:ext cx="8229600" cy="1996769"/>
          </a:xfrm>
        </p:spPr>
      </p:pic>
      <p:sp>
        <p:nvSpPr>
          <p:cNvPr id="3" name="文字方塊 2"/>
          <p:cNvSpPr txBox="1"/>
          <p:nvPr/>
        </p:nvSpPr>
        <p:spPr>
          <a:xfrm>
            <a:off x="1075037" y="3529567"/>
            <a:ext cx="6862119" cy="923330"/>
          </a:xfrm>
          <a:prstGeom prst="rect">
            <a:avLst/>
          </a:prstGeom>
          <a:noFill/>
        </p:spPr>
        <p:txBody>
          <a:bodyPr wrap="square" rtlCol="0" anchor="ctr" anchorCtr="1">
            <a:spAutoFit/>
          </a:bodyPr>
          <a:lstStyle/>
          <a:p>
            <a:r>
              <a:rPr lang="en-US" altLang="zh-TW" b="1" i="1" dirty="0" err="1"/>
              <a:t>num_entries</a:t>
            </a:r>
            <a:r>
              <a:rPr lang="en-US" altLang="zh-TW" i="1" dirty="0"/>
              <a:t> </a:t>
            </a:r>
            <a:endParaRPr lang="en-US" altLang="zh-TW" i="1" dirty="0" smtClean="0"/>
          </a:p>
          <a:p>
            <a:pPr lvl="1"/>
            <a:r>
              <a:rPr lang="en-US" altLang="zh-TW" dirty="0" smtClean="0"/>
              <a:t>specifies </a:t>
            </a:r>
            <a:r>
              <a:rPr lang="en-US" altLang="zh-TW" dirty="0"/>
              <a:t>the number of entries that can be returned in the memory location given by </a:t>
            </a:r>
            <a:r>
              <a:rPr lang="en-US" altLang="zh-TW" i="1" dirty="0" err="1"/>
              <a:t>image_formats</a:t>
            </a:r>
            <a:r>
              <a:rPr lang="en-US" altLang="zh-TW" dirty="0"/>
              <a:t>. </a:t>
            </a:r>
            <a:endParaRPr lang="zh-TW" altLang="en-US" dirty="0" smtClean="0">
              <a:ea typeface="標楷體" pitchFamily="65" charset="-120"/>
              <a:cs typeface="Calibri" pitchFamily="34" charset="0"/>
            </a:endParaRPr>
          </a:p>
        </p:txBody>
      </p:sp>
      <p:sp>
        <p:nvSpPr>
          <p:cNvPr id="6" name="矩形 5"/>
          <p:cNvSpPr/>
          <p:nvPr/>
        </p:nvSpPr>
        <p:spPr bwMode="auto">
          <a:xfrm>
            <a:off x="4390767" y="2230704"/>
            <a:ext cx="3393989" cy="27359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253441109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Querying List of Supported Image Formats</a:t>
            </a:r>
            <a:endParaRPr lang="zh-TW" altLang="en-US" dirty="0"/>
          </a:p>
        </p:txBody>
      </p:sp>
      <p:pic>
        <p:nvPicPr>
          <p:cNvPr id="2" name="內容版面配置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8314" y="1199359"/>
            <a:ext cx="8229600" cy="1996769"/>
          </a:xfrm>
        </p:spPr>
      </p:pic>
      <p:sp>
        <p:nvSpPr>
          <p:cNvPr id="6" name="矩形 5"/>
          <p:cNvSpPr/>
          <p:nvPr/>
        </p:nvSpPr>
        <p:spPr bwMode="auto">
          <a:xfrm>
            <a:off x="4583114" y="2576693"/>
            <a:ext cx="3393989" cy="27359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3" name="文字方塊 2"/>
          <p:cNvSpPr txBox="1"/>
          <p:nvPr/>
        </p:nvSpPr>
        <p:spPr>
          <a:xfrm>
            <a:off x="468314" y="3857593"/>
            <a:ext cx="8353168" cy="1231106"/>
          </a:xfrm>
          <a:prstGeom prst="rect">
            <a:avLst/>
          </a:prstGeom>
          <a:noFill/>
        </p:spPr>
        <p:txBody>
          <a:bodyPr wrap="square" rtlCol="0" anchor="ctr" anchorCtr="1">
            <a:spAutoFit/>
          </a:bodyPr>
          <a:lstStyle/>
          <a:p>
            <a:r>
              <a:rPr lang="en-US" altLang="zh-TW" sz="2000" b="1" i="1" dirty="0" err="1"/>
              <a:t>image_formats</a:t>
            </a:r>
            <a:r>
              <a:rPr lang="en-US" altLang="zh-TW" b="1" i="1" dirty="0"/>
              <a:t> </a:t>
            </a:r>
            <a:endParaRPr lang="en-US" altLang="zh-TW" b="1" i="1" dirty="0" smtClean="0"/>
          </a:p>
          <a:p>
            <a:pPr lvl="1"/>
            <a:r>
              <a:rPr lang="en-US" altLang="zh-TW" dirty="0" smtClean="0"/>
              <a:t>is </a:t>
            </a:r>
            <a:r>
              <a:rPr lang="en-US" altLang="zh-TW" dirty="0"/>
              <a:t>a pointer to a memory location where the list of supported image formats are returned. Each entry describes a </a:t>
            </a:r>
            <a:r>
              <a:rPr lang="en-US" altLang="zh-TW" i="1" dirty="0" err="1"/>
              <a:t>cl_image_format</a:t>
            </a:r>
            <a:r>
              <a:rPr lang="en-US" altLang="zh-TW" i="1" dirty="0"/>
              <a:t> </a:t>
            </a:r>
            <a:r>
              <a:rPr lang="en-US" altLang="zh-TW" dirty="0"/>
              <a:t>structure supported by the </a:t>
            </a:r>
            <a:r>
              <a:rPr lang="en-US" altLang="zh-TW" dirty="0" err="1"/>
              <a:t>OpenCL</a:t>
            </a:r>
            <a:r>
              <a:rPr lang="en-US" altLang="zh-TW" dirty="0"/>
              <a:t> implementation. If </a:t>
            </a:r>
            <a:r>
              <a:rPr lang="en-US" altLang="zh-TW" i="1" dirty="0" err="1"/>
              <a:t>image_formats</a:t>
            </a:r>
            <a:r>
              <a:rPr lang="en-US" altLang="zh-TW" i="1" dirty="0"/>
              <a:t> </a:t>
            </a:r>
            <a:r>
              <a:rPr lang="en-US" altLang="zh-TW" dirty="0"/>
              <a:t>is NULL, it is ignored. </a:t>
            </a:r>
            <a:endParaRPr lang="zh-TW" altLang="en-US" dirty="0" smtClean="0">
              <a:ea typeface="標楷體" pitchFamily="65" charset="-120"/>
              <a:cs typeface="Calibri" pitchFamily="34" charset="0"/>
            </a:endParaRPr>
          </a:p>
        </p:txBody>
      </p:sp>
    </p:spTree>
    <p:extLst>
      <p:ext uri="{BB962C8B-B14F-4D97-AF65-F5344CB8AC3E}">
        <p14:creationId xmlns:p14="http://schemas.microsoft.com/office/powerpoint/2010/main" val="247264832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Querying List of Supported Image Formats</a:t>
            </a:r>
            <a:endParaRPr lang="zh-TW" altLang="en-US" dirty="0"/>
          </a:p>
        </p:txBody>
      </p:sp>
      <p:pic>
        <p:nvPicPr>
          <p:cNvPr id="2" name="內容版面配置區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1" y="1125219"/>
            <a:ext cx="8229600" cy="1996769"/>
          </a:xfrm>
        </p:spPr>
      </p:pic>
      <p:pic>
        <p:nvPicPr>
          <p:cNvPr id="6" name="內容版面配置區 1"/>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457201" y="1289975"/>
            <a:ext cx="8229600" cy="1996769"/>
          </a:xfrm>
          <a:prstGeom prst="rect">
            <a:avLst/>
          </a:prstGeom>
          <a:noFill/>
          <a:ln w="9525">
            <a:noFill/>
            <a:miter lim="800000"/>
            <a:headEnd/>
            <a:tailEnd/>
          </a:ln>
        </p:spPr>
      </p:pic>
      <p:sp>
        <p:nvSpPr>
          <p:cNvPr id="7" name="矩形 6"/>
          <p:cNvSpPr/>
          <p:nvPr/>
        </p:nvSpPr>
        <p:spPr bwMode="auto">
          <a:xfrm>
            <a:off x="4572001" y="2930767"/>
            <a:ext cx="3393989" cy="27359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3" name="文字方塊 2"/>
          <p:cNvSpPr txBox="1"/>
          <p:nvPr/>
        </p:nvSpPr>
        <p:spPr>
          <a:xfrm>
            <a:off x="313038" y="3921828"/>
            <a:ext cx="8542639" cy="923330"/>
          </a:xfrm>
          <a:prstGeom prst="rect">
            <a:avLst/>
          </a:prstGeom>
          <a:noFill/>
        </p:spPr>
        <p:txBody>
          <a:bodyPr wrap="square" rtlCol="0" anchor="ctr" anchorCtr="1">
            <a:spAutoFit/>
          </a:bodyPr>
          <a:lstStyle/>
          <a:p>
            <a:r>
              <a:rPr lang="en-US" altLang="zh-TW" b="1" i="1" dirty="0" err="1"/>
              <a:t>num_image_formats</a:t>
            </a:r>
            <a:r>
              <a:rPr lang="en-US" altLang="zh-TW" i="1" dirty="0"/>
              <a:t> </a:t>
            </a:r>
            <a:endParaRPr lang="en-US" altLang="zh-TW" i="1" dirty="0" smtClean="0"/>
          </a:p>
          <a:p>
            <a:pPr lvl="1"/>
            <a:r>
              <a:rPr lang="en-US" altLang="zh-TW" dirty="0" smtClean="0"/>
              <a:t>is </a:t>
            </a:r>
            <a:r>
              <a:rPr lang="en-US" altLang="zh-TW" dirty="0"/>
              <a:t>the actual number of supported image formats for a specific </a:t>
            </a:r>
            <a:r>
              <a:rPr lang="en-US" altLang="zh-TW" i="1" dirty="0"/>
              <a:t>context </a:t>
            </a:r>
            <a:r>
              <a:rPr lang="en-US" altLang="zh-TW" dirty="0"/>
              <a:t>and values specified by </a:t>
            </a:r>
            <a:r>
              <a:rPr lang="en-US" altLang="zh-TW" i="1" dirty="0" smtClean="0"/>
              <a:t>flags</a:t>
            </a:r>
            <a:r>
              <a:rPr lang="en-US" altLang="zh-TW" dirty="0" smtClean="0"/>
              <a:t>. If </a:t>
            </a:r>
            <a:r>
              <a:rPr lang="en-US" altLang="zh-TW" i="1" dirty="0" err="1"/>
              <a:t>num_image_formats</a:t>
            </a:r>
            <a:r>
              <a:rPr lang="en-US" altLang="zh-TW" i="1" dirty="0"/>
              <a:t> </a:t>
            </a:r>
            <a:r>
              <a:rPr lang="en-US" altLang="zh-TW" dirty="0"/>
              <a:t>is NULL, it is ignored. </a:t>
            </a:r>
            <a:endParaRPr lang="zh-TW" altLang="en-US" dirty="0" smtClean="0">
              <a:ea typeface="標楷體" pitchFamily="65" charset="-120"/>
              <a:cs typeface="Calibri" pitchFamily="34" charset="0"/>
            </a:endParaRPr>
          </a:p>
        </p:txBody>
      </p:sp>
    </p:spTree>
    <p:extLst>
      <p:ext uri="{BB962C8B-B14F-4D97-AF65-F5344CB8AC3E}">
        <p14:creationId xmlns:p14="http://schemas.microsoft.com/office/powerpoint/2010/main" val="23250592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649546" y="119750"/>
            <a:ext cx="8207375" cy="692150"/>
          </a:xfrm>
        </p:spPr>
        <p:txBody>
          <a:bodyPr/>
          <a:lstStyle/>
          <a:p>
            <a:r>
              <a:rPr lang="en-US" altLang="zh-TW" dirty="0"/>
              <a:t>Image format mapping to </a:t>
            </a:r>
            <a:r>
              <a:rPr lang="en-US" altLang="zh-TW" dirty="0" err="1"/>
              <a:t>OpenCL</a:t>
            </a:r>
            <a:r>
              <a:rPr lang="en-US" altLang="zh-TW" dirty="0"/>
              <a:t> </a:t>
            </a:r>
            <a:r>
              <a:rPr lang="en-US" altLang="zh-TW" dirty="0" smtClean="0"/>
              <a:t>C</a:t>
            </a:r>
            <a:br>
              <a:rPr lang="en-US" altLang="zh-TW" dirty="0" smtClean="0"/>
            </a:br>
            <a:r>
              <a:rPr lang="en-US" altLang="zh-TW" dirty="0" smtClean="0"/>
              <a:t> </a:t>
            </a:r>
            <a:r>
              <a:rPr lang="en-US" altLang="zh-TW" dirty="0"/>
              <a:t>image access qualifiers</a:t>
            </a:r>
            <a:endParaRPr lang="zh-TW" altLang="en-US" dirty="0"/>
          </a:p>
        </p:txBody>
      </p:sp>
      <p:pic>
        <p:nvPicPr>
          <p:cNvPr id="6" name="內容版面配置區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70817" y="2927688"/>
            <a:ext cx="6336464" cy="2274226"/>
          </a:xfrm>
        </p:spPr>
      </p:pic>
      <p:sp>
        <p:nvSpPr>
          <p:cNvPr id="7" name="文字方塊 6"/>
          <p:cNvSpPr txBox="1"/>
          <p:nvPr/>
        </p:nvSpPr>
        <p:spPr>
          <a:xfrm>
            <a:off x="0" y="1502864"/>
            <a:ext cx="9275806" cy="923330"/>
          </a:xfrm>
          <a:prstGeom prst="rect">
            <a:avLst/>
          </a:prstGeom>
          <a:noFill/>
        </p:spPr>
        <p:txBody>
          <a:bodyPr wrap="square" rtlCol="0" anchor="ctr" anchorCtr="1">
            <a:spAutoFit/>
          </a:bodyPr>
          <a:lstStyle/>
          <a:p>
            <a:r>
              <a:rPr lang="en-US" altLang="zh-TW" dirty="0" smtClean="0"/>
              <a:t>           For </a:t>
            </a:r>
            <a:r>
              <a:rPr lang="en-US" altLang="zh-TW" dirty="0"/>
              <a:t>each access qualifier, only images whose format is in the list of formats returned by </a:t>
            </a:r>
            <a:r>
              <a:rPr lang="en-US" altLang="zh-TW" b="1" dirty="0" err="1"/>
              <a:t>clGetSupportedImageFormats</a:t>
            </a:r>
            <a:r>
              <a:rPr lang="en-US" altLang="zh-TW" dirty="0"/>
              <a:t> with the given flag arguments </a:t>
            </a:r>
            <a:endParaRPr lang="en-US" altLang="zh-TW" dirty="0" smtClean="0"/>
          </a:p>
          <a:p>
            <a:r>
              <a:rPr lang="en-US" altLang="zh-TW" dirty="0" smtClean="0"/>
              <a:t>in </a:t>
            </a:r>
            <a:r>
              <a:rPr lang="en-US" altLang="zh-TW" i="1" dirty="0"/>
              <a:t>table </a:t>
            </a:r>
            <a:r>
              <a:rPr lang="en-US" altLang="zh-TW" i="1" dirty="0" smtClean="0"/>
              <a:t>below </a:t>
            </a:r>
            <a:r>
              <a:rPr lang="en-US" altLang="zh-TW" dirty="0"/>
              <a:t>are permitted. </a:t>
            </a:r>
            <a:endParaRPr lang="zh-TW" altLang="en-US" dirty="0" smtClean="0">
              <a:ea typeface="標楷體" pitchFamily="65" charset="-120"/>
              <a:cs typeface="Calibri" pitchFamily="34" charset="0"/>
            </a:endParaRPr>
          </a:p>
        </p:txBody>
      </p:sp>
    </p:spTree>
    <p:extLst>
      <p:ext uri="{BB962C8B-B14F-4D97-AF65-F5344CB8AC3E}">
        <p14:creationId xmlns:p14="http://schemas.microsoft.com/office/powerpoint/2010/main" val="233431504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smtClean="0"/>
              <a:t>Reading Image </a:t>
            </a:r>
            <a:r>
              <a:rPr lang="en-US" altLang="zh-TW" dirty="0"/>
              <a:t>Objects </a:t>
            </a:r>
            <a:endParaRPr lang="zh-TW" altLang="en-US" dirty="0"/>
          </a:p>
        </p:txBody>
      </p:sp>
      <p:pic>
        <p:nvPicPr>
          <p:cNvPr id="6" name="內容版面配置區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8314" y="1279870"/>
            <a:ext cx="6137350" cy="2726074"/>
          </a:xfrm>
        </p:spPr>
      </p:pic>
      <p:sp>
        <p:nvSpPr>
          <p:cNvPr id="7" name="文字方塊 6"/>
          <p:cNvSpPr txBox="1"/>
          <p:nvPr/>
        </p:nvSpPr>
        <p:spPr>
          <a:xfrm>
            <a:off x="940526" y="4224384"/>
            <a:ext cx="6888480" cy="1200329"/>
          </a:xfrm>
          <a:prstGeom prst="rect">
            <a:avLst/>
          </a:prstGeom>
          <a:noFill/>
        </p:spPr>
        <p:txBody>
          <a:bodyPr wrap="square" rtlCol="0" anchor="ctr" anchorCtr="1">
            <a:spAutoFit/>
          </a:bodyPr>
          <a:lstStyle/>
          <a:p>
            <a:r>
              <a:rPr lang="en-US" altLang="zh-TW" b="1" i="1" dirty="0" err="1">
                <a:ea typeface="標楷體" pitchFamily="65" charset="-120"/>
                <a:cs typeface="Calibri" pitchFamily="34" charset="0"/>
              </a:rPr>
              <a:t>command_queue</a:t>
            </a:r>
            <a:r>
              <a:rPr lang="en-US" altLang="zh-TW" dirty="0">
                <a:ea typeface="標楷體" pitchFamily="65" charset="-120"/>
                <a:cs typeface="Calibri" pitchFamily="34" charset="0"/>
              </a:rPr>
              <a:t> </a:t>
            </a:r>
            <a:endParaRPr lang="en-US" altLang="zh-TW" dirty="0" smtClean="0">
              <a:ea typeface="標楷體" pitchFamily="65" charset="-120"/>
              <a:cs typeface="Calibri" pitchFamily="34" charset="0"/>
            </a:endParaRPr>
          </a:p>
          <a:p>
            <a:pPr lvl="1"/>
            <a:r>
              <a:rPr lang="en-US" altLang="zh-TW" dirty="0" smtClean="0">
                <a:ea typeface="標楷體" pitchFamily="65" charset="-120"/>
                <a:cs typeface="Calibri" pitchFamily="34" charset="0"/>
              </a:rPr>
              <a:t>refers </a:t>
            </a:r>
            <a:r>
              <a:rPr lang="en-US" altLang="zh-TW" dirty="0">
                <a:ea typeface="標楷體" pitchFamily="65" charset="-120"/>
                <a:cs typeface="Calibri" pitchFamily="34" charset="0"/>
              </a:rPr>
              <a:t>to the host command-queue in which the read / write command will be queued. </a:t>
            </a:r>
            <a:r>
              <a:rPr lang="en-US" altLang="zh-TW" dirty="0" err="1">
                <a:ea typeface="標楷體" pitchFamily="65" charset="-120"/>
                <a:cs typeface="Calibri" pitchFamily="34" charset="0"/>
              </a:rPr>
              <a:t>command_queue</a:t>
            </a:r>
            <a:r>
              <a:rPr lang="en-US" altLang="zh-TW" dirty="0">
                <a:ea typeface="標楷體" pitchFamily="65" charset="-120"/>
                <a:cs typeface="Calibri" pitchFamily="34" charset="0"/>
              </a:rPr>
              <a:t> and image must be created with the same </a:t>
            </a:r>
            <a:r>
              <a:rPr lang="en-US" altLang="zh-TW" dirty="0" err="1">
                <a:ea typeface="標楷體" pitchFamily="65" charset="-120"/>
                <a:cs typeface="Calibri" pitchFamily="34" charset="0"/>
              </a:rPr>
              <a:t>OpenCL</a:t>
            </a:r>
            <a:r>
              <a:rPr lang="en-US" altLang="zh-TW" dirty="0">
                <a:ea typeface="標楷體" pitchFamily="65" charset="-120"/>
                <a:cs typeface="Calibri" pitchFamily="34" charset="0"/>
              </a:rPr>
              <a:t> context.</a:t>
            </a:r>
            <a:endParaRPr lang="zh-TW" altLang="en-US" dirty="0" smtClean="0">
              <a:ea typeface="標楷體" pitchFamily="65" charset="-120"/>
              <a:cs typeface="Calibri" pitchFamily="34" charset="0"/>
            </a:endParaRPr>
          </a:p>
        </p:txBody>
      </p:sp>
      <p:sp>
        <p:nvSpPr>
          <p:cNvPr id="8" name="矩形 7"/>
          <p:cNvSpPr/>
          <p:nvPr/>
        </p:nvSpPr>
        <p:spPr bwMode="auto">
          <a:xfrm>
            <a:off x="3248296" y="1375954"/>
            <a:ext cx="3117670" cy="243840"/>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366765212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Reading Image Objects </a:t>
            </a:r>
            <a:endParaRPr lang="zh-TW" altLang="en-US" dirty="0"/>
          </a:p>
        </p:txBody>
      </p:sp>
      <p:pic>
        <p:nvPicPr>
          <p:cNvPr id="6" name="內容版面配置區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99536" y="1262453"/>
            <a:ext cx="6137350" cy="2726074"/>
          </a:xfrm>
        </p:spPr>
      </p:pic>
      <p:sp>
        <p:nvSpPr>
          <p:cNvPr id="7" name="矩形 6"/>
          <p:cNvSpPr/>
          <p:nvPr/>
        </p:nvSpPr>
        <p:spPr bwMode="auto">
          <a:xfrm>
            <a:off x="3762102" y="1828800"/>
            <a:ext cx="3117670" cy="243840"/>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8" name="文字方塊 7"/>
          <p:cNvSpPr txBox="1"/>
          <p:nvPr/>
        </p:nvSpPr>
        <p:spPr>
          <a:xfrm>
            <a:off x="999536" y="4414367"/>
            <a:ext cx="7029767" cy="646331"/>
          </a:xfrm>
          <a:prstGeom prst="rect">
            <a:avLst/>
          </a:prstGeom>
          <a:noFill/>
        </p:spPr>
        <p:txBody>
          <a:bodyPr wrap="square" rtlCol="0" anchor="ctr" anchorCtr="1">
            <a:spAutoFit/>
          </a:bodyPr>
          <a:lstStyle/>
          <a:p>
            <a:r>
              <a:rPr lang="en-US" altLang="zh-TW" b="1" i="1" dirty="0" err="1"/>
              <a:t>blocking_read</a:t>
            </a:r>
            <a:r>
              <a:rPr lang="en-US" altLang="zh-TW" i="1" dirty="0"/>
              <a:t> </a:t>
            </a:r>
            <a:r>
              <a:rPr lang="en-US" altLang="zh-TW" dirty="0" smtClean="0"/>
              <a:t>indicate </a:t>
            </a:r>
            <a:r>
              <a:rPr lang="en-US" altLang="zh-TW" dirty="0"/>
              <a:t>if the read and write operations are </a:t>
            </a:r>
            <a:r>
              <a:rPr lang="en-US" altLang="zh-TW" i="1" dirty="0"/>
              <a:t>blocking </a:t>
            </a:r>
            <a:r>
              <a:rPr lang="en-US" altLang="zh-TW" dirty="0"/>
              <a:t>or </a:t>
            </a:r>
            <a:r>
              <a:rPr lang="en-US" altLang="zh-TW" i="1" dirty="0"/>
              <a:t>non-blocking</a:t>
            </a:r>
            <a:r>
              <a:rPr lang="en-US" altLang="zh-TW" dirty="0"/>
              <a:t>. </a:t>
            </a:r>
            <a:endParaRPr lang="zh-TW" altLang="en-US" dirty="0" smtClean="0">
              <a:ea typeface="標楷體" pitchFamily="65" charset="-120"/>
              <a:cs typeface="Calibri" pitchFamily="34" charset="0"/>
            </a:endParaRPr>
          </a:p>
        </p:txBody>
      </p:sp>
      <p:pic>
        <p:nvPicPr>
          <p:cNvPr id="9" name="圖片 8"/>
          <p:cNvPicPr>
            <a:picLocks noChangeAspect="1"/>
          </p:cNvPicPr>
          <p:nvPr/>
        </p:nvPicPr>
        <p:blipFill>
          <a:blip r:embed="rId3"/>
          <a:stretch>
            <a:fillRect/>
          </a:stretch>
        </p:blipFill>
        <p:spPr>
          <a:xfrm>
            <a:off x="3762102" y="2984417"/>
            <a:ext cx="3056126" cy="255172"/>
          </a:xfrm>
          <a:prstGeom prst="rect">
            <a:avLst/>
          </a:prstGeom>
        </p:spPr>
      </p:pic>
    </p:spTree>
    <p:extLst>
      <p:ext uri="{BB962C8B-B14F-4D97-AF65-F5344CB8AC3E}">
        <p14:creationId xmlns:p14="http://schemas.microsoft.com/office/powerpoint/2010/main" val="83061684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Reading Image Objects </a:t>
            </a:r>
            <a:endParaRPr lang="zh-TW" altLang="en-US" dirty="0"/>
          </a:p>
        </p:txBody>
      </p:sp>
      <p:sp>
        <p:nvSpPr>
          <p:cNvPr id="5" name="內容版面配置區 4"/>
          <p:cNvSpPr>
            <a:spLocks noGrp="1"/>
          </p:cNvSpPr>
          <p:nvPr>
            <p:ph idx="1"/>
          </p:nvPr>
        </p:nvSpPr>
        <p:spPr/>
        <p:txBody>
          <a:bodyPr/>
          <a:lstStyle/>
          <a:p>
            <a:r>
              <a:rPr lang="en-US" altLang="zh-TW" dirty="0"/>
              <a:t>If </a:t>
            </a:r>
            <a:r>
              <a:rPr lang="en-US" altLang="zh-TW" i="1" dirty="0" err="1"/>
              <a:t>blocking_read</a:t>
            </a:r>
            <a:r>
              <a:rPr lang="en-US" altLang="zh-TW" i="1" dirty="0"/>
              <a:t> </a:t>
            </a:r>
            <a:r>
              <a:rPr lang="en-US" altLang="zh-TW" dirty="0"/>
              <a:t>is CL_TRUE i.e. the read command is blocking, </a:t>
            </a:r>
            <a:r>
              <a:rPr lang="en-US" altLang="zh-TW" b="1" dirty="0" err="1"/>
              <a:t>clEnqueueReadImage</a:t>
            </a:r>
            <a:r>
              <a:rPr lang="en-US" altLang="zh-TW" b="1" dirty="0"/>
              <a:t> </a:t>
            </a:r>
            <a:r>
              <a:rPr lang="en-US" altLang="zh-TW" dirty="0"/>
              <a:t>does not return until the buffer data has been read and copied into memory pointed to by </a:t>
            </a:r>
            <a:r>
              <a:rPr lang="en-US" altLang="zh-TW" i="1" dirty="0" err="1"/>
              <a:t>ptr</a:t>
            </a:r>
            <a:r>
              <a:rPr lang="en-US" altLang="zh-TW" dirty="0"/>
              <a:t>. </a:t>
            </a:r>
            <a:endParaRPr lang="en-US" altLang="zh-TW" dirty="0" smtClean="0"/>
          </a:p>
          <a:p>
            <a:pPr marL="0" indent="0">
              <a:buNone/>
            </a:pPr>
            <a:endParaRPr lang="en-US" altLang="zh-TW" dirty="0"/>
          </a:p>
          <a:p>
            <a:r>
              <a:rPr lang="en-US" altLang="zh-TW" dirty="0"/>
              <a:t>If </a:t>
            </a:r>
            <a:r>
              <a:rPr lang="en-US" altLang="zh-TW" i="1" dirty="0" err="1"/>
              <a:t>blocking_read</a:t>
            </a:r>
            <a:r>
              <a:rPr lang="en-US" altLang="zh-TW" i="1" dirty="0"/>
              <a:t> </a:t>
            </a:r>
            <a:r>
              <a:rPr lang="en-US" altLang="zh-TW" dirty="0"/>
              <a:t>is CL_FALSE i.e. the read command is non-blocking, </a:t>
            </a:r>
            <a:r>
              <a:rPr lang="en-US" altLang="zh-TW" b="1" dirty="0" err="1"/>
              <a:t>clEnqueueReadImage</a:t>
            </a:r>
            <a:r>
              <a:rPr lang="en-US" altLang="zh-TW" b="1" dirty="0"/>
              <a:t> </a:t>
            </a:r>
            <a:r>
              <a:rPr lang="en-US" altLang="zh-TW" dirty="0"/>
              <a:t>queues a non-blocking read command and returns. The contents of the buffer that </a:t>
            </a:r>
            <a:r>
              <a:rPr lang="en-US" altLang="zh-TW" i="1" dirty="0" err="1"/>
              <a:t>ptr</a:t>
            </a:r>
            <a:r>
              <a:rPr lang="en-US" altLang="zh-TW" i="1" dirty="0"/>
              <a:t> </a:t>
            </a:r>
            <a:r>
              <a:rPr lang="en-US" altLang="zh-TW" dirty="0"/>
              <a:t>points to cannot be used until the read command has completed. The </a:t>
            </a:r>
            <a:r>
              <a:rPr lang="en-US" altLang="zh-TW" i="1" dirty="0"/>
              <a:t>event </a:t>
            </a:r>
            <a:r>
              <a:rPr lang="en-US" altLang="zh-TW" dirty="0"/>
              <a:t>argument returns an event object which can be used to query the execution status of the read command. When the read command has completed, the contents of the buffer that </a:t>
            </a:r>
            <a:r>
              <a:rPr lang="en-US" altLang="zh-TW" i="1" dirty="0" err="1"/>
              <a:t>ptr</a:t>
            </a:r>
            <a:r>
              <a:rPr lang="en-US" altLang="zh-TW" i="1" dirty="0"/>
              <a:t> </a:t>
            </a:r>
            <a:r>
              <a:rPr lang="en-US" altLang="zh-TW" dirty="0"/>
              <a:t>points to can be used by the application. </a:t>
            </a:r>
            <a:endParaRPr lang="zh-TW" altLang="en-US" dirty="0"/>
          </a:p>
        </p:txBody>
      </p:sp>
    </p:spTree>
    <p:extLst>
      <p:ext uri="{BB962C8B-B14F-4D97-AF65-F5344CB8AC3E}">
        <p14:creationId xmlns:p14="http://schemas.microsoft.com/office/powerpoint/2010/main" val="278071431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6607" y="1461569"/>
            <a:ext cx="5548610" cy="2796922"/>
          </a:xfrm>
          <a:prstGeom prst="rect">
            <a:avLst/>
          </a:prstGeom>
        </p:spPr>
      </p:pic>
      <p:sp>
        <p:nvSpPr>
          <p:cNvPr id="4" name="標題 3"/>
          <p:cNvSpPr>
            <a:spLocks noGrp="1"/>
          </p:cNvSpPr>
          <p:nvPr>
            <p:ph type="title"/>
          </p:nvPr>
        </p:nvSpPr>
        <p:spPr>
          <a:xfrm>
            <a:off x="433480" y="118337"/>
            <a:ext cx="8207375" cy="692150"/>
          </a:xfrm>
        </p:spPr>
        <p:txBody>
          <a:bodyPr/>
          <a:lstStyle/>
          <a:p>
            <a:r>
              <a:rPr lang="en-US" altLang="zh-TW" dirty="0"/>
              <a:t>Writing </a:t>
            </a:r>
            <a:r>
              <a:rPr lang="en-US" altLang="zh-TW" dirty="0" smtClean="0"/>
              <a:t>Image </a:t>
            </a:r>
            <a:r>
              <a:rPr lang="en-US" altLang="zh-TW" dirty="0"/>
              <a:t>Objects </a:t>
            </a:r>
            <a:endParaRPr lang="zh-TW" altLang="en-US" dirty="0"/>
          </a:p>
        </p:txBody>
      </p:sp>
      <p:pic>
        <p:nvPicPr>
          <p:cNvPr id="6" name="內容版面配置區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81526" y="1375059"/>
            <a:ext cx="6524669" cy="420425"/>
          </a:xfrm>
        </p:spPr>
      </p:pic>
    </p:spTree>
    <p:extLst>
      <p:ext uri="{BB962C8B-B14F-4D97-AF65-F5344CB8AC3E}">
        <p14:creationId xmlns:p14="http://schemas.microsoft.com/office/powerpoint/2010/main" val="424204731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Writing Image Objects </a:t>
            </a:r>
            <a:endParaRPr lang="zh-TW" altLang="en-US" dirty="0"/>
          </a:p>
        </p:txBody>
      </p:sp>
      <p:sp>
        <p:nvSpPr>
          <p:cNvPr id="5" name="內容版面配置區 4"/>
          <p:cNvSpPr>
            <a:spLocks noGrp="1"/>
          </p:cNvSpPr>
          <p:nvPr>
            <p:ph idx="1"/>
          </p:nvPr>
        </p:nvSpPr>
        <p:spPr/>
        <p:txBody>
          <a:bodyPr/>
          <a:lstStyle/>
          <a:p>
            <a:r>
              <a:rPr lang="en-US" altLang="zh-TW" dirty="0"/>
              <a:t>If </a:t>
            </a:r>
            <a:r>
              <a:rPr lang="en-US" altLang="zh-TW" i="1" dirty="0" err="1"/>
              <a:t>blocking_write</a:t>
            </a:r>
            <a:r>
              <a:rPr lang="en-US" altLang="zh-TW" i="1" dirty="0"/>
              <a:t> </a:t>
            </a:r>
            <a:r>
              <a:rPr lang="en-US" altLang="zh-TW" dirty="0"/>
              <a:t>is CL_TRUE, the </a:t>
            </a:r>
            <a:r>
              <a:rPr lang="en-US" altLang="zh-TW" dirty="0" err="1"/>
              <a:t>OpenCL</a:t>
            </a:r>
            <a:r>
              <a:rPr lang="en-US" altLang="zh-TW" dirty="0"/>
              <a:t> implementation copies the data referred to by </a:t>
            </a:r>
            <a:r>
              <a:rPr lang="en-US" altLang="zh-TW" i="1" dirty="0" err="1"/>
              <a:t>ptr</a:t>
            </a:r>
            <a:r>
              <a:rPr lang="en-US" altLang="zh-TW" i="1" dirty="0"/>
              <a:t> </a:t>
            </a:r>
            <a:r>
              <a:rPr lang="en-US" altLang="zh-TW" dirty="0"/>
              <a:t>and </a:t>
            </a:r>
            <a:r>
              <a:rPr lang="en-US" altLang="zh-TW" dirty="0" err="1"/>
              <a:t>enqueues</a:t>
            </a:r>
            <a:r>
              <a:rPr lang="en-US" altLang="zh-TW" dirty="0"/>
              <a:t> the write command in the command-queue. The memory pointed to by </a:t>
            </a:r>
            <a:r>
              <a:rPr lang="en-US" altLang="zh-TW" i="1" dirty="0" err="1"/>
              <a:t>ptr</a:t>
            </a:r>
            <a:r>
              <a:rPr lang="en-US" altLang="zh-TW" i="1" dirty="0"/>
              <a:t> </a:t>
            </a:r>
            <a:r>
              <a:rPr lang="en-US" altLang="zh-TW" dirty="0"/>
              <a:t>can be reused by the application after the </a:t>
            </a:r>
            <a:r>
              <a:rPr lang="en-US" altLang="zh-TW" b="1" dirty="0" err="1"/>
              <a:t>clEnqueueWriteImage</a:t>
            </a:r>
            <a:r>
              <a:rPr lang="en-US" altLang="zh-TW" b="1" dirty="0"/>
              <a:t> </a:t>
            </a:r>
            <a:r>
              <a:rPr lang="en-US" altLang="zh-TW" dirty="0"/>
              <a:t>call returns. </a:t>
            </a:r>
            <a:endParaRPr lang="en-US" altLang="zh-TW" dirty="0" smtClean="0"/>
          </a:p>
          <a:p>
            <a:pPr marL="0" indent="0">
              <a:buNone/>
            </a:pPr>
            <a:endParaRPr lang="en-US" altLang="zh-TW" dirty="0"/>
          </a:p>
          <a:p>
            <a:r>
              <a:rPr lang="en-US" altLang="zh-TW" dirty="0"/>
              <a:t>If </a:t>
            </a:r>
            <a:r>
              <a:rPr lang="en-US" altLang="zh-TW" i="1" dirty="0" err="1"/>
              <a:t>blocking_write</a:t>
            </a:r>
            <a:r>
              <a:rPr lang="en-US" altLang="zh-TW" i="1" dirty="0"/>
              <a:t> </a:t>
            </a:r>
            <a:r>
              <a:rPr lang="en-US" altLang="zh-TW" dirty="0"/>
              <a:t>is CL_FALSE, the </a:t>
            </a:r>
            <a:r>
              <a:rPr lang="en-US" altLang="zh-TW" dirty="0" err="1"/>
              <a:t>OpenCL</a:t>
            </a:r>
            <a:r>
              <a:rPr lang="en-US" altLang="zh-TW" dirty="0"/>
              <a:t> implementation will use </a:t>
            </a:r>
            <a:r>
              <a:rPr lang="en-US" altLang="zh-TW" i="1" dirty="0" err="1"/>
              <a:t>ptr</a:t>
            </a:r>
            <a:r>
              <a:rPr lang="en-US" altLang="zh-TW" i="1" dirty="0"/>
              <a:t> </a:t>
            </a:r>
            <a:r>
              <a:rPr lang="en-US" altLang="zh-TW" dirty="0"/>
              <a:t>to perform a non-blocking write. As the write is non-blocking the implementation can return immediately. The memory pointed to by </a:t>
            </a:r>
            <a:r>
              <a:rPr lang="en-US" altLang="zh-TW" i="1" dirty="0" err="1"/>
              <a:t>ptr</a:t>
            </a:r>
            <a:r>
              <a:rPr lang="en-US" altLang="zh-TW" i="1" dirty="0"/>
              <a:t> </a:t>
            </a:r>
            <a:r>
              <a:rPr lang="en-US" altLang="zh-TW" dirty="0"/>
              <a:t>cannot be reused by the application after the call returns. The </a:t>
            </a:r>
            <a:r>
              <a:rPr lang="en-US" altLang="zh-TW" i="1" dirty="0"/>
              <a:t>event </a:t>
            </a:r>
            <a:r>
              <a:rPr lang="en-US" altLang="zh-TW" dirty="0"/>
              <a:t>argument returns an event object which can be used to query the execution status of the write command. When the write command has completed, the memory pointed to by </a:t>
            </a:r>
            <a:r>
              <a:rPr lang="en-US" altLang="zh-TW" i="1" dirty="0" err="1"/>
              <a:t>ptr</a:t>
            </a:r>
            <a:r>
              <a:rPr lang="en-US" altLang="zh-TW" i="1" dirty="0"/>
              <a:t> </a:t>
            </a:r>
            <a:r>
              <a:rPr lang="en-US" altLang="zh-TW" dirty="0"/>
              <a:t>can then be reused by the application. </a:t>
            </a:r>
            <a:endParaRPr lang="zh-TW" altLang="en-US" dirty="0"/>
          </a:p>
        </p:txBody>
      </p:sp>
    </p:spTree>
    <p:extLst>
      <p:ext uri="{BB962C8B-B14F-4D97-AF65-F5344CB8AC3E}">
        <p14:creationId xmlns:p14="http://schemas.microsoft.com/office/powerpoint/2010/main" val="291807649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Reading Image Objects </a:t>
            </a:r>
            <a:endParaRPr lang="zh-TW" altLang="en-US" dirty="0"/>
          </a:p>
        </p:txBody>
      </p:sp>
      <p:pic>
        <p:nvPicPr>
          <p:cNvPr id="6" name="內容版面配置區 5"/>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990828" y="1157950"/>
            <a:ext cx="6137350" cy="2726074"/>
          </a:xfrm>
          <a:prstGeom prst="rect">
            <a:avLst/>
          </a:prstGeom>
          <a:noFill/>
          <a:ln w="9525">
            <a:noFill/>
            <a:miter lim="800000"/>
            <a:headEnd/>
            <a:tailEnd/>
          </a:ln>
        </p:spPr>
      </p:pic>
      <p:sp>
        <p:nvSpPr>
          <p:cNvPr id="7" name="矩形 6"/>
          <p:cNvSpPr/>
          <p:nvPr/>
        </p:nvSpPr>
        <p:spPr bwMode="auto">
          <a:xfrm>
            <a:off x="3718559" y="1959428"/>
            <a:ext cx="3117670" cy="243840"/>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8" name="文字方塊 7"/>
          <p:cNvSpPr txBox="1"/>
          <p:nvPr/>
        </p:nvSpPr>
        <p:spPr>
          <a:xfrm>
            <a:off x="600891" y="4438022"/>
            <a:ext cx="8074798" cy="1200329"/>
          </a:xfrm>
          <a:prstGeom prst="rect">
            <a:avLst/>
          </a:prstGeom>
          <a:noFill/>
        </p:spPr>
        <p:txBody>
          <a:bodyPr wrap="square" rtlCol="0" anchor="ctr" anchorCtr="1">
            <a:spAutoFit/>
          </a:bodyPr>
          <a:lstStyle/>
          <a:p>
            <a:r>
              <a:rPr lang="en-US" altLang="zh-TW" b="1" i="1" dirty="0"/>
              <a:t>origin</a:t>
            </a:r>
            <a:r>
              <a:rPr lang="en-US" altLang="zh-TW" i="1" dirty="0"/>
              <a:t> </a:t>
            </a:r>
            <a:endParaRPr lang="en-US" altLang="zh-TW" i="1" dirty="0" smtClean="0"/>
          </a:p>
          <a:p>
            <a:pPr lvl="1"/>
            <a:r>
              <a:rPr lang="en-US" altLang="zh-TW" dirty="0" smtClean="0"/>
              <a:t>defines </a:t>
            </a:r>
            <a:r>
              <a:rPr lang="en-US" altLang="zh-TW" dirty="0"/>
              <a:t>the (</a:t>
            </a:r>
            <a:r>
              <a:rPr lang="en-US" altLang="zh-TW" i="1" dirty="0"/>
              <a:t>x</a:t>
            </a:r>
            <a:r>
              <a:rPr lang="en-US" altLang="zh-TW" dirty="0"/>
              <a:t>, </a:t>
            </a:r>
            <a:r>
              <a:rPr lang="en-US" altLang="zh-TW" i="1" dirty="0"/>
              <a:t>y</a:t>
            </a:r>
            <a:r>
              <a:rPr lang="en-US" altLang="zh-TW" dirty="0"/>
              <a:t>, </a:t>
            </a:r>
            <a:r>
              <a:rPr lang="en-US" altLang="zh-TW" i="1" dirty="0"/>
              <a:t>z</a:t>
            </a:r>
            <a:r>
              <a:rPr lang="en-US" altLang="zh-TW" dirty="0"/>
              <a:t>) offset in pixels in the 1D, 2D or 3D image, the (</a:t>
            </a:r>
            <a:r>
              <a:rPr lang="en-US" altLang="zh-TW" i="1" dirty="0"/>
              <a:t>x</a:t>
            </a:r>
            <a:r>
              <a:rPr lang="en-US" altLang="zh-TW" dirty="0"/>
              <a:t>, </a:t>
            </a:r>
            <a:r>
              <a:rPr lang="en-US" altLang="zh-TW" i="1" dirty="0"/>
              <a:t>y</a:t>
            </a:r>
            <a:r>
              <a:rPr lang="en-US" altLang="zh-TW" dirty="0"/>
              <a:t>) offset and the image index in the 2D image array or the (</a:t>
            </a:r>
            <a:r>
              <a:rPr lang="en-US" altLang="zh-TW" i="1" dirty="0"/>
              <a:t>x</a:t>
            </a:r>
            <a:r>
              <a:rPr lang="en-US" altLang="zh-TW" dirty="0"/>
              <a:t>) offset and the image index in the 1D image array. </a:t>
            </a:r>
            <a:endParaRPr lang="en-US" altLang="zh-TW" dirty="0" smtClean="0"/>
          </a:p>
        </p:txBody>
      </p:sp>
    </p:spTree>
    <p:extLst>
      <p:ext uri="{BB962C8B-B14F-4D97-AF65-F5344CB8AC3E}">
        <p14:creationId xmlns:p14="http://schemas.microsoft.com/office/powerpoint/2010/main" val="320793899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Reading Image Objects </a:t>
            </a:r>
            <a:endParaRPr lang="zh-TW" altLang="en-US" dirty="0"/>
          </a:p>
        </p:txBody>
      </p:sp>
      <p:pic>
        <p:nvPicPr>
          <p:cNvPr id="6" name="內容版面配置區 5"/>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990828" y="1157950"/>
            <a:ext cx="6137350" cy="2726074"/>
          </a:xfrm>
          <a:prstGeom prst="rect">
            <a:avLst/>
          </a:prstGeom>
          <a:noFill/>
          <a:ln w="9525">
            <a:noFill/>
            <a:miter lim="800000"/>
            <a:headEnd/>
            <a:tailEnd/>
          </a:ln>
        </p:spPr>
      </p:pic>
      <p:sp>
        <p:nvSpPr>
          <p:cNvPr id="7" name="矩形 6"/>
          <p:cNvSpPr/>
          <p:nvPr/>
        </p:nvSpPr>
        <p:spPr bwMode="auto">
          <a:xfrm>
            <a:off x="3691926" y="2199125"/>
            <a:ext cx="3117670" cy="243840"/>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8" name="文字方塊 7"/>
          <p:cNvSpPr txBox="1"/>
          <p:nvPr/>
        </p:nvSpPr>
        <p:spPr>
          <a:xfrm>
            <a:off x="1269507" y="3978922"/>
            <a:ext cx="6196614" cy="1754326"/>
          </a:xfrm>
          <a:prstGeom prst="rect">
            <a:avLst/>
          </a:prstGeom>
          <a:noFill/>
        </p:spPr>
        <p:txBody>
          <a:bodyPr wrap="square" rtlCol="0" anchor="ctr" anchorCtr="1">
            <a:spAutoFit/>
          </a:bodyPr>
          <a:lstStyle/>
          <a:p>
            <a:r>
              <a:rPr lang="en-US" altLang="zh-TW" b="1" i="1" dirty="0"/>
              <a:t>region </a:t>
            </a:r>
            <a:endParaRPr lang="en-US" altLang="zh-TW" b="1" i="1" dirty="0" smtClean="0"/>
          </a:p>
          <a:p>
            <a:pPr lvl="1"/>
            <a:r>
              <a:rPr lang="en-US" altLang="zh-TW" dirty="0" smtClean="0"/>
              <a:t>defines </a:t>
            </a:r>
            <a:r>
              <a:rPr lang="en-US" altLang="zh-TW" dirty="0"/>
              <a:t>the (</a:t>
            </a:r>
            <a:r>
              <a:rPr lang="en-US" altLang="zh-TW" i="1" dirty="0"/>
              <a:t>width</a:t>
            </a:r>
            <a:r>
              <a:rPr lang="en-US" altLang="zh-TW" dirty="0"/>
              <a:t>, </a:t>
            </a:r>
            <a:r>
              <a:rPr lang="en-US" altLang="zh-TW" i="1" dirty="0"/>
              <a:t>height, depth</a:t>
            </a:r>
            <a:r>
              <a:rPr lang="en-US" altLang="zh-TW" dirty="0"/>
              <a:t>) in pixels of the 1D, 2D or 3D rectangle, the (</a:t>
            </a:r>
            <a:r>
              <a:rPr lang="en-US" altLang="zh-TW" i="1" dirty="0"/>
              <a:t>width</a:t>
            </a:r>
            <a:r>
              <a:rPr lang="en-US" altLang="zh-TW" dirty="0"/>
              <a:t>, </a:t>
            </a:r>
            <a:r>
              <a:rPr lang="en-US" altLang="zh-TW" i="1" dirty="0"/>
              <a:t>height</a:t>
            </a:r>
            <a:r>
              <a:rPr lang="en-US" altLang="zh-TW" dirty="0"/>
              <a:t>) in pixels of the 2D rectangle and the number of images of a 2D image array or the (</a:t>
            </a:r>
            <a:r>
              <a:rPr lang="en-US" altLang="zh-TW" i="1" dirty="0"/>
              <a:t>width</a:t>
            </a:r>
            <a:r>
              <a:rPr lang="en-US" altLang="zh-TW" dirty="0"/>
              <a:t>) in pixels of the 1D rectangle and the number of images of a 1D image array. </a:t>
            </a:r>
            <a:endParaRPr lang="zh-TW" altLang="en-US" dirty="0" smtClean="0">
              <a:ea typeface="標楷體" pitchFamily="65" charset="-120"/>
              <a:cs typeface="Calibri" pitchFamily="34" charset="0"/>
            </a:endParaRPr>
          </a:p>
        </p:txBody>
      </p:sp>
    </p:spTree>
    <p:extLst>
      <p:ext uri="{BB962C8B-B14F-4D97-AF65-F5344CB8AC3E}">
        <p14:creationId xmlns:p14="http://schemas.microsoft.com/office/powerpoint/2010/main" val="331960928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Reading Image Objects </a:t>
            </a:r>
            <a:endParaRPr lang="zh-TW" altLang="en-US" dirty="0"/>
          </a:p>
        </p:txBody>
      </p:sp>
      <p:pic>
        <p:nvPicPr>
          <p:cNvPr id="6" name="內容版面配置區 5"/>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990828" y="1157950"/>
            <a:ext cx="6137350" cy="2726074"/>
          </a:xfrm>
          <a:prstGeom prst="rect">
            <a:avLst/>
          </a:prstGeom>
          <a:noFill/>
          <a:ln w="9525">
            <a:noFill/>
            <a:miter lim="800000"/>
            <a:headEnd/>
            <a:tailEnd/>
          </a:ln>
        </p:spPr>
      </p:pic>
      <p:sp>
        <p:nvSpPr>
          <p:cNvPr id="7" name="矩形 6"/>
          <p:cNvSpPr/>
          <p:nvPr/>
        </p:nvSpPr>
        <p:spPr bwMode="auto">
          <a:xfrm>
            <a:off x="3700804" y="2399067"/>
            <a:ext cx="3117670" cy="243840"/>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8" name="文字方塊 7"/>
          <p:cNvSpPr txBox="1"/>
          <p:nvPr/>
        </p:nvSpPr>
        <p:spPr>
          <a:xfrm>
            <a:off x="1127463" y="4095228"/>
            <a:ext cx="7048870" cy="1477328"/>
          </a:xfrm>
          <a:prstGeom prst="rect">
            <a:avLst/>
          </a:prstGeom>
          <a:noFill/>
        </p:spPr>
        <p:txBody>
          <a:bodyPr wrap="square" rtlCol="0" anchor="ctr" anchorCtr="1">
            <a:spAutoFit/>
          </a:bodyPr>
          <a:lstStyle/>
          <a:p>
            <a:r>
              <a:rPr lang="en-US" altLang="zh-TW" b="1" i="1" dirty="0" err="1"/>
              <a:t>row_pitch</a:t>
            </a:r>
            <a:r>
              <a:rPr lang="en-US" altLang="zh-TW" i="1" dirty="0"/>
              <a:t> </a:t>
            </a:r>
            <a:endParaRPr lang="en-US" altLang="zh-TW" i="1" dirty="0" smtClean="0"/>
          </a:p>
          <a:p>
            <a:pPr lvl="1"/>
            <a:r>
              <a:rPr lang="en-US" altLang="zh-TW" dirty="0" smtClean="0"/>
              <a:t>in </a:t>
            </a:r>
            <a:r>
              <a:rPr lang="en-US" altLang="zh-TW" b="1" dirty="0" err="1"/>
              <a:t>clEnqueueReadImage</a:t>
            </a:r>
            <a:r>
              <a:rPr lang="en-US" altLang="zh-TW" b="1" dirty="0"/>
              <a:t> </a:t>
            </a:r>
            <a:r>
              <a:rPr lang="en-US" altLang="zh-TW" dirty="0"/>
              <a:t>and </a:t>
            </a:r>
            <a:r>
              <a:rPr lang="en-US" altLang="zh-TW" i="1" dirty="0" err="1"/>
              <a:t>input_row_pitch</a:t>
            </a:r>
            <a:r>
              <a:rPr lang="en-US" altLang="zh-TW" i="1" dirty="0"/>
              <a:t> </a:t>
            </a:r>
            <a:r>
              <a:rPr lang="en-US" altLang="zh-TW" dirty="0"/>
              <a:t>in </a:t>
            </a:r>
            <a:r>
              <a:rPr lang="en-US" altLang="zh-TW" b="1" dirty="0" err="1"/>
              <a:t>clEnqueueWriteImage</a:t>
            </a:r>
            <a:r>
              <a:rPr lang="en-US" altLang="zh-TW" b="1" dirty="0"/>
              <a:t> </a:t>
            </a:r>
            <a:r>
              <a:rPr lang="en-US" altLang="zh-TW" dirty="0"/>
              <a:t>is the length of each row in bytes. </a:t>
            </a:r>
            <a:endParaRPr lang="en-US" altLang="zh-TW" dirty="0" smtClean="0"/>
          </a:p>
          <a:p>
            <a:pPr lvl="1"/>
            <a:r>
              <a:rPr lang="en-US" altLang="zh-TW" dirty="0" smtClean="0"/>
              <a:t>This </a:t>
            </a:r>
            <a:r>
              <a:rPr lang="en-US" altLang="zh-TW" dirty="0"/>
              <a:t>value must be greater than or equal to the element size in </a:t>
            </a:r>
            <a:r>
              <a:rPr lang="en-US" altLang="zh-TW" dirty="0">
                <a:solidFill>
                  <a:srgbClr val="FF0000"/>
                </a:solidFill>
              </a:rPr>
              <a:t>bytes * </a:t>
            </a:r>
            <a:r>
              <a:rPr lang="en-US" altLang="zh-TW" i="1" dirty="0">
                <a:solidFill>
                  <a:srgbClr val="FF0000"/>
                </a:solidFill>
              </a:rPr>
              <a:t>width</a:t>
            </a:r>
            <a:r>
              <a:rPr lang="en-US" altLang="zh-TW" dirty="0"/>
              <a:t>. </a:t>
            </a:r>
            <a:endParaRPr lang="zh-TW" altLang="en-US" dirty="0" smtClean="0">
              <a:ea typeface="標楷體" pitchFamily="65" charset="-120"/>
              <a:cs typeface="Calibri" pitchFamily="34" charset="0"/>
            </a:endParaRPr>
          </a:p>
        </p:txBody>
      </p:sp>
    </p:spTree>
    <p:extLst>
      <p:ext uri="{BB962C8B-B14F-4D97-AF65-F5344CB8AC3E}">
        <p14:creationId xmlns:p14="http://schemas.microsoft.com/office/powerpoint/2010/main" val="224666000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Reading Image Objects </a:t>
            </a:r>
            <a:endParaRPr lang="zh-TW" altLang="en-US" dirty="0"/>
          </a:p>
        </p:txBody>
      </p:sp>
      <p:pic>
        <p:nvPicPr>
          <p:cNvPr id="6" name="內容版面配置區 5"/>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990828" y="1157950"/>
            <a:ext cx="6137350" cy="2726074"/>
          </a:xfrm>
          <a:prstGeom prst="rect">
            <a:avLst/>
          </a:prstGeom>
          <a:noFill/>
          <a:ln w="9525">
            <a:noFill/>
            <a:miter lim="800000"/>
            <a:headEnd/>
            <a:tailEnd/>
          </a:ln>
        </p:spPr>
      </p:pic>
      <p:sp>
        <p:nvSpPr>
          <p:cNvPr id="7" name="矩形 6"/>
          <p:cNvSpPr/>
          <p:nvPr/>
        </p:nvSpPr>
        <p:spPr bwMode="auto">
          <a:xfrm>
            <a:off x="3771825" y="2656520"/>
            <a:ext cx="3117670" cy="243840"/>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8" name="文字方塊 7"/>
          <p:cNvSpPr txBox="1"/>
          <p:nvPr/>
        </p:nvSpPr>
        <p:spPr>
          <a:xfrm>
            <a:off x="1216241" y="3924354"/>
            <a:ext cx="6711519" cy="1477328"/>
          </a:xfrm>
          <a:prstGeom prst="rect">
            <a:avLst/>
          </a:prstGeom>
          <a:noFill/>
        </p:spPr>
        <p:txBody>
          <a:bodyPr wrap="square" rtlCol="0" anchor="ctr" anchorCtr="1">
            <a:spAutoFit/>
          </a:bodyPr>
          <a:lstStyle/>
          <a:p>
            <a:r>
              <a:rPr lang="en-US" altLang="zh-TW" b="1" i="1" dirty="0" err="1">
                <a:ea typeface="標楷體" pitchFamily="65" charset="-120"/>
                <a:cs typeface="Calibri" pitchFamily="34" charset="0"/>
              </a:rPr>
              <a:t>slice_pitch</a:t>
            </a:r>
            <a:r>
              <a:rPr lang="en-US" altLang="zh-TW" dirty="0">
                <a:ea typeface="標楷體" pitchFamily="65" charset="-120"/>
                <a:cs typeface="Calibri" pitchFamily="34" charset="0"/>
              </a:rPr>
              <a:t> </a:t>
            </a:r>
            <a:endParaRPr lang="en-US" altLang="zh-TW" dirty="0" smtClean="0">
              <a:ea typeface="標楷體" pitchFamily="65" charset="-120"/>
              <a:cs typeface="Calibri" pitchFamily="34" charset="0"/>
            </a:endParaRPr>
          </a:p>
          <a:p>
            <a:pPr lvl="1"/>
            <a:r>
              <a:rPr lang="en-US" altLang="zh-TW" dirty="0" smtClean="0">
                <a:ea typeface="標楷體" pitchFamily="65" charset="-120"/>
                <a:cs typeface="Calibri" pitchFamily="34" charset="0"/>
              </a:rPr>
              <a:t>in </a:t>
            </a:r>
            <a:r>
              <a:rPr lang="en-US" altLang="zh-TW" dirty="0" err="1">
                <a:ea typeface="標楷體" pitchFamily="65" charset="-120"/>
                <a:cs typeface="Calibri" pitchFamily="34" charset="0"/>
              </a:rPr>
              <a:t>clEnqueueReadImage</a:t>
            </a:r>
            <a:r>
              <a:rPr lang="en-US" altLang="zh-TW" dirty="0">
                <a:ea typeface="標楷體" pitchFamily="65" charset="-120"/>
                <a:cs typeface="Calibri" pitchFamily="34" charset="0"/>
              </a:rPr>
              <a:t> and </a:t>
            </a:r>
            <a:r>
              <a:rPr lang="en-US" altLang="zh-TW" dirty="0" err="1">
                <a:ea typeface="標楷體" pitchFamily="65" charset="-120"/>
                <a:cs typeface="Calibri" pitchFamily="34" charset="0"/>
              </a:rPr>
              <a:t>input_slice_pitch</a:t>
            </a:r>
            <a:r>
              <a:rPr lang="en-US" altLang="zh-TW" dirty="0">
                <a:ea typeface="標楷體" pitchFamily="65" charset="-120"/>
                <a:cs typeface="Calibri" pitchFamily="34" charset="0"/>
              </a:rPr>
              <a:t> in </a:t>
            </a:r>
            <a:r>
              <a:rPr lang="en-US" altLang="zh-TW" dirty="0" err="1">
                <a:ea typeface="標楷體" pitchFamily="65" charset="-120"/>
                <a:cs typeface="Calibri" pitchFamily="34" charset="0"/>
              </a:rPr>
              <a:t>clEnqueueWriteImage</a:t>
            </a:r>
            <a:r>
              <a:rPr lang="en-US" altLang="zh-TW" dirty="0">
                <a:ea typeface="標楷體" pitchFamily="65" charset="-120"/>
                <a:cs typeface="Calibri" pitchFamily="34" charset="0"/>
              </a:rPr>
              <a:t> is the size in bytes of the 2D slice of the 3D region of a 3D image or each image of a 1D or 2D image array being read or written respectively.</a:t>
            </a:r>
            <a:endParaRPr lang="zh-TW" altLang="en-US" dirty="0" smtClean="0">
              <a:ea typeface="標楷體" pitchFamily="65" charset="-120"/>
              <a:cs typeface="Calibri" pitchFamily="34" charset="0"/>
            </a:endParaRPr>
          </a:p>
        </p:txBody>
      </p:sp>
    </p:spTree>
    <p:extLst>
      <p:ext uri="{BB962C8B-B14F-4D97-AF65-F5344CB8AC3E}">
        <p14:creationId xmlns:p14="http://schemas.microsoft.com/office/powerpoint/2010/main" val="243013856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Reading Image Objects </a:t>
            </a:r>
            <a:endParaRPr lang="zh-TW" altLang="en-US" dirty="0"/>
          </a:p>
        </p:txBody>
      </p:sp>
      <p:pic>
        <p:nvPicPr>
          <p:cNvPr id="6" name="內容版面配置區 5"/>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999706" y="1122440"/>
            <a:ext cx="6137350" cy="2726074"/>
          </a:xfrm>
          <a:prstGeom prst="rect">
            <a:avLst/>
          </a:prstGeom>
          <a:noFill/>
          <a:ln w="9525">
            <a:noFill/>
            <a:miter lim="800000"/>
            <a:headEnd/>
            <a:tailEnd/>
          </a:ln>
        </p:spPr>
      </p:pic>
      <p:sp>
        <p:nvSpPr>
          <p:cNvPr id="7" name="矩形 6"/>
          <p:cNvSpPr/>
          <p:nvPr/>
        </p:nvSpPr>
        <p:spPr bwMode="auto">
          <a:xfrm>
            <a:off x="3762947" y="2834073"/>
            <a:ext cx="3019593" cy="681484"/>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8" name="文字方塊 7"/>
          <p:cNvSpPr txBox="1"/>
          <p:nvPr/>
        </p:nvSpPr>
        <p:spPr>
          <a:xfrm>
            <a:off x="1242872" y="3955019"/>
            <a:ext cx="6516209" cy="923330"/>
          </a:xfrm>
          <a:prstGeom prst="rect">
            <a:avLst/>
          </a:prstGeom>
          <a:noFill/>
        </p:spPr>
        <p:txBody>
          <a:bodyPr wrap="square" rtlCol="0" anchor="ctr" anchorCtr="1">
            <a:spAutoFit/>
          </a:bodyPr>
          <a:lstStyle/>
          <a:p>
            <a:r>
              <a:rPr lang="en-US" altLang="zh-TW" b="1" i="1" dirty="0" err="1"/>
              <a:t>ptr</a:t>
            </a:r>
            <a:r>
              <a:rPr lang="en-US" altLang="zh-TW" i="1" dirty="0"/>
              <a:t> </a:t>
            </a:r>
            <a:endParaRPr lang="en-US" altLang="zh-TW" i="1" dirty="0" smtClean="0"/>
          </a:p>
          <a:p>
            <a:pPr lvl="1"/>
            <a:r>
              <a:rPr lang="en-US" altLang="zh-TW" dirty="0" smtClean="0"/>
              <a:t>is </a:t>
            </a:r>
            <a:r>
              <a:rPr lang="en-US" altLang="zh-TW" dirty="0"/>
              <a:t>the pointer to a buffer in host memory where image data is to be read from or to be written to. </a:t>
            </a:r>
            <a:endParaRPr lang="zh-TW" altLang="en-US" dirty="0" smtClean="0">
              <a:ea typeface="標楷體" pitchFamily="65" charset="-120"/>
              <a:cs typeface="Calibri" pitchFamily="34" charset="0"/>
            </a:endParaRPr>
          </a:p>
        </p:txBody>
      </p:sp>
      <p:sp>
        <p:nvSpPr>
          <p:cNvPr id="9" name="文字方塊 8"/>
          <p:cNvSpPr txBox="1"/>
          <p:nvPr/>
        </p:nvSpPr>
        <p:spPr>
          <a:xfrm>
            <a:off x="1438183" y="5111327"/>
            <a:ext cx="6489576" cy="923330"/>
          </a:xfrm>
          <a:prstGeom prst="rect">
            <a:avLst/>
          </a:prstGeom>
          <a:noFill/>
        </p:spPr>
        <p:txBody>
          <a:bodyPr wrap="square" rtlCol="0" anchor="ctr" anchorCtr="1">
            <a:spAutoFit/>
          </a:bodyPr>
          <a:lstStyle/>
          <a:p>
            <a:r>
              <a:rPr lang="en-US" altLang="zh-TW" b="1" i="1" dirty="0" err="1"/>
              <a:t>event_wait_list</a:t>
            </a:r>
            <a:r>
              <a:rPr lang="en-US" altLang="zh-TW" b="1" i="1" dirty="0"/>
              <a:t> </a:t>
            </a:r>
            <a:r>
              <a:rPr lang="en-US" altLang="zh-TW" dirty="0"/>
              <a:t>and </a:t>
            </a:r>
            <a:r>
              <a:rPr lang="en-US" altLang="zh-TW" b="1" i="1" dirty="0" err="1"/>
              <a:t>num_events_in_wait_list</a:t>
            </a:r>
            <a:r>
              <a:rPr lang="en-US" altLang="zh-TW" i="1" dirty="0"/>
              <a:t> </a:t>
            </a:r>
            <a:endParaRPr lang="en-US" altLang="zh-TW" i="1" dirty="0" smtClean="0"/>
          </a:p>
          <a:p>
            <a:pPr lvl="1"/>
            <a:r>
              <a:rPr lang="en-US" altLang="zh-TW" dirty="0" smtClean="0"/>
              <a:t>specify </a:t>
            </a:r>
            <a:r>
              <a:rPr lang="en-US" altLang="zh-TW" dirty="0"/>
              <a:t>events that need to complete before this particular command can be executed. </a:t>
            </a:r>
            <a:endParaRPr lang="zh-TW" altLang="en-US" dirty="0" smtClean="0">
              <a:ea typeface="標楷體" pitchFamily="65" charset="-120"/>
              <a:cs typeface="Calibri" pitchFamily="34" charset="0"/>
            </a:endParaRPr>
          </a:p>
        </p:txBody>
      </p:sp>
    </p:spTree>
    <p:extLst>
      <p:ext uri="{BB962C8B-B14F-4D97-AF65-F5344CB8AC3E}">
        <p14:creationId xmlns:p14="http://schemas.microsoft.com/office/powerpoint/2010/main" val="253248446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Reading Image Objects </a:t>
            </a:r>
            <a:endParaRPr lang="zh-TW" altLang="en-US" dirty="0"/>
          </a:p>
        </p:txBody>
      </p:sp>
      <p:pic>
        <p:nvPicPr>
          <p:cNvPr id="6" name="內容版面配置區 5"/>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999706" y="1122440"/>
            <a:ext cx="6137350" cy="2726074"/>
          </a:xfrm>
          <a:prstGeom prst="rect">
            <a:avLst/>
          </a:prstGeom>
          <a:noFill/>
          <a:ln w="9525">
            <a:noFill/>
            <a:miter lim="800000"/>
            <a:headEnd/>
            <a:tailEnd/>
          </a:ln>
        </p:spPr>
      </p:pic>
      <p:sp>
        <p:nvSpPr>
          <p:cNvPr id="7" name="矩形 6"/>
          <p:cNvSpPr/>
          <p:nvPr/>
        </p:nvSpPr>
        <p:spPr bwMode="auto">
          <a:xfrm>
            <a:off x="3638660" y="3524775"/>
            <a:ext cx="3117670" cy="243840"/>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8" name="文字方塊 7"/>
          <p:cNvSpPr txBox="1"/>
          <p:nvPr/>
        </p:nvSpPr>
        <p:spPr>
          <a:xfrm>
            <a:off x="999706" y="3976988"/>
            <a:ext cx="7239786" cy="2031325"/>
          </a:xfrm>
          <a:prstGeom prst="rect">
            <a:avLst/>
          </a:prstGeom>
          <a:noFill/>
        </p:spPr>
        <p:txBody>
          <a:bodyPr wrap="square" rtlCol="0" anchor="ctr" anchorCtr="1">
            <a:spAutoFit/>
          </a:bodyPr>
          <a:lstStyle/>
          <a:p>
            <a:r>
              <a:rPr lang="en-US" altLang="zh-TW" b="1" i="1" dirty="0"/>
              <a:t>event </a:t>
            </a:r>
            <a:endParaRPr lang="en-US" altLang="zh-TW" b="1" i="1" dirty="0" smtClean="0"/>
          </a:p>
          <a:p>
            <a:pPr lvl="1"/>
            <a:r>
              <a:rPr lang="en-US" altLang="zh-TW" dirty="0" smtClean="0"/>
              <a:t>returns </a:t>
            </a:r>
            <a:r>
              <a:rPr lang="en-US" altLang="zh-TW" dirty="0"/>
              <a:t>an event object that identifies this particular read / write command and can be used to query or queue a wait for this particular command to complete. </a:t>
            </a:r>
            <a:endParaRPr lang="en-US" altLang="zh-TW" dirty="0" smtClean="0"/>
          </a:p>
          <a:p>
            <a:pPr lvl="1"/>
            <a:r>
              <a:rPr lang="en-US" altLang="zh-TW" i="1" dirty="0" smtClean="0"/>
              <a:t>event </a:t>
            </a:r>
            <a:r>
              <a:rPr lang="en-US" altLang="zh-TW" dirty="0"/>
              <a:t>can be NULL in which case it will not be possible for the application to query the status of this command or queue a wait for this command to complete. </a:t>
            </a:r>
            <a:endParaRPr lang="zh-TW" altLang="en-US" dirty="0" smtClean="0">
              <a:ea typeface="標楷體" pitchFamily="65" charset="-120"/>
              <a:cs typeface="Calibri" pitchFamily="34" charset="0"/>
            </a:endParaRPr>
          </a:p>
        </p:txBody>
      </p:sp>
    </p:spTree>
    <p:extLst>
      <p:ext uri="{BB962C8B-B14F-4D97-AF65-F5344CB8AC3E}">
        <p14:creationId xmlns:p14="http://schemas.microsoft.com/office/powerpoint/2010/main" val="394278950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Reading Image Objects </a:t>
            </a:r>
            <a:endParaRPr lang="zh-TW" altLang="en-US" dirty="0"/>
          </a:p>
        </p:txBody>
      </p:sp>
      <p:sp>
        <p:nvSpPr>
          <p:cNvPr id="5" name="內容版面配置區 4"/>
          <p:cNvSpPr>
            <a:spLocks noGrp="1"/>
          </p:cNvSpPr>
          <p:nvPr>
            <p:ph idx="1"/>
          </p:nvPr>
        </p:nvSpPr>
        <p:spPr/>
        <p:txBody>
          <a:bodyPr/>
          <a:lstStyle/>
          <a:p>
            <a:pPr marL="0" indent="0">
              <a:buNone/>
            </a:pPr>
            <a:r>
              <a:rPr lang="en-US" altLang="zh-TW" dirty="0"/>
              <a:t>Calling </a:t>
            </a:r>
            <a:r>
              <a:rPr lang="en-US" altLang="zh-TW" dirty="0" err="1"/>
              <a:t>clEnqueueReadImage</a:t>
            </a:r>
            <a:r>
              <a:rPr lang="en-US" altLang="zh-TW" dirty="0"/>
              <a:t> to read a region of the image with the </a:t>
            </a:r>
            <a:r>
              <a:rPr lang="en-US" altLang="zh-TW" dirty="0" err="1"/>
              <a:t>ptr</a:t>
            </a:r>
            <a:r>
              <a:rPr lang="en-US" altLang="zh-TW" dirty="0"/>
              <a:t> argument value set to </a:t>
            </a:r>
            <a:r>
              <a:rPr lang="en-US" altLang="zh-TW" dirty="0" err="1">
                <a:solidFill>
                  <a:srgbClr val="FF0000"/>
                </a:solidFill>
              </a:rPr>
              <a:t>host_ptr</a:t>
            </a:r>
            <a:r>
              <a:rPr lang="en-US" altLang="zh-TW" dirty="0">
                <a:solidFill>
                  <a:srgbClr val="FF0000"/>
                </a:solidFill>
              </a:rPr>
              <a:t> + (origin[2] * image slice pitch + origin[1] * image row pitch + origin[0] * bytes per pixel)</a:t>
            </a:r>
            <a:r>
              <a:rPr lang="en-US" altLang="zh-TW" dirty="0"/>
              <a:t>, where </a:t>
            </a:r>
            <a:r>
              <a:rPr lang="en-US" altLang="zh-TW" dirty="0" err="1"/>
              <a:t>host_ptr</a:t>
            </a:r>
            <a:r>
              <a:rPr lang="en-US" altLang="zh-TW" dirty="0"/>
              <a:t> is a pointer to the memory region specified when the image being read is created with CL_MEM_USE_HOST_PTR, must meet the following requirements in order to avoid undefined behavior:</a:t>
            </a:r>
            <a:endParaRPr lang="zh-TW" altLang="en-US" dirty="0"/>
          </a:p>
        </p:txBody>
      </p:sp>
      <p:sp>
        <p:nvSpPr>
          <p:cNvPr id="6" name="文字方塊 5"/>
          <p:cNvSpPr txBox="1"/>
          <p:nvPr/>
        </p:nvSpPr>
        <p:spPr>
          <a:xfrm>
            <a:off x="631595" y="3491069"/>
            <a:ext cx="7880809" cy="1200329"/>
          </a:xfrm>
          <a:prstGeom prst="rect">
            <a:avLst/>
          </a:prstGeom>
          <a:noFill/>
        </p:spPr>
        <p:txBody>
          <a:bodyPr wrap="square" rtlCol="0" anchor="ctr" anchorCtr="1">
            <a:spAutoFit/>
          </a:bodyPr>
          <a:lstStyle/>
          <a:p>
            <a:endParaRPr lang="zh-TW" altLang="en-US" dirty="0"/>
          </a:p>
          <a:p>
            <a:pPr marL="285750" indent="-285750">
              <a:buFont typeface="Wingdings" panose="05000000000000000000" pitchFamily="2" charset="2"/>
              <a:buChar char="n"/>
            </a:pPr>
            <a:r>
              <a:rPr lang="en-US" altLang="zh-TW" dirty="0"/>
              <a:t>All commands that use this image object have finished execution before the read command begins execution </a:t>
            </a:r>
          </a:p>
          <a:p>
            <a:endParaRPr lang="zh-TW" altLang="en-US" dirty="0" smtClean="0">
              <a:ea typeface="標楷體" pitchFamily="65" charset="-120"/>
              <a:cs typeface="Calibri" pitchFamily="34" charset="0"/>
            </a:endParaRPr>
          </a:p>
        </p:txBody>
      </p:sp>
    </p:spTree>
    <p:extLst>
      <p:ext uri="{BB962C8B-B14F-4D97-AF65-F5344CB8AC3E}">
        <p14:creationId xmlns:p14="http://schemas.microsoft.com/office/powerpoint/2010/main" val="402597261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Reading Image Objects </a:t>
            </a:r>
            <a:endParaRPr lang="zh-TW" altLang="en-US" dirty="0"/>
          </a:p>
        </p:txBody>
      </p:sp>
      <p:sp>
        <p:nvSpPr>
          <p:cNvPr id="6" name="文字方塊 5"/>
          <p:cNvSpPr txBox="1"/>
          <p:nvPr/>
        </p:nvSpPr>
        <p:spPr>
          <a:xfrm>
            <a:off x="339365" y="1689113"/>
            <a:ext cx="8191892" cy="2862322"/>
          </a:xfrm>
          <a:prstGeom prst="rect">
            <a:avLst/>
          </a:prstGeom>
          <a:noFill/>
        </p:spPr>
        <p:txBody>
          <a:bodyPr wrap="square" rtlCol="0" anchor="ctr" anchorCtr="1">
            <a:spAutoFit/>
          </a:bodyPr>
          <a:lstStyle/>
          <a:p>
            <a:pPr>
              <a:buFont typeface="Wingdings" panose="05000000000000000000" pitchFamily="2" charset="2"/>
              <a:buChar char="n"/>
            </a:pPr>
            <a:r>
              <a:rPr lang="en-US" altLang="zh-TW" dirty="0"/>
              <a:t>The </a:t>
            </a:r>
            <a:r>
              <a:rPr lang="en-US" altLang="zh-TW" b="1" i="1" dirty="0" err="1"/>
              <a:t>row_pitch</a:t>
            </a:r>
            <a:r>
              <a:rPr lang="en-US" altLang="zh-TW" i="1" dirty="0"/>
              <a:t> </a:t>
            </a:r>
            <a:r>
              <a:rPr lang="en-US" altLang="zh-TW" dirty="0"/>
              <a:t>and </a:t>
            </a:r>
            <a:r>
              <a:rPr lang="en-US" altLang="zh-TW" b="1" i="1" dirty="0" err="1"/>
              <a:t>slice_pitch</a:t>
            </a:r>
            <a:r>
              <a:rPr lang="en-US" altLang="zh-TW" i="1" dirty="0"/>
              <a:t> </a:t>
            </a:r>
            <a:r>
              <a:rPr lang="en-US" altLang="zh-TW" dirty="0"/>
              <a:t>argument values in </a:t>
            </a:r>
            <a:r>
              <a:rPr lang="en-US" altLang="zh-TW" b="1" dirty="0" err="1"/>
              <a:t>clEnqueueReadImage</a:t>
            </a:r>
            <a:r>
              <a:rPr lang="en-US" altLang="zh-TW" b="1" dirty="0"/>
              <a:t> </a:t>
            </a:r>
            <a:r>
              <a:rPr lang="en-US" altLang="zh-TW" dirty="0"/>
              <a:t>must be set to the image row pitch and slice pitch. </a:t>
            </a:r>
          </a:p>
          <a:p>
            <a:pPr>
              <a:buFont typeface="Wingdings" panose="05000000000000000000" pitchFamily="2" charset="2"/>
              <a:buChar char="n"/>
            </a:pPr>
            <a:endParaRPr lang="en-US" altLang="zh-TW" dirty="0" smtClean="0"/>
          </a:p>
          <a:p>
            <a:pPr>
              <a:buFont typeface="Wingdings" panose="05000000000000000000" pitchFamily="2" charset="2"/>
              <a:buChar char="n"/>
            </a:pPr>
            <a:endParaRPr lang="en-US" altLang="zh-TW" dirty="0"/>
          </a:p>
          <a:p>
            <a:pPr>
              <a:buFont typeface="Wingdings" panose="05000000000000000000" pitchFamily="2" charset="2"/>
              <a:buChar char="n"/>
            </a:pPr>
            <a:r>
              <a:rPr lang="en-US" altLang="zh-TW" dirty="0"/>
              <a:t>The image object is not mapped. </a:t>
            </a:r>
          </a:p>
          <a:p>
            <a:pPr>
              <a:buFont typeface="Wingdings" panose="05000000000000000000" pitchFamily="2" charset="2"/>
              <a:buChar char="n"/>
            </a:pPr>
            <a:endParaRPr lang="en-US" altLang="zh-TW" dirty="0" smtClean="0"/>
          </a:p>
          <a:p>
            <a:pPr>
              <a:buFont typeface="Wingdings" panose="05000000000000000000" pitchFamily="2" charset="2"/>
              <a:buChar char="n"/>
            </a:pPr>
            <a:endParaRPr lang="zh-TW" altLang="en-US" dirty="0"/>
          </a:p>
          <a:p>
            <a:pPr>
              <a:buFont typeface="Wingdings" panose="05000000000000000000" pitchFamily="2" charset="2"/>
              <a:buChar char="n"/>
            </a:pPr>
            <a:r>
              <a:rPr lang="en-US" altLang="zh-TW" dirty="0"/>
              <a:t>The image object is not used by any command-queue until the read command has finished execution. </a:t>
            </a:r>
          </a:p>
          <a:p>
            <a:endParaRPr lang="zh-TW" altLang="en-US" dirty="0" smtClean="0">
              <a:ea typeface="標楷體" pitchFamily="65" charset="-120"/>
              <a:cs typeface="Calibri" pitchFamily="34" charset="0"/>
            </a:endParaRPr>
          </a:p>
        </p:txBody>
      </p:sp>
    </p:spTree>
    <p:extLst>
      <p:ext uri="{BB962C8B-B14F-4D97-AF65-F5344CB8AC3E}">
        <p14:creationId xmlns:p14="http://schemas.microsoft.com/office/powerpoint/2010/main" val="29574163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Writing Image Objects </a:t>
            </a:r>
            <a:endParaRPr lang="zh-TW" altLang="en-US" dirty="0"/>
          </a:p>
        </p:txBody>
      </p:sp>
      <p:sp>
        <p:nvSpPr>
          <p:cNvPr id="5" name="內容版面配置區 4"/>
          <p:cNvSpPr>
            <a:spLocks noGrp="1"/>
          </p:cNvSpPr>
          <p:nvPr>
            <p:ph idx="1"/>
          </p:nvPr>
        </p:nvSpPr>
        <p:spPr>
          <a:xfrm>
            <a:off x="446089" y="1417769"/>
            <a:ext cx="8229600" cy="2390660"/>
          </a:xfrm>
        </p:spPr>
        <p:txBody>
          <a:bodyPr/>
          <a:lstStyle/>
          <a:p>
            <a:pPr marL="0" indent="0">
              <a:buNone/>
            </a:pPr>
            <a:r>
              <a:rPr lang="en-US" altLang="zh-TW" dirty="0"/>
              <a:t>Calling </a:t>
            </a:r>
            <a:r>
              <a:rPr lang="en-US" altLang="zh-TW" b="1" dirty="0" err="1"/>
              <a:t>clEnqueueWriteImage</a:t>
            </a:r>
            <a:r>
              <a:rPr lang="en-US" altLang="zh-TW" b="1" dirty="0"/>
              <a:t> </a:t>
            </a:r>
            <a:r>
              <a:rPr lang="en-US" altLang="zh-TW" dirty="0"/>
              <a:t>to update the latest bits in a region of the </a:t>
            </a:r>
            <a:r>
              <a:rPr lang="en-US" altLang="zh-TW" i="1" dirty="0"/>
              <a:t>image </a:t>
            </a:r>
            <a:r>
              <a:rPr lang="en-US" altLang="zh-TW" dirty="0"/>
              <a:t>with the </a:t>
            </a:r>
            <a:r>
              <a:rPr lang="en-US" altLang="zh-TW" i="1" dirty="0" err="1"/>
              <a:t>ptr</a:t>
            </a:r>
            <a:r>
              <a:rPr lang="en-US" altLang="zh-TW" i="1" dirty="0"/>
              <a:t> </a:t>
            </a:r>
            <a:r>
              <a:rPr lang="en-US" altLang="zh-TW" dirty="0"/>
              <a:t>argument value set to </a:t>
            </a:r>
            <a:r>
              <a:rPr lang="en-US" altLang="zh-TW" i="1" dirty="0" err="1"/>
              <a:t>host_ptr</a:t>
            </a:r>
            <a:r>
              <a:rPr lang="en-US" altLang="zh-TW" i="1" dirty="0"/>
              <a:t> </a:t>
            </a:r>
            <a:r>
              <a:rPr lang="en-US" altLang="zh-TW" dirty="0"/>
              <a:t>+ (</a:t>
            </a:r>
            <a:r>
              <a:rPr lang="en-US" altLang="zh-TW" i="1" dirty="0"/>
              <a:t>origin[2] </a:t>
            </a:r>
            <a:r>
              <a:rPr lang="en-US" altLang="zh-TW" dirty="0"/>
              <a:t>* </a:t>
            </a:r>
            <a:r>
              <a:rPr lang="en-US" altLang="zh-TW" i="1" dirty="0"/>
              <a:t>image slice pitch + origin[1] </a:t>
            </a:r>
            <a:r>
              <a:rPr lang="en-US" altLang="zh-TW" dirty="0"/>
              <a:t>* </a:t>
            </a:r>
            <a:r>
              <a:rPr lang="en-US" altLang="zh-TW" i="1" dirty="0"/>
              <a:t>image row pitch + origin[0] </a:t>
            </a:r>
            <a:r>
              <a:rPr lang="en-US" altLang="zh-TW" dirty="0"/>
              <a:t>* </a:t>
            </a:r>
            <a:r>
              <a:rPr lang="en-US" altLang="zh-TW" i="1" dirty="0"/>
              <a:t>bytes per pixel</a:t>
            </a:r>
            <a:r>
              <a:rPr lang="en-US" altLang="zh-TW" dirty="0"/>
              <a:t>), where </a:t>
            </a:r>
            <a:r>
              <a:rPr lang="en-US" altLang="zh-TW" i="1" dirty="0" err="1"/>
              <a:t>host_ptr</a:t>
            </a:r>
            <a:r>
              <a:rPr lang="en-US" altLang="zh-TW" i="1" dirty="0"/>
              <a:t> </a:t>
            </a:r>
            <a:r>
              <a:rPr lang="en-US" altLang="zh-TW" dirty="0"/>
              <a:t>is a pointer to the memory region specified when the </a:t>
            </a:r>
            <a:r>
              <a:rPr lang="en-US" altLang="zh-TW" i="1" dirty="0"/>
              <a:t>image </a:t>
            </a:r>
            <a:r>
              <a:rPr lang="en-US" altLang="zh-TW" dirty="0"/>
              <a:t>being written is created with CL_MEM_USE_HOST_PTR, must meet the following requirements in order to avoid undefined behavior: </a:t>
            </a:r>
            <a:endParaRPr lang="zh-TW" altLang="en-US" dirty="0"/>
          </a:p>
        </p:txBody>
      </p:sp>
      <p:sp>
        <p:nvSpPr>
          <p:cNvPr id="6" name="文字方塊 5"/>
          <p:cNvSpPr txBox="1"/>
          <p:nvPr/>
        </p:nvSpPr>
        <p:spPr>
          <a:xfrm>
            <a:off x="358219" y="3971837"/>
            <a:ext cx="8154186" cy="1200329"/>
          </a:xfrm>
          <a:prstGeom prst="rect">
            <a:avLst/>
          </a:prstGeom>
          <a:noFill/>
        </p:spPr>
        <p:txBody>
          <a:bodyPr wrap="square" rtlCol="0" anchor="ctr" anchorCtr="1">
            <a:spAutoFit/>
          </a:bodyPr>
          <a:lstStyle/>
          <a:p>
            <a:endParaRPr lang="zh-TW" altLang="en-US" dirty="0"/>
          </a:p>
          <a:p>
            <a:pPr marL="285750" indent="-285750">
              <a:buFont typeface="Wingdings" panose="05000000000000000000" pitchFamily="2" charset="2"/>
              <a:buChar char="n"/>
            </a:pPr>
            <a:r>
              <a:rPr lang="en-US" altLang="zh-TW" dirty="0"/>
              <a:t>The host memory region being written contains the latest bits when the </a:t>
            </a:r>
            <a:r>
              <a:rPr lang="en-US" altLang="zh-TW" dirty="0" err="1"/>
              <a:t>enqueued</a:t>
            </a:r>
            <a:r>
              <a:rPr lang="en-US" altLang="zh-TW" dirty="0"/>
              <a:t> write command begins </a:t>
            </a:r>
            <a:r>
              <a:rPr lang="en-US" altLang="zh-TW" dirty="0" smtClean="0"/>
              <a:t>execution.</a:t>
            </a:r>
            <a:endParaRPr lang="en-US" altLang="zh-TW" dirty="0"/>
          </a:p>
          <a:p>
            <a:endParaRPr lang="zh-TW" altLang="en-US" dirty="0" smtClean="0">
              <a:ea typeface="標楷體" pitchFamily="65" charset="-120"/>
              <a:cs typeface="Calibri" pitchFamily="34" charset="0"/>
            </a:endParaRPr>
          </a:p>
        </p:txBody>
      </p:sp>
    </p:spTree>
    <p:extLst>
      <p:ext uri="{BB962C8B-B14F-4D97-AF65-F5344CB8AC3E}">
        <p14:creationId xmlns:p14="http://schemas.microsoft.com/office/powerpoint/2010/main" val="253923441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Writing Image Objects </a:t>
            </a:r>
            <a:endParaRPr lang="zh-TW" altLang="en-US" dirty="0"/>
          </a:p>
        </p:txBody>
      </p:sp>
      <p:sp>
        <p:nvSpPr>
          <p:cNvPr id="6" name="文字方塊 5"/>
          <p:cNvSpPr txBox="1"/>
          <p:nvPr/>
        </p:nvSpPr>
        <p:spPr>
          <a:xfrm>
            <a:off x="179109" y="1451631"/>
            <a:ext cx="9153427" cy="3139321"/>
          </a:xfrm>
          <a:prstGeom prst="rect">
            <a:avLst/>
          </a:prstGeom>
          <a:noFill/>
        </p:spPr>
        <p:txBody>
          <a:bodyPr wrap="square" rtlCol="0" anchor="ctr" anchorCtr="1">
            <a:spAutoFit/>
          </a:bodyPr>
          <a:lstStyle/>
          <a:p>
            <a:endParaRPr lang="zh-TW" altLang="en-US" dirty="0"/>
          </a:p>
          <a:p>
            <a:pPr marL="285750" indent="-285750">
              <a:buFont typeface="Wingdings" panose="05000000000000000000" pitchFamily="2" charset="2"/>
              <a:buChar char="n"/>
            </a:pPr>
            <a:r>
              <a:rPr lang="en-US" altLang="zh-TW" dirty="0"/>
              <a:t>The </a:t>
            </a:r>
            <a:r>
              <a:rPr lang="en-US" altLang="zh-TW" i="1" dirty="0" err="1"/>
              <a:t>input_row_pitch</a:t>
            </a:r>
            <a:r>
              <a:rPr lang="en-US" altLang="zh-TW" i="1" dirty="0"/>
              <a:t> </a:t>
            </a:r>
            <a:r>
              <a:rPr lang="en-US" altLang="zh-TW" dirty="0"/>
              <a:t>and </a:t>
            </a:r>
            <a:r>
              <a:rPr lang="en-US" altLang="zh-TW" i="1" dirty="0" err="1"/>
              <a:t>input_slice_pitch</a:t>
            </a:r>
            <a:r>
              <a:rPr lang="en-US" altLang="zh-TW" i="1" dirty="0"/>
              <a:t> </a:t>
            </a:r>
            <a:r>
              <a:rPr lang="en-US" altLang="zh-TW" dirty="0"/>
              <a:t>argument values in </a:t>
            </a:r>
            <a:r>
              <a:rPr lang="en-US" altLang="zh-TW" b="1" dirty="0" err="1"/>
              <a:t>clEnqueueWriteImage</a:t>
            </a:r>
            <a:r>
              <a:rPr lang="en-US" altLang="zh-TW" b="1" dirty="0"/>
              <a:t> </a:t>
            </a:r>
            <a:r>
              <a:rPr lang="en-US" altLang="zh-TW" dirty="0"/>
              <a:t>must be set to the image row pitch and slice pitch. </a:t>
            </a:r>
          </a:p>
          <a:p>
            <a:pPr marL="285750" indent="-285750">
              <a:buFont typeface="Wingdings" panose="05000000000000000000" pitchFamily="2" charset="2"/>
              <a:buChar char="n"/>
            </a:pPr>
            <a:endParaRPr lang="en-US" altLang="zh-TW" dirty="0" smtClean="0"/>
          </a:p>
          <a:p>
            <a:pPr marL="285750" indent="-285750">
              <a:buFont typeface="Wingdings" panose="05000000000000000000" pitchFamily="2" charset="2"/>
              <a:buChar char="n"/>
            </a:pPr>
            <a:endParaRPr lang="zh-TW" altLang="en-US" dirty="0"/>
          </a:p>
          <a:p>
            <a:pPr marL="285750" indent="-285750">
              <a:buFont typeface="Wingdings" panose="05000000000000000000" pitchFamily="2" charset="2"/>
              <a:buChar char="n"/>
            </a:pPr>
            <a:r>
              <a:rPr lang="en-US" altLang="zh-TW" dirty="0" smtClean="0"/>
              <a:t>The </a:t>
            </a:r>
            <a:r>
              <a:rPr lang="en-US" altLang="zh-TW" dirty="0"/>
              <a:t>image object is not mapped. </a:t>
            </a:r>
          </a:p>
          <a:p>
            <a:pPr marL="285750" indent="-285750">
              <a:buFont typeface="Wingdings" panose="05000000000000000000" pitchFamily="2" charset="2"/>
              <a:buChar char="n"/>
            </a:pPr>
            <a:endParaRPr lang="en-US" altLang="zh-TW" dirty="0" smtClean="0"/>
          </a:p>
          <a:p>
            <a:pPr marL="285750" indent="-285750">
              <a:buFont typeface="Wingdings" panose="05000000000000000000" pitchFamily="2" charset="2"/>
              <a:buChar char="n"/>
            </a:pPr>
            <a:endParaRPr lang="zh-TW" altLang="en-US" dirty="0"/>
          </a:p>
          <a:p>
            <a:pPr marL="285750" indent="-285750">
              <a:buFont typeface="Wingdings" panose="05000000000000000000" pitchFamily="2" charset="2"/>
              <a:buChar char="n"/>
            </a:pPr>
            <a:r>
              <a:rPr lang="en-US" altLang="zh-TW" dirty="0" smtClean="0"/>
              <a:t>The </a:t>
            </a:r>
            <a:r>
              <a:rPr lang="en-US" altLang="zh-TW" dirty="0"/>
              <a:t>image object is not used by any command-queue until the write command has finished execution. </a:t>
            </a:r>
          </a:p>
          <a:p>
            <a:endParaRPr lang="zh-TW" altLang="en-US" dirty="0" smtClean="0">
              <a:ea typeface="標楷體" pitchFamily="65" charset="-120"/>
              <a:cs typeface="Calibri" pitchFamily="34" charset="0"/>
            </a:endParaRPr>
          </a:p>
        </p:txBody>
      </p:sp>
    </p:spTree>
    <p:extLst>
      <p:ext uri="{BB962C8B-B14F-4D97-AF65-F5344CB8AC3E}">
        <p14:creationId xmlns:p14="http://schemas.microsoft.com/office/powerpoint/2010/main" val="262239761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Copying Image Objects </a:t>
            </a:r>
            <a:endParaRPr lang="zh-TW" altLang="en-US" dirty="0"/>
          </a:p>
        </p:txBody>
      </p:sp>
      <p:pic>
        <p:nvPicPr>
          <p:cNvPr id="6" name="內容版面配置區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4286" y="1241797"/>
            <a:ext cx="6527074" cy="2482964"/>
          </a:xfrm>
        </p:spPr>
      </p:pic>
      <p:sp>
        <p:nvSpPr>
          <p:cNvPr id="7" name="文字方塊 6"/>
          <p:cNvSpPr txBox="1"/>
          <p:nvPr/>
        </p:nvSpPr>
        <p:spPr>
          <a:xfrm>
            <a:off x="980388" y="3906435"/>
            <a:ext cx="7409468" cy="1200329"/>
          </a:xfrm>
          <a:prstGeom prst="rect">
            <a:avLst/>
          </a:prstGeom>
          <a:noFill/>
        </p:spPr>
        <p:txBody>
          <a:bodyPr wrap="square" rtlCol="0" anchor="ctr" anchorCtr="1">
            <a:spAutoFit/>
          </a:bodyPr>
          <a:lstStyle/>
          <a:p>
            <a:r>
              <a:rPr lang="en-US" altLang="zh-TW" b="1" i="1" dirty="0" err="1" smtClean="0"/>
              <a:t>src_origin</a:t>
            </a:r>
            <a:r>
              <a:rPr lang="en-US" altLang="zh-TW" i="1" dirty="0" smtClean="0"/>
              <a:t> and </a:t>
            </a:r>
            <a:r>
              <a:rPr lang="en-US" altLang="zh-TW" b="1" i="1" dirty="0" err="1"/>
              <a:t>dst_origin</a:t>
            </a:r>
            <a:r>
              <a:rPr lang="en-US" altLang="zh-TW" i="1" dirty="0"/>
              <a:t> </a:t>
            </a:r>
            <a:r>
              <a:rPr lang="en-US" altLang="zh-TW" i="1" dirty="0" smtClean="0"/>
              <a:t> </a:t>
            </a:r>
          </a:p>
          <a:p>
            <a:pPr lvl="1"/>
            <a:r>
              <a:rPr lang="en-US" altLang="zh-TW" dirty="0" smtClean="0"/>
              <a:t>defines </a:t>
            </a:r>
            <a:r>
              <a:rPr lang="en-US" altLang="zh-TW" dirty="0"/>
              <a:t>the (</a:t>
            </a:r>
            <a:r>
              <a:rPr lang="en-US" altLang="zh-TW" i="1" dirty="0"/>
              <a:t>x</a:t>
            </a:r>
            <a:r>
              <a:rPr lang="en-US" altLang="zh-TW" dirty="0"/>
              <a:t>, </a:t>
            </a:r>
            <a:r>
              <a:rPr lang="en-US" altLang="zh-TW" i="1" dirty="0"/>
              <a:t>y</a:t>
            </a:r>
            <a:r>
              <a:rPr lang="en-US" altLang="zh-TW" dirty="0"/>
              <a:t>, </a:t>
            </a:r>
            <a:r>
              <a:rPr lang="en-US" altLang="zh-TW" i="1" dirty="0"/>
              <a:t>z</a:t>
            </a:r>
            <a:r>
              <a:rPr lang="en-US" altLang="zh-TW" dirty="0"/>
              <a:t>) offset in pixels in the 1D, 2D or 3D image, the (</a:t>
            </a:r>
            <a:r>
              <a:rPr lang="en-US" altLang="zh-TW" i="1" dirty="0"/>
              <a:t>x</a:t>
            </a:r>
            <a:r>
              <a:rPr lang="en-US" altLang="zh-TW" dirty="0"/>
              <a:t>, </a:t>
            </a:r>
            <a:r>
              <a:rPr lang="en-US" altLang="zh-TW" i="1" dirty="0"/>
              <a:t>y</a:t>
            </a:r>
            <a:r>
              <a:rPr lang="en-US" altLang="zh-TW" dirty="0"/>
              <a:t>) offset and the image index in the 2D image array or the (</a:t>
            </a:r>
            <a:r>
              <a:rPr lang="en-US" altLang="zh-TW" i="1" dirty="0"/>
              <a:t>x</a:t>
            </a:r>
            <a:r>
              <a:rPr lang="en-US" altLang="zh-TW" dirty="0"/>
              <a:t>) offset and the image index in the 1D image array. </a:t>
            </a:r>
            <a:endParaRPr lang="zh-TW" altLang="en-US" dirty="0" smtClean="0">
              <a:ea typeface="標楷體" pitchFamily="65" charset="-120"/>
              <a:cs typeface="Calibri" pitchFamily="34" charset="0"/>
            </a:endParaRPr>
          </a:p>
        </p:txBody>
      </p:sp>
      <p:sp>
        <p:nvSpPr>
          <p:cNvPr id="8" name="矩形 7"/>
          <p:cNvSpPr/>
          <p:nvPr/>
        </p:nvSpPr>
        <p:spPr bwMode="auto">
          <a:xfrm>
            <a:off x="3318148" y="2056929"/>
            <a:ext cx="3158066" cy="473485"/>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149042171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Copying Image Objects </a:t>
            </a:r>
            <a:endParaRPr lang="zh-TW" altLang="en-US" dirty="0"/>
          </a:p>
        </p:txBody>
      </p:sp>
      <p:pic>
        <p:nvPicPr>
          <p:cNvPr id="6" name="內容版面配置區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93078" y="1251224"/>
            <a:ext cx="6527074" cy="2482964"/>
          </a:xfrm>
        </p:spPr>
      </p:pic>
      <p:sp>
        <p:nvSpPr>
          <p:cNvPr id="7" name="矩形 6"/>
          <p:cNvSpPr/>
          <p:nvPr/>
        </p:nvSpPr>
        <p:spPr bwMode="auto">
          <a:xfrm>
            <a:off x="3695220" y="2492707"/>
            <a:ext cx="3092079" cy="278774"/>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
        <p:nvSpPr>
          <p:cNvPr id="8" name="文字方塊 7"/>
          <p:cNvSpPr txBox="1"/>
          <p:nvPr/>
        </p:nvSpPr>
        <p:spPr>
          <a:xfrm>
            <a:off x="998008" y="3734188"/>
            <a:ext cx="7147986" cy="1754326"/>
          </a:xfrm>
          <a:prstGeom prst="rect">
            <a:avLst/>
          </a:prstGeom>
          <a:noFill/>
        </p:spPr>
        <p:txBody>
          <a:bodyPr wrap="square" rtlCol="0" anchor="ctr" anchorCtr="1">
            <a:spAutoFit/>
          </a:bodyPr>
          <a:lstStyle/>
          <a:p>
            <a:r>
              <a:rPr lang="en-US" altLang="zh-TW" b="1" i="1" dirty="0"/>
              <a:t>region</a:t>
            </a:r>
            <a:r>
              <a:rPr lang="en-US" altLang="zh-TW" i="1" dirty="0"/>
              <a:t> </a:t>
            </a:r>
            <a:endParaRPr lang="en-US" altLang="zh-TW" i="1" dirty="0" smtClean="0"/>
          </a:p>
          <a:p>
            <a:pPr lvl="1"/>
            <a:r>
              <a:rPr lang="en-US" altLang="zh-TW" dirty="0" smtClean="0"/>
              <a:t>defines </a:t>
            </a:r>
            <a:r>
              <a:rPr lang="en-US" altLang="zh-TW" dirty="0"/>
              <a:t>the (</a:t>
            </a:r>
            <a:r>
              <a:rPr lang="en-US" altLang="zh-TW" i="1" dirty="0"/>
              <a:t>width</a:t>
            </a:r>
            <a:r>
              <a:rPr lang="en-US" altLang="zh-TW" dirty="0"/>
              <a:t>, </a:t>
            </a:r>
            <a:r>
              <a:rPr lang="en-US" altLang="zh-TW" i="1" dirty="0"/>
              <a:t>height, depth</a:t>
            </a:r>
            <a:r>
              <a:rPr lang="en-US" altLang="zh-TW" dirty="0"/>
              <a:t>) in pixels of the 1D, 2D or 3D rectangle, the (</a:t>
            </a:r>
            <a:r>
              <a:rPr lang="en-US" altLang="zh-TW" i="1" dirty="0"/>
              <a:t>width</a:t>
            </a:r>
            <a:r>
              <a:rPr lang="en-US" altLang="zh-TW" dirty="0"/>
              <a:t>, </a:t>
            </a:r>
            <a:r>
              <a:rPr lang="en-US" altLang="zh-TW" i="1" dirty="0"/>
              <a:t>height</a:t>
            </a:r>
            <a:r>
              <a:rPr lang="en-US" altLang="zh-TW" dirty="0"/>
              <a:t>) in pixels of the 2D rectangle and the number of images of a 2D image array or the (</a:t>
            </a:r>
            <a:r>
              <a:rPr lang="en-US" altLang="zh-TW" i="1" dirty="0"/>
              <a:t>width</a:t>
            </a:r>
            <a:r>
              <a:rPr lang="en-US" altLang="zh-TW" dirty="0"/>
              <a:t>) in pixels of the 1D rectangle and the number of images of a 1D image array. </a:t>
            </a:r>
            <a:endParaRPr lang="zh-TW" altLang="en-US" dirty="0" smtClean="0">
              <a:ea typeface="標楷體" pitchFamily="65" charset="-120"/>
              <a:cs typeface="Calibri" pitchFamily="34" charset="0"/>
            </a:endParaRPr>
          </a:p>
        </p:txBody>
      </p:sp>
    </p:spTree>
    <p:extLst>
      <p:ext uri="{BB962C8B-B14F-4D97-AF65-F5344CB8AC3E}">
        <p14:creationId xmlns:p14="http://schemas.microsoft.com/office/powerpoint/2010/main" val="61514786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Copying Image Objects </a:t>
            </a:r>
            <a:endParaRPr lang="zh-TW" altLang="en-US" dirty="0"/>
          </a:p>
        </p:txBody>
      </p:sp>
      <p:sp>
        <p:nvSpPr>
          <p:cNvPr id="5" name="內容版面配置區 4"/>
          <p:cNvSpPr>
            <a:spLocks noGrp="1"/>
          </p:cNvSpPr>
          <p:nvPr>
            <p:ph idx="1"/>
          </p:nvPr>
        </p:nvSpPr>
        <p:spPr/>
        <p:txBody>
          <a:bodyPr/>
          <a:lstStyle/>
          <a:p>
            <a:r>
              <a:rPr lang="en-US" altLang="zh-TW" dirty="0"/>
              <a:t>It is currently a requirement that the </a:t>
            </a:r>
            <a:r>
              <a:rPr lang="en-US" altLang="zh-TW" i="1" dirty="0" err="1"/>
              <a:t>src_image</a:t>
            </a:r>
            <a:r>
              <a:rPr lang="en-US" altLang="zh-TW" i="1" dirty="0"/>
              <a:t> </a:t>
            </a:r>
            <a:r>
              <a:rPr lang="en-US" altLang="zh-TW" dirty="0"/>
              <a:t>and </a:t>
            </a:r>
            <a:r>
              <a:rPr lang="en-US" altLang="zh-TW" i="1" dirty="0" err="1"/>
              <a:t>dst_image</a:t>
            </a:r>
            <a:r>
              <a:rPr lang="en-US" altLang="zh-TW" i="1" dirty="0"/>
              <a:t> </a:t>
            </a:r>
            <a:r>
              <a:rPr lang="en-US" altLang="zh-TW" dirty="0"/>
              <a:t>image memory objects for </a:t>
            </a:r>
            <a:r>
              <a:rPr lang="en-US" altLang="zh-TW" b="1" dirty="0" err="1"/>
              <a:t>clEnqueueCopyImage</a:t>
            </a:r>
            <a:r>
              <a:rPr lang="en-US" altLang="zh-TW" b="1" dirty="0"/>
              <a:t> </a:t>
            </a:r>
            <a:r>
              <a:rPr lang="en-US" altLang="zh-TW" dirty="0"/>
              <a:t>must have the exact same image format (i.e. the </a:t>
            </a:r>
            <a:r>
              <a:rPr lang="en-US" altLang="zh-TW" dirty="0" err="1"/>
              <a:t>cl_image_format</a:t>
            </a:r>
            <a:r>
              <a:rPr lang="en-US" altLang="zh-TW" dirty="0"/>
              <a:t> descriptor specified when </a:t>
            </a:r>
            <a:r>
              <a:rPr lang="en-US" altLang="zh-TW" i="1" dirty="0" err="1"/>
              <a:t>src_image</a:t>
            </a:r>
            <a:r>
              <a:rPr lang="en-US" altLang="zh-TW" i="1" dirty="0"/>
              <a:t> </a:t>
            </a:r>
            <a:r>
              <a:rPr lang="en-US" altLang="zh-TW" dirty="0"/>
              <a:t>and </a:t>
            </a:r>
            <a:r>
              <a:rPr lang="en-US" altLang="zh-TW" i="1" dirty="0" err="1"/>
              <a:t>dst_image</a:t>
            </a:r>
            <a:r>
              <a:rPr lang="en-US" altLang="zh-TW" i="1" dirty="0"/>
              <a:t> </a:t>
            </a:r>
            <a:r>
              <a:rPr lang="en-US" altLang="zh-TW" dirty="0"/>
              <a:t>are created must match). </a:t>
            </a:r>
            <a:endParaRPr lang="en-US" altLang="zh-TW" dirty="0" smtClean="0"/>
          </a:p>
          <a:p>
            <a:endParaRPr lang="en-US" altLang="zh-TW" dirty="0"/>
          </a:p>
          <a:p>
            <a:pPr marL="0" indent="0">
              <a:buNone/>
            </a:pPr>
            <a:endParaRPr lang="en-US" altLang="zh-TW" dirty="0"/>
          </a:p>
          <a:p>
            <a:r>
              <a:rPr lang="en-US" altLang="zh-TW" b="1" dirty="0" err="1"/>
              <a:t>clEnqueueCopyImage</a:t>
            </a:r>
            <a:r>
              <a:rPr lang="en-US" altLang="zh-TW" b="1" dirty="0"/>
              <a:t> </a:t>
            </a:r>
            <a:r>
              <a:rPr lang="en-US" altLang="zh-TW" dirty="0"/>
              <a:t>returns CL_SUCCESS if the function is executed successfully. </a:t>
            </a:r>
            <a:endParaRPr lang="zh-TW" altLang="en-US" dirty="0"/>
          </a:p>
        </p:txBody>
      </p:sp>
    </p:spTree>
    <p:extLst>
      <p:ext uri="{BB962C8B-B14F-4D97-AF65-F5344CB8AC3E}">
        <p14:creationId xmlns:p14="http://schemas.microsoft.com/office/powerpoint/2010/main" val="105980260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Filling Image Objects</a:t>
            </a:r>
            <a:endParaRPr lang="zh-TW" altLang="en-US" dirty="0"/>
          </a:p>
        </p:txBody>
      </p:sp>
      <p:pic>
        <p:nvPicPr>
          <p:cNvPr id="6" name="內容版面配置區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05929" y="1320913"/>
            <a:ext cx="6463414" cy="2093568"/>
          </a:xfrm>
        </p:spPr>
      </p:pic>
      <p:sp>
        <p:nvSpPr>
          <p:cNvPr id="7" name="文字方塊 6"/>
          <p:cNvSpPr txBox="1"/>
          <p:nvPr/>
        </p:nvSpPr>
        <p:spPr>
          <a:xfrm>
            <a:off x="322026" y="3530960"/>
            <a:ext cx="8499949" cy="2308324"/>
          </a:xfrm>
          <a:prstGeom prst="rect">
            <a:avLst/>
          </a:prstGeom>
          <a:noFill/>
        </p:spPr>
        <p:txBody>
          <a:bodyPr wrap="square" rtlCol="0" anchor="ctr" anchorCtr="1">
            <a:spAutoFit/>
          </a:bodyPr>
          <a:lstStyle/>
          <a:p>
            <a:r>
              <a:rPr lang="en-US" altLang="zh-TW" b="1" i="1" dirty="0" err="1"/>
              <a:t>fill_color</a:t>
            </a:r>
            <a:r>
              <a:rPr lang="en-US" altLang="zh-TW" i="1" dirty="0"/>
              <a:t> </a:t>
            </a:r>
            <a:endParaRPr lang="en-US" altLang="zh-TW" i="1" dirty="0" smtClean="0"/>
          </a:p>
          <a:p>
            <a:pPr lvl="1"/>
            <a:r>
              <a:rPr lang="en-US" altLang="zh-TW" dirty="0" smtClean="0"/>
              <a:t>is </a:t>
            </a:r>
            <a:r>
              <a:rPr lang="en-US" altLang="zh-TW" dirty="0"/>
              <a:t>the fill color. The fill color is a four component RGBA floating-point color value if the </a:t>
            </a:r>
            <a:r>
              <a:rPr lang="en-US" altLang="zh-TW" i="1" dirty="0"/>
              <a:t>image </a:t>
            </a:r>
            <a:r>
              <a:rPr lang="en-US" altLang="zh-TW" dirty="0"/>
              <a:t>channel data type is not an </a:t>
            </a:r>
            <a:r>
              <a:rPr lang="en-US" altLang="zh-TW" dirty="0" err="1"/>
              <a:t>unnormalized</a:t>
            </a:r>
            <a:r>
              <a:rPr lang="en-US" altLang="zh-TW" dirty="0"/>
              <a:t> signed or unsigned integer type, is a four component signed integer value if the </a:t>
            </a:r>
            <a:r>
              <a:rPr lang="en-US" altLang="zh-TW" i="1" dirty="0"/>
              <a:t>image </a:t>
            </a:r>
            <a:r>
              <a:rPr lang="en-US" altLang="zh-TW" dirty="0"/>
              <a:t>channel data type is an </a:t>
            </a:r>
            <a:r>
              <a:rPr lang="en-US" altLang="zh-TW" dirty="0" err="1"/>
              <a:t>unnormalized</a:t>
            </a:r>
            <a:r>
              <a:rPr lang="en-US" altLang="zh-TW" dirty="0"/>
              <a:t> signed integer type and is a four component unsigned integer value if the </a:t>
            </a:r>
            <a:r>
              <a:rPr lang="en-US" altLang="zh-TW" i="1" dirty="0"/>
              <a:t>image </a:t>
            </a:r>
            <a:r>
              <a:rPr lang="en-US" altLang="zh-TW" dirty="0"/>
              <a:t>channel data type is an </a:t>
            </a:r>
            <a:r>
              <a:rPr lang="en-US" altLang="zh-TW" dirty="0" err="1"/>
              <a:t>unnormalized</a:t>
            </a:r>
            <a:r>
              <a:rPr lang="en-US" altLang="zh-TW" dirty="0"/>
              <a:t> unsigned integer type. The fill color will be converted to the appropriate image channel format and </a:t>
            </a:r>
            <a:r>
              <a:rPr lang="en-US" altLang="zh-TW" dirty="0" smtClean="0"/>
              <a:t>order. </a:t>
            </a:r>
            <a:endParaRPr lang="zh-TW" altLang="en-US" dirty="0" smtClean="0">
              <a:ea typeface="標楷體" pitchFamily="65" charset="-120"/>
              <a:cs typeface="Calibri" pitchFamily="34" charset="0"/>
            </a:endParaRPr>
          </a:p>
        </p:txBody>
      </p:sp>
      <p:sp>
        <p:nvSpPr>
          <p:cNvPr id="8" name="矩形 7"/>
          <p:cNvSpPr/>
          <p:nvPr/>
        </p:nvSpPr>
        <p:spPr bwMode="auto">
          <a:xfrm>
            <a:off x="4157221" y="1857080"/>
            <a:ext cx="2158738" cy="273378"/>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1800" b="1" i="0" u="none" strike="noStrike" cap="none" normalizeH="0" baseline="0" smtClean="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382865018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Copying between Image and Buffer Objects</a:t>
            </a:r>
            <a:endParaRPr lang="zh-TW" altLang="en-US" dirty="0"/>
          </a:p>
        </p:txBody>
      </p:sp>
      <p:pic>
        <p:nvPicPr>
          <p:cNvPr id="6" name="內容版面配置區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16378" y="1181772"/>
            <a:ext cx="6311245" cy="2092351"/>
          </a:xfrm>
        </p:spPr>
      </p:pic>
      <p:pic>
        <p:nvPicPr>
          <p:cNvPr id="7" name="圖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6056" y="3459616"/>
            <a:ext cx="6311038" cy="2055065"/>
          </a:xfrm>
          <a:prstGeom prst="rect">
            <a:avLst/>
          </a:prstGeom>
        </p:spPr>
      </p:pic>
    </p:spTree>
    <p:extLst>
      <p:ext uri="{BB962C8B-B14F-4D97-AF65-F5344CB8AC3E}">
        <p14:creationId xmlns:p14="http://schemas.microsoft.com/office/powerpoint/2010/main" val="164795877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Mapping Image Objects </a:t>
            </a:r>
            <a:endParaRPr lang="zh-TW" altLang="en-US" dirty="0"/>
          </a:p>
        </p:txBody>
      </p:sp>
      <p:pic>
        <p:nvPicPr>
          <p:cNvPr id="6" name="內容版面配置區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8314" y="1540039"/>
            <a:ext cx="8229600" cy="3689775"/>
          </a:xfrm>
        </p:spPr>
      </p:pic>
      <p:sp>
        <p:nvSpPr>
          <p:cNvPr id="7" name="矩形 6"/>
          <p:cNvSpPr/>
          <p:nvPr/>
        </p:nvSpPr>
        <p:spPr bwMode="auto">
          <a:xfrm>
            <a:off x="3955983" y="2213811"/>
            <a:ext cx="3060834" cy="625642"/>
          </a:xfrm>
          <a:prstGeom prst="rect">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2000" b="1" i="0" u="none" strike="noStrike" cap="none" normalizeH="0" baseline="0" smtClean="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53732486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Mapping Image Objects </a:t>
            </a:r>
            <a:endParaRPr lang="zh-TW" altLang="en-US" dirty="0"/>
          </a:p>
        </p:txBody>
      </p:sp>
      <p:sp>
        <p:nvSpPr>
          <p:cNvPr id="5" name="內容版面配置區 4"/>
          <p:cNvSpPr>
            <a:spLocks noGrp="1"/>
          </p:cNvSpPr>
          <p:nvPr>
            <p:ph idx="1"/>
          </p:nvPr>
        </p:nvSpPr>
        <p:spPr>
          <a:xfrm>
            <a:off x="468314" y="1681719"/>
            <a:ext cx="8229600" cy="4895850"/>
          </a:xfrm>
        </p:spPr>
        <p:txBody>
          <a:bodyPr/>
          <a:lstStyle/>
          <a:p>
            <a:pPr marL="0" indent="0">
              <a:buNone/>
            </a:pPr>
            <a:r>
              <a:rPr lang="en-US" altLang="zh-TW" b="1" i="1" dirty="0" err="1"/>
              <a:t>blocking_map</a:t>
            </a:r>
            <a:r>
              <a:rPr lang="en-US" altLang="zh-TW" b="1" i="1" dirty="0"/>
              <a:t> </a:t>
            </a:r>
            <a:endParaRPr lang="en-US" altLang="zh-TW" b="1" i="1" dirty="0" smtClean="0"/>
          </a:p>
          <a:p>
            <a:pPr marL="300038" lvl="1" indent="0">
              <a:buNone/>
            </a:pPr>
            <a:r>
              <a:rPr lang="en-US" altLang="zh-TW" sz="2400" dirty="0" smtClean="0"/>
              <a:t>-indicates </a:t>
            </a:r>
            <a:r>
              <a:rPr lang="en-US" altLang="zh-TW" sz="2400" dirty="0"/>
              <a:t>if the map operation is </a:t>
            </a:r>
            <a:r>
              <a:rPr lang="en-US" altLang="zh-TW" sz="2400" i="1" dirty="0"/>
              <a:t>blocking </a:t>
            </a:r>
            <a:r>
              <a:rPr lang="en-US" altLang="zh-TW" sz="2400" dirty="0"/>
              <a:t>or </a:t>
            </a:r>
            <a:r>
              <a:rPr lang="en-US" altLang="zh-TW" sz="2400" i="1" dirty="0"/>
              <a:t>non-blocking</a:t>
            </a:r>
            <a:r>
              <a:rPr lang="en-US" altLang="zh-TW" sz="2400" dirty="0"/>
              <a:t>. </a:t>
            </a:r>
            <a:endParaRPr lang="en-US" altLang="zh-TW" sz="2400" dirty="0" smtClean="0"/>
          </a:p>
          <a:p>
            <a:pPr marL="300038" lvl="1" indent="0">
              <a:buNone/>
            </a:pPr>
            <a:endParaRPr lang="en-US" altLang="zh-TW" dirty="0"/>
          </a:p>
          <a:p>
            <a:pPr marL="300038" lvl="1" indent="0">
              <a:buNone/>
            </a:pPr>
            <a:endParaRPr lang="en-US" altLang="zh-TW" dirty="0" smtClean="0"/>
          </a:p>
          <a:p>
            <a:pPr>
              <a:buFont typeface="Wingdings" panose="05000000000000000000" pitchFamily="2" charset="2"/>
              <a:buChar char="n"/>
            </a:pPr>
            <a:r>
              <a:rPr lang="en-US" altLang="zh-TW" dirty="0" smtClean="0"/>
              <a:t>If </a:t>
            </a:r>
            <a:r>
              <a:rPr lang="en-US" altLang="zh-TW" i="1" dirty="0" err="1"/>
              <a:t>blocking_map</a:t>
            </a:r>
            <a:r>
              <a:rPr lang="en-US" altLang="zh-TW" i="1" dirty="0"/>
              <a:t> </a:t>
            </a:r>
            <a:r>
              <a:rPr lang="en-US" altLang="zh-TW" dirty="0"/>
              <a:t>is CL_TRUE, </a:t>
            </a:r>
            <a:r>
              <a:rPr lang="en-US" altLang="zh-TW" b="1" dirty="0" err="1"/>
              <a:t>clEnqueueMapImage</a:t>
            </a:r>
            <a:r>
              <a:rPr lang="en-US" altLang="zh-TW" b="1" dirty="0"/>
              <a:t> </a:t>
            </a:r>
            <a:r>
              <a:rPr lang="en-US" altLang="zh-TW" dirty="0"/>
              <a:t>does not return until the specified region in </a:t>
            </a:r>
            <a:r>
              <a:rPr lang="en-US" altLang="zh-TW" i="1" dirty="0"/>
              <a:t>image </a:t>
            </a:r>
            <a:r>
              <a:rPr lang="en-US" altLang="zh-TW" dirty="0"/>
              <a:t>is mapped into the host address space and the application can access the contents of the mapped region using the pointer returned by </a:t>
            </a:r>
            <a:r>
              <a:rPr lang="en-US" altLang="zh-TW" b="1" dirty="0" err="1"/>
              <a:t>clEnqueueMapImage</a:t>
            </a:r>
            <a:r>
              <a:rPr lang="en-US" altLang="zh-TW" dirty="0"/>
              <a:t>. </a:t>
            </a:r>
          </a:p>
          <a:p>
            <a:pPr>
              <a:buFont typeface="Wingdings" panose="05000000000000000000" pitchFamily="2" charset="2"/>
              <a:buChar char="n"/>
            </a:pPr>
            <a:endParaRPr lang="en-US" altLang="zh-TW" dirty="0"/>
          </a:p>
        </p:txBody>
      </p:sp>
    </p:spTree>
    <p:extLst>
      <p:ext uri="{BB962C8B-B14F-4D97-AF65-F5344CB8AC3E}">
        <p14:creationId xmlns:p14="http://schemas.microsoft.com/office/powerpoint/2010/main" val="293434086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Mapping Image Objects </a:t>
            </a:r>
            <a:endParaRPr lang="zh-TW" altLang="en-US" dirty="0"/>
          </a:p>
        </p:txBody>
      </p:sp>
      <p:sp>
        <p:nvSpPr>
          <p:cNvPr id="7" name="文字方塊 6"/>
          <p:cNvSpPr txBox="1"/>
          <p:nvPr/>
        </p:nvSpPr>
        <p:spPr>
          <a:xfrm>
            <a:off x="-2224726" y="3330815"/>
            <a:ext cx="6985262" cy="1200329"/>
          </a:xfrm>
          <a:prstGeom prst="rect">
            <a:avLst/>
          </a:prstGeom>
          <a:noFill/>
        </p:spPr>
        <p:txBody>
          <a:bodyPr wrap="square" rtlCol="0" anchor="ctr" anchorCtr="1">
            <a:spAutoFit/>
          </a:bodyPr>
          <a:lstStyle/>
          <a:p>
            <a:r>
              <a:rPr lang="en-US" altLang="zh-TW" b="1" i="1" dirty="0" err="1"/>
              <a:t>map_flags</a:t>
            </a:r>
            <a:r>
              <a:rPr lang="en-US" altLang="zh-TW" i="1" dirty="0"/>
              <a:t> </a:t>
            </a:r>
            <a:endParaRPr lang="en-US" altLang="zh-TW" i="1" dirty="0" smtClean="0"/>
          </a:p>
          <a:p>
            <a:pPr lvl="1"/>
            <a:r>
              <a:rPr lang="en-US" altLang="zh-TW" dirty="0" smtClean="0"/>
              <a:t>is </a:t>
            </a:r>
            <a:r>
              <a:rPr lang="en-US" altLang="zh-TW" dirty="0"/>
              <a:t>a </a:t>
            </a:r>
            <a:r>
              <a:rPr lang="en-US" altLang="zh-TW" dirty="0" smtClean="0"/>
              <a:t>bit-field</a:t>
            </a:r>
          </a:p>
          <a:p>
            <a:pPr lvl="1"/>
            <a:endParaRPr lang="en-US" altLang="zh-TW" dirty="0" smtClean="0"/>
          </a:p>
          <a:p>
            <a:pPr lvl="1"/>
            <a:r>
              <a:rPr lang="en-US" altLang="zh-TW" dirty="0" smtClean="0"/>
              <a:t> </a:t>
            </a:r>
            <a:endParaRPr lang="zh-TW" altLang="en-US" dirty="0" smtClean="0">
              <a:ea typeface="標楷體" pitchFamily="65" charset="-120"/>
              <a:cs typeface="Calibri" pitchFamily="34" charset="0"/>
            </a:endParaRPr>
          </a:p>
        </p:txBody>
      </p:sp>
      <p:sp>
        <p:nvSpPr>
          <p:cNvPr id="8" name="文字方塊 7"/>
          <p:cNvSpPr txBox="1"/>
          <p:nvPr/>
        </p:nvSpPr>
        <p:spPr>
          <a:xfrm>
            <a:off x="317486" y="4600284"/>
            <a:ext cx="6033155" cy="923330"/>
          </a:xfrm>
          <a:prstGeom prst="rect">
            <a:avLst/>
          </a:prstGeom>
          <a:noFill/>
        </p:spPr>
        <p:txBody>
          <a:bodyPr wrap="square" rtlCol="0" anchor="ctr" anchorCtr="1">
            <a:spAutoFit/>
          </a:bodyPr>
          <a:lstStyle/>
          <a:p>
            <a:r>
              <a:rPr lang="en-US" altLang="zh-TW" b="1" i="1" dirty="0" err="1"/>
              <a:t>errcode_ret</a:t>
            </a:r>
            <a:r>
              <a:rPr lang="en-US" altLang="zh-TW" i="1" dirty="0"/>
              <a:t> </a:t>
            </a:r>
            <a:endParaRPr lang="en-US" altLang="zh-TW" i="1" dirty="0" smtClean="0"/>
          </a:p>
          <a:p>
            <a:pPr lvl="1"/>
            <a:r>
              <a:rPr lang="en-US" altLang="zh-TW" dirty="0" smtClean="0"/>
              <a:t>will </a:t>
            </a:r>
            <a:r>
              <a:rPr lang="en-US" altLang="zh-TW" dirty="0"/>
              <a:t>return an appropriate error code. If </a:t>
            </a:r>
            <a:r>
              <a:rPr lang="en-US" altLang="zh-TW" i="1" dirty="0" err="1"/>
              <a:t>errcode_ret</a:t>
            </a:r>
            <a:r>
              <a:rPr lang="en-US" altLang="zh-TW" i="1" dirty="0"/>
              <a:t> </a:t>
            </a:r>
            <a:r>
              <a:rPr lang="en-US" altLang="zh-TW" dirty="0"/>
              <a:t>is NULL, no error code is returned </a:t>
            </a:r>
            <a:endParaRPr lang="zh-TW" altLang="en-US" dirty="0" smtClean="0">
              <a:ea typeface="標楷體" pitchFamily="65" charset="-120"/>
              <a:cs typeface="Calibri" pitchFamily="34" charset="0"/>
            </a:endParaRPr>
          </a:p>
        </p:txBody>
      </p:sp>
      <p:sp>
        <p:nvSpPr>
          <p:cNvPr id="9" name="文字方塊 8"/>
          <p:cNvSpPr txBox="1"/>
          <p:nvPr/>
        </p:nvSpPr>
        <p:spPr>
          <a:xfrm>
            <a:off x="160256" y="1232069"/>
            <a:ext cx="8842342" cy="2029606"/>
          </a:xfrm>
          <a:prstGeom prst="rect">
            <a:avLst/>
          </a:prstGeom>
          <a:noFill/>
        </p:spPr>
        <p:txBody>
          <a:bodyPr wrap="square" rtlCol="0" anchor="ctr" anchorCtr="1">
            <a:spAutoFit/>
          </a:bodyPr>
          <a:lstStyle/>
          <a:p>
            <a:pPr marL="285750" indent="-285750">
              <a:buClr>
                <a:srgbClr val="0070C0"/>
              </a:buClr>
              <a:buFont typeface="Wingdings" panose="05000000000000000000" pitchFamily="2" charset="2"/>
              <a:buChar char="n"/>
            </a:pPr>
            <a:r>
              <a:rPr lang="en-US" altLang="zh-TW" dirty="0"/>
              <a:t>If </a:t>
            </a:r>
            <a:r>
              <a:rPr lang="en-US" altLang="zh-TW" i="1" dirty="0" err="1"/>
              <a:t>blocking_map</a:t>
            </a:r>
            <a:r>
              <a:rPr lang="en-US" altLang="zh-TW" i="1" dirty="0"/>
              <a:t> </a:t>
            </a:r>
            <a:r>
              <a:rPr lang="en-US" altLang="zh-TW" dirty="0"/>
              <a:t>is CL_FALSE i.e. map operation is non-blocking, the pointer to the mapped region returned by </a:t>
            </a:r>
            <a:r>
              <a:rPr lang="en-US" altLang="zh-TW" b="1" dirty="0" err="1"/>
              <a:t>clEnqueueMapImage</a:t>
            </a:r>
            <a:r>
              <a:rPr lang="en-US" altLang="zh-TW" b="1" dirty="0"/>
              <a:t> </a:t>
            </a:r>
            <a:r>
              <a:rPr lang="en-US" altLang="zh-TW" dirty="0"/>
              <a:t>cannot be used until the map command has completed. The </a:t>
            </a:r>
            <a:r>
              <a:rPr lang="en-US" altLang="zh-TW" i="1" dirty="0"/>
              <a:t>event </a:t>
            </a:r>
            <a:r>
              <a:rPr lang="en-US" altLang="zh-TW" dirty="0"/>
              <a:t>argument returns an event object which can be used to query the execution status of the map command. When the map command is completed, the application can access the contents of the mapped region using the pointer returned by </a:t>
            </a:r>
            <a:r>
              <a:rPr lang="en-US" altLang="zh-TW" b="1" dirty="0" err="1"/>
              <a:t>clEnqueueMapImage</a:t>
            </a:r>
            <a:r>
              <a:rPr lang="en-US" altLang="zh-TW" dirty="0"/>
              <a:t>. </a:t>
            </a:r>
            <a:endParaRPr lang="zh-TW" altLang="en-US" dirty="0"/>
          </a:p>
          <a:p>
            <a:endParaRPr lang="zh-TW" altLang="en-US" dirty="0" smtClean="0">
              <a:ea typeface="標楷體" pitchFamily="65" charset="-120"/>
              <a:cs typeface="Calibri" pitchFamily="34" charset="0"/>
            </a:endParaRPr>
          </a:p>
        </p:txBody>
      </p:sp>
    </p:spTree>
    <p:extLst>
      <p:ext uri="{BB962C8B-B14F-4D97-AF65-F5344CB8AC3E}">
        <p14:creationId xmlns:p14="http://schemas.microsoft.com/office/powerpoint/2010/main" val="43508511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Mapping Image Objects </a:t>
            </a:r>
            <a:endParaRPr lang="zh-TW" altLang="en-US" dirty="0"/>
          </a:p>
        </p:txBody>
      </p:sp>
      <p:sp>
        <p:nvSpPr>
          <p:cNvPr id="5" name="內容版面配置區 4"/>
          <p:cNvSpPr>
            <a:spLocks noGrp="1"/>
          </p:cNvSpPr>
          <p:nvPr>
            <p:ph idx="1"/>
          </p:nvPr>
        </p:nvSpPr>
        <p:spPr/>
        <p:txBody>
          <a:bodyPr/>
          <a:lstStyle/>
          <a:p>
            <a:r>
              <a:rPr lang="en-US" altLang="zh-TW" dirty="0"/>
              <a:t>If the image object is created with </a:t>
            </a:r>
            <a:r>
              <a:rPr lang="en-US" altLang="zh-TW" b="1" dirty="0"/>
              <a:t>CL_MEM_USE_HOST_PTR</a:t>
            </a:r>
            <a:r>
              <a:rPr lang="en-US" altLang="zh-TW" dirty="0"/>
              <a:t> set in </a:t>
            </a:r>
            <a:r>
              <a:rPr lang="en-US" altLang="zh-TW" dirty="0" err="1"/>
              <a:t>mem_flags</a:t>
            </a:r>
            <a:r>
              <a:rPr lang="en-US" altLang="zh-TW" dirty="0"/>
              <a:t>, the following will be true</a:t>
            </a:r>
            <a:r>
              <a:rPr lang="en-US" altLang="zh-TW" dirty="0" smtClean="0"/>
              <a:t>:</a:t>
            </a:r>
          </a:p>
          <a:p>
            <a:pPr marL="0" indent="0">
              <a:buNone/>
            </a:pPr>
            <a:endParaRPr lang="en-US" altLang="zh-TW" dirty="0"/>
          </a:p>
          <a:p>
            <a:pPr lvl="1">
              <a:buFont typeface="Wingdings" panose="05000000000000000000" pitchFamily="2" charset="2"/>
              <a:buChar char="n"/>
            </a:pPr>
            <a:r>
              <a:rPr lang="en-US" altLang="zh-TW" dirty="0"/>
              <a:t>The </a:t>
            </a:r>
            <a:r>
              <a:rPr lang="en-US" altLang="zh-TW" dirty="0" err="1"/>
              <a:t>host_ptr</a:t>
            </a:r>
            <a:r>
              <a:rPr lang="en-US" altLang="zh-TW" dirty="0"/>
              <a:t> specified in </a:t>
            </a:r>
            <a:r>
              <a:rPr lang="en-US" altLang="zh-TW" b="1" dirty="0" err="1"/>
              <a:t>clCreateImage</a:t>
            </a:r>
            <a:r>
              <a:rPr lang="en-US" altLang="zh-TW" dirty="0"/>
              <a:t> is guaranteed to contain the latest bits in the region being mapped when the </a:t>
            </a:r>
            <a:r>
              <a:rPr lang="en-US" altLang="zh-TW" b="1" dirty="0" err="1"/>
              <a:t>clEnqueueMapImage</a:t>
            </a:r>
            <a:r>
              <a:rPr lang="en-US" altLang="zh-TW" dirty="0"/>
              <a:t> command has completed</a:t>
            </a:r>
            <a:r>
              <a:rPr lang="en-US" altLang="zh-TW" dirty="0" smtClean="0"/>
              <a:t>.</a:t>
            </a:r>
          </a:p>
          <a:p>
            <a:pPr lvl="1">
              <a:buFont typeface="Wingdings" panose="05000000000000000000" pitchFamily="2" charset="2"/>
              <a:buChar char="n"/>
            </a:pPr>
            <a:endParaRPr lang="en-US" altLang="zh-TW" dirty="0"/>
          </a:p>
          <a:p>
            <a:pPr lvl="1">
              <a:buFont typeface="Wingdings" panose="05000000000000000000" pitchFamily="2" charset="2"/>
              <a:buChar char="n"/>
            </a:pPr>
            <a:r>
              <a:rPr lang="en-US" altLang="zh-TW" dirty="0"/>
              <a:t>The pointer value returned by </a:t>
            </a:r>
            <a:r>
              <a:rPr lang="en-US" altLang="zh-TW" b="1" dirty="0" err="1"/>
              <a:t>clEnqueueMapImage</a:t>
            </a:r>
            <a:r>
              <a:rPr lang="en-US" altLang="zh-TW" dirty="0"/>
              <a:t> will be derived from the </a:t>
            </a:r>
            <a:r>
              <a:rPr lang="en-US" altLang="zh-TW" b="1" dirty="0" err="1"/>
              <a:t>host_ptr</a:t>
            </a:r>
            <a:r>
              <a:rPr lang="en-US" altLang="zh-TW" dirty="0"/>
              <a:t> specified when the image object is created</a:t>
            </a:r>
            <a:r>
              <a:rPr lang="en-US" altLang="zh-TW" dirty="0" smtClean="0"/>
              <a:t>.</a:t>
            </a:r>
          </a:p>
          <a:p>
            <a:pPr lvl="1">
              <a:buFont typeface="Wingdings" panose="05000000000000000000" pitchFamily="2" charset="2"/>
              <a:buChar char="n"/>
            </a:pPr>
            <a:endParaRPr lang="en-US" altLang="zh-TW" dirty="0" smtClean="0"/>
          </a:p>
          <a:p>
            <a:pPr lvl="1">
              <a:buFont typeface="Wingdings" panose="05000000000000000000" pitchFamily="2" charset="2"/>
              <a:buChar char="n"/>
            </a:pPr>
            <a:endParaRPr lang="en-US" altLang="zh-TW" dirty="0"/>
          </a:p>
          <a:p>
            <a:pPr lvl="1">
              <a:buFont typeface="Wingdings" panose="05000000000000000000" pitchFamily="2" charset="2"/>
              <a:buChar char="n"/>
            </a:pPr>
            <a:r>
              <a:rPr lang="en-US" altLang="zh-TW" dirty="0"/>
              <a:t>Mapped image objects are unmapped using </a:t>
            </a:r>
            <a:r>
              <a:rPr lang="en-US" altLang="zh-TW" b="1" dirty="0" err="1"/>
              <a:t>clEnqueueUnmapMemObject</a:t>
            </a:r>
            <a:r>
              <a:rPr lang="en-US" altLang="zh-TW" dirty="0"/>
              <a:t>.</a:t>
            </a:r>
            <a:endParaRPr lang="zh-TW" altLang="en-US" dirty="0"/>
          </a:p>
        </p:txBody>
      </p:sp>
    </p:spTree>
    <p:extLst>
      <p:ext uri="{BB962C8B-B14F-4D97-AF65-F5344CB8AC3E}">
        <p14:creationId xmlns:p14="http://schemas.microsoft.com/office/powerpoint/2010/main" val="294302507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Image Object Queries</a:t>
            </a:r>
            <a:endParaRPr lang="zh-TW" altLang="en-US" dirty="0"/>
          </a:p>
        </p:txBody>
      </p:sp>
      <p:pic>
        <p:nvPicPr>
          <p:cNvPr id="6" name="內容版面配置區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4679" y="1162653"/>
            <a:ext cx="7373379" cy="1914792"/>
          </a:xfrm>
        </p:spPr>
      </p:pic>
      <p:sp>
        <p:nvSpPr>
          <p:cNvPr id="7" name="文字方塊 6"/>
          <p:cNvSpPr txBox="1"/>
          <p:nvPr/>
        </p:nvSpPr>
        <p:spPr>
          <a:xfrm>
            <a:off x="644679" y="3130613"/>
            <a:ext cx="7993781" cy="1754326"/>
          </a:xfrm>
          <a:prstGeom prst="rect">
            <a:avLst/>
          </a:prstGeom>
          <a:noFill/>
        </p:spPr>
        <p:txBody>
          <a:bodyPr wrap="square" rtlCol="0" anchor="ctr" anchorCtr="1">
            <a:spAutoFit/>
          </a:bodyPr>
          <a:lstStyle/>
          <a:p>
            <a:r>
              <a:rPr lang="en-US" altLang="zh-TW" b="1" i="1" dirty="0" err="1"/>
              <a:t>param_name</a:t>
            </a:r>
            <a:r>
              <a:rPr lang="en-US" altLang="zh-TW" i="1" dirty="0"/>
              <a:t> </a:t>
            </a:r>
            <a:endParaRPr lang="en-US" altLang="zh-TW" i="1" dirty="0" smtClean="0"/>
          </a:p>
          <a:p>
            <a:pPr lvl="1"/>
            <a:r>
              <a:rPr lang="en-US" altLang="zh-TW" dirty="0" smtClean="0"/>
              <a:t>specifies </a:t>
            </a:r>
            <a:r>
              <a:rPr lang="en-US" altLang="zh-TW" dirty="0"/>
              <a:t>the information to query. The list of supported </a:t>
            </a:r>
            <a:r>
              <a:rPr lang="en-US" altLang="zh-TW" i="1" dirty="0" err="1"/>
              <a:t>param_name</a:t>
            </a:r>
            <a:r>
              <a:rPr lang="en-US" altLang="zh-TW" i="1" dirty="0"/>
              <a:t> </a:t>
            </a:r>
            <a:r>
              <a:rPr lang="en-US" altLang="zh-TW" dirty="0"/>
              <a:t>types and the information returned in </a:t>
            </a:r>
            <a:r>
              <a:rPr lang="en-US" altLang="zh-TW" i="1" dirty="0" err="1"/>
              <a:t>param_value</a:t>
            </a:r>
            <a:r>
              <a:rPr lang="en-US" altLang="zh-TW" i="1" dirty="0"/>
              <a:t> </a:t>
            </a:r>
            <a:r>
              <a:rPr lang="en-US" altLang="zh-TW" dirty="0"/>
              <a:t>by </a:t>
            </a:r>
            <a:r>
              <a:rPr lang="en-US" altLang="zh-TW" b="1" dirty="0" err="1" smtClean="0"/>
              <a:t>clGetImageInfo</a:t>
            </a:r>
            <a:r>
              <a:rPr lang="en-US" altLang="zh-TW" b="1" dirty="0" smtClean="0"/>
              <a:t>.</a:t>
            </a:r>
          </a:p>
          <a:p>
            <a:pPr lvl="1"/>
            <a:endParaRPr lang="en-US" altLang="zh-TW" b="1" dirty="0"/>
          </a:p>
          <a:p>
            <a:pPr lvl="1"/>
            <a:r>
              <a:rPr lang="en-US" altLang="zh-TW" dirty="0"/>
              <a:t>		</a:t>
            </a:r>
          </a:p>
          <a:p>
            <a:pPr lvl="1"/>
            <a:r>
              <a:rPr lang="en-US" altLang="zh-TW" b="1" dirty="0" smtClean="0"/>
              <a:t> </a:t>
            </a:r>
            <a:endParaRPr lang="zh-TW" altLang="en-US" dirty="0" smtClean="0">
              <a:ea typeface="標楷體" pitchFamily="65" charset="-120"/>
              <a:cs typeface="Calibri" pitchFamily="34" charset="0"/>
            </a:endParaRPr>
          </a:p>
        </p:txBody>
      </p:sp>
      <p:sp>
        <p:nvSpPr>
          <p:cNvPr id="8" name="文字方塊 7"/>
          <p:cNvSpPr txBox="1"/>
          <p:nvPr/>
        </p:nvSpPr>
        <p:spPr>
          <a:xfrm>
            <a:off x="644679" y="4343823"/>
            <a:ext cx="7373379" cy="1477328"/>
          </a:xfrm>
          <a:prstGeom prst="rect">
            <a:avLst/>
          </a:prstGeom>
          <a:noFill/>
        </p:spPr>
        <p:txBody>
          <a:bodyPr wrap="square" rtlCol="0" anchor="ctr" anchorCtr="1">
            <a:spAutoFit/>
          </a:bodyPr>
          <a:lstStyle/>
          <a:p>
            <a:r>
              <a:rPr lang="en-US" altLang="zh-TW" b="1" i="1" dirty="0" err="1">
                <a:ea typeface="標楷體" pitchFamily="65" charset="-120"/>
                <a:cs typeface="Calibri" pitchFamily="34" charset="0"/>
              </a:rPr>
              <a:t>param_value</a:t>
            </a:r>
            <a:r>
              <a:rPr lang="en-US" altLang="zh-TW" dirty="0">
                <a:ea typeface="標楷體" pitchFamily="65" charset="-120"/>
                <a:cs typeface="Calibri" pitchFamily="34" charset="0"/>
              </a:rPr>
              <a:t> </a:t>
            </a:r>
            <a:endParaRPr lang="en-US" altLang="zh-TW" dirty="0" smtClean="0">
              <a:ea typeface="標楷體" pitchFamily="65" charset="-120"/>
              <a:cs typeface="Calibri" pitchFamily="34" charset="0"/>
            </a:endParaRPr>
          </a:p>
          <a:p>
            <a:pPr lvl="1"/>
            <a:r>
              <a:rPr lang="en-US" altLang="zh-TW" dirty="0" smtClean="0">
                <a:ea typeface="標楷體" pitchFamily="65" charset="-120"/>
                <a:cs typeface="Calibri" pitchFamily="34" charset="0"/>
              </a:rPr>
              <a:t>is </a:t>
            </a:r>
            <a:r>
              <a:rPr lang="en-US" altLang="zh-TW" dirty="0">
                <a:ea typeface="標楷體" pitchFamily="65" charset="-120"/>
                <a:cs typeface="Calibri" pitchFamily="34" charset="0"/>
              </a:rPr>
              <a:t>a pointer to memory where the appropriate result being queried is returned. If </a:t>
            </a:r>
            <a:r>
              <a:rPr lang="en-US" altLang="zh-TW" dirty="0" err="1">
                <a:ea typeface="標楷體" pitchFamily="65" charset="-120"/>
                <a:cs typeface="Calibri" pitchFamily="34" charset="0"/>
              </a:rPr>
              <a:t>param_value</a:t>
            </a:r>
            <a:r>
              <a:rPr lang="en-US" altLang="zh-TW" dirty="0">
                <a:ea typeface="標楷體" pitchFamily="65" charset="-120"/>
                <a:cs typeface="Calibri" pitchFamily="34" charset="0"/>
              </a:rPr>
              <a:t> is NULL, it is ignored</a:t>
            </a:r>
            <a:r>
              <a:rPr lang="en-US" altLang="zh-TW" dirty="0" smtClean="0">
                <a:ea typeface="標楷體" pitchFamily="65" charset="-120"/>
                <a:cs typeface="Calibri" pitchFamily="34" charset="0"/>
              </a:rPr>
              <a:t>.</a:t>
            </a:r>
          </a:p>
          <a:p>
            <a:pPr lvl="1"/>
            <a:endParaRPr lang="en-US" altLang="zh-TW" dirty="0">
              <a:ea typeface="標楷體" pitchFamily="65" charset="-120"/>
              <a:cs typeface="Calibri" pitchFamily="34" charset="0"/>
            </a:endParaRPr>
          </a:p>
          <a:p>
            <a:pPr lvl="1"/>
            <a:r>
              <a:rPr lang="en-US" altLang="zh-TW" b="1" dirty="0"/>
              <a:t>EX:</a:t>
            </a:r>
            <a:r>
              <a:rPr lang="zh-TW" altLang="en-US" b="1" dirty="0"/>
              <a:t> </a:t>
            </a:r>
            <a:r>
              <a:rPr lang="en-US" altLang="zh-TW" b="1" dirty="0"/>
              <a:t>CL_IMAGE_FORMAT , CL_IMAGE_ROW_PITCH</a:t>
            </a:r>
            <a:endParaRPr lang="zh-TW" altLang="en-US" dirty="0" smtClean="0">
              <a:ea typeface="標楷體" pitchFamily="65" charset="-120"/>
              <a:cs typeface="Calibri" pitchFamily="34" charset="0"/>
            </a:endParaRPr>
          </a:p>
        </p:txBody>
      </p:sp>
    </p:spTree>
    <p:extLst>
      <p:ext uri="{BB962C8B-B14F-4D97-AF65-F5344CB8AC3E}">
        <p14:creationId xmlns:p14="http://schemas.microsoft.com/office/powerpoint/2010/main" val="315890489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Image Object Queries</a:t>
            </a:r>
            <a:endParaRPr lang="zh-TW" altLang="en-US" dirty="0"/>
          </a:p>
        </p:txBody>
      </p:sp>
      <p:pic>
        <p:nvPicPr>
          <p:cNvPr id="6" name="內容版面配置區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08308" y="1210779"/>
            <a:ext cx="7373379" cy="1914792"/>
          </a:xfrm>
        </p:spPr>
      </p:pic>
      <p:sp>
        <p:nvSpPr>
          <p:cNvPr id="7" name="文字方塊 6"/>
          <p:cNvSpPr txBox="1"/>
          <p:nvPr/>
        </p:nvSpPr>
        <p:spPr>
          <a:xfrm>
            <a:off x="774726" y="3297000"/>
            <a:ext cx="8114311" cy="923330"/>
          </a:xfrm>
          <a:prstGeom prst="rect">
            <a:avLst/>
          </a:prstGeom>
          <a:noFill/>
        </p:spPr>
        <p:txBody>
          <a:bodyPr wrap="square" rtlCol="0" anchor="ctr" anchorCtr="1">
            <a:spAutoFit/>
          </a:bodyPr>
          <a:lstStyle/>
          <a:p>
            <a:r>
              <a:rPr lang="en-US" altLang="zh-TW" b="1" i="1" dirty="0" err="1">
                <a:ea typeface="標楷體" pitchFamily="65" charset="-120"/>
                <a:cs typeface="Calibri" pitchFamily="34" charset="0"/>
              </a:rPr>
              <a:t>param_value_size</a:t>
            </a:r>
            <a:r>
              <a:rPr lang="en-US" altLang="zh-TW" b="1" i="1" u="sng" dirty="0">
                <a:ea typeface="標楷體" pitchFamily="65" charset="-120"/>
                <a:cs typeface="Calibri" pitchFamily="34" charset="0"/>
              </a:rPr>
              <a:t> </a:t>
            </a:r>
            <a:endParaRPr lang="en-US" altLang="zh-TW" b="1" i="1" u="sng" dirty="0" smtClean="0">
              <a:ea typeface="標楷體" pitchFamily="65" charset="-120"/>
              <a:cs typeface="Calibri" pitchFamily="34" charset="0"/>
            </a:endParaRPr>
          </a:p>
          <a:p>
            <a:pPr lvl="1"/>
            <a:r>
              <a:rPr lang="en-US" altLang="zh-TW" dirty="0" smtClean="0">
                <a:ea typeface="標楷體" pitchFamily="65" charset="-120"/>
                <a:cs typeface="Calibri" pitchFamily="34" charset="0"/>
              </a:rPr>
              <a:t>is </a:t>
            </a:r>
            <a:r>
              <a:rPr lang="en-US" altLang="zh-TW" dirty="0">
                <a:ea typeface="標楷體" pitchFamily="65" charset="-120"/>
                <a:cs typeface="Calibri" pitchFamily="34" charset="0"/>
              </a:rPr>
              <a:t>used to specify the size in bytes of memory pointed to by </a:t>
            </a:r>
            <a:r>
              <a:rPr lang="en-US" altLang="zh-TW" dirty="0" err="1">
                <a:ea typeface="標楷體" pitchFamily="65" charset="-120"/>
                <a:cs typeface="Calibri" pitchFamily="34" charset="0"/>
              </a:rPr>
              <a:t>param_value</a:t>
            </a:r>
            <a:r>
              <a:rPr lang="en-US" altLang="zh-TW" dirty="0">
                <a:ea typeface="標楷體" pitchFamily="65" charset="-120"/>
                <a:cs typeface="Calibri" pitchFamily="34" charset="0"/>
              </a:rPr>
              <a:t>. This size must be &gt;= size of return </a:t>
            </a:r>
            <a:r>
              <a:rPr lang="en-US" altLang="zh-TW" dirty="0" smtClean="0">
                <a:ea typeface="標楷體" pitchFamily="65" charset="-120"/>
                <a:cs typeface="Calibri" pitchFamily="34" charset="0"/>
              </a:rPr>
              <a:t>type.</a:t>
            </a:r>
            <a:endParaRPr lang="zh-TW" altLang="en-US" dirty="0" smtClean="0">
              <a:ea typeface="標楷體" pitchFamily="65" charset="-120"/>
              <a:cs typeface="Calibri" pitchFamily="34" charset="0"/>
            </a:endParaRPr>
          </a:p>
        </p:txBody>
      </p:sp>
      <p:sp>
        <p:nvSpPr>
          <p:cNvPr id="8" name="文字方塊 7"/>
          <p:cNvSpPr txBox="1"/>
          <p:nvPr/>
        </p:nvSpPr>
        <p:spPr>
          <a:xfrm>
            <a:off x="774726" y="4586787"/>
            <a:ext cx="7685879" cy="923330"/>
          </a:xfrm>
          <a:prstGeom prst="rect">
            <a:avLst/>
          </a:prstGeom>
          <a:noFill/>
        </p:spPr>
        <p:txBody>
          <a:bodyPr wrap="square" rtlCol="0" anchor="ctr" anchorCtr="1">
            <a:spAutoFit/>
          </a:bodyPr>
          <a:lstStyle/>
          <a:p>
            <a:r>
              <a:rPr lang="en-US" altLang="zh-TW" b="1" i="1" dirty="0" err="1"/>
              <a:t>param_value_size_ret</a:t>
            </a:r>
            <a:r>
              <a:rPr lang="en-US" altLang="zh-TW" i="1" dirty="0"/>
              <a:t> </a:t>
            </a:r>
            <a:endParaRPr lang="en-US" altLang="zh-TW" i="1" dirty="0" smtClean="0"/>
          </a:p>
          <a:p>
            <a:pPr lvl="1"/>
            <a:r>
              <a:rPr lang="en-US" altLang="zh-TW" dirty="0" smtClean="0"/>
              <a:t>returns </a:t>
            </a:r>
            <a:r>
              <a:rPr lang="en-US" altLang="zh-TW" dirty="0"/>
              <a:t>the actual size in bytes of data being queried by </a:t>
            </a:r>
            <a:r>
              <a:rPr lang="en-US" altLang="zh-TW" i="1" dirty="0" err="1"/>
              <a:t>param_value</a:t>
            </a:r>
            <a:r>
              <a:rPr lang="en-US" altLang="zh-TW" dirty="0"/>
              <a:t>. If </a:t>
            </a:r>
            <a:r>
              <a:rPr lang="en-US" altLang="zh-TW" i="1" dirty="0" err="1"/>
              <a:t>param_value_size_ret</a:t>
            </a:r>
            <a:r>
              <a:rPr lang="en-US" altLang="zh-TW" i="1" dirty="0"/>
              <a:t> </a:t>
            </a:r>
            <a:r>
              <a:rPr lang="en-US" altLang="zh-TW" dirty="0"/>
              <a:t>is NULL, it is </a:t>
            </a:r>
            <a:r>
              <a:rPr lang="en-US" altLang="zh-TW" dirty="0" smtClean="0"/>
              <a:t>ignored.</a:t>
            </a:r>
            <a:endParaRPr lang="zh-TW" altLang="en-US" dirty="0" smtClean="0">
              <a:ea typeface="標楷體" pitchFamily="65" charset="-120"/>
              <a:cs typeface="Calibri" pitchFamily="34" charset="0"/>
            </a:endParaRPr>
          </a:p>
        </p:txBody>
      </p:sp>
    </p:spTree>
    <p:extLst>
      <p:ext uri="{BB962C8B-B14F-4D97-AF65-F5344CB8AC3E}">
        <p14:creationId xmlns:p14="http://schemas.microsoft.com/office/powerpoint/2010/main" val="205323393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HSA System architecture</a:t>
            </a:r>
            <a:endParaRPr lang="zh-TW" altLang="en-US" dirty="0"/>
          </a:p>
        </p:txBody>
      </p:sp>
    </p:spTree>
    <p:extLst>
      <p:ext uri="{BB962C8B-B14F-4D97-AF65-F5344CB8AC3E}">
        <p14:creationId xmlns:p14="http://schemas.microsoft.com/office/powerpoint/2010/main" val="835483559"/>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Image – from system architecture view</a:t>
            </a:r>
            <a:endParaRPr lang="zh-TW" altLang="en-US" dirty="0"/>
          </a:p>
        </p:txBody>
      </p:sp>
      <p:sp>
        <p:nvSpPr>
          <p:cNvPr id="3" name="內容版面配置區 2"/>
          <p:cNvSpPr>
            <a:spLocks noGrp="1"/>
          </p:cNvSpPr>
          <p:nvPr>
            <p:ph idx="1"/>
          </p:nvPr>
        </p:nvSpPr>
        <p:spPr/>
        <p:txBody>
          <a:bodyPr/>
          <a:lstStyle/>
          <a:p>
            <a:pPr>
              <a:buFont typeface="Wingdings" panose="05000000000000000000" pitchFamily="2" charset="2"/>
              <a:buChar char="l"/>
            </a:pPr>
            <a:r>
              <a:rPr lang="en-US" altLang="zh-TW"/>
              <a:t>HSA-compliant platform shall optionally provide for the ability of HSA software to define and use image objects, which are used to store one-, two-, or three-dimensional </a:t>
            </a:r>
            <a:r>
              <a:rPr lang="en-US" altLang="zh-TW" smtClean="0"/>
              <a:t>images</a:t>
            </a:r>
          </a:p>
          <a:p>
            <a:pPr>
              <a:buFont typeface="Wingdings" panose="05000000000000000000" pitchFamily="2" charset="2"/>
              <a:buChar char="l"/>
            </a:pPr>
            <a:endParaRPr lang="en-US" altLang="zh-TW"/>
          </a:p>
          <a:p>
            <a:r>
              <a:rPr lang="en-US" altLang="zh-TW"/>
              <a:t> The elements of an image object are defined from a list of predefined image formats. </a:t>
            </a:r>
          </a:p>
          <a:p>
            <a:pPr>
              <a:buFont typeface="Wingdings" panose="05000000000000000000" pitchFamily="2" charset="2"/>
              <a:buChar char="l"/>
            </a:pPr>
            <a:endParaRPr lang="en-US" altLang="zh-TW" smtClean="0"/>
          </a:p>
          <a:p>
            <a:r>
              <a:rPr lang="en-US" altLang="zh-TW"/>
              <a:t>Image primitives accessible from kernel agents, operate on an image value, which is referenced using an opaque 64-bit image handle.</a:t>
            </a:r>
            <a:endParaRPr lang="zh-TW" altLang="en-US"/>
          </a:p>
        </p:txBody>
      </p:sp>
    </p:spTree>
    <p:extLst>
      <p:ext uri="{BB962C8B-B14F-4D97-AF65-F5344CB8AC3E}">
        <p14:creationId xmlns:p14="http://schemas.microsoft.com/office/powerpoint/2010/main" val="318022007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3081" y="86798"/>
            <a:ext cx="8207375" cy="692150"/>
          </a:xfrm>
        </p:spPr>
        <p:txBody>
          <a:bodyPr/>
          <a:lstStyle/>
          <a:p>
            <a:r>
              <a:rPr lang="en-US" altLang="zh-TW" smtClean="0"/>
              <a:t>Image -- requirement</a:t>
            </a:r>
            <a:endParaRPr lang="zh-TW" altLang="en-US"/>
          </a:p>
        </p:txBody>
      </p:sp>
      <p:sp>
        <p:nvSpPr>
          <p:cNvPr id="6" name="內容版面配置區 2"/>
          <p:cNvSpPr txBox="1">
            <a:spLocks/>
          </p:cNvSpPr>
          <p:nvPr/>
        </p:nvSpPr>
        <p:spPr>
          <a:xfrm>
            <a:off x="457200" y="1125538"/>
            <a:ext cx="8229600" cy="4895850"/>
          </a:xfrm>
          <a:prstGeom prst="rect">
            <a:avLst/>
          </a:prstGeom>
        </p:spPr>
        <p:txBody>
          <a:bodyPr/>
          <a:lstStyle>
            <a:lvl1pPr marL="257175" indent="-257175" algn="l" rtl="0" eaLnBrk="1" fontAlgn="base" hangingPunct="1">
              <a:spcBef>
                <a:spcPct val="20000"/>
              </a:spcBef>
              <a:spcAft>
                <a:spcPct val="0"/>
              </a:spcAft>
              <a:buClr>
                <a:srgbClr val="0000FF"/>
              </a:buClr>
              <a:buSzPct val="80000"/>
              <a:buFont typeface="Wingdings" pitchFamily="2" charset="2"/>
              <a:buChar char="l"/>
              <a:defRPr kumimoji="1" sz="2100">
                <a:solidFill>
                  <a:schemeClr val="tx1"/>
                </a:solidFill>
                <a:latin typeface="Calibri" pitchFamily="34" charset="0"/>
                <a:ea typeface="標楷體" pitchFamily="65" charset="-120"/>
                <a:cs typeface="+mn-cs"/>
              </a:defRPr>
            </a:lvl1pPr>
            <a:lvl2pPr marL="557213" indent="-214313" algn="l" rtl="0" eaLnBrk="1" fontAlgn="base" hangingPunct="1">
              <a:spcBef>
                <a:spcPct val="20000"/>
              </a:spcBef>
              <a:spcAft>
                <a:spcPct val="0"/>
              </a:spcAft>
              <a:buClr>
                <a:srgbClr val="0000FF"/>
              </a:buClr>
              <a:buSzPct val="90000"/>
              <a:buFont typeface="Arial" charset="0"/>
              <a:buChar char="–"/>
              <a:defRPr kumimoji="1" sz="1800">
                <a:solidFill>
                  <a:schemeClr val="tx1"/>
                </a:solidFill>
                <a:latin typeface="Calibri"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mn-lt"/>
                <a:ea typeface="+mn-ea"/>
              </a:defRPr>
            </a:lvl3pPr>
            <a:lvl4pPr marL="1200150" indent="-171450" algn="l" rtl="0" eaLnBrk="1" fontAlgn="base" hangingPunct="1">
              <a:spcBef>
                <a:spcPct val="20000"/>
              </a:spcBef>
              <a:spcAft>
                <a:spcPct val="0"/>
              </a:spcAft>
              <a:buChar char="–"/>
              <a:defRPr kumimoji="1" sz="1500">
                <a:solidFill>
                  <a:schemeClr val="tx1"/>
                </a:solidFill>
                <a:latin typeface="+mn-lt"/>
                <a:ea typeface="+mn-ea"/>
              </a:defRPr>
            </a:lvl4pPr>
            <a:lvl5pPr marL="1543050" indent="-171450" algn="l" rtl="0" eaLnBrk="1" fontAlgn="base" hangingPunct="1">
              <a:spcBef>
                <a:spcPct val="20000"/>
              </a:spcBef>
              <a:spcAft>
                <a:spcPct val="0"/>
              </a:spcAft>
              <a:buChar char="»"/>
              <a:defRPr kumimoji="1" sz="1500">
                <a:solidFill>
                  <a:schemeClr val="tx1"/>
                </a:solidFill>
                <a:latin typeface="+mn-lt"/>
                <a:ea typeface="+mn-ea"/>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r>
              <a:rPr lang="en-GB" altLang="zh-TW" dirty="0"/>
              <a:t>Images are created by the HSA platform and may be initialized from data copied from the global segment</a:t>
            </a:r>
            <a:r>
              <a:rPr lang="en-GB" altLang="zh-TW" dirty="0" smtClean="0"/>
              <a:t>.</a:t>
            </a:r>
          </a:p>
          <a:p>
            <a:endParaRPr lang="en-GB" altLang="zh-TW" kern="0" dirty="0" smtClean="0"/>
          </a:p>
          <a:p>
            <a:endParaRPr lang="en-GB" altLang="zh-TW" kern="0" dirty="0"/>
          </a:p>
          <a:p>
            <a:r>
              <a:rPr lang="en-GB" altLang="zh-TW" sz="2400" dirty="0"/>
              <a:t>After initialization, the image </a:t>
            </a:r>
            <a:r>
              <a:rPr lang="en-GB" altLang="zh-TW" sz="2400" dirty="0" smtClean="0"/>
              <a:t>structure</a:t>
            </a:r>
          </a:p>
          <a:p>
            <a:pPr lvl="1"/>
            <a:r>
              <a:rPr lang="en-US" altLang="zh-TW" sz="2000" dirty="0"/>
              <a:t>retains no reference to the global segment that provided the initializing data.</a:t>
            </a:r>
            <a:endParaRPr lang="zh-TW" altLang="zh-TW" sz="2000" dirty="0"/>
          </a:p>
          <a:p>
            <a:pPr lvl="1"/>
            <a:r>
              <a:rPr lang="en-GB" altLang="zh-TW" sz="2000" dirty="0"/>
              <a:t>data is not stored in the global segment.</a:t>
            </a:r>
            <a:endParaRPr lang="en-GB" altLang="zh-TW" sz="2000" kern="0" dirty="0"/>
          </a:p>
          <a:p>
            <a:endParaRPr lang="zh-TW" altLang="en-US" kern="0" dirty="0"/>
          </a:p>
        </p:txBody>
      </p:sp>
    </p:spTree>
    <p:extLst>
      <p:ext uri="{BB962C8B-B14F-4D97-AF65-F5344CB8AC3E}">
        <p14:creationId xmlns:p14="http://schemas.microsoft.com/office/powerpoint/2010/main" val="259931993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a:t>Image -- requirement</a:t>
            </a:r>
            <a:endParaRPr lang="zh-TW" altLang="en-US"/>
          </a:p>
        </p:txBody>
      </p:sp>
      <p:sp>
        <p:nvSpPr>
          <p:cNvPr id="4" name="內容版面配置區 3"/>
          <p:cNvSpPr>
            <a:spLocks noGrp="1"/>
          </p:cNvSpPr>
          <p:nvPr>
            <p:ph idx="1"/>
          </p:nvPr>
        </p:nvSpPr>
        <p:spPr/>
        <p:txBody>
          <a:bodyPr/>
          <a:lstStyle/>
          <a:p>
            <a:r>
              <a:rPr lang="en-US" altLang="zh-TW" smtClean="0"/>
              <a:t>An </a:t>
            </a:r>
            <a:r>
              <a:rPr lang="en-US" altLang="zh-TW"/>
              <a:t>image object can only be used by a single agent, the agent specified when creating the image object</a:t>
            </a:r>
            <a:r>
              <a:rPr lang="en-US" altLang="zh-TW" smtClean="0"/>
              <a:t>.</a:t>
            </a:r>
          </a:p>
          <a:p>
            <a:endParaRPr lang="en-US" altLang="zh-TW"/>
          </a:p>
          <a:p>
            <a:pPr lvl="0"/>
            <a:r>
              <a:rPr lang="en-US" altLang="zh-TW"/>
              <a:t>Image data can only be accessed via interfaces exposed by the HSA platform or kernel agent primitives.</a:t>
            </a:r>
            <a:endParaRPr lang="zh-TW" altLang="zh-TW"/>
          </a:p>
          <a:p>
            <a:endParaRPr lang="en-US" altLang="zh-TW" smtClean="0"/>
          </a:p>
          <a:p>
            <a:pPr lvl="0"/>
            <a:r>
              <a:rPr lang="en-US" altLang="zh-TW"/>
              <a:t>The layout of the image data storage is implementation defined, and need not be the same for different agents in the same HSA implementation.</a:t>
            </a:r>
            <a:endParaRPr lang="zh-TW" altLang="zh-TW"/>
          </a:p>
          <a:p>
            <a:endParaRPr lang="en-US" altLang="zh-TW" smtClean="0"/>
          </a:p>
          <a:p>
            <a:pPr lvl="0"/>
            <a:r>
              <a:rPr lang="en-US" altLang="zh-TW"/>
              <a:t>Images are not part of the shared virtual address space. A consequence of this is that in general, agent access to image data must be performed via interfaces exposed by the HSA platform.</a:t>
            </a:r>
            <a:endParaRPr lang="zh-TW" altLang="zh-TW"/>
          </a:p>
          <a:p>
            <a:endParaRPr lang="zh-TW" altLang="en-US"/>
          </a:p>
        </p:txBody>
      </p:sp>
    </p:spTree>
    <p:extLst>
      <p:ext uri="{BB962C8B-B14F-4D97-AF65-F5344CB8AC3E}">
        <p14:creationId xmlns:p14="http://schemas.microsoft.com/office/powerpoint/2010/main" val="137066878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r>
              <a:rPr lang="en-US" altLang="zh-TW"/>
              <a:t>Image -- requirement</a:t>
            </a:r>
            <a:endParaRPr lang="zh-TW" altLang="en-US"/>
          </a:p>
        </p:txBody>
      </p:sp>
      <p:sp>
        <p:nvSpPr>
          <p:cNvPr id="7" name="內容版面配置區 6"/>
          <p:cNvSpPr>
            <a:spLocks noGrp="1"/>
          </p:cNvSpPr>
          <p:nvPr>
            <p:ph idx="1"/>
          </p:nvPr>
        </p:nvSpPr>
        <p:spPr/>
        <p:txBody>
          <a:bodyPr/>
          <a:lstStyle/>
          <a:p>
            <a:pPr lvl="0">
              <a:buFont typeface="Wingdings" panose="05000000000000000000" pitchFamily="2" charset="2"/>
              <a:buChar char="n"/>
            </a:pPr>
            <a:r>
              <a:rPr lang="en-US" altLang="zh-TW" sz="2000" smtClean="0"/>
              <a:t>Image </a:t>
            </a:r>
            <a:r>
              <a:rPr lang="en-US" altLang="zh-TW" sz="2000"/>
              <a:t>operations do not contribute to memory orderings defined by the HSA memory model. The following rules apply for image operation visibility</a:t>
            </a:r>
            <a:r>
              <a:rPr lang="en-US" altLang="zh-TW" sz="2000" smtClean="0"/>
              <a:t>:</a:t>
            </a:r>
          </a:p>
          <a:p>
            <a:pPr marL="0" lvl="0" indent="0">
              <a:buNone/>
            </a:pPr>
            <a:endParaRPr lang="zh-TW" altLang="zh-TW" sz="2000"/>
          </a:p>
          <a:p>
            <a:pPr lvl="1">
              <a:buFont typeface="Wingdings" panose="05000000000000000000" pitchFamily="2" charset="2"/>
              <a:buChar char="Ø"/>
            </a:pPr>
            <a:r>
              <a:rPr lang="en-US" altLang="zh-TW" sz="2000" smtClean="0"/>
              <a:t>Modifications </a:t>
            </a:r>
            <a:r>
              <a:rPr lang="en-US" altLang="zh-TW" sz="2000"/>
              <a:t>to image data through HSA runtime API require the following sequence to occur in order to be visible to subsequent AQL packet dispatches</a:t>
            </a:r>
            <a:r>
              <a:rPr lang="en-US" altLang="zh-TW" sz="2000" smtClean="0"/>
              <a:t>:</a:t>
            </a:r>
          </a:p>
          <a:p>
            <a:pPr lvl="1">
              <a:buFont typeface="Wingdings" panose="05000000000000000000" pitchFamily="2" charset="2"/>
              <a:buChar char="l"/>
            </a:pPr>
            <a:endParaRPr lang="zh-TW" altLang="zh-TW" sz="2000"/>
          </a:p>
          <a:p>
            <a:pPr lvl="2"/>
            <a:r>
              <a:rPr lang="en-US" altLang="zh-TW" sz="1800"/>
              <a:t>HSA runtime operation modifying the image data </a:t>
            </a:r>
            <a:r>
              <a:rPr lang="en-US" altLang="zh-TW" sz="1800" smtClean="0"/>
              <a:t>completes</a:t>
            </a:r>
          </a:p>
          <a:p>
            <a:pPr lvl="2"/>
            <a:endParaRPr lang="zh-TW" altLang="zh-TW" sz="1800"/>
          </a:p>
          <a:p>
            <a:pPr lvl="2"/>
            <a:r>
              <a:rPr lang="en-US" altLang="zh-TW" sz="1800"/>
              <a:t>A packet processor acquire fence applying to image data is executed on the agent for the image (this may be part of the AQL packet dispatch that reads the modified image data</a:t>
            </a:r>
            <a:r>
              <a:rPr lang="en-US" altLang="zh-TW" sz="1800" smtClean="0"/>
              <a:t>).</a:t>
            </a:r>
            <a:endParaRPr lang="zh-TW" altLang="zh-TW" sz="1800"/>
          </a:p>
          <a:p>
            <a:endParaRPr lang="zh-TW" altLang="en-US"/>
          </a:p>
        </p:txBody>
      </p:sp>
    </p:spTree>
    <p:extLst>
      <p:ext uri="{BB962C8B-B14F-4D97-AF65-F5344CB8AC3E}">
        <p14:creationId xmlns:p14="http://schemas.microsoft.com/office/powerpoint/2010/main" val="353283760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Image -- requirement</a:t>
            </a:r>
            <a:endParaRPr lang="zh-TW" altLang="en-US" dirty="0"/>
          </a:p>
        </p:txBody>
      </p:sp>
      <p:sp>
        <p:nvSpPr>
          <p:cNvPr id="5" name="內容版面配置區 4"/>
          <p:cNvSpPr>
            <a:spLocks noGrp="1"/>
          </p:cNvSpPr>
          <p:nvPr>
            <p:ph idx="1"/>
          </p:nvPr>
        </p:nvSpPr>
        <p:spPr/>
        <p:txBody>
          <a:bodyPr/>
          <a:lstStyle/>
          <a:p>
            <a:pPr lvl="1">
              <a:buFont typeface="Wingdings" panose="05000000000000000000" pitchFamily="2" charset="2"/>
              <a:buChar char="Ø"/>
            </a:pPr>
            <a:r>
              <a:rPr lang="en-US" altLang="zh-TW" sz="2000" dirty="0"/>
              <a:t>Modifications to image data by a kernel agent packet dispatch are visible as follows</a:t>
            </a:r>
            <a:r>
              <a:rPr lang="en-US" altLang="zh-TW" sz="2000" dirty="0" smtClean="0"/>
              <a:t>:</a:t>
            </a:r>
          </a:p>
          <a:p>
            <a:pPr marL="342900" lvl="1" indent="0">
              <a:buNone/>
            </a:pPr>
            <a:endParaRPr lang="en-US" altLang="zh-TW" sz="2000" dirty="0" smtClean="0"/>
          </a:p>
          <a:p>
            <a:pPr lvl="1">
              <a:buFont typeface="Wingdings" panose="05000000000000000000" pitchFamily="2" charset="2"/>
              <a:buChar char="l"/>
            </a:pPr>
            <a:r>
              <a:rPr lang="en-US" altLang="zh-TW" sz="2000" dirty="0" smtClean="0"/>
              <a:t>Image </a:t>
            </a:r>
            <a:r>
              <a:rPr lang="en-US" altLang="zh-TW" sz="2000" dirty="0"/>
              <a:t>data modifications made by an AQL packet dispatch require the </a:t>
            </a:r>
            <a:r>
              <a:rPr lang="en-US" altLang="zh-TW" sz="2000" dirty="0" smtClean="0"/>
              <a:t>following sequence </a:t>
            </a:r>
            <a:r>
              <a:rPr lang="en-US" altLang="zh-TW" sz="2000" dirty="0"/>
              <a:t>to occur in order to be visible to subsequent AQL packet dispatches</a:t>
            </a:r>
            <a:r>
              <a:rPr lang="en-US" altLang="zh-TW" sz="2000" dirty="0" smtClean="0"/>
              <a:t>:</a:t>
            </a:r>
          </a:p>
          <a:p>
            <a:pPr marL="342900" lvl="1" indent="0">
              <a:buNone/>
            </a:pPr>
            <a:endParaRPr lang="zh-TW" altLang="zh-TW" sz="2000" dirty="0"/>
          </a:p>
          <a:p>
            <a:pPr lvl="2"/>
            <a:r>
              <a:rPr lang="en-US" altLang="zh-TW" sz="2000" dirty="0"/>
              <a:t>The active phase of the AQL packet dispatch modifying the image completes</a:t>
            </a:r>
            <a:r>
              <a:rPr lang="en-US" altLang="zh-TW" sz="2000" dirty="0" smtClean="0"/>
              <a:t>.</a:t>
            </a:r>
          </a:p>
          <a:p>
            <a:pPr lvl="2"/>
            <a:endParaRPr lang="zh-TW" altLang="zh-TW" sz="2000" dirty="0"/>
          </a:p>
          <a:p>
            <a:pPr marL="0" indent="0">
              <a:buNone/>
            </a:pPr>
            <a:endParaRPr lang="zh-TW" altLang="en-US" dirty="0"/>
          </a:p>
        </p:txBody>
      </p:sp>
    </p:spTree>
    <p:extLst>
      <p:ext uri="{BB962C8B-B14F-4D97-AF65-F5344CB8AC3E}">
        <p14:creationId xmlns:p14="http://schemas.microsoft.com/office/powerpoint/2010/main" val="267101537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Image -- requirement</a:t>
            </a:r>
            <a:endParaRPr lang="zh-TW" altLang="en-US" dirty="0"/>
          </a:p>
        </p:txBody>
      </p:sp>
      <p:sp>
        <p:nvSpPr>
          <p:cNvPr id="5" name="內容版面配置區 4"/>
          <p:cNvSpPr>
            <a:spLocks noGrp="1"/>
          </p:cNvSpPr>
          <p:nvPr>
            <p:ph idx="1"/>
          </p:nvPr>
        </p:nvSpPr>
        <p:spPr>
          <a:xfrm>
            <a:off x="0" y="1414296"/>
            <a:ext cx="8229600" cy="4895850"/>
          </a:xfrm>
        </p:spPr>
        <p:txBody>
          <a:bodyPr/>
          <a:lstStyle/>
          <a:p>
            <a:pPr lvl="2"/>
            <a:r>
              <a:rPr lang="en-US" altLang="zh-TW" sz="2000" dirty="0"/>
              <a:t>A packet processor release fence applying to image data is executed on the agent for the image (this may be part of the AQL packet dispatch that modified the image).</a:t>
            </a:r>
          </a:p>
          <a:p>
            <a:pPr marL="685800" lvl="2" indent="0">
              <a:buNone/>
            </a:pPr>
            <a:endParaRPr lang="zh-TW" altLang="zh-TW" sz="2000" dirty="0"/>
          </a:p>
          <a:p>
            <a:pPr lvl="2"/>
            <a:r>
              <a:rPr lang="en-US" altLang="zh-TW" sz="2000" dirty="0"/>
              <a:t>A packet processor acquire fence applying to image data is executed on the agent for the image (this may be part of the AQL packet dispatch that reads the modified image data).</a:t>
            </a:r>
            <a:endParaRPr lang="zh-TW" altLang="zh-TW" sz="2000" dirty="0"/>
          </a:p>
          <a:p>
            <a:endParaRPr lang="zh-TW" altLang="en-US" dirty="0"/>
          </a:p>
        </p:txBody>
      </p:sp>
    </p:spTree>
    <p:extLst>
      <p:ext uri="{BB962C8B-B14F-4D97-AF65-F5344CB8AC3E}">
        <p14:creationId xmlns:p14="http://schemas.microsoft.com/office/powerpoint/2010/main" val="127908375"/>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smtClean="0"/>
              <a:t>Image --requirement</a:t>
            </a:r>
            <a:endParaRPr lang="zh-TW" altLang="en-US"/>
          </a:p>
        </p:txBody>
      </p:sp>
      <p:sp>
        <p:nvSpPr>
          <p:cNvPr id="5" name="內容版面配置區 4"/>
          <p:cNvSpPr>
            <a:spLocks noGrp="1"/>
          </p:cNvSpPr>
          <p:nvPr>
            <p:ph idx="1"/>
          </p:nvPr>
        </p:nvSpPr>
        <p:spPr/>
        <p:txBody>
          <a:bodyPr/>
          <a:lstStyle/>
          <a:p>
            <a:r>
              <a:rPr lang="en-US" altLang="zh-TW" dirty="0" smtClean="0"/>
              <a:t>Image </a:t>
            </a:r>
            <a:r>
              <a:rPr lang="en-US" altLang="zh-TW" dirty="0"/>
              <a:t>data modifications made by an AQL packet dispatch require the following sequence to occur in order to be visible to HSA runtime operations</a:t>
            </a:r>
            <a:r>
              <a:rPr lang="en-US" altLang="zh-TW" dirty="0" smtClean="0"/>
              <a:t>:</a:t>
            </a:r>
          </a:p>
          <a:p>
            <a:pPr marL="0" indent="0">
              <a:buNone/>
            </a:pPr>
            <a:endParaRPr lang="en-US" altLang="zh-TW" dirty="0"/>
          </a:p>
          <a:p>
            <a:pPr marL="300038" lvl="1" indent="0">
              <a:buNone/>
            </a:pPr>
            <a:r>
              <a:rPr lang="en-US" altLang="zh-TW" sz="2000" dirty="0" smtClean="0"/>
              <a:t>-1. The </a:t>
            </a:r>
            <a:r>
              <a:rPr lang="en-US" altLang="zh-TW" sz="2000" dirty="0"/>
              <a:t>active phase of the AQL packet dispatch modifying the image completes</a:t>
            </a:r>
            <a:r>
              <a:rPr lang="en-US" altLang="zh-TW" sz="2000" dirty="0" smtClean="0"/>
              <a:t>.</a:t>
            </a:r>
          </a:p>
          <a:p>
            <a:pPr marL="300038" lvl="1" indent="0">
              <a:buNone/>
            </a:pPr>
            <a:endParaRPr lang="en-US" altLang="zh-TW" sz="2000" dirty="0"/>
          </a:p>
          <a:p>
            <a:pPr marL="300038" lvl="1" indent="0">
              <a:buNone/>
            </a:pPr>
            <a:r>
              <a:rPr lang="en-US" altLang="zh-TW" sz="2000" dirty="0" smtClean="0"/>
              <a:t>-2. A </a:t>
            </a:r>
            <a:r>
              <a:rPr lang="en-US" altLang="zh-TW" sz="2000" dirty="0"/>
              <a:t>packet processor release fence applying to image data is executed on the agent for the image (this may be part of the AQL packet dispatch that modified the image).</a:t>
            </a:r>
          </a:p>
          <a:p>
            <a:endParaRPr lang="zh-TW" altLang="en-US" dirty="0"/>
          </a:p>
        </p:txBody>
      </p:sp>
    </p:spTree>
    <p:extLst>
      <p:ext uri="{BB962C8B-B14F-4D97-AF65-F5344CB8AC3E}">
        <p14:creationId xmlns:p14="http://schemas.microsoft.com/office/powerpoint/2010/main" val="575462428"/>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smtClean="0"/>
              <a:t>Image – requirement</a:t>
            </a:r>
            <a:endParaRPr lang="zh-TW" altLang="en-US"/>
          </a:p>
        </p:txBody>
      </p:sp>
      <p:sp>
        <p:nvSpPr>
          <p:cNvPr id="5" name="內容版面配置區 4"/>
          <p:cNvSpPr>
            <a:spLocks noGrp="1"/>
          </p:cNvSpPr>
          <p:nvPr>
            <p:ph idx="1"/>
          </p:nvPr>
        </p:nvSpPr>
        <p:spPr/>
        <p:txBody>
          <a:bodyPr/>
          <a:lstStyle/>
          <a:p>
            <a:r>
              <a:rPr lang="en-US" altLang="zh-TW" smtClean="0"/>
              <a:t>Stores </a:t>
            </a:r>
            <a:r>
              <a:rPr lang="en-US" altLang="zh-TW"/>
              <a:t>to, an image by a single work-item are visible to loads by the same work-item after execution of a work-item scope image fence operation</a:t>
            </a:r>
            <a:r>
              <a:rPr lang="en-US" altLang="zh-TW" smtClean="0"/>
              <a:t>.</a:t>
            </a:r>
          </a:p>
          <a:p>
            <a:endParaRPr lang="en-US" altLang="zh-TW"/>
          </a:p>
          <a:p>
            <a:r>
              <a:rPr lang="en-US" altLang="zh-TW" smtClean="0"/>
              <a:t>Stores </a:t>
            </a:r>
            <a:r>
              <a:rPr lang="en-US" altLang="zh-TW"/>
              <a:t>to an image by a work-item are visible to loads by the same work-item and other work-items in the same work-group after both the writing and reading work-item(s) execute work-group execution uniform image acquire/release fences at work-group scope.</a:t>
            </a:r>
          </a:p>
          <a:p>
            <a:endParaRPr lang="zh-TW" altLang="en-US"/>
          </a:p>
        </p:txBody>
      </p:sp>
    </p:spTree>
    <p:extLst>
      <p:ext uri="{BB962C8B-B14F-4D97-AF65-F5344CB8AC3E}">
        <p14:creationId xmlns:p14="http://schemas.microsoft.com/office/powerpoint/2010/main" val="79985368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a:t>Image – requirement</a:t>
            </a:r>
            <a:endParaRPr lang="zh-TW" altLang="en-US"/>
          </a:p>
        </p:txBody>
      </p:sp>
      <p:sp>
        <p:nvSpPr>
          <p:cNvPr id="5" name="內容版面配置區 4"/>
          <p:cNvSpPr>
            <a:spLocks noGrp="1"/>
          </p:cNvSpPr>
          <p:nvPr>
            <p:ph idx="1"/>
          </p:nvPr>
        </p:nvSpPr>
        <p:spPr/>
        <p:txBody>
          <a:bodyPr/>
          <a:lstStyle/>
          <a:p>
            <a:r>
              <a:rPr lang="en-US" altLang="zh-TW" smtClean="0"/>
              <a:t>Note </a:t>
            </a:r>
            <a:r>
              <a:rPr lang="en-US" altLang="zh-TW"/>
              <a:t>that there is no image acquire/release fence at agent scope. Therefore, it is not possible to make image stores performed by a work-item visible to image loads performed by another work-item in a different work-group of the same dispatch</a:t>
            </a:r>
            <a:r>
              <a:rPr lang="en-US" altLang="zh-TW" smtClean="0"/>
              <a:t>.</a:t>
            </a:r>
          </a:p>
          <a:p>
            <a:endParaRPr lang="en-US" altLang="zh-TW"/>
          </a:p>
          <a:p>
            <a:r>
              <a:rPr lang="en-US" altLang="zh-TW" smtClean="0"/>
              <a:t>Image </a:t>
            </a:r>
            <a:r>
              <a:rPr lang="en-US" altLang="zh-TW"/>
              <a:t>accesses and image fences by a single work-item cannot be reordered</a:t>
            </a:r>
            <a:r>
              <a:rPr lang="en-US" altLang="zh-TW" smtClean="0"/>
              <a:t>.</a:t>
            </a:r>
          </a:p>
          <a:p>
            <a:endParaRPr lang="en-US" altLang="zh-TW"/>
          </a:p>
          <a:p>
            <a:r>
              <a:rPr lang="en-US" altLang="zh-TW" smtClean="0"/>
              <a:t>Image </a:t>
            </a:r>
            <a:r>
              <a:rPr lang="en-US" altLang="zh-TW"/>
              <a:t>fences and barrier/wavebarrier operations cannot be reordered. The ordering between barrier/wavebarrier operations and image fences is visible to all work-items that participate in the barrier/wavebarrier operations. </a:t>
            </a:r>
            <a:endParaRPr lang="zh-TW" altLang="en-US"/>
          </a:p>
        </p:txBody>
      </p:sp>
    </p:spTree>
    <p:extLst>
      <p:ext uri="{BB962C8B-B14F-4D97-AF65-F5344CB8AC3E}">
        <p14:creationId xmlns:p14="http://schemas.microsoft.com/office/powerpoint/2010/main" val="2145520435"/>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a:t>Image – requirement</a:t>
            </a:r>
            <a:endParaRPr lang="zh-TW" altLang="en-US"/>
          </a:p>
        </p:txBody>
      </p:sp>
      <p:sp>
        <p:nvSpPr>
          <p:cNvPr id="5" name="內容版面配置區 4"/>
          <p:cNvSpPr>
            <a:spLocks noGrp="1"/>
          </p:cNvSpPr>
          <p:nvPr>
            <p:ph idx="1"/>
          </p:nvPr>
        </p:nvSpPr>
        <p:spPr/>
        <p:txBody>
          <a:bodyPr/>
          <a:lstStyle/>
          <a:p>
            <a:r>
              <a:rPr lang="en-US" altLang="zh-TW" smtClean="0"/>
              <a:t>A </a:t>
            </a:r>
            <a:r>
              <a:rPr lang="en-US" altLang="zh-TW"/>
              <a:t>read/write image may alias a read-only or write-only image that is allocated for the same kernel agent. Additionally, a write-only image may alias a read-only image that is allocated for the same kernel agent</a:t>
            </a:r>
            <a:r>
              <a:rPr lang="en-US" altLang="zh-TW" smtClean="0"/>
              <a:t>.</a:t>
            </a:r>
          </a:p>
          <a:p>
            <a:endParaRPr lang="en-US" altLang="zh-TW"/>
          </a:p>
          <a:p>
            <a:r>
              <a:rPr lang="en-US" altLang="zh-TW" smtClean="0"/>
              <a:t>If </a:t>
            </a:r>
            <a:r>
              <a:rPr lang="en-US" altLang="zh-TW"/>
              <a:t>the data of a read-only image is modified while it is being read by a kernel agent kernel dispatch, then the behavior is undefined. If the data of a write-only image is read while it is being modified by a kernel agent kernel dispatch, then the behavior is undefined</a:t>
            </a:r>
            <a:r>
              <a:rPr lang="en-US" altLang="zh-TW" smtClean="0"/>
              <a:t>.</a:t>
            </a:r>
          </a:p>
          <a:p>
            <a:endParaRPr lang="en-US" altLang="zh-TW"/>
          </a:p>
          <a:p>
            <a:r>
              <a:rPr lang="en-US" altLang="zh-TW"/>
              <a:t>As described above, images are not part of shared virtual memory and thus are not included in the HSA Memory Model, as defined </a:t>
            </a:r>
            <a:r>
              <a:rPr lang="en-US" altLang="zh-TW" smtClean="0"/>
              <a:t>in HSA </a:t>
            </a:r>
            <a:r>
              <a:rPr lang="en-US" altLang="zh-TW"/>
              <a:t>memory consistency model</a:t>
            </a:r>
          </a:p>
          <a:p>
            <a:endParaRPr lang="zh-TW" altLang="en-US"/>
          </a:p>
        </p:txBody>
      </p:sp>
    </p:spTree>
    <p:extLst>
      <p:ext uri="{BB962C8B-B14F-4D97-AF65-F5344CB8AC3E}">
        <p14:creationId xmlns:p14="http://schemas.microsoft.com/office/powerpoint/2010/main" val="56864546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Hsa</a:t>
            </a:r>
            <a:r>
              <a:rPr lang="en-US" altLang="zh-TW" dirty="0" smtClean="0"/>
              <a:t> runtime</a:t>
            </a:r>
            <a:endParaRPr lang="zh-TW" altLang="en-US" dirty="0"/>
          </a:p>
        </p:txBody>
      </p:sp>
    </p:spTree>
    <p:extLst>
      <p:ext uri="{BB962C8B-B14F-4D97-AF65-F5344CB8AC3E}">
        <p14:creationId xmlns:p14="http://schemas.microsoft.com/office/powerpoint/2010/main" val="77380552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HSA runtime requirement and feature</a:t>
            </a:r>
            <a:endParaRPr lang="zh-TW" altLang="en-US"/>
          </a:p>
        </p:txBody>
      </p:sp>
      <p:sp>
        <p:nvSpPr>
          <p:cNvPr id="3" name="內容版面配置區 2"/>
          <p:cNvSpPr>
            <a:spLocks noGrp="1"/>
          </p:cNvSpPr>
          <p:nvPr>
            <p:ph idx="1"/>
          </p:nvPr>
        </p:nvSpPr>
        <p:spPr/>
        <p:txBody>
          <a:bodyPr/>
          <a:lstStyle/>
          <a:p>
            <a:r>
              <a:rPr lang="en-US" altLang="zh-TW"/>
              <a:t>The HSA runtime uses an opaque image handle (hsa_ext_image_t) to represent </a:t>
            </a:r>
            <a:r>
              <a:rPr lang="en-US" altLang="zh-TW" smtClean="0"/>
              <a:t>images.</a:t>
            </a:r>
          </a:p>
          <a:p>
            <a:endParaRPr lang="en-US" altLang="zh-TW"/>
          </a:p>
          <a:p>
            <a:r>
              <a:rPr lang="en-US" altLang="zh-TW"/>
              <a:t> The image </a:t>
            </a:r>
            <a:r>
              <a:rPr lang="en-US" altLang="zh-TW" smtClean="0"/>
              <a:t>handle references </a:t>
            </a:r>
            <a:r>
              <a:rPr lang="en-US" altLang="zh-TW"/>
              <a:t>the image data in memory and stores information about resource layout and other properties</a:t>
            </a:r>
            <a:r>
              <a:rPr lang="en-US" altLang="zh-TW" smtClean="0"/>
              <a:t>.</a:t>
            </a:r>
          </a:p>
          <a:p>
            <a:endParaRPr lang="en-US" altLang="zh-TW" smtClean="0"/>
          </a:p>
          <a:p>
            <a:r>
              <a:rPr lang="en-US" altLang="zh-TW"/>
              <a:t>HSA decouples the storage of the image data and the description of how the agent interprets that data.</a:t>
            </a:r>
          </a:p>
          <a:p>
            <a:endParaRPr lang="en-US" altLang="zh-TW"/>
          </a:p>
        </p:txBody>
      </p:sp>
    </p:spTree>
    <p:extLst>
      <p:ext uri="{BB962C8B-B14F-4D97-AF65-F5344CB8AC3E}">
        <p14:creationId xmlns:p14="http://schemas.microsoft.com/office/powerpoint/2010/main" val="2859246910"/>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smtClean="0"/>
              <a:t>HSA </a:t>
            </a:r>
            <a:r>
              <a:rPr lang="en-US" altLang="zh-TW"/>
              <a:t>runtime requirement and feature</a:t>
            </a:r>
            <a:endParaRPr lang="zh-TW" altLang="en-US"/>
          </a:p>
        </p:txBody>
      </p:sp>
      <p:sp>
        <p:nvSpPr>
          <p:cNvPr id="5" name="內容版面配置區 4"/>
          <p:cNvSpPr>
            <a:spLocks noGrp="1"/>
          </p:cNvSpPr>
          <p:nvPr>
            <p:ph idx="1"/>
          </p:nvPr>
        </p:nvSpPr>
        <p:spPr>
          <a:xfrm>
            <a:off x="417644" y="1158489"/>
            <a:ext cx="8229600" cy="4895850"/>
          </a:xfrm>
        </p:spPr>
        <p:txBody>
          <a:bodyPr/>
          <a:lstStyle/>
          <a:p>
            <a:r>
              <a:rPr lang="en-US" altLang="zh-TW"/>
              <a:t>An image </a:t>
            </a:r>
            <a:r>
              <a:rPr lang="en-US" altLang="zh-TW" i="1"/>
              <a:t>format </a:t>
            </a:r>
            <a:r>
              <a:rPr lang="en-US" altLang="zh-TW"/>
              <a:t>is specified using a </a:t>
            </a:r>
            <a:r>
              <a:rPr lang="en-US" altLang="zh-TW">
                <a:solidFill>
                  <a:srgbClr val="FF0000"/>
                </a:solidFill>
              </a:rPr>
              <a:t>channel type </a:t>
            </a:r>
            <a:r>
              <a:rPr lang="en-US" altLang="zh-TW"/>
              <a:t>and a </a:t>
            </a:r>
            <a:r>
              <a:rPr lang="en-US" altLang="zh-TW">
                <a:solidFill>
                  <a:srgbClr val="FF0000"/>
                </a:solidFill>
              </a:rPr>
              <a:t>channel </a:t>
            </a:r>
            <a:r>
              <a:rPr lang="en-US" altLang="zh-TW" smtClean="0">
                <a:solidFill>
                  <a:srgbClr val="FF0000"/>
                </a:solidFill>
              </a:rPr>
              <a:t>order</a:t>
            </a:r>
          </a:p>
          <a:p>
            <a:endParaRPr lang="en-US" altLang="zh-TW">
              <a:solidFill>
                <a:srgbClr val="FF0000"/>
              </a:solidFill>
            </a:endParaRPr>
          </a:p>
          <a:p>
            <a:pPr marL="0" indent="0">
              <a:buNone/>
            </a:pPr>
            <a:r>
              <a:rPr lang="en-US" altLang="zh-TW" b="1" smtClean="0"/>
              <a:t>Channel type:</a:t>
            </a:r>
          </a:p>
          <a:p>
            <a:pPr marL="300038" lvl="1" indent="0">
              <a:buNone/>
            </a:pPr>
            <a:r>
              <a:rPr lang="en-US" altLang="zh-TW" smtClean="0"/>
              <a:t>-- describes how the </a:t>
            </a:r>
            <a:r>
              <a:rPr lang="en-US" altLang="zh-TW"/>
              <a:t>data is to be interpreted along with the bit </a:t>
            </a:r>
            <a:r>
              <a:rPr lang="en-US" altLang="zh-TW" smtClean="0"/>
              <a:t>size.</a:t>
            </a:r>
            <a:endParaRPr lang="en-US" altLang="zh-TW"/>
          </a:p>
          <a:p>
            <a:pPr marL="0" indent="0">
              <a:buNone/>
            </a:pPr>
            <a:endParaRPr lang="en-US" altLang="zh-TW"/>
          </a:p>
          <a:p>
            <a:pPr marL="0" indent="0">
              <a:buNone/>
            </a:pPr>
            <a:r>
              <a:rPr lang="en-US" altLang="zh-TW" b="1" smtClean="0"/>
              <a:t>Channel order:</a:t>
            </a:r>
          </a:p>
          <a:p>
            <a:pPr marL="300038" lvl="1" indent="0">
              <a:buNone/>
            </a:pPr>
            <a:r>
              <a:rPr lang="en-US" altLang="zh-TW" smtClean="0"/>
              <a:t>-- describes </a:t>
            </a:r>
            <a:r>
              <a:rPr lang="en-US" altLang="zh-TW"/>
              <a:t>the number and </a:t>
            </a:r>
            <a:r>
              <a:rPr lang="en-US" altLang="zh-TW" smtClean="0"/>
              <a:t>the order of memory components.</a:t>
            </a:r>
            <a:endParaRPr lang="zh-TW" altLang="en-US"/>
          </a:p>
        </p:txBody>
      </p:sp>
    </p:spTree>
    <p:extLst>
      <p:ext uri="{BB962C8B-B14F-4D97-AF65-F5344CB8AC3E}">
        <p14:creationId xmlns:p14="http://schemas.microsoft.com/office/powerpoint/2010/main" val="2273847834"/>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smtClean="0"/>
              <a:t>HSA </a:t>
            </a:r>
            <a:r>
              <a:rPr lang="en-US" altLang="zh-TW"/>
              <a:t>runtime requirement and feature</a:t>
            </a:r>
            <a:endParaRPr lang="zh-TW" altLang="en-US"/>
          </a:p>
        </p:txBody>
      </p:sp>
      <p:sp>
        <p:nvSpPr>
          <p:cNvPr id="5" name="內容版面配置區 4"/>
          <p:cNvSpPr>
            <a:spLocks noGrp="1"/>
          </p:cNvSpPr>
          <p:nvPr>
            <p:ph idx="1"/>
          </p:nvPr>
        </p:nvSpPr>
        <p:spPr/>
        <p:txBody>
          <a:bodyPr/>
          <a:lstStyle/>
          <a:p>
            <a:r>
              <a:rPr lang="en-US" altLang="zh-TW"/>
              <a:t>Not all image channel types and channel order combinations are valid on </a:t>
            </a:r>
            <a:r>
              <a:rPr lang="en-US" altLang="zh-TW" smtClean="0"/>
              <a:t>an agent</a:t>
            </a:r>
            <a:r>
              <a:rPr lang="en-US" altLang="zh-TW"/>
              <a:t>, but an agent must support a minimum set of image formats</a:t>
            </a:r>
            <a:r>
              <a:rPr lang="en-US" altLang="zh-TW" smtClean="0"/>
              <a:t>.</a:t>
            </a:r>
          </a:p>
          <a:p>
            <a:endParaRPr lang="en-US" altLang="zh-TW"/>
          </a:p>
          <a:p>
            <a:r>
              <a:rPr lang="en-US" altLang="zh-TW"/>
              <a:t>An application can use </a:t>
            </a:r>
            <a:r>
              <a:rPr lang="en-US" altLang="zh-TW" b="1"/>
              <a:t>hsa_ext_image_get_capability </a:t>
            </a:r>
            <a:r>
              <a:rPr lang="en-US" altLang="zh-TW"/>
              <a:t>to obtain </a:t>
            </a:r>
            <a:r>
              <a:rPr lang="en-US" altLang="zh-TW" smtClean="0"/>
              <a:t>the image </a:t>
            </a:r>
            <a:r>
              <a:rPr lang="en-US" altLang="zh-TW"/>
              <a:t>format capabilities for a given combination of agent, geometry, and image format</a:t>
            </a:r>
            <a:r>
              <a:rPr lang="en-US" altLang="zh-TW" smtClean="0"/>
              <a:t>.</a:t>
            </a:r>
          </a:p>
          <a:p>
            <a:endParaRPr lang="en-US" altLang="zh-TW"/>
          </a:p>
          <a:p>
            <a:r>
              <a:rPr lang="en-US" altLang="zh-TW"/>
              <a:t>An implementation-independent image format descriptor (hsa_ext_image_descriptor_t) is composed of </a:t>
            </a:r>
            <a:r>
              <a:rPr lang="en-US" altLang="zh-TW" smtClean="0"/>
              <a:t>a geometry </a:t>
            </a:r>
            <a:r>
              <a:rPr lang="en-US" altLang="zh-TW"/>
              <a:t>along with the image format.</a:t>
            </a:r>
            <a:endParaRPr lang="en-US" altLang="zh-TW" smtClean="0"/>
          </a:p>
          <a:p>
            <a:endParaRPr lang="en-US" altLang="zh-TW"/>
          </a:p>
          <a:p>
            <a:endParaRPr lang="zh-TW" altLang="en-US"/>
          </a:p>
        </p:txBody>
      </p:sp>
    </p:spTree>
    <p:extLst>
      <p:ext uri="{BB962C8B-B14F-4D97-AF65-F5344CB8AC3E}">
        <p14:creationId xmlns:p14="http://schemas.microsoft.com/office/powerpoint/2010/main" val="1572916689"/>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smtClean="0"/>
              <a:t>HSA </a:t>
            </a:r>
            <a:r>
              <a:rPr lang="en-US" altLang="zh-TW"/>
              <a:t>runtime requirement and feature</a:t>
            </a:r>
            <a:endParaRPr lang="zh-TW" altLang="en-US"/>
          </a:p>
        </p:txBody>
      </p:sp>
      <p:sp>
        <p:nvSpPr>
          <p:cNvPr id="5" name="內容版面配置區 4"/>
          <p:cNvSpPr>
            <a:spLocks noGrp="1"/>
          </p:cNvSpPr>
          <p:nvPr>
            <p:ph idx="1"/>
          </p:nvPr>
        </p:nvSpPr>
        <p:spPr/>
        <p:txBody>
          <a:bodyPr/>
          <a:lstStyle/>
          <a:p>
            <a:r>
              <a:rPr lang="en-US" altLang="zh-TW"/>
              <a:t>The image descriptor is used to inquire the runtime for the </a:t>
            </a:r>
            <a:r>
              <a:rPr lang="en-US" altLang="zh-TW" smtClean="0"/>
              <a:t>agentspecific image </a:t>
            </a:r>
            <a:r>
              <a:rPr lang="en-US" altLang="zh-TW"/>
              <a:t>data size and alignment details by calling </a:t>
            </a:r>
            <a:r>
              <a:rPr lang="en-US" altLang="zh-TW" b="1"/>
              <a:t>hsa_ext_image_data_get_info </a:t>
            </a:r>
            <a:r>
              <a:rPr lang="en-US" altLang="zh-TW"/>
              <a:t>for the </a:t>
            </a:r>
            <a:r>
              <a:rPr lang="en-US" altLang="zh-TW" smtClean="0"/>
              <a:t>purpose of </a:t>
            </a:r>
            <a:r>
              <a:rPr lang="en-US" altLang="zh-TW"/>
              <a:t>determining the implementation’s storage requirements</a:t>
            </a:r>
            <a:r>
              <a:rPr lang="en-US" altLang="zh-TW" smtClean="0"/>
              <a:t>.</a:t>
            </a:r>
          </a:p>
          <a:p>
            <a:endParaRPr lang="en-US" altLang="zh-TW" smtClean="0"/>
          </a:p>
          <a:p>
            <a:r>
              <a:rPr lang="en-US" altLang="zh-TW"/>
              <a:t>The memory requirements (</a:t>
            </a:r>
            <a:r>
              <a:rPr lang="en-US" altLang="zh-TW" smtClean="0"/>
              <a:t>hsa_ext_image_data_info_t</a:t>
            </a:r>
            <a:r>
              <a:rPr lang="en-US" altLang="zh-TW"/>
              <a:t>) include the size of the memory needed as well as any alignment constraints</a:t>
            </a:r>
            <a:r>
              <a:rPr lang="en-US" altLang="zh-TW" smtClean="0"/>
              <a:t>.</a:t>
            </a:r>
          </a:p>
          <a:p>
            <a:endParaRPr lang="en-US" altLang="zh-TW"/>
          </a:p>
          <a:p>
            <a:r>
              <a:rPr lang="en-US" altLang="zh-TW"/>
              <a:t>An </a:t>
            </a:r>
            <a:r>
              <a:rPr lang="en-US" altLang="zh-TW" smtClean="0"/>
              <a:t>application can </a:t>
            </a:r>
            <a:r>
              <a:rPr lang="en-US" altLang="zh-TW"/>
              <a:t>either allocate new memory for storing the image data, or use an existing buffer. Before the image </a:t>
            </a:r>
            <a:r>
              <a:rPr lang="en-US" altLang="zh-TW" smtClean="0"/>
              <a:t>data is </a:t>
            </a:r>
            <a:r>
              <a:rPr lang="en-US" altLang="zh-TW"/>
              <a:t>used, an agent-specific image handle must be created using it and if necessary, cleared and </a:t>
            </a:r>
            <a:r>
              <a:rPr lang="en-US" altLang="zh-TW" smtClean="0"/>
              <a:t>prepared according </a:t>
            </a:r>
            <a:r>
              <a:rPr lang="en-US" altLang="zh-TW"/>
              <a:t>to the intended use.</a:t>
            </a:r>
            <a:endParaRPr lang="zh-TW" altLang="en-US"/>
          </a:p>
        </p:txBody>
      </p:sp>
    </p:spTree>
    <p:extLst>
      <p:ext uri="{BB962C8B-B14F-4D97-AF65-F5344CB8AC3E}">
        <p14:creationId xmlns:p14="http://schemas.microsoft.com/office/powerpoint/2010/main" val="4211452464"/>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smtClean="0"/>
              <a:t>HSA </a:t>
            </a:r>
            <a:r>
              <a:rPr lang="en-US" altLang="zh-TW"/>
              <a:t>runtime requirement and feature</a:t>
            </a:r>
            <a:endParaRPr lang="zh-TW" altLang="en-US"/>
          </a:p>
        </p:txBody>
      </p:sp>
      <p:sp>
        <p:nvSpPr>
          <p:cNvPr id="5" name="內容版面配置區 4"/>
          <p:cNvSpPr>
            <a:spLocks noGrp="1"/>
          </p:cNvSpPr>
          <p:nvPr>
            <p:ph idx="1"/>
          </p:nvPr>
        </p:nvSpPr>
        <p:spPr/>
        <p:txBody>
          <a:bodyPr/>
          <a:lstStyle/>
          <a:p>
            <a:r>
              <a:rPr lang="en-US" altLang="zh-TW"/>
              <a:t>The function </a:t>
            </a:r>
            <a:r>
              <a:rPr lang="en-US" altLang="zh-TW" b="1"/>
              <a:t>hsa_ext_image_create </a:t>
            </a:r>
            <a:r>
              <a:rPr lang="en-US" altLang="zh-TW"/>
              <a:t>creates an agent-specific image from an image format descriptor, </a:t>
            </a:r>
            <a:r>
              <a:rPr lang="en-US" altLang="zh-TW" smtClean="0"/>
              <a:t>an application-allocated </a:t>
            </a:r>
            <a:r>
              <a:rPr lang="en-US" altLang="zh-TW"/>
              <a:t>buffer that conforms to the requirements provided </a:t>
            </a:r>
            <a:r>
              <a:rPr lang="en-US" altLang="zh-TW" smtClean="0"/>
              <a:t>by </a:t>
            </a:r>
            <a:r>
              <a:rPr lang="en-US" altLang="zh-TW" b="1" smtClean="0"/>
              <a:t>hsa_ext_image_data_get_info</a:t>
            </a:r>
            <a:r>
              <a:rPr lang="en-US" altLang="zh-TW" smtClean="0"/>
              <a:t>, and </a:t>
            </a:r>
            <a:r>
              <a:rPr lang="en-US" altLang="zh-TW"/>
              <a:t>access permissions. </a:t>
            </a:r>
            <a:endParaRPr lang="en-US" altLang="zh-TW" smtClean="0"/>
          </a:p>
          <a:p>
            <a:endParaRPr lang="en-US" altLang="zh-TW"/>
          </a:p>
          <a:p>
            <a:r>
              <a:rPr lang="en-US" altLang="zh-TW" smtClean="0"/>
              <a:t>The </a:t>
            </a:r>
            <a:r>
              <a:rPr lang="en-US" altLang="zh-TW"/>
              <a:t>returned handle can used by the HSAIL operations </a:t>
            </a:r>
            <a:r>
              <a:rPr lang="en-US" altLang="zh-TW" b="1"/>
              <a:t>rdimage</a:t>
            </a:r>
            <a:r>
              <a:rPr lang="en-US" altLang="zh-TW"/>
              <a:t>, </a:t>
            </a:r>
            <a:r>
              <a:rPr lang="en-US" altLang="zh-TW" b="1"/>
              <a:t>ldimage</a:t>
            </a:r>
            <a:r>
              <a:rPr lang="en-US" altLang="zh-TW"/>
              <a:t>, </a:t>
            </a:r>
            <a:r>
              <a:rPr lang="en-US" altLang="zh-TW" smtClean="0"/>
              <a:t>and </a:t>
            </a:r>
            <a:r>
              <a:rPr lang="en-US" altLang="zh-TW" b="1" smtClean="0"/>
              <a:t>stimage</a:t>
            </a:r>
            <a:r>
              <a:rPr lang="en-US" altLang="zh-TW"/>
              <a:t>.</a:t>
            </a:r>
          </a:p>
          <a:p>
            <a:endParaRPr lang="zh-TW" altLang="en-US"/>
          </a:p>
        </p:txBody>
      </p:sp>
    </p:spTree>
    <p:extLst>
      <p:ext uri="{BB962C8B-B14F-4D97-AF65-F5344CB8AC3E}">
        <p14:creationId xmlns:p14="http://schemas.microsoft.com/office/powerpoint/2010/main" val="1356260972"/>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a:t>HSA runtime requirement and feature</a:t>
            </a:r>
            <a:endParaRPr lang="zh-TW" altLang="en-US"/>
          </a:p>
        </p:txBody>
      </p:sp>
      <p:sp>
        <p:nvSpPr>
          <p:cNvPr id="5" name="內容版面配置區 4"/>
          <p:cNvSpPr>
            <a:spLocks noGrp="1"/>
          </p:cNvSpPr>
          <p:nvPr>
            <p:ph idx="1"/>
          </p:nvPr>
        </p:nvSpPr>
        <p:spPr/>
        <p:txBody>
          <a:bodyPr/>
          <a:lstStyle/>
          <a:p>
            <a:r>
              <a:rPr lang="en-US" altLang="zh-TW"/>
              <a:t>While the image data is technically accessible from its pointer in the raw form, the data layout and </a:t>
            </a:r>
            <a:r>
              <a:rPr lang="en-US" altLang="zh-TW" smtClean="0"/>
              <a:t>organization is </a:t>
            </a:r>
            <a:r>
              <a:rPr lang="en-US" altLang="zh-TW"/>
              <a:t>agent-specific and should be treated as opaque</a:t>
            </a:r>
            <a:r>
              <a:rPr lang="en-US" altLang="zh-TW" smtClean="0"/>
              <a:t>.</a:t>
            </a:r>
          </a:p>
          <a:p>
            <a:endParaRPr lang="en-US" altLang="zh-TW"/>
          </a:p>
          <a:p>
            <a:r>
              <a:rPr lang="en-US" altLang="zh-TW"/>
              <a:t>The internal implementation of an optimal </a:t>
            </a:r>
            <a:r>
              <a:rPr lang="en-US" altLang="zh-TW" smtClean="0"/>
              <a:t>image data </a:t>
            </a:r>
            <a:r>
              <a:rPr lang="en-US" altLang="zh-TW"/>
              <a:t>organization could vary depending on the attributes of the image format descriptor</a:t>
            </a:r>
            <a:r>
              <a:rPr lang="en-US" altLang="zh-TW" smtClean="0"/>
              <a:t>.</a:t>
            </a:r>
          </a:p>
          <a:p>
            <a:pPr marL="0" indent="0">
              <a:buNone/>
            </a:pPr>
            <a:endParaRPr lang="en-US" altLang="zh-TW" smtClean="0"/>
          </a:p>
          <a:p>
            <a:r>
              <a:rPr lang="en-US" altLang="zh-TW" smtClean="0"/>
              <a:t>There</a:t>
            </a:r>
            <a:r>
              <a:rPr lang="en-US" altLang="zh-TW"/>
              <a:t> </a:t>
            </a:r>
            <a:r>
              <a:rPr lang="en-US" altLang="zh-TW" smtClean="0"/>
              <a:t>are </a:t>
            </a:r>
            <a:r>
              <a:rPr lang="en-US" altLang="zh-TW"/>
              <a:t>no guarantees on the data layout when accessed from another agent. The only reliable way to </a:t>
            </a:r>
            <a:r>
              <a:rPr lang="en-US" altLang="zh-TW" smtClean="0"/>
              <a:t>import or </a:t>
            </a:r>
            <a:r>
              <a:rPr lang="en-US" altLang="zh-TW"/>
              <a:t>export image data from optimally organized images is to copy their data to and from a linearly </a:t>
            </a:r>
            <a:r>
              <a:rPr lang="en-US" altLang="zh-TW" smtClean="0"/>
              <a:t>organized data </a:t>
            </a:r>
            <a:r>
              <a:rPr lang="en-US" altLang="zh-TW"/>
              <a:t>layout in memory, as specified by the image’s format attributes.</a:t>
            </a:r>
            <a:endParaRPr lang="zh-TW" altLang="en-US"/>
          </a:p>
        </p:txBody>
      </p:sp>
    </p:spTree>
    <p:extLst>
      <p:ext uri="{BB962C8B-B14F-4D97-AF65-F5344CB8AC3E}">
        <p14:creationId xmlns:p14="http://schemas.microsoft.com/office/powerpoint/2010/main" val="3064331890"/>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a:t>HSA runtime requirement and feature</a:t>
            </a:r>
            <a:endParaRPr lang="zh-TW" altLang="en-US"/>
          </a:p>
        </p:txBody>
      </p:sp>
      <p:sp>
        <p:nvSpPr>
          <p:cNvPr id="5" name="內容版面配置區 4"/>
          <p:cNvSpPr>
            <a:spLocks noGrp="1"/>
          </p:cNvSpPr>
          <p:nvPr>
            <p:ph idx="1"/>
          </p:nvPr>
        </p:nvSpPr>
        <p:spPr/>
        <p:txBody>
          <a:bodyPr/>
          <a:lstStyle/>
          <a:p>
            <a:r>
              <a:rPr lang="en-US" altLang="zh-TW"/>
              <a:t>The HSA runtime provides interfaces to allow operations on images. Image data transfer to and from </a:t>
            </a:r>
            <a:r>
              <a:rPr lang="en-US" altLang="zh-TW" smtClean="0"/>
              <a:t>memory with </a:t>
            </a:r>
            <a:r>
              <a:rPr lang="en-US" altLang="zh-TW"/>
              <a:t>a linear layout can be performed using </a:t>
            </a:r>
            <a:r>
              <a:rPr lang="en-US" altLang="zh-TW" b="1"/>
              <a:t>hsa_ext_image_export </a:t>
            </a:r>
            <a:r>
              <a:rPr lang="en-US" altLang="zh-TW"/>
              <a:t>and </a:t>
            </a:r>
            <a:r>
              <a:rPr lang="en-US" altLang="zh-TW" b="1"/>
              <a:t>hsa_ext_image_import </a:t>
            </a:r>
            <a:r>
              <a:rPr lang="en-US" altLang="zh-TW"/>
              <a:t>respectively</a:t>
            </a:r>
            <a:r>
              <a:rPr lang="en-US" altLang="zh-TW" smtClean="0"/>
              <a:t>.</a:t>
            </a:r>
          </a:p>
          <a:p>
            <a:endParaRPr lang="en-US" altLang="zh-TW"/>
          </a:p>
          <a:p>
            <a:r>
              <a:rPr lang="en-US" altLang="zh-TW"/>
              <a:t>A portion of an image could be copied to another image using </a:t>
            </a:r>
            <a:r>
              <a:rPr lang="en-US" altLang="zh-TW" b="1"/>
              <a:t>hsa_ext_image_copy</a:t>
            </a:r>
            <a:r>
              <a:rPr lang="en-US" altLang="zh-TW"/>
              <a:t>. </a:t>
            </a:r>
            <a:r>
              <a:rPr lang="en-US" altLang="zh-TW" smtClean="0"/>
              <a:t>An image </a:t>
            </a:r>
            <a:r>
              <a:rPr lang="en-US" altLang="zh-TW"/>
              <a:t>can be cleared </a:t>
            </a:r>
            <a:r>
              <a:rPr lang="en-US" altLang="zh-TW" smtClean="0"/>
              <a:t>using </a:t>
            </a:r>
            <a:r>
              <a:rPr lang="en-US" altLang="zh-TW" b="1" smtClean="0"/>
              <a:t>hsa_ext_image_clear</a:t>
            </a:r>
            <a:r>
              <a:rPr lang="en-US" altLang="zh-TW" smtClean="0"/>
              <a:t>.</a:t>
            </a:r>
          </a:p>
          <a:p>
            <a:endParaRPr lang="en-US" altLang="zh-TW" smtClean="0"/>
          </a:p>
          <a:p>
            <a:r>
              <a:rPr lang="en-US" altLang="zh-TW"/>
              <a:t>It is the application’s responsibility to ensure </a:t>
            </a:r>
            <a:r>
              <a:rPr lang="en-US" altLang="zh-TW" smtClean="0"/>
              <a:t>proper synchronization </a:t>
            </a:r>
            <a:r>
              <a:rPr lang="en-US" altLang="zh-TW"/>
              <a:t>and preparation of images on accesses from other image operations.</a:t>
            </a:r>
          </a:p>
          <a:p>
            <a:endParaRPr lang="zh-TW" altLang="en-US"/>
          </a:p>
        </p:txBody>
      </p:sp>
    </p:spTree>
    <p:extLst>
      <p:ext uri="{BB962C8B-B14F-4D97-AF65-F5344CB8AC3E}">
        <p14:creationId xmlns:p14="http://schemas.microsoft.com/office/powerpoint/2010/main" val="1331236522"/>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a:t>HSA runtime requirement and feature</a:t>
            </a:r>
            <a:endParaRPr lang="zh-TW" altLang="en-US"/>
          </a:p>
        </p:txBody>
      </p:sp>
      <p:sp>
        <p:nvSpPr>
          <p:cNvPr id="5" name="內容版面配置區 4"/>
          <p:cNvSpPr>
            <a:spLocks noGrp="1"/>
          </p:cNvSpPr>
          <p:nvPr>
            <p:ph idx="1"/>
          </p:nvPr>
        </p:nvSpPr>
        <p:spPr/>
        <p:txBody>
          <a:bodyPr/>
          <a:lstStyle/>
          <a:p>
            <a:r>
              <a:rPr lang="en-US" altLang="zh-TW"/>
              <a:t>An agent-specific sampler handle (hsa_ext_sampler_t) is used by the HSAIL language to describe </a:t>
            </a:r>
            <a:r>
              <a:rPr lang="en-US" altLang="zh-TW" smtClean="0"/>
              <a:t>how images </a:t>
            </a:r>
            <a:r>
              <a:rPr lang="en-US" altLang="zh-TW"/>
              <a:t>are processed by the </a:t>
            </a:r>
            <a:r>
              <a:rPr lang="en-US" altLang="zh-TW" b="1"/>
              <a:t>rdimage </a:t>
            </a:r>
            <a:r>
              <a:rPr lang="en-US" altLang="zh-TW"/>
              <a:t>HSAIL operation. </a:t>
            </a:r>
            <a:endParaRPr lang="en-US" altLang="zh-TW" smtClean="0"/>
          </a:p>
          <a:p>
            <a:endParaRPr lang="en-US" altLang="zh-TW"/>
          </a:p>
          <a:p>
            <a:r>
              <a:rPr lang="en-US" altLang="zh-TW" smtClean="0"/>
              <a:t>The </a:t>
            </a:r>
            <a:r>
              <a:rPr lang="en-US" altLang="zh-TW"/>
              <a:t>function </a:t>
            </a:r>
            <a:r>
              <a:rPr lang="en-US" altLang="zh-TW" b="1"/>
              <a:t>hsa_ext_sampler_create </a:t>
            </a:r>
            <a:r>
              <a:rPr lang="en-US" altLang="zh-TW"/>
              <a:t>creates </a:t>
            </a:r>
            <a:r>
              <a:rPr lang="en-US" altLang="zh-TW" smtClean="0"/>
              <a:t>a sampler </a:t>
            </a:r>
            <a:r>
              <a:rPr lang="en-US" altLang="zh-TW"/>
              <a:t>handle from an agent-independent sampler descriptor (hsa_ext_sampler_descriptor_t).</a:t>
            </a:r>
            <a:endParaRPr lang="zh-TW" altLang="en-US"/>
          </a:p>
        </p:txBody>
      </p:sp>
    </p:spTree>
    <p:extLst>
      <p:ext uri="{BB962C8B-B14F-4D97-AF65-F5344CB8AC3E}">
        <p14:creationId xmlns:p14="http://schemas.microsoft.com/office/powerpoint/2010/main" val="1176525797"/>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HSAIL IMAGE</a:t>
            </a:r>
            <a:endParaRPr lang="zh-TW" altLang="en-US" dirty="0"/>
          </a:p>
        </p:txBody>
      </p:sp>
    </p:spTree>
    <p:extLst>
      <p:ext uri="{BB962C8B-B14F-4D97-AF65-F5344CB8AC3E}">
        <p14:creationId xmlns:p14="http://schemas.microsoft.com/office/powerpoint/2010/main" val="2588083152"/>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Read Image (</a:t>
            </a:r>
            <a:r>
              <a:rPr lang="en-US" altLang="zh-TW" dirty="0" err="1"/>
              <a:t>rdimage</a:t>
            </a:r>
            <a:r>
              <a:rPr lang="en-US" altLang="zh-TW" dirty="0"/>
              <a:t>) Operation</a:t>
            </a:r>
            <a:endParaRPr lang="zh-TW" altLang="en-US" dirty="0"/>
          </a:p>
        </p:txBody>
      </p:sp>
      <p:sp>
        <p:nvSpPr>
          <p:cNvPr id="3" name="內容版面配置區 2"/>
          <p:cNvSpPr>
            <a:spLocks noGrp="1"/>
          </p:cNvSpPr>
          <p:nvPr>
            <p:ph idx="1"/>
          </p:nvPr>
        </p:nvSpPr>
        <p:spPr>
          <a:xfrm>
            <a:off x="356135" y="1135163"/>
            <a:ext cx="8686800" cy="4895850"/>
          </a:xfrm>
        </p:spPr>
        <p:txBody>
          <a:bodyPr/>
          <a:lstStyle/>
          <a:p>
            <a:r>
              <a:rPr lang="en-US" altLang="zh-TW" dirty="0"/>
              <a:t>The read image (</a:t>
            </a:r>
            <a:r>
              <a:rPr lang="en-US" altLang="zh-TW" dirty="0" err="1"/>
              <a:t>rdimage</a:t>
            </a:r>
            <a:r>
              <a:rPr lang="en-US" altLang="zh-TW" dirty="0"/>
              <a:t>) operation uses image coordinates together with a sampler to perform an image memory lookup.</a:t>
            </a:r>
            <a:endParaRPr lang="zh-TW" altLang="zh-TW" dirty="0"/>
          </a:p>
          <a:p>
            <a:endParaRPr lang="en-US" altLang="zh-TW" dirty="0" smtClean="0"/>
          </a:p>
          <a:p>
            <a:r>
              <a:rPr lang="en-US" altLang="zh-TW" dirty="0"/>
              <a:t>The operation loads data from a read-only image, specified by source operand </a:t>
            </a:r>
            <a:r>
              <a:rPr lang="en-US" altLang="zh-TW" i="1" dirty="0"/>
              <a:t>image</a:t>
            </a:r>
            <a:r>
              <a:rPr lang="en-US" altLang="zh-TW" dirty="0"/>
              <a:t> at coordinates given by source operands </a:t>
            </a:r>
            <a:r>
              <a:rPr lang="en-US" altLang="zh-TW" i="1" dirty="0" err="1"/>
              <a:t>coordWidth</a:t>
            </a:r>
            <a:r>
              <a:rPr lang="en-US" altLang="zh-TW" dirty="0"/>
              <a:t>, </a:t>
            </a:r>
            <a:r>
              <a:rPr lang="en-US" altLang="zh-TW" i="1" dirty="0" err="1"/>
              <a:t>coordHeight</a:t>
            </a:r>
            <a:r>
              <a:rPr lang="en-US" altLang="zh-TW" dirty="0"/>
              <a:t>, </a:t>
            </a:r>
            <a:r>
              <a:rPr lang="en-US" altLang="zh-TW" i="1" dirty="0" err="1"/>
              <a:t>coordDepth</a:t>
            </a:r>
            <a:r>
              <a:rPr lang="en-US" altLang="zh-TW" dirty="0"/>
              <a:t>, and </a:t>
            </a:r>
            <a:r>
              <a:rPr lang="en-US" altLang="zh-TW" i="1" dirty="0" err="1"/>
              <a:t>coordArrayIndex</a:t>
            </a:r>
            <a:r>
              <a:rPr lang="en-US" altLang="zh-TW" dirty="0"/>
              <a:t>, into destination operands </a:t>
            </a:r>
            <a:r>
              <a:rPr lang="en-US" altLang="zh-TW" i="1" dirty="0" err="1"/>
              <a:t>destR</a:t>
            </a:r>
            <a:r>
              <a:rPr lang="en-US" altLang="zh-TW" dirty="0"/>
              <a:t>, </a:t>
            </a:r>
            <a:r>
              <a:rPr lang="en-US" altLang="zh-TW" i="1" dirty="0" err="1"/>
              <a:t>destG</a:t>
            </a:r>
            <a:r>
              <a:rPr lang="en-US" altLang="zh-TW" dirty="0"/>
              <a:t>, </a:t>
            </a:r>
            <a:r>
              <a:rPr lang="en-US" altLang="zh-TW" i="1" dirty="0" err="1"/>
              <a:t>destB</a:t>
            </a:r>
            <a:r>
              <a:rPr lang="en-US" altLang="zh-TW" dirty="0"/>
              <a:t>, and </a:t>
            </a:r>
            <a:r>
              <a:rPr lang="en-US" altLang="zh-TW" i="1" dirty="0" err="1"/>
              <a:t>destA</a:t>
            </a:r>
            <a:r>
              <a:rPr lang="en-US" altLang="zh-TW" dirty="0"/>
              <a:t>. A sampler specified by source operand </a:t>
            </a:r>
            <a:r>
              <a:rPr lang="en-US" altLang="zh-TW" i="1" dirty="0"/>
              <a:t>sampler</a:t>
            </a:r>
            <a:r>
              <a:rPr lang="en-US" altLang="zh-TW" dirty="0"/>
              <a:t> defines how to process the read</a:t>
            </a:r>
            <a:r>
              <a:rPr lang="en-US" altLang="zh-TW" dirty="0" smtClean="0"/>
              <a:t>.</a:t>
            </a:r>
          </a:p>
          <a:p>
            <a:endParaRPr lang="en-US" altLang="zh-TW" dirty="0"/>
          </a:p>
          <a:p>
            <a:r>
              <a:rPr lang="en-US" altLang="zh-TW" dirty="0" err="1"/>
              <a:t>rdimage</a:t>
            </a:r>
            <a:r>
              <a:rPr lang="en-US" altLang="zh-TW" dirty="0"/>
              <a:t> used with integer coordinates has restrictions on the sampler:</a:t>
            </a:r>
          </a:p>
          <a:p>
            <a:pPr marL="300038" lvl="1" indent="0">
              <a:buNone/>
            </a:pPr>
            <a:r>
              <a:rPr lang="en-US" altLang="zh-TW" dirty="0" smtClean="0"/>
              <a:t>•</a:t>
            </a:r>
            <a:r>
              <a:rPr lang="en-US" altLang="zh-TW" dirty="0" err="1" smtClean="0"/>
              <a:t>coord</a:t>
            </a:r>
            <a:r>
              <a:rPr lang="en-US" altLang="zh-TW" dirty="0" smtClean="0"/>
              <a:t> </a:t>
            </a:r>
            <a:r>
              <a:rPr lang="en-US" altLang="zh-TW" dirty="0"/>
              <a:t>must be </a:t>
            </a:r>
            <a:r>
              <a:rPr lang="en-US" altLang="zh-TW" dirty="0" err="1"/>
              <a:t>unnormalized</a:t>
            </a:r>
            <a:r>
              <a:rPr lang="en-US" altLang="zh-TW" dirty="0"/>
              <a:t>.</a:t>
            </a:r>
          </a:p>
          <a:p>
            <a:pPr marL="300038" lvl="1" indent="0">
              <a:buNone/>
            </a:pPr>
            <a:r>
              <a:rPr lang="en-US" altLang="zh-TW" dirty="0" smtClean="0"/>
              <a:t>•filter </a:t>
            </a:r>
            <a:r>
              <a:rPr lang="en-US" altLang="zh-TW" dirty="0"/>
              <a:t>must be nearest.</a:t>
            </a:r>
          </a:p>
          <a:p>
            <a:pPr marL="300038" lvl="1" indent="0">
              <a:buNone/>
            </a:pPr>
            <a:r>
              <a:rPr lang="en-US" altLang="zh-TW" dirty="0" smtClean="0"/>
              <a:t>•The </a:t>
            </a:r>
            <a:r>
              <a:rPr lang="en-US" altLang="zh-TW" dirty="0"/>
              <a:t>boundary mode must be undefined, </a:t>
            </a:r>
            <a:r>
              <a:rPr lang="en-US" altLang="zh-TW" dirty="0" err="1"/>
              <a:t>clamp_to_edge</a:t>
            </a:r>
            <a:r>
              <a:rPr lang="en-US" altLang="zh-TW" dirty="0"/>
              <a:t> </a:t>
            </a:r>
            <a:r>
              <a:rPr lang="en-US" altLang="zh-TW" dirty="0" smtClean="0"/>
              <a:t>or </a:t>
            </a:r>
            <a:r>
              <a:rPr lang="en-US" altLang="zh-TW" dirty="0" err="1" smtClean="0"/>
              <a:t>clamp_to_border</a:t>
            </a:r>
            <a:r>
              <a:rPr lang="en-US" altLang="zh-TW" dirty="0"/>
              <a:t>.</a:t>
            </a:r>
          </a:p>
          <a:p>
            <a:endParaRPr lang="zh-TW" altLang="en-US" dirty="0"/>
          </a:p>
        </p:txBody>
      </p:sp>
    </p:spTree>
    <p:extLst>
      <p:ext uri="{BB962C8B-B14F-4D97-AF65-F5344CB8AC3E}">
        <p14:creationId xmlns:p14="http://schemas.microsoft.com/office/powerpoint/2010/main" val="3099265048"/>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Read Image (</a:t>
            </a:r>
            <a:r>
              <a:rPr lang="en-US" altLang="zh-TW" dirty="0" err="1"/>
              <a:t>rdimage</a:t>
            </a:r>
            <a:r>
              <a:rPr lang="en-US" altLang="zh-TW" dirty="0"/>
              <a:t>) Operation</a:t>
            </a:r>
            <a:endParaRPr lang="zh-TW" altLang="en-US" dirty="0"/>
          </a:p>
        </p:txBody>
      </p:sp>
      <p:pic>
        <p:nvPicPr>
          <p:cNvPr id="6" name="內容版面配置區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6089" y="1503620"/>
            <a:ext cx="8229600" cy="1983628"/>
          </a:xfrm>
        </p:spPr>
      </p:pic>
      <p:sp>
        <p:nvSpPr>
          <p:cNvPr id="7" name="文字方塊 6"/>
          <p:cNvSpPr txBox="1"/>
          <p:nvPr/>
        </p:nvSpPr>
        <p:spPr>
          <a:xfrm>
            <a:off x="548640" y="3585758"/>
            <a:ext cx="7854215" cy="923330"/>
          </a:xfrm>
          <a:prstGeom prst="rect">
            <a:avLst/>
          </a:prstGeom>
          <a:noFill/>
        </p:spPr>
        <p:txBody>
          <a:bodyPr wrap="square" rtlCol="0" anchor="ctr" anchorCtr="1">
            <a:spAutoFit/>
          </a:bodyPr>
          <a:lstStyle/>
          <a:p>
            <a:r>
              <a:rPr lang="en-US" altLang="zh-TW" i="1" dirty="0"/>
              <a:t>image</a:t>
            </a:r>
            <a:r>
              <a:rPr lang="en-US" altLang="zh-TW" dirty="0"/>
              <a:t>: </a:t>
            </a:r>
            <a:endParaRPr lang="en-US" altLang="zh-TW" dirty="0" smtClean="0"/>
          </a:p>
          <a:p>
            <a:pPr lvl="1"/>
            <a:r>
              <a:rPr lang="en-US" altLang="zh-TW" dirty="0" smtClean="0"/>
              <a:t>A </a:t>
            </a:r>
            <a:r>
              <a:rPr lang="en-US" altLang="zh-TW" dirty="0"/>
              <a:t>source operand d register that contains a value of an image object of type </a:t>
            </a:r>
            <a:r>
              <a:rPr lang="en-US" altLang="zh-TW" dirty="0" err="1"/>
              <a:t>imageType</a:t>
            </a:r>
            <a:r>
              <a:rPr lang="en-US" altLang="zh-TW" dirty="0"/>
              <a:t>.</a:t>
            </a:r>
            <a:endParaRPr lang="zh-TW" altLang="en-US" dirty="0" smtClean="0">
              <a:ea typeface="標楷體" pitchFamily="65" charset="-120"/>
              <a:cs typeface="Calibri" pitchFamily="34" charset="0"/>
            </a:endParaRPr>
          </a:p>
        </p:txBody>
      </p:sp>
      <p:sp>
        <p:nvSpPr>
          <p:cNvPr id="8" name="文字方塊 7"/>
          <p:cNvSpPr txBox="1"/>
          <p:nvPr/>
        </p:nvSpPr>
        <p:spPr>
          <a:xfrm>
            <a:off x="446089" y="4793729"/>
            <a:ext cx="8383604" cy="923330"/>
          </a:xfrm>
          <a:prstGeom prst="rect">
            <a:avLst/>
          </a:prstGeom>
          <a:noFill/>
        </p:spPr>
        <p:txBody>
          <a:bodyPr wrap="square" rtlCol="0" anchor="ctr" anchorCtr="1">
            <a:spAutoFit/>
          </a:bodyPr>
          <a:lstStyle/>
          <a:p>
            <a:r>
              <a:rPr lang="en-US" altLang="zh-TW" i="1" dirty="0" smtClean="0"/>
              <a:t>sampler</a:t>
            </a:r>
            <a:r>
              <a:rPr lang="en-US" altLang="zh-TW" dirty="0" smtClean="0"/>
              <a:t>:</a:t>
            </a:r>
          </a:p>
          <a:p>
            <a:pPr lvl="1"/>
            <a:r>
              <a:rPr lang="en-US" altLang="zh-TW" dirty="0" smtClean="0"/>
              <a:t>A </a:t>
            </a:r>
            <a:r>
              <a:rPr lang="en-US" altLang="zh-TW" dirty="0"/>
              <a:t>source operand d register that contains a value of a sampler object. It is always of type </a:t>
            </a:r>
            <a:r>
              <a:rPr lang="en-US" altLang="zh-TW" dirty="0" err="1"/>
              <a:t>samp</a:t>
            </a:r>
            <a:r>
              <a:rPr lang="en-US" altLang="zh-TW" dirty="0"/>
              <a:t>.</a:t>
            </a:r>
            <a:endParaRPr lang="zh-TW" altLang="en-US" dirty="0" smtClean="0">
              <a:ea typeface="標楷體" pitchFamily="65" charset="-120"/>
              <a:cs typeface="Calibri" pitchFamily="34" charset="0"/>
            </a:endParaRPr>
          </a:p>
        </p:txBody>
      </p:sp>
    </p:spTree>
    <p:extLst>
      <p:ext uri="{BB962C8B-B14F-4D97-AF65-F5344CB8AC3E}">
        <p14:creationId xmlns:p14="http://schemas.microsoft.com/office/powerpoint/2010/main" val="3073595853"/>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Load Image (ldimage) </a:t>
            </a:r>
            <a:r>
              <a:rPr lang="en-US" altLang="zh-TW" dirty="0" smtClean="0"/>
              <a:t>Operation</a:t>
            </a:r>
            <a:endParaRPr lang="zh-TW" altLang="en-US" dirty="0"/>
          </a:p>
        </p:txBody>
      </p:sp>
      <p:sp>
        <p:nvSpPr>
          <p:cNvPr id="5" name="內容版面配置區 4"/>
          <p:cNvSpPr>
            <a:spLocks noGrp="1"/>
          </p:cNvSpPr>
          <p:nvPr>
            <p:ph idx="1"/>
          </p:nvPr>
        </p:nvSpPr>
        <p:spPr/>
        <p:txBody>
          <a:bodyPr/>
          <a:lstStyle/>
          <a:p>
            <a:r>
              <a:rPr lang="en-US" altLang="zh-TW" dirty="0"/>
              <a:t>The load image (</a:t>
            </a:r>
            <a:r>
              <a:rPr lang="en-US" altLang="zh-TW" dirty="0" err="1"/>
              <a:t>ldimage</a:t>
            </a:r>
            <a:r>
              <a:rPr lang="en-US" altLang="zh-TW" dirty="0"/>
              <a:t>) operation uses image coordinates to load from image </a:t>
            </a:r>
            <a:r>
              <a:rPr lang="en-US" altLang="zh-TW" dirty="0" smtClean="0"/>
              <a:t>memory</a:t>
            </a:r>
          </a:p>
          <a:p>
            <a:endParaRPr lang="en-US" altLang="zh-TW" dirty="0"/>
          </a:p>
          <a:p>
            <a:r>
              <a:rPr lang="en-US" altLang="zh-TW" dirty="0"/>
              <a:t>The operation loads data from a read-write or read-only image, specified by source operand image at integer coordinates given by source operands </a:t>
            </a:r>
            <a:r>
              <a:rPr lang="en-US" altLang="zh-TW" dirty="0" err="1"/>
              <a:t>coordWidth</a:t>
            </a:r>
            <a:r>
              <a:rPr lang="en-US" altLang="zh-TW" dirty="0"/>
              <a:t>, </a:t>
            </a:r>
            <a:r>
              <a:rPr lang="en-US" altLang="zh-TW" dirty="0" err="1"/>
              <a:t>coordHeight</a:t>
            </a:r>
            <a:r>
              <a:rPr lang="en-US" altLang="zh-TW" dirty="0"/>
              <a:t>, </a:t>
            </a:r>
            <a:r>
              <a:rPr lang="en-US" altLang="zh-TW" dirty="0" err="1"/>
              <a:t>coordDepth</a:t>
            </a:r>
            <a:r>
              <a:rPr lang="en-US" altLang="zh-TW" dirty="0"/>
              <a:t>, and </a:t>
            </a:r>
            <a:r>
              <a:rPr lang="en-US" altLang="zh-TW" dirty="0" err="1"/>
              <a:t>coordArrayIndex</a:t>
            </a:r>
            <a:r>
              <a:rPr lang="en-US" altLang="zh-TW" dirty="0"/>
              <a:t>, into destination operands </a:t>
            </a:r>
            <a:r>
              <a:rPr lang="en-US" altLang="zh-TW" dirty="0" err="1"/>
              <a:t>destR</a:t>
            </a:r>
            <a:r>
              <a:rPr lang="en-US" altLang="zh-TW" dirty="0"/>
              <a:t>, </a:t>
            </a:r>
            <a:r>
              <a:rPr lang="en-US" altLang="zh-TW" dirty="0" err="1"/>
              <a:t>destG</a:t>
            </a:r>
            <a:r>
              <a:rPr lang="en-US" altLang="zh-TW" dirty="0"/>
              <a:t>, </a:t>
            </a:r>
            <a:r>
              <a:rPr lang="en-US" altLang="zh-TW" dirty="0" err="1"/>
              <a:t>destB</a:t>
            </a:r>
            <a:r>
              <a:rPr lang="en-US" altLang="zh-TW" dirty="0"/>
              <a:t>, and </a:t>
            </a:r>
            <a:r>
              <a:rPr lang="en-US" altLang="zh-TW" dirty="0" err="1"/>
              <a:t>destA</a:t>
            </a:r>
            <a:r>
              <a:rPr lang="en-US" altLang="zh-TW" dirty="0"/>
              <a:t>. </a:t>
            </a:r>
            <a:endParaRPr lang="en-US" altLang="zh-TW" dirty="0" smtClean="0"/>
          </a:p>
          <a:p>
            <a:endParaRPr lang="en-US" altLang="zh-TW" dirty="0"/>
          </a:p>
          <a:p>
            <a:endParaRPr lang="zh-TW" altLang="en-US" dirty="0"/>
          </a:p>
        </p:txBody>
      </p:sp>
    </p:spTree>
    <p:extLst>
      <p:ext uri="{BB962C8B-B14F-4D97-AF65-F5344CB8AC3E}">
        <p14:creationId xmlns:p14="http://schemas.microsoft.com/office/powerpoint/2010/main" val="3752428814"/>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Load Image (ldimage) Operation</a:t>
            </a:r>
            <a:r>
              <a:rPr lang="zh-TW" altLang="zh-TW" dirty="0"/>
              <a:t/>
            </a:r>
            <a:br>
              <a:rPr lang="zh-TW" altLang="zh-TW" dirty="0"/>
            </a:br>
            <a:endParaRPr lang="zh-TW" altLang="en-US" dirty="0"/>
          </a:p>
        </p:txBody>
      </p:sp>
      <p:sp>
        <p:nvSpPr>
          <p:cNvPr id="5" name="內容版面配置區 4"/>
          <p:cNvSpPr>
            <a:spLocks noGrp="1"/>
          </p:cNvSpPr>
          <p:nvPr>
            <p:ph idx="1"/>
          </p:nvPr>
        </p:nvSpPr>
        <p:spPr/>
        <p:txBody>
          <a:bodyPr/>
          <a:lstStyle/>
          <a:p>
            <a:r>
              <a:rPr lang="en-US" altLang="zh-TW" dirty="0"/>
              <a:t>While </a:t>
            </a:r>
            <a:r>
              <a:rPr lang="en-US" altLang="zh-TW" dirty="0" err="1"/>
              <a:t>ldimage</a:t>
            </a:r>
            <a:r>
              <a:rPr lang="en-US" altLang="zh-TW" dirty="0"/>
              <a:t> does not have a sampler, it works as though there is a sampler with </a:t>
            </a:r>
            <a:r>
              <a:rPr lang="en-US" altLang="zh-TW" dirty="0" err="1"/>
              <a:t>coord</a:t>
            </a:r>
            <a:r>
              <a:rPr lang="en-US" altLang="zh-TW" dirty="0"/>
              <a:t> = </a:t>
            </a:r>
            <a:r>
              <a:rPr lang="en-US" altLang="zh-TW" dirty="0" err="1"/>
              <a:t>unnormalized</a:t>
            </a:r>
            <a:r>
              <a:rPr lang="en-US" altLang="zh-TW" dirty="0"/>
              <a:t>, filter = nearest and </a:t>
            </a:r>
            <a:r>
              <a:rPr lang="en-US" altLang="zh-TW" dirty="0" err="1"/>
              <a:t>address_mode</a:t>
            </a:r>
            <a:r>
              <a:rPr lang="en-US" altLang="zh-TW" dirty="0"/>
              <a:t> = undefined. It is undefined if a coordinate is out of bounds (that is, greater than the dimension of the image or less than 0</a:t>
            </a:r>
            <a:r>
              <a:rPr lang="en-US" altLang="zh-TW" dirty="0" smtClean="0"/>
              <a:t>).</a:t>
            </a:r>
          </a:p>
          <a:p>
            <a:pPr marL="0" indent="0">
              <a:buNone/>
            </a:pPr>
            <a:endParaRPr lang="en-US" altLang="zh-TW" dirty="0"/>
          </a:p>
          <a:p>
            <a:r>
              <a:rPr lang="en-US" altLang="zh-TW" dirty="0"/>
              <a:t>The differences between the </a:t>
            </a:r>
            <a:r>
              <a:rPr lang="en-US" altLang="zh-TW" dirty="0" err="1"/>
              <a:t>ldimage</a:t>
            </a:r>
            <a:r>
              <a:rPr lang="en-US" altLang="zh-TW" dirty="0"/>
              <a:t> operation and the </a:t>
            </a:r>
            <a:r>
              <a:rPr lang="en-US" altLang="zh-TW" dirty="0" err="1"/>
              <a:t>rdimage</a:t>
            </a:r>
            <a:r>
              <a:rPr lang="en-US" altLang="zh-TW" dirty="0"/>
              <a:t> operation are</a:t>
            </a:r>
            <a:r>
              <a:rPr lang="en-US" altLang="zh-TW" dirty="0" smtClean="0"/>
              <a:t>:</a:t>
            </a:r>
          </a:p>
          <a:p>
            <a:pPr marL="0" indent="0">
              <a:buNone/>
            </a:pPr>
            <a:endParaRPr lang="en-US" altLang="zh-TW" dirty="0"/>
          </a:p>
          <a:p>
            <a:pPr marL="300038" lvl="1" indent="0">
              <a:buNone/>
            </a:pPr>
            <a:r>
              <a:rPr lang="en-US" altLang="zh-TW" dirty="0" smtClean="0"/>
              <a:t>•</a:t>
            </a:r>
            <a:r>
              <a:rPr lang="en-US" altLang="zh-TW" dirty="0" err="1" smtClean="0"/>
              <a:t>rdimage</a:t>
            </a:r>
            <a:r>
              <a:rPr lang="en-US" altLang="zh-TW" dirty="0" smtClean="0"/>
              <a:t> </a:t>
            </a:r>
            <a:r>
              <a:rPr lang="en-US" altLang="zh-TW" dirty="0"/>
              <a:t>takes a sampler and therefore supports additional modes. </a:t>
            </a:r>
            <a:endParaRPr lang="en-US" altLang="zh-TW" dirty="0" smtClean="0"/>
          </a:p>
          <a:p>
            <a:pPr marL="300038" lvl="1" indent="0">
              <a:buNone/>
            </a:pPr>
            <a:endParaRPr lang="en-US" altLang="zh-TW" dirty="0"/>
          </a:p>
          <a:p>
            <a:pPr marL="300038" lvl="1" indent="0">
              <a:buNone/>
            </a:pPr>
            <a:r>
              <a:rPr lang="en-US" altLang="zh-TW" dirty="0" smtClean="0"/>
              <a:t>•The </a:t>
            </a:r>
            <a:r>
              <a:rPr lang="en-US" altLang="zh-TW" dirty="0"/>
              <a:t>value returned if a coordinate is out of bounds (that is, greater than the dimension of the image or less than 0) for </a:t>
            </a:r>
            <a:r>
              <a:rPr lang="en-US" altLang="zh-TW" dirty="0" err="1"/>
              <a:t>rdimage</a:t>
            </a:r>
            <a:r>
              <a:rPr lang="en-US" altLang="zh-TW" dirty="0"/>
              <a:t> depends on the sampler; for </a:t>
            </a:r>
            <a:r>
              <a:rPr lang="en-US" altLang="zh-TW" dirty="0" err="1"/>
              <a:t>ldimage</a:t>
            </a:r>
            <a:r>
              <a:rPr lang="en-US" altLang="zh-TW" dirty="0"/>
              <a:t> it is undefined.</a:t>
            </a:r>
          </a:p>
          <a:p>
            <a:endParaRPr lang="zh-TW" altLang="en-US" dirty="0"/>
          </a:p>
        </p:txBody>
      </p:sp>
    </p:spTree>
    <p:extLst>
      <p:ext uri="{BB962C8B-B14F-4D97-AF65-F5344CB8AC3E}">
        <p14:creationId xmlns:p14="http://schemas.microsoft.com/office/powerpoint/2010/main" val="1324393109"/>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Store Image (</a:t>
            </a:r>
            <a:r>
              <a:rPr lang="en-US" altLang="zh-TW" dirty="0" err="1"/>
              <a:t>stimage</a:t>
            </a:r>
            <a:r>
              <a:rPr lang="en-US" altLang="zh-TW" dirty="0"/>
              <a:t>) Operation</a:t>
            </a:r>
            <a:endParaRPr lang="zh-TW" altLang="en-US" dirty="0"/>
          </a:p>
        </p:txBody>
      </p:sp>
      <p:sp>
        <p:nvSpPr>
          <p:cNvPr id="5" name="內容版面配置區 4"/>
          <p:cNvSpPr>
            <a:spLocks noGrp="1"/>
          </p:cNvSpPr>
          <p:nvPr>
            <p:ph idx="1"/>
          </p:nvPr>
        </p:nvSpPr>
        <p:spPr/>
        <p:txBody>
          <a:bodyPr/>
          <a:lstStyle/>
          <a:p>
            <a:r>
              <a:rPr lang="en-US" altLang="zh-TW" dirty="0"/>
              <a:t>The store image (</a:t>
            </a:r>
            <a:r>
              <a:rPr lang="en-US" altLang="zh-TW" dirty="0" err="1"/>
              <a:t>stimage</a:t>
            </a:r>
            <a:r>
              <a:rPr lang="en-US" altLang="zh-TW" dirty="0"/>
              <a:t>) operation stores to image memory using image coordinates. The operation stores data specified by source operands </a:t>
            </a:r>
            <a:r>
              <a:rPr lang="en-US" altLang="zh-TW" dirty="0" err="1"/>
              <a:t>srcR</a:t>
            </a:r>
            <a:r>
              <a:rPr lang="en-US" altLang="zh-TW" dirty="0"/>
              <a:t>, </a:t>
            </a:r>
            <a:r>
              <a:rPr lang="en-US" altLang="zh-TW" dirty="0" err="1"/>
              <a:t>srcG</a:t>
            </a:r>
            <a:r>
              <a:rPr lang="en-US" altLang="zh-TW" dirty="0"/>
              <a:t>, </a:t>
            </a:r>
            <a:r>
              <a:rPr lang="en-US" altLang="zh-TW" dirty="0" err="1"/>
              <a:t>srcB</a:t>
            </a:r>
            <a:r>
              <a:rPr lang="en-US" altLang="zh-TW" dirty="0"/>
              <a:t>, and </a:t>
            </a:r>
            <a:r>
              <a:rPr lang="en-US" altLang="zh-TW" dirty="0" err="1"/>
              <a:t>srcA</a:t>
            </a:r>
            <a:r>
              <a:rPr lang="en-US" altLang="zh-TW" dirty="0"/>
              <a:t> to a write-only or read-write image specified by source operand image at integer coordinates given by source operands </a:t>
            </a:r>
            <a:r>
              <a:rPr lang="en-US" altLang="zh-TW" dirty="0" err="1"/>
              <a:t>coordWidth</a:t>
            </a:r>
            <a:r>
              <a:rPr lang="en-US" altLang="zh-TW" dirty="0"/>
              <a:t>, </a:t>
            </a:r>
            <a:r>
              <a:rPr lang="en-US" altLang="zh-TW" dirty="0" err="1"/>
              <a:t>coordHeight</a:t>
            </a:r>
            <a:r>
              <a:rPr lang="en-US" altLang="zh-TW" dirty="0"/>
              <a:t>, </a:t>
            </a:r>
            <a:r>
              <a:rPr lang="en-US" altLang="zh-TW" dirty="0" err="1"/>
              <a:t>coordDepth</a:t>
            </a:r>
            <a:r>
              <a:rPr lang="en-US" altLang="zh-TW" dirty="0"/>
              <a:t>, </a:t>
            </a:r>
            <a:r>
              <a:rPr lang="en-US" altLang="zh-TW" dirty="0" err="1"/>
              <a:t>coordArrayIndex</a:t>
            </a:r>
            <a:r>
              <a:rPr lang="en-US" altLang="zh-TW" dirty="0"/>
              <a:t>, and </a:t>
            </a:r>
            <a:r>
              <a:rPr lang="en-US" altLang="zh-TW" dirty="0" err="1"/>
              <a:t>coordByteIndex</a:t>
            </a:r>
            <a:r>
              <a:rPr lang="en-US" altLang="zh-TW" dirty="0"/>
              <a:t>. </a:t>
            </a:r>
            <a:endParaRPr lang="en-US" altLang="zh-TW" dirty="0" smtClean="0"/>
          </a:p>
          <a:p>
            <a:endParaRPr lang="en-US" altLang="zh-TW" dirty="0" smtClean="0"/>
          </a:p>
          <a:p>
            <a:r>
              <a:rPr lang="en-US" altLang="zh-TW" dirty="0"/>
              <a:t>It is undefined if a coordinate is out of bounds (that is, greater than the dimension of the image or less than 0).</a:t>
            </a:r>
            <a:endParaRPr lang="zh-TW" altLang="zh-TW" dirty="0"/>
          </a:p>
          <a:p>
            <a:endParaRPr lang="en-US" altLang="zh-TW" dirty="0"/>
          </a:p>
          <a:p>
            <a:endParaRPr lang="zh-TW" altLang="en-US" dirty="0"/>
          </a:p>
        </p:txBody>
      </p:sp>
    </p:spTree>
    <p:extLst>
      <p:ext uri="{BB962C8B-B14F-4D97-AF65-F5344CB8AC3E}">
        <p14:creationId xmlns:p14="http://schemas.microsoft.com/office/powerpoint/2010/main" val="2003059759"/>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Store Image (</a:t>
            </a:r>
            <a:r>
              <a:rPr lang="en-US" altLang="zh-TW" dirty="0" err="1"/>
              <a:t>stimage</a:t>
            </a:r>
            <a:r>
              <a:rPr lang="en-US" altLang="zh-TW" dirty="0"/>
              <a:t>) Operation</a:t>
            </a:r>
            <a:endParaRPr lang="zh-TW" altLang="en-US" dirty="0"/>
          </a:p>
        </p:txBody>
      </p:sp>
      <p:sp>
        <p:nvSpPr>
          <p:cNvPr id="5" name="內容版面配置區 4"/>
          <p:cNvSpPr>
            <a:spLocks noGrp="1"/>
          </p:cNvSpPr>
          <p:nvPr>
            <p:ph idx="1"/>
          </p:nvPr>
        </p:nvSpPr>
        <p:spPr/>
        <p:txBody>
          <a:bodyPr/>
          <a:lstStyle/>
          <a:p>
            <a:r>
              <a:rPr lang="en-US" altLang="zh-TW" dirty="0"/>
              <a:t>The source elements are interpreted left-to-right as r, g, b, and a components of the image format. These elements are written to the corresponding components of the image element. Source elements that do not occur in the image element are ignored</a:t>
            </a:r>
            <a:r>
              <a:rPr lang="en-US" altLang="zh-TW" dirty="0" smtClean="0"/>
              <a:t>.</a:t>
            </a:r>
          </a:p>
          <a:p>
            <a:endParaRPr lang="en-US" altLang="zh-TW" dirty="0"/>
          </a:p>
          <a:p>
            <a:r>
              <a:rPr lang="en-US" altLang="zh-TW" dirty="0"/>
              <a:t>For example, an image format of r has only one component in each element, so only source operand </a:t>
            </a:r>
            <a:r>
              <a:rPr lang="en-US" altLang="zh-TW" i="1" dirty="0" err="1"/>
              <a:t>srcR</a:t>
            </a:r>
            <a:r>
              <a:rPr lang="en-US" altLang="zh-TW" dirty="0"/>
              <a:t> is stored. </a:t>
            </a:r>
            <a:endParaRPr lang="en-US" altLang="zh-TW" dirty="0" smtClean="0"/>
          </a:p>
          <a:p>
            <a:endParaRPr lang="zh-TW" altLang="zh-TW" dirty="0"/>
          </a:p>
          <a:p>
            <a:r>
              <a:rPr lang="en-US" altLang="zh-TW" dirty="0"/>
              <a:t>For all geometries, coordinates are in elements</a:t>
            </a:r>
            <a:r>
              <a:rPr lang="en-US" altLang="zh-TW" dirty="0" smtClean="0"/>
              <a:t>.</a:t>
            </a:r>
          </a:p>
          <a:p>
            <a:endParaRPr lang="zh-TW" altLang="zh-TW" dirty="0"/>
          </a:p>
          <a:p>
            <a:r>
              <a:rPr lang="en-US" altLang="zh-TW" dirty="0"/>
              <a:t>Type conversions are performed as needed between the source data type specified by </a:t>
            </a:r>
            <a:r>
              <a:rPr lang="en-US" altLang="zh-TW" i="1" dirty="0" err="1"/>
              <a:t>srcType</a:t>
            </a:r>
            <a:r>
              <a:rPr lang="en-US" altLang="zh-TW" dirty="0"/>
              <a:t> (s32, u32, or f32) and the destination image data element type and format.</a:t>
            </a:r>
            <a:endParaRPr lang="zh-TW" altLang="zh-TW" dirty="0"/>
          </a:p>
          <a:p>
            <a:endParaRPr lang="zh-TW" altLang="en-US" dirty="0"/>
          </a:p>
        </p:txBody>
      </p:sp>
    </p:spTree>
    <p:extLst>
      <p:ext uri="{BB962C8B-B14F-4D97-AF65-F5344CB8AC3E}">
        <p14:creationId xmlns:p14="http://schemas.microsoft.com/office/powerpoint/2010/main" val="3696381518"/>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Query Image and Query Sampler Operations</a:t>
            </a:r>
            <a:endParaRPr lang="zh-TW" altLang="en-US" dirty="0"/>
          </a:p>
        </p:txBody>
      </p:sp>
      <p:pic>
        <p:nvPicPr>
          <p:cNvPr id="6" name="內容版面配置區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12901" y="1443678"/>
            <a:ext cx="7125694" cy="1352739"/>
          </a:xfrm>
        </p:spPr>
      </p:pic>
      <p:pic>
        <p:nvPicPr>
          <p:cNvPr id="8" name="圖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754" y="3284226"/>
            <a:ext cx="8826366" cy="2237364"/>
          </a:xfrm>
          <a:prstGeom prst="rect">
            <a:avLst/>
          </a:prstGeom>
        </p:spPr>
      </p:pic>
    </p:spTree>
    <p:extLst>
      <p:ext uri="{BB962C8B-B14F-4D97-AF65-F5344CB8AC3E}">
        <p14:creationId xmlns:p14="http://schemas.microsoft.com/office/powerpoint/2010/main" val="3561561348"/>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Query Image and Query Sampler Operations</a:t>
            </a:r>
            <a:endParaRPr lang="zh-TW" altLang="en-US" dirty="0"/>
          </a:p>
        </p:txBody>
      </p:sp>
      <p:pic>
        <p:nvPicPr>
          <p:cNvPr id="6" name="內容版面配置區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4629" y="1726892"/>
            <a:ext cx="8694744" cy="3759508"/>
          </a:xfrm>
        </p:spPr>
      </p:pic>
    </p:spTree>
    <p:extLst>
      <p:ext uri="{BB962C8B-B14F-4D97-AF65-F5344CB8AC3E}">
        <p14:creationId xmlns:p14="http://schemas.microsoft.com/office/powerpoint/2010/main" val="672196168"/>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 Image Fence (</a:t>
            </a:r>
            <a:r>
              <a:rPr lang="en-US" altLang="zh-TW" dirty="0" err="1"/>
              <a:t>imagefence</a:t>
            </a:r>
            <a:r>
              <a:rPr lang="en-US" altLang="zh-TW" dirty="0"/>
              <a:t>) Operation</a:t>
            </a:r>
            <a:endParaRPr lang="zh-TW" altLang="en-US" dirty="0"/>
          </a:p>
        </p:txBody>
      </p:sp>
      <p:sp>
        <p:nvSpPr>
          <p:cNvPr id="5" name="內容版面配置區 4"/>
          <p:cNvSpPr>
            <a:spLocks noGrp="1"/>
          </p:cNvSpPr>
          <p:nvPr>
            <p:ph idx="1"/>
          </p:nvPr>
        </p:nvSpPr>
        <p:spPr/>
        <p:txBody>
          <a:bodyPr/>
          <a:lstStyle/>
          <a:p>
            <a:r>
              <a:rPr lang="en-US" altLang="zh-TW" dirty="0"/>
              <a:t>The </a:t>
            </a:r>
            <a:r>
              <a:rPr lang="en-US" altLang="zh-TW" dirty="0" err="1"/>
              <a:t>imagefence</a:t>
            </a:r>
            <a:r>
              <a:rPr lang="en-US" altLang="zh-TW" dirty="0"/>
              <a:t> operation allows image data access and updates to be synchronized both within a single work-item, and, when combined with an execution barrier, between work-items in the same </a:t>
            </a:r>
            <a:r>
              <a:rPr lang="en-US" altLang="zh-TW" dirty="0" err="1"/>
              <a:t>wavefront</a:t>
            </a:r>
            <a:r>
              <a:rPr lang="en-US" altLang="zh-TW" dirty="0"/>
              <a:t> or work-group. In addition, when combined with </a:t>
            </a:r>
            <a:r>
              <a:rPr lang="en-US" altLang="zh-TW" dirty="0" err="1"/>
              <a:t>memfence</a:t>
            </a:r>
            <a:r>
              <a:rPr lang="en-US" altLang="zh-TW" dirty="0"/>
              <a:t> and execution barriers it can synchronize both image operations and global and group segment memory operations. Execution is undefined when memory is accessed without synchronization</a:t>
            </a:r>
            <a:endParaRPr lang="zh-TW" altLang="en-US" dirty="0"/>
          </a:p>
        </p:txBody>
      </p:sp>
      <p:pic>
        <p:nvPicPr>
          <p:cNvPr id="7" name="圖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8830" y="4007392"/>
            <a:ext cx="8745170" cy="1095528"/>
          </a:xfrm>
          <a:prstGeom prst="rect">
            <a:avLst/>
          </a:prstGeom>
        </p:spPr>
      </p:pic>
    </p:spTree>
    <p:extLst>
      <p:ext uri="{BB962C8B-B14F-4D97-AF65-F5344CB8AC3E}">
        <p14:creationId xmlns:p14="http://schemas.microsoft.com/office/powerpoint/2010/main" val="4057147283"/>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Image Fence (</a:t>
            </a:r>
            <a:r>
              <a:rPr lang="en-US" altLang="zh-TW" dirty="0" err="1"/>
              <a:t>imagefence</a:t>
            </a:r>
            <a:r>
              <a:rPr lang="en-US" altLang="zh-TW" dirty="0"/>
              <a:t>) Operation</a:t>
            </a:r>
            <a:endParaRPr lang="zh-TW" altLang="en-US" dirty="0"/>
          </a:p>
        </p:txBody>
      </p:sp>
      <p:sp>
        <p:nvSpPr>
          <p:cNvPr id="5" name="內容版面配置區 4"/>
          <p:cNvSpPr>
            <a:spLocks noGrp="1"/>
          </p:cNvSpPr>
          <p:nvPr>
            <p:ph idx="1"/>
          </p:nvPr>
        </p:nvSpPr>
        <p:spPr>
          <a:xfrm>
            <a:off x="457200" y="1125538"/>
            <a:ext cx="8229600" cy="2127801"/>
          </a:xfrm>
        </p:spPr>
        <p:txBody>
          <a:bodyPr/>
          <a:lstStyle/>
          <a:p>
            <a:r>
              <a:rPr lang="en-US" altLang="zh-TW" dirty="0"/>
              <a:t>To make the image writes performed by work-item A visible to the image reads performed by work-item B, it is necessary for A to execute an </a:t>
            </a:r>
            <a:r>
              <a:rPr lang="en-US" altLang="zh-TW" dirty="0" err="1"/>
              <a:t>imagefence</a:t>
            </a:r>
            <a:r>
              <a:rPr lang="en-US" altLang="zh-TW" dirty="0"/>
              <a:t> after the image write, followed by a barrier or </a:t>
            </a:r>
            <a:r>
              <a:rPr lang="en-US" altLang="zh-TW" dirty="0" err="1"/>
              <a:t>wavebarrier</a:t>
            </a:r>
            <a:r>
              <a:rPr lang="en-US" altLang="zh-TW" dirty="0"/>
              <a:t> that both A and B participate in; and for B to execute an </a:t>
            </a:r>
            <a:r>
              <a:rPr lang="en-US" altLang="zh-TW" dirty="0" err="1"/>
              <a:t>imagefence</a:t>
            </a:r>
            <a:r>
              <a:rPr lang="en-US" altLang="zh-TW" dirty="0"/>
              <a:t> after the barrier or </a:t>
            </a:r>
            <a:r>
              <a:rPr lang="en-US" altLang="zh-TW" dirty="0" err="1"/>
              <a:t>wavebarrier</a:t>
            </a:r>
            <a:r>
              <a:rPr lang="en-US" altLang="zh-TW" dirty="0"/>
              <a:t> but before the image reads. For example:</a:t>
            </a:r>
            <a:endParaRPr lang="zh-TW" altLang="en-US" dirty="0"/>
          </a:p>
        </p:txBody>
      </p:sp>
      <p:pic>
        <p:nvPicPr>
          <p:cNvPr id="6" name="圖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6258" y="3738478"/>
            <a:ext cx="7411484" cy="1209844"/>
          </a:xfrm>
          <a:prstGeom prst="rect">
            <a:avLst/>
          </a:prstGeom>
        </p:spPr>
      </p:pic>
    </p:spTree>
    <p:extLst>
      <p:ext uri="{BB962C8B-B14F-4D97-AF65-F5344CB8AC3E}">
        <p14:creationId xmlns:p14="http://schemas.microsoft.com/office/powerpoint/2010/main" val="3046314691"/>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Image Fence (</a:t>
            </a:r>
            <a:r>
              <a:rPr lang="en-US" altLang="zh-TW" dirty="0" err="1"/>
              <a:t>imagefence</a:t>
            </a:r>
            <a:r>
              <a:rPr lang="en-US" altLang="zh-TW" dirty="0"/>
              <a:t>) Operation</a:t>
            </a:r>
            <a:endParaRPr lang="zh-TW" altLang="en-US" dirty="0"/>
          </a:p>
        </p:txBody>
      </p:sp>
      <p:sp>
        <p:nvSpPr>
          <p:cNvPr id="5" name="內容版面配置區 4"/>
          <p:cNvSpPr>
            <a:spLocks noGrp="1"/>
          </p:cNvSpPr>
          <p:nvPr>
            <p:ph idx="1"/>
          </p:nvPr>
        </p:nvSpPr>
        <p:spPr>
          <a:xfrm>
            <a:off x="457200" y="1125538"/>
            <a:ext cx="8229600" cy="2686066"/>
          </a:xfrm>
        </p:spPr>
        <p:txBody>
          <a:bodyPr/>
          <a:lstStyle/>
          <a:p>
            <a:r>
              <a:rPr lang="en-US" altLang="zh-TW" dirty="0"/>
              <a:t>Note that this is not enough to ensure an ordering between </a:t>
            </a:r>
            <a:r>
              <a:rPr lang="en-US" altLang="zh-TW" dirty="0" err="1"/>
              <a:t>between</a:t>
            </a:r>
            <a:r>
              <a:rPr lang="en-US" altLang="zh-TW" dirty="0"/>
              <a:t> the image operations and memory operations performed by A and B to the global or group segment. To ensure that ordering it is also necessary for A to perform a release </a:t>
            </a:r>
            <a:r>
              <a:rPr lang="en-US" altLang="zh-TW" dirty="0" err="1"/>
              <a:t>memfence</a:t>
            </a:r>
            <a:r>
              <a:rPr lang="en-US" altLang="zh-TW" dirty="0"/>
              <a:t> after the memory operations but before the barrier or </a:t>
            </a:r>
            <a:r>
              <a:rPr lang="en-US" altLang="zh-TW" dirty="0" err="1"/>
              <a:t>wavebarrier</a:t>
            </a:r>
            <a:r>
              <a:rPr lang="en-US" altLang="zh-TW" dirty="0"/>
              <a:t>, and for B for perform an acquire </a:t>
            </a:r>
            <a:r>
              <a:rPr lang="en-US" altLang="zh-TW" dirty="0" err="1"/>
              <a:t>memfence</a:t>
            </a:r>
            <a:r>
              <a:rPr lang="en-US" altLang="zh-TW" dirty="0"/>
              <a:t> after the barrier or </a:t>
            </a:r>
            <a:r>
              <a:rPr lang="en-US" altLang="zh-TW" dirty="0" err="1"/>
              <a:t>wavebarrier</a:t>
            </a:r>
            <a:r>
              <a:rPr lang="en-US" altLang="zh-TW" dirty="0"/>
              <a:t> and before the memory operations. A and B must both be inclusive members of the scope instances specified by the </a:t>
            </a:r>
            <a:r>
              <a:rPr lang="en-US" altLang="zh-TW" dirty="0" err="1"/>
              <a:t>memfence</a:t>
            </a:r>
            <a:r>
              <a:rPr lang="en-US" altLang="zh-TW" dirty="0"/>
              <a:t> operations. For example:</a:t>
            </a:r>
            <a:endParaRPr lang="zh-TW" altLang="en-US" dirty="0"/>
          </a:p>
        </p:txBody>
      </p:sp>
      <p:pic>
        <p:nvPicPr>
          <p:cNvPr id="6" name="圖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6995" y="4210610"/>
            <a:ext cx="2257740" cy="1305107"/>
          </a:xfrm>
          <a:prstGeom prst="rect">
            <a:avLst/>
          </a:prstGeom>
        </p:spPr>
      </p:pic>
    </p:spTree>
    <p:extLst>
      <p:ext uri="{BB962C8B-B14F-4D97-AF65-F5344CB8AC3E}">
        <p14:creationId xmlns:p14="http://schemas.microsoft.com/office/powerpoint/2010/main" val="4059534197"/>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Image Fence (</a:t>
            </a:r>
            <a:r>
              <a:rPr lang="en-US" altLang="zh-TW" dirty="0" err="1"/>
              <a:t>imagefence</a:t>
            </a:r>
            <a:r>
              <a:rPr lang="en-US" altLang="zh-TW" dirty="0"/>
              <a:t>) Operation</a:t>
            </a:r>
            <a:endParaRPr lang="zh-TW" altLang="en-US" dirty="0"/>
          </a:p>
        </p:txBody>
      </p:sp>
      <p:sp>
        <p:nvSpPr>
          <p:cNvPr id="5" name="內容版面配置區 4"/>
          <p:cNvSpPr>
            <a:spLocks noGrp="1"/>
          </p:cNvSpPr>
          <p:nvPr>
            <p:ph idx="1"/>
          </p:nvPr>
        </p:nvSpPr>
        <p:spPr/>
        <p:txBody>
          <a:bodyPr/>
          <a:lstStyle/>
          <a:p>
            <a:r>
              <a:rPr lang="en-US" altLang="zh-TW" dirty="0"/>
              <a:t>Note that an </a:t>
            </a:r>
            <a:r>
              <a:rPr lang="en-US" altLang="zh-TW" dirty="0" err="1"/>
              <a:t>fbarrier</a:t>
            </a:r>
            <a:r>
              <a:rPr lang="en-US" altLang="zh-TW" dirty="0"/>
              <a:t> cannot be used to achieve synchronization in the current version of HSAIL</a:t>
            </a:r>
            <a:r>
              <a:rPr lang="en-US" altLang="zh-TW" dirty="0" smtClean="0"/>
              <a:t>.</a:t>
            </a:r>
          </a:p>
          <a:p>
            <a:endParaRPr lang="en-US" altLang="zh-TW" dirty="0"/>
          </a:p>
          <a:p>
            <a:endParaRPr lang="en-US" altLang="zh-TW" dirty="0"/>
          </a:p>
          <a:p>
            <a:r>
              <a:rPr lang="en-US" altLang="zh-TW" dirty="0"/>
              <a:t>It is not possible to synchronize at a wider scope than work-group except at kernel dispatch granularity by using  User Mode Queue packet memory fences</a:t>
            </a:r>
            <a:r>
              <a:rPr lang="en-US" altLang="zh-TW" dirty="0" smtClean="0"/>
              <a:t>.</a:t>
            </a:r>
          </a:p>
          <a:p>
            <a:endParaRPr lang="en-US" altLang="zh-TW" dirty="0"/>
          </a:p>
          <a:p>
            <a:r>
              <a:rPr lang="en-US" altLang="zh-TW" dirty="0"/>
              <a:t>The </a:t>
            </a:r>
            <a:r>
              <a:rPr lang="en-US" altLang="zh-TW" dirty="0" err="1"/>
              <a:t>imagefence</a:t>
            </a:r>
            <a:r>
              <a:rPr lang="en-US" altLang="zh-TW" dirty="0"/>
              <a:t> operation can be used in conditional code.</a:t>
            </a:r>
          </a:p>
          <a:p>
            <a:endParaRPr lang="zh-TW" altLang="en-US" dirty="0"/>
          </a:p>
        </p:txBody>
      </p:sp>
    </p:spTree>
    <p:extLst>
      <p:ext uri="{BB962C8B-B14F-4D97-AF65-F5344CB8AC3E}">
        <p14:creationId xmlns:p14="http://schemas.microsoft.com/office/powerpoint/2010/main" val="536339207"/>
      </p:ext>
    </p:extLst>
  </p:cSld>
  <p:clrMapOvr>
    <a:masterClrMapping/>
  </p:clrMapOvr>
  <p:timing>
    <p:tnLst>
      <p:par>
        <p:cTn id="1" dur="indefinite" restart="never" nodeType="tmRoot"/>
      </p:par>
    </p:tnLst>
  </p:timing>
</p:sld>
</file>

<file path=ppt/theme/theme1.xml><?xml version="1.0" encoding="utf-8"?>
<a:theme xmlns:a="http://schemas.openxmlformats.org/drawingml/2006/main" name="佈景主題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佈景主題1" id="{ED826628-8466-457C-8212-1FA7BE3EDA5B}" vid="{0343B46C-835A-4B08-9F78-74716AE27687}"/>
    </a:ext>
  </a:extLst>
</a:theme>
</file>

<file path=ppt/theme/theme2.xml><?xml version="1.0" encoding="utf-8"?>
<a:theme xmlns:a="http://schemas.openxmlformats.org/drawingml/2006/main" name="1_佈景主題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佈景主題1" id="{52425C63-842A-4F95-A16C-1C0CCEA90123}" vid="{F27CB42A-B114-46CF-86BE-45D629310C51}"/>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佈景主題1</Template>
  <TotalTime>3219</TotalTime>
  <Words>5935</Words>
  <Application>Microsoft Office PowerPoint</Application>
  <PresentationFormat>如螢幕大小 (4:3)</PresentationFormat>
  <Paragraphs>448</Paragraphs>
  <Slides>90</Slides>
  <Notes>10</Notes>
  <HiddenSlides>0</HiddenSlides>
  <MMClips>0</MMClips>
  <ScaleCrop>false</ScaleCrop>
  <HeadingPairs>
    <vt:vector size="4" baseType="variant">
      <vt:variant>
        <vt:lpstr>佈景主題</vt:lpstr>
      </vt:variant>
      <vt:variant>
        <vt:i4>2</vt:i4>
      </vt:variant>
      <vt:variant>
        <vt:lpstr>投影片標題</vt:lpstr>
      </vt:variant>
      <vt:variant>
        <vt:i4>90</vt:i4>
      </vt:variant>
    </vt:vector>
  </HeadingPairs>
  <TitlesOfParts>
    <vt:vector size="92" baseType="lpstr">
      <vt:lpstr>佈景主題1</vt:lpstr>
      <vt:lpstr>1_佈景主題1</vt:lpstr>
      <vt:lpstr>Image</vt:lpstr>
      <vt:lpstr>Outline</vt:lpstr>
      <vt:lpstr>Why Image?</vt:lpstr>
      <vt:lpstr>What is image?</vt:lpstr>
      <vt:lpstr>Why Use Images?</vt:lpstr>
      <vt:lpstr>Why Use Images?</vt:lpstr>
      <vt:lpstr>Why Use Images?</vt:lpstr>
      <vt:lpstr>Image overview</vt:lpstr>
      <vt:lpstr>Image Overview</vt:lpstr>
      <vt:lpstr> Image Geometry</vt:lpstr>
      <vt:lpstr>Image Geometry</vt:lpstr>
      <vt:lpstr>Image Geometry</vt:lpstr>
      <vt:lpstr>Image Geometry</vt:lpstr>
      <vt:lpstr>Image Format</vt:lpstr>
      <vt:lpstr>Channel Order</vt:lpstr>
      <vt:lpstr>Channel Order</vt:lpstr>
      <vt:lpstr>Channel Type</vt:lpstr>
      <vt:lpstr>Channel Type</vt:lpstr>
      <vt:lpstr>Image Access Permission</vt:lpstr>
      <vt:lpstr> Image Coordinate</vt:lpstr>
      <vt:lpstr>Opencl runtime</vt:lpstr>
      <vt:lpstr>Creating Image Objects </vt:lpstr>
      <vt:lpstr>Creating Image Objects </vt:lpstr>
      <vt:lpstr>Creating Image Objects </vt:lpstr>
      <vt:lpstr>Creating Image Objects </vt:lpstr>
      <vt:lpstr>Creating Image Objects </vt:lpstr>
      <vt:lpstr>Querying List of Supported Image Formats</vt:lpstr>
      <vt:lpstr>Querying List of Supported Image Formats</vt:lpstr>
      <vt:lpstr>Querying List of Supported Image Formats</vt:lpstr>
      <vt:lpstr>Querying List of Supported Image Formats</vt:lpstr>
      <vt:lpstr>Image format mapping to OpenCL C  image access qualifiers</vt:lpstr>
      <vt:lpstr>Reading Image Objects </vt:lpstr>
      <vt:lpstr>Reading Image Objects </vt:lpstr>
      <vt:lpstr>Reading Image Objects </vt:lpstr>
      <vt:lpstr>Writing Image Objects </vt:lpstr>
      <vt:lpstr>Writing Image Objects </vt:lpstr>
      <vt:lpstr>Reading Image Objects </vt:lpstr>
      <vt:lpstr>Reading Image Objects </vt:lpstr>
      <vt:lpstr>Reading Image Objects </vt:lpstr>
      <vt:lpstr>Reading Image Objects </vt:lpstr>
      <vt:lpstr>Reading Image Objects </vt:lpstr>
      <vt:lpstr>Reading Image Objects </vt:lpstr>
      <vt:lpstr>Reading Image Objects </vt:lpstr>
      <vt:lpstr>Reading Image Objects </vt:lpstr>
      <vt:lpstr>Writing Image Objects </vt:lpstr>
      <vt:lpstr>Writing Image Objects </vt:lpstr>
      <vt:lpstr>Copying Image Objects </vt:lpstr>
      <vt:lpstr>Copying Image Objects </vt:lpstr>
      <vt:lpstr>Copying Image Objects </vt:lpstr>
      <vt:lpstr>Filling Image Objects</vt:lpstr>
      <vt:lpstr>Copying between Image and Buffer Objects</vt:lpstr>
      <vt:lpstr>Mapping Image Objects </vt:lpstr>
      <vt:lpstr>Mapping Image Objects </vt:lpstr>
      <vt:lpstr>Mapping Image Objects </vt:lpstr>
      <vt:lpstr>Mapping Image Objects </vt:lpstr>
      <vt:lpstr>Image Object Queries</vt:lpstr>
      <vt:lpstr>Image Object Queries</vt:lpstr>
      <vt:lpstr>HSA System architecture</vt:lpstr>
      <vt:lpstr>Image – from system architecture view</vt:lpstr>
      <vt:lpstr>Image -- requirement</vt:lpstr>
      <vt:lpstr>Image -- requirement</vt:lpstr>
      <vt:lpstr>Image -- requirement</vt:lpstr>
      <vt:lpstr>Image -- requirement</vt:lpstr>
      <vt:lpstr>Image -- requirement</vt:lpstr>
      <vt:lpstr>Image --requirement</vt:lpstr>
      <vt:lpstr>Image – requirement</vt:lpstr>
      <vt:lpstr>Image – requirement</vt:lpstr>
      <vt:lpstr>Image – requirement</vt:lpstr>
      <vt:lpstr>Hsa runtime</vt:lpstr>
      <vt:lpstr>HSA runtime requirement and feature</vt:lpstr>
      <vt:lpstr>HSA runtime requirement and feature</vt:lpstr>
      <vt:lpstr>HSA runtime requirement and feature</vt:lpstr>
      <vt:lpstr>HSA runtime requirement and feature</vt:lpstr>
      <vt:lpstr>HSA runtime requirement and feature</vt:lpstr>
      <vt:lpstr>HSA runtime requirement and feature</vt:lpstr>
      <vt:lpstr>HSA runtime requirement and feature</vt:lpstr>
      <vt:lpstr>HSA runtime requirement and feature</vt:lpstr>
      <vt:lpstr>HSAIL IMAGE</vt:lpstr>
      <vt:lpstr>Read Image (rdimage) Operation</vt:lpstr>
      <vt:lpstr>Read Image (rdimage) Operation</vt:lpstr>
      <vt:lpstr>Load Image (ldimage) Operation</vt:lpstr>
      <vt:lpstr>Load Image (ldimage) Operation </vt:lpstr>
      <vt:lpstr>Store Image (stimage) Operation</vt:lpstr>
      <vt:lpstr>Store Image (stimage) Operation</vt:lpstr>
      <vt:lpstr>Query Image and Query Sampler Operations</vt:lpstr>
      <vt:lpstr>Query Image and Query Sampler Operations</vt:lpstr>
      <vt:lpstr> Image Fence (imagefence) Operation</vt:lpstr>
      <vt:lpstr>Image Fence (imagefence) Operation</vt:lpstr>
      <vt:lpstr>Image Fence (imagefence) Operation</vt:lpstr>
      <vt:lpstr>Image Fence (imagefence) Operation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dc:title>
  <dc:creator>forgery</dc:creator>
  <cp:lastModifiedBy>Yeh-Ching Chung</cp:lastModifiedBy>
  <cp:revision>128</cp:revision>
  <dcterms:created xsi:type="dcterms:W3CDTF">2015-01-26T07:26:07Z</dcterms:created>
  <dcterms:modified xsi:type="dcterms:W3CDTF">2015-03-02T02:31:37Z</dcterms:modified>
</cp:coreProperties>
</file>