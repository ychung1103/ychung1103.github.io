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8" r:id="rId3"/>
    <p:sldId id="259" r:id="rId4"/>
    <p:sldId id="340" r:id="rId5"/>
    <p:sldId id="260" r:id="rId6"/>
    <p:sldId id="341" r:id="rId7"/>
    <p:sldId id="261" r:id="rId8"/>
    <p:sldId id="262" r:id="rId9"/>
    <p:sldId id="263" r:id="rId10"/>
    <p:sldId id="264" r:id="rId11"/>
    <p:sldId id="342" r:id="rId12"/>
    <p:sldId id="343" r:id="rId13"/>
    <p:sldId id="267" r:id="rId14"/>
    <p:sldId id="344" r:id="rId15"/>
    <p:sldId id="270" r:id="rId16"/>
    <p:sldId id="345" r:id="rId17"/>
    <p:sldId id="348" r:id="rId18"/>
    <p:sldId id="271" r:id="rId19"/>
    <p:sldId id="349" r:id="rId20"/>
    <p:sldId id="350" r:id="rId21"/>
    <p:sldId id="351" r:id="rId22"/>
    <p:sldId id="352" r:id="rId23"/>
    <p:sldId id="353" r:id="rId24"/>
    <p:sldId id="355" r:id="rId25"/>
    <p:sldId id="356" r:id="rId26"/>
    <p:sldId id="357" r:id="rId27"/>
    <p:sldId id="358" r:id="rId28"/>
    <p:sldId id="359" r:id="rId29"/>
    <p:sldId id="367" r:id="rId30"/>
    <p:sldId id="368" r:id="rId31"/>
    <p:sldId id="360" r:id="rId32"/>
    <p:sldId id="361" r:id="rId33"/>
    <p:sldId id="362" r:id="rId34"/>
    <p:sldId id="375" r:id="rId35"/>
    <p:sldId id="376" r:id="rId36"/>
    <p:sldId id="370" r:id="rId37"/>
    <p:sldId id="371" r:id="rId38"/>
    <p:sldId id="372" r:id="rId39"/>
    <p:sldId id="373" r:id="rId40"/>
    <p:sldId id="363" r:id="rId41"/>
    <p:sldId id="366" r:id="rId42"/>
    <p:sldId id="364" r:id="rId43"/>
    <p:sldId id="365" r:id="rId44"/>
    <p:sldId id="377" r:id="rId45"/>
    <p:sldId id="378" r:id="rId46"/>
    <p:sldId id="379" r:id="rId47"/>
    <p:sldId id="380" r:id="rId48"/>
    <p:sldId id="381" r:id="rId4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5" autoAdjust="0"/>
  </p:normalViewPr>
  <p:slideViewPr>
    <p:cSldViewPr snapToGrid="0">
      <p:cViewPr varScale="1">
        <p:scale>
          <a:sx n="78" d="100"/>
          <a:sy n="78" d="100"/>
        </p:scale>
        <p:origin x="-9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C91BA-E48B-478A-AAC4-00AC63B4DFCE}" type="datetimeFigureOut">
              <a:rPr lang="zh-TW" altLang="en-US" smtClean="0"/>
              <a:pPr/>
              <a:t>2015/3/22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7CAEC-3761-40ED-B6A3-5E9BBA7B9AFB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90665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9034A-F7F8-456A-8D95-3DE97560FB4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248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8573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01458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8"/>
            <a:ext cx="53848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8"/>
            <a:ext cx="5384800" cy="647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48087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17216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48176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76036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393950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 smtClean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96916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697740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73026"/>
            <a:ext cx="2743200" cy="170021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73026"/>
            <a:ext cx="8026400" cy="170021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27266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6"/>
            <a:ext cx="10972800" cy="170021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665517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4417" y="73025"/>
            <a:ext cx="5664200" cy="69215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38"/>
            <a:ext cx="10972800" cy="647700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828003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06960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清大LOGO(鳥)"/>
          <p:cNvPicPr>
            <a:picLocks noChangeAspect="1" noChangeArrowheads="1"/>
          </p:cNvPicPr>
          <p:nvPr/>
        </p:nvPicPr>
        <p:blipFill>
          <a:blip r:embed="rId1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0" y="30163"/>
            <a:ext cx="2159000" cy="80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624418" y="144463"/>
            <a:ext cx="10943167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8"/>
            <a:ext cx="109728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按一下以編輯母片</a:t>
            </a:r>
          </a:p>
          <a:p>
            <a:pPr lvl="1"/>
            <a:endParaRPr lang="zh-TW" altLang="en-US" smtClean="0"/>
          </a:p>
          <a:p>
            <a:pPr lvl="0"/>
            <a:endParaRPr lang="en-US" altLang="zh-TW" smtClean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" y="6357939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5" y="6581776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1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0" y="6165850"/>
            <a:ext cx="12192000" cy="719138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0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6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8846D149-EA11-4BCE-8A7B-E2565973AD7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034" name="Picture 13" descr="清大LOGO(圓)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1" y="6181726"/>
            <a:ext cx="912284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5" name="Picture 14" descr="清大書法字 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007534" y="6237288"/>
            <a:ext cx="2783417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910167" y="6580188"/>
            <a:ext cx="2521139" cy="307777"/>
          </a:xfrm>
          <a:prstGeom prst="rect">
            <a:avLst/>
          </a:prstGeom>
          <a:noFill/>
          <a:ln w="15875">
            <a:noFill/>
            <a:miter lim="800000"/>
            <a:headEnd/>
            <a:tailEnd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4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rPr>
              <a:t>National Tsing Hua University</a:t>
            </a: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835595" y="151801"/>
            <a:ext cx="2213067" cy="68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7652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HSA Runtime Specification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1546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/>
              <a:t>HSA Core Runtime </a:t>
            </a:r>
            <a:r>
              <a:rPr lang="en-US" altLang="zh-TW" dirty="0" smtClean="0"/>
              <a:t>API (v1.0)</a:t>
            </a:r>
            <a:endParaRPr lang="en-US" altLang="zh-TW" dirty="0"/>
          </a:p>
          <a:p>
            <a:pPr lvl="1"/>
            <a:r>
              <a:rPr lang="en-US" altLang="zh-TW" dirty="0"/>
              <a:t>Initialization and Shut Down</a:t>
            </a:r>
          </a:p>
          <a:p>
            <a:pPr lvl="1"/>
            <a:r>
              <a:rPr lang="en-US" altLang="zh-TW" dirty="0"/>
              <a:t>Runtime </a:t>
            </a:r>
            <a:r>
              <a:rPr lang="en-US" altLang="zh-TW" dirty="0" smtClean="0"/>
              <a:t>Notifications</a:t>
            </a:r>
          </a:p>
          <a:p>
            <a:pPr lvl="1"/>
            <a:r>
              <a:rPr lang="en-US" altLang="zh-TW" dirty="0"/>
              <a:t>System and Agent </a:t>
            </a:r>
            <a:r>
              <a:rPr lang="en-US" altLang="zh-TW" dirty="0" smtClean="0"/>
              <a:t>Information</a:t>
            </a:r>
          </a:p>
          <a:p>
            <a:pPr lvl="1"/>
            <a:r>
              <a:rPr lang="en-US" altLang="zh-TW" dirty="0" smtClean="0"/>
              <a:t>Signals </a:t>
            </a:r>
            <a:r>
              <a:rPr lang="en-US" altLang="zh-TW" dirty="0"/>
              <a:t>and Synchronization (Memory-Based)</a:t>
            </a:r>
            <a:endParaRPr lang="zh-TW" altLang="zh-TW" dirty="0"/>
          </a:p>
          <a:p>
            <a:pPr lvl="1"/>
            <a:r>
              <a:rPr lang="en-US" altLang="zh-TW" dirty="0"/>
              <a:t>Queues and Architected Dispatch</a:t>
            </a:r>
            <a:endParaRPr lang="zh-TW" altLang="zh-TW" dirty="0"/>
          </a:p>
          <a:p>
            <a:pPr lvl="1"/>
            <a:r>
              <a:rPr lang="en-US" altLang="zh-TW" dirty="0"/>
              <a:t>Memory Management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3949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 core runtime is a thin, user-mode API that provides the interface necessary for the host to launch compute kernels to the available HSA </a:t>
            </a:r>
            <a:r>
              <a:rPr lang="en-US" altLang="zh-TW" dirty="0" smtClean="0"/>
              <a:t>agents.</a:t>
            </a:r>
            <a:endParaRPr lang="en-US" altLang="zh-TW" dirty="0"/>
          </a:p>
          <a:p>
            <a:r>
              <a:rPr lang="en-US" altLang="zh-TW" dirty="0"/>
              <a:t>This </a:t>
            </a:r>
            <a:r>
              <a:rPr lang="en-US" altLang="zh-TW" dirty="0" smtClean="0"/>
              <a:t>document describes </a:t>
            </a:r>
            <a:r>
              <a:rPr lang="en-US" altLang="zh-TW" dirty="0"/>
              <a:t>the architecture and APIs for the HSA runtime. Key sections of the runtime API include:</a:t>
            </a:r>
          </a:p>
          <a:p>
            <a:pPr lvl="1"/>
            <a:r>
              <a:rPr lang="en-US" altLang="zh-TW" dirty="0" smtClean="0"/>
              <a:t>Runtime </a:t>
            </a:r>
            <a:r>
              <a:rPr lang="en-US" altLang="zh-TW" dirty="0"/>
              <a:t>initialization and </a:t>
            </a:r>
            <a:r>
              <a:rPr lang="en-US" altLang="zh-TW" dirty="0" smtClean="0"/>
              <a:t>shutdown</a:t>
            </a:r>
          </a:p>
          <a:p>
            <a:pPr lvl="1"/>
            <a:r>
              <a:rPr lang="en-US" altLang="zh-TW" dirty="0"/>
              <a:t>Runtime </a:t>
            </a:r>
            <a:r>
              <a:rPr lang="en-US" altLang="zh-TW" dirty="0" smtClean="0"/>
              <a:t>Notifications</a:t>
            </a:r>
          </a:p>
          <a:p>
            <a:pPr lvl="1"/>
            <a:r>
              <a:rPr lang="en-US" altLang="zh-TW" dirty="0" smtClean="0"/>
              <a:t>System </a:t>
            </a:r>
            <a:r>
              <a:rPr lang="en-US" altLang="zh-TW" dirty="0"/>
              <a:t>and agent information</a:t>
            </a:r>
          </a:p>
          <a:p>
            <a:pPr lvl="1"/>
            <a:r>
              <a:rPr lang="en-US" altLang="zh-TW" dirty="0" smtClean="0"/>
              <a:t>Signals </a:t>
            </a:r>
            <a:r>
              <a:rPr lang="en-US" altLang="zh-TW" dirty="0"/>
              <a:t>and synchronization</a:t>
            </a:r>
          </a:p>
          <a:p>
            <a:pPr lvl="1"/>
            <a:r>
              <a:rPr lang="en-US" altLang="zh-TW" dirty="0" smtClean="0"/>
              <a:t>Architected </a:t>
            </a:r>
            <a:r>
              <a:rPr lang="en-US" altLang="zh-TW" dirty="0"/>
              <a:t>dispatch</a:t>
            </a:r>
          </a:p>
          <a:p>
            <a:pPr lvl="1"/>
            <a:r>
              <a:rPr lang="en-US" altLang="zh-TW" dirty="0" smtClean="0"/>
              <a:t>Memory </a:t>
            </a:r>
            <a:r>
              <a:rPr lang="en-US" altLang="zh-TW" dirty="0"/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xmlns="" val="133679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投影片編號版面配置區 38"/>
          <p:cNvSpPr>
            <a:spLocks noGrp="1"/>
          </p:cNvSpPr>
          <p:nvPr>
            <p:ph type="sldNum" sz="quarter" idx="4294967295"/>
          </p:nvPr>
        </p:nvSpPr>
        <p:spPr>
          <a:xfrm>
            <a:off x="9108017" y="6524628"/>
            <a:ext cx="2844800" cy="339725"/>
          </a:xfrm>
          <a:prstGeom prst="rect">
            <a:avLst/>
          </a:prstGeom>
        </p:spPr>
        <p:txBody>
          <a:bodyPr vert="horz" wrap="square" lIns="121891" tIns="60945" rIns="121891" bIns="60945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6F348599-3B42-451E-B007-3FD1EC231F49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  <p:grpSp>
        <p:nvGrpSpPr>
          <p:cNvPr id="3" name="群組 2"/>
          <p:cNvGrpSpPr/>
          <p:nvPr/>
        </p:nvGrpSpPr>
        <p:grpSpPr>
          <a:xfrm>
            <a:off x="405441" y="1863773"/>
            <a:ext cx="11050438" cy="4112394"/>
            <a:chOff x="304800" y="2006600"/>
            <a:chExt cx="11582400" cy="4267206"/>
          </a:xfrm>
        </p:grpSpPr>
        <p:grpSp>
          <p:nvGrpSpPr>
            <p:cNvPr id="91" name="群組 90"/>
            <p:cNvGrpSpPr/>
            <p:nvPr/>
          </p:nvGrpSpPr>
          <p:grpSpPr>
            <a:xfrm>
              <a:off x="6400800" y="4749806"/>
              <a:ext cx="3454400" cy="1524000"/>
              <a:chOff x="4114800" y="3562352"/>
              <a:chExt cx="2590800" cy="11430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4114800" y="3562352"/>
                <a:ext cx="2590800" cy="1143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/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4267200" y="4095752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1</a:t>
                </a:r>
                <a:endParaRPr lang="zh-TW" altLang="en-US" sz="1200" b="1" dirty="0"/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4267200" y="3787975"/>
                <a:ext cx="2286000" cy="284742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Driver</a:t>
                </a:r>
                <a:endParaRPr lang="zh-TW" altLang="en-US" sz="1867" b="1" dirty="0"/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5562600" y="4095752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N</a:t>
                </a:r>
                <a:endParaRPr lang="zh-TW" altLang="en-US" sz="1200" b="1" dirty="0"/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5181600" y="3993911"/>
                <a:ext cx="4572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b="1" dirty="0"/>
                  <a:t>…</a:t>
                </a:r>
                <a:endParaRPr lang="zh-TW" altLang="en-US" sz="2400" b="1" dirty="0"/>
              </a:p>
            </p:txBody>
          </p:sp>
          <p:sp>
            <p:nvSpPr>
              <p:cNvPr id="48" name="文字方塊 47"/>
              <p:cNvSpPr txBox="1"/>
              <p:nvPr/>
            </p:nvSpPr>
            <p:spPr>
              <a:xfrm>
                <a:off x="5486400" y="4400552"/>
                <a:ext cx="1219200" cy="284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Vendor </a:t>
                </a:r>
                <a:r>
                  <a:rPr lang="en-US" altLang="zh-TW" sz="1867" b="1" i="1" dirty="0"/>
                  <a:t>m</a:t>
                </a:r>
                <a:endParaRPr lang="zh-TW" altLang="en-US" sz="1867" b="1" dirty="0"/>
              </a:p>
            </p:txBody>
          </p:sp>
        </p:grpSp>
        <p:sp>
          <p:nvSpPr>
            <p:cNvPr id="66" name="文字方塊 65"/>
            <p:cNvSpPr txBox="1"/>
            <p:nvPr/>
          </p:nvSpPr>
          <p:spPr>
            <a:xfrm>
              <a:off x="5181600" y="5054601"/>
              <a:ext cx="609600" cy="492434"/>
            </a:xfrm>
            <a:prstGeom prst="rect">
              <a:avLst/>
            </a:prstGeom>
            <a:noFill/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2400" b="1" dirty="0"/>
                <a:t>…</a:t>
              </a:r>
              <a:endParaRPr lang="zh-TW" altLang="en-US" sz="2400" b="1" dirty="0"/>
            </a:p>
          </p:txBody>
        </p:sp>
        <p:grpSp>
          <p:nvGrpSpPr>
            <p:cNvPr id="111" name="群組 110"/>
            <p:cNvGrpSpPr/>
            <p:nvPr/>
          </p:nvGrpSpPr>
          <p:grpSpPr>
            <a:xfrm>
              <a:off x="1016000" y="4749805"/>
              <a:ext cx="3454400" cy="1524000"/>
              <a:chOff x="762000" y="3562350"/>
              <a:chExt cx="2590800" cy="1143000"/>
            </a:xfrm>
          </p:grpSpPr>
          <p:sp>
            <p:nvSpPr>
              <p:cNvPr id="72" name="矩形 71"/>
              <p:cNvSpPr/>
              <p:nvPr/>
            </p:nvSpPr>
            <p:spPr>
              <a:xfrm>
                <a:off x="762000" y="3562350"/>
                <a:ext cx="2590800" cy="1143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/>
              </a:p>
            </p:txBody>
          </p:sp>
          <p:sp>
            <p:nvSpPr>
              <p:cNvPr id="73" name="文字方塊 72"/>
              <p:cNvSpPr txBox="1"/>
              <p:nvPr/>
            </p:nvSpPr>
            <p:spPr>
              <a:xfrm>
                <a:off x="914400" y="4095750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1</a:t>
                </a:r>
                <a:endParaRPr lang="zh-TW" altLang="en-US" sz="1200" b="1" dirty="0"/>
              </a:p>
            </p:txBody>
          </p:sp>
          <p:sp>
            <p:nvSpPr>
              <p:cNvPr id="74" name="文字方塊 73"/>
              <p:cNvSpPr txBox="1"/>
              <p:nvPr/>
            </p:nvSpPr>
            <p:spPr>
              <a:xfrm>
                <a:off x="914400" y="3787973"/>
                <a:ext cx="2286000" cy="284742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Driver</a:t>
                </a:r>
                <a:endParaRPr lang="zh-TW" altLang="en-US" sz="1867" b="1" dirty="0"/>
              </a:p>
            </p:txBody>
          </p:sp>
          <p:sp>
            <p:nvSpPr>
              <p:cNvPr id="75" name="文字方塊 74"/>
              <p:cNvSpPr txBox="1"/>
              <p:nvPr/>
            </p:nvSpPr>
            <p:spPr>
              <a:xfrm>
                <a:off x="2209800" y="4095750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N</a:t>
                </a:r>
                <a:endParaRPr lang="zh-TW" altLang="en-US" sz="1200" b="1" dirty="0"/>
              </a:p>
            </p:txBody>
          </p:sp>
          <p:sp>
            <p:nvSpPr>
              <p:cNvPr id="76" name="文字方塊 75"/>
              <p:cNvSpPr txBox="1"/>
              <p:nvPr/>
            </p:nvSpPr>
            <p:spPr>
              <a:xfrm>
                <a:off x="1828800" y="3993911"/>
                <a:ext cx="4572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b="1" dirty="0"/>
                  <a:t>…</a:t>
                </a:r>
                <a:endParaRPr lang="zh-TW" altLang="en-US" sz="2400" b="1" dirty="0"/>
              </a:p>
            </p:txBody>
          </p:sp>
          <p:sp>
            <p:nvSpPr>
              <p:cNvPr id="77" name="文字方塊 76"/>
              <p:cNvSpPr txBox="1"/>
              <p:nvPr/>
            </p:nvSpPr>
            <p:spPr>
              <a:xfrm>
                <a:off x="2133600" y="4400550"/>
                <a:ext cx="1219200" cy="284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Vendor 1</a:t>
                </a:r>
                <a:endParaRPr lang="zh-TW" altLang="en-US" sz="1867" b="1" dirty="0"/>
              </a:p>
            </p:txBody>
          </p:sp>
        </p:grpSp>
        <p:grpSp>
          <p:nvGrpSpPr>
            <p:cNvPr id="92" name="群組 91"/>
            <p:cNvGrpSpPr/>
            <p:nvPr/>
          </p:nvGrpSpPr>
          <p:grpSpPr>
            <a:xfrm>
              <a:off x="406400" y="4749805"/>
              <a:ext cx="5384800" cy="1524000"/>
              <a:chOff x="4114800" y="3562352"/>
              <a:chExt cx="4038600" cy="1143000"/>
            </a:xfrm>
          </p:grpSpPr>
          <p:sp>
            <p:nvSpPr>
              <p:cNvPr id="93" name="矩形 92"/>
              <p:cNvSpPr/>
              <p:nvPr/>
            </p:nvSpPr>
            <p:spPr>
              <a:xfrm>
                <a:off x="4114800" y="3562352"/>
                <a:ext cx="4038600" cy="1143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/>
              </a:p>
            </p:txBody>
          </p:sp>
          <p:sp>
            <p:nvSpPr>
              <p:cNvPr id="94" name="文字方塊 93"/>
              <p:cNvSpPr txBox="1"/>
              <p:nvPr/>
            </p:nvSpPr>
            <p:spPr>
              <a:xfrm>
                <a:off x="4267200" y="4095752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1</a:t>
                </a:r>
                <a:endParaRPr lang="zh-TW" altLang="en-US" sz="1200" b="1" dirty="0"/>
              </a:p>
            </p:txBody>
          </p:sp>
          <p:sp>
            <p:nvSpPr>
              <p:cNvPr id="95" name="文字方塊 94"/>
              <p:cNvSpPr txBox="1"/>
              <p:nvPr/>
            </p:nvSpPr>
            <p:spPr>
              <a:xfrm>
                <a:off x="4267200" y="3787975"/>
                <a:ext cx="2286000" cy="284742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HSA Runtime</a:t>
                </a:r>
                <a:endParaRPr lang="zh-TW" altLang="en-US" sz="1867" b="1" dirty="0"/>
              </a:p>
            </p:txBody>
          </p:sp>
          <p:sp>
            <p:nvSpPr>
              <p:cNvPr id="96" name="文字方塊 95"/>
              <p:cNvSpPr txBox="1"/>
              <p:nvPr/>
            </p:nvSpPr>
            <p:spPr>
              <a:xfrm>
                <a:off x="5562600" y="4095752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N</a:t>
                </a:r>
                <a:endParaRPr lang="zh-TW" altLang="en-US" sz="1200" b="1" dirty="0"/>
              </a:p>
            </p:txBody>
          </p:sp>
          <p:sp>
            <p:nvSpPr>
              <p:cNvPr id="97" name="文字方塊 96"/>
              <p:cNvSpPr txBox="1"/>
              <p:nvPr/>
            </p:nvSpPr>
            <p:spPr>
              <a:xfrm>
                <a:off x="5181600" y="3993911"/>
                <a:ext cx="4572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b="1" dirty="0"/>
                  <a:t>…</a:t>
                </a:r>
                <a:endParaRPr lang="zh-TW" altLang="en-US" sz="2400" b="1" dirty="0"/>
              </a:p>
            </p:txBody>
          </p:sp>
          <p:sp>
            <p:nvSpPr>
              <p:cNvPr id="98" name="文字方塊 97"/>
              <p:cNvSpPr txBox="1"/>
              <p:nvPr/>
            </p:nvSpPr>
            <p:spPr>
              <a:xfrm>
                <a:off x="5486400" y="4400552"/>
                <a:ext cx="1524000" cy="284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HSA Vendor 1</a:t>
                </a:r>
                <a:endParaRPr lang="zh-TW" altLang="en-US" sz="1867" b="1" dirty="0"/>
              </a:p>
            </p:txBody>
          </p:sp>
          <p:sp>
            <p:nvSpPr>
              <p:cNvPr id="99" name="文字方塊 98"/>
              <p:cNvSpPr txBox="1"/>
              <p:nvPr/>
            </p:nvSpPr>
            <p:spPr>
              <a:xfrm>
                <a:off x="7086600" y="3790948"/>
                <a:ext cx="990600" cy="500233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HSA</a:t>
                </a:r>
              </a:p>
              <a:p>
                <a:pPr algn="ctr"/>
                <a:r>
                  <a:rPr lang="en-US" altLang="zh-TW" sz="1867" b="1" dirty="0" err="1"/>
                  <a:t>Finalizer</a:t>
                </a:r>
                <a:endParaRPr lang="zh-TW" altLang="en-US" sz="1867" b="1" dirty="0"/>
              </a:p>
            </p:txBody>
          </p:sp>
          <p:cxnSp>
            <p:nvCxnSpPr>
              <p:cNvPr id="100" name="直線單箭頭接點 99"/>
              <p:cNvCxnSpPr/>
              <p:nvPr/>
            </p:nvCxnSpPr>
            <p:spPr>
              <a:xfrm>
                <a:off x="6596148" y="3925238"/>
                <a:ext cx="457200" cy="1486"/>
              </a:xfrm>
              <a:prstGeom prst="straightConnector1">
                <a:avLst/>
              </a:prstGeom>
              <a:ln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1" name="群組 100"/>
            <p:cNvGrpSpPr/>
            <p:nvPr/>
          </p:nvGrpSpPr>
          <p:grpSpPr>
            <a:xfrm>
              <a:off x="6400800" y="4749806"/>
              <a:ext cx="5384800" cy="1524000"/>
              <a:chOff x="4114800" y="3562352"/>
              <a:chExt cx="4038600" cy="1143000"/>
            </a:xfrm>
          </p:grpSpPr>
          <p:sp>
            <p:nvSpPr>
              <p:cNvPr id="102" name="矩形 101"/>
              <p:cNvSpPr/>
              <p:nvPr/>
            </p:nvSpPr>
            <p:spPr>
              <a:xfrm>
                <a:off x="4114800" y="3562352"/>
                <a:ext cx="4038600" cy="114300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8575"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/>
              </a:p>
            </p:txBody>
          </p:sp>
          <p:sp>
            <p:nvSpPr>
              <p:cNvPr id="103" name="文字方塊 102"/>
              <p:cNvSpPr txBox="1"/>
              <p:nvPr/>
            </p:nvSpPr>
            <p:spPr>
              <a:xfrm>
                <a:off x="4267200" y="4095752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1</a:t>
                </a:r>
                <a:endParaRPr lang="zh-TW" altLang="en-US" sz="1200" b="1" dirty="0"/>
              </a:p>
            </p:txBody>
          </p:sp>
          <p:sp>
            <p:nvSpPr>
              <p:cNvPr id="104" name="文字方塊 103"/>
              <p:cNvSpPr txBox="1"/>
              <p:nvPr/>
            </p:nvSpPr>
            <p:spPr>
              <a:xfrm>
                <a:off x="4267200" y="3787975"/>
                <a:ext cx="2286000" cy="284742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HSA Runtime</a:t>
                </a:r>
                <a:endParaRPr lang="zh-TW" altLang="en-US" sz="1867" b="1" dirty="0"/>
              </a:p>
            </p:txBody>
          </p:sp>
          <p:sp>
            <p:nvSpPr>
              <p:cNvPr id="105" name="文字方塊 104"/>
              <p:cNvSpPr txBox="1"/>
              <p:nvPr/>
            </p:nvSpPr>
            <p:spPr>
              <a:xfrm>
                <a:off x="5562600" y="4095752"/>
                <a:ext cx="990600" cy="207749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200" b="1" dirty="0"/>
                  <a:t>Component N</a:t>
                </a:r>
                <a:endParaRPr lang="zh-TW" altLang="en-US" sz="1200" b="1" dirty="0"/>
              </a:p>
            </p:txBody>
          </p:sp>
          <p:sp>
            <p:nvSpPr>
              <p:cNvPr id="106" name="文字方塊 105"/>
              <p:cNvSpPr txBox="1"/>
              <p:nvPr/>
            </p:nvSpPr>
            <p:spPr>
              <a:xfrm>
                <a:off x="5181600" y="3993911"/>
                <a:ext cx="4572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b="1" dirty="0"/>
                  <a:t>…</a:t>
                </a:r>
                <a:endParaRPr lang="zh-TW" altLang="en-US" sz="2400" b="1" dirty="0"/>
              </a:p>
            </p:txBody>
          </p:sp>
          <p:sp>
            <p:nvSpPr>
              <p:cNvPr id="107" name="文字方塊 106"/>
              <p:cNvSpPr txBox="1"/>
              <p:nvPr/>
            </p:nvSpPr>
            <p:spPr>
              <a:xfrm>
                <a:off x="5410200" y="4400552"/>
                <a:ext cx="1752600" cy="284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HSA Vendor </a:t>
                </a:r>
                <a:r>
                  <a:rPr lang="en-US" altLang="zh-TW" sz="1867" b="1" i="1" dirty="0"/>
                  <a:t>m</a:t>
                </a:r>
                <a:endParaRPr lang="zh-TW" altLang="en-US" sz="1867" b="1" dirty="0"/>
              </a:p>
            </p:txBody>
          </p:sp>
          <p:sp>
            <p:nvSpPr>
              <p:cNvPr id="108" name="文字方塊 107"/>
              <p:cNvSpPr txBox="1"/>
              <p:nvPr/>
            </p:nvSpPr>
            <p:spPr>
              <a:xfrm>
                <a:off x="7086600" y="3790948"/>
                <a:ext cx="990600" cy="500233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867" b="1" dirty="0"/>
                  <a:t>HSA</a:t>
                </a:r>
              </a:p>
              <a:p>
                <a:pPr algn="ctr"/>
                <a:r>
                  <a:rPr lang="en-US" altLang="zh-TW" sz="1867" b="1" dirty="0" err="1"/>
                  <a:t>Finalizer</a:t>
                </a:r>
                <a:endParaRPr lang="zh-TW" altLang="en-US" sz="1867" b="1" dirty="0"/>
              </a:p>
            </p:txBody>
          </p:sp>
          <p:cxnSp>
            <p:nvCxnSpPr>
              <p:cNvPr id="109" name="直線單箭頭接點 108"/>
              <p:cNvCxnSpPr/>
              <p:nvPr/>
            </p:nvCxnSpPr>
            <p:spPr>
              <a:xfrm>
                <a:off x="6596148" y="3925238"/>
                <a:ext cx="457200" cy="1486"/>
              </a:xfrm>
              <a:prstGeom prst="straightConnector1">
                <a:avLst/>
              </a:prstGeom>
              <a:ln>
                <a:prstDash val="sysDash"/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4" name="直線接點 43"/>
            <p:cNvCxnSpPr/>
            <p:nvPr/>
          </p:nvCxnSpPr>
          <p:spPr>
            <a:xfrm>
              <a:off x="304800" y="3022600"/>
              <a:ext cx="1158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字方塊 45"/>
            <p:cNvSpPr txBox="1"/>
            <p:nvPr/>
          </p:nvSpPr>
          <p:spPr>
            <a:xfrm>
              <a:off x="8534400" y="2123758"/>
              <a:ext cx="3149600" cy="492412"/>
            </a:xfrm>
            <a:prstGeom prst="rect">
              <a:avLst/>
            </a:prstGeom>
            <a:noFill/>
          </p:spPr>
          <p:txBody>
            <a:bodyPr wrap="square" lIns="121891" tIns="60945" rIns="121891" bIns="60945" rtlCol="0">
              <a:spAutoFit/>
            </a:bodyPr>
            <a:lstStyle/>
            <a:p>
              <a:r>
                <a:rPr lang="en-US" altLang="zh-TW" sz="2400" dirty="0"/>
                <a:t>Programming Model</a:t>
              </a:r>
              <a:endParaRPr lang="zh-TW" altLang="en-US" sz="2400" dirty="0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8534400" y="3546158"/>
              <a:ext cx="3149600" cy="492412"/>
            </a:xfrm>
            <a:prstGeom prst="rect">
              <a:avLst/>
            </a:prstGeom>
            <a:noFill/>
          </p:spPr>
          <p:txBody>
            <a:bodyPr wrap="square" lIns="121891" tIns="60945" rIns="121891" bIns="60945" rtlCol="0">
              <a:spAutoFit/>
            </a:bodyPr>
            <a:lstStyle/>
            <a:p>
              <a:r>
                <a:rPr lang="en-US" altLang="zh-TW" sz="2400" dirty="0"/>
                <a:t>Language Runtime</a:t>
              </a:r>
              <a:endParaRPr lang="zh-TW" altLang="en-US" sz="2400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1625600" y="2006600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 err="1"/>
                <a:t>OpenCL</a:t>
              </a:r>
              <a:endParaRPr lang="en-US" altLang="zh-TW" sz="1867" b="1" dirty="0"/>
            </a:p>
            <a:p>
              <a:pPr algn="ctr"/>
              <a:r>
                <a:rPr lang="en-US" altLang="zh-TW" sz="1867" b="1" dirty="0"/>
                <a:t>App</a:t>
              </a:r>
              <a:endParaRPr lang="zh-TW" altLang="en-US" sz="1867" b="1" dirty="0"/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149600" y="2006601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/>
                <a:t>Java</a:t>
              </a:r>
            </a:p>
            <a:p>
              <a:pPr algn="ctr"/>
              <a:r>
                <a:rPr lang="en-US" altLang="zh-TW" sz="1867" b="1" dirty="0"/>
                <a:t>App</a:t>
              </a:r>
              <a:endParaRPr lang="zh-TW" altLang="en-US" sz="1867" b="1" dirty="0"/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486400" y="2006600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 err="1"/>
                <a:t>OpenMP</a:t>
              </a:r>
              <a:endParaRPr lang="en-US" altLang="zh-TW" sz="1867" b="1" dirty="0"/>
            </a:p>
            <a:p>
              <a:pPr algn="ctr"/>
              <a:r>
                <a:rPr lang="en-US" altLang="zh-TW" sz="1867" b="1" dirty="0"/>
                <a:t>App</a:t>
              </a:r>
              <a:endParaRPr lang="zh-TW" altLang="en-US" sz="1867" b="1" dirty="0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7010400" y="2006601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/>
                <a:t>DSL</a:t>
              </a:r>
            </a:p>
            <a:p>
              <a:pPr algn="ctr"/>
              <a:r>
                <a:rPr lang="en-US" altLang="zh-TW" sz="1867" b="1" dirty="0"/>
                <a:t>App</a:t>
              </a:r>
              <a:endParaRPr lang="zh-TW" altLang="en-US" sz="1867" b="1" dirty="0"/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1625600" y="3442573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 err="1"/>
                <a:t>OpenCL</a:t>
              </a:r>
              <a:endParaRPr lang="en-US" altLang="zh-TW" sz="1867" b="1" dirty="0"/>
            </a:p>
            <a:p>
              <a:pPr algn="ctr"/>
              <a:r>
                <a:rPr lang="en-US" altLang="zh-TW" sz="1867" b="1" dirty="0"/>
                <a:t>Runtime</a:t>
              </a:r>
              <a:endParaRPr lang="zh-TW" altLang="en-US" sz="1867" b="1" dirty="0"/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3149600" y="3442573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/>
                <a:t>Java</a:t>
              </a:r>
            </a:p>
            <a:p>
              <a:pPr algn="ctr"/>
              <a:r>
                <a:rPr lang="en-US" altLang="zh-TW" sz="1867" b="1" dirty="0"/>
                <a:t>Runtime</a:t>
              </a:r>
              <a:endParaRPr lang="zh-TW" altLang="en-US" sz="1867" b="1" dirty="0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5486400" y="3442573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 err="1"/>
                <a:t>OpenMP</a:t>
              </a:r>
              <a:endParaRPr lang="en-US" altLang="zh-TW" sz="1867" b="1" dirty="0"/>
            </a:p>
            <a:p>
              <a:pPr algn="ctr"/>
              <a:r>
                <a:rPr lang="en-US" altLang="zh-TW" sz="1867" b="1" dirty="0"/>
                <a:t>Runtime</a:t>
              </a:r>
              <a:endParaRPr lang="zh-TW" altLang="en-US" sz="1867" b="1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7010400" y="3442573"/>
              <a:ext cx="1320800" cy="697747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28575">
              <a:solidFill>
                <a:schemeClr val="tx1"/>
              </a:solidFill>
            </a:ln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1867" b="1" dirty="0"/>
                <a:t>DSL</a:t>
              </a:r>
            </a:p>
            <a:p>
              <a:pPr algn="ctr"/>
              <a:r>
                <a:rPr lang="en-US" altLang="zh-TW" sz="1867" b="1" dirty="0"/>
                <a:t>Runtime</a:t>
              </a:r>
              <a:endParaRPr lang="zh-TW" altLang="en-US" sz="1867" b="1" dirty="0"/>
            </a:p>
          </p:txBody>
        </p:sp>
        <p:cxnSp>
          <p:nvCxnSpPr>
            <p:cNvPr id="25" name="直線單箭頭接點 24"/>
            <p:cNvCxnSpPr>
              <a:stCxn id="11" idx="2"/>
              <a:endCxn id="20" idx="0"/>
            </p:cNvCxnSpPr>
            <p:nvPr/>
          </p:nvCxnSpPr>
          <p:spPr>
            <a:xfrm>
              <a:off x="2286000" y="2704347"/>
              <a:ext cx="0" cy="73822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單箭頭接點 25"/>
            <p:cNvCxnSpPr/>
            <p:nvPr/>
          </p:nvCxnSpPr>
          <p:spPr>
            <a:xfrm>
              <a:off x="3759200" y="2690653"/>
              <a:ext cx="0" cy="7383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單箭頭接點 26"/>
            <p:cNvCxnSpPr/>
            <p:nvPr/>
          </p:nvCxnSpPr>
          <p:spPr>
            <a:xfrm>
              <a:off x="6146800" y="2690653"/>
              <a:ext cx="0" cy="7383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單箭頭接點 27"/>
            <p:cNvCxnSpPr/>
            <p:nvPr/>
          </p:nvCxnSpPr>
          <p:spPr>
            <a:xfrm>
              <a:off x="7620000" y="2677081"/>
              <a:ext cx="0" cy="7383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>
              <a:stCxn id="20" idx="2"/>
              <a:endCxn id="41" idx="0"/>
            </p:cNvCxnSpPr>
            <p:nvPr/>
          </p:nvCxnSpPr>
          <p:spPr>
            <a:xfrm>
              <a:off x="2286000" y="4140320"/>
              <a:ext cx="5842000" cy="9103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單箭頭接點 55"/>
            <p:cNvCxnSpPr>
              <a:stCxn id="21" idx="2"/>
              <a:endCxn id="41" idx="0"/>
            </p:cNvCxnSpPr>
            <p:nvPr/>
          </p:nvCxnSpPr>
          <p:spPr>
            <a:xfrm>
              <a:off x="3810000" y="4140320"/>
              <a:ext cx="4318000" cy="9103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 flipH="1">
              <a:off x="2743200" y="4140201"/>
              <a:ext cx="3454400" cy="9104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單箭頭接點 60"/>
            <p:cNvCxnSpPr>
              <a:stCxn id="22" idx="2"/>
              <a:endCxn id="41" idx="0"/>
            </p:cNvCxnSpPr>
            <p:nvPr/>
          </p:nvCxnSpPr>
          <p:spPr>
            <a:xfrm>
              <a:off x="6146800" y="4140320"/>
              <a:ext cx="1981200" cy="9103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線單箭頭接點 62"/>
            <p:cNvCxnSpPr>
              <a:stCxn id="23" idx="2"/>
              <a:endCxn id="41" idx="0"/>
            </p:cNvCxnSpPr>
            <p:nvPr/>
          </p:nvCxnSpPr>
          <p:spPr>
            <a:xfrm>
              <a:off x="7670800" y="4140320"/>
              <a:ext cx="457200" cy="91031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單箭頭接點 64"/>
            <p:cNvCxnSpPr/>
            <p:nvPr/>
          </p:nvCxnSpPr>
          <p:spPr>
            <a:xfrm flipH="1">
              <a:off x="2743200" y="4140201"/>
              <a:ext cx="4876800" cy="91043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字方塊 66"/>
            <p:cNvSpPr txBox="1"/>
            <p:nvPr/>
          </p:nvSpPr>
          <p:spPr>
            <a:xfrm>
              <a:off x="4673600" y="2006601"/>
              <a:ext cx="609600" cy="492434"/>
            </a:xfrm>
            <a:prstGeom prst="rect">
              <a:avLst/>
            </a:prstGeom>
            <a:noFill/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2400" b="1" dirty="0"/>
                <a:t>…</a:t>
              </a:r>
              <a:endParaRPr lang="zh-TW" altLang="en-US" sz="2400" b="1" dirty="0"/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4673600" y="3444558"/>
              <a:ext cx="609600" cy="492434"/>
            </a:xfrm>
            <a:prstGeom prst="rect">
              <a:avLst/>
            </a:prstGeom>
            <a:noFill/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2400" b="1" dirty="0"/>
                <a:t>…</a:t>
              </a:r>
              <a:endParaRPr lang="zh-TW" altLang="en-US" sz="2400" b="1" dirty="0"/>
            </a:p>
          </p:txBody>
        </p:sp>
        <p:cxnSp>
          <p:nvCxnSpPr>
            <p:cNvPr id="86" name="直線接點 85"/>
            <p:cNvCxnSpPr/>
            <p:nvPr/>
          </p:nvCxnSpPr>
          <p:spPr>
            <a:xfrm>
              <a:off x="304800" y="4445000"/>
              <a:ext cx="1158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>
              <a:stCxn id="20" idx="2"/>
            </p:cNvCxnSpPr>
            <p:nvPr/>
          </p:nvCxnSpPr>
          <p:spPr>
            <a:xfrm>
              <a:off x="2286000" y="4140320"/>
              <a:ext cx="457200" cy="91031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H="1">
              <a:off x="2743200" y="4140200"/>
              <a:ext cx="1016000" cy="9144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文字方塊 63"/>
            <p:cNvSpPr txBox="1"/>
            <p:nvPr/>
          </p:nvSpPr>
          <p:spPr>
            <a:xfrm>
              <a:off x="5791200" y="5054601"/>
              <a:ext cx="609600" cy="492434"/>
            </a:xfrm>
            <a:prstGeom prst="rect">
              <a:avLst/>
            </a:prstGeom>
            <a:noFill/>
          </p:spPr>
          <p:txBody>
            <a:bodyPr wrap="square" lIns="121912" tIns="60956" rIns="121912" bIns="60956" rtlCol="0">
              <a:spAutoFit/>
            </a:bodyPr>
            <a:lstStyle/>
            <a:p>
              <a:pPr algn="ctr"/>
              <a:r>
                <a:rPr lang="en-US" altLang="zh-TW" sz="2400" b="1" dirty="0"/>
                <a:t>…</a:t>
              </a:r>
              <a:endParaRPr lang="zh-TW" altLang="en-US" sz="2400" b="1" dirty="0"/>
            </a:p>
          </p:txBody>
        </p:sp>
      </p:grpSp>
      <p:sp>
        <p:nvSpPr>
          <p:cNvPr id="4" name="矩形 3"/>
          <p:cNvSpPr/>
          <p:nvPr/>
        </p:nvSpPr>
        <p:spPr>
          <a:xfrm>
            <a:off x="3147507" y="1217896"/>
            <a:ext cx="54393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>
                <a:latin typeface="Calibri" panose="020F0502020204030204" pitchFamily="34" charset="0"/>
              </a:rPr>
              <a:t>The HSA </a:t>
            </a:r>
            <a:r>
              <a:rPr lang="en-US" altLang="zh-TW" sz="2800" dirty="0" smtClean="0">
                <a:latin typeface="Calibri" panose="020F0502020204030204" pitchFamily="34" charset="0"/>
              </a:rPr>
              <a:t>software architecture stack</a:t>
            </a:r>
            <a:endParaRPr lang="zh-TW" altLang="en-US" sz="2800" dirty="0">
              <a:latin typeface="Calibri" panose="020F0502020204030204" pitchFamily="34" charset="0"/>
            </a:endParaRPr>
          </a:p>
        </p:txBody>
      </p:sp>
      <p:sp>
        <p:nvSpPr>
          <p:cNvPr id="7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91407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Initialization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Before the HSA runtime can be used by an application, the HSA runtime must be initialized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hsa_init</a:t>
            </a:r>
            <a:r>
              <a:rPr lang="en-US" altLang="zh-TW" dirty="0"/>
              <a:t>();</a:t>
            </a:r>
            <a:endParaRPr lang="en-US" altLang="zh-TW" dirty="0" smtClean="0"/>
          </a:p>
          <a:p>
            <a:r>
              <a:rPr lang="en-US" altLang="zh-TW" dirty="0" err="1" smtClean="0"/>
              <a:t>hsa_init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stpes</a:t>
            </a:r>
            <a:r>
              <a:rPr lang="en-US" altLang="zh-TW" dirty="0" smtClean="0"/>
              <a:t>:</a:t>
            </a:r>
          </a:p>
          <a:p>
            <a:pPr marL="0" indent="0">
              <a:buNone/>
            </a:pPr>
            <a:endParaRPr lang="zh-TW" altLang="en-US" dirty="0"/>
          </a:p>
        </p:txBody>
      </p:sp>
      <p:grpSp>
        <p:nvGrpSpPr>
          <p:cNvPr id="22" name="群組 21"/>
          <p:cNvGrpSpPr/>
          <p:nvPr/>
        </p:nvGrpSpPr>
        <p:grpSpPr>
          <a:xfrm>
            <a:off x="1127532" y="3357954"/>
            <a:ext cx="9673251" cy="2038283"/>
            <a:chOff x="1127532" y="3357954"/>
            <a:chExt cx="9673251" cy="2038283"/>
          </a:xfrm>
        </p:grpSpPr>
        <p:sp>
          <p:nvSpPr>
            <p:cNvPr id="4" name="文字方塊 3"/>
            <p:cNvSpPr txBox="1"/>
            <p:nvPr/>
          </p:nvSpPr>
          <p:spPr>
            <a:xfrm>
              <a:off x="1557196" y="3668049"/>
              <a:ext cx="136707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err="1" smtClean="0">
                  <a:ea typeface="標楷體" pitchFamily="65" charset="-120"/>
                  <a:cs typeface="Calibri" pitchFamily="34" charset="0"/>
                </a:rPr>
                <a:t>hsa_init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6" name="直線單箭頭接點 5"/>
            <p:cNvCxnSpPr/>
            <p:nvPr/>
          </p:nvCxnSpPr>
          <p:spPr bwMode="auto">
            <a:xfrm>
              <a:off x="3156642" y="3852715"/>
              <a:ext cx="500053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文字方塊 8"/>
            <p:cNvSpPr txBox="1"/>
            <p:nvPr/>
          </p:nvSpPr>
          <p:spPr>
            <a:xfrm>
              <a:off x="8617390" y="3534232"/>
              <a:ext cx="2183393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Increase the value reference count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221178" y="3357954"/>
              <a:ext cx="2462543" cy="3693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Reference count &gt; 0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12" name="直線單箭頭接點 11"/>
            <p:cNvCxnSpPr/>
            <p:nvPr/>
          </p:nvCxnSpPr>
          <p:spPr bwMode="auto">
            <a:xfrm>
              <a:off x="3153623" y="4069068"/>
              <a:ext cx="739367" cy="79203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文字方塊 12"/>
            <p:cNvSpPr txBox="1"/>
            <p:nvPr/>
          </p:nvSpPr>
          <p:spPr>
            <a:xfrm>
              <a:off x="1127532" y="4440287"/>
              <a:ext cx="2462543" cy="3693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Reference count = 0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4221178" y="4472907"/>
              <a:ext cx="2871457" cy="92333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Allocate resources that </a:t>
              </a:r>
              <a:r>
                <a:rPr lang="en-US" altLang="zh-TW" dirty="0" err="1" smtClean="0">
                  <a:ea typeface="標楷體" pitchFamily="65" charset="-120"/>
                  <a:cs typeface="Calibri" pitchFamily="34" charset="0"/>
                </a:rPr>
                <a:t>hsa</a:t>
              </a:r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 runtime needed and create runtime instance.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18" name="直線單箭頭接點 17"/>
            <p:cNvCxnSpPr/>
            <p:nvPr/>
          </p:nvCxnSpPr>
          <p:spPr bwMode="auto">
            <a:xfrm flipV="1">
              <a:off x="7260123" y="4180563"/>
              <a:ext cx="897049" cy="6805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xmlns="" val="3865944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Initialization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When your program is going to be end, you need to call shutdown API.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hsa_shut_down</a:t>
            </a:r>
            <a:r>
              <a:rPr lang="en-US" altLang="zh-TW" dirty="0"/>
              <a:t>();</a:t>
            </a:r>
            <a:endParaRPr lang="en-US" altLang="zh-TW" dirty="0" smtClean="0"/>
          </a:p>
          <a:p>
            <a:r>
              <a:rPr lang="en-US" altLang="zh-TW" dirty="0" err="1" smtClean="0"/>
              <a:t>hsa_shut_down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stpes</a:t>
            </a:r>
            <a:r>
              <a:rPr lang="en-US" altLang="zh-TW" dirty="0" smtClean="0"/>
              <a:t>: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109425" y="3271092"/>
            <a:ext cx="9673251" cy="1777370"/>
            <a:chOff x="1127532" y="3406894"/>
            <a:chExt cx="9673251" cy="1777370"/>
          </a:xfrm>
        </p:grpSpPr>
        <p:sp>
          <p:nvSpPr>
            <p:cNvPr id="5" name="文字方塊 4"/>
            <p:cNvSpPr txBox="1"/>
            <p:nvPr/>
          </p:nvSpPr>
          <p:spPr>
            <a:xfrm>
              <a:off x="1173178" y="3668049"/>
              <a:ext cx="1819746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err="1" smtClean="0">
                  <a:ea typeface="標楷體" pitchFamily="65" charset="-120"/>
                  <a:cs typeface="Calibri" pitchFamily="34" charset="0"/>
                </a:rPr>
                <a:t>hsa_shut_down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6" name="直線單箭頭接點 5"/>
            <p:cNvCxnSpPr/>
            <p:nvPr/>
          </p:nvCxnSpPr>
          <p:spPr bwMode="auto">
            <a:xfrm>
              <a:off x="3156642" y="3852715"/>
              <a:ext cx="500053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文字方塊 6"/>
            <p:cNvSpPr txBox="1"/>
            <p:nvPr/>
          </p:nvSpPr>
          <p:spPr>
            <a:xfrm>
              <a:off x="8617390" y="3534232"/>
              <a:ext cx="2183393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Decrease the value reference count.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4221178" y="3406894"/>
              <a:ext cx="2462543" cy="3693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Reference count &gt; 0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9" name="直線單箭頭接點 8"/>
            <p:cNvCxnSpPr/>
            <p:nvPr/>
          </p:nvCxnSpPr>
          <p:spPr bwMode="auto">
            <a:xfrm>
              <a:off x="3153623" y="4069068"/>
              <a:ext cx="739367" cy="79203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文字方塊 9"/>
            <p:cNvSpPr txBox="1"/>
            <p:nvPr/>
          </p:nvSpPr>
          <p:spPr>
            <a:xfrm>
              <a:off x="1127532" y="4440287"/>
              <a:ext cx="2462543" cy="3693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Reference count = 0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4140828" y="4537933"/>
              <a:ext cx="2871457" cy="64633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>
                  <a:ea typeface="標楷體" pitchFamily="65" charset="-120"/>
                  <a:cs typeface="Calibri" pitchFamily="34" charset="0"/>
                </a:rPr>
                <a:t>R</a:t>
              </a:r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elease resources that allocated by </a:t>
              </a:r>
              <a:r>
                <a:rPr lang="en-US" altLang="zh-TW" dirty="0" err="1" smtClean="0">
                  <a:ea typeface="標楷體" pitchFamily="65" charset="-120"/>
                  <a:cs typeface="Calibri" pitchFamily="34" charset="0"/>
                </a:rPr>
                <a:t>hsa_init</a:t>
              </a:r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 API.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12" name="直線單箭頭接點 11"/>
            <p:cNvCxnSpPr/>
            <p:nvPr/>
          </p:nvCxnSpPr>
          <p:spPr bwMode="auto">
            <a:xfrm flipV="1">
              <a:off x="7260123" y="4180563"/>
              <a:ext cx="897049" cy="68053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xmlns="" val="2107731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內容版面配置區 2"/>
          <p:cNvSpPr txBox="1">
            <a:spLocks/>
          </p:cNvSpPr>
          <p:nvPr/>
        </p:nvSpPr>
        <p:spPr bwMode="auto">
          <a:xfrm>
            <a:off x="519065" y="1297554"/>
            <a:ext cx="109728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TW" kern="0" dirty="0" smtClean="0"/>
              <a:t>Execution flow of HSA initialization API.</a:t>
            </a:r>
            <a:endParaRPr lang="zh-TW" altLang="en-US" kern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Initialization</a:t>
            </a:r>
            <a:endParaRPr lang="zh-TW" altLang="en-US" dirty="0"/>
          </a:p>
        </p:txBody>
      </p:sp>
      <p:pic>
        <p:nvPicPr>
          <p:cNvPr id="9" name="內容版面配置區 8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839187" y="2768656"/>
            <a:ext cx="3209925" cy="1733550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1059256" y="3450765"/>
            <a:ext cx="136707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hsa_init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6" name="向右箭號 5"/>
          <p:cNvSpPr/>
          <p:nvPr/>
        </p:nvSpPr>
        <p:spPr bwMode="auto">
          <a:xfrm>
            <a:off x="2806574" y="3450765"/>
            <a:ext cx="579422" cy="369332"/>
          </a:xfrm>
          <a:prstGeom prst="rightArrow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0" name="向右箭號 9"/>
          <p:cNvSpPr/>
          <p:nvPr/>
        </p:nvSpPr>
        <p:spPr bwMode="auto">
          <a:xfrm>
            <a:off x="7466089" y="3450765"/>
            <a:ext cx="579422" cy="369332"/>
          </a:xfrm>
          <a:prstGeom prst="rightArrow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535910" y="3459353"/>
            <a:ext cx="1712613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hsa_shutdown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1309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Runtime Notifications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runtime can report notifications (errors or events) </a:t>
            </a:r>
            <a:r>
              <a:rPr lang="en-US" altLang="zh-TW" b="1" dirty="0"/>
              <a:t>synchronously</a:t>
            </a:r>
            <a:r>
              <a:rPr lang="en-US" altLang="zh-TW" dirty="0"/>
              <a:t> or </a:t>
            </a:r>
            <a:r>
              <a:rPr lang="en-US" altLang="zh-TW" b="1" dirty="0"/>
              <a:t>asynchronously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runtime </a:t>
            </a:r>
            <a:r>
              <a:rPr lang="en-US" altLang="zh-TW" dirty="0" smtClean="0"/>
              <a:t>uses the </a:t>
            </a:r>
            <a:r>
              <a:rPr lang="en-US" altLang="zh-TW" dirty="0"/>
              <a:t>return value of functions in the HSA API to pass synchronous notifications to the application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/>
              <a:t>The runtime passes asynchronous notifications in a different fashion. 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When </a:t>
            </a:r>
            <a:r>
              <a:rPr lang="en-US" altLang="zh-TW" dirty="0"/>
              <a:t>the runtime detects an </a:t>
            </a:r>
            <a:r>
              <a:rPr lang="en-US" altLang="zh-TW" dirty="0" smtClean="0"/>
              <a:t>asynchronous event</a:t>
            </a:r>
            <a:r>
              <a:rPr lang="en-US" altLang="zh-TW" dirty="0"/>
              <a:t>, it invokes an application-defined callback.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endParaRPr lang="en-US" altLang="zh-TW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9441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Runtime Notifications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 runtime defines a status code as an enumeration, </a:t>
            </a:r>
            <a:r>
              <a:rPr lang="en-US" altLang="zh-TW" b="1" dirty="0" err="1"/>
              <a:t>hsa_status_t</a:t>
            </a:r>
            <a:r>
              <a:rPr lang="en-US" altLang="zh-TW" dirty="0"/>
              <a:t>, to capture the return </a:t>
            </a:r>
            <a:r>
              <a:rPr lang="en-US" altLang="zh-TW" dirty="0" smtClean="0"/>
              <a:t>status </a:t>
            </a:r>
            <a:r>
              <a:rPr lang="en-US" altLang="zh-TW" dirty="0"/>
              <a:t>of </a:t>
            </a:r>
            <a:r>
              <a:rPr lang="en-US" altLang="zh-TW" dirty="0" smtClean="0"/>
              <a:t>HSA </a:t>
            </a:r>
            <a:r>
              <a:rPr lang="en-US" altLang="zh-TW" dirty="0"/>
              <a:t>runtime </a:t>
            </a:r>
            <a:r>
              <a:rPr lang="en-US" altLang="zh-TW" dirty="0" smtClean="0"/>
              <a:t>API. </a:t>
            </a:r>
          </a:p>
          <a:p>
            <a:pPr lvl="1"/>
            <a:r>
              <a:rPr lang="en-US" altLang="zh-TW" dirty="0" smtClean="0"/>
              <a:t>Except for </a:t>
            </a:r>
            <a:r>
              <a:rPr lang="en-US" altLang="zh-TW" dirty="0" err="1"/>
              <a:t>accessors</a:t>
            </a:r>
            <a:r>
              <a:rPr lang="en-US" altLang="zh-TW" dirty="0"/>
              <a:t> and </a:t>
            </a:r>
            <a:r>
              <a:rPr lang="en-US" altLang="zh-TW" dirty="0" err="1" smtClean="0"/>
              <a:t>mutators</a:t>
            </a:r>
            <a:r>
              <a:rPr lang="en-US" altLang="zh-TW" dirty="0" smtClean="0"/>
              <a:t> APIs.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/>
              <a:t>success status is represented by HSA_STATUS_SUCCESS, which is equivalent to zero.  </a:t>
            </a:r>
          </a:p>
          <a:p>
            <a:pPr lvl="1"/>
            <a:r>
              <a:rPr lang="en-US" altLang="zh-TW" dirty="0"/>
              <a:t>An error status is assigned a positive integer.</a:t>
            </a:r>
            <a:endParaRPr lang="zh-TW" altLang="en-US" dirty="0"/>
          </a:p>
          <a:p>
            <a:endParaRPr lang="en-US" altLang="zh-TW" dirty="0" smtClean="0"/>
          </a:p>
          <a:p>
            <a:r>
              <a:rPr lang="en-US" altLang="zh-TW" dirty="0" smtClean="0"/>
              <a:t>Besides </a:t>
            </a:r>
            <a:r>
              <a:rPr lang="en-US" altLang="zh-TW" dirty="0"/>
              <a:t>status </a:t>
            </a:r>
            <a:r>
              <a:rPr lang="en-US" altLang="zh-TW" dirty="0" err="1"/>
              <a:t>emuneration</a:t>
            </a:r>
            <a:r>
              <a:rPr lang="en-US" altLang="zh-TW" dirty="0"/>
              <a:t>, there is another API </a:t>
            </a:r>
            <a:r>
              <a:rPr lang="en-US" altLang="zh-TW" b="1" dirty="0" err="1"/>
              <a:t>hsa_status_string</a:t>
            </a:r>
            <a:r>
              <a:rPr lang="en-US" altLang="zh-TW" b="1" dirty="0"/>
              <a:t> </a:t>
            </a:r>
            <a:r>
              <a:rPr lang="en-US" altLang="zh-TW" dirty="0"/>
              <a:t>for applications to query additional information of status code.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2147571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Runtime Notifications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asynchronous notifications may occur in many fashions.</a:t>
            </a:r>
            <a:r>
              <a:rPr lang="en-US" altLang="zh-TW" b="1" dirty="0"/>
              <a:t> </a:t>
            </a:r>
          </a:p>
          <a:p>
            <a:pPr lvl="1"/>
            <a:r>
              <a:rPr lang="en-US" altLang="zh-TW" dirty="0"/>
              <a:t>For example, queues are a common source of asynchronous </a:t>
            </a:r>
            <a:r>
              <a:rPr lang="en-US" altLang="zh-TW" dirty="0" smtClean="0"/>
              <a:t>events.</a:t>
            </a:r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/>
              <a:t>When </a:t>
            </a:r>
            <a:r>
              <a:rPr lang="en-US" altLang="zh-TW" dirty="0"/>
              <a:t>the runtime detects an error in a queue, it invokes </a:t>
            </a:r>
            <a:r>
              <a:rPr lang="en-US" altLang="zh-TW" dirty="0" smtClean="0"/>
              <a:t>the callback </a:t>
            </a:r>
            <a:r>
              <a:rPr lang="en-US" altLang="zh-TW" dirty="0"/>
              <a:t>associated with that queue and passes it a status code (indicating what happened) and a </a:t>
            </a:r>
            <a:r>
              <a:rPr lang="en-US" altLang="zh-TW" dirty="0" smtClean="0"/>
              <a:t>pointer to </a:t>
            </a:r>
            <a:r>
              <a:rPr lang="en-US" altLang="zh-TW" dirty="0"/>
              <a:t>the erroneous queue.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callback functions must be thread-safe, callbacks that don’t return will cause the runtime into undefined state.  </a:t>
            </a:r>
            <a:endParaRPr lang="en-US" altLang="zh-TW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47605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Runtime Notifications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Synchronous notifications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Asynchronous notifications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601330" y="1899481"/>
            <a:ext cx="9495011" cy="657659"/>
            <a:chOff x="1302567" y="3411409"/>
            <a:chExt cx="9495011" cy="657659"/>
          </a:xfrm>
        </p:grpSpPr>
        <p:sp>
          <p:nvSpPr>
            <p:cNvPr id="5" name="文字方塊 4"/>
            <p:cNvSpPr txBox="1"/>
            <p:nvPr/>
          </p:nvSpPr>
          <p:spPr>
            <a:xfrm>
              <a:off x="1302567" y="3668049"/>
              <a:ext cx="1619814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Synchronous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6" name="直線單箭頭接點 5"/>
            <p:cNvCxnSpPr/>
            <p:nvPr/>
          </p:nvCxnSpPr>
          <p:spPr bwMode="auto">
            <a:xfrm>
              <a:off x="2995942" y="3859956"/>
              <a:ext cx="2119266" cy="72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文字方塊 6"/>
            <p:cNvSpPr txBox="1"/>
            <p:nvPr/>
          </p:nvSpPr>
          <p:spPr>
            <a:xfrm>
              <a:off x="8614185" y="3699736"/>
              <a:ext cx="2183393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status string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854105" y="3411409"/>
              <a:ext cx="2462543" cy="3693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Pass status code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203854" y="3668049"/>
              <a:ext cx="2056270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 anchor="ctr" anchorCtr="1">
              <a:spAutoFit/>
            </a:bodyPr>
            <a:lstStyle/>
            <a:p>
              <a:r>
                <a:rPr lang="en-US" altLang="zh-TW" dirty="0" err="1" smtClean="0">
                  <a:ea typeface="標楷體" pitchFamily="65" charset="-120"/>
                  <a:cs typeface="Calibri" pitchFamily="34" charset="0"/>
                </a:rPr>
                <a:t>hsa_status_string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  <p:cxnSp>
          <p:nvCxnSpPr>
            <p:cNvPr id="10" name="直線單箭頭接點 9"/>
            <p:cNvCxnSpPr/>
            <p:nvPr/>
          </p:nvCxnSpPr>
          <p:spPr bwMode="auto">
            <a:xfrm>
              <a:off x="7333683" y="3852715"/>
              <a:ext cx="1190908" cy="724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2" name="群組 21"/>
          <p:cNvGrpSpPr/>
          <p:nvPr/>
        </p:nvGrpSpPr>
        <p:grpSpPr>
          <a:xfrm>
            <a:off x="1488158" y="4228616"/>
            <a:ext cx="9747193" cy="1362075"/>
            <a:chOff x="1479104" y="3784996"/>
            <a:chExt cx="9747193" cy="1362075"/>
          </a:xfrm>
        </p:grpSpPr>
        <p:grpSp>
          <p:nvGrpSpPr>
            <p:cNvPr id="11" name="群組 10"/>
            <p:cNvGrpSpPr/>
            <p:nvPr/>
          </p:nvGrpSpPr>
          <p:grpSpPr>
            <a:xfrm>
              <a:off x="1479104" y="3840133"/>
              <a:ext cx="9747193" cy="867857"/>
              <a:chOff x="1180341" y="3182932"/>
              <a:chExt cx="9747193" cy="867857"/>
            </a:xfrm>
          </p:grpSpPr>
          <p:sp>
            <p:nvSpPr>
              <p:cNvPr id="12" name="文字方塊 11"/>
              <p:cNvSpPr txBox="1"/>
              <p:nvPr/>
            </p:nvSpPr>
            <p:spPr>
              <a:xfrm>
                <a:off x="1180341" y="3656972"/>
                <a:ext cx="1742040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zh-TW" dirty="0" smtClean="0">
                    <a:ea typeface="標楷體" pitchFamily="65" charset="-120"/>
                    <a:cs typeface="Calibri" pitchFamily="34" charset="0"/>
                  </a:rPr>
                  <a:t>Asynchronous</a:t>
                </a:r>
                <a:endParaRPr lang="zh-TW" altLang="en-US" dirty="0" smtClean="0">
                  <a:ea typeface="標楷體" pitchFamily="65" charset="-120"/>
                  <a:cs typeface="Calibri" pitchFamily="34" charset="0"/>
                </a:endParaRPr>
              </a:p>
            </p:txBody>
          </p:sp>
          <p:cxnSp>
            <p:nvCxnSpPr>
              <p:cNvPr id="13" name="直線單箭頭接點 12"/>
              <p:cNvCxnSpPr/>
              <p:nvPr/>
            </p:nvCxnSpPr>
            <p:spPr bwMode="auto">
              <a:xfrm>
                <a:off x="2995942" y="3859956"/>
                <a:ext cx="2119266" cy="7241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14" name="文字方塊 13"/>
              <p:cNvSpPr txBox="1"/>
              <p:nvPr/>
            </p:nvSpPr>
            <p:spPr>
              <a:xfrm>
                <a:off x="8614185" y="3681457"/>
                <a:ext cx="2313349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altLang="zh-TW" dirty="0" smtClean="0">
                    <a:ea typeface="標楷體" pitchFamily="65" charset="-120"/>
                    <a:cs typeface="Calibri" pitchFamily="34" charset="0"/>
                  </a:rPr>
                  <a:t>Asynchronous point</a:t>
                </a:r>
                <a:endParaRPr lang="zh-TW" altLang="en-US" dirty="0" smtClean="0">
                  <a:ea typeface="標楷體" pitchFamily="65" charset="-120"/>
                  <a:cs typeface="Calibri" pitchFamily="34" charset="0"/>
                </a:endParaRP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3011026" y="3182932"/>
                <a:ext cx="2023259" cy="646331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pPr algn="ctr"/>
                <a:r>
                  <a:rPr lang="en-US" altLang="zh-TW" dirty="0" smtClean="0">
                    <a:ea typeface="標楷體" pitchFamily="65" charset="-120"/>
                    <a:cs typeface="Calibri" pitchFamily="34" charset="0"/>
                  </a:rPr>
                  <a:t>Jump to callback function</a:t>
                </a:r>
                <a:endParaRPr lang="zh-TW" altLang="en-US" dirty="0" smtClean="0">
                  <a:ea typeface="標楷體" pitchFamily="65" charset="-120"/>
                  <a:cs typeface="Calibri" pitchFamily="34" charset="0"/>
                </a:endParaRPr>
              </a:p>
            </p:txBody>
          </p:sp>
          <p:cxnSp>
            <p:nvCxnSpPr>
              <p:cNvPr id="17" name="直線單箭頭接點 16"/>
              <p:cNvCxnSpPr/>
              <p:nvPr/>
            </p:nvCxnSpPr>
            <p:spPr bwMode="auto">
              <a:xfrm>
                <a:off x="7442324" y="3841637"/>
                <a:ext cx="1082267" cy="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pic>
          <p:nvPicPr>
            <p:cNvPr id="20" name="圖片 19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2643" y="3784996"/>
              <a:ext cx="2228850" cy="1362075"/>
            </a:xfrm>
            <a:prstGeom prst="rect">
              <a:avLst/>
            </a:prstGeom>
          </p:spPr>
        </p:pic>
      </p:grpSp>
      <p:sp>
        <p:nvSpPr>
          <p:cNvPr id="23" name="文字方塊 22"/>
          <p:cNvSpPr txBox="1"/>
          <p:nvPr/>
        </p:nvSpPr>
        <p:spPr>
          <a:xfrm>
            <a:off x="7647533" y="1899481"/>
            <a:ext cx="1084529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Output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789136" y="4410359"/>
            <a:ext cx="1004276" cy="369332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Return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047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System and Agent </a:t>
            </a:r>
            <a:r>
              <a:rPr lang="en-US" altLang="zh-TW" dirty="0"/>
              <a:t>Information</a:t>
            </a:r>
            <a:endParaRPr lang="zh-TW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HSA runtime define a routine for applications to query information of system and agents.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To query </a:t>
            </a:r>
            <a:r>
              <a:rPr lang="en-US" altLang="zh-TW" dirty="0" err="1" smtClean="0"/>
              <a:t>informations</a:t>
            </a:r>
            <a:r>
              <a:rPr lang="en-US" altLang="zh-TW" dirty="0" smtClean="0"/>
              <a:t>, HSA runtime defines some enumerations to record the  attributes of system and agents.</a:t>
            </a:r>
          </a:p>
          <a:p>
            <a:pPr lvl="1"/>
            <a:r>
              <a:rPr lang="en-US" altLang="zh-TW" dirty="0" smtClean="0"/>
              <a:t>For system : endianness (</a:t>
            </a:r>
            <a:r>
              <a:rPr lang="en-US" altLang="zh-TW" b="1" dirty="0" err="1" smtClean="0"/>
              <a:t>hsa_endianness_t</a:t>
            </a:r>
            <a:r>
              <a:rPr lang="en-US" altLang="zh-TW" b="1" dirty="0" smtClean="0"/>
              <a:t>)</a:t>
            </a:r>
            <a:r>
              <a:rPr lang="en-US" altLang="zh-TW" dirty="0" smtClean="0"/>
              <a:t>, machine model (</a:t>
            </a:r>
            <a:r>
              <a:rPr lang="en-US" altLang="zh-TW" b="1" dirty="0" err="1" smtClean="0"/>
              <a:t>hsa_endianness_t</a:t>
            </a:r>
            <a:r>
              <a:rPr lang="en-US" altLang="zh-TW" b="1" dirty="0" smtClean="0"/>
              <a:t>) </a:t>
            </a:r>
            <a:r>
              <a:rPr lang="en-US" altLang="zh-TW" dirty="0" smtClean="0"/>
              <a:t>, profile (</a:t>
            </a:r>
            <a:r>
              <a:rPr lang="en-US" altLang="zh-TW" b="1" dirty="0" err="1"/>
              <a:t>hsa_profile_t</a:t>
            </a:r>
            <a:r>
              <a:rPr lang="en-US" altLang="zh-TW" dirty="0" smtClean="0"/>
              <a:t>)…etc. </a:t>
            </a:r>
          </a:p>
          <a:p>
            <a:pPr lvl="1"/>
            <a:r>
              <a:rPr lang="en-US" altLang="zh-TW" dirty="0" smtClean="0"/>
              <a:t>For agent : </a:t>
            </a:r>
            <a:r>
              <a:rPr lang="en-US" altLang="zh-TW" dirty="0" err="1" smtClean="0"/>
              <a:t>agent_feature</a:t>
            </a:r>
            <a:r>
              <a:rPr lang="en-US" altLang="zh-TW" dirty="0" smtClean="0"/>
              <a:t> (</a:t>
            </a:r>
            <a:r>
              <a:rPr lang="en-US" altLang="zh-TW" b="1" dirty="0" err="1"/>
              <a:t>hsa_agent_feature_t</a:t>
            </a:r>
            <a:r>
              <a:rPr lang="en-US" altLang="zh-TW" dirty="0" smtClean="0"/>
              <a:t>), device type (</a:t>
            </a:r>
            <a:r>
              <a:rPr lang="en-US" altLang="zh-TW" dirty="0" err="1" smtClean="0"/>
              <a:t>hsa_device_type_t</a:t>
            </a:r>
            <a:r>
              <a:rPr lang="en-US" altLang="zh-TW" dirty="0" smtClean="0"/>
              <a:t>)…</a:t>
            </a:r>
            <a:r>
              <a:rPr lang="en-US" altLang="zh-TW" dirty="0" err="1" smtClean="0"/>
              <a:t>etc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12733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and Agent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order for an application knows the implementation of a given HSA </a:t>
            </a:r>
            <a:r>
              <a:rPr lang="en-US" altLang="zh-TW" dirty="0" smtClean="0"/>
              <a:t>system,</a:t>
            </a:r>
            <a:r>
              <a:rPr lang="en-US" altLang="zh-TW" dirty="0"/>
              <a:t> </a:t>
            </a:r>
            <a:r>
              <a:rPr lang="en-US" altLang="zh-TW" dirty="0" smtClean="0"/>
              <a:t>HSA </a:t>
            </a:r>
            <a:r>
              <a:rPr lang="en-US" altLang="zh-TW" dirty="0"/>
              <a:t>runtime also defines </a:t>
            </a:r>
            <a:r>
              <a:rPr lang="en-US" altLang="zh-TW" dirty="0" smtClean="0"/>
              <a:t>API for </a:t>
            </a:r>
            <a:r>
              <a:rPr lang="en-US" altLang="zh-TW" dirty="0"/>
              <a:t>an application to get a value of a specified system attribute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 smtClean="0"/>
              <a:t>hsa_system_get_info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For extensions, HSA provides two APIs for applications to query.</a:t>
            </a:r>
            <a:endParaRPr lang="en-US" altLang="zh-TW" dirty="0"/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 smtClean="0"/>
              <a:t>hsa_system_extension_supported</a:t>
            </a:r>
            <a:endParaRPr lang="en-US" altLang="zh-TW" b="1" dirty="0" smtClean="0"/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hsa_system_get_extension_table</a:t>
            </a:r>
            <a:endParaRPr lang="zh-TW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646559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and Agent Information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order for an application knows the implementation of a given HSA </a:t>
            </a:r>
            <a:r>
              <a:rPr lang="en-US" altLang="zh-TW" dirty="0" smtClean="0"/>
              <a:t>agent, </a:t>
            </a:r>
            <a:r>
              <a:rPr lang="en-US" altLang="zh-TW" dirty="0"/>
              <a:t>HSA runtime defines an opaque handle </a:t>
            </a:r>
            <a:r>
              <a:rPr lang="en-US" altLang="zh-TW" dirty="0" smtClean="0"/>
              <a:t>to </a:t>
            </a:r>
            <a:r>
              <a:rPr lang="en-US" altLang="zh-TW" dirty="0"/>
              <a:t>represent an HSA agent and an </a:t>
            </a:r>
            <a:r>
              <a:rPr lang="en-US" altLang="zh-TW" dirty="0" smtClean="0"/>
              <a:t>enumerator.</a:t>
            </a:r>
          </a:p>
          <a:p>
            <a:pPr lvl="1"/>
            <a:r>
              <a:rPr lang="en-US" altLang="zh-TW" b="1" dirty="0" err="1"/>
              <a:t>hsa_agent_t</a:t>
            </a:r>
            <a:endParaRPr lang="en-US" altLang="zh-TW" dirty="0" smtClean="0"/>
          </a:p>
          <a:p>
            <a:r>
              <a:rPr lang="en-US" altLang="zh-TW" dirty="0"/>
              <a:t>The HSA runtime also defines a </a:t>
            </a:r>
            <a:r>
              <a:rPr lang="en-US" altLang="zh-TW" dirty="0" smtClean="0"/>
              <a:t>API to </a:t>
            </a:r>
            <a:r>
              <a:rPr lang="en-US" altLang="zh-TW" dirty="0"/>
              <a:t>traverse the list of HSA agents that are available in the </a:t>
            </a:r>
            <a:r>
              <a:rPr lang="en-US" altLang="zh-TW" dirty="0" smtClean="0"/>
              <a:t>system.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 smtClean="0"/>
              <a:t>hsa_iterate_agents</a:t>
            </a:r>
            <a:endParaRPr lang="en-US" altLang="zh-TW" dirty="0" smtClean="0"/>
          </a:p>
          <a:p>
            <a:r>
              <a:rPr lang="en-US" altLang="zh-TW" dirty="0" smtClean="0"/>
              <a:t>To get capacity of device, and other </a:t>
            </a:r>
            <a:r>
              <a:rPr lang="en-US" altLang="zh-TW" dirty="0" err="1" smtClean="0"/>
              <a:t>informations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 smtClean="0"/>
              <a:t>hsa_agent_get_info</a:t>
            </a:r>
            <a:endParaRPr lang="en-US" altLang="zh-TW" b="1" dirty="0" smtClean="0"/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 smtClean="0"/>
              <a:t>hsa_agent_extension_supported</a:t>
            </a:r>
            <a:endParaRPr lang="en-US" altLang="zh-TW" b="1" dirty="0" smtClean="0"/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hsa_agent_get_exception_policies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44693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HSA signal is one way that HSA agents communicate to each other.</a:t>
            </a:r>
          </a:p>
          <a:p>
            <a:pPr lvl="1"/>
            <a:r>
              <a:rPr lang="en-US" altLang="zh-TW" dirty="0" smtClean="0"/>
              <a:t>The other is </a:t>
            </a:r>
            <a:r>
              <a:rPr lang="en-US" altLang="zh-TW" dirty="0"/>
              <a:t>coherent shared </a:t>
            </a:r>
            <a:r>
              <a:rPr lang="en-US" altLang="zh-TW" dirty="0" smtClean="0"/>
              <a:t>memory.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smtClean="0"/>
              <a:t>advantage of </a:t>
            </a:r>
            <a:r>
              <a:rPr lang="en-US" altLang="zh-TW" dirty="0"/>
              <a:t>signals over shared memory is that </a:t>
            </a:r>
            <a:r>
              <a:rPr lang="en-US" altLang="zh-TW" dirty="0" smtClean="0"/>
              <a:t>signal performs </a:t>
            </a:r>
            <a:r>
              <a:rPr lang="en-US" altLang="zh-TW" dirty="0"/>
              <a:t>better in </a:t>
            </a:r>
            <a:r>
              <a:rPr lang="en-US" altLang="zh-TW" dirty="0" smtClean="0"/>
              <a:t>power </a:t>
            </a:r>
            <a:r>
              <a:rPr lang="en-US" altLang="zh-TW" dirty="0"/>
              <a:t>or speed.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The HSA signal can only be manipulated by the HSA runtime or HSAIL instructions.</a:t>
            </a:r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2373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HSA runtime provides the following operations for signals.</a:t>
            </a:r>
          </a:p>
          <a:p>
            <a:pPr lvl="1"/>
            <a:r>
              <a:rPr lang="en-US" altLang="zh-TW" dirty="0"/>
              <a:t>Allocate an HSA signal</a:t>
            </a:r>
            <a:endParaRPr lang="zh-TW" altLang="zh-TW" dirty="0"/>
          </a:p>
          <a:p>
            <a:pPr lvl="1"/>
            <a:r>
              <a:rPr lang="en-US" altLang="zh-TW" dirty="0"/>
              <a:t>Destroy an HSA signal</a:t>
            </a:r>
            <a:endParaRPr lang="zh-TW" altLang="zh-TW" dirty="0"/>
          </a:p>
          <a:p>
            <a:pPr lvl="1"/>
            <a:r>
              <a:rPr lang="en-US" altLang="zh-TW" dirty="0"/>
              <a:t>Read the current HSA signal value</a:t>
            </a:r>
            <a:endParaRPr lang="zh-TW" altLang="zh-TW" dirty="0"/>
          </a:p>
          <a:p>
            <a:pPr lvl="1"/>
            <a:r>
              <a:rPr lang="en-US" altLang="zh-TW" dirty="0"/>
              <a:t>Send an HSA signal value</a:t>
            </a:r>
            <a:endParaRPr lang="zh-TW" altLang="zh-TW" dirty="0"/>
          </a:p>
          <a:p>
            <a:pPr lvl="1"/>
            <a:r>
              <a:rPr lang="en-US" altLang="zh-TW" dirty="0"/>
              <a:t>Atomic read-modify-write an HSA signal value</a:t>
            </a:r>
            <a:endParaRPr lang="zh-TW" altLang="zh-TW" dirty="0"/>
          </a:p>
          <a:p>
            <a:pPr lvl="1"/>
            <a:r>
              <a:rPr lang="en-US" altLang="zh-TW" dirty="0"/>
              <a:t>Wait on an HSA signal to meet a specified condition</a:t>
            </a:r>
            <a:endParaRPr lang="zh-TW" altLang="zh-TW" dirty="0"/>
          </a:p>
          <a:p>
            <a:pPr lvl="1"/>
            <a:r>
              <a:rPr lang="en-US" altLang="zh-TW" dirty="0"/>
              <a:t>Wait on an HSA signal to meet a specified condition, with a maximum wait duration requested</a:t>
            </a:r>
            <a:endParaRPr lang="zh-TW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85642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Signal </a:t>
            </a:r>
            <a:r>
              <a:rPr lang="en-US" altLang="zh-TW" dirty="0" smtClean="0"/>
              <a:t>handle, used by applications.</a:t>
            </a:r>
          </a:p>
          <a:p>
            <a:pPr lvl="1"/>
            <a:r>
              <a:rPr lang="en-US" altLang="zh-TW" b="1" dirty="0" err="1"/>
              <a:t>hsa_signal_t</a:t>
            </a:r>
            <a:endParaRPr lang="en-US" altLang="zh-TW" dirty="0"/>
          </a:p>
          <a:p>
            <a:r>
              <a:rPr lang="en-US" altLang="zh-TW" dirty="0"/>
              <a:t>Signal </a:t>
            </a:r>
            <a:r>
              <a:rPr lang="en-US" altLang="zh-TW" dirty="0" smtClean="0"/>
              <a:t>value, used inside HSA runtime.</a:t>
            </a:r>
          </a:p>
          <a:p>
            <a:pPr lvl="1"/>
            <a:r>
              <a:rPr lang="en-US" altLang="zh-TW" b="1" dirty="0" err="1" smtClean="0"/>
              <a:t>hsa_signal_value_t</a:t>
            </a:r>
            <a:endParaRPr lang="en-US" altLang="zh-TW" b="1" dirty="0" smtClean="0"/>
          </a:p>
          <a:p>
            <a:pPr lvl="1"/>
            <a:r>
              <a:rPr lang="en-US" altLang="zh-TW" dirty="0" smtClean="0"/>
              <a:t>It can be 32 bits or 64 bits, depends on your machine mode.</a:t>
            </a:r>
          </a:p>
          <a:p>
            <a:pPr lvl="8"/>
            <a:endParaRPr lang="en-US" altLang="zh-TW" dirty="0"/>
          </a:p>
          <a:p>
            <a:pPr lvl="8"/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848764" y="4744944"/>
            <a:ext cx="1910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hsa_signal_t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6" name="直線單箭頭接點 5"/>
          <p:cNvCxnSpPr/>
          <p:nvPr/>
        </p:nvCxnSpPr>
        <p:spPr bwMode="auto">
          <a:xfrm flipV="1">
            <a:off x="2879002" y="4929609"/>
            <a:ext cx="633742" cy="1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2" name="群組 11"/>
          <p:cNvGrpSpPr/>
          <p:nvPr/>
        </p:nvGrpSpPr>
        <p:grpSpPr>
          <a:xfrm>
            <a:off x="3664389" y="4150035"/>
            <a:ext cx="3105339" cy="1548142"/>
            <a:chOff x="3761712" y="3865828"/>
            <a:chExt cx="3105339" cy="1548142"/>
          </a:xfrm>
        </p:grpSpPr>
        <p:sp>
          <p:nvSpPr>
            <p:cNvPr id="7" name="雲朵形 6"/>
            <p:cNvSpPr/>
            <p:nvPr/>
          </p:nvSpPr>
          <p:spPr bwMode="auto">
            <a:xfrm>
              <a:off x="3761712" y="3865828"/>
              <a:ext cx="3105339" cy="1548142"/>
            </a:xfrm>
            <a:prstGeom prst="cloud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5875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4493537" y="4316733"/>
              <a:ext cx="1602463" cy="646331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pPr algn="ctr"/>
              <a:r>
                <a:rPr lang="en-US" altLang="zh-TW" dirty="0" smtClean="0">
                  <a:ea typeface="標楷體" pitchFamily="65" charset="-120"/>
                  <a:cs typeface="Calibri" pitchFamily="34" charset="0"/>
                </a:rPr>
                <a:t>HSA runtime signal API</a:t>
              </a:r>
              <a:endParaRPr lang="zh-TW" altLang="en-US" dirty="0" smtClean="0">
                <a:ea typeface="標楷體" pitchFamily="65" charset="-120"/>
                <a:cs typeface="Calibri" pitchFamily="34" charset="0"/>
              </a:endParaRPr>
            </a:p>
          </p:txBody>
        </p:sp>
      </p:grpSp>
      <p:sp>
        <p:nvSpPr>
          <p:cNvPr id="9" name="文字方塊 8"/>
          <p:cNvSpPr txBox="1"/>
          <p:nvPr/>
        </p:nvSpPr>
        <p:spPr>
          <a:xfrm>
            <a:off x="8597775" y="4734864"/>
            <a:ext cx="230863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 anchor="ctr" anchorCtr="1">
            <a:spAutoFit/>
          </a:bodyPr>
          <a:lstStyle/>
          <a:p>
            <a:r>
              <a:rPr lang="en-US" altLang="zh-TW" dirty="0" err="1" smtClean="0">
                <a:ea typeface="標楷體" pitchFamily="65" charset="-120"/>
                <a:cs typeface="Calibri" pitchFamily="34" charset="0"/>
              </a:rPr>
              <a:t>hsa_signal_value_t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  <p:cxnSp>
        <p:nvCxnSpPr>
          <p:cNvPr id="10" name="直線單箭頭接點 9"/>
          <p:cNvCxnSpPr/>
          <p:nvPr/>
        </p:nvCxnSpPr>
        <p:spPr bwMode="auto">
          <a:xfrm>
            <a:off x="6966639" y="4924105"/>
            <a:ext cx="1530036" cy="0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文字方塊 13"/>
          <p:cNvSpPr txBox="1"/>
          <p:nvPr/>
        </p:nvSpPr>
        <p:spPr>
          <a:xfrm>
            <a:off x="6784822" y="3816110"/>
            <a:ext cx="1616046" cy="923330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lang="en-US" altLang="zh-TW" dirty="0" smtClean="0">
                <a:ea typeface="標楷體" pitchFamily="65" charset="-120"/>
                <a:cs typeface="Calibri" pitchFamily="34" charset="0"/>
              </a:rPr>
              <a:t>Find the mapping signal value</a:t>
            </a:r>
            <a:endParaRPr lang="zh-TW" altLang="en-US" dirty="0" smtClean="0">
              <a:ea typeface="標楷體" pitchFamily="65" charset="-12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206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 runtime provide two APIs to create an HSA signal and  to destroy an HSA signal.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hsa_signal_create</a:t>
            </a:r>
            <a:endParaRPr lang="en-US" altLang="zh-TW" b="1" dirty="0"/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hsa_signal_destroy</a:t>
            </a:r>
            <a:endParaRPr lang="zh-TW" altLang="en-US" dirty="0"/>
          </a:p>
          <a:p>
            <a:r>
              <a:rPr lang="en-US" altLang="zh-TW" dirty="0"/>
              <a:t>Since 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hsa_signal_value_t</a:t>
            </a:r>
            <a:r>
              <a:rPr lang="en-US" altLang="zh-TW" dirty="0" smtClean="0"/>
              <a:t> </a:t>
            </a:r>
            <a:r>
              <a:rPr lang="en-US" altLang="zh-TW" dirty="0"/>
              <a:t>may be operated simultaneously, each read or write signal operation must support </a:t>
            </a:r>
            <a:r>
              <a:rPr lang="en-US" altLang="zh-TW" dirty="0" smtClean="0"/>
              <a:t>the memory semantics.</a:t>
            </a:r>
          </a:p>
          <a:p>
            <a:pPr lvl="1"/>
            <a:r>
              <a:rPr lang="en-US" altLang="zh-TW" dirty="0" smtClean="0"/>
              <a:t>relaxed</a:t>
            </a:r>
          </a:p>
          <a:p>
            <a:pPr lvl="1"/>
            <a:r>
              <a:rPr lang="en-US" altLang="zh-TW" dirty="0" smtClean="0"/>
              <a:t>release</a:t>
            </a:r>
          </a:p>
          <a:p>
            <a:pPr lvl="1"/>
            <a:r>
              <a:rPr lang="en-US" altLang="zh-TW" dirty="0" smtClean="0"/>
              <a:t>acquire</a:t>
            </a:r>
          </a:p>
          <a:p>
            <a:pPr lvl="1"/>
            <a:r>
              <a:rPr lang="en-US" altLang="zh-TW" dirty="0" smtClean="0"/>
              <a:t>acquire-release</a:t>
            </a:r>
          </a:p>
          <a:p>
            <a:endParaRPr lang="en-US" altLang="zh-TW" dirty="0" smtClean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1245484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 runtime defines two APIs to read the current HSA signal value.</a:t>
            </a:r>
          </a:p>
          <a:p>
            <a:pPr lvl="1"/>
            <a:r>
              <a:rPr lang="en-US" altLang="zh-TW" dirty="0" err="1"/>
              <a:t>hsa_signal_value_t</a:t>
            </a:r>
            <a:r>
              <a:rPr lang="en-US" altLang="zh-TW" dirty="0"/>
              <a:t> </a:t>
            </a:r>
            <a:r>
              <a:rPr lang="en-US" altLang="zh-TW" b="1" dirty="0" err="1"/>
              <a:t>hsa_signal_load_acquire</a:t>
            </a:r>
            <a:r>
              <a:rPr lang="en-US" altLang="zh-TW" b="1" dirty="0"/>
              <a:t> </a:t>
            </a:r>
          </a:p>
          <a:p>
            <a:pPr lvl="1"/>
            <a:r>
              <a:rPr lang="en-US" altLang="zh-TW" dirty="0" err="1"/>
              <a:t>hsa_signal_value_t</a:t>
            </a:r>
            <a:r>
              <a:rPr lang="en-US" altLang="zh-TW" dirty="0"/>
              <a:t> </a:t>
            </a:r>
            <a:r>
              <a:rPr lang="en-US" altLang="zh-TW" b="1" dirty="0" err="1"/>
              <a:t>hsa_signal_load_relaxed</a:t>
            </a:r>
            <a:endParaRPr lang="zh-TW" altLang="en-US" dirty="0"/>
          </a:p>
          <a:p>
            <a:endParaRPr lang="en-US" altLang="zh-TW" dirty="0" smtClean="0"/>
          </a:p>
          <a:p>
            <a:r>
              <a:rPr lang="en-US" altLang="zh-TW" dirty="0" smtClean="0"/>
              <a:t>For sending </a:t>
            </a:r>
            <a:r>
              <a:rPr lang="en-US" altLang="zh-TW" dirty="0"/>
              <a:t>an HSA signal value, the HSA runtime defines </a:t>
            </a:r>
            <a:r>
              <a:rPr lang="en-US" altLang="zh-TW" dirty="0" smtClean="0"/>
              <a:t>two APIs.</a:t>
            </a:r>
          </a:p>
          <a:p>
            <a:r>
              <a:rPr lang="en-US" altLang="zh-TW" dirty="0" smtClean="0"/>
              <a:t>Updating </a:t>
            </a:r>
            <a:r>
              <a:rPr lang="en-US" altLang="zh-TW" dirty="0"/>
              <a:t>the value of a signal is equivalent to sending the signal value.</a:t>
            </a:r>
            <a:endParaRPr lang="en-US" altLang="zh-TW" dirty="0" smtClean="0"/>
          </a:p>
          <a:p>
            <a:pPr lvl="1"/>
            <a:r>
              <a:rPr lang="en-US" altLang="zh-TW" dirty="0"/>
              <a:t>void </a:t>
            </a:r>
            <a:r>
              <a:rPr lang="en-US" altLang="zh-TW" b="1" dirty="0" err="1" smtClean="0"/>
              <a:t>hsa_signal_store_relaxed</a:t>
            </a:r>
            <a:endParaRPr lang="en-US" altLang="zh-TW" dirty="0"/>
          </a:p>
          <a:p>
            <a:pPr lvl="1"/>
            <a:r>
              <a:rPr lang="en-US" altLang="zh-TW" dirty="0"/>
              <a:t>void </a:t>
            </a:r>
            <a:r>
              <a:rPr lang="en-US" altLang="zh-TW" b="1" dirty="0" err="1"/>
              <a:t>hsa_signal_store_release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4262761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Signal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signal atomic read-modified-write operations include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AND</a:t>
            </a:r>
          </a:p>
          <a:p>
            <a:pPr lvl="1"/>
            <a:r>
              <a:rPr lang="en-US" altLang="zh-TW" dirty="0" smtClean="0"/>
              <a:t>OR </a:t>
            </a:r>
          </a:p>
          <a:p>
            <a:pPr lvl="1"/>
            <a:r>
              <a:rPr lang="en-US" altLang="zh-TW" dirty="0" smtClean="0"/>
              <a:t>XOR </a:t>
            </a:r>
          </a:p>
          <a:p>
            <a:pPr lvl="1"/>
            <a:r>
              <a:rPr lang="en-US" altLang="zh-TW" dirty="0" smtClean="0"/>
              <a:t>Add </a:t>
            </a:r>
          </a:p>
          <a:p>
            <a:pPr lvl="1"/>
            <a:r>
              <a:rPr lang="en-US" altLang="zh-TW" dirty="0" smtClean="0"/>
              <a:t>Subtract </a:t>
            </a:r>
          </a:p>
          <a:p>
            <a:pPr lvl="1"/>
            <a:r>
              <a:rPr lang="en-US" altLang="zh-TW" dirty="0" smtClean="0"/>
              <a:t>Exchange</a:t>
            </a:r>
          </a:p>
          <a:p>
            <a:pPr lvl="1"/>
            <a:r>
              <a:rPr lang="en-US" altLang="zh-TW" dirty="0" smtClean="0"/>
              <a:t>Compare And Swap  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HSA runtime defines routines for the combinations of signal atomic read-modified-write update operations and memory orders.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62278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Signal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application may wait on a signal, with a condition specifying the terms of the wait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HSA runtime provide a API to wait specific signal value.</a:t>
            </a:r>
            <a:endParaRPr lang="en-US" altLang="zh-TW" dirty="0"/>
          </a:p>
          <a:p>
            <a:pPr lvl="1"/>
            <a:r>
              <a:rPr lang="en-US" altLang="zh-TW" dirty="0" err="1"/>
              <a:t>hsa_signal_value_t</a:t>
            </a:r>
            <a:r>
              <a:rPr lang="en-US" altLang="zh-TW" dirty="0"/>
              <a:t> </a:t>
            </a:r>
            <a:r>
              <a:rPr lang="en-US" altLang="zh-TW" b="1" dirty="0" err="1"/>
              <a:t>hsa_signal_wait_acquire</a:t>
            </a:r>
            <a:endParaRPr lang="en-US" altLang="zh-TW" dirty="0" smtClean="0"/>
          </a:p>
          <a:p>
            <a:pPr lvl="1"/>
            <a:r>
              <a:rPr lang="en-US" altLang="zh-TW" dirty="0" err="1"/>
              <a:t>hsa_signal_value_t</a:t>
            </a:r>
            <a:r>
              <a:rPr lang="en-US" altLang="zh-TW" dirty="0"/>
              <a:t> </a:t>
            </a:r>
            <a:r>
              <a:rPr lang="en-US" altLang="zh-TW" b="1" dirty="0" err="1"/>
              <a:t>hsa_signal_wait_relaxed</a:t>
            </a:r>
            <a:endParaRPr lang="en-US" altLang="zh-TW" dirty="0"/>
          </a:p>
          <a:p>
            <a:r>
              <a:rPr lang="en-US" altLang="zh-TW" dirty="0" smtClean="0"/>
              <a:t>HSA runtime define a </a:t>
            </a:r>
            <a:r>
              <a:rPr lang="en-US" altLang="zh-TW" dirty="0" err="1" smtClean="0"/>
              <a:t>hsa_signal_condition_t</a:t>
            </a:r>
            <a:r>
              <a:rPr lang="en-US" altLang="zh-TW" dirty="0" smtClean="0"/>
              <a:t> and the signal condition can be </a:t>
            </a:r>
          </a:p>
          <a:p>
            <a:pPr lvl="1"/>
            <a:r>
              <a:rPr lang="en-US" altLang="zh-TW" dirty="0" smtClean="0"/>
              <a:t>EQ</a:t>
            </a:r>
          </a:p>
          <a:p>
            <a:pPr lvl="1"/>
            <a:r>
              <a:rPr lang="en-US" altLang="zh-TW" dirty="0" smtClean="0"/>
              <a:t>NE</a:t>
            </a:r>
          </a:p>
          <a:p>
            <a:pPr lvl="1"/>
            <a:r>
              <a:rPr lang="en-US" altLang="zh-TW" dirty="0" smtClean="0"/>
              <a:t>LT</a:t>
            </a:r>
          </a:p>
          <a:p>
            <a:pPr lvl="1"/>
            <a:r>
              <a:rPr lang="en-US" altLang="zh-TW" dirty="0" smtClean="0"/>
              <a:t>GTE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167700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Signal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While waiting the condition, application will be two </a:t>
            </a:r>
            <a:r>
              <a:rPr lang="en-US" altLang="zh-TW" dirty="0" smtClean="0"/>
              <a:t>waiting states, defines in </a:t>
            </a:r>
            <a:r>
              <a:rPr lang="en-US" altLang="zh-TW" b="1" dirty="0" err="1" smtClean="0"/>
              <a:t>hsa_wait_state_t</a:t>
            </a:r>
            <a:r>
              <a:rPr lang="en-US" altLang="zh-TW" b="1" dirty="0" smtClean="0"/>
              <a:t>.</a:t>
            </a:r>
            <a:endParaRPr lang="en-US" altLang="zh-TW" dirty="0"/>
          </a:p>
          <a:p>
            <a:pPr lvl="1"/>
            <a:r>
              <a:rPr lang="en-US" altLang="zh-TW" dirty="0"/>
              <a:t>HSA_WAIT_STATE_BLOCKED</a:t>
            </a:r>
          </a:p>
          <a:p>
            <a:pPr lvl="2"/>
            <a:r>
              <a:rPr lang="en-US" altLang="zh-TW" dirty="0"/>
              <a:t>The application thread may be rescheduled while waiting on the signal.</a:t>
            </a:r>
          </a:p>
          <a:p>
            <a:pPr lvl="1"/>
            <a:r>
              <a:rPr lang="en-US" altLang="zh-TW" dirty="0"/>
              <a:t>HSA_WAIT_STATE_ACTIVE</a:t>
            </a:r>
          </a:p>
          <a:p>
            <a:pPr lvl="2"/>
            <a:r>
              <a:rPr lang="en-US" altLang="zh-TW" dirty="0"/>
              <a:t>The application thread stays active while waiting on a signal.</a:t>
            </a:r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1705706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Signal 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signal value </a:t>
            </a:r>
            <a:r>
              <a:rPr lang="en-US" altLang="zh-TW" dirty="0"/>
              <a:t>returned by the wait operation is not guaranteed to satisfy the wait condition due to multiple reasons: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spurious wakeup interrupts the wait.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wait time exceeded the </a:t>
            </a:r>
            <a:r>
              <a:rPr lang="en-US" altLang="zh-TW" dirty="0" smtClean="0"/>
              <a:t>timeout, either user-specified or system timeout.</a:t>
            </a:r>
            <a:endParaRPr lang="en-US" altLang="zh-TW" dirty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wait has been interrupted because the signal value satisfies the specified condition, but the </a:t>
            </a:r>
            <a:r>
              <a:rPr lang="en-US" altLang="zh-TW" dirty="0" smtClean="0"/>
              <a:t>value is </a:t>
            </a:r>
            <a:r>
              <a:rPr lang="en-US" altLang="zh-TW" dirty="0"/>
              <a:t>modified before the implementation of the wait operation has the opportunity to read it.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224243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HSA hardware supports command execution through user mode queues. </a:t>
            </a:r>
            <a:r>
              <a:rPr lang="en-US" altLang="zh-TW" dirty="0" smtClean="0"/>
              <a:t>A </a:t>
            </a:r>
            <a:r>
              <a:rPr lang="en-US" altLang="zh-TW" dirty="0"/>
              <a:t>user mode command </a:t>
            </a:r>
            <a:r>
              <a:rPr lang="en-US" altLang="zh-TW" dirty="0" smtClean="0"/>
              <a:t>queue is characterized as</a:t>
            </a:r>
          </a:p>
          <a:p>
            <a:pPr lvl="1"/>
            <a:r>
              <a:rPr lang="en-US" altLang="zh-TW" dirty="0"/>
              <a:t>R</a:t>
            </a:r>
            <a:r>
              <a:rPr lang="en-US" altLang="zh-TW" dirty="0" smtClean="0"/>
              <a:t>untime-allocated</a:t>
            </a:r>
            <a:r>
              <a:rPr lang="en-US" altLang="zh-TW" dirty="0"/>
              <a:t>, </a:t>
            </a:r>
            <a:endParaRPr lang="en-US" altLang="zh-TW" dirty="0" smtClean="0"/>
          </a:p>
          <a:p>
            <a:pPr lvl="1"/>
            <a:r>
              <a:rPr lang="en-US" altLang="zh-TW" dirty="0"/>
              <a:t>U</a:t>
            </a:r>
            <a:r>
              <a:rPr lang="en-US" altLang="zh-TW" dirty="0" smtClean="0"/>
              <a:t>ser-level</a:t>
            </a:r>
            <a:r>
              <a:rPr lang="en-US" altLang="zh-TW" dirty="0"/>
              <a:t>, </a:t>
            </a:r>
            <a:endParaRPr lang="en-US" altLang="zh-TW" dirty="0" smtClean="0"/>
          </a:p>
          <a:p>
            <a:pPr lvl="1"/>
            <a:r>
              <a:rPr lang="en-US" altLang="zh-TW" dirty="0"/>
              <a:t>A</a:t>
            </a:r>
            <a:r>
              <a:rPr lang="en-US" altLang="zh-TW" dirty="0" smtClean="0"/>
              <a:t>ccessible </a:t>
            </a:r>
            <a:r>
              <a:rPr lang="en-US" altLang="zh-TW" dirty="0"/>
              <a:t>virtual memory of a certain size, </a:t>
            </a:r>
            <a:endParaRPr lang="en-US" altLang="zh-TW" dirty="0" smtClean="0"/>
          </a:p>
          <a:p>
            <a:pPr lvl="1"/>
            <a:r>
              <a:rPr lang="en-US" altLang="zh-TW" dirty="0"/>
              <a:t>C</a:t>
            </a:r>
            <a:r>
              <a:rPr lang="en-US" altLang="zh-TW" dirty="0" smtClean="0"/>
              <a:t>ontaining packets defined </a:t>
            </a:r>
            <a:r>
              <a:rPr lang="en-US" altLang="zh-TW" dirty="0"/>
              <a:t>in the Architected Queueing </a:t>
            </a:r>
            <a:r>
              <a:rPr lang="en-US" altLang="zh-TW" dirty="0" smtClean="0"/>
              <a:t>Language (AQL).</a:t>
            </a:r>
          </a:p>
          <a:p>
            <a:r>
              <a:rPr lang="en-US" altLang="zh-TW" dirty="0"/>
              <a:t>A queue is associated with a specific agent. An agent may have several queues attached </a:t>
            </a:r>
            <a:r>
              <a:rPr lang="en-US" altLang="zh-TW" dirty="0" smtClean="0"/>
              <a:t>to it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81529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Queues are semi-opaque objects: </a:t>
            </a:r>
          </a:p>
          <a:p>
            <a:pPr lvl="1"/>
            <a:r>
              <a:rPr lang="en-US" altLang="zh-TW" dirty="0"/>
              <a:t>there is a visible part, represented by the </a:t>
            </a:r>
            <a:r>
              <a:rPr lang="en-US" altLang="zh-TW" b="1" dirty="0" err="1"/>
              <a:t>hsa_queue_t</a:t>
            </a:r>
            <a:r>
              <a:rPr lang="en-US" altLang="zh-TW" dirty="0"/>
              <a:t> structure and the corresponding ring buffer (pointed to by </a:t>
            </a:r>
            <a:r>
              <a:rPr lang="en-US" altLang="zh-TW" dirty="0" err="1"/>
              <a:t>base_address</a:t>
            </a:r>
            <a:r>
              <a:rPr lang="en-US" altLang="zh-TW" dirty="0" smtClean="0"/>
              <a:t>) </a:t>
            </a:r>
            <a:endParaRPr lang="en-US" altLang="zh-TW" dirty="0"/>
          </a:p>
          <a:p>
            <a:pPr lvl="1"/>
            <a:r>
              <a:rPr lang="en-US" altLang="zh-TW" dirty="0"/>
              <a:t>invisible part, which contains at least the read and write indexes.</a:t>
            </a:r>
            <a:endParaRPr lang="zh-TW" altLang="en-US" dirty="0"/>
          </a:p>
          <a:p>
            <a:r>
              <a:rPr lang="en-US" altLang="zh-TW" dirty="0"/>
              <a:t>The </a:t>
            </a:r>
            <a:r>
              <a:rPr lang="en-US" altLang="zh-TW" dirty="0" err="1"/>
              <a:t>hsa_queue_t</a:t>
            </a:r>
            <a:r>
              <a:rPr lang="en-US" altLang="zh-TW" dirty="0"/>
              <a:t> structure is read-only</a:t>
            </a:r>
            <a:r>
              <a:rPr lang="en-US" altLang="zh-TW" dirty="0" smtClean="0"/>
              <a:t>. But </a:t>
            </a:r>
            <a:r>
              <a:rPr lang="en-US" altLang="zh-TW" dirty="0"/>
              <a:t>ring buffer can be directly accessed by the application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 read and write indexes of the queue can only be accessed using </a:t>
            </a:r>
            <a:r>
              <a:rPr lang="en-US" altLang="zh-TW" dirty="0" smtClean="0"/>
              <a:t>HSA </a:t>
            </a:r>
            <a:r>
              <a:rPr lang="en-US" altLang="zh-TW" dirty="0"/>
              <a:t>runtime APIs.</a:t>
            </a:r>
            <a:endParaRPr lang="en-US" altLang="zh-TW" dirty="0" smtClean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419531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visible part in </a:t>
            </a:r>
            <a:r>
              <a:rPr lang="en-US" altLang="zh-TW" dirty="0" err="1" smtClean="0"/>
              <a:t>hsa_queue_t</a:t>
            </a:r>
            <a:r>
              <a:rPr lang="en-US" altLang="zh-TW" dirty="0" smtClean="0"/>
              <a:t> are the following list : </a:t>
            </a:r>
          </a:p>
          <a:p>
            <a:pPr lvl="1"/>
            <a:r>
              <a:rPr lang="en-US" altLang="zh-TW" dirty="0" err="1"/>
              <a:t>hsa_queue_type_t</a:t>
            </a:r>
            <a:r>
              <a:rPr lang="en-US" altLang="zh-TW" dirty="0"/>
              <a:t> </a:t>
            </a:r>
            <a:r>
              <a:rPr lang="en-US" altLang="zh-TW" dirty="0" smtClean="0"/>
              <a:t>type</a:t>
            </a:r>
          </a:p>
          <a:p>
            <a:pPr lvl="2"/>
            <a:r>
              <a:rPr lang="en-US" altLang="zh-TW" dirty="0" smtClean="0"/>
              <a:t>Single or multiple producer.</a:t>
            </a:r>
          </a:p>
          <a:p>
            <a:pPr lvl="1"/>
            <a:r>
              <a:rPr lang="en-US" altLang="zh-TW" dirty="0" smtClean="0"/>
              <a:t>Features</a:t>
            </a:r>
          </a:p>
          <a:p>
            <a:pPr lvl="2"/>
            <a:r>
              <a:rPr lang="en-US" altLang="zh-TW" dirty="0" smtClean="0"/>
              <a:t>Kernel dispatch or Agent dispatch. </a:t>
            </a:r>
          </a:p>
          <a:p>
            <a:pPr lvl="1"/>
            <a:r>
              <a:rPr lang="en-US" altLang="zh-TW" dirty="0" err="1" smtClean="0"/>
              <a:t>base_address</a:t>
            </a:r>
            <a:endParaRPr lang="en-US" altLang="zh-TW" dirty="0" smtClean="0"/>
          </a:p>
          <a:p>
            <a:pPr lvl="1"/>
            <a:r>
              <a:rPr lang="en-US" altLang="zh-TW" dirty="0" err="1"/>
              <a:t>hsa_signal_t</a:t>
            </a:r>
            <a:r>
              <a:rPr lang="en-US" altLang="zh-TW" dirty="0"/>
              <a:t> </a:t>
            </a:r>
            <a:r>
              <a:rPr lang="en-US" altLang="zh-TW" dirty="0" err="1"/>
              <a:t>doorbell_signal</a:t>
            </a:r>
            <a:endParaRPr lang="en-US" altLang="zh-TW" dirty="0"/>
          </a:p>
          <a:p>
            <a:pPr lvl="1"/>
            <a:r>
              <a:rPr lang="en-US" altLang="zh-TW" dirty="0" smtClean="0"/>
              <a:t>Size</a:t>
            </a:r>
          </a:p>
          <a:p>
            <a:pPr lvl="2"/>
            <a:r>
              <a:rPr lang="en-US" altLang="zh-TW" dirty="0"/>
              <a:t>Maximum number of packets the queue can hold. Must be a power of 2.</a:t>
            </a:r>
            <a:endParaRPr lang="en-US" altLang="zh-TW" dirty="0" smtClean="0"/>
          </a:p>
          <a:p>
            <a:pPr lvl="1"/>
            <a:r>
              <a:rPr lang="en-US" altLang="zh-TW" dirty="0"/>
              <a:t>id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26693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HSA runtime defines a API to </a:t>
            </a:r>
            <a:r>
              <a:rPr lang="en-US" altLang="zh-TW" dirty="0"/>
              <a:t>allocate an HSA </a:t>
            </a:r>
            <a:r>
              <a:rPr lang="en-US" altLang="zh-TW" dirty="0" smtClean="0"/>
              <a:t>queue.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hsa_queue_create</a:t>
            </a:r>
            <a:endParaRPr lang="en-US" altLang="zh-TW" dirty="0" smtClean="0"/>
          </a:p>
          <a:p>
            <a:r>
              <a:rPr lang="en-US" altLang="zh-TW" dirty="0"/>
              <a:t>The HSA runtime defines a API to allocate an </a:t>
            </a:r>
            <a:r>
              <a:rPr lang="en-US" altLang="zh-TW" dirty="0" smtClean="0"/>
              <a:t>Agent dispatch </a:t>
            </a:r>
            <a:r>
              <a:rPr lang="en-US" altLang="zh-TW" dirty="0"/>
              <a:t>queue.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hsa_soft_queue_create</a:t>
            </a:r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HSA runtime defines a API </a:t>
            </a:r>
            <a:r>
              <a:rPr lang="en-US" altLang="zh-TW" dirty="0" smtClean="0"/>
              <a:t>to </a:t>
            </a:r>
            <a:r>
              <a:rPr lang="en-US" altLang="zh-TW" dirty="0"/>
              <a:t>destroy an HSA </a:t>
            </a:r>
            <a:r>
              <a:rPr lang="en-US" altLang="zh-TW" dirty="0" smtClean="0"/>
              <a:t>queue. 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hsa_queue_destroy</a:t>
            </a:r>
            <a:endParaRPr lang="en-US" altLang="zh-TW" dirty="0" smtClean="0"/>
          </a:p>
          <a:p>
            <a:r>
              <a:rPr lang="en-US" altLang="zh-TW" dirty="0"/>
              <a:t>The HSA runtime defines a API </a:t>
            </a:r>
            <a:r>
              <a:rPr lang="en-US" altLang="zh-TW" dirty="0" smtClean="0"/>
              <a:t>to </a:t>
            </a:r>
            <a:r>
              <a:rPr lang="en-US" altLang="zh-TW" dirty="0"/>
              <a:t>change the queue to a non-active </a:t>
            </a:r>
            <a:r>
              <a:rPr lang="en-US" altLang="zh-TW" dirty="0" smtClean="0"/>
              <a:t>state.</a:t>
            </a:r>
          </a:p>
          <a:p>
            <a:pPr lvl="1"/>
            <a:r>
              <a:rPr lang="en-US" altLang="zh-TW" dirty="0" err="1"/>
              <a:t>hsa_status_t</a:t>
            </a:r>
            <a:r>
              <a:rPr lang="en-US" altLang="zh-TW" dirty="0"/>
              <a:t> </a:t>
            </a:r>
            <a:r>
              <a:rPr lang="en-US" altLang="zh-TW" b="1" dirty="0" err="1"/>
              <a:t>hsa_queue_inactivate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56728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Queue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runtime exposes several functions</a:t>
            </a:r>
            <a:r>
              <a:rPr lang="en-US" altLang="zh-TW" b="1" dirty="0"/>
              <a:t> </a:t>
            </a:r>
            <a:r>
              <a:rPr lang="en-US" altLang="zh-TW" dirty="0"/>
              <a:t>to increment the value of the write index with different memory semantic.</a:t>
            </a:r>
          </a:p>
          <a:p>
            <a:pPr lvl="1"/>
            <a:r>
              <a:rPr lang="en-US" altLang="zh-TW" dirty="0"/>
              <a:t>void </a:t>
            </a:r>
            <a:r>
              <a:rPr lang="en-US" altLang="zh-TW" b="1" dirty="0" err="1"/>
              <a:t>hsa_queue_store_write_index</a:t>
            </a:r>
            <a:endParaRPr lang="en-US" altLang="zh-TW" b="1" dirty="0"/>
          </a:p>
          <a:p>
            <a:pPr lvl="1"/>
            <a:r>
              <a:rPr lang="en-US" altLang="zh-TW" dirty="0" smtClean="0"/>
              <a:t>uint64_t </a:t>
            </a:r>
            <a:r>
              <a:rPr lang="en-US" altLang="zh-TW" b="1" dirty="0" err="1"/>
              <a:t>hsa_queue_load_write_index</a:t>
            </a:r>
            <a:endParaRPr lang="en-US" altLang="zh-TW" b="1" dirty="0"/>
          </a:p>
          <a:p>
            <a:pPr lvl="1"/>
            <a:r>
              <a:rPr lang="en-US" altLang="zh-TW" dirty="0" smtClean="0"/>
              <a:t>uint64_t </a:t>
            </a:r>
            <a:r>
              <a:rPr lang="en-US" altLang="zh-TW" b="1" dirty="0" err="1"/>
              <a:t>hsa_queue_cas_write_index</a:t>
            </a:r>
            <a:endParaRPr lang="en-US" altLang="zh-TW" b="1" dirty="0"/>
          </a:p>
          <a:p>
            <a:pPr lvl="1"/>
            <a:r>
              <a:rPr lang="en-US" altLang="zh-TW" dirty="0"/>
              <a:t>uint64_t </a:t>
            </a:r>
            <a:r>
              <a:rPr lang="en-US" altLang="zh-TW" b="1" dirty="0" err="1"/>
              <a:t>hsa_queue_add_write_index</a:t>
            </a:r>
            <a:endParaRPr lang="zh-TW" altLang="en-US" dirty="0"/>
          </a:p>
          <a:p>
            <a:r>
              <a:rPr lang="en-US" altLang="zh-TW" dirty="0" smtClean="0"/>
              <a:t>For read index, the runtime exposes the following functions</a:t>
            </a:r>
          </a:p>
          <a:p>
            <a:pPr lvl="1"/>
            <a:r>
              <a:rPr lang="en-US" altLang="zh-TW" dirty="0"/>
              <a:t>void </a:t>
            </a:r>
            <a:r>
              <a:rPr lang="en-US" altLang="zh-TW" b="1" dirty="0" err="1" smtClean="0"/>
              <a:t>hsa_queue_store_read_index</a:t>
            </a:r>
            <a:endParaRPr lang="en-US" altLang="zh-TW" b="1" dirty="0" smtClean="0"/>
          </a:p>
          <a:p>
            <a:pPr lvl="1"/>
            <a:r>
              <a:rPr lang="en-US" altLang="zh-TW" dirty="0"/>
              <a:t>uint64_t </a:t>
            </a:r>
            <a:r>
              <a:rPr lang="en-US" altLang="zh-TW" b="1" dirty="0" err="1"/>
              <a:t>hsa_queue_load_read_index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2366393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圖片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6712" y="3057364"/>
            <a:ext cx="7282267" cy="133702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Example - </a:t>
            </a:r>
            <a:r>
              <a:rPr lang="en-US" altLang="zh-TW" sz="3600" dirty="0" err="1"/>
              <a:t>Enqueue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packet</a:t>
            </a:r>
            <a:endParaRPr lang="zh-TW" altLang="en-US" sz="36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0F095F-F642-7E4C-BE29-73B8FAFADF38}" type="slidenum">
              <a:rPr lang="en-US" smtClean="0">
                <a:solidFill>
                  <a:srgbClr val="FFFFFF"/>
                </a:solidFill>
              </a:rPr>
              <a:pPr/>
              <a:t>29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55034" y="1533068"/>
            <a:ext cx="812855" cy="825757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9583796" y="3654195"/>
            <a:ext cx="2538794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/>
              <a:t>Dispatch Queue</a:t>
            </a:r>
            <a:endParaRPr lang="zh-TW" altLang="en-US" sz="2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6266" y="1422187"/>
            <a:ext cx="4024399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/>
              <a:t>Allocate an AQL packet slot</a:t>
            </a:r>
            <a:endParaRPr lang="zh-TW" altLang="en-US" sz="2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618219" y="1554184"/>
            <a:ext cx="4125688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/>
              <a:t>Copy the packet into queue. </a:t>
            </a:r>
            <a:endParaRPr lang="zh-TW" altLang="en-US" sz="2600" dirty="0"/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2981859" y="4553864"/>
            <a:ext cx="0" cy="315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3004226" y="2660371"/>
            <a:ext cx="1" cy="36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3145442" y="2474834"/>
            <a:ext cx="1825916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err="1">
                <a:solidFill>
                  <a:schemeClr val="accent1"/>
                </a:solidFill>
              </a:rPr>
              <a:t>WriteIndex</a:t>
            </a:r>
            <a:endParaRPr lang="zh-TW" altLang="en-US" sz="2600" dirty="0">
              <a:solidFill>
                <a:schemeClr val="accent1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145442" y="4553864"/>
            <a:ext cx="1825916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err="1">
                <a:solidFill>
                  <a:schemeClr val="accent1"/>
                </a:solidFill>
              </a:rPr>
              <a:t>ReadIndex</a:t>
            </a:r>
            <a:endParaRPr lang="zh-TW" altLang="en-US" sz="2600" dirty="0">
              <a:solidFill>
                <a:schemeClr val="accent1"/>
              </a:solidFill>
            </a:endParaRPr>
          </a:p>
        </p:txBody>
      </p:sp>
      <p:pic>
        <p:nvPicPr>
          <p:cNvPr id="59" name="圖片 5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55981" y="4802051"/>
            <a:ext cx="1031988" cy="871612"/>
          </a:xfrm>
          <a:prstGeom prst="rect">
            <a:avLst/>
          </a:prstGeom>
        </p:spPr>
      </p:pic>
      <p:sp>
        <p:nvSpPr>
          <p:cNvPr id="21" name="文字方塊 20"/>
          <p:cNvSpPr txBox="1"/>
          <p:nvPr/>
        </p:nvSpPr>
        <p:spPr>
          <a:xfrm>
            <a:off x="200181" y="1690688"/>
            <a:ext cx="2470591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b="1" dirty="0" smtClean="0"/>
              <a:t>Initialize packet</a:t>
            </a:r>
            <a:endParaRPr lang="zh-TW" altLang="en-US" sz="2600" b="1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219137" y="4815470"/>
            <a:ext cx="4238783" cy="92332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/>
              <a:t>Send doorbell </a:t>
            </a:r>
            <a:r>
              <a:rPr lang="en-US" altLang="zh-TW" sz="2600" dirty="0" smtClean="0"/>
              <a:t>signal to notify HSA packet processor</a:t>
            </a:r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2353933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0.11823 -3.33333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1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07407E-6 L 0.1112 -0.0011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6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0.00169 0.26944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1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7" grpId="1"/>
      <p:bldP spid="29" grpId="0"/>
      <p:bldP spid="36" grpId="0"/>
      <p:bldP spid="21" grpId="0"/>
      <p:bldP spid="21" grpId="1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圖片 2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96712" y="3057364"/>
            <a:ext cx="7282267" cy="133702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600" dirty="0"/>
              <a:t>Example - </a:t>
            </a:r>
            <a:r>
              <a:rPr lang="en-US" altLang="zh-TW" sz="3600" dirty="0" err="1"/>
              <a:t>Enqueue</a:t>
            </a:r>
            <a:r>
              <a:rPr lang="en-US" altLang="zh-TW" sz="3600" dirty="0"/>
              <a:t> </a:t>
            </a:r>
            <a:r>
              <a:rPr lang="en-US" altLang="zh-TW" sz="3600" dirty="0" smtClean="0"/>
              <a:t>packet</a:t>
            </a:r>
            <a:endParaRPr lang="zh-TW" altLang="en-US" sz="36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0F095F-F642-7E4C-BE29-73B8FAFADF38}" type="slidenum">
              <a:rPr lang="en-US" smtClean="0">
                <a:solidFill>
                  <a:srgbClr val="FFFFFF"/>
                </a:solidFill>
              </a:rPr>
              <a:pPr/>
              <a:t>30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6" name="圖片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7798" y="3312999"/>
            <a:ext cx="812855" cy="825757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9583796" y="3654195"/>
            <a:ext cx="2538794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/>
              <a:t>Dispatch Queue</a:t>
            </a:r>
            <a:endParaRPr lang="zh-TW" altLang="en-US" sz="26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376266" y="1422187"/>
            <a:ext cx="4024399" cy="92332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smtClean="0"/>
              <a:t>Check whether this queue is empty or not</a:t>
            </a:r>
            <a:endParaRPr lang="zh-TW" altLang="en-US" sz="26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50578" y="4844424"/>
            <a:ext cx="4125688" cy="1323431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smtClean="0"/>
              <a:t>Send packet to component and change the packet type to invalid. </a:t>
            </a:r>
            <a:endParaRPr lang="zh-TW" altLang="en-US" sz="2600" dirty="0"/>
          </a:p>
        </p:txBody>
      </p:sp>
      <p:cxnSp>
        <p:nvCxnSpPr>
          <p:cNvPr id="32" name="直線單箭頭接點 31"/>
          <p:cNvCxnSpPr/>
          <p:nvPr/>
        </p:nvCxnSpPr>
        <p:spPr>
          <a:xfrm flipV="1">
            <a:off x="2981859" y="4553864"/>
            <a:ext cx="0" cy="315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/>
          <p:cNvCxnSpPr/>
          <p:nvPr/>
        </p:nvCxnSpPr>
        <p:spPr>
          <a:xfrm>
            <a:off x="4235050" y="2671681"/>
            <a:ext cx="1" cy="366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/>
          <p:cNvSpPr txBox="1"/>
          <p:nvPr/>
        </p:nvSpPr>
        <p:spPr>
          <a:xfrm>
            <a:off x="4376266" y="2486144"/>
            <a:ext cx="1825916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err="1">
                <a:solidFill>
                  <a:schemeClr val="accent1"/>
                </a:solidFill>
              </a:rPr>
              <a:t>WriteIndex</a:t>
            </a:r>
            <a:endParaRPr lang="zh-TW" altLang="en-US" sz="2600" dirty="0">
              <a:solidFill>
                <a:schemeClr val="accent1"/>
              </a:solidFill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145442" y="4553864"/>
            <a:ext cx="1969766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err="1">
                <a:solidFill>
                  <a:schemeClr val="accent1"/>
                </a:solidFill>
              </a:rPr>
              <a:t>ReadIndex</a:t>
            </a:r>
            <a:endParaRPr lang="zh-TW" altLang="en-US" sz="2600" dirty="0">
              <a:solidFill>
                <a:schemeClr val="accent1"/>
              </a:solidFill>
            </a:endParaRPr>
          </a:p>
        </p:txBody>
      </p:sp>
      <p:pic>
        <p:nvPicPr>
          <p:cNvPr id="59" name="圖片 5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872471" y="4963646"/>
            <a:ext cx="1031988" cy="871612"/>
          </a:xfrm>
          <a:prstGeom prst="rect">
            <a:avLst/>
          </a:prstGeom>
        </p:spPr>
      </p:pic>
      <p:sp>
        <p:nvSpPr>
          <p:cNvPr id="21" name="文字方塊 20"/>
          <p:cNvSpPr txBox="1"/>
          <p:nvPr/>
        </p:nvSpPr>
        <p:spPr>
          <a:xfrm>
            <a:off x="3145442" y="5137846"/>
            <a:ext cx="3430259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smtClean="0"/>
              <a:t>Increase the read index</a:t>
            </a:r>
            <a:endParaRPr lang="zh-TW" altLang="en-US" sz="26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7115017" y="5163091"/>
            <a:ext cx="4238783" cy="523212"/>
          </a:xfrm>
          <a:prstGeom prst="rect">
            <a:avLst/>
          </a:prstGeom>
          <a:noFill/>
        </p:spPr>
        <p:txBody>
          <a:bodyPr wrap="square" lIns="121912" tIns="60956" rIns="121912" bIns="60956" rtlCol="0">
            <a:spAutoFit/>
          </a:bodyPr>
          <a:lstStyle/>
          <a:p>
            <a:r>
              <a:rPr lang="en-US" altLang="zh-TW" sz="2600" dirty="0" smtClean="0"/>
              <a:t>Receive </a:t>
            </a:r>
            <a:r>
              <a:rPr lang="en-US" altLang="zh-TW" sz="2600" dirty="0"/>
              <a:t>doorbell </a:t>
            </a:r>
            <a:r>
              <a:rPr lang="en-US" altLang="zh-TW" sz="2600" dirty="0" smtClean="0"/>
              <a:t>signal</a:t>
            </a:r>
            <a:endParaRPr lang="zh-TW" altLang="en-US" sz="2600" dirty="0"/>
          </a:p>
        </p:txBody>
      </p:sp>
      <p:pic>
        <p:nvPicPr>
          <p:cNvPr id="17" name="Picture 2" descr="https://encrypted-tbn0.gstatic.com/images?q=tbn:ANd9GcQ2i1B1eRWtUaDJd_DvqOa8s3HjAQrKa0-buQNwf3ItPFITBOAJ1w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82421" y="1889961"/>
            <a:ext cx="443608" cy="44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03792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-0.00182 0.2439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1219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96296E-6 L 0.11445 -0.0018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16" y="-9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0.10534 -0.0018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-9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  <p:bldP spid="29" grpId="1"/>
      <p:bldP spid="37" grpId="0"/>
      <p:bldP spid="21" grpId="0"/>
      <p:bldP spid="21" grpId="1"/>
      <p:bldP spid="3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Architected Queuing Language (AQL) is a standard binary interface used to describe </a:t>
            </a:r>
            <a:r>
              <a:rPr lang="en-US" altLang="zh-TW" dirty="0" smtClean="0"/>
              <a:t>commands.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An </a:t>
            </a:r>
            <a:r>
              <a:rPr lang="en-US" altLang="zh-TW" dirty="0"/>
              <a:t>AQL packet is a user-mode buffer with a specific format that encodes </a:t>
            </a:r>
            <a:r>
              <a:rPr lang="en-US" altLang="zh-TW" dirty="0" smtClean="0"/>
              <a:t>one command.</a:t>
            </a:r>
          </a:p>
          <a:p>
            <a:r>
              <a:rPr lang="en-US" altLang="zh-TW" dirty="0" smtClean="0"/>
              <a:t>Application </a:t>
            </a:r>
            <a:r>
              <a:rPr lang="en-US" altLang="zh-TW" dirty="0"/>
              <a:t>uses regular memory operation to access the contents of packets, and </a:t>
            </a:r>
            <a:r>
              <a:rPr lang="en-US" altLang="zh-TW" dirty="0" smtClean="0"/>
              <a:t>user-level allocators </a:t>
            </a:r>
            <a:r>
              <a:rPr lang="en-US" altLang="zh-TW" dirty="0"/>
              <a:t>to create a packet.</a:t>
            </a:r>
          </a:p>
          <a:p>
            <a:pPr lvl="1"/>
            <a:r>
              <a:rPr lang="en-US" altLang="zh-TW" dirty="0"/>
              <a:t>HSA API does not provide any functionality to create, destroy or manipulate AQL </a:t>
            </a:r>
            <a:r>
              <a:rPr lang="en-US" altLang="zh-TW" dirty="0" smtClean="0"/>
              <a:t>packets.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80204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 API defines the format of the different packet types: </a:t>
            </a:r>
          </a:p>
          <a:p>
            <a:pPr lvl="1"/>
            <a:r>
              <a:rPr lang="en-US" altLang="zh-TW" dirty="0"/>
              <a:t>kernel dispatch. </a:t>
            </a:r>
          </a:p>
          <a:p>
            <a:pPr lvl="1"/>
            <a:r>
              <a:rPr lang="en-US" altLang="zh-TW" dirty="0"/>
              <a:t>agent dispatch. </a:t>
            </a:r>
          </a:p>
          <a:p>
            <a:pPr lvl="1"/>
            <a:r>
              <a:rPr lang="en-US" altLang="zh-TW" dirty="0"/>
              <a:t>barrier-AND.</a:t>
            </a:r>
          </a:p>
          <a:p>
            <a:pPr lvl="1"/>
            <a:r>
              <a:rPr lang="en-US" altLang="zh-TW" dirty="0"/>
              <a:t>barrier-OR.</a:t>
            </a:r>
            <a:endParaRPr lang="zh-TW" altLang="en-US" dirty="0"/>
          </a:p>
          <a:p>
            <a:endParaRPr lang="en-US" altLang="zh-TW" dirty="0" smtClean="0"/>
          </a:p>
          <a:p>
            <a:r>
              <a:rPr lang="en-US" altLang="zh-TW" dirty="0" smtClean="0"/>
              <a:t>All </a:t>
            </a:r>
            <a:r>
              <a:rPr lang="en-US" altLang="zh-TW" dirty="0"/>
              <a:t>formats share a common header </a:t>
            </a:r>
            <a:r>
              <a:rPr lang="en-US" altLang="zh-TW" dirty="0" err="1"/>
              <a:t>hsa_packet_type_t</a:t>
            </a:r>
            <a:r>
              <a:rPr lang="en-US" altLang="zh-TW" dirty="0"/>
              <a:t> that describes their type, barrier </a:t>
            </a:r>
            <a:r>
              <a:rPr lang="en-US" altLang="zh-TW" dirty="0" smtClean="0"/>
              <a:t>bit (force </a:t>
            </a:r>
            <a:r>
              <a:rPr lang="en-US" altLang="zh-TW" dirty="0"/>
              <a:t>the packet processor to complete packets in order), and other properties.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15913050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125538"/>
            <a:ext cx="5085030" cy="4895850"/>
          </a:xfrm>
        </p:spPr>
        <p:txBody>
          <a:bodyPr/>
          <a:lstStyle/>
          <a:p>
            <a:r>
              <a:rPr lang="en-US" altLang="zh-TW" dirty="0"/>
              <a:t>K</a:t>
            </a:r>
            <a:r>
              <a:rPr lang="en-US" altLang="zh-TW" dirty="0" smtClean="0"/>
              <a:t>ernel </a:t>
            </a:r>
            <a:r>
              <a:rPr lang="en-US" altLang="zh-TW" dirty="0"/>
              <a:t>dispatch packet </a:t>
            </a:r>
            <a:r>
              <a:rPr lang="en-US" altLang="zh-TW" b="1" dirty="0" err="1"/>
              <a:t>hsa_kernel_dispatch_packet_t</a:t>
            </a:r>
            <a:r>
              <a:rPr lang="en-US" altLang="zh-TW" dirty="0"/>
              <a:t> </a:t>
            </a:r>
            <a:r>
              <a:rPr lang="en-US" altLang="zh-TW" dirty="0" smtClean="0"/>
              <a:t>is used for </a:t>
            </a:r>
            <a:r>
              <a:rPr lang="en-US" altLang="zh-TW" dirty="0" err="1" smtClean="0"/>
              <a:t>submiting</a:t>
            </a:r>
            <a:r>
              <a:rPr lang="en-US" altLang="zh-TW" dirty="0" smtClean="0"/>
              <a:t> </a:t>
            </a:r>
            <a:r>
              <a:rPr lang="en-US" altLang="zh-TW" dirty="0"/>
              <a:t>a kernel to a </a:t>
            </a:r>
            <a:r>
              <a:rPr lang="en-US" altLang="zh-TW" dirty="0" smtClean="0"/>
              <a:t>kernel agent.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6" name="內容版面配置區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225427" y="1125537"/>
            <a:ext cx="4792639" cy="4966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989687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3515" y="1125537"/>
            <a:ext cx="4834551" cy="5026577"/>
          </a:xfrm>
          <a:prstGeom prst="rect">
            <a:avLst/>
          </a:prstGeom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125538"/>
            <a:ext cx="5085030" cy="4895850"/>
          </a:xfrm>
        </p:spPr>
        <p:txBody>
          <a:bodyPr/>
          <a:lstStyle/>
          <a:p>
            <a:r>
              <a:rPr lang="en-US" altLang="zh-TW" dirty="0"/>
              <a:t>Applications use agent dispatch packets to launch built-in functions in agents.</a:t>
            </a:r>
          </a:p>
          <a:p>
            <a:r>
              <a:rPr lang="en-US" altLang="zh-TW" dirty="0"/>
              <a:t>There is no need to indicate the address of the function to run.</a:t>
            </a:r>
          </a:p>
          <a:p>
            <a:pPr lvl="1"/>
            <a:r>
              <a:rPr lang="en-US" altLang="zh-TW" dirty="0"/>
              <a:t>The HSA runtime use type instead.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02054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83515" y="1089230"/>
            <a:ext cx="4897259" cy="5062978"/>
          </a:xfrm>
          <a:prstGeom prst="rect">
            <a:avLst/>
          </a:prstGeom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09600" y="1125538"/>
            <a:ext cx="5085030" cy="4895850"/>
          </a:xfrm>
        </p:spPr>
        <p:txBody>
          <a:bodyPr/>
          <a:lstStyle/>
          <a:p>
            <a:r>
              <a:rPr lang="en-US" altLang="zh-TW" dirty="0"/>
              <a:t>The barrier-AND packet </a:t>
            </a:r>
            <a:r>
              <a:rPr lang="en-US" altLang="zh-TW" b="1" dirty="0" err="1" smtClean="0"/>
              <a:t>hsa_barrier_and_packet_t</a:t>
            </a:r>
            <a:r>
              <a:rPr lang="en-US" altLang="zh-TW" dirty="0" smtClean="0"/>
              <a:t> </a:t>
            </a:r>
            <a:r>
              <a:rPr lang="en-US" altLang="zh-TW" dirty="0"/>
              <a:t>allows an application to specify up to five </a:t>
            </a:r>
            <a:r>
              <a:rPr lang="en-US" altLang="zh-TW" dirty="0" smtClean="0"/>
              <a:t>signal dependencies </a:t>
            </a:r>
          </a:p>
          <a:p>
            <a:pPr lvl="1"/>
            <a:r>
              <a:rPr lang="en-US" altLang="zh-TW" dirty="0" smtClean="0"/>
              <a:t>Requires </a:t>
            </a:r>
            <a:r>
              <a:rPr lang="en-US" altLang="zh-TW" dirty="0"/>
              <a:t>the packet processor to resolve those dependencies before proceeding.</a:t>
            </a:r>
          </a:p>
          <a:p>
            <a:r>
              <a:rPr lang="en-US" altLang="zh-TW" dirty="0" smtClean="0"/>
              <a:t>The packet </a:t>
            </a:r>
            <a:r>
              <a:rPr lang="en-US" altLang="zh-TW" dirty="0"/>
              <a:t>processor will not launch any further packets in that queue until the barrier-AND packet is complete.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250086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All packet formats share a common header, </a:t>
            </a:r>
            <a:r>
              <a:rPr lang="en-US" altLang="zh-TW" b="1" dirty="0" err="1"/>
              <a:t>hsa_packet_header_t</a:t>
            </a:r>
            <a:r>
              <a:rPr lang="en-US" altLang="zh-TW" dirty="0"/>
              <a:t>, which describes their type, barrier bit (force the packet processor to complete packets in order), and other </a:t>
            </a:r>
            <a:r>
              <a:rPr lang="en-US" altLang="zh-TW" dirty="0" smtClean="0"/>
              <a:t>properties.</a:t>
            </a:r>
          </a:p>
          <a:p>
            <a:r>
              <a:rPr lang="en-US" altLang="zh-TW" dirty="0"/>
              <a:t>T</a:t>
            </a:r>
            <a:r>
              <a:rPr lang="en-US" altLang="zh-TW" dirty="0" smtClean="0"/>
              <a:t>here </a:t>
            </a:r>
            <a:r>
              <a:rPr lang="en-US" altLang="zh-TW" dirty="0"/>
              <a:t>are six types of AQL packets:</a:t>
            </a:r>
            <a:endParaRPr lang="zh-TW" altLang="zh-TW" dirty="0"/>
          </a:p>
          <a:p>
            <a:pPr lvl="1"/>
            <a:r>
              <a:rPr lang="en-US" altLang="zh-TW" dirty="0"/>
              <a:t>Kernel dispatch packet</a:t>
            </a:r>
            <a:endParaRPr lang="zh-TW" altLang="zh-TW" dirty="0"/>
          </a:p>
          <a:p>
            <a:pPr lvl="1"/>
            <a:r>
              <a:rPr lang="en-US" altLang="zh-TW" dirty="0"/>
              <a:t>Agent dispatch packet</a:t>
            </a:r>
            <a:endParaRPr lang="zh-TW" altLang="zh-TW" dirty="0"/>
          </a:p>
          <a:p>
            <a:pPr lvl="1"/>
            <a:r>
              <a:rPr lang="en-US" altLang="zh-TW" dirty="0"/>
              <a:t>Barrier-AND packet</a:t>
            </a:r>
            <a:endParaRPr lang="zh-TW" altLang="zh-TW" dirty="0"/>
          </a:p>
          <a:p>
            <a:pPr lvl="1"/>
            <a:r>
              <a:rPr lang="en-US" altLang="zh-TW" dirty="0"/>
              <a:t>Barrier-OR packet</a:t>
            </a:r>
            <a:endParaRPr lang="zh-TW" altLang="zh-TW" dirty="0"/>
          </a:p>
          <a:p>
            <a:pPr lvl="1"/>
            <a:r>
              <a:rPr lang="en-US" altLang="zh-TW" dirty="0"/>
              <a:t>Vender-specific packet</a:t>
            </a:r>
            <a:endParaRPr lang="zh-TW" altLang="zh-TW" dirty="0"/>
          </a:p>
          <a:p>
            <a:pPr lvl="1"/>
            <a:r>
              <a:rPr lang="en-US" altLang="zh-TW" dirty="0"/>
              <a:t>Invalid packet</a:t>
            </a:r>
            <a:endParaRPr lang="zh-TW" altLang="zh-TW" dirty="0"/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25100712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AQL packet can be in one of the following five states: </a:t>
            </a:r>
          </a:p>
          <a:p>
            <a:pPr lvl="1"/>
            <a:r>
              <a:rPr lang="en-US" altLang="zh-TW" dirty="0"/>
              <a:t>in queue</a:t>
            </a:r>
          </a:p>
          <a:p>
            <a:pPr lvl="1"/>
            <a:r>
              <a:rPr lang="en-US" altLang="zh-TW" dirty="0"/>
              <a:t>launch</a:t>
            </a:r>
          </a:p>
          <a:p>
            <a:pPr lvl="1"/>
            <a:r>
              <a:rPr lang="en-US" altLang="zh-TW" dirty="0"/>
              <a:t>error</a:t>
            </a:r>
          </a:p>
          <a:p>
            <a:pPr lvl="1"/>
            <a:r>
              <a:rPr lang="en-US" altLang="zh-TW" dirty="0"/>
              <a:t>active</a:t>
            </a:r>
          </a:p>
          <a:p>
            <a:pPr lvl="1"/>
            <a:r>
              <a:rPr lang="en-US" altLang="zh-TW" dirty="0"/>
              <a:t>complete</a:t>
            </a:r>
            <a:endParaRPr lang="zh-TW" altLang="en-US" dirty="0"/>
          </a:p>
          <a:p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xmlns="" val="7537434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/>
              <a:t>In queue </a:t>
            </a:r>
          </a:p>
          <a:p>
            <a:pPr lvl="1"/>
            <a:r>
              <a:rPr lang="en-US" altLang="zh-TW" dirty="0"/>
              <a:t>The packet processor has not started to parse the current packet.</a:t>
            </a:r>
          </a:p>
          <a:p>
            <a:pPr lvl="1"/>
            <a:r>
              <a:rPr lang="en-US" altLang="zh-TW" dirty="0"/>
              <a:t> If barrier bit is set in the header, the transition to launch state occurs after all the preceding packets have completed their execution.</a:t>
            </a:r>
            <a:endParaRPr lang="zh-TW" altLang="en-US" dirty="0"/>
          </a:p>
          <a:p>
            <a:r>
              <a:rPr lang="en-US" altLang="zh-TW" b="1" dirty="0"/>
              <a:t>Launch </a:t>
            </a:r>
          </a:p>
          <a:p>
            <a:pPr lvl="1"/>
            <a:r>
              <a:rPr lang="en-US" altLang="zh-TW" dirty="0"/>
              <a:t>The packet is being parsed, but it has not started execution.</a:t>
            </a:r>
            <a:endParaRPr lang="en-US" altLang="zh-TW" b="1" dirty="0"/>
          </a:p>
          <a:p>
            <a:r>
              <a:rPr lang="en-US" altLang="zh-TW" b="1" dirty="0"/>
              <a:t>Active </a:t>
            </a:r>
            <a:endParaRPr lang="en-US" altLang="zh-TW" b="1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execution of the packet has started.</a:t>
            </a:r>
            <a:endParaRPr lang="en-US" altLang="zh-TW" b="1" dirty="0" smtClean="0"/>
          </a:p>
          <a:p>
            <a:r>
              <a:rPr lang="en-US" altLang="zh-TW" b="1" dirty="0"/>
              <a:t>Error </a:t>
            </a:r>
            <a:endParaRPr lang="en-US" altLang="zh-TW" b="1" dirty="0" smtClean="0"/>
          </a:p>
          <a:p>
            <a:pPr lvl="1"/>
            <a:r>
              <a:rPr lang="en-US" altLang="zh-TW" dirty="0" smtClean="0"/>
              <a:t>An </a:t>
            </a:r>
            <a:r>
              <a:rPr lang="en-US" altLang="zh-TW" dirty="0"/>
              <a:t>error was encountered during the launch or active phases.</a:t>
            </a:r>
            <a:endParaRPr lang="en-US" altLang="zh-TW" b="1" dirty="0"/>
          </a:p>
          <a:p>
            <a:endParaRPr lang="en-US" altLang="zh-TW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1882762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Architected Queuing Language (AQL)</a:t>
            </a:r>
            <a:endParaRPr lang="zh-TW" altLang="en-US" dirty="0"/>
          </a:p>
        </p:txBody>
      </p:sp>
      <p:pic>
        <p:nvPicPr>
          <p:cNvPr id="2" name="內容版面配置區 1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61360" y="1557196"/>
            <a:ext cx="8893753" cy="41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65992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HSA runtime API provides a </a:t>
            </a:r>
            <a:r>
              <a:rPr lang="en-US" altLang="zh-TW" dirty="0" smtClean="0"/>
              <a:t>set </a:t>
            </a:r>
            <a:r>
              <a:rPr lang="en-US" altLang="zh-TW" dirty="0"/>
              <a:t>of functions for inspecting the memory regions that </a:t>
            </a:r>
            <a:r>
              <a:rPr lang="en-US" altLang="zh-TW" dirty="0" smtClean="0"/>
              <a:t>are accessible </a:t>
            </a:r>
            <a:r>
              <a:rPr lang="en-US" altLang="zh-TW" dirty="0"/>
              <a:t>from an agent, and (if applicable) allocating memory on those regions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/>
              <a:t>memory region represents a block of virtual memory with certain characteristics that is accessible by </a:t>
            </a:r>
            <a:r>
              <a:rPr lang="en-US" altLang="zh-TW" dirty="0" smtClean="0"/>
              <a:t>one or </a:t>
            </a:r>
            <a:r>
              <a:rPr lang="en-US" altLang="zh-TW" dirty="0"/>
              <a:t>more agents.</a:t>
            </a:r>
          </a:p>
          <a:p>
            <a:endParaRPr lang="en-US" altLang="zh-TW" dirty="0"/>
          </a:p>
          <a:p>
            <a:r>
              <a:rPr lang="en-US" altLang="zh-TW" dirty="0"/>
              <a:t>The HSA runtime defines a region object, </a:t>
            </a:r>
            <a:r>
              <a:rPr lang="en-US" altLang="zh-TW" b="1" dirty="0" err="1" smtClean="0"/>
              <a:t>hsa_region_t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to representation each block of region.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8757335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</a:t>
            </a:r>
            <a:r>
              <a:rPr lang="en-US" altLang="zh-TW" dirty="0"/>
              <a:t>HSA memory region is classified into four different segments, </a:t>
            </a:r>
          </a:p>
          <a:p>
            <a:pPr lvl="1"/>
            <a:r>
              <a:rPr lang="en-US" altLang="zh-TW" b="1" dirty="0"/>
              <a:t>Global </a:t>
            </a:r>
          </a:p>
          <a:p>
            <a:pPr lvl="1"/>
            <a:r>
              <a:rPr lang="en-US" altLang="zh-TW" b="1" dirty="0" err="1"/>
              <a:t>Readonly</a:t>
            </a:r>
            <a:r>
              <a:rPr lang="en-US" altLang="zh-TW" b="1" dirty="0"/>
              <a:t> </a:t>
            </a:r>
          </a:p>
          <a:p>
            <a:pPr lvl="1"/>
            <a:r>
              <a:rPr lang="en-US" altLang="zh-TW" b="1" dirty="0"/>
              <a:t>Group</a:t>
            </a:r>
          </a:p>
          <a:p>
            <a:pPr lvl="1"/>
            <a:r>
              <a:rPr lang="en-US" altLang="zh-TW" b="1" dirty="0"/>
              <a:t>Private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HSA runtime </a:t>
            </a:r>
            <a:r>
              <a:rPr lang="en-US" altLang="zh-TW" dirty="0" smtClean="0"/>
              <a:t>defines </a:t>
            </a:r>
            <a:r>
              <a:rPr lang="en-US" altLang="zh-TW" dirty="0"/>
              <a:t>an </a:t>
            </a:r>
            <a:r>
              <a:rPr lang="en-US" altLang="zh-TW" dirty="0" smtClean="0"/>
              <a:t>enumerator </a:t>
            </a:r>
            <a:r>
              <a:rPr lang="en-US" altLang="zh-TW" b="1" dirty="0" err="1" smtClean="0"/>
              <a:t>hsa_region_segment_t</a:t>
            </a:r>
            <a:r>
              <a:rPr lang="en-US" altLang="zh-TW" dirty="0" smtClean="0"/>
              <a:t> </a:t>
            </a:r>
            <a:r>
              <a:rPr lang="en-US" altLang="zh-TW" dirty="0"/>
              <a:t>for all possible </a:t>
            </a:r>
            <a:r>
              <a:rPr lang="en-US" altLang="zh-TW" dirty="0" smtClean="0"/>
              <a:t>segments </a:t>
            </a:r>
            <a:r>
              <a:rPr lang="en-US" altLang="zh-TW" dirty="0"/>
              <a:t>that a region can be associated </a:t>
            </a:r>
            <a:r>
              <a:rPr lang="en-US" altLang="zh-TW" dirty="0" smtClean="0"/>
              <a:t>with.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41810538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Regions associated with the global segment are divided into two broad categories: </a:t>
            </a:r>
            <a:r>
              <a:rPr lang="en-US" altLang="zh-TW" b="1" dirty="0"/>
              <a:t>fine-grained</a:t>
            </a:r>
            <a:r>
              <a:rPr lang="en-US" altLang="zh-TW" dirty="0"/>
              <a:t> and </a:t>
            </a:r>
            <a:r>
              <a:rPr lang="en-US" altLang="zh-TW" b="1" dirty="0" smtClean="0"/>
              <a:t>coarse-grained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The </a:t>
            </a:r>
            <a:r>
              <a:rPr lang="en-US" altLang="zh-TW" dirty="0"/>
              <a:t>main difference between these memory types is that fine-grained memory is </a:t>
            </a:r>
            <a:r>
              <a:rPr lang="en-US" altLang="zh-TW" dirty="0" smtClean="0"/>
              <a:t>directly accessible </a:t>
            </a:r>
            <a:r>
              <a:rPr lang="en-US" altLang="zh-TW" dirty="0"/>
              <a:t>to all the agents in the system at the same </a:t>
            </a:r>
            <a:r>
              <a:rPr lang="en-US" altLang="zh-TW" dirty="0" smtClean="0"/>
              <a:t>time</a:t>
            </a:r>
          </a:p>
          <a:p>
            <a:endParaRPr lang="en-US" altLang="zh-TW" dirty="0"/>
          </a:p>
          <a:p>
            <a:r>
              <a:rPr lang="en-US" altLang="zh-TW" dirty="0" smtClean="0"/>
              <a:t>The coarse-grained </a:t>
            </a:r>
            <a:r>
              <a:rPr lang="en-US" altLang="zh-TW" dirty="0"/>
              <a:t>memory may be accessible to multiple agents, but never at the same time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459164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Memory </a:t>
            </a:r>
            <a:r>
              <a:rPr lang="en-US" altLang="zh-TW" dirty="0"/>
              <a:t>allocated outside of the HSA runtime routines (for example, </a:t>
            </a:r>
            <a:r>
              <a:rPr lang="en-US" altLang="zh-TW" b="1" dirty="0" err="1"/>
              <a:t>malloc</a:t>
            </a:r>
            <a:r>
              <a:rPr lang="en-US" altLang="zh-TW" dirty="0"/>
              <a:t>) is considered fine-grained only for those agents in the system that supports the </a:t>
            </a:r>
            <a:r>
              <a:rPr lang="en-US" altLang="zh-TW" b="1" dirty="0"/>
              <a:t>Full profile</a:t>
            </a:r>
            <a:r>
              <a:rPr lang="en-US" altLang="zh-TW" dirty="0"/>
              <a:t>.  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If </a:t>
            </a:r>
            <a:r>
              <a:rPr lang="en-US" altLang="zh-TW" dirty="0"/>
              <a:t>the allocated fine-grained memory via </a:t>
            </a:r>
            <a:r>
              <a:rPr lang="en-US" altLang="zh-TW" b="1" dirty="0" err="1"/>
              <a:t>malloc</a:t>
            </a:r>
            <a:r>
              <a:rPr lang="en-US" altLang="zh-TW" dirty="0"/>
              <a:t> is accessed by a kernel agent, the user is encouraged to register</a:t>
            </a:r>
            <a:r>
              <a:rPr lang="en-US" altLang="zh-TW" i="1" dirty="0"/>
              <a:t> </a:t>
            </a:r>
            <a:r>
              <a:rPr lang="en-US" altLang="zh-TW" dirty="0"/>
              <a:t>the corresponding address range </a:t>
            </a:r>
            <a:r>
              <a:rPr lang="en-US" altLang="zh-TW" dirty="0" smtClean="0"/>
              <a:t>by HSA </a:t>
            </a:r>
            <a:r>
              <a:rPr lang="en-US" altLang="zh-TW" dirty="0"/>
              <a:t>runtime </a:t>
            </a:r>
            <a:r>
              <a:rPr lang="en-US" altLang="zh-TW" dirty="0" smtClean="0"/>
              <a:t>API </a:t>
            </a:r>
            <a:r>
              <a:rPr lang="en-US" altLang="zh-TW" b="1" dirty="0" err="1"/>
              <a:t>hsa_memory_register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Full profile support can access any regular host pointer, a registered buffer can result in improved access performance.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008143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/>
              <a:t>agents that only support the Base profile, fine-grained semantics are constrained to buffers allocated </a:t>
            </a:r>
            <a:r>
              <a:rPr lang="en-US" altLang="zh-TW" dirty="0" smtClean="0"/>
              <a:t>by using </a:t>
            </a:r>
            <a:r>
              <a:rPr lang="en-US" altLang="zh-TW" b="1" dirty="0" err="1" smtClean="0"/>
              <a:t>hsa_memory_allocate</a:t>
            </a:r>
            <a:r>
              <a:rPr lang="en-US" altLang="zh-TW" b="1" dirty="0" smtClean="0"/>
              <a:t>.</a:t>
            </a:r>
          </a:p>
          <a:p>
            <a:pPr lvl="1"/>
            <a:r>
              <a:rPr lang="en-US" altLang="zh-TW" dirty="0" smtClean="0"/>
              <a:t>This</a:t>
            </a:r>
            <a:r>
              <a:rPr lang="en-US" altLang="zh-TW" b="1" dirty="0" smtClean="0"/>
              <a:t> </a:t>
            </a:r>
            <a:r>
              <a:rPr lang="en-US" altLang="zh-TW" dirty="0" smtClean="0"/>
              <a:t>is </a:t>
            </a:r>
            <a:r>
              <a:rPr lang="en-US" altLang="zh-TW" dirty="0"/>
              <a:t>used to allocate memory in global and </a:t>
            </a:r>
            <a:r>
              <a:rPr lang="en-US" altLang="zh-TW" dirty="0" err="1"/>
              <a:t>readonly</a:t>
            </a:r>
            <a:r>
              <a:rPr lang="en-US" altLang="zh-TW" dirty="0"/>
              <a:t> segments</a:t>
            </a:r>
            <a:endParaRPr lang="en-US" altLang="zh-TW" b="1" dirty="0"/>
          </a:p>
          <a:p>
            <a:endParaRPr lang="en-US" altLang="zh-TW" b="1" dirty="0" smtClean="0"/>
          </a:p>
          <a:p>
            <a:r>
              <a:rPr lang="en-US" altLang="zh-TW" dirty="0"/>
              <a:t>If </a:t>
            </a:r>
            <a:r>
              <a:rPr lang="en-US" altLang="zh-TW" dirty="0" smtClean="0"/>
              <a:t>the same </a:t>
            </a:r>
            <a:r>
              <a:rPr lang="en-US" altLang="zh-TW" dirty="0"/>
              <a:t>region handle is accessible to several agents, the application can explicitly transfer the ownership </a:t>
            </a:r>
            <a:r>
              <a:rPr lang="en-US" altLang="zh-TW" dirty="0" smtClean="0"/>
              <a:t>of buffers</a:t>
            </a:r>
            <a:endParaRPr lang="en-US" altLang="zh-TW" b="1" dirty="0"/>
          </a:p>
          <a:p>
            <a:endParaRPr lang="en-US" altLang="zh-TW" b="1" dirty="0" smtClean="0"/>
          </a:p>
          <a:p>
            <a:r>
              <a:rPr lang="en-US" altLang="zh-TW" dirty="0"/>
              <a:t>The </a:t>
            </a:r>
            <a:r>
              <a:rPr lang="en-US" altLang="zh-TW" dirty="0" smtClean="0"/>
              <a:t>HSA runtime </a:t>
            </a:r>
            <a:r>
              <a:rPr lang="en-US" altLang="zh-TW" dirty="0"/>
              <a:t>exposes the function </a:t>
            </a:r>
            <a:r>
              <a:rPr lang="en-US" altLang="zh-TW" b="1" dirty="0" err="1"/>
              <a:t>hsa_memory_assign_agent</a:t>
            </a:r>
            <a:r>
              <a:rPr lang="en-US" altLang="zh-TW" b="1" dirty="0"/>
              <a:t> </a:t>
            </a:r>
            <a:r>
              <a:rPr lang="en-US" altLang="zh-TW" dirty="0"/>
              <a:t>to assign ownership of a buffer to an agent.</a:t>
            </a:r>
            <a:endParaRPr lang="en-US" altLang="zh-TW" b="1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652637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</a:t>
            </a:r>
            <a:r>
              <a:rPr lang="en-US" altLang="zh-TW" dirty="0" smtClean="0"/>
              <a:t>read-only </a:t>
            </a:r>
            <a:r>
              <a:rPr lang="en-US" altLang="zh-TW" dirty="0"/>
              <a:t>segment is used to store constant information of a kernel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Kernel agents are only permitted to perform read operations </a:t>
            </a:r>
            <a:r>
              <a:rPr lang="en-US" altLang="zh-TW" dirty="0" smtClean="0"/>
              <a:t>on the </a:t>
            </a:r>
            <a:r>
              <a:rPr lang="en-US" altLang="zh-TW" dirty="0"/>
              <a:t>addresses of variables that reside in </a:t>
            </a:r>
            <a:r>
              <a:rPr lang="en-US" altLang="zh-TW" dirty="0" smtClean="0"/>
              <a:t>read-only </a:t>
            </a:r>
            <a:r>
              <a:rPr lang="en-US" altLang="zh-TW" dirty="0"/>
              <a:t>memory.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The contents of a </a:t>
            </a:r>
            <a:r>
              <a:rPr lang="en-US" altLang="zh-TW" dirty="0" smtClean="0"/>
              <a:t>read-only </a:t>
            </a:r>
            <a:r>
              <a:rPr lang="en-US" altLang="zh-TW" dirty="0"/>
              <a:t>buffer can </a:t>
            </a:r>
            <a:r>
              <a:rPr lang="en-US" altLang="zh-TW" dirty="0" smtClean="0"/>
              <a:t>be initialized </a:t>
            </a:r>
            <a:r>
              <a:rPr lang="en-US" altLang="zh-TW" dirty="0"/>
              <a:t>or changed from one kernel dispatch execution to another by </a:t>
            </a:r>
            <a:r>
              <a:rPr lang="en-US" altLang="zh-TW" dirty="0" smtClean="0"/>
              <a:t>using </a:t>
            </a:r>
            <a:r>
              <a:rPr lang="en-US" altLang="zh-TW" b="1" dirty="0" err="1" smtClean="0"/>
              <a:t>hsa_memory_copy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11440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group segment is used to store information that is shared by all the work-items in the same workgroup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Group memory is visible to the work-items of a single work-group of a kernel dispatch.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/>
              <a:t>A variable in group memory can be read and written by any work-item in the same work-group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Not </a:t>
            </a:r>
            <a:r>
              <a:rPr lang="en-US" altLang="zh-TW" dirty="0"/>
              <a:t>by work-items in other work-groups or by other agents.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1377503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The private segment is used to store information local to a work-item.  Private memory is visible only </a:t>
            </a:r>
            <a:r>
              <a:rPr lang="en-US" altLang="zh-TW" dirty="0" smtClean="0"/>
              <a:t>to </a:t>
            </a:r>
            <a:r>
              <a:rPr lang="en-US" altLang="zh-TW" dirty="0"/>
              <a:t>a single work-item of a kernel dispatch</a:t>
            </a:r>
            <a:r>
              <a:rPr lang="en-US" altLang="zh-TW" dirty="0" smtClean="0"/>
              <a:t>.</a:t>
            </a:r>
          </a:p>
          <a:p>
            <a:endParaRPr lang="en-US" altLang="zh-TW" dirty="0"/>
          </a:p>
          <a:p>
            <a:r>
              <a:rPr lang="en-US" altLang="zh-TW" dirty="0"/>
              <a:t>A variable in private memory can be read and written only by the work-item with which it is </a:t>
            </a:r>
            <a:r>
              <a:rPr lang="en-US" altLang="zh-TW" dirty="0" smtClean="0"/>
              <a:t>associated. </a:t>
            </a:r>
          </a:p>
          <a:p>
            <a:pPr lvl="1"/>
            <a:r>
              <a:rPr lang="en-US" altLang="zh-TW" dirty="0" smtClean="0"/>
              <a:t>Not </a:t>
            </a:r>
            <a:r>
              <a:rPr lang="en-US" altLang="zh-TW" dirty="0"/>
              <a:t>by any other work-items or other agents.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6367371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Memory usage in the group and private segments is similar to that of global and </a:t>
            </a:r>
            <a:r>
              <a:rPr lang="en-US" altLang="zh-TW" dirty="0" err="1"/>
              <a:t>readonly</a:t>
            </a:r>
            <a:r>
              <a:rPr lang="en-US" altLang="zh-TW" dirty="0"/>
              <a:t> segments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But not </a:t>
            </a:r>
            <a:r>
              <a:rPr lang="en-US" altLang="zh-TW" dirty="0"/>
              <a:t>allowed to </a:t>
            </a:r>
            <a:r>
              <a:rPr lang="en-US" altLang="zh-TW" dirty="0" smtClean="0"/>
              <a:t>allocate </a:t>
            </a:r>
            <a:r>
              <a:rPr lang="en-US" altLang="zh-TW" dirty="0"/>
              <a:t>memory in these regions using </a:t>
            </a:r>
            <a:r>
              <a:rPr lang="en-US" altLang="zh-TW" b="1" dirty="0" err="1" smtClean="0"/>
              <a:t>hsa_memory_allocate</a:t>
            </a:r>
            <a:r>
              <a:rPr lang="en-US" altLang="zh-TW" dirty="0"/>
              <a:t>.</a:t>
            </a:r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nor copy </a:t>
            </a:r>
            <a:r>
              <a:rPr lang="en-US" altLang="zh-TW" dirty="0"/>
              <a:t>any contents into them using </a:t>
            </a:r>
            <a:r>
              <a:rPr lang="en-US" altLang="zh-TW" b="1" dirty="0" err="1"/>
              <a:t>hsa_memory_copy</a:t>
            </a:r>
            <a:r>
              <a:rPr lang="en-US" altLang="zh-TW" dirty="0"/>
              <a:t>.</a:t>
            </a:r>
          </a:p>
          <a:p>
            <a:endParaRPr lang="en-US" altLang="zh-TW" dirty="0" smtClean="0"/>
          </a:p>
          <a:p>
            <a:r>
              <a:rPr lang="en-US" altLang="zh-TW" dirty="0"/>
              <a:t>the user must specify the amount of group and private memory that needs to be allocated for a particular execution of a kernel by populating the </a:t>
            </a:r>
            <a:r>
              <a:rPr lang="en-US" altLang="zh-TW" b="1" dirty="0" err="1"/>
              <a:t>group_segment_size</a:t>
            </a:r>
            <a:r>
              <a:rPr lang="en-US" altLang="zh-TW" i="1" dirty="0"/>
              <a:t> </a:t>
            </a:r>
            <a:r>
              <a:rPr lang="en-US" altLang="zh-TW" dirty="0"/>
              <a:t>and </a:t>
            </a:r>
            <a:r>
              <a:rPr lang="en-US" altLang="zh-TW" b="1" dirty="0" err="1"/>
              <a:t>private_segment_size</a:t>
            </a:r>
            <a:r>
              <a:rPr lang="en-US" altLang="zh-TW" i="1" dirty="0"/>
              <a:t> </a:t>
            </a:r>
            <a:r>
              <a:rPr lang="en-US" altLang="zh-TW" dirty="0"/>
              <a:t>fields in the kernel dispatch packet.</a:t>
            </a: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2216409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佈景主題1" id="{52425C63-842A-4F95-A16C-1C0CCEA90123}" vid="{F27CB42A-B114-46CF-86BE-45D629310C5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11943</TotalTime>
  <Words>2498</Words>
  <Application>Microsoft Office PowerPoint</Application>
  <PresentationFormat>自訂</PresentationFormat>
  <Paragraphs>419</Paragraphs>
  <Slides>48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49" baseType="lpstr">
      <vt:lpstr>佈景主題1</vt:lpstr>
      <vt:lpstr>HSA Runtime Specification</vt:lpstr>
      <vt:lpstr>Outline</vt:lpstr>
      <vt:lpstr>Introduction</vt:lpstr>
      <vt:lpstr>Introduction</vt:lpstr>
      <vt:lpstr>Initialization</vt:lpstr>
      <vt:lpstr>Initialization</vt:lpstr>
      <vt:lpstr>Initialization</vt:lpstr>
      <vt:lpstr>Runtime Notifications</vt:lpstr>
      <vt:lpstr>Runtime Notifications</vt:lpstr>
      <vt:lpstr>Runtime Notifications</vt:lpstr>
      <vt:lpstr>Runtime Notifications</vt:lpstr>
      <vt:lpstr>System and Agent Information</vt:lpstr>
      <vt:lpstr>System and Agent Information</vt:lpstr>
      <vt:lpstr>System and Agent Information</vt:lpstr>
      <vt:lpstr>Signal</vt:lpstr>
      <vt:lpstr>Signal</vt:lpstr>
      <vt:lpstr>Signal</vt:lpstr>
      <vt:lpstr>Signal</vt:lpstr>
      <vt:lpstr>Signal</vt:lpstr>
      <vt:lpstr>Signal</vt:lpstr>
      <vt:lpstr>Signal</vt:lpstr>
      <vt:lpstr>Signal </vt:lpstr>
      <vt:lpstr>Signal </vt:lpstr>
      <vt:lpstr>Queue</vt:lpstr>
      <vt:lpstr>Queue</vt:lpstr>
      <vt:lpstr>Queue</vt:lpstr>
      <vt:lpstr>Queue</vt:lpstr>
      <vt:lpstr>Queue</vt:lpstr>
      <vt:lpstr>Example - Enqueue packet</vt:lpstr>
      <vt:lpstr>Example - Enqueue packet</vt:lpstr>
      <vt:lpstr>Architected Queuing Language (AQL)</vt:lpstr>
      <vt:lpstr>Architected Queuing Language (AQL)</vt:lpstr>
      <vt:lpstr>Architected Queuing Language (AQL)</vt:lpstr>
      <vt:lpstr>Architected Queuing Language (AQL)</vt:lpstr>
      <vt:lpstr>Architected Queuing Language (AQL)</vt:lpstr>
      <vt:lpstr>Architected Queuing Language (AQL)</vt:lpstr>
      <vt:lpstr>Architected Queuing Language (AQL)</vt:lpstr>
      <vt:lpstr>Architected Queuing Language (AQL)</vt:lpstr>
      <vt:lpstr>Architected Queuing Language (AQL)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  <vt:lpstr>Memory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 tutorial</dc:title>
  <dc:creator>Davies</dc:creator>
  <cp:lastModifiedBy>Yeh-Ching Chung</cp:lastModifiedBy>
  <cp:revision>95</cp:revision>
  <dcterms:created xsi:type="dcterms:W3CDTF">2015-02-26T06:17:52Z</dcterms:created>
  <dcterms:modified xsi:type="dcterms:W3CDTF">2015-03-22T14:40:59Z</dcterms:modified>
</cp:coreProperties>
</file>